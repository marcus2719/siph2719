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83"/>
  </p:notesMasterIdLst>
  <p:sldIdLst>
    <p:sldId id="256" r:id="rId2"/>
    <p:sldId id="258" r:id="rId3"/>
    <p:sldId id="261" r:id="rId4"/>
    <p:sldId id="360" r:id="rId5"/>
    <p:sldId id="359" r:id="rId6"/>
    <p:sldId id="368" r:id="rId7"/>
    <p:sldId id="356" r:id="rId8"/>
    <p:sldId id="378" r:id="rId9"/>
    <p:sldId id="311" r:id="rId10"/>
    <p:sldId id="395" r:id="rId11"/>
    <p:sldId id="370" r:id="rId12"/>
    <p:sldId id="371" r:id="rId13"/>
    <p:sldId id="372" r:id="rId14"/>
    <p:sldId id="373" r:id="rId15"/>
    <p:sldId id="375" r:id="rId16"/>
    <p:sldId id="374" r:id="rId17"/>
    <p:sldId id="394" r:id="rId18"/>
    <p:sldId id="393" r:id="rId19"/>
    <p:sldId id="392" r:id="rId20"/>
    <p:sldId id="313" r:id="rId21"/>
    <p:sldId id="387" r:id="rId22"/>
    <p:sldId id="314" r:id="rId23"/>
    <p:sldId id="315" r:id="rId24"/>
    <p:sldId id="388" r:id="rId25"/>
    <p:sldId id="316" r:id="rId26"/>
    <p:sldId id="365" r:id="rId27"/>
    <p:sldId id="352" r:id="rId28"/>
    <p:sldId id="389" r:id="rId29"/>
    <p:sldId id="317" r:id="rId30"/>
    <p:sldId id="353" r:id="rId31"/>
    <p:sldId id="396" r:id="rId32"/>
    <p:sldId id="379" r:id="rId33"/>
    <p:sldId id="397" r:id="rId34"/>
    <p:sldId id="318" r:id="rId35"/>
    <p:sldId id="380" r:id="rId36"/>
    <p:sldId id="351" r:id="rId37"/>
    <p:sldId id="319" r:id="rId38"/>
    <p:sldId id="355" r:id="rId39"/>
    <p:sldId id="358" r:id="rId40"/>
    <p:sldId id="320" r:id="rId41"/>
    <p:sldId id="354" r:id="rId42"/>
    <p:sldId id="321" r:id="rId43"/>
    <p:sldId id="336" r:id="rId44"/>
    <p:sldId id="322" r:id="rId45"/>
    <p:sldId id="337" r:id="rId46"/>
    <p:sldId id="323" r:id="rId47"/>
    <p:sldId id="338" r:id="rId48"/>
    <p:sldId id="324" r:id="rId49"/>
    <p:sldId id="339" r:id="rId50"/>
    <p:sldId id="325" r:id="rId51"/>
    <p:sldId id="381" r:id="rId52"/>
    <p:sldId id="340" r:id="rId53"/>
    <p:sldId id="346" r:id="rId54"/>
    <p:sldId id="362" r:id="rId55"/>
    <p:sldId id="326" r:id="rId56"/>
    <p:sldId id="382" r:id="rId57"/>
    <p:sldId id="327" r:id="rId58"/>
    <p:sldId id="345" r:id="rId59"/>
    <p:sldId id="363" r:id="rId60"/>
    <p:sldId id="341" r:id="rId61"/>
    <p:sldId id="342" r:id="rId62"/>
    <p:sldId id="383" r:id="rId63"/>
    <p:sldId id="328" r:id="rId64"/>
    <p:sldId id="347" r:id="rId65"/>
    <p:sldId id="390" r:id="rId66"/>
    <p:sldId id="384" r:id="rId67"/>
    <p:sldId id="343" r:id="rId68"/>
    <p:sldId id="344" r:id="rId69"/>
    <p:sldId id="329" r:id="rId70"/>
    <p:sldId id="385" r:id="rId71"/>
    <p:sldId id="330" r:id="rId72"/>
    <p:sldId id="349" r:id="rId73"/>
    <p:sldId id="348" r:id="rId74"/>
    <p:sldId id="350" r:id="rId75"/>
    <p:sldId id="331" r:id="rId76"/>
    <p:sldId id="332" r:id="rId77"/>
    <p:sldId id="357" r:id="rId78"/>
    <p:sldId id="386" r:id="rId79"/>
    <p:sldId id="364" r:id="rId80"/>
    <p:sldId id="398" r:id="rId81"/>
    <p:sldId id="361" r:id="rId82"/>
  </p:sldIdLst>
  <p:sldSz cx="9144000" cy="5143500" type="screen16x9"/>
  <p:notesSz cx="6858000" cy="9144000"/>
  <p:embeddedFontLst>
    <p:embeddedFont>
      <p:font typeface="Cambria" panose="02040503050406030204" pitchFamily="18" charset="0"/>
      <p:regular r:id="rId84"/>
      <p:bold r:id="rId85"/>
      <p:italic r:id="rId86"/>
      <p:boldItalic r:id="rId87"/>
    </p:embeddedFont>
    <p:embeddedFont>
      <p:font typeface="Cambria Math" panose="02040503050406030204" pitchFamily="18" charset="0"/>
      <p:regular r:id="rId88"/>
    </p:embeddedFont>
    <p:embeddedFont>
      <p:font typeface="Merriweather" panose="00000500000000000000" pitchFamily="2" charset="0"/>
      <p:regular r:id="rId89"/>
      <p:bold r:id="rId90"/>
      <p:italic r:id="rId91"/>
      <p:boldItalic r:id="rId92"/>
    </p:embeddedFont>
    <p:embeddedFont>
      <p:font typeface="Montserrat" panose="00000500000000000000" pitchFamily="2" charset="0"/>
      <p:regular r:id="rId93"/>
      <p:bold r:id="rId94"/>
      <p:italic r:id="rId95"/>
      <p:boldItalic r:id="rId96"/>
    </p:embeddedFont>
    <p:embeddedFont>
      <p:font typeface="Open Sans" panose="020B0606030504020204" pitchFamily="34" charset="0"/>
      <p:regular r:id="rId97"/>
      <p:bold r:id="rId98"/>
      <p:italic r:id="rId99"/>
      <p:boldItalic r:id="rId100"/>
    </p:embeddedFont>
    <p:embeddedFont>
      <p:font typeface="Oswald" panose="00000500000000000000" pitchFamily="2" charset="0"/>
      <p:regular r:id="rId101"/>
      <p:bold r:id="rId102"/>
    </p:embeddedFont>
    <p:embeddedFont>
      <p:font typeface="Poppins" panose="00000500000000000000" pitchFamily="2" charset="0"/>
      <p:regular r:id="rId103"/>
      <p:bold r:id="rId104"/>
      <p:italic r:id="rId105"/>
      <p:boldItalic r:id="rId106"/>
    </p:embeddedFont>
    <p:embeddedFont>
      <p:font typeface="標楷體" panose="03000509000000000000" pitchFamily="65" charset="-120"/>
      <p:regular r:id="rId10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蕭孟庭" initials="蕭孟庭" lastIdx="0" clrIdx="0">
    <p:extLst>
      <p:ext uri="{19B8F6BF-5375-455C-9EA6-DF929625EA0E}">
        <p15:presenceInfo xmlns:p15="http://schemas.microsoft.com/office/powerpoint/2012/main" userId="73e0ee75a315b71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99"/>
    <a:srgbClr val="FFEA9E"/>
    <a:srgbClr val="FF3300"/>
    <a:srgbClr val="85B9CC"/>
    <a:srgbClr val="FFFFCA"/>
    <a:srgbClr val="BDA792"/>
    <a:srgbClr val="E09224"/>
    <a:srgbClr val="CFCFCF"/>
    <a:srgbClr val="FFD551"/>
    <a:srgbClr val="C8DD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101554-E813-5D41-BF86-111FCED5C082}" v="12" dt="2022-11-17T02:41:04.188"/>
  </p1510:revLst>
</p1510:revInfo>
</file>

<file path=ppt/tableStyles.xml><?xml version="1.0" encoding="utf-8"?>
<a:tblStyleLst xmlns:a="http://schemas.openxmlformats.org/drawingml/2006/main" def="{98252408-292B-446D-B347-1ABCC8AC41D4}">
  <a:tblStyle styleId="{98252408-292B-446D-B347-1ABCC8AC41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9" autoAdjust="0"/>
    <p:restoredTop sz="82868" autoAdjust="0"/>
  </p:normalViewPr>
  <p:slideViewPr>
    <p:cSldViewPr snapToGrid="0">
      <p:cViewPr varScale="1">
        <p:scale>
          <a:sx n="90" d="100"/>
          <a:sy n="90" d="100"/>
        </p:scale>
        <p:origin x="1267" y="6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font" Target="fonts/font24.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9.fntdata"/><Relationship Id="rId5" Type="http://schemas.openxmlformats.org/officeDocument/2006/relationships/slide" Target="slides/slide4.xml"/><Relationship Id="rId90" Type="http://schemas.openxmlformats.org/officeDocument/2006/relationships/font" Target="fonts/font7.fntdata"/><Relationship Id="rId95" Type="http://schemas.openxmlformats.org/officeDocument/2006/relationships/font" Target="fonts/font12.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0.fntdata"/><Relationship Id="rId108" Type="http://schemas.openxmlformats.org/officeDocument/2006/relationships/commentAuthors" Target="commen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8.fntdata"/><Relationship Id="rId96"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23.fntdata"/><Relationship Id="rId114"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94" Type="http://schemas.openxmlformats.org/officeDocument/2006/relationships/font" Target="fonts/font11.fntdata"/><Relationship Id="rId99" Type="http://schemas.openxmlformats.org/officeDocument/2006/relationships/font" Target="fonts/font16.fntdata"/><Relationship Id="rId10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4.fntdata"/><Relationship Id="rId104" Type="http://schemas.openxmlformats.org/officeDocument/2006/relationships/font" Target="fonts/font2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7.fntdata"/><Relationship Id="rId105"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0.fntdata"/><Relationship Id="rId98" Type="http://schemas.openxmlformats.org/officeDocument/2006/relationships/font" Target="fonts/font15.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notesMaster" Target="notesMasters/notesMaster1.xml"/><Relationship Id="rId88" Type="http://schemas.openxmlformats.org/officeDocument/2006/relationships/font" Target="fonts/font5.fntdata"/><Relationship Id="rId11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孟庭 蕭" userId="73e0ee75a315b719" providerId="LiveId" clId="{5B101554-E813-5D41-BF86-111FCED5C082}"/>
    <pc:docChg chg="undo custSel modSld">
      <pc:chgData name="孟庭 蕭" userId="73e0ee75a315b719" providerId="LiveId" clId="{5B101554-E813-5D41-BF86-111FCED5C082}" dt="2022-11-17T03:06:14.176" v="164" actId="20577"/>
      <pc:docMkLst>
        <pc:docMk/>
      </pc:docMkLst>
      <pc:sldChg chg="modSp mod">
        <pc:chgData name="孟庭 蕭" userId="73e0ee75a315b719" providerId="LiveId" clId="{5B101554-E813-5D41-BF86-111FCED5C082}" dt="2022-11-17T02:37:41.238" v="141" actId="1036"/>
        <pc:sldMkLst>
          <pc:docMk/>
          <pc:sldMk cId="1454941192" sldId="316"/>
        </pc:sldMkLst>
        <pc:cxnChg chg="mod">
          <ac:chgData name="孟庭 蕭" userId="73e0ee75a315b719" providerId="LiveId" clId="{5B101554-E813-5D41-BF86-111FCED5C082}" dt="2022-11-17T02:37:41.238" v="141" actId="1036"/>
          <ac:cxnSpMkLst>
            <pc:docMk/>
            <pc:sldMk cId="1454941192" sldId="316"/>
            <ac:cxnSpMk id="24" creationId="{6F3B8D30-2F70-4198-92F8-EE2F87333391}"/>
          </ac:cxnSpMkLst>
        </pc:cxnChg>
      </pc:sldChg>
      <pc:sldChg chg="modNotesTx">
        <pc:chgData name="孟庭 蕭" userId="73e0ee75a315b719" providerId="LiveId" clId="{5B101554-E813-5D41-BF86-111FCED5C082}" dt="2022-11-17T03:04:55.376" v="163" actId="20577"/>
        <pc:sldMkLst>
          <pc:docMk/>
          <pc:sldMk cId="3951097747" sldId="349"/>
        </pc:sldMkLst>
      </pc:sldChg>
      <pc:sldChg chg="modNotesTx">
        <pc:chgData name="孟庭 蕭" userId="73e0ee75a315b719" providerId="LiveId" clId="{5B101554-E813-5D41-BF86-111FCED5C082}" dt="2022-11-17T02:31:50.040" v="140" actId="20577"/>
        <pc:sldMkLst>
          <pc:docMk/>
          <pc:sldMk cId="2077539290" sldId="374"/>
        </pc:sldMkLst>
      </pc:sldChg>
      <pc:sldChg chg="modNotesTx">
        <pc:chgData name="孟庭 蕭" userId="73e0ee75a315b719" providerId="LiveId" clId="{5B101554-E813-5D41-BF86-111FCED5C082}" dt="2022-11-17T02:31:31.095" v="135" actId="20577"/>
        <pc:sldMkLst>
          <pc:docMk/>
          <pc:sldMk cId="4010314342" sldId="375"/>
        </pc:sldMkLst>
      </pc:sldChg>
      <pc:sldChg chg="modNotesTx">
        <pc:chgData name="孟庭 蕭" userId="73e0ee75a315b719" providerId="LiveId" clId="{5B101554-E813-5D41-BF86-111FCED5C082}" dt="2022-11-17T03:06:14.176" v="164" actId="20577"/>
        <pc:sldMkLst>
          <pc:docMk/>
          <pc:sldMk cId="415612340" sldId="3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各位口試委員、同學大家好，我是蕭孟庭，我的碩士論文研究題目為</a:t>
            </a:r>
            <a:r>
              <a:rPr lang="en-US" altLang="zh-TW" dirty="0"/>
              <a:t>”…”</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884377272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884377272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這是以下報告的大鋼，首先我會介紹量子光源的應用及動機，接著是工作原理，以及模擬設計、晶片製程，還有量測結果與分析，最後是結論與未來展望</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zh-TW" altLang="en-US" dirty="0"/>
              <a:t>近年來，</a:t>
            </a:r>
            <a:r>
              <a:rPr lang="zh-TW" altLang="en-US" sz="1100" b="0" i="0" u="none" strike="noStrike" cap="none" baseline="0" dirty="0">
                <a:solidFill>
                  <a:srgbClr val="000000"/>
                </a:solidFill>
                <a:latin typeface="Arial"/>
                <a:ea typeface="Arial"/>
                <a:cs typeface="Arial"/>
                <a:sym typeface="Arial"/>
              </a:rPr>
              <a:t>量子科學相關研究的快速發展</a:t>
            </a:r>
            <a:r>
              <a:rPr lang="zh-TW" altLang="en-US" dirty="0"/>
              <a:t>，而糾纏光源的應用更是廣為人知，像是量子通訊、量子計算以及量子密鑰分發諸多應用，在今年四月份時，中國清華大學物理系實現世界最長距離基於量子糾纏的量子直接通訊，其距離達</a:t>
            </a:r>
            <a:r>
              <a:rPr lang="en-US" altLang="zh-TW" dirty="0"/>
              <a:t>100</a:t>
            </a:r>
            <a:r>
              <a:rPr lang="zh-TW" altLang="en-US" dirty="0"/>
              <a:t>公里，他是</a:t>
            </a:r>
            <a:r>
              <a:rPr lang="zh-CN" altLang="en-US" dirty="0"/>
              <a:t>以量子</a:t>
            </a:r>
            <a:r>
              <a:rPr lang="zh-TW" altLang="en-US" dirty="0"/>
              <a:t>態</a:t>
            </a:r>
            <a:r>
              <a:rPr lang="zh-CN" altLang="en-US" dirty="0"/>
              <a:t>来</a:t>
            </a:r>
            <a:r>
              <a:rPr lang="zh-TW" altLang="en-US" dirty="0"/>
              <a:t>編碼</a:t>
            </a:r>
            <a:r>
              <a:rPr lang="zh-CN" altLang="en-US" dirty="0"/>
              <a:t>和</a:t>
            </a:r>
            <a:r>
              <a:rPr lang="zh-TW" altLang="en-US" dirty="0"/>
              <a:t>傳輸訊息，而這些都與糾纏光源息息相關，由此可知量子通訊覆蓋全球也會是指日可待的事情。</a:t>
            </a:r>
            <a:endParaRPr lang="en-US" altLang="zh-TW" dirty="0"/>
          </a:p>
        </p:txBody>
      </p:sp>
    </p:spTree>
    <p:extLst>
      <p:ext uri="{BB962C8B-B14F-4D97-AF65-F5344CB8AC3E}">
        <p14:creationId xmlns:p14="http://schemas.microsoft.com/office/powerpoint/2010/main" val="3924144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a:t>
            </a:r>
            <a:r>
              <a:rPr lang="en-US" altLang="zh-TW" dirty="0"/>
              <a:t>Entangled-photon source</a:t>
            </a:r>
            <a:r>
              <a:rPr lang="zh-TW" altLang="en-US" dirty="0"/>
              <a:t>的形式有非常多種，像是</a:t>
            </a:r>
            <a:r>
              <a:rPr lang="en-US" altLang="zh-TW" dirty="0"/>
              <a:t>frequency-entangled</a:t>
            </a:r>
            <a:r>
              <a:rPr lang="zh-TW" altLang="en-US" dirty="0"/>
              <a:t>，或是</a:t>
            </a:r>
            <a:r>
              <a:rPr lang="en-US" altLang="zh-TW" dirty="0"/>
              <a:t>time-bin-entangled</a:t>
            </a:r>
            <a:r>
              <a:rPr lang="zh-TW" altLang="en-US" dirty="0"/>
              <a:t>等等，而我們所應用的是</a:t>
            </a:r>
            <a:r>
              <a:rPr lang="en-US" altLang="zh-TW" dirty="0"/>
              <a:t>polarization-entangled photon source</a:t>
            </a:r>
            <a:r>
              <a:rPr lang="zh-TW" altLang="en-US" dirty="0"/>
              <a:t>，偏振糾纏光子源，而可以產生偏振糾纏光源我們舉例下面這三種方式，早些年，偏振糾纏光子對是由單個鈣原子的串接輻射產生的，但因為較難捕獲單原子，加上其光子會以隨機的角度發射，因此並未廣泛使用。而另一種產生偏振糾纏光源的方式為</a:t>
            </a:r>
            <a:r>
              <a:rPr lang="zh-TW" altLang="en-US" sz="1100" b="0" dirty="0">
                <a:latin typeface="Montserrat" panose="02020500000000000000" charset="0"/>
              </a:rPr>
              <a:t>量子點quantum dots，利用量子點中的串聯輻射來產生糾纏光子對，雖然他可以確定性地產生一對糾纏光子，但是因為電洞交換效應，會出現能量分離，並破壞光子之間的糾纏。</a:t>
            </a:r>
            <a:endParaRPr lang="en-US" altLang="zh-TW" b="0" dirty="0"/>
          </a:p>
        </p:txBody>
      </p:sp>
    </p:spTree>
    <p:extLst>
      <p:ext uri="{BB962C8B-B14F-4D97-AF65-F5344CB8AC3E}">
        <p14:creationId xmlns:p14="http://schemas.microsoft.com/office/powerpoint/2010/main" val="2473884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dirty="0">
                <a:latin typeface="Montserrat" panose="02020500000000000000" charset="0"/>
              </a:rPr>
              <a:t>因此我們選擇使用光學非線性的效應來產生偏振糾纏光源，也就是</a:t>
            </a:r>
            <a:r>
              <a:rPr lang="en-US" altLang="zh-TW" sz="1100" b="0" dirty="0">
                <a:latin typeface="Montserrat" panose="02020500000000000000" charset="0"/>
              </a:rPr>
              <a:t>SPDC</a:t>
            </a:r>
            <a:r>
              <a:rPr lang="zh-TW" altLang="en-US" sz="1100" b="0" dirty="0">
                <a:latin typeface="Montserrat" panose="02020500000000000000" charset="0"/>
              </a:rPr>
              <a:t>，這也跟其</a:t>
            </a:r>
            <a:r>
              <a:rPr lang="en-US" altLang="zh-TW" sz="1100" b="0" dirty="0">
                <a:latin typeface="Montserrat" panose="02020500000000000000" charset="0"/>
              </a:rPr>
              <a:t>type2</a:t>
            </a:r>
            <a:r>
              <a:rPr lang="zh-TW" altLang="en-US" sz="1100" b="0" dirty="0">
                <a:latin typeface="Montserrat" panose="02020500000000000000" charset="0"/>
              </a:rPr>
              <a:t>特性有關，透過</a:t>
            </a:r>
            <a:r>
              <a:rPr lang="en-US" altLang="zh-TW" sz="1100" b="0" dirty="0">
                <a:latin typeface="Montserrat" panose="02020500000000000000" charset="0"/>
              </a:rPr>
              <a:t>SPDC</a:t>
            </a:r>
            <a:r>
              <a:rPr lang="zh-TW" altLang="en-US" sz="1100" b="0" dirty="0">
                <a:latin typeface="Montserrat" panose="02020500000000000000" charset="0"/>
              </a:rPr>
              <a:t>產生出的正交偏振光子對，利用後續的光學元件，使晶片直接產生出糾纏偏振光源，達成頻率相同以及不可區分的特性。</a:t>
            </a:r>
            <a:endParaRPr lang="en-US" altLang="zh-TW" dirty="0"/>
          </a:p>
        </p:txBody>
      </p:sp>
    </p:spTree>
    <p:extLst>
      <p:ext uri="{BB962C8B-B14F-4D97-AF65-F5344CB8AC3E}">
        <p14:creationId xmlns:p14="http://schemas.microsoft.com/office/powerpoint/2010/main" val="697721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a:t>
            </a:r>
            <a:r>
              <a:rPr lang="en-US" altLang="zh-TW" dirty="0"/>
              <a:t>SPDC</a:t>
            </a:r>
            <a:r>
              <a:rPr lang="zh-TW" altLang="en-US" dirty="0"/>
              <a:t>在製備量子光源時非常重要，也正被廣泛使用，起初有人使用塊狀晶體來產生光子對，例如</a:t>
            </a:r>
            <a:r>
              <a:rPr lang="en-US" altLang="zh-TW" dirty="0"/>
              <a:t>KTP</a:t>
            </a:r>
            <a:r>
              <a:rPr lang="zh-TW" altLang="en-US" dirty="0"/>
              <a:t>，後來人們想出一個使用波導將光引導到一個小區域的想法，這個做法可以提高效率，於是大家開始對 </a:t>
            </a:r>
            <a:r>
              <a:rPr lang="en-US" altLang="zh-TW" dirty="0"/>
              <a:t>LN </a:t>
            </a:r>
            <a:r>
              <a:rPr lang="zh-TW" altLang="en-US" dirty="0"/>
              <a:t>波導中的 </a:t>
            </a:r>
            <a:r>
              <a:rPr lang="en-US" altLang="zh-TW" dirty="0"/>
              <a:t>SPDC </a:t>
            </a:r>
            <a:r>
              <a:rPr lang="zh-TW" altLang="en-US" dirty="0"/>
              <a:t>進行研究，也嘗試各種不同的元件組合。雖然都是使用</a:t>
            </a:r>
            <a:r>
              <a:rPr lang="en-US" altLang="zh-TW" dirty="0"/>
              <a:t>SPDC</a:t>
            </a:r>
            <a:r>
              <a:rPr lang="zh-TW" altLang="en-US" dirty="0"/>
              <a:t>，但我不一樣的地方在於，改善這些</a:t>
            </a:r>
            <a:r>
              <a:rPr lang="en-US" altLang="zh-TW" dirty="0"/>
              <a:t>case</a:t>
            </a:r>
            <a:r>
              <a:rPr lang="zh-TW" altLang="en-US" dirty="0"/>
              <a:t>中需要複雜光學元件的狀況，取而代之的是將兩種非線性轉換的機制，整合在單一晶片上。</a:t>
            </a:r>
            <a:endParaRPr dirty="0"/>
          </a:p>
        </p:txBody>
      </p:sp>
    </p:spTree>
    <p:extLst>
      <p:ext uri="{BB962C8B-B14F-4D97-AF65-F5344CB8AC3E}">
        <p14:creationId xmlns:p14="http://schemas.microsoft.com/office/powerpoint/2010/main" val="3248885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將兩個非線性轉換整合在單一晶片，意思就是我們將週期性的</a:t>
            </a:r>
            <a:r>
              <a:rPr lang="en-US" altLang="zh-TW" dirty="0"/>
              <a:t>SPDC</a:t>
            </a:r>
            <a:r>
              <a:rPr lang="zh-TW" altLang="en-US" dirty="0"/>
              <a:t>與週期性的</a:t>
            </a:r>
            <a:r>
              <a:rPr lang="en-US" altLang="zh-TW" dirty="0"/>
              <a:t>EOPMC</a:t>
            </a:r>
            <a:r>
              <a:rPr lang="zh-TW" altLang="en-US" dirty="0"/>
              <a:t>整合，就會形成一個非週期性的晶疇結構。</a:t>
            </a:r>
          </a:p>
        </p:txBody>
      </p:sp>
    </p:spTree>
    <p:extLst>
      <p:ext uri="{BB962C8B-B14F-4D97-AF65-F5344CB8AC3E}">
        <p14:creationId xmlns:p14="http://schemas.microsoft.com/office/powerpoint/2010/main" val="1565869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左圖為常見的產生偏振糾纏光子對的系統，我們的提出的設計是利用</a:t>
            </a:r>
            <a:r>
              <a:rPr lang="en-US" altLang="zh-TW" dirty="0"/>
              <a:t>Type2</a:t>
            </a:r>
            <a:r>
              <a:rPr lang="zh-TW" altLang="en-US" dirty="0"/>
              <a:t>的</a:t>
            </a:r>
            <a:r>
              <a:rPr lang="en-US" altLang="zh-TW" dirty="0"/>
              <a:t>APPLN</a:t>
            </a:r>
            <a:r>
              <a:rPr lang="zh-TW" altLang="en-US" dirty="0"/>
              <a:t>代替原來的</a:t>
            </a:r>
            <a:r>
              <a:rPr lang="en-US" altLang="zh-TW" dirty="0"/>
              <a:t>PPLN</a:t>
            </a:r>
            <a:r>
              <a:rPr lang="zh-TW" altLang="en-US" dirty="0"/>
              <a:t>，另外為了消除</a:t>
            </a:r>
            <a:r>
              <a:rPr lang="en-US" altLang="zh-TW" dirty="0"/>
              <a:t>TE</a:t>
            </a:r>
            <a:r>
              <a:rPr lang="zh-TW" altLang="en-US" dirty="0"/>
              <a:t>與</a:t>
            </a:r>
            <a:r>
              <a:rPr lang="en-US" altLang="zh-TW" dirty="0"/>
              <a:t>TM</a:t>
            </a:r>
            <a:r>
              <a:rPr lang="zh-TW" altLang="en-US" dirty="0"/>
              <a:t>兩者的速度差的</a:t>
            </a:r>
            <a:r>
              <a:rPr lang="en-US" altLang="zh-TW" dirty="0"/>
              <a:t>Delay</a:t>
            </a:r>
            <a:r>
              <a:rPr lang="zh-TW" altLang="en-US" dirty="0"/>
              <a:t>也透過</a:t>
            </a:r>
            <a:r>
              <a:rPr lang="en-US" altLang="zh-TW" dirty="0"/>
              <a:t>EOPMC</a:t>
            </a:r>
            <a:r>
              <a:rPr lang="zh-TW" altLang="en-US" dirty="0"/>
              <a:t>取代，目的是為了達到時間補償的作用。但我們發現有個問題，</a:t>
            </a:r>
            <a:r>
              <a:rPr lang="en-US" altLang="zh-TW" dirty="0"/>
              <a:t>EOPMC</a:t>
            </a:r>
            <a:r>
              <a:rPr lang="zh-TW" altLang="en-US" dirty="0"/>
              <a:t>在施加固定電壓的條件下，只會對特定位置產生的光子對藉由旋轉偏振來達到時間補償，而對於其他任意光子對補償的電壓值都不同，因此無法使所有的光子進行干涉後形成偏振糾纏光子對。</a:t>
            </a:r>
            <a:endParaRPr lang="en-US" altLang="zh-TW" dirty="0"/>
          </a:p>
        </p:txBody>
      </p:sp>
    </p:spTree>
    <p:extLst>
      <p:ext uri="{BB962C8B-B14F-4D97-AF65-F5344CB8AC3E}">
        <p14:creationId xmlns:p14="http://schemas.microsoft.com/office/powerpoint/2010/main" val="3413641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雖然無法做到原來我們預期的時間補償，但從實驗過程中發現，在加入電光調製器</a:t>
            </a:r>
            <a:r>
              <a:rPr lang="en-US" altLang="zh-TW" dirty="0"/>
              <a:t>EOPMC</a:t>
            </a:r>
            <a:r>
              <a:rPr lang="zh-TW" altLang="en-US" dirty="0"/>
              <a:t>時，其頻寬會改變，這部分的式子推導後面會說明，也就意味著，藉由施加特定電壓時，我們可以將其運用到調製頻率的波形，而這些波形可以做為儲存或操控量子訊息的不同物理平台的接口。這邊舉例一些調製頻寬的方式，左圖這邊可以看到，其利用電光的方式來壓縮頻寬，而右圖的光子頻譜形狀是由調整雷射頻寬來觀察其頻寬轉換。而我們則可以利用施加電壓來達到調製頻寬的目標。</a:t>
            </a:r>
          </a:p>
        </p:txBody>
      </p:sp>
    </p:spTree>
    <p:extLst>
      <p:ext uri="{BB962C8B-B14F-4D97-AF65-F5344CB8AC3E}">
        <p14:creationId xmlns:p14="http://schemas.microsoft.com/office/powerpoint/2010/main" val="1115353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所以當無施加電壓時，利用</a:t>
            </a:r>
            <a:r>
              <a:rPr lang="en-US" altLang="zh-TW" dirty="0"/>
              <a:t>785pump</a:t>
            </a:r>
            <a:r>
              <a:rPr lang="zh-TW" altLang="en-US" dirty="0"/>
              <a:t>入射一段</a:t>
            </a:r>
            <a:r>
              <a:rPr lang="en-US" altLang="zh-TW" dirty="0"/>
              <a:t>Type-II</a:t>
            </a:r>
            <a:r>
              <a:rPr lang="zh-TW" altLang="en-US" dirty="0"/>
              <a:t>的</a:t>
            </a:r>
            <a:r>
              <a:rPr lang="en-US" altLang="zh-TW" dirty="0"/>
              <a:t>SPDC</a:t>
            </a:r>
            <a:r>
              <a:rPr lang="zh-TW" altLang="en-US" dirty="0"/>
              <a:t>產生出簡併波長的正交偏振的光子對。</a:t>
            </a:r>
            <a:endParaRPr lang="en-US" altLang="zh-TW" dirty="0"/>
          </a:p>
        </p:txBody>
      </p:sp>
    </p:spTree>
    <p:extLst>
      <p:ext uri="{BB962C8B-B14F-4D97-AF65-F5344CB8AC3E}">
        <p14:creationId xmlns:p14="http://schemas.microsoft.com/office/powerpoint/2010/main" val="1586571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所以當無施加電壓時，利用</a:t>
            </a:r>
            <a:r>
              <a:rPr lang="en-US" altLang="zh-TW" dirty="0"/>
              <a:t>785pump</a:t>
            </a:r>
            <a:r>
              <a:rPr lang="zh-TW" altLang="en-US" dirty="0"/>
              <a:t>入射一段</a:t>
            </a:r>
            <a:r>
              <a:rPr lang="en-US" altLang="zh-TW" dirty="0"/>
              <a:t>Type-II</a:t>
            </a:r>
            <a:r>
              <a:rPr lang="zh-TW" altLang="en-US" dirty="0"/>
              <a:t>的</a:t>
            </a:r>
            <a:r>
              <a:rPr lang="en-US" altLang="zh-TW" dirty="0"/>
              <a:t>SPDC</a:t>
            </a:r>
            <a:r>
              <a:rPr lang="zh-TW" altLang="en-US" dirty="0"/>
              <a:t>產生出簡併波長的正交偏振的光子對。</a:t>
            </a:r>
            <a:endParaRPr lang="en-US" altLang="zh-TW" dirty="0"/>
          </a:p>
        </p:txBody>
      </p:sp>
    </p:spTree>
    <p:extLst>
      <p:ext uri="{BB962C8B-B14F-4D97-AF65-F5344CB8AC3E}">
        <p14:creationId xmlns:p14="http://schemas.microsoft.com/office/powerpoint/2010/main" val="1888249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稱為</a:t>
            </a:r>
            <a:r>
              <a:rPr lang="en-US" altLang="zh-TW" dirty="0"/>
              <a:t>signal</a:t>
            </a:r>
            <a:r>
              <a:rPr lang="zh-TW" altLang="en-US" dirty="0"/>
              <a:t>與</a:t>
            </a:r>
            <a:r>
              <a:rPr lang="en-US" altLang="zh-TW" dirty="0"/>
              <a:t>idler</a:t>
            </a:r>
            <a:r>
              <a:rPr lang="zh-TW" altLang="en-US" dirty="0"/>
              <a:t>，而波長為</a:t>
            </a:r>
            <a:r>
              <a:rPr lang="en-US" altLang="zh-TW" dirty="0"/>
              <a:t>1570nm</a:t>
            </a:r>
            <a:r>
              <a:rPr lang="zh-TW" altLang="en-US" dirty="0"/>
              <a:t>，我們可以將未施加電壓的</a:t>
            </a:r>
            <a:r>
              <a:rPr lang="en-US" altLang="zh-TW" dirty="0"/>
              <a:t>SPDC</a:t>
            </a:r>
            <a:r>
              <a:rPr lang="zh-TW" altLang="en-US" dirty="0"/>
              <a:t>以簡單形式描述成式子</a:t>
            </a:r>
            <a:r>
              <a:rPr lang="en-US" altLang="zh-TW" dirty="0"/>
              <a:t>(1)</a:t>
            </a:r>
            <a:r>
              <a:rPr lang="zh-TW" altLang="en-US" dirty="0"/>
              <a:t>，其中包含初始的</a:t>
            </a:r>
            <a:r>
              <a:rPr lang="en-US" altLang="zh-TW" dirty="0"/>
              <a:t>Hs</a:t>
            </a:r>
            <a:r>
              <a:rPr lang="zh-TW" altLang="en-US" dirty="0"/>
              <a:t>與</a:t>
            </a:r>
            <a:r>
              <a:rPr lang="en-US" altLang="zh-TW" dirty="0"/>
              <a:t>Vi</a:t>
            </a:r>
            <a:r>
              <a:rPr lang="zh-TW" altLang="en-US" dirty="0"/>
              <a:t>偏振。</a:t>
            </a:r>
          </a:p>
        </p:txBody>
      </p:sp>
    </p:spTree>
    <p:extLst>
      <p:ext uri="{BB962C8B-B14F-4D97-AF65-F5344CB8AC3E}">
        <p14:creationId xmlns:p14="http://schemas.microsoft.com/office/powerpoint/2010/main" val="3221825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接著利用外加</a:t>
            </a:r>
            <a:r>
              <a:rPr lang="en-US" altLang="zh-TW" dirty="0"/>
              <a:t>Y</a:t>
            </a:r>
            <a:r>
              <a:rPr lang="zh-TW" altLang="en-US" dirty="0"/>
              <a:t>方向上的電壓來調控其偏振，這個機制稱為</a:t>
            </a:r>
            <a:r>
              <a:rPr lang="en-US" altLang="zh-TW" dirty="0"/>
              <a:t>EOPMC</a:t>
            </a:r>
            <a:r>
              <a:rPr lang="zh-TW" altLang="en-US" dirty="0"/>
              <a:t>。</a:t>
            </a:r>
          </a:p>
        </p:txBody>
      </p:sp>
    </p:spTree>
    <p:extLst>
      <p:ext uri="{BB962C8B-B14F-4D97-AF65-F5344CB8AC3E}">
        <p14:creationId xmlns:p14="http://schemas.microsoft.com/office/powerpoint/2010/main" val="3941195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但這邊須注意的是，假設我們固定一個電壓，這個電壓為使第一塊晶籌產生的光子對能夠得到時間補償。</a:t>
            </a:r>
          </a:p>
        </p:txBody>
      </p:sp>
    </p:spTree>
    <p:extLst>
      <p:ext uri="{BB962C8B-B14F-4D97-AF65-F5344CB8AC3E}">
        <p14:creationId xmlns:p14="http://schemas.microsoft.com/office/powerpoint/2010/main" val="3885580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這個條件下就可以達成消除</a:t>
            </a:r>
            <a:r>
              <a:rPr lang="en-US" altLang="zh-TW" dirty="0"/>
              <a:t>TE</a:t>
            </a:r>
            <a:r>
              <a:rPr lang="zh-TW" altLang="en-US" dirty="0"/>
              <a:t>與</a:t>
            </a:r>
            <a:r>
              <a:rPr lang="en-US" altLang="zh-TW" dirty="0"/>
              <a:t>TM</a:t>
            </a:r>
            <a:r>
              <a:rPr lang="zh-TW" altLang="en-US" dirty="0"/>
              <a:t>兩偏振的速度差。而我們加入</a:t>
            </a:r>
            <a:r>
              <a:rPr lang="en-US" altLang="zh-TW" dirty="0"/>
              <a:t>EOPMC</a:t>
            </a:r>
            <a:r>
              <a:rPr lang="zh-TW" altLang="en-US" dirty="0"/>
              <a:t>後可以改寫成式子</a:t>
            </a:r>
            <a:r>
              <a:rPr lang="en-US" altLang="zh-TW" dirty="0"/>
              <a:t>(2)</a:t>
            </a:r>
            <a:r>
              <a:rPr lang="zh-TW" altLang="en-US" dirty="0"/>
              <a:t>，這個條件下就是黃色框起來的地方，為轉換後的</a:t>
            </a:r>
            <a:r>
              <a:rPr lang="en-US" altLang="zh-TW" dirty="0"/>
              <a:t>Vs</a:t>
            </a:r>
            <a:r>
              <a:rPr lang="zh-TW" altLang="en-US" dirty="0"/>
              <a:t>與</a:t>
            </a:r>
            <a:r>
              <a:rPr lang="en-US" altLang="zh-TW" dirty="0"/>
              <a:t>Hi</a:t>
            </a:r>
            <a:r>
              <a:rPr lang="zh-TW" altLang="en-US" dirty="0"/>
              <a:t>的偏振。</a:t>
            </a:r>
          </a:p>
        </p:txBody>
      </p:sp>
    </p:spTree>
    <p:extLst>
      <p:ext uri="{BB962C8B-B14F-4D97-AF65-F5344CB8AC3E}">
        <p14:creationId xmlns:p14="http://schemas.microsoft.com/office/powerpoint/2010/main" val="298846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但如果對於結構中間的晶籌產生的光子對</a:t>
            </a:r>
          </a:p>
        </p:txBody>
      </p:sp>
    </p:spTree>
    <p:extLst>
      <p:ext uri="{BB962C8B-B14F-4D97-AF65-F5344CB8AC3E}">
        <p14:creationId xmlns:p14="http://schemas.microsoft.com/office/powerpoint/2010/main" val="4102482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但如果對於結構中間的晶籌產生的光子對</a:t>
            </a:r>
          </a:p>
        </p:txBody>
      </p:sp>
    </p:spTree>
    <p:extLst>
      <p:ext uri="{BB962C8B-B14F-4D97-AF65-F5344CB8AC3E}">
        <p14:creationId xmlns:p14="http://schemas.microsoft.com/office/powerpoint/2010/main" val="685782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在施加相同電壓下，則無法將其完全補償，因此多了</a:t>
            </a:r>
            <a:r>
              <a:rPr lang="en-US" altLang="zh-TW" dirty="0"/>
              <a:t>HH+VV</a:t>
            </a:r>
            <a:r>
              <a:rPr lang="zh-TW" altLang="en-US" dirty="0"/>
              <a:t>的偏振分量，造成頻寬增寬的現象，最後無法對其所有光子做時間補償，因此沒辦法產生出單純的偏振糾纏光子對。但因為剛剛提到，我們發現其會有頻寬的變化，因此在還是使用單一個結構的條件下，在加入</a:t>
            </a:r>
            <a:r>
              <a:rPr lang="en-US" altLang="zh-TW" dirty="0"/>
              <a:t>EOPMC</a:t>
            </a:r>
            <a:r>
              <a:rPr lang="zh-TW" altLang="en-US" dirty="0"/>
              <a:t>之後，我們將對於</a:t>
            </a:r>
            <a:r>
              <a:rPr lang="en-US" altLang="zh-TW" dirty="0"/>
              <a:t>SPDC</a:t>
            </a:r>
            <a:r>
              <a:rPr lang="zh-TW" altLang="en-US" dirty="0"/>
              <a:t>頻寬調製進行研究。</a:t>
            </a:r>
          </a:p>
        </p:txBody>
      </p:sp>
    </p:spTree>
    <p:extLst>
      <p:ext uri="{BB962C8B-B14F-4D97-AF65-F5344CB8AC3E}">
        <p14:creationId xmlns:p14="http://schemas.microsoft.com/office/powerpoint/2010/main" val="35911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接著介紹在晶片設計時所利用到機制的工作原理</a:t>
            </a:r>
            <a:endParaRPr dirty="0"/>
          </a:p>
        </p:txBody>
      </p:sp>
    </p:spTree>
    <p:extLst>
      <p:ext uri="{BB962C8B-B14F-4D97-AF65-F5344CB8AC3E}">
        <p14:creationId xmlns:p14="http://schemas.microsoft.com/office/powerpoint/2010/main" val="2141453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首先介紹用於產生光子對的自發參量下轉換</a:t>
            </a:r>
            <a:r>
              <a:rPr lang="en-US" altLang="zh-TW" dirty="0"/>
              <a:t>SPDC</a:t>
            </a:r>
            <a:r>
              <a:rPr lang="zh-TW" altLang="en-US" dirty="0"/>
              <a:t>原理。</a:t>
            </a:r>
            <a:endParaRPr dirty="0"/>
          </a:p>
        </p:txBody>
      </p:sp>
    </p:spTree>
    <p:extLst>
      <p:ext uri="{BB962C8B-B14F-4D97-AF65-F5344CB8AC3E}">
        <p14:creationId xmlns:p14="http://schemas.microsoft.com/office/powerpoint/2010/main" val="217726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由輸入一個</a:t>
                </a:r>
                <a:r>
                  <a:rPr lang="en-US" altLang="zh-TW" dirty="0"/>
                  <a:t>pump</a:t>
                </a:r>
                <a:r>
                  <a:rPr lang="zh-TW" altLang="en-US" dirty="0"/>
                  <a:t>產生出</a:t>
                </a:r>
                <a:r>
                  <a:rPr lang="en-US" altLang="zh-TW" dirty="0"/>
                  <a:t>signal</a:t>
                </a:r>
                <a:r>
                  <a:rPr lang="zh-TW" altLang="en-US" dirty="0"/>
                  <a:t>與</a:t>
                </a:r>
                <a:r>
                  <a:rPr lang="en-US" altLang="zh-TW" dirty="0"/>
                  <a:t>idler</a:t>
                </a:r>
                <a:r>
                  <a:rPr lang="zh-TW" altLang="en-US" dirty="0"/>
                  <a:t>，由左圖可以看到，因為我們設計波長的關係，所以可將</a:t>
                </a:r>
                <a:r>
                  <a:rPr lang="en-US" altLang="zh-TW" dirty="0"/>
                  <a:t>SHG</a:t>
                </a:r>
                <a:r>
                  <a:rPr lang="zh-TW" altLang="en-US" dirty="0"/>
                  <a:t>二倍頻視為反向過程，若要進行高效率的能量轉換，需要滿足兩個條件：能量及動量守恆，能量守恆在自然狀態下就能夠由環境自行補足，而滿足動量守恆的條件就稱為相位匹配，但相位匹配的條件需要入射光的角度以及晶體溫度的配合，而這容易使效率降低，因此我們提出了準相位匹配的共線動量守恆概念，加入一段補償項</a:t>
                </a:r>
                <a14:m>
                  <m:oMath xmlns:m="http://schemas.openxmlformats.org/officeDocument/2006/math">
                    <m:r>
                      <a:rPr lang="zh-TW" altLang="en-US" sz="1100" smtClean="0">
                        <a:latin typeface="Cambria Math" panose="02040503050406030204" pitchFamily="18" charset="0"/>
                      </a:rPr>
                      <m:t>∆</m:t>
                    </m:r>
                    <m:r>
                      <a:rPr lang="zh-TW" altLang="en-US" sz="1100" i="1">
                        <a:latin typeface="Cambria Math" panose="02040503050406030204" pitchFamily="18" charset="0"/>
                      </a:rPr>
                      <m:t>𝑘</m:t>
                    </m:r>
                  </m:oMath>
                </a14:m>
                <a:r>
                  <a:rPr lang="zh-TW" altLang="en-US" dirty="0"/>
                  <a:t>來達成，也就是右圖中的</a:t>
                </a:r>
                <a14:m>
                  <m:oMath xmlns:m="http://schemas.openxmlformats.org/officeDocument/2006/math">
                    <m:sSub>
                      <m:sSubPr>
                        <m:ctrlPr>
                          <a:rPr lang="en-US" altLang="zh-TW" sz="1100" i="1" smtClean="0">
                            <a:latin typeface="Cambria Math" panose="02040503050406030204" pitchFamily="18" charset="0"/>
                          </a:rPr>
                        </m:ctrlPr>
                      </m:sSubPr>
                      <m:e>
                        <m:acc>
                          <m:accPr>
                            <m:chr m:val="⃑"/>
                            <m:ctrlPr>
                              <a:rPr lang="en-US" altLang="zh-TW" sz="1100" i="1" smtClean="0">
                                <a:latin typeface="Cambria Math" panose="02040503050406030204" pitchFamily="18" charset="0"/>
                              </a:rPr>
                            </m:ctrlPr>
                          </m:accPr>
                          <m:e>
                            <m:r>
                              <a:rPr lang="en-US" altLang="zh-TW" sz="1100" b="0" i="1" smtClean="0">
                                <a:latin typeface="Cambria Math" panose="02040503050406030204" pitchFamily="18" charset="0"/>
                              </a:rPr>
                              <m:t>𝑘</m:t>
                            </m:r>
                          </m:e>
                        </m:acc>
                      </m:e>
                      <m:sub>
                        <m:r>
                          <m:rPr>
                            <m:sty m:val="p"/>
                          </m:rPr>
                          <a:rPr lang="el-GR" altLang="zh-TW" sz="1100" i="1" smtClean="0">
                            <a:latin typeface="Cambria Math" panose="02040503050406030204" pitchFamily="18" charset="0"/>
                            <a:ea typeface="Cambria Math" panose="02040503050406030204" pitchFamily="18" charset="0"/>
                          </a:rPr>
                          <m:t>Λ</m:t>
                        </m:r>
                      </m:sub>
                    </m:sSub>
                  </m:oMath>
                </a14:m>
                <a:r>
                  <a:rPr lang="zh-TW" altLang="en-US" dirty="0"/>
                  <a:t>，而這項可以由極化反轉的晶疇結構來達成。</a:t>
                </a:r>
                <a:endParaRPr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首先介紹</a:t>
                </a:r>
                <a:r>
                  <a:rPr lang="en-US" altLang="zh-TW" dirty="0"/>
                  <a:t>SPDC</a:t>
                </a:r>
                <a:r>
                  <a:rPr lang="zh-TW" altLang="en-US" dirty="0"/>
                  <a:t>自發參量下轉換，由輸入一個</a:t>
                </a:r>
                <a:r>
                  <a:rPr lang="en-US" altLang="zh-TW" dirty="0"/>
                  <a:t>pump</a:t>
                </a:r>
                <a:r>
                  <a:rPr lang="zh-TW" altLang="en-US" dirty="0"/>
                  <a:t>產生出</a:t>
                </a:r>
                <a:r>
                  <a:rPr lang="en-US" altLang="zh-TW" dirty="0"/>
                  <a:t>signal</a:t>
                </a:r>
                <a:r>
                  <a:rPr lang="zh-TW" altLang="en-US" dirty="0"/>
                  <a:t>與</a:t>
                </a:r>
                <a:r>
                  <a:rPr lang="en-US" altLang="zh-TW" dirty="0"/>
                  <a:t>idler</a:t>
                </a:r>
                <a:r>
                  <a:rPr lang="zh-TW" altLang="en-US" dirty="0"/>
                  <a:t>，由左圖可以看到，因為我們設計波長的關係，所以可將</a:t>
                </a:r>
                <a:r>
                  <a:rPr lang="en-US" altLang="zh-TW" dirty="0"/>
                  <a:t>SHG</a:t>
                </a:r>
                <a:r>
                  <a:rPr lang="zh-TW" altLang="en-US" dirty="0"/>
                  <a:t>二倍頻視為反向過程，若要進行高效率的能量轉換，需要滿足兩個條件：能量及動量守恆，能量守恆在自然狀態下就能夠由環境自行補足，而滿足動量守恆的條件就稱為相位匹配，但相位匹配的條件需要入射光的角度以及晶體溫度的配合，而這容易使效率降低，因此我們提出了準相位匹配的共線動量守恆概念，加入一段補償項</a:t>
                </a:r>
                <a:r>
                  <a:rPr lang="zh-TW" altLang="en-US" sz="1100" i="0">
                    <a:latin typeface="Cambria Math" panose="02040503050406030204" pitchFamily="18" charset="0"/>
                  </a:rPr>
                  <a:t>∆𝑘</a:t>
                </a:r>
                <a:r>
                  <a:rPr lang="zh-TW" altLang="en-US" dirty="0"/>
                  <a:t>來達成，也就是右圖中的</a:t>
                </a:r>
                <a:r>
                  <a:rPr lang="en-US" altLang="zh-TW" sz="1100" b="0" i="0">
                    <a:latin typeface="Cambria Math" panose="02040503050406030204" pitchFamily="18" charset="0"/>
                  </a:rPr>
                  <a:t>𝑘 ⃑_</a:t>
                </a:r>
                <a:r>
                  <a:rPr lang="el-GR" altLang="zh-TW" sz="1100" i="0">
                    <a:latin typeface="Cambria Math" panose="02040503050406030204" pitchFamily="18" charset="0"/>
                    <a:ea typeface="Cambria Math" panose="02040503050406030204" pitchFamily="18" charset="0"/>
                  </a:rPr>
                  <a:t>Λ</a:t>
                </a:r>
                <a:r>
                  <a:rPr lang="zh-TW" altLang="en-US" dirty="0"/>
                  <a:t>，而這項可以由極化反轉的晶疇結構來達成。</a:t>
                </a:r>
                <a:endParaRPr dirty="0"/>
              </a:p>
            </p:txBody>
          </p:sp>
        </mc:Fallback>
      </mc:AlternateContent>
    </p:spTree>
    <p:extLst>
      <p:ext uri="{BB962C8B-B14F-4D97-AF65-F5344CB8AC3E}">
        <p14:creationId xmlns:p14="http://schemas.microsoft.com/office/powerpoint/2010/main" val="112315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透過極化反轉</a:t>
            </a:r>
            <a:r>
              <a:rPr lang="en-US" altLang="zh-TW" dirty="0"/>
              <a:t>Poling</a:t>
            </a:r>
            <a:r>
              <a:rPr lang="zh-TW" altLang="en-US" dirty="0"/>
              <a:t>的技術形成晶體極化方向反轉的晶疇結構，這邊也利用到鈮酸鋰本身具有雙穩態的特性，如右圖可以看到，這兩個正負極化方向由兩個離子與氧平面的排列方式定義，我們可以透過施加與極化方向相反的高壓電場，使他的極化方向改變，而這個施加的最小電場稱為矯頑電場，所以透過這個正負晶疇的排列來達成準相位匹配。</a:t>
            </a:r>
            <a:endParaRPr dirty="0"/>
          </a:p>
        </p:txBody>
      </p:sp>
    </p:spTree>
    <p:extLst>
      <p:ext uri="{BB962C8B-B14F-4D97-AF65-F5344CB8AC3E}">
        <p14:creationId xmlns:p14="http://schemas.microsoft.com/office/powerpoint/2010/main" val="794960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接著介紹當外加電場時，可以達到旋轉偏振的電光偏振模態耦合器</a:t>
            </a:r>
            <a:r>
              <a:rPr lang="en-US" altLang="zh-TW" dirty="0"/>
              <a:t>EOPMC</a:t>
            </a:r>
            <a:r>
              <a:rPr lang="zh-TW" altLang="en-US" dirty="0"/>
              <a:t>原理。</a:t>
            </a:r>
            <a:endParaRPr dirty="0"/>
          </a:p>
        </p:txBody>
      </p:sp>
    </p:spTree>
    <p:extLst>
      <p:ext uri="{BB962C8B-B14F-4D97-AF65-F5344CB8AC3E}">
        <p14:creationId xmlns:p14="http://schemas.microsoft.com/office/powerpoint/2010/main" val="5646677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電光偏振模態耦合器中的電光效應指的是施加電場於介電物質上，折射率變化的情形。而我們使用的是鈮酸鋰晶體，當施加電場後我們可以得到的反介電張量的變化量如式子</a:t>
            </a:r>
            <a:r>
              <a:rPr lang="en-US" altLang="zh-TW" dirty="0"/>
              <a:t>(4)</a:t>
            </a:r>
            <a:r>
              <a:rPr lang="zh-TW" altLang="en-US" dirty="0"/>
              <a:t>，由於第二階係數太小所以忽略，而第一階電光係數可以寫為式子</a:t>
            </a:r>
            <a:r>
              <a:rPr lang="en-US" altLang="zh-TW" dirty="0"/>
              <a:t>(5)</a:t>
            </a:r>
            <a:r>
              <a:rPr lang="zh-TW" altLang="en-US" dirty="0"/>
              <a:t>，其中黃色為鈮酸鋰晶體電光係數張量，我們將此電光係數張量乘上</a:t>
            </a:r>
            <a:r>
              <a:rPr lang="en-US" altLang="zh-TW" dirty="0"/>
              <a:t>Y</a:t>
            </a:r>
            <a:r>
              <a:rPr lang="zh-TW" altLang="en-US" dirty="0"/>
              <a:t>方向電場，帶回原式計算後得到鈮酸鋰折射率對電場的響應式如式子</a:t>
            </a:r>
            <a:r>
              <a:rPr lang="en-US" altLang="zh-TW" dirty="0"/>
              <a:t>(6)</a:t>
            </a:r>
            <a:r>
              <a:rPr lang="zh-TW" altLang="en-US" dirty="0"/>
              <a:t>，最後寫為折射率橢球的形式，在這邊多了</a:t>
            </a:r>
            <a:r>
              <a:rPr lang="en-US" altLang="zh-TW" dirty="0"/>
              <a:t>YZ</a:t>
            </a:r>
            <a:r>
              <a:rPr lang="zh-TW" altLang="en-US" dirty="0"/>
              <a:t>平面這一項。</a:t>
            </a:r>
            <a:endParaRPr lang="en-US" altLang="zh-TW" dirty="0"/>
          </a:p>
        </p:txBody>
      </p:sp>
    </p:spTree>
    <p:extLst>
      <p:ext uri="{BB962C8B-B14F-4D97-AF65-F5344CB8AC3E}">
        <p14:creationId xmlns:p14="http://schemas.microsoft.com/office/powerpoint/2010/main" val="36937255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158750" indent="0">
                  <a:buNone/>
                </a:pPr>
                <a:r>
                  <a:rPr lang="zh-TW" altLang="en-US" dirty="0"/>
                  <a:t>所以在施加</a:t>
                </a:r>
                <a:r>
                  <a:rPr lang="en-US" altLang="zh-TW" dirty="0"/>
                  <a:t>Y</a:t>
                </a:r>
                <a:r>
                  <a:rPr lang="zh-TW" altLang="en-US" dirty="0"/>
                  <a:t>方向電場後，</a:t>
                </a:r>
                <a:r>
                  <a:rPr lang="en-US" altLang="zh-TW" dirty="0"/>
                  <a:t>YZ</a:t>
                </a:r>
                <a:r>
                  <a:rPr lang="zh-TW" altLang="en-US" dirty="0"/>
                  <a:t>平面會以</a:t>
                </a:r>
                <a14:m>
                  <m:oMath xmlns:m="http://schemas.openxmlformats.org/officeDocument/2006/math">
                    <m:r>
                      <a:rPr lang="zh-TW" altLang="en-US" sz="1100" i="1" smtClean="0">
                        <a:latin typeface="Cambria Math" panose="02040503050406030204" pitchFamily="18" charset="0"/>
                      </a:rPr>
                      <m:t>𝜃</m:t>
                    </m:r>
                  </m:oMath>
                </a14:m>
                <a:r>
                  <a:rPr lang="zh-TW" altLang="en-US" dirty="0"/>
                  <a:t>角作旋轉，當單一塊鈮酸鋰施加</a:t>
                </a:r>
                <a:r>
                  <a:rPr lang="en-US" altLang="zh-TW" dirty="0"/>
                  <a:t>Y</a:t>
                </a:r>
                <a:r>
                  <a:rPr lang="zh-TW" altLang="en-US" dirty="0"/>
                  <a:t>方向電場，其極化方向向上時，會旋轉</a:t>
                </a:r>
                <a:r>
                  <a:rPr lang="en-US" altLang="zh-TW" dirty="0"/>
                  <a:t>-</a:t>
                </a:r>
                <a14:m>
                  <m:oMath xmlns:m="http://schemas.openxmlformats.org/officeDocument/2006/math">
                    <m:r>
                      <a:rPr lang="zh-TW" altLang="en-US" sz="1100" i="1" smtClean="0">
                        <a:latin typeface="Cambria Math" panose="02040503050406030204" pitchFamily="18" charset="0"/>
                      </a:rPr>
                      <m:t>𝜃</m:t>
                    </m:r>
                  </m:oMath>
                </a14:m>
                <a:r>
                  <a:rPr lang="zh-TW" altLang="en-US" dirty="0"/>
                  <a:t>角，而當極化方向向下時，會旋轉</a:t>
                </a:r>
                <a14:m>
                  <m:oMath xmlns:m="http://schemas.openxmlformats.org/officeDocument/2006/math">
                    <m:r>
                      <a:rPr lang="en-US" altLang="zh-TW" sz="1100" i="1" dirty="0" smtClean="0">
                        <a:latin typeface="Cambria Math" panose="02040503050406030204" pitchFamily="18" charset="0"/>
                      </a:rPr>
                      <m:t>+</m:t>
                    </m:r>
                    <m:r>
                      <a:rPr lang="zh-TW" altLang="en-US" sz="1100" i="1" smtClean="0">
                        <a:latin typeface="Cambria Math" panose="02040503050406030204" pitchFamily="18" charset="0"/>
                      </a:rPr>
                      <m:t>𝜃</m:t>
                    </m:r>
                  </m:oMath>
                </a14:m>
                <a:r>
                  <a:rPr lang="zh-TW" altLang="en-US" dirty="0"/>
                  <a:t>角。</a:t>
                </a:r>
                <a:endParaRPr lang="en-US" altLang="zh-TW" dirty="0"/>
              </a:p>
            </p:txBody>
          </p:sp>
        </mc:Choice>
        <mc:Fallback xmlns="">
          <p:sp>
            <p:nvSpPr>
              <p:cNvPr id="3" name="備忘稿版面配置區 2"/>
              <p:cNvSpPr>
                <a:spLocks noGrp="1"/>
              </p:cNvSpPr>
              <p:nvPr>
                <p:ph type="body" idx="1"/>
              </p:nvPr>
            </p:nvSpPr>
            <p:spPr/>
            <p:txBody>
              <a:bodyPr/>
              <a:lstStyle/>
              <a:p>
                <a:pPr marL="158750" indent="0">
                  <a:buNone/>
                </a:pPr>
                <a:r>
                  <a:rPr lang="zh-TW" altLang="en-US" dirty="0"/>
                  <a:t>所以在施加</a:t>
                </a:r>
                <a:r>
                  <a:rPr lang="en-US" altLang="zh-TW" dirty="0"/>
                  <a:t>Y</a:t>
                </a:r>
                <a:r>
                  <a:rPr lang="zh-TW" altLang="en-US" dirty="0"/>
                  <a:t>方向電場後，</a:t>
                </a:r>
                <a:r>
                  <a:rPr lang="en-US" altLang="zh-TW" dirty="0"/>
                  <a:t>YZ</a:t>
                </a:r>
                <a:r>
                  <a:rPr lang="zh-TW" altLang="en-US" dirty="0"/>
                  <a:t>平面會以</a:t>
                </a:r>
                <a:r>
                  <a:rPr lang="zh-TW" altLang="en-US" sz="1100" i="0">
                    <a:latin typeface="Cambria Math" panose="02040503050406030204" pitchFamily="18" charset="0"/>
                  </a:rPr>
                  <a:t>𝜃</a:t>
                </a:r>
                <a:r>
                  <a:rPr lang="zh-TW" altLang="en-US" dirty="0"/>
                  <a:t>角作旋轉，當單一塊鈮酸鋰施加</a:t>
                </a:r>
                <a:r>
                  <a:rPr lang="en-US" altLang="zh-TW" dirty="0"/>
                  <a:t>Y</a:t>
                </a:r>
                <a:r>
                  <a:rPr lang="zh-TW" altLang="en-US" dirty="0"/>
                  <a:t>方向電場，其極化方向向上時，會旋轉</a:t>
                </a:r>
                <a:r>
                  <a:rPr lang="en-US" altLang="zh-TW" dirty="0"/>
                  <a:t>-</a:t>
                </a:r>
                <a:r>
                  <a:rPr lang="zh-TW" altLang="en-US" sz="1100" i="0">
                    <a:latin typeface="Cambria Math" panose="02040503050406030204" pitchFamily="18" charset="0"/>
                  </a:rPr>
                  <a:t>𝜃</a:t>
                </a:r>
                <a:r>
                  <a:rPr lang="zh-TW" altLang="en-US" dirty="0"/>
                  <a:t>角，而當極化方向向下時，會旋轉</a:t>
                </a:r>
                <a:r>
                  <a:rPr lang="en-US" altLang="zh-TW" sz="1100" i="0" dirty="0">
                    <a:latin typeface="Cambria Math" panose="02040503050406030204" pitchFamily="18" charset="0"/>
                  </a:rPr>
                  <a:t>+</a:t>
                </a:r>
                <a:r>
                  <a:rPr lang="zh-TW" altLang="en-US" sz="1100" i="0">
                    <a:latin typeface="Cambria Math" panose="02040503050406030204" pitchFamily="18" charset="0"/>
                  </a:rPr>
                  <a:t>𝜃</a:t>
                </a:r>
                <a:r>
                  <a:rPr lang="zh-TW" altLang="en-US" dirty="0"/>
                  <a:t>角。</a:t>
                </a:r>
                <a:endParaRPr lang="en-US" altLang="zh-TW" dirty="0"/>
              </a:p>
            </p:txBody>
          </p:sp>
        </mc:Fallback>
      </mc:AlternateContent>
    </p:spTree>
    <p:extLst>
      <p:ext uri="{BB962C8B-B14F-4D97-AF65-F5344CB8AC3E}">
        <p14:creationId xmlns:p14="http://schemas.microsoft.com/office/powerpoint/2010/main" val="14421373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藉由單塊鈮酸鋰會旋轉</a:t>
                </a:r>
                <a:r>
                  <a:rPr lang="en-US" altLang="zh-TW" dirty="0"/>
                  <a:t>+-</a:t>
                </a:r>
                <a14:m>
                  <m:oMath xmlns:m="http://schemas.openxmlformats.org/officeDocument/2006/math">
                    <m:r>
                      <a:rPr lang="zh-TW" altLang="en-US" sz="1100" i="1" smtClean="0">
                        <a:latin typeface="Cambria Math" panose="02040503050406030204" pitchFamily="18" charset="0"/>
                      </a:rPr>
                      <m:t>𝜃</m:t>
                    </m:r>
                  </m:oMath>
                </a14:m>
                <a:r>
                  <a:rPr lang="zh-TW" altLang="en-US" dirty="0"/>
                  <a:t>角的形式，這邊引入一個</a:t>
                </a:r>
                <a:r>
                  <a:rPr lang="zh-TW" altLang="en-US" sz="1100" b="0" i="0" u="none" strike="noStrike" cap="none" baseline="0" dirty="0">
                    <a:solidFill>
                      <a:srgbClr val="000000"/>
                    </a:solidFill>
                    <a:latin typeface="Arial"/>
                    <a:ea typeface="Arial"/>
                    <a:cs typeface="Arial"/>
                    <a:sym typeface="Arial"/>
                  </a:rPr>
                  <a:t>索爾克濾波器，其原理與</a:t>
                </a:r>
                <a:r>
                  <a:rPr lang="en-US" altLang="zh-TW" sz="1100" b="0" i="0" u="none" strike="noStrike" cap="none" baseline="0" dirty="0">
                    <a:solidFill>
                      <a:srgbClr val="000000"/>
                    </a:solidFill>
                    <a:latin typeface="Arial"/>
                    <a:ea typeface="Arial"/>
                    <a:cs typeface="Arial"/>
                    <a:sym typeface="Arial"/>
                  </a:rPr>
                  <a:t>EO-PMC</a:t>
                </a:r>
                <a:r>
                  <a:rPr lang="zh-TW" altLang="en-US" sz="1100" b="0" i="0" u="none" strike="noStrike" cap="none" baseline="0" dirty="0">
                    <a:solidFill>
                      <a:srgbClr val="000000"/>
                    </a:solidFill>
                    <a:latin typeface="Arial"/>
                    <a:ea typeface="Arial"/>
                    <a:cs typeface="Arial"/>
                    <a:sym typeface="Arial"/>
                  </a:rPr>
                  <a:t>相似，他利用一連串的半波板</a:t>
                </a:r>
                <a:r>
                  <a:rPr lang="zh-TW" altLang="en-US" dirty="0"/>
                  <a:t>所組成</a:t>
                </a:r>
                <a:r>
                  <a:rPr lang="zh-TW" altLang="en-US" sz="1100" b="0" i="0" u="none" strike="noStrike" cap="none" baseline="0" dirty="0">
                    <a:solidFill>
                      <a:srgbClr val="000000"/>
                    </a:solidFill>
                    <a:latin typeface="Arial"/>
                    <a:ea typeface="Arial"/>
                    <a:cs typeface="Arial"/>
                    <a:sym typeface="Arial"/>
                  </a:rPr>
                  <a:t>，藉由旋轉光經過晶體後的偏振方向，形成以正負</a:t>
                </a:r>
                <a14:m>
                  <m:oMath xmlns:m="http://schemas.openxmlformats.org/officeDocument/2006/math">
                    <m:r>
                      <a:rPr lang="zh-TW" altLang="en-US" sz="1100" i="1" smtClean="0">
                        <a:latin typeface="Cambria Math" panose="02040503050406030204" pitchFamily="18" charset="0"/>
                      </a:rPr>
                      <m:t>𝜃</m:t>
                    </m:r>
                  </m:oMath>
                </a14:m>
                <a:r>
                  <a:rPr lang="zh-TW" altLang="en-US" dirty="0"/>
                  <a:t>角，並以厚度為</a:t>
                </a:r>
                <a:r>
                  <a:rPr lang="en-US" altLang="zh-TW" dirty="0"/>
                  <a:t>t</a:t>
                </a:r>
                <a:r>
                  <a:rPr lang="zh-TW" altLang="en-US" dirty="0"/>
                  <a:t>的週期交疊排列，最終可將垂直偏振旋轉成水平偏振，因此將</a:t>
                </a:r>
                <a:r>
                  <a:rPr lang="zh-TW" altLang="en-US" sz="1100" b="0" i="0" u="none" strike="noStrike" cap="none" baseline="0" dirty="0">
                    <a:solidFill>
                      <a:srgbClr val="000000"/>
                    </a:solidFill>
                    <a:latin typeface="Arial"/>
                    <a:ea typeface="Arial"/>
                    <a:cs typeface="Arial"/>
                    <a:sym typeface="Arial"/>
                  </a:rPr>
                  <a:t>索爾克濾波器運用在</a:t>
                </a:r>
                <a:r>
                  <a:rPr lang="zh-TW" altLang="en-US" dirty="0"/>
                  <a:t>鈮酸鋰晶體上就稱為</a:t>
                </a:r>
                <a:r>
                  <a:rPr lang="en-US" altLang="zh-TW" dirty="0"/>
                  <a:t>EOPMC</a:t>
                </a:r>
                <a:r>
                  <a:rPr lang="zh-TW" altLang="en-US" dirty="0"/>
                  <a:t>。</a:t>
                </a:r>
                <a:endParaRPr lang="en-US" altLang="zh-TW"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這邊引入一個</a:t>
                </a:r>
                <a:r>
                  <a:rPr lang="zh-TW" altLang="en-US" sz="1100" b="0" i="0" u="none" strike="noStrike" cap="none" baseline="0" dirty="0">
                    <a:solidFill>
                      <a:srgbClr val="000000"/>
                    </a:solidFill>
                    <a:latin typeface="Arial"/>
                    <a:ea typeface="Arial"/>
                    <a:cs typeface="Arial"/>
                    <a:sym typeface="Arial"/>
                  </a:rPr>
                  <a:t>索爾克濾波器，其原理與</a:t>
                </a:r>
                <a:r>
                  <a:rPr lang="en-US" altLang="zh-TW" sz="1100" b="0" i="0" u="none" strike="noStrike" cap="none" baseline="0" dirty="0">
                    <a:solidFill>
                      <a:srgbClr val="000000"/>
                    </a:solidFill>
                    <a:latin typeface="Arial"/>
                    <a:ea typeface="Arial"/>
                    <a:cs typeface="Arial"/>
                    <a:sym typeface="Arial"/>
                  </a:rPr>
                  <a:t>EO-PMC</a:t>
                </a:r>
                <a:r>
                  <a:rPr lang="zh-TW" altLang="en-US" sz="1100" b="0" i="0" u="none" strike="noStrike" cap="none" baseline="0" dirty="0">
                    <a:solidFill>
                      <a:srgbClr val="000000"/>
                    </a:solidFill>
                    <a:latin typeface="Arial"/>
                    <a:ea typeface="Arial"/>
                    <a:cs typeface="Arial"/>
                    <a:sym typeface="Arial"/>
                  </a:rPr>
                  <a:t>相似，他利用一連串的半波板</a:t>
                </a:r>
                <a:r>
                  <a:rPr lang="zh-TW" altLang="en-US" dirty="0"/>
                  <a:t>所組成</a:t>
                </a:r>
                <a:r>
                  <a:rPr lang="zh-TW" altLang="en-US" sz="1100" b="0" i="0" u="none" strike="noStrike" cap="none" baseline="0" dirty="0">
                    <a:solidFill>
                      <a:srgbClr val="000000"/>
                    </a:solidFill>
                    <a:latin typeface="Arial"/>
                    <a:ea typeface="Arial"/>
                    <a:cs typeface="Arial"/>
                    <a:sym typeface="Arial"/>
                  </a:rPr>
                  <a:t>，藉由旋轉光經過晶體後的偏振方向，形成以正負</a:t>
                </a:r>
                <a:r>
                  <a:rPr lang="zh-TW" altLang="en-US" sz="1100" i="0">
                    <a:latin typeface="Cambria Math" panose="02040503050406030204" pitchFamily="18" charset="0"/>
                  </a:rPr>
                  <a:t>𝜃</a:t>
                </a:r>
                <a:r>
                  <a:rPr lang="zh-TW" altLang="en-US" dirty="0"/>
                  <a:t>角，並以厚度為</a:t>
                </a:r>
                <a:r>
                  <a:rPr lang="en-US" altLang="zh-TW" dirty="0"/>
                  <a:t>t</a:t>
                </a:r>
                <a:r>
                  <a:rPr lang="zh-TW" altLang="en-US" dirty="0"/>
                  <a:t>的週期交疊排列，最終可將垂直偏振旋轉成水平偏振，因此將</a:t>
                </a:r>
                <a:r>
                  <a:rPr lang="zh-TW" altLang="en-US" sz="1100" b="0" i="0" u="none" strike="noStrike" cap="none" baseline="0" dirty="0">
                    <a:solidFill>
                      <a:srgbClr val="000000"/>
                    </a:solidFill>
                    <a:latin typeface="Arial"/>
                    <a:ea typeface="Arial"/>
                    <a:cs typeface="Arial"/>
                    <a:sym typeface="Arial"/>
                  </a:rPr>
                  <a:t>索爾克濾波器運用在</a:t>
                </a:r>
                <a:r>
                  <a:rPr lang="zh-TW" altLang="en-US" dirty="0"/>
                  <a:t>鈮酸鋰晶體上就稱為</a:t>
                </a:r>
                <a:r>
                  <a:rPr lang="en-US" altLang="zh-TW" dirty="0"/>
                  <a:t>EOPMC</a:t>
                </a:r>
                <a:r>
                  <a:rPr lang="zh-TW" altLang="en-US" dirty="0"/>
                  <a:t>。</a:t>
                </a:r>
                <a:endParaRPr lang="en-US" altLang="zh-TW" dirty="0"/>
              </a:p>
            </p:txBody>
          </p:sp>
        </mc:Fallback>
      </mc:AlternateContent>
    </p:spTree>
    <p:extLst>
      <p:ext uri="{BB962C8B-B14F-4D97-AF65-F5344CB8AC3E}">
        <p14:creationId xmlns:p14="http://schemas.microsoft.com/office/powerpoint/2010/main" val="10047410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接下來介紹</a:t>
            </a:r>
            <a:r>
              <a:rPr lang="zh-TW" altLang="en-US" sz="1100" dirty="0">
                <a:latin typeface="Montserrat" panose="02020500000000000000" charset="0"/>
              </a:rPr>
              <a:t>一種用於測量兩光子源之間的相關性工具，基於</a:t>
            </a:r>
            <a:r>
              <a:rPr lang="en-US" altLang="zh-TW" sz="1100" dirty="0">
                <a:latin typeface="Montserrat" panose="02020500000000000000" charset="0"/>
              </a:rPr>
              <a:t>HOM</a:t>
            </a:r>
            <a:r>
              <a:rPr lang="zh-TW" altLang="en-US" sz="1100" dirty="0">
                <a:latin typeface="Montserrat" panose="02020500000000000000" charset="0"/>
              </a:rPr>
              <a:t>效應的</a:t>
            </a: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a:t>
            </a:r>
            <a:r>
              <a:rPr lang="zh-TW" altLang="en-US" sz="1100" dirty="0">
                <a:latin typeface="Montserrat" panose="02020500000000000000" charset="0"/>
              </a:rPr>
              <a:t>干涉儀。</a:t>
            </a:r>
            <a:endParaRPr dirty="0"/>
          </a:p>
        </p:txBody>
      </p:sp>
    </p:spTree>
    <p:extLst>
      <p:ext uri="{BB962C8B-B14F-4D97-AF65-F5344CB8AC3E}">
        <p14:creationId xmlns:p14="http://schemas.microsoft.com/office/powerpoint/2010/main" val="4356245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dirty="0">
                <a:latin typeface="Montserrat" panose="02020500000000000000" charset="0"/>
              </a:rPr>
              <a:t>這個實驗在西元</a:t>
            </a:r>
            <a:r>
              <a:rPr lang="en-US" altLang="zh-TW" sz="1100" dirty="0">
                <a:latin typeface="Montserrat" panose="02020500000000000000" charset="0"/>
              </a:rPr>
              <a:t>1987</a:t>
            </a:r>
            <a:r>
              <a:rPr lang="zh-TW" altLang="en-US" sz="1100" dirty="0">
                <a:latin typeface="Montserrat" panose="02020500000000000000" charset="0"/>
              </a:rPr>
              <a:t>年由名稱的三位物理學家實現，而基於量子糾纏</a:t>
            </a:r>
            <a:r>
              <a:rPr lang="en-US" altLang="zh-TW" sz="1100" dirty="0">
                <a:latin typeface="Montserrat" panose="02020500000000000000" charset="0"/>
              </a:rPr>
              <a:t>HOM</a:t>
            </a:r>
            <a:r>
              <a:rPr lang="zh-TW" altLang="en-US" sz="1100" dirty="0">
                <a:latin typeface="Montserrat" panose="02020500000000000000" charset="0"/>
              </a:rPr>
              <a:t>效應即是</a:t>
            </a:r>
            <a:r>
              <a:rPr lang="zh-TW" altLang="en-US" sz="1100" b="0" i="0" u="none" strike="noStrike" cap="none" dirty="0">
                <a:solidFill>
                  <a:srgbClr val="000000"/>
                </a:solidFill>
                <a:effectLst/>
                <a:latin typeface="Arial"/>
                <a:ea typeface="Arial"/>
                <a:cs typeface="Arial"/>
                <a:sym typeface="Arial"/>
              </a:rPr>
              <a:t>量子光學中的雙光子干涉效應，在干涉實驗中最常見的就是分光鏡</a:t>
            </a:r>
            <a:r>
              <a:rPr lang="en-US" altLang="zh-TW" sz="1100" b="0" i="0" u="none" strike="noStrike" cap="none" dirty="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簡稱</a:t>
            </a:r>
            <a:r>
              <a:rPr lang="en-US" altLang="zh-TW" sz="1100" b="0" i="0" u="none" strike="noStrike" cap="none" dirty="0">
                <a:solidFill>
                  <a:srgbClr val="000000"/>
                </a:solidFill>
                <a:effectLst/>
                <a:latin typeface="Arial"/>
                <a:ea typeface="Arial"/>
                <a:cs typeface="Arial"/>
                <a:sym typeface="Arial"/>
              </a:rPr>
              <a:t>BS)</a:t>
            </a:r>
            <a:r>
              <a:rPr lang="zh-TW" altLang="en-US" sz="1100" b="0" i="0" u="none" strike="noStrike" cap="none" dirty="0">
                <a:solidFill>
                  <a:srgbClr val="000000"/>
                </a:solidFill>
                <a:effectLst/>
                <a:latin typeface="Arial"/>
                <a:ea typeface="Arial"/>
                <a:cs typeface="Arial"/>
                <a:sym typeface="Arial"/>
              </a:rPr>
              <a:t>，當兩個光子經過</a:t>
            </a:r>
            <a:r>
              <a:rPr lang="en-US" altLang="zh-TW" sz="1100" b="0" i="0" u="none" strike="noStrike" cap="none" dirty="0">
                <a:solidFill>
                  <a:srgbClr val="000000"/>
                </a:solidFill>
                <a:effectLst/>
                <a:latin typeface="Arial"/>
                <a:ea typeface="Arial"/>
                <a:cs typeface="Arial"/>
                <a:sym typeface="Arial"/>
              </a:rPr>
              <a:t>BS</a:t>
            </a:r>
            <a:r>
              <a:rPr lang="zh-TW" altLang="en-US" sz="1100" b="0" i="0" u="none" strike="noStrike" cap="none" dirty="0">
                <a:solidFill>
                  <a:srgbClr val="000000"/>
                </a:solidFill>
                <a:effectLst/>
                <a:latin typeface="Arial"/>
                <a:ea typeface="Arial"/>
                <a:cs typeface="Arial"/>
                <a:sym typeface="Arial"/>
              </a:rPr>
              <a:t>時會發生四種情形，我們將這兩個光子定義為光子</a:t>
            </a:r>
            <a:r>
              <a:rPr lang="en-US" altLang="zh-TW" sz="1100" b="0" i="0" u="none" strike="noStrike" cap="none" dirty="0">
                <a:solidFill>
                  <a:srgbClr val="000000"/>
                </a:solidFill>
                <a:effectLst/>
                <a:latin typeface="Arial"/>
                <a:ea typeface="Arial"/>
                <a:cs typeface="Arial"/>
                <a:sym typeface="Arial"/>
              </a:rPr>
              <a:t>a</a:t>
            </a:r>
            <a:r>
              <a:rPr lang="zh-TW" altLang="en-US" sz="1100" b="0" i="0" u="none" strike="noStrike" cap="none" dirty="0">
                <a:solidFill>
                  <a:srgbClr val="000000"/>
                </a:solidFill>
                <a:effectLst/>
                <a:latin typeface="Arial"/>
                <a:ea typeface="Arial"/>
                <a:cs typeface="Arial"/>
                <a:sym typeface="Arial"/>
              </a:rPr>
              <a:t>與光子</a:t>
            </a:r>
            <a:r>
              <a:rPr lang="en-US" altLang="zh-TW" sz="1100" b="0" i="0" u="none" strike="noStrike" cap="none" dirty="0">
                <a:solidFill>
                  <a:srgbClr val="000000"/>
                </a:solidFill>
                <a:effectLst/>
                <a:latin typeface="Arial"/>
                <a:ea typeface="Arial"/>
                <a:cs typeface="Arial"/>
                <a:sym typeface="Arial"/>
              </a:rPr>
              <a:t>b</a:t>
            </a:r>
            <a:r>
              <a:rPr lang="zh-TW" altLang="en-US" sz="1100" b="0" i="0" u="none" strike="noStrike" cap="none" dirty="0">
                <a:solidFill>
                  <a:srgbClr val="000000"/>
                </a:solidFill>
                <a:effectLst/>
                <a:latin typeface="Arial"/>
                <a:ea typeface="Arial"/>
                <a:cs typeface="Arial"/>
                <a:sym typeface="Arial"/>
              </a:rPr>
              <a:t>，並假設其具有相同物理特性，</a:t>
            </a:r>
            <a:r>
              <a:rPr lang="en-US" altLang="zh-TW" sz="1100" b="0" i="0" u="none" strike="noStrike" cap="none" dirty="0">
                <a:solidFill>
                  <a:srgbClr val="000000"/>
                </a:solidFill>
                <a:effectLst/>
                <a:latin typeface="Arial"/>
                <a:ea typeface="Arial"/>
                <a:cs typeface="Arial"/>
                <a:sym typeface="Arial"/>
              </a:rPr>
              <a:t>1</a:t>
            </a:r>
            <a:r>
              <a:rPr lang="zh-TW" altLang="en-US" sz="1100" b="0" i="0" u="none" strike="noStrike" cap="none" dirty="0">
                <a:solidFill>
                  <a:srgbClr val="000000"/>
                </a:solidFill>
                <a:effectLst/>
                <a:latin typeface="Arial"/>
                <a:ea typeface="Arial"/>
                <a:cs typeface="Arial"/>
                <a:sym typeface="Arial"/>
              </a:rPr>
              <a:t>為</a:t>
            </a:r>
            <a:r>
              <a:rPr lang="en-US" altLang="zh-TW" sz="1100" b="0" i="0" u="none" strike="noStrike" cap="none" dirty="0">
                <a:solidFill>
                  <a:srgbClr val="000000"/>
                </a:solidFill>
                <a:effectLst/>
                <a:latin typeface="Arial"/>
                <a:ea typeface="Arial"/>
                <a:cs typeface="Arial"/>
                <a:sym typeface="Arial"/>
              </a:rPr>
              <a:t>a</a:t>
            </a:r>
            <a:r>
              <a:rPr lang="zh-TW" altLang="en-US" sz="1100" b="0" i="0" u="none" strike="noStrike" cap="none" dirty="0">
                <a:solidFill>
                  <a:srgbClr val="000000"/>
                </a:solidFill>
                <a:effectLst/>
                <a:latin typeface="Arial"/>
                <a:ea typeface="Arial"/>
                <a:cs typeface="Arial"/>
                <a:sym typeface="Arial"/>
              </a:rPr>
              <a:t>跟</a:t>
            </a:r>
            <a:r>
              <a:rPr lang="en-US" altLang="zh-TW" sz="1100" b="0" i="0" u="none" strike="noStrike" cap="none" dirty="0">
                <a:solidFill>
                  <a:srgbClr val="000000"/>
                </a:solidFill>
                <a:effectLst/>
                <a:latin typeface="Arial"/>
                <a:ea typeface="Arial"/>
                <a:cs typeface="Arial"/>
                <a:sym typeface="Arial"/>
              </a:rPr>
              <a:t>b</a:t>
            </a:r>
            <a:r>
              <a:rPr lang="zh-TW" altLang="en-US" sz="1100" b="0" i="0" u="none" strike="noStrike" cap="none" dirty="0">
                <a:solidFill>
                  <a:srgbClr val="000000"/>
                </a:solidFill>
                <a:effectLst/>
                <a:latin typeface="Arial"/>
                <a:ea typeface="Arial"/>
                <a:cs typeface="Arial"/>
                <a:sym typeface="Arial"/>
              </a:rPr>
              <a:t>都穿透，</a:t>
            </a:r>
            <a:r>
              <a:rPr lang="en-US" altLang="zh-TW" sz="1100" b="0" i="0" u="none" strike="noStrike" cap="none" dirty="0">
                <a:solidFill>
                  <a:srgbClr val="000000"/>
                </a:solidFill>
                <a:effectLst/>
                <a:latin typeface="Arial"/>
                <a:ea typeface="Arial"/>
                <a:cs typeface="Arial"/>
                <a:sym typeface="Arial"/>
              </a:rPr>
              <a:t>2</a:t>
            </a:r>
            <a:r>
              <a:rPr lang="zh-TW" altLang="en-US" sz="1100" b="0" i="0" u="none" strike="noStrike" cap="none" dirty="0">
                <a:solidFill>
                  <a:srgbClr val="000000"/>
                </a:solidFill>
                <a:effectLst/>
                <a:latin typeface="Arial"/>
                <a:ea typeface="Arial"/>
                <a:cs typeface="Arial"/>
                <a:sym typeface="Arial"/>
              </a:rPr>
              <a:t>為</a:t>
            </a:r>
            <a:r>
              <a:rPr lang="en-US" altLang="zh-TW" sz="1100" b="0" i="0" u="none" strike="noStrike" cap="none" dirty="0">
                <a:solidFill>
                  <a:srgbClr val="000000"/>
                </a:solidFill>
                <a:effectLst/>
                <a:latin typeface="Arial"/>
                <a:ea typeface="Arial"/>
                <a:cs typeface="Arial"/>
                <a:sym typeface="Arial"/>
              </a:rPr>
              <a:t>a</a:t>
            </a:r>
            <a:r>
              <a:rPr lang="zh-TW" altLang="en-US" sz="1100" b="0" i="0" u="none" strike="noStrike" cap="none" dirty="0">
                <a:solidFill>
                  <a:srgbClr val="000000"/>
                </a:solidFill>
                <a:effectLst/>
                <a:latin typeface="Arial"/>
                <a:ea typeface="Arial"/>
                <a:cs typeface="Arial"/>
                <a:sym typeface="Arial"/>
              </a:rPr>
              <a:t>穿透</a:t>
            </a:r>
            <a:r>
              <a:rPr lang="en-US" altLang="zh-TW" sz="1100" b="0" i="0" u="none" strike="noStrike" cap="none" dirty="0">
                <a:solidFill>
                  <a:srgbClr val="000000"/>
                </a:solidFill>
                <a:effectLst/>
                <a:latin typeface="Arial"/>
                <a:ea typeface="Arial"/>
                <a:cs typeface="Arial"/>
                <a:sym typeface="Arial"/>
              </a:rPr>
              <a:t>b</a:t>
            </a:r>
            <a:r>
              <a:rPr lang="zh-TW" altLang="en-US" sz="1100" b="0" i="0" u="none" strike="noStrike" cap="none" dirty="0">
                <a:solidFill>
                  <a:srgbClr val="000000"/>
                </a:solidFill>
                <a:effectLst/>
                <a:latin typeface="Arial"/>
                <a:ea typeface="Arial"/>
                <a:cs typeface="Arial"/>
                <a:sym typeface="Arial"/>
              </a:rPr>
              <a:t>反射，</a:t>
            </a:r>
            <a:r>
              <a:rPr lang="en-US" altLang="zh-TW" sz="1100" b="0" i="0" u="none" strike="noStrike" cap="none" dirty="0">
                <a:solidFill>
                  <a:srgbClr val="000000"/>
                </a:solidFill>
                <a:effectLst/>
                <a:latin typeface="Arial"/>
                <a:ea typeface="Arial"/>
                <a:cs typeface="Arial"/>
                <a:sym typeface="Arial"/>
              </a:rPr>
              <a:t>3</a:t>
            </a:r>
            <a:r>
              <a:rPr lang="zh-TW" altLang="en-US" sz="1100" b="0" i="0" u="none" strike="noStrike" cap="none" dirty="0">
                <a:solidFill>
                  <a:srgbClr val="000000"/>
                </a:solidFill>
                <a:effectLst/>
                <a:latin typeface="Arial"/>
                <a:ea typeface="Arial"/>
                <a:cs typeface="Arial"/>
                <a:sym typeface="Arial"/>
              </a:rPr>
              <a:t>為</a:t>
            </a:r>
            <a:r>
              <a:rPr lang="en-US" altLang="zh-TW" sz="1100" b="0" i="0" u="none" strike="noStrike" cap="none" dirty="0">
                <a:solidFill>
                  <a:srgbClr val="000000"/>
                </a:solidFill>
                <a:effectLst/>
                <a:latin typeface="Arial"/>
                <a:ea typeface="Arial"/>
                <a:cs typeface="Arial"/>
                <a:sym typeface="Arial"/>
              </a:rPr>
              <a:t>a</a:t>
            </a:r>
            <a:r>
              <a:rPr lang="zh-TW" altLang="en-US" sz="1100" b="0" i="0" u="none" strike="noStrike" cap="none" dirty="0">
                <a:solidFill>
                  <a:srgbClr val="000000"/>
                </a:solidFill>
                <a:effectLst/>
                <a:latin typeface="Arial"/>
                <a:ea typeface="Arial"/>
                <a:cs typeface="Arial"/>
                <a:sym typeface="Arial"/>
              </a:rPr>
              <a:t>反射</a:t>
            </a:r>
            <a:r>
              <a:rPr lang="en-US" altLang="zh-TW" sz="1100" b="0" i="0" u="none" strike="noStrike" cap="none" dirty="0">
                <a:solidFill>
                  <a:srgbClr val="000000"/>
                </a:solidFill>
                <a:effectLst/>
                <a:latin typeface="Arial"/>
                <a:ea typeface="Arial"/>
                <a:cs typeface="Arial"/>
                <a:sym typeface="Arial"/>
              </a:rPr>
              <a:t>b</a:t>
            </a:r>
            <a:r>
              <a:rPr lang="zh-TW" altLang="en-US" sz="1100" b="0" i="0" u="none" strike="noStrike" cap="none" dirty="0">
                <a:solidFill>
                  <a:srgbClr val="000000"/>
                </a:solidFill>
                <a:effectLst/>
                <a:latin typeface="Arial"/>
                <a:ea typeface="Arial"/>
                <a:cs typeface="Arial"/>
                <a:sym typeface="Arial"/>
              </a:rPr>
              <a:t>穿透，</a:t>
            </a:r>
            <a:r>
              <a:rPr lang="en-US" altLang="zh-TW" sz="1100" b="0" i="0" u="none" strike="noStrike" cap="none" dirty="0">
                <a:solidFill>
                  <a:srgbClr val="000000"/>
                </a:solidFill>
                <a:effectLst/>
                <a:latin typeface="Arial"/>
                <a:ea typeface="Arial"/>
                <a:cs typeface="Arial"/>
                <a:sym typeface="Arial"/>
              </a:rPr>
              <a:t>4</a:t>
            </a:r>
            <a:r>
              <a:rPr lang="zh-TW" altLang="en-US" sz="1100" b="0" i="0" u="none" strike="noStrike" cap="none" dirty="0">
                <a:solidFill>
                  <a:srgbClr val="000000"/>
                </a:solidFill>
                <a:effectLst/>
                <a:latin typeface="Arial"/>
                <a:ea typeface="Arial"/>
                <a:cs typeface="Arial"/>
                <a:sym typeface="Arial"/>
              </a:rPr>
              <a:t>為</a:t>
            </a:r>
            <a:r>
              <a:rPr lang="en-US" altLang="zh-TW" sz="1100" b="0" i="0" u="none" strike="noStrike" cap="none" dirty="0">
                <a:solidFill>
                  <a:srgbClr val="000000"/>
                </a:solidFill>
                <a:effectLst/>
                <a:latin typeface="Arial"/>
                <a:ea typeface="Arial"/>
                <a:cs typeface="Arial"/>
                <a:sym typeface="Arial"/>
              </a:rPr>
              <a:t>a</a:t>
            </a:r>
            <a:r>
              <a:rPr lang="zh-TW" altLang="en-US" sz="1100" b="0" i="0" u="none" strike="noStrike" cap="none" dirty="0">
                <a:solidFill>
                  <a:srgbClr val="000000"/>
                </a:solidFill>
                <a:effectLst/>
                <a:latin typeface="Arial"/>
                <a:ea typeface="Arial"/>
                <a:cs typeface="Arial"/>
                <a:sym typeface="Arial"/>
              </a:rPr>
              <a:t>與</a:t>
            </a:r>
            <a:r>
              <a:rPr lang="en-US" altLang="zh-TW" sz="1100" b="0" i="0" u="none" strike="noStrike" cap="none" dirty="0">
                <a:solidFill>
                  <a:srgbClr val="000000"/>
                </a:solidFill>
                <a:effectLst/>
                <a:latin typeface="Arial"/>
                <a:ea typeface="Arial"/>
                <a:cs typeface="Arial"/>
                <a:sym typeface="Arial"/>
              </a:rPr>
              <a:t>b</a:t>
            </a:r>
            <a:r>
              <a:rPr lang="zh-TW" altLang="en-US" sz="1100" b="0" i="0" u="none" strike="noStrike" cap="none" dirty="0">
                <a:solidFill>
                  <a:srgbClr val="000000"/>
                </a:solidFill>
                <a:effectLst/>
                <a:latin typeface="Arial"/>
                <a:ea typeface="Arial"/>
                <a:cs typeface="Arial"/>
                <a:sym typeface="Arial"/>
              </a:rPr>
              <a:t>皆反射，而這邊我們假設穿透及反射的機率相等，因此最後只剩式子</a:t>
            </a:r>
            <a:r>
              <a:rPr lang="en-US" altLang="zh-TW" sz="1100" b="0" i="0" u="none" strike="noStrike" cap="none" dirty="0">
                <a:solidFill>
                  <a:srgbClr val="000000"/>
                </a:solidFill>
                <a:effectLst/>
                <a:latin typeface="Arial"/>
                <a:ea typeface="Arial"/>
                <a:cs typeface="Arial"/>
                <a:sym typeface="Arial"/>
              </a:rPr>
              <a:t>(12)</a:t>
            </a:r>
            <a:r>
              <a:rPr lang="zh-TW" altLang="en-US" sz="1100" b="0" i="0" u="none" strike="noStrike" cap="none" dirty="0">
                <a:solidFill>
                  <a:srgbClr val="000000"/>
                </a:solidFill>
                <a:effectLst/>
                <a:latin typeface="Arial"/>
                <a:ea typeface="Arial"/>
                <a:cs typeface="Arial"/>
                <a:sym typeface="Arial"/>
              </a:rPr>
              <a:t>的這兩種情況。</a:t>
            </a:r>
            <a:endParaRPr lang="en-US" altLang="zh-TW"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1597100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a:t>
                </a:r>
                <a:r>
                  <a:rPr lang="en-US" altLang="zh-TW" dirty="0"/>
                  <a:t>HOM</a:t>
                </a:r>
                <a:r>
                  <a:rPr lang="zh-TW" altLang="en-US" dirty="0"/>
                  <a:t>傾角是基於</a:t>
                </a:r>
                <a:r>
                  <a:rPr lang="en-US" altLang="zh-TW" dirty="0"/>
                  <a:t>HOM</a:t>
                </a:r>
                <a:r>
                  <a:rPr lang="zh-TW" altLang="en-US" dirty="0"/>
                  <a:t>干涉實驗的現象，</a:t>
                </a:r>
                <a:r>
                  <a:rPr lang="en-US" altLang="zh-TW" dirty="0"/>
                  <a:t>SPDC</a:t>
                </a:r>
                <a:r>
                  <a:rPr lang="zh-TW" altLang="en-US" dirty="0"/>
                  <a:t>產生的單光子透過一些光學元件使其在頻譜、時間和偏振上相同即可進行干涉。如式子</a:t>
                </a:r>
                <a:r>
                  <a:rPr lang="en-US" altLang="zh-TW" dirty="0"/>
                  <a:t>(13)</a:t>
                </a:r>
                <a:r>
                  <a:rPr lang="zh-TW" altLang="en-US" dirty="0"/>
                  <a:t> 兩台偵測器所偵測到的訊號可以寫成這樣，正負表示為正負頻率，而標號的四個又可以利用式子</a:t>
                </a:r>
                <a:r>
                  <a:rPr lang="en-US" altLang="zh-TW" dirty="0"/>
                  <a:t>(14)~(17)</a:t>
                </a:r>
                <a:r>
                  <a:rPr lang="zh-TW" altLang="en-US" dirty="0"/>
                  <a:t>代入，總共會有</a:t>
                </a:r>
                <a:r>
                  <a:rPr lang="en-US" altLang="zh-TW" dirty="0"/>
                  <a:t>16</a:t>
                </a:r>
                <a:r>
                  <a:rPr lang="zh-TW" altLang="en-US" dirty="0"/>
                  <a:t>項，利用剛剛提到的經過分光鏡會有的四種情況，所以最後剩下</a:t>
                </a:r>
                <a:r>
                  <a:rPr lang="en-US" altLang="zh-TW" dirty="0"/>
                  <a:t>4</a:t>
                </a:r>
                <a:r>
                  <a:rPr lang="zh-TW" altLang="en-US" dirty="0"/>
                  <a:t>項，有了</a:t>
                </a:r>
                <a:r>
                  <a:rPr lang="en-US" altLang="zh-TW" dirty="0"/>
                  <a:t>G</a:t>
                </a:r>
                <a:r>
                  <a:rPr lang="zh-TW" altLang="en-US" dirty="0"/>
                  <a:t>值後，</a:t>
                </a:r>
                <a:r>
                  <a:rPr lang="zh-TW" altLang="en-US" sz="1100" b="0" i="0" u="none" strike="noStrike" cap="none" baseline="0" dirty="0">
                    <a:solidFill>
                      <a:srgbClr val="000000"/>
                    </a:solidFill>
                    <a:latin typeface="Arial"/>
                    <a:ea typeface="Arial"/>
                    <a:cs typeface="Arial"/>
                    <a:sym typeface="Arial"/>
                  </a:rPr>
                  <a:t>我們就可以得知在某個特定時刻的個數強度是什麼，但是實驗上的強度還得取決於偵測器本身的偵測效率與偵測時間，</a:t>
                </a:r>
                <a:r>
                  <a:rPr lang="en-US" altLang="zh-TW" sz="1100" b="0" i="0" u="none" strike="noStrike" cap="none" baseline="0" dirty="0">
                    <a:solidFill>
                      <a:srgbClr val="000000"/>
                    </a:solidFill>
                    <a:latin typeface="Arial"/>
                    <a:ea typeface="Arial"/>
                    <a:cs typeface="Arial"/>
                    <a:sym typeface="Arial"/>
                  </a:rPr>
                  <a:t>P</a:t>
                </a:r>
                <a:r>
                  <a:rPr lang="zh-TW" altLang="en-US" sz="1100" b="0" i="0" u="none" strike="noStrike" cap="none" baseline="0" dirty="0">
                    <a:solidFill>
                      <a:srgbClr val="000000"/>
                    </a:solidFill>
                    <a:latin typeface="Arial"/>
                    <a:ea typeface="Arial"/>
                    <a:cs typeface="Arial"/>
                    <a:sym typeface="Arial"/>
                  </a:rPr>
                  <a:t>就是來描述對於偵測時間的關係，經過計算最後會得知偵測機率與後面這一項成正比如式子</a:t>
                </a:r>
                <a:r>
                  <a:rPr lang="en-US" altLang="zh-TW" sz="1100" b="0" i="0" u="none" strike="noStrike" cap="none" baseline="0" dirty="0">
                    <a:solidFill>
                      <a:srgbClr val="000000"/>
                    </a:solidFill>
                    <a:latin typeface="Arial"/>
                    <a:ea typeface="Arial"/>
                    <a:cs typeface="Arial"/>
                    <a:sym typeface="Arial"/>
                  </a:rPr>
                  <a:t>(18)</a:t>
                </a:r>
                <a:r>
                  <a:rPr lang="zh-TW" altLang="en-US" sz="1100" b="0" i="0" u="none" strike="noStrike" cap="none" baseline="0" dirty="0">
                    <a:solidFill>
                      <a:srgbClr val="000000"/>
                    </a:solidFill>
                    <a:latin typeface="Arial"/>
                    <a:ea typeface="Arial"/>
                    <a:cs typeface="Arial"/>
                    <a:sym typeface="Arial"/>
                  </a:rPr>
                  <a:t>，由右上圖知道當</a:t>
                </a:r>
                <a14:m>
                  <m:oMath xmlns:m="http://schemas.openxmlformats.org/officeDocument/2006/math">
                    <m:r>
                      <a:rPr lang="zh-TW" altLang="en-US" sz="1100" i="1" dirty="0" smtClean="0">
                        <a:latin typeface="Cambria Math" panose="02040503050406030204" pitchFamily="18" charset="0"/>
                      </a:rPr>
                      <m:t>𝜏</m:t>
                    </m:r>
                    <m:r>
                      <a:rPr lang="en-US" altLang="zh-TW" sz="1100" i="1">
                        <a:latin typeface="Cambria Math" panose="02040503050406030204" pitchFamily="18" charset="0"/>
                        <a:ea typeface="Cambria Math" panose="02040503050406030204" pitchFamily="18" charset="0"/>
                      </a:rPr>
                      <m:t>=0</m:t>
                    </m:r>
                  </m:oMath>
                </a14:m>
                <a:r>
                  <a:rPr lang="zh-TW" altLang="en-US" dirty="0"/>
                  <a:t>，加上理想狀態時</a:t>
                </a:r>
                <a14:m>
                  <m:oMath xmlns:m="http://schemas.openxmlformats.org/officeDocument/2006/math">
                    <m:r>
                      <a:rPr lang="en-US" altLang="zh-TW" sz="1100" i="1" smtClean="0">
                        <a:latin typeface="Cambria Math" panose="02040503050406030204" pitchFamily="18" charset="0"/>
                      </a:rPr>
                      <m:t>𝑅</m:t>
                    </m:r>
                    <m:r>
                      <a:rPr lang="en-US" altLang="zh-TW" sz="1100" i="1" smtClean="0">
                        <a:latin typeface="Cambria Math" panose="02040503050406030204" pitchFamily="18" charset="0"/>
                        <a:ea typeface="Cambria Math" panose="02040503050406030204" pitchFamily="18" charset="0"/>
                      </a:rPr>
                      <m:t>+</m:t>
                    </m:r>
                    <m:r>
                      <a:rPr lang="en-US" altLang="zh-TW" sz="1100" i="1">
                        <a:latin typeface="Cambria Math" panose="02040503050406030204" pitchFamily="18" charset="0"/>
                        <a:ea typeface="Cambria Math" panose="02040503050406030204" pitchFamily="18" charset="0"/>
                      </a:rPr>
                      <m:t>𝑇</m:t>
                    </m:r>
                    <m:r>
                      <a:rPr lang="en-US" altLang="zh-TW" sz="1100" i="1" smtClean="0">
                        <a:latin typeface="Cambria Math" panose="02040503050406030204" pitchFamily="18" charset="0"/>
                        <a:ea typeface="Cambria Math" panose="02040503050406030204" pitchFamily="18" charset="0"/>
                      </a:rPr>
                      <m:t>=</m:t>
                    </m:r>
                  </m:oMath>
                </a14:m>
                <a:r>
                  <a:rPr lang="en-US" altLang="zh-TW" dirty="0"/>
                  <a:t>1</a:t>
                </a:r>
                <a:r>
                  <a:rPr lang="zh-TW" altLang="en-US" dirty="0"/>
                  <a:t>時，偵測機率等於</a:t>
                </a:r>
                <a:r>
                  <a:rPr lang="en-US" altLang="zh-TW" dirty="0"/>
                  <a:t>0</a:t>
                </a:r>
                <a:r>
                  <a:rPr lang="zh-TW" altLang="en-US" dirty="0"/>
                  <a:t>，此處也等於破壞性干涉，我們利用可見度來表示其干涉程度，另外相依光子之可見度就是用來</a:t>
                </a:r>
                <a:r>
                  <a:rPr lang="zh-TW" altLang="en-US" sz="1100" b="0" i="0" u="none" strike="noStrike" cap="none" baseline="0" dirty="0">
                    <a:solidFill>
                      <a:srgbClr val="000000"/>
                    </a:solidFill>
                    <a:latin typeface="Arial"/>
                    <a:ea typeface="Arial"/>
                    <a:cs typeface="Arial"/>
                    <a:sym typeface="Arial"/>
                  </a:rPr>
                  <a:t>判斷光子是否為可以區分的。</a:t>
                </a:r>
                <a:endParaRPr lang="en-US" altLang="zh-TW"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a:t>
                </a:r>
                <a:r>
                  <a:rPr lang="en-US" altLang="zh-TW" dirty="0"/>
                  <a:t>HOM</a:t>
                </a:r>
                <a:r>
                  <a:rPr lang="zh-TW" altLang="en-US" dirty="0"/>
                  <a:t>傾角是基於</a:t>
                </a:r>
                <a:r>
                  <a:rPr lang="en-US" altLang="zh-TW" dirty="0"/>
                  <a:t>HOM</a:t>
                </a:r>
                <a:r>
                  <a:rPr lang="zh-TW" altLang="en-US" dirty="0"/>
                  <a:t>干涉實驗的現象，</a:t>
                </a:r>
                <a:r>
                  <a:rPr lang="en-US" altLang="zh-TW" dirty="0"/>
                  <a:t>SPDC</a:t>
                </a:r>
                <a:r>
                  <a:rPr lang="zh-TW" altLang="en-US" dirty="0"/>
                  <a:t>產生的單光子透過一些光學元件使其在頻譜、時間和偏振上相同即可進行干涉。如式子</a:t>
                </a:r>
                <a:r>
                  <a:rPr lang="en-US" altLang="zh-TW" dirty="0"/>
                  <a:t>(11)</a:t>
                </a:r>
                <a:r>
                  <a:rPr lang="zh-TW" altLang="en-US" dirty="0"/>
                  <a:t> 兩台偵測器所偵測到的訊號可以寫成這樣，正負表示為正負頻率，而標號的四個又可以利用式子</a:t>
                </a:r>
                <a:r>
                  <a:rPr lang="en-US" altLang="zh-TW" dirty="0"/>
                  <a:t>(12)~(15)</a:t>
                </a:r>
                <a:r>
                  <a:rPr lang="zh-TW" altLang="en-US" dirty="0"/>
                  <a:t>代入，總共會有</a:t>
                </a:r>
                <a:r>
                  <a:rPr lang="en-US" altLang="zh-TW" dirty="0"/>
                  <a:t>16</a:t>
                </a:r>
                <a:r>
                  <a:rPr lang="zh-TW" altLang="en-US" dirty="0"/>
                  <a:t>項，利用剛剛提到的經過分光鏡會有的四種情況，所以最後剩下</a:t>
                </a:r>
                <a:r>
                  <a:rPr lang="en-US" altLang="zh-TW" dirty="0"/>
                  <a:t>4</a:t>
                </a:r>
                <a:r>
                  <a:rPr lang="zh-TW" altLang="en-US" dirty="0"/>
                  <a:t>項，有了</a:t>
                </a:r>
                <a:r>
                  <a:rPr lang="en-US" altLang="zh-TW" dirty="0"/>
                  <a:t>G12</a:t>
                </a:r>
                <a:r>
                  <a:rPr lang="zh-TW" altLang="en-US" dirty="0"/>
                  <a:t>值後，</a:t>
                </a:r>
                <a:r>
                  <a:rPr lang="zh-TW" altLang="en-US" sz="1100" b="0" i="0" u="none" strike="noStrike" cap="none" baseline="0" dirty="0">
                    <a:solidFill>
                      <a:srgbClr val="000000"/>
                    </a:solidFill>
                    <a:latin typeface="Arial"/>
                    <a:ea typeface="Arial"/>
                    <a:cs typeface="Arial"/>
                    <a:sym typeface="Arial"/>
                  </a:rPr>
                  <a:t>我們就可以得知在某個特定時刻的個數強度是什麼，但是實驗上的強度還得取決於偵測器本身的偵測效率與偵測時間，</a:t>
                </a:r>
                <a:r>
                  <a:rPr lang="en-US" altLang="zh-TW" sz="1100" b="0" i="0" u="none" strike="noStrike" cap="none" baseline="0" dirty="0">
                    <a:solidFill>
                      <a:srgbClr val="000000"/>
                    </a:solidFill>
                    <a:latin typeface="Arial"/>
                    <a:ea typeface="Arial"/>
                    <a:cs typeface="Arial"/>
                    <a:sym typeface="Arial"/>
                  </a:rPr>
                  <a:t>P12</a:t>
                </a:r>
                <a:r>
                  <a:rPr lang="zh-TW" altLang="en-US" sz="1100" b="0" i="0" u="none" strike="noStrike" cap="none" baseline="0" dirty="0">
                    <a:solidFill>
                      <a:srgbClr val="000000"/>
                    </a:solidFill>
                    <a:latin typeface="Arial"/>
                    <a:ea typeface="Arial"/>
                    <a:cs typeface="Arial"/>
                    <a:sym typeface="Arial"/>
                  </a:rPr>
                  <a:t>為描述對於偵測時間的關係，經過計算最後會得知偵測機率與後面這一項成正比如式子</a:t>
                </a:r>
                <a:r>
                  <a:rPr lang="en-US" altLang="zh-TW" sz="1100" b="0" i="0" u="none" strike="noStrike" cap="none" baseline="0" dirty="0">
                    <a:solidFill>
                      <a:srgbClr val="000000"/>
                    </a:solidFill>
                    <a:latin typeface="Arial"/>
                    <a:ea typeface="Arial"/>
                    <a:cs typeface="Arial"/>
                    <a:sym typeface="Arial"/>
                  </a:rPr>
                  <a:t>(16)</a:t>
                </a:r>
                <a:r>
                  <a:rPr lang="zh-TW" altLang="en-US" sz="1100" b="0" i="0" u="none" strike="noStrike" cap="none" baseline="0" dirty="0">
                    <a:solidFill>
                      <a:srgbClr val="000000"/>
                    </a:solidFill>
                    <a:latin typeface="Arial"/>
                    <a:ea typeface="Arial"/>
                    <a:cs typeface="Arial"/>
                    <a:sym typeface="Arial"/>
                  </a:rPr>
                  <a:t>，由右上圖知道當</a:t>
                </a:r>
                <a:r>
                  <a:rPr lang="zh-TW" altLang="en-US" sz="1100" i="0" dirty="0">
                    <a:latin typeface="Cambria Math" panose="02040503050406030204" pitchFamily="18" charset="0"/>
                  </a:rPr>
                  <a:t>𝜏</a:t>
                </a:r>
                <a:r>
                  <a:rPr lang="en-US" altLang="zh-TW" sz="1100" i="0">
                    <a:latin typeface="Cambria Math" panose="02040503050406030204" pitchFamily="18" charset="0"/>
                    <a:ea typeface="Cambria Math" panose="02040503050406030204" pitchFamily="18" charset="0"/>
                  </a:rPr>
                  <a:t>=0</a:t>
                </a:r>
                <a:r>
                  <a:rPr lang="zh-TW" altLang="en-US" dirty="0"/>
                  <a:t>，加上理想狀態時</a:t>
                </a:r>
                <a:r>
                  <a:rPr lang="en-US" altLang="zh-TW" sz="1100" i="0">
                    <a:latin typeface="Cambria Math" panose="02040503050406030204" pitchFamily="18" charset="0"/>
                  </a:rPr>
                  <a:t>𝑅</a:t>
                </a:r>
                <a:r>
                  <a:rPr lang="en-US" altLang="zh-TW" sz="1100" i="0">
                    <a:latin typeface="Cambria Math" panose="02040503050406030204" pitchFamily="18" charset="0"/>
                    <a:ea typeface="Cambria Math" panose="02040503050406030204" pitchFamily="18" charset="0"/>
                  </a:rPr>
                  <a:t>+𝑇=</a:t>
                </a:r>
                <a:r>
                  <a:rPr lang="en-US" altLang="zh-TW" dirty="0"/>
                  <a:t>1</a:t>
                </a:r>
                <a:r>
                  <a:rPr lang="zh-TW" altLang="en-US" dirty="0"/>
                  <a:t>時，偵測機率等於</a:t>
                </a:r>
                <a:r>
                  <a:rPr lang="en-US" altLang="zh-TW" dirty="0"/>
                  <a:t>0</a:t>
                </a:r>
                <a:r>
                  <a:rPr lang="zh-TW" altLang="en-US" dirty="0"/>
                  <a:t>，此處也等於破壞性干涉，我們利用可見度來表示其干涉程度，另外相依光子之可見度就是用來</a:t>
                </a:r>
                <a:r>
                  <a:rPr lang="zh-TW" altLang="en-US" sz="1100" b="0" i="0" u="none" strike="noStrike" cap="none" baseline="0" dirty="0">
                    <a:solidFill>
                      <a:srgbClr val="000000"/>
                    </a:solidFill>
                    <a:latin typeface="Arial"/>
                    <a:ea typeface="Arial"/>
                    <a:cs typeface="Arial"/>
                    <a:sym typeface="Arial"/>
                  </a:rPr>
                  <a:t>判斷光子是否為可以區分的。</a:t>
                </a:r>
                <a:endParaRPr lang="en-US" altLang="zh-TW" dirty="0"/>
              </a:p>
            </p:txBody>
          </p:sp>
        </mc:Fallback>
      </mc:AlternateContent>
    </p:spTree>
    <p:extLst>
      <p:ext uri="{BB962C8B-B14F-4D97-AF65-F5344CB8AC3E}">
        <p14:creationId xmlns:p14="http://schemas.microsoft.com/office/powerpoint/2010/main" val="2750079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最後藉由推導式子來說明在施加電壓後，</a:t>
            </a:r>
            <a:r>
              <a:rPr lang="en-US" altLang="zh-TW" dirty="0"/>
              <a:t>SPDC</a:t>
            </a:r>
            <a:r>
              <a:rPr lang="zh-TW" altLang="en-US" dirty="0"/>
              <a:t>頻譜的變化情形。</a:t>
            </a:r>
            <a:endParaRPr dirty="0"/>
          </a:p>
        </p:txBody>
      </p:sp>
    </p:spTree>
    <p:extLst>
      <p:ext uri="{BB962C8B-B14F-4D97-AF65-F5344CB8AC3E}">
        <p14:creationId xmlns:p14="http://schemas.microsoft.com/office/powerpoint/2010/main" val="27493027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一般描述</a:t>
            </a:r>
            <a:r>
              <a:rPr lang="en-US" altLang="zh-TW" dirty="0"/>
              <a:t>SPDC</a:t>
            </a:r>
            <a:r>
              <a:rPr lang="zh-TW" altLang="en-US" dirty="0"/>
              <a:t>的量子態可以寫成式子</a:t>
            </a:r>
            <a:r>
              <a:rPr lang="en-US" altLang="zh-TW" dirty="0"/>
              <a:t>(20)</a:t>
            </a:r>
            <a:r>
              <a:rPr lang="zh-TW" altLang="en-US" dirty="0"/>
              <a:t>，其中</a:t>
            </a:r>
            <a:r>
              <a:rPr lang="en-US" altLang="zh-TW" dirty="0"/>
              <a:t>a</a:t>
            </a:r>
            <a:r>
              <a:rPr lang="zh-TW" altLang="en-US" dirty="0"/>
              <a:t>代表帶有</a:t>
            </a:r>
            <a:r>
              <a:rPr lang="en-US" altLang="zh-TW" dirty="0"/>
              <a:t>signal</a:t>
            </a:r>
            <a:r>
              <a:rPr lang="zh-TW" altLang="en-US" dirty="0"/>
              <a:t>頻率的水平偏振，</a:t>
            </a:r>
            <a:r>
              <a:rPr lang="en-US" altLang="zh-TW" dirty="0"/>
              <a:t>b</a:t>
            </a:r>
            <a:r>
              <a:rPr lang="zh-TW" altLang="en-US" dirty="0"/>
              <a:t>為帶有</a:t>
            </a:r>
            <a:r>
              <a:rPr lang="en-US" altLang="zh-TW" dirty="0"/>
              <a:t>idler</a:t>
            </a:r>
            <a:r>
              <a:rPr lang="zh-TW" altLang="en-US" dirty="0"/>
              <a:t>頻率的垂直偏振。</a:t>
            </a:r>
          </a:p>
        </p:txBody>
      </p:sp>
    </p:spTree>
    <p:extLst>
      <p:ext uri="{BB962C8B-B14F-4D97-AF65-F5344CB8AC3E}">
        <p14:creationId xmlns:p14="http://schemas.microsoft.com/office/powerpoint/2010/main" val="31417294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158750" indent="0">
                  <a:buNone/>
                </a:pPr>
                <a:r>
                  <a:rPr lang="zh-TW" altLang="en-US" dirty="0"/>
                  <a:t>當我們加入</a:t>
                </a:r>
                <a:r>
                  <a:rPr lang="en-US" altLang="zh-TW" dirty="0"/>
                  <a:t>EOPMC</a:t>
                </a:r>
                <a:r>
                  <a:rPr lang="zh-TW" altLang="en-US" dirty="0"/>
                  <a:t>的過程後，前面的</a:t>
                </a:r>
                <a:r>
                  <a:rPr lang="en-US" altLang="zh-TW" dirty="0"/>
                  <a:t>a</a:t>
                </a:r>
                <a:r>
                  <a:rPr lang="zh-TW" altLang="en-US" dirty="0"/>
                  <a:t>與</a:t>
                </a:r>
                <a:r>
                  <a:rPr lang="en-US" altLang="zh-TW" dirty="0"/>
                  <a:t>b</a:t>
                </a:r>
                <a:r>
                  <a:rPr lang="zh-TW" altLang="en-US" dirty="0"/>
                  <a:t>可以改寫成這樣，他們包含了電場的參數以及施加電壓後的變化，將改寫的式子</a:t>
                </a:r>
                <a:r>
                  <a:rPr lang="en-US" altLang="zh-TW" dirty="0"/>
                  <a:t>(21)</a:t>
                </a:r>
                <a:r>
                  <a:rPr lang="zh-TW" altLang="en-US" dirty="0"/>
                  <a:t>及</a:t>
                </a:r>
                <a:r>
                  <a:rPr lang="en-US" altLang="zh-TW" dirty="0"/>
                  <a:t>(22)</a:t>
                </a:r>
                <a:r>
                  <a:rPr lang="zh-TW" altLang="en-US" dirty="0"/>
                  <a:t>帶回原式計算後可得式子</a:t>
                </a:r>
                <a:r>
                  <a:rPr lang="en-US" altLang="zh-TW" dirty="0"/>
                  <a:t>(23)</a:t>
                </a:r>
                <a:r>
                  <a:rPr lang="zh-TW" altLang="en-US" dirty="0"/>
                  <a:t>，其描述加入</a:t>
                </a:r>
                <a:r>
                  <a:rPr lang="en-US" altLang="zh-TW" dirty="0"/>
                  <a:t>EOPMC</a:t>
                </a:r>
                <a:r>
                  <a:rPr lang="zh-TW" altLang="en-US" dirty="0"/>
                  <a:t>之後，產生的光子偏振的四種狀態，每一個</a:t>
                </a:r>
                <a:r>
                  <a:rPr lang="en-US" altLang="zh-TW" dirty="0"/>
                  <a:t>state</a:t>
                </a:r>
                <a:r>
                  <a:rPr lang="zh-TW" altLang="en-US" dirty="0"/>
                  <a:t>都會有一個相位匹配補償項</a:t>
                </a:r>
                <a14:m>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𝑘</m:t>
                    </m:r>
                  </m:oMath>
                </a14:m>
                <a:r>
                  <a:rPr lang="zh-TW" altLang="en-US" dirty="0"/>
                  <a:t>，而這些</a:t>
                </a:r>
                <a14:m>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𝑘</m:t>
                    </m:r>
                  </m:oMath>
                </a14:m>
                <a:r>
                  <a:rPr lang="zh-TW" altLang="en-US" dirty="0"/>
                  <a:t>將會決定其頻寬，其中</a:t>
                </a:r>
                <a14:m>
                  <m:oMath xmlns:m="http://schemas.openxmlformats.org/officeDocument/2006/math">
                    <m:sSub>
                      <m:sSubPr>
                        <m:ctrlPr>
                          <a:rPr lang="en-US" altLang="zh-TW" sz="1100" b="0" i="1" smtClean="0">
                            <a:solidFill>
                              <a:schemeClr val="tx2"/>
                            </a:solidFill>
                            <a:latin typeface="Cambria Math" panose="02040503050406030204" pitchFamily="18" charset="0"/>
                          </a:rPr>
                        </m:ctrlPr>
                      </m:sSubPr>
                      <m:e>
                        <m:r>
                          <a:rPr lang="zh-TW" altLang="en-US" sz="1100" b="0" i="1">
                            <a:solidFill>
                              <a:schemeClr val="tx2"/>
                            </a:solidFill>
                            <a:latin typeface="Cambria Math" panose="02040503050406030204" pitchFamily="18" charset="0"/>
                          </a:rPr>
                          <m:t>𝜓</m:t>
                        </m:r>
                      </m:e>
                      <m:sub>
                        <m:r>
                          <a:rPr lang="en-US" altLang="zh-TW" sz="1100" b="0" i="1">
                            <a:solidFill>
                              <a:schemeClr val="tx2"/>
                            </a:solidFill>
                            <a:latin typeface="Cambria Math" panose="02040503050406030204" pitchFamily="18" charset="0"/>
                          </a:rPr>
                          <m:t>1</m:t>
                        </m:r>
                      </m:sub>
                    </m:sSub>
                  </m:oMath>
                </a14:m>
                <a:r>
                  <a:rPr lang="zh-TW" altLang="en-US" b="0" i="0" dirty="0"/>
                  <a:t>與</a:t>
                </a:r>
                <a14:m>
                  <m:oMath xmlns:m="http://schemas.openxmlformats.org/officeDocument/2006/math">
                    <m:sSub>
                      <m:sSubPr>
                        <m:ctrlPr>
                          <a:rPr lang="en-US" altLang="zh-TW" sz="1100" b="0" i="1" smtClean="0">
                            <a:solidFill>
                              <a:schemeClr val="tx2"/>
                            </a:solidFill>
                            <a:latin typeface="Cambria Math" panose="02040503050406030204" pitchFamily="18" charset="0"/>
                          </a:rPr>
                        </m:ctrlPr>
                      </m:sSubPr>
                      <m:e>
                        <m:r>
                          <a:rPr lang="zh-TW" altLang="en-US" sz="1100" b="0" i="1">
                            <a:solidFill>
                              <a:schemeClr val="tx2"/>
                            </a:solidFill>
                            <a:latin typeface="Cambria Math" panose="02040503050406030204" pitchFamily="18" charset="0"/>
                          </a:rPr>
                          <m:t>𝜓</m:t>
                        </m:r>
                      </m:e>
                      <m:sub>
                        <m:r>
                          <a:rPr lang="en-US" altLang="zh-TW" sz="1100" b="0" i="1" smtClean="0">
                            <a:solidFill>
                              <a:schemeClr val="tx2"/>
                            </a:solidFill>
                            <a:latin typeface="Cambria Math" panose="02040503050406030204" pitchFamily="18" charset="0"/>
                          </a:rPr>
                          <m:t>2</m:t>
                        </m:r>
                      </m:sub>
                    </m:sSub>
                  </m:oMath>
                </a14:m>
                <a:r>
                  <a:rPr lang="zh-TW" altLang="en-US" b="0" i="0" dirty="0"/>
                  <a:t>就是</a:t>
                </a:r>
                <a:r>
                  <a:rPr lang="en-US" altLang="zh-TW" b="0" i="0" dirty="0"/>
                  <a:t>HH</a:t>
                </a:r>
                <a:r>
                  <a:rPr lang="zh-TW" altLang="en-US" b="0" i="0" dirty="0"/>
                  <a:t>跟</a:t>
                </a:r>
                <a:r>
                  <a:rPr lang="en-US" altLang="zh-TW" b="0" i="0" dirty="0"/>
                  <a:t>VV</a:t>
                </a:r>
                <a:r>
                  <a:rPr lang="zh-TW" altLang="en-US" b="0" i="0" dirty="0"/>
                  <a:t>，他們的相位匹配補償項與一般的</a:t>
                </a:r>
                <a:r>
                  <a:rPr lang="en-US" altLang="zh-TW" b="0" i="0" dirty="0"/>
                  <a:t>HV</a:t>
                </a:r>
                <a:r>
                  <a:rPr lang="zh-TW" altLang="en-US" b="0" i="0" dirty="0"/>
                  <a:t>及</a:t>
                </a:r>
                <a:r>
                  <a:rPr lang="en-US" altLang="zh-TW" b="0" i="0" dirty="0"/>
                  <a:t>VH</a:t>
                </a:r>
                <a:r>
                  <a:rPr lang="zh-TW" altLang="en-US" b="0" i="0" dirty="0"/>
                  <a:t>不同，會有類似</a:t>
                </a:r>
                <a:r>
                  <a:rPr lang="en-US" altLang="zh-TW" b="0" i="0" dirty="0"/>
                  <a:t>type0</a:t>
                </a:r>
                <a:r>
                  <a:rPr lang="zh-TW" altLang="en-US" b="0" i="0" dirty="0"/>
                  <a:t>寬頻的形式，因此我們可以得知，其在施加電壓後，頻寬會比原本</a:t>
                </a:r>
                <a:r>
                  <a:rPr lang="en-US" altLang="zh-TW" b="0" i="0" dirty="0"/>
                  <a:t>SPDC</a:t>
                </a:r>
                <a:r>
                  <a:rPr lang="zh-TW" altLang="en-US" b="0" i="0" dirty="0"/>
                  <a:t>來的寬。</a:t>
                </a:r>
              </a:p>
            </p:txBody>
          </p:sp>
        </mc:Choice>
        <mc:Fallback xmlns="">
          <p:sp>
            <p:nvSpPr>
              <p:cNvPr id="3" name="備忘稿版面配置區 2"/>
              <p:cNvSpPr>
                <a:spLocks noGrp="1"/>
              </p:cNvSpPr>
              <p:nvPr>
                <p:ph type="body" idx="1"/>
              </p:nvPr>
            </p:nvSpPr>
            <p:spPr/>
            <p:txBody>
              <a:bodyPr/>
              <a:lstStyle/>
              <a:p>
                <a:pPr marL="158750" indent="0">
                  <a:buNone/>
                </a:pPr>
                <a:r>
                  <a:rPr lang="zh-TW" altLang="en-US" dirty="0"/>
                  <a:t>當我們加入</a:t>
                </a:r>
                <a:r>
                  <a:rPr lang="en-US" altLang="zh-TW" dirty="0"/>
                  <a:t>EOPMC</a:t>
                </a:r>
                <a:r>
                  <a:rPr lang="zh-TW" altLang="en-US" dirty="0"/>
                  <a:t>的過程後，前面的</a:t>
                </a:r>
                <a:r>
                  <a:rPr lang="en-US" altLang="zh-TW" dirty="0"/>
                  <a:t>a</a:t>
                </a:r>
                <a:r>
                  <a:rPr lang="zh-TW" altLang="en-US" dirty="0"/>
                  <a:t>與</a:t>
                </a:r>
                <a:r>
                  <a:rPr lang="en-US" altLang="zh-TW" dirty="0"/>
                  <a:t>b</a:t>
                </a:r>
                <a:r>
                  <a:rPr lang="zh-TW" altLang="en-US" dirty="0"/>
                  <a:t>可以改寫成這樣，他們包含了電場的參數以及施加電壓後的變化，將改寫的式子</a:t>
                </a:r>
                <a:r>
                  <a:rPr lang="en-US" altLang="zh-TW" dirty="0"/>
                  <a:t>(21)</a:t>
                </a:r>
                <a:r>
                  <a:rPr lang="zh-TW" altLang="en-US" dirty="0"/>
                  <a:t>及</a:t>
                </a:r>
                <a:r>
                  <a:rPr lang="en-US" altLang="zh-TW" dirty="0"/>
                  <a:t>(22)</a:t>
                </a:r>
                <a:r>
                  <a:rPr lang="zh-TW" altLang="en-US" dirty="0"/>
                  <a:t>帶回原式計算後可得式子</a:t>
                </a:r>
                <a:r>
                  <a:rPr lang="en-US" altLang="zh-TW" dirty="0"/>
                  <a:t>(23)</a:t>
                </a:r>
                <a:r>
                  <a:rPr lang="zh-TW" altLang="en-US" dirty="0"/>
                  <a:t>，其描述加入</a:t>
                </a:r>
                <a:r>
                  <a:rPr lang="en-US" altLang="zh-TW" dirty="0"/>
                  <a:t>EOPMC</a:t>
                </a:r>
                <a:r>
                  <a:rPr lang="zh-TW" altLang="en-US" dirty="0"/>
                  <a:t>之後，產生的光子偏振的四種狀態，每一個</a:t>
                </a:r>
                <a:r>
                  <a:rPr lang="en-US" altLang="zh-TW" dirty="0"/>
                  <a:t>state</a:t>
                </a:r>
                <a:r>
                  <a:rPr lang="zh-TW" altLang="en-US" dirty="0"/>
                  <a:t>都會有一個相位匹配補償項</a:t>
                </a:r>
                <a:r>
                  <a:rPr lang="zh-TW" altLang="en-US" i="0">
                    <a:latin typeface="Cambria Math" panose="02040503050406030204" pitchFamily="18" charset="0"/>
                  </a:rPr>
                  <a:t>∆</a:t>
                </a:r>
                <a:r>
                  <a:rPr lang="en-US" altLang="zh-TW" b="0" i="0">
                    <a:latin typeface="Cambria Math" panose="02040503050406030204" pitchFamily="18" charset="0"/>
                  </a:rPr>
                  <a:t>𝑘</a:t>
                </a:r>
                <a:r>
                  <a:rPr lang="zh-TW" altLang="en-US" dirty="0"/>
                  <a:t>，而這些</a:t>
                </a:r>
                <a:r>
                  <a:rPr lang="zh-TW" altLang="en-US" i="0">
                    <a:latin typeface="Cambria Math" panose="02040503050406030204" pitchFamily="18" charset="0"/>
                  </a:rPr>
                  <a:t>∆</a:t>
                </a:r>
                <a:r>
                  <a:rPr lang="en-US" altLang="zh-TW" b="0" i="0">
                    <a:latin typeface="Cambria Math" panose="02040503050406030204" pitchFamily="18" charset="0"/>
                  </a:rPr>
                  <a:t>𝑘</a:t>
                </a:r>
                <a:r>
                  <a:rPr lang="zh-TW" altLang="en-US" dirty="0"/>
                  <a:t>將會決定其頻寬，其中</a:t>
                </a:r>
                <a:r>
                  <a:rPr lang="zh-TW" altLang="en-US" sz="1100" b="0" i="0">
                    <a:solidFill>
                      <a:schemeClr val="tx2"/>
                    </a:solidFill>
                    <a:latin typeface="Cambria Math" panose="02040503050406030204" pitchFamily="18" charset="0"/>
                  </a:rPr>
                  <a:t>𝜓</a:t>
                </a:r>
                <a:r>
                  <a:rPr lang="en-US" altLang="zh-TW" sz="1100" b="0" i="0">
                    <a:solidFill>
                      <a:schemeClr val="tx2"/>
                    </a:solidFill>
                    <a:latin typeface="Cambria Math" panose="02040503050406030204" pitchFamily="18" charset="0"/>
                  </a:rPr>
                  <a:t>_1</a:t>
                </a:r>
                <a:r>
                  <a:rPr lang="zh-TW" altLang="en-US" b="0" i="0" dirty="0"/>
                  <a:t>與</a:t>
                </a:r>
                <a:r>
                  <a:rPr lang="zh-TW" altLang="en-US" sz="1100" b="0" i="0">
                    <a:solidFill>
                      <a:schemeClr val="tx2"/>
                    </a:solidFill>
                    <a:latin typeface="Cambria Math" panose="02040503050406030204" pitchFamily="18" charset="0"/>
                  </a:rPr>
                  <a:t>𝜓</a:t>
                </a:r>
                <a:r>
                  <a:rPr lang="en-US" altLang="zh-TW" sz="1100" b="0" i="0">
                    <a:solidFill>
                      <a:schemeClr val="tx2"/>
                    </a:solidFill>
                    <a:latin typeface="Cambria Math" panose="02040503050406030204" pitchFamily="18" charset="0"/>
                  </a:rPr>
                  <a:t>_2</a:t>
                </a:r>
                <a:r>
                  <a:rPr lang="zh-TW" altLang="en-US" b="0" i="0" dirty="0"/>
                  <a:t>就是</a:t>
                </a:r>
                <a:r>
                  <a:rPr lang="en-US" altLang="zh-TW" b="0" i="0" dirty="0"/>
                  <a:t>HH</a:t>
                </a:r>
                <a:r>
                  <a:rPr lang="zh-TW" altLang="en-US" b="0" i="0" dirty="0"/>
                  <a:t>跟</a:t>
                </a:r>
                <a:r>
                  <a:rPr lang="en-US" altLang="zh-TW" b="0" i="0" dirty="0"/>
                  <a:t>VV</a:t>
                </a:r>
                <a:r>
                  <a:rPr lang="zh-TW" altLang="en-US" b="0" i="0" dirty="0"/>
                  <a:t>，他們的相位匹配補償項與一般的</a:t>
                </a:r>
                <a:r>
                  <a:rPr lang="en-US" altLang="zh-TW" b="0" i="0" dirty="0"/>
                  <a:t>HV</a:t>
                </a:r>
                <a:r>
                  <a:rPr lang="zh-TW" altLang="en-US" b="0" i="0" dirty="0"/>
                  <a:t>及</a:t>
                </a:r>
                <a:r>
                  <a:rPr lang="en-US" altLang="zh-TW" b="0" i="0" dirty="0"/>
                  <a:t>VH</a:t>
                </a:r>
                <a:r>
                  <a:rPr lang="zh-TW" altLang="en-US" b="0" i="0" dirty="0"/>
                  <a:t>不同，會有類似</a:t>
                </a:r>
                <a:r>
                  <a:rPr lang="en-US" altLang="zh-TW" b="0" i="0" dirty="0"/>
                  <a:t>type0</a:t>
                </a:r>
                <a:r>
                  <a:rPr lang="zh-TW" altLang="en-US" b="0" i="0" dirty="0"/>
                  <a:t>寬頻的形式，因此我們可以得知，其在施加電壓後，頻寬會比原本</a:t>
                </a:r>
                <a:r>
                  <a:rPr lang="en-US" altLang="zh-TW" b="0" i="0" dirty="0"/>
                  <a:t>SPDC</a:t>
                </a:r>
                <a:r>
                  <a:rPr lang="zh-TW" altLang="en-US" b="0" i="0" dirty="0"/>
                  <a:t>來的寬。</a:t>
                </a:r>
              </a:p>
            </p:txBody>
          </p:sp>
        </mc:Fallback>
      </mc:AlternateContent>
    </p:spTree>
    <p:extLst>
      <p:ext uri="{BB962C8B-B14F-4D97-AF65-F5344CB8AC3E}">
        <p14:creationId xmlns:p14="http://schemas.microsoft.com/office/powerpoint/2010/main" val="37966382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接下來介紹我如何設計出此晶片結構</a:t>
            </a:r>
            <a:endParaRPr dirty="0"/>
          </a:p>
        </p:txBody>
      </p:sp>
    </p:spTree>
    <p:extLst>
      <p:ext uri="{BB962C8B-B14F-4D97-AF65-F5344CB8AC3E}">
        <p14:creationId xmlns:p14="http://schemas.microsoft.com/office/powerpoint/2010/main" val="13855016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我們提出的結構設計為</a:t>
            </a:r>
            <a:r>
              <a:rPr lang="en-US" altLang="zh-TW" dirty="0"/>
              <a:t>APPLN</a:t>
            </a:r>
            <a:r>
              <a:rPr lang="zh-TW" altLang="en-US" dirty="0"/>
              <a:t>，為了積體兩個</a:t>
            </a:r>
            <a:r>
              <a:rPr lang="en-US" altLang="zh-TW" dirty="0"/>
              <a:t>QPM</a:t>
            </a:r>
            <a:r>
              <a:rPr lang="zh-TW" altLang="en-US" dirty="0"/>
              <a:t>的元件，需要使用演算法來計算，並進行優化，最常見的演算法這邊舉例模擬退火法，以及基因演算法，模擬退火法為一種通用的隨機演算法，</a:t>
            </a:r>
            <a:r>
              <a:rPr lang="zh-TW" altLang="en-US" sz="1100" b="0" i="0" u="none" strike="noStrike" cap="none" baseline="0" dirty="0">
                <a:solidFill>
                  <a:srgbClr val="000000"/>
                </a:solidFill>
                <a:latin typeface="Arial"/>
                <a:ea typeface="Arial"/>
                <a:cs typeface="Arial"/>
                <a:sym typeface="Arial"/>
              </a:rPr>
              <a:t>基於單一解決方案</a:t>
            </a:r>
            <a:r>
              <a:rPr lang="zh-TW" altLang="en-US" dirty="0"/>
              <a:t>，</a:t>
            </a:r>
            <a:r>
              <a:rPr lang="zh-TW" altLang="en-US" sz="1100" b="0" i="0" u="none" strike="noStrike" cap="none" baseline="0" dirty="0">
                <a:solidFill>
                  <a:srgbClr val="000000"/>
                </a:solidFill>
                <a:latin typeface="Arial"/>
                <a:ea typeface="Arial"/>
                <a:cs typeface="Arial"/>
                <a:sym typeface="Arial"/>
              </a:rPr>
              <a:t>在一定時間與非常大的搜尋空間內，尋找問題之最佳解，雖然運算速度較快，但其容易收斂至區域最佳解而非全域最佳解。而基因演算法的全域搜索能力較佳，也因為經過許多世代的演化，較能得到最接近真正最佳解的解，因此我們選擇使用基因演算法來優化出非週期性的結構。</a:t>
            </a:r>
          </a:p>
        </p:txBody>
      </p:sp>
    </p:spTree>
    <p:extLst>
      <p:ext uri="{BB962C8B-B14F-4D97-AF65-F5344CB8AC3E}">
        <p14:creationId xmlns:p14="http://schemas.microsoft.com/office/powerpoint/2010/main" val="20591948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kern="1200" cap="none" dirty="0">
                <a:solidFill>
                  <a:schemeClr val="tx1"/>
                </a:solidFill>
                <a:effectLst/>
                <a:latin typeface="Arial"/>
                <a:ea typeface="Arial"/>
                <a:cs typeface="Arial"/>
                <a:sym typeface="Arial"/>
              </a:rPr>
              <a:t>而基因演算法的方式是</a:t>
            </a:r>
            <a:r>
              <a:rPr lang="zh-TW" altLang="zh-TW" sz="1100" b="0" i="0" u="none" strike="noStrike" kern="1200" cap="none" dirty="0">
                <a:solidFill>
                  <a:schemeClr val="tx1"/>
                </a:solidFill>
                <a:effectLst/>
                <a:latin typeface="Arial"/>
                <a:ea typeface="Arial"/>
                <a:cs typeface="Arial"/>
                <a:sym typeface="Arial"/>
              </a:rPr>
              <a:t>仿效達爾文提出的</a:t>
            </a:r>
            <a:r>
              <a:rPr lang="en-US" altLang="zh-TW" sz="1100" b="0" i="0" u="none" strike="noStrike" kern="1200" cap="none" dirty="0">
                <a:solidFill>
                  <a:schemeClr val="tx1"/>
                </a:solidFill>
                <a:effectLst/>
                <a:latin typeface="Arial"/>
                <a:ea typeface="Arial"/>
                <a:cs typeface="Arial"/>
                <a:sym typeface="Arial"/>
              </a:rPr>
              <a:t>“</a:t>
            </a:r>
            <a:r>
              <a:rPr lang="zh-TW" altLang="zh-TW" sz="1100" b="0" i="0" u="none" strike="noStrike" kern="1200" cap="none" dirty="0">
                <a:solidFill>
                  <a:schemeClr val="tx1"/>
                </a:solidFill>
                <a:effectLst/>
                <a:latin typeface="Arial"/>
                <a:ea typeface="Arial"/>
                <a:cs typeface="Arial"/>
                <a:sym typeface="Arial"/>
              </a:rPr>
              <a:t>物競天擇，適者生存</a:t>
            </a:r>
            <a:r>
              <a:rPr lang="en-US" altLang="zh-TW" sz="1100" b="0" i="0" u="none" strike="noStrike" kern="1200" cap="none" dirty="0">
                <a:solidFill>
                  <a:schemeClr val="tx1"/>
                </a:solidFill>
                <a:effectLst/>
                <a:latin typeface="Arial"/>
                <a:ea typeface="Arial"/>
                <a:cs typeface="Arial"/>
                <a:sym typeface="Arial"/>
              </a:rPr>
              <a:t>”</a:t>
            </a:r>
            <a:r>
              <a:rPr lang="zh-TW" altLang="zh-TW" sz="1100" b="0" i="0" u="none" strike="noStrike" kern="1200" cap="none" dirty="0">
                <a:solidFill>
                  <a:schemeClr val="tx1"/>
                </a:solidFill>
                <a:effectLst/>
                <a:latin typeface="Arial"/>
                <a:ea typeface="Arial"/>
                <a:cs typeface="Arial"/>
                <a:sym typeface="Arial"/>
              </a:rPr>
              <a:t>的法則，透過模仿自然界生物進化機制，進行全域的搜索與優化</a:t>
            </a:r>
            <a:r>
              <a:rPr lang="zh-TW" altLang="en-US" dirty="0"/>
              <a:t>，由流程圖來看，在開始演算法之前首先需要分析問題與設定演算法參數，包含：晶疇數量，晶疇大小範圍，個體數量，世代數量，以及選擇、交配、突變、遷移的機率。接著創造初始族群進行演化，代入目標函數分析，經由交配、突變，得到子代並取代母代成為新的世代，接著進行族群遷移，這樣就完成一次的演化，例如我們這邊的圖例，在固定晶疇長度的條件下，加入一些變數，使其基因複雜度提高，也更容易找到最佳解。確認是否達成我們設置的終止條件，是的話就得到最佳解，不是就繼續下一世代的演化。</a:t>
            </a:r>
            <a:endParaRPr dirty="0"/>
          </a:p>
        </p:txBody>
      </p:sp>
    </p:spTree>
    <p:extLst>
      <p:ext uri="{BB962C8B-B14F-4D97-AF65-F5344CB8AC3E}">
        <p14:creationId xmlns:p14="http://schemas.microsoft.com/office/powerpoint/2010/main" val="18078833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我們的目標函數如式子</a:t>
                </a:r>
                <a:r>
                  <a:rPr lang="en-US" altLang="zh-TW" dirty="0"/>
                  <a:t>(24)</a:t>
                </a:r>
                <a:r>
                  <a:rPr lang="zh-TW" altLang="en-US" dirty="0"/>
                  <a:t>，</a:t>
                </a:r>
                <a14:m>
                  <m:oMath xmlns:m="http://schemas.openxmlformats.org/officeDocument/2006/math">
                    <m:r>
                      <a:rPr lang="zh-TW" altLang="en-US" i="1" smtClean="0">
                        <a:latin typeface="Cambria Math" panose="02040503050406030204" pitchFamily="18" charset="0"/>
                      </a:rPr>
                      <m:t>𝜂</m:t>
                    </m:r>
                  </m:oMath>
                </a14:m>
                <a:r>
                  <a:rPr lang="zh-TW" altLang="en-US" dirty="0"/>
                  <a:t>表示</a:t>
                </a:r>
                <a:r>
                  <a:rPr lang="en-US" altLang="zh-TW" dirty="0"/>
                  <a:t>SPDC</a:t>
                </a:r>
                <a:r>
                  <a:rPr lang="zh-TW" altLang="en-US" dirty="0"/>
                  <a:t>與</a:t>
                </a:r>
                <a:r>
                  <a:rPr lang="en-US" altLang="zh-TW" dirty="0"/>
                  <a:t>EOPMC</a:t>
                </a:r>
                <a:r>
                  <a:rPr lang="zh-TW" altLang="en-US" dirty="0"/>
                  <a:t>的效率目標值與實際效率，而他們的實際效率的計算如下面這兩個式子，</a:t>
                </a:r>
                <a14:m>
                  <m:oMath xmlns:m="http://schemas.openxmlformats.org/officeDocument/2006/math">
                    <m:r>
                      <a:rPr lang="zh-TW" altLang="en-US" i="1" smtClean="0">
                        <a:latin typeface="Cambria Math" panose="02040503050406030204" pitchFamily="18" charset="0"/>
                      </a:rPr>
                      <m:t>𝑤</m:t>
                    </m:r>
                  </m:oMath>
                </a14:m>
                <a:r>
                  <a:rPr lang="zh-TW" altLang="en-US" dirty="0"/>
                  <a:t>與</a:t>
                </a:r>
                <a14:m>
                  <m:oMath xmlns:m="http://schemas.openxmlformats.org/officeDocument/2006/math">
                    <m:r>
                      <a:rPr lang="zh-TW" altLang="en-US" i="1" smtClean="0">
                        <a:latin typeface="Cambria Math" panose="02040503050406030204" pitchFamily="18" charset="0"/>
                      </a:rPr>
                      <m:t>𝛽</m:t>
                    </m:r>
                  </m:oMath>
                </a14:m>
                <a:r>
                  <a:rPr lang="zh-TW" altLang="en-US" dirty="0"/>
                  <a:t>為權重，而我們所設定的目標函數之參數如右下表格。</a:t>
                </a:r>
                <a:endParaRPr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我們的目標函數如式子</a:t>
                </a:r>
                <a:r>
                  <a:rPr lang="en-US" altLang="zh-TW" dirty="0"/>
                  <a:t>(18)</a:t>
                </a:r>
                <a:r>
                  <a:rPr lang="zh-TW" altLang="en-US" dirty="0"/>
                  <a:t>，</a:t>
                </a:r>
                <a:r>
                  <a:rPr lang="zh-TW" altLang="en-US" i="0">
                    <a:latin typeface="Cambria Math" panose="02040503050406030204" pitchFamily="18" charset="0"/>
                  </a:rPr>
                  <a:t>𝜂</a:t>
                </a:r>
                <a:r>
                  <a:rPr lang="zh-TW" altLang="en-US" dirty="0"/>
                  <a:t>與</a:t>
                </a:r>
                <a:r>
                  <a:rPr lang="en-US" altLang="zh-TW" sz="1100" b="0" i="0">
                    <a:latin typeface="Cambria Math" panose="02040503050406030204" pitchFamily="18" charset="0"/>
                  </a:rPr>
                  <a:t>𝑇</a:t>
                </a:r>
                <a:r>
                  <a:rPr lang="zh-TW" altLang="en-US" sz="1100" b="0" i="0">
                    <a:latin typeface="Cambria Math" panose="02040503050406030204" pitchFamily="18" charset="0"/>
                  </a:rPr>
                  <a:t>分別</a:t>
                </a:r>
                <a:r>
                  <a:rPr lang="zh-TW" altLang="en-US" dirty="0"/>
                  <a:t>表示</a:t>
                </a:r>
                <a:r>
                  <a:rPr lang="en-US" altLang="zh-TW" dirty="0"/>
                  <a:t>SPDC</a:t>
                </a:r>
                <a:r>
                  <a:rPr lang="zh-TW" altLang="en-US" dirty="0"/>
                  <a:t>與</a:t>
                </a:r>
                <a:r>
                  <a:rPr lang="en-US" altLang="zh-TW" dirty="0"/>
                  <a:t>EOPMC</a:t>
                </a:r>
                <a:r>
                  <a:rPr lang="zh-TW" altLang="en-US" dirty="0"/>
                  <a:t>的效率目標值與實際效率，</a:t>
                </a:r>
                <a:r>
                  <a:rPr lang="zh-TW" altLang="en-US" i="0">
                    <a:latin typeface="Cambria Math" panose="02040503050406030204" pitchFamily="18" charset="0"/>
                  </a:rPr>
                  <a:t>𝑤</a:t>
                </a:r>
                <a:r>
                  <a:rPr lang="zh-TW" altLang="en-US" dirty="0"/>
                  <a:t>與</a:t>
                </a:r>
                <a:r>
                  <a:rPr lang="zh-TW" altLang="en-US" i="0">
                    <a:latin typeface="Cambria Math" panose="02040503050406030204" pitchFamily="18" charset="0"/>
                  </a:rPr>
                  <a:t>𝛽</a:t>
                </a:r>
                <a:r>
                  <a:rPr lang="zh-TW" altLang="en-US" dirty="0"/>
                  <a:t>為權重，而我們所設定的目標函數之參數如右下表格。</a:t>
                </a:r>
                <a:endParaRPr dirty="0"/>
              </a:p>
            </p:txBody>
          </p:sp>
        </mc:Fallback>
      </mc:AlternateContent>
    </p:spTree>
    <p:extLst>
      <p:ext uri="{BB962C8B-B14F-4D97-AF65-F5344CB8AC3E}">
        <p14:creationId xmlns:p14="http://schemas.microsoft.com/office/powerpoint/2010/main" val="9133710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接著分開介紹</a:t>
                </a:r>
                <a:r>
                  <a:rPr lang="en-US" altLang="zh-TW" dirty="0"/>
                  <a:t>SPDC</a:t>
                </a:r>
                <a:r>
                  <a:rPr lang="zh-TW" altLang="en-US" dirty="0"/>
                  <a:t>與</a:t>
                </a:r>
                <a:r>
                  <a:rPr lang="en-US" altLang="zh-TW" dirty="0"/>
                  <a:t>EOPMC</a:t>
                </a:r>
                <a:r>
                  <a:rPr lang="zh-TW" altLang="en-US" dirty="0"/>
                  <a:t>各自的目標函數運算，因為</a:t>
                </a:r>
                <a:r>
                  <a:rPr lang="en-US" altLang="zh-TW" dirty="0"/>
                  <a:t>SPDC</a:t>
                </a:r>
                <a:r>
                  <a:rPr lang="zh-TW" altLang="en-US" dirty="0"/>
                  <a:t>與</a:t>
                </a:r>
                <a:r>
                  <a:rPr lang="en-US" altLang="zh-TW" dirty="0"/>
                  <a:t>SHG</a:t>
                </a:r>
                <a:r>
                  <a:rPr lang="zh-TW" altLang="en-US" dirty="0"/>
                  <a:t>有相同的非線性係數，所以我們取</a:t>
                </a:r>
                <a:r>
                  <a:rPr lang="en-US" altLang="zh-TW" dirty="0"/>
                  <a:t>SHG</a:t>
                </a:r>
                <a:r>
                  <a:rPr lang="zh-TW" altLang="en-US" dirty="0"/>
                  <a:t>的轉換效率中紅色底線這項來計算，效率的算法為計算傅立葉係數來分析，式子如下，拆解傅氏轉換的公式，並將各晶籌極化反轉位置帶入，最後整理出下式，∆𝑘為相位匹配條件，𝐿為晶體總長，</a:t>
                </a:r>
                <a:r>
                  <a:rPr lang="en-US" altLang="zh-TW" dirty="0"/>
                  <a:t>N</a:t>
                </a:r>
                <a:r>
                  <a:rPr lang="zh-TW" altLang="en-US" dirty="0"/>
                  <a:t>為晶籌個數，</a:t>
                </a:r>
                <a14:m>
                  <m:oMath xmlns:m="http://schemas.openxmlformats.org/officeDocument/2006/math">
                    <m:sSub>
                      <m:sSubPr>
                        <m:ctrlPr>
                          <a:rPr lang="zh-TW" altLang="en-US" sz="1100" i="1" smtClean="0">
                            <a:latin typeface="Cambria Math" panose="02040503050406030204" pitchFamily="18" charset="0"/>
                          </a:rPr>
                        </m:ctrlPr>
                      </m:sSubPr>
                      <m:e>
                        <m:r>
                          <a:rPr lang="en-US" altLang="zh-TW" sz="1100" b="0" i="1" smtClean="0">
                            <a:latin typeface="Cambria Math" panose="02040503050406030204" pitchFamily="18" charset="0"/>
                          </a:rPr>
                          <m:t>𝑥</m:t>
                        </m:r>
                      </m:e>
                      <m:sub>
                        <m:r>
                          <a:rPr lang="zh-TW" altLang="en-US" sz="1100" i="1">
                            <a:latin typeface="Cambria Math" panose="02040503050406030204" pitchFamily="18" charset="0"/>
                          </a:rPr>
                          <m:t>𝑛</m:t>
                        </m:r>
                      </m:sub>
                    </m:sSub>
                  </m:oMath>
                </a14:m>
                <a:r>
                  <a:rPr lang="zh-TW" altLang="en-US" dirty="0"/>
                  <a:t>為第</a:t>
                </a:r>
                <a:r>
                  <a:rPr lang="en-US" altLang="zh-TW" dirty="0"/>
                  <a:t>n</a:t>
                </a:r>
                <a:r>
                  <a:rPr lang="zh-TW" altLang="en-US" dirty="0"/>
                  <a:t>個極化反轉點的位置，而我們的目標即為找到最大的</a:t>
                </a:r>
                <a14:m>
                  <m:oMath xmlns:m="http://schemas.openxmlformats.org/officeDocument/2006/math">
                    <m:r>
                      <a:rPr lang="zh-TW" altLang="en-US" i="1" smtClean="0">
                        <a:latin typeface="Cambria Math" panose="02040503050406030204" pitchFamily="18" charset="0"/>
                      </a:rPr>
                      <m:t>𝜂</m:t>
                    </m:r>
                  </m:oMath>
                </a14:m>
                <a:r>
                  <a:rPr lang="zh-TW" altLang="en-US" dirty="0"/>
                  <a:t>。</a:t>
                </a:r>
                <a:endParaRPr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接著分開介紹</a:t>
                </a:r>
                <a:r>
                  <a:rPr lang="en-US" altLang="zh-TW" dirty="0"/>
                  <a:t>SPDC</a:t>
                </a:r>
                <a:r>
                  <a:rPr lang="zh-TW" altLang="en-US" dirty="0"/>
                  <a:t>與</a:t>
                </a:r>
                <a:r>
                  <a:rPr lang="en-US" altLang="zh-TW" dirty="0"/>
                  <a:t>EOPMC</a:t>
                </a:r>
                <a:r>
                  <a:rPr lang="zh-TW" altLang="en-US" dirty="0"/>
                  <a:t>各自的目標函數運算，因為</a:t>
                </a:r>
                <a:r>
                  <a:rPr lang="en-US" altLang="zh-TW" dirty="0"/>
                  <a:t>SPDC</a:t>
                </a:r>
                <a:r>
                  <a:rPr lang="zh-TW" altLang="en-US" dirty="0"/>
                  <a:t>與</a:t>
                </a:r>
                <a:r>
                  <a:rPr lang="en-US" altLang="zh-TW" dirty="0"/>
                  <a:t>SHG</a:t>
                </a:r>
                <a:r>
                  <a:rPr lang="zh-TW" altLang="en-US" dirty="0"/>
                  <a:t>有相同的非線性係數，所以我們取</a:t>
                </a:r>
                <a:r>
                  <a:rPr lang="en-US" altLang="zh-TW" dirty="0"/>
                  <a:t>SHG</a:t>
                </a:r>
                <a:r>
                  <a:rPr lang="zh-TW" altLang="en-US" dirty="0"/>
                  <a:t>的轉換效率中紅色底線這項來計算，效率的算法為計算傅立葉係數來分析，式子如下，拆解傅氏轉換的公式，並將各晶籌極化反轉位置帶入，最後整理出下式，∆𝑘為相位匹配條件，𝐿為晶體總長，</a:t>
                </a:r>
                <a:r>
                  <a:rPr lang="en-US" altLang="zh-TW" dirty="0"/>
                  <a:t>N</a:t>
                </a:r>
                <a:r>
                  <a:rPr lang="zh-TW" altLang="en-US" dirty="0"/>
                  <a:t>為晶籌個數，</a:t>
                </a:r>
                <a:r>
                  <a:rPr lang="en-US" altLang="zh-TW" sz="1100" b="0" i="0">
                    <a:latin typeface="Cambria Math" panose="02040503050406030204" pitchFamily="18" charset="0"/>
                  </a:rPr>
                  <a:t>𝑥</a:t>
                </a:r>
                <a:r>
                  <a:rPr lang="zh-TW" altLang="en-US" sz="1100" b="0" i="0">
                    <a:latin typeface="Cambria Math" panose="02040503050406030204" pitchFamily="18" charset="0"/>
                  </a:rPr>
                  <a:t>_</a:t>
                </a:r>
                <a:r>
                  <a:rPr lang="zh-TW" altLang="en-US" sz="1100" i="0">
                    <a:latin typeface="Cambria Math" panose="02040503050406030204" pitchFamily="18" charset="0"/>
                  </a:rPr>
                  <a:t>𝑛</a:t>
                </a:r>
                <a:r>
                  <a:rPr lang="zh-TW" altLang="en-US" dirty="0"/>
                  <a:t>為第</a:t>
                </a:r>
                <a:r>
                  <a:rPr lang="en-US" altLang="zh-TW" dirty="0"/>
                  <a:t>n</a:t>
                </a:r>
                <a:r>
                  <a:rPr lang="zh-TW" altLang="en-US" dirty="0"/>
                  <a:t>個極化反轉點的位置，而我們的目標即為找到最大的</a:t>
                </a:r>
                <a:r>
                  <a:rPr lang="zh-TW" altLang="en-US" i="0">
                    <a:latin typeface="Cambria Math" panose="02040503050406030204" pitchFamily="18" charset="0"/>
                  </a:rPr>
                  <a:t>𝜂</a:t>
                </a:r>
                <a:r>
                  <a:rPr lang="zh-TW" altLang="en-US" dirty="0"/>
                  <a:t>。</a:t>
                </a:r>
                <a:endParaRPr dirty="0"/>
              </a:p>
            </p:txBody>
          </p:sp>
        </mc:Fallback>
      </mc:AlternateContent>
    </p:spTree>
    <p:extLst>
      <p:ext uri="{BB962C8B-B14F-4D97-AF65-F5344CB8AC3E}">
        <p14:creationId xmlns:p14="http://schemas.microsoft.com/office/powerpoint/2010/main" val="33234169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a:t>
                </a:r>
                <a:r>
                  <a:rPr lang="en-US" altLang="zh-TW" dirty="0"/>
                  <a:t>EOPMC</a:t>
                </a:r>
                <a:r>
                  <a:rPr lang="zh-TW" altLang="en-US" dirty="0"/>
                  <a:t>所使用的是電光的耦合方程式，</a:t>
                </a:r>
                <a:r>
                  <a:rPr lang="zh-TW" altLang="en-US" sz="1100" b="0" i="0" u="none" strike="noStrike" cap="none" baseline="0" dirty="0">
                    <a:solidFill>
                      <a:srgbClr val="000000"/>
                    </a:solidFill>
                    <a:latin typeface="Arial"/>
                    <a:cs typeface="Arial"/>
                    <a:sym typeface="Arial"/>
                  </a:rPr>
                  <a:t>以</a:t>
                </a:r>
                <a:r>
                  <a:rPr lang="zh-TW" altLang="en-US" sz="1100" b="0" i="0" u="none" strike="noStrike" cap="none" baseline="0" dirty="0">
                    <a:solidFill>
                      <a:srgbClr val="000000"/>
                    </a:solidFill>
                    <a:latin typeface="Arial"/>
                    <a:ea typeface="Arial"/>
                    <a:cs typeface="Arial"/>
                    <a:sym typeface="Arial"/>
                  </a:rPr>
                  <a:t>表示偏振光入射</a:t>
                </a:r>
                <a:r>
                  <a:rPr lang="en-US" altLang="zh-TW" sz="1100" b="0" i="0" u="none" strike="noStrike" cap="none" baseline="0" dirty="0">
                    <a:solidFill>
                      <a:srgbClr val="000000"/>
                    </a:solidFill>
                    <a:latin typeface="Arial"/>
                    <a:ea typeface="Arial"/>
                    <a:cs typeface="Arial"/>
                    <a:sym typeface="Arial"/>
                  </a:rPr>
                  <a:t>EO</a:t>
                </a:r>
                <a:r>
                  <a:rPr lang="zh-TW" altLang="en-US" sz="1100" b="0" i="0" u="none" strike="noStrike" cap="none" baseline="0" dirty="0">
                    <a:solidFill>
                      <a:srgbClr val="000000"/>
                    </a:solidFill>
                    <a:latin typeface="Arial"/>
                    <a:ea typeface="Arial"/>
                    <a:cs typeface="Arial"/>
                    <a:sym typeface="Arial"/>
                  </a:rPr>
                  <a:t>的</a:t>
                </a:r>
                <a:r>
                  <a:rPr lang="en-US" altLang="zh-TW" sz="1100" b="0" i="0" u="none" strike="noStrike" cap="none" baseline="0" dirty="0">
                    <a:solidFill>
                      <a:srgbClr val="000000"/>
                    </a:solidFill>
                    <a:latin typeface="Arial"/>
                    <a:ea typeface="Arial"/>
                    <a:cs typeface="Arial"/>
                    <a:sym typeface="Arial"/>
                  </a:rPr>
                  <a:t>APPLN</a:t>
                </a:r>
                <a:r>
                  <a:rPr lang="zh-TW" altLang="en-US" sz="1100" b="0" i="0" u="none" strike="noStrike" cap="none" baseline="0" dirty="0">
                    <a:solidFill>
                      <a:srgbClr val="000000"/>
                    </a:solidFill>
                    <a:latin typeface="Arial"/>
                    <a:ea typeface="Arial"/>
                    <a:cs typeface="Arial"/>
                    <a:sym typeface="Arial"/>
                  </a:rPr>
                  <a:t>後，再外加</a:t>
                </a:r>
                <a:r>
                  <a:rPr lang="en-US" altLang="zh-TW" sz="1100" b="0" i="0" u="none" strike="noStrike" cap="none" baseline="0" dirty="0">
                    <a:solidFill>
                      <a:srgbClr val="000000"/>
                    </a:solidFill>
                    <a:latin typeface="Arial"/>
                    <a:ea typeface="Arial"/>
                    <a:cs typeface="Arial"/>
                    <a:sym typeface="Arial"/>
                  </a:rPr>
                  <a:t>y</a:t>
                </a:r>
                <a:r>
                  <a:rPr lang="zh-TW" altLang="en-US" sz="1100" b="0" i="0" u="none" strike="noStrike" cap="none" baseline="0" dirty="0">
                    <a:solidFill>
                      <a:srgbClr val="000000"/>
                    </a:solidFill>
                    <a:latin typeface="Arial"/>
                    <a:ea typeface="Arial"/>
                    <a:cs typeface="Arial"/>
                    <a:sym typeface="Arial"/>
                  </a:rPr>
                  <a:t>方向上的電場𝐸𝑦，其出射的訊號光中，兩正交偏振模態的相互轉換，由左下圖可以看到，</a:t>
                </a:r>
                <a14:m>
                  <m:oMath xmlns:m="http://schemas.openxmlformats.org/officeDocument/2006/math">
                    <m:sSub>
                      <m:sSubPr>
                        <m:ctrlPr>
                          <a:rPr lang="zh-TW" altLang="en-US" sz="1100" i="1" smtClean="0">
                            <a:latin typeface="Cambria Math" panose="02040503050406030204" pitchFamily="18" charset="0"/>
                          </a:rPr>
                        </m:ctrlPr>
                      </m:sSubPr>
                      <m:e>
                        <m:r>
                          <a:rPr lang="zh-TW" altLang="en-US" sz="1100" i="1">
                            <a:latin typeface="Cambria Math" panose="02040503050406030204" pitchFamily="18" charset="0"/>
                          </a:rPr>
                          <m:t>𝐴</m:t>
                        </m:r>
                      </m:e>
                      <m:sub>
                        <m:r>
                          <a:rPr lang="zh-TW" altLang="en-US" sz="1100" i="1">
                            <a:latin typeface="Cambria Math" panose="02040503050406030204" pitchFamily="18" charset="0"/>
                          </a:rPr>
                          <m:t>𝑒</m:t>
                        </m:r>
                      </m:sub>
                    </m:sSub>
                  </m:oMath>
                </a14:m>
                <a:r>
                  <a:rPr lang="zh-TW" altLang="en-US" dirty="0"/>
                  <a:t>及</a:t>
                </a:r>
                <a14:m>
                  <m:oMath xmlns:m="http://schemas.openxmlformats.org/officeDocument/2006/math">
                    <m:sSub>
                      <m:sSubPr>
                        <m:ctrlPr>
                          <a:rPr lang="zh-TW" altLang="zh-TW" sz="1100" i="1" smtClean="0">
                            <a:latin typeface="Cambria Math" panose="02040503050406030204" pitchFamily="18" charset="0"/>
                          </a:rPr>
                        </m:ctrlPr>
                      </m:sSubPr>
                      <m:e>
                        <m:r>
                          <a:rPr lang="en-US" altLang="zh-TW" sz="1100" i="1">
                            <a:latin typeface="Cambria Math" panose="02040503050406030204" pitchFamily="18" charset="0"/>
                          </a:rPr>
                          <m:t>𝐴</m:t>
                        </m:r>
                      </m:e>
                      <m:sub>
                        <m:r>
                          <a:rPr lang="en-US" altLang="zh-TW" sz="1100" i="1">
                            <a:latin typeface="Cambria Math" panose="02040503050406030204" pitchFamily="18" charset="0"/>
                          </a:rPr>
                          <m:t>𝑜</m:t>
                        </m:r>
                      </m:sub>
                    </m:sSub>
                  </m:oMath>
                </a14:m>
                <a:r>
                  <a:rPr lang="zh-TW" altLang="en-US" dirty="0"/>
                  <a:t>為入射的電磁波場，我們將給定一組初始參數，利用入射水平偏振光的條件，所以將</a:t>
                </a:r>
                <a14:m>
                  <m:oMath xmlns:m="http://schemas.openxmlformats.org/officeDocument/2006/math">
                    <m:sSub>
                      <m:sSubPr>
                        <m:ctrlPr>
                          <a:rPr lang="zh-TW" altLang="zh-TW" sz="1100" i="1" smtClean="0">
                            <a:latin typeface="Cambria Math" panose="02040503050406030204" pitchFamily="18" charset="0"/>
                          </a:rPr>
                        </m:ctrlPr>
                      </m:sSubPr>
                      <m:e>
                        <m:r>
                          <a:rPr lang="en-US" altLang="zh-TW" sz="1100" i="1">
                            <a:latin typeface="Cambria Math" panose="02040503050406030204" pitchFamily="18" charset="0"/>
                          </a:rPr>
                          <m:t>𝐴</m:t>
                        </m:r>
                      </m:e>
                      <m:sub>
                        <m:r>
                          <a:rPr lang="en-US" altLang="zh-TW" sz="1100" i="1">
                            <a:latin typeface="Cambria Math" panose="02040503050406030204" pitchFamily="18" charset="0"/>
                          </a:rPr>
                          <m:t>𝑜</m:t>
                        </m:r>
                      </m:sub>
                    </m:sSub>
                  </m:oMath>
                </a14:m>
                <a:r>
                  <a:rPr lang="zh-TW" altLang="en-US" dirty="0"/>
                  <a:t>值設為</a:t>
                </a:r>
                <a:r>
                  <a:rPr lang="en-US" altLang="zh-TW" dirty="0"/>
                  <a:t>1</a:t>
                </a:r>
                <a:r>
                  <a:rPr lang="zh-TW" altLang="en-US" dirty="0"/>
                  <a:t>，而</a:t>
                </a:r>
                <a14:m>
                  <m:oMath xmlns:m="http://schemas.openxmlformats.org/officeDocument/2006/math">
                    <m:sSub>
                      <m:sSubPr>
                        <m:ctrlPr>
                          <a:rPr lang="zh-TW" altLang="en-US" sz="1100" i="1" smtClean="0">
                            <a:latin typeface="Cambria Math" panose="02040503050406030204" pitchFamily="18" charset="0"/>
                          </a:rPr>
                        </m:ctrlPr>
                      </m:sSubPr>
                      <m:e>
                        <m:r>
                          <a:rPr lang="zh-TW" altLang="en-US" sz="1100" i="1">
                            <a:latin typeface="Cambria Math" panose="02040503050406030204" pitchFamily="18" charset="0"/>
                          </a:rPr>
                          <m:t>𝐴</m:t>
                        </m:r>
                      </m:e>
                      <m:sub>
                        <m:r>
                          <a:rPr lang="zh-TW" altLang="en-US" sz="1100" i="1">
                            <a:latin typeface="Cambria Math" panose="02040503050406030204" pitchFamily="18" charset="0"/>
                          </a:rPr>
                          <m:t>𝑒</m:t>
                        </m:r>
                      </m:sub>
                    </m:sSub>
                  </m:oMath>
                </a14:m>
                <a:r>
                  <a:rPr lang="zh-TW" altLang="en-US" dirty="0"/>
                  <a:t>為</a:t>
                </a:r>
                <a:r>
                  <a:rPr lang="en-US" altLang="zh-TW" dirty="0"/>
                  <a:t>0</a:t>
                </a:r>
                <a:r>
                  <a:rPr lang="zh-TW" altLang="en-US" dirty="0"/>
                  <a:t>，所以當光入射至這塊</a:t>
                </a:r>
                <a:r>
                  <a:rPr lang="en-US" altLang="zh-TW" dirty="0"/>
                  <a:t>EO</a:t>
                </a:r>
                <a:r>
                  <a:rPr lang="zh-TW" altLang="en-US" dirty="0"/>
                  <a:t> </a:t>
                </a:r>
                <a:r>
                  <a:rPr lang="en-US" altLang="zh-TW" dirty="0"/>
                  <a:t>APPLN</a:t>
                </a:r>
                <a:r>
                  <a:rPr lang="zh-TW" altLang="en-US" dirty="0"/>
                  <a:t>中，該晶疇的光穿透率也就是效率可以寫成式子</a:t>
                </a:r>
                <a:r>
                  <a:rPr lang="en-US" altLang="zh-TW" dirty="0"/>
                  <a:t>(32)</a:t>
                </a:r>
                <a:r>
                  <a:rPr lang="zh-TW" altLang="en-US" dirty="0"/>
                  <a:t>。</a:t>
                </a:r>
                <a:endParaRPr lang="en-US" altLang="zh-TW"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a:t>
                </a:r>
                <a:r>
                  <a:rPr lang="en-US" altLang="zh-TW" dirty="0"/>
                  <a:t>EOPMC</a:t>
                </a:r>
                <a:r>
                  <a:rPr lang="zh-TW" altLang="en-US" dirty="0"/>
                  <a:t>所使用的是電光的耦合方程式，</a:t>
                </a:r>
                <a:r>
                  <a:rPr lang="zh-TW" altLang="en-US" sz="1100" b="0" i="0" u="none" strike="noStrike" cap="none" baseline="0" dirty="0">
                    <a:solidFill>
                      <a:srgbClr val="000000"/>
                    </a:solidFill>
                    <a:latin typeface="Arial"/>
                    <a:cs typeface="Arial"/>
                    <a:sym typeface="Arial"/>
                  </a:rPr>
                  <a:t>以</a:t>
                </a:r>
                <a:r>
                  <a:rPr lang="zh-TW" altLang="en-US" sz="1100" b="0" i="0" u="none" strike="noStrike" cap="none" baseline="0" dirty="0">
                    <a:solidFill>
                      <a:srgbClr val="000000"/>
                    </a:solidFill>
                    <a:latin typeface="Arial"/>
                    <a:ea typeface="Arial"/>
                    <a:cs typeface="Arial"/>
                    <a:sym typeface="Arial"/>
                  </a:rPr>
                  <a:t>表示偏振光入射</a:t>
                </a:r>
                <a:r>
                  <a:rPr lang="en-US" altLang="zh-TW" sz="1100" b="0" i="0" u="none" strike="noStrike" cap="none" baseline="0" dirty="0">
                    <a:solidFill>
                      <a:srgbClr val="000000"/>
                    </a:solidFill>
                    <a:latin typeface="Arial"/>
                    <a:ea typeface="Arial"/>
                    <a:cs typeface="Arial"/>
                    <a:sym typeface="Arial"/>
                  </a:rPr>
                  <a:t>EO</a:t>
                </a:r>
                <a:r>
                  <a:rPr lang="zh-TW" altLang="en-US" sz="1100" b="0" i="0" u="none" strike="noStrike" cap="none" baseline="0" dirty="0">
                    <a:solidFill>
                      <a:srgbClr val="000000"/>
                    </a:solidFill>
                    <a:latin typeface="Arial"/>
                    <a:ea typeface="Arial"/>
                    <a:cs typeface="Arial"/>
                    <a:sym typeface="Arial"/>
                  </a:rPr>
                  <a:t>的</a:t>
                </a:r>
                <a:r>
                  <a:rPr lang="en-US" altLang="zh-TW" sz="1100" b="0" i="0" u="none" strike="noStrike" cap="none" baseline="0" dirty="0">
                    <a:solidFill>
                      <a:srgbClr val="000000"/>
                    </a:solidFill>
                    <a:latin typeface="Arial"/>
                    <a:ea typeface="Arial"/>
                    <a:cs typeface="Arial"/>
                    <a:sym typeface="Arial"/>
                  </a:rPr>
                  <a:t>APPLN</a:t>
                </a:r>
                <a:r>
                  <a:rPr lang="zh-TW" altLang="en-US" sz="1100" b="0" i="0" u="none" strike="noStrike" cap="none" baseline="0" dirty="0">
                    <a:solidFill>
                      <a:srgbClr val="000000"/>
                    </a:solidFill>
                    <a:latin typeface="Arial"/>
                    <a:ea typeface="Arial"/>
                    <a:cs typeface="Arial"/>
                    <a:sym typeface="Arial"/>
                  </a:rPr>
                  <a:t>後，再外加</a:t>
                </a:r>
                <a:r>
                  <a:rPr lang="en-US" altLang="zh-TW" sz="1100" b="0" i="0" u="none" strike="noStrike" cap="none" baseline="0" dirty="0">
                    <a:solidFill>
                      <a:srgbClr val="000000"/>
                    </a:solidFill>
                    <a:latin typeface="Arial"/>
                    <a:ea typeface="Arial"/>
                    <a:cs typeface="Arial"/>
                    <a:sym typeface="Arial"/>
                  </a:rPr>
                  <a:t>y</a:t>
                </a:r>
                <a:r>
                  <a:rPr lang="zh-TW" altLang="en-US" sz="1100" b="0" i="0" u="none" strike="noStrike" cap="none" baseline="0" dirty="0">
                    <a:solidFill>
                      <a:srgbClr val="000000"/>
                    </a:solidFill>
                    <a:latin typeface="Arial"/>
                    <a:ea typeface="Arial"/>
                    <a:cs typeface="Arial"/>
                    <a:sym typeface="Arial"/>
                  </a:rPr>
                  <a:t>方向上的電場𝐸𝑦，其出射的訊號光中，兩正交偏振模態的相互轉換，由左下圖可以看到，</a:t>
                </a:r>
                <a:r>
                  <a:rPr lang="zh-TW" altLang="en-US" sz="1100" i="0">
                    <a:latin typeface="Cambria Math" panose="02040503050406030204" pitchFamily="18" charset="0"/>
                  </a:rPr>
                  <a:t>𝐴_𝑒</a:t>
                </a:r>
                <a:r>
                  <a:rPr lang="zh-TW" altLang="en-US" dirty="0"/>
                  <a:t>及</a:t>
                </a:r>
                <a:r>
                  <a:rPr lang="en-US" altLang="zh-TW" sz="1100" i="0">
                    <a:latin typeface="Cambria Math" panose="02040503050406030204" pitchFamily="18" charset="0"/>
                  </a:rPr>
                  <a:t>𝐴</a:t>
                </a:r>
                <a:r>
                  <a:rPr lang="zh-TW" altLang="zh-TW" sz="1100" i="0">
                    <a:latin typeface="Cambria Math" panose="02040503050406030204" pitchFamily="18" charset="0"/>
                  </a:rPr>
                  <a:t>_</a:t>
                </a:r>
                <a:r>
                  <a:rPr lang="en-US" altLang="zh-TW" sz="1100" i="0">
                    <a:latin typeface="Cambria Math" panose="02040503050406030204" pitchFamily="18" charset="0"/>
                  </a:rPr>
                  <a:t>𝑜</a:t>
                </a:r>
                <a:r>
                  <a:rPr lang="zh-TW" altLang="en-US" dirty="0"/>
                  <a:t>為入射的電磁波場，我們將給定一組初始參數，利用入射水平偏振光的條件，所以將</a:t>
                </a:r>
                <a:r>
                  <a:rPr lang="en-US" altLang="zh-TW" sz="1100" i="0">
                    <a:latin typeface="Cambria Math" panose="02040503050406030204" pitchFamily="18" charset="0"/>
                  </a:rPr>
                  <a:t>𝐴</a:t>
                </a:r>
                <a:r>
                  <a:rPr lang="zh-TW" altLang="zh-TW" sz="1100" i="0">
                    <a:latin typeface="Cambria Math" panose="02040503050406030204" pitchFamily="18" charset="0"/>
                  </a:rPr>
                  <a:t>_</a:t>
                </a:r>
                <a:r>
                  <a:rPr lang="en-US" altLang="zh-TW" sz="1100" i="0">
                    <a:latin typeface="Cambria Math" panose="02040503050406030204" pitchFamily="18" charset="0"/>
                  </a:rPr>
                  <a:t>𝑜</a:t>
                </a:r>
                <a:r>
                  <a:rPr lang="zh-TW" altLang="en-US" dirty="0"/>
                  <a:t>值設為</a:t>
                </a:r>
                <a:r>
                  <a:rPr lang="en-US" altLang="zh-TW" dirty="0"/>
                  <a:t>1</a:t>
                </a:r>
                <a:r>
                  <a:rPr lang="zh-TW" altLang="en-US" dirty="0"/>
                  <a:t>，而</a:t>
                </a:r>
                <a:r>
                  <a:rPr lang="zh-TW" altLang="en-US" sz="1100" i="0">
                    <a:latin typeface="Cambria Math" panose="02040503050406030204" pitchFamily="18" charset="0"/>
                  </a:rPr>
                  <a:t>𝐴_𝑒</a:t>
                </a:r>
                <a:r>
                  <a:rPr lang="zh-TW" altLang="en-US" dirty="0"/>
                  <a:t>為</a:t>
                </a:r>
                <a:r>
                  <a:rPr lang="en-US" altLang="zh-TW" dirty="0"/>
                  <a:t>0</a:t>
                </a:r>
                <a:r>
                  <a:rPr lang="zh-TW" altLang="en-US" dirty="0"/>
                  <a:t>，所以當光入射至這塊</a:t>
                </a:r>
                <a:r>
                  <a:rPr lang="en-US" altLang="zh-TW" dirty="0"/>
                  <a:t>EO</a:t>
                </a:r>
                <a:r>
                  <a:rPr lang="zh-TW" altLang="en-US" dirty="0"/>
                  <a:t> </a:t>
                </a:r>
                <a:r>
                  <a:rPr lang="en-US" altLang="zh-TW" dirty="0"/>
                  <a:t>APPLN</a:t>
                </a:r>
                <a:r>
                  <a:rPr lang="zh-TW" altLang="en-US" dirty="0"/>
                  <a:t>中，該晶疇的光穿透率可以寫成式子</a:t>
                </a:r>
                <a:r>
                  <a:rPr lang="en-US" altLang="zh-TW" dirty="0"/>
                  <a:t>(24)</a:t>
                </a:r>
                <a:r>
                  <a:rPr lang="zh-TW" altLang="en-US" dirty="0"/>
                  <a:t>。</a:t>
                </a:r>
                <a:endParaRPr lang="en-US" altLang="zh-TW" dirty="0"/>
              </a:p>
            </p:txBody>
          </p:sp>
        </mc:Fallback>
      </mc:AlternateContent>
    </p:spTree>
    <p:extLst>
      <p:ext uri="{BB962C8B-B14F-4D97-AF65-F5344CB8AC3E}">
        <p14:creationId xmlns:p14="http://schemas.microsoft.com/office/powerpoint/2010/main" val="27644887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baseline="0" dirty="0">
                    <a:solidFill>
                      <a:srgbClr val="000000"/>
                    </a:solidFill>
                    <a:latin typeface="Arial"/>
                    <a:ea typeface="Arial"/>
                    <a:cs typeface="Arial"/>
                    <a:sym typeface="Arial"/>
                  </a:rPr>
                  <a:t>將優化的非週期晶疇結構透過傅立葉轉換之後，可以得到這張圖，表示各個頻率的振幅大小，還有在結構中所佔之比例的多寡，傅立葉係數越大在結構中佔比越多，而本論文有兩個主要的週期，</a:t>
                </a:r>
                <a:r>
                  <a:rPr lang="en-US" altLang="zh-TW" sz="1100" b="0" i="0" u="none" strike="noStrike" cap="none" baseline="0" dirty="0">
                    <a:solidFill>
                      <a:srgbClr val="000000"/>
                    </a:solidFill>
                    <a:latin typeface="Arial"/>
                    <a:ea typeface="Arial"/>
                    <a:cs typeface="Arial"/>
                    <a:sym typeface="Arial"/>
                  </a:rPr>
                  <a:t>SPDC</a:t>
                </a:r>
                <a:r>
                  <a:rPr lang="zh-TW" altLang="en-US" sz="1100" b="0" i="0" u="none" strike="noStrike" cap="none" baseline="0" dirty="0">
                    <a:solidFill>
                      <a:srgbClr val="000000"/>
                    </a:solidFill>
                    <a:latin typeface="Arial"/>
                    <a:ea typeface="Arial"/>
                    <a:cs typeface="Arial"/>
                    <a:sym typeface="Arial"/>
                  </a:rPr>
                  <a:t>與</a:t>
                </a:r>
                <a:r>
                  <a:rPr lang="en-US" altLang="zh-TW" sz="1100" b="0" i="0" u="none" strike="noStrike" cap="none" baseline="0" dirty="0">
                    <a:solidFill>
                      <a:srgbClr val="000000"/>
                    </a:solidFill>
                    <a:latin typeface="Arial"/>
                    <a:ea typeface="Arial"/>
                    <a:cs typeface="Arial"/>
                    <a:sym typeface="Arial"/>
                  </a:rPr>
                  <a:t>EOPMC</a:t>
                </a:r>
                <a:r>
                  <a:rPr lang="zh-TW" altLang="en-US" sz="1100" b="0" i="0" u="none" strike="noStrike" cap="none" baseline="0" dirty="0">
                    <a:solidFill>
                      <a:srgbClr val="000000"/>
                    </a:solidFill>
                    <a:latin typeface="Arial"/>
                    <a:ea typeface="Arial"/>
                    <a:cs typeface="Arial"/>
                    <a:sym typeface="Arial"/>
                  </a:rPr>
                  <a:t>，分別對應到之前計算出的準相位匹配週期，而因為</a:t>
                </a:r>
                <a:r>
                  <a:rPr lang="en-US" altLang="zh-TW" sz="1100" b="0" i="0" u="none" strike="noStrike" cap="none" baseline="0" dirty="0">
                    <a:solidFill>
                      <a:srgbClr val="000000"/>
                    </a:solidFill>
                    <a:latin typeface="Arial"/>
                    <a:ea typeface="Arial"/>
                    <a:cs typeface="Arial"/>
                    <a:sym typeface="Arial"/>
                  </a:rPr>
                  <a:t>SPDC</a:t>
                </a:r>
                <a:r>
                  <a:rPr lang="zh-TW" altLang="en-US" sz="1100" b="0" i="0" u="none" strike="noStrike" cap="none" baseline="0" dirty="0">
                    <a:solidFill>
                      <a:srgbClr val="000000"/>
                    </a:solidFill>
                    <a:latin typeface="Arial"/>
                    <a:ea typeface="Arial"/>
                    <a:cs typeface="Arial"/>
                    <a:sym typeface="Arial"/>
                  </a:rPr>
                  <a:t>週期相對於</a:t>
                </a:r>
                <a:r>
                  <a:rPr lang="en-US" altLang="zh-TW" sz="1100" b="0" i="0" u="none" strike="noStrike" cap="none" baseline="0" dirty="0">
                    <a:solidFill>
                      <a:srgbClr val="000000"/>
                    </a:solidFill>
                    <a:latin typeface="Arial"/>
                    <a:ea typeface="Arial"/>
                    <a:cs typeface="Arial"/>
                    <a:sym typeface="Arial"/>
                  </a:rPr>
                  <a:t>EOPMC</a:t>
                </a:r>
                <a:r>
                  <a:rPr lang="zh-TW" altLang="en-US" sz="1100" b="0" i="0" u="none" strike="noStrike" cap="none" baseline="0" dirty="0">
                    <a:solidFill>
                      <a:srgbClr val="000000"/>
                    </a:solidFill>
                    <a:latin typeface="Arial"/>
                    <a:ea typeface="Arial"/>
                    <a:cs typeface="Arial"/>
                    <a:sym typeface="Arial"/>
                  </a:rPr>
                  <a:t>來說較小，因此其</a:t>
                </a:r>
                <a14:m>
                  <m:oMath xmlns:m="http://schemas.openxmlformats.org/officeDocument/2006/math">
                    <m:r>
                      <m:rPr>
                        <m:nor/>
                      </m:rPr>
                      <a:rPr lang="en-US" altLang="zh-TW" sz="1100" b="0" dirty="0" smtClean="0">
                        <a:solidFill>
                          <a:schemeClr val="tx2"/>
                        </a:solidFill>
                        <a:latin typeface="Montserrat" panose="02020500000000000000" charset="0"/>
                        <a:cs typeface="Times New Roman" panose="02020603050405020304" pitchFamily="18" charset="0"/>
                      </a:rPr>
                      <m:t>∆</m:t>
                    </m:r>
                  </m:oMath>
                </a14:m>
                <a:r>
                  <a:rPr lang="en-US" altLang="zh-TW" sz="1100" b="0" dirty="0">
                    <a:solidFill>
                      <a:schemeClr val="tx2"/>
                    </a:solidFill>
                    <a:latin typeface="Montserrat" panose="02020500000000000000" charset="0"/>
                    <a:cs typeface="Times New Roman" panose="02020603050405020304" pitchFamily="18" charset="0"/>
                  </a:rPr>
                  <a:t>k</a:t>
                </a:r>
                <a:r>
                  <a:rPr lang="zh-TW" altLang="en-US" sz="1100" b="0" dirty="0">
                    <a:solidFill>
                      <a:schemeClr val="tx2"/>
                    </a:solidFill>
                    <a:latin typeface="Montserrat" panose="02020500000000000000" charset="0"/>
                    <a:cs typeface="Times New Roman" panose="02020603050405020304" pitchFamily="18" charset="0"/>
                  </a:rPr>
                  <a:t>較大。</a:t>
                </a:r>
                <a:endParaRPr b="0"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baseline="0" dirty="0">
                    <a:solidFill>
                      <a:srgbClr val="000000"/>
                    </a:solidFill>
                    <a:latin typeface="Arial"/>
                    <a:ea typeface="Arial"/>
                    <a:cs typeface="Arial"/>
                    <a:sym typeface="Arial"/>
                  </a:rPr>
                  <a:t>將優化的非週期晶疇結構透過傅立葉轉換之後，可以得到這張圖，表示各個頻率的振幅大小，還有在結構中所佔之比例的多寡，傅立葉係數越大在結構中佔比越多，而本論文有兩個主要的週期，</a:t>
                </a:r>
                <a:r>
                  <a:rPr lang="en-US" altLang="zh-TW" sz="1100" b="0" i="0" u="none" strike="noStrike" cap="none" baseline="0" dirty="0">
                    <a:solidFill>
                      <a:srgbClr val="000000"/>
                    </a:solidFill>
                    <a:latin typeface="Arial"/>
                    <a:ea typeface="Arial"/>
                    <a:cs typeface="Arial"/>
                    <a:sym typeface="Arial"/>
                  </a:rPr>
                  <a:t>SPDC</a:t>
                </a:r>
                <a:r>
                  <a:rPr lang="zh-TW" altLang="en-US" sz="1100" b="0" i="0" u="none" strike="noStrike" cap="none" baseline="0" dirty="0">
                    <a:solidFill>
                      <a:srgbClr val="000000"/>
                    </a:solidFill>
                    <a:latin typeface="Arial"/>
                    <a:ea typeface="Arial"/>
                    <a:cs typeface="Arial"/>
                    <a:sym typeface="Arial"/>
                  </a:rPr>
                  <a:t>與</a:t>
                </a:r>
                <a:r>
                  <a:rPr lang="en-US" altLang="zh-TW" sz="1100" b="0" i="0" u="none" strike="noStrike" cap="none" baseline="0" dirty="0">
                    <a:solidFill>
                      <a:srgbClr val="000000"/>
                    </a:solidFill>
                    <a:latin typeface="Arial"/>
                    <a:ea typeface="Arial"/>
                    <a:cs typeface="Arial"/>
                    <a:sym typeface="Arial"/>
                  </a:rPr>
                  <a:t>EOPMC</a:t>
                </a:r>
                <a:r>
                  <a:rPr lang="zh-TW" altLang="en-US" sz="1100" b="0" i="0" u="none" strike="noStrike" cap="none" baseline="0" dirty="0">
                    <a:solidFill>
                      <a:srgbClr val="000000"/>
                    </a:solidFill>
                    <a:latin typeface="Arial"/>
                    <a:ea typeface="Arial"/>
                    <a:cs typeface="Arial"/>
                    <a:sym typeface="Arial"/>
                  </a:rPr>
                  <a:t>，分別對應到之前計算出的準相位匹配週期，而因為</a:t>
                </a:r>
                <a:r>
                  <a:rPr lang="en-US" altLang="zh-TW" sz="1100" b="0" i="0" u="none" strike="noStrike" cap="none" baseline="0" dirty="0">
                    <a:solidFill>
                      <a:srgbClr val="000000"/>
                    </a:solidFill>
                    <a:latin typeface="Arial"/>
                    <a:ea typeface="Arial"/>
                    <a:cs typeface="Arial"/>
                    <a:sym typeface="Arial"/>
                  </a:rPr>
                  <a:t>SPDC</a:t>
                </a:r>
                <a:r>
                  <a:rPr lang="zh-TW" altLang="en-US" sz="1100" b="0" i="0" u="none" strike="noStrike" cap="none" baseline="0" dirty="0">
                    <a:solidFill>
                      <a:srgbClr val="000000"/>
                    </a:solidFill>
                    <a:latin typeface="Arial"/>
                    <a:ea typeface="Arial"/>
                    <a:cs typeface="Arial"/>
                    <a:sym typeface="Arial"/>
                  </a:rPr>
                  <a:t>週期想對於</a:t>
                </a:r>
                <a:r>
                  <a:rPr lang="en-US" altLang="zh-TW" sz="1100" b="0" i="0" u="none" strike="noStrike" cap="none" baseline="0" dirty="0">
                    <a:solidFill>
                      <a:srgbClr val="000000"/>
                    </a:solidFill>
                    <a:latin typeface="Arial"/>
                    <a:ea typeface="Arial"/>
                    <a:cs typeface="Arial"/>
                    <a:sym typeface="Arial"/>
                  </a:rPr>
                  <a:t>EOPMC</a:t>
                </a:r>
                <a:r>
                  <a:rPr lang="zh-TW" altLang="en-US" sz="1100" b="0" i="0" u="none" strike="noStrike" cap="none" baseline="0" dirty="0">
                    <a:solidFill>
                      <a:srgbClr val="000000"/>
                    </a:solidFill>
                    <a:latin typeface="Arial"/>
                    <a:ea typeface="Arial"/>
                    <a:cs typeface="Arial"/>
                    <a:sym typeface="Arial"/>
                  </a:rPr>
                  <a:t>來說較小，因此其</a:t>
                </a:r>
                <a:r>
                  <a:rPr lang="en-US" altLang="zh-TW" sz="1100" b="0" i="0" dirty="0">
                    <a:solidFill>
                      <a:schemeClr val="tx2"/>
                    </a:solidFill>
                    <a:latin typeface="Cambria Math" panose="02040503050406030204" pitchFamily="18" charset="0"/>
                    <a:cs typeface="Times New Roman" panose="02020603050405020304" pitchFamily="18" charset="0"/>
                  </a:rPr>
                  <a:t>"∆</a:t>
                </a:r>
                <a:r>
                  <a:rPr lang="zh-TW" altLang="en-US" sz="1100" b="0" i="0" dirty="0">
                    <a:solidFill>
                      <a:schemeClr val="tx2"/>
                    </a:solidFill>
                    <a:latin typeface="Montserrat" panose="02020500000000000000" charset="0"/>
                    <a:cs typeface="Times New Roman" panose="02020603050405020304" pitchFamily="18" charset="0"/>
                  </a:rPr>
                  <a:t>"</a:t>
                </a:r>
                <a:r>
                  <a:rPr lang="en-US" altLang="zh-TW" sz="1100" b="0" dirty="0">
                    <a:solidFill>
                      <a:schemeClr val="tx2"/>
                    </a:solidFill>
                    <a:latin typeface="Montserrat" panose="02020500000000000000" charset="0"/>
                    <a:cs typeface="Times New Roman" panose="02020603050405020304" pitchFamily="18" charset="0"/>
                  </a:rPr>
                  <a:t>k</a:t>
                </a:r>
                <a:r>
                  <a:rPr lang="zh-TW" altLang="en-US" sz="1100" b="0" dirty="0">
                    <a:solidFill>
                      <a:schemeClr val="tx2"/>
                    </a:solidFill>
                    <a:latin typeface="Montserrat" panose="02020500000000000000" charset="0"/>
                    <a:cs typeface="Times New Roman" panose="02020603050405020304" pitchFamily="18" charset="0"/>
                  </a:rPr>
                  <a:t>較大。</a:t>
                </a:r>
                <a:endParaRPr b="0" dirty="0"/>
              </a:p>
            </p:txBody>
          </p:sp>
        </mc:Fallback>
      </mc:AlternateContent>
    </p:spTree>
    <p:extLst>
      <p:ext uri="{BB962C8B-B14F-4D97-AF65-F5344CB8AC3E}">
        <p14:creationId xmlns:p14="http://schemas.microsoft.com/office/powerpoint/2010/main" val="10522410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最後，我們優化出的結構對應的傅立葉頻譜圖如上面這三張，前面兩張為</a:t>
            </a:r>
            <a:r>
              <a:rPr lang="en-US" altLang="zh-TW" dirty="0"/>
              <a:t>SPDC</a:t>
            </a:r>
            <a:r>
              <a:rPr lang="zh-TW" altLang="en-US" dirty="0"/>
              <a:t>的模擬結果，第三張為</a:t>
            </a:r>
            <a:r>
              <a:rPr lang="en-US" altLang="zh-TW" dirty="0"/>
              <a:t>EOPMC</a:t>
            </a:r>
            <a:r>
              <a:rPr lang="zh-TW" altLang="en-US" dirty="0"/>
              <a:t>的模擬結果，皆以</a:t>
            </a:r>
            <a:r>
              <a:rPr lang="en-US" altLang="zh-TW" dirty="0"/>
              <a:t>1570nm</a:t>
            </a:r>
            <a:r>
              <a:rPr lang="zh-TW" altLang="en-US" dirty="0"/>
              <a:t>為中心波長，而下面這個表格為依照我們需要的結構所設定的參數，其中晶疇長度我們設為</a:t>
            </a:r>
            <a:r>
              <a:rPr lang="en-US" altLang="zh-TW" dirty="0"/>
              <a:t>2</a:t>
            </a:r>
            <a:r>
              <a:rPr lang="zh-TW" altLang="en-US" dirty="0"/>
              <a:t>公分，而最小單位晶疇我們設計成</a:t>
            </a:r>
            <a:r>
              <a:rPr lang="en-US" altLang="zh-TW" dirty="0"/>
              <a:t>SPDC</a:t>
            </a:r>
            <a:r>
              <a:rPr lang="zh-TW" altLang="en-US" dirty="0"/>
              <a:t>週期的一半為</a:t>
            </a:r>
            <a:r>
              <a:rPr lang="en-US" altLang="zh-TW" dirty="0"/>
              <a:t>4.66um</a:t>
            </a:r>
            <a:r>
              <a:rPr lang="zh-TW" altLang="en-US" dirty="0"/>
              <a:t>，而晶疇個數是晶疇長度除最小單位晶疇，因此設為</a:t>
            </a:r>
            <a:r>
              <a:rPr lang="en-US" altLang="zh-TW" dirty="0"/>
              <a:t>4292</a:t>
            </a:r>
            <a:r>
              <a:rPr lang="zh-TW" altLang="en-US" dirty="0"/>
              <a:t>個晶疇，匹配的溫度設為</a:t>
            </a:r>
            <a:r>
              <a:rPr lang="en-US" altLang="zh-TW" dirty="0"/>
              <a:t>50</a:t>
            </a:r>
            <a:r>
              <a:rPr lang="zh-TW" altLang="en-US" dirty="0"/>
              <a:t>度，</a:t>
            </a:r>
            <a:r>
              <a:rPr lang="en-US" altLang="zh-TW" dirty="0"/>
              <a:t>SPDC</a:t>
            </a:r>
            <a:r>
              <a:rPr lang="zh-TW" altLang="en-US" dirty="0"/>
              <a:t>的</a:t>
            </a:r>
            <a:r>
              <a:rPr lang="en-US" altLang="zh-TW" dirty="0"/>
              <a:t>signal</a:t>
            </a:r>
            <a:r>
              <a:rPr lang="zh-TW" altLang="en-US" dirty="0"/>
              <a:t>與</a:t>
            </a:r>
            <a:r>
              <a:rPr lang="en-US" altLang="zh-TW" dirty="0"/>
              <a:t>idler</a:t>
            </a:r>
            <a:r>
              <a:rPr lang="zh-TW" altLang="en-US" dirty="0"/>
              <a:t>的波長均設為</a:t>
            </a:r>
            <a:r>
              <a:rPr lang="en-US" altLang="zh-TW" dirty="0"/>
              <a:t>1570nm</a:t>
            </a:r>
            <a:r>
              <a:rPr lang="zh-TW" altLang="en-US" dirty="0"/>
              <a:t>，而</a:t>
            </a:r>
            <a:r>
              <a:rPr lang="en-US" altLang="zh-TW" dirty="0"/>
              <a:t>EOPMC</a:t>
            </a:r>
            <a:r>
              <a:rPr lang="zh-TW" altLang="en-US" dirty="0"/>
              <a:t>以寬頻作為設計，所以將其設為</a:t>
            </a:r>
            <a:r>
              <a:rPr lang="en-US" altLang="zh-TW" dirty="0"/>
              <a:t>1567~1573nm</a:t>
            </a:r>
            <a:r>
              <a:rPr lang="zh-TW" altLang="en-US" dirty="0"/>
              <a:t>。</a:t>
            </a:r>
            <a:endParaRPr dirty="0"/>
          </a:p>
        </p:txBody>
      </p:sp>
    </p:spTree>
    <p:extLst>
      <p:ext uri="{BB962C8B-B14F-4D97-AF65-F5344CB8AC3E}">
        <p14:creationId xmlns:p14="http://schemas.microsoft.com/office/powerpoint/2010/main" val="42760835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接著要介紹我如何實際製作出此晶片</a:t>
            </a:r>
            <a:r>
              <a:rPr lang="zh-TW" altLang="en-US"/>
              <a:t>的結構</a:t>
            </a:r>
            <a:endParaRPr dirty="0"/>
          </a:p>
        </p:txBody>
      </p:sp>
    </p:spTree>
    <p:extLst>
      <p:ext uri="{BB962C8B-B14F-4D97-AF65-F5344CB8AC3E}">
        <p14:creationId xmlns:p14="http://schemas.microsoft.com/office/powerpoint/2010/main" val="915704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該製作過程總共需要三大步驟，首先為鈦擴散波導的製作，接著是晶疇極化反轉的製作，最後鍍上電極。</a:t>
            </a:r>
          </a:p>
        </p:txBody>
      </p:sp>
    </p:spTree>
    <p:extLst>
      <p:ext uri="{BB962C8B-B14F-4D97-AF65-F5344CB8AC3E}">
        <p14:creationId xmlns:p14="http://schemas.microsoft.com/office/powerpoint/2010/main" val="36341719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首先說明鈦擴散波導製程步驟，每個製程步驟開始時都需要清洗晶片，接著塗佈光阻、去邊去背以及軟烤，而後進行曝光、顯影，到這邊結束波導黃光，黃光結束後我們在晶片上鍍上鈦膜，利用</a:t>
            </a:r>
            <a:r>
              <a:rPr lang="en-US" altLang="zh-TW" dirty="0"/>
              <a:t>Lift-off</a:t>
            </a:r>
            <a:r>
              <a:rPr lang="zh-TW" altLang="en-US" dirty="0"/>
              <a:t>讓只有黃光定義好的圖形上留下鈦，將晶片切割後放入爐管中進行高溫擴散，到這邊完成波導的製作。但因為高溫會造成熱電效應，使晶片的</a:t>
            </a:r>
            <a:r>
              <a:rPr lang="en-US" altLang="zh-TW" dirty="0"/>
              <a:t>+z</a:t>
            </a:r>
            <a:r>
              <a:rPr lang="zh-TW" altLang="en-US" dirty="0"/>
              <a:t>面有一層大約</a:t>
            </a:r>
            <a:r>
              <a:rPr lang="en-US" altLang="zh-TW" dirty="0"/>
              <a:t>50um</a:t>
            </a:r>
            <a:r>
              <a:rPr lang="zh-TW" altLang="en-US" dirty="0"/>
              <a:t>的反轉層，所以我們需要將其面拋去除。</a:t>
            </a:r>
            <a:endParaRPr dirty="0"/>
          </a:p>
        </p:txBody>
      </p:sp>
    </p:spTree>
    <p:extLst>
      <p:ext uri="{BB962C8B-B14F-4D97-AF65-F5344CB8AC3E}">
        <p14:creationId xmlns:p14="http://schemas.microsoft.com/office/powerpoint/2010/main" val="29235845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這些圖片分別為波導黃光、鈦沉積後</a:t>
            </a:r>
            <a:r>
              <a:rPr lang="en-US" altLang="zh-TW" dirty="0"/>
              <a:t>Lift-off</a:t>
            </a:r>
            <a:r>
              <a:rPr lang="zh-TW" altLang="en-US" dirty="0"/>
              <a:t>以及鈦擴散後的結果圖</a:t>
            </a:r>
            <a:endParaRPr dirty="0"/>
          </a:p>
        </p:txBody>
      </p:sp>
    </p:spTree>
    <p:extLst>
      <p:ext uri="{BB962C8B-B14F-4D97-AF65-F5344CB8AC3E}">
        <p14:creationId xmlns:p14="http://schemas.microsoft.com/office/powerpoint/2010/main" val="16709781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接著說明極化反轉的製作流程，一樣經過光阻塗佈、曝光、顯影的過程將其定義好圖形，將黃光製作完成的晶片拿去硬烤，目的在於將多餘的水分烘乾，避免外加高壓時無須反轉的地方被影響，接著利用</a:t>
            </a:r>
            <a:r>
              <a:rPr lang="en-US" altLang="zh-TW" dirty="0"/>
              <a:t>UV</a:t>
            </a:r>
            <a:r>
              <a:rPr lang="zh-TW" altLang="en-US" dirty="0"/>
              <a:t>膠將晶片固定於壓克力板上，鎖上夾具並灌入液態電極後，加電壓反轉晶疇，最後去除光阻以及利用氫氟酸進行蝕刻，到這邊完成極化反轉的製作。</a:t>
            </a:r>
            <a:endParaRPr dirty="0"/>
          </a:p>
        </p:txBody>
      </p:sp>
    </p:spTree>
    <p:extLst>
      <p:ext uri="{BB962C8B-B14F-4D97-AF65-F5344CB8AC3E}">
        <p14:creationId xmlns:p14="http://schemas.microsoft.com/office/powerpoint/2010/main" val="2478591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這邊分別為極化反轉的黃光、蝕刻</a:t>
            </a:r>
            <a:r>
              <a:rPr lang="en-US" altLang="zh-TW" dirty="0"/>
              <a:t>+Z</a:t>
            </a:r>
            <a:r>
              <a:rPr lang="zh-TW" altLang="en-US" dirty="0"/>
              <a:t>面的結果圖，最右邊為將晶片的兩端進行端拋的側視圖，目的在於避免日後量測時造成多餘的損耗。</a:t>
            </a:r>
            <a:endParaRPr dirty="0"/>
          </a:p>
        </p:txBody>
      </p:sp>
    </p:spTree>
    <p:extLst>
      <p:ext uri="{BB962C8B-B14F-4D97-AF65-F5344CB8AC3E}">
        <p14:creationId xmlns:p14="http://schemas.microsoft.com/office/powerpoint/2010/main" val="29139051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最後說明電極製作步驟，而電極的步驟與波導相同，黃光定義完成圖形後，鍍上二氧化矽</a:t>
            </a:r>
            <a:r>
              <a:rPr lang="en-US" altLang="zh-TW" dirty="0"/>
              <a:t>100nm</a:t>
            </a:r>
            <a:r>
              <a:rPr lang="zh-TW" altLang="en-US" dirty="0"/>
              <a:t>，以及金屬鎳與金，厚度分別為</a:t>
            </a:r>
            <a:r>
              <a:rPr lang="en-US" altLang="zh-TW" dirty="0"/>
              <a:t>50nm</a:t>
            </a:r>
            <a:r>
              <a:rPr lang="zh-TW" altLang="en-US" dirty="0"/>
              <a:t>與</a:t>
            </a:r>
            <a:r>
              <a:rPr lang="en-US" altLang="zh-TW" dirty="0"/>
              <a:t>150nm</a:t>
            </a:r>
            <a:r>
              <a:rPr lang="zh-TW" altLang="en-US" dirty="0"/>
              <a:t>，最後透過</a:t>
            </a:r>
            <a:r>
              <a:rPr lang="en-US" altLang="zh-TW" dirty="0"/>
              <a:t>Lift-off</a:t>
            </a:r>
            <a:r>
              <a:rPr lang="zh-TW" altLang="en-US" dirty="0"/>
              <a:t>將沒有光阻的地方掀離，也完成所有的製程步驟。</a:t>
            </a:r>
            <a:endParaRPr dirty="0"/>
          </a:p>
        </p:txBody>
      </p:sp>
    </p:spTree>
    <p:extLst>
      <p:ext uri="{BB962C8B-B14F-4D97-AF65-F5344CB8AC3E}">
        <p14:creationId xmlns:p14="http://schemas.microsoft.com/office/powerpoint/2010/main" val="13999506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這是電極黃光與在沉積二氧化矽以及金屬膜後</a:t>
            </a:r>
            <a:r>
              <a:rPr lang="en-US" altLang="zh-TW" dirty="0"/>
              <a:t>Lift-off</a:t>
            </a:r>
            <a:r>
              <a:rPr lang="zh-TW" altLang="en-US" dirty="0"/>
              <a:t>的結果圖。</a:t>
            </a:r>
            <a:endParaRPr dirty="0"/>
          </a:p>
        </p:txBody>
      </p:sp>
    </p:spTree>
    <p:extLst>
      <p:ext uri="{BB962C8B-B14F-4D97-AF65-F5344CB8AC3E}">
        <p14:creationId xmlns:p14="http://schemas.microsoft.com/office/powerpoint/2010/main" val="24223043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接下來進入量測階段並對結果進行分析</a:t>
            </a:r>
            <a:endParaRPr dirty="0"/>
          </a:p>
        </p:txBody>
      </p:sp>
    </p:spTree>
    <p:extLst>
      <p:ext uri="{BB962C8B-B14F-4D97-AF65-F5344CB8AC3E}">
        <p14:creationId xmlns:p14="http://schemas.microsoft.com/office/powerpoint/2010/main" val="42745609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首先介紹倍頻</a:t>
            </a:r>
            <a:r>
              <a:rPr lang="en-US" altLang="zh-TW" dirty="0"/>
              <a:t>SHG</a:t>
            </a:r>
            <a:r>
              <a:rPr lang="zh-TW" altLang="en-US" dirty="0"/>
              <a:t>的量測架構，利用</a:t>
            </a:r>
            <a:r>
              <a:rPr lang="en-US" altLang="zh-TW" dirty="0"/>
              <a:t>SHG</a:t>
            </a:r>
            <a:r>
              <a:rPr lang="zh-TW" altLang="en-US" dirty="0"/>
              <a:t>量測得到的中心波長，就可以反推</a:t>
            </a:r>
            <a:r>
              <a:rPr lang="en-US" altLang="zh-TW" dirty="0"/>
              <a:t>SPDC</a:t>
            </a:r>
            <a:r>
              <a:rPr lang="zh-TW" altLang="en-US" dirty="0"/>
              <a:t>的波長位置。</a:t>
            </a:r>
          </a:p>
        </p:txBody>
      </p:sp>
    </p:spTree>
    <p:extLst>
      <p:ext uri="{BB962C8B-B14F-4D97-AF65-F5344CB8AC3E}">
        <p14:creationId xmlns:p14="http://schemas.microsoft.com/office/powerpoint/2010/main" val="18314345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這是</a:t>
            </a:r>
            <a:r>
              <a:rPr lang="en-US" altLang="zh-TW" dirty="0"/>
              <a:t>SHG</a:t>
            </a:r>
            <a:r>
              <a:rPr lang="zh-TW" altLang="en-US" dirty="0"/>
              <a:t>的量測架構示意圖</a:t>
            </a:r>
            <a:endParaRPr dirty="0"/>
          </a:p>
        </p:txBody>
      </p:sp>
    </p:spTree>
    <p:extLst>
      <p:ext uri="{BB962C8B-B14F-4D97-AF65-F5344CB8AC3E}">
        <p14:creationId xmlns:p14="http://schemas.microsoft.com/office/powerpoint/2010/main" val="31669093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用簡易版的圖做解釋，由可調式的外腔雷射作為光源，再</a:t>
            </a:r>
            <a:r>
              <a:rPr lang="zh-TW" altLang="en-US" sz="1100" b="0" i="0" u="none" strike="noStrike" cap="none" baseline="0" dirty="0">
                <a:solidFill>
                  <a:srgbClr val="000000"/>
                </a:solidFill>
                <a:latin typeface="Arial"/>
                <a:ea typeface="Arial"/>
                <a:cs typeface="Arial"/>
                <a:sym typeface="Arial"/>
              </a:rPr>
              <a:t>經過摻鉺光纖放大器將功率放大，藉由偏振控制器</a:t>
            </a:r>
            <a:r>
              <a:rPr lang="en-US" altLang="zh-TW" sz="1100" b="0" i="0" u="none" strike="noStrike" cap="none" baseline="0" dirty="0">
                <a:solidFill>
                  <a:srgbClr val="000000"/>
                </a:solidFill>
                <a:latin typeface="Arial"/>
                <a:ea typeface="Arial"/>
                <a:cs typeface="Arial"/>
                <a:sym typeface="Arial"/>
              </a:rPr>
              <a:t>(PC)</a:t>
            </a:r>
            <a:r>
              <a:rPr lang="zh-TW" altLang="en-US" sz="1100" b="0" i="0" u="none" strike="noStrike" cap="none" baseline="0" dirty="0">
                <a:solidFill>
                  <a:srgbClr val="000000"/>
                </a:solidFill>
                <a:latin typeface="Arial"/>
                <a:ea typeface="Arial"/>
                <a:cs typeface="Arial"/>
                <a:sym typeface="Arial"/>
              </a:rPr>
              <a:t>來調控入射</a:t>
            </a:r>
            <a:r>
              <a:rPr lang="en-US" altLang="zh-TW" sz="1100" b="0" i="0" u="none" strike="noStrike" cap="none" baseline="0" dirty="0">
                <a:solidFill>
                  <a:srgbClr val="000000"/>
                </a:solidFill>
                <a:latin typeface="Arial"/>
                <a:ea typeface="Arial"/>
                <a:cs typeface="Arial"/>
                <a:sym typeface="Arial"/>
              </a:rPr>
              <a:t>45</a:t>
            </a:r>
            <a:r>
              <a:rPr lang="zh-TW" altLang="en-US" sz="1100" b="0" i="0" u="none" strike="noStrike" cap="none" baseline="0" dirty="0">
                <a:solidFill>
                  <a:srgbClr val="000000"/>
                </a:solidFill>
                <a:latin typeface="Arial"/>
                <a:ea typeface="Arial"/>
                <a:cs typeface="Arial"/>
                <a:sym typeface="Arial"/>
              </a:rPr>
              <a:t>度的偏振，使用光纖耦合進波導後，物鏡收光經過偏振分光鏡</a:t>
            </a:r>
            <a:r>
              <a:rPr lang="en-US" altLang="zh-TW" sz="1100" b="0" i="0" u="none" strike="noStrike" cap="none" baseline="0" dirty="0">
                <a:solidFill>
                  <a:srgbClr val="000000"/>
                </a:solidFill>
                <a:latin typeface="Arial"/>
                <a:ea typeface="Arial"/>
                <a:cs typeface="Arial"/>
                <a:sym typeface="Arial"/>
              </a:rPr>
              <a:t>(PBS)</a:t>
            </a:r>
            <a:r>
              <a:rPr lang="zh-TW" altLang="en-US" sz="1100" b="0" i="0" u="none" strike="noStrike" cap="none" baseline="0" dirty="0">
                <a:solidFill>
                  <a:srgbClr val="000000"/>
                </a:solidFill>
                <a:latin typeface="Arial"/>
                <a:ea typeface="Arial"/>
                <a:cs typeface="Arial"/>
                <a:sym typeface="Arial"/>
              </a:rPr>
              <a:t>後由</a:t>
            </a:r>
            <a:r>
              <a:rPr lang="en-US" altLang="zh-TW" sz="1100" b="0" i="0" u="none" strike="noStrike" cap="none" baseline="0" dirty="0">
                <a:solidFill>
                  <a:srgbClr val="000000"/>
                </a:solidFill>
                <a:latin typeface="Arial"/>
                <a:ea typeface="Arial"/>
                <a:cs typeface="Arial"/>
                <a:sym typeface="Arial"/>
              </a:rPr>
              <a:t>Detector</a:t>
            </a:r>
            <a:r>
              <a:rPr lang="zh-TW" altLang="en-US" sz="1100" b="0" i="0" u="none" strike="noStrike" cap="none" baseline="0" dirty="0">
                <a:solidFill>
                  <a:srgbClr val="000000"/>
                </a:solidFill>
                <a:latin typeface="Arial"/>
                <a:ea typeface="Arial"/>
                <a:cs typeface="Arial"/>
                <a:sym typeface="Arial"/>
              </a:rPr>
              <a:t>進行測量。</a:t>
            </a:r>
            <a:endParaRPr dirty="0"/>
          </a:p>
        </p:txBody>
      </p:sp>
    </p:spTree>
    <p:extLst>
      <p:ext uri="{BB962C8B-B14F-4D97-AF65-F5344CB8AC3E}">
        <p14:creationId xmlns:p14="http://schemas.microsoft.com/office/powerpoint/2010/main" val="41018325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量測倍頻訊號如圖所示，當實驗溫度為</a:t>
            </a:r>
            <a:r>
              <a:rPr lang="en-US" altLang="zh-TW" dirty="0"/>
              <a:t>110</a:t>
            </a:r>
            <a:r>
              <a:rPr lang="zh-TW" altLang="en-US" dirty="0"/>
              <a:t>度時，其實驗與模擬的中心波長最為吻合。</a:t>
            </a:r>
            <a:endParaRPr dirty="0"/>
          </a:p>
        </p:txBody>
      </p:sp>
    </p:spTree>
    <p:extLst>
      <p:ext uri="{BB962C8B-B14F-4D97-AF65-F5344CB8AC3E}">
        <p14:creationId xmlns:p14="http://schemas.microsoft.com/office/powerpoint/2010/main" val="6953937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我們也得到不同溫度下的倍頻訊號，而右圖為不同結構下，溫度與中心波長的調製關係，當溫度越高，其中心波長越往短波長移動，其調制率大約等於</a:t>
            </a:r>
            <a:r>
              <a:rPr lang="en-US" altLang="zh-TW" dirty="0"/>
              <a:t>0.15nm/°C</a:t>
            </a:r>
            <a:r>
              <a:rPr lang="zh-TW" altLang="en-US" dirty="0"/>
              <a:t>。</a:t>
            </a:r>
            <a:endParaRPr dirty="0"/>
          </a:p>
        </p:txBody>
      </p:sp>
    </p:spTree>
    <p:extLst>
      <p:ext uri="{BB962C8B-B14F-4D97-AF65-F5344CB8AC3E}">
        <p14:creationId xmlns:p14="http://schemas.microsoft.com/office/powerpoint/2010/main" val="13674911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接著介紹電光偏振模態耦合</a:t>
            </a:r>
            <a:r>
              <a:rPr lang="en-US" altLang="zh-TW" dirty="0"/>
              <a:t>EOPMC</a:t>
            </a:r>
            <a:r>
              <a:rPr lang="zh-TW" altLang="en-US" dirty="0"/>
              <a:t>的量測架構，目的為旋轉其入射偏振至我們所需要的偏振</a:t>
            </a:r>
          </a:p>
        </p:txBody>
      </p:sp>
    </p:spTree>
    <p:extLst>
      <p:ext uri="{BB962C8B-B14F-4D97-AF65-F5344CB8AC3E}">
        <p14:creationId xmlns:p14="http://schemas.microsoft.com/office/powerpoint/2010/main" val="4676163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這是</a:t>
            </a:r>
            <a:r>
              <a:rPr lang="en-US" altLang="zh-TW" dirty="0"/>
              <a:t>EOPMC</a:t>
            </a:r>
            <a:r>
              <a:rPr lang="zh-TW" altLang="en-US" dirty="0"/>
              <a:t>的量測架構示意圖</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4814535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使用與倍頻一樣的</a:t>
            </a:r>
            <a:r>
              <a:rPr lang="en-US" altLang="zh-TW" dirty="0"/>
              <a:t>ECL</a:t>
            </a:r>
            <a:r>
              <a:rPr lang="zh-TW" altLang="en-US" dirty="0"/>
              <a:t>作為光源，因為</a:t>
            </a:r>
            <a:r>
              <a:rPr lang="en-US" altLang="zh-TW" dirty="0"/>
              <a:t>EDFA</a:t>
            </a:r>
            <a:r>
              <a:rPr lang="zh-TW" altLang="en-US" dirty="0"/>
              <a:t>會影響偏振不穩，因此這邊不需要經過</a:t>
            </a:r>
            <a:r>
              <a:rPr lang="en-US" altLang="zh-TW" dirty="0"/>
              <a:t>EDFA</a:t>
            </a:r>
            <a:r>
              <a:rPr lang="zh-TW" altLang="en-US" dirty="0"/>
              <a:t>，一樣利用</a:t>
            </a:r>
            <a:r>
              <a:rPr lang="en-US" altLang="zh-TW" dirty="0"/>
              <a:t>PC</a:t>
            </a:r>
            <a:r>
              <a:rPr lang="zh-TW" altLang="en-US" dirty="0"/>
              <a:t>調整入射偏振完全為</a:t>
            </a:r>
            <a:r>
              <a:rPr lang="en-US" altLang="zh-TW" dirty="0"/>
              <a:t>TE</a:t>
            </a:r>
            <a:r>
              <a:rPr lang="zh-TW" altLang="en-US" dirty="0"/>
              <a:t>或</a:t>
            </a:r>
            <a:r>
              <a:rPr lang="en-US" altLang="zh-TW" dirty="0"/>
              <a:t>TM</a:t>
            </a:r>
            <a:r>
              <a:rPr lang="zh-TW" altLang="en-US" dirty="0"/>
              <a:t>，接著進入晶片，並透過電源供應器施加電壓後由物鏡收光，利用</a:t>
            </a:r>
            <a:r>
              <a:rPr lang="en-US" altLang="zh-TW" dirty="0"/>
              <a:t>PBS</a:t>
            </a:r>
            <a:r>
              <a:rPr lang="zh-TW" altLang="en-US" dirty="0"/>
              <a:t>分光後，分別在兩端進行測量。而右圖為</a:t>
            </a:r>
            <a:r>
              <a:rPr lang="en-US" altLang="zh-TW" dirty="0"/>
              <a:t>TE</a:t>
            </a:r>
            <a:r>
              <a:rPr lang="zh-TW" altLang="en-US" dirty="0"/>
              <a:t>與</a:t>
            </a:r>
            <a:r>
              <a:rPr lang="en-US" altLang="zh-TW" dirty="0"/>
              <a:t>TM</a:t>
            </a:r>
            <a:r>
              <a:rPr lang="zh-TW" altLang="en-US" dirty="0"/>
              <a:t>分別在有無施加電壓下的模態圖。</a:t>
            </a:r>
            <a:endParaRPr dirty="0"/>
          </a:p>
        </p:txBody>
      </p:sp>
    </p:spTree>
    <p:extLst>
      <p:ext uri="{BB962C8B-B14F-4D97-AF65-F5344CB8AC3E}">
        <p14:creationId xmlns:p14="http://schemas.microsoft.com/office/powerpoint/2010/main" val="23538854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這邊以輸入偏振為垂直偏振，而施加電壓後轉換為水平偏振作為說明，當實驗溫度為</a:t>
            </a:r>
            <a:r>
              <a:rPr lang="en-US" altLang="zh-TW" dirty="0"/>
              <a:t>92</a:t>
            </a:r>
            <a:r>
              <a:rPr lang="zh-TW" altLang="en-US" dirty="0"/>
              <a:t>度，電壓為</a:t>
            </a:r>
            <a:r>
              <a:rPr lang="en-US" altLang="zh-TW" dirty="0"/>
              <a:t>60V</a:t>
            </a:r>
            <a:r>
              <a:rPr lang="zh-TW" altLang="en-US" dirty="0"/>
              <a:t>時，實驗與模擬的曲線最為吻合，其頻寬為</a:t>
            </a:r>
            <a:r>
              <a:rPr lang="en-US" altLang="zh-TW" dirty="0"/>
              <a:t>10.7nm</a:t>
            </a:r>
            <a:r>
              <a:rPr lang="zh-TW" altLang="en-US" dirty="0"/>
              <a:t>。</a:t>
            </a:r>
            <a:endParaRPr dirty="0"/>
          </a:p>
        </p:txBody>
      </p:sp>
    </p:spTree>
    <p:extLst>
      <p:ext uri="{BB962C8B-B14F-4D97-AF65-F5344CB8AC3E}">
        <p14:creationId xmlns:p14="http://schemas.microsoft.com/office/powerpoint/2010/main" val="33624821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zh-TW" altLang="en-US" dirty="0"/>
              <a:t>這邊我們也可以藉由調整溫度來得到波長位移的頻譜，可以看到當溫度越高，其中心波長與倍頻一樣越往短波長移動，調制率大約</a:t>
            </a:r>
            <a:r>
              <a:rPr lang="en-US" altLang="zh-TW" dirty="0"/>
              <a:t>0.85nm/°C</a:t>
            </a:r>
            <a:r>
              <a:rPr lang="zh-TW" altLang="en-US" dirty="0"/>
              <a:t>。當晶體溫度改變時，即改變了晶體的正、負晶疇折射率，也就改變了</a:t>
            </a:r>
            <a:r>
              <a:rPr lang="zh-TW" altLang="en-US" sz="1100" b="0" i="0" u="none" strike="noStrike" cap="none" baseline="0" dirty="0">
                <a:solidFill>
                  <a:srgbClr val="000000"/>
                </a:solidFill>
                <a:latin typeface="Arial"/>
                <a:ea typeface="Arial"/>
                <a:cs typeface="Arial"/>
                <a:sym typeface="Arial"/>
              </a:rPr>
              <a:t>相位匹配的條件，使輸出光的中心波長位移。而溫度造成的折射率變化又會與晶疇長度相關，因此當溫度改變時也會影響頻譜的形狀。</a:t>
            </a:r>
            <a:endParaRPr lang="en-US" altLang="zh-TW" dirty="0"/>
          </a:p>
        </p:txBody>
      </p:sp>
    </p:spTree>
    <p:extLst>
      <p:ext uri="{BB962C8B-B14F-4D97-AF65-F5344CB8AC3E}">
        <p14:creationId xmlns:p14="http://schemas.microsoft.com/office/powerpoint/2010/main" val="22223792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接著我們將古典量測的</a:t>
            </a:r>
            <a:r>
              <a:rPr lang="en-US" altLang="zh-TW" dirty="0"/>
              <a:t>SHG</a:t>
            </a:r>
            <a:r>
              <a:rPr lang="zh-TW" altLang="en-US" dirty="0"/>
              <a:t>與</a:t>
            </a:r>
            <a:r>
              <a:rPr lang="en-US" altLang="zh-TW" dirty="0"/>
              <a:t>EOPMC</a:t>
            </a:r>
            <a:r>
              <a:rPr lang="zh-TW" altLang="en-US" dirty="0"/>
              <a:t>的結果整合，可以看到當實驗溫度為</a:t>
            </a:r>
            <a:r>
              <a:rPr lang="en-US" altLang="zh-TW" dirty="0"/>
              <a:t>95</a:t>
            </a:r>
            <a:r>
              <a:rPr lang="zh-TW" altLang="en-US" dirty="0"/>
              <a:t>度時，</a:t>
            </a:r>
            <a:r>
              <a:rPr lang="en-US" altLang="zh-TW" dirty="0"/>
              <a:t>SHG</a:t>
            </a:r>
            <a:r>
              <a:rPr lang="zh-TW" altLang="en-US" dirty="0"/>
              <a:t>的中心波長為</a:t>
            </a:r>
            <a:r>
              <a:rPr lang="en-US" altLang="zh-TW" dirty="0"/>
              <a:t>1571.2nm</a:t>
            </a:r>
            <a:r>
              <a:rPr lang="zh-TW" altLang="en-US" dirty="0"/>
              <a:t>處，而</a:t>
            </a:r>
            <a:r>
              <a:rPr lang="en-US" altLang="zh-TW" dirty="0"/>
              <a:t>EOPMC</a:t>
            </a:r>
            <a:r>
              <a:rPr lang="zh-TW" altLang="en-US" dirty="0"/>
              <a:t>的轉換範圍也剛好涵蓋到</a:t>
            </a:r>
            <a:r>
              <a:rPr lang="en-US" altLang="zh-TW" dirty="0"/>
              <a:t>SHG</a:t>
            </a:r>
            <a:r>
              <a:rPr lang="zh-TW" altLang="en-US" dirty="0"/>
              <a:t>，這邊的疊合位置在最靠近我們設計的</a:t>
            </a:r>
            <a:r>
              <a:rPr lang="en-US" altLang="zh-TW" dirty="0"/>
              <a:t>1570nm</a:t>
            </a:r>
            <a:r>
              <a:rPr lang="zh-TW" altLang="en-US" dirty="0"/>
              <a:t>處，由上述結果可以發現，當我</a:t>
            </a:r>
            <a:r>
              <a:rPr lang="en-US" altLang="zh-TW" dirty="0"/>
              <a:t>SHG</a:t>
            </a:r>
            <a:r>
              <a:rPr lang="zh-TW" altLang="en-US" dirty="0"/>
              <a:t>與</a:t>
            </a:r>
            <a:r>
              <a:rPr lang="en-US" altLang="zh-TW" dirty="0"/>
              <a:t>EOPMC</a:t>
            </a:r>
            <a:r>
              <a:rPr lang="zh-TW" altLang="en-US" dirty="0"/>
              <a:t>在相同的中心波長</a:t>
            </a:r>
            <a:r>
              <a:rPr lang="en-US" altLang="zh-TW" dirty="0"/>
              <a:t>1570nm</a:t>
            </a:r>
            <a:r>
              <a:rPr lang="zh-TW" altLang="en-US" dirty="0"/>
              <a:t>時，兩者的匹配溫度不同，也因兩者的調製率差異太大，因此我們無法找到一個溫度使其中心波長皆在</a:t>
            </a:r>
            <a:r>
              <a:rPr lang="en-US" altLang="zh-TW" dirty="0"/>
              <a:t>1570nm</a:t>
            </a:r>
            <a:r>
              <a:rPr lang="zh-TW" altLang="en-US" dirty="0"/>
              <a:t>，又我們所使用在量子量測的光源為</a:t>
            </a:r>
            <a:r>
              <a:rPr lang="en-US" altLang="zh-TW" dirty="0"/>
              <a:t>785nm</a:t>
            </a:r>
            <a:r>
              <a:rPr lang="zh-TW" altLang="en-US" dirty="0"/>
              <a:t>，才如此設計。</a:t>
            </a:r>
            <a:endParaRPr dirty="0"/>
          </a:p>
        </p:txBody>
      </p:sp>
    </p:spTree>
    <p:extLst>
      <p:ext uri="{BB962C8B-B14F-4D97-AF65-F5344CB8AC3E}">
        <p14:creationId xmlns:p14="http://schemas.microsoft.com/office/powerpoint/2010/main" val="21347720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雖然在古典量測時，並未達到兩者在</a:t>
            </a:r>
            <a:r>
              <a:rPr lang="en-US" altLang="zh-TW" dirty="0"/>
              <a:t>degeneracy 1570nm</a:t>
            </a:r>
            <a:r>
              <a:rPr lang="zh-TW" altLang="en-US" dirty="0"/>
              <a:t>處疊合，但根據以上的結果，我們可以將頻率調整到</a:t>
            </a:r>
            <a:r>
              <a:rPr lang="en-US" altLang="zh-TW" dirty="0"/>
              <a:t>non-degeneracy</a:t>
            </a:r>
            <a:r>
              <a:rPr lang="zh-TW" altLang="en-US" dirty="0"/>
              <a:t>，並對於其</a:t>
            </a:r>
            <a:r>
              <a:rPr lang="en-US" altLang="zh-TW" dirty="0"/>
              <a:t>SPDC</a:t>
            </a:r>
            <a:r>
              <a:rPr lang="zh-TW" altLang="en-US" dirty="0"/>
              <a:t>頻譜特性進行量測，以及確認</a:t>
            </a:r>
            <a:r>
              <a:rPr lang="en-US" altLang="zh-TW" dirty="0"/>
              <a:t>EOPMC</a:t>
            </a:r>
            <a:r>
              <a:rPr lang="zh-TW" altLang="en-US" dirty="0"/>
              <a:t>的工作，在未來假如能使</a:t>
            </a:r>
            <a:r>
              <a:rPr lang="en-US" altLang="zh-TW" dirty="0"/>
              <a:t>SHG</a:t>
            </a:r>
            <a:r>
              <a:rPr lang="zh-TW" altLang="en-US" dirty="0"/>
              <a:t>與</a:t>
            </a:r>
            <a:r>
              <a:rPr lang="en-US" altLang="zh-TW" dirty="0"/>
              <a:t>EOPMC</a:t>
            </a:r>
            <a:r>
              <a:rPr lang="zh-TW" altLang="en-US" dirty="0"/>
              <a:t>兩者完美的在</a:t>
            </a:r>
            <a:r>
              <a:rPr lang="en-US" altLang="zh-TW" dirty="0"/>
              <a:t>1570nm</a:t>
            </a:r>
            <a:r>
              <a:rPr lang="zh-TW" altLang="en-US" dirty="0"/>
              <a:t>處疊合時，將能利用目前的量測結果，依照我們的預期進行驗證。所以接著進入量子量測的實驗，首先為要先確認其量子特性，就是</a:t>
            </a:r>
            <a:r>
              <a:rPr lang="en-US" altLang="zh-TW" dirty="0"/>
              <a:t>SPDC</a:t>
            </a:r>
            <a:r>
              <a:rPr lang="zh-TW" altLang="en-US" dirty="0"/>
              <a:t>光子的頻譜。</a:t>
            </a:r>
            <a:endParaRPr dirty="0"/>
          </a:p>
        </p:txBody>
      </p:sp>
    </p:spTree>
    <p:extLst>
      <p:ext uri="{BB962C8B-B14F-4D97-AF65-F5344CB8AC3E}">
        <p14:creationId xmlns:p14="http://schemas.microsoft.com/office/powerpoint/2010/main" val="34016495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而這邊我們發現光源的波長為</a:t>
            </a:r>
            <a:r>
              <a:rPr lang="en-US" altLang="zh-TW" dirty="0"/>
              <a:t>784.5nm</a:t>
            </a:r>
            <a:r>
              <a:rPr lang="zh-TW" altLang="en-US" dirty="0"/>
              <a:t>，並不是原先設定的</a:t>
            </a:r>
            <a:r>
              <a:rPr lang="en-US" altLang="zh-TW" dirty="0"/>
              <a:t>785nm</a:t>
            </a:r>
            <a:r>
              <a:rPr lang="zh-TW" altLang="en-US" dirty="0"/>
              <a:t>，利用</a:t>
            </a:r>
            <a:r>
              <a:rPr lang="en-US" altLang="zh-TW" dirty="0"/>
              <a:t>PC</a:t>
            </a:r>
            <a:r>
              <a:rPr lang="zh-TW" altLang="en-US" dirty="0"/>
              <a:t>調控偏振再將其耦合進晶片中，隨後利用物鏡收光，接著因為下轉換後的光子含有少部分的</a:t>
            </a:r>
            <a:r>
              <a:rPr lang="en-US" altLang="zh-TW" dirty="0"/>
              <a:t>pump</a:t>
            </a:r>
            <a:r>
              <a:rPr lang="zh-TW" altLang="en-US" dirty="0"/>
              <a:t>，所以使用長通濾波器將其濾除，經過</a:t>
            </a:r>
            <a:r>
              <a:rPr lang="en-US" altLang="zh-TW" dirty="0"/>
              <a:t>PBS</a:t>
            </a:r>
            <a:r>
              <a:rPr lang="zh-TW" altLang="en-US" dirty="0"/>
              <a:t>分成兩道光後，並各利用兩個反射鏡將光耦合進準直儀，而為了使光子頻譜不受其他波長干擾，在準直儀之前加入窄頻的帶通濾波器，並在其中一臂接上可調式帶通光纖濾波器，最後連接單光子偵測器與巧合計數器，這樣就可以分別量測</a:t>
            </a:r>
            <a:r>
              <a:rPr lang="en-US" altLang="zh-TW" dirty="0"/>
              <a:t>signal</a:t>
            </a:r>
            <a:r>
              <a:rPr lang="zh-TW" altLang="en-US" dirty="0"/>
              <a:t>與</a:t>
            </a:r>
            <a:r>
              <a:rPr lang="en-US" altLang="zh-TW" dirty="0"/>
              <a:t>idler</a:t>
            </a:r>
            <a:r>
              <a:rPr lang="zh-TW" altLang="en-US" dirty="0"/>
              <a:t>個別的頻譜了。</a:t>
            </a:r>
            <a:endParaRPr dirty="0"/>
          </a:p>
        </p:txBody>
      </p:sp>
    </p:spTree>
    <p:extLst>
      <p:ext uri="{BB962C8B-B14F-4D97-AF65-F5344CB8AC3E}">
        <p14:creationId xmlns:p14="http://schemas.microsoft.com/office/powerpoint/2010/main" val="28932420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頻譜的量測結果如圖，左邊這張是不同溫度下，</a:t>
            </a:r>
            <a:r>
              <a:rPr lang="en-US" altLang="zh-TW" dirty="0"/>
              <a:t>signal</a:t>
            </a:r>
            <a:r>
              <a:rPr lang="zh-TW" altLang="en-US" dirty="0"/>
              <a:t>跟</a:t>
            </a:r>
            <a:r>
              <a:rPr lang="en-US" altLang="zh-TW" dirty="0"/>
              <a:t>idler</a:t>
            </a:r>
            <a:r>
              <a:rPr lang="zh-TW" altLang="en-US" dirty="0"/>
              <a:t>中心波長的變化，可以發現當溫度改變時兩者以反方向位移，而右邊這兩張圖為在實驗溫度為</a:t>
            </a:r>
            <a:r>
              <a:rPr lang="en-US" altLang="zh-TW" dirty="0"/>
              <a:t>107°C</a:t>
            </a:r>
            <a:r>
              <a:rPr lang="zh-TW" altLang="en-US" dirty="0"/>
              <a:t>時，</a:t>
            </a:r>
            <a:r>
              <a:rPr lang="en-US" altLang="zh-TW" dirty="0"/>
              <a:t>signal</a:t>
            </a:r>
            <a:r>
              <a:rPr lang="zh-TW" altLang="en-US" dirty="0"/>
              <a:t>與</a:t>
            </a:r>
            <a:r>
              <a:rPr lang="en-US" altLang="zh-TW" dirty="0"/>
              <a:t>idler</a:t>
            </a:r>
            <a:r>
              <a:rPr lang="zh-TW" altLang="en-US" dirty="0"/>
              <a:t>各自的實驗頻譜以及</a:t>
            </a:r>
            <a:r>
              <a:rPr lang="en-US" altLang="zh-TW" dirty="0"/>
              <a:t>fitting</a:t>
            </a:r>
            <a:r>
              <a:rPr lang="zh-TW" altLang="en-US" dirty="0"/>
              <a:t>圖。</a:t>
            </a:r>
            <a:endParaRPr dirty="0"/>
          </a:p>
        </p:txBody>
      </p:sp>
    </p:spTree>
    <p:extLst>
      <p:ext uri="{BB962C8B-B14F-4D97-AF65-F5344CB8AC3E}">
        <p14:creationId xmlns:p14="http://schemas.microsoft.com/office/powerpoint/2010/main" val="31171346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由上述可得知，</a:t>
            </a:r>
            <a:r>
              <a:rPr lang="en-US" altLang="zh-TW" dirty="0"/>
              <a:t>107°C</a:t>
            </a:r>
            <a:r>
              <a:rPr lang="zh-TW" altLang="en-US" dirty="0"/>
              <a:t>為</a:t>
            </a:r>
            <a:r>
              <a:rPr lang="en-US" altLang="zh-TW" dirty="0"/>
              <a:t>signal</a:t>
            </a:r>
            <a:r>
              <a:rPr lang="zh-TW" altLang="en-US" dirty="0"/>
              <a:t>與</a:t>
            </a:r>
            <a:r>
              <a:rPr lang="en-US" altLang="zh-TW" dirty="0"/>
              <a:t>idler</a:t>
            </a:r>
            <a:r>
              <a:rPr lang="zh-TW" altLang="en-US" dirty="0"/>
              <a:t>兩者疊合最佳的地方，而這裡的</a:t>
            </a:r>
            <a:r>
              <a:rPr lang="en-US" altLang="zh-TW" dirty="0"/>
              <a:t>signal</a:t>
            </a:r>
            <a:r>
              <a:rPr lang="zh-TW" altLang="en-US" dirty="0"/>
              <a:t>為水平偏振</a:t>
            </a:r>
            <a:r>
              <a:rPr lang="en-US" altLang="zh-TW" dirty="0"/>
              <a:t>H</a:t>
            </a:r>
            <a:r>
              <a:rPr lang="zh-TW" altLang="en-US" dirty="0"/>
              <a:t>，</a:t>
            </a:r>
            <a:r>
              <a:rPr lang="en-US" altLang="zh-TW" dirty="0"/>
              <a:t>idler</a:t>
            </a:r>
            <a:r>
              <a:rPr lang="zh-TW" altLang="en-US" dirty="0"/>
              <a:t>為垂直偏振</a:t>
            </a:r>
            <a:r>
              <a:rPr lang="en-US" altLang="zh-TW" dirty="0"/>
              <a:t>V</a:t>
            </a:r>
            <a:r>
              <a:rPr lang="zh-TW" altLang="en-US" dirty="0"/>
              <a:t>。</a:t>
            </a:r>
          </a:p>
        </p:txBody>
      </p:sp>
    </p:spTree>
    <p:extLst>
      <p:ext uri="{BB962C8B-B14F-4D97-AF65-F5344CB8AC3E}">
        <p14:creationId xmlns:p14="http://schemas.microsoft.com/office/powerpoint/2010/main" val="28688610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有了上述確認頻譜之後，就可以進行</a:t>
            </a:r>
            <a:r>
              <a:rPr lang="en-US" altLang="zh-TW" dirty="0"/>
              <a:t>HOM</a:t>
            </a:r>
            <a:r>
              <a:rPr lang="zh-TW" altLang="en-US" dirty="0"/>
              <a:t>干涉的實驗。</a:t>
            </a:r>
            <a:endParaRPr dirty="0"/>
          </a:p>
        </p:txBody>
      </p:sp>
    </p:spTree>
    <p:extLst>
      <p:ext uri="{BB962C8B-B14F-4D97-AF65-F5344CB8AC3E}">
        <p14:creationId xmlns:p14="http://schemas.microsoft.com/office/powerpoint/2010/main" val="9221516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而這邊是他的量測架構示意圖</a:t>
            </a:r>
            <a:endParaRPr dirty="0"/>
          </a:p>
        </p:txBody>
      </p:sp>
    </p:spTree>
    <p:extLst>
      <p:ext uri="{BB962C8B-B14F-4D97-AF65-F5344CB8AC3E}">
        <p14:creationId xmlns:p14="http://schemas.microsoft.com/office/powerpoint/2010/main" val="13134971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一樣使用簡易圖來說明，使用</a:t>
            </a:r>
            <a:r>
              <a:rPr lang="en-US" altLang="zh-TW" dirty="0"/>
              <a:t>784.5nm</a:t>
            </a:r>
            <a:r>
              <a:rPr lang="zh-TW" altLang="en-US" dirty="0"/>
              <a:t>的光源，經過</a:t>
            </a:r>
            <a:r>
              <a:rPr lang="en-US" altLang="zh-TW" dirty="0"/>
              <a:t>PC</a:t>
            </a:r>
            <a:r>
              <a:rPr lang="zh-TW" altLang="en-US" dirty="0"/>
              <a:t>後進入晶片，由物鏡收光後在經過</a:t>
            </a:r>
            <a:r>
              <a:rPr lang="en-US" altLang="zh-TW" dirty="0"/>
              <a:t>Pump filter</a:t>
            </a:r>
            <a:r>
              <a:rPr lang="zh-TW" altLang="en-US" dirty="0"/>
              <a:t>、</a:t>
            </a:r>
            <a:r>
              <a:rPr lang="en-US" altLang="zh-TW" dirty="0"/>
              <a:t>PBS</a:t>
            </a:r>
            <a:r>
              <a:rPr lang="zh-TW" altLang="en-US" dirty="0"/>
              <a:t>、</a:t>
            </a:r>
            <a:r>
              <a:rPr lang="en-US" altLang="zh-TW" dirty="0"/>
              <a:t>Bandpass filter</a:t>
            </a:r>
            <a:r>
              <a:rPr lang="zh-TW" altLang="en-US" dirty="0"/>
              <a:t>以及</a:t>
            </a:r>
            <a:r>
              <a:rPr lang="en-US" altLang="zh-TW" dirty="0"/>
              <a:t>Collimator</a:t>
            </a:r>
            <a:r>
              <a:rPr lang="zh-TW" altLang="en-US" dirty="0"/>
              <a:t>，到此都與頻譜量測的架構相同，要注意的是，這邊將其中一個</a:t>
            </a:r>
            <a:r>
              <a:rPr lang="en-US" altLang="zh-TW" dirty="0"/>
              <a:t>Collimator</a:t>
            </a:r>
            <a:r>
              <a:rPr lang="zh-TW" altLang="en-US" dirty="0"/>
              <a:t>安裝在手動的平移台上，目的為了在進行干涉實驗時使</a:t>
            </a:r>
            <a:r>
              <a:rPr lang="en-US" altLang="zh-TW" dirty="0"/>
              <a:t>Collimator</a:t>
            </a:r>
            <a:r>
              <a:rPr lang="zh-TW" altLang="en-US" dirty="0"/>
              <a:t>位移一小段，從而找到該時間延遲</a:t>
            </a:r>
            <a:r>
              <a:rPr lang="en-US" altLang="zh-TW" dirty="0"/>
              <a:t>0</a:t>
            </a:r>
            <a:r>
              <a:rPr lang="zh-TW" altLang="en-US" dirty="0"/>
              <a:t>點的位置。耦合進準直儀後在兩臂上都接上</a:t>
            </a:r>
            <a:r>
              <a:rPr lang="en-US" altLang="zh-TW" dirty="0"/>
              <a:t>PC</a:t>
            </a:r>
            <a:r>
              <a:rPr lang="zh-TW" altLang="en-US" dirty="0"/>
              <a:t>，目的為調控偏振，使兩臂的光子能以相同波長、相同偏振進入光纖耦合器</a:t>
            </a:r>
            <a:r>
              <a:rPr lang="en-US" altLang="zh-TW" dirty="0"/>
              <a:t>Fiber BS</a:t>
            </a:r>
            <a:r>
              <a:rPr lang="zh-TW" altLang="en-US" dirty="0"/>
              <a:t>，最後一樣接上偵測器以及計數器，這樣便是</a:t>
            </a:r>
            <a:r>
              <a:rPr lang="en-US" altLang="zh-TW" dirty="0"/>
              <a:t>HOM</a:t>
            </a:r>
            <a:r>
              <a:rPr lang="zh-TW" altLang="en-US" dirty="0"/>
              <a:t>干涉實驗系統。</a:t>
            </a:r>
            <a:endParaRPr dirty="0"/>
          </a:p>
        </p:txBody>
      </p:sp>
    </p:spTree>
    <p:extLst>
      <p:ext uri="{BB962C8B-B14F-4D97-AF65-F5344CB8AC3E}">
        <p14:creationId xmlns:p14="http://schemas.microsoft.com/office/powerpoint/2010/main" val="39752057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從左圖我們得到的巧合事件可以看到，一個約以</a:t>
                </a:r>
                <a:r>
                  <a:rPr lang="en-US" altLang="zh-TW" dirty="0"/>
                  <a:t>-0.1ns</a:t>
                </a:r>
                <a:r>
                  <a:rPr lang="zh-TW" altLang="en-US" dirty="0"/>
                  <a:t>為中心的峰值，其證明了光子對的存在，而</a:t>
                </a:r>
                <a:r>
                  <a:rPr lang="en-US" altLang="zh-TW" dirty="0"/>
                  <a:t>0</a:t>
                </a:r>
                <a:r>
                  <a:rPr lang="zh-TW" altLang="en-US" dirty="0"/>
                  <a:t>點有所偏差是由</a:t>
                </a:r>
                <a:r>
                  <a:rPr lang="en-US" altLang="zh-TW" dirty="0"/>
                  <a:t>signal</a:t>
                </a:r>
                <a:r>
                  <a:rPr lang="zh-TW" altLang="en-US" dirty="0"/>
                  <a:t>與</a:t>
                </a:r>
                <a:r>
                  <a:rPr lang="en-US" altLang="zh-TW" dirty="0"/>
                  <a:t>idler</a:t>
                </a:r>
                <a:r>
                  <a:rPr lang="zh-TW" altLang="en-US" dirty="0"/>
                  <a:t>光子光路之間的差異，以及兩偵測器之間本身存在著延遲。透過手動調整平移台的位置，並掃描出如右圖這樣的</a:t>
                </a:r>
                <a:r>
                  <a:rPr lang="en-US" altLang="zh-TW" dirty="0"/>
                  <a:t>HOM</a:t>
                </a:r>
                <a:r>
                  <a:rPr lang="zh-TW" altLang="en-US" dirty="0"/>
                  <a:t> </a:t>
                </a:r>
                <a:r>
                  <a:rPr lang="en-US" altLang="zh-TW" dirty="0"/>
                  <a:t>dip</a:t>
                </a:r>
                <a:r>
                  <a:rPr lang="zh-TW" altLang="en-US" dirty="0"/>
                  <a:t>的現象，其為將多次量測整合的結果，其中在橫軸為</a:t>
                </a:r>
                <a:r>
                  <a:rPr lang="en-US" altLang="zh-TW" dirty="0"/>
                  <a:t>0mm</a:t>
                </a:r>
                <a:r>
                  <a:rPr lang="zh-TW" altLang="en-US" dirty="0"/>
                  <a:t>處對應的是時間延遲為</a:t>
                </a:r>
                <a:r>
                  <a:rPr lang="en-US" altLang="zh-TW" dirty="0"/>
                  <a:t>0</a:t>
                </a:r>
                <a:r>
                  <a:rPr lang="zh-TW" altLang="en-US" dirty="0"/>
                  <a:t>的地方，而利用前面的可見度公式，計算得可見度為</a:t>
                </a:r>
                <a:r>
                  <a:rPr lang="en-US" altLang="zh-TW" b="0" dirty="0"/>
                  <a:t>82.3</a:t>
                </a:r>
                <a14:m>
                  <m:oMath xmlns:m="http://schemas.openxmlformats.org/officeDocument/2006/math">
                    <m:r>
                      <a:rPr lang="en-US" altLang="zh-TW" sz="1100" b="0">
                        <a:latin typeface="Cambria Math" panose="02040503050406030204" pitchFamily="18" charset="0"/>
                        <a:ea typeface="標楷體" panose="03000509000000000000" pitchFamily="65" charset="-120"/>
                        <a:cs typeface="Times New Roman" panose="02020603050405020304" pitchFamily="18" charset="0"/>
                      </a:rPr>
                      <m:t>±</m:t>
                    </m:r>
                  </m:oMath>
                </a14:m>
                <a:r>
                  <a:rPr lang="en-US" altLang="zh-TW" sz="1100" b="0" dirty="0">
                    <a:latin typeface="Montserrat" panose="02020500000000000000" charset="0"/>
                    <a:ea typeface="標楷體" panose="03000509000000000000" pitchFamily="65" charset="-120"/>
                  </a:rPr>
                  <a:t>1.7%</a:t>
                </a:r>
                <a:r>
                  <a:rPr lang="zh-TW" altLang="en-US" sz="1100" b="0" dirty="0">
                    <a:latin typeface="Montserrat" panose="02020500000000000000" charset="0"/>
                    <a:ea typeface="標楷體" panose="03000509000000000000" pitchFamily="65" charset="-120"/>
                  </a:rPr>
                  <a:t>，而這個</a:t>
                </a:r>
                <a:r>
                  <a:rPr lang="en-US" altLang="zh-TW" sz="1100" b="0" dirty="0">
                    <a:latin typeface="Montserrat" panose="02020500000000000000" charset="0"/>
                    <a:ea typeface="標楷體" panose="03000509000000000000" pitchFamily="65" charset="-120"/>
                  </a:rPr>
                  <a:t>HOM</a:t>
                </a:r>
                <a:r>
                  <a:rPr lang="zh-TW" altLang="en-US" sz="1100" b="0" dirty="0">
                    <a:latin typeface="Montserrat" panose="02020500000000000000" charset="0"/>
                    <a:ea typeface="標楷體" panose="03000509000000000000" pitchFamily="65" charset="-120"/>
                  </a:rPr>
                  <a:t>的傾角形狀取決於用於實驗的光源以及光子的頻譜，因為我們使用</a:t>
                </a:r>
                <a:r>
                  <a:rPr lang="en-US" altLang="zh-TW" sz="1100" b="0" dirty="0">
                    <a:latin typeface="Montserrat" panose="02020500000000000000" charset="0"/>
                    <a:ea typeface="標楷體" panose="03000509000000000000" pitchFamily="65" charset="-120"/>
                  </a:rPr>
                  <a:t>CW</a:t>
                </a:r>
                <a:r>
                  <a:rPr lang="zh-TW" altLang="en-US" sz="1100" b="0" dirty="0">
                    <a:latin typeface="Montserrat" panose="02020500000000000000" charset="0"/>
                    <a:ea typeface="標楷體" panose="03000509000000000000" pitchFamily="65" charset="-120"/>
                  </a:rPr>
                  <a:t>的光源，以及</a:t>
                </a:r>
                <a:r>
                  <a:rPr lang="en-US" altLang="zh-TW" sz="1100" b="0" dirty="0">
                    <a:latin typeface="Montserrat" panose="02020500000000000000" charset="0"/>
                    <a:ea typeface="標楷體" panose="03000509000000000000" pitchFamily="65" charset="-120"/>
                  </a:rPr>
                  <a:t>SPDC</a:t>
                </a:r>
                <a:r>
                  <a:rPr lang="zh-TW" altLang="en-US" sz="1100" b="0" dirty="0">
                    <a:latin typeface="Montserrat" panose="02020500000000000000" charset="0"/>
                    <a:ea typeface="標楷體" panose="03000509000000000000" pitchFamily="65" charset="-120"/>
                  </a:rPr>
                  <a:t>的光子頻譜為</a:t>
                </a:r>
                <a:r>
                  <a:rPr lang="en-US" altLang="zh-TW" sz="1100" b="0" dirty="0">
                    <a:latin typeface="Montserrat" panose="02020500000000000000" charset="0"/>
                    <a:ea typeface="標楷體" panose="03000509000000000000" pitchFamily="65" charset="-120"/>
                  </a:rPr>
                  <a:t>SINC</a:t>
                </a:r>
                <a:r>
                  <a:rPr lang="zh-TW" altLang="en-US" sz="1100" b="0" dirty="0">
                    <a:latin typeface="Montserrat" panose="02020500000000000000" charset="0"/>
                    <a:ea typeface="標楷體" panose="03000509000000000000" pitchFamily="65" charset="-120"/>
                  </a:rPr>
                  <a:t>函數，也是因為時域中的方波由傅立葉轉換後，其在頻域摺積會得三角波的函數，因此我們才使用倒三角波函數來</a:t>
                </a:r>
                <a:r>
                  <a:rPr lang="en-US" altLang="zh-TW" sz="1100" b="0" dirty="0">
                    <a:latin typeface="Montserrat" panose="02020500000000000000" charset="0"/>
                    <a:ea typeface="標楷體" panose="03000509000000000000" pitchFamily="65" charset="-120"/>
                  </a:rPr>
                  <a:t>fitting</a:t>
                </a:r>
                <a:r>
                  <a:rPr lang="zh-TW" altLang="en-US" sz="1100" b="0" dirty="0">
                    <a:latin typeface="Montserrat" panose="02020500000000000000" charset="0"/>
                    <a:ea typeface="標楷體" panose="03000509000000000000" pitchFamily="65" charset="-120"/>
                  </a:rPr>
                  <a:t>此實驗數據。</a:t>
                </a:r>
                <a:endParaRPr b="0"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從左圖我們得到的巧合事件可以看到，一個約以</a:t>
                </a:r>
                <a:r>
                  <a:rPr lang="en-US" altLang="zh-TW" dirty="0"/>
                  <a:t>-0.1ns</a:t>
                </a:r>
                <a:r>
                  <a:rPr lang="zh-TW" altLang="en-US" dirty="0"/>
                  <a:t>為中心的峰值，其證明了光子對的存在，而</a:t>
                </a:r>
                <a:r>
                  <a:rPr lang="en-US" altLang="zh-TW" dirty="0"/>
                  <a:t>0</a:t>
                </a:r>
                <a:r>
                  <a:rPr lang="zh-TW" altLang="en-US" dirty="0"/>
                  <a:t>點有所偏差是由</a:t>
                </a:r>
                <a:r>
                  <a:rPr lang="en-US" altLang="zh-TW" dirty="0"/>
                  <a:t>signal</a:t>
                </a:r>
                <a:r>
                  <a:rPr lang="zh-TW" altLang="en-US" dirty="0"/>
                  <a:t>與</a:t>
                </a:r>
                <a:r>
                  <a:rPr lang="en-US" altLang="zh-TW" dirty="0"/>
                  <a:t>idler</a:t>
                </a:r>
                <a:r>
                  <a:rPr lang="zh-TW" altLang="en-US" dirty="0"/>
                  <a:t>光子光路之間的差異，以及兩偵測器之間本身存在著延遲。透過手動調整平移台的位置，並掃描出如右圖這樣的</a:t>
                </a:r>
                <a:r>
                  <a:rPr lang="en-US" altLang="zh-TW" dirty="0"/>
                  <a:t>HOM</a:t>
                </a:r>
                <a:r>
                  <a:rPr lang="zh-TW" altLang="en-US" dirty="0"/>
                  <a:t> </a:t>
                </a:r>
                <a:r>
                  <a:rPr lang="en-US" altLang="zh-TW" dirty="0"/>
                  <a:t>dip</a:t>
                </a:r>
                <a:r>
                  <a:rPr lang="zh-TW" altLang="en-US" dirty="0"/>
                  <a:t>的現象，其為將多次量測整合的結果，其中在橫軸為</a:t>
                </a:r>
                <a:r>
                  <a:rPr lang="en-US" altLang="zh-TW" dirty="0"/>
                  <a:t>0mm</a:t>
                </a:r>
                <a:r>
                  <a:rPr lang="zh-TW" altLang="en-US" dirty="0"/>
                  <a:t>處對應的是時間延遲為</a:t>
                </a:r>
                <a:r>
                  <a:rPr lang="en-US" altLang="zh-TW" dirty="0"/>
                  <a:t>0</a:t>
                </a:r>
                <a:r>
                  <a:rPr lang="zh-TW" altLang="en-US" dirty="0"/>
                  <a:t>的地方，而利用前面的可見度公式，計算得可見度為</a:t>
                </a:r>
                <a:r>
                  <a:rPr lang="en-US" altLang="zh-TW" b="0" dirty="0"/>
                  <a:t>82.3</a:t>
                </a:r>
                <a:r>
                  <a:rPr lang="en-US" altLang="zh-TW" sz="1100" b="0" i="0">
                    <a:latin typeface="Cambria Math" panose="02040503050406030204" pitchFamily="18" charset="0"/>
                    <a:ea typeface="標楷體" panose="03000509000000000000" pitchFamily="65" charset="-120"/>
                    <a:cs typeface="Times New Roman" panose="02020603050405020304" pitchFamily="18" charset="0"/>
                  </a:rPr>
                  <a:t>±</a:t>
                </a:r>
                <a:r>
                  <a:rPr lang="en-US" altLang="zh-TW" sz="1100" b="0" dirty="0">
                    <a:latin typeface="Montserrat" panose="02020500000000000000" charset="0"/>
                    <a:ea typeface="標楷體" panose="03000509000000000000" pitchFamily="65" charset="-120"/>
                  </a:rPr>
                  <a:t>1.7%</a:t>
                </a:r>
                <a:r>
                  <a:rPr lang="zh-TW" altLang="en-US" sz="1100" b="0" dirty="0">
                    <a:latin typeface="Montserrat" panose="02020500000000000000" charset="0"/>
                    <a:ea typeface="標楷體" panose="03000509000000000000" pitchFamily="65" charset="-120"/>
                  </a:rPr>
                  <a:t>，而這個</a:t>
                </a:r>
                <a:r>
                  <a:rPr lang="en-US" altLang="zh-TW" sz="1100" b="0" dirty="0">
                    <a:latin typeface="Montserrat" panose="02020500000000000000" charset="0"/>
                    <a:ea typeface="標楷體" panose="03000509000000000000" pitchFamily="65" charset="-120"/>
                  </a:rPr>
                  <a:t>HOM</a:t>
                </a:r>
                <a:r>
                  <a:rPr lang="zh-TW" altLang="en-US" sz="1100" b="0" dirty="0">
                    <a:latin typeface="Montserrat" panose="02020500000000000000" charset="0"/>
                    <a:ea typeface="標楷體" panose="03000509000000000000" pitchFamily="65" charset="-120"/>
                  </a:rPr>
                  <a:t>的傾角形狀取決於用於實驗的光源以及光子的頻譜，因為我們使用</a:t>
                </a:r>
                <a:r>
                  <a:rPr lang="en-US" altLang="zh-TW" sz="1100" b="0" dirty="0">
                    <a:latin typeface="Montserrat" panose="02020500000000000000" charset="0"/>
                    <a:ea typeface="標楷體" panose="03000509000000000000" pitchFamily="65" charset="-120"/>
                  </a:rPr>
                  <a:t>CW</a:t>
                </a:r>
                <a:r>
                  <a:rPr lang="zh-TW" altLang="en-US" sz="1100" b="0" dirty="0">
                    <a:latin typeface="Montserrat" panose="02020500000000000000" charset="0"/>
                    <a:ea typeface="標楷體" panose="03000509000000000000" pitchFamily="65" charset="-120"/>
                  </a:rPr>
                  <a:t>的光源，以及</a:t>
                </a:r>
                <a:r>
                  <a:rPr lang="en-US" altLang="zh-TW" sz="1100" b="0" dirty="0">
                    <a:latin typeface="Montserrat" panose="02020500000000000000" charset="0"/>
                    <a:ea typeface="標楷體" panose="03000509000000000000" pitchFamily="65" charset="-120"/>
                  </a:rPr>
                  <a:t>SPDC</a:t>
                </a:r>
                <a:r>
                  <a:rPr lang="zh-TW" altLang="en-US" sz="1100" b="0" dirty="0">
                    <a:latin typeface="Montserrat" panose="02020500000000000000" charset="0"/>
                    <a:ea typeface="標楷體" panose="03000509000000000000" pitchFamily="65" charset="-120"/>
                  </a:rPr>
                  <a:t>的光子頻譜為</a:t>
                </a:r>
                <a:r>
                  <a:rPr lang="en-US" altLang="zh-TW" sz="1100" b="0" dirty="0">
                    <a:latin typeface="Montserrat" panose="02020500000000000000" charset="0"/>
                    <a:ea typeface="標楷體" panose="03000509000000000000" pitchFamily="65" charset="-120"/>
                  </a:rPr>
                  <a:t>SINC</a:t>
                </a:r>
                <a:r>
                  <a:rPr lang="zh-TW" altLang="en-US" sz="1100" b="0" dirty="0">
                    <a:latin typeface="Montserrat" panose="02020500000000000000" charset="0"/>
                    <a:ea typeface="標楷體" panose="03000509000000000000" pitchFamily="65" charset="-120"/>
                  </a:rPr>
                  <a:t>函數，也是因為時域中的方波由傅立葉轉換後，其在頻域摺積會得三角波的函數，因此我們才使用倒三角波函數來</a:t>
                </a:r>
                <a:r>
                  <a:rPr lang="en-US" altLang="zh-TW" sz="1100" b="0" dirty="0">
                    <a:latin typeface="Montserrat" panose="02020500000000000000" charset="0"/>
                    <a:ea typeface="標楷體" panose="03000509000000000000" pitchFamily="65" charset="-120"/>
                  </a:rPr>
                  <a:t>fitting</a:t>
                </a:r>
                <a:r>
                  <a:rPr lang="zh-TW" altLang="en-US" sz="1100" b="0" dirty="0">
                    <a:latin typeface="Montserrat" panose="02020500000000000000" charset="0"/>
                    <a:ea typeface="標楷體" panose="03000509000000000000" pitchFamily="65" charset="-120"/>
                  </a:rPr>
                  <a:t>此實驗數據。</a:t>
                </a:r>
                <a:endParaRPr b="0" dirty="0"/>
              </a:p>
            </p:txBody>
          </p:sp>
        </mc:Fallback>
      </mc:AlternateContent>
    </p:spTree>
    <p:extLst>
      <p:ext uri="{BB962C8B-B14F-4D97-AF65-F5344CB8AC3E}">
        <p14:creationId xmlns:p14="http://schemas.microsoft.com/office/powerpoint/2010/main" val="33822632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最後來介紹</a:t>
            </a:r>
            <a:r>
              <a:rPr lang="en-US" altLang="zh-TW" sz="1100" dirty="0">
                <a:latin typeface="Montserrat" panose="02020500000000000000" charset="0"/>
              </a:rPr>
              <a:t>Coincidence counts</a:t>
            </a:r>
            <a:r>
              <a:rPr lang="zh-TW" altLang="en-US" sz="1100" dirty="0">
                <a:latin typeface="Montserrat" panose="02020500000000000000" charset="0"/>
              </a:rPr>
              <a:t>量測時加入電光調製器的架構，目的在於我們需要確認</a:t>
            </a:r>
            <a:r>
              <a:rPr lang="en-US" altLang="zh-TW" sz="1100" dirty="0">
                <a:latin typeface="Montserrat" panose="02020500000000000000" charset="0"/>
              </a:rPr>
              <a:t>EOPMC</a:t>
            </a:r>
            <a:r>
              <a:rPr lang="zh-TW" altLang="en-US" sz="1100" dirty="0">
                <a:latin typeface="Montserrat" panose="02020500000000000000" charset="0"/>
              </a:rPr>
              <a:t>是否有作用，未來也能夠依照我們的量測結果與預期來驗證。</a:t>
            </a:r>
            <a:endParaRPr dirty="0"/>
          </a:p>
        </p:txBody>
      </p:sp>
    </p:spTree>
    <p:extLst>
      <p:ext uri="{BB962C8B-B14F-4D97-AF65-F5344CB8AC3E}">
        <p14:creationId xmlns:p14="http://schemas.microsoft.com/office/powerpoint/2010/main" val="9964815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dirty="0">
                <a:latin typeface="Montserrat" panose="02020500000000000000" charset="0"/>
              </a:rPr>
              <a:t>架構上完全與頻譜量測相同，多了在晶片端透過電源供應器施加電壓，利用電光調制偏振來觀察其</a:t>
            </a:r>
            <a:r>
              <a:rPr lang="en-US" altLang="zh-TW" sz="1100" dirty="0">
                <a:latin typeface="Montserrat" panose="02020500000000000000" charset="0"/>
              </a:rPr>
              <a:t>HV</a:t>
            </a:r>
            <a:r>
              <a:rPr lang="zh-TW" altLang="en-US" sz="1100" dirty="0">
                <a:latin typeface="Montserrat" panose="02020500000000000000" charset="0"/>
              </a:rPr>
              <a:t>的</a:t>
            </a:r>
            <a:r>
              <a:rPr lang="en-US" altLang="zh-TW" sz="1100" dirty="0">
                <a:latin typeface="Montserrat" panose="02020500000000000000" charset="0"/>
              </a:rPr>
              <a:t>Coincidence counts</a:t>
            </a:r>
            <a:r>
              <a:rPr lang="zh-TW" altLang="en-US" sz="1100" dirty="0">
                <a:latin typeface="Montserrat" panose="02020500000000000000" charset="0"/>
              </a:rPr>
              <a:t>變化。</a:t>
            </a:r>
            <a:endParaRPr dirty="0"/>
          </a:p>
        </p:txBody>
      </p:sp>
    </p:spTree>
    <p:extLst>
      <p:ext uri="{BB962C8B-B14F-4D97-AF65-F5344CB8AC3E}">
        <p14:creationId xmlns:p14="http://schemas.microsoft.com/office/powerpoint/2010/main" val="8870690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dirty="0">
                <a:latin typeface="Montserrat" panose="02020500000000000000" charset="0"/>
              </a:rPr>
              <a:t>Coincidence counts</a:t>
            </a:r>
            <a:r>
              <a:rPr lang="zh-TW" altLang="en-US" sz="1100" dirty="0">
                <a:latin typeface="Montserrat" panose="02020500000000000000" charset="0"/>
              </a:rPr>
              <a:t>結果如右圖，而這個量測條件為當實驗溫度為</a:t>
            </a:r>
            <a:r>
              <a:rPr lang="en-US" altLang="zh-TW" sz="1100" dirty="0">
                <a:latin typeface="Montserrat" panose="02020500000000000000" charset="0"/>
              </a:rPr>
              <a:t>102</a:t>
            </a:r>
            <a:r>
              <a:rPr lang="zh-TW" altLang="en-US" sz="1100" dirty="0">
                <a:latin typeface="Montserrat" panose="02020500000000000000" charset="0"/>
              </a:rPr>
              <a:t>度時，</a:t>
            </a:r>
            <a:r>
              <a:rPr lang="en-US" altLang="zh-TW" sz="1100" dirty="0">
                <a:latin typeface="Montserrat" panose="02020500000000000000" charset="0"/>
              </a:rPr>
              <a:t>SPDC</a:t>
            </a:r>
            <a:r>
              <a:rPr lang="zh-TW" altLang="en-US" sz="1100" dirty="0">
                <a:latin typeface="Montserrat" panose="02020500000000000000" charset="0"/>
              </a:rPr>
              <a:t>的</a:t>
            </a:r>
            <a:r>
              <a:rPr lang="en-US" altLang="zh-TW" sz="1100" dirty="0">
                <a:latin typeface="Montserrat" panose="02020500000000000000" charset="0"/>
              </a:rPr>
              <a:t>signal</a:t>
            </a:r>
            <a:r>
              <a:rPr lang="zh-TW" altLang="en-US" sz="1100" dirty="0">
                <a:latin typeface="Montserrat" panose="02020500000000000000" charset="0"/>
              </a:rPr>
              <a:t>與</a:t>
            </a:r>
            <a:r>
              <a:rPr lang="en-US" altLang="zh-TW" sz="1100" dirty="0">
                <a:latin typeface="Montserrat" panose="02020500000000000000" charset="0"/>
              </a:rPr>
              <a:t>idler</a:t>
            </a:r>
            <a:r>
              <a:rPr lang="zh-TW" altLang="en-US" sz="1100" dirty="0">
                <a:latin typeface="Montserrat" panose="02020500000000000000" charset="0"/>
              </a:rPr>
              <a:t>頻譜如左圖，我們將在古典量測的</a:t>
            </a:r>
            <a:r>
              <a:rPr lang="en-US" altLang="zh-TW" sz="1100" dirty="0">
                <a:latin typeface="Montserrat" panose="02020500000000000000" charset="0"/>
              </a:rPr>
              <a:t>EOPMC</a:t>
            </a:r>
            <a:r>
              <a:rPr lang="zh-TW" altLang="en-US" sz="1100" dirty="0">
                <a:latin typeface="Montserrat" panose="02020500000000000000" charset="0"/>
              </a:rPr>
              <a:t>與其合併後，可以看到</a:t>
            </a:r>
            <a:r>
              <a:rPr lang="en-US" altLang="zh-TW" sz="1100" dirty="0">
                <a:latin typeface="Montserrat" panose="02020500000000000000" charset="0"/>
              </a:rPr>
              <a:t>EOPMC</a:t>
            </a:r>
            <a:r>
              <a:rPr lang="zh-TW" altLang="en-US" sz="1100" dirty="0">
                <a:latin typeface="Montserrat" panose="02020500000000000000" charset="0"/>
              </a:rPr>
              <a:t>頻譜的轉換範圍只有涵蓋到</a:t>
            </a:r>
            <a:r>
              <a:rPr lang="en-US" altLang="zh-TW" sz="1100" dirty="0">
                <a:latin typeface="Montserrat" panose="02020500000000000000" charset="0"/>
              </a:rPr>
              <a:t>signal</a:t>
            </a:r>
            <a:r>
              <a:rPr lang="zh-TW" altLang="en-US" sz="1100" dirty="0">
                <a:latin typeface="Montserrat" panose="02020500000000000000" charset="0"/>
              </a:rPr>
              <a:t>，所以電光調制的部分只會有</a:t>
            </a:r>
            <a:r>
              <a:rPr lang="en-US" altLang="zh-TW" sz="1100" dirty="0">
                <a:latin typeface="Montserrat" panose="02020500000000000000" charset="0"/>
              </a:rPr>
              <a:t>signal</a:t>
            </a:r>
            <a:r>
              <a:rPr lang="zh-TW" altLang="en-US" sz="1100" dirty="0">
                <a:latin typeface="Montserrat" panose="02020500000000000000" charset="0"/>
              </a:rPr>
              <a:t>受到影響，意思就是只有大部分的</a:t>
            </a:r>
            <a:r>
              <a:rPr lang="en-US" altLang="zh-TW" sz="1100" dirty="0">
                <a:latin typeface="Montserrat" panose="02020500000000000000" charset="0"/>
              </a:rPr>
              <a:t>H</a:t>
            </a:r>
            <a:r>
              <a:rPr lang="zh-TW" altLang="en-US" sz="1100" dirty="0">
                <a:latin typeface="Montserrat" panose="02020500000000000000" charset="0"/>
              </a:rPr>
              <a:t>偏振會被轉換至</a:t>
            </a:r>
            <a:r>
              <a:rPr lang="en-US" altLang="zh-TW" sz="1100" dirty="0">
                <a:latin typeface="Montserrat" panose="02020500000000000000" charset="0"/>
              </a:rPr>
              <a:t>V</a:t>
            </a:r>
            <a:r>
              <a:rPr lang="zh-TW" altLang="en-US" sz="1100" dirty="0">
                <a:latin typeface="Montserrat" panose="02020500000000000000" charset="0"/>
              </a:rPr>
              <a:t>。當施加不同電壓時，可以看到</a:t>
            </a:r>
            <a:r>
              <a:rPr lang="en-US" altLang="zh-TW" sz="1100" dirty="0">
                <a:latin typeface="Montserrat" panose="02020500000000000000" charset="0"/>
              </a:rPr>
              <a:t>counts</a:t>
            </a:r>
            <a:r>
              <a:rPr lang="zh-TW" altLang="en-US" sz="1100" dirty="0">
                <a:latin typeface="Montserrat" panose="02020500000000000000" charset="0"/>
              </a:rPr>
              <a:t>數明顯下降，但從頻譜圖來看，雖然電光調制對於</a:t>
            </a:r>
            <a:r>
              <a:rPr lang="en-US" altLang="zh-TW" sz="1100" dirty="0">
                <a:latin typeface="Montserrat" panose="02020500000000000000" charset="0"/>
              </a:rPr>
              <a:t>idler</a:t>
            </a:r>
            <a:r>
              <a:rPr lang="zh-TW" altLang="en-US" sz="1100" dirty="0">
                <a:latin typeface="Montserrat" panose="02020500000000000000" charset="0"/>
              </a:rPr>
              <a:t>並無作用，但受其邊帶影響，還是會有些許部分將其</a:t>
            </a:r>
            <a:r>
              <a:rPr lang="en-US" altLang="zh-TW" sz="1100" dirty="0">
                <a:latin typeface="Montserrat" panose="02020500000000000000" charset="0"/>
              </a:rPr>
              <a:t>V</a:t>
            </a:r>
            <a:r>
              <a:rPr lang="zh-TW" altLang="en-US" sz="1100" dirty="0">
                <a:latin typeface="Montserrat" panose="02020500000000000000" charset="0"/>
              </a:rPr>
              <a:t>偏振轉為</a:t>
            </a:r>
            <a:r>
              <a:rPr lang="en-US" altLang="zh-TW" sz="1100" dirty="0">
                <a:latin typeface="Montserrat" panose="02020500000000000000" charset="0"/>
              </a:rPr>
              <a:t>H</a:t>
            </a:r>
            <a:r>
              <a:rPr lang="zh-TW" altLang="en-US" sz="1100" dirty="0">
                <a:latin typeface="Montserrat" panose="02020500000000000000" charset="0"/>
              </a:rPr>
              <a:t>偏振，這也是為什麼</a:t>
            </a:r>
            <a:r>
              <a:rPr lang="en-US" altLang="zh-TW" sz="1100" dirty="0">
                <a:latin typeface="Montserrat" panose="02020500000000000000" charset="0"/>
              </a:rPr>
              <a:t>Coincidence counts</a:t>
            </a:r>
            <a:r>
              <a:rPr lang="zh-TW" altLang="en-US" sz="1100" dirty="0">
                <a:latin typeface="Montserrat" panose="02020500000000000000" charset="0"/>
              </a:rPr>
              <a:t>無法降到最低點的原因。</a:t>
            </a:r>
            <a:endParaRPr lang="en-US" altLang="zh-TW" dirty="0"/>
          </a:p>
        </p:txBody>
      </p:sp>
    </p:spTree>
    <p:extLst>
      <p:ext uri="{BB962C8B-B14F-4D97-AF65-F5344CB8AC3E}">
        <p14:creationId xmlns:p14="http://schemas.microsoft.com/office/powerpoint/2010/main" val="34714880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另外我們使用一組對比的條件來觀察，當溫度為</a:t>
            </a:r>
            <a:r>
              <a:rPr lang="en-US" altLang="zh-TW" dirty="0"/>
              <a:t>106</a:t>
            </a:r>
            <a:r>
              <a:rPr lang="zh-TW" altLang="en-US" dirty="0"/>
              <a:t>度時，</a:t>
            </a:r>
            <a:r>
              <a:rPr lang="en-US" altLang="zh-TW" dirty="0"/>
              <a:t>signal</a:t>
            </a:r>
            <a:r>
              <a:rPr lang="zh-TW" altLang="en-US" dirty="0"/>
              <a:t>與</a:t>
            </a:r>
            <a:r>
              <a:rPr lang="en-US" altLang="zh-TW" dirty="0"/>
              <a:t>idler</a:t>
            </a:r>
            <a:r>
              <a:rPr lang="zh-TW" altLang="en-US" dirty="0"/>
              <a:t>的頻譜完全在</a:t>
            </a:r>
            <a:r>
              <a:rPr lang="en-US" altLang="zh-TW" dirty="0"/>
              <a:t>EOPMC</a:t>
            </a:r>
            <a:r>
              <a:rPr lang="zh-TW" altLang="en-US" dirty="0"/>
              <a:t>之外，因此對照右圖，當施加不同電壓時確實</a:t>
            </a:r>
            <a:r>
              <a:rPr lang="en-US" altLang="zh-TW" sz="1100" dirty="0">
                <a:latin typeface="Montserrat" panose="02020500000000000000" charset="0"/>
              </a:rPr>
              <a:t>Coincidence counts</a:t>
            </a:r>
            <a:r>
              <a:rPr lang="zh-TW" altLang="en-US" sz="1100" dirty="0">
                <a:latin typeface="Montserrat" panose="02020500000000000000" charset="0"/>
              </a:rPr>
              <a:t>無明顯變化，而這也符合我們的預期，但因為一樣會受到邊帶影響，所以還是會有些許偏振被轉換，造成</a:t>
            </a:r>
            <a:r>
              <a:rPr lang="en-US" altLang="zh-TW" sz="1100" dirty="0">
                <a:latin typeface="Montserrat" panose="02020500000000000000" charset="0"/>
              </a:rPr>
              <a:t>Coincidence counts</a:t>
            </a:r>
            <a:r>
              <a:rPr lang="zh-TW" altLang="en-US" sz="1100" dirty="0">
                <a:latin typeface="Montserrat" panose="02020500000000000000" charset="0"/>
              </a:rPr>
              <a:t>曲線有微小變動。</a:t>
            </a:r>
            <a:endParaRPr dirty="0"/>
          </a:p>
        </p:txBody>
      </p:sp>
    </p:spTree>
    <p:extLst>
      <p:ext uri="{BB962C8B-B14F-4D97-AF65-F5344CB8AC3E}">
        <p14:creationId xmlns:p14="http://schemas.microsoft.com/office/powerpoint/2010/main" val="17821960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最後我們也進一步量測，當溫度為</a:t>
                </a:r>
                <a:r>
                  <a:rPr lang="en-US" altLang="zh-TW" dirty="0"/>
                  <a:t>102</a:t>
                </a:r>
                <a:r>
                  <a:rPr lang="zh-TW" altLang="en-US" dirty="0"/>
                  <a:t>度時，</a:t>
                </a:r>
                <a:r>
                  <a:rPr lang="en-US" altLang="zh-TW" dirty="0"/>
                  <a:t>signal</a:t>
                </a:r>
                <a:r>
                  <a:rPr lang="zh-TW" altLang="en-US" dirty="0"/>
                  <a:t>與</a:t>
                </a:r>
                <a:r>
                  <a:rPr lang="en-US" altLang="zh-TW" dirty="0"/>
                  <a:t>EOPMC</a:t>
                </a:r>
                <a:r>
                  <a:rPr lang="zh-TW" altLang="en-US" dirty="0"/>
                  <a:t>頻譜疊合的條件下，而我們選擇施加其在</a:t>
                </a:r>
                <a:r>
                  <a:rPr lang="en-US" altLang="zh-TW" sz="1100" dirty="0">
                    <a:latin typeface="Montserrat" panose="02020500000000000000" charset="0"/>
                  </a:rPr>
                  <a:t>Coincidence counts</a:t>
                </a:r>
                <a:r>
                  <a:rPr lang="zh-TW" altLang="en-US" sz="1100" dirty="0">
                    <a:latin typeface="Montserrat" panose="02020500000000000000" charset="0"/>
                  </a:rPr>
                  <a:t>曲線中最低點時的電壓時</a:t>
                </a:r>
                <a:r>
                  <a:rPr lang="zh-TW" altLang="en-US" dirty="0"/>
                  <a:t>，</a:t>
                </a:r>
                <a:r>
                  <a:rPr lang="en-US" altLang="zh-TW" dirty="0"/>
                  <a:t>signal</a:t>
                </a:r>
                <a:r>
                  <a:rPr lang="zh-TW" altLang="en-US" dirty="0"/>
                  <a:t>與</a:t>
                </a:r>
                <a:r>
                  <a:rPr lang="en-US" altLang="zh-TW" dirty="0"/>
                  <a:t>idler</a:t>
                </a:r>
                <a:r>
                  <a:rPr lang="zh-TW" altLang="en-US" dirty="0"/>
                  <a:t>各自頻譜的變化，由圖可以看到，從原本僅有的</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𝑠</m:t>
                        </m:r>
                      </m:sub>
                    </m:sSub>
                    <m:r>
                      <a:rPr lang="zh-TW" altLang="en-US" i="1" smtClean="0">
                        <a:latin typeface="Cambria Math" panose="02040503050406030204" pitchFamily="18" charset="0"/>
                      </a:rPr>
                      <m:t>與</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oMath>
                </a14:m>
                <a:r>
                  <a:rPr lang="zh-TW" altLang="en-US" dirty="0"/>
                  <a:t>偏振，在施加</a:t>
                </a:r>
                <a:r>
                  <a:rPr lang="en-US" altLang="zh-TW" dirty="0"/>
                  <a:t>80V</a:t>
                </a:r>
                <a:r>
                  <a:rPr lang="zh-TW" altLang="en-US" dirty="0"/>
                  <a:t>時，會分別出現</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𝑖</m:t>
                        </m:r>
                      </m:sub>
                    </m:sSub>
                  </m:oMath>
                </a14:m>
                <a:r>
                  <a:rPr lang="zh-TW" altLang="en-US" dirty="0"/>
                  <a:t>及</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𝑠</m:t>
                        </m:r>
                      </m:sub>
                    </m:sSub>
                  </m:oMath>
                </a14:m>
                <a:r>
                  <a:rPr lang="zh-TW" altLang="en-US" dirty="0"/>
                  <a:t>的分量，呼應前面提到的，當未施加電壓時可以簡單描述成式子</a:t>
                </a:r>
                <a:r>
                  <a:rPr lang="en-US" altLang="zh-TW" dirty="0"/>
                  <a:t>(34)</a:t>
                </a:r>
                <a:r>
                  <a:rPr lang="zh-TW" altLang="en-US" dirty="0"/>
                  <a:t>，加入</a:t>
                </a:r>
                <a:r>
                  <a:rPr lang="en-US" altLang="zh-TW" dirty="0"/>
                  <a:t>EOPMC</a:t>
                </a:r>
                <a:r>
                  <a:rPr lang="zh-TW" altLang="en-US" dirty="0"/>
                  <a:t>後則可以改寫為式子</a:t>
                </a:r>
                <a:r>
                  <a:rPr lang="en-US" altLang="zh-TW" dirty="0"/>
                  <a:t>(35)</a:t>
                </a:r>
                <a:r>
                  <a:rPr lang="zh-TW" altLang="en-US" dirty="0"/>
                  <a:t>，除了原來的</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𝑠</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oMath>
                </a14:m>
                <a:r>
                  <a:rPr lang="zh-TW" altLang="en-US" dirty="0"/>
                  <a:t>偏振，以及施加電壓後轉換而來的</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𝑖</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𝑠</m:t>
                        </m:r>
                      </m:sub>
                    </m:sSub>
                  </m:oMath>
                </a14:m>
                <a:r>
                  <a:rPr lang="zh-TW" altLang="en-US" dirty="0"/>
                  <a:t>偏振，還多了</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𝑠</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𝑖</m:t>
                        </m:r>
                      </m:sub>
                    </m:sSub>
                  </m:oMath>
                </a14:m>
                <a:r>
                  <a:rPr lang="en-US" altLang="zh-TW" dirty="0"/>
                  <a:t>+</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𝑠</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oMath>
                </a14:m>
                <a:r>
                  <a:rPr lang="zh-TW" altLang="en-US" dirty="0"/>
                  <a:t>的分量，因此藉由實驗驗證，在施加電壓後所量測的頻譜會比沒有電壓時來的寬。</a:t>
                </a:r>
                <a:endParaRPr lang="en-US" altLang="zh-TW" dirty="0"/>
              </a:p>
            </p:txBody>
          </p:sp>
        </mc:Choice>
        <mc:Fallback xmlns="">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最後我們也進一步量測，當溫度為</a:t>
                </a:r>
                <a:r>
                  <a:rPr lang="en-US" altLang="zh-TW" dirty="0"/>
                  <a:t>102</a:t>
                </a:r>
                <a:r>
                  <a:rPr lang="zh-TW" altLang="en-US" dirty="0"/>
                  <a:t>度時，</a:t>
                </a:r>
                <a:r>
                  <a:rPr lang="en-US" altLang="zh-TW" dirty="0"/>
                  <a:t>signal</a:t>
                </a:r>
                <a:r>
                  <a:rPr lang="zh-TW" altLang="en-US" dirty="0"/>
                  <a:t>與</a:t>
                </a:r>
                <a:r>
                  <a:rPr lang="en-US" altLang="zh-TW" dirty="0"/>
                  <a:t>EOPMC</a:t>
                </a:r>
                <a:r>
                  <a:rPr lang="zh-TW" altLang="en-US" dirty="0"/>
                  <a:t>頻譜疊合的條件下，而我們選擇施加其在</a:t>
                </a:r>
                <a:r>
                  <a:rPr lang="en-US" altLang="zh-TW" sz="1100" dirty="0">
                    <a:latin typeface="Montserrat" panose="02020500000000000000" charset="0"/>
                  </a:rPr>
                  <a:t>Coincidence counts</a:t>
                </a:r>
                <a:r>
                  <a:rPr lang="zh-TW" altLang="en-US" sz="1100" dirty="0">
                    <a:latin typeface="Montserrat" panose="02020500000000000000" charset="0"/>
                  </a:rPr>
                  <a:t>曲線中最低點時的電壓時</a:t>
                </a:r>
                <a:r>
                  <a:rPr lang="zh-TW" altLang="en-US" dirty="0"/>
                  <a:t>，</a:t>
                </a:r>
                <a:r>
                  <a:rPr lang="en-US" altLang="zh-TW" dirty="0"/>
                  <a:t>signal</a:t>
                </a:r>
                <a:r>
                  <a:rPr lang="zh-TW" altLang="en-US" dirty="0"/>
                  <a:t>與</a:t>
                </a:r>
                <a:r>
                  <a:rPr lang="en-US" altLang="zh-TW" dirty="0"/>
                  <a:t>idler</a:t>
                </a:r>
                <a:r>
                  <a:rPr lang="zh-TW" altLang="en-US" dirty="0"/>
                  <a:t>各自頻譜的變化，由圖可以看到，從原本僅有的</a:t>
                </a:r>
                <a:r>
                  <a:rPr lang="en-US" altLang="zh-TW" b="0" i="0">
                    <a:latin typeface="Cambria Math" panose="02040503050406030204" pitchFamily="18" charset="0"/>
                  </a:rPr>
                  <a:t>𝐻_𝑠</a:t>
                </a:r>
                <a:r>
                  <a:rPr lang="zh-TW" altLang="en-US" b="0" i="0">
                    <a:latin typeface="Cambria Math" panose="02040503050406030204" pitchFamily="18" charset="0"/>
                  </a:rPr>
                  <a:t> </a:t>
                </a:r>
                <a:r>
                  <a:rPr lang="zh-TW" altLang="en-US" i="0">
                    <a:latin typeface="Cambria Math" panose="02040503050406030204" pitchFamily="18" charset="0"/>
                  </a:rPr>
                  <a:t>與</a:t>
                </a:r>
                <a:r>
                  <a:rPr lang="en-US" altLang="zh-TW" b="0" i="0">
                    <a:latin typeface="Cambria Math" panose="02040503050406030204" pitchFamily="18" charset="0"/>
                  </a:rPr>
                  <a:t>𝑉_𝑖</a:t>
                </a:r>
                <a:r>
                  <a:rPr lang="zh-TW" altLang="en-US" dirty="0"/>
                  <a:t>偏振，在施加</a:t>
                </a:r>
                <a:r>
                  <a:rPr lang="en-US" altLang="zh-TW" dirty="0"/>
                  <a:t>80V</a:t>
                </a:r>
                <a:r>
                  <a:rPr lang="zh-TW" altLang="en-US" dirty="0"/>
                  <a:t>時，會分別出現</a:t>
                </a:r>
                <a:r>
                  <a:rPr lang="en-US" altLang="zh-TW" b="0" i="0">
                    <a:latin typeface="Cambria Math" panose="02040503050406030204" pitchFamily="18" charset="0"/>
                  </a:rPr>
                  <a:t>𝐻_𝑖</a:t>
                </a:r>
                <a:r>
                  <a:rPr lang="zh-TW" altLang="en-US" dirty="0"/>
                  <a:t>及</a:t>
                </a:r>
                <a:r>
                  <a:rPr lang="en-US" altLang="zh-TW" b="0" i="0">
                    <a:latin typeface="Cambria Math" panose="02040503050406030204" pitchFamily="18" charset="0"/>
                  </a:rPr>
                  <a:t>𝑉_𝑠</a:t>
                </a:r>
                <a:r>
                  <a:rPr lang="zh-TW" altLang="en-US" dirty="0"/>
                  <a:t>的分量，當未施加電壓時可以簡單描述成式子</a:t>
                </a:r>
                <a:r>
                  <a:rPr lang="en-US" altLang="zh-TW" dirty="0"/>
                  <a:t>(25)</a:t>
                </a:r>
                <a:r>
                  <a:rPr lang="zh-TW" altLang="en-US" dirty="0"/>
                  <a:t>，加入</a:t>
                </a:r>
                <a:r>
                  <a:rPr lang="en-US" altLang="zh-TW" dirty="0"/>
                  <a:t>EOPMC</a:t>
                </a:r>
                <a:r>
                  <a:rPr lang="zh-TW" altLang="en-US" dirty="0"/>
                  <a:t>後則可以改寫為式子</a:t>
                </a:r>
                <a:r>
                  <a:rPr lang="en-US" altLang="zh-TW" dirty="0"/>
                  <a:t>(26)</a:t>
                </a:r>
                <a:r>
                  <a:rPr lang="zh-TW" altLang="en-US" dirty="0"/>
                  <a:t>，除了原來的</a:t>
                </a:r>
                <a:r>
                  <a:rPr lang="en-US" altLang="zh-TW" b="0" i="0">
                    <a:latin typeface="Cambria Math" panose="02040503050406030204" pitchFamily="18" charset="0"/>
                  </a:rPr>
                  <a:t>𝐻_𝑠 𝑉_𝑖</a:t>
                </a:r>
                <a:r>
                  <a:rPr lang="zh-TW" altLang="en-US" dirty="0"/>
                  <a:t>偏振，以及施加電壓後轉換而來的</a:t>
                </a:r>
                <a:r>
                  <a:rPr lang="en-US" altLang="zh-TW" b="0" i="0">
                    <a:latin typeface="Cambria Math" panose="02040503050406030204" pitchFamily="18" charset="0"/>
                  </a:rPr>
                  <a:t>𝐻_𝑖 𝑉_𝑠</a:t>
                </a:r>
                <a:r>
                  <a:rPr lang="zh-TW" altLang="en-US" dirty="0"/>
                  <a:t>偏振，還多了</a:t>
                </a:r>
                <a:r>
                  <a:rPr lang="en-US" altLang="zh-TW" b="0" i="0">
                    <a:latin typeface="Cambria Math" panose="02040503050406030204" pitchFamily="18" charset="0"/>
                  </a:rPr>
                  <a:t>𝐻_𝑠 𝐻_𝑖</a:t>
                </a:r>
                <a:r>
                  <a:rPr lang="en-US" altLang="zh-TW" dirty="0"/>
                  <a:t>+</a:t>
                </a:r>
                <a:r>
                  <a:rPr lang="en-US" altLang="zh-TW" b="0" i="0">
                    <a:latin typeface="Cambria Math" panose="02040503050406030204" pitchFamily="18" charset="0"/>
                  </a:rPr>
                  <a:t>𝑉_𝑠 𝑉_𝑖</a:t>
                </a:r>
                <a:r>
                  <a:rPr lang="zh-TW" altLang="en-US" dirty="0"/>
                  <a:t>的分量，這有點類似於</a:t>
                </a:r>
                <a:r>
                  <a:rPr lang="en-US" altLang="zh-TW" dirty="0"/>
                  <a:t>type0</a:t>
                </a:r>
                <a:r>
                  <a:rPr lang="zh-TW" altLang="en-US" dirty="0"/>
                  <a:t>寬頻的形式，因此在施加電壓後所量測的頻譜會比沒有電壓時來的寬。</a:t>
                </a:r>
                <a:endParaRPr lang="en-US" altLang="zh-TW" dirty="0"/>
              </a:p>
            </p:txBody>
          </p:sp>
        </mc:Fallback>
      </mc:AlternateContent>
    </p:spTree>
    <p:extLst>
      <p:ext uri="{BB962C8B-B14F-4D97-AF65-F5344CB8AC3E}">
        <p14:creationId xmlns:p14="http://schemas.microsoft.com/office/powerpoint/2010/main" val="29443898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8843772722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8843772722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最後統整一下以上所有的內容</a:t>
            </a:r>
            <a:endParaRPr dirty="0"/>
          </a:p>
        </p:txBody>
      </p:sp>
    </p:spTree>
    <p:extLst>
      <p:ext uri="{BB962C8B-B14F-4D97-AF65-F5344CB8AC3E}">
        <p14:creationId xmlns:p14="http://schemas.microsoft.com/office/powerpoint/2010/main" val="27675872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zh-TW" altLang="en-US" dirty="0"/>
              <a:t>我們成功利用基因演算法優化非週期性極化反轉的鈮酸鋰結構，而此結構包含兩種非線性轉換，為自發量下轉換以及電光偏振模態耦合器。</a:t>
            </a:r>
            <a:endParaRPr lang="en-US" altLang="zh-TW" dirty="0"/>
          </a:p>
          <a:p>
            <a:pPr marL="228600" lvl="0" indent="-228600" algn="l" rtl="0">
              <a:spcBef>
                <a:spcPts val="0"/>
              </a:spcBef>
              <a:spcAft>
                <a:spcPts val="0"/>
              </a:spcAft>
              <a:buAutoNum type="arabicPeriod"/>
            </a:pPr>
            <a:r>
              <a:rPr lang="zh-TW" altLang="en-US" dirty="0"/>
              <a:t>而當施加</a:t>
            </a:r>
            <a:r>
              <a:rPr lang="en-US" altLang="zh-TW" dirty="0"/>
              <a:t>60V</a:t>
            </a:r>
            <a:r>
              <a:rPr lang="zh-TW" altLang="en-US" dirty="0"/>
              <a:t>時，我的</a:t>
            </a:r>
            <a:r>
              <a:rPr lang="en-US" altLang="zh-TW" dirty="0"/>
              <a:t>EOPMC</a:t>
            </a:r>
            <a:r>
              <a:rPr lang="zh-TW" altLang="en-US" dirty="0"/>
              <a:t>可以使轉換效率高達</a:t>
            </a:r>
            <a:r>
              <a:rPr lang="en-US" altLang="zh-TW" dirty="0"/>
              <a:t>90%</a:t>
            </a:r>
            <a:r>
              <a:rPr lang="zh-TW" altLang="en-US" dirty="0"/>
              <a:t>，並有</a:t>
            </a:r>
            <a:r>
              <a:rPr lang="en-US" altLang="zh-TW" dirty="0"/>
              <a:t>7.5nm</a:t>
            </a:r>
            <a:r>
              <a:rPr lang="zh-TW" altLang="en-US" dirty="0"/>
              <a:t>在其中。</a:t>
            </a:r>
            <a:endParaRPr lang="en-US" altLang="zh-TW" dirty="0"/>
          </a:p>
          <a:p>
            <a:pPr marL="228600" lvl="0" indent="-228600" algn="l" rtl="0">
              <a:spcBef>
                <a:spcPts val="0"/>
              </a:spcBef>
              <a:spcAft>
                <a:spcPts val="0"/>
              </a:spcAft>
              <a:buAutoNum type="arabicPeriod"/>
            </a:pPr>
            <a:r>
              <a:rPr lang="zh-TW" altLang="en-US" dirty="0"/>
              <a:t>在</a:t>
            </a:r>
            <a:r>
              <a:rPr lang="en-US" altLang="zh-TW" dirty="0"/>
              <a:t>HOM</a:t>
            </a:r>
            <a:r>
              <a:rPr lang="zh-TW" altLang="en-US" dirty="0"/>
              <a:t>干涉實驗，當實驗溫度為</a:t>
            </a:r>
            <a:r>
              <a:rPr lang="en-US" altLang="zh-TW" dirty="0"/>
              <a:t>107</a:t>
            </a:r>
            <a:r>
              <a:rPr lang="zh-TW" altLang="en-US" dirty="0"/>
              <a:t>度時，</a:t>
            </a:r>
            <a:r>
              <a:rPr lang="en-US" altLang="zh-TW" dirty="0"/>
              <a:t>SPDC</a:t>
            </a:r>
            <a:r>
              <a:rPr lang="zh-TW" altLang="en-US" dirty="0"/>
              <a:t>的</a:t>
            </a:r>
            <a:r>
              <a:rPr lang="en-US" altLang="zh-TW" dirty="0"/>
              <a:t>signal</a:t>
            </a:r>
            <a:r>
              <a:rPr lang="zh-TW" altLang="en-US" dirty="0"/>
              <a:t>與</a:t>
            </a:r>
            <a:r>
              <a:rPr lang="en-US" altLang="zh-TW" dirty="0"/>
              <a:t>idler</a:t>
            </a:r>
            <a:r>
              <a:rPr lang="zh-TW" altLang="en-US" dirty="0"/>
              <a:t>的頻譜疊合程度最佳，其波長約為</a:t>
            </a:r>
            <a:r>
              <a:rPr lang="en-US" altLang="zh-TW" dirty="0"/>
              <a:t>1569nm</a:t>
            </a:r>
            <a:r>
              <a:rPr lang="zh-TW" altLang="en-US" dirty="0"/>
              <a:t>，而我們也計算出干涉程度也就是可見度可達</a:t>
            </a:r>
            <a:r>
              <a:rPr lang="en-US" altLang="zh-TW" dirty="0"/>
              <a:t>82.3</a:t>
            </a:r>
            <a:r>
              <a:rPr lang="en-US" altLang="zh-TW" sz="1100" b="0" i="0" u="none" strike="noStrike" cap="none" dirty="0">
                <a:solidFill>
                  <a:srgbClr val="000000"/>
                </a:solidFill>
                <a:effectLst/>
                <a:latin typeface="Arial"/>
                <a:ea typeface="Arial"/>
                <a:cs typeface="Arial"/>
                <a:sym typeface="Arial"/>
              </a:rPr>
              <a:t>±1.7%</a:t>
            </a:r>
            <a:r>
              <a:rPr lang="zh-TW" altLang="en-US" sz="1100" b="0" i="0" u="none" strike="noStrike" cap="none" dirty="0">
                <a:solidFill>
                  <a:srgbClr val="000000"/>
                </a:solidFill>
                <a:effectLst/>
                <a:latin typeface="Arial"/>
                <a:ea typeface="Arial"/>
                <a:cs typeface="Arial"/>
                <a:sym typeface="Arial"/>
              </a:rPr>
              <a:t>。</a:t>
            </a:r>
            <a:endParaRPr lang="en-US" altLang="zh-TW" sz="1100" b="0" i="0" u="none" strike="noStrike" cap="none" dirty="0">
              <a:solidFill>
                <a:srgbClr val="000000"/>
              </a:solidFill>
              <a:effectLst/>
              <a:latin typeface="Arial"/>
              <a:ea typeface="Arial"/>
              <a:cs typeface="Arial"/>
              <a:sym typeface="Arial"/>
            </a:endParaRPr>
          </a:p>
          <a:p>
            <a:pPr marL="228600" lvl="0" indent="-228600" algn="l" rtl="0">
              <a:spcBef>
                <a:spcPts val="0"/>
              </a:spcBef>
              <a:spcAft>
                <a:spcPts val="0"/>
              </a:spcAft>
              <a:buAutoNum type="arabicPeriod"/>
            </a:pPr>
            <a:r>
              <a:rPr lang="zh-TW" altLang="en-US" sz="1100" b="0" i="0" u="none" strike="noStrike" cap="none" dirty="0">
                <a:solidFill>
                  <a:srgbClr val="000000"/>
                </a:solidFill>
                <a:effectLst/>
                <a:latin typeface="Arial"/>
                <a:cs typeface="Arial"/>
                <a:sym typeface="Arial"/>
              </a:rPr>
              <a:t>最後我們成功在單一晶片上利用電光調制可以控制偏振相依光子對。</a:t>
            </a:r>
            <a:endParaRPr lang="en-US" altLang="zh-TW" dirty="0"/>
          </a:p>
        </p:txBody>
      </p:sp>
    </p:spTree>
    <p:extLst>
      <p:ext uri="{BB962C8B-B14F-4D97-AF65-F5344CB8AC3E}">
        <p14:creationId xmlns:p14="http://schemas.microsoft.com/office/powerpoint/2010/main" val="38314341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a421aca9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a421aca9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但我們根據上述量測結果得知當</a:t>
            </a:r>
            <a:r>
              <a:rPr lang="en-US" altLang="zh-TW" dirty="0"/>
              <a:t>SHG</a:t>
            </a:r>
            <a:r>
              <a:rPr lang="zh-TW" altLang="en-US" dirty="0"/>
              <a:t>與</a:t>
            </a:r>
            <a:r>
              <a:rPr lang="en-US" altLang="zh-TW" dirty="0"/>
              <a:t>EOPMC</a:t>
            </a:r>
            <a:r>
              <a:rPr lang="zh-TW" altLang="en-US" dirty="0"/>
              <a:t>重疊在波長不在</a:t>
            </a:r>
            <a:r>
              <a:rPr lang="en-US" altLang="zh-TW" dirty="0"/>
              <a:t>1570nm</a:t>
            </a:r>
            <a:r>
              <a:rPr lang="zh-TW" altLang="en-US" dirty="0"/>
              <a:t>，</a:t>
            </a:r>
            <a:r>
              <a:rPr lang="zh-TW" altLang="en-US" sz="1100" b="0" i="0" u="none" strike="noStrike" cap="none" baseline="0" dirty="0">
                <a:solidFill>
                  <a:srgbClr val="000000"/>
                </a:solidFill>
                <a:latin typeface="Arial"/>
                <a:ea typeface="Arial"/>
                <a:cs typeface="Arial"/>
                <a:sym typeface="Arial"/>
              </a:rPr>
              <a:t>不符合原本的設計，因此推測原因之一為製程誤差，而此製程誤差為在製作波導黃光確認線寬時會有人為誤差以及光學顯微鏡本身的量測誤差，也難於精準控制所有的波導線寬。為此我們在原先的設計加入波導線寬的差異，觀察其中心波長位移的模擬情形，我們僅加入</a:t>
            </a:r>
            <a:r>
              <a:rPr lang="en-US" altLang="zh-TW" sz="1100" b="0" i="0" u="none" strike="noStrike" cap="none" dirty="0">
                <a:solidFill>
                  <a:srgbClr val="000000"/>
                </a:solidFill>
                <a:effectLst/>
                <a:latin typeface="Arial"/>
                <a:ea typeface="Arial"/>
                <a:cs typeface="Arial"/>
                <a:sym typeface="Arial"/>
              </a:rPr>
              <a:t>±0.2um</a:t>
            </a:r>
            <a:r>
              <a:rPr lang="zh-TW" altLang="en-US" sz="1100" b="0" i="0" u="none" strike="noStrike" cap="none" dirty="0">
                <a:solidFill>
                  <a:srgbClr val="000000"/>
                </a:solidFill>
                <a:effectLst/>
                <a:latin typeface="Arial"/>
                <a:ea typeface="Arial"/>
                <a:cs typeface="Arial"/>
                <a:sym typeface="Arial"/>
              </a:rPr>
              <a:t>的變化，從原本的</a:t>
            </a:r>
            <a:r>
              <a:rPr lang="en-US" altLang="zh-TW" sz="1100" b="0" i="0" u="none" strike="noStrike" cap="none" dirty="0">
                <a:solidFill>
                  <a:srgbClr val="000000"/>
                </a:solidFill>
                <a:effectLst/>
                <a:latin typeface="Arial"/>
                <a:ea typeface="Arial"/>
                <a:cs typeface="Arial"/>
                <a:sym typeface="Arial"/>
              </a:rPr>
              <a:t>7um+-0.2um</a:t>
            </a:r>
            <a:r>
              <a:rPr lang="zh-TW" altLang="en-US" sz="1100" b="0" i="0" u="none" strike="noStrike" cap="none" dirty="0">
                <a:solidFill>
                  <a:srgbClr val="000000"/>
                </a:solidFill>
                <a:effectLst/>
                <a:latin typeface="Arial"/>
                <a:ea typeface="Arial"/>
                <a:cs typeface="Arial"/>
                <a:sym typeface="Arial"/>
              </a:rPr>
              <a:t>，變成</a:t>
            </a:r>
            <a:r>
              <a:rPr lang="en-US" altLang="zh-TW" sz="1100" b="0" i="0" u="none" strike="noStrike" cap="none" dirty="0">
                <a:solidFill>
                  <a:srgbClr val="000000"/>
                </a:solidFill>
                <a:effectLst/>
                <a:latin typeface="Arial"/>
                <a:ea typeface="Arial"/>
                <a:cs typeface="Arial"/>
                <a:sym typeface="Arial"/>
              </a:rPr>
              <a:t>6.8um</a:t>
            </a:r>
            <a:r>
              <a:rPr lang="zh-TW" altLang="en-US" sz="1100" b="0" i="0" u="none" strike="noStrike" cap="none" dirty="0">
                <a:solidFill>
                  <a:srgbClr val="000000"/>
                </a:solidFill>
                <a:effectLst/>
                <a:latin typeface="Arial"/>
                <a:ea typeface="Arial"/>
                <a:cs typeface="Arial"/>
                <a:sym typeface="Arial"/>
              </a:rPr>
              <a:t>以及</a:t>
            </a:r>
            <a:r>
              <a:rPr lang="en-US" altLang="zh-TW" sz="1100" b="0" i="0" u="none" strike="noStrike" cap="none" dirty="0">
                <a:solidFill>
                  <a:srgbClr val="000000"/>
                </a:solidFill>
                <a:effectLst/>
                <a:latin typeface="Arial"/>
                <a:ea typeface="Arial"/>
                <a:cs typeface="Arial"/>
                <a:sym typeface="Arial"/>
              </a:rPr>
              <a:t>7.2um</a:t>
            </a:r>
            <a:r>
              <a:rPr lang="zh-TW" altLang="en-US" sz="1100" b="0" i="0" u="none" strike="noStrike" cap="none" dirty="0">
                <a:solidFill>
                  <a:srgbClr val="000000"/>
                </a:solidFill>
                <a:effectLst/>
                <a:latin typeface="Arial"/>
                <a:ea typeface="Arial"/>
                <a:cs typeface="Arial"/>
                <a:sym typeface="Arial"/>
              </a:rPr>
              <a:t>，可以看到其波長位移的情況如下面表格，其確實嚴重影響最後結果，因此我們提出重新規劃其波導線寬的設計，</a:t>
            </a:r>
            <a:r>
              <a:rPr lang="zh-TW" altLang="en-US" sz="1100" b="0" i="0" u="none" strike="noStrike" cap="none" baseline="0" dirty="0">
                <a:solidFill>
                  <a:srgbClr val="000000"/>
                </a:solidFill>
                <a:latin typeface="Arial"/>
                <a:ea typeface="Arial"/>
                <a:cs typeface="Arial"/>
                <a:sym typeface="Arial"/>
              </a:rPr>
              <a:t>當製程影響折射率發生改變時，此設計也能增加其容忍度。</a:t>
            </a:r>
            <a:endParaRPr dirty="0"/>
          </a:p>
        </p:txBody>
      </p:sp>
    </p:spTree>
    <p:extLst>
      <p:ext uri="{BB962C8B-B14F-4D97-AF65-F5344CB8AC3E}">
        <p14:creationId xmlns:p14="http://schemas.microsoft.com/office/powerpoint/2010/main" val="6683753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有了上述</a:t>
            </a:r>
            <a:r>
              <a:rPr lang="zh-TW" altLang="en-US"/>
              <a:t>的設計，</a:t>
            </a:r>
            <a:r>
              <a:rPr lang="zh-TW" altLang="en-US" dirty="0"/>
              <a:t>在未來當</a:t>
            </a:r>
            <a:r>
              <a:rPr lang="en-US" altLang="zh-TW" dirty="0"/>
              <a:t>SPDC</a:t>
            </a:r>
            <a:r>
              <a:rPr lang="zh-TW" altLang="en-US" dirty="0"/>
              <a:t>與</a:t>
            </a:r>
            <a:r>
              <a:rPr lang="en-US" altLang="zh-TW" dirty="0"/>
              <a:t>EOPMC</a:t>
            </a:r>
            <a:r>
              <a:rPr lang="zh-TW" altLang="en-US" dirty="0"/>
              <a:t>在</a:t>
            </a:r>
            <a:r>
              <a:rPr lang="en-US" altLang="zh-TW" dirty="0"/>
              <a:t>degeneracy</a:t>
            </a:r>
            <a:r>
              <a:rPr lang="zh-TW" altLang="en-US" dirty="0"/>
              <a:t>的位置重疊後，使用</a:t>
            </a:r>
            <a:r>
              <a:rPr lang="en-US" altLang="zh-TW" dirty="0"/>
              <a:t>784.5nm</a:t>
            </a:r>
            <a:r>
              <a:rPr lang="zh-TW" altLang="en-US" dirty="0"/>
              <a:t>的光源將可以同時控制兩偏振。而根據以上實驗的結果，也證明了</a:t>
            </a:r>
            <a:r>
              <a:rPr lang="en-US" altLang="zh-TW" dirty="0"/>
              <a:t>EOPMC</a:t>
            </a:r>
            <a:r>
              <a:rPr lang="zh-TW" altLang="en-US" dirty="0"/>
              <a:t>的作用後，我們進一步量測時間上的分布，透過</a:t>
            </a:r>
            <a:r>
              <a:rPr lang="en-US" altLang="zh-TW" dirty="0"/>
              <a:t>HOM</a:t>
            </a:r>
            <a:r>
              <a:rPr lang="zh-TW" altLang="en-US" dirty="0"/>
              <a:t>干涉實驗來觀察其波形的變化。而前面提到施加電壓產生的</a:t>
            </a:r>
            <a:r>
              <a:rPr lang="en-US" altLang="zh-TW" dirty="0"/>
              <a:t>4</a:t>
            </a:r>
            <a:r>
              <a:rPr lang="zh-TW" altLang="en-US" dirty="0"/>
              <a:t>種量子態，可以利用偏振片挑選出所要觀察的量子態，這邊我們舉例</a:t>
            </a:r>
            <a:r>
              <a:rPr lang="en-US" altLang="zh-TW" dirty="0"/>
              <a:t>HH</a:t>
            </a:r>
            <a:r>
              <a:rPr lang="zh-TW" altLang="en-US" dirty="0"/>
              <a:t>這個</a:t>
            </a:r>
            <a:r>
              <a:rPr lang="en-US" altLang="zh-TW" dirty="0"/>
              <a:t>state</a:t>
            </a:r>
            <a:r>
              <a:rPr lang="zh-TW" altLang="en-US" dirty="0"/>
              <a:t>，使用</a:t>
            </a:r>
            <a:r>
              <a:rPr lang="en-US" altLang="zh-TW" dirty="0"/>
              <a:t>BS</a:t>
            </a:r>
            <a:r>
              <a:rPr lang="zh-TW" altLang="en-US" dirty="0"/>
              <a:t>將其分開後再進行干涉，最後可以得到在加入</a:t>
            </a:r>
            <a:r>
              <a:rPr lang="en-US" altLang="zh-TW" dirty="0"/>
              <a:t>EOPMC</a:t>
            </a:r>
            <a:r>
              <a:rPr lang="zh-TW" altLang="en-US" dirty="0"/>
              <a:t>時</a:t>
            </a:r>
            <a:r>
              <a:rPr lang="en-US" altLang="zh-TW" dirty="0"/>
              <a:t>HOM dip</a:t>
            </a:r>
            <a:r>
              <a:rPr lang="zh-TW" altLang="en-US" dirty="0"/>
              <a:t>的形狀分布，因此我們可以利用這樣的設計，針對不同的量子態去做調製頻譜的應用。</a:t>
            </a:r>
          </a:p>
        </p:txBody>
      </p:sp>
    </p:spTree>
    <p:extLst>
      <p:ext uri="{BB962C8B-B14F-4D97-AF65-F5344CB8AC3E}">
        <p14:creationId xmlns:p14="http://schemas.microsoft.com/office/powerpoint/2010/main" val="21896554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kumimoji="1" lang="zh-TW" altLang="en-US" dirty="0"/>
              <a:t>以上是我的報告，謝謝大家！</a:t>
            </a:r>
          </a:p>
        </p:txBody>
      </p:sp>
    </p:spTree>
    <p:extLst>
      <p:ext uri="{BB962C8B-B14F-4D97-AF65-F5344CB8AC3E}">
        <p14:creationId xmlns:p14="http://schemas.microsoft.com/office/powerpoint/2010/main" val="196968546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kumimoji="1" lang="zh-TW" altLang="en-US" dirty="0"/>
                  <a:t>當加入</a:t>
                </a:r>
                <a:r>
                  <a:rPr kumimoji="1" lang="en-US" altLang="zh-TW" dirty="0"/>
                  <a:t>EOPMC</a:t>
                </a:r>
                <a:r>
                  <a:rPr kumimoji="1" lang="zh-TW" altLang="en-US" dirty="0"/>
                  <a:t>後我們可以得到</a:t>
                </a:r>
                <a:r>
                  <a:rPr kumimoji="1" lang="en-US" altLang="zh-TW" dirty="0"/>
                  <a:t>SPDC</a:t>
                </a:r>
                <a:r>
                  <a:rPr kumimoji="1" lang="zh-TW" altLang="en-US" dirty="0"/>
                  <a:t>的輸出狀態為這樣，由前面提到會出現</a:t>
                </a:r>
                <a:r>
                  <a:rPr kumimoji="1" lang="en-US" altLang="zh-TW" dirty="0"/>
                  <a:t>4</a:t>
                </a:r>
                <a:r>
                  <a:rPr kumimoji="1" lang="zh-TW" altLang="en-US" dirty="0"/>
                  <a:t>種量子態，其分別對應</a:t>
                </a:r>
                <a:r>
                  <a:rPr kumimoji="1" lang="en-US" altLang="zh-TW" dirty="0"/>
                  <a:t>HH, VV, HV</a:t>
                </a:r>
                <a:r>
                  <a:rPr kumimoji="1" lang="zh-TW" altLang="en-US" dirty="0"/>
                  <a:t>以及</a:t>
                </a:r>
                <a:r>
                  <a:rPr kumimoji="1" lang="en-US" altLang="zh-TW" dirty="0"/>
                  <a:t>VH</a:t>
                </a:r>
                <a:r>
                  <a:rPr kumimoji="1" lang="zh-TW" altLang="en-US" dirty="0"/>
                  <a:t>，而這四個</a:t>
                </a:r>
                <a14:m>
                  <m:oMath xmlns:m="http://schemas.openxmlformats.org/officeDocument/2006/math">
                    <m:r>
                      <a:rPr lang="zh-TW" altLang="en-US" sz="1100" smtClean="0">
                        <a:latin typeface="Cambria Math" panose="02040503050406030204" pitchFamily="18" charset="0"/>
                      </a:rPr>
                      <m:t>∆</m:t>
                    </m:r>
                    <m:r>
                      <a:rPr lang="zh-TW" altLang="en-US" sz="1100" i="1">
                        <a:latin typeface="Cambria Math" panose="02040503050406030204" pitchFamily="18" charset="0"/>
                      </a:rPr>
                      <m:t>𝑘</m:t>
                    </m:r>
                  </m:oMath>
                </a14:m>
                <a:r>
                  <a:rPr kumimoji="1" lang="zh-TW" altLang="en-US" dirty="0"/>
                  <a:t>分別為四個框框，其中</a:t>
                </a:r>
                <a:r>
                  <a:rPr kumimoji="1" lang="en-US" altLang="zh-TW" dirty="0"/>
                  <a:t>HV</a:t>
                </a:r>
                <a:r>
                  <a:rPr kumimoji="1" lang="zh-TW" altLang="en-US" dirty="0"/>
                  <a:t>及</a:t>
                </a:r>
                <a:r>
                  <a:rPr kumimoji="1" lang="en-US" altLang="zh-TW" dirty="0"/>
                  <a:t>VH</a:t>
                </a:r>
                <a:r>
                  <a:rPr kumimoji="1" lang="zh-TW" altLang="en-US" dirty="0"/>
                  <a:t>的補償項中，</a:t>
                </a:r>
                <a14:m>
                  <m:oMath xmlns:m="http://schemas.openxmlformats.org/officeDocument/2006/math">
                    <m:sSub>
                      <m:sSubPr>
                        <m:ctrlPr>
                          <a:rPr lang="el-GR" altLang="zh-TW" sz="1100" i="1" smtClean="0">
                            <a:latin typeface="Cambria Math" panose="02040503050406030204" pitchFamily="18" charset="0"/>
                            <a:ea typeface="Cambria Math" panose="02040503050406030204" pitchFamily="18" charset="0"/>
                          </a:rPr>
                        </m:ctrlPr>
                      </m:sSubPr>
                      <m:e>
                        <m:r>
                          <a:rPr lang="zh-TW" altLang="el-GR" sz="1100" i="1">
                            <a:latin typeface="Cambria Math" panose="02040503050406030204" pitchFamily="18" charset="0"/>
                            <a:ea typeface="Cambria Math" panose="02040503050406030204" pitchFamily="18" charset="0"/>
                          </a:rPr>
                          <m:t>𝜏</m:t>
                        </m:r>
                      </m:e>
                      <m:sub>
                        <m:r>
                          <a:rPr lang="en-US" altLang="zh-TW" sz="1100" i="1">
                            <a:latin typeface="Cambria Math" panose="02040503050406030204" pitchFamily="18" charset="0"/>
                            <a:ea typeface="Cambria Math" panose="02040503050406030204" pitchFamily="18" charset="0"/>
                          </a:rPr>
                          <m:t>0</m:t>
                        </m:r>
                      </m:sub>
                    </m:sSub>
                  </m:oMath>
                </a14:m>
                <a:r>
                  <a:rPr kumimoji="1" lang="zh-TW" altLang="en-US" dirty="0"/>
                  <a:t>為兩偏振的速度差，而</a:t>
                </a:r>
                <a:r>
                  <a:rPr kumimoji="1" lang="en-US" altLang="zh-TW" dirty="0"/>
                  <a:t>HH</a:t>
                </a:r>
                <a:r>
                  <a:rPr kumimoji="1" lang="zh-TW" altLang="en-US" dirty="0"/>
                  <a:t>與</a:t>
                </a:r>
                <a:r>
                  <a:rPr kumimoji="1" lang="en-US" altLang="zh-TW" dirty="0"/>
                  <a:t>VV</a:t>
                </a:r>
                <a:r>
                  <a:rPr kumimoji="1" lang="zh-TW" altLang="en-US" dirty="0"/>
                  <a:t>的</a:t>
                </a:r>
                <a14:m>
                  <m:oMath xmlns:m="http://schemas.openxmlformats.org/officeDocument/2006/math">
                    <m:r>
                      <a:rPr lang="zh-TW" altLang="en-US" sz="1100" smtClean="0">
                        <a:latin typeface="Cambria Math" panose="02040503050406030204" pitchFamily="18" charset="0"/>
                      </a:rPr>
                      <m:t>∆</m:t>
                    </m:r>
                    <m:r>
                      <a:rPr lang="zh-TW" altLang="en-US" sz="1100" i="1">
                        <a:latin typeface="Cambria Math" panose="02040503050406030204" pitchFamily="18" charset="0"/>
                      </a:rPr>
                      <m:t>𝑘</m:t>
                    </m:r>
                  </m:oMath>
                </a14:m>
                <a:r>
                  <a:rPr kumimoji="1" lang="zh-TW" altLang="en-US" dirty="0"/>
                  <a:t>跟前者不同，因為這兩者比無相對的速度差，因此其泰勒展開的第一階為</a:t>
                </a:r>
                <a:r>
                  <a:rPr kumimoji="1" lang="en-US" altLang="zh-TW" dirty="0"/>
                  <a:t>0</a:t>
                </a:r>
                <a:r>
                  <a:rPr kumimoji="1" lang="zh-TW" altLang="en-US" dirty="0"/>
                  <a:t>，因此其補償項為第二階，而這兩者就會有類似於</a:t>
                </a:r>
                <a:r>
                  <a:rPr kumimoji="1" lang="en-US" altLang="zh-TW" dirty="0"/>
                  <a:t>type0</a:t>
                </a:r>
                <a:r>
                  <a:rPr kumimoji="1" lang="zh-TW" altLang="en-US" dirty="0"/>
                  <a:t>的寬頻形式。</a:t>
                </a:r>
                <a:endParaRPr kumimoji="1" lang="en-US" altLang="zh-TW" dirty="0"/>
              </a:p>
            </p:txBody>
          </p:sp>
        </mc:Choice>
        <mc:Fallback xmlns="">
          <p:sp>
            <p:nvSpPr>
              <p:cNvPr id="3" name="備忘稿版面配置區 2"/>
              <p:cNvSpPr>
                <a:spLocks noGrp="1"/>
              </p:cNvSpPr>
              <p:nvPr>
                <p:ph type="body" idx="1"/>
              </p:nvPr>
            </p:nvSpPr>
            <p:spPr/>
            <p:txBody>
              <a:bodyPr/>
              <a:lstStyle/>
              <a:p>
                <a:r>
                  <a:rPr kumimoji="1" lang="zh-TW" altLang="en-US" dirty="0"/>
                  <a:t>當加入</a:t>
                </a:r>
                <a:r>
                  <a:rPr kumimoji="1" lang="en-US" altLang="zh-TW" dirty="0"/>
                  <a:t>EOPMC</a:t>
                </a:r>
                <a:r>
                  <a:rPr kumimoji="1" lang="zh-TW" altLang="en-US" dirty="0"/>
                  <a:t>後我們可以得到</a:t>
                </a:r>
                <a:r>
                  <a:rPr kumimoji="1" lang="en-US" altLang="zh-TW" dirty="0"/>
                  <a:t>SPDC</a:t>
                </a:r>
                <a:r>
                  <a:rPr kumimoji="1" lang="zh-TW" altLang="en-US" dirty="0"/>
                  <a:t>的輸出狀態為這樣，由前面提到會出現</a:t>
                </a:r>
                <a:r>
                  <a:rPr kumimoji="1" lang="en-US" altLang="zh-TW" dirty="0"/>
                  <a:t>4</a:t>
                </a:r>
                <a:r>
                  <a:rPr kumimoji="1" lang="zh-TW" altLang="en-US" dirty="0"/>
                  <a:t>種量子態，其分別對應</a:t>
                </a:r>
                <a:r>
                  <a:rPr kumimoji="1" lang="en-US" altLang="zh-TW" dirty="0"/>
                  <a:t>HH, VV, HV</a:t>
                </a:r>
                <a:r>
                  <a:rPr kumimoji="1" lang="zh-TW" altLang="en-US" dirty="0"/>
                  <a:t>以及</a:t>
                </a:r>
                <a:r>
                  <a:rPr kumimoji="1" lang="en-US" altLang="zh-TW" dirty="0"/>
                  <a:t>VH</a:t>
                </a:r>
                <a:r>
                  <a:rPr kumimoji="1" lang="zh-TW" altLang="en-US" dirty="0"/>
                  <a:t>，而這四個</a:t>
                </a:r>
                <a:r>
                  <a:rPr lang="zh-TW" altLang="en-US" sz="1100" i="0">
                    <a:latin typeface="Cambria Math" panose="02040503050406030204" pitchFamily="18" charset="0"/>
                  </a:rPr>
                  <a:t>∆𝑘</a:t>
                </a:r>
                <a:r>
                  <a:rPr kumimoji="1" lang="zh-TW" altLang="en-US" dirty="0"/>
                  <a:t>分別為四個框框，其中</a:t>
                </a:r>
                <a:r>
                  <a:rPr kumimoji="1" lang="en-US" altLang="zh-TW" dirty="0"/>
                  <a:t>HV</a:t>
                </a:r>
                <a:r>
                  <a:rPr kumimoji="1" lang="zh-TW" altLang="en-US" dirty="0"/>
                  <a:t>及</a:t>
                </a:r>
                <a:r>
                  <a:rPr kumimoji="1" lang="en-US" altLang="zh-TW" dirty="0"/>
                  <a:t>VH</a:t>
                </a:r>
                <a:r>
                  <a:rPr kumimoji="1" lang="zh-TW" altLang="en-US" dirty="0"/>
                  <a:t>的補償項中，</a:t>
                </a:r>
                <a:r>
                  <a:rPr lang="zh-TW" altLang="el-GR" sz="1100" i="0">
                    <a:latin typeface="Cambria Math" panose="02040503050406030204" pitchFamily="18" charset="0"/>
                    <a:ea typeface="Cambria Math" panose="02040503050406030204" pitchFamily="18" charset="0"/>
                  </a:rPr>
                  <a:t>𝜏</a:t>
                </a:r>
                <a:r>
                  <a:rPr lang="el-GR" altLang="zh-TW" sz="1100" i="0">
                    <a:latin typeface="Cambria Math" panose="02040503050406030204" pitchFamily="18" charset="0"/>
                    <a:ea typeface="Cambria Math" panose="02040503050406030204" pitchFamily="18" charset="0"/>
                  </a:rPr>
                  <a:t>_</a:t>
                </a:r>
                <a:r>
                  <a:rPr lang="en-US" altLang="zh-TW" sz="1100" i="0">
                    <a:latin typeface="Cambria Math" panose="02040503050406030204" pitchFamily="18" charset="0"/>
                    <a:ea typeface="Cambria Math" panose="02040503050406030204" pitchFamily="18" charset="0"/>
                  </a:rPr>
                  <a:t>0</a:t>
                </a:r>
                <a:r>
                  <a:rPr kumimoji="1" lang="zh-TW" altLang="en-US" dirty="0"/>
                  <a:t>為兩偏振的速度差，而</a:t>
                </a:r>
                <a:r>
                  <a:rPr kumimoji="1" lang="en-US" altLang="zh-TW" dirty="0"/>
                  <a:t>HH</a:t>
                </a:r>
                <a:r>
                  <a:rPr kumimoji="1" lang="zh-TW" altLang="en-US" dirty="0"/>
                  <a:t>與</a:t>
                </a:r>
                <a:r>
                  <a:rPr kumimoji="1" lang="en-US" altLang="zh-TW" dirty="0"/>
                  <a:t>VV</a:t>
                </a:r>
                <a:r>
                  <a:rPr kumimoji="1" lang="zh-TW" altLang="en-US" dirty="0"/>
                  <a:t>的</a:t>
                </a:r>
                <a:r>
                  <a:rPr lang="zh-TW" altLang="en-US" sz="1100" i="0">
                    <a:latin typeface="Cambria Math" panose="02040503050406030204" pitchFamily="18" charset="0"/>
                  </a:rPr>
                  <a:t>∆𝑘</a:t>
                </a:r>
                <a:r>
                  <a:rPr kumimoji="1" lang="zh-TW" altLang="en-US" dirty="0"/>
                  <a:t>跟前者不同，因為這兩者比無相對的速度差，因此其泰勒展開的第一階為</a:t>
                </a:r>
                <a:r>
                  <a:rPr kumimoji="1" lang="en-US" altLang="zh-TW" dirty="0"/>
                  <a:t>0</a:t>
                </a:r>
                <a:r>
                  <a:rPr kumimoji="1" lang="zh-TW" altLang="en-US" dirty="0"/>
                  <a:t>，因此其補償項為第二階，而這兩者就會有類似於</a:t>
                </a:r>
                <a:r>
                  <a:rPr kumimoji="1" lang="en-US" altLang="zh-TW" dirty="0"/>
                  <a:t>type0</a:t>
                </a:r>
                <a:r>
                  <a:rPr kumimoji="1" lang="zh-TW" altLang="en-US" dirty="0"/>
                  <a:t>的寬頻形式。</a:t>
                </a:r>
                <a:endParaRPr kumimoji="1" lang="en-US" altLang="zh-TW" dirty="0"/>
              </a:p>
            </p:txBody>
          </p:sp>
        </mc:Fallback>
      </mc:AlternateContent>
    </p:spTree>
    <p:extLst>
      <p:ext uri="{BB962C8B-B14F-4D97-AF65-F5344CB8AC3E}">
        <p14:creationId xmlns:p14="http://schemas.microsoft.com/office/powerpoint/2010/main" val="275796170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利用</a:t>
            </a:r>
            <a:r>
              <a:rPr lang="en-US" altLang="zh-TW" dirty="0"/>
              <a:t>COMSOL</a:t>
            </a:r>
            <a:r>
              <a:rPr lang="zh-TW" altLang="en-US" dirty="0"/>
              <a:t>進行電極的模擬，左上圖為電極在晶片上的結構示意圖，我們所設計的電極是在波導的地方感受</a:t>
            </a:r>
            <a:r>
              <a:rPr lang="en-US" altLang="zh-TW" dirty="0"/>
              <a:t>Y</a:t>
            </a:r>
            <a:r>
              <a:rPr lang="zh-TW" altLang="en-US" dirty="0"/>
              <a:t>方向上的電場，而我們所設計的</a:t>
            </a:r>
            <a:r>
              <a:rPr lang="en-US" altLang="zh-TW" dirty="0"/>
              <a:t>30V</a:t>
            </a:r>
            <a:r>
              <a:rPr lang="zh-TW" altLang="en-US" dirty="0"/>
              <a:t>為在表面的地方，但實際波導擴散至晶片中時會是一個範圍，所以經過模擬發現，當我需要施加到接近</a:t>
            </a:r>
            <a:r>
              <a:rPr lang="en-US" altLang="zh-TW" dirty="0"/>
              <a:t>60V</a:t>
            </a:r>
            <a:r>
              <a:rPr lang="zh-TW" altLang="en-US" dirty="0"/>
              <a:t>時，才能使波導的地方能完全感受到</a:t>
            </a:r>
            <a:r>
              <a:rPr lang="en-US" altLang="zh-TW" dirty="0"/>
              <a:t>Y</a:t>
            </a:r>
            <a:r>
              <a:rPr lang="zh-TW" altLang="en-US" dirty="0"/>
              <a:t>方向</a:t>
            </a:r>
            <a:r>
              <a:rPr lang="zh-TW" altLang="en-US"/>
              <a:t>的電場。</a:t>
            </a:r>
            <a:endParaRPr lang="zh-TW" altLang="en-US" dirty="0"/>
          </a:p>
        </p:txBody>
      </p:sp>
    </p:spTree>
    <p:extLst>
      <p:ext uri="{BB962C8B-B14F-4D97-AF65-F5344CB8AC3E}">
        <p14:creationId xmlns:p14="http://schemas.microsoft.com/office/powerpoint/2010/main" val="2978932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999653" y="3418794"/>
            <a:ext cx="5144700" cy="861300"/>
          </a:xfrm>
          <a:prstGeom prst="rect">
            <a:avLst/>
          </a:prstGeom>
        </p:spPr>
        <p:txBody>
          <a:bodyPr spcFirstLastPara="1" wrap="square" lIns="91425" tIns="91425" rIns="91425" bIns="91425" anchor="b" anchorCtr="0">
            <a:noAutofit/>
          </a:bodyPr>
          <a:lstStyle>
            <a:lvl1pPr lvl="0" rtl="0">
              <a:lnSpc>
                <a:spcPct val="75000"/>
              </a:lnSpc>
              <a:spcBef>
                <a:spcPts val="0"/>
              </a:spcBef>
              <a:spcAft>
                <a:spcPts val="0"/>
              </a:spcAft>
              <a:buSzPts val="4800"/>
              <a:buNone/>
              <a:defRPr sz="4800" b="0"/>
            </a:lvl1pPr>
            <a:lvl2pPr lvl="1" algn="ctr" rtl="0">
              <a:spcBef>
                <a:spcPts val="0"/>
              </a:spcBef>
              <a:spcAft>
                <a:spcPts val="0"/>
              </a:spcAft>
              <a:buSzPts val="4800"/>
              <a:buFont typeface="Merriweather"/>
              <a:buNone/>
              <a:defRPr sz="4800" b="1">
                <a:latin typeface="Merriweather"/>
                <a:ea typeface="Merriweather"/>
                <a:cs typeface="Merriweather"/>
                <a:sym typeface="Merriweather"/>
              </a:defRPr>
            </a:lvl2pPr>
            <a:lvl3pPr lvl="2" algn="ctr" rtl="0">
              <a:spcBef>
                <a:spcPts val="0"/>
              </a:spcBef>
              <a:spcAft>
                <a:spcPts val="0"/>
              </a:spcAft>
              <a:buSzPts val="4800"/>
              <a:buFont typeface="Merriweather"/>
              <a:buNone/>
              <a:defRPr sz="4800" b="1">
                <a:latin typeface="Merriweather"/>
                <a:ea typeface="Merriweather"/>
                <a:cs typeface="Merriweather"/>
                <a:sym typeface="Merriweather"/>
              </a:defRPr>
            </a:lvl3pPr>
            <a:lvl4pPr lvl="3" algn="ctr" rtl="0">
              <a:spcBef>
                <a:spcPts val="0"/>
              </a:spcBef>
              <a:spcAft>
                <a:spcPts val="0"/>
              </a:spcAft>
              <a:buSzPts val="4800"/>
              <a:buFont typeface="Merriweather"/>
              <a:buNone/>
              <a:defRPr sz="4800" b="1">
                <a:latin typeface="Merriweather"/>
                <a:ea typeface="Merriweather"/>
                <a:cs typeface="Merriweather"/>
                <a:sym typeface="Merriweather"/>
              </a:defRPr>
            </a:lvl4pPr>
            <a:lvl5pPr lvl="4" algn="ctr" rtl="0">
              <a:spcBef>
                <a:spcPts val="0"/>
              </a:spcBef>
              <a:spcAft>
                <a:spcPts val="0"/>
              </a:spcAft>
              <a:buSzPts val="4800"/>
              <a:buFont typeface="Merriweather"/>
              <a:buNone/>
              <a:defRPr sz="4800" b="1">
                <a:latin typeface="Merriweather"/>
                <a:ea typeface="Merriweather"/>
                <a:cs typeface="Merriweather"/>
                <a:sym typeface="Merriweather"/>
              </a:defRPr>
            </a:lvl5pPr>
            <a:lvl6pPr lvl="5" algn="ctr" rtl="0">
              <a:spcBef>
                <a:spcPts val="0"/>
              </a:spcBef>
              <a:spcAft>
                <a:spcPts val="0"/>
              </a:spcAft>
              <a:buSzPts val="4800"/>
              <a:buFont typeface="Merriweather"/>
              <a:buNone/>
              <a:defRPr sz="4800" b="1">
                <a:latin typeface="Merriweather"/>
                <a:ea typeface="Merriweather"/>
                <a:cs typeface="Merriweather"/>
                <a:sym typeface="Merriweather"/>
              </a:defRPr>
            </a:lvl6pPr>
            <a:lvl7pPr lvl="6" algn="ctr" rtl="0">
              <a:spcBef>
                <a:spcPts val="0"/>
              </a:spcBef>
              <a:spcAft>
                <a:spcPts val="0"/>
              </a:spcAft>
              <a:buSzPts val="4800"/>
              <a:buFont typeface="Merriweather"/>
              <a:buNone/>
              <a:defRPr sz="4800" b="1">
                <a:latin typeface="Merriweather"/>
                <a:ea typeface="Merriweather"/>
                <a:cs typeface="Merriweather"/>
                <a:sym typeface="Merriweather"/>
              </a:defRPr>
            </a:lvl7pPr>
            <a:lvl8pPr lvl="7" algn="ctr" rtl="0">
              <a:spcBef>
                <a:spcPts val="0"/>
              </a:spcBef>
              <a:spcAft>
                <a:spcPts val="0"/>
              </a:spcAft>
              <a:buSzPts val="4800"/>
              <a:buFont typeface="Merriweather"/>
              <a:buNone/>
              <a:defRPr sz="4800" b="1">
                <a:latin typeface="Merriweather"/>
                <a:ea typeface="Merriweather"/>
                <a:cs typeface="Merriweather"/>
                <a:sym typeface="Merriweather"/>
              </a:defRPr>
            </a:lvl8pPr>
            <a:lvl9pPr lvl="8" algn="ctr" rtl="0">
              <a:spcBef>
                <a:spcPts val="0"/>
              </a:spcBef>
              <a:spcAft>
                <a:spcPts val="0"/>
              </a:spcAft>
              <a:buSzPts val="4800"/>
              <a:buFont typeface="Merriweather"/>
              <a:buNone/>
              <a:defRPr sz="4800" b="1">
                <a:latin typeface="Merriweather"/>
                <a:ea typeface="Merriweather"/>
                <a:cs typeface="Merriweather"/>
                <a:sym typeface="Merriweather"/>
              </a:defRPr>
            </a:lvl9pPr>
          </a:lstStyle>
          <a:p>
            <a:endParaRPr/>
          </a:p>
        </p:txBody>
      </p:sp>
      <p:sp>
        <p:nvSpPr>
          <p:cNvPr id="10" name="Google Shape;10;p2"/>
          <p:cNvSpPr txBox="1">
            <a:spLocks noGrp="1"/>
          </p:cNvSpPr>
          <p:nvPr>
            <p:ph type="subTitle" idx="1"/>
          </p:nvPr>
        </p:nvSpPr>
        <p:spPr>
          <a:xfrm>
            <a:off x="2021403" y="4203894"/>
            <a:ext cx="5101200" cy="43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800"/>
              <a:buNone/>
              <a:defRPr sz="1800"/>
            </a:lvl1pPr>
            <a:lvl2pPr lvl="1" algn="ctr" rtl="0">
              <a:lnSpc>
                <a:spcPct val="100000"/>
              </a:lnSpc>
              <a:spcBef>
                <a:spcPts val="0"/>
              </a:spcBef>
              <a:spcAft>
                <a:spcPts val="0"/>
              </a:spcAft>
              <a:buClr>
                <a:srgbClr val="FFFFFF"/>
              </a:buClr>
              <a:buSzPts val="2800"/>
              <a:buNone/>
              <a:defRPr sz="2800" b="1">
                <a:solidFill>
                  <a:srgbClr val="FFFFFF"/>
                </a:solidFill>
              </a:defRPr>
            </a:lvl2pPr>
            <a:lvl3pPr lvl="2" algn="ctr" rtl="0">
              <a:lnSpc>
                <a:spcPct val="100000"/>
              </a:lnSpc>
              <a:spcBef>
                <a:spcPts val="0"/>
              </a:spcBef>
              <a:spcAft>
                <a:spcPts val="0"/>
              </a:spcAft>
              <a:buClr>
                <a:srgbClr val="FFFFFF"/>
              </a:buClr>
              <a:buSzPts val="2800"/>
              <a:buNone/>
              <a:defRPr sz="2800" b="1">
                <a:solidFill>
                  <a:srgbClr val="FFFFFF"/>
                </a:solidFill>
              </a:defRPr>
            </a:lvl3pPr>
            <a:lvl4pPr lvl="3" algn="ctr" rtl="0">
              <a:lnSpc>
                <a:spcPct val="100000"/>
              </a:lnSpc>
              <a:spcBef>
                <a:spcPts val="0"/>
              </a:spcBef>
              <a:spcAft>
                <a:spcPts val="0"/>
              </a:spcAft>
              <a:buClr>
                <a:srgbClr val="FFFFFF"/>
              </a:buClr>
              <a:buSzPts val="2800"/>
              <a:buNone/>
              <a:defRPr sz="2800" b="1">
                <a:solidFill>
                  <a:srgbClr val="FFFFFF"/>
                </a:solidFill>
              </a:defRPr>
            </a:lvl4pPr>
            <a:lvl5pPr lvl="4" algn="ctr" rtl="0">
              <a:lnSpc>
                <a:spcPct val="100000"/>
              </a:lnSpc>
              <a:spcBef>
                <a:spcPts val="0"/>
              </a:spcBef>
              <a:spcAft>
                <a:spcPts val="0"/>
              </a:spcAft>
              <a:buClr>
                <a:srgbClr val="FFFFFF"/>
              </a:buClr>
              <a:buSzPts val="2800"/>
              <a:buNone/>
              <a:defRPr sz="2800" b="1">
                <a:solidFill>
                  <a:srgbClr val="FFFFFF"/>
                </a:solidFill>
              </a:defRPr>
            </a:lvl5pPr>
            <a:lvl6pPr lvl="5" algn="ctr" rtl="0">
              <a:lnSpc>
                <a:spcPct val="100000"/>
              </a:lnSpc>
              <a:spcBef>
                <a:spcPts val="0"/>
              </a:spcBef>
              <a:spcAft>
                <a:spcPts val="0"/>
              </a:spcAft>
              <a:buClr>
                <a:srgbClr val="FFFFFF"/>
              </a:buClr>
              <a:buSzPts val="2800"/>
              <a:buNone/>
              <a:defRPr sz="2800" b="1">
                <a:solidFill>
                  <a:srgbClr val="FFFFFF"/>
                </a:solidFill>
              </a:defRPr>
            </a:lvl6pPr>
            <a:lvl7pPr lvl="6" algn="ctr" rtl="0">
              <a:lnSpc>
                <a:spcPct val="100000"/>
              </a:lnSpc>
              <a:spcBef>
                <a:spcPts val="0"/>
              </a:spcBef>
              <a:spcAft>
                <a:spcPts val="0"/>
              </a:spcAft>
              <a:buClr>
                <a:srgbClr val="FFFFFF"/>
              </a:buClr>
              <a:buSzPts val="2800"/>
              <a:buNone/>
              <a:defRPr sz="2800" b="1">
                <a:solidFill>
                  <a:srgbClr val="FFFFFF"/>
                </a:solidFill>
              </a:defRPr>
            </a:lvl7pPr>
            <a:lvl8pPr lvl="7" algn="ctr" rtl="0">
              <a:lnSpc>
                <a:spcPct val="100000"/>
              </a:lnSpc>
              <a:spcBef>
                <a:spcPts val="0"/>
              </a:spcBef>
              <a:spcAft>
                <a:spcPts val="0"/>
              </a:spcAft>
              <a:buClr>
                <a:srgbClr val="FFFFFF"/>
              </a:buClr>
              <a:buSzPts val="2800"/>
              <a:buNone/>
              <a:defRPr sz="2800" b="1">
                <a:solidFill>
                  <a:srgbClr val="FFFFFF"/>
                </a:solidFill>
              </a:defRPr>
            </a:lvl8pPr>
            <a:lvl9pPr lvl="8" algn="ctr" rtl="0">
              <a:lnSpc>
                <a:spcPct val="100000"/>
              </a:lnSpc>
              <a:spcBef>
                <a:spcPts val="0"/>
              </a:spcBef>
              <a:spcAft>
                <a:spcPts val="0"/>
              </a:spcAft>
              <a:buClr>
                <a:srgbClr val="FFFFFF"/>
              </a:buClr>
              <a:buSzPts val="2800"/>
              <a:buNone/>
              <a:defRPr sz="2800" b="1">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3714925" y="1729950"/>
            <a:ext cx="4120500" cy="841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8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0" name="Google Shape;50;p9"/>
          <p:cNvSpPr txBox="1">
            <a:spLocks noGrp="1"/>
          </p:cNvSpPr>
          <p:nvPr>
            <p:ph type="title" idx="2" hasCustomPrompt="1"/>
          </p:nvPr>
        </p:nvSpPr>
        <p:spPr>
          <a:xfrm>
            <a:off x="2600425" y="1729950"/>
            <a:ext cx="11145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grpSp>
        <p:nvGrpSpPr>
          <p:cNvPr id="51" name="Google Shape;51;p9"/>
          <p:cNvGrpSpPr/>
          <p:nvPr/>
        </p:nvGrpSpPr>
        <p:grpSpPr>
          <a:xfrm>
            <a:off x="285743" y="674224"/>
            <a:ext cx="3661127" cy="2880662"/>
            <a:chOff x="557516" y="1342598"/>
            <a:chExt cx="816997" cy="642833"/>
          </a:xfrm>
        </p:grpSpPr>
        <p:sp>
          <p:nvSpPr>
            <p:cNvPr id="52" name="Google Shape;52;p9"/>
            <p:cNvSpPr/>
            <p:nvPr/>
          </p:nvSpPr>
          <p:spPr>
            <a:xfrm>
              <a:off x="557516" y="1717134"/>
              <a:ext cx="422406" cy="80221"/>
            </a:xfrm>
            <a:custGeom>
              <a:avLst/>
              <a:gdLst/>
              <a:ahLst/>
              <a:cxnLst/>
              <a:rect l="l" t="t" r="r" b="b"/>
              <a:pathLst>
                <a:path w="9141" h="1736" extrusionOk="0">
                  <a:moveTo>
                    <a:pt x="9107" y="1569"/>
                  </a:moveTo>
                  <a:cubicBezTo>
                    <a:pt x="8540" y="1302"/>
                    <a:pt x="8006" y="1168"/>
                    <a:pt x="7439" y="1035"/>
                  </a:cubicBezTo>
                  <a:cubicBezTo>
                    <a:pt x="6639" y="868"/>
                    <a:pt x="5938" y="1035"/>
                    <a:pt x="5304" y="1502"/>
                  </a:cubicBezTo>
                  <a:cubicBezTo>
                    <a:pt x="4971" y="1736"/>
                    <a:pt x="4704" y="1736"/>
                    <a:pt x="4437" y="1535"/>
                  </a:cubicBezTo>
                  <a:cubicBezTo>
                    <a:pt x="4104" y="1335"/>
                    <a:pt x="3703" y="1168"/>
                    <a:pt x="3336" y="1035"/>
                  </a:cubicBezTo>
                  <a:cubicBezTo>
                    <a:pt x="2469" y="668"/>
                    <a:pt x="1568" y="701"/>
                    <a:pt x="768" y="1135"/>
                  </a:cubicBezTo>
                  <a:cubicBezTo>
                    <a:pt x="534" y="1202"/>
                    <a:pt x="334" y="1369"/>
                    <a:pt x="67" y="1369"/>
                  </a:cubicBezTo>
                  <a:cubicBezTo>
                    <a:pt x="1" y="1168"/>
                    <a:pt x="167" y="1035"/>
                    <a:pt x="234" y="968"/>
                  </a:cubicBezTo>
                  <a:cubicBezTo>
                    <a:pt x="968" y="301"/>
                    <a:pt x="1802" y="1"/>
                    <a:pt x="2736" y="201"/>
                  </a:cubicBezTo>
                  <a:cubicBezTo>
                    <a:pt x="3336" y="335"/>
                    <a:pt x="3870" y="501"/>
                    <a:pt x="4370" y="868"/>
                  </a:cubicBezTo>
                  <a:cubicBezTo>
                    <a:pt x="4637" y="1068"/>
                    <a:pt x="4804" y="1035"/>
                    <a:pt x="5038" y="868"/>
                  </a:cubicBezTo>
                  <a:cubicBezTo>
                    <a:pt x="5505" y="568"/>
                    <a:pt x="6005" y="435"/>
                    <a:pt x="6539" y="335"/>
                  </a:cubicBezTo>
                  <a:cubicBezTo>
                    <a:pt x="7639" y="134"/>
                    <a:pt x="8373" y="635"/>
                    <a:pt x="9040" y="1402"/>
                  </a:cubicBezTo>
                  <a:cubicBezTo>
                    <a:pt x="9140" y="1402"/>
                    <a:pt x="9107" y="1502"/>
                    <a:pt x="9107" y="15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9"/>
            <p:cNvSpPr/>
            <p:nvPr/>
          </p:nvSpPr>
          <p:spPr>
            <a:xfrm>
              <a:off x="1049241" y="1342598"/>
              <a:ext cx="325272" cy="120238"/>
            </a:xfrm>
            <a:custGeom>
              <a:avLst/>
              <a:gdLst/>
              <a:ahLst/>
              <a:cxnLst/>
              <a:rect l="l" t="t" r="r" b="b"/>
              <a:pathLst>
                <a:path w="7039" h="2602" extrusionOk="0">
                  <a:moveTo>
                    <a:pt x="1" y="334"/>
                  </a:moveTo>
                  <a:cubicBezTo>
                    <a:pt x="534" y="0"/>
                    <a:pt x="1068" y="100"/>
                    <a:pt x="1568" y="234"/>
                  </a:cubicBezTo>
                  <a:cubicBezTo>
                    <a:pt x="2202" y="400"/>
                    <a:pt x="2769" y="601"/>
                    <a:pt x="3203" y="1134"/>
                  </a:cubicBezTo>
                  <a:cubicBezTo>
                    <a:pt x="3403" y="1401"/>
                    <a:pt x="3570" y="1401"/>
                    <a:pt x="3870" y="1234"/>
                  </a:cubicBezTo>
                  <a:cubicBezTo>
                    <a:pt x="4671" y="734"/>
                    <a:pt x="5504" y="801"/>
                    <a:pt x="6338" y="1068"/>
                  </a:cubicBezTo>
                  <a:cubicBezTo>
                    <a:pt x="6739" y="1168"/>
                    <a:pt x="6872" y="1334"/>
                    <a:pt x="7039" y="1801"/>
                  </a:cubicBezTo>
                  <a:cubicBezTo>
                    <a:pt x="6672" y="1935"/>
                    <a:pt x="6305" y="1801"/>
                    <a:pt x="5971" y="1768"/>
                  </a:cubicBezTo>
                  <a:cubicBezTo>
                    <a:pt x="5204" y="1668"/>
                    <a:pt x="4470" y="1635"/>
                    <a:pt x="3870" y="2302"/>
                  </a:cubicBezTo>
                  <a:cubicBezTo>
                    <a:pt x="3636" y="2602"/>
                    <a:pt x="3370" y="2569"/>
                    <a:pt x="3069" y="2268"/>
                  </a:cubicBezTo>
                  <a:cubicBezTo>
                    <a:pt x="3003" y="2168"/>
                    <a:pt x="2869" y="2068"/>
                    <a:pt x="2836" y="1935"/>
                  </a:cubicBezTo>
                  <a:cubicBezTo>
                    <a:pt x="2336" y="1134"/>
                    <a:pt x="1568" y="767"/>
                    <a:pt x="701" y="567"/>
                  </a:cubicBezTo>
                  <a:cubicBezTo>
                    <a:pt x="468" y="567"/>
                    <a:pt x="201" y="567"/>
                    <a:pt x="1" y="33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9"/>
            <p:cNvSpPr/>
            <p:nvPr/>
          </p:nvSpPr>
          <p:spPr>
            <a:xfrm>
              <a:off x="1075442" y="1923694"/>
              <a:ext cx="235902" cy="61737"/>
            </a:xfrm>
            <a:custGeom>
              <a:avLst/>
              <a:gdLst/>
              <a:ahLst/>
              <a:cxnLst/>
              <a:rect l="l" t="t" r="r" b="b"/>
              <a:pathLst>
                <a:path w="5105" h="1336" extrusionOk="0">
                  <a:moveTo>
                    <a:pt x="1" y="1335"/>
                  </a:moveTo>
                  <a:cubicBezTo>
                    <a:pt x="434" y="368"/>
                    <a:pt x="1101" y="68"/>
                    <a:pt x="1969" y="334"/>
                  </a:cubicBezTo>
                  <a:cubicBezTo>
                    <a:pt x="2069" y="368"/>
                    <a:pt x="2169" y="368"/>
                    <a:pt x="2236" y="401"/>
                  </a:cubicBezTo>
                  <a:cubicBezTo>
                    <a:pt x="2636" y="701"/>
                    <a:pt x="3003" y="568"/>
                    <a:pt x="3470" y="368"/>
                  </a:cubicBezTo>
                  <a:cubicBezTo>
                    <a:pt x="4003" y="68"/>
                    <a:pt x="4537" y="1"/>
                    <a:pt x="5104" y="401"/>
                  </a:cubicBezTo>
                  <a:cubicBezTo>
                    <a:pt x="5004" y="568"/>
                    <a:pt x="4904" y="535"/>
                    <a:pt x="4771" y="535"/>
                  </a:cubicBezTo>
                  <a:cubicBezTo>
                    <a:pt x="4170" y="434"/>
                    <a:pt x="3670" y="668"/>
                    <a:pt x="3236" y="935"/>
                  </a:cubicBezTo>
                  <a:cubicBezTo>
                    <a:pt x="2969" y="1102"/>
                    <a:pt x="2769" y="1168"/>
                    <a:pt x="2502" y="1035"/>
                  </a:cubicBezTo>
                  <a:cubicBezTo>
                    <a:pt x="1735" y="601"/>
                    <a:pt x="935" y="601"/>
                    <a:pt x="267" y="1268"/>
                  </a:cubicBezTo>
                  <a:cubicBezTo>
                    <a:pt x="234" y="1302"/>
                    <a:pt x="167" y="1302"/>
                    <a:pt x="134" y="13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9"/>
          <p:cNvGrpSpPr/>
          <p:nvPr/>
        </p:nvGrpSpPr>
        <p:grpSpPr>
          <a:xfrm>
            <a:off x="5029193" y="1931524"/>
            <a:ext cx="3661127" cy="2880662"/>
            <a:chOff x="557516" y="1342598"/>
            <a:chExt cx="816997" cy="642833"/>
          </a:xfrm>
        </p:grpSpPr>
        <p:sp>
          <p:nvSpPr>
            <p:cNvPr id="56" name="Google Shape;56;p9"/>
            <p:cNvSpPr/>
            <p:nvPr/>
          </p:nvSpPr>
          <p:spPr>
            <a:xfrm>
              <a:off x="557516" y="1717134"/>
              <a:ext cx="422406" cy="80221"/>
            </a:xfrm>
            <a:custGeom>
              <a:avLst/>
              <a:gdLst/>
              <a:ahLst/>
              <a:cxnLst/>
              <a:rect l="l" t="t" r="r" b="b"/>
              <a:pathLst>
                <a:path w="9141" h="1736" extrusionOk="0">
                  <a:moveTo>
                    <a:pt x="9107" y="1569"/>
                  </a:moveTo>
                  <a:cubicBezTo>
                    <a:pt x="8540" y="1302"/>
                    <a:pt x="8006" y="1168"/>
                    <a:pt x="7439" y="1035"/>
                  </a:cubicBezTo>
                  <a:cubicBezTo>
                    <a:pt x="6639" y="868"/>
                    <a:pt x="5938" y="1035"/>
                    <a:pt x="5304" y="1502"/>
                  </a:cubicBezTo>
                  <a:cubicBezTo>
                    <a:pt x="4971" y="1736"/>
                    <a:pt x="4704" y="1736"/>
                    <a:pt x="4437" y="1535"/>
                  </a:cubicBezTo>
                  <a:cubicBezTo>
                    <a:pt x="4104" y="1335"/>
                    <a:pt x="3703" y="1168"/>
                    <a:pt x="3336" y="1035"/>
                  </a:cubicBezTo>
                  <a:cubicBezTo>
                    <a:pt x="2469" y="668"/>
                    <a:pt x="1568" y="701"/>
                    <a:pt x="768" y="1135"/>
                  </a:cubicBezTo>
                  <a:cubicBezTo>
                    <a:pt x="534" y="1202"/>
                    <a:pt x="334" y="1369"/>
                    <a:pt x="67" y="1369"/>
                  </a:cubicBezTo>
                  <a:cubicBezTo>
                    <a:pt x="1" y="1168"/>
                    <a:pt x="167" y="1035"/>
                    <a:pt x="234" y="968"/>
                  </a:cubicBezTo>
                  <a:cubicBezTo>
                    <a:pt x="968" y="301"/>
                    <a:pt x="1802" y="1"/>
                    <a:pt x="2736" y="201"/>
                  </a:cubicBezTo>
                  <a:cubicBezTo>
                    <a:pt x="3336" y="335"/>
                    <a:pt x="3870" y="501"/>
                    <a:pt x="4370" y="868"/>
                  </a:cubicBezTo>
                  <a:cubicBezTo>
                    <a:pt x="4637" y="1068"/>
                    <a:pt x="4804" y="1035"/>
                    <a:pt x="5038" y="868"/>
                  </a:cubicBezTo>
                  <a:cubicBezTo>
                    <a:pt x="5505" y="568"/>
                    <a:pt x="6005" y="435"/>
                    <a:pt x="6539" y="335"/>
                  </a:cubicBezTo>
                  <a:cubicBezTo>
                    <a:pt x="7639" y="134"/>
                    <a:pt x="8373" y="635"/>
                    <a:pt x="9040" y="1402"/>
                  </a:cubicBezTo>
                  <a:cubicBezTo>
                    <a:pt x="9140" y="1402"/>
                    <a:pt x="9107" y="1502"/>
                    <a:pt x="9107" y="15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p:nvPr/>
          </p:nvSpPr>
          <p:spPr>
            <a:xfrm>
              <a:off x="1049241" y="1342598"/>
              <a:ext cx="325272" cy="120238"/>
            </a:xfrm>
            <a:custGeom>
              <a:avLst/>
              <a:gdLst/>
              <a:ahLst/>
              <a:cxnLst/>
              <a:rect l="l" t="t" r="r" b="b"/>
              <a:pathLst>
                <a:path w="7039" h="2602" extrusionOk="0">
                  <a:moveTo>
                    <a:pt x="1" y="334"/>
                  </a:moveTo>
                  <a:cubicBezTo>
                    <a:pt x="534" y="0"/>
                    <a:pt x="1068" y="100"/>
                    <a:pt x="1568" y="234"/>
                  </a:cubicBezTo>
                  <a:cubicBezTo>
                    <a:pt x="2202" y="400"/>
                    <a:pt x="2769" y="601"/>
                    <a:pt x="3203" y="1134"/>
                  </a:cubicBezTo>
                  <a:cubicBezTo>
                    <a:pt x="3403" y="1401"/>
                    <a:pt x="3570" y="1401"/>
                    <a:pt x="3870" y="1234"/>
                  </a:cubicBezTo>
                  <a:cubicBezTo>
                    <a:pt x="4671" y="734"/>
                    <a:pt x="5504" y="801"/>
                    <a:pt x="6338" y="1068"/>
                  </a:cubicBezTo>
                  <a:cubicBezTo>
                    <a:pt x="6739" y="1168"/>
                    <a:pt x="6872" y="1334"/>
                    <a:pt x="7039" y="1801"/>
                  </a:cubicBezTo>
                  <a:cubicBezTo>
                    <a:pt x="6672" y="1935"/>
                    <a:pt x="6305" y="1801"/>
                    <a:pt x="5971" y="1768"/>
                  </a:cubicBezTo>
                  <a:cubicBezTo>
                    <a:pt x="5204" y="1668"/>
                    <a:pt x="4470" y="1635"/>
                    <a:pt x="3870" y="2302"/>
                  </a:cubicBezTo>
                  <a:cubicBezTo>
                    <a:pt x="3636" y="2602"/>
                    <a:pt x="3370" y="2569"/>
                    <a:pt x="3069" y="2268"/>
                  </a:cubicBezTo>
                  <a:cubicBezTo>
                    <a:pt x="3003" y="2168"/>
                    <a:pt x="2869" y="2068"/>
                    <a:pt x="2836" y="1935"/>
                  </a:cubicBezTo>
                  <a:cubicBezTo>
                    <a:pt x="2336" y="1134"/>
                    <a:pt x="1568" y="767"/>
                    <a:pt x="701" y="567"/>
                  </a:cubicBezTo>
                  <a:cubicBezTo>
                    <a:pt x="468" y="567"/>
                    <a:pt x="201" y="567"/>
                    <a:pt x="1" y="33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a:off x="1075442" y="1923694"/>
              <a:ext cx="235902" cy="61737"/>
            </a:xfrm>
            <a:custGeom>
              <a:avLst/>
              <a:gdLst/>
              <a:ahLst/>
              <a:cxnLst/>
              <a:rect l="l" t="t" r="r" b="b"/>
              <a:pathLst>
                <a:path w="5105" h="1336" extrusionOk="0">
                  <a:moveTo>
                    <a:pt x="1" y="1335"/>
                  </a:moveTo>
                  <a:cubicBezTo>
                    <a:pt x="434" y="368"/>
                    <a:pt x="1101" y="68"/>
                    <a:pt x="1969" y="334"/>
                  </a:cubicBezTo>
                  <a:cubicBezTo>
                    <a:pt x="2069" y="368"/>
                    <a:pt x="2169" y="368"/>
                    <a:pt x="2236" y="401"/>
                  </a:cubicBezTo>
                  <a:cubicBezTo>
                    <a:pt x="2636" y="701"/>
                    <a:pt x="3003" y="568"/>
                    <a:pt x="3470" y="368"/>
                  </a:cubicBezTo>
                  <a:cubicBezTo>
                    <a:pt x="4003" y="68"/>
                    <a:pt x="4537" y="1"/>
                    <a:pt x="5104" y="401"/>
                  </a:cubicBezTo>
                  <a:cubicBezTo>
                    <a:pt x="5004" y="568"/>
                    <a:pt x="4904" y="535"/>
                    <a:pt x="4771" y="535"/>
                  </a:cubicBezTo>
                  <a:cubicBezTo>
                    <a:pt x="4170" y="434"/>
                    <a:pt x="3670" y="668"/>
                    <a:pt x="3236" y="935"/>
                  </a:cubicBezTo>
                  <a:cubicBezTo>
                    <a:pt x="2969" y="1102"/>
                    <a:pt x="2769" y="1168"/>
                    <a:pt x="2502" y="1035"/>
                  </a:cubicBezTo>
                  <a:cubicBezTo>
                    <a:pt x="1735" y="601"/>
                    <a:pt x="935" y="601"/>
                    <a:pt x="267" y="1268"/>
                  </a:cubicBezTo>
                  <a:cubicBezTo>
                    <a:pt x="234" y="1302"/>
                    <a:pt x="167" y="1302"/>
                    <a:pt x="134" y="13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1885425" y="539496"/>
            <a:ext cx="5371500" cy="478200"/>
          </a:xfrm>
          <a:prstGeom prst="rect">
            <a:avLst/>
          </a:prstGeom>
        </p:spPr>
        <p:txBody>
          <a:bodyPr spcFirstLastPara="1" wrap="square" lIns="91425" tIns="91425" rIns="91425" bIns="91425" anchor="t" anchorCtr="0">
            <a:noAutofit/>
          </a:bodyPr>
          <a:lstStyle>
            <a:lvl1pPr lvl="0">
              <a:spcBef>
                <a:spcPts val="0"/>
              </a:spcBef>
              <a:spcAft>
                <a:spcPts val="0"/>
              </a:spcAft>
              <a:buNone/>
              <a:defRPr sz="30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67" name="Google Shape;67;p13"/>
          <p:cNvSpPr txBox="1">
            <a:spLocks noGrp="1"/>
          </p:cNvSpPr>
          <p:nvPr>
            <p:ph type="subTitle" idx="1"/>
          </p:nvPr>
        </p:nvSpPr>
        <p:spPr>
          <a:xfrm>
            <a:off x="1277338" y="1880798"/>
            <a:ext cx="2685000" cy="404100"/>
          </a:xfrm>
          <a:prstGeom prst="rect">
            <a:avLst/>
          </a:prstGeom>
        </p:spPr>
        <p:txBody>
          <a:bodyPr spcFirstLastPara="1" wrap="square" lIns="91425" tIns="91425" rIns="91425" bIns="91425" anchor="t" anchorCtr="0">
            <a:noAutofit/>
          </a:bodyPr>
          <a:lstStyle>
            <a:lvl1pPr lvl="0" algn="ctr">
              <a:spcBef>
                <a:spcPts val="0"/>
              </a:spcBef>
              <a:spcAft>
                <a:spcPts val="0"/>
              </a:spcAft>
              <a:buSzPts val="1800"/>
              <a:buNone/>
              <a:defRPr sz="1800" b="1"/>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68" name="Google Shape;68;p13"/>
          <p:cNvSpPr txBox="1">
            <a:spLocks noGrp="1"/>
          </p:cNvSpPr>
          <p:nvPr>
            <p:ph type="subTitle" idx="2"/>
          </p:nvPr>
        </p:nvSpPr>
        <p:spPr>
          <a:xfrm>
            <a:off x="5181677" y="1880798"/>
            <a:ext cx="2685000" cy="40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b="1"/>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69" name="Google Shape;69;p13"/>
          <p:cNvSpPr txBox="1">
            <a:spLocks noGrp="1"/>
          </p:cNvSpPr>
          <p:nvPr>
            <p:ph type="subTitle" idx="3"/>
          </p:nvPr>
        </p:nvSpPr>
        <p:spPr>
          <a:xfrm>
            <a:off x="1277338" y="3716398"/>
            <a:ext cx="2685000" cy="40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b="1"/>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0" name="Google Shape;70;p13"/>
          <p:cNvSpPr txBox="1">
            <a:spLocks noGrp="1"/>
          </p:cNvSpPr>
          <p:nvPr>
            <p:ph type="subTitle" idx="4"/>
          </p:nvPr>
        </p:nvSpPr>
        <p:spPr>
          <a:xfrm>
            <a:off x="5181677" y="3716398"/>
            <a:ext cx="2685000" cy="40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b="1"/>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1" name="Google Shape;71;p13"/>
          <p:cNvSpPr txBox="1">
            <a:spLocks noGrp="1"/>
          </p:cNvSpPr>
          <p:nvPr>
            <p:ph type="subTitle" idx="5"/>
          </p:nvPr>
        </p:nvSpPr>
        <p:spPr>
          <a:xfrm>
            <a:off x="1277329" y="2288110"/>
            <a:ext cx="26850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2" name="Google Shape;72;p13"/>
          <p:cNvSpPr txBox="1">
            <a:spLocks noGrp="1"/>
          </p:cNvSpPr>
          <p:nvPr>
            <p:ph type="subTitle" idx="6"/>
          </p:nvPr>
        </p:nvSpPr>
        <p:spPr>
          <a:xfrm>
            <a:off x="5181677" y="2288109"/>
            <a:ext cx="26850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3" name="Google Shape;73;p13"/>
          <p:cNvSpPr txBox="1">
            <a:spLocks noGrp="1"/>
          </p:cNvSpPr>
          <p:nvPr>
            <p:ph type="subTitle" idx="7"/>
          </p:nvPr>
        </p:nvSpPr>
        <p:spPr>
          <a:xfrm>
            <a:off x="1277338" y="4123709"/>
            <a:ext cx="26850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4" name="Google Shape;74;p13"/>
          <p:cNvSpPr txBox="1">
            <a:spLocks noGrp="1"/>
          </p:cNvSpPr>
          <p:nvPr>
            <p:ph type="subTitle" idx="8"/>
          </p:nvPr>
        </p:nvSpPr>
        <p:spPr>
          <a:xfrm>
            <a:off x="5181677" y="4123709"/>
            <a:ext cx="26850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5" name="Google Shape;75;p13"/>
          <p:cNvSpPr txBox="1">
            <a:spLocks noGrp="1"/>
          </p:cNvSpPr>
          <p:nvPr>
            <p:ph type="title" idx="9" hasCustomPrompt="1"/>
          </p:nvPr>
        </p:nvSpPr>
        <p:spPr>
          <a:xfrm>
            <a:off x="1275825" y="1365574"/>
            <a:ext cx="2688000" cy="40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6" name="Google Shape;76;p13"/>
          <p:cNvSpPr txBox="1">
            <a:spLocks noGrp="1"/>
          </p:cNvSpPr>
          <p:nvPr>
            <p:ph type="title" idx="13" hasCustomPrompt="1"/>
          </p:nvPr>
        </p:nvSpPr>
        <p:spPr>
          <a:xfrm>
            <a:off x="5180164" y="1365574"/>
            <a:ext cx="2688000" cy="40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7" name="Google Shape;77;p13"/>
          <p:cNvSpPr txBox="1">
            <a:spLocks noGrp="1"/>
          </p:cNvSpPr>
          <p:nvPr>
            <p:ph type="title" idx="14" hasCustomPrompt="1"/>
          </p:nvPr>
        </p:nvSpPr>
        <p:spPr>
          <a:xfrm>
            <a:off x="1275825" y="3201174"/>
            <a:ext cx="2688000" cy="40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8" name="Google Shape;78;p13"/>
          <p:cNvSpPr txBox="1">
            <a:spLocks noGrp="1"/>
          </p:cNvSpPr>
          <p:nvPr>
            <p:ph type="title" idx="15" hasCustomPrompt="1"/>
          </p:nvPr>
        </p:nvSpPr>
        <p:spPr>
          <a:xfrm>
            <a:off x="5180164" y="3201174"/>
            <a:ext cx="2688000" cy="40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1">
  <p:cSld name="CUSTOM_3">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1430550" y="1044150"/>
            <a:ext cx="6282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4" name="Google Shape;84;p15"/>
          <p:cNvSpPr txBox="1">
            <a:spLocks noGrp="1"/>
          </p:cNvSpPr>
          <p:nvPr>
            <p:ph type="body" idx="1"/>
          </p:nvPr>
        </p:nvSpPr>
        <p:spPr>
          <a:xfrm>
            <a:off x="1850250" y="1800225"/>
            <a:ext cx="5443500" cy="9525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6_1">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2902487" y="4043344"/>
            <a:ext cx="3339000" cy="3612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800">
                <a:latin typeface="Open Sans"/>
                <a:ea typeface="Open Sans"/>
                <a:cs typeface="Open Sans"/>
                <a:sym typeface="Open Sans"/>
              </a:defRPr>
            </a:lvl1pPr>
            <a:lvl2pPr lvl="1" rtl="0">
              <a:spcBef>
                <a:spcPts val="0"/>
              </a:spcBef>
              <a:spcAft>
                <a:spcPts val="0"/>
              </a:spcAft>
              <a:buNone/>
              <a:defRPr sz="1800">
                <a:latin typeface="Open Sans"/>
                <a:ea typeface="Open Sans"/>
                <a:cs typeface="Open Sans"/>
                <a:sym typeface="Open Sans"/>
              </a:defRPr>
            </a:lvl2pPr>
            <a:lvl3pPr lvl="2" rtl="0">
              <a:spcBef>
                <a:spcPts val="0"/>
              </a:spcBef>
              <a:spcAft>
                <a:spcPts val="0"/>
              </a:spcAft>
              <a:buNone/>
              <a:defRPr sz="1800">
                <a:latin typeface="Open Sans"/>
                <a:ea typeface="Open Sans"/>
                <a:cs typeface="Open Sans"/>
                <a:sym typeface="Open Sans"/>
              </a:defRPr>
            </a:lvl3pPr>
            <a:lvl4pPr lvl="3" rtl="0">
              <a:spcBef>
                <a:spcPts val="0"/>
              </a:spcBef>
              <a:spcAft>
                <a:spcPts val="0"/>
              </a:spcAft>
              <a:buNone/>
              <a:defRPr sz="1800">
                <a:latin typeface="Open Sans"/>
                <a:ea typeface="Open Sans"/>
                <a:cs typeface="Open Sans"/>
                <a:sym typeface="Open Sans"/>
              </a:defRPr>
            </a:lvl4pPr>
            <a:lvl5pPr lvl="4" rtl="0">
              <a:spcBef>
                <a:spcPts val="0"/>
              </a:spcBef>
              <a:spcAft>
                <a:spcPts val="0"/>
              </a:spcAft>
              <a:buNone/>
              <a:defRPr sz="1800">
                <a:latin typeface="Open Sans"/>
                <a:ea typeface="Open Sans"/>
                <a:cs typeface="Open Sans"/>
                <a:sym typeface="Open Sans"/>
              </a:defRPr>
            </a:lvl5pPr>
            <a:lvl6pPr lvl="5" rtl="0">
              <a:spcBef>
                <a:spcPts val="0"/>
              </a:spcBef>
              <a:spcAft>
                <a:spcPts val="0"/>
              </a:spcAft>
              <a:buNone/>
              <a:defRPr sz="1800">
                <a:latin typeface="Open Sans"/>
                <a:ea typeface="Open Sans"/>
                <a:cs typeface="Open Sans"/>
                <a:sym typeface="Open Sans"/>
              </a:defRPr>
            </a:lvl6pPr>
            <a:lvl7pPr lvl="6" rtl="0">
              <a:spcBef>
                <a:spcPts val="0"/>
              </a:spcBef>
              <a:spcAft>
                <a:spcPts val="0"/>
              </a:spcAft>
              <a:buNone/>
              <a:defRPr sz="1800">
                <a:latin typeface="Open Sans"/>
                <a:ea typeface="Open Sans"/>
                <a:cs typeface="Open Sans"/>
                <a:sym typeface="Open Sans"/>
              </a:defRPr>
            </a:lvl7pPr>
            <a:lvl8pPr lvl="7" rtl="0">
              <a:spcBef>
                <a:spcPts val="0"/>
              </a:spcBef>
              <a:spcAft>
                <a:spcPts val="0"/>
              </a:spcAft>
              <a:buNone/>
              <a:defRPr sz="1800">
                <a:latin typeface="Open Sans"/>
                <a:ea typeface="Open Sans"/>
                <a:cs typeface="Open Sans"/>
                <a:sym typeface="Open Sans"/>
              </a:defRPr>
            </a:lvl8pPr>
            <a:lvl9pPr lvl="8" rtl="0">
              <a:spcBef>
                <a:spcPts val="0"/>
              </a:spcBef>
              <a:spcAft>
                <a:spcPts val="0"/>
              </a:spcAft>
              <a:buNone/>
              <a:defRPr sz="1800">
                <a:latin typeface="Open Sans"/>
                <a:ea typeface="Open Sans"/>
                <a:cs typeface="Open Sans"/>
                <a:sym typeface="Open Sans"/>
              </a:defRPr>
            </a:lvl9pPr>
          </a:lstStyle>
          <a:p>
            <a:endParaRPr/>
          </a:p>
        </p:txBody>
      </p:sp>
      <p:sp>
        <p:nvSpPr>
          <p:cNvPr id="90" name="Google Shape;90;p17"/>
          <p:cNvSpPr txBox="1">
            <a:spLocks noGrp="1"/>
          </p:cNvSpPr>
          <p:nvPr>
            <p:ph type="subTitle" idx="1"/>
          </p:nvPr>
        </p:nvSpPr>
        <p:spPr>
          <a:xfrm>
            <a:off x="1892850" y="3161256"/>
            <a:ext cx="5358300" cy="746700"/>
          </a:xfrm>
          <a:prstGeom prst="rect">
            <a:avLst/>
          </a:prstGeom>
        </p:spPr>
        <p:txBody>
          <a:bodyPr spcFirstLastPara="1" wrap="square" lIns="91425" tIns="91425" rIns="91425" bIns="91425" anchor="t" anchorCtr="0">
            <a:noAutofit/>
          </a:bodyPr>
          <a:lstStyle>
            <a:lvl1pPr lvl="0" algn="ctr">
              <a:spcBef>
                <a:spcPts val="0"/>
              </a:spcBef>
              <a:spcAft>
                <a:spcPts val="0"/>
              </a:spcAft>
              <a:buSzPts val="2200"/>
              <a:buNone/>
              <a:defRPr sz="2200"/>
            </a:lvl1pPr>
            <a:lvl2pPr lvl="1">
              <a:spcBef>
                <a:spcPts val="1600"/>
              </a:spcBef>
              <a:spcAft>
                <a:spcPts val="0"/>
              </a:spcAft>
              <a:buSzPts val="2200"/>
              <a:buNone/>
              <a:defRPr sz="2200"/>
            </a:lvl2pPr>
            <a:lvl3pPr lvl="2">
              <a:spcBef>
                <a:spcPts val="1600"/>
              </a:spcBef>
              <a:spcAft>
                <a:spcPts val="0"/>
              </a:spcAft>
              <a:buSzPts val="2200"/>
              <a:buNone/>
              <a:defRPr sz="2200"/>
            </a:lvl3pPr>
            <a:lvl4pPr lvl="3">
              <a:spcBef>
                <a:spcPts val="1600"/>
              </a:spcBef>
              <a:spcAft>
                <a:spcPts val="0"/>
              </a:spcAft>
              <a:buSzPts val="2200"/>
              <a:buNone/>
              <a:defRPr sz="2200"/>
            </a:lvl4pPr>
            <a:lvl5pPr lvl="4">
              <a:spcBef>
                <a:spcPts val="1600"/>
              </a:spcBef>
              <a:spcAft>
                <a:spcPts val="0"/>
              </a:spcAft>
              <a:buSzPts val="2200"/>
              <a:buNone/>
              <a:defRPr sz="2200"/>
            </a:lvl5pPr>
            <a:lvl6pPr lvl="5">
              <a:spcBef>
                <a:spcPts val="1600"/>
              </a:spcBef>
              <a:spcAft>
                <a:spcPts val="0"/>
              </a:spcAft>
              <a:buSzPts val="2200"/>
              <a:buNone/>
              <a:defRPr sz="2200"/>
            </a:lvl6pPr>
            <a:lvl7pPr lvl="6">
              <a:spcBef>
                <a:spcPts val="1600"/>
              </a:spcBef>
              <a:spcAft>
                <a:spcPts val="0"/>
              </a:spcAft>
              <a:buSzPts val="2200"/>
              <a:buNone/>
              <a:defRPr sz="2200"/>
            </a:lvl7pPr>
            <a:lvl8pPr lvl="7">
              <a:spcBef>
                <a:spcPts val="1600"/>
              </a:spcBef>
              <a:spcAft>
                <a:spcPts val="0"/>
              </a:spcAft>
              <a:buSzPts val="2200"/>
              <a:buNone/>
              <a:defRPr sz="2200"/>
            </a:lvl8pPr>
            <a:lvl9pPr lvl="8">
              <a:spcBef>
                <a:spcPts val="1600"/>
              </a:spcBef>
              <a:spcAft>
                <a:spcPts val="1600"/>
              </a:spcAft>
              <a:buSzPts val="2200"/>
              <a:buNone/>
              <a:defRPr sz="2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000"/>
              <a:buFont typeface="Oswald"/>
              <a:buNone/>
              <a:defRPr sz="3000" b="1">
                <a:solidFill>
                  <a:schemeClr val="dk1"/>
                </a:solidFill>
                <a:latin typeface="Oswald"/>
                <a:ea typeface="Oswald"/>
                <a:cs typeface="Oswald"/>
                <a:sym typeface="Oswald"/>
              </a:defRPr>
            </a:lvl1pPr>
            <a:lvl2pPr lvl="1"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algn="ctr">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00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 id="2147483659" r:id="rId4"/>
    <p:sldLayoutId id="2147483661" r:id="rId5"/>
    <p:sldLayoutId id="214748366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61.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70.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191.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1310.png"/><Relationship Id="rId3" Type="http://schemas.openxmlformats.org/officeDocument/2006/relationships/image" Target="../media/image310.png"/><Relationship Id="rId7" Type="http://schemas.openxmlformats.org/officeDocument/2006/relationships/image" Target="../media/image710.png"/><Relationship Id="rId12" Type="http://schemas.openxmlformats.org/officeDocument/2006/relationships/image" Target="../media/image1210.png"/><Relationship Id="rId2" Type="http://schemas.openxmlformats.org/officeDocument/2006/relationships/notesSlide" Target="../notesSlides/notesSlide22.xml"/><Relationship Id="rId16" Type="http://schemas.openxmlformats.org/officeDocument/2006/relationships/image" Target="../media/image160.png"/><Relationship Id="rId1" Type="http://schemas.openxmlformats.org/officeDocument/2006/relationships/slideLayout" Target="../slideLayouts/slideLayout6.xml"/><Relationship Id="rId6" Type="http://schemas.openxmlformats.org/officeDocument/2006/relationships/image" Target="../media/image610.png"/><Relationship Id="rId11" Type="http://schemas.openxmlformats.org/officeDocument/2006/relationships/image" Target="../media/image1110.png"/><Relationship Id="rId5" Type="http://schemas.openxmlformats.org/officeDocument/2006/relationships/image" Target="../media/image510.png"/><Relationship Id="rId15" Type="http://schemas.openxmlformats.org/officeDocument/2006/relationships/image" Target="../media/image150.png"/><Relationship Id="rId10" Type="http://schemas.openxmlformats.org/officeDocument/2006/relationships/image" Target="../media/image1010.png"/><Relationship Id="rId4" Type="http://schemas.openxmlformats.org/officeDocument/2006/relationships/image" Target="../media/image410.png"/><Relationship Id="rId9" Type="http://schemas.openxmlformats.org/officeDocument/2006/relationships/image" Target="../media/image910.png"/><Relationship Id="rId14" Type="http://schemas.openxmlformats.org/officeDocument/2006/relationships/image" Target="../media/image14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190.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5.png"/><Relationship Id="rId18" Type="http://schemas.openxmlformats.org/officeDocument/2006/relationships/image" Target="../media/image40.png"/><Relationship Id="rId21" Type="http://schemas.openxmlformats.org/officeDocument/2006/relationships/image" Target="../media/image43.png"/><Relationship Id="rId7" Type="http://schemas.openxmlformats.org/officeDocument/2006/relationships/image" Target="../media/image270.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7.png"/><Relationship Id="rId2" Type="http://schemas.openxmlformats.org/officeDocument/2006/relationships/notesSlide" Target="../notesSlides/notesSlide26.xml"/><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6.xml"/><Relationship Id="rId6" Type="http://schemas.openxmlformats.org/officeDocument/2006/relationships/image" Target="../media/image30.png"/><Relationship Id="rId11" Type="http://schemas.openxmlformats.org/officeDocument/2006/relationships/image" Target="../media/image33.png"/><Relationship Id="rId24" Type="http://schemas.openxmlformats.org/officeDocument/2006/relationships/image" Target="../media/image46.png"/><Relationship Id="rId5" Type="http://schemas.openxmlformats.org/officeDocument/2006/relationships/image" Target="../media/image290.png"/><Relationship Id="rId15" Type="http://schemas.openxmlformats.org/officeDocument/2006/relationships/image" Target="../media/image37.png"/><Relationship Id="rId23" Type="http://schemas.openxmlformats.org/officeDocument/2006/relationships/image" Target="../media/image45.png"/><Relationship Id="rId10" Type="http://schemas.openxmlformats.org/officeDocument/2006/relationships/image" Target="../media/image32.png"/><Relationship Id="rId19" Type="http://schemas.openxmlformats.org/officeDocument/2006/relationships/image" Target="../media/image41.png"/><Relationship Id="rId9" Type="http://schemas.openxmlformats.org/officeDocument/2006/relationships/image" Target="../media/image313.png"/><Relationship Id="rId14" Type="http://schemas.openxmlformats.org/officeDocument/2006/relationships/image" Target="../media/image36.png"/><Relationship Id="rId22" Type="http://schemas.openxmlformats.org/officeDocument/2006/relationships/image" Target="../media/image44.png"/></Relationships>
</file>

<file path=ppt/slides/_rels/slide2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1.png"/><Relationship Id="rId7" Type="http://schemas.openxmlformats.org/officeDocument/2006/relationships/image" Target="../media/image312.png"/><Relationship Id="rId2" Type="http://schemas.openxmlformats.org/officeDocument/2006/relationships/notesSlide" Target="../notesSlides/notesSlide27.xml"/><Relationship Id="rId1" Type="http://schemas.openxmlformats.org/officeDocument/2006/relationships/slideLayout" Target="../slideLayouts/slideLayout6.xml"/><Relationship Id="rId9" Type="http://schemas.openxmlformats.org/officeDocument/2006/relationships/image" Target="../media/image5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361.png"/><Relationship Id="rId5" Type="http://schemas.openxmlformats.org/officeDocument/2006/relationships/image" Target="../media/image320.png"/><Relationship Id="rId4" Type="http://schemas.openxmlformats.org/officeDocument/2006/relationships/image" Target="../media/image311.png"/></Relationships>
</file>

<file path=ppt/slides/_rels/slide30.xml.rels><?xml version="1.0" encoding="UTF-8" standalone="yes"?>
<Relationships xmlns="http://schemas.openxmlformats.org/package/2006/relationships"><Relationship Id="rId8" Type="http://schemas.openxmlformats.org/officeDocument/2006/relationships/image" Target="../media/image370.png"/><Relationship Id="rId13" Type="http://schemas.openxmlformats.org/officeDocument/2006/relationships/image" Target="../media/image400.png"/><Relationship Id="rId3" Type="http://schemas.openxmlformats.org/officeDocument/2006/relationships/image" Target="../media/image51.png"/><Relationship Id="rId7" Type="http://schemas.openxmlformats.org/officeDocument/2006/relationships/image" Target="../media/image36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350.png"/><Relationship Id="rId11" Type="http://schemas.openxmlformats.org/officeDocument/2006/relationships/image" Target="../media/image411.png"/><Relationship Id="rId5" Type="http://schemas.openxmlformats.org/officeDocument/2006/relationships/image" Target="../media/image340.png"/><Relationship Id="rId4" Type="http://schemas.openxmlformats.org/officeDocument/2006/relationships/image" Target="../media/image381.png"/><Relationship Id="rId9" Type="http://schemas.openxmlformats.org/officeDocument/2006/relationships/image" Target="../media/image38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18.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7.png"/><Relationship Id="rId7" Type="http://schemas.openxmlformats.org/officeDocument/2006/relationships/image" Target="../media/image19.png"/><Relationship Id="rId12"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60.png"/><Relationship Id="rId11" Type="http://schemas.openxmlformats.org/officeDocument/2006/relationships/image" Target="../media/image64.png"/><Relationship Id="rId5" Type="http://schemas.openxmlformats.org/officeDocument/2006/relationships/image" Target="../media/image59.png"/><Relationship Id="rId10" Type="http://schemas.openxmlformats.org/officeDocument/2006/relationships/image" Target="../media/image63.png"/><Relationship Id="rId4" Type="http://schemas.openxmlformats.org/officeDocument/2006/relationships/image" Target="../media/image58.png"/><Relationship Id="rId9" Type="http://schemas.openxmlformats.org/officeDocument/2006/relationships/image" Target="../media/image6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6.xml"/><Relationship Id="rId5" Type="http://schemas.openxmlformats.org/officeDocument/2006/relationships/image" Target="../media/image440.png"/><Relationship Id="rId4" Type="http://schemas.openxmlformats.org/officeDocument/2006/relationships/image" Target="../media/image67.png"/></Relationships>
</file>

<file path=ppt/slides/_rels/slide37.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image" Target="../media/image550.png"/><Relationship Id="rId3" Type="http://schemas.openxmlformats.org/officeDocument/2006/relationships/image" Target="../media/image450.png"/><Relationship Id="rId7" Type="http://schemas.openxmlformats.org/officeDocument/2006/relationships/image" Target="../media/image490.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480.png"/><Relationship Id="rId11" Type="http://schemas.openxmlformats.org/officeDocument/2006/relationships/image" Target="../media/image68.png"/><Relationship Id="rId5" Type="http://schemas.openxmlformats.org/officeDocument/2006/relationships/image" Target="../media/image470.png"/><Relationship Id="rId15" Type="http://schemas.openxmlformats.org/officeDocument/2006/relationships/image" Target="../media/image561.png"/><Relationship Id="rId10" Type="http://schemas.openxmlformats.org/officeDocument/2006/relationships/image" Target="../media/image520.png"/><Relationship Id="rId4" Type="http://schemas.openxmlformats.org/officeDocument/2006/relationships/image" Target="../media/image460.png"/><Relationship Id="rId9" Type="http://schemas.openxmlformats.org/officeDocument/2006/relationships/image" Target="../media/image511.png"/><Relationship Id="rId14" Type="http://schemas.openxmlformats.org/officeDocument/2006/relationships/image" Target="../media/image69.png"/></Relationships>
</file>

<file path=ppt/slides/_rels/slide38.xml.rels><?xml version="1.0" encoding="UTF-8" standalone="yes"?>
<Relationships xmlns="http://schemas.openxmlformats.org/package/2006/relationships"><Relationship Id="rId8" Type="http://schemas.openxmlformats.org/officeDocument/2006/relationships/image" Target="../media/image570.png"/><Relationship Id="rId3" Type="http://schemas.openxmlformats.org/officeDocument/2006/relationships/image" Target="../media/image70.png"/><Relationship Id="rId7" Type="http://schemas.openxmlformats.org/officeDocument/2006/relationships/image" Target="../media/image560.pn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9.xml.rels><?xml version="1.0" encoding="UTF-8" standalone="yes"?>
<Relationships xmlns="http://schemas.openxmlformats.org/package/2006/relationships"><Relationship Id="rId8" Type="http://schemas.openxmlformats.org/officeDocument/2006/relationships/image" Target="../media/image630.png"/><Relationship Id="rId3" Type="http://schemas.openxmlformats.org/officeDocument/2006/relationships/image" Target="../media/image74.png"/><Relationship Id="rId7" Type="http://schemas.openxmlformats.org/officeDocument/2006/relationships/image" Target="../media/image620.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611.png"/><Relationship Id="rId5" Type="http://schemas.openxmlformats.org/officeDocument/2006/relationships/image" Target="../media/image600.png"/><Relationship Id="rId4" Type="http://schemas.openxmlformats.org/officeDocument/2006/relationships/image" Target="../media/image590.png"/></Relationships>
</file>

<file path=ppt/slides/_rels/slide40.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680.png"/><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image" Target="../media/image670.png"/><Relationship Id="rId5" Type="http://schemas.openxmlformats.org/officeDocument/2006/relationships/image" Target="../media/image660.png"/><Relationship Id="rId4" Type="http://schemas.openxmlformats.org/officeDocument/2006/relationships/image" Target="../media/image76.png"/></Relationships>
</file>

<file path=ppt/slides/_rels/slide41.xml.rels><?xml version="1.0" encoding="UTF-8" standalone="yes"?>
<Relationships xmlns="http://schemas.openxmlformats.org/package/2006/relationships"><Relationship Id="rId8" Type="http://schemas.openxmlformats.org/officeDocument/2006/relationships/image" Target="../media/image78.png"/><Relationship Id="rId7" Type="http://schemas.openxmlformats.org/officeDocument/2006/relationships/image" Target="../media/image77.png"/><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700.png"/><Relationship Id="rId9" Type="http://schemas.openxmlformats.org/officeDocument/2006/relationships/image" Target="../media/image7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3.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20.png"/><Relationship Id="rId4" Type="http://schemas.openxmlformats.org/officeDocument/2006/relationships/image" Target="../media/image81.png"/></Relationships>
</file>

<file path=ppt/slides/_rels/slide44.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2.png"/><Relationship Id="rId7" Type="http://schemas.openxmlformats.org/officeDocument/2006/relationships/image" Target="../media/image87.pn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9.png"/></Relationships>
</file>

<file path=ppt/slides/_rels/slide4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5.xml"/><Relationship Id="rId1" Type="http://schemas.openxmlformats.org/officeDocument/2006/relationships/slideLayout" Target="../slideLayouts/slideLayout6.xml"/><Relationship Id="rId5" Type="http://schemas.openxmlformats.org/officeDocument/2006/relationships/image" Target="../media/image92.png"/><Relationship Id="rId4" Type="http://schemas.openxmlformats.org/officeDocument/2006/relationships/image" Target="../media/image91.png"/></Relationships>
</file>

<file path=ppt/slides/_rels/slide4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83.png"/><Relationship Id="rId7" Type="http://schemas.openxmlformats.org/officeDocument/2006/relationships/image" Target="../media/image96.png"/><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image" Target="../media/image95.png"/><Relationship Id="rId11" Type="http://schemas.openxmlformats.org/officeDocument/2006/relationships/image" Target="../media/image100.png"/><Relationship Id="rId5" Type="http://schemas.openxmlformats.org/officeDocument/2006/relationships/image" Target="../media/image94.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s>
</file>

<file path=ppt/slides/_rels/slide4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103.png"/><Relationship Id="rId4" Type="http://schemas.openxmlformats.org/officeDocument/2006/relationships/image" Target="../media/image102.jpg"/></Relationships>
</file>

<file path=ppt/slides/_rels/slide48.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83.png"/><Relationship Id="rId7" Type="http://schemas.openxmlformats.org/officeDocument/2006/relationships/image" Target="../media/image107.png"/><Relationship Id="rId2" Type="http://schemas.openxmlformats.org/officeDocument/2006/relationships/notesSlide" Target="../notesSlides/notesSlide48.xml"/><Relationship Id="rId1" Type="http://schemas.openxmlformats.org/officeDocument/2006/relationships/slideLayout" Target="../slideLayouts/slideLayout6.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9" Type="http://schemas.openxmlformats.org/officeDocument/2006/relationships/image" Target="../media/image109.png"/></Relationships>
</file>

<file path=ppt/slides/_rels/slide4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111.png"/></Relationships>
</file>

<file path=ppt/slides/_rels/slide5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5.xml"/><Relationship Id="rId1" Type="http://schemas.openxmlformats.org/officeDocument/2006/relationships/slideLayout" Target="../slideLayouts/slideLayout6.xml"/><Relationship Id="rId5" Type="http://schemas.openxmlformats.org/officeDocument/2006/relationships/image" Target="../media/image1090.png"/><Relationship Id="rId4" Type="http://schemas.openxmlformats.org/officeDocument/2006/relationships/image" Target="../media/image116.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21.png"/><Relationship Id="rId2" Type="http://schemas.openxmlformats.org/officeDocument/2006/relationships/notesSlide" Target="../notesSlides/notesSlide58.xml"/><Relationship Id="rId1" Type="http://schemas.openxmlformats.org/officeDocument/2006/relationships/slideLayout" Target="../slideLayouts/slideLayout6.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5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image" Target="../media/image125.png"/><Relationship Id="rId4" Type="http://schemas.openxmlformats.org/officeDocument/2006/relationships/image" Target="../media/image124.png"/></Relationships>
</file>

<file path=ppt/slides/_rels/slide6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4.xml"/><Relationship Id="rId1" Type="http://schemas.openxmlformats.org/officeDocument/2006/relationships/slideLayout" Target="../slideLayouts/slideLayout6.xml"/><Relationship Id="rId5" Type="http://schemas.openxmlformats.org/officeDocument/2006/relationships/image" Target="../media/image129.png"/><Relationship Id="rId4" Type="http://schemas.openxmlformats.org/officeDocument/2006/relationships/image" Target="../media/image128.png"/></Relationships>
</file>

<file path=ppt/slides/_rels/slide6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68.xml"/><Relationship Id="rId1" Type="http://schemas.openxmlformats.org/officeDocument/2006/relationships/slideLayout" Target="../slideLayouts/slideLayout6.xml"/><Relationship Id="rId5" Type="http://schemas.openxmlformats.org/officeDocument/2006/relationships/image" Target="../media/image133.png"/><Relationship Id="rId4" Type="http://schemas.openxmlformats.org/officeDocument/2006/relationships/image" Target="../media/image13.png"/></Relationships>
</file>

<file path=ppt/slides/_rels/slide6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69.xml"/><Relationship Id="rId1" Type="http://schemas.openxmlformats.org/officeDocument/2006/relationships/slideLayout" Target="../slideLayouts/slideLayout6.xml"/><Relationship Id="rId5" Type="http://schemas.openxmlformats.org/officeDocument/2006/relationships/image" Target="../media/image1280.png"/><Relationship Id="rId4" Type="http://schemas.openxmlformats.org/officeDocument/2006/relationships/image" Target="../media/image135.png"/></Relationships>
</file>

<file path=ppt/slides/_rels/slide7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72.xml"/><Relationship Id="rId1" Type="http://schemas.openxmlformats.org/officeDocument/2006/relationships/slideLayout" Target="../slideLayouts/slideLayout6.xml"/><Relationship Id="rId4" Type="http://schemas.openxmlformats.org/officeDocument/2006/relationships/image" Target="../media/image137.png"/></Relationships>
</file>

<file path=ppt/slides/_rels/slide7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3.xml"/><Relationship Id="rId1" Type="http://schemas.openxmlformats.org/officeDocument/2006/relationships/slideLayout" Target="../slideLayouts/slideLayout6.xml"/><Relationship Id="rId5" Type="http://schemas.openxmlformats.org/officeDocument/2006/relationships/image" Target="../media/image140.png"/><Relationship Id="rId4" Type="http://schemas.openxmlformats.org/officeDocument/2006/relationships/image" Target="../media/image139.png"/></Relationships>
</file>

<file path=ppt/slides/_rels/slide7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44.png"/><Relationship Id="rId2" Type="http://schemas.openxmlformats.org/officeDocument/2006/relationships/notesSlide" Target="../notesSlides/notesSlide74.xml"/><Relationship Id="rId1" Type="http://schemas.openxmlformats.org/officeDocument/2006/relationships/slideLayout" Target="../slideLayouts/slideLayout6.xml"/><Relationship Id="rId6" Type="http://schemas.openxmlformats.org/officeDocument/2006/relationships/image" Target="../media/image143.png"/><Relationship Id="rId5" Type="http://schemas.openxmlformats.org/officeDocument/2006/relationships/image" Target="../media/image18.png"/><Relationship Id="rId4" Type="http://schemas.openxmlformats.org/officeDocument/2006/relationships/image" Target="../media/image141.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77.xml"/><Relationship Id="rId1" Type="http://schemas.openxmlformats.org/officeDocument/2006/relationships/slideLayout" Target="../slideLayouts/slideLayout6.xml"/><Relationship Id="rId5" Type="http://schemas.openxmlformats.org/officeDocument/2006/relationships/image" Target="../media/image147.png"/><Relationship Id="rId4" Type="http://schemas.openxmlformats.org/officeDocument/2006/relationships/image" Target="../media/image146.png"/></Relationships>
</file>

<file path=ppt/slides/_rels/slide7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8.xml"/><Relationship Id="rId1" Type="http://schemas.openxmlformats.org/officeDocument/2006/relationships/slideLayout" Target="../slideLayouts/slideLayout6.xml"/><Relationship Id="rId5" Type="http://schemas.openxmlformats.org/officeDocument/2006/relationships/image" Target="../media/image133.png"/><Relationship Id="rId4" Type="http://schemas.openxmlformats.org/officeDocument/2006/relationships/image" Target="../media/image13.png"/></Relationships>
</file>

<file path=ppt/slides/_rels/slide79.xml.rels><?xml version="1.0" encoding="UTF-8" standalone="yes"?>
<Relationships xmlns="http://schemas.openxmlformats.org/package/2006/relationships"><Relationship Id="rId3" Type="http://schemas.openxmlformats.org/officeDocument/2006/relationships/image" Target="../media/image148.jp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2.png"/><Relationship Id="rId3" Type="http://schemas.openxmlformats.org/officeDocument/2006/relationships/image" Target="../media/image19.png"/><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notesSlide" Target="../notesSlides/notesSlide80.xml"/><Relationship Id="rId1" Type="http://schemas.openxmlformats.org/officeDocument/2006/relationships/slideLayout" Target="../slideLayouts/slideLayout6.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s>
</file>

<file path=ppt/slides/_rels/slide8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81.xml"/><Relationship Id="rId1" Type="http://schemas.openxmlformats.org/officeDocument/2006/relationships/slideLayout" Target="../slideLayouts/slideLayout6.xml"/><Relationship Id="rId5" Type="http://schemas.openxmlformats.org/officeDocument/2006/relationships/image" Target="../media/image164.png"/><Relationship Id="rId4" Type="http://schemas.openxmlformats.org/officeDocument/2006/relationships/image" Target="../media/image1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6" name="手繪多邊形: 圖案 5">
            <a:extLst>
              <a:ext uri="{FF2B5EF4-FFF2-40B4-BE49-F238E27FC236}">
                <a16:creationId xmlns:a16="http://schemas.microsoft.com/office/drawing/2014/main" id="{A73E7057-0D5F-4824-ADF9-336E9C64DBF6}"/>
              </a:ext>
            </a:extLst>
          </p:cNvPr>
          <p:cNvSpPr/>
          <p:nvPr/>
        </p:nvSpPr>
        <p:spPr>
          <a:xfrm>
            <a:off x="873291" y="597807"/>
            <a:ext cx="7390362" cy="3968306"/>
          </a:xfrm>
          <a:custGeom>
            <a:avLst/>
            <a:gdLst>
              <a:gd name="connsiteX0" fmla="*/ 6193211 w 7390362"/>
              <a:gd name="connsiteY0" fmla="*/ 475908 h 3968306"/>
              <a:gd name="connsiteX1" fmla="*/ 5487240 w 7390362"/>
              <a:gd name="connsiteY1" fmla="*/ 32155 h 3968306"/>
              <a:gd name="connsiteX2" fmla="*/ 4599734 w 7390362"/>
              <a:gd name="connsiteY2" fmla="*/ 85944 h 3968306"/>
              <a:gd name="connsiteX3" fmla="*/ 3745846 w 7390362"/>
              <a:gd name="connsiteY3" fmla="*/ 496079 h 3968306"/>
              <a:gd name="connsiteX4" fmla="*/ 2992811 w 7390362"/>
              <a:gd name="connsiteY4" fmla="*/ 475908 h 3968306"/>
              <a:gd name="connsiteX5" fmla="*/ 2098581 w 7390362"/>
              <a:gd name="connsiteY5" fmla="*/ 240585 h 3968306"/>
              <a:gd name="connsiteX6" fmla="*/ 1298481 w 7390362"/>
              <a:gd name="connsiteY6" fmla="*/ 348161 h 3968306"/>
              <a:gd name="connsiteX7" fmla="*/ 908516 w 7390362"/>
              <a:gd name="connsiteY7" fmla="*/ 933108 h 3968306"/>
              <a:gd name="connsiteX8" fmla="*/ 1110222 w 7390362"/>
              <a:gd name="connsiteY8" fmla="*/ 1773549 h 3968306"/>
              <a:gd name="connsiteX9" fmla="*/ 874899 w 7390362"/>
              <a:gd name="connsiteY9" fmla="*/ 2089555 h 3968306"/>
              <a:gd name="connsiteX10" fmla="*/ 303399 w 7390362"/>
              <a:gd name="connsiteY10" fmla="*/ 2089555 h 3968306"/>
              <a:gd name="connsiteX11" fmla="*/ 21011 w 7390362"/>
              <a:gd name="connsiteY11" fmla="*/ 2378667 h 3968306"/>
              <a:gd name="connsiteX12" fmla="*/ 68075 w 7390362"/>
              <a:gd name="connsiteY12" fmla="*/ 2909826 h 3968306"/>
              <a:gd name="connsiteX13" fmla="*/ 444593 w 7390362"/>
              <a:gd name="connsiteY13" fmla="*/ 3232555 h 3968306"/>
              <a:gd name="connsiteX14" fmla="*/ 1372440 w 7390362"/>
              <a:gd name="connsiteY14" fmla="*/ 3367026 h 3968306"/>
              <a:gd name="connsiteX15" fmla="*/ 2226328 w 7390362"/>
              <a:gd name="connsiteY15" fmla="*/ 3024126 h 3968306"/>
              <a:gd name="connsiteX16" fmla="*/ 2804552 w 7390362"/>
              <a:gd name="connsiteY16" fmla="*/ 3407367 h 3968306"/>
              <a:gd name="connsiteX17" fmla="*/ 3268475 w 7390362"/>
              <a:gd name="connsiteY17" fmla="*/ 3514944 h 3968306"/>
              <a:gd name="connsiteX18" fmla="*/ 3833252 w 7390362"/>
              <a:gd name="connsiteY18" fmla="*/ 3232555 h 3968306"/>
              <a:gd name="connsiteX19" fmla="*/ 4492158 w 7390362"/>
              <a:gd name="connsiteY19" fmla="*/ 3393920 h 3968306"/>
              <a:gd name="connsiteX20" fmla="*/ 4996422 w 7390362"/>
              <a:gd name="connsiteY20" fmla="*/ 3837673 h 3968306"/>
              <a:gd name="connsiteX21" fmla="*/ 5857034 w 7390362"/>
              <a:gd name="connsiteY21" fmla="*/ 3938526 h 3968306"/>
              <a:gd name="connsiteX22" fmla="*/ 6650411 w 7390362"/>
              <a:gd name="connsiteY22" fmla="*/ 3373749 h 3968306"/>
              <a:gd name="connsiteX23" fmla="*/ 6704199 w 7390362"/>
              <a:gd name="connsiteY23" fmla="*/ 2378667 h 3968306"/>
              <a:gd name="connsiteX24" fmla="*/ 6885734 w 7390362"/>
              <a:gd name="connsiteY24" fmla="*/ 1908020 h 3968306"/>
              <a:gd name="connsiteX25" fmla="*/ 7295869 w 7390362"/>
              <a:gd name="connsiteY25" fmla="*/ 1497885 h 3968306"/>
              <a:gd name="connsiteX26" fmla="*/ 7369828 w 7390362"/>
              <a:gd name="connsiteY26" fmla="*/ 1000344 h 3968306"/>
              <a:gd name="connsiteX27" fmla="*/ 7006758 w 7390362"/>
              <a:gd name="connsiteY27" fmla="*/ 657444 h 3968306"/>
              <a:gd name="connsiteX28" fmla="*/ 6193211 w 7390362"/>
              <a:gd name="connsiteY28" fmla="*/ 475908 h 3968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90362" h="3968306">
                <a:moveTo>
                  <a:pt x="6193211" y="475908"/>
                </a:moveTo>
                <a:cubicBezTo>
                  <a:pt x="5939958" y="371693"/>
                  <a:pt x="5752819" y="97149"/>
                  <a:pt x="5487240" y="32155"/>
                </a:cubicBezTo>
                <a:cubicBezTo>
                  <a:pt x="5221661" y="-32839"/>
                  <a:pt x="4889966" y="8623"/>
                  <a:pt x="4599734" y="85944"/>
                </a:cubicBezTo>
                <a:cubicBezTo>
                  <a:pt x="4309502" y="163265"/>
                  <a:pt x="4013666" y="431085"/>
                  <a:pt x="3745846" y="496079"/>
                </a:cubicBezTo>
                <a:cubicBezTo>
                  <a:pt x="3478026" y="561073"/>
                  <a:pt x="3267355" y="518490"/>
                  <a:pt x="2992811" y="475908"/>
                </a:cubicBezTo>
                <a:cubicBezTo>
                  <a:pt x="2718267" y="433326"/>
                  <a:pt x="2380969" y="261876"/>
                  <a:pt x="2098581" y="240585"/>
                </a:cubicBezTo>
                <a:cubicBezTo>
                  <a:pt x="1816193" y="219294"/>
                  <a:pt x="1496825" y="232740"/>
                  <a:pt x="1298481" y="348161"/>
                </a:cubicBezTo>
                <a:cubicBezTo>
                  <a:pt x="1100137" y="463581"/>
                  <a:pt x="939892" y="695543"/>
                  <a:pt x="908516" y="933108"/>
                </a:cubicBezTo>
                <a:cubicBezTo>
                  <a:pt x="877140" y="1170673"/>
                  <a:pt x="1115825" y="1580808"/>
                  <a:pt x="1110222" y="1773549"/>
                </a:cubicBezTo>
                <a:cubicBezTo>
                  <a:pt x="1104619" y="1966290"/>
                  <a:pt x="1009369" y="2036887"/>
                  <a:pt x="874899" y="2089555"/>
                </a:cubicBezTo>
                <a:cubicBezTo>
                  <a:pt x="740428" y="2142223"/>
                  <a:pt x="445714" y="2041370"/>
                  <a:pt x="303399" y="2089555"/>
                </a:cubicBezTo>
                <a:cubicBezTo>
                  <a:pt x="161084" y="2137740"/>
                  <a:pt x="60232" y="2241955"/>
                  <a:pt x="21011" y="2378667"/>
                </a:cubicBezTo>
                <a:cubicBezTo>
                  <a:pt x="-18210" y="2515379"/>
                  <a:pt x="-2522" y="2767511"/>
                  <a:pt x="68075" y="2909826"/>
                </a:cubicBezTo>
                <a:cubicBezTo>
                  <a:pt x="138672" y="3052141"/>
                  <a:pt x="227199" y="3156355"/>
                  <a:pt x="444593" y="3232555"/>
                </a:cubicBezTo>
                <a:cubicBezTo>
                  <a:pt x="661987" y="3308755"/>
                  <a:pt x="1075484" y="3401764"/>
                  <a:pt x="1372440" y="3367026"/>
                </a:cubicBezTo>
                <a:cubicBezTo>
                  <a:pt x="1669396" y="3332288"/>
                  <a:pt x="1987643" y="3017403"/>
                  <a:pt x="2226328" y="3024126"/>
                </a:cubicBezTo>
                <a:cubicBezTo>
                  <a:pt x="2465013" y="3030850"/>
                  <a:pt x="2630861" y="3325564"/>
                  <a:pt x="2804552" y="3407367"/>
                </a:cubicBezTo>
                <a:cubicBezTo>
                  <a:pt x="2978243" y="3489170"/>
                  <a:pt x="3097025" y="3544079"/>
                  <a:pt x="3268475" y="3514944"/>
                </a:cubicBezTo>
                <a:cubicBezTo>
                  <a:pt x="3439925" y="3485809"/>
                  <a:pt x="3629305" y="3252726"/>
                  <a:pt x="3833252" y="3232555"/>
                </a:cubicBezTo>
                <a:cubicBezTo>
                  <a:pt x="4037199" y="3212384"/>
                  <a:pt x="4298296" y="3293067"/>
                  <a:pt x="4492158" y="3393920"/>
                </a:cubicBezTo>
                <a:cubicBezTo>
                  <a:pt x="4686020" y="3494773"/>
                  <a:pt x="4768943" y="3746905"/>
                  <a:pt x="4996422" y="3837673"/>
                </a:cubicBezTo>
                <a:cubicBezTo>
                  <a:pt x="5223901" y="3928441"/>
                  <a:pt x="5581369" y="4015847"/>
                  <a:pt x="5857034" y="3938526"/>
                </a:cubicBezTo>
                <a:cubicBezTo>
                  <a:pt x="6132699" y="3861205"/>
                  <a:pt x="6509217" y="3633725"/>
                  <a:pt x="6650411" y="3373749"/>
                </a:cubicBezTo>
                <a:cubicBezTo>
                  <a:pt x="6791605" y="3113773"/>
                  <a:pt x="6664979" y="2622955"/>
                  <a:pt x="6704199" y="2378667"/>
                </a:cubicBezTo>
                <a:cubicBezTo>
                  <a:pt x="6743420" y="2134379"/>
                  <a:pt x="6787122" y="2054817"/>
                  <a:pt x="6885734" y="1908020"/>
                </a:cubicBezTo>
                <a:cubicBezTo>
                  <a:pt x="6984346" y="1761223"/>
                  <a:pt x="7215187" y="1649164"/>
                  <a:pt x="7295869" y="1497885"/>
                </a:cubicBezTo>
                <a:cubicBezTo>
                  <a:pt x="7376551" y="1346606"/>
                  <a:pt x="7418013" y="1140417"/>
                  <a:pt x="7369828" y="1000344"/>
                </a:cubicBezTo>
                <a:cubicBezTo>
                  <a:pt x="7321643" y="860271"/>
                  <a:pt x="7202861" y="745971"/>
                  <a:pt x="7006758" y="657444"/>
                </a:cubicBezTo>
                <a:cubicBezTo>
                  <a:pt x="6810655" y="568917"/>
                  <a:pt x="6446464" y="580123"/>
                  <a:pt x="6193211" y="4759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13">
            <a:extLst>
              <a:ext uri="{FF2B5EF4-FFF2-40B4-BE49-F238E27FC236}">
                <a16:creationId xmlns:a16="http://schemas.microsoft.com/office/drawing/2014/main" id="{AF2C4B94-08B7-4FC1-8C95-057B900FEBD5}"/>
              </a:ext>
            </a:extLst>
          </p:cNvPr>
          <p:cNvGrpSpPr>
            <a:grpSpLocks/>
          </p:cNvGrpSpPr>
          <p:nvPr/>
        </p:nvGrpSpPr>
        <p:grpSpPr bwMode="auto">
          <a:xfrm>
            <a:off x="73701" y="4638734"/>
            <a:ext cx="6189213" cy="478262"/>
            <a:chOff x="94018" y="5731956"/>
            <a:chExt cx="7295065" cy="619134"/>
          </a:xfrm>
        </p:grpSpPr>
        <p:pic>
          <p:nvPicPr>
            <p:cNvPr id="9" name="Picture 3">
              <a:extLst>
                <a:ext uri="{FF2B5EF4-FFF2-40B4-BE49-F238E27FC236}">
                  <a16:creationId xmlns:a16="http://schemas.microsoft.com/office/drawing/2014/main" id="{F6B69FD2-34D7-426D-B272-415ACBD6DA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778" y="5731956"/>
              <a:ext cx="720080" cy="619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C:\Users\Shiang\Desktop\DOP.JPG">
              <a:extLst>
                <a:ext uri="{FF2B5EF4-FFF2-40B4-BE49-F238E27FC236}">
                  <a16:creationId xmlns:a16="http://schemas.microsoft.com/office/drawing/2014/main" id="{FB679606-AE6D-4091-BD5C-DF94A70DEB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18" y="5731956"/>
              <a:ext cx="1090709"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字方塊 20">
              <a:extLst>
                <a:ext uri="{FF2B5EF4-FFF2-40B4-BE49-F238E27FC236}">
                  <a16:creationId xmlns:a16="http://schemas.microsoft.com/office/drawing/2014/main" id="{94A6AE6A-9474-4F60-954E-72F2CB547E4F}"/>
                </a:ext>
              </a:extLst>
            </p:cNvPr>
            <p:cNvSpPr txBox="1">
              <a:spLocks noChangeArrowheads="1"/>
            </p:cNvSpPr>
            <p:nvPr/>
          </p:nvSpPr>
          <p:spPr bwMode="auto">
            <a:xfrm>
              <a:off x="2160908" y="5787859"/>
              <a:ext cx="5228175" cy="503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ill Sans MT" pitchFamily="34" charset="0"/>
                  <a:ea typeface="新細明體" charset="-120"/>
                </a:defRPr>
              </a:lvl1pPr>
              <a:lvl2pPr marL="742950" indent="-285750">
                <a:defRPr>
                  <a:solidFill>
                    <a:schemeClr val="tx1"/>
                  </a:solidFill>
                  <a:latin typeface="Gill Sans MT" pitchFamily="34" charset="0"/>
                  <a:ea typeface="新細明體" charset="-120"/>
                </a:defRPr>
              </a:lvl2pPr>
              <a:lvl3pPr marL="1143000" indent="-228600">
                <a:defRPr>
                  <a:solidFill>
                    <a:schemeClr val="tx1"/>
                  </a:solidFill>
                  <a:latin typeface="Gill Sans MT" pitchFamily="34" charset="0"/>
                  <a:ea typeface="新細明體" charset="-120"/>
                </a:defRPr>
              </a:lvl3pPr>
              <a:lvl4pPr marL="1600200" indent="-228600">
                <a:defRPr>
                  <a:solidFill>
                    <a:schemeClr val="tx1"/>
                  </a:solidFill>
                  <a:latin typeface="Gill Sans MT" pitchFamily="34" charset="0"/>
                  <a:ea typeface="新細明體" charset="-120"/>
                </a:defRPr>
              </a:lvl4pPr>
              <a:lvl5pPr marL="2057400" indent="-228600">
                <a:defRPr>
                  <a:solidFill>
                    <a:schemeClr val="tx1"/>
                  </a:solidFill>
                  <a:latin typeface="Gill Sans MT" pitchFamily="34" charset="0"/>
                  <a:ea typeface="新細明體" charset="-120"/>
                </a:defRPr>
              </a:lvl5pPr>
              <a:lvl6pPr marL="2514600" indent="-228600" fontAlgn="base">
                <a:spcBef>
                  <a:spcPct val="0"/>
                </a:spcBef>
                <a:spcAft>
                  <a:spcPct val="0"/>
                </a:spcAft>
                <a:defRPr>
                  <a:solidFill>
                    <a:schemeClr val="tx1"/>
                  </a:solidFill>
                  <a:latin typeface="Gill Sans MT" pitchFamily="34" charset="0"/>
                  <a:ea typeface="新細明體" charset="-120"/>
                </a:defRPr>
              </a:lvl6pPr>
              <a:lvl7pPr marL="2971800" indent="-228600" fontAlgn="base">
                <a:spcBef>
                  <a:spcPct val="0"/>
                </a:spcBef>
                <a:spcAft>
                  <a:spcPct val="0"/>
                </a:spcAft>
                <a:defRPr>
                  <a:solidFill>
                    <a:schemeClr val="tx1"/>
                  </a:solidFill>
                  <a:latin typeface="Gill Sans MT" pitchFamily="34" charset="0"/>
                  <a:ea typeface="新細明體" charset="-120"/>
                </a:defRPr>
              </a:lvl7pPr>
              <a:lvl8pPr marL="3429000" indent="-228600" fontAlgn="base">
                <a:spcBef>
                  <a:spcPct val="0"/>
                </a:spcBef>
                <a:spcAft>
                  <a:spcPct val="0"/>
                </a:spcAft>
                <a:defRPr>
                  <a:solidFill>
                    <a:schemeClr val="tx1"/>
                  </a:solidFill>
                  <a:latin typeface="Gill Sans MT" pitchFamily="34" charset="0"/>
                  <a:ea typeface="新細明體" charset="-120"/>
                </a:defRPr>
              </a:lvl8pPr>
              <a:lvl9pPr marL="3886200" indent="-228600" fontAlgn="base">
                <a:spcBef>
                  <a:spcPct val="0"/>
                </a:spcBef>
                <a:spcAft>
                  <a:spcPct val="0"/>
                </a:spcAft>
                <a:defRPr>
                  <a:solidFill>
                    <a:schemeClr val="tx1"/>
                  </a:solidFill>
                  <a:latin typeface="Gill Sans MT" pitchFamily="34" charset="0"/>
                  <a:ea typeface="新細明體" charset="-120"/>
                </a:defRPr>
              </a:lvl9pPr>
            </a:lstStyle>
            <a:p>
              <a:r>
                <a:rPr kumimoji="0" lang="en-US" altLang="zh-TW" sz="1100" i="1" dirty="0">
                  <a:latin typeface="Montserrat" panose="02020500000000000000" charset="0"/>
                </a:rPr>
                <a:t>Nonlinear Integrated Laser Photonics Laboratory</a:t>
              </a:r>
            </a:p>
            <a:p>
              <a:r>
                <a:rPr kumimoji="0" lang="en-US" altLang="zh-TW" sz="1100" i="1" dirty="0">
                  <a:latin typeface="Montserrat" panose="02020500000000000000" charset="0"/>
                </a:rPr>
                <a:t>Department of Optical and Photonics, National Central University</a:t>
              </a:r>
            </a:p>
          </p:txBody>
        </p:sp>
      </p:grpSp>
      <p:sp>
        <p:nvSpPr>
          <p:cNvPr id="14" name="文字方塊 13">
            <a:extLst>
              <a:ext uri="{FF2B5EF4-FFF2-40B4-BE49-F238E27FC236}">
                <a16:creationId xmlns:a16="http://schemas.microsoft.com/office/drawing/2014/main" id="{9C07BF74-E268-4E68-BE71-5F75B7DC732A}"/>
              </a:ext>
            </a:extLst>
          </p:cNvPr>
          <p:cNvSpPr txBox="1"/>
          <p:nvPr/>
        </p:nvSpPr>
        <p:spPr>
          <a:xfrm>
            <a:off x="8585770" y="4631694"/>
            <a:ext cx="235962" cy="261610"/>
          </a:xfrm>
          <a:prstGeom prst="rect">
            <a:avLst/>
          </a:prstGeom>
          <a:noFill/>
        </p:spPr>
        <p:txBody>
          <a:bodyPr wrap="none" rtlCol="0">
            <a:spAutoFit/>
          </a:bodyPr>
          <a:lstStyle/>
          <a:p>
            <a:r>
              <a:rPr lang="en-US" altLang="zh-TW" sz="1100" dirty="0">
                <a:latin typeface="Montserrat" panose="02020500000000000000" charset="0"/>
              </a:rPr>
              <a:t>1</a:t>
            </a:r>
            <a:endParaRPr lang="zh-TW" altLang="en-US" sz="1100" dirty="0">
              <a:latin typeface="Montserrat" panose="02020500000000000000" charset="0"/>
            </a:endParaRPr>
          </a:p>
        </p:txBody>
      </p:sp>
      <p:sp>
        <p:nvSpPr>
          <p:cNvPr id="4" name="手繪多邊形: 圖案 3">
            <a:extLst>
              <a:ext uri="{FF2B5EF4-FFF2-40B4-BE49-F238E27FC236}">
                <a16:creationId xmlns:a16="http://schemas.microsoft.com/office/drawing/2014/main" id="{7323182C-8727-4C08-BB2A-2C9A206B18EF}"/>
              </a:ext>
            </a:extLst>
          </p:cNvPr>
          <p:cNvSpPr/>
          <p:nvPr/>
        </p:nvSpPr>
        <p:spPr>
          <a:xfrm>
            <a:off x="-243271" y="-287920"/>
            <a:ext cx="3032311" cy="2777951"/>
          </a:xfrm>
          <a:custGeom>
            <a:avLst/>
            <a:gdLst>
              <a:gd name="connsiteX0" fmla="*/ 3032311 w 3032311"/>
              <a:gd name="connsiteY0" fmla="*/ 0 h 2777951"/>
              <a:gd name="connsiteX1" fmla="*/ 2541494 w 3032311"/>
              <a:gd name="connsiteY1" fmla="*/ 732865 h 2777951"/>
              <a:gd name="connsiteX2" fmla="*/ 1230405 w 3032311"/>
              <a:gd name="connsiteY2" fmla="*/ 437030 h 2777951"/>
              <a:gd name="connsiteX3" fmla="*/ 853888 w 3032311"/>
              <a:gd name="connsiteY3" fmla="*/ 907677 h 2777951"/>
              <a:gd name="connsiteX4" fmla="*/ 1243852 w 3032311"/>
              <a:gd name="connsiteY4" fmla="*/ 1694330 h 2777951"/>
              <a:gd name="connsiteX5" fmla="*/ 1190064 w 3032311"/>
              <a:gd name="connsiteY5" fmla="*/ 2447365 h 2777951"/>
              <a:gd name="connsiteX6" fmla="*/ 685800 w 3032311"/>
              <a:gd name="connsiteY6" fmla="*/ 2776818 h 2777951"/>
              <a:gd name="connsiteX7" fmla="*/ 0 w 3032311"/>
              <a:gd name="connsiteY7" fmla="*/ 2534771 h 2777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2311" h="2777951">
                <a:moveTo>
                  <a:pt x="3032311" y="0"/>
                </a:moveTo>
                <a:cubicBezTo>
                  <a:pt x="2937061" y="330013"/>
                  <a:pt x="2841812" y="660027"/>
                  <a:pt x="2541494" y="732865"/>
                </a:cubicBezTo>
                <a:cubicBezTo>
                  <a:pt x="2241176" y="805703"/>
                  <a:pt x="1511673" y="407895"/>
                  <a:pt x="1230405" y="437030"/>
                </a:cubicBezTo>
                <a:cubicBezTo>
                  <a:pt x="949137" y="466165"/>
                  <a:pt x="851647" y="698127"/>
                  <a:pt x="853888" y="907677"/>
                </a:cubicBezTo>
                <a:cubicBezTo>
                  <a:pt x="856129" y="1117227"/>
                  <a:pt x="1187823" y="1437715"/>
                  <a:pt x="1243852" y="1694330"/>
                </a:cubicBezTo>
                <a:cubicBezTo>
                  <a:pt x="1299881" y="1950945"/>
                  <a:pt x="1283073" y="2266950"/>
                  <a:pt x="1190064" y="2447365"/>
                </a:cubicBezTo>
                <a:cubicBezTo>
                  <a:pt x="1097055" y="2627780"/>
                  <a:pt x="884144" y="2762250"/>
                  <a:pt x="685800" y="2776818"/>
                </a:cubicBezTo>
                <a:cubicBezTo>
                  <a:pt x="487456" y="2791386"/>
                  <a:pt x="243728" y="2663078"/>
                  <a:pt x="0" y="2534771"/>
                </a:cubicBezTo>
              </a:path>
            </a:pathLst>
          </a:cu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手繪多邊形: 圖案 22">
            <a:extLst>
              <a:ext uri="{FF2B5EF4-FFF2-40B4-BE49-F238E27FC236}">
                <a16:creationId xmlns:a16="http://schemas.microsoft.com/office/drawing/2014/main" id="{88AEC094-1CBA-4285-8EE6-1D2239FBC3B9}"/>
              </a:ext>
            </a:extLst>
          </p:cNvPr>
          <p:cNvSpPr/>
          <p:nvPr/>
        </p:nvSpPr>
        <p:spPr>
          <a:xfrm>
            <a:off x="-356180" y="-360541"/>
            <a:ext cx="3032311" cy="2777951"/>
          </a:xfrm>
          <a:custGeom>
            <a:avLst/>
            <a:gdLst>
              <a:gd name="connsiteX0" fmla="*/ 3032311 w 3032311"/>
              <a:gd name="connsiteY0" fmla="*/ 0 h 2777951"/>
              <a:gd name="connsiteX1" fmla="*/ 2541494 w 3032311"/>
              <a:gd name="connsiteY1" fmla="*/ 732865 h 2777951"/>
              <a:gd name="connsiteX2" fmla="*/ 1230405 w 3032311"/>
              <a:gd name="connsiteY2" fmla="*/ 437030 h 2777951"/>
              <a:gd name="connsiteX3" fmla="*/ 853888 w 3032311"/>
              <a:gd name="connsiteY3" fmla="*/ 907677 h 2777951"/>
              <a:gd name="connsiteX4" fmla="*/ 1243852 w 3032311"/>
              <a:gd name="connsiteY4" fmla="*/ 1694330 h 2777951"/>
              <a:gd name="connsiteX5" fmla="*/ 1190064 w 3032311"/>
              <a:gd name="connsiteY5" fmla="*/ 2447365 h 2777951"/>
              <a:gd name="connsiteX6" fmla="*/ 685800 w 3032311"/>
              <a:gd name="connsiteY6" fmla="*/ 2776818 h 2777951"/>
              <a:gd name="connsiteX7" fmla="*/ 0 w 3032311"/>
              <a:gd name="connsiteY7" fmla="*/ 2534771 h 2777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2311" h="2777951">
                <a:moveTo>
                  <a:pt x="3032311" y="0"/>
                </a:moveTo>
                <a:cubicBezTo>
                  <a:pt x="2937061" y="330013"/>
                  <a:pt x="2841812" y="660027"/>
                  <a:pt x="2541494" y="732865"/>
                </a:cubicBezTo>
                <a:cubicBezTo>
                  <a:pt x="2241176" y="805703"/>
                  <a:pt x="1511673" y="407895"/>
                  <a:pt x="1230405" y="437030"/>
                </a:cubicBezTo>
                <a:cubicBezTo>
                  <a:pt x="949137" y="466165"/>
                  <a:pt x="851647" y="698127"/>
                  <a:pt x="853888" y="907677"/>
                </a:cubicBezTo>
                <a:cubicBezTo>
                  <a:pt x="856129" y="1117227"/>
                  <a:pt x="1187823" y="1437715"/>
                  <a:pt x="1243852" y="1694330"/>
                </a:cubicBezTo>
                <a:cubicBezTo>
                  <a:pt x="1299881" y="1950945"/>
                  <a:pt x="1283073" y="2266950"/>
                  <a:pt x="1190064" y="2447365"/>
                </a:cubicBezTo>
                <a:cubicBezTo>
                  <a:pt x="1097055" y="2627780"/>
                  <a:pt x="884144" y="2762250"/>
                  <a:pt x="685800" y="2776818"/>
                </a:cubicBezTo>
                <a:cubicBezTo>
                  <a:pt x="487456" y="2791386"/>
                  <a:pt x="243728" y="2663078"/>
                  <a:pt x="0" y="2534771"/>
                </a:cubicBezTo>
              </a:path>
            </a:pathLst>
          </a:cu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手繪多邊形: 圖案 23">
            <a:extLst>
              <a:ext uri="{FF2B5EF4-FFF2-40B4-BE49-F238E27FC236}">
                <a16:creationId xmlns:a16="http://schemas.microsoft.com/office/drawing/2014/main" id="{23839127-E890-4842-B9AF-6A31890D16CA}"/>
              </a:ext>
            </a:extLst>
          </p:cNvPr>
          <p:cNvSpPr/>
          <p:nvPr/>
        </p:nvSpPr>
        <p:spPr>
          <a:xfrm rot="10800000">
            <a:off x="6747498" y="3497223"/>
            <a:ext cx="3032311" cy="1729916"/>
          </a:xfrm>
          <a:custGeom>
            <a:avLst/>
            <a:gdLst>
              <a:gd name="connsiteX0" fmla="*/ 3032311 w 3032311"/>
              <a:gd name="connsiteY0" fmla="*/ 0 h 2777951"/>
              <a:gd name="connsiteX1" fmla="*/ 2541494 w 3032311"/>
              <a:gd name="connsiteY1" fmla="*/ 732865 h 2777951"/>
              <a:gd name="connsiteX2" fmla="*/ 1230405 w 3032311"/>
              <a:gd name="connsiteY2" fmla="*/ 437030 h 2777951"/>
              <a:gd name="connsiteX3" fmla="*/ 853888 w 3032311"/>
              <a:gd name="connsiteY3" fmla="*/ 907677 h 2777951"/>
              <a:gd name="connsiteX4" fmla="*/ 1243852 w 3032311"/>
              <a:gd name="connsiteY4" fmla="*/ 1694330 h 2777951"/>
              <a:gd name="connsiteX5" fmla="*/ 1190064 w 3032311"/>
              <a:gd name="connsiteY5" fmla="*/ 2447365 h 2777951"/>
              <a:gd name="connsiteX6" fmla="*/ 685800 w 3032311"/>
              <a:gd name="connsiteY6" fmla="*/ 2776818 h 2777951"/>
              <a:gd name="connsiteX7" fmla="*/ 0 w 3032311"/>
              <a:gd name="connsiteY7" fmla="*/ 2534771 h 2777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2311" h="2777951">
                <a:moveTo>
                  <a:pt x="3032311" y="0"/>
                </a:moveTo>
                <a:cubicBezTo>
                  <a:pt x="2937061" y="330013"/>
                  <a:pt x="2841812" y="660027"/>
                  <a:pt x="2541494" y="732865"/>
                </a:cubicBezTo>
                <a:cubicBezTo>
                  <a:pt x="2241176" y="805703"/>
                  <a:pt x="1511673" y="407895"/>
                  <a:pt x="1230405" y="437030"/>
                </a:cubicBezTo>
                <a:cubicBezTo>
                  <a:pt x="949137" y="466165"/>
                  <a:pt x="851647" y="698127"/>
                  <a:pt x="853888" y="907677"/>
                </a:cubicBezTo>
                <a:cubicBezTo>
                  <a:pt x="856129" y="1117227"/>
                  <a:pt x="1187823" y="1437715"/>
                  <a:pt x="1243852" y="1694330"/>
                </a:cubicBezTo>
                <a:cubicBezTo>
                  <a:pt x="1299881" y="1950945"/>
                  <a:pt x="1283073" y="2266950"/>
                  <a:pt x="1190064" y="2447365"/>
                </a:cubicBezTo>
                <a:cubicBezTo>
                  <a:pt x="1097055" y="2627780"/>
                  <a:pt x="884144" y="2762250"/>
                  <a:pt x="685800" y="2776818"/>
                </a:cubicBezTo>
                <a:cubicBezTo>
                  <a:pt x="487456" y="2791386"/>
                  <a:pt x="243728" y="2663078"/>
                  <a:pt x="0" y="2534771"/>
                </a:cubicBez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手繪多邊形: 圖案 25">
            <a:extLst>
              <a:ext uri="{FF2B5EF4-FFF2-40B4-BE49-F238E27FC236}">
                <a16:creationId xmlns:a16="http://schemas.microsoft.com/office/drawing/2014/main" id="{E37057B9-CC77-4551-8E39-FA29758496E2}"/>
              </a:ext>
            </a:extLst>
          </p:cNvPr>
          <p:cNvSpPr/>
          <p:nvPr/>
        </p:nvSpPr>
        <p:spPr>
          <a:xfrm>
            <a:off x="1025691" y="750207"/>
            <a:ext cx="6792213" cy="3461164"/>
          </a:xfrm>
          <a:custGeom>
            <a:avLst/>
            <a:gdLst>
              <a:gd name="connsiteX0" fmla="*/ 6193211 w 7390362"/>
              <a:gd name="connsiteY0" fmla="*/ 475908 h 3968306"/>
              <a:gd name="connsiteX1" fmla="*/ 5487240 w 7390362"/>
              <a:gd name="connsiteY1" fmla="*/ 32155 h 3968306"/>
              <a:gd name="connsiteX2" fmla="*/ 4599734 w 7390362"/>
              <a:gd name="connsiteY2" fmla="*/ 85944 h 3968306"/>
              <a:gd name="connsiteX3" fmla="*/ 3745846 w 7390362"/>
              <a:gd name="connsiteY3" fmla="*/ 496079 h 3968306"/>
              <a:gd name="connsiteX4" fmla="*/ 2992811 w 7390362"/>
              <a:gd name="connsiteY4" fmla="*/ 475908 h 3968306"/>
              <a:gd name="connsiteX5" fmla="*/ 2098581 w 7390362"/>
              <a:gd name="connsiteY5" fmla="*/ 240585 h 3968306"/>
              <a:gd name="connsiteX6" fmla="*/ 1298481 w 7390362"/>
              <a:gd name="connsiteY6" fmla="*/ 348161 h 3968306"/>
              <a:gd name="connsiteX7" fmla="*/ 908516 w 7390362"/>
              <a:gd name="connsiteY7" fmla="*/ 933108 h 3968306"/>
              <a:gd name="connsiteX8" fmla="*/ 1110222 w 7390362"/>
              <a:gd name="connsiteY8" fmla="*/ 1773549 h 3968306"/>
              <a:gd name="connsiteX9" fmla="*/ 874899 w 7390362"/>
              <a:gd name="connsiteY9" fmla="*/ 2089555 h 3968306"/>
              <a:gd name="connsiteX10" fmla="*/ 303399 w 7390362"/>
              <a:gd name="connsiteY10" fmla="*/ 2089555 h 3968306"/>
              <a:gd name="connsiteX11" fmla="*/ 21011 w 7390362"/>
              <a:gd name="connsiteY11" fmla="*/ 2378667 h 3968306"/>
              <a:gd name="connsiteX12" fmla="*/ 68075 w 7390362"/>
              <a:gd name="connsiteY12" fmla="*/ 2909826 h 3968306"/>
              <a:gd name="connsiteX13" fmla="*/ 444593 w 7390362"/>
              <a:gd name="connsiteY13" fmla="*/ 3232555 h 3968306"/>
              <a:gd name="connsiteX14" fmla="*/ 1372440 w 7390362"/>
              <a:gd name="connsiteY14" fmla="*/ 3367026 h 3968306"/>
              <a:gd name="connsiteX15" fmla="*/ 2226328 w 7390362"/>
              <a:gd name="connsiteY15" fmla="*/ 3024126 h 3968306"/>
              <a:gd name="connsiteX16" fmla="*/ 2804552 w 7390362"/>
              <a:gd name="connsiteY16" fmla="*/ 3407367 h 3968306"/>
              <a:gd name="connsiteX17" fmla="*/ 3268475 w 7390362"/>
              <a:gd name="connsiteY17" fmla="*/ 3514944 h 3968306"/>
              <a:gd name="connsiteX18" fmla="*/ 3833252 w 7390362"/>
              <a:gd name="connsiteY18" fmla="*/ 3232555 h 3968306"/>
              <a:gd name="connsiteX19" fmla="*/ 4492158 w 7390362"/>
              <a:gd name="connsiteY19" fmla="*/ 3393920 h 3968306"/>
              <a:gd name="connsiteX20" fmla="*/ 4996422 w 7390362"/>
              <a:gd name="connsiteY20" fmla="*/ 3837673 h 3968306"/>
              <a:gd name="connsiteX21" fmla="*/ 5857034 w 7390362"/>
              <a:gd name="connsiteY21" fmla="*/ 3938526 h 3968306"/>
              <a:gd name="connsiteX22" fmla="*/ 6650411 w 7390362"/>
              <a:gd name="connsiteY22" fmla="*/ 3373749 h 3968306"/>
              <a:gd name="connsiteX23" fmla="*/ 6704199 w 7390362"/>
              <a:gd name="connsiteY23" fmla="*/ 2378667 h 3968306"/>
              <a:gd name="connsiteX24" fmla="*/ 6885734 w 7390362"/>
              <a:gd name="connsiteY24" fmla="*/ 1908020 h 3968306"/>
              <a:gd name="connsiteX25" fmla="*/ 7295869 w 7390362"/>
              <a:gd name="connsiteY25" fmla="*/ 1497885 h 3968306"/>
              <a:gd name="connsiteX26" fmla="*/ 7369828 w 7390362"/>
              <a:gd name="connsiteY26" fmla="*/ 1000344 h 3968306"/>
              <a:gd name="connsiteX27" fmla="*/ 7006758 w 7390362"/>
              <a:gd name="connsiteY27" fmla="*/ 657444 h 3968306"/>
              <a:gd name="connsiteX28" fmla="*/ 6193211 w 7390362"/>
              <a:gd name="connsiteY28" fmla="*/ 475908 h 3968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90362" h="3968306">
                <a:moveTo>
                  <a:pt x="6193211" y="475908"/>
                </a:moveTo>
                <a:cubicBezTo>
                  <a:pt x="5939958" y="371693"/>
                  <a:pt x="5752819" y="97149"/>
                  <a:pt x="5487240" y="32155"/>
                </a:cubicBezTo>
                <a:cubicBezTo>
                  <a:pt x="5221661" y="-32839"/>
                  <a:pt x="4889966" y="8623"/>
                  <a:pt x="4599734" y="85944"/>
                </a:cubicBezTo>
                <a:cubicBezTo>
                  <a:pt x="4309502" y="163265"/>
                  <a:pt x="4013666" y="431085"/>
                  <a:pt x="3745846" y="496079"/>
                </a:cubicBezTo>
                <a:cubicBezTo>
                  <a:pt x="3478026" y="561073"/>
                  <a:pt x="3267355" y="518490"/>
                  <a:pt x="2992811" y="475908"/>
                </a:cubicBezTo>
                <a:cubicBezTo>
                  <a:pt x="2718267" y="433326"/>
                  <a:pt x="2380969" y="261876"/>
                  <a:pt x="2098581" y="240585"/>
                </a:cubicBezTo>
                <a:cubicBezTo>
                  <a:pt x="1816193" y="219294"/>
                  <a:pt x="1496825" y="232740"/>
                  <a:pt x="1298481" y="348161"/>
                </a:cubicBezTo>
                <a:cubicBezTo>
                  <a:pt x="1100137" y="463581"/>
                  <a:pt x="939892" y="695543"/>
                  <a:pt x="908516" y="933108"/>
                </a:cubicBezTo>
                <a:cubicBezTo>
                  <a:pt x="877140" y="1170673"/>
                  <a:pt x="1115825" y="1580808"/>
                  <a:pt x="1110222" y="1773549"/>
                </a:cubicBezTo>
                <a:cubicBezTo>
                  <a:pt x="1104619" y="1966290"/>
                  <a:pt x="1009369" y="2036887"/>
                  <a:pt x="874899" y="2089555"/>
                </a:cubicBezTo>
                <a:cubicBezTo>
                  <a:pt x="740428" y="2142223"/>
                  <a:pt x="445714" y="2041370"/>
                  <a:pt x="303399" y="2089555"/>
                </a:cubicBezTo>
                <a:cubicBezTo>
                  <a:pt x="161084" y="2137740"/>
                  <a:pt x="60232" y="2241955"/>
                  <a:pt x="21011" y="2378667"/>
                </a:cubicBezTo>
                <a:cubicBezTo>
                  <a:pt x="-18210" y="2515379"/>
                  <a:pt x="-2522" y="2767511"/>
                  <a:pt x="68075" y="2909826"/>
                </a:cubicBezTo>
                <a:cubicBezTo>
                  <a:pt x="138672" y="3052141"/>
                  <a:pt x="227199" y="3156355"/>
                  <a:pt x="444593" y="3232555"/>
                </a:cubicBezTo>
                <a:cubicBezTo>
                  <a:pt x="661987" y="3308755"/>
                  <a:pt x="1075484" y="3401764"/>
                  <a:pt x="1372440" y="3367026"/>
                </a:cubicBezTo>
                <a:cubicBezTo>
                  <a:pt x="1669396" y="3332288"/>
                  <a:pt x="1987643" y="3017403"/>
                  <a:pt x="2226328" y="3024126"/>
                </a:cubicBezTo>
                <a:cubicBezTo>
                  <a:pt x="2465013" y="3030850"/>
                  <a:pt x="2630861" y="3325564"/>
                  <a:pt x="2804552" y="3407367"/>
                </a:cubicBezTo>
                <a:cubicBezTo>
                  <a:pt x="2978243" y="3489170"/>
                  <a:pt x="3097025" y="3544079"/>
                  <a:pt x="3268475" y="3514944"/>
                </a:cubicBezTo>
                <a:cubicBezTo>
                  <a:pt x="3439925" y="3485809"/>
                  <a:pt x="3629305" y="3252726"/>
                  <a:pt x="3833252" y="3232555"/>
                </a:cubicBezTo>
                <a:cubicBezTo>
                  <a:pt x="4037199" y="3212384"/>
                  <a:pt x="4298296" y="3293067"/>
                  <a:pt x="4492158" y="3393920"/>
                </a:cubicBezTo>
                <a:cubicBezTo>
                  <a:pt x="4686020" y="3494773"/>
                  <a:pt x="4768943" y="3746905"/>
                  <a:pt x="4996422" y="3837673"/>
                </a:cubicBezTo>
                <a:cubicBezTo>
                  <a:pt x="5223901" y="3928441"/>
                  <a:pt x="5581369" y="4015847"/>
                  <a:pt x="5857034" y="3938526"/>
                </a:cubicBezTo>
                <a:cubicBezTo>
                  <a:pt x="6132699" y="3861205"/>
                  <a:pt x="6509217" y="3633725"/>
                  <a:pt x="6650411" y="3373749"/>
                </a:cubicBezTo>
                <a:cubicBezTo>
                  <a:pt x="6791605" y="3113773"/>
                  <a:pt x="6664979" y="2622955"/>
                  <a:pt x="6704199" y="2378667"/>
                </a:cubicBezTo>
                <a:cubicBezTo>
                  <a:pt x="6743420" y="2134379"/>
                  <a:pt x="6787122" y="2054817"/>
                  <a:pt x="6885734" y="1908020"/>
                </a:cubicBezTo>
                <a:cubicBezTo>
                  <a:pt x="6984346" y="1761223"/>
                  <a:pt x="7215187" y="1649164"/>
                  <a:pt x="7295869" y="1497885"/>
                </a:cubicBezTo>
                <a:cubicBezTo>
                  <a:pt x="7376551" y="1346606"/>
                  <a:pt x="7418013" y="1140417"/>
                  <a:pt x="7369828" y="1000344"/>
                </a:cubicBezTo>
                <a:cubicBezTo>
                  <a:pt x="7321643" y="860271"/>
                  <a:pt x="7202861" y="745971"/>
                  <a:pt x="7006758" y="657444"/>
                </a:cubicBezTo>
                <a:cubicBezTo>
                  <a:pt x="6810655" y="568917"/>
                  <a:pt x="6446464" y="580123"/>
                  <a:pt x="6193211" y="475908"/>
                </a:cubicBezTo>
                <a:close/>
              </a:path>
            </a:pathLst>
          </a:custGeom>
          <a:no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手繪多邊形: 圖案 24">
            <a:extLst>
              <a:ext uri="{FF2B5EF4-FFF2-40B4-BE49-F238E27FC236}">
                <a16:creationId xmlns:a16="http://schemas.microsoft.com/office/drawing/2014/main" id="{91FDABBA-8618-4260-BC50-34CE08B18F9B}"/>
              </a:ext>
            </a:extLst>
          </p:cNvPr>
          <p:cNvSpPr/>
          <p:nvPr/>
        </p:nvSpPr>
        <p:spPr>
          <a:xfrm rot="10800000">
            <a:off x="6878141" y="2042546"/>
            <a:ext cx="3032311" cy="3611957"/>
          </a:xfrm>
          <a:custGeom>
            <a:avLst/>
            <a:gdLst>
              <a:gd name="connsiteX0" fmla="*/ 3032311 w 3032311"/>
              <a:gd name="connsiteY0" fmla="*/ 0 h 2777951"/>
              <a:gd name="connsiteX1" fmla="*/ 2541494 w 3032311"/>
              <a:gd name="connsiteY1" fmla="*/ 732865 h 2777951"/>
              <a:gd name="connsiteX2" fmla="*/ 1230405 w 3032311"/>
              <a:gd name="connsiteY2" fmla="*/ 437030 h 2777951"/>
              <a:gd name="connsiteX3" fmla="*/ 853888 w 3032311"/>
              <a:gd name="connsiteY3" fmla="*/ 907677 h 2777951"/>
              <a:gd name="connsiteX4" fmla="*/ 1243852 w 3032311"/>
              <a:gd name="connsiteY4" fmla="*/ 1694330 h 2777951"/>
              <a:gd name="connsiteX5" fmla="*/ 1190064 w 3032311"/>
              <a:gd name="connsiteY5" fmla="*/ 2447365 h 2777951"/>
              <a:gd name="connsiteX6" fmla="*/ 685800 w 3032311"/>
              <a:gd name="connsiteY6" fmla="*/ 2776818 h 2777951"/>
              <a:gd name="connsiteX7" fmla="*/ 0 w 3032311"/>
              <a:gd name="connsiteY7" fmla="*/ 2534771 h 2777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2311" h="2777951">
                <a:moveTo>
                  <a:pt x="3032311" y="0"/>
                </a:moveTo>
                <a:cubicBezTo>
                  <a:pt x="2937061" y="330013"/>
                  <a:pt x="2841812" y="660027"/>
                  <a:pt x="2541494" y="732865"/>
                </a:cubicBezTo>
                <a:cubicBezTo>
                  <a:pt x="2241176" y="805703"/>
                  <a:pt x="1511673" y="407895"/>
                  <a:pt x="1230405" y="437030"/>
                </a:cubicBezTo>
                <a:cubicBezTo>
                  <a:pt x="949137" y="466165"/>
                  <a:pt x="851647" y="698127"/>
                  <a:pt x="853888" y="907677"/>
                </a:cubicBezTo>
                <a:cubicBezTo>
                  <a:pt x="856129" y="1117227"/>
                  <a:pt x="1187823" y="1437715"/>
                  <a:pt x="1243852" y="1694330"/>
                </a:cubicBezTo>
                <a:cubicBezTo>
                  <a:pt x="1299881" y="1950945"/>
                  <a:pt x="1283073" y="2266950"/>
                  <a:pt x="1190064" y="2447365"/>
                </a:cubicBezTo>
                <a:cubicBezTo>
                  <a:pt x="1097055" y="2627780"/>
                  <a:pt x="884144" y="2762250"/>
                  <a:pt x="685800" y="2776818"/>
                </a:cubicBezTo>
                <a:cubicBezTo>
                  <a:pt x="487456" y="2791386"/>
                  <a:pt x="243728" y="2663078"/>
                  <a:pt x="0" y="2534771"/>
                </a:cubicBezTo>
              </a:path>
            </a:pathLst>
          </a:cu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2" name="Google Shape;192;p34"/>
          <p:cNvSpPr txBox="1">
            <a:spLocks noGrp="1"/>
          </p:cNvSpPr>
          <p:nvPr>
            <p:ph type="ctrTitle"/>
          </p:nvPr>
        </p:nvSpPr>
        <p:spPr>
          <a:xfrm>
            <a:off x="1385794" y="1101056"/>
            <a:ext cx="6372412" cy="868869"/>
          </a:xfrm>
          <a:prstGeom prst="rect">
            <a:avLst/>
          </a:prstGeom>
        </p:spPr>
        <p:txBody>
          <a:bodyPr spcFirstLastPara="1" wrap="square" lIns="91425" tIns="91425" rIns="91425" bIns="91425" anchor="ctr" anchorCtr="0">
            <a:noAutofit/>
          </a:bodyPr>
          <a:lstStyle/>
          <a:p>
            <a:pPr lvl="0">
              <a:lnSpc>
                <a:spcPct val="150000"/>
              </a:lnSpc>
            </a:pPr>
            <a:r>
              <a:rPr lang="zh-TW" altLang="en-US" sz="2000" b="1" dirty="0">
                <a:latin typeface="標楷體" panose="03000509000000000000" pitchFamily="65" charset="-120"/>
                <a:ea typeface="標楷體" panose="03000509000000000000" pitchFamily="65" charset="-120"/>
              </a:rPr>
              <a:t>積體非週期晶疇極化反轉鈮酸鋰波導晶片作為電光調制自發參量下轉換偏振相依光子對之研究</a:t>
            </a:r>
            <a:endParaRPr sz="2000" b="1" dirty="0">
              <a:latin typeface="標楷體" panose="03000509000000000000" pitchFamily="65" charset="-120"/>
              <a:ea typeface="標楷體" panose="03000509000000000000" pitchFamily="65" charset="-120"/>
            </a:endParaRPr>
          </a:p>
        </p:txBody>
      </p:sp>
      <p:sp>
        <p:nvSpPr>
          <p:cNvPr id="193" name="Google Shape;193;p34"/>
          <p:cNvSpPr txBox="1">
            <a:spLocks noGrp="1"/>
          </p:cNvSpPr>
          <p:nvPr>
            <p:ph type="subTitle" idx="1"/>
          </p:nvPr>
        </p:nvSpPr>
        <p:spPr>
          <a:xfrm>
            <a:off x="2021400" y="3422668"/>
            <a:ext cx="5101200" cy="619776"/>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Clr>
                <a:schemeClr val="dk1"/>
              </a:buClr>
              <a:buSzPts val="1100"/>
              <a:buFont typeface="Arial"/>
              <a:buNone/>
            </a:pPr>
            <a:r>
              <a:rPr lang="zh-TW" altLang="en-US" sz="1400" dirty="0">
                <a:latin typeface="Montserrat" panose="02020500000000000000" charset="0"/>
                <a:ea typeface="標楷體" panose="03000509000000000000" pitchFamily="65" charset="-120"/>
              </a:rPr>
              <a:t>蕭孟庭 </a:t>
            </a:r>
            <a:r>
              <a:rPr lang="en-US" altLang="zh-TW" sz="1400" dirty="0">
                <a:latin typeface="Montserrat" panose="02020500000000000000" charset="0"/>
                <a:ea typeface="標楷體" panose="03000509000000000000" pitchFamily="65" charset="-120"/>
              </a:rPr>
              <a:t>HSIAO, MENG-TING</a:t>
            </a:r>
          </a:p>
          <a:p>
            <a:pPr marL="0" lvl="0" indent="0" algn="ctr" rtl="0">
              <a:lnSpc>
                <a:spcPct val="150000"/>
              </a:lnSpc>
              <a:spcBef>
                <a:spcPts val="0"/>
              </a:spcBef>
              <a:spcAft>
                <a:spcPts val="0"/>
              </a:spcAft>
              <a:buClr>
                <a:schemeClr val="dk1"/>
              </a:buClr>
              <a:buSzPts val="1100"/>
              <a:buFont typeface="Arial"/>
              <a:buNone/>
            </a:pPr>
            <a:r>
              <a:rPr lang="zh-TW" altLang="en-US" sz="1400" dirty="0">
                <a:latin typeface="Montserrat" panose="02020500000000000000" charset="0"/>
                <a:ea typeface="標楷體" panose="03000509000000000000" pitchFamily="65" charset="-120"/>
              </a:rPr>
              <a:t>指導教授：陳彥宏 博士</a:t>
            </a:r>
            <a:endParaRPr lang="en-US" altLang="zh-TW" sz="1400" dirty="0">
              <a:latin typeface="Montserrat" panose="02020500000000000000" charset="0"/>
              <a:ea typeface="標楷體" panose="03000509000000000000" pitchFamily="65" charset="-120"/>
            </a:endParaRPr>
          </a:p>
        </p:txBody>
      </p:sp>
      <p:sp>
        <p:nvSpPr>
          <p:cNvPr id="21" name="Google Shape;192;p34">
            <a:extLst>
              <a:ext uri="{FF2B5EF4-FFF2-40B4-BE49-F238E27FC236}">
                <a16:creationId xmlns:a16="http://schemas.microsoft.com/office/drawing/2014/main" id="{E1281E28-C296-4680-A667-59964E198FEE}"/>
              </a:ext>
            </a:extLst>
          </p:cNvPr>
          <p:cNvSpPr txBox="1">
            <a:spLocks/>
          </p:cNvSpPr>
          <p:nvPr/>
        </p:nvSpPr>
        <p:spPr>
          <a:xfrm>
            <a:off x="1234287" y="2049281"/>
            <a:ext cx="6675426" cy="104493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75000"/>
              </a:lnSpc>
              <a:spcBef>
                <a:spcPts val="0"/>
              </a:spcBef>
              <a:spcAft>
                <a:spcPts val="0"/>
              </a:spcAft>
              <a:buClr>
                <a:schemeClr val="dk1"/>
              </a:buClr>
              <a:buSzPts val="4800"/>
              <a:buFont typeface="Oswald"/>
              <a:buNone/>
              <a:defRPr sz="4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2pPr>
            <a:lvl3pPr marR="0" lvl="2"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3pPr>
            <a:lvl4pPr marR="0" lvl="3"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4pPr>
            <a:lvl5pPr marR="0" lvl="4"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5pPr>
            <a:lvl6pPr marR="0" lvl="5"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6pPr>
            <a:lvl7pPr marR="0" lvl="6"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7pPr>
            <a:lvl8pPr marR="0" lvl="7"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8pPr>
            <a:lvl9pPr marR="0" lvl="8" algn="ctr" rtl="0">
              <a:lnSpc>
                <a:spcPct val="100000"/>
              </a:lnSpc>
              <a:spcBef>
                <a:spcPts val="0"/>
              </a:spcBef>
              <a:spcAft>
                <a:spcPts val="0"/>
              </a:spcAft>
              <a:buClr>
                <a:schemeClr val="dk1"/>
              </a:buClr>
              <a:buSzPts val="4800"/>
              <a:buFont typeface="Merriweather"/>
              <a:buNone/>
              <a:defRPr sz="4800" b="1" i="0" u="none" strike="noStrike" cap="none">
                <a:solidFill>
                  <a:schemeClr val="dk1"/>
                </a:solidFill>
                <a:latin typeface="Merriweather"/>
                <a:ea typeface="Merriweather"/>
                <a:cs typeface="Merriweather"/>
                <a:sym typeface="Merriweather"/>
              </a:defRPr>
            </a:lvl9pPr>
          </a:lstStyle>
          <a:p>
            <a:pPr>
              <a:lnSpc>
                <a:spcPct val="150000"/>
              </a:lnSpc>
            </a:pPr>
            <a:r>
              <a:rPr lang="en-US" sz="1600" b="1" dirty="0">
                <a:latin typeface="Montserrat" panose="02020500000000000000" charset="0"/>
              </a:rPr>
              <a:t>Study of electro-optically controlled polarization-correlated spontaneous parametric down-conversion photon pairs based on </a:t>
            </a:r>
            <a:r>
              <a:rPr lang="en-US" sz="1600" b="1" dirty="0" err="1">
                <a:latin typeface="Montserrat" panose="02020500000000000000" charset="0"/>
              </a:rPr>
              <a:t>aperiodically</a:t>
            </a:r>
            <a:r>
              <a:rPr lang="en-US" sz="1600" b="1" dirty="0">
                <a:latin typeface="Montserrat" panose="02020500000000000000" charset="0"/>
              </a:rPr>
              <a:t> poled lithium </a:t>
            </a:r>
            <a:r>
              <a:rPr lang="en-US" sz="1600" b="1" dirty="0" err="1">
                <a:latin typeface="Montserrat" panose="02020500000000000000" charset="0"/>
              </a:rPr>
              <a:t>niobate</a:t>
            </a:r>
            <a:r>
              <a:rPr lang="en-US" sz="1600" b="1" dirty="0">
                <a:latin typeface="Montserrat" panose="02020500000000000000" charset="0"/>
              </a:rPr>
              <a:t> waveguides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12" name="Google Shape;212;p36"/>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Outline</a:t>
            </a:r>
            <a:endParaRPr sz="2000" dirty="0"/>
          </a:p>
        </p:txBody>
      </p:sp>
      <p:sp>
        <p:nvSpPr>
          <p:cNvPr id="221" name="Google Shape;221;p36"/>
          <p:cNvSpPr txBox="1">
            <a:spLocks noGrp="1"/>
          </p:cNvSpPr>
          <p:nvPr>
            <p:ph type="title" idx="9"/>
          </p:nvPr>
        </p:nvSpPr>
        <p:spPr>
          <a:xfrm>
            <a:off x="780801" y="1067069"/>
            <a:ext cx="404292" cy="35168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latin typeface="Montserrat" panose="02020500000000000000" charset="0"/>
              </a:rPr>
              <a:t>i</a:t>
            </a:r>
            <a:endParaRPr sz="1800" dirty="0">
              <a:latin typeface="Montserrat" panose="02020500000000000000" charset="0"/>
            </a:endParaRPr>
          </a:p>
        </p:txBody>
      </p:sp>
      <p:grpSp>
        <p:nvGrpSpPr>
          <p:cNvPr id="28" name="群組 27">
            <a:extLst>
              <a:ext uri="{FF2B5EF4-FFF2-40B4-BE49-F238E27FC236}">
                <a16:creationId xmlns:a16="http://schemas.microsoft.com/office/drawing/2014/main" id="{1662DAE5-B8AB-4FAF-BE9B-F5766B0BF9F3}"/>
              </a:ext>
            </a:extLst>
          </p:cNvPr>
          <p:cNvGrpSpPr/>
          <p:nvPr/>
        </p:nvGrpSpPr>
        <p:grpSpPr>
          <a:xfrm>
            <a:off x="780801" y="2381168"/>
            <a:ext cx="2513110" cy="404100"/>
            <a:chOff x="1481958" y="2571750"/>
            <a:chExt cx="2513110" cy="404100"/>
          </a:xfrm>
        </p:grpSpPr>
        <p:sp>
          <p:nvSpPr>
            <p:cNvPr id="53" name="Google Shape;211;p36">
              <a:extLst>
                <a:ext uri="{FF2B5EF4-FFF2-40B4-BE49-F238E27FC236}">
                  <a16:creationId xmlns:a16="http://schemas.microsoft.com/office/drawing/2014/main" id="{E7087DE6-A918-4C0A-869A-23A4CA0BF35B}"/>
                </a:ext>
              </a:extLst>
            </p:cNvPr>
            <p:cNvSpPr/>
            <p:nvPr/>
          </p:nvSpPr>
          <p:spPr>
            <a:xfrm>
              <a:off x="1481958" y="2571750"/>
              <a:ext cx="404292" cy="4041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221;p36">
              <a:extLst>
                <a:ext uri="{FF2B5EF4-FFF2-40B4-BE49-F238E27FC236}">
                  <a16:creationId xmlns:a16="http://schemas.microsoft.com/office/drawing/2014/main" id="{4853947C-3545-42C6-B365-EB5213A89A43}"/>
                </a:ext>
              </a:extLst>
            </p:cNvPr>
            <p:cNvSpPr txBox="1">
              <a:spLocks/>
            </p:cNvSpPr>
            <p:nvPr/>
          </p:nvSpPr>
          <p:spPr>
            <a:xfrm>
              <a:off x="1481958" y="2612741"/>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ii</a:t>
              </a:r>
            </a:p>
          </p:txBody>
        </p:sp>
        <p:sp>
          <p:nvSpPr>
            <p:cNvPr id="64" name="文字方塊 63">
              <a:extLst>
                <a:ext uri="{FF2B5EF4-FFF2-40B4-BE49-F238E27FC236}">
                  <a16:creationId xmlns:a16="http://schemas.microsoft.com/office/drawing/2014/main" id="{F5CE1EBE-81D8-4969-9E1C-6170A82E9168}"/>
                </a:ext>
              </a:extLst>
            </p:cNvPr>
            <p:cNvSpPr txBox="1"/>
            <p:nvPr/>
          </p:nvSpPr>
          <p:spPr>
            <a:xfrm>
              <a:off x="2010229" y="2619911"/>
              <a:ext cx="1984839" cy="307777"/>
            </a:xfrm>
            <a:prstGeom prst="rect">
              <a:avLst/>
            </a:prstGeom>
            <a:noFill/>
          </p:spPr>
          <p:txBody>
            <a:bodyPr wrap="none" rtlCol="0">
              <a:spAutoFit/>
            </a:bodyPr>
            <a:lstStyle/>
            <a:p>
              <a:r>
                <a:rPr lang="en-US" altLang="zh-TW" b="1" dirty="0">
                  <a:solidFill>
                    <a:schemeClr val="tx1"/>
                  </a:solidFill>
                  <a:latin typeface="Montserrat"/>
                  <a:sym typeface="Montserrat"/>
                </a:rPr>
                <a:t>Working principles</a:t>
              </a:r>
              <a:endParaRPr lang="en-US" altLang="zh-TW" dirty="0">
                <a:solidFill>
                  <a:schemeClr val="tx1"/>
                </a:solidFill>
              </a:endParaRPr>
            </a:p>
          </p:txBody>
        </p:sp>
      </p:grpSp>
      <p:grpSp>
        <p:nvGrpSpPr>
          <p:cNvPr id="27" name="群組 26">
            <a:extLst>
              <a:ext uri="{FF2B5EF4-FFF2-40B4-BE49-F238E27FC236}">
                <a16:creationId xmlns:a16="http://schemas.microsoft.com/office/drawing/2014/main" id="{A92EF7FA-1FCD-43DD-BE54-D8A1D14CFB92}"/>
              </a:ext>
            </a:extLst>
          </p:cNvPr>
          <p:cNvGrpSpPr/>
          <p:nvPr/>
        </p:nvGrpSpPr>
        <p:grpSpPr>
          <a:xfrm>
            <a:off x="780801" y="3987312"/>
            <a:ext cx="1736518" cy="404100"/>
            <a:chOff x="1481958" y="3924706"/>
            <a:chExt cx="1736518" cy="404100"/>
          </a:xfrm>
        </p:grpSpPr>
        <p:sp>
          <p:nvSpPr>
            <p:cNvPr id="225" name="Google Shape;225;p36"/>
            <p:cNvSpPr/>
            <p:nvPr/>
          </p:nvSpPr>
          <p:spPr>
            <a:xfrm>
              <a:off x="3218418" y="4307130"/>
              <a:ext cx="58" cy="43"/>
            </a:xfrm>
            <a:custGeom>
              <a:avLst/>
              <a:gdLst/>
              <a:ahLst/>
              <a:cxnLst/>
              <a:rect l="l" t="t" r="r" b="b"/>
              <a:pathLst>
                <a:path w="1" h="1" extrusionOk="0">
                  <a:moveTo>
                    <a:pt x="0" y="1"/>
                  </a:moveTo>
                  <a:lnTo>
                    <a:pt x="0" y="1"/>
                  </a:lnTo>
                  <a:lnTo>
                    <a:pt x="0" y="1"/>
                  </a:lnTo>
                  <a:close/>
                </a:path>
              </a:pathLst>
            </a:custGeom>
            <a:solidFill>
              <a:srgbClr val="FF7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1;p36">
              <a:extLst>
                <a:ext uri="{FF2B5EF4-FFF2-40B4-BE49-F238E27FC236}">
                  <a16:creationId xmlns:a16="http://schemas.microsoft.com/office/drawing/2014/main" id="{1345AB1F-3EB0-4D2F-86C2-49EA5FC61AB3}"/>
                </a:ext>
              </a:extLst>
            </p:cNvPr>
            <p:cNvSpPr/>
            <p:nvPr/>
          </p:nvSpPr>
          <p:spPr>
            <a:xfrm>
              <a:off x="1481958" y="3924706"/>
              <a:ext cx="404292" cy="4041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21;p36">
              <a:extLst>
                <a:ext uri="{FF2B5EF4-FFF2-40B4-BE49-F238E27FC236}">
                  <a16:creationId xmlns:a16="http://schemas.microsoft.com/office/drawing/2014/main" id="{10C55413-89E2-4081-9712-BA80D66E2D3A}"/>
                </a:ext>
              </a:extLst>
            </p:cNvPr>
            <p:cNvSpPr txBox="1">
              <a:spLocks/>
            </p:cNvSpPr>
            <p:nvPr/>
          </p:nvSpPr>
          <p:spPr>
            <a:xfrm>
              <a:off x="1481958" y="3950914"/>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iii</a:t>
              </a:r>
            </a:p>
          </p:txBody>
        </p:sp>
        <p:sp>
          <p:nvSpPr>
            <p:cNvPr id="65" name="文字方塊 64">
              <a:extLst>
                <a:ext uri="{FF2B5EF4-FFF2-40B4-BE49-F238E27FC236}">
                  <a16:creationId xmlns:a16="http://schemas.microsoft.com/office/drawing/2014/main" id="{BC2823F6-B9F3-43F9-8BAF-5292CB68ADBC}"/>
                </a:ext>
              </a:extLst>
            </p:cNvPr>
            <p:cNvSpPr txBox="1"/>
            <p:nvPr/>
          </p:nvSpPr>
          <p:spPr>
            <a:xfrm>
              <a:off x="2010229" y="3972866"/>
              <a:ext cx="1202573" cy="307777"/>
            </a:xfrm>
            <a:prstGeom prst="rect">
              <a:avLst/>
            </a:prstGeom>
            <a:noFill/>
          </p:spPr>
          <p:txBody>
            <a:bodyPr wrap="none" rtlCol="0">
              <a:spAutoFit/>
            </a:bodyPr>
            <a:lstStyle/>
            <a:p>
              <a:pPr lvl="0"/>
              <a:r>
                <a:rPr lang="en-US" altLang="zh-TW" b="1" dirty="0">
                  <a:solidFill>
                    <a:schemeClr val="tx1"/>
                  </a:solidFill>
                  <a:latin typeface="Montserrat"/>
                  <a:ea typeface="Montserrat"/>
                  <a:cs typeface="Montserrat"/>
                  <a:sym typeface="Montserrat"/>
                </a:rPr>
                <a:t>Simulation</a:t>
              </a:r>
              <a:endParaRPr lang="en-US" altLang="zh-TW" dirty="0">
                <a:solidFill>
                  <a:schemeClr val="tx1"/>
                </a:solidFill>
              </a:endParaRPr>
            </a:p>
          </p:txBody>
        </p:sp>
      </p:grpSp>
      <p:grpSp>
        <p:nvGrpSpPr>
          <p:cNvPr id="68" name="群組 67">
            <a:extLst>
              <a:ext uri="{FF2B5EF4-FFF2-40B4-BE49-F238E27FC236}">
                <a16:creationId xmlns:a16="http://schemas.microsoft.com/office/drawing/2014/main" id="{EA8983D7-AFBF-4549-80F3-B5F92FC1D3CC}"/>
              </a:ext>
            </a:extLst>
          </p:cNvPr>
          <p:cNvGrpSpPr/>
          <p:nvPr/>
        </p:nvGrpSpPr>
        <p:grpSpPr>
          <a:xfrm>
            <a:off x="780801" y="980051"/>
            <a:ext cx="1895953" cy="404100"/>
            <a:chOff x="1481958" y="3924706"/>
            <a:chExt cx="1895953" cy="404100"/>
          </a:xfrm>
        </p:grpSpPr>
        <p:sp>
          <p:nvSpPr>
            <p:cNvPr id="69" name="Google Shape;225;p36">
              <a:extLst>
                <a:ext uri="{FF2B5EF4-FFF2-40B4-BE49-F238E27FC236}">
                  <a16:creationId xmlns:a16="http://schemas.microsoft.com/office/drawing/2014/main" id="{9302FB0B-2857-41B3-9758-D3A0EC8F358C}"/>
                </a:ext>
              </a:extLst>
            </p:cNvPr>
            <p:cNvSpPr/>
            <p:nvPr/>
          </p:nvSpPr>
          <p:spPr>
            <a:xfrm>
              <a:off x="3218418" y="4307130"/>
              <a:ext cx="58" cy="43"/>
            </a:xfrm>
            <a:custGeom>
              <a:avLst/>
              <a:gdLst/>
              <a:ahLst/>
              <a:cxnLst/>
              <a:rect l="l" t="t" r="r" b="b"/>
              <a:pathLst>
                <a:path w="1" h="1" extrusionOk="0">
                  <a:moveTo>
                    <a:pt x="0" y="1"/>
                  </a:moveTo>
                  <a:lnTo>
                    <a:pt x="0" y="1"/>
                  </a:lnTo>
                  <a:lnTo>
                    <a:pt x="0" y="1"/>
                  </a:lnTo>
                  <a:close/>
                </a:path>
              </a:pathLst>
            </a:custGeom>
            <a:solidFill>
              <a:srgbClr val="FF7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211;p36">
              <a:extLst>
                <a:ext uri="{FF2B5EF4-FFF2-40B4-BE49-F238E27FC236}">
                  <a16:creationId xmlns:a16="http://schemas.microsoft.com/office/drawing/2014/main" id="{0CEAD84F-9DBF-4FD2-BFA6-DCF54A9C3F46}"/>
                </a:ext>
              </a:extLst>
            </p:cNvPr>
            <p:cNvSpPr/>
            <p:nvPr/>
          </p:nvSpPr>
          <p:spPr>
            <a:xfrm>
              <a:off x="1481958" y="3924706"/>
              <a:ext cx="404292" cy="4041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21;p36">
              <a:extLst>
                <a:ext uri="{FF2B5EF4-FFF2-40B4-BE49-F238E27FC236}">
                  <a16:creationId xmlns:a16="http://schemas.microsoft.com/office/drawing/2014/main" id="{630D6206-2102-4613-BF3A-F0A78B91FE50}"/>
                </a:ext>
              </a:extLst>
            </p:cNvPr>
            <p:cNvSpPr txBox="1">
              <a:spLocks/>
            </p:cNvSpPr>
            <p:nvPr/>
          </p:nvSpPr>
          <p:spPr>
            <a:xfrm>
              <a:off x="1481958" y="3950914"/>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err="1">
                  <a:latin typeface="Montserrat" panose="02020500000000000000" charset="0"/>
                </a:rPr>
                <a:t>i</a:t>
              </a:r>
              <a:endParaRPr lang="en-US" sz="1800" dirty="0">
                <a:latin typeface="Montserrat" panose="02020500000000000000" charset="0"/>
              </a:endParaRPr>
            </a:p>
          </p:txBody>
        </p:sp>
        <p:sp>
          <p:nvSpPr>
            <p:cNvPr id="72" name="文字方塊 71">
              <a:extLst>
                <a:ext uri="{FF2B5EF4-FFF2-40B4-BE49-F238E27FC236}">
                  <a16:creationId xmlns:a16="http://schemas.microsoft.com/office/drawing/2014/main" id="{E9745332-4DC7-4F2F-9D6B-AD4A7457E010}"/>
                </a:ext>
              </a:extLst>
            </p:cNvPr>
            <p:cNvSpPr txBox="1"/>
            <p:nvPr/>
          </p:nvSpPr>
          <p:spPr>
            <a:xfrm>
              <a:off x="2010229" y="3972866"/>
              <a:ext cx="1367682" cy="307777"/>
            </a:xfrm>
            <a:prstGeom prst="rect">
              <a:avLst/>
            </a:prstGeom>
            <a:noFill/>
          </p:spPr>
          <p:txBody>
            <a:bodyPr wrap="none" rtlCol="0">
              <a:spAutoFit/>
            </a:bodyPr>
            <a:lstStyle/>
            <a:p>
              <a:pPr lvl="0"/>
              <a:r>
                <a:rPr lang="en-US" altLang="zh-TW" b="1" dirty="0">
                  <a:solidFill>
                    <a:schemeClr val="tx1"/>
                  </a:solidFill>
                  <a:latin typeface="Montserrat"/>
                  <a:sym typeface="Montserrat"/>
                </a:rPr>
                <a:t>Introduction</a:t>
              </a:r>
              <a:endParaRPr lang="en-US" altLang="zh-TW" dirty="0">
                <a:solidFill>
                  <a:schemeClr val="tx1"/>
                </a:solidFill>
              </a:endParaRPr>
            </a:p>
          </p:txBody>
        </p:sp>
      </p:grpSp>
      <p:grpSp>
        <p:nvGrpSpPr>
          <p:cNvPr id="37" name="群組 36">
            <a:extLst>
              <a:ext uri="{FF2B5EF4-FFF2-40B4-BE49-F238E27FC236}">
                <a16:creationId xmlns:a16="http://schemas.microsoft.com/office/drawing/2014/main" id="{A469C399-1D31-4BDB-8568-5A61D4B37737}"/>
              </a:ext>
            </a:extLst>
          </p:cNvPr>
          <p:cNvGrpSpPr/>
          <p:nvPr/>
        </p:nvGrpSpPr>
        <p:grpSpPr>
          <a:xfrm>
            <a:off x="4703521" y="982632"/>
            <a:ext cx="2430250" cy="404100"/>
            <a:chOff x="4703521" y="1170633"/>
            <a:chExt cx="2430250" cy="404100"/>
          </a:xfrm>
        </p:grpSpPr>
        <p:sp>
          <p:nvSpPr>
            <p:cNvPr id="55" name="Google Shape;211;p36">
              <a:extLst>
                <a:ext uri="{FF2B5EF4-FFF2-40B4-BE49-F238E27FC236}">
                  <a16:creationId xmlns:a16="http://schemas.microsoft.com/office/drawing/2014/main" id="{88DC36E6-54ED-4CFC-809D-C329F69C985E}"/>
                </a:ext>
              </a:extLst>
            </p:cNvPr>
            <p:cNvSpPr/>
            <p:nvPr/>
          </p:nvSpPr>
          <p:spPr>
            <a:xfrm>
              <a:off x="4703521" y="1170633"/>
              <a:ext cx="404292" cy="4041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221;p36">
              <a:extLst>
                <a:ext uri="{FF2B5EF4-FFF2-40B4-BE49-F238E27FC236}">
                  <a16:creationId xmlns:a16="http://schemas.microsoft.com/office/drawing/2014/main" id="{246E4079-9055-48E2-BEB1-948FCA33864C}"/>
                </a:ext>
              </a:extLst>
            </p:cNvPr>
            <p:cNvSpPr txBox="1">
              <a:spLocks/>
            </p:cNvSpPr>
            <p:nvPr/>
          </p:nvSpPr>
          <p:spPr>
            <a:xfrm>
              <a:off x="4703521" y="1196841"/>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iv</a:t>
              </a:r>
            </a:p>
          </p:txBody>
        </p:sp>
        <p:sp>
          <p:nvSpPr>
            <p:cNvPr id="73" name="文字方塊 72">
              <a:extLst>
                <a:ext uri="{FF2B5EF4-FFF2-40B4-BE49-F238E27FC236}">
                  <a16:creationId xmlns:a16="http://schemas.microsoft.com/office/drawing/2014/main" id="{3276EA42-D00D-4117-B90F-8007F71830E5}"/>
                </a:ext>
              </a:extLst>
            </p:cNvPr>
            <p:cNvSpPr txBox="1"/>
            <p:nvPr/>
          </p:nvSpPr>
          <p:spPr>
            <a:xfrm>
              <a:off x="5229082" y="1218792"/>
              <a:ext cx="1904689" cy="307777"/>
            </a:xfrm>
            <a:prstGeom prst="rect">
              <a:avLst/>
            </a:prstGeom>
            <a:noFill/>
          </p:spPr>
          <p:txBody>
            <a:bodyPr wrap="none" rtlCol="0">
              <a:spAutoFit/>
            </a:bodyPr>
            <a:lstStyle/>
            <a:p>
              <a:pPr lvl="0"/>
              <a:r>
                <a:rPr lang="en-US" altLang="zh-TW" b="1" dirty="0">
                  <a:solidFill>
                    <a:schemeClr val="tx1"/>
                  </a:solidFill>
                  <a:latin typeface="Montserrat"/>
                  <a:sym typeface="Montserrat"/>
                </a:rPr>
                <a:t>Device fabrication</a:t>
              </a:r>
              <a:endParaRPr lang="en-US" altLang="zh-TW" dirty="0">
                <a:solidFill>
                  <a:schemeClr val="tx1"/>
                </a:solidFill>
              </a:endParaRPr>
            </a:p>
          </p:txBody>
        </p:sp>
      </p:grpSp>
      <p:grpSp>
        <p:nvGrpSpPr>
          <p:cNvPr id="38" name="群組 37">
            <a:extLst>
              <a:ext uri="{FF2B5EF4-FFF2-40B4-BE49-F238E27FC236}">
                <a16:creationId xmlns:a16="http://schemas.microsoft.com/office/drawing/2014/main" id="{472AA452-60D4-427C-80FF-D7E12502016D}"/>
              </a:ext>
            </a:extLst>
          </p:cNvPr>
          <p:cNvGrpSpPr/>
          <p:nvPr/>
        </p:nvGrpSpPr>
        <p:grpSpPr>
          <a:xfrm>
            <a:off x="4703521" y="2372323"/>
            <a:ext cx="2944813" cy="404100"/>
            <a:chOff x="4703521" y="2560324"/>
            <a:chExt cx="2944813" cy="404100"/>
          </a:xfrm>
        </p:grpSpPr>
        <p:sp>
          <p:nvSpPr>
            <p:cNvPr id="57" name="Google Shape;211;p36">
              <a:extLst>
                <a:ext uri="{FF2B5EF4-FFF2-40B4-BE49-F238E27FC236}">
                  <a16:creationId xmlns:a16="http://schemas.microsoft.com/office/drawing/2014/main" id="{093E49C8-E99B-41FE-824E-AFEF139DC2F3}"/>
                </a:ext>
              </a:extLst>
            </p:cNvPr>
            <p:cNvSpPr/>
            <p:nvPr/>
          </p:nvSpPr>
          <p:spPr>
            <a:xfrm>
              <a:off x="4703521" y="2560324"/>
              <a:ext cx="404292" cy="4041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221;p36">
              <a:extLst>
                <a:ext uri="{FF2B5EF4-FFF2-40B4-BE49-F238E27FC236}">
                  <a16:creationId xmlns:a16="http://schemas.microsoft.com/office/drawing/2014/main" id="{0BC003C6-5D81-42C3-B567-749958D5DFB0}"/>
                </a:ext>
              </a:extLst>
            </p:cNvPr>
            <p:cNvSpPr txBox="1">
              <a:spLocks/>
            </p:cNvSpPr>
            <p:nvPr/>
          </p:nvSpPr>
          <p:spPr>
            <a:xfrm>
              <a:off x="4703521" y="2582517"/>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v</a:t>
              </a:r>
            </a:p>
          </p:txBody>
        </p:sp>
        <p:sp>
          <p:nvSpPr>
            <p:cNvPr id="75" name="文字方塊 74">
              <a:extLst>
                <a:ext uri="{FF2B5EF4-FFF2-40B4-BE49-F238E27FC236}">
                  <a16:creationId xmlns:a16="http://schemas.microsoft.com/office/drawing/2014/main" id="{4CB8EDF3-B877-4C2D-973E-2F5E25E903C6}"/>
                </a:ext>
              </a:extLst>
            </p:cNvPr>
            <p:cNvSpPr txBox="1"/>
            <p:nvPr/>
          </p:nvSpPr>
          <p:spPr>
            <a:xfrm>
              <a:off x="5229082" y="2619910"/>
              <a:ext cx="2419252" cy="307777"/>
            </a:xfrm>
            <a:prstGeom prst="rect">
              <a:avLst/>
            </a:prstGeom>
            <a:noFill/>
          </p:spPr>
          <p:txBody>
            <a:bodyPr wrap="none" rtlCol="0">
              <a:spAutoFit/>
            </a:bodyPr>
            <a:lstStyle/>
            <a:p>
              <a:pPr lvl="0"/>
              <a:r>
                <a:rPr lang="en-US" altLang="zh-TW" b="1" dirty="0">
                  <a:solidFill>
                    <a:schemeClr val="tx1"/>
                  </a:solidFill>
                  <a:latin typeface="Montserrat"/>
                  <a:sym typeface="Montserrat"/>
                </a:rPr>
                <a:t>Results and discussions</a:t>
              </a:r>
            </a:p>
          </p:txBody>
        </p:sp>
      </p:grpSp>
      <p:grpSp>
        <p:nvGrpSpPr>
          <p:cNvPr id="39" name="群組 38">
            <a:extLst>
              <a:ext uri="{FF2B5EF4-FFF2-40B4-BE49-F238E27FC236}">
                <a16:creationId xmlns:a16="http://schemas.microsoft.com/office/drawing/2014/main" id="{E07FA597-2F37-44AF-B7A5-CE3BFA03C67E}"/>
              </a:ext>
            </a:extLst>
          </p:cNvPr>
          <p:cNvGrpSpPr/>
          <p:nvPr/>
        </p:nvGrpSpPr>
        <p:grpSpPr>
          <a:xfrm>
            <a:off x="4703521" y="4002995"/>
            <a:ext cx="3334343" cy="404100"/>
            <a:chOff x="4703521" y="3924706"/>
            <a:chExt cx="3334343" cy="404100"/>
          </a:xfrm>
        </p:grpSpPr>
        <p:sp>
          <p:nvSpPr>
            <p:cNvPr id="61" name="Google Shape;211;p36">
              <a:extLst>
                <a:ext uri="{FF2B5EF4-FFF2-40B4-BE49-F238E27FC236}">
                  <a16:creationId xmlns:a16="http://schemas.microsoft.com/office/drawing/2014/main" id="{F6931359-3D93-42FC-8D3A-3A2638468E2C}"/>
                </a:ext>
              </a:extLst>
            </p:cNvPr>
            <p:cNvSpPr/>
            <p:nvPr/>
          </p:nvSpPr>
          <p:spPr>
            <a:xfrm>
              <a:off x="4703521" y="3924706"/>
              <a:ext cx="404292" cy="4041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21;p36">
              <a:extLst>
                <a:ext uri="{FF2B5EF4-FFF2-40B4-BE49-F238E27FC236}">
                  <a16:creationId xmlns:a16="http://schemas.microsoft.com/office/drawing/2014/main" id="{DCC5FA96-3811-40DE-BBED-3CCC88A30AAF}"/>
                </a:ext>
              </a:extLst>
            </p:cNvPr>
            <p:cNvSpPr txBox="1">
              <a:spLocks/>
            </p:cNvSpPr>
            <p:nvPr/>
          </p:nvSpPr>
          <p:spPr>
            <a:xfrm>
              <a:off x="4703521" y="3950914"/>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vi</a:t>
              </a:r>
            </a:p>
          </p:txBody>
        </p:sp>
        <p:sp>
          <p:nvSpPr>
            <p:cNvPr id="77" name="文字方塊 76">
              <a:extLst>
                <a:ext uri="{FF2B5EF4-FFF2-40B4-BE49-F238E27FC236}">
                  <a16:creationId xmlns:a16="http://schemas.microsoft.com/office/drawing/2014/main" id="{464252D3-5F50-494D-BB36-19C89E1BB156}"/>
                </a:ext>
              </a:extLst>
            </p:cNvPr>
            <p:cNvSpPr txBox="1"/>
            <p:nvPr/>
          </p:nvSpPr>
          <p:spPr>
            <a:xfrm>
              <a:off x="5229082" y="3972865"/>
              <a:ext cx="2808782" cy="307777"/>
            </a:xfrm>
            <a:prstGeom prst="rect">
              <a:avLst/>
            </a:prstGeom>
            <a:noFill/>
          </p:spPr>
          <p:txBody>
            <a:bodyPr wrap="none" rtlCol="0">
              <a:spAutoFit/>
            </a:bodyPr>
            <a:lstStyle/>
            <a:p>
              <a:pPr lvl="0"/>
              <a:r>
                <a:rPr lang="en-US" altLang="zh-TW" b="1" dirty="0">
                  <a:solidFill>
                    <a:schemeClr val="tx1"/>
                  </a:solidFill>
                  <a:latin typeface="Montserrat"/>
                  <a:ea typeface="Montserrat"/>
                  <a:cs typeface="Montserrat"/>
                  <a:sym typeface="Montserrat"/>
                </a:rPr>
                <a:t>Conclusion and future work</a:t>
              </a:r>
              <a:endParaRPr lang="en-US" altLang="zh-TW" dirty="0">
                <a:solidFill>
                  <a:schemeClr val="tx1"/>
                </a:solidFill>
              </a:endParaRPr>
            </a:p>
          </p:txBody>
        </p:sp>
      </p:grpSp>
      <p:sp>
        <p:nvSpPr>
          <p:cNvPr id="40" name="文字方塊 39">
            <a:extLst>
              <a:ext uri="{FF2B5EF4-FFF2-40B4-BE49-F238E27FC236}">
                <a16:creationId xmlns:a16="http://schemas.microsoft.com/office/drawing/2014/main" id="{FEB1740C-F5B6-4667-A8C4-A715F43AC799}"/>
              </a:ext>
            </a:extLst>
          </p:cNvPr>
          <p:cNvSpPr txBox="1"/>
          <p:nvPr/>
        </p:nvSpPr>
        <p:spPr>
          <a:xfrm>
            <a:off x="1306362" y="1270179"/>
            <a:ext cx="1183337" cy="1079334"/>
          </a:xfrm>
          <a:prstGeom prst="rect">
            <a:avLst/>
          </a:prstGeom>
          <a:noFill/>
        </p:spPr>
        <p:txBody>
          <a:bodyPr wrap="none" rtlCol="0" anchor="ctr">
            <a:spAutoFit/>
          </a:bodyPr>
          <a:lstStyle/>
          <a:p>
            <a:pPr>
              <a:lnSpc>
                <a:spcPct val="150000"/>
              </a:lnSpc>
            </a:pPr>
            <a:r>
              <a:rPr lang="en-US" altLang="zh-TW" sz="1100" dirty="0">
                <a:solidFill>
                  <a:schemeClr val="accent4">
                    <a:lumMod val="65000"/>
                  </a:schemeClr>
                </a:solidFill>
                <a:latin typeface="Montserrat" panose="02020500000000000000" charset="0"/>
              </a:rPr>
              <a:t>Applications</a:t>
            </a:r>
          </a:p>
          <a:p>
            <a:pPr>
              <a:lnSpc>
                <a:spcPct val="150000"/>
              </a:lnSpc>
            </a:pPr>
            <a:r>
              <a:rPr lang="en-US" altLang="zh-TW" sz="1100" dirty="0">
                <a:solidFill>
                  <a:schemeClr val="accent4">
                    <a:lumMod val="65000"/>
                  </a:schemeClr>
                </a:solidFill>
                <a:latin typeface="Montserrat" panose="02020500000000000000" charset="0"/>
              </a:rPr>
              <a:t>Previous work</a:t>
            </a:r>
          </a:p>
          <a:p>
            <a:pPr>
              <a:lnSpc>
                <a:spcPct val="150000"/>
              </a:lnSpc>
            </a:pPr>
            <a:r>
              <a:rPr lang="en-US" altLang="zh-TW" sz="1100" dirty="0">
                <a:solidFill>
                  <a:schemeClr val="accent4">
                    <a:lumMod val="65000"/>
                  </a:schemeClr>
                </a:solidFill>
                <a:latin typeface="Montserrat" panose="02020500000000000000" charset="0"/>
              </a:rPr>
              <a:t>Motivation</a:t>
            </a:r>
          </a:p>
          <a:p>
            <a:pPr>
              <a:lnSpc>
                <a:spcPct val="150000"/>
              </a:lnSpc>
            </a:pPr>
            <a:r>
              <a:rPr lang="en-US" altLang="zh-TW" sz="1100" dirty="0">
                <a:solidFill>
                  <a:schemeClr val="accent4">
                    <a:lumMod val="65000"/>
                  </a:schemeClr>
                </a:solidFill>
                <a:latin typeface="Montserrat" panose="02020500000000000000" charset="0"/>
              </a:rPr>
              <a:t>Objective</a:t>
            </a:r>
            <a:endParaRPr lang="zh-TW" altLang="en-US" sz="1100" dirty="0">
              <a:solidFill>
                <a:schemeClr val="accent4">
                  <a:lumMod val="65000"/>
                </a:schemeClr>
              </a:solidFill>
              <a:latin typeface="Montserrat" panose="02020500000000000000" charset="0"/>
            </a:endParaRPr>
          </a:p>
        </p:txBody>
      </p:sp>
      <p:sp>
        <p:nvSpPr>
          <p:cNvPr id="80" name="文字方塊 79">
            <a:extLst>
              <a:ext uri="{FF2B5EF4-FFF2-40B4-BE49-F238E27FC236}">
                <a16:creationId xmlns:a16="http://schemas.microsoft.com/office/drawing/2014/main" id="{632E07DA-A848-4A61-AC2B-A76992F5F6B0}"/>
              </a:ext>
            </a:extLst>
          </p:cNvPr>
          <p:cNvSpPr txBox="1"/>
          <p:nvPr/>
        </p:nvSpPr>
        <p:spPr>
          <a:xfrm>
            <a:off x="1306362" y="2675735"/>
            <a:ext cx="3265638" cy="1333250"/>
          </a:xfrm>
          <a:prstGeom prst="rect">
            <a:avLst/>
          </a:prstGeom>
          <a:noFill/>
        </p:spPr>
        <p:txBody>
          <a:bodyPr wrap="none" rtlCol="0" anchor="ctr">
            <a:spAutoFit/>
          </a:bodyPr>
          <a:lstStyle/>
          <a:p>
            <a:pPr>
              <a:lnSpc>
                <a:spcPct val="150000"/>
              </a:lnSpc>
            </a:pPr>
            <a:r>
              <a:rPr lang="en-US" altLang="zh-TW" sz="1100" dirty="0">
                <a:solidFill>
                  <a:schemeClr val="accent4">
                    <a:lumMod val="65000"/>
                  </a:schemeClr>
                </a:solidFill>
                <a:latin typeface="Montserrat" panose="02020500000000000000" charset="0"/>
              </a:rPr>
              <a:t>SHG/SPDC</a:t>
            </a:r>
          </a:p>
          <a:p>
            <a:pPr>
              <a:lnSpc>
                <a:spcPct val="150000"/>
              </a:lnSpc>
            </a:pPr>
            <a:r>
              <a:rPr lang="en-US" altLang="zh-TW" sz="1100" dirty="0">
                <a:solidFill>
                  <a:schemeClr val="accent4">
                    <a:lumMod val="65000"/>
                  </a:schemeClr>
                </a:solidFill>
                <a:latin typeface="Montserrat"/>
                <a:ea typeface="Montserrat"/>
                <a:cs typeface="Montserrat"/>
                <a:sym typeface="Montserrat"/>
              </a:rPr>
              <a:t>Quasi-phase-matching</a:t>
            </a:r>
            <a:endParaRPr lang="en-US" altLang="zh-TW" sz="1100" dirty="0">
              <a:solidFill>
                <a:schemeClr val="accent4">
                  <a:lumMod val="65000"/>
                </a:schemeClr>
              </a:solidFill>
              <a:latin typeface="Montserrat" panose="02020500000000000000" charset="0"/>
            </a:endParaRPr>
          </a:p>
          <a:p>
            <a:pPr>
              <a:lnSpc>
                <a:spcPct val="150000"/>
              </a:lnSpc>
            </a:pPr>
            <a:r>
              <a:rPr lang="en-US" altLang="zh-TW" sz="1100" dirty="0">
                <a:solidFill>
                  <a:schemeClr val="accent4">
                    <a:lumMod val="65000"/>
                  </a:schemeClr>
                </a:solidFill>
                <a:latin typeface="Montserrat" panose="02020500000000000000" charset="0"/>
              </a:rPr>
              <a:t>Electro-optical polarization mode converter</a:t>
            </a:r>
          </a:p>
          <a:p>
            <a:pPr>
              <a:lnSpc>
                <a:spcPct val="150000"/>
              </a:lnSpc>
            </a:pPr>
            <a:r>
              <a:rPr lang="en-US" altLang="zh-TW" sz="1100" dirty="0">
                <a:solidFill>
                  <a:schemeClr val="accent4">
                    <a:lumMod val="65000"/>
                  </a:schemeClr>
                </a:solidFill>
                <a:latin typeface="Montserrat" panose="02020500000000000000" charset="0"/>
              </a:rPr>
              <a:t>Hong–</a:t>
            </a:r>
            <a:r>
              <a:rPr lang="en-US" altLang="zh-TW" sz="1100" dirty="0" err="1">
                <a:solidFill>
                  <a:schemeClr val="accent4">
                    <a:lumMod val="65000"/>
                  </a:schemeClr>
                </a:solidFill>
                <a:latin typeface="Montserrat" panose="02020500000000000000" charset="0"/>
              </a:rPr>
              <a:t>Ou</a:t>
            </a:r>
            <a:r>
              <a:rPr lang="en-US" altLang="zh-TW" sz="1100" dirty="0">
                <a:solidFill>
                  <a:schemeClr val="accent4">
                    <a:lumMod val="65000"/>
                  </a:schemeClr>
                </a:solidFill>
                <a:latin typeface="Montserrat" panose="02020500000000000000" charset="0"/>
              </a:rPr>
              <a:t>–Mandel effect</a:t>
            </a:r>
          </a:p>
          <a:p>
            <a:pPr>
              <a:lnSpc>
                <a:spcPct val="150000"/>
              </a:lnSpc>
            </a:pPr>
            <a:r>
              <a:rPr lang="en-US" altLang="zh-TW" sz="1100" dirty="0">
                <a:solidFill>
                  <a:schemeClr val="accent4">
                    <a:lumMod val="65000"/>
                  </a:schemeClr>
                </a:solidFill>
                <a:latin typeface="Montserrat" panose="02020500000000000000" charset="0"/>
              </a:rPr>
              <a:t>Spectrum of SPDC with EO-PMC</a:t>
            </a:r>
            <a:endParaRPr lang="zh-TW" altLang="en-US" sz="1100" dirty="0">
              <a:solidFill>
                <a:schemeClr val="accent4">
                  <a:lumMod val="65000"/>
                </a:schemeClr>
              </a:solidFill>
              <a:latin typeface="Montserrat" panose="02020500000000000000" charset="0"/>
            </a:endParaRPr>
          </a:p>
        </p:txBody>
      </p:sp>
      <p:sp>
        <p:nvSpPr>
          <p:cNvPr id="81" name="文字方塊 80">
            <a:extLst>
              <a:ext uri="{FF2B5EF4-FFF2-40B4-BE49-F238E27FC236}">
                <a16:creationId xmlns:a16="http://schemas.microsoft.com/office/drawing/2014/main" id="{30FF0112-365E-4FF2-8479-8FF9327130F3}"/>
              </a:ext>
            </a:extLst>
          </p:cNvPr>
          <p:cNvSpPr txBox="1"/>
          <p:nvPr/>
        </p:nvSpPr>
        <p:spPr>
          <a:xfrm>
            <a:off x="1306362" y="4274517"/>
            <a:ext cx="1784463" cy="825419"/>
          </a:xfrm>
          <a:prstGeom prst="rect">
            <a:avLst/>
          </a:prstGeom>
          <a:noFill/>
        </p:spPr>
        <p:txBody>
          <a:bodyPr wrap="none" rtlCol="0" anchor="ctr">
            <a:spAutoFit/>
          </a:bodyPr>
          <a:lstStyle/>
          <a:p>
            <a:pPr>
              <a:lnSpc>
                <a:spcPct val="150000"/>
              </a:lnSpc>
            </a:pPr>
            <a:r>
              <a:rPr lang="en-US" altLang="zh-TW" sz="1100" dirty="0">
                <a:solidFill>
                  <a:schemeClr val="accent4">
                    <a:lumMod val="65000"/>
                  </a:schemeClr>
                </a:solidFill>
                <a:latin typeface="Montserrat" panose="02020500000000000000" charset="0"/>
              </a:rPr>
              <a:t>Algorithm comparison</a:t>
            </a:r>
          </a:p>
          <a:p>
            <a:pPr>
              <a:lnSpc>
                <a:spcPct val="150000"/>
              </a:lnSpc>
            </a:pPr>
            <a:r>
              <a:rPr lang="en-US" altLang="zh-TW" sz="1100" dirty="0">
                <a:solidFill>
                  <a:schemeClr val="accent4">
                    <a:lumMod val="65000"/>
                  </a:schemeClr>
                </a:solidFill>
                <a:latin typeface="Montserrat" panose="02020500000000000000" charset="0"/>
              </a:rPr>
              <a:t>Genetic algorithm</a:t>
            </a:r>
          </a:p>
          <a:p>
            <a:pPr>
              <a:lnSpc>
                <a:spcPct val="150000"/>
              </a:lnSpc>
            </a:pPr>
            <a:r>
              <a:rPr lang="en-US" altLang="zh-TW" sz="1100" dirty="0">
                <a:solidFill>
                  <a:schemeClr val="accent4">
                    <a:lumMod val="65000"/>
                  </a:schemeClr>
                </a:solidFill>
                <a:latin typeface="Montserrat" panose="02020500000000000000" charset="0"/>
              </a:rPr>
              <a:t>Simulation result</a:t>
            </a:r>
            <a:endParaRPr lang="zh-TW" altLang="en-US" sz="1100" dirty="0">
              <a:solidFill>
                <a:schemeClr val="accent4">
                  <a:lumMod val="65000"/>
                </a:schemeClr>
              </a:solidFill>
              <a:latin typeface="Montserrat" panose="02020500000000000000" charset="0"/>
            </a:endParaRPr>
          </a:p>
        </p:txBody>
      </p:sp>
      <p:sp>
        <p:nvSpPr>
          <p:cNvPr id="82" name="文字方塊 81">
            <a:extLst>
              <a:ext uri="{FF2B5EF4-FFF2-40B4-BE49-F238E27FC236}">
                <a16:creationId xmlns:a16="http://schemas.microsoft.com/office/drawing/2014/main" id="{034F0ABC-A42D-4731-A3A9-DF6B37202B62}"/>
              </a:ext>
            </a:extLst>
          </p:cNvPr>
          <p:cNvSpPr txBox="1"/>
          <p:nvPr/>
        </p:nvSpPr>
        <p:spPr>
          <a:xfrm>
            <a:off x="5229082" y="1270179"/>
            <a:ext cx="2767104" cy="825419"/>
          </a:xfrm>
          <a:prstGeom prst="rect">
            <a:avLst/>
          </a:prstGeom>
          <a:noFill/>
        </p:spPr>
        <p:txBody>
          <a:bodyPr wrap="none" rtlCol="0" anchor="ctr">
            <a:spAutoFit/>
          </a:bodyPr>
          <a:lstStyle/>
          <a:p>
            <a:pPr>
              <a:lnSpc>
                <a:spcPct val="150000"/>
              </a:lnSpc>
            </a:pPr>
            <a:r>
              <a:rPr lang="en-US" altLang="zh-TW" sz="1100" dirty="0">
                <a:solidFill>
                  <a:schemeClr val="accent4">
                    <a:lumMod val="65000"/>
                  </a:schemeClr>
                </a:solidFill>
                <a:latin typeface="Montserrat" panose="02020500000000000000" charset="0"/>
              </a:rPr>
              <a:t>Fabrication of </a:t>
            </a:r>
            <a:r>
              <a:rPr lang="en-US" altLang="zh-TW" sz="1100" dirty="0" err="1">
                <a:solidFill>
                  <a:schemeClr val="accent4">
                    <a:lumMod val="65000"/>
                  </a:schemeClr>
                </a:solidFill>
                <a:latin typeface="Montserrat" panose="02020500000000000000" charset="0"/>
              </a:rPr>
              <a:t>Ti</a:t>
            </a:r>
            <a:r>
              <a:rPr lang="en-US" altLang="zh-TW" sz="1100" dirty="0">
                <a:solidFill>
                  <a:schemeClr val="accent4">
                    <a:lumMod val="65000"/>
                  </a:schemeClr>
                </a:solidFill>
                <a:latin typeface="Montserrat" panose="02020500000000000000" charset="0"/>
              </a:rPr>
              <a:t>-diffused waveguide</a:t>
            </a:r>
          </a:p>
          <a:p>
            <a:pPr>
              <a:lnSpc>
                <a:spcPct val="150000"/>
              </a:lnSpc>
            </a:pPr>
            <a:r>
              <a:rPr lang="en-US" altLang="zh-TW" sz="1100" dirty="0">
                <a:solidFill>
                  <a:schemeClr val="accent4">
                    <a:lumMod val="65000"/>
                  </a:schemeClr>
                </a:solidFill>
                <a:latin typeface="Montserrat" panose="02020500000000000000" charset="0"/>
              </a:rPr>
              <a:t>Fabrication of poling</a:t>
            </a:r>
          </a:p>
          <a:p>
            <a:pPr>
              <a:lnSpc>
                <a:spcPct val="150000"/>
              </a:lnSpc>
            </a:pPr>
            <a:r>
              <a:rPr lang="en-US" altLang="zh-TW" sz="1100" dirty="0">
                <a:solidFill>
                  <a:schemeClr val="accent4">
                    <a:lumMod val="65000"/>
                  </a:schemeClr>
                </a:solidFill>
                <a:latin typeface="Montserrat" panose="02020500000000000000" charset="0"/>
              </a:rPr>
              <a:t>Fabrication of electrode</a:t>
            </a:r>
            <a:endParaRPr lang="zh-TW" altLang="en-US" sz="1100" dirty="0">
              <a:solidFill>
                <a:schemeClr val="accent4">
                  <a:lumMod val="65000"/>
                </a:schemeClr>
              </a:solidFill>
              <a:latin typeface="Montserrat" panose="02020500000000000000" charset="0"/>
            </a:endParaRPr>
          </a:p>
        </p:txBody>
      </p:sp>
      <p:sp>
        <p:nvSpPr>
          <p:cNvPr id="83" name="文字方塊 82">
            <a:extLst>
              <a:ext uri="{FF2B5EF4-FFF2-40B4-BE49-F238E27FC236}">
                <a16:creationId xmlns:a16="http://schemas.microsoft.com/office/drawing/2014/main" id="{D7128DC2-A718-4BD2-922B-95FB25E1C19E}"/>
              </a:ext>
            </a:extLst>
          </p:cNvPr>
          <p:cNvSpPr txBox="1"/>
          <p:nvPr/>
        </p:nvSpPr>
        <p:spPr>
          <a:xfrm>
            <a:off x="5229082" y="2669745"/>
            <a:ext cx="3624710" cy="1333250"/>
          </a:xfrm>
          <a:prstGeom prst="rect">
            <a:avLst/>
          </a:prstGeom>
          <a:noFill/>
        </p:spPr>
        <p:txBody>
          <a:bodyPr wrap="none" rtlCol="0" anchor="ctr">
            <a:spAutoFit/>
          </a:bodyPr>
          <a:lstStyle/>
          <a:p>
            <a:pPr>
              <a:lnSpc>
                <a:spcPct val="150000"/>
              </a:lnSpc>
            </a:pPr>
            <a:r>
              <a:rPr lang="en-US" altLang="zh-TW" sz="1100" dirty="0">
                <a:solidFill>
                  <a:schemeClr val="accent4">
                    <a:lumMod val="65000"/>
                  </a:schemeClr>
                </a:solidFill>
                <a:latin typeface="Montserrat" panose="02020500000000000000" charset="0"/>
              </a:rPr>
              <a:t>Tuning curves of SHG</a:t>
            </a:r>
          </a:p>
          <a:p>
            <a:pPr>
              <a:lnSpc>
                <a:spcPct val="150000"/>
              </a:lnSpc>
            </a:pPr>
            <a:r>
              <a:rPr lang="en-US" altLang="zh-TW" sz="1100" dirty="0">
                <a:solidFill>
                  <a:schemeClr val="accent4">
                    <a:lumMod val="65000"/>
                  </a:schemeClr>
                </a:solidFill>
                <a:latin typeface="Montserrat" panose="02020500000000000000" charset="0"/>
              </a:rPr>
              <a:t>EO-PMC measurement result</a:t>
            </a:r>
          </a:p>
          <a:p>
            <a:pPr>
              <a:lnSpc>
                <a:spcPct val="150000"/>
              </a:lnSpc>
            </a:pPr>
            <a:r>
              <a:rPr lang="en-US" altLang="zh-TW" sz="1100" dirty="0">
                <a:solidFill>
                  <a:schemeClr val="accent4">
                    <a:lumMod val="65000"/>
                  </a:schemeClr>
                </a:solidFill>
                <a:latin typeface="Montserrat" panose="02020500000000000000" charset="0"/>
              </a:rPr>
              <a:t>Spectrum of SPDC</a:t>
            </a:r>
          </a:p>
          <a:p>
            <a:pPr>
              <a:lnSpc>
                <a:spcPct val="150000"/>
              </a:lnSpc>
            </a:pPr>
            <a:r>
              <a:rPr lang="en-US" altLang="zh-TW" sz="1100" dirty="0">
                <a:solidFill>
                  <a:schemeClr val="accent4">
                    <a:lumMod val="65000"/>
                  </a:schemeClr>
                </a:solidFill>
                <a:latin typeface="Montserrat" panose="02020500000000000000" charset="0"/>
              </a:rPr>
              <a:t>Hong-</a:t>
            </a:r>
            <a:r>
              <a:rPr lang="en-US" altLang="zh-TW" sz="1100" dirty="0" err="1">
                <a:solidFill>
                  <a:schemeClr val="accent4">
                    <a:lumMod val="65000"/>
                  </a:schemeClr>
                </a:solidFill>
                <a:latin typeface="Montserrat" panose="02020500000000000000" charset="0"/>
              </a:rPr>
              <a:t>Ou</a:t>
            </a:r>
            <a:r>
              <a:rPr lang="en-US" altLang="zh-TW" sz="1100" dirty="0">
                <a:solidFill>
                  <a:schemeClr val="accent4">
                    <a:lumMod val="65000"/>
                  </a:schemeClr>
                </a:solidFill>
                <a:latin typeface="Montserrat" panose="02020500000000000000" charset="0"/>
              </a:rPr>
              <a:t>-Mandel interference</a:t>
            </a:r>
          </a:p>
          <a:p>
            <a:pPr>
              <a:lnSpc>
                <a:spcPct val="150000"/>
              </a:lnSpc>
            </a:pPr>
            <a:r>
              <a:rPr lang="en-US" altLang="zh-TW" sz="1100" dirty="0">
                <a:solidFill>
                  <a:schemeClr val="accent4">
                    <a:lumMod val="65000"/>
                  </a:schemeClr>
                </a:solidFill>
                <a:latin typeface="Montserrat" panose="02020500000000000000" charset="0"/>
              </a:rPr>
              <a:t>Coincidence counts measurement with EO-PMC</a:t>
            </a:r>
            <a:endParaRPr lang="zh-TW" altLang="en-US" sz="1100" dirty="0">
              <a:solidFill>
                <a:schemeClr val="accent4">
                  <a:lumMod val="65000"/>
                </a:schemeClr>
              </a:solidFill>
              <a:latin typeface="Montserrat" panose="02020500000000000000" charset="0"/>
            </a:endParaRPr>
          </a:p>
        </p:txBody>
      </p:sp>
      <p:sp>
        <p:nvSpPr>
          <p:cNvPr id="86" name="文字方塊 85">
            <a:extLst>
              <a:ext uri="{FF2B5EF4-FFF2-40B4-BE49-F238E27FC236}">
                <a16:creationId xmlns:a16="http://schemas.microsoft.com/office/drawing/2014/main" id="{B6D8D8DF-6E1F-413C-8C11-ECCBF1630A68}"/>
              </a:ext>
            </a:extLst>
          </p:cNvPr>
          <p:cNvSpPr txBox="1"/>
          <p:nvPr/>
        </p:nvSpPr>
        <p:spPr>
          <a:xfrm>
            <a:off x="8585770" y="4631694"/>
            <a:ext cx="268022" cy="261610"/>
          </a:xfrm>
          <a:prstGeom prst="rect">
            <a:avLst/>
          </a:prstGeom>
          <a:noFill/>
        </p:spPr>
        <p:txBody>
          <a:bodyPr wrap="none" rtlCol="0">
            <a:spAutoFit/>
          </a:bodyPr>
          <a:lstStyle/>
          <a:p>
            <a:r>
              <a:rPr lang="en-US" altLang="zh-TW" sz="1100">
                <a:latin typeface="Montserrat" panose="02020500000000000000" charset="0"/>
              </a:rPr>
              <a:t>2</a:t>
            </a:r>
            <a:endParaRPr lang="zh-TW" altLang="en-US" sz="1100" dirty="0">
              <a:latin typeface="Montserrat" panose="02020500000000000000"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3146418" y="1727229"/>
            <a:ext cx="2851164"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Introduction</a:t>
            </a:r>
            <a:endParaRPr lang="en-US" altLang="zh-TW" dirty="0">
              <a:solidFill>
                <a:schemeClr val="tx1"/>
              </a:solidFill>
            </a:endParaRPr>
          </a:p>
        </p:txBody>
      </p:sp>
      <p:sp>
        <p:nvSpPr>
          <p:cNvPr id="7" name="文字方塊 6">
            <a:extLst>
              <a:ext uri="{FF2B5EF4-FFF2-40B4-BE49-F238E27FC236}">
                <a16:creationId xmlns:a16="http://schemas.microsoft.com/office/drawing/2014/main" id="{A726F5EE-0A02-41F4-91B8-D7559CC6BB63}"/>
              </a:ext>
            </a:extLst>
          </p:cNvPr>
          <p:cNvSpPr txBox="1"/>
          <p:nvPr/>
        </p:nvSpPr>
        <p:spPr>
          <a:xfrm>
            <a:off x="3952279" y="2442072"/>
            <a:ext cx="1356462" cy="1079334"/>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Applications</a:t>
            </a:r>
          </a:p>
          <a:p>
            <a:pPr marL="171450" indent="-171450">
              <a:lnSpc>
                <a:spcPct val="150000"/>
              </a:lnSpc>
              <a:buFont typeface="Arial" panose="020B0604020202020204" pitchFamily="34" charset="0"/>
              <a:buChar char="•"/>
            </a:pPr>
            <a:r>
              <a:rPr lang="en-US" altLang="zh-TW" sz="1100" dirty="0">
                <a:latin typeface="Montserrat" panose="02020500000000000000" charset="0"/>
              </a:rPr>
              <a:t>Previous work</a:t>
            </a:r>
          </a:p>
          <a:p>
            <a:pPr marL="171450" indent="-171450">
              <a:lnSpc>
                <a:spcPct val="150000"/>
              </a:lnSpc>
              <a:buFont typeface="Arial" panose="020B0604020202020204" pitchFamily="34" charset="0"/>
              <a:buChar char="•"/>
            </a:pPr>
            <a:r>
              <a:rPr lang="en-US" altLang="zh-TW" sz="1100" dirty="0">
                <a:latin typeface="Montserrat" panose="02020500000000000000" charset="0"/>
              </a:rPr>
              <a:t>Motivation</a:t>
            </a:r>
          </a:p>
          <a:p>
            <a:pPr marL="171450" indent="-171450">
              <a:lnSpc>
                <a:spcPct val="150000"/>
              </a:lnSpc>
              <a:buFont typeface="Arial" panose="020B0604020202020204" pitchFamily="34" charset="0"/>
              <a:buChar char="•"/>
            </a:pPr>
            <a:r>
              <a:rPr lang="en-US" altLang="zh-TW" sz="1100" dirty="0">
                <a:latin typeface="Montserrat" panose="02020500000000000000" charset="0"/>
              </a:rPr>
              <a:t>Objective</a:t>
            </a:r>
            <a:endParaRPr lang="zh-TW" altLang="en-US" sz="1100" dirty="0">
              <a:latin typeface="Montserrat" panose="02020500000000000000" charset="0"/>
            </a:endParaRPr>
          </a:p>
        </p:txBody>
      </p:sp>
      <p:grpSp>
        <p:nvGrpSpPr>
          <p:cNvPr id="8" name="Google Shape;587;p42">
            <a:extLst>
              <a:ext uri="{FF2B5EF4-FFF2-40B4-BE49-F238E27FC236}">
                <a16:creationId xmlns:a16="http://schemas.microsoft.com/office/drawing/2014/main" id="{896C0C48-DA24-4137-B7B4-802262B76BD3}"/>
              </a:ext>
            </a:extLst>
          </p:cNvPr>
          <p:cNvGrpSpPr/>
          <p:nvPr/>
        </p:nvGrpSpPr>
        <p:grpSpPr>
          <a:xfrm>
            <a:off x="3610417" y="4530746"/>
            <a:ext cx="5533583" cy="612754"/>
            <a:chOff x="4004242" y="2610468"/>
            <a:chExt cx="2159335" cy="669312"/>
          </a:xfrm>
        </p:grpSpPr>
        <p:sp>
          <p:nvSpPr>
            <p:cNvPr id="9" name="Google Shape;588;p42">
              <a:extLst>
                <a:ext uri="{FF2B5EF4-FFF2-40B4-BE49-F238E27FC236}">
                  <a16:creationId xmlns:a16="http://schemas.microsoft.com/office/drawing/2014/main" id="{C89B5660-6134-4E61-8993-C16392CF9231}"/>
                </a:ext>
              </a:extLst>
            </p:cNvPr>
            <p:cNvSpPr/>
            <p:nvPr/>
          </p:nvSpPr>
          <p:spPr>
            <a:xfrm>
              <a:off x="4004242" y="2610468"/>
              <a:ext cx="2156595" cy="669312"/>
            </a:xfrm>
            <a:custGeom>
              <a:avLst/>
              <a:gdLst/>
              <a:ahLst/>
              <a:cxnLst/>
              <a:rect l="l" t="t" r="r" b="b"/>
              <a:pathLst>
                <a:path w="52539" h="33200" extrusionOk="0">
                  <a:moveTo>
                    <a:pt x="37893" y="0"/>
                  </a:moveTo>
                  <a:cubicBezTo>
                    <a:pt x="37827" y="0"/>
                    <a:pt x="37760" y="3"/>
                    <a:pt x="37694" y="9"/>
                  </a:cubicBezTo>
                  <a:cubicBezTo>
                    <a:pt x="36727" y="43"/>
                    <a:pt x="35926" y="677"/>
                    <a:pt x="35226" y="1277"/>
                  </a:cubicBezTo>
                  <a:cubicBezTo>
                    <a:pt x="32224" y="3879"/>
                    <a:pt x="29255" y="6447"/>
                    <a:pt x="26353" y="9083"/>
                  </a:cubicBezTo>
                  <a:cubicBezTo>
                    <a:pt x="25852" y="7748"/>
                    <a:pt x="25052" y="6514"/>
                    <a:pt x="24018" y="5513"/>
                  </a:cubicBezTo>
                  <a:cubicBezTo>
                    <a:pt x="23621" y="5116"/>
                    <a:pt x="23103" y="4743"/>
                    <a:pt x="22567" y="4743"/>
                  </a:cubicBezTo>
                  <a:cubicBezTo>
                    <a:pt x="22473" y="4743"/>
                    <a:pt x="22378" y="4755"/>
                    <a:pt x="22283" y="4779"/>
                  </a:cubicBezTo>
                  <a:cubicBezTo>
                    <a:pt x="21883" y="4880"/>
                    <a:pt x="21583" y="5213"/>
                    <a:pt x="21282" y="5513"/>
                  </a:cubicBezTo>
                  <a:cubicBezTo>
                    <a:pt x="17713" y="9383"/>
                    <a:pt x="14111" y="13252"/>
                    <a:pt x="10775" y="17355"/>
                  </a:cubicBezTo>
                  <a:cubicBezTo>
                    <a:pt x="8840" y="19724"/>
                    <a:pt x="7172" y="22125"/>
                    <a:pt x="5371" y="24594"/>
                  </a:cubicBezTo>
                  <a:cubicBezTo>
                    <a:pt x="4871" y="25294"/>
                    <a:pt x="1" y="33200"/>
                    <a:pt x="34" y="33200"/>
                  </a:cubicBezTo>
                  <a:lnTo>
                    <a:pt x="52538" y="33200"/>
                  </a:lnTo>
                  <a:cubicBezTo>
                    <a:pt x="52405" y="31532"/>
                    <a:pt x="52138" y="29897"/>
                    <a:pt x="51871" y="28263"/>
                  </a:cubicBezTo>
                  <a:cubicBezTo>
                    <a:pt x="50770" y="22926"/>
                    <a:pt x="48635" y="17622"/>
                    <a:pt x="47134" y="12552"/>
                  </a:cubicBezTo>
                  <a:cubicBezTo>
                    <a:pt x="45767" y="8048"/>
                    <a:pt x="44065" y="3178"/>
                    <a:pt x="39729" y="610"/>
                  </a:cubicBezTo>
                  <a:cubicBezTo>
                    <a:pt x="39155" y="278"/>
                    <a:pt x="38527" y="0"/>
                    <a:pt x="37893" y="0"/>
                  </a:cubicBezTo>
                  <a:close/>
                </a:path>
              </a:pathLst>
            </a:custGeom>
            <a:solidFill>
              <a:srgbClr val="275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89;p42">
              <a:extLst>
                <a:ext uri="{FF2B5EF4-FFF2-40B4-BE49-F238E27FC236}">
                  <a16:creationId xmlns:a16="http://schemas.microsoft.com/office/drawing/2014/main" id="{0A898167-5225-4008-BB2F-BC18C9B32B17}"/>
                </a:ext>
              </a:extLst>
            </p:cNvPr>
            <p:cNvSpPr/>
            <p:nvPr/>
          </p:nvSpPr>
          <p:spPr>
            <a:xfrm>
              <a:off x="5129795" y="2671833"/>
              <a:ext cx="1033781" cy="605264"/>
            </a:xfrm>
            <a:custGeom>
              <a:avLst/>
              <a:gdLst/>
              <a:ahLst/>
              <a:cxnLst/>
              <a:rect l="l" t="t" r="r" b="b"/>
              <a:pathLst>
                <a:path w="25185" h="30023" extrusionOk="0">
                  <a:moveTo>
                    <a:pt x="15178" y="1"/>
                  </a:moveTo>
                  <a:cubicBezTo>
                    <a:pt x="15193" y="32"/>
                    <a:pt x="15210" y="64"/>
                    <a:pt x="15227" y="95"/>
                  </a:cubicBezTo>
                  <a:lnTo>
                    <a:pt x="15227" y="95"/>
                  </a:lnTo>
                  <a:cubicBezTo>
                    <a:pt x="15211" y="64"/>
                    <a:pt x="15194" y="32"/>
                    <a:pt x="15178" y="1"/>
                  </a:cubicBezTo>
                  <a:close/>
                  <a:moveTo>
                    <a:pt x="15227" y="95"/>
                  </a:moveTo>
                  <a:cubicBezTo>
                    <a:pt x="15470" y="568"/>
                    <a:pt x="15657" y="1068"/>
                    <a:pt x="15845" y="1569"/>
                  </a:cubicBezTo>
                  <a:cubicBezTo>
                    <a:pt x="16278" y="2870"/>
                    <a:pt x="16512" y="4237"/>
                    <a:pt x="16712" y="5572"/>
                  </a:cubicBezTo>
                  <a:cubicBezTo>
                    <a:pt x="16979" y="7373"/>
                    <a:pt x="17179" y="9208"/>
                    <a:pt x="16846" y="10975"/>
                  </a:cubicBezTo>
                  <a:cubicBezTo>
                    <a:pt x="16512" y="12743"/>
                    <a:pt x="15645" y="14478"/>
                    <a:pt x="14144" y="15479"/>
                  </a:cubicBezTo>
                  <a:cubicBezTo>
                    <a:pt x="12709" y="16379"/>
                    <a:pt x="10975" y="16546"/>
                    <a:pt x="9307" y="16746"/>
                  </a:cubicBezTo>
                  <a:cubicBezTo>
                    <a:pt x="6638" y="17080"/>
                    <a:pt x="4003" y="17647"/>
                    <a:pt x="1435" y="18381"/>
                  </a:cubicBezTo>
                  <a:cubicBezTo>
                    <a:pt x="968" y="18514"/>
                    <a:pt x="467" y="18681"/>
                    <a:pt x="0" y="18881"/>
                  </a:cubicBezTo>
                  <a:cubicBezTo>
                    <a:pt x="755" y="18840"/>
                    <a:pt x="1510" y="18821"/>
                    <a:pt x="2263" y="18821"/>
                  </a:cubicBezTo>
                  <a:cubicBezTo>
                    <a:pt x="3975" y="18821"/>
                    <a:pt x="5682" y="18919"/>
                    <a:pt x="7372" y="19081"/>
                  </a:cubicBezTo>
                  <a:cubicBezTo>
                    <a:pt x="9674" y="19348"/>
                    <a:pt x="11975" y="19682"/>
                    <a:pt x="14210" y="20215"/>
                  </a:cubicBezTo>
                  <a:cubicBezTo>
                    <a:pt x="16178" y="20716"/>
                    <a:pt x="17946" y="21183"/>
                    <a:pt x="19014" y="23084"/>
                  </a:cubicBezTo>
                  <a:cubicBezTo>
                    <a:pt x="19648" y="24218"/>
                    <a:pt x="19881" y="25586"/>
                    <a:pt x="19714" y="26887"/>
                  </a:cubicBezTo>
                  <a:cubicBezTo>
                    <a:pt x="19681" y="27421"/>
                    <a:pt x="19547" y="27988"/>
                    <a:pt x="19214" y="28388"/>
                  </a:cubicBezTo>
                  <a:cubicBezTo>
                    <a:pt x="18847" y="28855"/>
                    <a:pt x="18280" y="29088"/>
                    <a:pt x="17679" y="29255"/>
                  </a:cubicBezTo>
                  <a:cubicBezTo>
                    <a:pt x="16812" y="29555"/>
                    <a:pt x="15878" y="29822"/>
                    <a:pt x="15011" y="30022"/>
                  </a:cubicBezTo>
                  <a:lnTo>
                    <a:pt x="25185" y="30022"/>
                  </a:lnTo>
                  <a:cubicBezTo>
                    <a:pt x="24985" y="28488"/>
                    <a:pt x="24718" y="26853"/>
                    <a:pt x="24451" y="25219"/>
                  </a:cubicBezTo>
                  <a:cubicBezTo>
                    <a:pt x="23350" y="19882"/>
                    <a:pt x="21215" y="14578"/>
                    <a:pt x="19714" y="9508"/>
                  </a:cubicBezTo>
                  <a:cubicBezTo>
                    <a:pt x="18980" y="7006"/>
                    <a:pt x="18113" y="4371"/>
                    <a:pt x="16712" y="2136"/>
                  </a:cubicBezTo>
                  <a:cubicBezTo>
                    <a:pt x="16679" y="2069"/>
                    <a:pt x="16645" y="2002"/>
                    <a:pt x="16612" y="1969"/>
                  </a:cubicBezTo>
                  <a:cubicBezTo>
                    <a:pt x="16199" y="1365"/>
                    <a:pt x="15574" y="731"/>
                    <a:pt x="15227" y="95"/>
                  </a:cubicBezTo>
                  <a:close/>
                </a:path>
              </a:pathLst>
            </a:custGeom>
            <a:solidFill>
              <a:srgbClr val="1138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90;p42">
              <a:extLst>
                <a:ext uri="{FF2B5EF4-FFF2-40B4-BE49-F238E27FC236}">
                  <a16:creationId xmlns:a16="http://schemas.microsoft.com/office/drawing/2014/main" id="{13AB1346-AF92-4179-B0D5-61BB8C63CF83}"/>
                </a:ext>
              </a:extLst>
            </p:cNvPr>
            <p:cNvSpPr/>
            <p:nvPr/>
          </p:nvSpPr>
          <p:spPr>
            <a:xfrm>
              <a:off x="4888799" y="2706064"/>
              <a:ext cx="321812" cy="121807"/>
            </a:xfrm>
            <a:custGeom>
              <a:avLst/>
              <a:gdLst/>
              <a:ahLst/>
              <a:cxnLst/>
              <a:rect l="l" t="t" r="r" b="b"/>
              <a:pathLst>
                <a:path w="7840" h="6042" extrusionOk="0">
                  <a:moveTo>
                    <a:pt x="950" y="1"/>
                  </a:moveTo>
                  <a:cubicBezTo>
                    <a:pt x="857" y="1"/>
                    <a:pt x="763" y="12"/>
                    <a:pt x="667" y="37"/>
                  </a:cubicBezTo>
                  <a:lnTo>
                    <a:pt x="601" y="37"/>
                  </a:lnTo>
                  <a:cubicBezTo>
                    <a:pt x="1201" y="1972"/>
                    <a:pt x="667" y="4107"/>
                    <a:pt x="0" y="6042"/>
                  </a:cubicBezTo>
                  <a:cubicBezTo>
                    <a:pt x="801" y="5808"/>
                    <a:pt x="1635" y="5842"/>
                    <a:pt x="2402" y="5708"/>
                  </a:cubicBezTo>
                  <a:cubicBezTo>
                    <a:pt x="4137" y="5475"/>
                    <a:pt x="5704" y="4607"/>
                    <a:pt x="6805" y="3306"/>
                  </a:cubicBezTo>
                  <a:cubicBezTo>
                    <a:pt x="7205" y="2806"/>
                    <a:pt x="7572" y="2172"/>
                    <a:pt x="7839" y="1539"/>
                  </a:cubicBezTo>
                  <a:lnTo>
                    <a:pt x="7839" y="1539"/>
                  </a:lnTo>
                  <a:cubicBezTo>
                    <a:pt x="6805" y="2473"/>
                    <a:pt x="5738" y="3373"/>
                    <a:pt x="4704" y="4341"/>
                  </a:cubicBezTo>
                  <a:cubicBezTo>
                    <a:pt x="4203" y="3006"/>
                    <a:pt x="3403" y="1772"/>
                    <a:pt x="2369" y="738"/>
                  </a:cubicBezTo>
                  <a:cubicBezTo>
                    <a:pt x="1972" y="369"/>
                    <a:pt x="1479" y="1"/>
                    <a:pt x="950" y="1"/>
                  </a:cubicBezTo>
                  <a:close/>
                </a:path>
              </a:pathLst>
            </a:custGeom>
            <a:solidFill>
              <a:srgbClr val="1138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591;p42">
            <a:extLst>
              <a:ext uri="{FF2B5EF4-FFF2-40B4-BE49-F238E27FC236}">
                <a16:creationId xmlns:a16="http://schemas.microsoft.com/office/drawing/2014/main" id="{2830E542-FE19-4307-9919-D1CF491ACF31}"/>
              </a:ext>
            </a:extLst>
          </p:cNvPr>
          <p:cNvGrpSpPr/>
          <p:nvPr/>
        </p:nvGrpSpPr>
        <p:grpSpPr>
          <a:xfrm>
            <a:off x="5898233" y="3658159"/>
            <a:ext cx="1193126" cy="1178964"/>
            <a:chOff x="4541499" y="1226958"/>
            <a:chExt cx="3584594" cy="3274718"/>
          </a:xfrm>
        </p:grpSpPr>
        <p:sp>
          <p:nvSpPr>
            <p:cNvPr id="13" name="Google Shape;592;p42">
              <a:extLst>
                <a:ext uri="{FF2B5EF4-FFF2-40B4-BE49-F238E27FC236}">
                  <a16:creationId xmlns:a16="http://schemas.microsoft.com/office/drawing/2014/main" id="{1A2A4A19-DDCC-4FBF-A06F-5B917D5B317F}"/>
                </a:ext>
              </a:extLst>
            </p:cNvPr>
            <p:cNvSpPr/>
            <p:nvPr/>
          </p:nvSpPr>
          <p:spPr>
            <a:xfrm>
              <a:off x="4570584" y="4314077"/>
              <a:ext cx="1122293" cy="187598"/>
            </a:xfrm>
            <a:custGeom>
              <a:avLst/>
              <a:gdLst/>
              <a:ahLst/>
              <a:cxnLst/>
              <a:rect l="l" t="t" r="r" b="b"/>
              <a:pathLst>
                <a:path w="11576" h="1935" extrusionOk="0">
                  <a:moveTo>
                    <a:pt x="968" y="0"/>
                  </a:moveTo>
                  <a:cubicBezTo>
                    <a:pt x="401" y="0"/>
                    <a:pt x="1" y="434"/>
                    <a:pt x="1" y="968"/>
                  </a:cubicBezTo>
                  <a:cubicBezTo>
                    <a:pt x="1" y="1501"/>
                    <a:pt x="401" y="1935"/>
                    <a:pt x="968" y="1935"/>
                  </a:cubicBezTo>
                  <a:lnTo>
                    <a:pt x="10641" y="1935"/>
                  </a:lnTo>
                  <a:cubicBezTo>
                    <a:pt x="11175" y="1935"/>
                    <a:pt x="11575" y="1501"/>
                    <a:pt x="11575" y="968"/>
                  </a:cubicBezTo>
                  <a:cubicBezTo>
                    <a:pt x="11575" y="434"/>
                    <a:pt x="11175" y="0"/>
                    <a:pt x="10641" y="0"/>
                  </a:cubicBezTo>
                  <a:close/>
                </a:path>
              </a:pathLst>
            </a:custGeom>
            <a:solidFill>
              <a:srgbClr val="F4D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93;p42">
              <a:extLst>
                <a:ext uri="{FF2B5EF4-FFF2-40B4-BE49-F238E27FC236}">
                  <a16:creationId xmlns:a16="http://schemas.microsoft.com/office/drawing/2014/main" id="{EE789362-BA57-4F28-970A-2478F78F644F}"/>
                </a:ext>
              </a:extLst>
            </p:cNvPr>
            <p:cNvSpPr/>
            <p:nvPr/>
          </p:nvSpPr>
          <p:spPr>
            <a:xfrm>
              <a:off x="4541499" y="1464963"/>
              <a:ext cx="3583369" cy="171505"/>
            </a:xfrm>
            <a:custGeom>
              <a:avLst/>
              <a:gdLst/>
              <a:ahLst/>
              <a:cxnLst/>
              <a:rect l="l" t="t" r="r" b="b"/>
              <a:pathLst>
                <a:path w="36961" h="1769" extrusionOk="0">
                  <a:moveTo>
                    <a:pt x="868" y="1"/>
                  </a:moveTo>
                  <a:cubicBezTo>
                    <a:pt x="367" y="1"/>
                    <a:pt x="0" y="434"/>
                    <a:pt x="0" y="868"/>
                  </a:cubicBezTo>
                  <a:cubicBezTo>
                    <a:pt x="0" y="1368"/>
                    <a:pt x="434" y="1768"/>
                    <a:pt x="868" y="1768"/>
                  </a:cubicBezTo>
                  <a:lnTo>
                    <a:pt x="36059" y="1768"/>
                  </a:lnTo>
                  <a:cubicBezTo>
                    <a:pt x="36560" y="1768"/>
                    <a:pt x="36927" y="1335"/>
                    <a:pt x="36927" y="868"/>
                  </a:cubicBezTo>
                  <a:cubicBezTo>
                    <a:pt x="36960" y="367"/>
                    <a:pt x="36560" y="1"/>
                    <a:pt x="36059" y="1"/>
                  </a:cubicBezTo>
                  <a:close/>
                </a:path>
              </a:pathLst>
            </a:custGeom>
            <a:solidFill>
              <a:srgbClr val="F4D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94;p42">
              <a:extLst>
                <a:ext uri="{FF2B5EF4-FFF2-40B4-BE49-F238E27FC236}">
                  <a16:creationId xmlns:a16="http://schemas.microsoft.com/office/drawing/2014/main" id="{78960BB0-EE8C-4745-97CB-1B9FBCA4E0E6}"/>
                </a:ext>
              </a:extLst>
            </p:cNvPr>
            <p:cNvSpPr/>
            <p:nvPr/>
          </p:nvSpPr>
          <p:spPr>
            <a:xfrm>
              <a:off x="4541499" y="2069726"/>
              <a:ext cx="3583369" cy="171505"/>
            </a:xfrm>
            <a:custGeom>
              <a:avLst/>
              <a:gdLst/>
              <a:ahLst/>
              <a:cxnLst/>
              <a:rect l="l" t="t" r="r" b="b"/>
              <a:pathLst>
                <a:path w="36961" h="1769" extrusionOk="0">
                  <a:moveTo>
                    <a:pt x="868" y="0"/>
                  </a:moveTo>
                  <a:cubicBezTo>
                    <a:pt x="634" y="0"/>
                    <a:pt x="434" y="100"/>
                    <a:pt x="267" y="267"/>
                  </a:cubicBezTo>
                  <a:cubicBezTo>
                    <a:pt x="100" y="434"/>
                    <a:pt x="0" y="634"/>
                    <a:pt x="0" y="901"/>
                  </a:cubicBezTo>
                  <a:cubicBezTo>
                    <a:pt x="0" y="1401"/>
                    <a:pt x="434" y="1768"/>
                    <a:pt x="868" y="1768"/>
                  </a:cubicBezTo>
                  <a:lnTo>
                    <a:pt x="36059" y="1768"/>
                  </a:lnTo>
                  <a:cubicBezTo>
                    <a:pt x="36560" y="1768"/>
                    <a:pt x="36927" y="1368"/>
                    <a:pt x="36927" y="901"/>
                  </a:cubicBezTo>
                  <a:cubicBezTo>
                    <a:pt x="36960" y="634"/>
                    <a:pt x="36860" y="434"/>
                    <a:pt x="36693" y="267"/>
                  </a:cubicBezTo>
                  <a:cubicBezTo>
                    <a:pt x="36526" y="100"/>
                    <a:pt x="36326" y="0"/>
                    <a:pt x="36059" y="0"/>
                  </a:cubicBezTo>
                  <a:close/>
                </a:path>
              </a:pathLst>
            </a:custGeom>
            <a:solidFill>
              <a:srgbClr val="F4D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95;p42">
              <a:extLst>
                <a:ext uri="{FF2B5EF4-FFF2-40B4-BE49-F238E27FC236}">
                  <a16:creationId xmlns:a16="http://schemas.microsoft.com/office/drawing/2014/main" id="{57AC912E-B65D-4B8C-998C-63D512B765FC}"/>
                </a:ext>
              </a:extLst>
            </p:cNvPr>
            <p:cNvSpPr/>
            <p:nvPr/>
          </p:nvSpPr>
          <p:spPr>
            <a:xfrm>
              <a:off x="6966957" y="4314077"/>
              <a:ext cx="1125493" cy="187598"/>
            </a:xfrm>
            <a:custGeom>
              <a:avLst/>
              <a:gdLst/>
              <a:ahLst/>
              <a:cxnLst/>
              <a:rect l="l" t="t" r="r" b="b"/>
              <a:pathLst>
                <a:path w="11609" h="1935" extrusionOk="0">
                  <a:moveTo>
                    <a:pt x="968" y="0"/>
                  </a:moveTo>
                  <a:cubicBezTo>
                    <a:pt x="400" y="0"/>
                    <a:pt x="0" y="434"/>
                    <a:pt x="0" y="968"/>
                  </a:cubicBezTo>
                  <a:cubicBezTo>
                    <a:pt x="0" y="1501"/>
                    <a:pt x="467" y="1935"/>
                    <a:pt x="968" y="1935"/>
                  </a:cubicBezTo>
                  <a:lnTo>
                    <a:pt x="10641" y="1935"/>
                  </a:lnTo>
                  <a:cubicBezTo>
                    <a:pt x="11175" y="1935"/>
                    <a:pt x="11608" y="1501"/>
                    <a:pt x="11608" y="968"/>
                  </a:cubicBezTo>
                  <a:cubicBezTo>
                    <a:pt x="11608" y="434"/>
                    <a:pt x="11175" y="0"/>
                    <a:pt x="10641" y="0"/>
                  </a:cubicBezTo>
                  <a:close/>
                </a:path>
              </a:pathLst>
            </a:custGeom>
            <a:solidFill>
              <a:srgbClr val="F4D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96;p42">
              <a:extLst>
                <a:ext uri="{FF2B5EF4-FFF2-40B4-BE49-F238E27FC236}">
                  <a16:creationId xmlns:a16="http://schemas.microsoft.com/office/drawing/2014/main" id="{D9F2EB61-3528-4581-8ADA-A3915742BCB4}"/>
                </a:ext>
              </a:extLst>
            </p:cNvPr>
            <p:cNvSpPr/>
            <p:nvPr/>
          </p:nvSpPr>
          <p:spPr>
            <a:xfrm>
              <a:off x="4722599" y="1226958"/>
              <a:ext cx="3217867" cy="245865"/>
            </a:xfrm>
            <a:custGeom>
              <a:avLst/>
              <a:gdLst/>
              <a:ahLst/>
              <a:cxnLst/>
              <a:rect l="l" t="t" r="r" b="b"/>
              <a:pathLst>
                <a:path w="33191" h="2536" extrusionOk="0">
                  <a:moveTo>
                    <a:pt x="1468" y="0"/>
                  </a:moveTo>
                  <a:cubicBezTo>
                    <a:pt x="667" y="0"/>
                    <a:pt x="0" y="668"/>
                    <a:pt x="0" y="1468"/>
                  </a:cubicBezTo>
                  <a:lnTo>
                    <a:pt x="0" y="2536"/>
                  </a:lnTo>
                  <a:lnTo>
                    <a:pt x="33191" y="2536"/>
                  </a:lnTo>
                  <a:lnTo>
                    <a:pt x="33191" y="1468"/>
                  </a:lnTo>
                  <a:cubicBezTo>
                    <a:pt x="33191" y="668"/>
                    <a:pt x="32524" y="0"/>
                    <a:pt x="31756" y="0"/>
                  </a:cubicBezTo>
                  <a:close/>
                </a:path>
              </a:pathLst>
            </a:custGeom>
            <a:solidFill>
              <a:srgbClr val="C77B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97;p42">
              <a:extLst>
                <a:ext uri="{FF2B5EF4-FFF2-40B4-BE49-F238E27FC236}">
                  <a16:creationId xmlns:a16="http://schemas.microsoft.com/office/drawing/2014/main" id="{7949950B-0F9B-4065-9DD7-B7CA298E6CEF}"/>
                </a:ext>
              </a:extLst>
            </p:cNvPr>
            <p:cNvSpPr/>
            <p:nvPr/>
          </p:nvSpPr>
          <p:spPr>
            <a:xfrm>
              <a:off x="4719303" y="1372477"/>
              <a:ext cx="3221164" cy="100343"/>
            </a:xfrm>
            <a:custGeom>
              <a:avLst/>
              <a:gdLst/>
              <a:ahLst/>
              <a:cxnLst/>
              <a:rect l="l" t="t" r="r" b="b"/>
              <a:pathLst>
                <a:path w="33225" h="1035" extrusionOk="0">
                  <a:moveTo>
                    <a:pt x="1" y="0"/>
                  </a:moveTo>
                  <a:lnTo>
                    <a:pt x="1" y="1035"/>
                  </a:lnTo>
                  <a:lnTo>
                    <a:pt x="33225" y="1035"/>
                  </a:lnTo>
                  <a:lnTo>
                    <a:pt x="33225" y="0"/>
                  </a:ln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98;p42">
              <a:extLst>
                <a:ext uri="{FF2B5EF4-FFF2-40B4-BE49-F238E27FC236}">
                  <a16:creationId xmlns:a16="http://schemas.microsoft.com/office/drawing/2014/main" id="{D16EBFFC-2BB6-4CEC-BB1A-E496CB7399FE}"/>
                </a:ext>
              </a:extLst>
            </p:cNvPr>
            <p:cNvSpPr/>
            <p:nvPr/>
          </p:nvSpPr>
          <p:spPr>
            <a:xfrm>
              <a:off x="4683820" y="1639567"/>
              <a:ext cx="3295427" cy="433463"/>
            </a:xfrm>
            <a:custGeom>
              <a:avLst/>
              <a:gdLst/>
              <a:ahLst/>
              <a:cxnLst/>
              <a:rect l="l" t="t" r="r" b="b"/>
              <a:pathLst>
                <a:path w="33991" h="4471" extrusionOk="0">
                  <a:moveTo>
                    <a:pt x="0" y="1"/>
                  </a:moveTo>
                  <a:lnTo>
                    <a:pt x="0" y="4471"/>
                  </a:lnTo>
                  <a:lnTo>
                    <a:pt x="33991" y="4471"/>
                  </a:lnTo>
                  <a:lnTo>
                    <a:pt x="33991" y="1"/>
                  </a:lnTo>
                  <a:close/>
                </a:path>
              </a:pathLst>
            </a:custGeom>
            <a:solidFill>
              <a:srgbClr val="C77B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99;p42">
              <a:extLst>
                <a:ext uri="{FF2B5EF4-FFF2-40B4-BE49-F238E27FC236}">
                  <a16:creationId xmlns:a16="http://schemas.microsoft.com/office/drawing/2014/main" id="{0E398351-024A-4B5A-91BE-8BFFB6D60C12}"/>
                </a:ext>
              </a:extLst>
            </p:cNvPr>
            <p:cNvSpPr/>
            <p:nvPr/>
          </p:nvSpPr>
          <p:spPr>
            <a:xfrm>
              <a:off x="4683820" y="1804573"/>
              <a:ext cx="3295427" cy="268455"/>
            </a:xfrm>
            <a:custGeom>
              <a:avLst/>
              <a:gdLst/>
              <a:ahLst/>
              <a:cxnLst/>
              <a:rect l="l" t="t" r="r" b="b"/>
              <a:pathLst>
                <a:path w="33991" h="2769" extrusionOk="0">
                  <a:moveTo>
                    <a:pt x="0" y="0"/>
                  </a:moveTo>
                  <a:lnTo>
                    <a:pt x="0" y="2769"/>
                  </a:lnTo>
                  <a:lnTo>
                    <a:pt x="33991" y="2769"/>
                  </a:lnTo>
                  <a:lnTo>
                    <a:pt x="33991" y="0"/>
                  </a:lnTo>
                  <a:cubicBezTo>
                    <a:pt x="33991" y="667"/>
                    <a:pt x="33424" y="1201"/>
                    <a:pt x="32723" y="1201"/>
                  </a:cubicBezTo>
                  <a:lnTo>
                    <a:pt x="1201" y="1201"/>
                  </a:lnTo>
                  <a:cubicBezTo>
                    <a:pt x="534" y="1201"/>
                    <a:pt x="0" y="667"/>
                    <a:pt x="0"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00;p42">
              <a:extLst>
                <a:ext uri="{FF2B5EF4-FFF2-40B4-BE49-F238E27FC236}">
                  <a16:creationId xmlns:a16="http://schemas.microsoft.com/office/drawing/2014/main" id="{8A5D5D7E-4056-48D0-9322-0FCEF59EC444}"/>
                </a:ext>
              </a:extLst>
            </p:cNvPr>
            <p:cNvSpPr/>
            <p:nvPr/>
          </p:nvSpPr>
          <p:spPr>
            <a:xfrm>
              <a:off x="4687019" y="2241131"/>
              <a:ext cx="3292228" cy="2073082"/>
            </a:xfrm>
            <a:custGeom>
              <a:avLst/>
              <a:gdLst/>
              <a:ahLst/>
              <a:cxnLst/>
              <a:rect l="l" t="t" r="r" b="b"/>
              <a:pathLst>
                <a:path w="33958" h="21383" extrusionOk="0">
                  <a:moveTo>
                    <a:pt x="0" y="0"/>
                  </a:moveTo>
                  <a:lnTo>
                    <a:pt x="0" y="21382"/>
                  </a:lnTo>
                  <a:lnTo>
                    <a:pt x="9207" y="21382"/>
                  </a:lnTo>
                  <a:lnTo>
                    <a:pt x="9207" y="10708"/>
                  </a:lnTo>
                  <a:cubicBezTo>
                    <a:pt x="9207" y="9974"/>
                    <a:pt x="9307" y="9207"/>
                    <a:pt x="9507" y="8540"/>
                  </a:cubicBezTo>
                  <a:cubicBezTo>
                    <a:pt x="9674" y="8006"/>
                    <a:pt x="9874" y="7472"/>
                    <a:pt x="10174" y="6972"/>
                  </a:cubicBezTo>
                  <a:cubicBezTo>
                    <a:pt x="11475" y="4537"/>
                    <a:pt x="14044" y="2936"/>
                    <a:pt x="16979" y="2936"/>
                  </a:cubicBezTo>
                  <a:cubicBezTo>
                    <a:pt x="19881" y="2936"/>
                    <a:pt x="22450" y="4537"/>
                    <a:pt x="23784" y="6972"/>
                  </a:cubicBezTo>
                  <a:cubicBezTo>
                    <a:pt x="24051" y="7472"/>
                    <a:pt x="24284" y="8006"/>
                    <a:pt x="24451" y="8540"/>
                  </a:cubicBezTo>
                  <a:cubicBezTo>
                    <a:pt x="24618" y="9274"/>
                    <a:pt x="24718" y="9974"/>
                    <a:pt x="24718" y="10708"/>
                  </a:cubicBezTo>
                  <a:lnTo>
                    <a:pt x="24718" y="21382"/>
                  </a:lnTo>
                  <a:lnTo>
                    <a:pt x="33958" y="21382"/>
                  </a:lnTo>
                  <a:lnTo>
                    <a:pt x="33958" y="0"/>
                  </a:lnTo>
                  <a:close/>
                </a:path>
              </a:pathLst>
            </a:custGeom>
            <a:solidFill>
              <a:srgbClr val="C77B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01;p42">
              <a:extLst>
                <a:ext uri="{FF2B5EF4-FFF2-40B4-BE49-F238E27FC236}">
                  <a16:creationId xmlns:a16="http://schemas.microsoft.com/office/drawing/2014/main" id="{31946C5E-1C09-442D-9694-7F64CE116281}"/>
                </a:ext>
              </a:extLst>
            </p:cNvPr>
            <p:cNvSpPr/>
            <p:nvPr/>
          </p:nvSpPr>
          <p:spPr>
            <a:xfrm>
              <a:off x="7083392" y="3909803"/>
              <a:ext cx="895818" cy="404378"/>
            </a:xfrm>
            <a:custGeom>
              <a:avLst/>
              <a:gdLst/>
              <a:ahLst/>
              <a:cxnLst/>
              <a:rect l="l" t="t" r="r" b="b"/>
              <a:pathLst>
                <a:path w="9240" h="4171" extrusionOk="0">
                  <a:moveTo>
                    <a:pt x="0" y="1"/>
                  </a:moveTo>
                  <a:lnTo>
                    <a:pt x="0" y="4170"/>
                  </a:lnTo>
                  <a:lnTo>
                    <a:pt x="9240" y="4170"/>
                  </a:lnTo>
                  <a:lnTo>
                    <a:pt x="9240" y="1"/>
                  </a:lnTo>
                  <a:cubicBezTo>
                    <a:pt x="9240" y="901"/>
                    <a:pt x="8506" y="1602"/>
                    <a:pt x="7639" y="1635"/>
                  </a:cubicBezTo>
                  <a:lnTo>
                    <a:pt x="1635" y="1635"/>
                  </a:lnTo>
                  <a:cubicBezTo>
                    <a:pt x="734" y="1635"/>
                    <a:pt x="0" y="901"/>
                    <a:pt x="0" y="1"/>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02;p42">
              <a:extLst>
                <a:ext uri="{FF2B5EF4-FFF2-40B4-BE49-F238E27FC236}">
                  <a16:creationId xmlns:a16="http://schemas.microsoft.com/office/drawing/2014/main" id="{3C96BBFF-94DB-410D-A713-07102CF18B58}"/>
                </a:ext>
              </a:extLst>
            </p:cNvPr>
            <p:cNvSpPr/>
            <p:nvPr/>
          </p:nvSpPr>
          <p:spPr>
            <a:xfrm>
              <a:off x="4683820" y="2920253"/>
              <a:ext cx="986369" cy="155314"/>
            </a:xfrm>
            <a:custGeom>
              <a:avLst/>
              <a:gdLst/>
              <a:ahLst/>
              <a:cxnLst/>
              <a:rect l="l" t="t" r="r" b="b"/>
              <a:pathLst>
                <a:path w="10174" h="1602" extrusionOk="0">
                  <a:moveTo>
                    <a:pt x="0" y="0"/>
                  </a:moveTo>
                  <a:lnTo>
                    <a:pt x="0" y="1601"/>
                  </a:lnTo>
                  <a:lnTo>
                    <a:pt x="9507" y="1601"/>
                  </a:lnTo>
                  <a:cubicBezTo>
                    <a:pt x="9674" y="1034"/>
                    <a:pt x="9874" y="501"/>
                    <a:pt x="10174"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03;p42">
              <a:extLst>
                <a:ext uri="{FF2B5EF4-FFF2-40B4-BE49-F238E27FC236}">
                  <a16:creationId xmlns:a16="http://schemas.microsoft.com/office/drawing/2014/main" id="{CABFFD3F-E332-408A-9EDC-8275AD089C32}"/>
                </a:ext>
              </a:extLst>
            </p:cNvPr>
            <p:cNvSpPr/>
            <p:nvPr/>
          </p:nvSpPr>
          <p:spPr>
            <a:xfrm>
              <a:off x="6992842" y="2920253"/>
              <a:ext cx="986369" cy="155314"/>
            </a:xfrm>
            <a:custGeom>
              <a:avLst/>
              <a:gdLst/>
              <a:ahLst/>
              <a:cxnLst/>
              <a:rect l="l" t="t" r="r" b="b"/>
              <a:pathLst>
                <a:path w="10174" h="1602" extrusionOk="0">
                  <a:moveTo>
                    <a:pt x="0" y="0"/>
                  </a:moveTo>
                  <a:cubicBezTo>
                    <a:pt x="267" y="501"/>
                    <a:pt x="500" y="1034"/>
                    <a:pt x="667" y="1601"/>
                  </a:cubicBezTo>
                  <a:lnTo>
                    <a:pt x="10174" y="1601"/>
                  </a:lnTo>
                  <a:lnTo>
                    <a:pt x="10174" y="0"/>
                  </a:ln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04;p42">
              <a:extLst>
                <a:ext uri="{FF2B5EF4-FFF2-40B4-BE49-F238E27FC236}">
                  <a16:creationId xmlns:a16="http://schemas.microsoft.com/office/drawing/2014/main" id="{055C2A64-F8F3-4DB7-A40A-F90BCA6088D5}"/>
                </a:ext>
              </a:extLst>
            </p:cNvPr>
            <p:cNvSpPr/>
            <p:nvPr/>
          </p:nvSpPr>
          <p:spPr>
            <a:xfrm>
              <a:off x="4687019" y="3909803"/>
              <a:ext cx="892619" cy="404378"/>
            </a:xfrm>
            <a:custGeom>
              <a:avLst/>
              <a:gdLst/>
              <a:ahLst/>
              <a:cxnLst/>
              <a:rect l="l" t="t" r="r" b="b"/>
              <a:pathLst>
                <a:path w="9207" h="4171" extrusionOk="0">
                  <a:moveTo>
                    <a:pt x="0" y="1"/>
                  </a:moveTo>
                  <a:lnTo>
                    <a:pt x="0" y="4170"/>
                  </a:lnTo>
                  <a:lnTo>
                    <a:pt x="9207" y="4170"/>
                  </a:lnTo>
                  <a:lnTo>
                    <a:pt x="9207" y="1"/>
                  </a:lnTo>
                  <a:cubicBezTo>
                    <a:pt x="9207" y="901"/>
                    <a:pt x="8473" y="1602"/>
                    <a:pt x="7639" y="1635"/>
                  </a:cubicBezTo>
                  <a:lnTo>
                    <a:pt x="1635" y="1635"/>
                  </a:lnTo>
                  <a:cubicBezTo>
                    <a:pt x="701" y="1635"/>
                    <a:pt x="0" y="901"/>
                    <a:pt x="0" y="1"/>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05;p42">
              <a:extLst>
                <a:ext uri="{FF2B5EF4-FFF2-40B4-BE49-F238E27FC236}">
                  <a16:creationId xmlns:a16="http://schemas.microsoft.com/office/drawing/2014/main" id="{F797C8AA-14FF-457E-B2BD-7DE3A9428D67}"/>
                </a:ext>
              </a:extLst>
            </p:cNvPr>
            <p:cNvSpPr/>
            <p:nvPr/>
          </p:nvSpPr>
          <p:spPr>
            <a:xfrm>
              <a:off x="4929584" y="3486140"/>
              <a:ext cx="355807" cy="478739"/>
            </a:xfrm>
            <a:custGeom>
              <a:avLst/>
              <a:gdLst/>
              <a:ahLst/>
              <a:cxnLst/>
              <a:rect l="l" t="t" r="r" b="b"/>
              <a:pathLst>
                <a:path w="3670" h="4938" extrusionOk="0">
                  <a:moveTo>
                    <a:pt x="1835" y="1"/>
                  </a:moveTo>
                  <a:cubicBezTo>
                    <a:pt x="834" y="1"/>
                    <a:pt x="0" y="835"/>
                    <a:pt x="0" y="1835"/>
                  </a:cubicBezTo>
                  <a:lnTo>
                    <a:pt x="0" y="4938"/>
                  </a:lnTo>
                  <a:lnTo>
                    <a:pt x="3669" y="4938"/>
                  </a:lnTo>
                  <a:lnTo>
                    <a:pt x="3669" y="1835"/>
                  </a:lnTo>
                  <a:cubicBezTo>
                    <a:pt x="3669" y="1335"/>
                    <a:pt x="3469" y="868"/>
                    <a:pt x="3136" y="535"/>
                  </a:cubicBezTo>
                  <a:cubicBezTo>
                    <a:pt x="2936" y="301"/>
                    <a:pt x="2602" y="134"/>
                    <a:pt x="2268" y="34"/>
                  </a:cubicBezTo>
                  <a:cubicBezTo>
                    <a:pt x="2135" y="1"/>
                    <a:pt x="1968" y="1"/>
                    <a:pt x="1835" y="1"/>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06;p42">
              <a:extLst>
                <a:ext uri="{FF2B5EF4-FFF2-40B4-BE49-F238E27FC236}">
                  <a16:creationId xmlns:a16="http://schemas.microsoft.com/office/drawing/2014/main" id="{76BBED53-5756-414F-A704-72D9B08C1E58}"/>
                </a:ext>
              </a:extLst>
            </p:cNvPr>
            <p:cNvSpPr/>
            <p:nvPr/>
          </p:nvSpPr>
          <p:spPr>
            <a:xfrm>
              <a:off x="5007143" y="3489436"/>
              <a:ext cx="278246" cy="475443"/>
            </a:xfrm>
            <a:custGeom>
              <a:avLst/>
              <a:gdLst/>
              <a:ahLst/>
              <a:cxnLst/>
              <a:rect l="l" t="t" r="r" b="b"/>
              <a:pathLst>
                <a:path w="2870" h="4904" extrusionOk="0">
                  <a:moveTo>
                    <a:pt x="1402" y="0"/>
                  </a:moveTo>
                  <a:cubicBezTo>
                    <a:pt x="635" y="234"/>
                    <a:pt x="1" y="934"/>
                    <a:pt x="1" y="1801"/>
                  </a:cubicBezTo>
                  <a:lnTo>
                    <a:pt x="1" y="4904"/>
                  </a:lnTo>
                  <a:lnTo>
                    <a:pt x="2869" y="4904"/>
                  </a:lnTo>
                  <a:lnTo>
                    <a:pt x="2869" y="1801"/>
                  </a:lnTo>
                  <a:cubicBezTo>
                    <a:pt x="2869" y="1301"/>
                    <a:pt x="2669" y="834"/>
                    <a:pt x="2302" y="501"/>
                  </a:cubicBezTo>
                  <a:cubicBezTo>
                    <a:pt x="2069" y="267"/>
                    <a:pt x="1735" y="100"/>
                    <a:pt x="1402"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07;p42">
              <a:extLst>
                <a:ext uri="{FF2B5EF4-FFF2-40B4-BE49-F238E27FC236}">
                  <a16:creationId xmlns:a16="http://schemas.microsoft.com/office/drawing/2014/main" id="{A86CB5F9-33E6-475E-86CF-6170B20E350D}"/>
                </a:ext>
              </a:extLst>
            </p:cNvPr>
            <p:cNvSpPr/>
            <p:nvPr/>
          </p:nvSpPr>
          <p:spPr>
            <a:xfrm>
              <a:off x="4861623" y="3909803"/>
              <a:ext cx="498129" cy="97144"/>
            </a:xfrm>
            <a:custGeom>
              <a:avLst/>
              <a:gdLst/>
              <a:ahLst/>
              <a:cxnLst/>
              <a:rect l="l" t="t" r="r" b="b"/>
              <a:pathLst>
                <a:path w="5138" h="1002" extrusionOk="0">
                  <a:moveTo>
                    <a:pt x="501" y="1"/>
                  </a:moveTo>
                  <a:cubicBezTo>
                    <a:pt x="234" y="1"/>
                    <a:pt x="1" y="234"/>
                    <a:pt x="1" y="501"/>
                  </a:cubicBezTo>
                  <a:cubicBezTo>
                    <a:pt x="1" y="768"/>
                    <a:pt x="201" y="1001"/>
                    <a:pt x="501" y="1001"/>
                  </a:cubicBezTo>
                  <a:lnTo>
                    <a:pt x="4571" y="1001"/>
                  </a:lnTo>
                  <a:cubicBezTo>
                    <a:pt x="4871" y="1001"/>
                    <a:pt x="5138" y="768"/>
                    <a:pt x="5071" y="501"/>
                  </a:cubicBezTo>
                  <a:cubicBezTo>
                    <a:pt x="5071" y="267"/>
                    <a:pt x="4871" y="1"/>
                    <a:pt x="4571" y="1"/>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08;p42">
              <a:extLst>
                <a:ext uri="{FF2B5EF4-FFF2-40B4-BE49-F238E27FC236}">
                  <a16:creationId xmlns:a16="http://schemas.microsoft.com/office/drawing/2014/main" id="{BAC4DC28-1F01-4257-AC2E-F498267DA3E6}"/>
                </a:ext>
              </a:extLst>
            </p:cNvPr>
            <p:cNvSpPr/>
            <p:nvPr/>
          </p:nvSpPr>
          <p:spPr>
            <a:xfrm>
              <a:off x="4864919" y="3935689"/>
              <a:ext cx="494833" cy="67962"/>
            </a:xfrm>
            <a:custGeom>
              <a:avLst/>
              <a:gdLst/>
              <a:ahLst/>
              <a:cxnLst/>
              <a:rect l="l" t="t" r="r" b="b"/>
              <a:pathLst>
                <a:path w="5104" h="701" extrusionOk="0">
                  <a:moveTo>
                    <a:pt x="33" y="0"/>
                  </a:moveTo>
                  <a:cubicBezTo>
                    <a:pt x="0" y="34"/>
                    <a:pt x="0" y="134"/>
                    <a:pt x="0" y="201"/>
                  </a:cubicBezTo>
                  <a:cubicBezTo>
                    <a:pt x="0" y="434"/>
                    <a:pt x="200" y="701"/>
                    <a:pt x="500" y="701"/>
                  </a:cubicBezTo>
                  <a:lnTo>
                    <a:pt x="4603" y="701"/>
                  </a:lnTo>
                  <a:cubicBezTo>
                    <a:pt x="4837" y="701"/>
                    <a:pt x="5104" y="501"/>
                    <a:pt x="5104" y="201"/>
                  </a:cubicBezTo>
                  <a:cubicBezTo>
                    <a:pt x="5104" y="167"/>
                    <a:pt x="5037" y="67"/>
                    <a:pt x="5037" y="0"/>
                  </a:cubicBezTo>
                  <a:cubicBezTo>
                    <a:pt x="4970" y="167"/>
                    <a:pt x="4803" y="301"/>
                    <a:pt x="4603" y="301"/>
                  </a:cubicBezTo>
                  <a:lnTo>
                    <a:pt x="500" y="301"/>
                  </a:lnTo>
                  <a:cubicBezTo>
                    <a:pt x="300" y="301"/>
                    <a:pt x="133" y="167"/>
                    <a:pt x="33"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09;p42">
              <a:extLst>
                <a:ext uri="{FF2B5EF4-FFF2-40B4-BE49-F238E27FC236}">
                  <a16:creationId xmlns:a16="http://schemas.microsoft.com/office/drawing/2014/main" id="{C13FAECE-F9D2-4B57-94A7-301BAD7DFC5E}"/>
                </a:ext>
              </a:extLst>
            </p:cNvPr>
            <p:cNvSpPr/>
            <p:nvPr/>
          </p:nvSpPr>
          <p:spPr>
            <a:xfrm>
              <a:off x="7374431" y="3486140"/>
              <a:ext cx="355807" cy="478739"/>
            </a:xfrm>
            <a:custGeom>
              <a:avLst/>
              <a:gdLst/>
              <a:ahLst/>
              <a:cxnLst/>
              <a:rect l="l" t="t" r="r" b="b"/>
              <a:pathLst>
                <a:path w="3670" h="4938" extrusionOk="0">
                  <a:moveTo>
                    <a:pt x="1835" y="1"/>
                  </a:moveTo>
                  <a:cubicBezTo>
                    <a:pt x="834" y="1"/>
                    <a:pt x="0" y="835"/>
                    <a:pt x="0" y="1835"/>
                  </a:cubicBezTo>
                  <a:lnTo>
                    <a:pt x="0" y="4938"/>
                  </a:lnTo>
                  <a:lnTo>
                    <a:pt x="3669" y="4938"/>
                  </a:lnTo>
                  <a:lnTo>
                    <a:pt x="3669" y="1835"/>
                  </a:lnTo>
                  <a:cubicBezTo>
                    <a:pt x="3669" y="835"/>
                    <a:pt x="2836" y="1"/>
                    <a:pt x="1835" y="1"/>
                  </a:cubicBezTo>
                  <a:close/>
                </a:path>
              </a:pathLst>
            </a:custGeom>
            <a:solidFill>
              <a:srgbClr val="8F6A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610;p42">
              <a:extLst>
                <a:ext uri="{FF2B5EF4-FFF2-40B4-BE49-F238E27FC236}">
                  <a16:creationId xmlns:a16="http://schemas.microsoft.com/office/drawing/2014/main" id="{A92A6471-C384-4EB2-8E85-55B83E0BA672}"/>
                </a:ext>
              </a:extLst>
            </p:cNvPr>
            <p:cNvSpPr/>
            <p:nvPr/>
          </p:nvSpPr>
          <p:spPr>
            <a:xfrm>
              <a:off x="7306470" y="3909803"/>
              <a:ext cx="494930" cy="97144"/>
            </a:xfrm>
            <a:custGeom>
              <a:avLst/>
              <a:gdLst/>
              <a:ahLst/>
              <a:cxnLst/>
              <a:rect l="l" t="t" r="r" b="b"/>
              <a:pathLst>
                <a:path w="5105" h="1002" extrusionOk="0">
                  <a:moveTo>
                    <a:pt x="501" y="1"/>
                  </a:moveTo>
                  <a:cubicBezTo>
                    <a:pt x="201" y="1"/>
                    <a:pt x="1" y="267"/>
                    <a:pt x="1" y="501"/>
                  </a:cubicBezTo>
                  <a:cubicBezTo>
                    <a:pt x="1" y="768"/>
                    <a:pt x="201" y="1001"/>
                    <a:pt x="501" y="1001"/>
                  </a:cubicBezTo>
                  <a:lnTo>
                    <a:pt x="4604" y="1001"/>
                  </a:lnTo>
                  <a:cubicBezTo>
                    <a:pt x="4871" y="1001"/>
                    <a:pt x="5104" y="768"/>
                    <a:pt x="5104" y="501"/>
                  </a:cubicBezTo>
                  <a:cubicBezTo>
                    <a:pt x="5104" y="234"/>
                    <a:pt x="4837" y="1"/>
                    <a:pt x="4604" y="1"/>
                  </a:cubicBezTo>
                  <a:close/>
                </a:path>
              </a:pathLst>
            </a:custGeom>
            <a:solidFill>
              <a:srgbClr val="F4D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611;p42">
              <a:extLst>
                <a:ext uri="{FF2B5EF4-FFF2-40B4-BE49-F238E27FC236}">
                  <a16:creationId xmlns:a16="http://schemas.microsoft.com/office/drawing/2014/main" id="{37C5E64B-76EE-4AA1-9A8D-5E976D1E6141}"/>
                </a:ext>
              </a:extLst>
            </p:cNvPr>
            <p:cNvSpPr/>
            <p:nvPr/>
          </p:nvSpPr>
          <p:spPr>
            <a:xfrm>
              <a:off x="4541499" y="3078666"/>
              <a:ext cx="1177264" cy="168305"/>
            </a:xfrm>
            <a:custGeom>
              <a:avLst/>
              <a:gdLst/>
              <a:ahLst/>
              <a:cxnLst/>
              <a:rect l="l" t="t" r="r" b="b"/>
              <a:pathLst>
                <a:path w="12143" h="1736" extrusionOk="0">
                  <a:moveTo>
                    <a:pt x="868" y="1"/>
                  </a:moveTo>
                  <a:cubicBezTo>
                    <a:pt x="434" y="1"/>
                    <a:pt x="0" y="368"/>
                    <a:pt x="0" y="868"/>
                  </a:cubicBezTo>
                  <a:cubicBezTo>
                    <a:pt x="0" y="1335"/>
                    <a:pt x="367" y="1735"/>
                    <a:pt x="868" y="1735"/>
                  </a:cubicBezTo>
                  <a:lnTo>
                    <a:pt x="11275" y="1735"/>
                  </a:lnTo>
                  <a:cubicBezTo>
                    <a:pt x="11775" y="1735"/>
                    <a:pt x="12142" y="1335"/>
                    <a:pt x="12142" y="868"/>
                  </a:cubicBezTo>
                  <a:cubicBezTo>
                    <a:pt x="12142" y="401"/>
                    <a:pt x="11775" y="1"/>
                    <a:pt x="11275" y="1"/>
                  </a:cubicBezTo>
                  <a:close/>
                </a:path>
              </a:pathLst>
            </a:custGeom>
            <a:solidFill>
              <a:srgbClr val="F4D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12;p42">
              <a:extLst>
                <a:ext uri="{FF2B5EF4-FFF2-40B4-BE49-F238E27FC236}">
                  <a16:creationId xmlns:a16="http://schemas.microsoft.com/office/drawing/2014/main" id="{E5200AA7-147A-4284-A99F-0C4B1B5826D5}"/>
                </a:ext>
              </a:extLst>
            </p:cNvPr>
            <p:cNvSpPr/>
            <p:nvPr/>
          </p:nvSpPr>
          <p:spPr>
            <a:xfrm>
              <a:off x="4832539" y="2483695"/>
              <a:ext cx="646850" cy="261959"/>
            </a:xfrm>
            <a:custGeom>
              <a:avLst/>
              <a:gdLst/>
              <a:ahLst/>
              <a:cxnLst/>
              <a:rect l="l" t="t" r="r" b="b"/>
              <a:pathLst>
                <a:path w="6672" h="2702" extrusionOk="0">
                  <a:moveTo>
                    <a:pt x="601" y="0"/>
                  </a:moveTo>
                  <a:cubicBezTo>
                    <a:pt x="234" y="0"/>
                    <a:pt x="0" y="267"/>
                    <a:pt x="0" y="600"/>
                  </a:cubicBezTo>
                  <a:lnTo>
                    <a:pt x="0" y="2135"/>
                  </a:lnTo>
                  <a:cubicBezTo>
                    <a:pt x="0" y="2468"/>
                    <a:pt x="234" y="2702"/>
                    <a:pt x="601" y="2702"/>
                  </a:cubicBezTo>
                  <a:lnTo>
                    <a:pt x="6105" y="2702"/>
                  </a:lnTo>
                  <a:cubicBezTo>
                    <a:pt x="6438" y="2702"/>
                    <a:pt x="6672" y="2468"/>
                    <a:pt x="6672" y="2135"/>
                  </a:cubicBezTo>
                  <a:lnTo>
                    <a:pt x="6672" y="600"/>
                  </a:lnTo>
                  <a:cubicBezTo>
                    <a:pt x="6672" y="267"/>
                    <a:pt x="6438" y="0"/>
                    <a:pt x="6105"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13;p42">
              <a:extLst>
                <a:ext uri="{FF2B5EF4-FFF2-40B4-BE49-F238E27FC236}">
                  <a16:creationId xmlns:a16="http://schemas.microsoft.com/office/drawing/2014/main" id="{6A2252A5-11E6-41F3-A171-C00E2D4D9EDE}"/>
                </a:ext>
              </a:extLst>
            </p:cNvPr>
            <p:cNvSpPr/>
            <p:nvPr/>
          </p:nvSpPr>
          <p:spPr>
            <a:xfrm>
              <a:off x="4897203" y="2483695"/>
              <a:ext cx="582185" cy="261959"/>
            </a:xfrm>
            <a:custGeom>
              <a:avLst/>
              <a:gdLst/>
              <a:ahLst/>
              <a:cxnLst/>
              <a:rect l="l" t="t" r="r" b="b"/>
              <a:pathLst>
                <a:path w="6005" h="2702" extrusionOk="0">
                  <a:moveTo>
                    <a:pt x="601" y="0"/>
                  </a:moveTo>
                  <a:cubicBezTo>
                    <a:pt x="234" y="0"/>
                    <a:pt x="1" y="267"/>
                    <a:pt x="1" y="600"/>
                  </a:cubicBezTo>
                  <a:lnTo>
                    <a:pt x="1" y="2135"/>
                  </a:lnTo>
                  <a:cubicBezTo>
                    <a:pt x="1" y="2468"/>
                    <a:pt x="234" y="2702"/>
                    <a:pt x="601" y="2702"/>
                  </a:cubicBezTo>
                  <a:lnTo>
                    <a:pt x="5438" y="2702"/>
                  </a:lnTo>
                  <a:cubicBezTo>
                    <a:pt x="5771" y="2702"/>
                    <a:pt x="6005" y="2468"/>
                    <a:pt x="6005" y="2135"/>
                  </a:cubicBezTo>
                  <a:lnTo>
                    <a:pt x="6005" y="600"/>
                  </a:lnTo>
                  <a:cubicBezTo>
                    <a:pt x="6005" y="267"/>
                    <a:pt x="5771" y="0"/>
                    <a:pt x="5438"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614;p42">
              <a:extLst>
                <a:ext uri="{FF2B5EF4-FFF2-40B4-BE49-F238E27FC236}">
                  <a16:creationId xmlns:a16="http://schemas.microsoft.com/office/drawing/2014/main" id="{3B07F96E-8B01-41F7-B5C2-A8763906F8DE}"/>
                </a:ext>
              </a:extLst>
            </p:cNvPr>
            <p:cNvSpPr/>
            <p:nvPr/>
          </p:nvSpPr>
          <p:spPr>
            <a:xfrm>
              <a:off x="7374431" y="3486140"/>
              <a:ext cx="355807" cy="478739"/>
            </a:xfrm>
            <a:custGeom>
              <a:avLst/>
              <a:gdLst/>
              <a:ahLst/>
              <a:cxnLst/>
              <a:rect l="l" t="t" r="r" b="b"/>
              <a:pathLst>
                <a:path w="3670" h="4938" extrusionOk="0">
                  <a:moveTo>
                    <a:pt x="1835" y="1"/>
                  </a:moveTo>
                  <a:cubicBezTo>
                    <a:pt x="1735" y="1"/>
                    <a:pt x="1568" y="1"/>
                    <a:pt x="1435" y="34"/>
                  </a:cubicBezTo>
                  <a:cubicBezTo>
                    <a:pt x="1101" y="134"/>
                    <a:pt x="767" y="301"/>
                    <a:pt x="567" y="535"/>
                  </a:cubicBezTo>
                  <a:cubicBezTo>
                    <a:pt x="234" y="868"/>
                    <a:pt x="0" y="1335"/>
                    <a:pt x="0" y="1835"/>
                  </a:cubicBezTo>
                  <a:lnTo>
                    <a:pt x="0" y="4938"/>
                  </a:lnTo>
                  <a:lnTo>
                    <a:pt x="3669" y="4938"/>
                  </a:lnTo>
                  <a:lnTo>
                    <a:pt x="3669" y="1835"/>
                  </a:lnTo>
                  <a:cubicBezTo>
                    <a:pt x="3669" y="835"/>
                    <a:pt x="2836" y="1"/>
                    <a:pt x="1835" y="1"/>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615;p42">
              <a:extLst>
                <a:ext uri="{FF2B5EF4-FFF2-40B4-BE49-F238E27FC236}">
                  <a16:creationId xmlns:a16="http://schemas.microsoft.com/office/drawing/2014/main" id="{4D0ED6F3-2DB4-4545-B34D-6A84F3118242}"/>
                </a:ext>
              </a:extLst>
            </p:cNvPr>
            <p:cNvSpPr/>
            <p:nvPr/>
          </p:nvSpPr>
          <p:spPr>
            <a:xfrm>
              <a:off x="7374431" y="3489436"/>
              <a:ext cx="281446" cy="475443"/>
            </a:xfrm>
            <a:custGeom>
              <a:avLst/>
              <a:gdLst/>
              <a:ahLst/>
              <a:cxnLst/>
              <a:rect l="l" t="t" r="r" b="b"/>
              <a:pathLst>
                <a:path w="2903" h="4904" extrusionOk="0">
                  <a:moveTo>
                    <a:pt x="1468" y="0"/>
                  </a:moveTo>
                  <a:cubicBezTo>
                    <a:pt x="1134" y="100"/>
                    <a:pt x="801" y="267"/>
                    <a:pt x="601" y="501"/>
                  </a:cubicBezTo>
                  <a:cubicBezTo>
                    <a:pt x="234" y="834"/>
                    <a:pt x="0" y="1301"/>
                    <a:pt x="0" y="1801"/>
                  </a:cubicBezTo>
                  <a:lnTo>
                    <a:pt x="0" y="4904"/>
                  </a:lnTo>
                  <a:lnTo>
                    <a:pt x="2902" y="4904"/>
                  </a:lnTo>
                  <a:lnTo>
                    <a:pt x="2902" y="1801"/>
                  </a:lnTo>
                  <a:cubicBezTo>
                    <a:pt x="2902" y="934"/>
                    <a:pt x="2268" y="234"/>
                    <a:pt x="1468"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616;p42">
              <a:extLst>
                <a:ext uri="{FF2B5EF4-FFF2-40B4-BE49-F238E27FC236}">
                  <a16:creationId xmlns:a16="http://schemas.microsoft.com/office/drawing/2014/main" id="{767807E8-47BB-485C-9ED9-21C61188403D}"/>
                </a:ext>
              </a:extLst>
            </p:cNvPr>
            <p:cNvSpPr/>
            <p:nvPr/>
          </p:nvSpPr>
          <p:spPr>
            <a:xfrm>
              <a:off x="7306470" y="3909803"/>
              <a:ext cx="494930" cy="97144"/>
            </a:xfrm>
            <a:custGeom>
              <a:avLst/>
              <a:gdLst/>
              <a:ahLst/>
              <a:cxnLst/>
              <a:rect l="l" t="t" r="r" b="b"/>
              <a:pathLst>
                <a:path w="5105" h="1002" extrusionOk="0">
                  <a:moveTo>
                    <a:pt x="501" y="1"/>
                  </a:moveTo>
                  <a:cubicBezTo>
                    <a:pt x="201" y="1"/>
                    <a:pt x="1" y="267"/>
                    <a:pt x="1" y="501"/>
                  </a:cubicBezTo>
                  <a:cubicBezTo>
                    <a:pt x="1" y="768"/>
                    <a:pt x="201" y="1001"/>
                    <a:pt x="501" y="1001"/>
                  </a:cubicBezTo>
                  <a:lnTo>
                    <a:pt x="4604" y="1001"/>
                  </a:lnTo>
                  <a:cubicBezTo>
                    <a:pt x="4871" y="1001"/>
                    <a:pt x="5104" y="768"/>
                    <a:pt x="5104" y="501"/>
                  </a:cubicBezTo>
                  <a:cubicBezTo>
                    <a:pt x="5104" y="234"/>
                    <a:pt x="4837" y="1"/>
                    <a:pt x="4604" y="1"/>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617;p42">
              <a:extLst>
                <a:ext uri="{FF2B5EF4-FFF2-40B4-BE49-F238E27FC236}">
                  <a16:creationId xmlns:a16="http://schemas.microsoft.com/office/drawing/2014/main" id="{1E40414D-7D14-4404-A949-2C555611DB1A}"/>
                </a:ext>
              </a:extLst>
            </p:cNvPr>
            <p:cNvSpPr/>
            <p:nvPr/>
          </p:nvSpPr>
          <p:spPr>
            <a:xfrm>
              <a:off x="7306470" y="3935689"/>
              <a:ext cx="494930" cy="67962"/>
            </a:xfrm>
            <a:custGeom>
              <a:avLst/>
              <a:gdLst/>
              <a:ahLst/>
              <a:cxnLst/>
              <a:rect l="l" t="t" r="r" b="b"/>
              <a:pathLst>
                <a:path w="5105" h="701" extrusionOk="0">
                  <a:moveTo>
                    <a:pt x="34" y="0"/>
                  </a:moveTo>
                  <a:cubicBezTo>
                    <a:pt x="1" y="67"/>
                    <a:pt x="1" y="134"/>
                    <a:pt x="1" y="201"/>
                  </a:cubicBezTo>
                  <a:cubicBezTo>
                    <a:pt x="1" y="501"/>
                    <a:pt x="268" y="701"/>
                    <a:pt x="501" y="701"/>
                  </a:cubicBezTo>
                  <a:lnTo>
                    <a:pt x="4604" y="701"/>
                  </a:lnTo>
                  <a:cubicBezTo>
                    <a:pt x="4871" y="701"/>
                    <a:pt x="5104" y="434"/>
                    <a:pt x="5104" y="201"/>
                  </a:cubicBezTo>
                  <a:cubicBezTo>
                    <a:pt x="5104" y="134"/>
                    <a:pt x="5104" y="34"/>
                    <a:pt x="5038" y="0"/>
                  </a:cubicBezTo>
                  <a:cubicBezTo>
                    <a:pt x="4971" y="167"/>
                    <a:pt x="4804" y="301"/>
                    <a:pt x="4604" y="301"/>
                  </a:cubicBezTo>
                  <a:lnTo>
                    <a:pt x="501" y="301"/>
                  </a:lnTo>
                  <a:cubicBezTo>
                    <a:pt x="301" y="301"/>
                    <a:pt x="134" y="167"/>
                    <a:pt x="34"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618;p42">
              <a:extLst>
                <a:ext uri="{FF2B5EF4-FFF2-40B4-BE49-F238E27FC236}">
                  <a16:creationId xmlns:a16="http://schemas.microsoft.com/office/drawing/2014/main" id="{01091379-29D9-45C3-B460-0A3097E99B6B}"/>
                </a:ext>
              </a:extLst>
            </p:cNvPr>
            <p:cNvSpPr/>
            <p:nvPr/>
          </p:nvSpPr>
          <p:spPr>
            <a:xfrm>
              <a:off x="7180340" y="2483695"/>
              <a:ext cx="646947" cy="261959"/>
            </a:xfrm>
            <a:custGeom>
              <a:avLst/>
              <a:gdLst/>
              <a:ahLst/>
              <a:cxnLst/>
              <a:rect l="l" t="t" r="r" b="b"/>
              <a:pathLst>
                <a:path w="6673" h="2702" extrusionOk="0">
                  <a:moveTo>
                    <a:pt x="601" y="0"/>
                  </a:moveTo>
                  <a:cubicBezTo>
                    <a:pt x="301" y="0"/>
                    <a:pt x="1" y="267"/>
                    <a:pt x="1" y="600"/>
                  </a:cubicBezTo>
                  <a:lnTo>
                    <a:pt x="1" y="2135"/>
                  </a:lnTo>
                  <a:cubicBezTo>
                    <a:pt x="1" y="2468"/>
                    <a:pt x="268" y="2702"/>
                    <a:pt x="601" y="2702"/>
                  </a:cubicBezTo>
                  <a:lnTo>
                    <a:pt x="6105" y="2702"/>
                  </a:lnTo>
                  <a:cubicBezTo>
                    <a:pt x="6439" y="2702"/>
                    <a:pt x="6672" y="2468"/>
                    <a:pt x="6672" y="2135"/>
                  </a:cubicBezTo>
                  <a:lnTo>
                    <a:pt x="6672" y="600"/>
                  </a:lnTo>
                  <a:cubicBezTo>
                    <a:pt x="6672" y="267"/>
                    <a:pt x="6439" y="0"/>
                    <a:pt x="6105"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19;p42">
              <a:extLst>
                <a:ext uri="{FF2B5EF4-FFF2-40B4-BE49-F238E27FC236}">
                  <a16:creationId xmlns:a16="http://schemas.microsoft.com/office/drawing/2014/main" id="{7F34DC1E-F791-493C-84A8-FC631F5C92F9}"/>
                </a:ext>
              </a:extLst>
            </p:cNvPr>
            <p:cNvSpPr/>
            <p:nvPr/>
          </p:nvSpPr>
          <p:spPr>
            <a:xfrm>
              <a:off x="7180340" y="2483695"/>
              <a:ext cx="582282" cy="261959"/>
            </a:xfrm>
            <a:custGeom>
              <a:avLst/>
              <a:gdLst/>
              <a:ahLst/>
              <a:cxnLst/>
              <a:rect l="l" t="t" r="r" b="b"/>
              <a:pathLst>
                <a:path w="6006" h="2702" extrusionOk="0">
                  <a:moveTo>
                    <a:pt x="601" y="0"/>
                  </a:moveTo>
                  <a:cubicBezTo>
                    <a:pt x="301" y="0"/>
                    <a:pt x="1" y="267"/>
                    <a:pt x="1" y="600"/>
                  </a:cubicBezTo>
                  <a:lnTo>
                    <a:pt x="1" y="2135"/>
                  </a:lnTo>
                  <a:cubicBezTo>
                    <a:pt x="1" y="2468"/>
                    <a:pt x="268" y="2702"/>
                    <a:pt x="601" y="2702"/>
                  </a:cubicBezTo>
                  <a:lnTo>
                    <a:pt x="5438" y="2702"/>
                  </a:lnTo>
                  <a:cubicBezTo>
                    <a:pt x="5772" y="2702"/>
                    <a:pt x="6005" y="2468"/>
                    <a:pt x="6005" y="2135"/>
                  </a:cubicBezTo>
                  <a:lnTo>
                    <a:pt x="6005" y="600"/>
                  </a:lnTo>
                  <a:cubicBezTo>
                    <a:pt x="6005" y="267"/>
                    <a:pt x="5772" y="0"/>
                    <a:pt x="5438"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20;p42">
              <a:extLst>
                <a:ext uri="{FF2B5EF4-FFF2-40B4-BE49-F238E27FC236}">
                  <a16:creationId xmlns:a16="http://schemas.microsoft.com/office/drawing/2014/main" id="{E05BE656-1157-43A3-BC6A-7E1C0275D7BE}"/>
                </a:ext>
              </a:extLst>
            </p:cNvPr>
            <p:cNvSpPr/>
            <p:nvPr/>
          </p:nvSpPr>
          <p:spPr>
            <a:xfrm>
              <a:off x="4541499" y="3078666"/>
              <a:ext cx="1177264" cy="168305"/>
            </a:xfrm>
            <a:custGeom>
              <a:avLst/>
              <a:gdLst/>
              <a:ahLst/>
              <a:cxnLst/>
              <a:rect l="l" t="t" r="r" b="b"/>
              <a:pathLst>
                <a:path w="12143" h="1736" extrusionOk="0">
                  <a:moveTo>
                    <a:pt x="868" y="1"/>
                  </a:moveTo>
                  <a:cubicBezTo>
                    <a:pt x="434" y="1"/>
                    <a:pt x="0" y="368"/>
                    <a:pt x="0" y="868"/>
                  </a:cubicBezTo>
                  <a:cubicBezTo>
                    <a:pt x="0" y="1335"/>
                    <a:pt x="367" y="1735"/>
                    <a:pt x="868" y="1735"/>
                  </a:cubicBezTo>
                  <a:lnTo>
                    <a:pt x="11275" y="1735"/>
                  </a:lnTo>
                  <a:cubicBezTo>
                    <a:pt x="11775" y="1735"/>
                    <a:pt x="12142" y="1335"/>
                    <a:pt x="12142" y="868"/>
                  </a:cubicBezTo>
                  <a:cubicBezTo>
                    <a:pt x="12142" y="401"/>
                    <a:pt x="11775" y="1"/>
                    <a:pt x="11275" y="1"/>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21;p42">
              <a:extLst>
                <a:ext uri="{FF2B5EF4-FFF2-40B4-BE49-F238E27FC236}">
                  <a16:creationId xmlns:a16="http://schemas.microsoft.com/office/drawing/2014/main" id="{F1625A7F-6C32-4602-846C-EF39EB5604E8}"/>
                </a:ext>
              </a:extLst>
            </p:cNvPr>
            <p:cNvSpPr/>
            <p:nvPr/>
          </p:nvSpPr>
          <p:spPr>
            <a:xfrm>
              <a:off x="4541499" y="3131699"/>
              <a:ext cx="1177264" cy="119733"/>
            </a:xfrm>
            <a:custGeom>
              <a:avLst/>
              <a:gdLst/>
              <a:ahLst/>
              <a:cxnLst/>
              <a:rect l="l" t="t" r="r" b="b"/>
              <a:pathLst>
                <a:path w="12143" h="1235" extrusionOk="0">
                  <a:moveTo>
                    <a:pt x="100" y="1"/>
                  </a:moveTo>
                  <a:cubicBezTo>
                    <a:pt x="34" y="101"/>
                    <a:pt x="0" y="234"/>
                    <a:pt x="0" y="368"/>
                  </a:cubicBezTo>
                  <a:cubicBezTo>
                    <a:pt x="0" y="835"/>
                    <a:pt x="367" y="1235"/>
                    <a:pt x="868" y="1235"/>
                  </a:cubicBezTo>
                  <a:lnTo>
                    <a:pt x="11275" y="1235"/>
                  </a:lnTo>
                  <a:cubicBezTo>
                    <a:pt x="11509" y="1235"/>
                    <a:pt x="11709" y="1168"/>
                    <a:pt x="11875" y="1002"/>
                  </a:cubicBezTo>
                  <a:cubicBezTo>
                    <a:pt x="12042" y="835"/>
                    <a:pt x="12142" y="601"/>
                    <a:pt x="12142" y="368"/>
                  </a:cubicBezTo>
                  <a:lnTo>
                    <a:pt x="12142" y="34"/>
                  </a:lnTo>
                  <a:cubicBezTo>
                    <a:pt x="12042" y="101"/>
                    <a:pt x="12009" y="201"/>
                    <a:pt x="11942" y="268"/>
                  </a:cubicBezTo>
                  <a:cubicBezTo>
                    <a:pt x="11775" y="434"/>
                    <a:pt x="11542" y="535"/>
                    <a:pt x="11308" y="535"/>
                  </a:cubicBezTo>
                  <a:lnTo>
                    <a:pt x="934" y="535"/>
                  </a:lnTo>
                  <a:cubicBezTo>
                    <a:pt x="534" y="535"/>
                    <a:pt x="200" y="268"/>
                    <a:pt x="100" y="1"/>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22;p42">
              <a:extLst>
                <a:ext uri="{FF2B5EF4-FFF2-40B4-BE49-F238E27FC236}">
                  <a16:creationId xmlns:a16="http://schemas.microsoft.com/office/drawing/2014/main" id="{DA334AD9-1446-44E2-83F2-A763D975B834}"/>
                </a:ext>
              </a:extLst>
            </p:cNvPr>
            <p:cNvSpPr/>
            <p:nvPr/>
          </p:nvSpPr>
          <p:spPr>
            <a:xfrm>
              <a:off x="4541499" y="1472721"/>
              <a:ext cx="3583369" cy="171505"/>
            </a:xfrm>
            <a:custGeom>
              <a:avLst/>
              <a:gdLst/>
              <a:ahLst/>
              <a:cxnLst/>
              <a:rect l="l" t="t" r="r" b="b"/>
              <a:pathLst>
                <a:path w="36961" h="1769" extrusionOk="0">
                  <a:moveTo>
                    <a:pt x="868" y="1"/>
                  </a:moveTo>
                  <a:cubicBezTo>
                    <a:pt x="367" y="1"/>
                    <a:pt x="0" y="434"/>
                    <a:pt x="0" y="868"/>
                  </a:cubicBezTo>
                  <a:cubicBezTo>
                    <a:pt x="0" y="1368"/>
                    <a:pt x="434" y="1768"/>
                    <a:pt x="868" y="1768"/>
                  </a:cubicBezTo>
                  <a:lnTo>
                    <a:pt x="36059" y="1768"/>
                  </a:lnTo>
                  <a:cubicBezTo>
                    <a:pt x="36560" y="1768"/>
                    <a:pt x="36927" y="1335"/>
                    <a:pt x="36927" y="868"/>
                  </a:cubicBezTo>
                  <a:cubicBezTo>
                    <a:pt x="36960" y="367"/>
                    <a:pt x="36560" y="1"/>
                    <a:pt x="36059" y="1"/>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23;p42">
              <a:extLst>
                <a:ext uri="{FF2B5EF4-FFF2-40B4-BE49-F238E27FC236}">
                  <a16:creationId xmlns:a16="http://schemas.microsoft.com/office/drawing/2014/main" id="{C73FEF60-3D13-4E61-871C-1147819E392D}"/>
                </a:ext>
              </a:extLst>
            </p:cNvPr>
            <p:cNvSpPr/>
            <p:nvPr/>
          </p:nvSpPr>
          <p:spPr>
            <a:xfrm>
              <a:off x="4541499" y="1521195"/>
              <a:ext cx="3583369" cy="123030"/>
            </a:xfrm>
            <a:custGeom>
              <a:avLst/>
              <a:gdLst/>
              <a:ahLst/>
              <a:cxnLst/>
              <a:rect l="l" t="t" r="r" b="b"/>
              <a:pathLst>
                <a:path w="36961" h="1269" extrusionOk="0">
                  <a:moveTo>
                    <a:pt x="100" y="1"/>
                  </a:moveTo>
                  <a:cubicBezTo>
                    <a:pt x="34" y="134"/>
                    <a:pt x="0" y="268"/>
                    <a:pt x="0" y="368"/>
                  </a:cubicBezTo>
                  <a:cubicBezTo>
                    <a:pt x="0" y="835"/>
                    <a:pt x="367" y="1268"/>
                    <a:pt x="868" y="1268"/>
                  </a:cubicBezTo>
                  <a:lnTo>
                    <a:pt x="36059" y="1268"/>
                  </a:lnTo>
                  <a:cubicBezTo>
                    <a:pt x="36526" y="1268"/>
                    <a:pt x="36960" y="868"/>
                    <a:pt x="36960" y="368"/>
                  </a:cubicBezTo>
                  <a:cubicBezTo>
                    <a:pt x="36960" y="268"/>
                    <a:pt x="36893" y="134"/>
                    <a:pt x="36860" y="1"/>
                  </a:cubicBezTo>
                  <a:cubicBezTo>
                    <a:pt x="36727" y="301"/>
                    <a:pt x="36460" y="501"/>
                    <a:pt x="36059" y="501"/>
                  </a:cubicBezTo>
                  <a:lnTo>
                    <a:pt x="868" y="501"/>
                  </a:lnTo>
                  <a:cubicBezTo>
                    <a:pt x="534" y="501"/>
                    <a:pt x="200" y="301"/>
                    <a:pt x="100" y="1"/>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24;p42">
              <a:extLst>
                <a:ext uri="{FF2B5EF4-FFF2-40B4-BE49-F238E27FC236}">
                  <a16:creationId xmlns:a16="http://schemas.microsoft.com/office/drawing/2014/main" id="{C0B0125E-B92C-4E49-8441-E418A48862B5}"/>
                </a:ext>
              </a:extLst>
            </p:cNvPr>
            <p:cNvSpPr/>
            <p:nvPr/>
          </p:nvSpPr>
          <p:spPr>
            <a:xfrm>
              <a:off x="4541499" y="2069726"/>
              <a:ext cx="3583369" cy="171505"/>
            </a:xfrm>
            <a:custGeom>
              <a:avLst/>
              <a:gdLst/>
              <a:ahLst/>
              <a:cxnLst/>
              <a:rect l="l" t="t" r="r" b="b"/>
              <a:pathLst>
                <a:path w="36961" h="1769" extrusionOk="0">
                  <a:moveTo>
                    <a:pt x="868" y="0"/>
                  </a:moveTo>
                  <a:cubicBezTo>
                    <a:pt x="634" y="0"/>
                    <a:pt x="434" y="100"/>
                    <a:pt x="267" y="267"/>
                  </a:cubicBezTo>
                  <a:cubicBezTo>
                    <a:pt x="100" y="434"/>
                    <a:pt x="0" y="634"/>
                    <a:pt x="0" y="901"/>
                  </a:cubicBezTo>
                  <a:cubicBezTo>
                    <a:pt x="0" y="1401"/>
                    <a:pt x="434" y="1768"/>
                    <a:pt x="868" y="1768"/>
                  </a:cubicBezTo>
                  <a:lnTo>
                    <a:pt x="36059" y="1768"/>
                  </a:lnTo>
                  <a:cubicBezTo>
                    <a:pt x="36560" y="1768"/>
                    <a:pt x="36927" y="1368"/>
                    <a:pt x="36927" y="901"/>
                  </a:cubicBezTo>
                  <a:cubicBezTo>
                    <a:pt x="36960" y="634"/>
                    <a:pt x="36860" y="434"/>
                    <a:pt x="36693" y="267"/>
                  </a:cubicBezTo>
                  <a:cubicBezTo>
                    <a:pt x="36526" y="100"/>
                    <a:pt x="36326" y="0"/>
                    <a:pt x="36059" y="0"/>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25;p42">
              <a:extLst>
                <a:ext uri="{FF2B5EF4-FFF2-40B4-BE49-F238E27FC236}">
                  <a16:creationId xmlns:a16="http://schemas.microsoft.com/office/drawing/2014/main" id="{1541EB8C-6D23-461F-A934-7731D1F5FAC1}"/>
                </a:ext>
              </a:extLst>
            </p:cNvPr>
            <p:cNvSpPr/>
            <p:nvPr/>
          </p:nvSpPr>
          <p:spPr>
            <a:xfrm>
              <a:off x="4541499" y="2121497"/>
              <a:ext cx="3583369" cy="119733"/>
            </a:xfrm>
            <a:custGeom>
              <a:avLst/>
              <a:gdLst/>
              <a:ahLst/>
              <a:cxnLst/>
              <a:rect l="l" t="t" r="r" b="b"/>
              <a:pathLst>
                <a:path w="36961" h="1235" extrusionOk="0">
                  <a:moveTo>
                    <a:pt x="100" y="0"/>
                  </a:moveTo>
                  <a:cubicBezTo>
                    <a:pt x="34" y="100"/>
                    <a:pt x="0" y="234"/>
                    <a:pt x="0" y="367"/>
                  </a:cubicBezTo>
                  <a:cubicBezTo>
                    <a:pt x="0" y="834"/>
                    <a:pt x="367" y="1234"/>
                    <a:pt x="868" y="1234"/>
                  </a:cubicBezTo>
                  <a:lnTo>
                    <a:pt x="36059" y="1234"/>
                  </a:lnTo>
                  <a:cubicBezTo>
                    <a:pt x="36526" y="1234"/>
                    <a:pt x="36960" y="867"/>
                    <a:pt x="36960" y="367"/>
                  </a:cubicBezTo>
                  <a:cubicBezTo>
                    <a:pt x="36960" y="234"/>
                    <a:pt x="36893" y="100"/>
                    <a:pt x="36860" y="0"/>
                  </a:cubicBezTo>
                  <a:cubicBezTo>
                    <a:pt x="36727" y="267"/>
                    <a:pt x="36460" y="500"/>
                    <a:pt x="36059" y="500"/>
                  </a:cubicBezTo>
                  <a:lnTo>
                    <a:pt x="868" y="500"/>
                  </a:lnTo>
                  <a:cubicBezTo>
                    <a:pt x="534" y="500"/>
                    <a:pt x="200" y="267"/>
                    <a:pt x="100"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626;p42">
              <a:extLst>
                <a:ext uri="{FF2B5EF4-FFF2-40B4-BE49-F238E27FC236}">
                  <a16:creationId xmlns:a16="http://schemas.microsoft.com/office/drawing/2014/main" id="{85539F17-98FC-4A13-9719-E6A898EC7846}"/>
                </a:ext>
              </a:extLst>
            </p:cNvPr>
            <p:cNvSpPr/>
            <p:nvPr/>
          </p:nvSpPr>
          <p:spPr>
            <a:xfrm>
              <a:off x="6944271" y="3078666"/>
              <a:ext cx="1180560" cy="168305"/>
            </a:xfrm>
            <a:custGeom>
              <a:avLst/>
              <a:gdLst/>
              <a:ahLst/>
              <a:cxnLst/>
              <a:rect l="l" t="t" r="r" b="b"/>
              <a:pathLst>
                <a:path w="12177" h="1736" extrusionOk="0">
                  <a:moveTo>
                    <a:pt x="901" y="1"/>
                  </a:moveTo>
                  <a:cubicBezTo>
                    <a:pt x="401" y="1"/>
                    <a:pt x="34" y="401"/>
                    <a:pt x="34" y="868"/>
                  </a:cubicBezTo>
                  <a:cubicBezTo>
                    <a:pt x="1" y="1335"/>
                    <a:pt x="401" y="1735"/>
                    <a:pt x="901" y="1735"/>
                  </a:cubicBezTo>
                  <a:lnTo>
                    <a:pt x="11275" y="1735"/>
                  </a:lnTo>
                  <a:cubicBezTo>
                    <a:pt x="11776" y="1735"/>
                    <a:pt x="12176" y="1335"/>
                    <a:pt x="12176" y="868"/>
                  </a:cubicBezTo>
                  <a:cubicBezTo>
                    <a:pt x="12176" y="368"/>
                    <a:pt x="11742" y="1"/>
                    <a:pt x="11275" y="1"/>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627;p42">
              <a:extLst>
                <a:ext uri="{FF2B5EF4-FFF2-40B4-BE49-F238E27FC236}">
                  <a16:creationId xmlns:a16="http://schemas.microsoft.com/office/drawing/2014/main" id="{07E048C7-B980-4027-A775-B8F2A225AE87}"/>
                </a:ext>
              </a:extLst>
            </p:cNvPr>
            <p:cNvSpPr/>
            <p:nvPr/>
          </p:nvSpPr>
          <p:spPr>
            <a:xfrm>
              <a:off x="6952029" y="3131699"/>
              <a:ext cx="1174065" cy="119733"/>
            </a:xfrm>
            <a:custGeom>
              <a:avLst/>
              <a:gdLst/>
              <a:ahLst/>
              <a:cxnLst/>
              <a:rect l="l" t="t" r="r" b="b"/>
              <a:pathLst>
                <a:path w="12110" h="1235" extrusionOk="0">
                  <a:moveTo>
                    <a:pt x="12043" y="1"/>
                  </a:moveTo>
                  <a:cubicBezTo>
                    <a:pt x="11909" y="268"/>
                    <a:pt x="11576" y="535"/>
                    <a:pt x="11209" y="535"/>
                  </a:cubicBezTo>
                  <a:lnTo>
                    <a:pt x="835" y="535"/>
                  </a:lnTo>
                  <a:cubicBezTo>
                    <a:pt x="568" y="535"/>
                    <a:pt x="368" y="434"/>
                    <a:pt x="201" y="268"/>
                  </a:cubicBezTo>
                  <a:cubicBezTo>
                    <a:pt x="101" y="201"/>
                    <a:pt x="67" y="101"/>
                    <a:pt x="1" y="34"/>
                  </a:cubicBezTo>
                  <a:lnTo>
                    <a:pt x="1" y="34"/>
                  </a:lnTo>
                  <a:cubicBezTo>
                    <a:pt x="34" y="101"/>
                    <a:pt x="1" y="234"/>
                    <a:pt x="1" y="368"/>
                  </a:cubicBezTo>
                  <a:cubicBezTo>
                    <a:pt x="1" y="601"/>
                    <a:pt x="67" y="835"/>
                    <a:pt x="234" y="1002"/>
                  </a:cubicBezTo>
                  <a:cubicBezTo>
                    <a:pt x="401" y="1168"/>
                    <a:pt x="601" y="1235"/>
                    <a:pt x="868" y="1235"/>
                  </a:cubicBezTo>
                  <a:lnTo>
                    <a:pt x="11242" y="1235"/>
                  </a:lnTo>
                  <a:cubicBezTo>
                    <a:pt x="11742" y="1235"/>
                    <a:pt x="12109" y="835"/>
                    <a:pt x="12109" y="368"/>
                  </a:cubicBezTo>
                  <a:cubicBezTo>
                    <a:pt x="12109" y="234"/>
                    <a:pt x="12076" y="101"/>
                    <a:pt x="12043" y="1"/>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628;p42">
              <a:extLst>
                <a:ext uri="{FF2B5EF4-FFF2-40B4-BE49-F238E27FC236}">
                  <a16:creationId xmlns:a16="http://schemas.microsoft.com/office/drawing/2014/main" id="{4B3AA4BB-0865-422D-B92A-01615D359410}"/>
                </a:ext>
              </a:extLst>
            </p:cNvPr>
            <p:cNvSpPr/>
            <p:nvPr/>
          </p:nvSpPr>
          <p:spPr>
            <a:xfrm>
              <a:off x="4570584" y="4314077"/>
              <a:ext cx="1122293" cy="187598"/>
            </a:xfrm>
            <a:custGeom>
              <a:avLst/>
              <a:gdLst/>
              <a:ahLst/>
              <a:cxnLst/>
              <a:rect l="l" t="t" r="r" b="b"/>
              <a:pathLst>
                <a:path w="11576" h="1935" extrusionOk="0">
                  <a:moveTo>
                    <a:pt x="968" y="0"/>
                  </a:moveTo>
                  <a:cubicBezTo>
                    <a:pt x="401" y="0"/>
                    <a:pt x="1" y="434"/>
                    <a:pt x="1" y="968"/>
                  </a:cubicBezTo>
                  <a:cubicBezTo>
                    <a:pt x="1" y="1501"/>
                    <a:pt x="401" y="1935"/>
                    <a:pt x="968" y="1935"/>
                  </a:cubicBezTo>
                  <a:lnTo>
                    <a:pt x="10641" y="1935"/>
                  </a:lnTo>
                  <a:cubicBezTo>
                    <a:pt x="11175" y="1935"/>
                    <a:pt x="11575" y="1501"/>
                    <a:pt x="11575" y="968"/>
                  </a:cubicBezTo>
                  <a:cubicBezTo>
                    <a:pt x="11575" y="434"/>
                    <a:pt x="11175" y="0"/>
                    <a:pt x="10641" y="0"/>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629;p42">
              <a:extLst>
                <a:ext uri="{FF2B5EF4-FFF2-40B4-BE49-F238E27FC236}">
                  <a16:creationId xmlns:a16="http://schemas.microsoft.com/office/drawing/2014/main" id="{6ADEEE26-5629-4257-BC07-C13A2971D465}"/>
                </a:ext>
              </a:extLst>
            </p:cNvPr>
            <p:cNvSpPr/>
            <p:nvPr/>
          </p:nvSpPr>
          <p:spPr>
            <a:xfrm>
              <a:off x="4570584" y="4369047"/>
              <a:ext cx="1122293" cy="132628"/>
            </a:xfrm>
            <a:custGeom>
              <a:avLst/>
              <a:gdLst/>
              <a:ahLst/>
              <a:cxnLst/>
              <a:rect l="l" t="t" r="r" b="b"/>
              <a:pathLst>
                <a:path w="11576" h="1368" extrusionOk="0">
                  <a:moveTo>
                    <a:pt x="67" y="0"/>
                  </a:moveTo>
                  <a:cubicBezTo>
                    <a:pt x="34" y="100"/>
                    <a:pt x="1" y="234"/>
                    <a:pt x="1" y="401"/>
                  </a:cubicBezTo>
                  <a:cubicBezTo>
                    <a:pt x="1" y="934"/>
                    <a:pt x="401" y="1368"/>
                    <a:pt x="968" y="1368"/>
                  </a:cubicBezTo>
                  <a:lnTo>
                    <a:pt x="10641" y="1368"/>
                  </a:lnTo>
                  <a:cubicBezTo>
                    <a:pt x="10875" y="1368"/>
                    <a:pt x="11142" y="1235"/>
                    <a:pt x="11309" y="1068"/>
                  </a:cubicBezTo>
                  <a:cubicBezTo>
                    <a:pt x="11475" y="901"/>
                    <a:pt x="11575" y="667"/>
                    <a:pt x="11575" y="401"/>
                  </a:cubicBezTo>
                  <a:cubicBezTo>
                    <a:pt x="11575" y="267"/>
                    <a:pt x="11575" y="100"/>
                    <a:pt x="11475" y="0"/>
                  </a:cubicBezTo>
                  <a:cubicBezTo>
                    <a:pt x="11409" y="67"/>
                    <a:pt x="11375" y="167"/>
                    <a:pt x="11309" y="234"/>
                  </a:cubicBezTo>
                  <a:cubicBezTo>
                    <a:pt x="11142" y="401"/>
                    <a:pt x="10875" y="534"/>
                    <a:pt x="10641" y="534"/>
                  </a:cubicBezTo>
                  <a:lnTo>
                    <a:pt x="968" y="534"/>
                  </a:lnTo>
                  <a:cubicBezTo>
                    <a:pt x="568" y="534"/>
                    <a:pt x="234" y="334"/>
                    <a:pt x="67"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630;p42">
              <a:extLst>
                <a:ext uri="{FF2B5EF4-FFF2-40B4-BE49-F238E27FC236}">
                  <a16:creationId xmlns:a16="http://schemas.microsoft.com/office/drawing/2014/main" id="{B347D491-A1C3-46DD-BE5E-C5723080EF0F}"/>
                </a:ext>
              </a:extLst>
            </p:cNvPr>
            <p:cNvSpPr/>
            <p:nvPr/>
          </p:nvSpPr>
          <p:spPr>
            <a:xfrm>
              <a:off x="6966957" y="4314077"/>
              <a:ext cx="1125493" cy="187598"/>
            </a:xfrm>
            <a:custGeom>
              <a:avLst/>
              <a:gdLst/>
              <a:ahLst/>
              <a:cxnLst/>
              <a:rect l="l" t="t" r="r" b="b"/>
              <a:pathLst>
                <a:path w="11609" h="1935" extrusionOk="0">
                  <a:moveTo>
                    <a:pt x="968" y="0"/>
                  </a:moveTo>
                  <a:cubicBezTo>
                    <a:pt x="400" y="0"/>
                    <a:pt x="0" y="434"/>
                    <a:pt x="0" y="968"/>
                  </a:cubicBezTo>
                  <a:cubicBezTo>
                    <a:pt x="0" y="1501"/>
                    <a:pt x="467" y="1935"/>
                    <a:pt x="968" y="1935"/>
                  </a:cubicBezTo>
                  <a:lnTo>
                    <a:pt x="10641" y="1935"/>
                  </a:lnTo>
                  <a:cubicBezTo>
                    <a:pt x="11175" y="1935"/>
                    <a:pt x="11608" y="1501"/>
                    <a:pt x="11608" y="968"/>
                  </a:cubicBezTo>
                  <a:cubicBezTo>
                    <a:pt x="11608" y="434"/>
                    <a:pt x="11175" y="0"/>
                    <a:pt x="10641" y="0"/>
                  </a:cubicBezTo>
                  <a:close/>
                </a:path>
              </a:pathLst>
            </a:custGeom>
            <a:solidFill>
              <a:srgbClr val="E99E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631;p42">
              <a:extLst>
                <a:ext uri="{FF2B5EF4-FFF2-40B4-BE49-F238E27FC236}">
                  <a16:creationId xmlns:a16="http://schemas.microsoft.com/office/drawing/2014/main" id="{A0AC9224-6E95-4D30-AC56-F7F71079D60D}"/>
                </a:ext>
              </a:extLst>
            </p:cNvPr>
            <p:cNvSpPr/>
            <p:nvPr/>
          </p:nvSpPr>
          <p:spPr>
            <a:xfrm>
              <a:off x="6970156" y="4369047"/>
              <a:ext cx="1125493" cy="132628"/>
            </a:xfrm>
            <a:custGeom>
              <a:avLst/>
              <a:gdLst/>
              <a:ahLst/>
              <a:cxnLst/>
              <a:rect l="l" t="t" r="r" b="b"/>
              <a:pathLst>
                <a:path w="11609" h="1368" extrusionOk="0">
                  <a:moveTo>
                    <a:pt x="101" y="0"/>
                  </a:moveTo>
                  <a:cubicBezTo>
                    <a:pt x="67" y="100"/>
                    <a:pt x="1" y="234"/>
                    <a:pt x="1" y="401"/>
                  </a:cubicBezTo>
                  <a:cubicBezTo>
                    <a:pt x="1" y="667"/>
                    <a:pt x="134" y="901"/>
                    <a:pt x="301" y="1068"/>
                  </a:cubicBezTo>
                  <a:cubicBezTo>
                    <a:pt x="468" y="1235"/>
                    <a:pt x="734" y="1368"/>
                    <a:pt x="968" y="1368"/>
                  </a:cubicBezTo>
                  <a:lnTo>
                    <a:pt x="10641" y="1368"/>
                  </a:lnTo>
                  <a:cubicBezTo>
                    <a:pt x="11175" y="1368"/>
                    <a:pt x="11609" y="934"/>
                    <a:pt x="11609" y="401"/>
                  </a:cubicBezTo>
                  <a:cubicBezTo>
                    <a:pt x="11609" y="267"/>
                    <a:pt x="11575" y="100"/>
                    <a:pt x="11475" y="0"/>
                  </a:cubicBezTo>
                  <a:cubicBezTo>
                    <a:pt x="11309" y="334"/>
                    <a:pt x="10975" y="534"/>
                    <a:pt x="10608" y="534"/>
                  </a:cubicBezTo>
                  <a:lnTo>
                    <a:pt x="935" y="534"/>
                  </a:lnTo>
                  <a:cubicBezTo>
                    <a:pt x="668" y="534"/>
                    <a:pt x="434" y="401"/>
                    <a:pt x="267" y="234"/>
                  </a:cubicBezTo>
                  <a:cubicBezTo>
                    <a:pt x="234" y="167"/>
                    <a:pt x="134" y="67"/>
                    <a:pt x="101" y="0"/>
                  </a:cubicBez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文字方塊 52">
            <a:extLst>
              <a:ext uri="{FF2B5EF4-FFF2-40B4-BE49-F238E27FC236}">
                <a16:creationId xmlns:a16="http://schemas.microsoft.com/office/drawing/2014/main" id="{8E321D11-7E01-40B1-AF1F-C5C45569933E}"/>
              </a:ext>
            </a:extLst>
          </p:cNvPr>
          <p:cNvSpPr txBox="1"/>
          <p:nvPr/>
        </p:nvSpPr>
        <p:spPr>
          <a:xfrm>
            <a:off x="8585770" y="4631694"/>
            <a:ext cx="264816" cy="261610"/>
          </a:xfrm>
          <a:prstGeom prst="rect">
            <a:avLst/>
          </a:prstGeom>
          <a:noFill/>
        </p:spPr>
        <p:txBody>
          <a:bodyPr wrap="none" rtlCol="0">
            <a:spAutoFit/>
          </a:bodyPr>
          <a:lstStyle/>
          <a:p>
            <a:r>
              <a:rPr lang="en-US" altLang="zh-TW" sz="1100" dirty="0">
                <a:latin typeface="Montserrat" panose="02020500000000000000" charset="0"/>
              </a:rPr>
              <a:t>3</a:t>
            </a:r>
            <a:endParaRPr lang="zh-TW" altLang="en-US" sz="1100" dirty="0">
              <a:latin typeface="Montserrat" panose="02020500000000000000"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Applications</a:t>
            </a:r>
          </a:p>
        </p:txBody>
      </p:sp>
      <p:grpSp>
        <p:nvGrpSpPr>
          <p:cNvPr id="13" name="群組 12">
            <a:extLst>
              <a:ext uri="{FF2B5EF4-FFF2-40B4-BE49-F238E27FC236}">
                <a16:creationId xmlns:a16="http://schemas.microsoft.com/office/drawing/2014/main" id="{BB61850D-008F-4134-8F95-3973E69E7011}"/>
              </a:ext>
            </a:extLst>
          </p:cNvPr>
          <p:cNvGrpSpPr/>
          <p:nvPr/>
        </p:nvGrpSpPr>
        <p:grpSpPr>
          <a:xfrm>
            <a:off x="189900" y="0"/>
            <a:ext cx="8764200" cy="295831"/>
            <a:chOff x="342045" y="-14365"/>
            <a:chExt cx="8764200" cy="295831"/>
          </a:xfrm>
        </p:grpSpPr>
        <p:sp>
          <p:nvSpPr>
            <p:cNvPr id="8" name="矩形 7">
              <a:extLst>
                <a:ext uri="{FF2B5EF4-FFF2-40B4-BE49-F238E27FC236}">
                  <a16:creationId xmlns:a16="http://schemas.microsoft.com/office/drawing/2014/main" id="{04EEDA34-7245-42CD-BDD1-207074226B6A}"/>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27" name="矩形 26">
              <a:extLst>
                <a:ext uri="{FF2B5EF4-FFF2-40B4-BE49-F238E27FC236}">
                  <a16:creationId xmlns:a16="http://schemas.microsoft.com/office/drawing/2014/main" id="{99418AE1-55F2-4D3C-BA17-BD9DEF4705AD}"/>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8" name="矩形 27">
              <a:extLst>
                <a:ext uri="{FF2B5EF4-FFF2-40B4-BE49-F238E27FC236}">
                  <a16:creationId xmlns:a16="http://schemas.microsoft.com/office/drawing/2014/main" id="{958F552C-352A-4E07-B12D-8B1CB8325D72}"/>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9" name="矩形 28">
              <a:extLst>
                <a:ext uri="{FF2B5EF4-FFF2-40B4-BE49-F238E27FC236}">
                  <a16:creationId xmlns:a16="http://schemas.microsoft.com/office/drawing/2014/main" id="{DEC459C4-4656-45EC-BB91-307557F2613C}"/>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30" name="矩形 29">
              <a:extLst>
                <a:ext uri="{FF2B5EF4-FFF2-40B4-BE49-F238E27FC236}">
                  <a16:creationId xmlns:a16="http://schemas.microsoft.com/office/drawing/2014/main" id="{A7AD76FF-1734-442D-8282-893688A2ACAE}"/>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31" name="矩形 30">
              <a:extLst>
                <a:ext uri="{FF2B5EF4-FFF2-40B4-BE49-F238E27FC236}">
                  <a16:creationId xmlns:a16="http://schemas.microsoft.com/office/drawing/2014/main" id="{EC13FE0D-04F4-4FE2-9D4D-CC1ABDCDEC29}"/>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0" name="文字方塊 9">
            <a:extLst>
              <a:ext uri="{FF2B5EF4-FFF2-40B4-BE49-F238E27FC236}">
                <a16:creationId xmlns:a16="http://schemas.microsoft.com/office/drawing/2014/main" id="{F2E7DFB0-36E7-469E-870D-EE5CFB06ED11}"/>
              </a:ext>
            </a:extLst>
          </p:cNvPr>
          <p:cNvSpPr txBox="1"/>
          <p:nvPr/>
        </p:nvSpPr>
        <p:spPr>
          <a:xfrm>
            <a:off x="8585770" y="4631694"/>
            <a:ext cx="277640" cy="261610"/>
          </a:xfrm>
          <a:prstGeom prst="rect">
            <a:avLst/>
          </a:prstGeom>
          <a:noFill/>
        </p:spPr>
        <p:txBody>
          <a:bodyPr wrap="none" rtlCol="0">
            <a:spAutoFit/>
          </a:bodyPr>
          <a:lstStyle/>
          <a:p>
            <a:r>
              <a:rPr lang="en-US" altLang="zh-TW" sz="1100" dirty="0">
                <a:latin typeface="Montserrat" panose="02020500000000000000" charset="0"/>
              </a:rPr>
              <a:t>4</a:t>
            </a:r>
            <a:endParaRPr lang="zh-TW" altLang="en-US" sz="1100" dirty="0">
              <a:latin typeface="Montserrat" panose="02020500000000000000" charset="0"/>
            </a:endParaRPr>
          </a:p>
        </p:txBody>
      </p:sp>
      <p:sp>
        <p:nvSpPr>
          <p:cNvPr id="6" name="橢圓 5">
            <a:extLst>
              <a:ext uri="{FF2B5EF4-FFF2-40B4-BE49-F238E27FC236}">
                <a16:creationId xmlns:a16="http://schemas.microsoft.com/office/drawing/2014/main" id="{67FE7238-C8A4-49C4-8021-600D6BD0305E}"/>
              </a:ext>
            </a:extLst>
          </p:cNvPr>
          <p:cNvSpPr/>
          <p:nvPr/>
        </p:nvSpPr>
        <p:spPr>
          <a:xfrm>
            <a:off x="3851253" y="932467"/>
            <a:ext cx="1440000" cy="1440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TW" sz="1000" b="1" dirty="0">
                <a:solidFill>
                  <a:schemeClr val="tx1"/>
                </a:solidFill>
                <a:latin typeface="Montserrat" panose="02020500000000000000" charset="0"/>
              </a:rPr>
              <a:t>Entangled-photon source (EPS)</a:t>
            </a:r>
            <a:endParaRPr lang="zh-TW" altLang="en-US" sz="1000" b="1" dirty="0">
              <a:solidFill>
                <a:schemeClr val="tx1"/>
              </a:solidFill>
              <a:latin typeface="Montserrat" panose="02020500000000000000" charset="0"/>
            </a:endParaRPr>
          </a:p>
        </p:txBody>
      </p:sp>
      <p:grpSp>
        <p:nvGrpSpPr>
          <p:cNvPr id="58" name="群組 57">
            <a:extLst>
              <a:ext uri="{FF2B5EF4-FFF2-40B4-BE49-F238E27FC236}">
                <a16:creationId xmlns:a16="http://schemas.microsoft.com/office/drawing/2014/main" id="{754C33A9-E228-4AC6-AD9F-4256CECF0205}"/>
              </a:ext>
            </a:extLst>
          </p:cNvPr>
          <p:cNvGrpSpPr/>
          <p:nvPr/>
        </p:nvGrpSpPr>
        <p:grpSpPr>
          <a:xfrm>
            <a:off x="3707520" y="2653034"/>
            <a:ext cx="1771639" cy="1398988"/>
            <a:chOff x="3685434" y="3128850"/>
            <a:chExt cx="1771639" cy="1398988"/>
          </a:xfrm>
        </p:grpSpPr>
        <p:grpSp>
          <p:nvGrpSpPr>
            <p:cNvPr id="15" name="群組 14">
              <a:extLst>
                <a:ext uri="{FF2B5EF4-FFF2-40B4-BE49-F238E27FC236}">
                  <a16:creationId xmlns:a16="http://schemas.microsoft.com/office/drawing/2014/main" id="{74CF28B1-C7D3-4219-B345-D6301DA2EA35}"/>
                </a:ext>
              </a:extLst>
            </p:cNvPr>
            <p:cNvGrpSpPr/>
            <p:nvPr/>
          </p:nvGrpSpPr>
          <p:grpSpPr>
            <a:xfrm>
              <a:off x="4032000" y="3128850"/>
              <a:ext cx="1080000" cy="1080000"/>
              <a:chOff x="3338983" y="3363667"/>
              <a:chExt cx="1080000" cy="1080000"/>
            </a:xfrm>
          </p:grpSpPr>
          <p:sp>
            <p:nvSpPr>
              <p:cNvPr id="48" name="橢圓 47">
                <a:extLst>
                  <a:ext uri="{FF2B5EF4-FFF2-40B4-BE49-F238E27FC236}">
                    <a16:creationId xmlns:a16="http://schemas.microsoft.com/office/drawing/2014/main" id="{306ACB43-9B44-4867-9B53-E7A6606263EA}"/>
                  </a:ext>
                </a:extLst>
              </p:cNvPr>
              <p:cNvSpPr/>
              <p:nvPr/>
            </p:nvSpPr>
            <p:spPr>
              <a:xfrm>
                <a:off x="3338983" y="3363667"/>
                <a:ext cx="1080000" cy="1080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5" name="Google Shape;12351;p87">
                <a:extLst>
                  <a:ext uri="{FF2B5EF4-FFF2-40B4-BE49-F238E27FC236}">
                    <a16:creationId xmlns:a16="http://schemas.microsoft.com/office/drawing/2014/main" id="{17709E8F-57B0-4304-8285-E40CF6BB373A}"/>
                  </a:ext>
                </a:extLst>
              </p:cNvPr>
              <p:cNvGrpSpPr/>
              <p:nvPr/>
            </p:nvGrpSpPr>
            <p:grpSpPr>
              <a:xfrm>
                <a:off x="3598452" y="3659862"/>
                <a:ext cx="561061" cy="562552"/>
                <a:chOff x="-1333200" y="2770450"/>
                <a:chExt cx="291450" cy="292225"/>
              </a:xfrm>
              <a:solidFill>
                <a:schemeClr val="accent4"/>
              </a:solidFill>
            </p:grpSpPr>
            <p:sp>
              <p:nvSpPr>
                <p:cNvPr id="46" name="Google Shape;12352;p87">
                  <a:extLst>
                    <a:ext uri="{FF2B5EF4-FFF2-40B4-BE49-F238E27FC236}">
                      <a16:creationId xmlns:a16="http://schemas.microsoft.com/office/drawing/2014/main" id="{FE0CF5CA-A379-45E7-93A2-6F2DE1AC73A9}"/>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pFill/>
                <a:ln>
                  <a:noFill/>
                </a:ln>
              </p:spPr>
              <p:txBody>
                <a:bodyPr spcFirstLastPara="1" wrap="square" lIns="121900" tIns="121900" rIns="121900" bIns="121900" anchor="ctr" anchorCtr="0">
                  <a:noAutofit/>
                </a:bodyPr>
                <a:lstStyle/>
                <a:p>
                  <a:endParaRPr sz="2400"/>
                </a:p>
              </p:txBody>
            </p:sp>
            <p:sp>
              <p:nvSpPr>
                <p:cNvPr id="47" name="Google Shape;12353;p87">
                  <a:extLst>
                    <a:ext uri="{FF2B5EF4-FFF2-40B4-BE49-F238E27FC236}">
                      <a16:creationId xmlns:a16="http://schemas.microsoft.com/office/drawing/2014/main" id="{9D6A884C-FFC3-43E5-8FF4-28A7C023D35A}"/>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pFill/>
                <a:ln>
                  <a:noFill/>
                </a:ln>
              </p:spPr>
              <p:txBody>
                <a:bodyPr spcFirstLastPara="1" wrap="square" lIns="121900" tIns="121900" rIns="121900" bIns="121900" anchor="ctr" anchorCtr="0">
                  <a:noAutofit/>
                </a:bodyPr>
                <a:lstStyle/>
                <a:p>
                  <a:endParaRPr sz="2400"/>
                </a:p>
              </p:txBody>
            </p:sp>
          </p:grpSp>
        </p:grpSp>
        <p:sp>
          <p:nvSpPr>
            <p:cNvPr id="57" name="矩形 56">
              <a:extLst>
                <a:ext uri="{FF2B5EF4-FFF2-40B4-BE49-F238E27FC236}">
                  <a16:creationId xmlns:a16="http://schemas.microsoft.com/office/drawing/2014/main" id="{56EACE7C-6E3D-4D8E-838C-20C2338694EC}"/>
                </a:ext>
              </a:extLst>
            </p:cNvPr>
            <p:cNvSpPr/>
            <p:nvPr/>
          </p:nvSpPr>
          <p:spPr>
            <a:xfrm>
              <a:off x="3685434" y="4281617"/>
              <a:ext cx="1771639" cy="246221"/>
            </a:xfrm>
            <a:prstGeom prst="rect">
              <a:avLst/>
            </a:prstGeom>
          </p:spPr>
          <p:txBody>
            <a:bodyPr wrap="none">
              <a:spAutoFit/>
            </a:bodyPr>
            <a:lstStyle/>
            <a:p>
              <a:pPr lvl="0" algn="ctr"/>
              <a:r>
                <a:rPr lang="en-US" altLang="zh-TW" sz="1000" dirty="0">
                  <a:latin typeface="Montserrat" panose="02020500000000000000" charset="0"/>
                  <a:ea typeface="Calibri"/>
                  <a:cs typeface="Calibri"/>
                  <a:sym typeface="Calibri"/>
                </a:rPr>
                <a:t>Quantum computation </a:t>
              </a:r>
            </a:p>
          </p:txBody>
        </p:sp>
      </p:grpSp>
      <p:grpSp>
        <p:nvGrpSpPr>
          <p:cNvPr id="60" name="群組 59">
            <a:extLst>
              <a:ext uri="{FF2B5EF4-FFF2-40B4-BE49-F238E27FC236}">
                <a16:creationId xmlns:a16="http://schemas.microsoft.com/office/drawing/2014/main" id="{FD9F672B-1B5A-45C9-8513-C96957331692}"/>
              </a:ext>
            </a:extLst>
          </p:cNvPr>
          <p:cNvGrpSpPr/>
          <p:nvPr/>
        </p:nvGrpSpPr>
        <p:grpSpPr>
          <a:xfrm>
            <a:off x="5656205" y="1294393"/>
            <a:ext cx="1887055" cy="1398988"/>
            <a:chOff x="6064817" y="3128850"/>
            <a:chExt cx="1887055" cy="1398988"/>
          </a:xfrm>
        </p:grpSpPr>
        <p:grpSp>
          <p:nvGrpSpPr>
            <p:cNvPr id="21" name="群組 20">
              <a:extLst>
                <a:ext uri="{FF2B5EF4-FFF2-40B4-BE49-F238E27FC236}">
                  <a16:creationId xmlns:a16="http://schemas.microsoft.com/office/drawing/2014/main" id="{CAF70833-28F0-4F4D-90E2-B3A55A40E141}"/>
                </a:ext>
              </a:extLst>
            </p:cNvPr>
            <p:cNvGrpSpPr/>
            <p:nvPr/>
          </p:nvGrpSpPr>
          <p:grpSpPr>
            <a:xfrm>
              <a:off x="6430827" y="3128850"/>
              <a:ext cx="1080000" cy="1080000"/>
              <a:chOff x="6430827" y="3128850"/>
              <a:chExt cx="1080000" cy="1080000"/>
            </a:xfrm>
          </p:grpSpPr>
          <p:sp>
            <p:nvSpPr>
              <p:cNvPr id="53" name="橢圓 52">
                <a:extLst>
                  <a:ext uri="{FF2B5EF4-FFF2-40B4-BE49-F238E27FC236}">
                    <a16:creationId xmlns:a16="http://schemas.microsoft.com/office/drawing/2014/main" id="{7EBF87CA-F83A-49C2-871A-2A635FAF22EC}"/>
                  </a:ext>
                </a:extLst>
              </p:cNvPr>
              <p:cNvSpPr/>
              <p:nvPr/>
            </p:nvSpPr>
            <p:spPr>
              <a:xfrm>
                <a:off x="6430827" y="3128850"/>
                <a:ext cx="1080000" cy="108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49" name="Google Shape;11328;p84">
                <a:extLst>
                  <a:ext uri="{FF2B5EF4-FFF2-40B4-BE49-F238E27FC236}">
                    <a16:creationId xmlns:a16="http://schemas.microsoft.com/office/drawing/2014/main" id="{C31DFE1B-E1F9-475C-82CC-9929E9089ECB}"/>
                  </a:ext>
                </a:extLst>
              </p:cNvPr>
              <p:cNvGrpSpPr/>
              <p:nvPr/>
            </p:nvGrpSpPr>
            <p:grpSpPr>
              <a:xfrm>
                <a:off x="6733638" y="3439828"/>
                <a:ext cx="486736" cy="469549"/>
                <a:chOff x="-32243500" y="2299850"/>
                <a:chExt cx="300900" cy="290275"/>
              </a:xfrm>
              <a:solidFill>
                <a:schemeClr val="accent6"/>
              </a:solidFill>
            </p:grpSpPr>
            <p:sp>
              <p:nvSpPr>
                <p:cNvPr id="50" name="Google Shape;11329;p84">
                  <a:extLst>
                    <a:ext uri="{FF2B5EF4-FFF2-40B4-BE49-F238E27FC236}">
                      <a16:creationId xmlns:a16="http://schemas.microsoft.com/office/drawing/2014/main" id="{43053968-621B-437C-B36F-1E2F5BED56FA}"/>
                    </a:ext>
                  </a:extLst>
                </p:cNvPr>
                <p:cNvSpPr/>
                <p:nvPr/>
              </p:nvSpPr>
              <p:spPr>
                <a:xfrm>
                  <a:off x="-32243500" y="2299850"/>
                  <a:ext cx="300900" cy="290275"/>
                </a:xfrm>
                <a:custGeom>
                  <a:avLst/>
                  <a:gdLst/>
                  <a:ahLst/>
                  <a:cxnLst/>
                  <a:rect l="l" t="t" r="r" b="b"/>
                  <a:pathLst>
                    <a:path w="12036" h="11611" extrusionOk="0">
                      <a:moveTo>
                        <a:pt x="7955" y="654"/>
                      </a:moveTo>
                      <a:cubicBezTo>
                        <a:pt x="8743" y="654"/>
                        <a:pt x="9531" y="946"/>
                        <a:pt x="10114" y="1529"/>
                      </a:cubicBezTo>
                      <a:cubicBezTo>
                        <a:pt x="11311" y="2726"/>
                        <a:pt x="11311" y="4679"/>
                        <a:pt x="10114" y="5876"/>
                      </a:cubicBezTo>
                      <a:cubicBezTo>
                        <a:pt x="9540" y="6450"/>
                        <a:pt x="8752" y="6766"/>
                        <a:pt x="7951" y="6766"/>
                      </a:cubicBezTo>
                      <a:cubicBezTo>
                        <a:pt x="7565" y="6766"/>
                        <a:pt x="7175" y="6692"/>
                        <a:pt x="6806" y="6538"/>
                      </a:cubicBezTo>
                      <a:cubicBezTo>
                        <a:pt x="6759" y="6526"/>
                        <a:pt x="6709" y="6519"/>
                        <a:pt x="6661" y="6519"/>
                      </a:cubicBezTo>
                      <a:cubicBezTo>
                        <a:pt x="6577" y="6519"/>
                        <a:pt x="6499" y="6541"/>
                        <a:pt x="6459" y="6601"/>
                      </a:cubicBezTo>
                      <a:lnTo>
                        <a:pt x="5545" y="7514"/>
                      </a:lnTo>
                      <a:lnTo>
                        <a:pt x="4726" y="7514"/>
                      </a:lnTo>
                      <a:cubicBezTo>
                        <a:pt x="4537" y="7514"/>
                        <a:pt x="4380" y="7672"/>
                        <a:pt x="4380" y="7861"/>
                      </a:cubicBezTo>
                      <a:lnTo>
                        <a:pt x="4380" y="8460"/>
                      </a:lnTo>
                      <a:lnTo>
                        <a:pt x="3907" y="8428"/>
                      </a:lnTo>
                      <a:cubicBezTo>
                        <a:pt x="3813" y="8428"/>
                        <a:pt x="3687" y="8428"/>
                        <a:pt x="3655" y="8491"/>
                      </a:cubicBezTo>
                      <a:cubicBezTo>
                        <a:pt x="3592" y="8554"/>
                        <a:pt x="3529" y="8649"/>
                        <a:pt x="3529" y="8743"/>
                      </a:cubicBezTo>
                      <a:lnTo>
                        <a:pt x="3466" y="9531"/>
                      </a:lnTo>
                      <a:lnTo>
                        <a:pt x="2678" y="9594"/>
                      </a:lnTo>
                      <a:cubicBezTo>
                        <a:pt x="2584" y="9594"/>
                        <a:pt x="2521" y="9657"/>
                        <a:pt x="2426" y="9720"/>
                      </a:cubicBezTo>
                      <a:cubicBezTo>
                        <a:pt x="2395" y="9814"/>
                        <a:pt x="2363" y="9877"/>
                        <a:pt x="2363" y="9972"/>
                      </a:cubicBezTo>
                      <a:lnTo>
                        <a:pt x="2426" y="10665"/>
                      </a:lnTo>
                      <a:lnTo>
                        <a:pt x="2174" y="10949"/>
                      </a:lnTo>
                      <a:lnTo>
                        <a:pt x="694" y="10949"/>
                      </a:lnTo>
                      <a:lnTo>
                        <a:pt x="694" y="9499"/>
                      </a:lnTo>
                      <a:lnTo>
                        <a:pt x="757" y="9499"/>
                      </a:lnTo>
                      <a:lnTo>
                        <a:pt x="5041" y="5215"/>
                      </a:lnTo>
                      <a:cubicBezTo>
                        <a:pt x="5104" y="5120"/>
                        <a:pt x="5167" y="4963"/>
                        <a:pt x="5104" y="4837"/>
                      </a:cubicBezTo>
                      <a:cubicBezTo>
                        <a:pt x="4695" y="3702"/>
                        <a:pt x="4947" y="2411"/>
                        <a:pt x="5797" y="1529"/>
                      </a:cubicBezTo>
                      <a:cubicBezTo>
                        <a:pt x="6380" y="946"/>
                        <a:pt x="7168" y="654"/>
                        <a:pt x="7955" y="654"/>
                      </a:cubicBezTo>
                      <a:close/>
                      <a:moveTo>
                        <a:pt x="7936" y="1"/>
                      </a:moveTo>
                      <a:cubicBezTo>
                        <a:pt x="6971" y="1"/>
                        <a:pt x="6002" y="363"/>
                        <a:pt x="5262" y="1088"/>
                      </a:cubicBezTo>
                      <a:cubicBezTo>
                        <a:pt x="4285" y="2096"/>
                        <a:pt x="3939" y="3576"/>
                        <a:pt x="4380" y="4931"/>
                      </a:cubicBezTo>
                      <a:lnTo>
                        <a:pt x="126" y="9184"/>
                      </a:lnTo>
                      <a:cubicBezTo>
                        <a:pt x="32" y="9247"/>
                        <a:pt x="0" y="9342"/>
                        <a:pt x="0" y="9405"/>
                      </a:cubicBezTo>
                      <a:lnTo>
                        <a:pt x="0" y="11358"/>
                      </a:lnTo>
                      <a:cubicBezTo>
                        <a:pt x="32" y="11453"/>
                        <a:pt x="189" y="11610"/>
                        <a:pt x="379" y="11610"/>
                      </a:cubicBezTo>
                      <a:lnTo>
                        <a:pt x="2332" y="11610"/>
                      </a:lnTo>
                      <a:cubicBezTo>
                        <a:pt x="2395" y="11610"/>
                        <a:pt x="2521" y="11579"/>
                        <a:pt x="2552" y="11516"/>
                      </a:cubicBezTo>
                      <a:lnTo>
                        <a:pt x="3025" y="11043"/>
                      </a:lnTo>
                      <a:cubicBezTo>
                        <a:pt x="3119" y="10949"/>
                        <a:pt x="3151" y="10823"/>
                        <a:pt x="3119" y="10759"/>
                      </a:cubicBezTo>
                      <a:lnTo>
                        <a:pt x="3025" y="10255"/>
                      </a:lnTo>
                      <a:lnTo>
                        <a:pt x="3750" y="10161"/>
                      </a:lnTo>
                      <a:cubicBezTo>
                        <a:pt x="3907" y="10161"/>
                        <a:pt x="4002" y="10003"/>
                        <a:pt x="4065" y="9846"/>
                      </a:cubicBezTo>
                      <a:lnTo>
                        <a:pt x="4128" y="9153"/>
                      </a:lnTo>
                      <a:lnTo>
                        <a:pt x="4663" y="9216"/>
                      </a:lnTo>
                      <a:cubicBezTo>
                        <a:pt x="4726" y="9216"/>
                        <a:pt x="4852" y="9216"/>
                        <a:pt x="4915" y="9153"/>
                      </a:cubicBezTo>
                      <a:cubicBezTo>
                        <a:pt x="5010" y="9058"/>
                        <a:pt x="5041" y="8995"/>
                        <a:pt x="5041" y="8901"/>
                      </a:cubicBezTo>
                      <a:lnTo>
                        <a:pt x="5041" y="8271"/>
                      </a:lnTo>
                      <a:lnTo>
                        <a:pt x="5671" y="8271"/>
                      </a:lnTo>
                      <a:cubicBezTo>
                        <a:pt x="5734" y="8271"/>
                        <a:pt x="5829" y="8239"/>
                        <a:pt x="5892" y="8145"/>
                      </a:cubicBezTo>
                      <a:lnTo>
                        <a:pt x="6774" y="7325"/>
                      </a:lnTo>
                      <a:cubicBezTo>
                        <a:pt x="7153" y="7452"/>
                        <a:pt x="7548" y="7514"/>
                        <a:pt x="7941" y="7514"/>
                      </a:cubicBezTo>
                      <a:cubicBezTo>
                        <a:pt x="8920" y="7514"/>
                        <a:pt x="9889" y="7131"/>
                        <a:pt x="10586" y="6412"/>
                      </a:cubicBezTo>
                      <a:cubicBezTo>
                        <a:pt x="12035" y="4963"/>
                        <a:pt x="12035" y="2568"/>
                        <a:pt x="10586" y="1088"/>
                      </a:cubicBezTo>
                      <a:cubicBezTo>
                        <a:pt x="9862" y="363"/>
                        <a:pt x="8901" y="1"/>
                        <a:pt x="7936" y="1"/>
                      </a:cubicBezTo>
                      <a:close/>
                    </a:path>
                  </a:pathLst>
                </a:custGeom>
                <a:grpFill/>
                <a:ln>
                  <a:noFill/>
                </a:ln>
              </p:spPr>
              <p:txBody>
                <a:bodyPr spcFirstLastPara="1" wrap="square" lIns="121900" tIns="121900" rIns="121900" bIns="121900" anchor="ctr" anchorCtr="0">
                  <a:noAutofit/>
                </a:bodyPr>
                <a:lstStyle/>
                <a:p>
                  <a:endParaRPr sz="2400"/>
                </a:p>
              </p:txBody>
            </p:sp>
            <p:sp>
              <p:nvSpPr>
                <p:cNvPr id="51" name="Google Shape;11330;p84">
                  <a:extLst>
                    <a:ext uri="{FF2B5EF4-FFF2-40B4-BE49-F238E27FC236}">
                      <a16:creationId xmlns:a16="http://schemas.microsoft.com/office/drawing/2014/main" id="{D0F92217-1F75-4151-992B-C2F63AC15012}"/>
                    </a:ext>
                  </a:extLst>
                </p:cNvPr>
                <p:cNvSpPr/>
                <p:nvPr/>
              </p:nvSpPr>
              <p:spPr>
                <a:xfrm>
                  <a:off x="-32048175" y="2342775"/>
                  <a:ext cx="55950" cy="51025"/>
                </a:xfrm>
                <a:custGeom>
                  <a:avLst/>
                  <a:gdLst/>
                  <a:ahLst/>
                  <a:cxnLst/>
                  <a:rect l="l" t="t" r="r" b="b"/>
                  <a:pathLst>
                    <a:path w="2238" h="2041" extrusionOk="0">
                      <a:moveTo>
                        <a:pt x="1119" y="662"/>
                      </a:moveTo>
                      <a:cubicBezTo>
                        <a:pt x="1206" y="662"/>
                        <a:pt x="1292" y="694"/>
                        <a:pt x="1355" y="757"/>
                      </a:cubicBezTo>
                      <a:cubicBezTo>
                        <a:pt x="1481" y="883"/>
                        <a:pt x="1481" y="1135"/>
                        <a:pt x="1355" y="1229"/>
                      </a:cubicBezTo>
                      <a:cubicBezTo>
                        <a:pt x="1292" y="1292"/>
                        <a:pt x="1206" y="1324"/>
                        <a:pt x="1119" y="1324"/>
                      </a:cubicBezTo>
                      <a:cubicBezTo>
                        <a:pt x="1032" y="1324"/>
                        <a:pt x="946" y="1292"/>
                        <a:pt x="883" y="1229"/>
                      </a:cubicBezTo>
                      <a:cubicBezTo>
                        <a:pt x="725" y="1135"/>
                        <a:pt x="725" y="914"/>
                        <a:pt x="883" y="757"/>
                      </a:cubicBezTo>
                      <a:cubicBezTo>
                        <a:pt x="946" y="694"/>
                        <a:pt x="1032" y="662"/>
                        <a:pt x="1119" y="662"/>
                      </a:cubicBezTo>
                      <a:close/>
                      <a:moveTo>
                        <a:pt x="1115" y="1"/>
                      </a:moveTo>
                      <a:cubicBezTo>
                        <a:pt x="851" y="1"/>
                        <a:pt x="584" y="95"/>
                        <a:pt x="379" y="284"/>
                      </a:cubicBezTo>
                      <a:cubicBezTo>
                        <a:pt x="1" y="694"/>
                        <a:pt x="1" y="1355"/>
                        <a:pt x="379" y="1733"/>
                      </a:cubicBezTo>
                      <a:cubicBezTo>
                        <a:pt x="599" y="1938"/>
                        <a:pt x="867" y="2041"/>
                        <a:pt x="1127" y="2041"/>
                      </a:cubicBezTo>
                      <a:cubicBezTo>
                        <a:pt x="1387" y="2041"/>
                        <a:pt x="1639" y="1938"/>
                        <a:pt x="1828" y="1733"/>
                      </a:cubicBezTo>
                      <a:cubicBezTo>
                        <a:pt x="2238" y="1355"/>
                        <a:pt x="2238" y="694"/>
                        <a:pt x="1828" y="284"/>
                      </a:cubicBezTo>
                      <a:cubicBezTo>
                        <a:pt x="1639" y="95"/>
                        <a:pt x="1379" y="1"/>
                        <a:pt x="1115" y="1"/>
                      </a:cubicBezTo>
                      <a:close/>
                    </a:path>
                  </a:pathLst>
                </a:custGeom>
                <a:grpFill/>
                <a:ln>
                  <a:noFill/>
                </a:ln>
              </p:spPr>
              <p:txBody>
                <a:bodyPr spcFirstLastPara="1" wrap="square" lIns="121900" tIns="121900" rIns="121900" bIns="121900" anchor="ctr" anchorCtr="0">
                  <a:noAutofit/>
                </a:bodyPr>
                <a:lstStyle/>
                <a:p>
                  <a:endParaRPr sz="2400"/>
                </a:p>
              </p:txBody>
            </p:sp>
          </p:grpSp>
        </p:grpSp>
        <p:sp>
          <p:nvSpPr>
            <p:cNvPr id="59" name="矩形 58">
              <a:extLst>
                <a:ext uri="{FF2B5EF4-FFF2-40B4-BE49-F238E27FC236}">
                  <a16:creationId xmlns:a16="http://schemas.microsoft.com/office/drawing/2014/main" id="{68EDE5C3-1D4E-4D24-BCD4-D20A494B9660}"/>
                </a:ext>
              </a:extLst>
            </p:cNvPr>
            <p:cNvSpPr/>
            <p:nvPr/>
          </p:nvSpPr>
          <p:spPr>
            <a:xfrm>
              <a:off x="6064817" y="4281617"/>
              <a:ext cx="1887055" cy="246221"/>
            </a:xfrm>
            <a:prstGeom prst="rect">
              <a:avLst/>
            </a:prstGeom>
          </p:spPr>
          <p:txBody>
            <a:bodyPr wrap="none">
              <a:spAutoFit/>
            </a:bodyPr>
            <a:lstStyle/>
            <a:p>
              <a:r>
                <a:rPr lang="en-US" altLang="zh-TW" sz="1000" dirty="0">
                  <a:latin typeface="Montserrat" panose="02020500000000000000" charset="0"/>
                </a:rPr>
                <a:t>Q</a:t>
              </a:r>
              <a:r>
                <a:rPr lang="zh-TW" altLang="en-US" sz="1000" dirty="0">
                  <a:latin typeface="Montserrat" panose="02020500000000000000" charset="0"/>
                </a:rPr>
                <a:t>uantum key distribution</a:t>
              </a:r>
            </a:p>
          </p:txBody>
        </p:sp>
      </p:grpSp>
      <p:grpSp>
        <p:nvGrpSpPr>
          <p:cNvPr id="62" name="群組 61">
            <a:extLst>
              <a:ext uri="{FF2B5EF4-FFF2-40B4-BE49-F238E27FC236}">
                <a16:creationId xmlns:a16="http://schemas.microsoft.com/office/drawing/2014/main" id="{1AB2004B-5CE3-4F07-AF20-D7F6DBDAEBDD}"/>
              </a:ext>
            </a:extLst>
          </p:cNvPr>
          <p:cNvGrpSpPr/>
          <p:nvPr/>
        </p:nvGrpSpPr>
        <p:grpSpPr>
          <a:xfrm>
            <a:off x="1625353" y="1294393"/>
            <a:ext cx="1915910" cy="1401891"/>
            <a:chOff x="1206472" y="3128850"/>
            <a:chExt cx="1915910" cy="1401891"/>
          </a:xfrm>
        </p:grpSpPr>
        <p:grpSp>
          <p:nvGrpSpPr>
            <p:cNvPr id="14" name="群組 13">
              <a:extLst>
                <a:ext uri="{FF2B5EF4-FFF2-40B4-BE49-F238E27FC236}">
                  <a16:creationId xmlns:a16="http://schemas.microsoft.com/office/drawing/2014/main" id="{50781AFC-C3AC-40BB-B972-E2919AFF441E}"/>
                </a:ext>
              </a:extLst>
            </p:cNvPr>
            <p:cNvGrpSpPr/>
            <p:nvPr/>
          </p:nvGrpSpPr>
          <p:grpSpPr>
            <a:xfrm>
              <a:off x="1633173" y="3128850"/>
              <a:ext cx="1080000" cy="1080000"/>
              <a:chOff x="6714840" y="2696933"/>
              <a:chExt cx="1080000" cy="1080000"/>
            </a:xfrm>
          </p:grpSpPr>
          <p:sp>
            <p:nvSpPr>
              <p:cNvPr id="12" name="橢圓 11">
                <a:extLst>
                  <a:ext uri="{FF2B5EF4-FFF2-40B4-BE49-F238E27FC236}">
                    <a16:creationId xmlns:a16="http://schemas.microsoft.com/office/drawing/2014/main" id="{8B1A0FAB-21B0-4C77-902D-EE4E88341F07}"/>
                  </a:ext>
                </a:extLst>
              </p:cNvPr>
              <p:cNvSpPr/>
              <p:nvPr/>
            </p:nvSpPr>
            <p:spPr>
              <a:xfrm>
                <a:off x="6714840" y="2696933"/>
                <a:ext cx="1080000" cy="10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1" name="Google Shape;11472;p84">
                <a:extLst>
                  <a:ext uri="{FF2B5EF4-FFF2-40B4-BE49-F238E27FC236}">
                    <a16:creationId xmlns:a16="http://schemas.microsoft.com/office/drawing/2014/main" id="{E09FEA34-2931-47FD-B03C-2984B5D8B8C4}"/>
                  </a:ext>
                </a:extLst>
              </p:cNvPr>
              <p:cNvGrpSpPr/>
              <p:nvPr/>
            </p:nvGrpSpPr>
            <p:grpSpPr>
              <a:xfrm>
                <a:off x="7022270" y="3007911"/>
                <a:ext cx="465140" cy="463839"/>
                <a:chOff x="2821450" y="2957850"/>
                <a:chExt cx="259275" cy="258550"/>
              </a:xfrm>
            </p:grpSpPr>
            <p:sp>
              <p:nvSpPr>
                <p:cNvPr id="42" name="Google Shape;11473;p84">
                  <a:extLst>
                    <a:ext uri="{FF2B5EF4-FFF2-40B4-BE49-F238E27FC236}">
                      <a16:creationId xmlns:a16="http://schemas.microsoft.com/office/drawing/2014/main" id="{1267ACF4-CC20-43B5-951E-22972C9B14AE}"/>
                    </a:ext>
                  </a:extLst>
                </p:cNvPr>
                <p:cNvSpPr/>
                <p:nvPr/>
              </p:nvSpPr>
              <p:spPr>
                <a:xfrm>
                  <a:off x="2821450" y="3080500"/>
                  <a:ext cx="259275" cy="135900"/>
                </a:xfrm>
                <a:custGeom>
                  <a:avLst/>
                  <a:gdLst/>
                  <a:ahLst/>
                  <a:cxnLst/>
                  <a:rect l="l" t="t" r="r" b="b"/>
                  <a:pathLst>
                    <a:path w="10371" h="5436" extrusionOk="0">
                      <a:moveTo>
                        <a:pt x="2677" y="585"/>
                      </a:moveTo>
                      <a:cubicBezTo>
                        <a:pt x="3151" y="585"/>
                        <a:pt x="3569" y="1004"/>
                        <a:pt x="3569" y="1505"/>
                      </a:cubicBezTo>
                      <a:cubicBezTo>
                        <a:pt x="3569" y="1979"/>
                        <a:pt x="3151" y="2397"/>
                        <a:pt x="2677" y="2397"/>
                      </a:cubicBezTo>
                      <a:cubicBezTo>
                        <a:pt x="2147" y="2397"/>
                        <a:pt x="1757" y="1979"/>
                        <a:pt x="1757" y="1505"/>
                      </a:cubicBezTo>
                      <a:cubicBezTo>
                        <a:pt x="1757" y="1004"/>
                        <a:pt x="2175" y="585"/>
                        <a:pt x="2677" y="585"/>
                      </a:cubicBezTo>
                      <a:close/>
                      <a:moveTo>
                        <a:pt x="7555" y="585"/>
                      </a:moveTo>
                      <a:cubicBezTo>
                        <a:pt x="8029" y="585"/>
                        <a:pt x="8447" y="1004"/>
                        <a:pt x="8447" y="1505"/>
                      </a:cubicBezTo>
                      <a:cubicBezTo>
                        <a:pt x="8447" y="1979"/>
                        <a:pt x="8029" y="2397"/>
                        <a:pt x="7555" y="2397"/>
                      </a:cubicBezTo>
                      <a:cubicBezTo>
                        <a:pt x="7025" y="2397"/>
                        <a:pt x="6635" y="1979"/>
                        <a:pt x="6635" y="1505"/>
                      </a:cubicBezTo>
                      <a:cubicBezTo>
                        <a:pt x="6635" y="1004"/>
                        <a:pt x="7053" y="585"/>
                        <a:pt x="7555" y="585"/>
                      </a:cubicBezTo>
                      <a:close/>
                      <a:moveTo>
                        <a:pt x="2677" y="2983"/>
                      </a:moveTo>
                      <a:cubicBezTo>
                        <a:pt x="3736" y="2983"/>
                        <a:pt x="4628" y="3791"/>
                        <a:pt x="4795" y="4795"/>
                      </a:cubicBezTo>
                      <a:lnTo>
                        <a:pt x="586" y="4795"/>
                      </a:lnTo>
                      <a:cubicBezTo>
                        <a:pt x="698" y="3791"/>
                        <a:pt x="1618" y="2983"/>
                        <a:pt x="2677" y="2983"/>
                      </a:cubicBezTo>
                      <a:close/>
                      <a:moveTo>
                        <a:pt x="7555" y="2983"/>
                      </a:moveTo>
                      <a:cubicBezTo>
                        <a:pt x="8614" y="2983"/>
                        <a:pt x="9506" y="3791"/>
                        <a:pt x="9646" y="4795"/>
                      </a:cubicBezTo>
                      <a:lnTo>
                        <a:pt x="5409" y="4795"/>
                      </a:lnTo>
                      <a:cubicBezTo>
                        <a:pt x="5548" y="3791"/>
                        <a:pt x="6468" y="2983"/>
                        <a:pt x="7555" y="2983"/>
                      </a:cubicBezTo>
                      <a:close/>
                      <a:moveTo>
                        <a:pt x="2733" y="0"/>
                      </a:moveTo>
                      <a:cubicBezTo>
                        <a:pt x="1896" y="0"/>
                        <a:pt x="1227" y="669"/>
                        <a:pt x="1227" y="1505"/>
                      </a:cubicBezTo>
                      <a:cubicBezTo>
                        <a:pt x="1227" y="1951"/>
                        <a:pt x="1395" y="2342"/>
                        <a:pt x="1729" y="2620"/>
                      </a:cubicBezTo>
                      <a:cubicBezTo>
                        <a:pt x="698" y="3039"/>
                        <a:pt x="1" y="4014"/>
                        <a:pt x="1" y="5129"/>
                      </a:cubicBezTo>
                      <a:cubicBezTo>
                        <a:pt x="1" y="5296"/>
                        <a:pt x="140" y="5436"/>
                        <a:pt x="335" y="5436"/>
                      </a:cubicBezTo>
                      <a:lnTo>
                        <a:pt x="10036" y="5436"/>
                      </a:lnTo>
                      <a:cubicBezTo>
                        <a:pt x="10231" y="5436"/>
                        <a:pt x="10370" y="5296"/>
                        <a:pt x="10370" y="5129"/>
                      </a:cubicBezTo>
                      <a:cubicBezTo>
                        <a:pt x="10259" y="3958"/>
                        <a:pt x="9562" y="2983"/>
                        <a:pt x="8559" y="2620"/>
                      </a:cubicBezTo>
                      <a:cubicBezTo>
                        <a:pt x="8865" y="2342"/>
                        <a:pt x="9032" y="1951"/>
                        <a:pt x="9032" y="1505"/>
                      </a:cubicBezTo>
                      <a:cubicBezTo>
                        <a:pt x="9032" y="669"/>
                        <a:pt x="8391" y="0"/>
                        <a:pt x="7555" y="0"/>
                      </a:cubicBezTo>
                      <a:cubicBezTo>
                        <a:pt x="6719" y="0"/>
                        <a:pt x="6050" y="669"/>
                        <a:pt x="6050" y="1505"/>
                      </a:cubicBezTo>
                      <a:cubicBezTo>
                        <a:pt x="6050" y="1951"/>
                        <a:pt x="6217" y="2342"/>
                        <a:pt x="6524" y="2620"/>
                      </a:cubicBezTo>
                      <a:cubicBezTo>
                        <a:pt x="5910" y="2843"/>
                        <a:pt x="5409" y="3317"/>
                        <a:pt x="5130" y="3903"/>
                      </a:cubicBezTo>
                      <a:cubicBezTo>
                        <a:pt x="4823" y="3317"/>
                        <a:pt x="4322" y="2843"/>
                        <a:pt x="3736" y="2620"/>
                      </a:cubicBezTo>
                      <a:cubicBezTo>
                        <a:pt x="4043" y="2342"/>
                        <a:pt x="4238" y="1951"/>
                        <a:pt x="4238" y="1505"/>
                      </a:cubicBezTo>
                      <a:cubicBezTo>
                        <a:pt x="4238" y="669"/>
                        <a:pt x="3569" y="0"/>
                        <a:pt x="2733"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3" name="Google Shape;11474;p84">
                  <a:extLst>
                    <a:ext uri="{FF2B5EF4-FFF2-40B4-BE49-F238E27FC236}">
                      <a16:creationId xmlns:a16="http://schemas.microsoft.com/office/drawing/2014/main" id="{15434E49-F7FC-4409-A7E2-7F145E403E40}"/>
                    </a:ext>
                  </a:extLst>
                </p:cNvPr>
                <p:cNvSpPr/>
                <p:nvPr/>
              </p:nvSpPr>
              <p:spPr>
                <a:xfrm>
                  <a:off x="2831900" y="2957850"/>
                  <a:ext cx="228625" cy="106350"/>
                </a:xfrm>
                <a:custGeom>
                  <a:avLst/>
                  <a:gdLst/>
                  <a:ahLst/>
                  <a:cxnLst/>
                  <a:rect l="l" t="t" r="r" b="b"/>
                  <a:pathLst>
                    <a:path w="9145" h="4254" extrusionOk="0">
                      <a:moveTo>
                        <a:pt x="8336" y="585"/>
                      </a:moveTo>
                      <a:cubicBezTo>
                        <a:pt x="8531" y="585"/>
                        <a:pt x="8642" y="725"/>
                        <a:pt x="8642" y="892"/>
                      </a:cubicBezTo>
                      <a:lnTo>
                        <a:pt x="8642" y="2119"/>
                      </a:lnTo>
                      <a:cubicBezTo>
                        <a:pt x="8642" y="2286"/>
                        <a:pt x="8531" y="2425"/>
                        <a:pt x="8336" y="2425"/>
                      </a:cubicBezTo>
                      <a:lnTo>
                        <a:pt x="7137" y="2425"/>
                      </a:lnTo>
                      <a:cubicBezTo>
                        <a:pt x="6942" y="2425"/>
                        <a:pt x="6803" y="2565"/>
                        <a:pt x="6803" y="2732"/>
                      </a:cubicBezTo>
                      <a:lnTo>
                        <a:pt x="6803" y="3234"/>
                      </a:lnTo>
                      <a:lnTo>
                        <a:pt x="6106" y="2537"/>
                      </a:lnTo>
                      <a:cubicBezTo>
                        <a:pt x="6050" y="2453"/>
                        <a:pt x="5966" y="2425"/>
                        <a:pt x="5911" y="2425"/>
                      </a:cubicBezTo>
                      <a:lnTo>
                        <a:pt x="3430" y="2425"/>
                      </a:lnTo>
                      <a:cubicBezTo>
                        <a:pt x="3346" y="2425"/>
                        <a:pt x="3262" y="2453"/>
                        <a:pt x="3207" y="2537"/>
                      </a:cubicBezTo>
                      <a:lnTo>
                        <a:pt x="2510" y="3234"/>
                      </a:lnTo>
                      <a:lnTo>
                        <a:pt x="2510" y="2732"/>
                      </a:lnTo>
                      <a:cubicBezTo>
                        <a:pt x="2510" y="2565"/>
                        <a:pt x="2370" y="2425"/>
                        <a:pt x="2203" y="2425"/>
                      </a:cubicBezTo>
                      <a:lnTo>
                        <a:pt x="1032" y="2425"/>
                      </a:lnTo>
                      <a:cubicBezTo>
                        <a:pt x="865" y="2425"/>
                        <a:pt x="726" y="2286"/>
                        <a:pt x="726" y="2119"/>
                      </a:cubicBezTo>
                      <a:lnTo>
                        <a:pt x="726" y="892"/>
                      </a:lnTo>
                      <a:cubicBezTo>
                        <a:pt x="726" y="725"/>
                        <a:pt x="865" y="585"/>
                        <a:pt x="1032" y="585"/>
                      </a:cubicBezTo>
                      <a:close/>
                      <a:moveTo>
                        <a:pt x="921" y="0"/>
                      </a:moveTo>
                      <a:cubicBezTo>
                        <a:pt x="447" y="0"/>
                        <a:pt x="1" y="418"/>
                        <a:pt x="1" y="892"/>
                      </a:cubicBezTo>
                      <a:lnTo>
                        <a:pt x="1" y="2119"/>
                      </a:lnTo>
                      <a:cubicBezTo>
                        <a:pt x="1" y="2592"/>
                        <a:pt x="419" y="3011"/>
                        <a:pt x="921" y="3011"/>
                      </a:cubicBezTo>
                      <a:lnTo>
                        <a:pt x="1841" y="3011"/>
                      </a:lnTo>
                      <a:lnTo>
                        <a:pt x="1841" y="3958"/>
                      </a:lnTo>
                      <a:cubicBezTo>
                        <a:pt x="1924" y="4098"/>
                        <a:pt x="2008" y="4209"/>
                        <a:pt x="2120" y="4237"/>
                      </a:cubicBezTo>
                      <a:cubicBezTo>
                        <a:pt x="2150" y="4247"/>
                        <a:pt x="2188" y="4254"/>
                        <a:pt x="2228" y="4254"/>
                      </a:cubicBezTo>
                      <a:cubicBezTo>
                        <a:pt x="2298" y="4254"/>
                        <a:pt x="2373" y="4234"/>
                        <a:pt x="2426" y="4181"/>
                      </a:cubicBezTo>
                      <a:lnTo>
                        <a:pt x="3541" y="3011"/>
                      </a:lnTo>
                      <a:lnTo>
                        <a:pt x="5743" y="3011"/>
                      </a:lnTo>
                      <a:lnTo>
                        <a:pt x="6830" y="4181"/>
                      </a:lnTo>
                      <a:cubicBezTo>
                        <a:pt x="6883" y="4234"/>
                        <a:pt x="6959" y="4254"/>
                        <a:pt x="7035" y="4254"/>
                      </a:cubicBezTo>
                      <a:cubicBezTo>
                        <a:pt x="7080" y="4254"/>
                        <a:pt x="7124" y="4247"/>
                        <a:pt x="7165" y="4237"/>
                      </a:cubicBezTo>
                      <a:cubicBezTo>
                        <a:pt x="7249" y="4209"/>
                        <a:pt x="7332" y="4070"/>
                        <a:pt x="7332" y="3958"/>
                      </a:cubicBezTo>
                      <a:lnTo>
                        <a:pt x="7332" y="3011"/>
                      </a:lnTo>
                      <a:lnTo>
                        <a:pt x="8224" y="3011"/>
                      </a:lnTo>
                      <a:cubicBezTo>
                        <a:pt x="8726" y="3011"/>
                        <a:pt x="9144" y="2592"/>
                        <a:pt x="9144" y="2119"/>
                      </a:cubicBezTo>
                      <a:lnTo>
                        <a:pt x="9144" y="892"/>
                      </a:lnTo>
                      <a:cubicBezTo>
                        <a:pt x="9144" y="418"/>
                        <a:pt x="8726" y="0"/>
                        <a:pt x="8224"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4" name="Google Shape;11475;p84">
                  <a:extLst>
                    <a:ext uri="{FF2B5EF4-FFF2-40B4-BE49-F238E27FC236}">
                      <a16:creationId xmlns:a16="http://schemas.microsoft.com/office/drawing/2014/main" id="{BF20E425-4D30-46C1-A321-BDECE5DE7FC3}"/>
                    </a:ext>
                  </a:extLst>
                </p:cNvPr>
                <p:cNvSpPr/>
                <p:nvPr/>
              </p:nvSpPr>
              <p:spPr>
                <a:xfrm>
                  <a:off x="3024600" y="2966925"/>
                  <a:ext cx="29875" cy="58497"/>
                </a:xfrm>
                <a:custGeom>
                  <a:avLst/>
                  <a:gdLst/>
                  <a:ahLst/>
                  <a:cxnLst/>
                  <a:rect l="l" t="t" r="r" b="b"/>
                  <a:pathLst>
                    <a:path w="1195" h="2376" extrusionOk="0">
                      <a:moveTo>
                        <a:pt x="159" y="2269"/>
                      </a:moveTo>
                      <a:cubicBezTo>
                        <a:pt x="131" y="2225"/>
                        <a:pt x="349" y="2178"/>
                        <a:pt x="444" y="2102"/>
                      </a:cubicBezTo>
                      <a:cubicBezTo>
                        <a:pt x="539" y="2027"/>
                        <a:pt x="682" y="2090"/>
                        <a:pt x="730" y="1816"/>
                      </a:cubicBezTo>
                      <a:cubicBezTo>
                        <a:pt x="778" y="1542"/>
                        <a:pt x="774" y="725"/>
                        <a:pt x="730" y="459"/>
                      </a:cubicBezTo>
                      <a:cubicBezTo>
                        <a:pt x="686" y="193"/>
                        <a:pt x="587" y="273"/>
                        <a:pt x="468" y="221"/>
                      </a:cubicBezTo>
                      <a:cubicBezTo>
                        <a:pt x="349" y="169"/>
                        <a:pt x="-16" y="185"/>
                        <a:pt x="16" y="149"/>
                      </a:cubicBezTo>
                      <a:cubicBezTo>
                        <a:pt x="48" y="113"/>
                        <a:pt x="473" y="-21"/>
                        <a:pt x="659" y="7"/>
                      </a:cubicBezTo>
                      <a:cubicBezTo>
                        <a:pt x="846" y="35"/>
                        <a:pt x="1048" y="54"/>
                        <a:pt x="1135" y="316"/>
                      </a:cubicBezTo>
                      <a:cubicBezTo>
                        <a:pt x="1222" y="578"/>
                        <a:pt x="1183" y="1276"/>
                        <a:pt x="1183" y="1578"/>
                      </a:cubicBezTo>
                      <a:cubicBezTo>
                        <a:pt x="1183" y="1880"/>
                        <a:pt x="1230" y="1995"/>
                        <a:pt x="1135" y="2126"/>
                      </a:cubicBezTo>
                      <a:cubicBezTo>
                        <a:pt x="1040" y="2257"/>
                        <a:pt x="774" y="2340"/>
                        <a:pt x="611" y="2364"/>
                      </a:cubicBezTo>
                      <a:cubicBezTo>
                        <a:pt x="448" y="2388"/>
                        <a:pt x="187" y="2313"/>
                        <a:pt x="159" y="2269"/>
                      </a:cubicBezTo>
                      <a:close/>
                    </a:path>
                  </a:pathLst>
                </a:custGeom>
                <a:solidFill>
                  <a:schemeClr val="accent4"/>
                </a:solidFill>
                <a:ln>
                  <a:noFill/>
                </a:ln>
              </p:spPr>
            </p:sp>
          </p:grpSp>
        </p:grpSp>
        <p:sp>
          <p:nvSpPr>
            <p:cNvPr id="61" name="矩形 60">
              <a:extLst>
                <a:ext uri="{FF2B5EF4-FFF2-40B4-BE49-F238E27FC236}">
                  <a16:creationId xmlns:a16="http://schemas.microsoft.com/office/drawing/2014/main" id="{7D77425B-7C21-4467-9AE2-D0DC3A29827F}"/>
                </a:ext>
              </a:extLst>
            </p:cNvPr>
            <p:cNvSpPr/>
            <p:nvPr/>
          </p:nvSpPr>
          <p:spPr>
            <a:xfrm>
              <a:off x="1206472" y="4284520"/>
              <a:ext cx="1915910" cy="246221"/>
            </a:xfrm>
            <a:prstGeom prst="rect">
              <a:avLst/>
            </a:prstGeom>
          </p:spPr>
          <p:txBody>
            <a:bodyPr wrap="none">
              <a:spAutoFit/>
            </a:bodyPr>
            <a:lstStyle/>
            <a:p>
              <a:pPr lvl="0" algn="ctr"/>
              <a:r>
                <a:rPr lang="en-US" altLang="zh-TW" sz="1000" dirty="0">
                  <a:latin typeface="Montserrat" panose="02020500000000000000" charset="0"/>
                  <a:ea typeface="Calibri"/>
                  <a:cs typeface="Calibri"/>
                  <a:sym typeface="Calibri"/>
                </a:rPr>
                <a:t>Quantum communication </a:t>
              </a:r>
            </a:p>
          </p:txBody>
        </p:sp>
      </p:grpSp>
      <p:grpSp>
        <p:nvGrpSpPr>
          <p:cNvPr id="5" name="群組 4">
            <a:extLst>
              <a:ext uri="{FF2B5EF4-FFF2-40B4-BE49-F238E27FC236}">
                <a16:creationId xmlns:a16="http://schemas.microsoft.com/office/drawing/2014/main" id="{0CF7D4B2-C9E6-493C-B66B-DDB652FAFDD0}"/>
              </a:ext>
            </a:extLst>
          </p:cNvPr>
          <p:cNvGrpSpPr/>
          <p:nvPr/>
        </p:nvGrpSpPr>
        <p:grpSpPr>
          <a:xfrm>
            <a:off x="608736" y="2959526"/>
            <a:ext cx="2894846" cy="1930241"/>
            <a:chOff x="438827" y="2964519"/>
            <a:chExt cx="2894846" cy="1930241"/>
          </a:xfrm>
        </p:grpSpPr>
        <p:pic>
          <p:nvPicPr>
            <p:cNvPr id="2" name="圖片 1">
              <a:extLst>
                <a:ext uri="{FF2B5EF4-FFF2-40B4-BE49-F238E27FC236}">
                  <a16:creationId xmlns:a16="http://schemas.microsoft.com/office/drawing/2014/main" id="{8FA51D72-7DAE-4157-B744-BE1CC22DAE23}"/>
                </a:ext>
              </a:extLst>
            </p:cNvPr>
            <p:cNvPicPr>
              <a:picLocks noChangeAspect="1"/>
            </p:cNvPicPr>
            <p:nvPr/>
          </p:nvPicPr>
          <p:blipFill>
            <a:blip r:embed="rId3"/>
            <a:stretch>
              <a:fillRect/>
            </a:stretch>
          </p:blipFill>
          <p:spPr>
            <a:xfrm>
              <a:off x="438827" y="2964519"/>
              <a:ext cx="2894846" cy="1682564"/>
            </a:xfrm>
            <a:prstGeom prst="rect">
              <a:avLst/>
            </a:prstGeom>
          </p:spPr>
        </p:pic>
        <p:sp>
          <p:nvSpPr>
            <p:cNvPr id="3" name="文字方塊 2">
              <a:extLst>
                <a:ext uri="{FF2B5EF4-FFF2-40B4-BE49-F238E27FC236}">
                  <a16:creationId xmlns:a16="http://schemas.microsoft.com/office/drawing/2014/main" id="{3F3E1986-AC96-4074-8E52-C0EE51779A64}"/>
                </a:ext>
              </a:extLst>
            </p:cNvPr>
            <p:cNvSpPr txBox="1"/>
            <p:nvPr/>
          </p:nvSpPr>
          <p:spPr>
            <a:xfrm>
              <a:off x="1308109" y="4679316"/>
              <a:ext cx="1148071" cy="215444"/>
            </a:xfrm>
            <a:prstGeom prst="rect">
              <a:avLst/>
            </a:prstGeom>
            <a:noFill/>
          </p:spPr>
          <p:txBody>
            <a:bodyPr wrap="none" rtlCol="0">
              <a:spAutoFit/>
            </a:bodyPr>
            <a:lstStyle/>
            <a:p>
              <a:r>
                <a:rPr lang="en-US" altLang="zh-TW" sz="800" dirty="0">
                  <a:solidFill>
                    <a:schemeClr val="accent5"/>
                  </a:solidFill>
                  <a:latin typeface="Montserrat" panose="02020500000000000000" charset="0"/>
                </a:rPr>
                <a:t>(Zhang et al., 2022)</a:t>
              </a:r>
              <a:endParaRPr lang="zh-TW" altLang="en-US" sz="800" dirty="0">
                <a:solidFill>
                  <a:schemeClr val="accent5"/>
                </a:solidFill>
                <a:latin typeface="Montserrat" panose="02020500000000000000" charset="0"/>
              </a:endParaRPr>
            </a:p>
          </p:txBody>
        </p:sp>
      </p:grpSp>
      <p:pic>
        <p:nvPicPr>
          <p:cNvPr id="4" name="圖片 3">
            <a:extLst>
              <a:ext uri="{FF2B5EF4-FFF2-40B4-BE49-F238E27FC236}">
                <a16:creationId xmlns:a16="http://schemas.microsoft.com/office/drawing/2014/main" id="{7F0C9398-9E1A-485C-8174-D1473A70505D}"/>
              </a:ext>
            </a:extLst>
          </p:cNvPr>
          <p:cNvPicPr>
            <a:picLocks noChangeAspect="1"/>
          </p:cNvPicPr>
          <p:nvPr/>
        </p:nvPicPr>
        <p:blipFill>
          <a:blip r:embed="rId4"/>
          <a:stretch>
            <a:fillRect/>
          </a:stretch>
        </p:blipFill>
        <p:spPr>
          <a:xfrm>
            <a:off x="5640419" y="2964519"/>
            <a:ext cx="2894846" cy="1644962"/>
          </a:xfrm>
          <a:prstGeom prst="rect">
            <a:avLst/>
          </a:prstGeom>
        </p:spPr>
      </p:pic>
      <p:sp>
        <p:nvSpPr>
          <p:cNvPr id="7" name="矩形 6">
            <a:extLst>
              <a:ext uri="{FF2B5EF4-FFF2-40B4-BE49-F238E27FC236}">
                <a16:creationId xmlns:a16="http://schemas.microsoft.com/office/drawing/2014/main" id="{AD3C9808-CF58-47CB-AEC2-DA68FF23BA37}"/>
              </a:ext>
            </a:extLst>
          </p:cNvPr>
          <p:cNvSpPr/>
          <p:nvPr/>
        </p:nvSpPr>
        <p:spPr>
          <a:xfrm>
            <a:off x="5569737" y="4642090"/>
            <a:ext cx="2965527" cy="338554"/>
          </a:xfrm>
          <a:prstGeom prst="rect">
            <a:avLst/>
          </a:prstGeom>
        </p:spPr>
        <p:txBody>
          <a:bodyPr wrap="square">
            <a:spAutoFit/>
          </a:bodyPr>
          <a:lstStyle/>
          <a:p>
            <a:r>
              <a:rPr lang="zh-TW" altLang="en-US" sz="800" dirty="0">
                <a:solidFill>
                  <a:schemeClr val="accent5"/>
                </a:solidFill>
                <a:latin typeface="Montserrat" panose="02020500000000000000" charset="0"/>
              </a:rPr>
              <a:t>https://finance.sina.com.cn/tech/2021-03-10/doc-ikkntiak7185894.shtml</a:t>
            </a:r>
          </a:p>
        </p:txBody>
      </p:sp>
    </p:spTree>
    <p:extLst>
      <p:ext uri="{BB962C8B-B14F-4D97-AF65-F5344CB8AC3E}">
        <p14:creationId xmlns:p14="http://schemas.microsoft.com/office/powerpoint/2010/main" val="3765269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7" name="矩形: 圓角 6">
            <a:extLst>
              <a:ext uri="{FF2B5EF4-FFF2-40B4-BE49-F238E27FC236}">
                <a16:creationId xmlns:a16="http://schemas.microsoft.com/office/drawing/2014/main" id="{74D99099-7599-4392-AED7-C958AAEBDD08}"/>
              </a:ext>
            </a:extLst>
          </p:cNvPr>
          <p:cNvSpPr/>
          <p:nvPr/>
        </p:nvSpPr>
        <p:spPr>
          <a:xfrm>
            <a:off x="3098799" y="939198"/>
            <a:ext cx="2946400" cy="363914"/>
          </a:xfrm>
          <a:prstGeom prst="roundRect">
            <a:avLst>
              <a:gd name="adj" fmla="val 50000"/>
            </a:avLst>
          </a:prstGeom>
          <a:solidFill>
            <a:schemeClr val="bg1"/>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Applications</a:t>
            </a:r>
          </a:p>
        </p:txBody>
      </p:sp>
      <p:grpSp>
        <p:nvGrpSpPr>
          <p:cNvPr id="13" name="群組 12">
            <a:extLst>
              <a:ext uri="{FF2B5EF4-FFF2-40B4-BE49-F238E27FC236}">
                <a16:creationId xmlns:a16="http://schemas.microsoft.com/office/drawing/2014/main" id="{BB61850D-008F-4134-8F95-3973E69E7011}"/>
              </a:ext>
            </a:extLst>
          </p:cNvPr>
          <p:cNvGrpSpPr/>
          <p:nvPr/>
        </p:nvGrpSpPr>
        <p:grpSpPr>
          <a:xfrm>
            <a:off x="189900" y="0"/>
            <a:ext cx="8764200" cy="295831"/>
            <a:chOff x="342045" y="-14365"/>
            <a:chExt cx="8764200" cy="295831"/>
          </a:xfrm>
        </p:grpSpPr>
        <p:sp>
          <p:nvSpPr>
            <p:cNvPr id="8" name="矩形 7">
              <a:extLst>
                <a:ext uri="{FF2B5EF4-FFF2-40B4-BE49-F238E27FC236}">
                  <a16:creationId xmlns:a16="http://schemas.microsoft.com/office/drawing/2014/main" id="{04EEDA34-7245-42CD-BDD1-207074226B6A}"/>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27" name="矩形 26">
              <a:extLst>
                <a:ext uri="{FF2B5EF4-FFF2-40B4-BE49-F238E27FC236}">
                  <a16:creationId xmlns:a16="http://schemas.microsoft.com/office/drawing/2014/main" id="{99418AE1-55F2-4D3C-BA17-BD9DEF4705AD}"/>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8" name="矩形 27">
              <a:extLst>
                <a:ext uri="{FF2B5EF4-FFF2-40B4-BE49-F238E27FC236}">
                  <a16:creationId xmlns:a16="http://schemas.microsoft.com/office/drawing/2014/main" id="{958F552C-352A-4E07-B12D-8B1CB8325D72}"/>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9" name="矩形 28">
              <a:extLst>
                <a:ext uri="{FF2B5EF4-FFF2-40B4-BE49-F238E27FC236}">
                  <a16:creationId xmlns:a16="http://schemas.microsoft.com/office/drawing/2014/main" id="{DEC459C4-4656-45EC-BB91-307557F2613C}"/>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30" name="矩形 29">
              <a:extLst>
                <a:ext uri="{FF2B5EF4-FFF2-40B4-BE49-F238E27FC236}">
                  <a16:creationId xmlns:a16="http://schemas.microsoft.com/office/drawing/2014/main" id="{A7AD76FF-1734-442D-8282-893688A2ACAE}"/>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31" name="矩形 30">
              <a:extLst>
                <a:ext uri="{FF2B5EF4-FFF2-40B4-BE49-F238E27FC236}">
                  <a16:creationId xmlns:a16="http://schemas.microsoft.com/office/drawing/2014/main" id="{EC13FE0D-04F4-4FE2-9D4D-CC1ABDCDEC29}"/>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0" name="文字方塊 9">
            <a:extLst>
              <a:ext uri="{FF2B5EF4-FFF2-40B4-BE49-F238E27FC236}">
                <a16:creationId xmlns:a16="http://schemas.microsoft.com/office/drawing/2014/main" id="{F2E7DFB0-36E7-469E-870D-EE5CFB06ED11}"/>
              </a:ext>
            </a:extLst>
          </p:cNvPr>
          <p:cNvSpPr txBox="1"/>
          <p:nvPr/>
        </p:nvSpPr>
        <p:spPr>
          <a:xfrm>
            <a:off x="8585770" y="4631694"/>
            <a:ext cx="264816" cy="261610"/>
          </a:xfrm>
          <a:prstGeom prst="rect">
            <a:avLst/>
          </a:prstGeom>
          <a:noFill/>
        </p:spPr>
        <p:txBody>
          <a:bodyPr wrap="none" rtlCol="0">
            <a:spAutoFit/>
          </a:bodyPr>
          <a:lstStyle/>
          <a:p>
            <a:r>
              <a:rPr lang="en-US" altLang="zh-TW" sz="1100" dirty="0">
                <a:latin typeface="Montserrat" panose="02020500000000000000" charset="0"/>
              </a:rPr>
              <a:t>5</a:t>
            </a:r>
            <a:endParaRPr lang="zh-TW" altLang="en-US" sz="1100" dirty="0">
              <a:latin typeface="Montserrat" panose="02020500000000000000" charset="0"/>
            </a:endParaRPr>
          </a:p>
        </p:txBody>
      </p:sp>
      <p:sp>
        <p:nvSpPr>
          <p:cNvPr id="18" name="矩形 17">
            <a:extLst>
              <a:ext uri="{FF2B5EF4-FFF2-40B4-BE49-F238E27FC236}">
                <a16:creationId xmlns:a16="http://schemas.microsoft.com/office/drawing/2014/main" id="{2D4CF83D-BDCF-44D5-9021-4C0B7E3162C9}"/>
              </a:ext>
            </a:extLst>
          </p:cNvPr>
          <p:cNvSpPr/>
          <p:nvPr/>
        </p:nvSpPr>
        <p:spPr>
          <a:xfrm>
            <a:off x="3141358" y="998044"/>
            <a:ext cx="2861281" cy="246221"/>
          </a:xfrm>
          <a:prstGeom prst="rect">
            <a:avLst/>
          </a:prstGeom>
        </p:spPr>
        <p:txBody>
          <a:bodyPr wrap="square">
            <a:spAutoFit/>
          </a:bodyPr>
          <a:lstStyle/>
          <a:p>
            <a:r>
              <a:rPr lang="zh-TW" altLang="en-US" sz="1000" b="1" dirty="0">
                <a:latin typeface="Montserrat" panose="02020500000000000000" charset="0"/>
              </a:rPr>
              <a:t>P</a:t>
            </a:r>
            <a:r>
              <a:rPr lang="en-US" altLang="zh-TW" sz="1000" b="1" dirty="0" err="1">
                <a:latin typeface="Montserrat" panose="02020500000000000000" charset="0"/>
              </a:rPr>
              <a:t>olarization</a:t>
            </a:r>
            <a:r>
              <a:rPr lang="zh-TW" altLang="en-US" sz="1000" b="1" dirty="0">
                <a:latin typeface="Montserrat" panose="02020500000000000000" charset="0"/>
              </a:rPr>
              <a:t>-entangled photon sources</a:t>
            </a:r>
          </a:p>
        </p:txBody>
      </p:sp>
      <p:grpSp>
        <p:nvGrpSpPr>
          <p:cNvPr id="5" name="群組 4">
            <a:extLst>
              <a:ext uri="{FF2B5EF4-FFF2-40B4-BE49-F238E27FC236}">
                <a16:creationId xmlns:a16="http://schemas.microsoft.com/office/drawing/2014/main" id="{6EFE52DA-176D-43D1-9295-E624DF872CEB}"/>
              </a:ext>
            </a:extLst>
          </p:cNvPr>
          <p:cNvGrpSpPr/>
          <p:nvPr/>
        </p:nvGrpSpPr>
        <p:grpSpPr>
          <a:xfrm>
            <a:off x="516520" y="1708596"/>
            <a:ext cx="2739457" cy="2508727"/>
            <a:chOff x="516520" y="1708596"/>
            <a:chExt cx="2739457" cy="2508727"/>
          </a:xfrm>
        </p:grpSpPr>
        <p:grpSp>
          <p:nvGrpSpPr>
            <p:cNvPr id="40" name="群組 39">
              <a:extLst>
                <a:ext uri="{FF2B5EF4-FFF2-40B4-BE49-F238E27FC236}">
                  <a16:creationId xmlns:a16="http://schemas.microsoft.com/office/drawing/2014/main" id="{A1C23C12-B0B3-4911-9601-AA5632847633}"/>
                </a:ext>
              </a:extLst>
            </p:cNvPr>
            <p:cNvGrpSpPr/>
            <p:nvPr/>
          </p:nvGrpSpPr>
          <p:grpSpPr>
            <a:xfrm>
              <a:off x="516520" y="1708596"/>
              <a:ext cx="2739457" cy="2508727"/>
              <a:chOff x="516520" y="1708596"/>
              <a:chExt cx="2739457" cy="2508727"/>
            </a:xfrm>
          </p:grpSpPr>
          <p:sp>
            <p:nvSpPr>
              <p:cNvPr id="6" name="矩形 5">
                <a:extLst>
                  <a:ext uri="{FF2B5EF4-FFF2-40B4-BE49-F238E27FC236}">
                    <a16:creationId xmlns:a16="http://schemas.microsoft.com/office/drawing/2014/main" id="{7F848587-B9A5-4245-A765-50F98951CEBA}"/>
                  </a:ext>
                </a:extLst>
              </p:cNvPr>
              <p:cNvSpPr/>
              <p:nvPr/>
            </p:nvSpPr>
            <p:spPr>
              <a:xfrm>
                <a:off x="1312214" y="1708596"/>
                <a:ext cx="1148071" cy="230832"/>
              </a:xfrm>
              <a:prstGeom prst="rect">
                <a:avLst/>
              </a:prstGeom>
            </p:spPr>
            <p:txBody>
              <a:bodyPr wrap="none">
                <a:spAutoFit/>
              </a:bodyPr>
              <a:lstStyle/>
              <a:p>
                <a:r>
                  <a:rPr lang="en-US" altLang="zh-TW" sz="900" b="1" dirty="0">
                    <a:latin typeface="Montserrat" panose="02020500000000000000" charset="0"/>
                  </a:rPr>
                  <a:t>Atomic cascade</a:t>
                </a:r>
                <a:endParaRPr lang="zh-TW" altLang="en-US" sz="900" b="1" dirty="0">
                  <a:latin typeface="Montserrat" panose="02020500000000000000" charset="0"/>
                </a:endParaRPr>
              </a:p>
            </p:txBody>
          </p:sp>
          <p:pic>
            <p:nvPicPr>
              <p:cNvPr id="11" name="圖片 10">
                <a:extLst>
                  <a:ext uri="{FF2B5EF4-FFF2-40B4-BE49-F238E27FC236}">
                    <a16:creationId xmlns:a16="http://schemas.microsoft.com/office/drawing/2014/main" id="{1A7E4E7B-39E1-44C3-843F-F5557D7E7BA9}"/>
                  </a:ext>
                </a:extLst>
              </p:cNvPr>
              <p:cNvPicPr>
                <a:picLocks noChangeAspect="1"/>
              </p:cNvPicPr>
              <p:nvPr/>
            </p:nvPicPr>
            <p:blipFill>
              <a:blip r:embed="rId3"/>
              <a:stretch>
                <a:fillRect/>
              </a:stretch>
            </p:blipFill>
            <p:spPr>
              <a:xfrm>
                <a:off x="516520" y="2135465"/>
                <a:ext cx="2739457" cy="1050943"/>
              </a:xfrm>
              <a:prstGeom prst="rect">
                <a:avLst/>
              </a:prstGeom>
            </p:spPr>
          </p:pic>
          <p:grpSp>
            <p:nvGrpSpPr>
              <p:cNvPr id="25" name="群組 24">
                <a:extLst>
                  <a:ext uri="{FF2B5EF4-FFF2-40B4-BE49-F238E27FC236}">
                    <a16:creationId xmlns:a16="http://schemas.microsoft.com/office/drawing/2014/main" id="{E09396F4-036B-48AF-9959-2B82DDDB64B2}"/>
                  </a:ext>
                </a:extLst>
              </p:cNvPr>
              <p:cNvGrpSpPr/>
              <p:nvPr/>
            </p:nvGrpSpPr>
            <p:grpSpPr>
              <a:xfrm>
                <a:off x="516520" y="3525146"/>
                <a:ext cx="2484636" cy="692177"/>
                <a:chOff x="516520" y="3525146"/>
                <a:chExt cx="2484636" cy="692177"/>
              </a:xfrm>
            </p:grpSpPr>
            <p:sp>
              <p:nvSpPr>
                <p:cNvPr id="19" name="矩形 18">
                  <a:extLst>
                    <a:ext uri="{FF2B5EF4-FFF2-40B4-BE49-F238E27FC236}">
                      <a16:creationId xmlns:a16="http://schemas.microsoft.com/office/drawing/2014/main" id="{0842607E-FBC3-42BD-BA1E-A6B412E8B90A}"/>
                    </a:ext>
                  </a:extLst>
                </p:cNvPr>
                <p:cNvSpPr/>
                <p:nvPr/>
              </p:nvSpPr>
              <p:spPr>
                <a:xfrm>
                  <a:off x="771339" y="3525146"/>
                  <a:ext cx="2229817" cy="692177"/>
                </a:xfrm>
                <a:prstGeom prst="rect">
                  <a:avLst/>
                </a:prstGeom>
              </p:spPr>
              <p:txBody>
                <a:bodyPr wrap="square">
                  <a:spAutoFit/>
                </a:bodyPr>
                <a:lstStyle/>
                <a:p>
                  <a:pPr>
                    <a:lnSpc>
                      <a:spcPct val="150000"/>
                    </a:lnSpc>
                  </a:pPr>
                  <a:r>
                    <a:rPr lang="en-US" altLang="zh-TW" sz="900" dirty="0">
                      <a:latin typeface="Montserrat" panose="02020500000000000000" charset="0"/>
                    </a:rPr>
                    <a:t>D</a:t>
                  </a:r>
                  <a:r>
                    <a:rPr lang="zh-TW" altLang="en-US" sz="900" dirty="0">
                      <a:latin typeface="Montserrat" panose="02020500000000000000" charset="0"/>
                    </a:rPr>
                    <a:t>ifficult to capture single atoms</a:t>
                  </a:r>
                  <a:endParaRPr lang="en-US" altLang="zh-TW" sz="900" dirty="0">
                    <a:latin typeface="Montserrat" panose="02020500000000000000" charset="0"/>
                  </a:endParaRPr>
                </a:p>
                <a:p>
                  <a:pPr>
                    <a:lnSpc>
                      <a:spcPct val="150000"/>
                    </a:lnSpc>
                  </a:pPr>
                  <a:r>
                    <a:rPr lang="zh-TW" altLang="en-US" sz="900" dirty="0">
                      <a:latin typeface="Montserrat" panose="02020500000000000000" charset="0"/>
                    </a:rPr>
                    <a:t>the photons are emitted in random space angles</a:t>
                  </a:r>
                </a:p>
              </p:txBody>
            </p:sp>
            <p:sp>
              <p:nvSpPr>
                <p:cNvPr id="32" name="矩形 31">
                  <a:extLst>
                    <a:ext uri="{FF2B5EF4-FFF2-40B4-BE49-F238E27FC236}">
                      <a16:creationId xmlns:a16="http://schemas.microsoft.com/office/drawing/2014/main" id="{BC080CA5-247A-4576-96CA-7FC3B9702530}"/>
                    </a:ext>
                  </a:extLst>
                </p:cNvPr>
                <p:cNvSpPr/>
                <p:nvPr/>
              </p:nvSpPr>
              <p:spPr>
                <a:xfrm>
                  <a:off x="516520" y="3525146"/>
                  <a:ext cx="309700" cy="276999"/>
                </a:xfrm>
                <a:prstGeom prst="rect">
                  <a:avLst/>
                </a:prstGeom>
              </p:spPr>
              <p:txBody>
                <a:bodyPr wrap="none">
                  <a:spAutoFit/>
                </a:bodyPr>
                <a:lstStyle/>
                <a:p>
                  <a:r>
                    <a:rPr lang="zh-TW" altLang="en-US" sz="1200" b="1" dirty="0">
                      <a:solidFill>
                        <a:schemeClr val="tx2"/>
                      </a:solidFill>
                      <a:latin typeface="arial" panose="020B0604020202020204" pitchFamily="34" charset="0"/>
                    </a:rPr>
                    <a:t>✗</a:t>
                  </a:r>
                  <a:endParaRPr lang="zh-TW" altLang="en-US" sz="1200" b="1" dirty="0">
                    <a:solidFill>
                      <a:schemeClr val="tx2"/>
                    </a:solidFill>
                  </a:endParaRPr>
                </a:p>
              </p:txBody>
            </p:sp>
            <p:sp>
              <p:nvSpPr>
                <p:cNvPr id="33" name="矩形 32">
                  <a:extLst>
                    <a:ext uri="{FF2B5EF4-FFF2-40B4-BE49-F238E27FC236}">
                      <a16:creationId xmlns:a16="http://schemas.microsoft.com/office/drawing/2014/main" id="{11003835-651F-49F6-9C9D-1270730E6C67}"/>
                    </a:ext>
                  </a:extLst>
                </p:cNvPr>
                <p:cNvSpPr/>
                <p:nvPr/>
              </p:nvSpPr>
              <p:spPr>
                <a:xfrm>
                  <a:off x="516520" y="3749355"/>
                  <a:ext cx="309700" cy="276999"/>
                </a:xfrm>
                <a:prstGeom prst="rect">
                  <a:avLst/>
                </a:prstGeom>
              </p:spPr>
              <p:txBody>
                <a:bodyPr wrap="none">
                  <a:spAutoFit/>
                </a:bodyPr>
                <a:lstStyle/>
                <a:p>
                  <a:r>
                    <a:rPr lang="zh-TW" altLang="en-US" sz="1200" b="1" dirty="0">
                      <a:solidFill>
                        <a:schemeClr val="tx2"/>
                      </a:solidFill>
                      <a:latin typeface="arial" panose="020B0604020202020204" pitchFamily="34" charset="0"/>
                    </a:rPr>
                    <a:t>✗</a:t>
                  </a:r>
                  <a:endParaRPr lang="zh-TW" altLang="en-US" sz="1200" b="1" dirty="0">
                    <a:solidFill>
                      <a:schemeClr val="tx2"/>
                    </a:solidFill>
                  </a:endParaRPr>
                </a:p>
              </p:txBody>
            </p:sp>
          </p:grpSp>
        </p:grpSp>
        <p:sp>
          <p:nvSpPr>
            <p:cNvPr id="58" name="文字方塊 57">
              <a:extLst>
                <a:ext uri="{FF2B5EF4-FFF2-40B4-BE49-F238E27FC236}">
                  <a16:creationId xmlns:a16="http://schemas.microsoft.com/office/drawing/2014/main" id="{63F4A052-AE56-4AC2-84F3-DF1F3CFFCBB2}"/>
                </a:ext>
              </a:extLst>
            </p:cNvPr>
            <p:cNvSpPr txBox="1"/>
            <p:nvPr/>
          </p:nvSpPr>
          <p:spPr>
            <a:xfrm>
              <a:off x="1445260" y="3204071"/>
              <a:ext cx="881973" cy="215444"/>
            </a:xfrm>
            <a:prstGeom prst="rect">
              <a:avLst/>
            </a:prstGeom>
            <a:noFill/>
          </p:spPr>
          <p:txBody>
            <a:bodyPr wrap="none" rtlCol="0">
              <a:spAutoFit/>
            </a:bodyPr>
            <a:lstStyle/>
            <a:p>
              <a:r>
                <a:rPr lang="en-US" altLang="zh-TW" sz="700" dirty="0">
                  <a:solidFill>
                    <a:schemeClr val="tx1">
                      <a:lumMod val="50000"/>
                      <a:lumOff val="50000"/>
                    </a:schemeClr>
                  </a:solidFill>
                  <a:latin typeface="Montserrat" panose="02020500000000000000" charset="0"/>
                </a:rPr>
                <a:t>(</a:t>
              </a:r>
              <a:r>
                <a:rPr lang="en-US" altLang="zh-TW" sz="800" dirty="0">
                  <a:solidFill>
                    <a:schemeClr val="accent5"/>
                  </a:solidFill>
                  <a:latin typeface="Montserrat" panose="02020500000000000000" charset="0"/>
                </a:rPr>
                <a:t>Li et al., 2018)</a:t>
              </a:r>
              <a:endParaRPr lang="zh-TW" altLang="en-US" sz="700" dirty="0">
                <a:solidFill>
                  <a:schemeClr val="accent5"/>
                </a:solidFill>
                <a:latin typeface="Montserrat" panose="02020500000000000000" charset="0"/>
              </a:endParaRPr>
            </a:p>
          </p:txBody>
        </p:sp>
      </p:grpSp>
      <p:grpSp>
        <p:nvGrpSpPr>
          <p:cNvPr id="12" name="群組 11">
            <a:extLst>
              <a:ext uri="{FF2B5EF4-FFF2-40B4-BE49-F238E27FC236}">
                <a16:creationId xmlns:a16="http://schemas.microsoft.com/office/drawing/2014/main" id="{831E6402-5A0C-4F85-ADAB-34382AC1026D}"/>
              </a:ext>
            </a:extLst>
          </p:cNvPr>
          <p:cNvGrpSpPr/>
          <p:nvPr/>
        </p:nvGrpSpPr>
        <p:grpSpPr>
          <a:xfrm>
            <a:off x="5950499" y="1708596"/>
            <a:ext cx="2608681" cy="2312519"/>
            <a:chOff x="5950499" y="1708596"/>
            <a:chExt cx="2608681" cy="2312519"/>
          </a:xfrm>
        </p:grpSpPr>
        <p:grpSp>
          <p:nvGrpSpPr>
            <p:cNvPr id="41" name="群組 40">
              <a:extLst>
                <a:ext uri="{FF2B5EF4-FFF2-40B4-BE49-F238E27FC236}">
                  <a16:creationId xmlns:a16="http://schemas.microsoft.com/office/drawing/2014/main" id="{94701BFB-8983-4B74-A3D7-84C9BF2940CF}"/>
                </a:ext>
              </a:extLst>
            </p:cNvPr>
            <p:cNvGrpSpPr/>
            <p:nvPr/>
          </p:nvGrpSpPr>
          <p:grpSpPr>
            <a:xfrm>
              <a:off x="5950499" y="1708596"/>
              <a:ext cx="2608681" cy="2312519"/>
              <a:chOff x="5950499" y="1708596"/>
              <a:chExt cx="2608681" cy="2312519"/>
            </a:xfrm>
          </p:grpSpPr>
          <p:sp>
            <p:nvSpPr>
              <p:cNvPr id="2" name="矩形 1">
                <a:extLst>
                  <a:ext uri="{FF2B5EF4-FFF2-40B4-BE49-F238E27FC236}">
                    <a16:creationId xmlns:a16="http://schemas.microsoft.com/office/drawing/2014/main" id="{A55A0118-3D89-4E6A-8D88-852795C4C41A}"/>
                  </a:ext>
                </a:extLst>
              </p:cNvPr>
              <p:cNvSpPr/>
              <p:nvPr/>
            </p:nvSpPr>
            <p:spPr>
              <a:xfrm>
                <a:off x="6084487" y="1708596"/>
                <a:ext cx="2340705" cy="230832"/>
              </a:xfrm>
              <a:prstGeom prst="rect">
                <a:avLst/>
              </a:prstGeom>
            </p:spPr>
            <p:txBody>
              <a:bodyPr wrap="none">
                <a:spAutoFit/>
              </a:bodyPr>
              <a:lstStyle/>
              <a:p>
                <a:r>
                  <a:rPr lang="zh-TW" altLang="en-US" sz="900" b="1" dirty="0">
                    <a:latin typeface="Montserrat" panose="02020500000000000000" charset="0"/>
                  </a:rPr>
                  <a:t>Semiconductor quantum dots</a:t>
                </a:r>
                <a:r>
                  <a:rPr lang="en-US" altLang="zh-TW" sz="900" b="1" dirty="0">
                    <a:latin typeface="Montserrat" panose="02020500000000000000" charset="0"/>
                  </a:rPr>
                  <a:t>(QDs)</a:t>
                </a:r>
                <a:endParaRPr lang="zh-TW" altLang="en-US" sz="900" b="1" dirty="0">
                  <a:latin typeface="Montserrat" panose="02020500000000000000" charset="0"/>
                </a:endParaRPr>
              </a:p>
            </p:txBody>
          </p:sp>
          <p:pic>
            <p:nvPicPr>
              <p:cNvPr id="17" name="圖片 16">
                <a:extLst>
                  <a:ext uri="{FF2B5EF4-FFF2-40B4-BE49-F238E27FC236}">
                    <a16:creationId xmlns:a16="http://schemas.microsoft.com/office/drawing/2014/main" id="{ECA95CCF-AEE5-453E-8075-7A538FEA4ED1}"/>
                  </a:ext>
                </a:extLst>
              </p:cNvPr>
              <p:cNvPicPr>
                <a:picLocks noChangeAspect="1"/>
              </p:cNvPicPr>
              <p:nvPr/>
            </p:nvPicPr>
            <p:blipFill>
              <a:blip r:embed="rId4"/>
              <a:stretch>
                <a:fillRect/>
              </a:stretch>
            </p:blipFill>
            <p:spPr>
              <a:xfrm>
                <a:off x="5950499" y="1983065"/>
                <a:ext cx="2608681" cy="1177369"/>
              </a:xfrm>
              <a:prstGeom prst="rect">
                <a:avLst/>
              </a:prstGeom>
            </p:spPr>
          </p:pic>
          <p:grpSp>
            <p:nvGrpSpPr>
              <p:cNvPr id="38" name="群組 37">
                <a:extLst>
                  <a:ext uri="{FF2B5EF4-FFF2-40B4-BE49-F238E27FC236}">
                    <a16:creationId xmlns:a16="http://schemas.microsoft.com/office/drawing/2014/main" id="{9CFAE084-2247-4B3E-BCC2-AD61A708AB23}"/>
                  </a:ext>
                </a:extLst>
              </p:cNvPr>
              <p:cNvGrpSpPr/>
              <p:nvPr/>
            </p:nvGrpSpPr>
            <p:grpSpPr>
              <a:xfrm>
                <a:off x="6192674" y="3513605"/>
                <a:ext cx="1880658" cy="507510"/>
                <a:chOff x="6192674" y="3513605"/>
                <a:chExt cx="1880658" cy="507510"/>
              </a:xfrm>
            </p:grpSpPr>
            <p:sp>
              <p:nvSpPr>
                <p:cNvPr id="22" name="矩形 21">
                  <a:extLst>
                    <a:ext uri="{FF2B5EF4-FFF2-40B4-BE49-F238E27FC236}">
                      <a16:creationId xmlns:a16="http://schemas.microsoft.com/office/drawing/2014/main" id="{2A072E63-C475-4ED3-814A-95705451D215}"/>
                    </a:ext>
                  </a:extLst>
                </p:cNvPr>
                <p:cNvSpPr/>
                <p:nvPr/>
              </p:nvSpPr>
              <p:spPr>
                <a:xfrm>
                  <a:off x="6436345" y="3525146"/>
                  <a:ext cx="1636987" cy="484428"/>
                </a:xfrm>
                <a:prstGeom prst="rect">
                  <a:avLst/>
                </a:prstGeom>
              </p:spPr>
              <p:txBody>
                <a:bodyPr wrap="none">
                  <a:spAutoFit/>
                </a:bodyPr>
                <a:lstStyle/>
                <a:p>
                  <a:pPr>
                    <a:lnSpc>
                      <a:spcPct val="150000"/>
                    </a:lnSpc>
                  </a:pPr>
                  <a:r>
                    <a:rPr lang="en-US" altLang="zh-TW" sz="900" dirty="0">
                      <a:latin typeface="Montserrat" panose="02020500000000000000" charset="0"/>
                    </a:rPr>
                    <a:t>D</a:t>
                  </a:r>
                  <a:r>
                    <a:rPr lang="zh-TW" altLang="en-US" sz="900" dirty="0">
                      <a:latin typeface="Montserrat" panose="02020500000000000000" charset="0"/>
                    </a:rPr>
                    <a:t>eterministic generation</a:t>
                  </a:r>
                  <a:endParaRPr lang="en-US" altLang="zh-TW" sz="900" dirty="0">
                    <a:latin typeface="Montserrat" panose="02020500000000000000" charset="0"/>
                  </a:endParaRPr>
                </a:p>
                <a:p>
                  <a:pPr>
                    <a:lnSpc>
                      <a:spcPct val="150000"/>
                    </a:lnSpc>
                  </a:pPr>
                  <a:r>
                    <a:rPr lang="zh-TW" altLang="en-US" sz="900" dirty="0">
                      <a:latin typeface="Montserrat" panose="02020500000000000000" charset="0"/>
                    </a:rPr>
                    <a:t>energetic splitting</a:t>
                  </a:r>
                  <a:r>
                    <a:rPr lang="en-US" altLang="zh-TW" sz="900" dirty="0">
                      <a:latin typeface="Montserrat" panose="02020500000000000000" charset="0"/>
                    </a:rPr>
                    <a:t>(FSS)</a:t>
                  </a:r>
                  <a:endParaRPr lang="zh-TW" altLang="en-US" sz="900" dirty="0">
                    <a:latin typeface="Montserrat" panose="02020500000000000000" charset="0"/>
                  </a:endParaRPr>
                </a:p>
              </p:txBody>
            </p:sp>
            <p:sp>
              <p:nvSpPr>
                <p:cNvPr id="34" name="矩形 33">
                  <a:extLst>
                    <a:ext uri="{FF2B5EF4-FFF2-40B4-BE49-F238E27FC236}">
                      <a16:creationId xmlns:a16="http://schemas.microsoft.com/office/drawing/2014/main" id="{0028A70D-8A37-402D-B454-9821012B393E}"/>
                    </a:ext>
                  </a:extLst>
                </p:cNvPr>
                <p:cNvSpPr/>
                <p:nvPr/>
              </p:nvSpPr>
              <p:spPr>
                <a:xfrm>
                  <a:off x="6192674" y="3744116"/>
                  <a:ext cx="309700" cy="276999"/>
                </a:xfrm>
                <a:prstGeom prst="rect">
                  <a:avLst/>
                </a:prstGeom>
              </p:spPr>
              <p:txBody>
                <a:bodyPr wrap="none">
                  <a:spAutoFit/>
                </a:bodyPr>
                <a:lstStyle/>
                <a:p>
                  <a:r>
                    <a:rPr lang="zh-TW" altLang="en-US" sz="1200" b="1" dirty="0">
                      <a:solidFill>
                        <a:schemeClr val="tx2"/>
                      </a:solidFill>
                      <a:latin typeface="arial" panose="020B0604020202020204" pitchFamily="34" charset="0"/>
                    </a:rPr>
                    <a:t>✗</a:t>
                  </a:r>
                  <a:endParaRPr lang="zh-TW" altLang="en-US" sz="1200" b="1" dirty="0">
                    <a:solidFill>
                      <a:schemeClr val="tx2"/>
                    </a:solidFill>
                  </a:endParaRPr>
                </a:p>
              </p:txBody>
            </p:sp>
            <p:sp>
              <p:nvSpPr>
                <p:cNvPr id="36" name="矩形 35">
                  <a:extLst>
                    <a:ext uri="{FF2B5EF4-FFF2-40B4-BE49-F238E27FC236}">
                      <a16:creationId xmlns:a16="http://schemas.microsoft.com/office/drawing/2014/main" id="{36305A71-91CE-453B-9FA3-7B3B574FDF54}"/>
                    </a:ext>
                  </a:extLst>
                </p:cNvPr>
                <p:cNvSpPr/>
                <p:nvPr/>
              </p:nvSpPr>
              <p:spPr>
                <a:xfrm>
                  <a:off x="6202292" y="3513605"/>
                  <a:ext cx="300082" cy="276999"/>
                </a:xfrm>
                <a:prstGeom prst="rect">
                  <a:avLst/>
                </a:prstGeom>
              </p:spPr>
              <p:txBody>
                <a:bodyPr wrap="none">
                  <a:spAutoFit/>
                </a:bodyPr>
                <a:lstStyle/>
                <a:p>
                  <a:r>
                    <a:rPr lang="zh-TW" altLang="en-US" sz="1200" b="1" dirty="0">
                      <a:solidFill>
                        <a:srgbClr val="00FF99"/>
                      </a:solidFill>
                      <a:latin typeface="arial" panose="020B0604020202020204" pitchFamily="34" charset="0"/>
                    </a:rPr>
                    <a:t>✓</a:t>
                  </a:r>
                  <a:endParaRPr lang="zh-TW" altLang="en-US" sz="1200" b="1" dirty="0">
                    <a:solidFill>
                      <a:srgbClr val="00FF99"/>
                    </a:solidFill>
                  </a:endParaRPr>
                </a:p>
              </p:txBody>
            </p:sp>
          </p:grpSp>
        </p:grpSp>
        <p:sp>
          <p:nvSpPr>
            <p:cNvPr id="47" name="文字方塊 46">
              <a:extLst>
                <a:ext uri="{FF2B5EF4-FFF2-40B4-BE49-F238E27FC236}">
                  <a16:creationId xmlns:a16="http://schemas.microsoft.com/office/drawing/2014/main" id="{0AD595E9-C2D4-443D-A374-05CD9E55673E}"/>
                </a:ext>
              </a:extLst>
            </p:cNvPr>
            <p:cNvSpPr txBox="1"/>
            <p:nvPr/>
          </p:nvSpPr>
          <p:spPr>
            <a:xfrm>
              <a:off x="6816767" y="3204071"/>
              <a:ext cx="881973" cy="215444"/>
            </a:xfrm>
            <a:prstGeom prst="rect">
              <a:avLst/>
            </a:prstGeom>
            <a:noFill/>
          </p:spPr>
          <p:txBody>
            <a:bodyPr wrap="none" rtlCol="0">
              <a:spAutoFit/>
            </a:bodyPr>
            <a:lstStyle/>
            <a:p>
              <a:r>
                <a:rPr lang="en-US" altLang="zh-TW" sz="700" dirty="0">
                  <a:solidFill>
                    <a:schemeClr val="tx1">
                      <a:lumMod val="50000"/>
                      <a:lumOff val="50000"/>
                    </a:schemeClr>
                  </a:solidFill>
                  <a:latin typeface="Montserrat" panose="02020500000000000000" charset="0"/>
                </a:rPr>
                <a:t>(</a:t>
              </a:r>
              <a:r>
                <a:rPr lang="en-US" altLang="zh-TW" sz="800" dirty="0">
                  <a:solidFill>
                    <a:schemeClr val="accent5"/>
                  </a:solidFill>
                  <a:latin typeface="Montserrat" panose="02020500000000000000" charset="0"/>
                </a:rPr>
                <a:t>Li et al., 2018)</a:t>
              </a:r>
              <a:endParaRPr lang="zh-TW" altLang="en-US" sz="700" dirty="0">
                <a:solidFill>
                  <a:schemeClr val="accent5"/>
                </a:solidFill>
                <a:latin typeface="Montserrat" panose="02020500000000000000" charset="0"/>
              </a:endParaRPr>
            </a:p>
          </p:txBody>
        </p:sp>
      </p:grpSp>
      <p:grpSp>
        <p:nvGrpSpPr>
          <p:cNvPr id="3" name="群組 2">
            <a:extLst>
              <a:ext uri="{FF2B5EF4-FFF2-40B4-BE49-F238E27FC236}">
                <a16:creationId xmlns:a16="http://schemas.microsoft.com/office/drawing/2014/main" id="{0DDCEA09-EF65-95C2-78EC-AFF586F03C4B}"/>
              </a:ext>
            </a:extLst>
          </p:cNvPr>
          <p:cNvGrpSpPr/>
          <p:nvPr/>
        </p:nvGrpSpPr>
        <p:grpSpPr>
          <a:xfrm>
            <a:off x="3329488" y="1677335"/>
            <a:ext cx="2485020" cy="2793904"/>
            <a:chOff x="3329488" y="1677335"/>
            <a:chExt cx="2485020" cy="2793904"/>
          </a:xfrm>
        </p:grpSpPr>
        <p:grpSp>
          <p:nvGrpSpPr>
            <p:cNvPr id="4" name="群組 3">
              <a:extLst>
                <a:ext uri="{FF2B5EF4-FFF2-40B4-BE49-F238E27FC236}">
                  <a16:creationId xmlns:a16="http://schemas.microsoft.com/office/drawing/2014/main" id="{62EE3DD2-B292-311E-954F-764D0EAAD9A7}"/>
                </a:ext>
              </a:extLst>
            </p:cNvPr>
            <p:cNvGrpSpPr/>
            <p:nvPr/>
          </p:nvGrpSpPr>
          <p:grpSpPr>
            <a:xfrm>
              <a:off x="3329488" y="1677335"/>
              <a:ext cx="2485020" cy="2793904"/>
              <a:chOff x="3329488" y="1677335"/>
              <a:chExt cx="2485020" cy="2793904"/>
            </a:xfrm>
          </p:grpSpPr>
          <p:sp>
            <p:nvSpPr>
              <p:cNvPr id="15" name="矩形 14">
                <a:extLst>
                  <a:ext uri="{FF2B5EF4-FFF2-40B4-BE49-F238E27FC236}">
                    <a16:creationId xmlns:a16="http://schemas.microsoft.com/office/drawing/2014/main" id="{EC4A5973-991B-E101-6811-99FCBC805674}"/>
                  </a:ext>
                </a:extLst>
              </p:cNvPr>
              <p:cNvSpPr/>
              <p:nvPr/>
            </p:nvSpPr>
            <p:spPr>
              <a:xfrm>
                <a:off x="3864165" y="1677335"/>
                <a:ext cx="1431802" cy="230832"/>
              </a:xfrm>
              <a:prstGeom prst="rect">
                <a:avLst/>
              </a:prstGeom>
            </p:spPr>
            <p:txBody>
              <a:bodyPr wrap="none">
                <a:spAutoFit/>
              </a:bodyPr>
              <a:lstStyle/>
              <a:p>
                <a:r>
                  <a:rPr lang="en-US" altLang="zh-TW" sz="900" b="1" dirty="0">
                    <a:latin typeface="Montserrat" panose="02020500000000000000" charset="0"/>
                  </a:rPr>
                  <a:t>Optical nonlinearity</a:t>
                </a:r>
              </a:p>
            </p:txBody>
          </p:sp>
          <p:grpSp>
            <p:nvGrpSpPr>
              <p:cNvPr id="16" name="群組 15">
                <a:extLst>
                  <a:ext uri="{FF2B5EF4-FFF2-40B4-BE49-F238E27FC236}">
                    <a16:creationId xmlns:a16="http://schemas.microsoft.com/office/drawing/2014/main" id="{C4245239-1D2F-2FEA-D813-DDC579434B29}"/>
                  </a:ext>
                </a:extLst>
              </p:cNvPr>
              <p:cNvGrpSpPr/>
              <p:nvPr/>
            </p:nvGrpSpPr>
            <p:grpSpPr>
              <a:xfrm>
                <a:off x="3601235" y="3571313"/>
                <a:ext cx="1991360" cy="899926"/>
                <a:chOff x="3593166" y="3571313"/>
                <a:chExt cx="1991360" cy="899926"/>
              </a:xfrm>
            </p:grpSpPr>
            <p:sp>
              <p:nvSpPr>
                <p:cNvPr id="23" name="矩形 22">
                  <a:extLst>
                    <a:ext uri="{FF2B5EF4-FFF2-40B4-BE49-F238E27FC236}">
                      <a16:creationId xmlns:a16="http://schemas.microsoft.com/office/drawing/2014/main" id="{75480F3C-20BD-8796-3C33-843544D5E95C}"/>
                    </a:ext>
                  </a:extLst>
                </p:cNvPr>
                <p:cNvSpPr/>
                <p:nvPr/>
              </p:nvSpPr>
              <p:spPr>
                <a:xfrm>
                  <a:off x="3814489" y="3571313"/>
                  <a:ext cx="1770037" cy="899926"/>
                </a:xfrm>
                <a:prstGeom prst="rect">
                  <a:avLst/>
                </a:prstGeom>
              </p:spPr>
              <p:txBody>
                <a:bodyPr wrap="square">
                  <a:spAutoFit/>
                </a:bodyPr>
                <a:lstStyle/>
                <a:p>
                  <a:pPr>
                    <a:lnSpc>
                      <a:spcPct val="150000"/>
                    </a:lnSpc>
                  </a:pPr>
                  <a:r>
                    <a:rPr lang="en-US" altLang="zh-TW" sz="900" dirty="0">
                      <a:latin typeface="Montserrat" panose="02020500000000000000" charset="0"/>
                    </a:rPr>
                    <a:t>C</a:t>
                  </a:r>
                  <a:r>
                    <a:rPr lang="zh-TW" altLang="en-US" sz="900" dirty="0">
                      <a:latin typeface="Montserrat" panose="02020500000000000000" charset="0"/>
                    </a:rPr>
                    <a:t>reated </a:t>
                  </a:r>
                  <a:r>
                    <a:rPr lang="en-US" altLang="zh-TW" sz="900" dirty="0">
                      <a:latin typeface="Montserrat" panose="02020500000000000000" charset="0"/>
                    </a:rPr>
                    <a:t>photon</a:t>
                  </a:r>
                  <a:r>
                    <a:rPr lang="zh-TW" altLang="en-US" sz="900" dirty="0">
                      <a:latin typeface="Montserrat" panose="02020500000000000000" charset="0"/>
                    </a:rPr>
                    <a:t> at random time</a:t>
                  </a:r>
                  <a:endParaRPr lang="en-US" altLang="zh-TW" sz="900" dirty="0">
                    <a:latin typeface="Montserrat" panose="02020500000000000000" charset="0"/>
                  </a:endParaRPr>
                </a:p>
                <a:p>
                  <a:pPr>
                    <a:lnSpc>
                      <a:spcPct val="150000"/>
                    </a:lnSpc>
                  </a:pPr>
                  <a:r>
                    <a:rPr lang="en-US" altLang="zh-TW" sz="900" dirty="0">
                      <a:latin typeface="Montserrat" panose="02020500000000000000" charset="0"/>
                    </a:rPr>
                    <a:t>Directly orthogonal polarization photon pairs </a:t>
                  </a:r>
                  <a:endParaRPr lang="zh-TW" altLang="en-US" sz="900" dirty="0">
                    <a:latin typeface="Montserrat" panose="02020500000000000000" charset="0"/>
                  </a:endParaRPr>
                </a:p>
              </p:txBody>
            </p:sp>
            <p:sp>
              <p:nvSpPr>
                <p:cNvPr id="24" name="矩形 23">
                  <a:extLst>
                    <a:ext uri="{FF2B5EF4-FFF2-40B4-BE49-F238E27FC236}">
                      <a16:creationId xmlns:a16="http://schemas.microsoft.com/office/drawing/2014/main" id="{91FD849C-6020-DDD5-F0E1-E1C60E981557}"/>
                    </a:ext>
                  </a:extLst>
                </p:cNvPr>
                <p:cNvSpPr/>
                <p:nvPr/>
              </p:nvSpPr>
              <p:spPr>
                <a:xfrm>
                  <a:off x="3593166" y="3576995"/>
                  <a:ext cx="309700" cy="276999"/>
                </a:xfrm>
                <a:prstGeom prst="rect">
                  <a:avLst/>
                </a:prstGeom>
              </p:spPr>
              <p:txBody>
                <a:bodyPr wrap="none">
                  <a:spAutoFit/>
                </a:bodyPr>
                <a:lstStyle/>
                <a:p>
                  <a:r>
                    <a:rPr lang="zh-TW" altLang="en-US" sz="1200" b="1" dirty="0">
                      <a:solidFill>
                        <a:schemeClr val="tx2"/>
                      </a:solidFill>
                      <a:latin typeface="arial" panose="020B0604020202020204" pitchFamily="34" charset="0"/>
                    </a:rPr>
                    <a:t>✗</a:t>
                  </a:r>
                  <a:endParaRPr lang="zh-TW" altLang="en-US" sz="1200" b="1" dirty="0">
                    <a:solidFill>
                      <a:schemeClr val="tx2"/>
                    </a:solidFill>
                  </a:endParaRPr>
                </a:p>
              </p:txBody>
            </p:sp>
            <p:sp>
              <p:nvSpPr>
                <p:cNvPr id="26" name="矩形 25">
                  <a:extLst>
                    <a:ext uri="{FF2B5EF4-FFF2-40B4-BE49-F238E27FC236}">
                      <a16:creationId xmlns:a16="http://schemas.microsoft.com/office/drawing/2014/main" id="{47721272-16C4-856F-C65D-DA92A7EC65B1}"/>
                    </a:ext>
                  </a:extLst>
                </p:cNvPr>
                <p:cNvSpPr/>
                <p:nvPr/>
              </p:nvSpPr>
              <p:spPr>
                <a:xfrm>
                  <a:off x="3597975" y="4006956"/>
                  <a:ext cx="300082" cy="276999"/>
                </a:xfrm>
                <a:prstGeom prst="rect">
                  <a:avLst/>
                </a:prstGeom>
              </p:spPr>
              <p:txBody>
                <a:bodyPr wrap="none">
                  <a:spAutoFit/>
                </a:bodyPr>
                <a:lstStyle/>
                <a:p>
                  <a:r>
                    <a:rPr lang="zh-TW" altLang="en-US" sz="1200" b="1" dirty="0">
                      <a:solidFill>
                        <a:srgbClr val="00FF99"/>
                      </a:solidFill>
                      <a:latin typeface="arial" panose="020B0604020202020204" pitchFamily="34" charset="0"/>
                    </a:rPr>
                    <a:t>✓</a:t>
                  </a:r>
                  <a:endParaRPr lang="zh-TW" altLang="en-US" sz="1200" b="1" dirty="0">
                    <a:solidFill>
                      <a:srgbClr val="00FF99"/>
                    </a:solidFill>
                  </a:endParaRPr>
                </a:p>
              </p:txBody>
            </p:sp>
          </p:grpSp>
          <p:sp>
            <p:nvSpPr>
              <p:cNvPr id="20" name="矩形 19">
                <a:extLst>
                  <a:ext uri="{FF2B5EF4-FFF2-40B4-BE49-F238E27FC236}">
                    <a16:creationId xmlns:a16="http://schemas.microsoft.com/office/drawing/2014/main" id="{E92BE5AE-5C6E-50D5-EF37-D197F3E3EB4E}"/>
                  </a:ext>
                </a:extLst>
              </p:cNvPr>
              <p:cNvSpPr/>
              <p:nvPr/>
            </p:nvSpPr>
            <p:spPr>
              <a:xfrm>
                <a:off x="3804854" y="1869750"/>
                <a:ext cx="1550424" cy="215444"/>
              </a:xfrm>
              <a:prstGeom prst="rect">
                <a:avLst/>
              </a:prstGeom>
            </p:spPr>
            <p:txBody>
              <a:bodyPr wrap="none">
                <a:spAutoFit/>
              </a:bodyPr>
              <a:lstStyle/>
              <a:p>
                <a:r>
                  <a:rPr lang="en-US" altLang="zh-TW" sz="800" b="1" dirty="0">
                    <a:latin typeface="Montserrat" panose="02020500000000000000" charset="0"/>
                  </a:rPr>
                  <a:t>Type-II SPDC QPM device</a:t>
                </a:r>
              </a:p>
            </p:txBody>
          </p:sp>
          <p:pic>
            <p:nvPicPr>
              <p:cNvPr id="21" name="圖片 20">
                <a:extLst>
                  <a:ext uri="{FF2B5EF4-FFF2-40B4-BE49-F238E27FC236}">
                    <a16:creationId xmlns:a16="http://schemas.microsoft.com/office/drawing/2014/main" id="{C73E62E7-2EDC-B6D3-535F-1250C7D0E5CB}"/>
                  </a:ext>
                </a:extLst>
              </p:cNvPr>
              <p:cNvPicPr>
                <a:picLocks noChangeAspect="1"/>
              </p:cNvPicPr>
              <p:nvPr/>
            </p:nvPicPr>
            <p:blipFill>
              <a:blip r:embed="rId5"/>
              <a:stretch>
                <a:fillRect/>
              </a:stretch>
            </p:blipFill>
            <p:spPr>
              <a:xfrm>
                <a:off x="3329488" y="2238156"/>
                <a:ext cx="2485020" cy="964173"/>
              </a:xfrm>
              <a:prstGeom prst="rect">
                <a:avLst/>
              </a:prstGeom>
            </p:spPr>
          </p:pic>
        </p:grpSp>
        <p:sp>
          <p:nvSpPr>
            <p:cNvPr id="14" name="文字方塊 13">
              <a:extLst>
                <a:ext uri="{FF2B5EF4-FFF2-40B4-BE49-F238E27FC236}">
                  <a16:creationId xmlns:a16="http://schemas.microsoft.com/office/drawing/2014/main" id="{C42F1FD8-261D-BC9C-3EBB-EBB954E34080}"/>
                </a:ext>
              </a:extLst>
            </p:cNvPr>
            <p:cNvSpPr txBox="1"/>
            <p:nvPr/>
          </p:nvSpPr>
          <p:spPr>
            <a:xfrm>
              <a:off x="3969108" y="3204071"/>
              <a:ext cx="1205779" cy="215444"/>
            </a:xfrm>
            <a:prstGeom prst="rect">
              <a:avLst/>
            </a:prstGeom>
            <a:noFill/>
          </p:spPr>
          <p:txBody>
            <a:bodyPr wrap="none" rtlCol="0">
              <a:spAutoFit/>
            </a:bodyPr>
            <a:lstStyle/>
            <a:p>
              <a:r>
                <a:rPr lang="en-US" altLang="zh-TW" sz="800" dirty="0">
                  <a:solidFill>
                    <a:schemeClr val="tx1"/>
                  </a:solidFill>
                  <a:latin typeface="Montserrat" panose="02020500000000000000" charset="0"/>
                </a:rPr>
                <a:t>(</a:t>
              </a:r>
              <a:r>
                <a:rPr lang="en-US" altLang="zh-TW" sz="800" dirty="0" err="1">
                  <a:solidFill>
                    <a:schemeClr val="tx1"/>
                  </a:solidFill>
                  <a:latin typeface="Montserrat" panose="02020500000000000000" charset="0"/>
                </a:rPr>
                <a:t>Nosaka</a:t>
              </a:r>
              <a:r>
                <a:rPr lang="en-US" altLang="zh-TW" sz="800" dirty="0">
                  <a:solidFill>
                    <a:schemeClr val="tx1"/>
                  </a:solidFill>
                  <a:latin typeface="Montserrat" panose="02020500000000000000" charset="0"/>
                </a:rPr>
                <a:t> et al., 2006)</a:t>
              </a:r>
              <a:endParaRPr lang="zh-TW" altLang="en-US" sz="800" dirty="0">
                <a:solidFill>
                  <a:schemeClr val="tx1"/>
                </a:solidFill>
                <a:latin typeface="Montserrat" panose="02020500000000000000" charset="0"/>
              </a:endParaRPr>
            </a:p>
          </p:txBody>
        </p:sp>
      </p:grpSp>
      <p:sp>
        <p:nvSpPr>
          <p:cNvPr id="35" name="矩形 34">
            <a:extLst>
              <a:ext uri="{FF2B5EF4-FFF2-40B4-BE49-F238E27FC236}">
                <a16:creationId xmlns:a16="http://schemas.microsoft.com/office/drawing/2014/main" id="{4CC57238-3761-1A9F-675A-6EBDA656F2B0}"/>
              </a:ext>
            </a:extLst>
          </p:cNvPr>
          <p:cNvSpPr/>
          <p:nvPr/>
        </p:nvSpPr>
        <p:spPr>
          <a:xfrm>
            <a:off x="3329488" y="1677335"/>
            <a:ext cx="2485020" cy="2954359"/>
          </a:xfrm>
          <a:prstGeom prst="rect">
            <a:avLst/>
          </a:prstGeom>
          <a:solidFill>
            <a:schemeClr val="accent4">
              <a:alpha val="8376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524430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7" name="矩形: 圓角 6">
            <a:extLst>
              <a:ext uri="{FF2B5EF4-FFF2-40B4-BE49-F238E27FC236}">
                <a16:creationId xmlns:a16="http://schemas.microsoft.com/office/drawing/2014/main" id="{74D99099-7599-4392-AED7-C958AAEBDD08}"/>
              </a:ext>
            </a:extLst>
          </p:cNvPr>
          <p:cNvSpPr/>
          <p:nvPr/>
        </p:nvSpPr>
        <p:spPr>
          <a:xfrm>
            <a:off x="3098799" y="939198"/>
            <a:ext cx="2946400" cy="363914"/>
          </a:xfrm>
          <a:prstGeom prst="roundRect">
            <a:avLst>
              <a:gd name="adj" fmla="val 50000"/>
            </a:avLst>
          </a:prstGeom>
          <a:solidFill>
            <a:schemeClr val="bg1"/>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Applications</a:t>
            </a:r>
          </a:p>
        </p:txBody>
      </p:sp>
      <p:grpSp>
        <p:nvGrpSpPr>
          <p:cNvPr id="13" name="群組 12">
            <a:extLst>
              <a:ext uri="{FF2B5EF4-FFF2-40B4-BE49-F238E27FC236}">
                <a16:creationId xmlns:a16="http://schemas.microsoft.com/office/drawing/2014/main" id="{BB61850D-008F-4134-8F95-3973E69E7011}"/>
              </a:ext>
            </a:extLst>
          </p:cNvPr>
          <p:cNvGrpSpPr/>
          <p:nvPr/>
        </p:nvGrpSpPr>
        <p:grpSpPr>
          <a:xfrm>
            <a:off x="189900" y="0"/>
            <a:ext cx="8764200" cy="295831"/>
            <a:chOff x="342045" y="-14365"/>
            <a:chExt cx="8764200" cy="295831"/>
          </a:xfrm>
        </p:grpSpPr>
        <p:sp>
          <p:nvSpPr>
            <p:cNvPr id="8" name="矩形 7">
              <a:extLst>
                <a:ext uri="{FF2B5EF4-FFF2-40B4-BE49-F238E27FC236}">
                  <a16:creationId xmlns:a16="http://schemas.microsoft.com/office/drawing/2014/main" id="{04EEDA34-7245-42CD-BDD1-207074226B6A}"/>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27" name="矩形 26">
              <a:extLst>
                <a:ext uri="{FF2B5EF4-FFF2-40B4-BE49-F238E27FC236}">
                  <a16:creationId xmlns:a16="http://schemas.microsoft.com/office/drawing/2014/main" id="{99418AE1-55F2-4D3C-BA17-BD9DEF4705AD}"/>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8" name="矩形 27">
              <a:extLst>
                <a:ext uri="{FF2B5EF4-FFF2-40B4-BE49-F238E27FC236}">
                  <a16:creationId xmlns:a16="http://schemas.microsoft.com/office/drawing/2014/main" id="{958F552C-352A-4E07-B12D-8B1CB8325D72}"/>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9" name="矩形 28">
              <a:extLst>
                <a:ext uri="{FF2B5EF4-FFF2-40B4-BE49-F238E27FC236}">
                  <a16:creationId xmlns:a16="http://schemas.microsoft.com/office/drawing/2014/main" id="{DEC459C4-4656-45EC-BB91-307557F2613C}"/>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30" name="矩形 29">
              <a:extLst>
                <a:ext uri="{FF2B5EF4-FFF2-40B4-BE49-F238E27FC236}">
                  <a16:creationId xmlns:a16="http://schemas.microsoft.com/office/drawing/2014/main" id="{A7AD76FF-1734-442D-8282-893688A2ACAE}"/>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31" name="矩形 30">
              <a:extLst>
                <a:ext uri="{FF2B5EF4-FFF2-40B4-BE49-F238E27FC236}">
                  <a16:creationId xmlns:a16="http://schemas.microsoft.com/office/drawing/2014/main" id="{EC13FE0D-04F4-4FE2-9D4D-CC1ABDCDEC29}"/>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0" name="文字方塊 9">
            <a:extLst>
              <a:ext uri="{FF2B5EF4-FFF2-40B4-BE49-F238E27FC236}">
                <a16:creationId xmlns:a16="http://schemas.microsoft.com/office/drawing/2014/main" id="{F2E7DFB0-36E7-469E-870D-EE5CFB06ED11}"/>
              </a:ext>
            </a:extLst>
          </p:cNvPr>
          <p:cNvSpPr txBox="1"/>
          <p:nvPr/>
        </p:nvSpPr>
        <p:spPr>
          <a:xfrm>
            <a:off x="8585770" y="4631694"/>
            <a:ext cx="271228" cy="261610"/>
          </a:xfrm>
          <a:prstGeom prst="rect">
            <a:avLst/>
          </a:prstGeom>
          <a:noFill/>
        </p:spPr>
        <p:txBody>
          <a:bodyPr wrap="none" rtlCol="0">
            <a:spAutoFit/>
          </a:bodyPr>
          <a:lstStyle/>
          <a:p>
            <a:r>
              <a:rPr lang="en-US" altLang="zh-TW" sz="1100" dirty="0">
                <a:latin typeface="Montserrat" panose="02020500000000000000" charset="0"/>
              </a:rPr>
              <a:t>6</a:t>
            </a:r>
            <a:endParaRPr lang="zh-TW" altLang="en-US" sz="1100" dirty="0">
              <a:latin typeface="Montserrat" panose="02020500000000000000" charset="0"/>
            </a:endParaRPr>
          </a:p>
        </p:txBody>
      </p:sp>
      <p:sp>
        <p:nvSpPr>
          <p:cNvPr id="18" name="矩形 17">
            <a:extLst>
              <a:ext uri="{FF2B5EF4-FFF2-40B4-BE49-F238E27FC236}">
                <a16:creationId xmlns:a16="http://schemas.microsoft.com/office/drawing/2014/main" id="{2D4CF83D-BDCF-44D5-9021-4C0B7E3162C9}"/>
              </a:ext>
            </a:extLst>
          </p:cNvPr>
          <p:cNvSpPr/>
          <p:nvPr/>
        </p:nvSpPr>
        <p:spPr>
          <a:xfrm>
            <a:off x="3141358" y="998044"/>
            <a:ext cx="2861281" cy="246221"/>
          </a:xfrm>
          <a:prstGeom prst="rect">
            <a:avLst/>
          </a:prstGeom>
        </p:spPr>
        <p:txBody>
          <a:bodyPr wrap="square">
            <a:spAutoFit/>
          </a:bodyPr>
          <a:lstStyle/>
          <a:p>
            <a:r>
              <a:rPr lang="zh-TW" altLang="en-US" sz="1000" b="1" dirty="0">
                <a:latin typeface="Montserrat" panose="02020500000000000000" charset="0"/>
              </a:rPr>
              <a:t>P</a:t>
            </a:r>
            <a:r>
              <a:rPr lang="en-US" altLang="zh-TW" sz="1000" b="1" dirty="0" err="1">
                <a:latin typeface="Montserrat" panose="02020500000000000000" charset="0"/>
              </a:rPr>
              <a:t>olarization</a:t>
            </a:r>
            <a:r>
              <a:rPr lang="zh-TW" altLang="en-US" sz="1000" b="1" dirty="0">
                <a:latin typeface="Montserrat" panose="02020500000000000000" charset="0"/>
              </a:rPr>
              <a:t>-entangled photon sources</a:t>
            </a:r>
          </a:p>
        </p:txBody>
      </p:sp>
      <p:grpSp>
        <p:nvGrpSpPr>
          <p:cNvPr id="5" name="群組 4">
            <a:extLst>
              <a:ext uri="{FF2B5EF4-FFF2-40B4-BE49-F238E27FC236}">
                <a16:creationId xmlns:a16="http://schemas.microsoft.com/office/drawing/2014/main" id="{D257648F-6E15-409A-97F3-B48E09F314AD}"/>
              </a:ext>
            </a:extLst>
          </p:cNvPr>
          <p:cNvGrpSpPr/>
          <p:nvPr/>
        </p:nvGrpSpPr>
        <p:grpSpPr>
          <a:xfrm>
            <a:off x="436476" y="1677335"/>
            <a:ext cx="2852616" cy="2625970"/>
            <a:chOff x="436476" y="1677335"/>
            <a:chExt cx="2852616" cy="2625970"/>
          </a:xfrm>
        </p:grpSpPr>
        <p:sp>
          <p:nvSpPr>
            <p:cNvPr id="3" name="矩形 2">
              <a:extLst>
                <a:ext uri="{FF2B5EF4-FFF2-40B4-BE49-F238E27FC236}">
                  <a16:creationId xmlns:a16="http://schemas.microsoft.com/office/drawing/2014/main" id="{14522CD0-6AF2-4594-BC28-9BDC111F1748}"/>
                </a:ext>
              </a:extLst>
            </p:cNvPr>
            <p:cNvSpPr/>
            <p:nvPr/>
          </p:nvSpPr>
          <p:spPr>
            <a:xfrm>
              <a:off x="436476" y="1677335"/>
              <a:ext cx="2852616" cy="2625970"/>
            </a:xfrm>
            <a:prstGeom prst="rect">
              <a:avLst/>
            </a:prstGeom>
            <a:blipFill dpi="0" rotWithShape="1">
              <a:blip r:embed="rId3">
                <a:alphaModFix amt="2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文字方塊 56">
              <a:extLst>
                <a:ext uri="{FF2B5EF4-FFF2-40B4-BE49-F238E27FC236}">
                  <a16:creationId xmlns:a16="http://schemas.microsoft.com/office/drawing/2014/main" id="{CF8785A9-F9CF-4A3F-B508-1ECDF2519E83}"/>
                </a:ext>
              </a:extLst>
            </p:cNvPr>
            <p:cNvSpPr txBox="1"/>
            <p:nvPr/>
          </p:nvSpPr>
          <p:spPr>
            <a:xfrm>
              <a:off x="1419393" y="3204071"/>
              <a:ext cx="886781" cy="215444"/>
            </a:xfrm>
            <a:prstGeom prst="rect">
              <a:avLst/>
            </a:prstGeom>
            <a:noFill/>
          </p:spPr>
          <p:txBody>
            <a:bodyPr wrap="none" rtlCol="0">
              <a:spAutoFit/>
            </a:bodyPr>
            <a:lstStyle/>
            <a:p>
              <a:r>
                <a:rPr lang="en-US" altLang="zh-TW" sz="800" dirty="0">
                  <a:solidFill>
                    <a:schemeClr val="accent4">
                      <a:lumMod val="85000"/>
                    </a:schemeClr>
                  </a:solidFill>
                  <a:latin typeface="Montserrat" panose="02020500000000000000" charset="0"/>
                </a:rPr>
                <a:t>(Li et al., 2018)</a:t>
              </a:r>
              <a:endParaRPr lang="zh-TW" altLang="en-US" sz="800" dirty="0">
                <a:solidFill>
                  <a:schemeClr val="accent4">
                    <a:lumMod val="85000"/>
                  </a:schemeClr>
                </a:solidFill>
                <a:latin typeface="Montserrat" panose="02020500000000000000" charset="0"/>
              </a:endParaRPr>
            </a:p>
          </p:txBody>
        </p:sp>
      </p:grpSp>
      <p:grpSp>
        <p:nvGrpSpPr>
          <p:cNvPr id="11" name="群組 10">
            <a:extLst>
              <a:ext uri="{FF2B5EF4-FFF2-40B4-BE49-F238E27FC236}">
                <a16:creationId xmlns:a16="http://schemas.microsoft.com/office/drawing/2014/main" id="{88BDEBCA-2840-48D6-812C-E4A2DA03920F}"/>
              </a:ext>
            </a:extLst>
          </p:cNvPr>
          <p:cNvGrpSpPr/>
          <p:nvPr/>
        </p:nvGrpSpPr>
        <p:grpSpPr>
          <a:xfrm>
            <a:off x="3329488" y="1677335"/>
            <a:ext cx="2485020" cy="2793904"/>
            <a:chOff x="3329488" y="1677335"/>
            <a:chExt cx="2485020" cy="2793904"/>
          </a:xfrm>
        </p:grpSpPr>
        <p:grpSp>
          <p:nvGrpSpPr>
            <p:cNvPr id="4" name="群組 3">
              <a:extLst>
                <a:ext uri="{FF2B5EF4-FFF2-40B4-BE49-F238E27FC236}">
                  <a16:creationId xmlns:a16="http://schemas.microsoft.com/office/drawing/2014/main" id="{CC190005-A6A9-4C55-A71D-5A8D91E4E58E}"/>
                </a:ext>
              </a:extLst>
            </p:cNvPr>
            <p:cNvGrpSpPr/>
            <p:nvPr/>
          </p:nvGrpSpPr>
          <p:grpSpPr>
            <a:xfrm>
              <a:off x="3329488" y="1677335"/>
              <a:ext cx="2485020" cy="2793904"/>
              <a:chOff x="3329488" y="1677335"/>
              <a:chExt cx="2485020" cy="2793904"/>
            </a:xfrm>
          </p:grpSpPr>
          <p:sp>
            <p:nvSpPr>
              <p:cNvPr id="37" name="矩形 36">
                <a:extLst>
                  <a:ext uri="{FF2B5EF4-FFF2-40B4-BE49-F238E27FC236}">
                    <a16:creationId xmlns:a16="http://schemas.microsoft.com/office/drawing/2014/main" id="{001F1C3D-952B-4188-8535-EA2D09693ED4}"/>
                  </a:ext>
                </a:extLst>
              </p:cNvPr>
              <p:cNvSpPr/>
              <p:nvPr/>
            </p:nvSpPr>
            <p:spPr>
              <a:xfrm>
                <a:off x="3864165" y="1677335"/>
                <a:ext cx="1431802" cy="230832"/>
              </a:xfrm>
              <a:prstGeom prst="rect">
                <a:avLst/>
              </a:prstGeom>
            </p:spPr>
            <p:txBody>
              <a:bodyPr wrap="none">
                <a:spAutoFit/>
              </a:bodyPr>
              <a:lstStyle/>
              <a:p>
                <a:r>
                  <a:rPr lang="en-US" altLang="zh-TW" sz="900" b="1" dirty="0">
                    <a:latin typeface="Montserrat" panose="02020500000000000000" charset="0"/>
                  </a:rPr>
                  <a:t>Optical nonlinearity</a:t>
                </a:r>
              </a:p>
            </p:txBody>
          </p:sp>
          <p:grpSp>
            <p:nvGrpSpPr>
              <p:cNvPr id="43" name="群組 42">
                <a:extLst>
                  <a:ext uri="{FF2B5EF4-FFF2-40B4-BE49-F238E27FC236}">
                    <a16:creationId xmlns:a16="http://schemas.microsoft.com/office/drawing/2014/main" id="{C439975C-B751-49E5-AFC9-4963436F810F}"/>
                  </a:ext>
                </a:extLst>
              </p:cNvPr>
              <p:cNvGrpSpPr/>
              <p:nvPr/>
            </p:nvGrpSpPr>
            <p:grpSpPr>
              <a:xfrm>
                <a:off x="3601235" y="3571313"/>
                <a:ext cx="1991360" cy="899926"/>
                <a:chOff x="3593166" y="3571313"/>
                <a:chExt cx="1991360" cy="899926"/>
              </a:xfrm>
            </p:grpSpPr>
            <p:sp>
              <p:nvSpPr>
                <p:cNvPr id="44" name="矩形 43">
                  <a:extLst>
                    <a:ext uri="{FF2B5EF4-FFF2-40B4-BE49-F238E27FC236}">
                      <a16:creationId xmlns:a16="http://schemas.microsoft.com/office/drawing/2014/main" id="{3ACFE9D3-3071-49BA-AA94-193225E7BD74}"/>
                    </a:ext>
                  </a:extLst>
                </p:cNvPr>
                <p:cNvSpPr/>
                <p:nvPr/>
              </p:nvSpPr>
              <p:spPr>
                <a:xfrm>
                  <a:off x="3814489" y="3571313"/>
                  <a:ext cx="1770037" cy="899926"/>
                </a:xfrm>
                <a:prstGeom prst="rect">
                  <a:avLst/>
                </a:prstGeom>
              </p:spPr>
              <p:txBody>
                <a:bodyPr wrap="square">
                  <a:spAutoFit/>
                </a:bodyPr>
                <a:lstStyle/>
                <a:p>
                  <a:pPr>
                    <a:lnSpc>
                      <a:spcPct val="150000"/>
                    </a:lnSpc>
                  </a:pPr>
                  <a:r>
                    <a:rPr lang="en-US" altLang="zh-TW" sz="900" dirty="0">
                      <a:latin typeface="Montserrat" panose="02020500000000000000" charset="0"/>
                    </a:rPr>
                    <a:t>C</a:t>
                  </a:r>
                  <a:r>
                    <a:rPr lang="zh-TW" altLang="en-US" sz="900" dirty="0">
                      <a:latin typeface="Montserrat" panose="02020500000000000000" charset="0"/>
                    </a:rPr>
                    <a:t>reated </a:t>
                  </a:r>
                  <a:r>
                    <a:rPr lang="en-US" altLang="zh-TW" sz="900" dirty="0">
                      <a:latin typeface="Montserrat" panose="02020500000000000000" charset="0"/>
                    </a:rPr>
                    <a:t>photon</a:t>
                  </a:r>
                  <a:r>
                    <a:rPr lang="zh-TW" altLang="en-US" sz="900" dirty="0">
                      <a:latin typeface="Montserrat" panose="02020500000000000000" charset="0"/>
                    </a:rPr>
                    <a:t> at random time</a:t>
                  </a:r>
                  <a:endParaRPr lang="en-US" altLang="zh-TW" sz="900" dirty="0">
                    <a:latin typeface="Montserrat" panose="02020500000000000000" charset="0"/>
                  </a:endParaRPr>
                </a:p>
                <a:p>
                  <a:pPr>
                    <a:lnSpc>
                      <a:spcPct val="150000"/>
                    </a:lnSpc>
                  </a:pPr>
                  <a:r>
                    <a:rPr lang="en-US" altLang="zh-TW" sz="900" dirty="0">
                      <a:latin typeface="Montserrat" panose="02020500000000000000" charset="0"/>
                    </a:rPr>
                    <a:t>Directly orthogonal polarization photon pairs </a:t>
                  </a:r>
                  <a:endParaRPr lang="zh-TW" altLang="en-US" sz="900" dirty="0">
                    <a:latin typeface="Montserrat" panose="02020500000000000000" charset="0"/>
                  </a:endParaRPr>
                </a:p>
              </p:txBody>
            </p:sp>
            <p:sp>
              <p:nvSpPr>
                <p:cNvPr id="45" name="矩形 44">
                  <a:extLst>
                    <a:ext uri="{FF2B5EF4-FFF2-40B4-BE49-F238E27FC236}">
                      <a16:creationId xmlns:a16="http://schemas.microsoft.com/office/drawing/2014/main" id="{107B657F-0E68-45F1-8FF5-AC67B7883EF1}"/>
                    </a:ext>
                  </a:extLst>
                </p:cNvPr>
                <p:cNvSpPr/>
                <p:nvPr/>
              </p:nvSpPr>
              <p:spPr>
                <a:xfrm>
                  <a:off x="3593166" y="3576995"/>
                  <a:ext cx="309700" cy="276999"/>
                </a:xfrm>
                <a:prstGeom prst="rect">
                  <a:avLst/>
                </a:prstGeom>
              </p:spPr>
              <p:txBody>
                <a:bodyPr wrap="none">
                  <a:spAutoFit/>
                </a:bodyPr>
                <a:lstStyle/>
                <a:p>
                  <a:r>
                    <a:rPr lang="zh-TW" altLang="en-US" sz="1200" b="1" dirty="0">
                      <a:solidFill>
                        <a:schemeClr val="tx2"/>
                      </a:solidFill>
                      <a:latin typeface="arial" panose="020B0604020202020204" pitchFamily="34" charset="0"/>
                    </a:rPr>
                    <a:t>✗</a:t>
                  </a:r>
                  <a:endParaRPr lang="zh-TW" altLang="en-US" sz="1200" b="1" dirty="0">
                    <a:solidFill>
                      <a:schemeClr val="tx2"/>
                    </a:solidFill>
                  </a:endParaRPr>
                </a:p>
              </p:txBody>
            </p:sp>
            <p:sp>
              <p:nvSpPr>
                <p:cNvPr id="46" name="矩形 45">
                  <a:extLst>
                    <a:ext uri="{FF2B5EF4-FFF2-40B4-BE49-F238E27FC236}">
                      <a16:creationId xmlns:a16="http://schemas.microsoft.com/office/drawing/2014/main" id="{6DA2EB39-E637-4B61-A637-9E01068FB0DC}"/>
                    </a:ext>
                  </a:extLst>
                </p:cNvPr>
                <p:cNvSpPr/>
                <p:nvPr/>
              </p:nvSpPr>
              <p:spPr>
                <a:xfrm>
                  <a:off x="3597975" y="4006956"/>
                  <a:ext cx="300082" cy="276999"/>
                </a:xfrm>
                <a:prstGeom prst="rect">
                  <a:avLst/>
                </a:prstGeom>
              </p:spPr>
              <p:txBody>
                <a:bodyPr wrap="none">
                  <a:spAutoFit/>
                </a:bodyPr>
                <a:lstStyle/>
                <a:p>
                  <a:r>
                    <a:rPr lang="zh-TW" altLang="en-US" sz="1200" b="1" dirty="0">
                      <a:solidFill>
                        <a:srgbClr val="00FF99"/>
                      </a:solidFill>
                      <a:latin typeface="arial" panose="020B0604020202020204" pitchFamily="34" charset="0"/>
                    </a:rPr>
                    <a:t>✓</a:t>
                  </a:r>
                  <a:endParaRPr lang="zh-TW" altLang="en-US" sz="1200" b="1" dirty="0">
                    <a:solidFill>
                      <a:srgbClr val="00FF99"/>
                    </a:solidFill>
                  </a:endParaRPr>
                </a:p>
              </p:txBody>
            </p:sp>
          </p:grpSp>
          <p:sp>
            <p:nvSpPr>
              <p:cNvPr id="47" name="矩形 46">
                <a:extLst>
                  <a:ext uri="{FF2B5EF4-FFF2-40B4-BE49-F238E27FC236}">
                    <a16:creationId xmlns:a16="http://schemas.microsoft.com/office/drawing/2014/main" id="{F9EBA5A5-9FF8-4B56-B831-DAA9FE55A6D1}"/>
                  </a:ext>
                </a:extLst>
              </p:cNvPr>
              <p:cNvSpPr/>
              <p:nvPr/>
            </p:nvSpPr>
            <p:spPr>
              <a:xfrm>
                <a:off x="3804854" y="1869750"/>
                <a:ext cx="1550424" cy="215444"/>
              </a:xfrm>
              <a:prstGeom prst="rect">
                <a:avLst/>
              </a:prstGeom>
            </p:spPr>
            <p:txBody>
              <a:bodyPr wrap="none">
                <a:spAutoFit/>
              </a:bodyPr>
              <a:lstStyle/>
              <a:p>
                <a:r>
                  <a:rPr lang="en-US" altLang="zh-TW" sz="800" b="1" dirty="0">
                    <a:latin typeface="Montserrat" panose="02020500000000000000" charset="0"/>
                  </a:rPr>
                  <a:t>Type-II SPDC QPM device</a:t>
                </a:r>
              </a:p>
            </p:txBody>
          </p:sp>
          <p:pic>
            <p:nvPicPr>
              <p:cNvPr id="2" name="圖片 1">
                <a:extLst>
                  <a:ext uri="{FF2B5EF4-FFF2-40B4-BE49-F238E27FC236}">
                    <a16:creationId xmlns:a16="http://schemas.microsoft.com/office/drawing/2014/main" id="{4C6203E5-8C13-435A-AC41-1FD71E4F2991}"/>
                  </a:ext>
                </a:extLst>
              </p:cNvPr>
              <p:cNvPicPr>
                <a:picLocks noChangeAspect="1"/>
              </p:cNvPicPr>
              <p:nvPr/>
            </p:nvPicPr>
            <p:blipFill>
              <a:blip r:embed="rId4"/>
              <a:stretch>
                <a:fillRect/>
              </a:stretch>
            </p:blipFill>
            <p:spPr>
              <a:xfrm>
                <a:off x="3329488" y="2238156"/>
                <a:ext cx="2485020" cy="964173"/>
              </a:xfrm>
              <a:prstGeom prst="rect">
                <a:avLst/>
              </a:prstGeom>
            </p:spPr>
          </p:pic>
        </p:grpSp>
        <p:sp>
          <p:nvSpPr>
            <p:cNvPr id="32" name="文字方塊 31">
              <a:extLst>
                <a:ext uri="{FF2B5EF4-FFF2-40B4-BE49-F238E27FC236}">
                  <a16:creationId xmlns:a16="http://schemas.microsoft.com/office/drawing/2014/main" id="{37246B80-6608-4158-9C27-EB87E4733CAB}"/>
                </a:ext>
              </a:extLst>
            </p:cNvPr>
            <p:cNvSpPr txBox="1"/>
            <p:nvPr/>
          </p:nvSpPr>
          <p:spPr>
            <a:xfrm>
              <a:off x="3969108" y="3204071"/>
              <a:ext cx="1205779" cy="215444"/>
            </a:xfrm>
            <a:prstGeom prst="rect">
              <a:avLst/>
            </a:prstGeom>
            <a:noFill/>
          </p:spPr>
          <p:txBody>
            <a:bodyPr wrap="none" rtlCol="0">
              <a:spAutoFit/>
            </a:bodyPr>
            <a:lstStyle/>
            <a:p>
              <a:r>
                <a:rPr lang="en-US" altLang="zh-TW" sz="800" dirty="0">
                  <a:solidFill>
                    <a:schemeClr val="tx1"/>
                  </a:solidFill>
                  <a:latin typeface="Montserrat" panose="02020500000000000000" charset="0"/>
                </a:rPr>
                <a:t>(</a:t>
              </a:r>
              <a:r>
                <a:rPr lang="en-US" altLang="zh-TW" sz="800" dirty="0" err="1">
                  <a:solidFill>
                    <a:schemeClr val="tx1"/>
                  </a:solidFill>
                  <a:latin typeface="Montserrat" panose="02020500000000000000" charset="0"/>
                </a:rPr>
                <a:t>Nosaka</a:t>
              </a:r>
              <a:r>
                <a:rPr lang="en-US" altLang="zh-TW" sz="800" dirty="0">
                  <a:solidFill>
                    <a:schemeClr val="tx1"/>
                  </a:solidFill>
                  <a:latin typeface="Montserrat" panose="02020500000000000000" charset="0"/>
                </a:rPr>
                <a:t> et al., 2006)</a:t>
              </a:r>
              <a:endParaRPr lang="zh-TW" altLang="en-US" sz="800" dirty="0">
                <a:solidFill>
                  <a:schemeClr val="tx1"/>
                </a:solidFill>
                <a:latin typeface="Montserrat" panose="02020500000000000000" charset="0"/>
              </a:endParaRPr>
            </a:p>
          </p:txBody>
        </p:sp>
      </p:grpSp>
      <p:grpSp>
        <p:nvGrpSpPr>
          <p:cNvPr id="6" name="群組 5">
            <a:extLst>
              <a:ext uri="{FF2B5EF4-FFF2-40B4-BE49-F238E27FC236}">
                <a16:creationId xmlns:a16="http://schemas.microsoft.com/office/drawing/2014/main" id="{3D561C8D-1832-45CA-A932-56C612D899BE}"/>
              </a:ext>
            </a:extLst>
          </p:cNvPr>
          <p:cNvGrpSpPr/>
          <p:nvPr/>
        </p:nvGrpSpPr>
        <p:grpSpPr>
          <a:xfrm>
            <a:off x="5869964" y="1667980"/>
            <a:ext cx="2788913" cy="2411652"/>
            <a:chOff x="5869964" y="1667980"/>
            <a:chExt cx="2788913" cy="2411652"/>
          </a:xfrm>
        </p:grpSpPr>
        <p:sp>
          <p:nvSpPr>
            <p:cNvPr id="12" name="矩形 11">
              <a:extLst>
                <a:ext uri="{FF2B5EF4-FFF2-40B4-BE49-F238E27FC236}">
                  <a16:creationId xmlns:a16="http://schemas.microsoft.com/office/drawing/2014/main" id="{D53362D9-C7D2-4F16-99EC-0E2BE060701F}"/>
                </a:ext>
              </a:extLst>
            </p:cNvPr>
            <p:cNvSpPr/>
            <p:nvPr/>
          </p:nvSpPr>
          <p:spPr>
            <a:xfrm>
              <a:off x="5869964" y="1667980"/>
              <a:ext cx="2788913" cy="2411652"/>
            </a:xfrm>
            <a:prstGeom prst="rect">
              <a:avLst/>
            </a:prstGeom>
            <a:blipFill dpi="0" rotWithShape="1">
              <a:blip r:embed="rId5">
                <a:alphaModFix amt="2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文字方塊 32">
              <a:extLst>
                <a:ext uri="{FF2B5EF4-FFF2-40B4-BE49-F238E27FC236}">
                  <a16:creationId xmlns:a16="http://schemas.microsoft.com/office/drawing/2014/main" id="{76178AA0-E331-4D3B-88B6-6AAB819027C0}"/>
                </a:ext>
              </a:extLst>
            </p:cNvPr>
            <p:cNvSpPr txBox="1"/>
            <p:nvPr/>
          </p:nvSpPr>
          <p:spPr>
            <a:xfrm>
              <a:off x="6821029" y="3204071"/>
              <a:ext cx="886781" cy="215444"/>
            </a:xfrm>
            <a:prstGeom prst="rect">
              <a:avLst/>
            </a:prstGeom>
            <a:noFill/>
          </p:spPr>
          <p:txBody>
            <a:bodyPr wrap="none" rtlCol="0">
              <a:spAutoFit/>
            </a:bodyPr>
            <a:lstStyle/>
            <a:p>
              <a:r>
                <a:rPr lang="en-US" altLang="zh-TW" sz="800" dirty="0">
                  <a:solidFill>
                    <a:schemeClr val="accent4">
                      <a:lumMod val="85000"/>
                    </a:schemeClr>
                  </a:solidFill>
                  <a:latin typeface="Montserrat" panose="02020500000000000000" charset="0"/>
                </a:rPr>
                <a:t>(Li et al., 2018)</a:t>
              </a:r>
              <a:endParaRPr lang="zh-TW" altLang="en-US" sz="800" dirty="0">
                <a:solidFill>
                  <a:schemeClr val="accent4">
                    <a:lumMod val="85000"/>
                  </a:schemeClr>
                </a:solidFill>
                <a:latin typeface="Montserrat" panose="02020500000000000000" charset="0"/>
              </a:endParaRPr>
            </a:p>
          </p:txBody>
        </p:sp>
      </p:grpSp>
    </p:spTree>
    <p:extLst>
      <p:ext uri="{BB962C8B-B14F-4D97-AF65-F5344CB8AC3E}">
        <p14:creationId xmlns:p14="http://schemas.microsoft.com/office/powerpoint/2010/main" val="405484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Previous work</a:t>
            </a:r>
          </a:p>
        </p:txBody>
      </p:sp>
      <p:grpSp>
        <p:nvGrpSpPr>
          <p:cNvPr id="13" name="群組 12">
            <a:extLst>
              <a:ext uri="{FF2B5EF4-FFF2-40B4-BE49-F238E27FC236}">
                <a16:creationId xmlns:a16="http://schemas.microsoft.com/office/drawing/2014/main" id="{BB61850D-008F-4134-8F95-3973E69E7011}"/>
              </a:ext>
            </a:extLst>
          </p:cNvPr>
          <p:cNvGrpSpPr/>
          <p:nvPr/>
        </p:nvGrpSpPr>
        <p:grpSpPr>
          <a:xfrm>
            <a:off x="189900" y="0"/>
            <a:ext cx="8764200" cy="295831"/>
            <a:chOff x="342045" y="-14365"/>
            <a:chExt cx="8764200" cy="295831"/>
          </a:xfrm>
        </p:grpSpPr>
        <p:sp>
          <p:nvSpPr>
            <p:cNvPr id="8" name="矩形 7">
              <a:extLst>
                <a:ext uri="{FF2B5EF4-FFF2-40B4-BE49-F238E27FC236}">
                  <a16:creationId xmlns:a16="http://schemas.microsoft.com/office/drawing/2014/main" id="{04EEDA34-7245-42CD-BDD1-207074226B6A}"/>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27" name="矩形 26">
              <a:extLst>
                <a:ext uri="{FF2B5EF4-FFF2-40B4-BE49-F238E27FC236}">
                  <a16:creationId xmlns:a16="http://schemas.microsoft.com/office/drawing/2014/main" id="{99418AE1-55F2-4D3C-BA17-BD9DEF4705AD}"/>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8" name="矩形 27">
              <a:extLst>
                <a:ext uri="{FF2B5EF4-FFF2-40B4-BE49-F238E27FC236}">
                  <a16:creationId xmlns:a16="http://schemas.microsoft.com/office/drawing/2014/main" id="{958F552C-352A-4E07-B12D-8B1CB8325D72}"/>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9" name="矩形 28">
              <a:extLst>
                <a:ext uri="{FF2B5EF4-FFF2-40B4-BE49-F238E27FC236}">
                  <a16:creationId xmlns:a16="http://schemas.microsoft.com/office/drawing/2014/main" id="{DEC459C4-4656-45EC-BB91-307557F2613C}"/>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30" name="矩形 29">
              <a:extLst>
                <a:ext uri="{FF2B5EF4-FFF2-40B4-BE49-F238E27FC236}">
                  <a16:creationId xmlns:a16="http://schemas.microsoft.com/office/drawing/2014/main" id="{A7AD76FF-1734-442D-8282-893688A2ACAE}"/>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31" name="矩形 30">
              <a:extLst>
                <a:ext uri="{FF2B5EF4-FFF2-40B4-BE49-F238E27FC236}">
                  <a16:creationId xmlns:a16="http://schemas.microsoft.com/office/drawing/2014/main" id="{EC13FE0D-04F4-4FE2-9D4D-CC1ABDCDEC29}"/>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0" name="文字方塊 9">
            <a:extLst>
              <a:ext uri="{FF2B5EF4-FFF2-40B4-BE49-F238E27FC236}">
                <a16:creationId xmlns:a16="http://schemas.microsoft.com/office/drawing/2014/main" id="{F2E7DFB0-36E7-469E-870D-EE5CFB06ED11}"/>
              </a:ext>
            </a:extLst>
          </p:cNvPr>
          <p:cNvSpPr txBox="1"/>
          <p:nvPr/>
        </p:nvSpPr>
        <p:spPr>
          <a:xfrm>
            <a:off x="8585770" y="4631694"/>
            <a:ext cx="268022" cy="261610"/>
          </a:xfrm>
          <a:prstGeom prst="rect">
            <a:avLst/>
          </a:prstGeom>
          <a:noFill/>
        </p:spPr>
        <p:txBody>
          <a:bodyPr wrap="none" rtlCol="0">
            <a:spAutoFit/>
          </a:bodyPr>
          <a:lstStyle/>
          <a:p>
            <a:r>
              <a:rPr lang="en-US" altLang="zh-TW" sz="1100" dirty="0">
                <a:latin typeface="Montserrat" panose="02020500000000000000" charset="0"/>
              </a:rPr>
              <a:t>7</a:t>
            </a:r>
            <a:endParaRPr lang="zh-TW" altLang="en-US" sz="1100" dirty="0">
              <a:latin typeface="Montserrat" panose="02020500000000000000" charset="0"/>
            </a:endParaRPr>
          </a:p>
        </p:txBody>
      </p:sp>
      <p:grpSp>
        <p:nvGrpSpPr>
          <p:cNvPr id="7" name="群組 6">
            <a:extLst>
              <a:ext uri="{FF2B5EF4-FFF2-40B4-BE49-F238E27FC236}">
                <a16:creationId xmlns:a16="http://schemas.microsoft.com/office/drawing/2014/main" id="{45A92293-3AB9-4A92-9746-192D73751BA3}"/>
              </a:ext>
            </a:extLst>
          </p:cNvPr>
          <p:cNvGrpSpPr/>
          <p:nvPr/>
        </p:nvGrpSpPr>
        <p:grpSpPr>
          <a:xfrm>
            <a:off x="581005" y="1678883"/>
            <a:ext cx="7981989" cy="2081340"/>
            <a:chOff x="580131" y="1655437"/>
            <a:chExt cx="7981989" cy="2081340"/>
          </a:xfrm>
        </p:grpSpPr>
        <p:grpSp>
          <p:nvGrpSpPr>
            <p:cNvPr id="6" name="群組 5">
              <a:extLst>
                <a:ext uri="{FF2B5EF4-FFF2-40B4-BE49-F238E27FC236}">
                  <a16:creationId xmlns:a16="http://schemas.microsoft.com/office/drawing/2014/main" id="{3995E7F4-6421-4974-9CD5-8C5580A1D7EA}"/>
                </a:ext>
              </a:extLst>
            </p:cNvPr>
            <p:cNvGrpSpPr/>
            <p:nvPr/>
          </p:nvGrpSpPr>
          <p:grpSpPr>
            <a:xfrm>
              <a:off x="6050447" y="1655437"/>
              <a:ext cx="2511673" cy="2081340"/>
              <a:chOff x="6050447" y="1655437"/>
              <a:chExt cx="2511673" cy="2081340"/>
            </a:xfrm>
          </p:grpSpPr>
          <p:sp>
            <p:nvSpPr>
              <p:cNvPr id="43" name="矩形: 圓角 42">
                <a:extLst>
                  <a:ext uri="{FF2B5EF4-FFF2-40B4-BE49-F238E27FC236}">
                    <a16:creationId xmlns:a16="http://schemas.microsoft.com/office/drawing/2014/main" id="{297C8FB1-97B3-4789-BCF2-2AF97182A873}"/>
                  </a:ext>
                </a:extLst>
              </p:cNvPr>
              <p:cNvSpPr/>
              <p:nvPr/>
            </p:nvSpPr>
            <p:spPr>
              <a:xfrm>
                <a:off x="6050447" y="1655437"/>
                <a:ext cx="2511673" cy="1830705"/>
              </a:xfrm>
              <a:prstGeom prst="roundRect">
                <a:avLst>
                  <a:gd name="adj" fmla="val 9297"/>
                </a:avLst>
              </a:prstGeom>
              <a:solidFill>
                <a:schemeClr val="accent6">
                  <a:lumMod val="9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D3D209C0-BBFB-40C8-BD54-B168B759B6AE}"/>
                  </a:ext>
                </a:extLst>
              </p:cNvPr>
              <p:cNvSpPr/>
              <p:nvPr/>
            </p:nvSpPr>
            <p:spPr>
              <a:xfrm>
                <a:off x="6515196" y="1766221"/>
                <a:ext cx="1582170" cy="230832"/>
              </a:xfrm>
              <a:prstGeom prst="rect">
                <a:avLst/>
              </a:prstGeom>
            </p:spPr>
            <p:txBody>
              <a:bodyPr wrap="square">
                <a:spAutoFit/>
              </a:bodyPr>
              <a:lstStyle/>
              <a:p>
                <a:r>
                  <a:rPr lang="en-US" altLang="zh-TW" sz="900" b="1" dirty="0">
                    <a:latin typeface="Montserrat" panose="02020500000000000000" charset="0"/>
                    <a:cs typeface="Times New Roman" panose="02020603050405020304" pitchFamily="18" charset="0"/>
                  </a:rPr>
                  <a:t>SPDC in cascade PPLN</a:t>
                </a:r>
              </a:p>
            </p:txBody>
          </p:sp>
          <p:pic>
            <p:nvPicPr>
              <p:cNvPr id="35" name="圖片 34">
                <a:extLst>
                  <a:ext uri="{FF2B5EF4-FFF2-40B4-BE49-F238E27FC236}">
                    <a16:creationId xmlns:a16="http://schemas.microsoft.com/office/drawing/2014/main" id="{B832A7CE-FE39-41F7-B841-BC930945366C}"/>
                  </a:ext>
                </a:extLst>
              </p:cNvPr>
              <p:cNvPicPr>
                <a:picLocks noChangeAspect="1"/>
              </p:cNvPicPr>
              <p:nvPr/>
            </p:nvPicPr>
            <p:blipFill rotWithShape="1">
              <a:blip r:embed="rId3"/>
              <a:srcRect l="2080" t="16240" b="3605"/>
              <a:stretch/>
            </p:blipFill>
            <p:spPr>
              <a:xfrm>
                <a:off x="6170006" y="2255643"/>
                <a:ext cx="2272553" cy="794940"/>
              </a:xfrm>
              <a:prstGeom prst="rect">
                <a:avLst/>
              </a:prstGeom>
            </p:spPr>
          </p:pic>
          <p:sp>
            <p:nvSpPr>
              <p:cNvPr id="37" name="矩形 36">
                <a:extLst>
                  <a:ext uri="{FF2B5EF4-FFF2-40B4-BE49-F238E27FC236}">
                    <a16:creationId xmlns:a16="http://schemas.microsoft.com/office/drawing/2014/main" id="{2E71418C-4CA9-49AA-9494-AA144A68820C}"/>
                  </a:ext>
                </a:extLst>
              </p:cNvPr>
              <p:cNvSpPr/>
              <p:nvPr/>
            </p:nvSpPr>
            <p:spPr>
              <a:xfrm>
                <a:off x="6772320" y="3521333"/>
                <a:ext cx="1067921" cy="215444"/>
              </a:xfrm>
              <a:prstGeom prst="rect">
                <a:avLst/>
              </a:prstGeom>
            </p:spPr>
            <p:txBody>
              <a:bodyPr wrap="none">
                <a:spAutoFit/>
              </a:bodyPr>
              <a:lstStyle/>
              <a:p>
                <a:pPr algn="ctr"/>
                <a:r>
                  <a:rPr lang="en-US" altLang="zh-TW" sz="800" dirty="0">
                    <a:solidFill>
                      <a:schemeClr val="tx1"/>
                    </a:solidFill>
                    <a:latin typeface="Montserrat" panose="02020500000000000000" charset="0"/>
                    <a:cs typeface="Times New Roman" panose="02020603050405020304" pitchFamily="18" charset="0"/>
                  </a:rPr>
                  <a:t>(Ueno et al., 2012)</a:t>
                </a:r>
                <a:endParaRPr lang="zh-TW" altLang="en-US" sz="800" dirty="0">
                  <a:solidFill>
                    <a:schemeClr val="tx1"/>
                  </a:solidFill>
                  <a:latin typeface="Montserrat" panose="02020500000000000000" charset="0"/>
                  <a:cs typeface="Times New Roman" panose="02020603050405020304" pitchFamily="18" charset="0"/>
                </a:endParaRPr>
              </a:p>
            </p:txBody>
          </p:sp>
        </p:grpSp>
        <p:grpSp>
          <p:nvGrpSpPr>
            <p:cNvPr id="3" name="群組 2">
              <a:extLst>
                <a:ext uri="{FF2B5EF4-FFF2-40B4-BE49-F238E27FC236}">
                  <a16:creationId xmlns:a16="http://schemas.microsoft.com/office/drawing/2014/main" id="{1C73B6D3-C249-41FF-8847-128606EA4CE0}"/>
                </a:ext>
              </a:extLst>
            </p:cNvPr>
            <p:cNvGrpSpPr/>
            <p:nvPr/>
          </p:nvGrpSpPr>
          <p:grpSpPr>
            <a:xfrm>
              <a:off x="3315289" y="1655439"/>
              <a:ext cx="2511673" cy="2070659"/>
              <a:chOff x="3315289" y="1655439"/>
              <a:chExt cx="2511673" cy="2070659"/>
            </a:xfrm>
          </p:grpSpPr>
          <p:sp>
            <p:nvSpPr>
              <p:cNvPr id="42" name="矩形: 圓角 41">
                <a:extLst>
                  <a:ext uri="{FF2B5EF4-FFF2-40B4-BE49-F238E27FC236}">
                    <a16:creationId xmlns:a16="http://schemas.microsoft.com/office/drawing/2014/main" id="{5CB21B92-D127-45F2-8B22-676D881E02F7}"/>
                  </a:ext>
                </a:extLst>
              </p:cNvPr>
              <p:cNvSpPr/>
              <p:nvPr/>
            </p:nvSpPr>
            <p:spPr>
              <a:xfrm>
                <a:off x="3315289" y="1655439"/>
                <a:ext cx="2511673" cy="1830705"/>
              </a:xfrm>
              <a:prstGeom prst="roundRect">
                <a:avLst>
                  <a:gd name="adj" fmla="val 9297"/>
                </a:avLst>
              </a:prstGeom>
              <a:solidFill>
                <a:schemeClr val="accent6">
                  <a:lumMod val="9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5E6A6E8E-55BB-4430-A2D8-027579FA2B87}"/>
                  </a:ext>
                </a:extLst>
              </p:cNvPr>
              <p:cNvSpPr/>
              <p:nvPr/>
            </p:nvSpPr>
            <p:spPr>
              <a:xfrm>
                <a:off x="3705343" y="1760936"/>
                <a:ext cx="1731564" cy="230832"/>
              </a:xfrm>
              <a:prstGeom prst="rect">
                <a:avLst/>
              </a:prstGeom>
            </p:spPr>
            <p:txBody>
              <a:bodyPr wrap="none">
                <a:spAutoFit/>
              </a:bodyPr>
              <a:lstStyle/>
              <a:p>
                <a:r>
                  <a:rPr lang="en-US" altLang="zh-TW" sz="900" b="1" dirty="0">
                    <a:latin typeface="Montserrat" panose="02020500000000000000" charset="0"/>
                    <a:cs typeface="Times New Roman" panose="02020603050405020304" pitchFamily="18" charset="0"/>
                  </a:rPr>
                  <a:t>SPDC in PPLN waveguide</a:t>
                </a:r>
              </a:p>
            </p:txBody>
          </p:sp>
          <p:pic>
            <p:nvPicPr>
              <p:cNvPr id="38" name="圖片 37">
                <a:extLst>
                  <a:ext uri="{FF2B5EF4-FFF2-40B4-BE49-F238E27FC236}">
                    <a16:creationId xmlns:a16="http://schemas.microsoft.com/office/drawing/2014/main" id="{4F632231-AF88-4A03-AE55-28B3815C2584}"/>
                  </a:ext>
                </a:extLst>
              </p:cNvPr>
              <p:cNvPicPr>
                <a:picLocks noChangeAspect="1"/>
              </p:cNvPicPr>
              <p:nvPr/>
            </p:nvPicPr>
            <p:blipFill rotWithShape="1">
              <a:blip r:embed="rId4"/>
              <a:srcRect t="14664"/>
              <a:stretch/>
            </p:blipFill>
            <p:spPr>
              <a:xfrm>
                <a:off x="3656962" y="2124000"/>
                <a:ext cx="1868342" cy="1177586"/>
              </a:xfrm>
              <a:prstGeom prst="rect">
                <a:avLst/>
              </a:prstGeom>
            </p:spPr>
          </p:pic>
          <p:sp>
            <p:nvSpPr>
              <p:cNvPr id="39" name="矩形 38">
                <a:extLst>
                  <a:ext uri="{FF2B5EF4-FFF2-40B4-BE49-F238E27FC236}">
                    <a16:creationId xmlns:a16="http://schemas.microsoft.com/office/drawing/2014/main" id="{FCF37505-26C1-48C6-BBEE-7FFC655AC867}"/>
                  </a:ext>
                </a:extLst>
              </p:cNvPr>
              <p:cNvSpPr/>
              <p:nvPr/>
            </p:nvSpPr>
            <p:spPr>
              <a:xfrm>
                <a:off x="4001898" y="3510654"/>
                <a:ext cx="1138453" cy="215444"/>
              </a:xfrm>
              <a:prstGeom prst="rect">
                <a:avLst/>
              </a:prstGeom>
            </p:spPr>
            <p:txBody>
              <a:bodyPr wrap="none">
                <a:spAutoFit/>
              </a:bodyPr>
              <a:lstStyle/>
              <a:p>
                <a:pPr algn="ctr"/>
                <a:r>
                  <a:rPr lang="en-US" altLang="zh-TW" sz="800" dirty="0">
                    <a:solidFill>
                      <a:schemeClr val="tx1"/>
                    </a:solidFill>
                    <a:latin typeface="Montserrat" panose="02020500000000000000" charset="0"/>
                    <a:cs typeface="Times New Roman" panose="02020603050405020304" pitchFamily="18" charset="0"/>
                  </a:rPr>
                  <a:t>(Martin et al., 2010)</a:t>
                </a:r>
                <a:endParaRPr lang="zh-TW" altLang="en-US" sz="800" dirty="0">
                  <a:solidFill>
                    <a:schemeClr val="tx1"/>
                  </a:solidFill>
                  <a:latin typeface="Montserrat" panose="02020500000000000000" charset="0"/>
                  <a:cs typeface="Times New Roman" panose="02020603050405020304" pitchFamily="18" charset="0"/>
                </a:endParaRPr>
              </a:p>
            </p:txBody>
          </p:sp>
        </p:grpSp>
        <p:grpSp>
          <p:nvGrpSpPr>
            <p:cNvPr id="4" name="群組 3">
              <a:extLst>
                <a:ext uri="{FF2B5EF4-FFF2-40B4-BE49-F238E27FC236}">
                  <a16:creationId xmlns:a16="http://schemas.microsoft.com/office/drawing/2014/main" id="{12E2FF87-E0B2-4811-BA02-08B8D989FFB3}"/>
                </a:ext>
              </a:extLst>
            </p:cNvPr>
            <p:cNvGrpSpPr/>
            <p:nvPr/>
          </p:nvGrpSpPr>
          <p:grpSpPr>
            <a:xfrm>
              <a:off x="580131" y="1655438"/>
              <a:ext cx="2511673" cy="2081339"/>
              <a:chOff x="580131" y="1655438"/>
              <a:chExt cx="2511673" cy="2081339"/>
            </a:xfrm>
          </p:grpSpPr>
          <p:sp>
            <p:nvSpPr>
              <p:cNvPr id="49" name="矩形: 圓角 48">
                <a:extLst>
                  <a:ext uri="{FF2B5EF4-FFF2-40B4-BE49-F238E27FC236}">
                    <a16:creationId xmlns:a16="http://schemas.microsoft.com/office/drawing/2014/main" id="{BEA29F01-EA65-4C72-BB78-D9472AB51F86}"/>
                  </a:ext>
                </a:extLst>
              </p:cNvPr>
              <p:cNvSpPr/>
              <p:nvPr/>
            </p:nvSpPr>
            <p:spPr>
              <a:xfrm>
                <a:off x="580131" y="1655438"/>
                <a:ext cx="2511673" cy="1830705"/>
              </a:xfrm>
              <a:prstGeom prst="roundRect">
                <a:avLst>
                  <a:gd name="adj" fmla="val 9297"/>
                </a:avLst>
              </a:prstGeom>
              <a:solidFill>
                <a:schemeClr val="accent6">
                  <a:lumMod val="9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A9771247-2E84-47FD-AC2B-CA6607C27E96}"/>
                  </a:ext>
                </a:extLst>
              </p:cNvPr>
              <p:cNvSpPr/>
              <p:nvPr/>
            </p:nvSpPr>
            <p:spPr>
              <a:xfrm>
                <a:off x="1128080" y="1766221"/>
                <a:ext cx="1415772" cy="230832"/>
              </a:xfrm>
              <a:prstGeom prst="rect">
                <a:avLst/>
              </a:prstGeom>
            </p:spPr>
            <p:txBody>
              <a:bodyPr wrap="none">
                <a:spAutoFit/>
              </a:bodyPr>
              <a:lstStyle/>
              <a:p>
                <a:r>
                  <a:rPr lang="en-US" altLang="zh-TW" sz="900" b="1" dirty="0">
                    <a:latin typeface="Montserrat" panose="02020500000000000000" charset="0"/>
                    <a:cs typeface="Times New Roman" panose="02020603050405020304" pitchFamily="18" charset="0"/>
                  </a:rPr>
                  <a:t>SPDC in bulk PPKTP</a:t>
                </a:r>
                <a:endParaRPr lang="zh-TW" altLang="en-US" sz="900" b="1" dirty="0">
                  <a:latin typeface="Montserrat" panose="02020500000000000000" charset="0"/>
                  <a:cs typeface="Times New Roman" panose="02020603050405020304" pitchFamily="18" charset="0"/>
                </a:endParaRPr>
              </a:p>
            </p:txBody>
          </p:sp>
          <p:pic>
            <p:nvPicPr>
              <p:cNvPr id="46" name="圖片 45">
                <a:extLst>
                  <a:ext uri="{FF2B5EF4-FFF2-40B4-BE49-F238E27FC236}">
                    <a16:creationId xmlns:a16="http://schemas.microsoft.com/office/drawing/2014/main" id="{6E702CEB-331F-4EAD-9702-7514BA1DEA2D}"/>
                  </a:ext>
                </a:extLst>
              </p:cNvPr>
              <p:cNvPicPr>
                <a:picLocks noChangeAspect="1"/>
              </p:cNvPicPr>
              <p:nvPr/>
            </p:nvPicPr>
            <p:blipFill rotWithShape="1">
              <a:blip r:embed="rId5"/>
              <a:srcRect t="3040"/>
              <a:stretch/>
            </p:blipFill>
            <p:spPr>
              <a:xfrm>
                <a:off x="923906" y="2107836"/>
                <a:ext cx="1924688" cy="1201030"/>
              </a:xfrm>
              <a:prstGeom prst="rect">
                <a:avLst/>
              </a:prstGeom>
            </p:spPr>
          </p:pic>
          <p:sp>
            <p:nvSpPr>
              <p:cNvPr id="54" name="矩形 53">
                <a:extLst>
                  <a:ext uri="{FF2B5EF4-FFF2-40B4-BE49-F238E27FC236}">
                    <a16:creationId xmlns:a16="http://schemas.microsoft.com/office/drawing/2014/main" id="{ADFD075C-6AAC-4331-BAEA-0CEF17639CA5}"/>
                  </a:ext>
                </a:extLst>
              </p:cNvPr>
              <p:cNvSpPr/>
              <p:nvPr/>
            </p:nvSpPr>
            <p:spPr>
              <a:xfrm>
                <a:off x="1233076" y="3521333"/>
                <a:ext cx="1205779" cy="215444"/>
              </a:xfrm>
              <a:prstGeom prst="rect">
                <a:avLst/>
              </a:prstGeom>
            </p:spPr>
            <p:txBody>
              <a:bodyPr wrap="none">
                <a:spAutoFit/>
              </a:bodyPr>
              <a:lstStyle/>
              <a:p>
                <a:pPr algn="ctr"/>
                <a:r>
                  <a:rPr lang="en-US" altLang="zh-TW" sz="800" dirty="0">
                    <a:solidFill>
                      <a:schemeClr val="tx1"/>
                    </a:solidFill>
                    <a:latin typeface="Montserrat" panose="02020500000000000000" charset="0"/>
                    <a:cs typeface="Times New Roman" panose="02020603050405020304" pitchFamily="18" charset="0"/>
                  </a:rPr>
                  <a:t>(Shi &amp; Tomita, 2004)</a:t>
                </a:r>
                <a:endParaRPr lang="zh-TW" altLang="en-US" sz="800" dirty="0">
                  <a:solidFill>
                    <a:schemeClr val="tx1"/>
                  </a:solidFill>
                  <a:latin typeface="Montserrat" panose="02020500000000000000" charset="0"/>
                  <a:cs typeface="Times New Roman" panose="02020603050405020304" pitchFamily="18" charset="0"/>
                </a:endParaRPr>
              </a:p>
            </p:txBody>
          </p:sp>
        </p:grpSp>
      </p:grpSp>
    </p:spTree>
    <p:extLst>
      <p:ext uri="{BB962C8B-B14F-4D97-AF65-F5344CB8AC3E}">
        <p14:creationId xmlns:p14="http://schemas.microsoft.com/office/powerpoint/2010/main" val="3874487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67B51430-1973-4891-8613-7B51C7248CBC}"/>
              </a:ext>
            </a:extLst>
          </p:cNvPr>
          <p:cNvGrpSpPr/>
          <p:nvPr/>
        </p:nvGrpSpPr>
        <p:grpSpPr>
          <a:xfrm>
            <a:off x="189900" y="0"/>
            <a:ext cx="8764200" cy="295831"/>
            <a:chOff x="342045" y="-14365"/>
            <a:chExt cx="8764200" cy="295831"/>
          </a:xfrm>
        </p:grpSpPr>
        <p:sp>
          <p:nvSpPr>
            <p:cNvPr id="5" name="矩形 4">
              <a:extLst>
                <a:ext uri="{FF2B5EF4-FFF2-40B4-BE49-F238E27FC236}">
                  <a16:creationId xmlns:a16="http://schemas.microsoft.com/office/drawing/2014/main" id="{9626F9C5-9E45-4461-B996-5685AC12E276}"/>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2CF25B84-E774-42CC-B32A-795FEC13F8B2}"/>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63C0F41A-B087-4F93-B47D-4D0F16E8FD3D}"/>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203C5335-B951-45B9-A491-C30BB79C5D61}"/>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28038132-C639-4426-9DD4-092FD921FB2F}"/>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8E50D808-DFE4-4014-B393-5D0BE29FA078}"/>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1" name="Google Shape;212;p36">
            <a:extLst>
              <a:ext uri="{FF2B5EF4-FFF2-40B4-BE49-F238E27FC236}">
                <a16:creationId xmlns:a16="http://schemas.microsoft.com/office/drawing/2014/main" id="{88EB8EA0-E0DB-4A36-958F-9649FBE4F753}"/>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grpSp>
        <p:nvGrpSpPr>
          <p:cNvPr id="47" name="群組 46">
            <a:extLst>
              <a:ext uri="{FF2B5EF4-FFF2-40B4-BE49-F238E27FC236}">
                <a16:creationId xmlns:a16="http://schemas.microsoft.com/office/drawing/2014/main" id="{976A80CC-3DB2-44A4-AA37-248AD45C2D2B}"/>
              </a:ext>
            </a:extLst>
          </p:cNvPr>
          <p:cNvGrpSpPr/>
          <p:nvPr/>
        </p:nvGrpSpPr>
        <p:grpSpPr>
          <a:xfrm>
            <a:off x="1142863" y="1315534"/>
            <a:ext cx="6985277" cy="919818"/>
            <a:chOff x="1142863" y="1315534"/>
            <a:chExt cx="6985277" cy="919818"/>
          </a:xfrm>
        </p:grpSpPr>
        <p:grpSp>
          <p:nvGrpSpPr>
            <p:cNvPr id="44" name="群組 43">
              <a:extLst>
                <a:ext uri="{FF2B5EF4-FFF2-40B4-BE49-F238E27FC236}">
                  <a16:creationId xmlns:a16="http://schemas.microsoft.com/office/drawing/2014/main" id="{836B69BD-69F7-4F4F-B580-E32165927425}"/>
                </a:ext>
              </a:extLst>
            </p:cNvPr>
            <p:cNvGrpSpPr/>
            <p:nvPr/>
          </p:nvGrpSpPr>
          <p:grpSpPr>
            <a:xfrm>
              <a:off x="1142863" y="1315534"/>
              <a:ext cx="2890539" cy="919817"/>
              <a:chOff x="1142863" y="1315534"/>
              <a:chExt cx="2890539" cy="919817"/>
            </a:xfrm>
          </p:grpSpPr>
          <p:grpSp>
            <p:nvGrpSpPr>
              <p:cNvPr id="25" name="群組 24">
                <a:extLst>
                  <a:ext uri="{FF2B5EF4-FFF2-40B4-BE49-F238E27FC236}">
                    <a16:creationId xmlns:a16="http://schemas.microsoft.com/office/drawing/2014/main" id="{465FDB52-BCED-4FB7-8DE1-26C7CB5D3EA2}"/>
                  </a:ext>
                </a:extLst>
              </p:cNvPr>
              <p:cNvGrpSpPr/>
              <p:nvPr/>
            </p:nvGrpSpPr>
            <p:grpSpPr>
              <a:xfrm>
                <a:off x="1142863" y="1858833"/>
                <a:ext cx="2890539" cy="376518"/>
                <a:chOff x="1518930" y="1482315"/>
                <a:chExt cx="2890539" cy="376518"/>
              </a:xfrm>
            </p:grpSpPr>
            <p:sp>
              <p:nvSpPr>
                <p:cNvPr id="12" name="矩形 11">
                  <a:extLst>
                    <a:ext uri="{FF2B5EF4-FFF2-40B4-BE49-F238E27FC236}">
                      <a16:creationId xmlns:a16="http://schemas.microsoft.com/office/drawing/2014/main" id="{66B24657-EAFD-4514-A7CA-899EF6CF81C8}"/>
                    </a:ext>
                  </a:extLst>
                </p:cNvPr>
                <p:cNvSpPr/>
                <p:nvPr/>
              </p:nvSpPr>
              <p:spPr>
                <a:xfrm>
                  <a:off x="1518930" y="1482315"/>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id="{5C1A0993-DE08-4A5C-BD4B-8D005F64D287}"/>
                    </a:ext>
                  </a:extLst>
                </p:cNvPr>
                <p:cNvSpPr/>
                <p:nvPr/>
              </p:nvSpPr>
              <p:spPr>
                <a:xfrm>
                  <a:off x="1873688" y="1482315"/>
                  <a:ext cx="367320" cy="37651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矩形 13">
                  <a:extLst>
                    <a:ext uri="{FF2B5EF4-FFF2-40B4-BE49-F238E27FC236}">
                      <a16:creationId xmlns:a16="http://schemas.microsoft.com/office/drawing/2014/main" id="{C532E179-3D89-4742-A184-5309115767F2}"/>
                    </a:ext>
                  </a:extLst>
                </p:cNvPr>
                <p:cNvSpPr/>
                <p:nvPr/>
              </p:nvSpPr>
              <p:spPr>
                <a:xfrm>
                  <a:off x="2241008" y="1482315"/>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id="{512A0FF4-7282-44E5-86C4-D980AE965239}"/>
                    </a:ext>
                  </a:extLst>
                </p:cNvPr>
                <p:cNvSpPr/>
                <p:nvPr/>
              </p:nvSpPr>
              <p:spPr>
                <a:xfrm>
                  <a:off x="2608328" y="1482315"/>
                  <a:ext cx="367320" cy="37651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矩形 15">
                  <a:extLst>
                    <a:ext uri="{FF2B5EF4-FFF2-40B4-BE49-F238E27FC236}">
                      <a16:creationId xmlns:a16="http://schemas.microsoft.com/office/drawing/2014/main" id="{9F548A99-DC35-4D7A-836D-D9EF094F09D0}"/>
                    </a:ext>
                  </a:extLst>
                </p:cNvPr>
                <p:cNvSpPr/>
                <p:nvPr/>
              </p:nvSpPr>
              <p:spPr>
                <a:xfrm>
                  <a:off x="2963034" y="1482315"/>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矩形 16">
                  <a:extLst>
                    <a:ext uri="{FF2B5EF4-FFF2-40B4-BE49-F238E27FC236}">
                      <a16:creationId xmlns:a16="http://schemas.microsoft.com/office/drawing/2014/main" id="{27A0F763-351C-40CB-B2F1-7B879D662B8B}"/>
                    </a:ext>
                  </a:extLst>
                </p:cNvPr>
                <p:cNvSpPr/>
                <p:nvPr/>
              </p:nvSpPr>
              <p:spPr>
                <a:xfrm>
                  <a:off x="3317740" y="1482315"/>
                  <a:ext cx="367320" cy="37651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矩形 17">
                  <a:extLst>
                    <a:ext uri="{FF2B5EF4-FFF2-40B4-BE49-F238E27FC236}">
                      <a16:creationId xmlns:a16="http://schemas.microsoft.com/office/drawing/2014/main" id="{45CB5DF9-11E4-466B-B4BF-5B702D6B32A2}"/>
                    </a:ext>
                  </a:extLst>
                </p:cNvPr>
                <p:cNvSpPr/>
                <p:nvPr/>
              </p:nvSpPr>
              <p:spPr>
                <a:xfrm>
                  <a:off x="3672446" y="1482315"/>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矩形 23">
                  <a:extLst>
                    <a:ext uri="{FF2B5EF4-FFF2-40B4-BE49-F238E27FC236}">
                      <a16:creationId xmlns:a16="http://schemas.microsoft.com/office/drawing/2014/main" id="{DB3902FC-557F-428D-93E8-48825DFEAE18}"/>
                    </a:ext>
                  </a:extLst>
                </p:cNvPr>
                <p:cNvSpPr/>
                <p:nvPr/>
              </p:nvSpPr>
              <p:spPr>
                <a:xfrm>
                  <a:off x="4042149" y="1482315"/>
                  <a:ext cx="367320" cy="37651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27" name="矩形 26">
                <a:extLst>
                  <a:ext uri="{FF2B5EF4-FFF2-40B4-BE49-F238E27FC236}">
                    <a16:creationId xmlns:a16="http://schemas.microsoft.com/office/drawing/2014/main" id="{B12AB0AC-3A22-4AEB-8275-862F372E41CE}"/>
                  </a:ext>
                </a:extLst>
              </p:cNvPr>
              <p:cNvSpPr/>
              <p:nvPr/>
            </p:nvSpPr>
            <p:spPr>
              <a:xfrm>
                <a:off x="2030354" y="1315534"/>
                <a:ext cx="1138453" cy="246221"/>
              </a:xfrm>
              <a:prstGeom prst="rect">
                <a:avLst/>
              </a:prstGeom>
            </p:spPr>
            <p:txBody>
              <a:bodyPr wrap="none">
                <a:spAutoFit/>
              </a:bodyPr>
              <a:lstStyle/>
              <a:p>
                <a:r>
                  <a:rPr lang="en-US" altLang="zh-TW" sz="1000" b="1" dirty="0">
                    <a:latin typeface="Montserrat" panose="02020500000000000000" charset="0"/>
                    <a:cs typeface="Times New Roman" panose="02020603050405020304" pitchFamily="18" charset="0"/>
                  </a:rPr>
                  <a:t>PPLN of SPDC</a:t>
                </a:r>
                <a:endParaRPr lang="zh-TW" altLang="en-US" sz="1000" b="1" dirty="0">
                  <a:latin typeface="Montserrat" panose="02020500000000000000" charset="0"/>
                  <a:cs typeface="Times New Roman" panose="02020603050405020304" pitchFamily="18" charset="0"/>
                </a:endParaRPr>
              </a:p>
            </p:txBody>
          </p:sp>
        </p:grpSp>
        <p:grpSp>
          <p:nvGrpSpPr>
            <p:cNvPr id="45" name="群組 44">
              <a:extLst>
                <a:ext uri="{FF2B5EF4-FFF2-40B4-BE49-F238E27FC236}">
                  <a16:creationId xmlns:a16="http://schemas.microsoft.com/office/drawing/2014/main" id="{BA6ED360-8A2F-41E2-94B2-1E39B28488FB}"/>
                </a:ext>
              </a:extLst>
            </p:cNvPr>
            <p:cNvGrpSpPr/>
            <p:nvPr/>
          </p:nvGrpSpPr>
          <p:grpSpPr>
            <a:xfrm>
              <a:off x="5110600" y="1315534"/>
              <a:ext cx="3017540" cy="919817"/>
              <a:chOff x="5110600" y="1315534"/>
              <a:chExt cx="3017540" cy="919817"/>
            </a:xfrm>
          </p:grpSpPr>
          <p:grpSp>
            <p:nvGrpSpPr>
              <p:cNvPr id="26" name="群組 25">
                <a:extLst>
                  <a:ext uri="{FF2B5EF4-FFF2-40B4-BE49-F238E27FC236}">
                    <a16:creationId xmlns:a16="http://schemas.microsoft.com/office/drawing/2014/main" id="{FDED38EC-B2E7-4E81-809C-7D7C38A5FE55}"/>
                  </a:ext>
                </a:extLst>
              </p:cNvPr>
              <p:cNvGrpSpPr/>
              <p:nvPr/>
            </p:nvGrpSpPr>
            <p:grpSpPr>
              <a:xfrm>
                <a:off x="5110600" y="1858833"/>
                <a:ext cx="3017540" cy="376518"/>
                <a:chOff x="4850720" y="1482315"/>
                <a:chExt cx="3017540" cy="376518"/>
              </a:xfrm>
            </p:grpSpPr>
            <p:sp>
              <p:nvSpPr>
                <p:cNvPr id="19" name="矩形 18">
                  <a:extLst>
                    <a:ext uri="{FF2B5EF4-FFF2-40B4-BE49-F238E27FC236}">
                      <a16:creationId xmlns:a16="http://schemas.microsoft.com/office/drawing/2014/main" id="{41ACF788-DB2F-431E-BAF8-B25D24355B67}"/>
                    </a:ext>
                  </a:extLst>
                </p:cNvPr>
                <p:cNvSpPr/>
                <p:nvPr/>
              </p:nvSpPr>
              <p:spPr>
                <a:xfrm>
                  <a:off x="4850720" y="1482315"/>
                  <a:ext cx="6134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矩形 19">
                  <a:extLst>
                    <a:ext uri="{FF2B5EF4-FFF2-40B4-BE49-F238E27FC236}">
                      <a16:creationId xmlns:a16="http://schemas.microsoft.com/office/drawing/2014/main" id="{F27183AA-527F-4319-9BE5-ECC9BEC01F8E}"/>
                    </a:ext>
                  </a:extLst>
                </p:cNvPr>
                <p:cNvSpPr/>
                <p:nvPr/>
              </p:nvSpPr>
              <p:spPr>
                <a:xfrm>
                  <a:off x="5458942" y="1482315"/>
                  <a:ext cx="6134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矩形 20">
                  <a:extLst>
                    <a:ext uri="{FF2B5EF4-FFF2-40B4-BE49-F238E27FC236}">
                      <a16:creationId xmlns:a16="http://schemas.microsoft.com/office/drawing/2014/main" id="{777C2754-E2AF-42CC-B9E4-1634191CD332}"/>
                    </a:ext>
                  </a:extLst>
                </p:cNvPr>
                <p:cNvSpPr/>
                <p:nvPr/>
              </p:nvSpPr>
              <p:spPr>
                <a:xfrm>
                  <a:off x="6067164" y="1482315"/>
                  <a:ext cx="6134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extLst>
                    <a:ext uri="{FF2B5EF4-FFF2-40B4-BE49-F238E27FC236}">
                      <a16:creationId xmlns:a16="http://schemas.microsoft.com/office/drawing/2014/main" id="{0BB06780-0B13-41A1-A480-16C04E144277}"/>
                    </a:ext>
                  </a:extLst>
                </p:cNvPr>
                <p:cNvSpPr/>
                <p:nvPr/>
              </p:nvSpPr>
              <p:spPr>
                <a:xfrm>
                  <a:off x="6670188" y="1482315"/>
                  <a:ext cx="6134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C8600D6C-AD57-4C52-B633-B27E42A46852}"/>
                    </a:ext>
                  </a:extLst>
                </p:cNvPr>
                <p:cNvSpPr/>
                <p:nvPr/>
              </p:nvSpPr>
              <p:spPr>
                <a:xfrm>
                  <a:off x="7254840" y="1482315"/>
                  <a:ext cx="6134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28" name="矩形 27">
                <a:extLst>
                  <a:ext uri="{FF2B5EF4-FFF2-40B4-BE49-F238E27FC236}">
                    <a16:creationId xmlns:a16="http://schemas.microsoft.com/office/drawing/2014/main" id="{E30AB30F-7283-4C25-A865-E928857851D9}"/>
                  </a:ext>
                </a:extLst>
              </p:cNvPr>
              <p:cNvSpPr/>
              <p:nvPr/>
            </p:nvSpPr>
            <p:spPr>
              <a:xfrm>
                <a:off x="5975195" y="1315534"/>
                <a:ext cx="1317990" cy="246221"/>
              </a:xfrm>
              <a:prstGeom prst="rect">
                <a:avLst/>
              </a:prstGeom>
            </p:spPr>
            <p:txBody>
              <a:bodyPr wrap="none">
                <a:spAutoFit/>
              </a:bodyPr>
              <a:lstStyle/>
              <a:p>
                <a:r>
                  <a:rPr lang="en-US" altLang="zh-TW" sz="1000" b="1" dirty="0">
                    <a:latin typeface="Montserrat" panose="02020500000000000000" charset="0"/>
                    <a:cs typeface="Times New Roman" panose="02020603050405020304" pitchFamily="18" charset="0"/>
                  </a:rPr>
                  <a:t>PPLN of EO-PMC</a:t>
                </a:r>
                <a:endParaRPr lang="zh-TW" altLang="en-US" sz="1000" b="1" dirty="0">
                  <a:latin typeface="Montserrat" panose="02020500000000000000" charset="0"/>
                  <a:cs typeface="Times New Roman" panose="02020603050405020304" pitchFamily="18" charset="0"/>
                </a:endParaRPr>
              </a:p>
            </p:txBody>
          </p:sp>
        </p:grpSp>
        <p:sp>
          <p:nvSpPr>
            <p:cNvPr id="46" name="加號 45">
              <a:extLst>
                <a:ext uri="{FF2B5EF4-FFF2-40B4-BE49-F238E27FC236}">
                  <a16:creationId xmlns:a16="http://schemas.microsoft.com/office/drawing/2014/main" id="{51F70B9A-D804-4538-AF38-53507287D922}"/>
                </a:ext>
              </a:extLst>
            </p:cNvPr>
            <p:cNvSpPr/>
            <p:nvPr/>
          </p:nvSpPr>
          <p:spPr>
            <a:xfrm>
              <a:off x="4359705" y="1858833"/>
              <a:ext cx="424589" cy="376519"/>
            </a:xfrm>
            <a:prstGeom prst="mathPlus">
              <a:avLst>
                <a:gd name="adj1" fmla="val 68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9" name="群組 48">
            <a:extLst>
              <a:ext uri="{FF2B5EF4-FFF2-40B4-BE49-F238E27FC236}">
                <a16:creationId xmlns:a16="http://schemas.microsoft.com/office/drawing/2014/main" id="{49F96BBF-0A45-4883-89A3-F6D638342EB4}"/>
              </a:ext>
            </a:extLst>
          </p:cNvPr>
          <p:cNvGrpSpPr/>
          <p:nvPr/>
        </p:nvGrpSpPr>
        <p:grpSpPr>
          <a:xfrm>
            <a:off x="2209178" y="3197687"/>
            <a:ext cx="4562064" cy="925730"/>
            <a:chOff x="2209178" y="3197687"/>
            <a:chExt cx="4562064" cy="925730"/>
          </a:xfrm>
        </p:grpSpPr>
        <p:grpSp>
          <p:nvGrpSpPr>
            <p:cNvPr id="43" name="群組 42">
              <a:extLst>
                <a:ext uri="{FF2B5EF4-FFF2-40B4-BE49-F238E27FC236}">
                  <a16:creationId xmlns:a16="http://schemas.microsoft.com/office/drawing/2014/main" id="{C18AEAC3-F8A3-4DF1-A7BF-53EEA6897F5C}"/>
                </a:ext>
              </a:extLst>
            </p:cNvPr>
            <p:cNvGrpSpPr/>
            <p:nvPr/>
          </p:nvGrpSpPr>
          <p:grpSpPr>
            <a:xfrm>
              <a:off x="2365869" y="3197687"/>
              <a:ext cx="4405373" cy="925730"/>
              <a:chOff x="2365869" y="3197687"/>
              <a:chExt cx="4405373" cy="925730"/>
            </a:xfrm>
          </p:grpSpPr>
          <p:grpSp>
            <p:nvGrpSpPr>
              <p:cNvPr id="41" name="群組 40">
                <a:extLst>
                  <a:ext uri="{FF2B5EF4-FFF2-40B4-BE49-F238E27FC236}">
                    <a16:creationId xmlns:a16="http://schemas.microsoft.com/office/drawing/2014/main" id="{B5259DB3-E492-4167-844F-AA08BFD62706}"/>
                  </a:ext>
                </a:extLst>
              </p:cNvPr>
              <p:cNvGrpSpPr/>
              <p:nvPr/>
            </p:nvGrpSpPr>
            <p:grpSpPr>
              <a:xfrm>
                <a:off x="2998403" y="3746899"/>
                <a:ext cx="3147193" cy="376518"/>
                <a:chOff x="3077701" y="3721499"/>
                <a:chExt cx="3147193" cy="376518"/>
              </a:xfrm>
            </p:grpSpPr>
            <p:sp>
              <p:nvSpPr>
                <p:cNvPr id="29" name="矩形 28">
                  <a:extLst>
                    <a:ext uri="{FF2B5EF4-FFF2-40B4-BE49-F238E27FC236}">
                      <a16:creationId xmlns:a16="http://schemas.microsoft.com/office/drawing/2014/main" id="{179AED15-CB56-4AD9-AC85-D413B4D0EA7A}"/>
                    </a:ext>
                  </a:extLst>
                </p:cNvPr>
                <p:cNvSpPr/>
                <p:nvPr/>
              </p:nvSpPr>
              <p:spPr>
                <a:xfrm>
                  <a:off x="3077701" y="3721499"/>
                  <a:ext cx="156566" cy="376518"/>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矩形 29">
                  <a:extLst>
                    <a:ext uri="{FF2B5EF4-FFF2-40B4-BE49-F238E27FC236}">
                      <a16:creationId xmlns:a16="http://schemas.microsoft.com/office/drawing/2014/main" id="{9F2DDB17-36FE-4260-B09C-FEC2A9310407}"/>
                    </a:ext>
                  </a:extLst>
                </p:cNvPr>
                <p:cNvSpPr/>
                <p:nvPr/>
              </p:nvSpPr>
              <p:spPr>
                <a:xfrm>
                  <a:off x="3230101" y="3721499"/>
                  <a:ext cx="433598"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矩形 30">
                  <a:extLst>
                    <a:ext uri="{FF2B5EF4-FFF2-40B4-BE49-F238E27FC236}">
                      <a16:creationId xmlns:a16="http://schemas.microsoft.com/office/drawing/2014/main" id="{C9A43AAA-FC68-4A84-BEF9-899712E4C00A}"/>
                    </a:ext>
                  </a:extLst>
                </p:cNvPr>
                <p:cNvSpPr/>
                <p:nvPr/>
              </p:nvSpPr>
              <p:spPr>
                <a:xfrm>
                  <a:off x="3663699" y="3721499"/>
                  <a:ext cx="249699" cy="376518"/>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矩形 31">
                  <a:extLst>
                    <a:ext uri="{FF2B5EF4-FFF2-40B4-BE49-F238E27FC236}">
                      <a16:creationId xmlns:a16="http://schemas.microsoft.com/office/drawing/2014/main" id="{F7D723C0-5C76-4E13-B745-7C186DD032E8}"/>
                    </a:ext>
                  </a:extLst>
                </p:cNvPr>
                <p:cNvSpPr/>
                <p:nvPr/>
              </p:nvSpPr>
              <p:spPr>
                <a:xfrm>
                  <a:off x="3908552" y="3721499"/>
                  <a:ext cx="249699"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7C18137C-CDFC-4C87-9EC8-D1E512D2F33B}"/>
                    </a:ext>
                  </a:extLst>
                </p:cNvPr>
                <p:cNvSpPr/>
                <p:nvPr/>
              </p:nvSpPr>
              <p:spPr>
                <a:xfrm>
                  <a:off x="4156777" y="3721499"/>
                  <a:ext cx="156566" cy="376518"/>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矩形 33">
                  <a:extLst>
                    <a:ext uri="{FF2B5EF4-FFF2-40B4-BE49-F238E27FC236}">
                      <a16:creationId xmlns:a16="http://schemas.microsoft.com/office/drawing/2014/main" id="{8B14CEDC-DF15-4469-87CA-BD2612EBA772}"/>
                    </a:ext>
                  </a:extLst>
                </p:cNvPr>
                <p:cNvSpPr/>
                <p:nvPr/>
              </p:nvSpPr>
              <p:spPr>
                <a:xfrm>
                  <a:off x="4465487" y="3721499"/>
                  <a:ext cx="480264" cy="376518"/>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矩形 34">
                  <a:extLst>
                    <a:ext uri="{FF2B5EF4-FFF2-40B4-BE49-F238E27FC236}">
                      <a16:creationId xmlns:a16="http://schemas.microsoft.com/office/drawing/2014/main" id="{6AA34055-FB60-4B25-AC66-E73A3806D65D}"/>
                    </a:ext>
                  </a:extLst>
                </p:cNvPr>
                <p:cNvSpPr/>
                <p:nvPr/>
              </p:nvSpPr>
              <p:spPr>
                <a:xfrm>
                  <a:off x="4942803" y="3721499"/>
                  <a:ext cx="156566"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矩形 35">
                  <a:extLst>
                    <a:ext uri="{FF2B5EF4-FFF2-40B4-BE49-F238E27FC236}">
                      <a16:creationId xmlns:a16="http://schemas.microsoft.com/office/drawing/2014/main" id="{F720659D-FDA8-41D7-92A7-802C288B0725}"/>
                    </a:ext>
                  </a:extLst>
                </p:cNvPr>
                <p:cNvSpPr/>
                <p:nvPr/>
              </p:nvSpPr>
              <p:spPr>
                <a:xfrm>
                  <a:off x="5099369" y="3721499"/>
                  <a:ext cx="480264" cy="376518"/>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矩形 36">
                  <a:extLst>
                    <a:ext uri="{FF2B5EF4-FFF2-40B4-BE49-F238E27FC236}">
                      <a16:creationId xmlns:a16="http://schemas.microsoft.com/office/drawing/2014/main" id="{B1C26A50-C54E-4CFA-BE0A-A9E035B76120}"/>
                    </a:ext>
                  </a:extLst>
                </p:cNvPr>
                <p:cNvSpPr/>
                <p:nvPr/>
              </p:nvSpPr>
              <p:spPr>
                <a:xfrm>
                  <a:off x="5570928" y="3721499"/>
                  <a:ext cx="249699"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8" name="矩形 37">
                  <a:extLst>
                    <a:ext uri="{FF2B5EF4-FFF2-40B4-BE49-F238E27FC236}">
                      <a16:creationId xmlns:a16="http://schemas.microsoft.com/office/drawing/2014/main" id="{ABD98DC0-8BEF-4AD8-B4CF-F9FBDBD63591}"/>
                    </a:ext>
                  </a:extLst>
                </p:cNvPr>
                <p:cNvSpPr/>
                <p:nvPr/>
              </p:nvSpPr>
              <p:spPr>
                <a:xfrm>
                  <a:off x="5820627" y="3721499"/>
                  <a:ext cx="154568" cy="376518"/>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矩形 38">
                  <a:extLst>
                    <a:ext uri="{FF2B5EF4-FFF2-40B4-BE49-F238E27FC236}">
                      <a16:creationId xmlns:a16="http://schemas.microsoft.com/office/drawing/2014/main" id="{769F0CF4-D1DA-4D87-BFD5-38432108D077}"/>
                    </a:ext>
                  </a:extLst>
                </p:cNvPr>
                <p:cNvSpPr/>
                <p:nvPr/>
              </p:nvSpPr>
              <p:spPr>
                <a:xfrm>
                  <a:off x="4310395" y="3721499"/>
                  <a:ext cx="156566"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0" name="矩形 39">
                  <a:extLst>
                    <a:ext uri="{FF2B5EF4-FFF2-40B4-BE49-F238E27FC236}">
                      <a16:creationId xmlns:a16="http://schemas.microsoft.com/office/drawing/2014/main" id="{E968EC46-6D1C-4493-AD5C-751801323C79}"/>
                    </a:ext>
                  </a:extLst>
                </p:cNvPr>
                <p:cNvSpPr/>
                <p:nvPr/>
              </p:nvSpPr>
              <p:spPr>
                <a:xfrm>
                  <a:off x="5975195" y="3721499"/>
                  <a:ext cx="249699"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42" name="矩形 41">
                <a:extLst>
                  <a:ext uri="{FF2B5EF4-FFF2-40B4-BE49-F238E27FC236}">
                    <a16:creationId xmlns:a16="http://schemas.microsoft.com/office/drawing/2014/main" id="{0ED5756A-BBEE-4159-B0AD-E4ABD16111FA}"/>
                  </a:ext>
                </a:extLst>
              </p:cNvPr>
              <p:cNvSpPr/>
              <p:nvPr/>
            </p:nvSpPr>
            <p:spPr>
              <a:xfrm>
                <a:off x="2365869" y="3197687"/>
                <a:ext cx="4405373" cy="246221"/>
              </a:xfrm>
              <a:prstGeom prst="rect">
                <a:avLst/>
              </a:prstGeom>
            </p:spPr>
            <p:txBody>
              <a:bodyPr wrap="none">
                <a:spAutoFit/>
              </a:bodyPr>
              <a:lstStyle/>
              <a:p>
                <a:r>
                  <a:rPr lang="en-US" altLang="zh-TW" sz="1000" b="1" dirty="0" err="1">
                    <a:latin typeface="Montserrat" panose="02020500000000000000" charset="0"/>
                    <a:cs typeface="Times New Roman" panose="02020603050405020304" pitchFamily="18" charset="0"/>
                  </a:rPr>
                  <a:t>Aperiodically</a:t>
                </a:r>
                <a:r>
                  <a:rPr lang="en-US" altLang="zh-TW" sz="1000" b="1" dirty="0">
                    <a:latin typeface="Montserrat" panose="02020500000000000000" charset="0"/>
                    <a:cs typeface="Times New Roman" panose="02020603050405020304" pitchFamily="18" charset="0"/>
                  </a:rPr>
                  <a:t> poled lithium niobite(APPLN) of dual QPM device</a:t>
                </a:r>
                <a:endParaRPr lang="zh-TW" altLang="en-US" sz="1000" b="1" dirty="0">
                  <a:latin typeface="Montserrat" panose="02020500000000000000" charset="0"/>
                  <a:cs typeface="Times New Roman" panose="02020603050405020304" pitchFamily="18" charset="0"/>
                </a:endParaRPr>
              </a:p>
            </p:txBody>
          </p:sp>
        </p:grpSp>
        <p:sp>
          <p:nvSpPr>
            <p:cNvPr id="48" name="箭號: 向下 47">
              <a:extLst>
                <a:ext uri="{FF2B5EF4-FFF2-40B4-BE49-F238E27FC236}">
                  <a16:creationId xmlns:a16="http://schemas.microsoft.com/office/drawing/2014/main" id="{BB77986D-790B-4DAA-B6AB-22168834F90E}"/>
                </a:ext>
              </a:extLst>
            </p:cNvPr>
            <p:cNvSpPr/>
            <p:nvPr/>
          </p:nvSpPr>
          <p:spPr>
            <a:xfrm rot="16200000">
              <a:off x="2301995" y="3778466"/>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50" name="文字方塊 49">
            <a:extLst>
              <a:ext uri="{FF2B5EF4-FFF2-40B4-BE49-F238E27FC236}">
                <a16:creationId xmlns:a16="http://schemas.microsoft.com/office/drawing/2014/main" id="{EE2F5A7C-47EA-4FEC-A3C5-A821721D6C36}"/>
              </a:ext>
            </a:extLst>
          </p:cNvPr>
          <p:cNvSpPr txBox="1"/>
          <p:nvPr/>
        </p:nvSpPr>
        <p:spPr>
          <a:xfrm>
            <a:off x="8585770" y="4631694"/>
            <a:ext cx="274434" cy="261610"/>
          </a:xfrm>
          <a:prstGeom prst="rect">
            <a:avLst/>
          </a:prstGeom>
          <a:noFill/>
        </p:spPr>
        <p:txBody>
          <a:bodyPr wrap="none" rtlCol="0">
            <a:spAutoFit/>
          </a:bodyPr>
          <a:lstStyle/>
          <a:p>
            <a:r>
              <a:rPr lang="en-US" altLang="zh-TW" sz="1100" dirty="0">
                <a:latin typeface="Montserrat" panose="02020500000000000000" charset="0"/>
              </a:rPr>
              <a:t>8</a:t>
            </a:r>
            <a:endParaRPr lang="zh-TW" altLang="en-US" sz="1100" dirty="0">
              <a:latin typeface="Montserrat" panose="02020500000000000000" charset="0"/>
            </a:endParaRPr>
          </a:p>
        </p:txBody>
      </p:sp>
    </p:spTree>
    <p:extLst>
      <p:ext uri="{BB962C8B-B14F-4D97-AF65-F5344CB8AC3E}">
        <p14:creationId xmlns:p14="http://schemas.microsoft.com/office/powerpoint/2010/main" val="104780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Motivation</a:t>
            </a:r>
          </a:p>
        </p:txBody>
      </p:sp>
      <p:grpSp>
        <p:nvGrpSpPr>
          <p:cNvPr id="11" name="群組 10">
            <a:extLst>
              <a:ext uri="{FF2B5EF4-FFF2-40B4-BE49-F238E27FC236}">
                <a16:creationId xmlns:a16="http://schemas.microsoft.com/office/drawing/2014/main" id="{FCE19FF8-8BA8-4F85-8850-DCBB226517AC}"/>
              </a:ext>
            </a:extLst>
          </p:cNvPr>
          <p:cNvGrpSpPr/>
          <p:nvPr/>
        </p:nvGrpSpPr>
        <p:grpSpPr>
          <a:xfrm>
            <a:off x="189900" y="0"/>
            <a:ext cx="8764200" cy="295831"/>
            <a:chOff x="342045" y="-14365"/>
            <a:chExt cx="8764200" cy="295831"/>
          </a:xfrm>
        </p:grpSpPr>
        <p:sp>
          <p:nvSpPr>
            <p:cNvPr id="12" name="矩形 11">
              <a:extLst>
                <a:ext uri="{FF2B5EF4-FFF2-40B4-BE49-F238E27FC236}">
                  <a16:creationId xmlns:a16="http://schemas.microsoft.com/office/drawing/2014/main" id="{9557F870-58EB-4D44-8A92-4A0C9E24FD89}"/>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13" name="矩形 12">
              <a:extLst>
                <a:ext uri="{FF2B5EF4-FFF2-40B4-BE49-F238E27FC236}">
                  <a16:creationId xmlns:a16="http://schemas.microsoft.com/office/drawing/2014/main" id="{EA95BC6F-E04A-43F9-BF7F-83B5EBC05E11}"/>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4" name="矩形 13">
              <a:extLst>
                <a:ext uri="{FF2B5EF4-FFF2-40B4-BE49-F238E27FC236}">
                  <a16:creationId xmlns:a16="http://schemas.microsoft.com/office/drawing/2014/main" id="{6C1E60A8-B3A8-4285-8ACE-E5E1D2130C71}"/>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5" name="矩形 14">
              <a:extLst>
                <a:ext uri="{FF2B5EF4-FFF2-40B4-BE49-F238E27FC236}">
                  <a16:creationId xmlns:a16="http://schemas.microsoft.com/office/drawing/2014/main" id="{2CCA8D4F-6808-43F2-98A2-97E2AB6726D2}"/>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6" name="矩形 15">
              <a:extLst>
                <a:ext uri="{FF2B5EF4-FFF2-40B4-BE49-F238E27FC236}">
                  <a16:creationId xmlns:a16="http://schemas.microsoft.com/office/drawing/2014/main" id="{F73BC324-2D57-4E29-9DC7-0CEF5CEA3C85}"/>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7" name="矩形 16">
              <a:extLst>
                <a:ext uri="{FF2B5EF4-FFF2-40B4-BE49-F238E27FC236}">
                  <a16:creationId xmlns:a16="http://schemas.microsoft.com/office/drawing/2014/main" id="{BC49C07D-B41F-4F37-B0D4-EFA9BBFD3C64}"/>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0" name="文字方塊 9">
            <a:extLst>
              <a:ext uri="{FF2B5EF4-FFF2-40B4-BE49-F238E27FC236}">
                <a16:creationId xmlns:a16="http://schemas.microsoft.com/office/drawing/2014/main" id="{149F2B84-A102-4CEE-8344-928D335B1538}"/>
              </a:ext>
            </a:extLst>
          </p:cNvPr>
          <p:cNvSpPr txBox="1"/>
          <p:nvPr/>
        </p:nvSpPr>
        <p:spPr>
          <a:xfrm>
            <a:off x="8585770" y="4631694"/>
            <a:ext cx="271228" cy="261610"/>
          </a:xfrm>
          <a:prstGeom prst="rect">
            <a:avLst/>
          </a:prstGeom>
          <a:noFill/>
        </p:spPr>
        <p:txBody>
          <a:bodyPr wrap="none" rtlCol="0">
            <a:spAutoFit/>
          </a:bodyPr>
          <a:lstStyle/>
          <a:p>
            <a:r>
              <a:rPr lang="en-US" altLang="zh-TW" sz="1100" dirty="0">
                <a:latin typeface="Montserrat" panose="02020500000000000000" charset="0"/>
              </a:rPr>
              <a:t>9</a:t>
            </a:r>
            <a:endParaRPr lang="zh-TW" altLang="en-US" sz="1100" dirty="0">
              <a:latin typeface="Montserrat" panose="02020500000000000000" charset="0"/>
            </a:endParaRPr>
          </a:p>
        </p:txBody>
      </p:sp>
      <p:grpSp>
        <p:nvGrpSpPr>
          <p:cNvPr id="7" name="群組 6">
            <a:extLst>
              <a:ext uri="{FF2B5EF4-FFF2-40B4-BE49-F238E27FC236}">
                <a16:creationId xmlns:a16="http://schemas.microsoft.com/office/drawing/2014/main" id="{9444D855-8F71-4E26-BBFF-EE2CDD99550D}"/>
              </a:ext>
            </a:extLst>
          </p:cNvPr>
          <p:cNvGrpSpPr/>
          <p:nvPr/>
        </p:nvGrpSpPr>
        <p:grpSpPr>
          <a:xfrm>
            <a:off x="5464140" y="1455154"/>
            <a:ext cx="2206617" cy="2003700"/>
            <a:chOff x="5346459" y="1165985"/>
            <a:chExt cx="2206617" cy="2003700"/>
          </a:xfrm>
        </p:grpSpPr>
        <p:pic>
          <p:nvPicPr>
            <p:cNvPr id="18" name="圖片 17">
              <a:extLst>
                <a:ext uri="{FF2B5EF4-FFF2-40B4-BE49-F238E27FC236}">
                  <a16:creationId xmlns:a16="http://schemas.microsoft.com/office/drawing/2014/main" id="{7E1BE562-55EA-47DA-BBD2-D616C39DB867}"/>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5769278" y="1970084"/>
              <a:ext cx="1360981" cy="1199601"/>
            </a:xfrm>
            <a:prstGeom prst="rect">
              <a:avLst/>
            </a:prstGeom>
          </p:spPr>
        </p:pic>
        <p:sp>
          <p:nvSpPr>
            <p:cNvPr id="19" name="矩形 18">
              <a:extLst>
                <a:ext uri="{FF2B5EF4-FFF2-40B4-BE49-F238E27FC236}">
                  <a16:creationId xmlns:a16="http://schemas.microsoft.com/office/drawing/2014/main" id="{B5B612AA-CFC4-41B6-8A85-FC4986F0B882}"/>
                </a:ext>
              </a:extLst>
            </p:cNvPr>
            <p:cNvSpPr/>
            <p:nvPr/>
          </p:nvSpPr>
          <p:spPr>
            <a:xfrm>
              <a:off x="5346459" y="1165985"/>
              <a:ext cx="2206617" cy="715260"/>
            </a:xfrm>
            <a:prstGeom prst="rect">
              <a:avLst/>
            </a:prstGeom>
          </p:spPr>
          <p:txBody>
            <a:bodyPr wrap="square">
              <a:spAutoFit/>
            </a:bodyPr>
            <a:lstStyle/>
            <a:p>
              <a:pPr algn="ctr">
                <a:lnSpc>
                  <a:spcPct val="150000"/>
                </a:lnSpc>
              </a:pPr>
              <a:r>
                <a:rPr lang="en-US" altLang="zh-TW" sz="1000" b="1" dirty="0">
                  <a:latin typeface="Montserrat" panose="02020500000000000000" charset="0"/>
                </a:rPr>
                <a:t>Our proposed design</a:t>
              </a:r>
            </a:p>
            <a:p>
              <a:pPr algn="ctr">
                <a:lnSpc>
                  <a:spcPct val="150000"/>
                </a:lnSpc>
              </a:pPr>
              <a:r>
                <a:rPr lang="en-US" altLang="zh-TW" sz="900" dirty="0">
                  <a:latin typeface="Montserrat" panose="02020500000000000000" charset="0"/>
                </a:rPr>
                <a:t>APPLN structure include type-II SPDC and EO-PMC</a:t>
              </a:r>
            </a:p>
          </p:txBody>
        </p:sp>
      </p:grpSp>
      <p:grpSp>
        <p:nvGrpSpPr>
          <p:cNvPr id="29" name="群組 28">
            <a:extLst>
              <a:ext uri="{FF2B5EF4-FFF2-40B4-BE49-F238E27FC236}">
                <a16:creationId xmlns:a16="http://schemas.microsoft.com/office/drawing/2014/main" id="{F2AB6C36-7E30-4336-8C29-A566A7D48A2E}"/>
              </a:ext>
            </a:extLst>
          </p:cNvPr>
          <p:cNvGrpSpPr/>
          <p:nvPr/>
        </p:nvGrpSpPr>
        <p:grpSpPr>
          <a:xfrm>
            <a:off x="3528354" y="3940743"/>
            <a:ext cx="2083228" cy="363914"/>
            <a:chOff x="3454239" y="3893850"/>
            <a:chExt cx="2083228" cy="363914"/>
          </a:xfrm>
        </p:grpSpPr>
        <p:sp>
          <p:nvSpPr>
            <p:cNvPr id="43" name="矩形: 圓角 42">
              <a:extLst>
                <a:ext uri="{FF2B5EF4-FFF2-40B4-BE49-F238E27FC236}">
                  <a16:creationId xmlns:a16="http://schemas.microsoft.com/office/drawing/2014/main" id="{CFD66445-51B0-4EC0-9F7E-E546BA1C2C58}"/>
                </a:ext>
              </a:extLst>
            </p:cNvPr>
            <p:cNvSpPr/>
            <p:nvPr/>
          </p:nvSpPr>
          <p:spPr>
            <a:xfrm>
              <a:off x="3891724" y="3893850"/>
              <a:ext cx="1645743" cy="363914"/>
            </a:xfrm>
            <a:prstGeom prst="roundRect">
              <a:avLst>
                <a:gd name="adj" fmla="val 50000"/>
              </a:avLst>
            </a:prstGeom>
            <a:solidFill>
              <a:schemeClr val="bg1"/>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4" name="群組 23">
              <a:extLst>
                <a:ext uri="{FF2B5EF4-FFF2-40B4-BE49-F238E27FC236}">
                  <a16:creationId xmlns:a16="http://schemas.microsoft.com/office/drawing/2014/main" id="{91DD0A66-621E-4522-9E7B-61766DCB8C9E}"/>
                </a:ext>
              </a:extLst>
            </p:cNvPr>
            <p:cNvGrpSpPr/>
            <p:nvPr/>
          </p:nvGrpSpPr>
          <p:grpSpPr>
            <a:xfrm>
              <a:off x="3454239" y="3952698"/>
              <a:ext cx="2017135" cy="246221"/>
              <a:chOff x="3336558" y="3663529"/>
              <a:chExt cx="2017135" cy="246221"/>
            </a:xfrm>
          </p:grpSpPr>
          <p:sp>
            <p:nvSpPr>
              <p:cNvPr id="39" name="箭號: 向下 38">
                <a:extLst>
                  <a:ext uri="{FF2B5EF4-FFF2-40B4-BE49-F238E27FC236}">
                    <a16:creationId xmlns:a16="http://schemas.microsoft.com/office/drawing/2014/main" id="{D7DA74D7-C029-4434-AE78-9DADDF11821E}"/>
                  </a:ext>
                </a:extLst>
              </p:cNvPr>
              <p:cNvSpPr/>
              <p:nvPr/>
            </p:nvSpPr>
            <p:spPr>
              <a:xfrm rot="16200000">
                <a:off x="3429375" y="3629947"/>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 name="矩形 41">
                <a:extLst>
                  <a:ext uri="{FF2B5EF4-FFF2-40B4-BE49-F238E27FC236}">
                    <a16:creationId xmlns:a16="http://schemas.microsoft.com/office/drawing/2014/main" id="{144A5224-6945-4957-9983-169A3F92E70F}"/>
                  </a:ext>
                </a:extLst>
              </p:cNvPr>
              <p:cNvSpPr/>
              <p:nvPr/>
            </p:nvSpPr>
            <p:spPr>
              <a:xfrm>
                <a:off x="3840137" y="3663529"/>
                <a:ext cx="1513556" cy="246221"/>
              </a:xfrm>
              <a:prstGeom prst="rect">
                <a:avLst/>
              </a:prstGeom>
            </p:spPr>
            <p:txBody>
              <a:bodyPr wrap="none">
                <a:spAutoFit/>
              </a:bodyPr>
              <a:lstStyle/>
              <a:p>
                <a:r>
                  <a:rPr lang="en-US" altLang="zh-TW" sz="1000" b="1" dirty="0">
                    <a:latin typeface="Montserrat" panose="02020500000000000000" charset="0"/>
                  </a:rPr>
                  <a:t>Time compensation</a:t>
                </a:r>
              </a:p>
            </p:txBody>
          </p:sp>
        </p:grpSp>
      </p:grpSp>
      <p:grpSp>
        <p:nvGrpSpPr>
          <p:cNvPr id="26" name="群組 25">
            <a:extLst>
              <a:ext uri="{FF2B5EF4-FFF2-40B4-BE49-F238E27FC236}">
                <a16:creationId xmlns:a16="http://schemas.microsoft.com/office/drawing/2014/main" id="{0E3B74EF-6D1A-4456-9E84-51605A7EB94A}"/>
              </a:ext>
            </a:extLst>
          </p:cNvPr>
          <p:cNvGrpSpPr/>
          <p:nvPr/>
        </p:nvGrpSpPr>
        <p:grpSpPr>
          <a:xfrm>
            <a:off x="863776" y="1489065"/>
            <a:ext cx="3984142" cy="2185233"/>
            <a:chOff x="746095" y="1199896"/>
            <a:chExt cx="3984142" cy="2185233"/>
          </a:xfrm>
        </p:grpSpPr>
        <p:sp>
          <p:nvSpPr>
            <p:cNvPr id="20" name="矩形 19">
              <a:extLst>
                <a:ext uri="{FF2B5EF4-FFF2-40B4-BE49-F238E27FC236}">
                  <a16:creationId xmlns:a16="http://schemas.microsoft.com/office/drawing/2014/main" id="{FE4BF89D-96B4-447C-BB3C-32B27CEB41EB}"/>
                </a:ext>
              </a:extLst>
            </p:cNvPr>
            <p:cNvSpPr/>
            <p:nvPr/>
          </p:nvSpPr>
          <p:spPr>
            <a:xfrm>
              <a:off x="1597991" y="1199896"/>
              <a:ext cx="2295821" cy="246221"/>
            </a:xfrm>
            <a:prstGeom prst="rect">
              <a:avLst/>
            </a:prstGeom>
          </p:spPr>
          <p:txBody>
            <a:bodyPr wrap="none">
              <a:spAutoFit/>
            </a:bodyPr>
            <a:lstStyle/>
            <a:p>
              <a:r>
                <a:rPr lang="en-US" altLang="zh-TW" sz="1000" b="1" dirty="0">
                  <a:latin typeface="Montserrat" panose="02020500000000000000" charset="0"/>
                </a:rPr>
                <a:t>Other type-II SPDC QPM device</a:t>
              </a:r>
            </a:p>
          </p:txBody>
        </p:sp>
        <p:sp>
          <p:nvSpPr>
            <p:cNvPr id="8" name="文字方塊 7">
              <a:extLst>
                <a:ext uri="{FF2B5EF4-FFF2-40B4-BE49-F238E27FC236}">
                  <a16:creationId xmlns:a16="http://schemas.microsoft.com/office/drawing/2014/main" id="{B63CF08A-E19B-4CB4-A35A-1A75939015FE}"/>
                </a:ext>
              </a:extLst>
            </p:cNvPr>
            <p:cNvSpPr txBox="1"/>
            <p:nvPr/>
          </p:nvSpPr>
          <p:spPr>
            <a:xfrm>
              <a:off x="2243366" y="3169685"/>
              <a:ext cx="1167307" cy="215444"/>
            </a:xfrm>
            <a:prstGeom prst="rect">
              <a:avLst/>
            </a:prstGeom>
            <a:noFill/>
          </p:spPr>
          <p:txBody>
            <a:bodyPr wrap="none" rtlCol="0">
              <a:spAutoFit/>
            </a:bodyPr>
            <a:lstStyle/>
            <a:p>
              <a:r>
                <a:rPr lang="en-US" altLang="zh-TW" sz="800" dirty="0">
                  <a:solidFill>
                    <a:schemeClr val="tx1"/>
                  </a:solidFill>
                  <a:latin typeface="Montserrat" panose="02020500000000000000" charset="0"/>
                </a:rPr>
                <a:t>(Martin et al., 2008)</a:t>
              </a:r>
              <a:endParaRPr lang="zh-TW" altLang="en-US" sz="800" dirty="0">
                <a:solidFill>
                  <a:schemeClr val="tx1"/>
                </a:solidFill>
                <a:latin typeface="Montserrat" panose="02020500000000000000" charset="0"/>
              </a:endParaRPr>
            </a:p>
          </p:txBody>
        </p:sp>
        <p:sp>
          <p:nvSpPr>
            <p:cNvPr id="4" name="矩形 3">
              <a:extLst>
                <a:ext uri="{FF2B5EF4-FFF2-40B4-BE49-F238E27FC236}">
                  <a16:creationId xmlns:a16="http://schemas.microsoft.com/office/drawing/2014/main" id="{6170D505-6B25-46E8-91C9-95D26E9AE78F}"/>
                </a:ext>
              </a:extLst>
            </p:cNvPr>
            <p:cNvSpPr/>
            <p:nvPr/>
          </p:nvSpPr>
          <p:spPr>
            <a:xfrm>
              <a:off x="1517027" y="1804469"/>
              <a:ext cx="840145" cy="62903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6DCE8186-1787-466C-8235-35788FE1051F}"/>
                </a:ext>
              </a:extLst>
            </p:cNvPr>
            <p:cNvSpPr/>
            <p:nvPr/>
          </p:nvSpPr>
          <p:spPr>
            <a:xfrm>
              <a:off x="1711807" y="1601996"/>
              <a:ext cx="522900" cy="230832"/>
            </a:xfrm>
            <a:prstGeom prst="rect">
              <a:avLst/>
            </a:prstGeom>
          </p:spPr>
          <p:txBody>
            <a:bodyPr wrap="none">
              <a:spAutoFit/>
            </a:bodyPr>
            <a:lstStyle/>
            <a:p>
              <a:r>
                <a:rPr lang="en-US" altLang="zh-TW" sz="900" b="1" dirty="0">
                  <a:solidFill>
                    <a:schemeClr val="tx2"/>
                  </a:solidFill>
                  <a:latin typeface="Montserrat" panose="02020500000000000000" charset="0"/>
                </a:rPr>
                <a:t>SPDC</a:t>
              </a:r>
            </a:p>
          </p:txBody>
        </p:sp>
        <p:sp>
          <p:nvSpPr>
            <p:cNvPr id="36" name="矩形 35">
              <a:extLst>
                <a:ext uri="{FF2B5EF4-FFF2-40B4-BE49-F238E27FC236}">
                  <a16:creationId xmlns:a16="http://schemas.microsoft.com/office/drawing/2014/main" id="{7692D36D-5E94-4906-80B9-22A416B59748}"/>
                </a:ext>
              </a:extLst>
            </p:cNvPr>
            <p:cNvSpPr/>
            <p:nvPr/>
          </p:nvSpPr>
          <p:spPr>
            <a:xfrm>
              <a:off x="3438311" y="1636744"/>
              <a:ext cx="684803" cy="230832"/>
            </a:xfrm>
            <a:prstGeom prst="rect">
              <a:avLst/>
            </a:prstGeom>
          </p:spPr>
          <p:txBody>
            <a:bodyPr wrap="none">
              <a:spAutoFit/>
            </a:bodyPr>
            <a:lstStyle/>
            <a:p>
              <a:r>
                <a:rPr lang="en-US" altLang="zh-TW" sz="900" b="1" dirty="0">
                  <a:solidFill>
                    <a:schemeClr val="bg2">
                      <a:lumMod val="75000"/>
                    </a:schemeClr>
                  </a:solidFill>
                  <a:latin typeface="Montserrat" panose="02020500000000000000" charset="0"/>
                </a:rPr>
                <a:t>EO-PMC</a:t>
              </a:r>
            </a:p>
          </p:txBody>
        </p:sp>
        <p:sp>
          <p:nvSpPr>
            <p:cNvPr id="6" name="矩形 5">
              <a:extLst>
                <a:ext uri="{FF2B5EF4-FFF2-40B4-BE49-F238E27FC236}">
                  <a16:creationId xmlns:a16="http://schemas.microsoft.com/office/drawing/2014/main" id="{2092FD11-2FBF-4635-8A1B-423166D435C6}"/>
                </a:ext>
              </a:extLst>
            </p:cNvPr>
            <p:cNvSpPr/>
            <p:nvPr/>
          </p:nvSpPr>
          <p:spPr>
            <a:xfrm>
              <a:off x="3525443" y="1832828"/>
              <a:ext cx="510540" cy="54494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2" name="圖片 1">
              <a:extLst>
                <a:ext uri="{FF2B5EF4-FFF2-40B4-BE49-F238E27FC236}">
                  <a16:creationId xmlns:a16="http://schemas.microsoft.com/office/drawing/2014/main" id="{40873844-2BD3-478E-9D0F-9204C8F66AA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46095" y="1711590"/>
              <a:ext cx="3984142" cy="1414823"/>
            </a:xfrm>
            <a:prstGeom prst="rect">
              <a:avLst/>
            </a:prstGeom>
          </p:spPr>
        </p:pic>
      </p:grpSp>
      <p:sp>
        <p:nvSpPr>
          <p:cNvPr id="30" name="矩形 29">
            <a:extLst>
              <a:ext uri="{FF2B5EF4-FFF2-40B4-BE49-F238E27FC236}">
                <a16:creationId xmlns:a16="http://schemas.microsoft.com/office/drawing/2014/main" id="{232BE8FB-1C21-4008-BDFC-9D3F9E57E4CE}"/>
              </a:ext>
            </a:extLst>
          </p:cNvPr>
          <p:cNvSpPr/>
          <p:nvPr/>
        </p:nvSpPr>
        <p:spPr>
          <a:xfrm>
            <a:off x="5501185" y="3953423"/>
            <a:ext cx="352982" cy="338554"/>
          </a:xfrm>
          <a:prstGeom prst="rect">
            <a:avLst/>
          </a:prstGeom>
        </p:spPr>
        <p:txBody>
          <a:bodyPr wrap="none">
            <a:spAutoFit/>
          </a:bodyPr>
          <a:lstStyle/>
          <a:p>
            <a:r>
              <a:rPr lang="zh-TW" altLang="en-US" sz="1600" b="1" dirty="0">
                <a:solidFill>
                  <a:srgbClr val="FF0000"/>
                </a:solidFill>
                <a:latin typeface="Montserrat" panose="02020500000000000000" charset="0"/>
              </a:rPr>
              <a:t>✗</a:t>
            </a:r>
          </a:p>
        </p:txBody>
      </p:sp>
    </p:spTree>
    <p:extLst>
      <p:ext uri="{BB962C8B-B14F-4D97-AF65-F5344CB8AC3E}">
        <p14:creationId xmlns:p14="http://schemas.microsoft.com/office/powerpoint/2010/main" val="211238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250" fill="hold"/>
                                        <p:tgtEl>
                                          <p:spTgt spid="30"/>
                                        </p:tgtEl>
                                        <p:attrNameLst>
                                          <p:attrName>ppt_w</p:attrName>
                                        </p:attrNameLst>
                                      </p:cBhvr>
                                      <p:tavLst>
                                        <p:tav tm="0">
                                          <p:val>
                                            <p:fltVal val="0"/>
                                          </p:val>
                                        </p:tav>
                                        <p:tav tm="100000">
                                          <p:val>
                                            <p:strVal val="#ppt_w"/>
                                          </p:val>
                                        </p:tav>
                                      </p:tavLst>
                                    </p:anim>
                                    <p:anim calcmode="lin" valueType="num">
                                      <p:cBhvr>
                                        <p:cTn id="8" dur="250" fill="hold"/>
                                        <p:tgtEl>
                                          <p:spTgt spid="30"/>
                                        </p:tgtEl>
                                        <p:attrNameLst>
                                          <p:attrName>ppt_h</p:attrName>
                                        </p:attrNameLst>
                                      </p:cBhvr>
                                      <p:tavLst>
                                        <p:tav tm="0">
                                          <p:val>
                                            <p:fltVal val="0"/>
                                          </p:val>
                                        </p:tav>
                                        <p:tav tm="100000">
                                          <p:val>
                                            <p:strVal val="#ppt_h"/>
                                          </p:val>
                                        </p:tav>
                                      </p:tavLst>
                                    </p:anim>
                                    <p:animEffect transition="in" filter="fade">
                                      <p:cBhvr>
                                        <p:cTn id="9"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2;p36">
            <a:extLst>
              <a:ext uri="{FF2B5EF4-FFF2-40B4-BE49-F238E27FC236}">
                <a16:creationId xmlns:a16="http://schemas.microsoft.com/office/drawing/2014/main" id="{4A9CE4E5-AC5A-4C21-83C3-724DA92820D5}"/>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Motivation</a:t>
            </a:r>
          </a:p>
        </p:txBody>
      </p:sp>
      <p:grpSp>
        <p:nvGrpSpPr>
          <p:cNvPr id="5" name="群組 4">
            <a:extLst>
              <a:ext uri="{FF2B5EF4-FFF2-40B4-BE49-F238E27FC236}">
                <a16:creationId xmlns:a16="http://schemas.microsoft.com/office/drawing/2014/main" id="{517BE525-DB4D-4504-96F8-5D65ACAA77B4}"/>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DA14ED9-3423-485E-AC42-5A85AD16C23D}"/>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0ACAAF9D-5A6F-4E94-9670-E68DD9C8208B}"/>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51A38508-40D5-4D70-80A8-B3EE8BE7DA60}"/>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79775519-C0B6-41E2-8953-6B0E2FF33243}"/>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D41A4232-AB5A-42B1-BB07-03D6C7CAD39D}"/>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C88396B-D510-4141-9080-B601BB1D7FBD}"/>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2" name="文字方塊 11">
            <a:extLst>
              <a:ext uri="{FF2B5EF4-FFF2-40B4-BE49-F238E27FC236}">
                <a16:creationId xmlns:a16="http://schemas.microsoft.com/office/drawing/2014/main" id="{BB46F9A8-627F-4569-856B-1B36DCBCE097}"/>
              </a:ext>
            </a:extLst>
          </p:cNvPr>
          <p:cNvSpPr txBox="1"/>
          <p:nvPr/>
        </p:nvSpPr>
        <p:spPr>
          <a:xfrm>
            <a:off x="8585770" y="4631694"/>
            <a:ext cx="328936" cy="261610"/>
          </a:xfrm>
          <a:prstGeom prst="rect">
            <a:avLst/>
          </a:prstGeom>
          <a:noFill/>
        </p:spPr>
        <p:txBody>
          <a:bodyPr wrap="none" rtlCol="0">
            <a:spAutoFit/>
          </a:bodyPr>
          <a:lstStyle/>
          <a:p>
            <a:r>
              <a:rPr lang="en-US" altLang="zh-TW" sz="1100" dirty="0">
                <a:latin typeface="Montserrat" panose="02020500000000000000" charset="0"/>
              </a:rPr>
              <a:t>10</a:t>
            </a:r>
            <a:endParaRPr lang="zh-TW" altLang="en-US" sz="1100" dirty="0">
              <a:latin typeface="Montserrat" panose="02020500000000000000" charset="0"/>
            </a:endParaRPr>
          </a:p>
        </p:txBody>
      </p:sp>
      <p:grpSp>
        <p:nvGrpSpPr>
          <p:cNvPr id="22" name="群組 21">
            <a:extLst>
              <a:ext uri="{FF2B5EF4-FFF2-40B4-BE49-F238E27FC236}">
                <a16:creationId xmlns:a16="http://schemas.microsoft.com/office/drawing/2014/main" id="{25B8D4B8-2DE9-43A5-955F-4E58FE05C1D4}"/>
              </a:ext>
            </a:extLst>
          </p:cNvPr>
          <p:cNvGrpSpPr/>
          <p:nvPr/>
        </p:nvGrpSpPr>
        <p:grpSpPr>
          <a:xfrm>
            <a:off x="995231" y="1291193"/>
            <a:ext cx="3576769" cy="2627699"/>
            <a:chOff x="1067459" y="1291193"/>
            <a:chExt cx="3576769" cy="2627699"/>
          </a:xfrm>
        </p:grpSpPr>
        <p:grpSp>
          <p:nvGrpSpPr>
            <p:cNvPr id="16" name="群組 15">
              <a:extLst>
                <a:ext uri="{FF2B5EF4-FFF2-40B4-BE49-F238E27FC236}">
                  <a16:creationId xmlns:a16="http://schemas.microsoft.com/office/drawing/2014/main" id="{A1139922-3ACF-41AA-B1F8-3B102D5C2B2E}"/>
                </a:ext>
              </a:extLst>
            </p:cNvPr>
            <p:cNvGrpSpPr/>
            <p:nvPr/>
          </p:nvGrpSpPr>
          <p:grpSpPr>
            <a:xfrm>
              <a:off x="1067459" y="1842364"/>
              <a:ext cx="3576769" cy="2076528"/>
              <a:chOff x="1067461" y="1938986"/>
              <a:chExt cx="3576769" cy="2076528"/>
            </a:xfrm>
          </p:grpSpPr>
          <p:pic>
            <p:nvPicPr>
              <p:cNvPr id="2" name="圖片 1">
                <a:extLst>
                  <a:ext uri="{FF2B5EF4-FFF2-40B4-BE49-F238E27FC236}">
                    <a16:creationId xmlns:a16="http://schemas.microsoft.com/office/drawing/2014/main" id="{1AE0ECEF-6CDC-47DD-A7C1-089AB732A6C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67461" y="1938986"/>
                <a:ext cx="3576769" cy="1861084"/>
              </a:xfrm>
              <a:prstGeom prst="rect">
                <a:avLst/>
              </a:prstGeom>
            </p:spPr>
          </p:pic>
          <p:sp>
            <p:nvSpPr>
              <p:cNvPr id="3" name="文字方塊 2">
                <a:extLst>
                  <a:ext uri="{FF2B5EF4-FFF2-40B4-BE49-F238E27FC236}">
                    <a16:creationId xmlns:a16="http://schemas.microsoft.com/office/drawing/2014/main" id="{02FEBA91-D530-4F49-AE70-1A3D0C98E364}"/>
                  </a:ext>
                </a:extLst>
              </p:cNvPr>
              <p:cNvSpPr txBox="1"/>
              <p:nvPr/>
            </p:nvSpPr>
            <p:spPr>
              <a:xfrm>
                <a:off x="2219292" y="3800070"/>
                <a:ext cx="1273105" cy="215444"/>
              </a:xfrm>
              <a:prstGeom prst="rect">
                <a:avLst/>
              </a:prstGeom>
              <a:noFill/>
            </p:spPr>
            <p:txBody>
              <a:bodyPr wrap="none" rtlCol="0">
                <a:spAutoFit/>
              </a:bodyPr>
              <a:lstStyle/>
              <a:p>
                <a:r>
                  <a:rPr lang="en-US" altLang="zh-TW" sz="800" dirty="0">
                    <a:solidFill>
                      <a:schemeClr val="tx1"/>
                    </a:solidFill>
                    <a:latin typeface="Montserrat" panose="02020500000000000000" charset="0"/>
                  </a:rPr>
                  <a:t>(Karpinski et al., 2017)</a:t>
                </a:r>
                <a:endParaRPr lang="zh-TW" altLang="en-US" sz="800" dirty="0">
                  <a:solidFill>
                    <a:schemeClr val="tx1"/>
                  </a:solidFill>
                  <a:latin typeface="Montserrat" panose="02020500000000000000" charset="0"/>
                </a:endParaRPr>
              </a:p>
            </p:txBody>
          </p:sp>
        </p:grpSp>
        <p:sp>
          <p:nvSpPr>
            <p:cNvPr id="15" name="矩形 14">
              <a:extLst>
                <a:ext uri="{FF2B5EF4-FFF2-40B4-BE49-F238E27FC236}">
                  <a16:creationId xmlns:a16="http://schemas.microsoft.com/office/drawing/2014/main" id="{1E872812-1836-4BD6-ADE2-2420943B2A04}"/>
                </a:ext>
              </a:extLst>
            </p:cNvPr>
            <p:cNvSpPr/>
            <p:nvPr/>
          </p:nvSpPr>
          <p:spPr>
            <a:xfrm>
              <a:off x="1499543" y="1291193"/>
              <a:ext cx="2712602" cy="246221"/>
            </a:xfrm>
            <a:prstGeom prst="rect">
              <a:avLst/>
            </a:prstGeom>
          </p:spPr>
          <p:txBody>
            <a:bodyPr wrap="none">
              <a:spAutoFit/>
            </a:bodyPr>
            <a:lstStyle/>
            <a:p>
              <a:r>
                <a:rPr lang="en-US" altLang="zh-TW" sz="1000" b="1" dirty="0">
                  <a:latin typeface="Montserrat" panose="02020500000000000000" charset="0"/>
                </a:rPr>
                <a:t>Electro-optic bandwidth compression</a:t>
              </a:r>
              <a:endParaRPr lang="zh-TW" altLang="en-US" sz="1000" b="1" dirty="0">
                <a:latin typeface="Montserrat" panose="02020500000000000000" charset="0"/>
              </a:endParaRPr>
            </a:p>
          </p:txBody>
        </p:sp>
      </p:grpSp>
      <p:grpSp>
        <p:nvGrpSpPr>
          <p:cNvPr id="23" name="群組 22">
            <a:extLst>
              <a:ext uri="{FF2B5EF4-FFF2-40B4-BE49-F238E27FC236}">
                <a16:creationId xmlns:a16="http://schemas.microsoft.com/office/drawing/2014/main" id="{7108D4AB-3157-4C3C-9CF3-C964FDEB9912}"/>
              </a:ext>
            </a:extLst>
          </p:cNvPr>
          <p:cNvGrpSpPr/>
          <p:nvPr/>
        </p:nvGrpSpPr>
        <p:grpSpPr>
          <a:xfrm>
            <a:off x="4932522" y="1291193"/>
            <a:ext cx="3070860" cy="2939765"/>
            <a:chOff x="4932522" y="1291193"/>
            <a:chExt cx="3070860" cy="2939765"/>
          </a:xfrm>
        </p:grpSpPr>
        <p:grpSp>
          <p:nvGrpSpPr>
            <p:cNvPr id="20" name="群組 19">
              <a:extLst>
                <a:ext uri="{FF2B5EF4-FFF2-40B4-BE49-F238E27FC236}">
                  <a16:creationId xmlns:a16="http://schemas.microsoft.com/office/drawing/2014/main" id="{C600BB60-6ECF-4458-846B-41B1FB237626}"/>
                </a:ext>
              </a:extLst>
            </p:cNvPr>
            <p:cNvGrpSpPr/>
            <p:nvPr/>
          </p:nvGrpSpPr>
          <p:grpSpPr>
            <a:xfrm>
              <a:off x="5291450" y="1737469"/>
              <a:ext cx="2353004" cy="2493489"/>
              <a:chOff x="5291450" y="1737469"/>
              <a:chExt cx="2353004" cy="2493489"/>
            </a:xfrm>
          </p:grpSpPr>
          <p:pic>
            <p:nvPicPr>
              <p:cNvPr id="18" name="圖片 17">
                <a:extLst>
                  <a:ext uri="{FF2B5EF4-FFF2-40B4-BE49-F238E27FC236}">
                    <a16:creationId xmlns:a16="http://schemas.microsoft.com/office/drawing/2014/main" id="{FA8AB0B0-7C8C-4B36-92CB-F71749F9F32C}"/>
                  </a:ext>
                </a:extLst>
              </p:cNvPr>
              <p:cNvPicPr>
                <a:picLocks noChangeAspect="1"/>
              </p:cNvPicPr>
              <p:nvPr/>
            </p:nvPicPr>
            <p:blipFill>
              <a:blip r:embed="rId4"/>
              <a:stretch>
                <a:fillRect/>
              </a:stretch>
            </p:blipFill>
            <p:spPr>
              <a:xfrm>
                <a:off x="5291450" y="1737469"/>
                <a:ext cx="2353004" cy="2286319"/>
              </a:xfrm>
              <a:prstGeom prst="rect">
                <a:avLst/>
              </a:prstGeom>
            </p:spPr>
          </p:pic>
          <p:sp>
            <p:nvSpPr>
              <p:cNvPr id="19" name="文字方塊 18">
                <a:extLst>
                  <a:ext uri="{FF2B5EF4-FFF2-40B4-BE49-F238E27FC236}">
                    <a16:creationId xmlns:a16="http://schemas.microsoft.com/office/drawing/2014/main" id="{EE05075C-4F2F-4CF3-886A-7089E697288E}"/>
                  </a:ext>
                </a:extLst>
              </p:cNvPr>
              <p:cNvSpPr txBox="1"/>
              <p:nvPr/>
            </p:nvSpPr>
            <p:spPr>
              <a:xfrm>
                <a:off x="5912351" y="4015514"/>
                <a:ext cx="1111202" cy="215444"/>
              </a:xfrm>
              <a:prstGeom prst="rect">
                <a:avLst/>
              </a:prstGeom>
              <a:noFill/>
            </p:spPr>
            <p:txBody>
              <a:bodyPr wrap="none" rtlCol="0">
                <a:spAutoFit/>
              </a:bodyPr>
              <a:lstStyle/>
              <a:p>
                <a:r>
                  <a:rPr lang="en-US" altLang="zh-TW" sz="800" dirty="0">
                    <a:latin typeface="Montserrat" panose="02020500000000000000" charset="0"/>
                  </a:rPr>
                  <a:t>(Fisher et al., 2016)</a:t>
                </a:r>
                <a:endParaRPr lang="zh-TW" altLang="en-US" sz="800" dirty="0">
                  <a:latin typeface="Montserrat" panose="02020500000000000000" charset="0"/>
                </a:endParaRPr>
              </a:p>
            </p:txBody>
          </p:sp>
        </p:grpSp>
        <p:sp>
          <p:nvSpPr>
            <p:cNvPr id="21" name="矩形 20">
              <a:extLst>
                <a:ext uri="{FF2B5EF4-FFF2-40B4-BE49-F238E27FC236}">
                  <a16:creationId xmlns:a16="http://schemas.microsoft.com/office/drawing/2014/main" id="{11F32ED8-BCF3-4873-8D4C-513DB698AF17}"/>
                </a:ext>
              </a:extLst>
            </p:cNvPr>
            <p:cNvSpPr/>
            <p:nvPr/>
          </p:nvSpPr>
          <p:spPr>
            <a:xfrm>
              <a:off x="4932522" y="1291193"/>
              <a:ext cx="3070860" cy="400110"/>
            </a:xfrm>
            <a:prstGeom prst="rect">
              <a:avLst/>
            </a:prstGeom>
          </p:spPr>
          <p:txBody>
            <a:bodyPr wrap="square">
              <a:spAutoFit/>
            </a:bodyPr>
            <a:lstStyle/>
            <a:p>
              <a:r>
                <a:rPr lang="en-US" altLang="zh-TW" sz="1000" b="1" dirty="0">
                  <a:latin typeface="Montserrat" panose="02020500000000000000" charset="0"/>
                </a:rPr>
                <a:t>B</a:t>
              </a:r>
              <a:r>
                <a:rPr lang="zh-TW" altLang="en-US" sz="1000" b="1" dirty="0">
                  <a:latin typeface="Montserrat" panose="02020500000000000000" charset="0"/>
                </a:rPr>
                <a:t>andwidth conversion of single photons in diamond quantum memory</a:t>
              </a:r>
            </a:p>
          </p:txBody>
        </p:sp>
      </p:grpSp>
      <p:grpSp>
        <p:nvGrpSpPr>
          <p:cNvPr id="24" name="群組 23">
            <a:extLst>
              <a:ext uri="{FF2B5EF4-FFF2-40B4-BE49-F238E27FC236}">
                <a16:creationId xmlns:a16="http://schemas.microsoft.com/office/drawing/2014/main" id="{A77150A8-B1F4-4417-969B-7EE6AAD5EA10}"/>
              </a:ext>
            </a:extLst>
          </p:cNvPr>
          <p:cNvGrpSpPr/>
          <p:nvPr/>
        </p:nvGrpSpPr>
        <p:grpSpPr>
          <a:xfrm>
            <a:off x="3530386" y="4328738"/>
            <a:ext cx="2416670" cy="363914"/>
            <a:chOff x="3454239" y="3893850"/>
            <a:chExt cx="2416670" cy="363914"/>
          </a:xfrm>
        </p:grpSpPr>
        <p:sp>
          <p:nvSpPr>
            <p:cNvPr id="25" name="矩形: 圓角 24">
              <a:extLst>
                <a:ext uri="{FF2B5EF4-FFF2-40B4-BE49-F238E27FC236}">
                  <a16:creationId xmlns:a16="http://schemas.microsoft.com/office/drawing/2014/main" id="{3BB07472-6190-498A-823D-39A3A4EC2C55}"/>
                </a:ext>
              </a:extLst>
            </p:cNvPr>
            <p:cNvSpPr/>
            <p:nvPr/>
          </p:nvSpPr>
          <p:spPr>
            <a:xfrm>
              <a:off x="3841840" y="3893850"/>
              <a:ext cx="2029069" cy="363914"/>
            </a:xfrm>
            <a:prstGeom prst="roundRect">
              <a:avLst>
                <a:gd name="adj" fmla="val 50000"/>
              </a:avLst>
            </a:prstGeom>
            <a:solidFill>
              <a:schemeClr val="bg1"/>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6" name="群組 25">
              <a:extLst>
                <a:ext uri="{FF2B5EF4-FFF2-40B4-BE49-F238E27FC236}">
                  <a16:creationId xmlns:a16="http://schemas.microsoft.com/office/drawing/2014/main" id="{08118A69-FBBD-44C3-9C0F-AF9DD3A9FACE}"/>
                </a:ext>
              </a:extLst>
            </p:cNvPr>
            <p:cNvGrpSpPr/>
            <p:nvPr/>
          </p:nvGrpSpPr>
          <p:grpSpPr>
            <a:xfrm>
              <a:off x="3454239" y="3952698"/>
              <a:ext cx="2368192" cy="246221"/>
              <a:chOff x="3336558" y="3663529"/>
              <a:chExt cx="2368192" cy="246221"/>
            </a:xfrm>
          </p:grpSpPr>
          <p:sp>
            <p:nvSpPr>
              <p:cNvPr id="27" name="箭號: 向下 26">
                <a:extLst>
                  <a:ext uri="{FF2B5EF4-FFF2-40B4-BE49-F238E27FC236}">
                    <a16:creationId xmlns:a16="http://schemas.microsoft.com/office/drawing/2014/main" id="{1E6A51DD-DC85-4FC0-94AD-214D7BE9AA99}"/>
                  </a:ext>
                </a:extLst>
              </p:cNvPr>
              <p:cNvSpPr/>
              <p:nvPr/>
            </p:nvSpPr>
            <p:spPr>
              <a:xfrm rot="16200000">
                <a:off x="3429375" y="3629947"/>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27">
                <a:extLst>
                  <a:ext uri="{FF2B5EF4-FFF2-40B4-BE49-F238E27FC236}">
                    <a16:creationId xmlns:a16="http://schemas.microsoft.com/office/drawing/2014/main" id="{5B400486-A258-4D8B-AF72-7C3C642A76D3}"/>
                  </a:ext>
                </a:extLst>
              </p:cNvPr>
              <p:cNvSpPr/>
              <p:nvPr/>
            </p:nvSpPr>
            <p:spPr>
              <a:xfrm>
                <a:off x="3840137" y="3663529"/>
                <a:ext cx="1864613" cy="246221"/>
              </a:xfrm>
              <a:prstGeom prst="rect">
                <a:avLst/>
              </a:prstGeom>
            </p:spPr>
            <p:txBody>
              <a:bodyPr wrap="none">
                <a:spAutoFit/>
              </a:bodyPr>
              <a:lstStyle/>
              <a:p>
                <a:r>
                  <a:rPr lang="en-US" altLang="zh-TW" sz="1000" b="1" dirty="0">
                    <a:latin typeface="Montserrat" panose="02020500000000000000" charset="0"/>
                  </a:rPr>
                  <a:t>Bandwidth manipulation</a:t>
                </a:r>
              </a:p>
            </p:txBody>
          </p:sp>
        </p:grpSp>
      </p:grpSp>
    </p:spTree>
    <p:extLst>
      <p:ext uri="{BB962C8B-B14F-4D97-AF65-F5344CB8AC3E}">
        <p14:creationId xmlns:p14="http://schemas.microsoft.com/office/powerpoint/2010/main" val="3168291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287258" cy="261610"/>
          </a:xfrm>
          <a:prstGeom prst="rect">
            <a:avLst/>
          </a:prstGeom>
          <a:noFill/>
        </p:spPr>
        <p:txBody>
          <a:bodyPr wrap="none" rtlCol="0">
            <a:spAutoFit/>
          </a:bodyPr>
          <a:lstStyle/>
          <a:p>
            <a:r>
              <a:rPr lang="en-US" altLang="zh-TW" sz="1100" dirty="0">
                <a:latin typeface="Montserrat" panose="02020500000000000000" charset="0"/>
              </a:rPr>
              <a:t>11</a:t>
            </a:r>
            <a:endParaRPr lang="zh-TW" altLang="en-US" sz="1100" dirty="0">
              <a:latin typeface="Montserrat" panose="02020500000000000000" charset="0"/>
            </a:endParaRPr>
          </a:p>
        </p:txBody>
      </p:sp>
      <p:sp>
        <p:nvSpPr>
          <p:cNvPr id="34" name="箭號: 左-右雙向 33">
            <a:extLst>
              <a:ext uri="{FF2B5EF4-FFF2-40B4-BE49-F238E27FC236}">
                <a16:creationId xmlns:a16="http://schemas.microsoft.com/office/drawing/2014/main" id="{70447F71-42AC-4737-B351-AC335CF6C0CA}"/>
              </a:ext>
            </a:extLst>
          </p:cNvPr>
          <p:cNvSpPr/>
          <p:nvPr/>
        </p:nvSpPr>
        <p:spPr>
          <a:xfrm rot="10800000">
            <a:off x="251941"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a:off x="251941"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Google Shape;212;p36">
            <a:extLst>
              <a:ext uri="{FF2B5EF4-FFF2-40B4-BE49-F238E27FC236}">
                <a16:creationId xmlns:a16="http://schemas.microsoft.com/office/drawing/2014/main" id="{D370E291-877F-482D-8450-A250CA4EE64A}"/>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sp>
        <p:nvSpPr>
          <p:cNvPr id="22" name="矩形 21">
            <a:extLst>
              <a:ext uri="{FF2B5EF4-FFF2-40B4-BE49-F238E27FC236}">
                <a16:creationId xmlns:a16="http://schemas.microsoft.com/office/drawing/2014/main" id="{D3D7E9EF-6F5B-46F1-A904-2CAAEEA92202}"/>
              </a:ext>
            </a:extLst>
          </p:cNvPr>
          <p:cNvSpPr/>
          <p:nvPr/>
        </p:nvSpPr>
        <p:spPr>
          <a:xfrm>
            <a:off x="2910840" y="1074420"/>
            <a:ext cx="3322320" cy="2994660"/>
          </a:xfrm>
          <a:prstGeom prst="rect">
            <a:avLst/>
          </a:prstGeom>
          <a:blipFill dpi="0" rotWithShape="1">
            <a:blip r:embed="rId3">
              <a:alphaModFix amt="2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305D035D-C6D8-4C13-9476-242D68D24293}"/>
              </a:ext>
            </a:extLst>
          </p:cNvPr>
          <p:cNvSpPr/>
          <p:nvPr/>
        </p:nvSpPr>
        <p:spPr>
          <a:xfrm>
            <a:off x="96752" y="2250871"/>
            <a:ext cx="1007007" cy="230832"/>
          </a:xfrm>
          <a:prstGeom prst="rect">
            <a:avLst/>
          </a:prstGeom>
        </p:spPr>
        <p:txBody>
          <a:bodyPr wrap="none">
            <a:spAutoFit/>
          </a:bodyPr>
          <a:lstStyle/>
          <a:p>
            <a:r>
              <a:rPr lang="en-US" altLang="zh-TW" sz="900" dirty="0">
                <a:latin typeface="Montserrat" panose="02020500000000000000" charset="0"/>
              </a:rPr>
              <a:t>Pump, 785nm</a:t>
            </a:r>
          </a:p>
        </p:txBody>
      </p:sp>
      <p:sp>
        <p:nvSpPr>
          <p:cNvPr id="16" name="矩形 15">
            <a:extLst>
              <a:ext uri="{FF2B5EF4-FFF2-40B4-BE49-F238E27FC236}">
                <a16:creationId xmlns:a16="http://schemas.microsoft.com/office/drawing/2014/main" id="{3D1B9F46-BD08-4DFE-864E-D3E23375EDB3}"/>
              </a:ext>
            </a:extLst>
          </p:cNvPr>
          <p:cNvSpPr/>
          <p:nvPr/>
        </p:nvSpPr>
        <p:spPr>
          <a:xfrm>
            <a:off x="436060" y="951309"/>
            <a:ext cx="1037463" cy="246221"/>
          </a:xfrm>
          <a:prstGeom prst="rect">
            <a:avLst/>
          </a:prstGeom>
        </p:spPr>
        <p:txBody>
          <a:bodyPr wrap="none">
            <a:spAutoFit/>
          </a:bodyPr>
          <a:lstStyle/>
          <a:p>
            <a:r>
              <a:rPr lang="en-US" altLang="zh-TW" sz="1000" b="1" dirty="0">
                <a:latin typeface="Montserrat" panose="02020500000000000000" charset="0"/>
              </a:rPr>
              <a:t>Non voltage</a:t>
            </a:r>
          </a:p>
        </p:txBody>
      </p:sp>
    </p:spTree>
    <p:extLst>
      <p:ext uri="{BB962C8B-B14F-4D97-AF65-F5344CB8AC3E}">
        <p14:creationId xmlns:p14="http://schemas.microsoft.com/office/powerpoint/2010/main" val="1064378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9984B383-83C3-4F82-8C22-8F47F3324D77}"/>
              </a:ext>
            </a:extLst>
          </p:cNvPr>
          <p:cNvSpPr/>
          <p:nvPr/>
        </p:nvSpPr>
        <p:spPr>
          <a:xfrm>
            <a:off x="2910840" y="1074420"/>
            <a:ext cx="3322320" cy="2994660"/>
          </a:xfrm>
          <a:prstGeom prst="rect">
            <a:avLst/>
          </a:prstGeom>
          <a:blipFill dpi="0" rotWithShape="1">
            <a:blip r:embed="rId3">
              <a:alphaModFix amt="2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16112" cy="261610"/>
          </a:xfrm>
          <a:prstGeom prst="rect">
            <a:avLst/>
          </a:prstGeom>
          <a:noFill/>
        </p:spPr>
        <p:txBody>
          <a:bodyPr wrap="none" rtlCol="0">
            <a:spAutoFit/>
          </a:bodyPr>
          <a:lstStyle/>
          <a:p>
            <a:r>
              <a:rPr lang="en-US" altLang="zh-TW" sz="1100" dirty="0">
                <a:latin typeface="Montserrat" panose="02020500000000000000" charset="0"/>
              </a:rPr>
              <a:t>12</a:t>
            </a:r>
            <a:endParaRPr lang="zh-TW" altLang="en-US" sz="1100" dirty="0">
              <a:latin typeface="Montserrat" panose="02020500000000000000" charset="0"/>
            </a:endParaRPr>
          </a:p>
        </p:txBody>
      </p:sp>
      <p:sp>
        <p:nvSpPr>
          <p:cNvPr id="34" name="箭號: 左-右雙向 33">
            <a:extLst>
              <a:ext uri="{FF2B5EF4-FFF2-40B4-BE49-F238E27FC236}">
                <a16:creationId xmlns:a16="http://schemas.microsoft.com/office/drawing/2014/main" id="{70447F71-42AC-4737-B351-AC335CF6C0CA}"/>
              </a:ext>
            </a:extLst>
          </p:cNvPr>
          <p:cNvSpPr/>
          <p:nvPr/>
        </p:nvSpPr>
        <p:spPr>
          <a:xfrm rot="5400000">
            <a:off x="3287617"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a:off x="3299885"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Google Shape;212;p36">
            <a:extLst>
              <a:ext uri="{FF2B5EF4-FFF2-40B4-BE49-F238E27FC236}">
                <a16:creationId xmlns:a16="http://schemas.microsoft.com/office/drawing/2014/main" id="{7F5CECB6-0DC8-4336-AF9D-A447E195820F}"/>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sp>
        <p:nvSpPr>
          <p:cNvPr id="15" name="矩形 14">
            <a:extLst>
              <a:ext uri="{FF2B5EF4-FFF2-40B4-BE49-F238E27FC236}">
                <a16:creationId xmlns:a16="http://schemas.microsoft.com/office/drawing/2014/main" id="{A52E6C09-AAF2-4BE3-997A-C3B8346F9115}"/>
              </a:ext>
            </a:extLst>
          </p:cNvPr>
          <p:cNvSpPr/>
          <p:nvPr/>
        </p:nvSpPr>
        <p:spPr>
          <a:xfrm>
            <a:off x="436060" y="951309"/>
            <a:ext cx="1037463" cy="246221"/>
          </a:xfrm>
          <a:prstGeom prst="rect">
            <a:avLst/>
          </a:prstGeom>
        </p:spPr>
        <p:txBody>
          <a:bodyPr wrap="none">
            <a:spAutoFit/>
          </a:bodyPr>
          <a:lstStyle/>
          <a:p>
            <a:r>
              <a:rPr lang="en-US" altLang="zh-TW" sz="1000" b="1" dirty="0">
                <a:latin typeface="Montserrat" panose="02020500000000000000" charset="0"/>
              </a:rPr>
              <a:t>Non voltage</a:t>
            </a:r>
          </a:p>
        </p:txBody>
      </p:sp>
    </p:spTree>
    <p:extLst>
      <p:ext uri="{BB962C8B-B14F-4D97-AF65-F5344CB8AC3E}">
        <p14:creationId xmlns:p14="http://schemas.microsoft.com/office/powerpoint/2010/main" val="1656838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88EA1ACE-51D9-4759-B886-CE8180095A76}"/>
              </a:ext>
            </a:extLst>
          </p:cNvPr>
          <p:cNvSpPr/>
          <p:nvPr/>
        </p:nvSpPr>
        <p:spPr>
          <a:xfrm>
            <a:off x="2910840" y="1074420"/>
            <a:ext cx="3322320" cy="2994660"/>
          </a:xfrm>
          <a:prstGeom prst="rect">
            <a:avLst/>
          </a:prstGeom>
          <a:blipFill dpi="0" rotWithShape="1">
            <a:blip r:embed="rId3">
              <a:alphaModFix amt="2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16112" cy="261610"/>
          </a:xfrm>
          <a:prstGeom prst="rect">
            <a:avLst/>
          </a:prstGeom>
          <a:noFill/>
        </p:spPr>
        <p:txBody>
          <a:bodyPr wrap="none" rtlCol="0">
            <a:spAutoFit/>
          </a:bodyPr>
          <a:lstStyle/>
          <a:p>
            <a:r>
              <a:rPr lang="en-US" altLang="zh-TW" sz="1100" dirty="0">
                <a:latin typeface="Montserrat" panose="02020500000000000000" charset="0"/>
              </a:rPr>
              <a:t>13</a:t>
            </a:r>
            <a:endParaRPr lang="zh-TW" altLang="en-US" sz="1100" dirty="0">
              <a:latin typeface="Montserrat" panose="02020500000000000000" charset="0"/>
            </a:endParaRPr>
          </a:p>
        </p:txBody>
      </p:sp>
      <p:sp>
        <p:nvSpPr>
          <p:cNvPr id="34" name="箭號: 左-右雙向 33">
            <a:extLst>
              <a:ext uri="{FF2B5EF4-FFF2-40B4-BE49-F238E27FC236}">
                <a16:creationId xmlns:a16="http://schemas.microsoft.com/office/drawing/2014/main" id="{70447F71-42AC-4737-B351-AC335CF6C0CA}"/>
              </a:ext>
            </a:extLst>
          </p:cNvPr>
          <p:cNvSpPr/>
          <p:nvPr/>
        </p:nvSpPr>
        <p:spPr>
          <a:xfrm rot="5400000">
            <a:off x="6044627"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a:off x="5531115"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Google Shape;212;p36">
            <a:extLst>
              <a:ext uri="{FF2B5EF4-FFF2-40B4-BE49-F238E27FC236}">
                <a16:creationId xmlns:a16="http://schemas.microsoft.com/office/drawing/2014/main" id="{54CA44D7-2B60-49E2-9CC8-32966D82003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sp>
        <p:nvSpPr>
          <p:cNvPr id="23" name="矩形 22">
            <a:extLst>
              <a:ext uri="{FF2B5EF4-FFF2-40B4-BE49-F238E27FC236}">
                <a16:creationId xmlns:a16="http://schemas.microsoft.com/office/drawing/2014/main" id="{46CAA28F-D560-47CB-A5A2-215F58FD0152}"/>
              </a:ext>
            </a:extLst>
          </p:cNvPr>
          <p:cNvSpPr/>
          <p:nvPr/>
        </p:nvSpPr>
        <p:spPr>
          <a:xfrm>
            <a:off x="436060" y="951309"/>
            <a:ext cx="1037463" cy="246221"/>
          </a:xfrm>
          <a:prstGeom prst="rect">
            <a:avLst/>
          </a:prstGeom>
        </p:spPr>
        <p:txBody>
          <a:bodyPr wrap="none">
            <a:spAutoFit/>
          </a:bodyPr>
          <a:lstStyle/>
          <a:p>
            <a:r>
              <a:rPr lang="en-US" altLang="zh-TW" sz="1000" b="1" dirty="0">
                <a:latin typeface="Montserrat" panose="02020500000000000000" charset="0"/>
              </a:rPr>
              <a:t>Non voltage</a:t>
            </a:r>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7AF6919A-953E-4B50-801C-2924DA8D15DA}"/>
                  </a:ext>
                </a:extLst>
              </p:cNvPr>
              <p:cNvSpPr/>
              <p:nvPr/>
            </p:nvSpPr>
            <p:spPr>
              <a:xfrm>
                <a:off x="6486824" y="2456334"/>
                <a:ext cx="1043042" cy="230832"/>
              </a:xfrm>
              <a:prstGeom prst="rect">
                <a:avLst/>
              </a:prstGeom>
            </p:spPr>
            <p:txBody>
              <a:bodyPr wrap="none">
                <a:spAutoFit/>
              </a:bodyPr>
              <a:lstStyle/>
              <a:p>
                <a14:m>
                  <m:oMath xmlns:m="http://schemas.openxmlformats.org/officeDocument/2006/math">
                    <m:sSub>
                      <m:sSubPr>
                        <m:ctrlPr>
                          <a:rPr lang="en-US" altLang="zh-TW" sz="900" i="1" smtClean="0">
                            <a:latin typeface="Cambria Math" panose="02040503050406030204" pitchFamily="18" charset="0"/>
                          </a:rPr>
                        </m:ctrlPr>
                      </m:sSubPr>
                      <m:e>
                        <m:d>
                          <m:dPr>
                            <m:begChr m:val=""/>
                            <m:endChr m:val="⟩"/>
                            <m:ctrlPr>
                              <a:rPr lang="en-US" altLang="zh-TW" sz="900" i="1">
                                <a:latin typeface="Cambria Math" panose="02040503050406030204" pitchFamily="18" charset="0"/>
                              </a:rPr>
                            </m:ctrlPr>
                          </m:dPr>
                          <m:e>
                            <m:r>
                              <a:rPr lang="en-US" altLang="zh-TW" sz="900" i="1">
                                <a:latin typeface="Cambria Math" panose="02040503050406030204" pitchFamily="18" charset="0"/>
                              </a:rPr>
                              <m:t>|</m:t>
                            </m:r>
                            <m:r>
                              <a:rPr lang="en-US" altLang="zh-TW" sz="900" i="1">
                                <a:latin typeface="Cambria Math" panose="02040503050406030204" pitchFamily="18" charset="0"/>
                              </a:rPr>
                              <m:t>𝐻𝑉</m:t>
                            </m:r>
                          </m:e>
                        </m:d>
                      </m:e>
                      <m:sub>
                        <m:r>
                          <a:rPr lang="en-US" altLang="zh-TW" sz="900" b="0" i="1" smtClean="0">
                            <a:latin typeface="Cambria Math" panose="02040503050406030204" pitchFamily="18" charset="0"/>
                          </a:rPr>
                          <m:t>1570</m:t>
                        </m:r>
                      </m:sub>
                    </m:sSub>
                  </m:oMath>
                </a14:m>
                <a:r>
                  <a:rPr lang="en-US" altLang="zh-TW" sz="900" dirty="0">
                    <a:latin typeface="Montserrat" panose="02020500000000000000" charset="0"/>
                  </a:rPr>
                  <a:t>+Pump</a:t>
                </a:r>
              </a:p>
            </p:txBody>
          </p:sp>
        </mc:Choice>
        <mc:Fallback xmlns="">
          <p:sp>
            <p:nvSpPr>
              <p:cNvPr id="24" name="矩形 23">
                <a:extLst>
                  <a:ext uri="{FF2B5EF4-FFF2-40B4-BE49-F238E27FC236}">
                    <a16:creationId xmlns:a16="http://schemas.microsoft.com/office/drawing/2014/main" id="{7AF6919A-953E-4B50-801C-2924DA8D15DA}"/>
                  </a:ext>
                </a:extLst>
              </p:cNvPr>
              <p:cNvSpPr>
                <a:spLocks noRot="1" noChangeAspect="1" noMove="1" noResize="1" noEditPoints="1" noAdjustHandles="1" noChangeArrowheads="1" noChangeShapeType="1" noTextEdit="1"/>
              </p:cNvSpPr>
              <p:nvPr/>
            </p:nvSpPr>
            <p:spPr>
              <a:xfrm>
                <a:off x="6486824" y="2456334"/>
                <a:ext cx="1043042" cy="230832"/>
              </a:xfrm>
              <a:prstGeom prst="rect">
                <a:avLst/>
              </a:prstGeom>
              <a:blipFill>
                <a:blip r:embed="rId4"/>
                <a:stretch>
                  <a:fillRect t="-81579" b="-134211"/>
                </a:stretch>
              </a:blipFill>
            </p:spPr>
            <p:txBody>
              <a:bodyPr/>
              <a:lstStyle/>
              <a:p>
                <a:r>
                  <a:rPr lang="zh-TW" altLang="en-US">
                    <a:noFill/>
                  </a:rPr>
                  <a:t> </a:t>
                </a:r>
              </a:p>
            </p:txBody>
          </p:sp>
        </mc:Fallback>
      </mc:AlternateContent>
      <p:pic>
        <p:nvPicPr>
          <p:cNvPr id="16" name="圖片 15">
            <a:extLst>
              <a:ext uri="{FF2B5EF4-FFF2-40B4-BE49-F238E27FC236}">
                <a16:creationId xmlns:a16="http://schemas.microsoft.com/office/drawing/2014/main" id="{5A288AB6-4CDF-4B24-AEAB-AE58672612EB}"/>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491491" y="4222522"/>
            <a:ext cx="2210848" cy="409172"/>
          </a:xfrm>
          <a:prstGeom prst="rect">
            <a:avLst/>
          </a:prstGeom>
        </p:spPr>
      </p:pic>
      <p:sp>
        <p:nvSpPr>
          <p:cNvPr id="17" name="文字方塊 16">
            <a:extLst>
              <a:ext uri="{FF2B5EF4-FFF2-40B4-BE49-F238E27FC236}">
                <a16:creationId xmlns:a16="http://schemas.microsoft.com/office/drawing/2014/main" id="{A30BC703-C957-47BA-9EFF-C7160CA0E3D1}"/>
              </a:ext>
            </a:extLst>
          </p:cNvPr>
          <p:cNvSpPr txBox="1"/>
          <p:nvPr/>
        </p:nvSpPr>
        <p:spPr>
          <a:xfrm>
            <a:off x="6130400" y="4303997"/>
            <a:ext cx="314510" cy="246221"/>
          </a:xfrm>
          <a:prstGeom prst="rect">
            <a:avLst/>
          </a:prstGeom>
          <a:noFill/>
        </p:spPr>
        <p:txBody>
          <a:bodyPr wrap="none" rtlCol="0">
            <a:spAutoFit/>
          </a:bodyPr>
          <a:lstStyle/>
          <a:p>
            <a:r>
              <a:rPr lang="en-US" altLang="zh-TW" sz="1000" dirty="0">
                <a:latin typeface="Montserrat" panose="02020500000000000000" charset="0"/>
              </a:rPr>
              <a:t>(1)</a:t>
            </a:r>
            <a:endParaRPr lang="zh-TW" altLang="en-US" sz="1000" dirty="0">
              <a:latin typeface="Montserrat" panose="02020500000000000000" charset="0"/>
            </a:endParaRPr>
          </a:p>
        </p:txBody>
      </p:sp>
      <p:sp>
        <p:nvSpPr>
          <p:cNvPr id="18" name="文字方塊 17">
            <a:extLst>
              <a:ext uri="{FF2B5EF4-FFF2-40B4-BE49-F238E27FC236}">
                <a16:creationId xmlns:a16="http://schemas.microsoft.com/office/drawing/2014/main" id="{A3FDB427-2B2E-4999-9685-D8C86AA070BB}"/>
              </a:ext>
            </a:extLst>
          </p:cNvPr>
          <p:cNvSpPr txBox="1"/>
          <p:nvPr/>
        </p:nvSpPr>
        <p:spPr>
          <a:xfrm>
            <a:off x="7557283" y="4804946"/>
            <a:ext cx="1204176" cy="338554"/>
          </a:xfrm>
          <a:prstGeom prst="rect">
            <a:avLst/>
          </a:prstGeom>
          <a:noFill/>
        </p:spPr>
        <p:txBody>
          <a:bodyPr wrap="none" rtlCol="0">
            <a:spAutoFit/>
          </a:bodyPr>
          <a:lstStyle/>
          <a:p>
            <a:r>
              <a:rPr lang="en-US" altLang="zh-TW" sz="800" dirty="0">
                <a:solidFill>
                  <a:schemeClr val="tx1"/>
                </a:solidFill>
                <a:latin typeface="Montserrat" panose="02020500000000000000" charset="0"/>
              </a:rPr>
              <a:t>(Ming et al.)</a:t>
            </a:r>
          </a:p>
          <a:p>
            <a:r>
              <a:rPr lang="en-US" altLang="zh-TW" sz="800" dirty="0">
                <a:solidFill>
                  <a:schemeClr val="tx1"/>
                </a:solidFill>
                <a:latin typeface="Montserrat" panose="02020500000000000000" charset="0"/>
              </a:rPr>
              <a:t>(Herzog et al., 2008)</a:t>
            </a:r>
          </a:p>
        </p:txBody>
      </p:sp>
    </p:spTree>
    <p:extLst>
      <p:ext uri="{BB962C8B-B14F-4D97-AF65-F5344CB8AC3E}">
        <p14:creationId xmlns:p14="http://schemas.microsoft.com/office/powerpoint/2010/main" val="1236800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2;p36">
            <a:extLst>
              <a:ext uri="{FF2B5EF4-FFF2-40B4-BE49-F238E27FC236}">
                <a16:creationId xmlns:a16="http://schemas.microsoft.com/office/drawing/2014/main" id="{9FF38687-0A8C-425F-851B-1B4CA6246984}"/>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矩形 12">
            <a:extLst>
              <a:ext uri="{FF2B5EF4-FFF2-40B4-BE49-F238E27FC236}">
                <a16:creationId xmlns:a16="http://schemas.microsoft.com/office/drawing/2014/main" id="{15819057-7A09-4FF2-94FA-F097C7BEF459}"/>
              </a:ext>
            </a:extLst>
          </p:cNvPr>
          <p:cNvSpPr/>
          <p:nvPr/>
        </p:nvSpPr>
        <p:spPr>
          <a:xfrm>
            <a:off x="2910840" y="1074420"/>
            <a:ext cx="3322320" cy="2994660"/>
          </a:xfrm>
          <a:prstGeom prst="rect">
            <a:avLst/>
          </a:prstGeom>
          <a:blipFill dpi="0" rotWithShape="1">
            <a:blip r:embed="rId3">
              <a:alphaModFix amt="4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a:extLst>
              <a:ext uri="{FF2B5EF4-FFF2-40B4-BE49-F238E27FC236}">
                <a16:creationId xmlns:a16="http://schemas.microsoft.com/office/drawing/2014/main" id="{ACF45B1A-1D3E-4841-A1A5-CE5AE3796A32}"/>
              </a:ext>
            </a:extLst>
          </p:cNvPr>
          <p:cNvCxnSpPr/>
          <p:nvPr/>
        </p:nvCxnSpPr>
        <p:spPr>
          <a:xfrm>
            <a:off x="3661410" y="914400"/>
            <a:ext cx="1821180" cy="0"/>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A5CFF21D-1602-410A-A40D-B5F4EEB62AC0}"/>
              </a:ext>
            </a:extLst>
          </p:cNvPr>
          <p:cNvCxnSpPr>
            <a:cxnSpLocks/>
          </p:cNvCxnSpPr>
          <p:nvPr/>
        </p:nvCxnSpPr>
        <p:spPr>
          <a:xfrm>
            <a:off x="3672840" y="90678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F6EABED-B148-48D4-B35B-1F4F344F38AA}"/>
              </a:ext>
            </a:extLst>
          </p:cNvPr>
          <p:cNvCxnSpPr>
            <a:cxnSpLocks/>
          </p:cNvCxnSpPr>
          <p:nvPr/>
        </p:nvCxnSpPr>
        <p:spPr>
          <a:xfrm>
            <a:off x="5479380" y="89916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8B80520E-2D71-4349-8951-7F110D06627D}"/>
              </a:ext>
            </a:extLst>
          </p:cNvPr>
          <p:cNvSpPr/>
          <p:nvPr/>
        </p:nvSpPr>
        <p:spPr>
          <a:xfrm>
            <a:off x="4396110" y="722542"/>
            <a:ext cx="360000" cy="36000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accent4">
                    <a:lumMod val="50000"/>
                  </a:schemeClr>
                </a:solidFill>
                <a:latin typeface="Montserrat" panose="02020500000000000000" charset="0"/>
              </a:rPr>
              <a:t>V</a:t>
            </a:r>
            <a:endParaRPr lang="zh-TW" altLang="en-US" b="1" dirty="0">
              <a:solidFill>
                <a:schemeClr val="accent4">
                  <a:lumMod val="50000"/>
                </a:schemeClr>
              </a:solidFill>
              <a:latin typeface="Montserrat" panose="02020500000000000000" charset="0"/>
            </a:endParaRPr>
          </a:p>
        </p:txBody>
      </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28936" cy="261610"/>
          </a:xfrm>
          <a:prstGeom prst="rect">
            <a:avLst/>
          </a:prstGeom>
          <a:noFill/>
        </p:spPr>
        <p:txBody>
          <a:bodyPr wrap="none" rtlCol="0">
            <a:spAutoFit/>
          </a:bodyPr>
          <a:lstStyle/>
          <a:p>
            <a:r>
              <a:rPr lang="en-US" altLang="zh-TW" sz="1100" dirty="0">
                <a:latin typeface="Montserrat" panose="02020500000000000000" charset="0"/>
              </a:rPr>
              <a:t>14</a:t>
            </a:r>
            <a:endParaRPr lang="zh-TW" altLang="en-US" sz="1100" dirty="0">
              <a:latin typeface="Montserrat" panose="02020500000000000000" charset="0"/>
            </a:endParaRPr>
          </a:p>
        </p:txBody>
      </p:sp>
      <p:sp>
        <p:nvSpPr>
          <p:cNvPr id="2" name="矩形 1">
            <a:extLst>
              <a:ext uri="{FF2B5EF4-FFF2-40B4-BE49-F238E27FC236}">
                <a16:creationId xmlns:a16="http://schemas.microsoft.com/office/drawing/2014/main" id="{6F508414-1E3D-426E-B729-B1716B04E132}"/>
              </a:ext>
            </a:extLst>
          </p:cNvPr>
          <p:cNvSpPr/>
          <p:nvPr/>
        </p:nvSpPr>
        <p:spPr>
          <a:xfrm>
            <a:off x="0" y="706912"/>
            <a:ext cx="9144000" cy="3698416"/>
          </a:xfrm>
          <a:prstGeom prst="rect">
            <a:avLst/>
          </a:prstGeom>
          <a:solidFill>
            <a:schemeClr val="accent6">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左-右雙向 33">
            <a:extLst>
              <a:ext uri="{FF2B5EF4-FFF2-40B4-BE49-F238E27FC236}">
                <a16:creationId xmlns:a16="http://schemas.microsoft.com/office/drawing/2014/main" id="{70447F71-42AC-4737-B351-AC335CF6C0CA}"/>
              </a:ext>
            </a:extLst>
          </p:cNvPr>
          <p:cNvSpPr/>
          <p:nvPr/>
        </p:nvSpPr>
        <p:spPr>
          <a:xfrm rot="10800000">
            <a:off x="245807"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a:off x="250455"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矩形 19">
            <a:extLst>
              <a:ext uri="{FF2B5EF4-FFF2-40B4-BE49-F238E27FC236}">
                <a16:creationId xmlns:a16="http://schemas.microsoft.com/office/drawing/2014/main" id="{8B906425-3600-4772-AEA4-882823B08272}"/>
              </a:ext>
            </a:extLst>
          </p:cNvPr>
          <p:cNvSpPr/>
          <p:nvPr/>
        </p:nvSpPr>
        <p:spPr>
          <a:xfrm>
            <a:off x="137731" y="2250871"/>
            <a:ext cx="1007007" cy="230832"/>
          </a:xfrm>
          <a:prstGeom prst="rect">
            <a:avLst/>
          </a:prstGeom>
        </p:spPr>
        <p:txBody>
          <a:bodyPr wrap="none">
            <a:spAutoFit/>
          </a:bodyPr>
          <a:lstStyle/>
          <a:p>
            <a:r>
              <a:rPr lang="en-US" altLang="zh-TW" sz="900" dirty="0">
                <a:latin typeface="Montserrat" panose="02020500000000000000" charset="0"/>
              </a:rPr>
              <a:t>Pump, 785nm</a:t>
            </a:r>
          </a:p>
        </p:txBody>
      </p:sp>
      <p:sp>
        <p:nvSpPr>
          <p:cNvPr id="21" name="矩形 20">
            <a:extLst>
              <a:ext uri="{FF2B5EF4-FFF2-40B4-BE49-F238E27FC236}">
                <a16:creationId xmlns:a16="http://schemas.microsoft.com/office/drawing/2014/main" id="{8E9DADD5-5762-4023-91C6-7B22DE7B693C}"/>
              </a:ext>
            </a:extLst>
          </p:cNvPr>
          <p:cNvSpPr/>
          <p:nvPr/>
        </p:nvSpPr>
        <p:spPr>
          <a:xfrm>
            <a:off x="401300" y="854744"/>
            <a:ext cx="2323072" cy="507511"/>
          </a:xfrm>
          <a:prstGeom prst="rect">
            <a:avLst/>
          </a:prstGeom>
        </p:spPr>
        <p:txBody>
          <a:bodyPr wrap="none">
            <a:spAutoFit/>
          </a:bodyPr>
          <a:lstStyle/>
          <a:p>
            <a:pPr>
              <a:lnSpc>
                <a:spcPct val="150000"/>
              </a:lnSpc>
            </a:pPr>
            <a:r>
              <a:rPr lang="en-US" altLang="zh-TW" sz="1000" b="1" dirty="0">
                <a:latin typeface="Montserrat" panose="02020500000000000000" charset="0"/>
              </a:rPr>
              <a:t>Applied voltage</a:t>
            </a:r>
          </a:p>
          <a:p>
            <a:pPr>
              <a:lnSpc>
                <a:spcPct val="150000"/>
              </a:lnSpc>
            </a:pPr>
            <a:r>
              <a:rPr lang="en-US" altLang="zh-TW" sz="900" dirty="0">
                <a:latin typeface="Montserrat" panose="02020500000000000000" charset="0"/>
              </a:rPr>
              <a:t>Photons generate at the first domain</a:t>
            </a:r>
          </a:p>
        </p:txBody>
      </p:sp>
    </p:spTree>
    <p:extLst>
      <p:ext uri="{BB962C8B-B14F-4D97-AF65-F5344CB8AC3E}">
        <p14:creationId xmlns:p14="http://schemas.microsoft.com/office/powerpoint/2010/main" val="649983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2;p36">
            <a:extLst>
              <a:ext uri="{FF2B5EF4-FFF2-40B4-BE49-F238E27FC236}">
                <a16:creationId xmlns:a16="http://schemas.microsoft.com/office/drawing/2014/main" id="{9FF38687-0A8C-425F-851B-1B4CA6246984}"/>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矩形 12">
            <a:extLst>
              <a:ext uri="{FF2B5EF4-FFF2-40B4-BE49-F238E27FC236}">
                <a16:creationId xmlns:a16="http://schemas.microsoft.com/office/drawing/2014/main" id="{15819057-7A09-4FF2-94FA-F097C7BEF459}"/>
              </a:ext>
            </a:extLst>
          </p:cNvPr>
          <p:cNvSpPr/>
          <p:nvPr/>
        </p:nvSpPr>
        <p:spPr>
          <a:xfrm>
            <a:off x="2910840" y="1074420"/>
            <a:ext cx="3322320" cy="2994660"/>
          </a:xfrm>
          <a:prstGeom prst="rect">
            <a:avLst/>
          </a:prstGeom>
          <a:blipFill dpi="0" rotWithShape="1">
            <a:blip r:embed="rId3">
              <a:alphaModFix amt="4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a:extLst>
              <a:ext uri="{FF2B5EF4-FFF2-40B4-BE49-F238E27FC236}">
                <a16:creationId xmlns:a16="http://schemas.microsoft.com/office/drawing/2014/main" id="{ACF45B1A-1D3E-4841-A1A5-CE5AE3796A32}"/>
              </a:ext>
            </a:extLst>
          </p:cNvPr>
          <p:cNvCxnSpPr/>
          <p:nvPr/>
        </p:nvCxnSpPr>
        <p:spPr>
          <a:xfrm>
            <a:off x="3661410" y="914400"/>
            <a:ext cx="1821180" cy="0"/>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A5CFF21D-1602-410A-A40D-B5F4EEB62AC0}"/>
              </a:ext>
            </a:extLst>
          </p:cNvPr>
          <p:cNvCxnSpPr>
            <a:cxnSpLocks/>
          </p:cNvCxnSpPr>
          <p:nvPr/>
        </p:nvCxnSpPr>
        <p:spPr>
          <a:xfrm>
            <a:off x="3672840" y="90678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F6EABED-B148-48D4-B35B-1F4F344F38AA}"/>
              </a:ext>
            </a:extLst>
          </p:cNvPr>
          <p:cNvCxnSpPr>
            <a:cxnSpLocks/>
          </p:cNvCxnSpPr>
          <p:nvPr/>
        </p:nvCxnSpPr>
        <p:spPr>
          <a:xfrm>
            <a:off x="5479380" y="89916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8B80520E-2D71-4349-8951-7F110D06627D}"/>
              </a:ext>
            </a:extLst>
          </p:cNvPr>
          <p:cNvSpPr/>
          <p:nvPr/>
        </p:nvSpPr>
        <p:spPr>
          <a:xfrm>
            <a:off x="4396110" y="722542"/>
            <a:ext cx="360000" cy="36000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accent4">
                    <a:lumMod val="50000"/>
                  </a:schemeClr>
                </a:solidFill>
                <a:latin typeface="Montserrat" panose="02020500000000000000" charset="0"/>
              </a:rPr>
              <a:t>V</a:t>
            </a:r>
            <a:endParaRPr lang="zh-TW" altLang="en-US" b="1" dirty="0">
              <a:solidFill>
                <a:schemeClr val="accent4">
                  <a:lumMod val="50000"/>
                </a:schemeClr>
              </a:solidFill>
              <a:latin typeface="Montserrat" panose="02020500000000000000" charset="0"/>
            </a:endParaRPr>
          </a:p>
        </p:txBody>
      </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16112" cy="261610"/>
          </a:xfrm>
          <a:prstGeom prst="rect">
            <a:avLst/>
          </a:prstGeom>
          <a:noFill/>
        </p:spPr>
        <p:txBody>
          <a:bodyPr wrap="none" rtlCol="0">
            <a:spAutoFit/>
          </a:bodyPr>
          <a:lstStyle/>
          <a:p>
            <a:r>
              <a:rPr lang="en-US" altLang="zh-TW" sz="1100" dirty="0">
                <a:latin typeface="Montserrat" panose="02020500000000000000" charset="0"/>
              </a:rPr>
              <a:t>15</a:t>
            </a:r>
            <a:endParaRPr lang="zh-TW" altLang="en-US" sz="1100" dirty="0">
              <a:latin typeface="Montserrat" panose="02020500000000000000" charset="0"/>
            </a:endParaRPr>
          </a:p>
        </p:txBody>
      </p:sp>
      <p:sp>
        <p:nvSpPr>
          <p:cNvPr id="2" name="矩形 1">
            <a:extLst>
              <a:ext uri="{FF2B5EF4-FFF2-40B4-BE49-F238E27FC236}">
                <a16:creationId xmlns:a16="http://schemas.microsoft.com/office/drawing/2014/main" id="{6F508414-1E3D-426E-B729-B1716B04E132}"/>
              </a:ext>
            </a:extLst>
          </p:cNvPr>
          <p:cNvSpPr/>
          <p:nvPr/>
        </p:nvSpPr>
        <p:spPr>
          <a:xfrm>
            <a:off x="0" y="706912"/>
            <a:ext cx="9144000" cy="3758018"/>
          </a:xfrm>
          <a:prstGeom prst="rect">
            <a:avLst/>
          </a:prstGeom>
          <a:solidFill>
            <a:schemeClr val="accent6">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左-右雙向 33">
            <a:extLst>
              <a:ext uri="{FF2B5EF4-FFF2-40B4-BE49-F238E27FC236}">
                <a16:creationId xmlns:a16="http://schemas.microsoft.com/office/drawing/2014/main" id="{70447F71-42AC-4737-B351-AC335CF6C0CA}"/>
              </a:ext>
            </a:extLst>
          </p:cNvPr>
          <p:cNvSpPr/>
          <p:nvPr/>
        </p:nvSpPr>
        <p:spPr>
          <a:xfrm rot="5400000">
            <a:off x="3287639"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a:off x="3299907"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 name="矩形 18">
            <a:extLst>
              <a:ext uri="{FF2B5EF4-FFF2-40B4-BE49-F238E27FC236}">
                <a16:creationId xmlns:a16="http://schemas.microsoft.com/office/drawing/2014/main" id="{C7630421-0F76-417D-98E8-BF2FC7D90FC8}"/>
              </a:ext>
            </a:extLst>
          </p:cNvPr>
          <p:cNvSpPr/>
          <p:nvPr/>
        </p:nvSpPr>
        <p:spPr>
          <a:xfrm>
            <a:off x="401300" y="854744"/>
            <a:ext cx="2323072" cy="507511"/>
          </a:xfrm>
          <a:prstGeom prst="rect">
            <a:avLst/>
          </a:prstGeom>
        </p:spPr>
        <p:txBody>
          <a:bodyPr wrap="none">
            <a:spAutoFit/>
          </a:bodyPr>
          <a:lstStyle/>
          <a:p>
            <a:pPr>
              <a:lnSpc>
                <a:spcPct val="150000"/>
              </a:lnSpc>
            </a:pPr>
            <a:r>
              <a:rPr lang="en-US" altLang="zh-TW" sz="1000" b="1" dirty="0">
                <a:latin typeface="Montserrat" panose="02020500000000000000" charset="0"/>
              </a:rPr>
              <a:t>Applied voltage</a:t>
            </a:r>
          </a:p>
          <a:p>
            <a:pPr>
              <a:lnSpc>
                <a:spcPct val="150000"/>
              </a:lnSpc>
            </a:pPr>
            <a:r>
              <a:rPr lang="en-US" altLang="zh-TW" sz="900" dirty="0">
                <a:latin typeface="Montserrat" panose="02020500000000000000" charset="0"/>
              </a:rPr>
              <a:t>Photons generate at the first domain</a:t>
            </a:r>
          </a:p>
        </p:txBody>
      </p:sp>
    </p:spTree>
    <p:extLst>
      <p:ext uri="{BB962C8B-B14F-4D97-AF65-F5344CB8AC3E}">
        <p14:creationId xmlns:p14="http://schemas.microsoft.com/office/powerpoint/2010/main" val="4010314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CDD19875-1838-4DC1-8AC7-805404DEFF60}"/>
              </a:ext>
            </a:extLst>
          </p:cNvPr>
          <p:cNvSpPr/>
          <p:nvPr/>
        </p:nvSpPr>
        <p:spPr>
          <a:xfrm>
            <a:off x="4396111" y="4762499"/>
            <a:ext cx="1083270" cy="285757"/>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 name="Google Shape;212;p36">
            <a:extLst>
              <a:ext uri="{FF2B5EF4-FFF2-40B4-BE49-F238E27FC236}">
                <a16:creationId xmlns:a16="http://schemas.microsoft.com/office/drawing/2014/main" id="{9FF38687-0A8C-425F-851B-1B4CA6246984}"/>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矩形 12">
            <a:extLst>
              <a:ext uri="{FF2B5EF4-FFF2-40B4-BE49-F238E27FC236}">
                <a16:creationId xmlns:a16="http://schemas.microsoft.com/office/drawing/2014/main" id="{15819057-7A09-4FF2-94FA-F097C7BEF459}"/>
              </a:ext>
            </a:extLst>
          </p:cNvPr>
          <p:cNvSpPr/>
          <p:nvPr/>
        </p:nvSpPr>
        <p:spPr>
          <a:xfrm>
            <a:off x="2910840" y="1074420"/>
            <a:ext cx="3322320" cy="2994660"/>
          </a:xfrm>
          <a:prstGeom prst="rect">
            <a:avLst/>
          </a:prstGeom>
          <a:blipFill dpi="0" rotWithShape="1">
            <a:blip r:embed="rId3">
              <a:alphaModFix amt="4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a:extLst>
              <a:ext uri="{FF2B5EF4-FFF2-40B4-BE49-F238E27FC236}">
                <a16:creationId xmlns:a16="http://schemas.microsoft.com/office/drawing/2014/main" id="{ACF45B1A-1D3E-4841-A1A5-CE5AE3796A32}"/>
              </a:ext>
            </a:extLst>
          </p:cNvPr>
          <p:cNvCxnSpPr/>
          <p:nvPr/>
        </p:nvCxnSpPr>
        <p:spPr>
          <a:xfrm>
            <a:off x="3661410" y="914400"/>
            <a:ext cx="1821180" cy="0"/>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A5CFF21D-1602-410A-A40D-B5F4EEB62AC0}"/>
              </a:ext>
            </a:extLst>
          </p:cNvPr>
          <p:cNvCxnSpPr>
            <a:cxnSpLocks/>
          </p:cNvCxnSpPr>
          <p:nvPr/>
        </p:nvCxnSpPr>
        <p:spPr>
          <a:xfrm>
            <a:off x="3672840" y="90678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F6EABED-B148-48D4-B35B-1F4F344F38AA}"/>
              </a:ext>
            </a:extLst>
          </p:cNvPr>
          <p:cNvCxnSpPr>
            <a:cxnSpLocks/>
          </p:cNvCxnSpPr>
          <p:nvPr/>
        </p:nvCxnSpPr>
        <p:spPr>
          <a:xfrm>
            <a:off x="5479380" y="89916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8B80520E-2D71-4349-8951-7F110D06627D}"/>
              </a:ext>
            </a:extLst>
          </p:cNvPr>
          <p:cNvSpPr/>
          <p:nvPr/>
        </p:nvSpPr>
        <p:spPr>
          <a:xfrm>
            <a:off x="4396110" y="722542"/>
            <a:ext cx="360000" cy="36000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accent4">
                    <a:lumMod val="50000"/>
                  </a:schemeClr>
                </a:solidFill>
                <a:latin typeface="Montserrat" panose="02020500000000000000" charset="0"/>
              </a:rPr>
              <a:t>V</a:t>
            </a:r>
            <a:endParaRPr lang="zh-TW" altLang="en-US" b="1" dirty="0">
              <a:solidFill>
                <a:schemeClr val="accent4">
                  <a:lumMod val="50000"/>
                </a:schemeClr>
              </a:solidFill>
              <a:latin typeface="Montserrat" panose="02020500000000000000" charset="0"/>
            </a:endParaRPr>
          </a:p>
        </p:txBody>
      </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22524" cy="261610"/>
          </a:xfrm>
          <a:prstGeom prst="rect">
            <a:avLst/>
          </a:prstGeom>
          <a:noFill/>
        </p:spPr>
        <p:txBody>
          <a:bodyPr wrap="none" rtlCol="0">
            <a:spAutoFit/>
          </a:bodyPr>
          <a:lstStyle/>
          <a:p>
            <a:r>
              <a:rPr lang="en-US" altLang="zh-TW" sz="1100" dirty="0">
                <a:latin typeface="Montserrat" panose="02020500000000000000" charset="0"/>
              </a:rPr>
              <a:t>16</a:t>
            </a:r>
            <a:endParaRPr lang="zh-TW" altLang="en-US" sz="1100" dirty="0">
              <a:latin typeface="Montserrat" panose="02020500000000000000" charset="0"/>
            </a:endParaRPr>
          </a:p>
        </p:txBody>
      </p:sp>
      <p:sp>
        <p:nvSpPr>
          <p:cNvPr id="2" name="矩形 1">
            <a:extLst>
              <a:ext uri="{FF2B5EF4-FFF2-40B4-BE49-F238E27FC236}">
                <a16:creationId xmlns:a16="http://schemas.microsoft.com/office/drawing/2014/main" id="{6F508414-1E3D-426E-B729-B1716B04E132}"/>
              </a:ext>
            </a:extLst>
          </p:cNvPr>
          <p:cNvSpPr/>
          <p:nvPr/>
        </p:nvSpPr>
        <p:spPr>
          <a:xfrm>
            <a:off x="0" y="706912"/>
            <a:ext cx="9144000" cy="3514178"/>
          </a:xfrm>
          <a:prstGeom prst="rect">
            <a:avLst/>
          </a:prstGeom>
          <a:solidFill>
            <a:schemeClr val="accent6">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左-右雙向 33">
            <a:extLst>
              <a:ext uri="{FF2B5EF4-FFF2-40B4-BE49-F238E27FC236}">
                <a16:creationId xmlns:a16="http://schemas.microsoft.com/office/drawing/2014/main" id="{70447F71-42AC-4737-B351-AC335CF6C0CA}"/>
              </a:ext>
            </a:extLst>
          </p:cNvPr>
          <p:cNvSpPr/>
          <p:nvPr/>
        </p:nvSpPr>
        <p:spPr>
          <a:xfrm rot="10800000">
            <a:off x="6174167"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rot="5400000">
            <a:off x="6178815"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EE13B26E-6F34-49E6-90C8-04740832E3B1}"/>
                  </a:ext>
                </a:extLst>
              </p:cNvPr>
              <p:cNvSpPr/>
              <p:nvPr/>
            </p:nvSpPr>
            <p:spPr>
              <a:xfrm>
                <a:off x="6909497" y="2461445"/>
                <a:ext cx="1042786" cy="230832"/>
              </a:xfrm>
              <a:prstGeom prst="rect">
                <a:avLst/>
              </a:prstGeom>
            </p:spPr>
            <p:txBody>
              <a:bodyPr wrap="none">
                <a:spAutoFit/>
              </a:bodyPr>
              <a:lstStyle/>
              <a:p>
                <a14:m>
                  <m:oMath xmlns:m="http://schemas.openxmlformats.org/officeDocument/2006/math">
                    <m:sSub>
                      <m:sSubPr>
                        <m:ctrlPr>
                          <a:rPr lang="en-US" altLang="zh-TW" sz="900" i="1" smtClean="0">
                            <a:latin typeface="Cambria Math" panose="02040503050406030204" pitchFamily="18" charset="0"/>
                          </a:rPr>
                        </m:ctrlPr>
                      </m:sSubPr>
                      <m:e>
                        <m:d>
                          <m:dPr>
                            <m:begChr m:val=""/>
                            <m:endChr m:val="⟩"/>
                            <m:ctrlPr>
                              <a:rPr lang="en-US" altLang="zh-TW" sz="900" i="1">
                                <a:latin typeface="Cambria Math" panose="02040503050406030204" pitchFamily="18" charset="0"/>
                              </a:rPr>
                            </m:ctrlPr>
                          </m:dPr>
                          <m:e>
                            <m:r>
                              <a:rPr lang="en-US" altLang="zh-TW" sz="900" i="1">
                                <a:latin typeface="Cambria Math" panose="02040503050406030204" pitchFamily="18" charset="0"/>
                              </a:rPr>
                              <m:t>|</m:t>
                            </m:r>
                            <m:r>
                              <a:rPr lang="en-US" altLang="zh-TW" sz="900" b="0" i="1" smtClean="0">
                                <a:latin typeface="Cambria Math" panose="02040503050406030204" pitchFamily="18" charset="0"/>
                              </a:rPr>
                              <m:t>𝑉𝐻</m:t>
                            </m:r>
                          </m:e>
                        </m:d>
                      </m:e>
                      <m:sub>
                        <m:r>
                          <a:rPr lang="en-US" altLang="zh-TW" sz="900" b="0" i="1" smtClean="0">
                            <a:latin typeface="Cambria Math" panose="02040503050406030204" pitchFamily="18" charset="0"/>
                          </a:rPr>
                          <m:t>1570</m:t>
                        </m:r>
                      </m:sub>
                    </m:sSub>
                  </m:oMath>
                </a14:m>
                <a:r>
                  <a:rPr lang="en-US" altLang="zh-TW" sz="900" dirty="0">
                    <a:latin typeface="Montserrat" panose="02020500000000000000" charset="0"/>
                  </a:rPr>
                  <a:t>+Pump</a:t>
                </a:r>
              </a:p>
            </p:txBody>
          </p:sp>
        </mc:Choice>
        <mc:Fallback xmlns="">
          <p:sp>
            <p:nvSpPr>
              <p:cNvPr id="20" name="矩形 19">
                <a:extLst>
                  <a:ext uri="{FF2B5EF4-FFF2-40B4-BE49-F238E27FC236}">
                    <a16:creationId xmlns:a16="http://schemas.microsoft.com/office/drawing/2014/main" id="{EE13B26E-6F34-49E6-90C8-04740832E3B1}"/>
                  </a:ext>
                </a:extLst>
              </p:cNvPr>
              <p:cNvSpPr>
                <a:spLocks noRot="1" noChangeAspect="1" noMove="1" noResize="1" noEditPoints="1" noAdjustHandles="1" noChangeArrowheads="1" noChangeShapeType="1" noTextEdit="1"/>
              </p:cNvSpPr>
              <p:nvPr/>
            </p:nvSpPr>
            <p:spPr>
              <a:xfrm>
                <a:off x="6909497" y="2461445"/>
                <a:ext cx="1042786" cy="230832"/>
              </a:xfrm>
              <a:prstGeom prst="rect">
                <a:avLst/>
              </a:prstGeom>
              <a:blipFill>
                <a:blip r:embed="rId4"/>
                <a:stretch>
                  <a:fillRect t="-81579" b="-134211"/>
                </a:stretch>
              </a:blipFill>
            </p:spPr>
            <p:txBody>
              <a:bodyPr/>
              <a:lstStyle/>
              <a:p>
                <a:r>
                  <a:rPr lang="zh-TW" altLang="en-US">
                    <a:noFill/>
                  </a:rPr>
                  <a:t> </a:t>
                </a:r>
              </a:p>
            </p:txBody>
          </p:sp>
        </mc:Fallback>
      </mc:AlternateContent>
      <p:pic>
        <p:nvPicPr>
          <p:cNvPr id="21" name="圖片 20">
            <a:extLst>
              <a:ext uri="{FF2B5EF4-FFF2-40B4-BE49-F238E27FC236}">
                <a16:creationId xmlns:a16="http://schemas.microsoft.com/office/drawing/2014/main" id="{808FC1F2-A5F6-42C4-8528-3C956056D14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420763" y="4186506"/>
            <a:ext cx="4352304" cy="822435"/>
          </a:xfrm>
          <a:prstGeom prst="rect">
            <a:avLst/>
          </a:prstGeom>
        </p:spPr>
      </p:pic>
      <p:sp>
        <p:nvSpPr>
          <p:cNvPr id="23" name="矩形 22">
            <a:extLst>
              <a:ext uri="{FF2B5EF4-FFF2-40B4-BE49-F238E27FC236}">
                <a16:creationId xmlns:a16="http://schemas.microsoft.com/office/drawing/2014/main" id="{9D094185-6E2B-415C-8357-BFB9454E3BD0}"/>
              </a:ext>
            </a:extLst>
          </p:cNvPr>
          <p:cNvSpPr/>
          <p:nvPr/>
        </p:nvSpPr>
        <p:spPr>
          <a:xfrm>
            <a:off x="401300" y="854744"/>
            <a:ext cx="2323072" cy="507511"/>
          </a:xfrm>
          <a:prstGeom prst="rect">
            <a:avLst/>
          </a:prstGeom>
        </p:spPr>
        <p:txBody>
          <a:bodyPr wrap="none">
            <a:spAutoFit/>
          </a:bodyPr>
          <a:lstStyle/>
          <a:p>
            <a:pPr>
              <a:lnSpc>
                <a:spcPct val="150000"/>
              </a:lnSpc>
            </a:pPr>
            <a:r>
              <a:rPr lang="en-US" altLang="zh-TW" sz="1000" b="1" dirty="0">
                <a:latin typeface="Montserrat" panose="02020500000000000000" charset="0"/>
              </a:rPr>
              <a:t>Applied voltage</a:t>
            </a:r>
          </a:p>
          <a:p>
            <a:pPr>
              <a:lnSpc>
                <a:spcPct val="150000"/>
              </a:lnSpc>
            </a:pPr>
            <a:r>
              <a:rPr lang="en-US" altLang="zh-TW" sz="900" dirty="0">
                <a:latin typeface="Montserrat" panose="02020500000000000000" charset="0"/>
              </a:rPr>
              <a:t>Photons generate at the first domain</a:t>
            </a:r>
          </a:p>
        </p:txBody>
      </p:sp>
      <p:sp>
        <p:nvSpPr>
          <p:cNvPr id="24" name="文字方塊 23">
            <a:extLst>
              <a:ext uri="{FF2B5EF4-FFF2-40B4-BE49-F238E27FC236}">
                <a16:creationId xmlns:a16="http://schemas.microsoft.com/office/drawing/2014/main" id="{6F21852F-0D1D-4D30-9C11-C8A09AF59224}"/>
              </a:ext>
            </a:extLst>
          </p:cNvPr>
          <p:cNvSpPr txBox="1"/>
          <p:nvPr/>
        </p:nvSpPr>
        <p:spPr>
          <a:xfrm>
            <a:off x="6870797" y="4786381"/>
            <a:ext cx="340158" cy="246221"/>
          </a:xfrm>
          <a:prstGeom prst="rect">
            <a:avLst/>
          </a:prstGeom>
          <a:noFill/>
        </p:spPr>
        <p:txBody>
          <a:bodyPr wrap="none" rtlCol="0">
            <a:spAutoFit/>
          </a:bodyPr>
          <a:lstStyle/>
          <a:p>
            <a:r>
              <a:rPr lang="en-US" altLang="zh-TW" sz="1000" dirty="0">
                <a:latin typeface="Montserrat" panose="02020500000000000000" charset="0"/>
              </a:rPr>
              <a:t>(2)</a:t>
            </a:r>
            <a:endParaRPr lang="zh-TW" altLang="en-US" sz="1000" dirty="0">
              <a:latin typeface="Montserrat" panose="02020500000000000000" charset="0"/>
            </a:endParaRPr>
          </a:p>
        </p:txBody>
      </p:sp>
      <p:sp>
        <p:nvSpPr>
          <p:cNvPr id="25" name="文字方塊 24">
            <a:extLst>
              <a:ext uri="{FF2B5EF4-FFF2-40B4-BE49-F238E27FC236}">
                <a16:creationId xmlns:a16="http://schemas.microsoft.com/office/drawing/2014/main" id="{2CB14FF7-3F1A-41D2-95E1-33FB9977CBAC}"/>
              </a:ext>
            </a:extLst>
          </p:cNvPr>
          <p:cNvSpPr txBox="1"/>
          <p:nvPr/>
        </p:nvSpPr>
        <p:spPr>
          <a:xfrm>
            <a:off x="7557283" y="4804946"/>
            <a:ext cx="1204176" cy="338554"/>
          </a:xfrm>
          <a:prstGeom prst="rect">
            <a:avLst/>
          </a:prstGeom>
          <a:noFill/>
        </p:spPr>
        <p:txBody>
          <a:bodyPr wrap="none" rtlCol="0">
            <a:spAutoFit/>
          </a:bodyPr>
          <a:lstStyle/>
          <a:p>
            <a:r>
              <a:rPr lang="en-US" altLang="zh-TW" sz="800" dirty="0">
                <a:solidFill>
                  <a:schemeClr val="tx1"/>
                </a:solidFill>
                <a:latin typeface="Montserrat" panose="02020500000000000000" charset="0"/>
              </a:rPr>
              <a:t>(Ming et al.)</a:t>
            </a:r>
          </a:p>
          <a:p>
            <a:r>
              <a:rPr lang="en-US" altLang="zh-TW" sz="800" dirty="0">
                <a:solidFill>
                  <a:schemeClr val="tx1"/>
                </a:solidFill>
                <a:latin typeface="Montserrat" panose="02020500000000000000" charset="0"/>
              </a:rPr>
              <a:t>(Herzog et al., 2008)</a:t>
            </a:r>
          </a:p>
        </p:txBody>
      </p:sp>
    </p:spTree>
    <p:extLst>
      <p:ext uri="{BB962C8B-B14F-4D97-AF65-F5344CB8AC3E}">
        <p14:creationId xmlns:p14="http://schemas.microsoft.com/office/powerpoint/2010/main" val="2077539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2;p36">
            <a:extLst>
              <a:ext uri="{FF2B5EF4-FFF2-40B4-BE49-F238E27FC236}">
                <a16:creationId xmlns:a16="http://schemas.microsoft.com/office/drawing/2014/main" id="{9FF38687-0A8C-425F-851B-1B4CA6246984}"/>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矩形 12">
            <a:extLst>
              <a:ext uri="{FF2B5EF4-FFF2-40B4-BE49-F238E27FC236}">
                <a16:creationId xmlns:a16="http://schemas.microsoft.com/office/drawing/2014/main" id="{15819057-7A09-4FF2-94FA-F097C7BEF459}"/>
              </a:ext>
            </a:extLst>
          </p:cNvPr>
          <p:cNvSpPr/>
          <p:nvPr/>
        </p:nvSpPr>
        <p:spPr>
          <a:xfrm>
            <a:off x="2910840" y="1074420"/>
            <a:ext cx="3322320" cy="2994660"/>
          </a:xfrm>
          <a:prstGeom prst="rect">
            <a:avLst/>
          </a:prstGeom>
          <a:blipFill dpi="0" rotWithShape="1">
            <a:blip r:embed="rId3">
              <a:alphaModFix amt="4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a:extLst>
              <a:ext uri="{FF2B5EF4-FFF2-40B4-BE49-F238E27FC236}">
                <a16:creationId xmlns:a16="http://schemas.microsoft.com/office/drawing/2014/main" id="{ACF45B1A-1D3E-4841-A1A5-CE5AE3796A32}"/>
              </a:ext>
            </a:extLst>
          </p:cNvPr>
          <p:cNvCxnSpPr/>
          <p:nvPr/>
        </p:nvCxnSpPr>
        <p:spPr>
          <a:xfrm>
            <a:off x="3661410" y="914400"/>
            <a:ext cx="1821180" cy="0"/>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A5CFF21D-1602-410A-A40D-B5F4EEB62AC0}"/>
              </a:ext>
            </a:extLst>
          </p:cNvPr>
          <p:cNvCxnSpPr>
            <a:cxnSpLocks/>
          </p:cNvCxnSpPr>
          <p:nvPr/>
        </p:nvCxnSpPr>
        <p:spPr>
          <a:xfrm>
            <a:off x="3672840" y="90678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F6EABED-B148-48D4-B35B-1F4F344F38AA}"/>
              </a:ext>
            </a:extLst>
          </p:cNvPr>
          <p:cNvCxnSpPr>
            <a:cxnSpLocks/>
          </p:cNvCxnSpPr>
          <p:nvPr/>
        </p:nvCxnSpPr>
        <p:spPr>
          <a:xfrm>
            <a:off x="5479380" y="89916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8B80520E-2D71-4349-8951-7F110D06627D}"/>
              </a:ext>
            </a:extLst>
          </p:cNvPr>
          <p:cNvSpPr/>
          <p:nvPr/>
        </p:nvSpPr>
        <p:spPr>
          <a:xfrm>
            <a:off x="4396110" y="722542"/>
            <a:ext cx="360000" cy="36000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accent4">
                    <a:lumMod val="50000"/>
                  </a:schemeClr>
                </a:solidFill>
                <a:latin typeface="Montserrat" panose="02020500000000000000" charset="0"/>
              </a:rPr>
              <a:t>V</a:t>
            </a:r>
            <a:endParaRPr lang="zh-TW" altLang="en-US" b="1" dirty="0">
              <a:solidFill>
                <a:schemeClr val="accent4">
                  <a:lumMod val="50000"/>
                </a:schemeClr>
              </a:solidFill>
              <a:latin typeface="Montserrat" panose="02020500000000000000" charset="0"/>
            </a:endParaRPr>
          </a:p>
        </p:txBody>
      </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19318" cy="261610"/>
          </a:xfrm>
          <a:prstGeom prst="rect">
            <a:avLst/>
          </a:prstGeom>
          <a:noFill/>
        </p:spPr>
        <p:txBody>
          <a:bodyPr wrap="none" rtlCol="0">
            <a:spAutoFit/>
          </a:bodyPr>
          <a:lstStyle/>
          <a:p>
            <a:r>
              <a:rPr lang="en-US" altLang="zh-TW" sz="1100" dirty="0">
                <a:latin typeface="Montserrat" panose="02020500000000000000" charset="0"/>
              </a:rPr>
              <a:t>17</a:t>
            </a:r>
            <a:endParaRPr lang="zh-TW" altLang="en-US" sz="1100" dirty="0">
              <a:latin typeface="Montserrat" panose="02020500000000000000" charset="0"/>
            </a:endParaRPr>
          </a:p>
        </p:txBody>
      </p:sp>
      <p:sp>
        <p:nvSpPr>
          <p:cNvPr id="2" name="矩形 1">
            <a:extLst>
              <a:ext uri="{FF2B5EF4-FFF2-40B4-BE49-F238E27FC236}">
                <a16:creationId xmlns:a16="http://schemas.microsoft.com/office/drawing/2014/main" id="{6F508414-1E3D-426E-B729-B1716B04E132}"/>
              </a:ext>
            </a:extLst>
          </p:cNvPr>
          <p:cNvSpPr/>
          <p:nvPr/>
        </p:nvSpPr>
        <p:spPr>
          <a:xfrm>
            <a:off x="0" y="706912"/>
            <a:ext cx="9144000" cy="3698416"/>
          </a:xfrm>
          <a:prstGeom prst="rect">
            <a:avLst/>
          </a:prstGeom>
          <a:solidFill>
            <a:schemeClr val="accent6">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左-右雙向 33">
            <a:extLst>
              <a:ext uri="{FF2B5EF4-FFF2-40B4-BE49-F238E27FC236}">
                <a16:creationId xmlns:a16="http://schemas.microsoft.com/office/drawing/2014/main" id="{70447F71-42AC-4737-B351-AC335CF6C0CA}"/>
              </a:ext>
            </a:extLst>
          </p:cNvPr>
          <p:cNvSpPr/>
          <p:nvPr/>
        </p:nvSpPr>
        <p:spPr>
          <a:xfrm rot="10800000">
            <a:off x="245807"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a:off x="250455"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矩形 19">
            <a:extLst>
              <a:ext uri="{FF2B5EF4-FFF2-40B4-BE49-F238E27FC236}">
                <a16:creationId xmlns:a16="http://schemas.microsoft.com/office/drawing/2014/main" id="{8B906425-3600-4772-AEA4-882823B08272}"/>
              </a:ext>
            </a:extLst>
          </p:cNvPr>
          <p:cNvSpPr/>
          <p:nvPr/>
        </p:nvSpPr>
        <p:spPr>
          <a:xfrm>
            <a:off x="137731" y="2250871"/>
            <a:ext cx="1007007" cy="230832"/>
          </a:xfrm>
          <a:prstGeom prst="rect">
            <a:avLst/>
          </a:prstGeom>
        </p:spPr>
        <p:txBody>
          <a:bodyPr wrap="none">
            <a:spAutoFit/>
          </a:bodyPr>
          <a:lstStyle/>
          <a:p>
            <a:r>
              <a:rPr lang="en-US" altLang="zh-TW" sz="900" dirty="0">
                <a:latin typeface="Montserrat" panose="02020500000000000000" charset="0"/>
              </a:rPr>
              <a:t>Pump, 785nm</a:t>
            </a:r>
          </a:p>
        </p:txBody>
      </p:sp>
      <p:sp>
        <p:nvSpPr>
          <p:cNvPr id="22" name="矩形 21">
            <a:extLst>
              <a:ext uri="{FF2B5EF4-FFF2-40B4-BE49-F238E27FC236}">
                <a16:creationId xmlns:a16="http://schemas.microsoft.com/office/drawing/2014/main" id="{6758BF86-B6DB-451F-99CD-E49A0B4709A7}"/>
              </a:ext>
            </a:extLst>
          </p:cNvPr>
          <p:cNvSpPr/>
          <p:nvPr/>
        </p:nvSpPr>
        <p:spPr>
          <a:xfrm>
            <a:off x="334263" y="854744"/>
            <a:ext cx="2654894" cy="507511"/>
          </a:xfrm>
          <a:prstGeom prst="rect">
            <a:avLst/>
          </a:prstGeom>
        </p:spPr>
        <p:txBody>
          <a:bodyPr wrap="none">
            <a:spAutoFit/>
          </a:bodyPr>
          <a:lstStyle/>
          <a:p>
            <a:pPr>
              <a:lnSpc>
                <a:spcPct val="150000"/>
              </a:lnSpc>
            </a:pPr>
            <a:r>
              <a:rPr lang="en-US" altLang="zh-TW" sz="1000" b="1" dirty="0">
                <a:latin typeface="Montserrat" panose="02020500000000000000" charset="0"/>
              </a:rPr>
              <a:t>Applied voltage</a:t>
            </a:r>
          </a:p>
          <a:p>
            <a:pPr>
              <a:lnSpc>
                <a:spcPct val="150000"/>
              </a:lnSpc>
            </a:pPr>
            <a:r>
              <a:rPr lang="en-US" altLang="zh-TW" sz="900" dirty="0">
                <a:latin typeface="Montserrat" panose="02020500000000000000" charset="0"/>
              </a:rPr>
              <a:t>Photons generate at the middle of domain</a:t>
            </a:r>
          </a:p>
        </p:txBody>
      </p:sp>
    </p:spTree>
    <p:extLst>
      <p:ext uri="{BB962C8B-B14F-4D97-AF65-F5344CB8AC3E}">
        <p14:creationId xmlns:p14="http://schemas.microsoft.com/office/powerpoint/2010/main" val="3685428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2;p36">
            <a:extLst>
              <a:ext uri="{FF2B5EF4-FFF2-40B4-BE49-F238E27FC236}">
                <a16:creationId xmlns:a16="http://schemas.microsoft.com/office/drawing/2014/main" id="{9FF38687-0A8C-425F-851B-1B4CA6246984}"/>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矩形 12">
            <a:extLst>
              <a:ext uri="{FF2B5EF4-FFF2-40B4-BE49-F238E27FC236}">
                <a16:creationId xmlns:a16="http://schemas.microsoft.com/office/drawing/2014/main" id="{15819057-7A09-4FF2-94FA-F097C7BEF459}"/>
              </a:ext>
            </a:extLst>
          </p:cNvPr>
          <p:cNvSpPr/>
          <p:nvPr/>
        </p:nvSpPr>
        <p:spPr>
          <a:xfrm>
            <a:off x="2910840" y="1074420"/>
            <a:ext cx="3322320" cy="2994660"/>
          </a:xfrm>
          <a:prstGeom prst="rect">
            <a:avLst/>
          </a:prstGeom>
          <a:blipFill dpi="0" rotWithShape="1">
            <a:blip r:embed="rId3">
              <a:alphaModFix amt="4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a:extLst>
              <a:ext uri="{FF2B5EF4-FFF2-40B4-BE49-F238E27FC236}">
                <a16:creationId xmlns:a16="http://schemas.microsoft.com/office/drawing/2014/main" id="{ACF45B1A-1D3E-4841-A1A5-CE5AE3796A32}"/>
              </a:ext>
            </a:extLst>
          </p:cNvPr>
          <p:cNvCxnSpPr/>
          <p:nvPr/>
        </p:nvCxnSpPr>
        <p:spPr>
          <a:xfrm>
            <a:off x="3661410" y="914400"/>
            <a:ext cx="1821180" cy="0"/>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A5CFF21D-1602-410A-A40D-B5F4EEB62AC0}"/>
              </a:ext>
            </a:extLst>
          </p:cNvPr>
          <p:cNvCxnSpPr>
            <a:cxnSpLocks/>
          </p:cNvCxnSpPr>
          <p:nvPr/>
        </p:nvCxnSpPr>
        <p:spPr>
          <a:xfrm>
            <a:off x="3672840" y="90678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F6EABED-B148-48D4-B35B-1F4F344F38AA}"/>
              </a:ext>
            </a:extLst>
          </p:cNvPr>
          <p:cNvCxnSpPr>
            <a:cxnSpLocks/>
          </p:cNvCxnSpPr>
          <p:nvPr/>
        </p:nvCxnSpPr>
        <p:spPr>
          <a:xfrm>
            <a:off x="5479380" y="89916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8B80520E-2D71-4349-8951-7F110D06627D}"/>
              </a:ext>
            </a:extLst>
          </p:cNvPr>
          <p:cNvSpPr/>
          <p:nvPr/>
        </p:nvSpPr>
        <p:spPr>
          <a:xfrm>
            <a:off x="4396110" y="722542"/>
            <a:ext cx="360000" cy="36000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accent4">
                    <a:lumMod val="50000"/>
                  </a:schemeClr>
                </a:solidFill>
                <a:latin typeface="Montserrat" panose="02020500000000000000" charset="0"/>
              </a:rPr>
              <a:t>V</a:t>
            </a:r>
            <a:endParaRPr lang="zh-TW" altLang="en-US" b="1" dirty="0">
              <a:solidFill>
                <a:schemeClr val="accent4">
                  <a:lumMod val="50000"/>
                </a:schemeClr>
              </a:solidFill>
              <a:latin typeface="Montserrat" panose="02020500000000000000" charset="0"/>
            </a:endParaRPr>
          </a:p>
        </p:txBody>
      </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25730" cy="261610"/>
          </a:xfrm>
          <a:prstGeom prst="rect">
            <a:avLst/>
          </a:prstGeom>
          <a:noFill/>
        </p:spPr>
        <p:txBody>
          <a:bodyPr wrap="none" rtlCol="0">
            <a:spAutoFit/>
          </a:bodyPr>
          <a:lstStyle/>
          <a:p>
            <a:r>
              <a:rPr lang="en-US" altLang="zh-TW" sz="1100" dirty="0">
                <a:latin typeface="Montserrat" panose="02020500000000000000" charset="0"/>
              </a:rPr>
              <a:t>18</a:t>
            </a:r>
            <a:endParaRPr lang="zh-TW" altLang="en-US" sz="1100" dirty="0">
              <a:latin typeface="Montserrat" panose="02020500000000000000" charset="0"/>
            </a:endParaRPr>
          </a:p>
        </p:txBody>
      </p:sp>
      <p:sp>
        <p:nvSpPr>
          <p:cNvPr id="2" name="矩形 1">
            <a:extLst>
              <a:ext uri="{FF2B5EF4-FFF2-40B4-BE49-F238E27FC236}">
                <a16:creationId xmlns:a16="http://schemas.microsoft.com/office/drawing/2014/main" id="{6F508414-1E3D-426E-B729-B1716B04E132}"/>
              </a:ext>
            </a:extLst>
          </p:cNvPr>
          <p:cNvSpPr/>
          <p:nvPr/>
        </p:nvSpPr>
        <p:spPr>
          <a:xfrm>
            <a:off x="0" y="706912"/>
            <a:ext cx="9144000" cy="3758018"/>
          </a:xfrm>
          <a:prstGeom prst="rect">
            <a:avLst/>
          </a:prstGeom>
          <a:solidFill>
            <a:schemeClr val="accent6">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左-右雙向 33">
            <a:extLst>
              <a:ext uri="{FF2B5EF4-FFF2-40B4-BE49-F238E27FC236}">
                <a16:creationId xmlns:a16="http://schemas.microsoft.com/office/drawing/2014/main" id="{70447F71-42AC-4737-B351-AC335CF6C0CA}"/>
              </a:ext>
            </a:extLst>
          </p:cNvPr>
          <p:cNvSpPr/>
          <p:nvPr/>
        </p:nvSpPr>
        <p:spPr>
          <a:xfrm rot="5400000">
            <a:off x="4155146"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a:off x="4167414"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矩形 19">
            <a:extLst>
              <a:ext uri="{FF2B5EF4-FFF2-40B4-BE49-F238E27FC236}">
                <a16:creationId xmlns:a16="http://schemas.microsoft.com/office/drawing/2014/main" id="{3C739DC2-EDDE-4363-AE05-73C469789338}"/>
              </a:ext>
            </a:extLst>
          </p:cNvPr>
          <p:cNvSpPr/>
          <p:nvPr/>
        </p:nvSpPr>
        <p:spPr>
          <a:xfrm>
            <a:off x="334263" y="854744"/>
            <a:ext cx="2654894" cy="507511"/>
          </a:xfrm>
          <a:prstGeom prst="rect">
            <a:avLst/>
          </a:prstGeom>
        </p:spPr>
        <p:txBody>
          <a:bodyPr wrap="none">
            <a:spAutoFit/>
          </a:bodyPr>
          <a:lstStyle/>
          <a:p>
            <a:pPr>
              <a:lnSpc>
                <a:spcPct val="150000"/>
              </a:lnSpc>
            </a:pPr>
            <a:r>
              <a:rPr lang="en-US" altLang="zh-TW" sz="1000" b="1" dirty="0">
                <a:latin typeface="Montserrat" panose="02020500000000000000" charset="0"/>
              </a:rPr>
              <a:t>Applied voltage</a:t>
            </a:r>
          </a:p>
          <a:p>
            <a:pPr>
              <a:lnSpc>
                <a:spcPct val="150000"/>
              </a:lnSpc>
            </a:pPr>
            <a:r>
              <a:rPr lang="en-US" altLang="zh-TW" sz="900" dirty="0">
                <a:latin typeface="Montserrat" panose="02020500000000000000" charset="0"/>
              </a:rPr>
              <a:t>Photons generate at the middle of domain</a:t>
            </a:r>
          </a:p>
        </p:txBody>
      </p:sp>
    </p:spTree>
    <p:extLst>
      <p:ext uri="{BB962C8B-B14F-4D97-AF65-F5344CB8AC3E}">
        <p14:creationId xmlns:p14="http://schemas.microsoft.com/office/powerpoint/2010/main" val="1021434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EEE59304-7A9F-4CC5-ADFD-C03CD79C8957}"/>
              </a:ext>
            </a:extLst>
          </p:cNvPr>
          <p:cNvSpPr/>
          <p:nvPr/>
        </p:nvSpPr>
        <p:spPr>
          <a:xfrm>
            <a:off x="3794327" y="4465150"/>
            <a:ext cx="2978740" cy="285757"/>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22" name="圖片 21">
            <a:extLst>
              <a:ext uri="{FF2B5EF4-FFF2-40B4-BE49-F238E27FC236}">
                <a16:creationId xmlns:a16="http://schemas.microsoft.com/office/drawing/2014/main" id="{EA6E20D6-2702-4C43-B876-C8EA381D81A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420763" y="4186506"/>
            <a:ext cx="4352304" cy="822435"/>
          </a:xfrm>
          <a:prstGeom prst="rect">
            <a:avLst/>
          </a:prstGeom>
        </p:spPr>
      </p:pic>
      <p:sp>
        <p:nvSpPr>
          <p:cNvPr id="4" name="Google Shape;212;p36">
            <a:extLst>
              <a:ext uri="{FF2B5EF4-FFF2-40B4-BE49-F238E27FC236}">
                <a16:creationId xmlns:a16="http://schemas.microsoft.com/office/drawing/2014/main" id="{9FF38687-0A8C-425F-851B-1B4CA6246984}"/>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Objective</a:t>
            </a:r>
          </a:p>
        </p:txBody>
      </p:sp>
      <p:grpSp>
        <p:nvGrpSpPr>
          <p:cNvPr id="5" name="群組 4">
            <a:extLst>
              <a:ext uri="{FF2B5EF4-FFF2-40B4-BE49-F238E27FC236}">
                <a16:creationId xmlns:a16="http://schemas.microsoft.com/office/drawing/2014/main" id="{6D325E18-CD01-4DA8-B4A4-3D0669EA620C}"/>
              </a:ext>
            </a:extLst>
          </p:cNvPr>
          <p:cNvGrpSpPr/>
          <p:nvPr/>
        </p:nvGrpSpPr>
        <p:grpSpPr>
          <a:xfrm>
            <a:off x="189900" y="0"/>
            <a:ext cx="8764200" cy="295831"/>
            <a:chOff x="342045" y="-14365"/>
            <a:chExt cx="8764200" cy="295831"/>
          </a:xfrm>
        </p:grpSpPr>
        <p:sp>
          <p:nvSpPr>
            <p:cNvPr id="6" name="矩形 5">
              <a:extLst>
                <a:ext uri="{FF2B5EF4-FFF2-40B4-BE49-F238E27FC236}">
                  <a16:creationId xmlns:a16="http://schemas.microsoft.com/office/drawing/2014/main" id="{408EC378-27F1-4E45-8601-F6056DFAF4D8}"/>
                </a:ext>
              </a:extLst>
            </p:cNvPr>
            <p:cNvSpPr/>
            <p:nvPr/>
          </p:nvSpPr>
          <p:spPr>
            <a:xfrm>
              <a:off x="342045" y="-14365"/>
              <a:ext cx="90267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Introduction</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6990061-B9F7-4BAE-A5B4-3B0EB43B6D66}"/>
                </a:ext>
              </a:extLst>
            </p:cNvPr>
            <p:cNvSpPr/>
            <p:nvPr/>
          </p:nvSpPr>
          <p:spPr>
            <a:xfrm>
              <a:off x="1493993" y="-1436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9B486469-5B7F-47B6-AE5A-AFB9CAA1165E}"/>
                </a:ext>
              </a:extLst>
            </p:cNvPr>
            <p:cNvSpPr/>
            <p:nvPr/>
          </p:nvSpPr>
          <p:spPr>
            <a:xfrm>
              <a:off x="2979165" y="-13134"/>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DA46FD7-E07F-42AC-B3B6-9D3CB322E7F8}"/>
                </a:ext>
              </a:extLst>
            </p:cNvPr>
            <p:cNvSpPr/>
            <p:nvPr/>
          </p:nvSpPr>
          <p:spPr>
            <a:xfrm>
              <a:off x="4128330" y="-13135"/>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A378467-2099-43A3-BD58-39EBDF818F5A}"/>
                </a:ext>
              </a:extLst>
            </p:cNvPr>
            <p:cNvSpPr/>
            <p:nvPr/>
          </p:nvSpPr>
          <p:spPr>
            <a:xfrm>
              <a:off x="5616285" y="-13135"/>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C05CF8D1-6491-4729-8ED3-0BF0C9A3CBEB}"/>
                </a:ext>
              </a:extLst>
            </p:cNvPr>
            <p:cNvSpPr/>
            <p:nvPr/>
          </p:nvSpPr>
          <p:spPr>
            <a:xfrm>
              <a:off x="7406985" y="-13135"/>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矩形 12">
            <a:extLst>
              <a:ext uri="{FF2B5EF4-FFF2-40B4-BE49-F238E27FC236}">
                <a16:creationId xmlns:a16="http://schemas.microsoft.com/office/drawing/2014/main" id="{15819057-7A09-4FF2-94FA-F097C7BEF459}"/>
              </a:ext>
            </a:extLst>
          </p:cNvPr>
          <p:cNvSpPr/>
          <p:nvPr/>
        </p:nvSpPr>
        <p:spPr>
          <a:xfrm>
            <a:off x="2910840" y="1074420"/>
            <a:ext cx="3322320" cy="2994660"/>
          </a:xfrm>
          <a:prstGeom prst="rect">
            <a:avLst/>
          </a:prstGeom>
          <a:blipFill dpi="0" rotWithShape="1">
            <a:blip r:embed="rId4">
              <a:alphaModFix amt="4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a:extLst>
              <a:ext uri="{FF2B5EF4-FFF2-40B4-BE49-F238E27FC236}">
                <a16:creationId xmlns:a16="http://schemas.microsoft.com/office/drawing/2014/main" id="{ACF45B1A-1D3E-4841-A1A5-CE5AE3796A32}"/>
              </a:ext>
            </a:extLst>
          </p:cNvPr>
          <p:cNvCxnSpPr/>
          <p:nvPr/>
        </p:nvCxnSpPr>
        <p:spPr>
          <a:xfrm>
            <a:off x="3661410" y="914400"/>
            <a:ext cx="1821180" cy="0"/>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A5CFF21D-1602-410A-A40D-B5F4EEB62AC0}"/>
              </a:ext>
            </a:extLst>
          </p:cNvPr>
          <p:cNvCxnSpPr>
            <a:cxnSpLocks/>
          </p:cNvCxnSpPr>
          <p:nvPr/>
        </p:nvCxnSpPr>
        <p:spPr>
          <a:xfrm>
            <a:off x="3672840" y="90678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F6EABED-B148-48D4-B35B-1F4F344F38AA}"/>
              </a:ext>
            </a:extLst>
          </p:cNvPr>
          <p:cNvCxnSpPr>
            <a:cxnSpLocks/>
          </p:cNvCxnSpPr>
          <p:nvPr/>
        </p:nvCxnSpPr>
        <p:spPr>
          <a:xfrm>
            <a:off x="5479380" y="899160"/>
            <a:ext cx="0" cy="869481"/>
          </a:xfrm>
          <a:prstGeom prst="line">
            <a:avLst/>
          </a:prstGeom>
          <a:ln w="285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8B80520E-2D71-4349-8951-7F110D06627D}"/>
              </a:ext>
            </a:extLst>
          </p:cNvPr>
          <p:cNvSpPr/>
          <p:nvPr/>
        </p:nvSpPr>
        <p:spPr>
          <a:xfrm>
            <a:off x="4396110" y="722542"/>
            <a:ext cx="360000" cy="36000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accent4">
                    <a:lumMod val="50000"/>
                  </a:schemeClr>
                </a:solidFill>
                <a:latin typeface="Montserrat" panose="02020500000000000000" charset="0"/>
              </a:rPr>
              <a:t>V</a:t>
            </a:r>
            <a:endParaRPr lang="zh-TW" altLang="en-US" b="1" dirty="0">
              <a:solidFill>
                <a:schemeClr val="accent4">
                  <a:lumMod val="50000"/>
                </a:schemeClr>
              </a:solidFill>
              <a:latin typeface="Montserrat" panose="02020500000000000000" charset="0"/>
            </a:endParaRPr>
          </a:p>
        </p:txBody>
      </p:sp>
      <p:sp>
        <p:nvSpPr>
          <p:cNvPr id="48" name="文字方塊 47">
            <a:extLst>
              <a:ext uri="{FF2B5EF4-FFF2-40B4-BE49-F238E27FC236}">
                <a16:creationId xmlns:a16="http://schemas.microsoft.com/office/drawing/2014/main" id="{DAF2FCBB-8C12-4642-9BAF-E0FAADE698A3}"/>
              </a:ext>
            </a:extLst>
          </p:cNvPr>
          <p:cNvSpPr txBox="1"/>
          <p:nvPr/>
        </p:nvSpPr>
        <p:spPr>
          <a:xfrm>
            <a:off x="8585770" y="4631694"/>
            <a:ext cx="322524" cy="261610"/>
          </a:xfrm>
          <a:prstGeom prst="rect">
            <a:avLst/>
          </a:prstGeom>
          <a:noFill/>
        </p:spPr>
        <p:txBody>
          <a:bodyPr wrap="none" rtlCol="0">
            <a:spAutoFit/>
          </a:bodyPr>
          <a:lstStyle/>
          <a:p>
            <a:r>
              <a:rPr lang="en-US" altLang="zh-TW" sz="1100" dirty="0">
                <a:latin typeface="Montserrat" panose="02020500000000000000" charset="0"/>
              </a:rPr>
              <a:t>19</a:t>
            </a:r>
            <a:endParaRPr lang="zh-TW" altLang="en-US" sz="1100" dirty="0">
              <a:latin typeface="Montserrat" panose="02020500000000000000" charset="0"/>
            </a:endParaRPr>
          </a:p>
        </p:txBody>
      </p:sp>
      <p:sp>
        <p:nvSpPr>
          <p:cNvPr id="2" name="矩形 1">
            <a:extLst>
              <a:ext uri="{FF2B5EF4-FFF2-40B4-BE49-F238E27FC236}">
                <a16:creationId xmlns:a16="http://schemas.microsoft.com/office/drawing/2014/main" id="{6F508414-1E3D-426E-B729-B1716B04E132}"/>
              </a:ext>
            </a:extLst>
          </p:cNvPr>
          <p:cNvSpPr/>
          <p:nvPr/>
        </p:nvSpPr>
        <p:spPr>
          <a:xfrm>
            <a:off x="0" y="706912"/>
            <a:ext cx="9144000" cy="3514178"/>
          </a:xfrm>
          <a:prstGeom prst="rect">
            <a:avLst/>
          </a:prstGeom>
          <a:solidFill>
            <a:schemeClr val="accent6">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左-右雙向 33">
            <a:extLst>
              <a:ext uri="{FF2B5EF4-FFF2-40B4-BE49-F238E27FC236}">
                <a16:creationId xmlns:a16="http://schemas.microsoft.com/office/drawing/2014/main" id="{70447F71-42AC-4737-B351-AC335CF6C0CA}"/>
              </a:ext>
            </a:extLst>
          </p:cNvPr>
          <p:cNvSpPr/>
          <p:nvPr/>
        </p:nvSpPr>
        <p:spPr>
          <a:xfrm rot="7936930">
            <a:off x="6174167" y="2481703"/>
            <a:ext cx="696630" cy="210574"/>
          </a:xfrm>
          <a:prstGeom prst="leftRightArrow">
            <a:avLst/>
          </a:prstGeom>
          <a:solidFill>
            <a:schemeClr val="tx2"/>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左-右雙向 34">
            <a:extLst>
              <a:ext uri="{FF2B5EF4-FFF2-40B4-BE49-F238E27FC236}">
                <a16:creationId xmlns:a16="http://schemas.microsoft.com/office/drawing/2014/main" id="{E3FA8C40-3CAC-4DEC-A050-D9677C4F5A8B}"/>
              </a:ext>
            </a:extLst>
          </p:cNvPr>
          <p:cNvSpPr/>
          <p:nvPr/>
        </p:nvSpPr>
        <p:spPr>
          <a:xfrm rot="2540991">
            <a:off x="6178815" y="2481703"/>
            <a:ext cx="696630" cy="210574"/>
          </a:xfrm>
          <a:prstGeom prst="leftRightArrow">
            <a:avLst/>
          </a:prstGeom>
          <a:solidFill>
            <a:schemeClr val="accent2">
              <a:lumMod val="50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EE13B26E-6F34-49E6-90C8-04740832E3B1}"/>
                  </a:ext>
                </a:extLst>
              </p:cNvPr>
              <p:cNvSpPr/>
              <p:nvPr/>
            </p:nvSpPr>
            <p:spPr>
              <a:xfrm>
                <a:off x="6909497" y="2461445"/>
                <a:ext cx="1339790" cy="230832"/>
              </a:xfrm>
              <a:prstGeom prst="rect">
                <a:avLst/>
              </a:prstGeom>
            </p:spPr>
            <p:txBody>
              <a:bodyPr wrap="none">
                <a:spAutoFit/>
              </a:bodyPr>
              <a:lstStyle/>
              <a:p>
                <a14:m>
                  <m:oMath xmlns:m="http://schemas.openxmlformats.org/officeDocument/2006/math">
                    <m:sSub>
                      <m:sSubPr>
                        <m:ctrlPr>
                          <a:rPr lang="en-US" altLang="zh-TW" sz="900" i="1" smtClean="0">
                            <a:latin typeface="Cambria Math" panose="02040503050406030204" pitchFamily="18" charset="0"/>
                          </a:rPr>
                        </m:ctrlPr>
                      </m:sSubPr>
                      <m:e>
                        <m:d>
                          <m:dPr>
                            <m:begChr m:val=""/>
                            <m:endChr m:val="⟩"/>
                            <m:ctrlPr>
                              <a:rPr lang="en-US" altLang="zh-TW" sz="900" i="1">
                                <a:latin typeface="Cambria Math" panose="02040503050406030204" pitchFamily="18" charset="0"/>
                              </a:rPr>
                            </m:ctrlPr>
                          </m:dPr>
                          <m:e>
                            <m:r>
                              <a:rPr lang="en-US" altLang="zh-TW" sz="900" i="1">
                                <a:latin typeface="Cambria Math" panose="02040503050406030204" pitchFamily="18" charset="0"/>
                              </a:rPr>
                              <m:t>|</m:t>
                            </m:r>
                            <m:r>
                              <a:rPr lang="en-US" altLang="zh-TW" sz="900" b="0" i="1" smtClean="0">
                                <a:latin typeface="Cambria Math" panose="02040503050406030204" pitchFamily="18" charset="0"/>
                              </a:rPr>
                              <m:t>𝐻𝐻</m:t>
                            </m:r>
                            <m:r>
                              <a:rPr lang="en-US" altLang="zh-TW" sz="900" b="0" i="1" smtClean="0">
                                <a:latin typeface="Cambria Math" panose="02040503050406030204" pitchFamily="18" charset="0"/>
                              </a:rPr>
                              <m:t>+</m:t>
                            </m:r>
                            <m:r>
                              <a:rPr lang="en-US" altLang="zh-TW" sz="900" b="0" i="1" smtClean="0">
                                <a:latin typeface="Cambria Math" panose="02040503050406030204" pitchFamily="18" charset="0"/>
                              </a:rPr>
                              <m:t>𝑉𝑉</m:t>
                            </m:r>
                          </m:e>
                        </m:d>
                      </m:e>
                      <m:sub>
                        <m:r>
                          <a:rPr lang="en-US" altLang="zh-TW" sz="900" b="0" i="1" smtClean="0">
                            <a:latin typeface="Cambria Math" panose="02040503050406030204" pitchFamily="18" charset="0"/>
                          </a:rPr>
                          <m:t>1570</m:t>
                        </m:r>
                      </m:sub>
                    </m:sSub>
                  </m:oMath>
                </a14:m>
                <a:r>
                  <a:rPr lang="en-US" altLang="zh-TW" sz="900" dirty="0">
                    <a:latin typeface="Montserrat" panose="02020500000000000000" charset="0"/>
                  </a:rPr>
                  <a:t>+Pump</a:t>
                </a:r>
              </a:p>
            </p:txBody>
          </p:sp>
        </mc:Choice>
        <mc:Fallback xmlns="">
          <p:sp>
            <p:nvSpPr>
              <p:cNvPr id="20" name="矩形 19">
                <a:extLst>
                  <a:ext uri="{FF2B5EF4-FFF2-40B4-BE49-F238E27FC236}">
                    <a16:creationId xmlns:a16="http://schemas.microsoft.com/office/drawing/2014/main" id="{EE13B26E-6F34-49E6-90C8-04740832E3B1}"/>
                  </a:ext>
                </a:extLst>
              </p:cNvPr>
              <p:cNvSpPr>
                <a:spLocks noRot="1" noChangeAspect="1" noMove="1" noResize="1" noEditPoints="1" noAdjustHandles="1" noChangeArrowheads="1" noChangeShapeType="1" noTextEdit="1"/>
              </p:cNvSpPr>
              <p:nvPr/>
            </p:nvSpPr>
            <p:spPr>
              <a:xfrm>
                <a:off x="6909497" y="2461445"/>
                <a:ext cx="1339790" cy="230832"/>
              </a:xfrm>
              <a:prstGeom prst="rect">
                <a:avLst/>
              </a:prstGeom>
              <a:blipFill>
                <a:blip r:embed="rId5"/>
                <a:stretch>
                  <a:fillRect t="-81579" b="-134211"/>
                </a:stretch>
              </a:blipFill>
            </p:spPr>
            <p:txBody>
              <a:bodyPr/>
              <a:lstStyle/>
              <a:p>
                <a:r>
                  <a:rPr lang="zh-TW" altLang="en-US">
                    <a:noFill/>
                  </a:rPr>
                  <a:t> </a:t>
                </a:r>
              </a:p>
            </p:txBody>
          </p:sp>
        </mc:Fallback>
      </mc:AlternateContent>
      <p:sp>
        <p:nvSpPr>
          <p:cNvPr id="24" name="矩形 23">
            <a:extLst>
              <a:ext uri="{FF2B5EF4-FFF2-40B4-BE49-F238E27FC236}">
                <a16:creationId xmlns:a16="http://schemas.microsoft.com/office/drawing/2014/main" id="{C91AC41A-A369-4121-8370-2287A916984C}"/>
              </a:ext>
            </a:extLst>
          </p:cNvPr>
          <p:cNvSpPr/>
          <p:nvPr/>
        </p:nvSpPr>
        <p:spPr>
          <a:xfrm>
            <a:off x="334263" y="854744"/>
            <a:ext cx="2654894" cy="507511"/>
          </a:xfrm>
          <a:prstGeom prst="rect">
            <a:avLst/>
          </a:prstGeom>
        </p:spPr>
        <p:txBody>
          <a:bodyPr wrap="none">
            <a:spAutoFit/>
          </a:bodyPr>
          <a:lstStyle/>
          <a:p>
            <a:pPr>
              <a:lnSpc>
                <a:spcPct val="150000"/>
              </a:lnSpc>
            </a:pPr>
            <a:r>
              <a:rPr lang="en-US" altLang="zh-TW" sz="1000" b="1" dirty="0">
                <a:latin typeface="Montserrat" panose="02020500000000000000" charset="0"/>
              </a:rPr>
              <a:t>Applied voltage</a:t>
            </a:r>
          </a:p>
          <a:p>
            <a:pPr>
              <a:lnSpc>
                <a:spcPct val="150000"/>
              </a:lnSpc>
            </a:pPr>
            <a:r>
              <a:rPr lang="en-US" altLang="zh-TW" sz="900" dirty="0">
                <a:latin typeface="Montserrat" panose="02020500000000000000" charset="0"/>
              </a:rPr>
              <a:t>Photons generate at the middle of domain</a:t>
            </a:r>
          </a:p>
        </p:txBody>
      </p:sp>
      <p:sp>
        <p:nvSpPr>
          <p:cNvPr id="25" name="文字方塊 24">
            <a:extLst>
              <a:ext uri="{FF2B5EF4-FFF2-40B4-BE49-F238E27FC236}">
                <a16:creationId xmlns:a16="http://schemas.microsoft.com/office/drawing/2014/main" id="{06DD3C29-228F-49F4-9F18-1612E90DAE78}"/>
              </a:ext>
            </a:extLst>
          </p:cNvPr>
          <p:cNvSpPr txBox="1"/>
          <p:nvPr/>
        </p:nvSpPr>
        <p:spPr>
          <a:xfrm>
            <a:off x="6870797" y="4786381"/>
            <a:ext cx="340158" cy="246221"/>
          </a:xfrm>
          <a:prstGeom prst="rect">
            <a:avLst/>
          </a:prstGeom>
          <a:noFill/>
        </p:spPr>
        <p:txBody>
          <a:bodyPr wrap="none" rtlCol="0">
            <a:spAutoFit/>
          </a:bodyPr>
          <a:lstStyle/>
          <a:p>
            <a:r>
              <a:rPr lang="en-US" altLang="zh-TW" sz="1000" dirty="0">
                <a:latin typeface="Montserrat" panose="02020500000000000000" charset="0"/>
              </a:rPr>
              <a:t>(3)</a:t>
            </a:r>
            <a:endParaRPr lang="zh-TW" altLang="en-US" sz="1000" dirty="0">
              <a:latin typeface="Montserrat" panose="02020500000000000000" charset="0"/>
            </a:endParaRPr>
          </a:p>
        </p:txBody>
      </p:sp>
      <p:sp>
        <p:nvSpPr>
          <p:cNvPr id="26" name="文字方塊 25">
            <a:extLst>
              <a:ext uri="{FF2B5EF4-FFF2-40B4-BE49-F238E27FC236}">
                <a16:creationId xmlns:a16="http://schemas.microsoft.com/office/drawing/2014/main" id="{76781B84-0B04-424B-B24F-C3E229701C56}"/>
              </a:ext>
            </a:extLst>
          </p:cNvPr>
          <p:cNvSpPr txBox="1"/>
          <p:nvPr/>
        </p:nvSpPr>
        <p:spPr>
          <a:xfrm>
            <a:off x="7557283" y="4804946"/>
            <a:ext cx="1204176" cy="338554"/>
          </a:xfrm>
          <a:prstGeom prst="rect">
            <a:avLst/>
          </a:prstGeom>
          <a:noFill/>
        </p:spPr>
        <p:txBody>
          <a:bodyPr wrap="none" rtlCol="0">
            <a:spAutoFit/>
          </a:bodyPr>
          <a:lstStyle/>
          <a:p>
            <a:r>
              <a:rPr lang="en-US" altLang="zh-TW" sz="800" dirty="0">
                <a:solidFill>
                  <a:schemeClr val="tx1"/>
                </a:solidFill>
                <a:latin typeface="Montserrat" panose="02020500000000000000" charset="0"/>
              </a:rPr>
              <a:t>(Ming et al.)</a:t>
            </a:r>
          </a:p>
          <a:p>
            <a:r>
              <a:rPr lang="en-US" altLang="zh-TW" sz="800" dirty="0">
                <a:solidFill>
                  <a:schemeClr val="tx1"/>
                </a:solidFill>
                <a:latin typeface="Montserrat" panose="02020500000000000000" charset="0"/>
              </a:rPr>
              <a:t>(Herzog et al., 2008)</a:t>
            </a:r>
          </a:p>
        </p:txBody>
      </p:sp>
    </p:spTree>
    <p:extLst>
      <p:ext uri="{BB962C8B-B14F-4D97-AF65-F5344CB8AC3E}">
        <p14:creationId xmlns:p14="http://schemas.microsoft.com/office/powerpoint/2010/main" val="456340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2438696" y="1722776"/>
            <a:ext cx="4275462"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Working principles</a:t>
            </a:r>
          </a:p>
        </p:txBody>
      </p:sp>
      <p:sp>
        <p:nvSpPr>
          <p:cNvPr id="53" name="文字方塊 52">
            <a:extLst>
              <a:ext uri="{FF2B5EF4-FFF2-40B4-BE49-F238E27FC236}">
                <a16:creationId xmlns:a16="http://schemas.microsoft.com/office/drawing/2014/main" id="{0BF4591A-BB49-404F-B3C9-F47E8B9E8C12}"/>
              </a:ext>
            </a:extLst>
          </p:cNvPr>
          <p:cNvSpPr txBox="1"/>
          <p:nvPr/>
        </p:nvSpPr>
        <p:spPr>
          <a:xfrm>
            <a:off x="2852619" y="2423186"/>
            <a:ext cx="3438762"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SHG/SPDC</a:t>
            </a:r>
          </a:p>
          <a:p>
            <a:pPr marL="171450" indent="-171450">
              <a:lnSpc>
                <a:spcPct val="150000"/>
              </a:lnSpc>
              <a:buFont typeface="Arial" panose="020B0604020202020204" pitchFamily="34" charset="0"/>
              <a:buChar char="•"/>
            </a:pPr>
            <a:r>
              <a:rPr lang="en-US" altLang="zh-TW" sz="1100" dirty="0">
                <a:solidFill>
                  <a:schemeClr val="tx1"/>
                </a:solidFill>
                <a:latin typeface="Montserrat"/>
                <a:ea typeface="Montserrat"/>
                <a:cs typeface="Montserrat"/>
                <a:sym typeface="Montserrat"/>
              </a:rPr>
              <a:t>Quasi-phase-matching</a:t>
            </a:r>
            <a:endParaRPr lang="en-US" altLang="zh-TW" sz="1100" dirty="0">
              <a:solidFill>
                <a:schemeClr val="tx1"/>
              </a:solidFill>
              <a:latin typeface="Montserrat" panose="02020500000000000000" charset="0"/>
              <a:ea typeface="Montserrat"/>
              <a:cs typeface="Montserrat"/>
              <a:sym typeface="Montserrat"/>
            </a:endParaRPr>
          </a:p>
          <a:p>
            <a:pPr marL="171450" indent="-171450">
              <a:lnSpc>
                <a:spcPct val="150000"/>
              </a:lnSpc>
              <a:buFont typeface="Arial" panose="020B0604020202020204" pitchFamily="34" charset="0"/>
              <a:buChar char="•"/>
            </a:pPr>
            <a:r>
              <a:rPr lang="en-US" altLang="zh-TW" sz="1100" dirty="0">
                <a:latin typeface="Montserrat" panose="02020500000000000000" charset="0"/>
              </a:rPr>
              <a:t>Electro-optical polarization mode converter</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effect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 with EO-PMC</a:t>
            </a:r>
          </a:p>
        </p:txBody>
      </p:sp>
      <p:grpSp>
        <p:nvGrpSpPr>
          <p:cNvPr id="64" name="Google Shape;1292;p58">
            <a:extLst>
              <a:ext uri="{FF2B5EF4-FFF2-40B4-BE49-F238E27FC236}">
                <a16:creationId xmlns:a16="http://schemas.microsoft.com/office/drawing/2014/main" id="{FC6632E1-4DDB-4426-94DA-D4E75D2D5F02}"/>
              </a:ext>
            </a:extLst>
          </p:cNvPr>
          <p:cNvGrpSpPr/>
          <p:nvPr/>
        </p:nvGrpSpPr>
        <p:grpSpPr>
          <a:xfrm>
            <a:off x="5343406" y="4389120"/>
            <a:ext cx="3800594" cy="754380"/>
            <a:chOff x="474500" y="2502500"/>
            <a:chExt cx="6551575" cy="769875"/>
          </a:xfrm>
        </p:grpSpPr>
        <p:sp>
          <p:nvSpPr>
            <p:cNvPr id="65" name="Google Shape;1293;p58">
              <a:extLst>
                <a:ext uri="{FF2B5EF4-FFF2-40B4-BE49-F238E27FC236}">
                  <a16:creationId xmlns:a16="http://schemas.microsoft.com/office/drawing/2014/main" id="{336B5179-25EF-41B7-A75F-B1339648CDC4}"/>
                </a:ext>
              </a:extLst>
            </p:cNvPr>
            <p:cNvSpPr/>
            <p:nvPr/>
          </p:nvSpPr>
          <p:spPr>
            <a:xfrm>
              <a:off x="474500" y="2566550"/>
              <a:ext cx="3397475" cy="579050"/>
            </a:xfrm>
            <a:custGeom>
              <a:avLst/>
              <a:gdLst/>
              <a:ahLst/>
              <a:cxnLst/>
              <a:rect l="l" t="t" r="r" b="b"/>
              <a:pathLst>
                <a:path w="135899" h="23162" extrusionOk="0">
                  <a:moveTo>
                    <a:pt x="37708" y="0"/>
                  </a:moveTo>
                  <a:cubicBezTo>
                    <a:pt x="24912" y="0"/>
                    <a:pt x="0" y="10373"/>
                    <a:pt x="0" y="23162"/>
                  </a:cubicBezTo>
                  <a:lnTo>
                    <a:pt x="135899" y="23162"/>
                  </a:lnTo>
                  <a:lnTo>
                    <a:pt x="1358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294;p58">
              <a:extLst>
                <a:ext uri="{FF2B5EF4-FFF2-40B4-BE49-F238E27FC236}">
                  <a16:creationId xmlns:a16="http://schemas.microsoft.com/office/drawing/2014/main" id="{C2D8BB26-87C9-4B49-9908-BF0C01EA52DB}"/>
                </a:ext>
              </a:extLst>
            </p:cNvPr>
            <p:cNvSpPr/>
            <p:nvPr/>
          </p:nvSpPr>
          <p:spPr>
            <a:xfrm>
              <a:off x="474650" y="3145575"/>
              <a:ext cx="3397825" cy="126800"/>
            </a:xfrm>
            <a:custGeom>
              <a:avLst/>
              <a:gdLst/>
              <a:ahLst/>
              <a:cxnLst/>
              <a:rect l="l" t="t" r="r" b="b"/>
              <a:pathLst>
                <a:path w="135913" h="5072" extrusionOk="0">
                  <a:moveTo>
                    <a:pt x="1" y="1"/>
                  </a:moveTo>
                  <a:lnTo>
                    <a:pt x="1" y="4486"/>
                  </a:lnTo>
                  <a:cubicBezTo>
                    <a:pt x="1" y="4812"/>
                    <a:pt x="314" y="5071"/>
                    <a:pt x="693" y="5071"/>
                  </a:cubicBezTo>
                  <a:lnTo>
                    <a:pt x="135913" y="5071"/>
                  </a:lnTo>
                  <a:lnTo>
                    <a:pt x="1359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295;p58">
              <a:extLst>
                <a:ext uri="{FF2B5EF4-FFF2-40B4-BE49-F238E27FC236}">
                  <a16:creationId xmlns:a16="http://schemas.microsoft.com/office/drawing/2014/main" id="{31045745-061C-4EA8-A09F-7EADDCB69381}"/>
                </a:ext>
              </a:extLst>
            </p:cNvPr>
            <p:cNvSpPr/>
            <p:nvPr/>
          </p:nvSpPr>
          <p:spPr>
            <a:xfrm>
              <a:off x="2182875" y="2695800"/>
              <a:ext cx="1545875" cy="204125"/>
            </a:xfrm>
            <a:custGeom>
              <a:avLst/>
              <a:gdLst/>
              <a:ahLst/>
              <a:cxnLst/>
              <a:rect l="l" t="t" r="r" b="b"/>
              <a:pathLst>
                <a:path w="61835" h="8165" extrusionOk="0">
                  <a:moveTo>
                    <a:pt x="0" y="0"/>
                  </a:moveTo>
                  <a:lnTo>
                    <a:pt x="0" y="8164"/>
                  </a:lnTo>
                  <a:lnTo>
                    <a:pt x="61835" y="8164"/>
                  </a:lnTo>
                  <a:lnTo>
                    <a:pt x="618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296;p58">
              <a:extLst>
                <a:ext uri="{FF2B5EF4-FFF2-40B4-BE49-F238E27FC236}">
                  <a16:creationId xmlns:a16="http://schemas.microsoft.com/office/drawing/2014/main" id="{E4817A4E-D395-4786-8BD6-3058EE63B729}"/>
                </a:ext>
              </a:extLst>
            </p:cNvPr>
            <p:cNvSpPr/>
            <p:nvPr/>
          </p:nvSpPr>
          <p:spPr>
            <a:xfrm>
              <a:off x="1044900" y="2691050"/>
              <a:ext cx="614675" cy="208875"/>
            </a:xfrm>
            <a:custGeom>
              <a:avLst/>
              <a:gdLst/>
              <a:ahLst/>
              <a:cxnLst/>
              <a:rect l="l" t="t" r="r" b="b"/>
              <a:pathLst>
                <a:path w="24587" h="8355" extrusionOk="0">
                  <a:moveTo>
                    <a:pt x="20229" y="1"/>
                  </a:moveTo>
                  <a:cubicBezTo>
                    <a:pt x="14517" y="1"/>
                    <a:pt x="5310" y="775"/>
                    <a:pt x="0" y="4442"/>
                  </a:cubicBezTo>
                  <a:lnTo>
                    <a:pt x="0" y="8354"/>
                  </a:lnTo>
                  <a:lnTo>
                    <a:pt x="24586" y="8354"/>
                  </a:lnTo>
                  <a:lnTo>
                    <a:pt x="24586" y="190"/>
                  </a:lnTo>
                  <a:cubicBezTo>
                    <a:pt x="23751" y="93"/>
                    <a:pt x="22197" y="1"/>
                    <a:pt x="202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297;p58">
              <a:extLst>
                <a:ext uri="{FF2B5EF4-FFF2-40B4-BE49-F238E27FC236}">
                  <a16:creationId xmlns:a16="http://schemas.microsoft.com/office/drawing/2014/main" id="{7FA0A3F7-5926-4079-A8AB-405AD64B0FB1}"/>
                </a:ext>
              </a:extLst>
            </p:cNvPr>
            <p:cNvSpPr/>
            <p:nvPr/>
          </p:nvSpPr>
          <p:spPr>
            <a:xfrm>
              <a:off x="796050" y="2972925"/>
              <a:ext cx="3076100" cy="30125"/>
            </a:xfrm>
            <a:custGeom>
              <a:avLst/>
              <a:gdLst/>
              <a:ahLst/>
              <a:cxnLst/>
              <a:rect l="l" t="t" r="r" b="b"/>
              <a:pathLst>
                <a:path w="123044" h="1205" extrusionOk="0">
                  <a:moveTo>
                    <a:pt x="140" y="0"/>
                  </a:moveTo>
                  <a:cubicBezTo>
                    <a:pt x="67" y="0"/>
                    <a:pt x="0" y="67"/>
                    <a:pt x="0" y="140"/>
                  </a:cubicBezTo>
                  <a:lnTo>
                    <a:pt x="0" y="1205"/>
                  </a:lnTo>
                  <a:lnTo>
                    <a:pt x="123043" y="1205"/>
                  </a:lnTo>
                  <a:lnTo>
                    <a:pt x="1230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298;p58">
              <a:extLst>
                <a:ext uri="{FF2B5EF4-FFF2-40B4-BE49-F238E27FC236}">
                  <a16:creationId xmlns:a16="http://schemas.microsoft.com/office/drawing/2014/main" id="{72980734-F815-4B43-830C-BDF119E62F96}"/>
                </a:ext>
              </a:extLst>
            </p:cNvPr>
            <p:cNvSpPr/>
            <p:nvPr/>
          </p:nvSpPr>
          <p:spPr>
            <a:xfrm>
              <a:off x="1441625" y="2566550"/>
              <a:ext cx="2430350" cy="56575"/>
            </a:xfrm>
            <a:custGeom>
              <a:avLst/>
              <a:gdLst/>
              <a:ahLst/>
              <a:cxnLst/>
              <a:rect l="l" t="t" r="r" b="b"/>
              <a:pathLst>
                <a:path w="97214" h="2263" extrusionOk="0">
                  <a:moveTo>
                    <a:pt x="1" y="0"/>
                  </a:moveTo>
                  <a:lnTo>
                    <a:pt x="1" y="1996"/>
                  </a:lnTo>
                  <a:cubicBezTo>
                    <a:pt x="1" y="2149"/>
                    <a:pt x="120" y="2262"/>
                    <a:pt x="260" y="2262"/>
                  </a:cubicBezTo>
                  <a:lnTo>
                    <a:pt x="97214" y="2262"/>
                  </a:lnTo>
                  <a:lnTo>
                    <a:pt x="97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299;p58">
              <a:extLst>
                <a:ext uri="{FF2B5EF4-FFF2-40B4-BE49-F238E27FC236}">
                  <a16:creationId xmlns:a16="http://schemas.microsoft.com/office/drawing/2014/main" id="{1875F0C7-5AFB-4398-99AD-422A432B5BB0}"/>
                </a:ext>
              </a:extLst>
            </p:cNvPr>
            <p:cNvSpPr/>
            <p:nvPr/>
          </p:nvSpPr>
          <p:spPr>
            <a:xfrm>
              <a:off x="796050" y="2856150"/>
              <a:ext cx="144575" cy="146900"/>
            </a:xfrm>
            <a:custGeom>
              <a:avLst/>
              <a:gdLst/>
              <a:ahLst/>
              <a:cxnLst/>
              <a:rect l="l" t="t" r="r" b="b"/>
              <a:pathLst>
                <a:path w="5783" h="5876" extrusionOk="0">
                  <a:moveTo>
                    <a:pt x="5782" y="0"/>
                  </a:moveTo>
                  <a:cubicBezTo>
                    <a:pt x="0" y="2289"/>
                    <a:pt x="0" y="5876"/>
                    <a:pt x="0" y="5876"/>
                  </a:cubicBezTo>
                  <a:lnTo>
                    <a:pt x="925" y="5876"/>
                  </a:lnTo>
                  <a:cubicBezTo>
                    <a:pt x="925" y="5876"/>
                    <a:pt x="1071" y="2941"/>
                    <a:pt x="5782" y="958"/>
                  </a:cubicBezTo>
                  <a:lnTo>
                    <a:pt x="5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300;p58">
              <a:extLst>
                <a:ext uri="{FF2B5EF4-FFF2-40B4-BE49-F238E27FC236}">
                  <a16:creationId xmlns:a16="http://schemas.microsoft.com/office/drawing/2014/main" id="{6BDCB656-5900-4AC9-849F-2B066B71E4E3}"/>
                </a:ext>
              </a:extLst>
            </p:cNvPr>
            <p:cNvSpPr/>
            <p:nvPr/>
          </p:nvSpPr>
          <p:spPr>
            <a:xfrm>
              <a:off x="643175" y="2653200"/>
              <a:ext cx="366800" cy="213475"/>
            </a:xfrm>
            <a:custGeom>
              <a:avLst/>
              <a:gdLst/>
              <a:ahLst/>
              <a:cxnLst/>
              <a:rect l="l" t="t" r="r" b="b"/>
              <a:pathLst>
                <a:path w="14672" h="8539" extrusionOk="0">
                  <a:moveTo>
                    <a:pt x="14672" y="1"/>
                  </a:moveTo>
                  <a:lnTo>
                    <a:pt x="14672" y="1"/>
                  </a:lnTo>
                  <a:cubicBezTo>
                    <a:pt x="9282" y="2023"/>
                    <a:pt x="3986" y="4838"/>
                    <a:pt x="0" y="8172"/>
                  </a:cubicBezTo>
                  <a:cubicBezTo>
                    <a:pt x="697" y="8414"/>
                    <a:pt x="1431" y="8539"/>
                    <a:pt x="2169" y="8539"/>
                  </a:cubicBezTo>
                  <a:cubicBezTo>
                    <a:pt x="3396" y="8539"/>
                    <a:pt x="4635" y="8193"/>
                    <a:pt x="5736" y="7466"/>
                  </a:cubicBezTo>
                  <a:lnTo>
                    <a:pt x="12143" y="3228"/>
                  </a:lnTo>
                  <a:cubicBezTo>
                    <a:pt x="13361" y="2423"/>
                    <a:pt x="14213" y="1278"/>
                    <a:pt x="146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301;p58">
              <a:extLst>
                <a:ext uri="{FF2B5EF4-FFF2-40B4-BE49-F238E27FC236}">
                  <a16:creationId xmlns:a16="http://schemas.microsoft.com/office/drawing/2014/main" id="{0F9A2B37-1BBF-44DE-B66C-E320ECAD06EB}"/>
                </a:ext>
              </a:extLst>
            </p:cNvPr>
            <p:cNvSpPr/>
            <p:nvPr/>
          </p:nvSpPr>
          <p:spPr>
            <a:xfrm>
              <a:off x="680425" y="2659025"/>
              <a:ext cx="314750" cy="173050"/>
            </a:xfrm>
            <a:custGeom>
              <a:avLst/>
              <a:gdLst/>
              <a:ahLst/>
              <a:cxnLst/>
              <a:rect l="l" t="t" r="r" b="b"/>
              <a:pathLst>
                <a:path w="12590" h="6922" extrusionOk="0">
                  <a:moveTo>
                    <a:pt x="12590" y="1"/>
                  </a:moveTo>
                  <a:lnTo>
                    <a:pt x="12590" y="1"/>
                  </a:lnTo>
                  <a:cubicBezTo>
                    <a:pt x="8052" y="1757"/>
                    <a:pt x="3607" y="4059"/>
                    <a:pt x="1" y="6767"/>
                  </a:cubicBezTo>
                  <a:cubicBezTo>
                    <a:pt x="464" y="6869"/>
                    <a:pt x="937" y="6921"/>
                    <a:pt x="1412" y="6921"/>
                  </a:cubicBezTo>
                  <a:cubicBezTo>
                    <a:pt x="2643" y="6921"/>
                    <a:pt x="3887" y="6572"/>
                    <a:pt x="4991" y="5843"/>
                  </a:cubicBezTo>
                  <a:lnTo>
                    <a:pt x="10560" y="2156"/>
                  </a:lnTo>
                  <a:cubicBezTo>
                    <a:pt x="11425" y="1584"/>
                    <a:pt x="12104" y="846"/>
                    <a:pt x="125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302;p58">
              <a:extLst>
                <a:ext uri="{FF2B5EF4-FFF2-40B4-BE49-F238E27FC236}">
                  <a16:creationId xmlns:a16="http://schemas.microsoft.com/office/drawing/2014/main" id="{FD45EDD4-B685-4EF2-BA1A-D96173FCA25B}"/>
                </a:ext>
              </a:extLst>
            </p:cNvPr>
            <p:cNvSpPr/>
            <p:nvPr/>
          </p:nvSpPr>
          <p:spPr>
            <a:xfrm>
              <a:off x="511575" y="3029700"/>
              <a:ext cx="44775" cy="66950"/>
            </a:xfrm>
            <a:custGeom>
              <a:avLst/>
              <a:gdLst/>
              <a:ahLst/>
              <a:cxnLst/>
              <a:rect l="l" t="t" r="r" b="b"/>
              <a:pathLst>
                <a:path w="1791" h="2678" extrusionOk="0">
                  <a:moveTo>
                    <a:pt x="1367" y="1"/>
                  </a:moveTo>
                  <a:cubicBezTo>
                    <a:pt x="1055" y="1"/>
                    <a:pt x="622" y="449"/>
                    <a:pt x="334" y="1089"/>
                  </a:cubicBezTo>
                  <a:cubicBezTo>
                    <a:pt x="8" y="1815"/>
                    <a:pt x="1" y="2513"/>
                    <a:pt x="314" y="2653"/>
                  </a:cubicBezTo>
                  <a:cubicBezTo>
                    <a:pt x="350" y="2670"/>
                    <a:pt x="389" y="2678"/>
                    <a:pt x="430" y="2678"/>
                  </a:cubicBezTo>
                  <a:cubicBezTo>
                    <a:pt x="738" y="2678"/>
                    <a:pt x="1171" y="2234"/>
                    <a:pt x="1458" y="1588"/>
                  </a:cubicBezTo>
                  <a:cubicBezTo>
                    <a:pt x="1784" y="863"/>
                    <a:pt x="1791" y="165"/>
                    <a:pt x="1485" y="25"/>
                  </a:cubicBezTo>
                  <a:cubicBezTo>
                    <a:pt x="1448" y="8"/>
                    <a:pt x="1409" y="1"/>
                    <a:pt x="1367" y="1"/>
                  </a:cubicBezTo>
                  <a:close/>
                </a:path>
              </a:pathLst>
            </a:custGeom>
            <a:solidFill>
              <a:srgbClr val="BA2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303;p58">
              <a:extLst>
                <a:ext uri="{FF2B5EF4-FFF2-40B4-BE49-F238E27FC236}">
                  <a16:creationId xmlns:a16="http://schemas.microsoft.com/office/drawing/2014/main" id="{2B52033F-06DA-41F2-B444-2CFD77AD53DF}"/>
                </a:ext>
              </a:extLst>
            </p:cNvPr>
            <p:cNvSpPr/>
            <p:nvPr/>
          </p:nvSpPr>
          <p:spPr>
            <a:xfrm>
              <a:off x="514575" y="3029125"/>
              <a:ext cx="38800" cy="57625"/>
            </a:xfrm>
            <a:custGeom>
              <a:avLst/>
              <a:gdLst/>
              <a:ahLst/>
              <a:cxnLst/>
              <a:rect l="l" t="t" r="r" b="b"/>
              <a:pathLst>
                <a:path w="1552" h="2305" extrusionOk="0">
                  <a:moveTo>
                    <a:pt x="1177" y="0"/>
                  </a:moveTo>
                  <a:cubicBezTo>
                    <a:pt x="909" y="0"/>
                    <a:pt x="533" y="381"/>
                    <a:pt x="287" y="933"/>
                  </a:cubicBezTo>
                  <a:cubicBezTo>
                    <a:pt x="14" y="1558"/>
                    <a:pt x="1" y="2164"/>
                    <a:pt x="274" y="2283"/>
                  </a:cubicBezTo>
                  <a:cubicBezTo>
                    <a:pt x="305" y="2298"/>
                    <a:pt x="339" y="2304"/>
                    <a:pt x="375" y="2304"/>
                  </a:cubicBezTo>
                  <a:cubicBezTo>
                    <a:pt x="643" y="2304"/>
                    <a:pt x="1018" y="1924"/>
                    <a:pt x="1265" y="1372"/>
                  </a:cubicBezTo>
                  <a:cubicBezTo>
                    <a:pt x="1538" y="746"/>
                    <a:pt x="1551" y="141"/>
                    <a:pt x="1278" y="21"/>
                  </a:cubicBezTo>
                  <a:cubicBezTo>
                    <a:pt x="1247" y="7"/>
                    <a:pt x="1213" y="0"/>
                    <a:pt x="11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304;p58">
              <a:extLst>
                <a:ext uri="{FF2B5EF4-FFF2-40B4-BE49-F238E27FC236}">
                  <a16:creationId xmlns:a16="http://schemas.microsoft.com/office/drawing/2014/main" id="{99852B7F-9A09-441F-925F-ABA45BE9AF73}"/>
                </a:ext>
              </a:extLst>
            </p:cNvPr>
            <p:cNvSpPr/>
            <p:nvPr/>
          </p:nvSpPr>
          <p:spPr>
            <a:xfrm>
              <a:off x="3479550" y="2502500"/>
              <a:ext cx="342200" cy="64075"/>
            </a:xfrm>
            <a:custGeom>
              <a:avLst/>
              <a:gdLst/>
              <a:ahLst/>
              <a:cxnLst/>
              <a:rect l="l" t="t" r="r" b="b"/>
              <a:pathLst>
                <a:path w="13688" h="2563" extrusionOk="0">
                  <a:moveTo>
                    <a:pt x="153" y="0"/>
                  </a:moveTo>
                  <a:cubicBezTo>
                    <a:pt x="67" y="0"/>
                    <a:pt x="0" y="67"/>
                    <a:pt x="0" y="153"/>
                  </a:cubicBezTo>
                  <a:lnTo>
                    <a:pt x="0" y="2562"/>
                  </a:lnTo>
                  <a:lnTo>
                    <a:pt x="13687" y="2562"/>
                  </a:lnTo>
                  <a:lnTo>
                    <a:pt x="13687" y="153"/>
                  </a:lnTo>
                  <a:cubicBezTo>
                    <a:pt x="13687" y="67"/>
                    <a:pt x="13621"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305;p58">
              <a:extLst>
                <a:ext uri="{FF2B5EF4-FFF2-40B4-BE49-F238E27FC236}">
                  <a16:creationId xmlns:a16="http://schemas.microsoft.com/office/drawing/2014/main" id="{7B32B8C2-1B9F-430B-9AD1-CBD053A9F7A1}"/>
                </a:ext>
              </a:extLst>
            </p:cNvPr>
            <p:cNvSpPr/>
            <p:nvPr/>
          </p:nvSpPr>
          <p:spPr>
            <a:xfrm>
              <a:off x="3542750" y="2502500"/>
              <a:ext cx="216100" cy="30125"/>
            </a:xfrm>
            <a:custGeom>
              <a:avLst/>
              <a:gdLst/>
              <a:ahLst/>
              <a:cxnLst/>
              <a:rect l="l" t="t" r="r" b="b"/>
              <a:pathLst>
                <a:path w="8644" h="1205" extrusionOk="0">
                  <a:moveTo>
                    <a:pt x="1" y="0"/>
                  </a:moveTo>
                  <a:lnTo>
                    <a:pt x="1" y="1158"/>
                  </a:lnTo>
                  <a:cubicBezTo>
                    <a:pt x="1" y="1185"/>
                    <a:pt x="21" y="1205"/>
                    <a:pt x="54" y="1205"/>
                  </a:cubicBezTo>
                  <a:lnTo>
                    <a:pt x="8584" y="1205"/>
                  </a:lnTo>
                  <a:cubicBezTo>
                    <a:pt x="8617" y="1205"/>
                    <a:pt x="8637" y="1185"/>
                    <a:pt x="8644" y="1158"/>
                  </a:cubicBezTo>
                  <a:lnTo>
                    <a:pt x="8644" y="0"/>
                  </a:lnTo>
                  <a:close/>
                </a:path>
              </a:pathLst>
            </a:custGeom>
            <a:solidFill>
              <a:srgbClr val="3C4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306;p58">
              <a:extLst>
                <a:ext uri="{FF2B5EF4-FFF2-40B4-BE49-F238E27FC236}">
                  <a16:creationId xmlns:a16="http://schemas.microsoft.com/office/drawing/2014/main" id="{9483C74D-C537-436B-A3C4-70539B28519A}"/>
                </a:ext>
              </a:extLst>
            </p:cNvPr>
            <p:cNvSpPr/>
            <p:nvPr/>
          </p:nvSpPr>
          <p:spPr>
            <a:xfrm>
              <a:off x="3558900" y="2502500"/>
              <a:ext cx="184000" cy="25650"/>
            </a:xfrm>
            <a:custGeom>
              <a:avLst/>
              <a:gdLst/>
              <a:ahLst/>
              <a:cxnLst/>
              <a:rect l="l" t="t" r="r" b="b"/>
              <a:pathLst>
                <a:path w="7360" h="1026" extrusionOk="0">
                  <a:moveTo>
                    <a:pt x="0" y="0"/>
                  </a:moveTo>
                  <a:lnTo>
                    <a:pt x="0" y="972"/>
                  </a:lnTo>
                  <a:cubicBezTo>
                    <a:pt x="0" y="998"/>
                    <a:pt x="13" y="1025"/>
                    <a:pt x="47" y="1025"/>
                  </a:cubicBezTo>
                  <a:lnTo>
                    <a:pt x="7299" y="1025"/>
                  </a:lnTo>
                  <a:cubicBezTo>
                    <a:pt x="7333" y="1025"/>
                    <a:pt x="7359" y="1005"/>
                    <a:pt x="7359" y="972"/>
                  </a:cubicBezTo>
                  <a:lnTo>
                    <a:pt x="73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307;p58">
              <a:extLst>
                <a:ext uri="{FF2B5EF4-FFF2-40B4-BE49-F238E27FC236}">
                  <a16:creationId xmlns:a16="http://schemas.microsoft.com/office/drawing/2014/main" id="{BCD60B5E-407B-4F04-87BE-DC0981DB535F}"/>
                </a:ext>
              </a:extLst>
            </p:cNvPr>
            <p:cNvSpPr/>
            <p:nvPr/>
          </p:nvSpPr>
          <p:spPr>
            <a:xfrm>
              <a:off x="3939000" y="2566550"/>
              <a:ext cx="3087075" cy="579050"/>
            </a:xfrm>
            <a:custGeom>
              <a:avLst/>
              <a:gdLst/>
              <a:ahLst/>
              <a:cxnLst/>
              <a:rect l="l" t="t" r="r" b="b"/>
              <a:pathLst>
                <a:path w="123483" h="23162" extrusionOk="0">
                  <a:moveTo>
                    <a:pt x="0" y="0"/>
                  </a:moveTo>
                  <a:lnTo>
                    <a:pt x="0" y="23162"/>
                  </a:lnTo>
                  <a:lnTo>
                    <a:pt x="123482" y="23162"/>
                  </a:lnTo>
                  <a:lnTo>
                    <a:pt x="1234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308;p58">
              <a:extLst>
                <a:ext uri="{FF2B5EF4-FFF2-40B4-BE49-F238E27FC236}">
                  <a16:creationId xmlns:a16="http://schemas.microsoft.com/office/drawing/2014/main" id="{B1D24277-17F6-4A9E-B573-F1A8FFA6EB77}"/>
                </a:ext>
              </a:extLst>
            </p:cNvPr>
            <p:cNvSpPr/>
            <p:nvPr/>
          </p:nvSpPr>
          <p:spPr>
            <a:xfrm>
              <a:off x="4487100" y="2695800"/>
              <a:ext cx="1990850" cy="204125"/>
            </a:xfrm>
            <a:custGeom>
              <a:avLst/>
              <a:gdLst/>
              <a:ahLst/>
              <a:cxnLst/>
              <a:rect l="l" t="t" r="r" b="b"/>
              <a:pathLst>
                <a:path w="79634" h="8165" extrusionOk="0">
                  <a:moveTo>
                    <a:pt x="1" y="0"/>
                  </a:moveTo>
                  <a:lnTo>
                    <a:pt x="1" y="8164"/>
                  </a:lnTo>
                  <a:lnTo>
                    <a:pt x="79634" y="8164"/>
                  </a:lnTo>
                  <a:lnTo>
                    <a:pt x="796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309;p58">
              <a:extLst>
                <a:ext uri="{FF2B5EF4-FFF2-40B4-BE49-F238E27FC236}">
                  <a16:creationId xmlns:a16="http://schemas.microsoft.com/office/drawing/2014/main" id="{B40F52AA-75A1-4349-935B-62A4E128DEE4}"/>
                </a:ext>
              </a:extLst>
            </p:cNvPr>
            <p:cNvSpPr/>
            <p:nvPr/>
          </p:nvSpPr>
          <p:spPr>
            <a:xfrm>
              <a:off x="3939000" y="3145575"/>
              <a:ext cx="3086900" cy="126800"/>
            </a:xfrm>
            <a:custGeom>
              <a:avLst/>
              <a:gdLst/>
              <a:ahLst/>
              <a:cxnLst/>
              <a:rect l="l" t="t" r="r" b="b"/>
              <a:pathLst>
                <a:path w="123476" h="5072" extrusionOk="0">
                  <a:moveTo>
                    <a:pt x="0" y="1"/>
                  </a:moveTo>
                  <a:lnTo>
                    <a:pt x="0" y="5071"/>
                  </a:lnTo>
                  <a:lnTo>
                    <a:pt x="123476" y="5071"/>
                  </a:lnTo>
                  <a:lnTo>
                    <a:pt x="1234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310;p58">
              <a:extLst>
                <a:ext uri="{FF2B5EF4-FFF2-40B4-BE49-F238E27FC236}">
                  <a16:creationId xmlns:a16="http://schemas.microsoft.com/office/drawing/2014/main" id="{CBAC451C-EE6B-45A4-8CE8-5ADAE11F48F1}"/>
                </a:ext>
              </a:extLst>
            </p:cNvPr>
            <p:cNvSpPr/>
            <p:nvPr/>
          </p:nvSpPr>
          <p:spPr>
            <a:xfrm>
              <a:off x="3937325" y="2972925"/>
              <a:ext cx="3075950" cy="30125"/>
            </a:xfrm>
            <a:custGeom>
              <a:avLst/>
              <a:gdLst/>
              <a:ahLst/>
              <a:cxnLst/>
              <a:rect l="l" t="t" r="r" b="b"/>
              <a:pathLst>
                <a:path w="123038" h="1205" extrusionOk="0">
                  <a:moveTo>
                    <a:pt x="1" y="0"/>
                  </a:moveTo>
                  <a:lnTo>
                    <a:pt x="1" y="1205"/>
                  </a:lnTo>
                  <a:lnTo>
                    <a:pt x="123037" y="1205"/>
                  </a:lnTo>
                  <a:lnTo>
                    <a:pt x="1230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311;p58">
              <a:extLst>
                <a:ext uri="{FF2B5EF4-FFF2-40B4-BE49-F238E27FC236}">
                  <a16:creationId xmlns:a16="http://schemas.microsoft.com/office/drawing/2014/main" id="{03EFAEEE-4CD5-44EC-A04B-CC0064B2645E}"/>
                </a:ext>
              </a:extLst>
            </p:cNvPr>
            <p:cNvSpPr/>
            <p:nvPr/>
          </p:nvSpPr>
          <p:spPr>
            <a:xfrm>
              <a:off x="6666575"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312;p58">
              <a:extLst>
                <a:ext uri="{FF2B5EF4-FFF2-40B4-BE49-F238E27FC236}">
                  <a16:creationId xmlns:a16="http://schemas.microsoft.com/office/drawing/2014/main" id="{EE7F90EB-D883-475B-A9CA-3D0F0C404AE2}"/>
                </a:ext>
              </a:extLst>
            </p:cNvPr>
            <p:cNvSpPr/>
            <p:nvPr/>
          </p:nvSpPr>
          <p:spPr>
            <a:xfrm>
              <a:off x="4064750"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313;p58">
              <a:extLst>
                <a:ext uri="{FF2B5EF4-FFF2-40B4-BE49-F238E27FC236}">
                  <a16:creationId xmlns:a16="http://schemas.microsoft.com/office/drawing/2014/main" id="{AC29BC85-7D8B-4E11-A14C-7D6862246D08}"/>
                </a:ext>
              </a:extLst>
            </p:cNvPr>
            <p:cNvSpPr/>
            <p:nvPr/>
          </p:nvSpPr>
          <p:spPr>
            <a:xfrm>
              <a:off x="3937325" y="2566550"/>
              <a:ext cx="3088750" cy="56575"/>
            </a:xfrm>
            <a:custGeom>
              <a:avLst/>
              <a:gdLst/>
              <a:ahLst/>
              <a:cxnLst/>
              <a:rect l="l" t="t" r="r" b="b"/>
              <a:pathLst>
                <a:path w="123550" h="2263" extrusionOk="0">
                  <a:moveTo>
                    <a:pt x="1" y="0"/>
                  </a:moveTo>
                  <a:lnTo>
                    <a:pt x="1" y="2262"/>
                  </a:lnTo>
                  <a:lnTo>
                    <a:pt x="123549" y="2262"/>
                  </a:lnTo>
                  <a:lnTo>
                    <a:pt x="123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314;p58">
              <a:extLst>
                <a:ext uri="{FF2B5EF4-FFF2-40B4-BE49-F238E27FC236}">
                  <a16:creationId xmlns:a16="http://schemas.microsoft.com/office/drawing/2014/main" id="{197541C0-169A-48E8-B390-266C2B970CEF}"/>
                </a:ext>
              </a:extLst>
            </p:cNvPr>
            <p:cNvSpPr/>
            <p:nvPr/>
          </p:nvSpPr>
          <p:spPr>
            <a:xfrm>
              <a:off x="4014850" y="2502500"/>
              <a:ext cx="342025" cy="64075"/>
            </a:xfrm>
            <a:custGeom>
              <a:avLst/>
              <a:gdLst/>
              <a:ahLst/>
              <a:cxnLst/>
              <a:rect l="l" t="t" r="r" b="b"/>
              <a:pathLst>
                <a:path w="13681" h="2563" extrusionOk="0">
                  <a:moveTo>
                    <a:pt x="147" y="0"/>
                  </a:moveTo>
                  <a:cubicBezTo>
                    <a:pt x="67" y="0"/>
                    <a:pt x="0" y="67"/>
                    <a:pt x="0" y="153"/>
                  </a:cubicBezTo>
                  <a:lnTo>
                    <a:pt x="0" y="2562"/>
                  </a:lnTo>
                  <a:lnTo>
                    <a:pt x="13681" y="2562"/>
                  </a:lnTo>
                  <a:lnTo>
                    <a:pt x="13681" y="153"/>
                  </a:lnTo>
                  <a:cubicBezTo>
                    <a:pt x="13681" y="67"/>
                    <a:pt x="13614"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315;p58">
              <a:extLst>
                <a:ext uri="{FF2B5EF4-FFF2-40B4-BE49-F238E27FC236}">
                  <a16:creationId xmlns:a16="http://schemas.microsoft.com/office/drawing/2014/main" id="{C855CD66-C2F9-46B6-958E-2DB2F5AAE053}"/>
                </a:ext>
              </a:extLst>
            </p:cNvPr>
            <p:cNvSpPr/>
            <p:nvPr/>
          </p:nvSpPr>
          <p:spPr>
            <a:xfrm>
              <a:off x="4078050" y="2502500"/>
              <a:ext cx="216125" cy="30125"/>
            </a:xfrm>
            <a:custGeom>
              <a:avLst/>
              <a:gdLst/>
              <a:ahLst/>
              <a:cxnLst/>
              <a:rect l="l" t="t" r="r" b="b"/>
              <a:pathLst>
                <a:path w="8645" h="1205" extrusionOk="0">
                  <a:moveTo>
                    <a:pt x="1" y="0"/>
                  </a:moveTo>
                  <a:lnTo>
                    <a:pt x="1" y="1158"/>
                  </a:lnTo>
                  <a:cubicBezTo>
                    <a:pt x="1" y="1185"/>
                    <a:pt x="14" y="1205"/>
                    <a:pt x="47" y="1205"/>
                  </a:cubicBezTo>
                  <a:lnTo>
                    <a:pt x="8584" y="1205"/>
                  </a:lnTo>
                  <a:cubicBezTo>
                    <a:pt x="8617" y="1205"/>
                    <a:pt x="8644" y="1185"/>
                    <a:pt x="8644" y="1158"/>
                  </a:cubicBezTo>
                  <a:lnTo>
                    <a:pt x="86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316;p58">
              <a:extLst>
                <a:ext uri="{FF2B5EF4-FFF2-40B4-BE49-F238E27FC236}">
                  <a16:creationId xmlns:a16="http://schemas.microsoft.com/office/drawing/2014/main" id="{29363284-2E7D-4805-BA66-FD03CCA586BF}"/>
                </a:ext>
              </a:extLst>
            </p:cNvPr>
            <p:cNvSpPr/>
            <p:nvPr/>
          </p:nvSpPr>
          <p:spPr>
            <a:xfrm>
              <a:off x="4094025" y="2502500"/>
              <a:ext cx="184000" cy="25650"/>
            </a:xfrm>
            <a:custGeom>
              <a:avLst/>
              <a:gdLst/>
              <a:ahLst/>
              <a:cxnLst/>
              <a:rect l="l" t="t" r="r" b="b"/>
              <a:pathLst>
                <a:path w="7360" h="1026" extrusionOk="0">
                  <a:moveTo>
                    <a:pt x="0" y="0"/>
                  </a:moveTo>
                  <a:lnTo>
                    <a:pt x="0" y="972"/>
                  </a:lnTo>
                  <a:cubicBezTo>
                    <a:pt x="0" y="998"/>
                    <a:pt x="20" y="1025"/>
                    <a:pt x="54" y="1025"/>
                  </a:cubicBezTo>
                  <a:lnTo>
                    <a:pt x="7306" y="1025"/>
                  </a:lnTo>
                  <a:cubicBezTo>
                    <a:pt x="7340" y="1025"/>
                    <a:pt x="7360" y="1005"/>
                    <a:pt x="7360" y="972"/>
                  </a:cubicBezTo>
                  <a:lnTo>
                    <a:pt x="73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317;p58">
              <a:extLst>
                <a:ext uri="{FF2B5EF4-FFF2-40B4-BE49-F238E27FC236}">
                  <a16:creationId xmlns:a16="http://schemas.microsoft.com/office/drawing/2014/main" id="{A3AE9D2F-23EA-439F-8E66-E8F96454788D}"/>
                </a:ext>
              </a:extLst>
            </p:cNvPr>
            <p:cNvSpPr/>
            <p:nvPr/>
          </p:nvSpPr>
          <p:spPr>
            <a:xfrm>
              <a:off x="6588900" y="2502500"/>
              <a:ext cx="342200" cy="64075"/>
            </a:xfrm>
            <a:custGeom>
              <a:avLst/>
              <a:gdLst/>
              <a:ahLst/>
              <a:cxnLst/>
              <a:rect l="l" t="t" r="r" b="b"/>
              <a:pathLst>
                <a:path w="13688" h="2563" extrusionOk="0">
                  <a:moveTo>
                    <a:pt x="146" y="0"/>
                  </a:moveTo>
                  <a:cubicBezTo>
                    <a:pt x="67" y="0"/>
                    <a:pt x="0" y="67"/>
                    <a:pt x="0" y="153"/>
                  </a:cubicBezTo>
                  <a:lnTo>
                    <a:pt x="0" y="2562"/>
                  </a:lnTo>
                  <a:lnTo>
                    <a:pt x="13687" y="2562"/>
                  </a:lnTo>
                  <a:lnTo>
                    <a:pt x="13687" y="153"/>
                  </a:lnTo>
                  <a:cubicBezTo>
                    <a:pt x="13687" y="67"/>
                    <a:pt x="13621" y="0"/>
                    <a:pt x="135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318;p58">
              <a:extLst>
                <a:ext uri="{FF2B5EF4-FFF2-40B4-BE49-F238E27FC236}">
                  <a16:creationId xmlns:a16="http://schemas.microsoft.com/office/drawing/2014/main" id="{75715016-0666-4B4E-AE6D-19E832437ABB}"/>
                </a:ext>
              </a:extLst>
            </p:cNvPr>
            <p:cNvSpPr/>
            <p:nvPr/>
          </p:nvSpPr>
          <p:spPr>
            <a:xfrm>
              <a:off x="6652100" y="2502500"/>
              <a:ext cx="215950" cy="30125"/>
            </a:xfrm>
            <a:custGeom>
              <a:avLst/>
              <a:gdLst/>
              <a:ahLst/>
              <a:cxnLst/>
              <a:rect l="l" t="t" r="r" b="b"/>
              <a:pathLst>
                <a:path w="8638" h="1205" extrusionOk="0">
                  <a:moveTo>
                    <a:pt x="1" y="0"/>
                  </a:moveTo>
                  <a:lnTo>
                    <a:pt x="1" y="1158"/>
                  </a:lnTo>
                  <a:cubicBezTo>
                    <a:pt x="1" y="1185"/>
                    <a:pt x="14" y="1205"/>
                    <a:pt x="47" y="1205"/>
                  </a:cubicBezTo>
                  <a:lnTo>
                    <a:pt x="8584" y="1205"/>
                  </a:lnTo>
                  <a:cubicBezTo>
                    <a:pt x="8617" y="1205"/>
                    <a:pt x="8637" y="1185"/>
                    <a:pt x="8637" y="1158"/>
                  </a:cubicBezTo>
                  <a:lnTo>
                    <a:pt x="86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319;p58">
              <a:extLst>
                <a:ext uri="{FF2B5EF4-FFF2-40B4-BE49-F238E27FC236}">
                  <a16:creationId xmlns:a16="http://schemas.microsoft.com/office/drawing/2014/main" id="{9AC2765F-EF68-4001-AF21-F044D0F715DF}"/>
                </a:ext>
              </a:extLst>
            </p:cNvPr>
            <p:cNvSpPr/>
            <p:nvPr/>
          </p:nvSpPr>
          <p:spPr>
            <a:xfrm>
              <a:off x="6668075" y="2502500"/>
              <a:ext cx="184000" cy="25650"/>
            </a:xfrm>
            <a:custGeom>
              <a:avLst/>
              <a:gdLst/>
              <a:ahLst/>
              <a:cxnLst/>
              <a:rect l="l" t="t" r="r" b="b"/>
              <a:pathLst>
                <a:path w="7360" h="1026" extrusionOk="0">
                  <a:moveTo>
                    <a:pt x="0" y="0"/>
                  </a:moveTo>
                  <a:lnTo>
                    <a:pt x="0" y="972"/>
                  </a:lnTo>
                  <a:cubicBezTo>
                    <a:pt x="0" y="998"/>
                    <a:pt x="14" y="1025"/>
                    <a:pt x="47" y="1025"/>
                  </a:cubicBezTo>
                  <a:lnTo>
                    <a:pt x="7300" y="1025"/>
                  </a:lnTo>
                  <a:cubicBezTo>
                    <a:pt x="7333" y="1025"/>
                    <a:pt x="7359" y="1005"/>
                    <a:pt x="7359" y="972"/>
                  </a:cubicBezTo>
                  <a:lnTo>
                    <a:pt x="7359" y="0"/>
                  </a:lnTo>
                  <a:close/>
                </a:path>
              </a:pathLst>
            </a:custGeom>
            <a:solidFill>
              <a:srgbClr val="4E5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320;p58">
              <a:extLst>
                <a:ext uri="{FF2B5EF4-FFF2-40B4-BE49-F238E27FC236}">
                  <a16:creationId xmlns:a16="http://schemas.microsoft.com/office/drawing/2014/main" id="{3914B5D4-D194-4032-87C3-91BC75ECA61D}"/>
                </a:ext>
              </a:extLst>
            </p:cNvPr>
            <p:cNvSpPr/>
            <p:nvPr/>
          </p:nvSpPr>
          <p:spPr>
            <a:xfrm>
              <a:off x="3872125" y="2608300"/>
              <a:ext cx="65225" cy="550950"/>
            </a:xfrm>
            <a:custGeom>
              <a:avLst/>
              <a:gdLst/>
              <a:ahLst/>
              <a:cxnLst/>
              <a:rect l="l" t="t" r="r" b="b"/>
              <a:pathLst>
                <a:path w="2609" h="22038" extrusionOk="0">
                  <a:moveTo>
                    <a:pt x="113" y="0"/>
                  </a:moveTo>
                  <a:cubicBezTo>
                    <a:pt x="53" y="0"/>
                    <a:pt x="0" y="53"/>
                    <a:pt x="0" y="113"/>
                  </a:cubicBezTo>
                  <a:lnTo>
                    <a:pt x="0" y="21924"/>
                  </a:lnTo>
                  <a:cubicBezTo>
                    <a:pt x="0" y="21984"/>
                    <a:pt x="53" y="22037"/>
                    <a:pt x="113" y="22037"/>
                  </a:cubicBezTo>
                  <a:lnTo>
                    <a:pt x="2495" y="22037"/>
                  </a:lnTo>
                  <a:cubicBezTo>
                    <a:pt x="2555" y="22037"/>
                    <a:pt x="2609" y="21984"/>
                    <a:pt x="2609" y="21918"/>
                  </a:cubicBezTo>
                  <a:lnTo>
                    <a:pt x="2609" y="113"/>
                  </a:lnTo>
                  <a:cubicBezTo>
                    <a:pt x="2609" y="53"/>
                    <a:pt x="2555" y="0"/>
                    <a:pt x="2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321;p58">
              <a:extLst>
                <a:ext uri="{FF2B5EF4-FFF2-40B4-BE49-F238E27FC236}">
                  <a16:creationId xmlns:a16="http://schemas.microsoft.com/office/drawing/2014/main" id="{2A8941DA-1B30-467B-910C-A17172322905}"/>
                </a:ext>
              </a:extLst>
            </p:cNvPr>
            <p:cNvSpPr/>
            <p:nvPr/>
          </p:nvSpPr>
          <p:spPr>
            <a:xfrm>
              <a:off x="3872125" y="3029475"/>
              <a:ext cx="65225" cy="129450"/>
            </a:xfrm>
            <a:custGeom>
              <a:avLst/>
              <a:gdLst/>
              <a:ahLst/>
              <a:cxnLst/>
              <a:rect l="l" t="t" r="r" b="b"/>
              <a:pathLst>
                <a:path w="2609" h="5178" extrusionOk="0">
                  <a:moveTo>
                    <a:pt x="0" y="1"/>
                  </a:moveTo>
                  <a:lnTo>
                    <a:pt x="0" y="4232"/>
                  </a:lnTo>
                  <a:cubicBezTo>
                    <a:pt x="0" y="4758"/>
                    <a:pt x="426" y="5177"/>
                    <a:pt x="952" y="5177"/>
                  </a:cubicBezTo>
                  <a:lnTo>
                    <a:pt x="1657" y="5177"/>
                  </a:lnTo>
                  <a:cubicBezTo>
                    <a:pt x="2183" y="5177"/>
                    <a:pt x="2609" y="4751"/>
                    <a:pt x="2609" y="4232"/>
                  </a:cubicBezTo>
                  <a:lnTo>
                    <a:pt x="2609" y="1"/>
                  </a:lnTo>
                  <a:cubicBezTo>
                    <a:pt x="2609" y="520"/>
                    <a:pt x="2183" y="945"/>
                    <a:pt x="1657" y="945"/>
                  </a:cubicBezTo>
                  <a:lnTo>
                    <a:pt x="952" y="945"/>
                  </a:lnTo>
                  <a:cubicBezTo>
                    <a:pt x="426" y="945"/>
                    <a:pt x="0" y="520"/>
                    <a:pt x="0" y="1"/>
                  </a:cubicBezTo>
                  <a:close/>
                </a:path>
              </a:pathLst>
            </a:custGeom>
            <a:solidFill>
              <a:srgbClr val="2C2C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322;p58">
              <a:extLst>
                <a:ext uri="{FF2B5EF4-FFF2-40B4-BE49-F238E27FC236}">
                  <a16:creationId xmlns:a16="http://schemas.microsoft.com/office/drawing/2014/main" id="{4C385A10-D245-41A8-8E0F-08012A157232}"/>
                </a:ext>
              </a:extLst>
            </p:cNvPr>
            <p:cNvSpPr/>
            <p:nvPr/>
          </p:nvSpPr>
          <p:spPr>
            <a:xfrm>
              <a:off x="1828225" y="2695800"/>
              <a:ext cx="230575" cy="449800"/>
            </a:xfrm>
            <a:custGeom>
              <a:avLst/>
              <a:gdLst/>
              <a:ahLst/>
              <a:cxnLst/>
              <a:rect l="l" t="t" r="r" b="b"/>
              <a:pathLst>
                <a:path w="9223" h="17992" extrusionOk="0">
                  <a:moveTo>
                    <a:pt x="0" y="0"/>
                  </a:moveTo>
                  <a:lnTo>
                    <a:pt x="0" y="17992"/>
                  </a:lnTo>
                  <a:lnTo>
                    <a:pt x="9222" y="17992"/>
                  </a:lnTo>
                  <a:lnTo>
                    <a:pt x="92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1253;p57">
            <a:extLst>
              <a:ext uri="{FF2B5EF4-FFF2-40B4-BE49-F238E27FC236}">
                <a16:creationId xmlns:a16="http://schemas.microsoft.com/office/drawing/2014/main" id="{9B181D31-5AC8-4BCA-A868-2A1FDB28828E}"/>
              </a:ext>
            </a:extLst>
          </p:cNvPr>
          <p:cNvSpPr/>
          <p:nvPr/>
        </p:nvSpPr>
        <p:spPr>
          <a:xfrm>
            <a:off x="5529938" y="3708479"/>
            <a:ext cx="427197" cy="554542"/>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文字方塊 35">
            <a:extLst>
              <a:ext uri="{FF2B5EF4-FFF2-40B4-BE49-F238E27FC236}">
                <a16:creationId xmlns:a16="http://schemas.microsoft.com/office/drawing/2014/main" id="{41BF6ACB-EECF-4666-A137-7B3DA7F45CCA}"/>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20</a:t>
            </a:r>
            <a:endParaRPr lang="zh-TW" altLang="en-US" sz="1100" dirty="0">
              <a:latin typeface="Montserrat" panose="02020500000000000000" charset="0"/>
            </a:endParaRPr>
          </a:p>
        </p:txBody>
      </p:sp>
    </p:spTree>
    <p:extLst>
      <p:ext uri="{BB962C8B-B14F-4D97-AF65-F5344CB8AC3E}">
        <p14:creationId xmlns:p14="http://schemas.microsoft.com/office/powerpoint/2010/main" val="852463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4" name="矩形 3">
            <a:extLst>
              <a:ext uri="{FF2B5EF4-FFF2-40B4-BE49-F238E27FC236}">
                <a16:creationId xmlns:a16="http://schemas.microsoft.com/office/drawing/2014/main" id="{A078530B-A59C-4B36-B8C4-0D1BA3B80DA3}"/>
              </a:ext>
            </a:extLst>
          </p:cNvPr>
          <p:cNvSpPr/>
          <p:nvPr/>
        </p:nvSpPr>
        <p:spPr>
          <a:xfrm>
            <a:off x="3090333" y="211667"/>
            <a:ext cx="2866802" cy="1545974"/>
          </a:xfrm>
          <a:prstGeom prst="rect">
            <a:avLst/>
          </a:prstGeom>
          <a:solidFill>
            <a:schemeClr val="bg2">
              <a:lumMod val="20000"/>
              <a:lumOff val="80000"/>
              <a:alpha val="6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4" name="Google Shape;564;p39"/>
          <p:cNvSpPr txBox="1">
            <a:spLocks noGrp="1"/>
          </p:cNvSpPr>
          <p:nvPr>
            <p:ph type="title"/>
          </p:nvPr>
        </p:nvSpPr>
        <p:spPr>
          <a:xfrm>
            <a:off x="2438696" y="1722776"/>
            <a:ext cx="4275462"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Working principles</a:t>
            </a:r>
          </a:p>
        </p:txBody>
      </p:sp>
      <p:grpSp>
        <p:nvGrpSpPr>
          <p:cNvPr id="64" name="Google Shape;1292;p58">
            <a:extLst>
              <a:ext uri="{FF2B5EF4-FFF2-40B4-BE49-F238E27FC236}">
                <a16:creationId xmlns:a16="http://schemas.microsoft.com/office/drawing/2014/main" id="{FC6632E1-4DDB-4426-94DA-D4E75D2D5F02}"/>
              </a:ext>
            </a:extLst>
          </p:cNvPr>
          <p:cNvGrpSpPr/>
          <p:nvPr/>
        </p:nvGrpSpPr>
        <p:grpSpPr>
          <a:xfrm>
            <a:off x="5343406" y="4389120"/>
            <a:ext cx="3800594" cy="754380"/>
            <a:chOff x="474500" y="2502500"/>
            <a:chExt cx="6551575" cy="769875"/>
          </a:xfrm>
        </p:grpSpPr>
        <p:sp>
          <p:nvSpPr>
            <p:cNvPr id="65" name="Google Shape;1293;p58">
              <a:extLst>
                <a:ext uri="{FF2B5EF4-FFF2-40B4-BE49-F238E27FC236}">
                  <a16:creationId xmlns:a16="http://schemas.microsoft.com/office/drawing/2014/main" id="{336B5179-25EF-41B7-A75F-B1339648CDC4}"/>
                </a:ext>
              </a:extLst>
            </p:cNvPr>
            <p:cNvSpPr/>
            <p:nvPr/>
          </p:nvSpPr>
          <p:spPr>
            <a:xfrm>
              <a:off x="474500" y="2566550"/>
              <a:ext cx="3397475" cy="579050"/>
            </a:xfrm>
            <a:custGeom>
              <a:avLst/>
              <a:gdLst/>
              <a:ahLst/>
              <a:cxnLst/>
              <a:rect l="l" t="t" r="r" b="b"/>
              <a:pathLst>
                <a:path w="135899" h="23162" extrusionOk="0">
                  <a:moveTo>
                    <a:pt x="37708" y="0"/>
                  </a:moveTo>
                  <a:cubicBezTo>
                    <a:pt x="24912" y="0"/>
                    <a:pt x="0" y="10373"/>
                    <a:pt x="0" y="23162"/>
                  </a:cubicBezTo>
                  <a:lnTo>
                    <a:pt x="135899" y="23162"/>
                  </a:lnTo>
                  <a:lnTo>
                    <a:pt x="1358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294;p58">
              <a:extLst>
                <a:ext uri="{FF2B5EF4-FFF2-40B4-BE49-F238E27FC236}">
                  <a16:creationId xmlns:a16="http://schemas.microsoft.com/office/drawing/2014/main" id="{C2D8BB26-87C9-4B49-9908-BF0C01EA52DB}"/>
                </a:ext>
              </a:extLst>
            </p:cNvPr>
            <p:cNvSpPr/>
            <p:nvPr/>
          </p:nvSpPr>
          <p:spPr>
            <a:xfrm>
              <a:off x="474650" y="3145575"/>
              <a:ext cx="3397825" cy="126800"/>
            </a:xfrm>
            <a:custGeom>
              <a:avLst/>
              <a:gdLst/>
              <a:ahLst/>
              <a:cxnLst/>
              <a:rect l="l" t="t" r="r" b="b"/>
              <a:pathLst>
                <a:path w="135913" h="5072" extrusionOk="0">
                  <a:moveTo>
                    <a:pt x="1" y="1"/>
                  </a:moveTo>
                  <a:lnTo>
                    <a:pt x="1" y="4486"/>
                  </a:lnTo>
                  <a:cubicBezTo>
                    <a:pt x="1" y="4812"/>
                    <a:pt x="314" y="5071"/>
                    <a:pt x="693" y="5071"/>
                  </a:cubicBezTo>
                  <a:lnTo>
                    <a:pt x="135913" y="5071"/>
                  </a:lnTo>
                  <a:lnTo>
                    <a:pt x="1359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295;p58">
              <a:extLst>
                <a:ext uri="{FF2B5EF4-FFF2-40B4-BE49-F238E27FC236}">
                  <a16:creationId xmlns:a16="http://schemas.microsoft.com/office/drawing/2014/main" id="{31045745-061C-4EA8-A09F-7EADDCB69381}"/>
                </a:ext>
              </a:extLst>
            </p:cNvPr>
            <p:cNvSpPr/>
            <p:nvPr/>
          </p:nvSpPr>
          <p:spPr>
            <a:xfrm>
              <a:off x="2182875" y="2695800"/>
              <a:ext cx="1545875" cy="204125"/>
            </a:xfrm>
            <a:custGeom>
              <a:avLst/>
              <a:gdLst/>
              <a:ahLst/>
              <a:cxnLst/>
              <a:rect l="l" t="t" r="r" b="b"/>
              <a:pathLst>
                <a:path w="61835" h="8165" extrusionOk="0">
                  <a:moveTo>
                    <a:pt x="0" y="0"/>
                  </a:moveTo>
                  <a:lnTo>
                    <a:pt x="0" y="8164"/>
                  </a:lnTo>
                  <a:lnTo>
                    <a:pt x="61835" y="8164"/>
                  </a:lnTo>
                  <a:lnTo>
                    <a:pt x="618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296;p58">
              <a:extLst>
                <a:ext uri="{FF2B5EF4-FFF2-40B4-BE49-F238E27FC236}">
                  <a16:creationId xmlns:a16="http://schemas.microsoft.com/office/drawing/2014/main" id="{E4817A4E-D395-4786-8BD6-3058EE63B729}"/>
                </a:ext>
              </a:extLst>
            </p:cNvPr>
            <p:cNvSpPr/>
            <p:nvPr/>
          </p:nvSpPr>
          <p:spPr>
            <a:xfrm>
              <a:off x="1044900" y="2691050"/>
              <a:ext cx="614675" cy="208875"/>
            </a:xfrm>
            <a:custGeom>
              <a:avLst/>
              <a:gdLst/>
              <a:ahLst/>
              <a:cxnLst/>
              <a:rect l="l" t="t" r="r" b="b"/>
              <a:pathLst>
                <a:path w="24587" h="8355" extrusionOk="0">
                  <a:moveTo>
                    <a:pt x="20229" y="1"/>
                  </a:moveTo>
                  <a:cubicBezTo>
                    <a:pt x="14517" y="1"/>
                    <a:pt x="5310" y="775"/>
                    <a:pt x="0" y="4442"/>
                  </a:cubicBezTo>
                  <a:lnTo>
                    <a:pt x="0" y="8354"/>
                  </a:lnTo>
                  <a:lnTo>
                    <a:pt x="24586" y="8354"/>
                  </a:lnTo>
                  <a:lnTo>
                    <a:pt x="24586" y="190"/>
                  </a:lnTo>
                  <a:cubicBezTo>
                    <a:pt x="23751" y="93"/>
                    <a:pt x="22197" y="1"/>
                    <a:pt x="202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297;p58">
              <a:extLst>
                <a:ext uri="{FF2B5EF4-FFF2-40B4-BE49-F238E27FC236}">
                  <a16:creationId xmlns:a16="http://schemas.microsoft.com/office/drawing/2014/main" id="{7FA0A3F7-5926-4079-A8AB-405AD64B0FB1}"/>
                </a:ext>
              </a:extLst>
            </p:cNvPr>
            <p:cNvSpPr/>
            <p:nvPr/>
          </p:nvSpPr>
          <p:spPr>
            <a:xfrm>
              <a:off x="796050" y="2972925"/>
              <a:ext cx="3076100" cy="30125"/>
            </a:xfrm>
            <a:custGeom>
              <a:avLst/>
              <a:gdLst/>
              <a:ahLst/>
              <a:cxnLst/>
              <a:rect l="l" t="t" r="r" b="b"/>
              <a:pathLst>
                <a:path w="123044" h="1205" extrusionOk="0">
                  <a:moveTo>
                    <a:pt x="140" y="0"/>
                  </a:moveTo>
                  <a:cubicBezTo>
                    <a:pt x="67" y="0"/>
                    <a:pt x="0" y="67"/>
                    <a:pt x="0" y="140"/>
                  </a:cubicBezTo>
                  <a:lnTo>
                    <a:pt x="0" y="1205"/>
                  </a:lnTo>
                  <a:lnTo>
                    <a:pt x="123043" y="1205"/>
                  </a:lnTo>
                  <a:lnTo>
                    <a:pt x="1230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298;p58">
              <a:extLst>
                <a:ext uri="{FF2B5EF4-FFF2-40B4-BE49-F238E27FC236}">
                  <a16:creationId xmlns:a16="http://schemas.microsoft.com/office/drawing/2014/main" id="{72980734-F815-4B43-830C-BDF119E62F96}"/>
                </a:ext>
              </a:extLst>
            </p:cNvPr>
            <p:cNvSpPr/>
            <p:nvPr/>
          </p:nvSpPr>
          <p:spPr>
            <a:xfrm>
              <a:off x="1441625" y="2566550"/>
              <a:ext cx="2430350" cy="56575"/>
            </a:xfrm>
            <a:custGeom>
              <a:avLst/>
              <a:gdLst/>
              <a:ahLst/>
              <a:cxnLst/>
              <a:rect l="l" t="t" r="r" b="b"/>
              <a:pathLst>
                <a:path w="97214" h="2263" extrusionOk="0">
                  <a:moveTo>
                    <a:pt x="1" y="0"/>
                  </a:moveTo>
                  <a:lnTo>
                    <a:pt x="1" y="1996"/>
                  </a:lnTo>
                  <a:cubicBezTo>
                    <a:pt x="1" y="2149"/>
                    <a:pt x="120" y="2262"/>
                    <a:pt x="260" y="2262"/>
                  </a:cubicBezTo>
                  <a:lnTo>
                    <a:pt x="97214" y="2262"/>
                  </a:lnTo>
                  <a:lnTo>
                    <a:pt x="97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299;p58">
              <a:extLst>
                <a:ext uri="{FF2B5EF4-FFF2-40B4-BE49-F238E27FC236}">
                  <a16:creationId xmlns:a16="http://schemas.microsoft.com/office/drawing/2014/main" id="{1875F0C7-5AFB-4398-99AD-422A432B5BB0}"/>
                </a:ext>
              </a:extLst>
            </p:cNvPr>
            <p:cNvSpPr/>
            <p:nvPr/>
          </p:nvSpPr>
          <p:spPr>
            <a:xfrm>
              <a:off x="796050" y="2856150"/>
              <a:ext cx="144575" cy="146900"/>
            </a:xfrm>
            <a:custGeom>
              <a:avLst/>
              <a:gdLst/>
              <a:ahLst/>
              <a:cxnLst/>
              <a:rect l="l" t="t" r="r" b="b"/>
              <a:pathLst>
                <a:path w="5783" h="5876" extrusionOk="0">
                  <a:moveTo>
                    <a:pt x="5782" y="0"/>
                  </a:moveTo>
                  <a:cubicBezTo>
                    <a:pt x="0" y="2289"/>
                    <a:pt x="0" y="5876"/>
                    <a:pt x="0" y="5876"/>
                  </a:cubicBezTo>
                  <a:lnTo>
                    <a:pt x="925" y="5876"/>
                  </a:lnTo>
                  <a:cubicBezTo>
                    <a:pt x="925" y="5876"/>
                    <a:pt x="1071" y="2941"/>
                    <a:pt x="5782" y="958"/>
                  </a:cubicBezTo>
                  <a:lnTo>
                    <a:pt x="5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300;p58">
              <a:extLst>
                <a:ext uri="{FF2B5EF4-FFF2-40B4-BE49-F238E27FC236}">
                  <a16:creationId xmlns:a16="http://schemas.microsoft.com/office/drawing/2014/main" id="{6BDCB656-5900-4AC9-849F-2B066B71E4E3}"/>
                </a:ext>
              </a:extLst>
            </p:cNvPr>
            <p:cNvSpPr/>
            <p:nvPr/>
          </p:nvSpPr>
          <p:spPr>
            <a:xfrm>
              <a:off x="643175" y="2653200"/>
              <a:ext cx="366800" cy="213475"/>
            </a:xfrm>
            <a:custGeom>
              <a:avLst/>
              <a:gdLst/>
              <a:ahLst/>
              <a:cxnLst/>
              <a:rect l="l" t="t" r="r" b="b"/>
              <a:pathLst>
                <a:path w="14672" h="8539" extrusionOk="0">
                  <a:moveTo>
                    <a:pt x="14672" y="1"/>
                  </a:moveTo>
                  <a:lnTo>
                    <a:pt x="14672" y="1"/>
                  </a:lnTo>
                  <a:cubicBezTo>
                    <a:pt x="9282" y="2023"/>
                    <a:pt x="3986" y="4838"/>
                    <a:pt x="0" y="8172"/>
                  </a:cubicBezTo>
                  <a:cubicBezTo>
                    <a:pt x="697" y="8414"/>
                    <a:pt x="1431" y="8539"/>
                    <a:pt x="2169" y="8539"/>
                  </a:cubicBezTo>
                  <a:cubicBezTo>
                    <a:pt x="3396" y="8539"/>
                    <a:pt x="4635" y="8193"/>
                    <a:pt x="5736" y="7466"/>
                  </a:cubicBezTo>
                  <a:lnTo>
                    <a:pt x="12143" y="3228"/>
                  </a:lnTo>
                  <a:cubicBezTo>
                    <a:pt x="13361" y="2423"/>
                    <a:pt x="14213" y="1278"/>
                    <a:pt x="146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301;p58">
              <a:extLst>
                <a:ext uri="{FF2B5EF4-FFF2-40B4-BE49-F238E27FC236}">
                  <a16:creationId xmlns:a16="http://schemas.microsoft.com/office/drawing/2014/main" id="{0F9A2B37-1BBF-44DE-B66C-E320ECAD06EB}"/>
                </a:ext>
              </a:extLst>
            </p:cNvPr>
            <p:cNvSpPr/>
            <p:nvPr/>
          </p:nvSpPr>
          <p:spPr>
            <a:xfrm>
              <a:off x="680425" y="2659025"/>
              <a:ext cx="314750" cy="173050"/>
            </a:xfrm>
            <a:custGeom>
              <a:avLst/>
              <a:gdLst/>
              <a:ahLst/>
              <a:cxnLst/>
              <a:rect l="l" t="t" r="r" b="b"/>
              <a:pathLst>
                <a:path w="12590" h="6922" extrusionOk="0">
                  <a:moveTo>
                    <a:pt x="12590" y="1"/>
                  </a:moveTo>
                  <a:lnTo>
                    <a:pt x="12590" y="1"/>
                  </a:lnTo>
                  <a:cubicBezTo>
                    <a:pt x="8052" y="1757"/>
                    <a:pt x="3607" y="4059"/>
                    <a:pt x="1" y="6767"/>
                  </a:cubicBezTo>
                  <a:cubicBezTo>
                    <a:pt x="464" y="6869"/>
                    <a:pt x="937" y="6921"/>
                    <a:pt x="1412" y="6921"/>
                  </a:cubicBezTo>
                  <a:cubicBezTo>
                    <a:pt x="2643" y="6921"/>
                    <a:pt x="3887" y="6572"/>
                    <a:pt x="4991" y="5843"/>
                  </a:cubicBezTo>
                  <a:lnTo>
                    <a:pt x="10560" y="2156"/>
                  </a:lnTo>
                  <a:cubicBezTo>
                    <a:pt x="11425" y="1584"/>
                    <a:pt x="12104" y="846"/>
                    <a:pt x="125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302;p58">
              <a:extLst>
                <a:ext uri="{FF2B5EF4-FFF2-40B4-BE49-F238E27FC236}">
                  <a16:creationId xmlns:a16="http://schemas.microsoft.com/office/drawing/2014/main" id="{FD45EDD4-B685-4EF2-BA1A-D96173FCA25B}"/>
                </a:ext>
              </a:extLst>
            </p:cNvPr>
            <p:cNvSpPr/>
            <p:nvPr/>
          </p:nvSpPr>
          <p:spPr>
            <a:xfrm>
              <a:off x="511575" y="3029700"/>
              <a:ext cx="44775" cy="66950"/>
            </a:xfrm>
            <a:custGeom>
              <a:avLst/>
              <a:gdLst/>
              <a:ahLst/>
              <a:cxnLst/>
              <a:rect l="l" t="t" r="r" b="b"/>
              <a:pathLst>
                <a:path w="1791" h="2678" extrusionOk="0">
                  <a:moveTo>
                    <a:pt x="1367" y="1"/>
                  </a:moveTo>
                  <a:cubicBezTo>
                    <a:pt x="1055" y="1"/>
                    <a:pt x="622" y="449"/>
                    <a:pt x="334" y="1089"/>
                  </a:cubicBezTo>
                  <a:cubicBezTo>
                    <a:pt x="8" y="1815"/>
                    <a:pt x="1" y="2513"/>
                    <a:pt x="314" y="2653"/>
                  </a:cubicBezTo>
                  <a:cubicBezTo>
                    <a:pt x="350" y="2670"/>
                    <a:pt x="389" y="2678"/>
                    <a:pt x="430" y="2678"/>
                  </a:cubicBezTo>
                  <a:cubicBezTo>
                    <a:pt x="738" y="2678"/>
                    <a:pt x="1171" y="2234"/>
                    <a:pt x="1458" y="1588"/>
                  </a:cubicBezTo>
                  <a:cubicBezTo>
                    <a:pt x="1784" y="863"/>
                    <a:pt x="1791" y="165"/>
                    <a:pt x="1485" y="25"/>
                  </a:cubicBezTo>
                  <a:cubicBezTo>
                    <a:pt x="1448" y="8"/>
                    <a:pt x="1409" y="1"/>
                    <a:pt x="1367" y="1"/>
                  </a:cubicBezTo>
                  <a:close/>
                </a:path>
              </a:pathLst>
            </a:custGeom>
            <a:solidFill>
              <a:srgbClr val="BA2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303;p58">
              <a:extLst>
                <a:ext uri="{FF2B5EF4-FFF2-40B4-BE49-F238E27FC236}">
                  <a16:creationId xmlns:a16="http://schemas.microsoft.com/office/drawing/2014/main" id="{2B52033F-06DA-41F2-B444-2CFD77AD53DF}"/>
                </a:ext>
              </a:extLst>
            </p:cNvPr>
            <p:cNvSpPr/>
            <p:nvPr/>
          </p:nvSpPr>
          <p:spPr>
            <a:xfrm>
              <a:off x="514575" y="3029125"/>
              <a:ext cx="38800" cy="57625"/>
            </a:xfrm>
            <a:custGeom>
              <a:avLst/>
              <a:gdLst/>
              <a:ahLst/>
              <a:cxnLst/>
              <a:rect l="l" t="t" r="r" b="b"/>
              <a:pathLst>
                <a:path w="1552" h="2305" extrusionOk="0">
                  <a:moveTo>
                    <a:pt x="1177" y="0"/>
                  </a:moveTo>
                  <a:cubicBezTo>
                    <a:pt x="909" y="0"/>
                    <a:pt x="533" y="381"/>
                    <a:pt x="287" y="933"/>
                  </a:cubicBezTo>
                  <a:cubicBezTo>
                    <a:pt x="14" y="1558"/>
                    <a:pt x="1" y="2164"/>
                    <a:pt x="274" y="2283"/>
                  </a:cubicBezTo>
                  <a:cubicBezTo>
                    <a:pt x="305" y="2298"/>
                    <a:pt x="339" y="2304"/>
                    <a:pt x="375" y="2304"/>
                  </a:cubicBezTo>
                  <a:cubicBezTo>
                    <a:pt x="643" y="2304"/>
                    <a:pt x="1018" y="1924"/>
                    <a:pt x="1265" y="1372"/>
                  </a:cubicBezTo>
                  <a:cubicBezTo>
                    <a:pt x="1538" y="746"/>
                    <a:pt x="1551" y="141"/>
                    <a:pt x="1278" y="21"/>
                  </a:cubicBezTo>
                  <a:cubicBezTo>
                    <a:pt x="1247" y="7"/>
                    <a:pt x="1213" y="0"/>
                    <a:pt x="11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304;p58">
              <a:extLst>
                <a:ext uri="{FF2B5EF4-FFF2-40B4-BE49-F238E27FC236}">
                  <a16:creationId xmlns:a16="http://schemas.microsoft.com/office/drawing/2014/main" id="{99852B7F-9A09-441F-925F-ABA45BE9AF73}"/>
                </a:ext>
              </a:extLst>
            </p:cNvPr>
            <p:cNvSpPr/>
            <p:nvPr/>
          </p:nvSpPr>
          <p:spPr>
            <a:xfrm>
              <a:off x="3479550" y="2502500"/>
              <a:ext cx="342200" cy="64075"/>
            </a:xfrm>
            <a:custGeom>
              <a:avLst/>
              <a:gdLst/>
              <a:ahLst/>
              <a:cxnLst/>
              <a:rect l="l" t="t" r="r" b="b"/>
              <a:pathLst>
                <a:path w="13688" h="2563" extrusionOk="0">
                  <a:moveTo>
                    <a:pt x="153" y="0"/>
                  </a:moveTo>
                  <a:cubicBezTo>
                    <a:pt x="67" y="0"/>
                    <a:pt x="0" y="67"/>
                    <a:pt x="0" y="153"/>
                  </a:cubicBezTo>
                  <a:lnTo>
                    <a:pt x="0" y="2562"/>
                  </a:lnTo>
                  <a:lnTo>
                    <a:pt x="13687" y="2562"/>
                  </a:lnTo>
                  <a:lnTo>
                    <a:pt x="13687" y="153"/>
                  </a:lnTo>
                  <a:cubicBezTo>
                    <a:pt x="13687" y="67"/>
                    <a:pt x="13621"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305;p58">
              <a:extLst>
                <a:ext uri="{FF2B5EF4-FFF2-40B4-BE49-F238E27FC236}">
                  <a16:creationId xmlns:a16="http://schemas.microsoft.com/office/drawing/2014/main" id="{7B32B8C2-1B9F-430B-9AD1-CBD053A9F7A1}"/>
                </a:ext>
              </a:extLst>
            </p:cNvPr>
            <p:cNvSpPr/>
            <p:nvPr/>
          </p:nvSpPr>
          <p:spPr>
            <a:xfrm>
              <a:off x="3542750" y="2502500"/>
              <a:ext cx="216100" cy="30125"/>
            </a:xfrm>
            <a:custGeom>
              <a:avLst/>
              <a:gdLst/>
              <a:ahLst/>
              <a:cxnLst/>
              <a:rect l="l" t="t" r="r" b="b"/>
              <a:pathLst>
                <a:path w="8644" h="1205" extrusionOk="0">
                  <a:moveTo>
                    <a:pt x="1" y="0"/>
                  </a:moveTo>
                  <a:lnTo>
                    <a:pt x="1" y="1158"/>
                  </a:lnTo>
                  <a:cubicBezTo>
                    <a:pt x="1" y="1185"/>
                    <a:pt x="21" y="1205"/>
                    <a:pt x="54" y="1205"/>
                  </a:cubicBezTo>
                  <a:lnTo>
                    <a:pt x="8584" y="1205"/>
                  </a:lnTo>
                  <a:cubicBezTo>
                    <a:pt x="8617" y="1205"/>
                    <a:pt x="8637" y="1185"/>
                    <a:pt x="8644" y="1158"/>
                  </a:cubicBezTo>
                  <a:lnTo>
                    <a:pt x="8644" y="0"/>
                  </a:lnTo>
                  <a:close/>
                </a:path>
              </a:pathLst>
            </a:custGeom>
            <a:solidFill>
              <a:srgbClr val="3C4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306;p58">
              <a:extLst>
                <a:ext uri="{FF2B5EF4-FFF2-40B4-BE49-F238E27FC236}">
                  <a16:creationId xmlns:a16="http://schemas.microsoft.com/office/drawing/2014/main" id="{9483C74D-C537-436B-A3C4-70539B28519A}"/>
                </a:ext>
              </a:extLst>
            </p:cNvPr>
            <p:cNvSpPr/>
            <p:nvPr/>
          </p:nvSpPr>
          <p:spPr>
            <a:xfrm>
              <a:off x="3558900" y="2502500"/>
              <a:ext cx="184000" cy="25650"/>
            </a:xfrm>
            <a:custGeom>
              <a:avLst/>
              <a:gdLst/>
              <a:ahLst/>
              <a:cxnLst/>
              <a:rect l="l" t="t" r="r" b="b"/>
              <a:pathLst>
                <a:path w="7360" h="1026" extrusionOk="0">
                  <a:moveTo>
                    <a:pt x="0" y="0"/>
                  </a:moveTo>
                  <a:lnTo>
                    <a:pt x="0" y="972"/>
                  </a:lnTo>
                  <a:cubicBezTo>
                    <a:pt x="0" y="998"/>
                    <a:pt x="13" y="1025"/>
                    <a:pt x="47" y="1025"/>
                  </a:cubicBezTo>
                  <a:lnTo>
                    <a:pt x="7299" y="1025"/>
                  </a:lnTo>
                  <a:cubicBezTo>
                    <a:pt x="7333" y="1025"/>
                    <a:pt x="7359" y="1005"/>
                    <a:pt x="7359" y="972"/>
                  </a:cubicBezTo>
                  <a:lnTo>
                    <a:pt x="73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307;p58">
              <a:extLst>
                <a:ext uri="{FF2B5EF4-FFF2-40B4-BE49-F238E27FC236}">
                  <a16:creationId xmlns:a16="http://schemas.microsoft.com/office/drawing/2014/main" id="{BCD60B5E-407B-4F04-87BE-DC0981DB535F}"/>
                </a:ext>
              </a:extLst>
            </p:cNvPr>
            <p:cNvSpPr/>
            <p:nvPr/>
          </p:nvSpPr>
          <p:spPr>
            <a:xfrm>
              <a:off x="3939000" y="2566550"/>
              <a:ext cx="3087075" cy="579050"/>
            </a:xfrm>
            <a:custGeom>
              <a:avLst/>
              <a:gdLst/>
              <a:ahLst/>
              <a:cxnLst/>
              <a:rect l="l" t="t" r="r" b="b"/>
              <a:pathLst>
                <a:path w="123483" h="23162" extrusionOk="0">
                  <a:moveTo>
                    <a:pt x="0" y="0"/>
                  </a:moveTo>
                  <a:lnTo>
                    <a:pt x="0" y="23162"/>
                  </a:lnTo>
                  <a:lnTo>
                    <a:pt x="123482" y="23162"/>
                  </a:lnTo>
                  <a:lnTo>
                    <a:pt x="1234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308;p58">
              <a:extLst>
                <a:ext uri="{FF2B5EF4-FFF2-40B4-BE49-F238E27FC236}">
                  <a16:creationId xmlns:a16="http://schemas.microsoft.com/office/drawing/2014/main" id="{B1D24277-17F6-4A9E-B573-F1A8FFA6EB77}"/>
                </a:ext>
              </a:extLst>
            </p:cNvPr>
            <p:cNvSpPr/>
            <p:nvPr/>
          </p:nvSpPr>
          <p:spPr>
            <a:xfrm>
              <a:off x="4487100" y="2695800"/>
              <a:ext cx="1990850" cy="204125"/>
            </a:xfrm>
            <a:custGeom>
              <a:avLst/>
              <a:gdLst/>
              <a:ahLst/>
              <a:cxnLst/>
              <a:rect l="l" t="t" r="r" b="b"/>
              <a:pathLst>
                <a:path w="79634" h="8165" extrusionOk="0">
                  <a:moveTo>
                    <a:pt x="1" y="0"/>
                  </a:moveTo>
                  <a:lnTo>
                    <a:pt x="1" y="8164"/>
                  </a:lnTo>
                  <a:lnTo>
                    <a:pt x="79634" y="8164"/>
                  </a:lnTo>
                  <a:lnTo>
                    <a:pt x="796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309;p58">
              <a:extLst>
                <a:ext uri="{FF2B5EF4-FFF2-40B4-BE49-F238E27FC236}">
                  <a16:creationId xmlns:a16="http://schemas.microsoft.com/office/drawing/2014/main" id="{B40F52AA-75A1-4349-935B-62A4E128DEE4}"/>
                </a:ext>
              </a:extLst>
            </p:cNvPr>
            <p:cNvSpPr/>
            <p:nvPr/>
          </p:nvSpPr>
          <p:spPr>
            <a:xfrm>
              <a:off x="3939000" y="3145575"/>
              <a:ext cx="3086900" cy="126800"/>
            </a:xfrm>
            <a:custGeom>
              <a:avLst/>
              <a:gdLst/>
              <a:ahLst/>
              <a:cxnLst/>
              <a:rect l="l" t="t" r="r" b="b"/>
              <a:pathLst>
                <a:path w="123476" h="5072" extrusionOk="0">
                  <a:moveTo>
                    <a:pt x="0" y="1"/>
                  </a:moveTo>
                  <a:lnTo>
                    <a:pt x="0" y="5071"/>
                  </a:lnTo>
                  <a:lnTo>
                    <a:pt x="123476" y="5071"/>
                  </a:lnTo>
                  <a:lnTo>
                    <a:pt x="1234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310;p58">
              <a:extLst>
                <a:ext uri="{FF2B5EF4-FFF2-40B4-BE49-F238E27FC236}">
                  <a16:creationId xmlns:a16="http://schemas.microsoft.com/office/drawing/2014/main" id="{CBAC451C-EE6B-45A4-8CE8-5ADAE11F48F1}"/>
                </a:ext>
              </a:extLst>
            </p:cNvPr>
            <p:cNvSpPr/>
            <p:nvPr/>
          </p:nvSpPr>
          <p:spPr>
            <a:xfrm>
              <a:off x="3937325" y="2972925"/>
              <a:ext cx="3075950" cy="30125"/>
            </a:xfrm>
            <a:custGeom>
              <a:avLst/>
              <a:gdLst/>
              <a:ahLst/>
              <a:cxnLst/>
              <a:rect l="l" t="t" r="r" b="b"/>
              <a:pathLst>
                <a:path w="123038" h="1205" extrusionOk="0">
                  <a:moveTo>
                    <a:pt x="1" y="0"/>
                  </a:moveTo>
                  <a:lnTo>
                    <a:pt x="1" y="1205"/>
                  </a:lnTo>
                  <a:lnTo>
                    <a:pt x="123037" y="1205"/>
                  </a:lnTo>
                  <a:lnTo>
                    <a:pt x="1230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311;p58">
              <a:extLst>
                <a:ext uri="{FF2B5EF4-FFF2-40B4-BE49-F238E27FC236}">
                  <a16:creationId xmlns:a16="http://schemas.microsoft.com/office/drawing/2014/main" id="{03EFAEEE-4CD5-44EC-A04B-CC0064B2645E}"/>
                </a:ext>
              </a:extLst>
            </p:cNvPr>
            <p:cNvSpPr/>
            <p:nvPr/>
          </p:nvSpPr>
          <p:spPr>
            <a:xfrm>
              <a:off x="6666575"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312;p58">
              <a:extLst>
                <a:ext uri="{FF2B5EF4-FFF2-40B4-BE49-F238E27FC236}">
                  <a16:creationId xmlns:a16="http://schemas.microsoft.com/office/drawing/2014/main" id="{EE7F90EB-D883-475B-A9CA-3D0F0C404AE2}"/>
                </a:ext>
              </a:extLst>
            </p:cNvPr>
            <p:cNvSpPr/>
            <p:nvPr/>
          </p:nvSpPr>
          <p:spPr>
            <a:xfrm>
              <a:off x="4064750"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313;p58">
              <a:extLst>
                <a:ext uri="{FF2B5EF4-FFF2-40B4-BE49-F238E27FC236}">
                  <a16:creationId xmlns:a16="http://schemas.microsoft.com/office/drawing/2014/main" id="{AC29BC85-7D8B-4E11-A14C-7D6862246D08}"/>
                </a:ext>
              </a:extLst>
            </p:cNvPr>
            <p:cNvSpPr/>
            <p:nvPr/>
          </p:nvSpPr>
          <p:spPr>
            <a:xfrm>
              <a:off x="3937325" y="2566550"/>
              <a:ext cx="3088750" cy="56575"/>
            </a:xfrm>
            <a:custGeom>
              <a:avLst/>
              <a:gdLst/>
              <a:ahLst/>
              <a:cxnLst/>
              <a:rect l="l" t="t" r="r" b="b"/>
              <a:pathLst>
                <a:path w="123550" h="2263" extrusionOk="0">
                  <a:moveTo>
                    <a:pt x="1" y="0"/>
                  </a:moveTo>
                  <a:lnTo>
                    <a:pt x="1" y="2262"/>
                  </a:lnTo>
                  <a:lnTo>
                    <a:pt x="123549" y="2262"/>
                  </a:lnTo>
                  <a:lnTo>
                    <a:pt x="123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314;p58">
              <a:extLst>
                <a:ext uri="{FF2B5EF4-FFF2-40B4-BE49-F238E27FC236}">
                  <a16:creationId xmlns:a16="http://schemas.microsoft.com/office/drawing/2014/main" id="{197541C0-169A-48E8-B390-266C2B970CEF}"/>
                </a:ext>
              </a:extLst>
            </p:cNvPr>
            <p:cNvSpPr/>
            <p:nvPr/>
          </p:nvSpPr>
          <p:spPr>
            <a:xfrm>
              <a:off x="4014850" y="2502500"/>
              <a:ext cx="342025" cy="64075"/>
            </a:xfrm>
            <a:custGeom>
              <a:avLst/>
              <a:gdLst/>
              <a:ahLst/>
              <a:cxnLst/>
              <a:rect l="l" t="t" r="r" b="b"/>
              <a:pathLst>
                <a:path w="13681" h="2563" extrusionOk="0">
                  <a:moveTo>
                    <a:pt x="147" y="0"/>
                  </a:moveTo>
                  <a:cubicBezTo>
                    <a:pt x="67" y="0"/>
                    <a:pt x="0" y="67"/>
                    <a:pt x="0" y="153"/>
                  </a:cubicBezTo>
                  <a:lnTo>
                    <a:pt x="0" y="2562"/>
                  </a:lnTo>
                  <a:lnTo>
                    <a:pt x="13681" y="2562"/>
                  </a:lnTo>
                  <a:lnTo>
                    <a:pt x="13681" y="153"/>
                  </a:lnTo>
                  <a:cubicBezTo>
                    <a:pt x="13681" y="67"/>
                    <a:pt x="13614"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315;p58">
              <a:extLst>
                <a:ext uri="{FF2B5EF4-FFF2-40B4-BE49-F238E27FC236}">
                  <a16:creationId xmlns:a16="http://schemas.microsoft.com/office/drawing/2014/main" id="{C855CD66-C2F9-46B6-958E-2DB2F5AAE053}"/>
                </a:ext>
              </a:extLst>
            </p:cNvPr>
            <p:cNvSpPr/>
            <p:nvPr/>
          </p:nvSpPr>
          <p:spPr>
            <a:xfrm>
              <a:off x="4078050" y="2502500"/>
              <a:ext cx="216125" cy="30125"/>
            </a:xfrm>
            <a:custGeom>
              <a:avLst/>
              <a:gdLst/>
              <a:ahLst/>
              <a:cxnLst/>
              <a:rect l="l" t="t" r="r" b="b"/>
              <a:pathLst>
                <a:path w="8645" h="1205" extrusionOk="0">
                  <a:moveTo>
                    <a:pt x="1" y="0"/>
                  </a:moveTo>
                  <a:lnTo>
                    <a:pt x="1" y="1158"/>
                  </a:lnTo>
                  <a:cubicBezTo>
                    <a:pt x="1" y="1185"/>
                    <a:pt x="14" y="1205"/>
                    <a:pt x="47" y="1205"/>
                  </a:cubicBezTo>
                  <a:lnTo>
                    <a:pt x="8584" y="1205"/>
                  </a:lnTo>
                  <a:cubicBezTo>
                    <a:pt x="8617" y="1205"/>
                    <a:pt x="8644" y="1185"/>
                    <a:pt x="8644" y="1158"/>
                  </a:cubicBezTo>
                  <a:lnTo>
                    <a:pt x="86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316;p58">
              <a:extLst>
                <a:ext uri="{FF2B5EF4-FFF2-40B4-BE49-F238E27FC236}">
                  <a16:creationId xmlns:a16="http://schemas.microsoft.com/office/drawing/2014/main" id="{29363284-2E7D-4805-BA66-FD03CCA586BF}"/>
                </a:ext>
              </a:extLst>
            </p:cNvPr>
            <p:cNvSpPr/>
            <p:nvPr/>
          </p:nvSpPr>
          <p:spPr>
            <a:xfrm>
              <a:off x="4094025" y="2502500"/>
              <a:ext cx="184000" cy="25650"/>
            </a:xfrm>
            <a:custGeom>
              <a:avLst/>
              <a:gdLst/>
              <a:ahLst/>
              <a:cxnLst/>
              <a:rect l="l" t="t" r="r" b="b"/>
              <a:pathLst>
                <a:path w="7360" h="1026" extrusionOk="0">
                  <a:moveTo>
                    <a:pt x="0" y="0"/>
                  </a:moveTo>
                  <a:lnTo>
                    <a:pt x="0" y="972"/>
                  </a:lnTo>
                  <a:cubicBezTo>
                    <a:pt x="0" y="998"/>
                    <a:pt x="20" y="1025"/>
                    <a:pt x="54" y="1025"/>
                  </a:cubicBezTo>
                  <a:lnTo>
                    <a:pt x="7306" y="1025"/>
                  </a:lnTo>
                  <a:cubicBezTo>
                    <a:pt x="7340" y="1025"/>
                    <a:pt x="7360" y="1005"/>
                    <a:pt x="7360" y="972"/>
                  </a:cubicBezTo>
                  <a:lnTo>
                    <a:pt x="73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317;p58">
              <a:extLst>
                <a:ext uri="{FF2B5EF4-FFF2-40B4-BE49-F238E27FC236}">
                  <a16:creationId xmlns:a16="http://schemas.microsoft.com/office/drawing/2014/main" id="{A3AE9D2F-23EA-439F-8E66-E8F96454788D}"/>
                </a:ext>
              </a:extLst>
            </p:cNvPr>
            <p:cNvSpPr/>
            <p:nvPr/>
          </p:nvSpPr>
          <p:spPr>
            <a:xfrm>
              <a:off x="6588900" y="2502500"/>
              <a:ext cx="342200" cy="64075"/>
            </a:xfrm>
            <a:custGeom>
              <a:avLst/>
              <a:gdLst/>
              <a:ahLst/>
              <a:cxnLst/>
              <a:rect l="l" t="t" r="r" b="b"/>
              <a:pathLst>
                <a:path w="13688" h="2563" extrusionOk="0">
                  <a:moveTo>
                    <a:pt x="146" y="0"/>
                  </a:moveTo>
                  <a:cubicBezTo>
                    <a:pt x="67" y="0"/>
                    <a:pt x="0" y="67"/>
                    <a:pt x="0" y="153"/>
                  </a:cubicBezTo>
                  <a:lnTo>
                    <a:pt x="0" y="2562"/>
                  </a:lnTo>
                  <a:lnTo>
                    <a:pt x="13687" y="2562"/>
                  </a:lnTo>
                  <a:lnTo>
                    <a:pt x="13687" y="153"/>
                  </a:lnTo>
                  <a:cubicBezTo>
                    <a:pt x="13687" y="67"/>
                    <a:pt x="13621" y="0"/>
                    <a:pt x="135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318;p58">
              <a:extLst>
                <a:ext uri="{FF2B5EF4-FFF2-40B4-BE49-F238E27FC236}">
                  <a16:creationId xmlns:a16="http://schemas.microsoft.com/office/drawing/2014/main" id="{75715016-0666-4B4E-AE6D-19E832437ABB}"/>
                </a:ext>
              </a:extLst>
            </p:cNvPr>
            <p:cNvSpPr/>
            <p:nvPr/>
          </p:nvSpPr>
          <p:spPr>
            <a:xfrm>
              <a:off x="6652100" y="2502500"/>
              <a:ext cx="215950" cy="30125"/>
            </a:xfrm>
            <a:custGeom>
              <a:avLst/>
              <a:gdLst/>
              <a:ahLst/>
              <a:cxnLst/>
              <a:rect l="l" t="t" r="r" b="b"/>
              <a:pathLst>
                <a:path w="8638" h="1205" extrusionOk="0">
                  <a:moveTo>
                    <a:pt x="1" y="0"/>
                  </a:moveTo>
                  <a:lnTo>
                    <a:pt x="1" y="1158"/>
                  </a:lnTo>
                  <a:cubicBezTo>
                    <a:pt x="1" y="1185"/>
                    <a:pt x="14" y="1205"/>
                    <a:pt x="47" y="1205"/>
                  </a:cubicBezTo>
                  <a:lnTo>
                    <a:pt x="8584" y="1205"/>
                  </a:lnTo>
                  <a:cubicBezTo>
                    <a:pt x="8617" y="1205"/>
                    <a:pt x="8637" y="1185"/>
                    <a:pt x="8637" y="1158"/>
                  </a:cubicBezTo>
                  <a:lnTo>
                    <a:pt x="86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319;p58">
              <a:extLst>
                <a:ext uri="{FF2B5EF4-FFF2-40B4-BE49-F238E27FC236}">
                  <a16:creationId xmlns:a16="http://schemas.microsoft.com/office/drawing/2014/main" id="{9AC2765F-EF68-4001-AF21-F044D0F715DF}"/>
                </a:ext>
              </a:extLst>
            </p:cNvPr>
            <p:cNvSpPr/>
            <p:nvPr/>
          </p:nvSpPr>
          <p:spPr>
            <a:xfrm>
              <a:off x="6668075" y="2502500"/>
              <a:ext cx="184000" cy="25650"/>
            </a:xfrm>
            <a:custGeom>
              <a:avLst/>
              <a:gdLst/>
              <a:ahLst/>
              <a:cxnLst/>
              <a:rect l="l" t="t" r="r" b="b"/>
              <a:pathLst>
                <a:path w="7360" h="1026" extrusionOk="0">
                  <a:moveTo>
                    <a:pt x="0" y="0"/>
                  </a:moveTo>
                  <a:lnTo>
                    <a:pt x="0" y="972"/>
                  </a:lnTo>
                  <a:cubicBezTo>
                    <a:pt x="0" y="998"/>
                    <a:pt x="14" y="1025"/>
                    <a:pt x="47" y="1025"/>
                  </a:cubicBezTo>
                  <a:lnTo>
                    <a:pt x="7300" y="1025"/>
                  </a:lnTo>
                  <a:cubicBezTo>
                    <a:pt x="7333" y="1025"/>
                    <a:pt x="7359" y="1005"/>
                    <a:pt x="7359" y="972"/>
                  </a:cubicBezTo>
                  <a:lnTo>
                    <a:pt x="7359" y="0"/>
                  </a:lnTo>
                  <a:close/>
                </a:path>
              </a:pathLst>
            </a:custGeom>
            <a:solidFill>
              <a:srgbClr val="4E5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320;p58">
              <a:extLst>
                <a:ext uri="{FF2B5EF4-FFF2-40B4-BE49-F238E27FC236}">
                  <a16:creationId xmlns:a16="http://schemas.microsoft.com/office/drawing/2014/main" id="{3914B5D4-D194-4032-87C3-91BC75ECA61D}"/>
                </a:ext>
              </a:extLst>
            </p:cNvPr>
            <p:cNvSpPr/>
            <p:nvPr/>
          </p:nvSpPr>
          <p:spPr>
            <a:xfrm>
              <a:off x="3872125" y="2608300"/>
              <a:ext cx="65225" cy="550950"/>
            </a:xfrm>
            <a:custGeom>
              <a:avLst/>
              <a:gdLst/>
              <a:ahLst/>
              <a:cxnLst/>
              <a:rect l="l" t="t" r="r" b="b"/>
              <a:pathLst>
                <a:path w="2609" h="22038" extrusionOk="0">
                  <a:moveTo>
                    <a:pt x="113" y="0"/>
                  </a:moveTo>
                  <a:cubicBezTo>
                    <a:pt x="53" y="0"/>
                    <a:pt x="0" y="53"/>
                    <a:pt x="0" y="113"/>
                  </a:cubicBezTo>
                  <a:lnTo>
                    <a:pt x="0" y="21924"/>
                  </a:lnTo>
                  <a:cubicBezTo>
                    <a:pt x="0" y="21984"/>
                    <a:pt x="53" y="22037"/>
                    <a:pt x="113" y="22037"/>
                  </a:cubicBezTo>
                  <a:lnTo>
                    <a:pt x="2495" y="22037"/>
                  </a:lnTo>
                  <a:cubicBezTo>
                    <a:pt x="2555" y="22037"/>
                    <a:pt x="2609" y="21984"/>
                    <a:pt x="2609" y="21918"/>
                  </a:cubicBezTo>
                  <a:lnTo>
                    <a:pt x="2609" y="113"/>
                  </a:lnTo>
                  <a:cubicBezTo>
                    <a:pt x="2609" y="53"/>
                    <a:pt x="2555" y="0"/>
                    <a:pt x="2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321;p58">
              <a:extLst>
                <a:ext uri="{FF2B5EF4-FFF2-40B4-BE49-F238E27FC236}">
                  <a16:creationId xmlns:a16="http://schemas.microsoft.com/office/drawing/2014/main" id="{2A8941DA-1B30-467B-910C-A17172322905}"/>
                </a:ext>
              </a:extLst>
            </p:cNvPr>
            <p:cNvSpPr/>
            <p:nvPr/>
          </p:nvSpPr>
          <p:spPr>
            <a:xfrm>
              <a:off x="3872125" y="3029475"/>
              <a:ext cx="65225" cy="129450"/>
            </a:xfrm>
            <a:custGeom>
              <a:avLst/>
              <a:gdLst/>
              <a:ahLst/>
              <a:cxnLst/>
              <a:rect l="l" t="t" r="r" b="b"/>
              <a:pathLst>
                <a:path w="2609" h="5178" extrusionOk="0">
                  <a:moveTo>
                    <a:pt x="0" y="1"/>
                  </a:moveTo>
                  <a:lnTo>
                    <a:pt x="0" y="4232"/>
                  </a:lnTo>
                  <a:cubicBezTo>
                    <a:pt x="0" y="4758"/>
                    <a:pt x="426" y="5177"/>
                    <a:pt x="952" y="5177"/>
                  </a:cubicBezTo>
                  <a:lnTo>
                    <a:pt x="1657" y="5177"/>
                  </a:lnTo>
                  <a:cubicBezTo>
                    <a:pt x="2183" y="5177"/>
                    <a:pt x="2609" y="4751"/>
                    <a:pt x="2609" y="4232"/>
                  </a:cubicBezTo>
                  <a:lnTo>
                    <a:pt x="2609" y="1"/>
                  </a:lnTo>
                  <a:cubicBezTo>
                    <a:pt x="2609" y="520"/>
                    <a:pt x="2183" y="945"/>
                    <a:pt x="1657" y="945"/>
                  </a:cubicBezTo>
                  <a:lnTo>
                    <a:pt x="952" y="945"/>
                  </a:lnTo>
                  <a:cubicBezTo>
                    <a:pt x="426" y="945"/>
                    <a:pt x="0" y="520"/>
                    <a:pt x="0" y="1"/>
                  </a:cubicBezTo>
                  <a:close/>
                </a:path>
              </a:pathLst>
            </a:custGeom>
            <a:solidFill>
              <a:srgbClr val="2C2C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322;p58">
              <a:extLst>
                <a:ext uri="{FF2B5EF4-FFF2-40B4-BE49-F238E27FC236}">
                  <a16:creationId xmlns:a16="http://schemas.microsoft.com/office/drawing/2014/main" id="{4C385A10-D245-41A8-8E0F-08012A157232}"/>
                </a:ext>
              </a:extLst>
            </p:cNvPr>
            <p:cNvSpPr/>
            <p:nvPr/>
          </p:nvSpPr>
          <p:spPr>
            <a:xfrm>
              <a:off x="1828225" y="2695800"/>
              <a:ext cx="230575" cy="449800"/>
            </a:xfrm>
            <a:custGeom>
              <a:avLst/>
              <a:gdLst/>
              <a:ahLst/>
              <a:cxnLst/>
              <a:rect l="l" t="t" r="r" b="b"/>
              <a:pathLst>
                <a:path w="9223" h="17992" extrusionOk="0">
                  <a:moveTo>
                    <a:pt x="0" y="0"/>
                  </a:moveTo>
                  <a:lnTo>
                    <a:pt x="0" y="17992"/>
                  </a:lnTo>
                  <a:lnTo>
                    <a:pt x="9222" y="17992"/>
                  </a:lnTo>
                  <a:lnTo>
                    <a:pt x="92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1253;p57">
            <a:extLst>
              <a:ext uri="{FF2B5EF4-FFF2-40B4-BE49-F238E27FC236}">
                <a16:creationId xmlns:a16="http://schemas.microsoft.com/office/drawing/2014/main" id="{9B181D31-5AC8-4BCA-A868-2A1FDB28828E}"/>
              </a:ext>
            </a:extLst>
          </p:cNvPr>
          <p:cNvSpPr/>
          <p:nvPr/>
        </p:nvSpPr>
        <p:spPr>
          <a:xfrm>
            <a:off x="5529938" y="3708479"/>
            <a:ext cx="427197" cy="554542"/>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文字方塊 35">
            <a:extLst>
              <a:ext uri="{FF2B5EF4-FFF2-40B4-BE49-F238E27FC236}">
                <a16:creationId xmlns:a16="http://schemas.microsoft.com/office/drawing/2014/main" id="{41BF6ACB-EECF-4666-A137-7B3DA7F45CCA}"/>
              </a:ext>
            </a:extLst>
          </p:cNvPr>
          <p:cNvSpPr txBox="1"/>
          <p:nvPr/>
        </p:nvSpPr>
        <p:spPr>
          <a:xfrm>
            <a:off x="8585770" y="4631694"/>
            <a:ext cx="316112" cy="261610"/>
          </a:xfrm>
          <a:prstGeom prst="rect">
            <a:avLst/>
          </a:prstGeom>
          <a:noFill/>
        </p:spPr>
        <p:txBody>
          <a:bodyPr wrap="none" rtlCol="0">
            <a:spAutoFit/>
          </a:bodyPr>
          <a:lstStyle/>
          <a:p>
            <a:r>
              <a:rPr lang="en-US" altLang="zh-TW" sz="1100" dirty="0">
                <a:latin typeface="Montserrat" panose="02020500000000000000" charset="0"/>
              </a:rPr>
              <a:t>21</a:t>
            </a:r>
            <a:endParaRPr lang="zh-TW" altLang="en-US" sz="1100" dirty="0">
              <a:latin typeface="Montserrat" panose="02020500000000000000" charset="0"/>
            </a:endParaRPr>
          </a:p>
        </p:txBody>
      </p:sp>
      <p:grpSp>
        <p:nvGrpSpPr>
          <p:cNvPr id="3" name="群組 2">
            <a:extLst>
              <a:ext uri="{FF2B5EF4-FFF2-40B4-BE49-F238E27FC236}">
                <a16:creationId xmlns:a16="http://schemas.microsoft.com/office/drawing/2014/main" id="{3E899067-B27F-45DC-903C-459C8D8CDDA6}"/>
              </a:ext>
            </a:extLst>
          </p:cNvPr>
          <p:cNvGrpSpPr/>
          <p:nvPr/>
        </p:nvGrpSpPr>
        <p:grpSpPr>
          <a:xfrm>
            <a:off x="3181253" y="374605"/>
            <a:ext cx="2702138" cy="1244457"/>
            <a:chOff x="3181253" y="374605"/>
            <a:chExt cx="2702138" cy="1244457"/>
          </a:xfrm>
        </p:grpSpPr>
        <p:pic>
          <p:nvPicPr>
            <p:cNvPr id="38" name="圖片 37">
              <a:extLst>
                <a:ext uri="{FF2B5EF4-FFF2-40B4-BE49-F238E27FC236}">
                  <a16:creationId xmlns:a16="http://schemas.microsoft.com/office/drawing/2014/main" id="{DA1DC10F-9681-438D-90BA-EC2ED5351205}"/>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3820181" y="374605"/>
              <a:ext cx="1409855" cy="1244457"/>
            </a:xfrm>
            <a:prstGeom prst="rect">
              <a:avLst/>
            </a:prstGeom>
          </p:spPr>
        </p:pic>
        <p:sp>
          <p:nvSpPr>
            <p:cNvPr id="39" name="箭號: 向下 38">
              <a:extLst>
                <a:ext uri="{FF2B5EF4-FFF2-40B4-BE49-F238E27FC236}">
                  <a16:creationId xmlns:a16="http://schemas.microsoft.com/office/drawing/2014/main" id="{A6C2C1F5-39D5-43DC-B887-46CEAACFB466}"/>
                </a:ext>
              </a:extLst>
            </p:cNvPr>
            <p:cNvSpPr/>
            <p:nvPr/>
          </p:nvSpPr>
          <p:spPr>
            <a:xfrm rot="16200000">
              <a:off x="3412442" y="840141"/>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0" name="箭號: 向下 39">
              <a:extLst>
                <a:ext uri="{FF2B5EF4-FFF2-40B4-BE49-F238E27FC236}">
                  <a16:creationId xmlns:a16="http://schemas.microsoft.com/office/drawing/2014/main" id="{C0913B7E-6273-4337-89F5-1A536501BF1A}"/>
                </a:ext>
              </a:extLst>
            </p:cNvPr>
            <p:cNvSpPr/>
            <p:nvPr/>
          </p:nvSpPr>
          <p:spPr>
            <a:xfrm rot="16200000">
              <a:off x="5510026" y="842551"/>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矩形 40">
              <a:extLst>
                <a:ext uri="{FF2B5EF4-FFF2-40B4-BE49-F238E27FC236}">
                  <a16:creationId xmlns:a16="http://schemas.microsoft.com/office/drawing/2014/main" id="{8843879E-A824-4C7E-862D-2E43422FCFBD}"/>
                </a:ext>
              </a:extLst>
            </p:cNvPr>
            <p:cNvSpPr/>
            <p:nvPr/>
          </p:nvSpPr>
          <p:spPr>
            <a:xfrm>
              <a:off x="3181253" y="701608"/>
              <a:ext cx="545342" cy="230832"/>
            </a:xfrm>
            <a:prstGeom prst="rect">
              <a:avLst/>
            </a:prstGeom>
          </p:spPr>
          <p:txBody>
            <a:bodyPr wrap="none">
              <a:spAutoFit/>
            </a:bodyPr>
            <a:lstStyle/>
            <a:p>
              <a:r>
                <a:rPr lang="en-US" altLang="zh-TW" sz="900" b="1" dirty="0">
                  <a:latin typeface="Montserrat" panose="02020500000000000000" charset="0"/>
                </a:rPr>
                <a:t>Pump</a:t>
              </a:r>
            </a:p>
          </p:txBody>
        </p:sp>
        <p:sp>
          <p:nvSpPr>
            <p:cNvPr id="42" name="矩形 41">
              <a:extLst>
                <a:ext uri="{FF2B5EF4-FFF2-40B4-BE49-F238E27FC236}">
                  <a16:creationId xmlns:a16="http://schemas.microsoft.com/office/drawing/2014/main" id="{357BB0C4-3B6B-4CDA-875A-C32CC59A4F77}"/>
                </a:ext>
              </a:extLst>
            </p:cNvPr>
            <p:cNvSpPr/>
            <p:nvPr/>
          </p:nvSpPr>
          <p:spPr>
            <a:xfrm>
              <a:off x="5323622" y="701608"/>
              <a:ext cx="559769" cy="230832"/>
            </a:xfrm>
            <a:prstGeom prst="rect">
              <a:avLst/>
            </a:prstGeom>
          </p:spPr>
          <p:txBody>
            <a:bodyPr wrap="none">
              <a:spAutoFit/>
            </a:bodyPr>
            <a:lstStyle/>
            <a:p>
              <a:r>
                <a:rPr lang="en-US" altLang="zh-TW" sz="900" b="1" dirty="0">
                  <a:latin typeface="Montserrat" panose="02020500000000000000" charset="0"/>
                </a:rPr>
                <a:t>Signal</a:t>
              </a:r>
            </a:p>
          </p:txBody>
        </p:sp>
        <p:sp>
          <p:nvSpPr>
            <p:cNvPr id="43" name="矩形 42">
              <a:extLst>
                <a:ext uri="{FF2B5EF4-FFF2-40B4-BE49-F238E27FC236}">
                  <a16:creationId xmlns:a16="http://schemas.microsoft.com/office/drawing/2014/main" id="{CE739045-E651-4A41-8A45-94D79C39188F}"/>
                </a:ext>
              </a:extLst>
            </p:cNvPr>
            <p:cNvSpPr/>
            <p:nvPr/>
          </p:nvSpPr>
          <p:spPr>
            <a:xfrm>
              <a:off x="5323967" y="1074971"/>
              <a:ext cx="460382" cy="230832"/>
            </a:xfrm>
            <a:prstGeom prst="rect">
              <a:avLst/>
            </a:prstGeom>
          </p:spPr>
          <p:txBody>
            <a:bodyPr wrap="none">
              <a:spAutoFit/>
            </a:bodyPr>
            <a:lstStyle/>
            <a:p>
              <a:r>
                <a:rPr lang="en-US" altLang="zh-TW" sz="900" b="1" dirty="0">
                  <a:latin typeface="Montserrat" panose="02020500000000000000" charset="0"/>
                </a:rPr>
                <a:t>Idler</a:t>
              </a:r>
            </a:p>
          </p:txBody>
        </p:sp>
      </p:grpSp>
      <p:grpSp>
        <p:nvGrpSpPr>
          <p:cNvPr id="5" name="群組 4">
            <a:extLst>
              <a:ext uri="{FF2B5EF4-FFF2-40B4-BE49-F238E27FC236}">
                <a16:creationId xmlns:a16="http://schemas.microsoft.com/office/drawing/2014/main" id="{9A7BA2D0-341E-4930-ADD1-4C79F9926448}"/>
              </a:ext>
            </a:extLst>
          </p:cNvPr>
          <p:cNvGrpSpPr/>
          <p:nvPr/>
        </p:nvGrpSpPr>
        <p:grpSpPr>
          <a:xfrm>
            <a:off x="2852619" y="2423186"/>
            <a:ext cx="3438762" cy="1333250"/>
            <a:chOff x="2852619" y="2423186"/>
            <a:chExt cx="3438762" cy="1333250"/>
          </a:xfrm>
        </p:grpSpPr>
        <p:sp>
          <p:nvSpPr>
            <p:cNvPr id="48" name="文字方塊 47">
              <a:extLst>
                <a:ext uri="{FF2B5EF4-FFF2-40B4-BE49-F238E27FC236}">
                  <a16:creationId xmlns:a16="http://schemas.microsoft.com/office/drawing/2014/main" id="{AF3F7CF0-EF9C-4BD0-B024-995E02E52F5A}"/>
                </a:ext>
              </a:extLst>
            </p:cNvPr>
            <p:cNvSpPr txBox="1"/>
            <p:nvPr/>
          </p:nvSpPr>
          <p:spPr>
            <a:xfrm>
              <a:off x="2852619" y="2423186"/>
              <a:ext cx="3438762"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SHG/SPDC</a:t>
              </a:r>
            </a:p>
            <a:p>
              <a:pPr marL="171450" indent="-171450">
                <a:lnSpc>
                  <a:spcPct val="150000"/>
                </a:lnSpc>
                <a:buFont typeface="Arial" panose="020B0604020202020204" pitchFamily="34" charset="0"/>
                <a:buChar char="•"/>
              </a:pPr>
              <a:r>
                <a:rPr lang="en-US" altLang="zh-TW" sz="1100" dirty="0">
                  <a:solidFill>
                    <a:schemeClr val="tx1"/>
                  </a:solidFill>
                  <a:latin typeface="Montserrat"/>
                  <a:ea typeface="Montserrat"/>
                  <a:cs typeface="Montserrat"/>
                  <a:sym typeface="Montserrat"/>
                </a:rPr>
                <a:t>Quasi-phase-matching</a:t>
              </a:r>
              <a:endParaRPr lang="en-US" altLang="zh-TW" sz="1100" dirty="0">
                <a:solidFill>
                  <a:schemeClr val="tx1"/>
                </a:solidFill>
                <a:latin typeface="Montserrat" panose="02020500000000000000" charset="0"/>
                <a:ea typeface="Montserrat"/>
                <a:cs typeface="Montserrat"/>
                <a:sym typeface="Montserrat"/>
              </a:endParaRPr>
            </a:p>
            <a:p>
              <a:pPr marL="171450" indent="-171450">
                <a:lnSpc>
                  <a:spcPct val="150000"/>
                </a:lnSpc>
                <a:buFont typeface="Arial" panose="020B0604020202020204" pitchFamily="34" charset="0"/>
                <a:buChar char="•"/>
              </a:pPr>
              <a:r>
                <a:rPr lang="en-US" altLang="zh-TW" sz="1100" dirty="0">
                  <a:latin typeface="Montserrat" panose="02020500000000000000" charset="0"/>
                </a:rPr>
                <a:t>Electro-optical polarization mode converter</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effect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 with EO-PMC</a:t>
              </a:r>
            </a:p>
          </p:txBody>
        </p:sp>
        <p:sp>
          <p:nvSpPr>
            <p:cNvPr id="47" name="矩形 46">
              <a:extLst>
                <a:ext uri="{FF2B5EF4-FFF2-40B4-BE49-F238E27FC236}">
                  <a16:creationId xmlns:a16="http://schemas.microsoft.com/office/drawing/2014/main" id="{9DE3A5E8-FB94-41E5-847E-27C36CC49D2B}"/>
                </a:ext>
              </a:extLst>
            </p:cNvPr>
            <p:cNvSpPr/>
            <p:nvPr/>
          </p:nvSpPr>
          <p:spPr>
            <a:xfrm>
              <a:off x="2852619" y="2796142"/>
              <a:ext cx="3344981" cy="912336"/>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49336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SHG/SPDC</a:t>
            </a:r>
          </a:p>
        </p:txBody>
      </p:sp>
      <p:grpSp>
        <p:nvGrpSpPr>
          <p:cNvPr id="22" name="群組 21">
            <a:extLst>
              <a:ext uri="{FF2B5EF4-FFF2-40B4-BE49-F238E27FC236}">
                <a16:creationId xmlns:a16="http://schemas.microsoft.com/office/drawing/2014/main" id="{4858DCA0-B462-44BF-A1B3-B235902E72DF}"/>
              </a:ext>
            </a:extLst>
          </p:cNvPr>
          <p:cNvGrpSpPr/>
          <p:nvPr/>
        </p:nvGrpSpPr>
        <p:grpSpPr>
          <a:xfrm>
            <a:off x="192683" y="-911"/>
            <a:ext cx="8761417" cy="295831"/>
            <a:chOff x="192683" y="-911"/>
            <a:chExt cx="8761417" cy="295831"/>
          </a:xfrm>
        </p:grpSpPr>
        <p:sp>
          <p:nvSpPr>
            <p:cNvPr id="13" name="矩形 12">
              <a:extLst>
                <a:ext uri="{FF2B5EF4-FFF2-40B4-BE49-F238E27FC236}">
                  <a16:creationId xmlns:a16="http://schemas.microsoft.com/office/drawing/2014/main" id="{96B75A01-0E3C-4F0B-8B5E-03910509C034}"/>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14" name="矩形 13">
              <a:extLst>
                <a:ext uri="{FF2B5EF4-FFF2-40B4-BE49-F238E27FC236}">
                  <a16:creationId xmlns:a16="http://schemas.microsoft.com/office/drawing/2014/main" id="{33946B99-B1B2-4467-B0B2-CAC2937307D5}"/>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8" name="矩形 17">
              <a:extLst>
                <a:ext uri="{FF2B5EF4-FFF2-40B4-BE49-F238E27FC236}">
                  <a16:creationId xmlns:a16="http://schemas.microsoft.com/office/drawing/2014/main" id="{5605B5A7-7210-4AAD-BB5A-4B823B152587}"/>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9" name="矩形 18">
              <a:extLst>
                <a:ext uri="{FF2B5EF4-FFF2-40B4-BE49-F238E27FC236}">
                  <a16:creationId xmlns:a16="http://schemas.microsoft.com/office/drawing/2014/main" id="{2DD1E2E4-1642-49CB-A417-17D8EE774D3D}"/>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20" name="矩形 19">
              <a:extLst>
                <a:ext uri="{FF2B5EF4-FFF2-40B4-BE49-F238E27FC236}">
                  <a16:creationId xmlns:a16="http://schemas.microsoft.com/office/drawing/2014/main" id="{33B73761-E172-4AB7-A574-EAC93492E398}"/>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21" name="矩形 20">
              <a:extLst>
                <a:ext uri="{FF2B5EF4-FFF2-40B4-BE49-F238E27FC236}">
                  <a16:creationId xmlns:a16="http://schemas.microsoft.com/office/drawing/2014/main" id="{EDBDBFE9-61EE-4BFA-A1DE-C710F2B7F791}"/>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2" name="矩形 1">
            <a:extLst>
              <a:ext uri="{FF2B5EF4-FFF2-40B4-BE49-F238E27FC236}">
                <a16:creationId xmlns:a16="http://schemas.microsoft.com/office/drawing/2014/main" id="{428CB0CD-36E9-43DC-B443-22C9173288EC}"/>
              </a:ext>
            </a:extLst>
          </p:cNvPr>
          <p:cNvSpPr/>
          <p:nvPr/>
        </p:nvSpPr>
        <p:spPr>
          <a:xfrm>
            <a:off x="796444" y="1350085"/>
            <a:ext cx="2329484" cy="246221"/>
          </a:xfrm>
          <a:prstGeom prst="rect">
            <a:avLst/>
          </a:prstGeom>
        </p:spPr>
        <p:txBody>
          <a:bodyPr wrap="none">
            <a:spAutoFit/>
          </a:bodyPr>
          <a:lstStyle/>
          <a:p>
            <a:pPr lvl="0" algn="ctr"/>
            <a:r>
              <a:rPr lang="en-US" altLang="zh-TW" sz="1000" b="1" dirty="0">
                <a:latin typeface="Montserrat" panose="02020500000000000000" charset="0"/>
                <a:ea typeface="Calibri"/>
                <a:cs typeface="Calibri"/>
                <a:sym typeface="Calibri"/>
              </a:rPr>
              <a:t>Nonlinear frequency conversion</a:t>
            </a:r>
            <a:endParaRPr lang="en-US" altLang="zh-TW" sz="1000" dirty="0">
              <a:latin typeface="Montserrat" panose="02020500000000000000" charset="0"/>
            </a:endParaRPr>
          </a:p>
        </p:txBody>
      </p:sp>
      <p:sp>
        <p:nvSpPr>
          <p:cNvPr id="15" name="矩形 14">
            <a:extLst>
              <a:ext uri="{FF2B5EF4-FFF2-40B4-BE49-F238E27FC236}">
                <a16:creationId xmlns:a16="http://schemas.microsoft.com/office/drawing/2014/main" id="{C8C50069-DB8A-4EA7-913B-ED6239E9B1C5}"/>
              </a:ext>
            </a:extLst>
          </p:cNvPr>
          <p:cNvSpPr/>
          <p:nvPr/>
        </p:nvSpPr>
        <p:spPr>
          <a:xfrm>
            <a:off x="3812886" y="1350085"/>
            <a:ext cx="1568058" cy="246221"/>
          </a:xfrm>
          <a:prstGeom prst="rect">
            <a:avLst/>
          </a:prstGeom>
        </p:spPr>
        <p:txBody>
          <a:bodyPr wrap="none">
            <a:spAutoFit/>
          </a:bodyPr>
          <a:lstStyle/>
          <a:p>
            <a:pPr lvl="0" algn="ctr"/>
            <a:r>
              <a:rPr lang="en-US" altLang="zh-TW" sz="1000" b="1" dirty="0">
                <a:latin typeface="Montserrat" panose="02020500000000000000" charset="0"/>
                <a:ea typeface="Calibri"/>
                <a:cs typeface="Calibri"/>
                <a:sym typeface="Calibri"/>
              </a:rPr>
              <a:t>Energy conservation</a:t>
            </a:r>
          </a:p>
        </p:txBody>
      </p:sp>
      <p:sp>
        <p:nvSpPr>
          <p:cNvPr id="16" name="矩形 15">
            <a:extLst>
              <a:ext uri="{FF2B5EF4-FFF2-40B4-BE49-F238E27FC236}">
                <a16:creationId xmlns:a16="http://schemas.microsoft.com/office/drawing/2014/main" id="{E44E776F-C1AF-4B77-9F1F-572C66B807D5}"/>
              </a:ext>
            </a:extLst>
          </p:cNvPr>
          <p:cNvSpPr/>
          <p:nvPr/>
        </p:nvSpPr>
        <p:spPr>
          <a:xfrm>
            <a:off x="6096392" y="1350085"/>
            <a:ext cx="2205516" cy="246221"/>
          </a:xfrm>
          <a:prstGeom prst="rect">
            <a:avLst/>
          </a:prstGeom>
        </p:spPr>
        <p:txBody>
          <a:bodyPr wrap="square">
            <a:spAutoFit/>
          </a:bodyPr>
          <a:lstStyle/>
          <a:p>
            <a:pPr lvl="0" algn="ctr"/>
            <a:r>
              <a:rPr lang="en-US" altLang="zh-TW" sz="1000" b="1" dirty="0">
                <a:latin typeface="Montserrat" panose="02020500000000000000" charset="0"/>
                <a:ea typeface="Calibri"/>
                <a:cs typeface="Calibri"/>
                <a:sym typeface="Calibri"/>
              </a:rPr>
              <a:t>Momentum Conservation</a:t>
            </a:r>
          </a:p>
        </p:txBody>
      </p:sp>
      <p:grpSp>
        <p:nvGrpSpPr>
          <p:cNvPr id="68" name="群組 67">
            <a:extLst>
              <a:ext uri="{FF2B5EF4-FFF2-40B4-BE49-F238E27FC236}">
                <a16:creationId xmlns:a16="http://schemas.microsoft.com/office/drawing/2014/main" id="{91C03ECC-8078-432D-AE38-516E6F41CBD5}"/>
              </a:ext>
            </a:extLst>
          </p:cNvPr>
          <p:cNvGrpSpPr/>
          <p:nvPr/>
        </p:nvGrpSpPr>
        <p:grpSpPr>
          <a:xfrm>
            <a:off x="4023250" y="2371328"/>
            <a:ext cx="1241460" cy="1101908"/>
            <a:chOff x="4023250" y="2371328"/>
            <a:chExt cx="1241460" cy="1101908"/>
          </a:xfrm>
        </p:grpSpPr>
        <p:cxnSp>
          <p:nvCxnSpPr>
            <p:cNvPr id="28" name="直線接點 27">
              <a:extLst>
                <a:ext uri="{FF2B5EF4-FFF2-40B4-BE49-F238E27FC236}">
                  <a16:creationId xmlns:a16="http://schemas.microsoft.com/office/drawing/2014/main" id="{327DAC83-4A18-4DB4-B335-CC97702F3E31}"/>
                </a:ext>
              </a:extLst>
            </p:cNvPr>
            <p:cNvCxnSpPr/>
            <p:nvPr/>
          </p:nvCxnSpPr>
          <p:spPr>
            <a:xfrm>
              <a:off x="4023250" y="2371538"/>
              <a:ext cx="1241460"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F3FC85E4-EBC6-4DF5-99EF-BBF0E6315845}"/>
                </a:ext>
              </a:extLst>
            </p:cNvPr>
            <p:cNvCxnSpPr/>
            <p:nvPr/>
          </p:nvCxnSpPr>
          <p:spPr>
            <a:xfrm>
              <a:off x="4023250" y="3473236"/>
              <a:ext cx="124146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30AA8359-22EC-4469-8616-DD8354DA385B}"/>
                </a:ext>
              </a:extLst>
            </p:cNvPr>
            <p:cNvCxnSpPr>
              <a:cxnSpLocks/>
            </p:cNvCxnSpPr>
            <p:nvPr/>
          </p:nvCxnSpPr>
          <p:spPr>
            <a:xfrm>
              <a:off x="4668405" y="2903445"/>
              <a:ext cx="596305"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2" name="箭號: 向右 31">
              <a:extLst>
                <a:ext uri="{FF2B5EF4-FFF2-40B4-BE49-F238E27FC236}">
                  <a16:creationId xmlns:a16="http://schemas.microsoft.com/office/drawing/2014/main" id="{44AE71ED-7342-4A0A-817A-D60CBE7F7015}"/>
                </a:ext>
              </a:extLst>
            </p:cNvPr>
            <p:cNvSpPr/>
            <p:nvPr/>
          </p:nvSpPr>
          <p:spPr>
            <a:xfrm rot="16200000">
              <a:off x="3770920" y="2858407"/>
              <a:ext cx="1101908" cy="1277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箭號: 向右 32">
              <a:extLst>
                <a:ext uri="{FF2B5EF4-FFF2-40B4-BE49-F238E27FC236}">
                  <a16:creationId xmlns:a16="http://schemas.microsoft.com/office/drawing/2014/main" id="{9C08A6EE-FFEA-4809-B2FC-566A962673C9}"/>
                </a:ext>
              </a:extLst>
            </p:cNvPr>
            <p:cNvSpPr/>
            <p:nvPr/>
          </p:nvSpPr>
          <p:spPr>
            <a:xfrm rot="5400000">
              <a:off x="4709996" y="2569564"/>
              <a:ext cx="513121" cy="127749"/>
            </a:xfrm>
            <a:prstGeom prst="rightArrow">
              <a:avLst/>
            </a:prstGeom>
            <a:solidFill>
              <a:srgbClr val="E3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向右 34">
              <a:extLst>
                <a:ext uri="{FF2B5EF4-FFF2-40B4-BE49-F238E27FC236}">
                  <a16:creationId xmlns:a16="http://schemas.microsoft.com/office/drawing/2014/main" id="{5108040F-F5DB-41A6-8CAA-D37DA81E1BD8}"/>
                </a:ext>
              </a:extLst>
            </p:cNvPr>
            <p:cNvSpPr/>
            <p:nvPr/>
          </p:nvSpPr>
          <p:spPr>
            <a:xfrm rot="5400000">
              <a:off x="4681663" y="3124464"/>
              <a:ext cx="569784" cy="127750"/>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970E3B1C-DC81-4AA0-89C0-DEFDAF58B0AF}"/>
                    </a:ext>
                  </a:extLst>
                </p:cNvPr>
                <p:cNvSpPr txBox="1"/>
                <p:nvPr/>
              </p:nvSpPr>
              <p:spPr>
                <a:xfrm>
                  <a:off x="4046112" y="2838359"/>
                  <a:ext cx="189026" cy="1657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𝑝</m:t>
                            </m:r>
                          </m:sub>
                        </m:sSub>
                      </m:oMath>
                    </m:oMathPara>
                  </a14:m>
                  <a:endParaRPr lang="zh-TW" altLang="en-US" dirty="0"/>
                </a:p>
              </p:txBody>
            </p:sp>
          </mc:Choice>
          <mc:Fallback xmlns="">
            <p:sp>
              <p:nvSpPr>
                <p:cNvPr id="53" name="文字方塊 52">
                  <a:extLst>
                    <a:ext uri="{FF2B5EF4-FFF2-40B4-BE49-F238E27FC236}">
                      <a16:creationId xmlns:a16="http://schemas.microsoft.com/office/drawing/2014/main" id="{970E3B1C-DC81-4AA0-89C0-DEFDAF58B0AF}"/>
                    </a:ext>
                  </a:extLst>
                </p:cNvPr>
                <p:cNvSpPr txBox="1">
                  <a:spLocks noRot="1" noChangeAspect="1" noMove="1" noResize="1" noEditPoints="1" noAdjustHandles="1" noChangeArrowheads="1" noChangeShapeType="1" noTextEdit="1"/>
                </p:cNvSpPr>
                <p:nvPr/>
              </p:nvSpPr>
              <p:spPr>
                <a:xfrm>
                  <a:off x="4046112" y="2838359"/>
                  <a:ext cx="189026" cy="165751"/>
                </a:xfrm>
                <a:prstGeom prst="rect">
                  <a:avLst/>
                </a:prstGeom>
                <a:blipFill>
                  <a:blip r:embed="rId3"/>
                  <a:stretch>
                    <a:fillRect l="-9677" b="-1851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6964D88B-16C2-46AA-B91B-13A99127DEB8}"/>
                    </a:ext>
                  </a:extLst>
                </p:cNvPr>
                <p:cNvSpPr txBox="1"/>
                <p:nvPr/>
              </p:nvSpPr>
              <p:spPr>
                <a:xfrm>
                  <a:off x="5042277" y="2563691"/>
                  <a:ext cx="17536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𝑠</m:t>
                            </m:r>
                          </m:sub>
                        </m:sSub>
                      </m:oMath>
                    </m:oMathPara>
                  </a14:m>
                  <a:endParaRPr lang="zh-TW" altLang="en-US" dirty="0"/>
                </a:p>
              </p:txBody>
            </p:sp>
          </mc:Choice>
          <mc:Fallback xmlns="">
            <p:sp>
              <p:nvSpPr>
                <p:cNvPr id="55" name="文字方塊 54">
                  <a:extLst>
                    <a:ext uri="{FF2B5EF4-FFF2-40B4-BE49-F238E27FC236}">
                      <a16:creationId xmlns:a16="http://schemas.microsoft.com/office/drawing/2014/main" id="{6964D88B-16C2-46AA-B91B-13A99127DEB8}"/>
                    </a:ext>
                  </a:extLst>
                </p:cNvPr>
                <p:cNvSpPr txBox="1">
                  <a:spLocks noRot="1" noChangeAspect="1" noMove="1" noResize="1" noEditPoints="1" noAdjustHandles="1" noChangeArrowheads="1" noChangeShapeType="1" noTextEdit="1"/>
                </p:cNvSpPr>
                <p:nvPr/>
              </p:nvSpPr>
              <p:spPr>
                <a:xfrm>
                  <a:off x="5042277" y="2563691"/>
                  <a:ext cx="175368" cy="153888"/>
                </a:xfrm>
                <a:prstGeom prst="rect">
                  <a:avLst/>
                </a:prstGeom>
                <a:blipFill>
                  <a:blip r:embed="rId4"/>
                  <a:stretch>
                    <a:fillRect l="-6897" b="-12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A5343542-7863-44CC-A560-6DBE4D9226BF}"/>
                    </a:ext>
                  </a:extLst>
                </p:cNvPr>
                <p:cNvSpPr txBox="1"/>
                <p:nvPr/>
              </p:nvSpPr>
              <p:spPr>
                <a:xfrm>
                  <a:off x="5045547" y="3089312"/>
                  <a:ext cx="16882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𝑖</m:t>
                            </m:r>
                          </m:sub>
                        </m:sSub>
                      </m:oMath>
                    </m:oMathPara>
                  </a14:m>
                  <a:endParaRPr lang="zh-TW" altLang="en-US" dirty="0"/>
                </a:p>
              </p:txBody>
            </p:sp>
          </mc:Choice>
          <mc:Fallback xmlns="">
            <p:sp>
              <p:nvSpPr>
                <p:cNvPr id="57" name="文字方塊 56">
                  <a:extLst>
                    <a:ext uri="{FF2B5EF4-FFF2-40B4-BE49-F238E27FC236}">
                      <a16:creationId xmlns:a16="http://schemas.microsoft.com/office/drawing/2014/main" id="{A5343542-7863-44CC-A560-6DBE4D9226BF}"/>
                    </a:ext>
                  </a:extLst>
                </p:cNvPr>
                <p:cNvSpPr txBox="1">
                  <a:spLocks noRot="1" noChangeAspect="1" noMove="1" noResize="1" noEditPoints="1" noAdjustHandles="1" noChangeArrowheads="1" noChangeShapeType="1" noTextEdit="1"/>
                </p:cNvSpPr>
                <p:nvPr/>
              </p:nvSpPr>
              <p:spPr>
                <a:xfrm>
                  <a:off x="5045547" y="3089312"/>
                  <a:ext cx="168828" cy="153888"/>
                </a:xfrm>
                <a:prstGeom prst="rect">
                  <a:avLst/>
                </a:prstGeom>
                <a:blipFill>
                  <a:blip r:embed="rId5"/>
                  <a:stretch>
                    <a:fillRect l="-11111" r="-3704" b="-16000"/>
                  </a:stretch>
                </a:blipFill>
              </p:spPr>
              <p:txBody>
                <a:bodyPr/>
                <a:lstStyle/>
                <a:p>
                  <a:r>
                    <a:rPr lang="zh-TW" altLang="en-US">
                      <a:noFill/>
                    </a:rPr>
                    <a:t> </a:t>
                  </a:r>
                </a:p>
              </p:txBody>
            </p:sp>
          </mc:Fallback>
        </mc:AlternateContent>
      </p:grpSp>
      <p:grpSp>
        <p:nvGrpSpPr>
          <p:cNvPr id="70" name="群組 69">
            <a:extLst>
              <a:ext uri="{FF2B5EF4-FFF2-40B4-BE49-F238E27FC236}">
                <a16:creationId xmlns:a16="http://schemas.microsoft.com/office/drawing/2014/main" id="{62416031-118F-4DF5-A856-CDBA6BE3A264}"/>
              </a:ext>
            </a:extLst>
          </p:cNvPr>
          <p:cNvGrpSpPr/>
          <p:nvPr/>
        </p:nvGrpSpPr>
        <p:grpSpPr>
          <a:xfrm>
            <a:off x="592184" y="1986869"/>
            <a:ext cx="2738003" cy="1945060"/>
            <a:chOff x="592184" y="1986869"/>
            <a:chExt cx="2738003" cy="1945060"/>
          </a:xfrm>
        </p:grpSpPr>
        <p:grpSp>
          <p:nvGrpSpPr>
            <p:cNvPr id="7" name="群組 6">
              <a:extLst>
                <a:ext uri="{FF2B5EF4-FFF2-40B4-BE49-F238E27FC236}">
                  <a16:creationId xmlns:a16="http://schemas.microsoft.com/office/drawing/2014/main" id="{76F43179-C21F-4E2F-B299-9340987E8612}"/>
                </a:ext>
              </a:extLst>
            </p:cNvPr>
            <p:cNvGrpSpPr/>
            <p:nvPr/>
          </p:nvGrpSpPr>
          <p:grpSpPr>
            <a:xfrm>
              <a:off x="592184" y="2091607"/>
              <a:ext cx="2738003" cy="559864"/>
              <a:chOff x="592184" y="2091607"/>
              <a:chExt cx="2738003" cy="559864"/>
            </a:xfrm>
          </p:grpSpPr>
          <p:sp>
            <p:nvSpPr>
              <p:cNvPr id="4" name="矩形 3">
                <a:extLst>
                  <a:ext uri="{FF2B5EF4-FFF2-40B4-BE49-F238E27FC236}">
                    <a16:creationId xmlns:a16="http://schemas.microsoft.com/office/drawing/2014/main" id="{BEB53507-D052-42C5-B92E-2E32998005AB}"/>
                  </a:ext>
                </a:extLst>
              </p:cNvPr>
              <p:cNvSpPr/>
              <p:nvPr/>
            </p:nvSpPr>
            <p:spPr>
              <a:xfrm>
                <a:off x="1289583" y="2091607"/>
                <a:ext cx="1343205" cy="559864"/>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SHG (Classical)</a:t>
                </a:r>
                <a:endParaRPr lang="zh-TW" altLang="en-US" sz="900" dirty="0">
                  <a:solidFill>
                    <a:schemeClr val="tx1"/>
                  </a:solidFill>
                  <a:latin typeface="Montserrat" panose="02020500000000000000" charset="0"/>
                </a:endParaRPr>
              </a:p>
            </p:txBody>
          </p:sp>
          <p:sp>
            <p:nvSpPr>
              <p:cNvPr id="5" name="箭號: 向右 4">
                <a:extLst>
                  <a:ext uri="{FF2B5EF4-FFF2-40B4-BE49-F238E27FC236}">
                    <a16:creationId xmlns:a16="http://schemas.microsoft.com/office/drawing/2014/main" id="{76EE776D-51C2-433A-921B-91B00EB24722}"/>
                  </a:ext>
                </a:extLst>
              </p:cNvPr>
              <p:cNvSpPr/>
              <p:nvPr/>
            </p:nvSpPr>
            <p:spPr>
              <a:xfrm>
                <a:off x="592184" y="2180018"/>
                <a:ext cx="652182" cy="67825"/>
              </a:xfrm>
              <a:prstGeom prst="rightArrow">
                <a:avLst/>
              </a:prstGeom>
              <a:solidFill>
                <a:srgbClr val="E3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箭號: 向右 23">
                <a:extLst>
                  <a:ext uri="{FF2B5EF4-FFF2-40B4-BE49-F238E27FC236}">
                    <a16:creationId xmlns:a16="http://schemas.microsoft.com/office/drawing/2014/main" id="{8C273FCA-3C2D-4CD8-8182-0F4D50116E6E}"/>
                  </a:ext>
                </a:extLst>
              </p:cNvPr>
              <p:cNvSpPr/>
              <p:nvPr/>
            </p:nvSpPr>
            <p:spPr>
              <a:xfrm>
                <a:off x="2678005" y="2337626"/>
                <a:ext cx="652182" cy="67825"/>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箭號: 向右 25">
                <a:extLst>
                  <a:ext uri="{FF2B5EF4-FFF2-40B4-BE49-F238E27FC236}">
                    <a16:creationId xmlns:a16="http://schemas.microsoft.com/office/drawing/2014/main" id="{47A9D11B-0E6C-4FBC-8D77-1CC2F744DA53}"/>
                  </a:ext>
                </a:extLst>
              </p:cNvPr>
              <p:cNvSpPr/>
              <p:nvPr/>
            </p:nvSpPr>
            <p:spPr>
              <a:xfrm>
                <a:off x="592184" y="2458038"/>
                <a:ext cx="652182" cy="67825"/>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6" name="箭號: 上-下雙向 5">
              <a:extLst>
                <a:ext uri="{FF2B5EF4-FFF2-40B4-BE49-F238E27FC236}">
                  <a16:creationId xmlns:a16="http://schemas.microsoft.com/office/drawing/2014/main" id="{7011E564-131D-47B3-85AE-663CF60D06B7}"/>
                </a:ext>
              </a:extLst>
            </p:cNvPr>
            <p:cNvSpPr/>
            <p:nvPr/>
          </p:nvSpPr>
          <p:spPr>
            <a:xfrm>
              <a:off x="1897311" y="2820147"/>
              <a:ext cx="127747" cy="383241"/>
            </a:xfrm>
            <a:prstGeom prst="up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9" name="群組 68">
              <a:extLst>
                <a:ext uri="{FF2B5EF4-FFF2-40B4-BE49-F238E27FC236}">
                  <a16:creationId xmlns:a16="http://schemas.microsoft.com/office/drawing/2014/main" id="{D62A2770-635E-4EAD-8DDF-07C5859F735D}"/>
                </a:ext>
              </a:extLst>
            </p:cNvPr>
            <p:cNvGrpSpPr/>
            <p:nvPr/>
          </p:nvGrpSpPr>
          <p:grpSpPr>
            <a:xfrm>
              <a:off x="592184" y="3273273"/>
              <a:ext cx="2738003" cy="658656"/>
              <a:chOff x="592184" y="3273273"/>
              <a:chExt cx="2738003" cy="658656"/>
            </a:xfrm>
          </p:grpSpPr>
          <p:grpSp>
            <p:nvGrpSpPr>
              <p:cNvPr id="8" name="群組 7">
                <a:extLst>
                  <a:ext uri="{FF2B5EF4-FFF2-40B4-BE49-F238E27FC236}">
                    <a16:creationId xmlns:a16="http://schemas.microsoft.com/office/drawing/2014/main" id="{BFE177F2-2D95-49E7-A297-0AA6CCA6DE8A}"/>
                  </a:ext>
                </a:extLst>
              </p:cNvPr>
              <p:cNvGrpSpPr/>
              <p:nvPr/>
            </p:nvGrpSpPr>
            <p:grpSpPr>
              <a:xfrm>
                <a:off x="592184" y="3372065"/>
                <a:ext cx="2738003" cy="559864"/>
                <a:chOff x="592184" y="3372065"/>
                <a:chExt cx="2738003" cy="559864"/>
              </a:xfrm>
            </p:grpSpPr>
            <p:sp>
              <p:nvSpPr>
                <p:cNvPr id="17" name="矩形 16">
                  <a:extLst>
                    <a:ext uri="{FF2B5EF4-FFF2-40B4-BE49-F238E27FC236}">
                      <a16:creationId xmlns:a16="http://schemas.microsoft.com/office/drawing/2014/main" id="{E0E08D0A-5273-4029-8706-19D638EE9E0F}"/>
                    </a:ext>
                  </a:extLst>
                </p:cNvPr>
                <p:cNvSpPr/>
                <p:nvPr/>
              </p:nvSpPr>
              <p:spPr>
                <a:xfrm>
                  <a:off x="1289583" y="3372065"/>
                  <a:ext cx="1343205" cy="559864"/>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SPDC (Quantum)</a:t>
                  </a:r>
                  <a:endParaRPr lang="zh-TW" altLang="en-US" sz="900" dirty="0">
                    <a:solidFill>
                      <a:schemeClr val="tx1"/>
                    </a:solidFill>
                    <a:latin typeface="Montserrat" panose="02020500000000000000" charset="0"/>
                  </a:endParaRPr>
                </a:p>
              </p:txBody>
            </p:sp>
            <p:sp>
              <p:nvSpPr>
                <p:cNvPr id="23" name="箭號: 向右 22">
                  <a:extLst>
                    <a:ext uri="{FF2B5EF4-FFF2-40B4-BE49-F238E27FC236}">
                      <a16:creationId xmlns:a16="http://schemas.microsoft.com/office/drawing/2014/main" id="{F1C06331-C4E2-4818-A91D-5AFAF27B7021}"/>
                    </a:ext>
                  </a:extLst>
                </p:cNvPr>
                <p:cNvSpPr/>
                <p:nvPr/>
              </p:nvSpPr>
              <p:spPr>
                <a:xfrm>
                  <a:off x="2678005" y="3473236"/>
                  <a:ext cx="652182" cy="67825"/>
                </a:xfrm>
                <a:prstGeom prst="rightArrow">
                  <a:avLst/>
                </a:prstGeom>
                <a:solidFill>
                  <a:srgbClr val="E3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箭號: 向右 24">
                  <a:extLst>
                    <a:ext uri="{FF2B5EF4-FFF2-40B4-BE49-F238E27FC236}">
                      <a16:creationId xmlns:a16="http://schemas.microsoft.com/office/drawing/2014/main" id="{6C4AE5F4-C3E8-474F-AE31-85647A5F9DE6}"/>
                    </a:ext>
                  </a:extLst>
                </p:cNvPr>
                <p:cNvSpPr/>
                <p:nvPr/>
              </p:nvSpPr>
              <p:spPr>
                <a:xfrm>
                  <a:off x="592184" y="3629319"/>
                  <a:ext cx="652182" cy="67825"/>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箭號: 向右 26">
                  <a:extLst>
                    <a:ext uri="{FF2B5EF4-FFF2-40B4-BE49-F238E27FC236}">
                      <a16:creationId xmlns:a16="http://schemas.microsoft.com/office/drawing/2014/main" id="{5F202166-6075-4DAA-A2ED-F1AA8D2B53C6}"/>
                    </a:ext>
                  </a:extLst>
                </p:cNvPr>
                <p:cNvSpPr/>
                <p:nvPr/>
              </p:nvSpPr>
              <p:spPr>
                <a:xfrm>
                  <a:off x="2678005" y="3777073"/>
                  <a:ext cx="652182" cy="67825"/>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42A32D7B-7E4F-4BC1-8AE0-E6B529B7F667}"/>
                      </a:ext>
                    </a:extLst>
                  </p:cNvPr>
                  <p:cNvSpPr txBox="1"/>
                  <p:nvPr/>
                </p:nvSpPr>
                <p:spPr>
                  <a:xfrm>
                    <a:off x="2896900" y="3273273"/>
                    <a:ext cx="17536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𝑠</m:t>
                              </m:r>
                            </m:sub>
                          </m:sSub>
                        </m:oMath>
                      </m:oMathPara>
                    </a14:m>
                    <a:endParaRPr lang="zh-TW" altLang="en-US" dirty="0"/>
                  </a:p>
                </p:txBody>
              </p:sp>
            </mc:Choice>
            <mc:Fallback xmlns="">
              <p:sp>
                <p:nvSpPr>
                  <p:cNvPr id="49" name="文字方塊 48">
                    <a:extLst>
                      <a:ext uri="{FF2B5EF4-FFF2-40B4-BE49-F238E27FC236}">
                        <a16:creationId xmlns:a16="http://schemas.microsoft.com/office/drawing/2014/main" id="{42A32D7B-7E4F-4BC1-8AE0-E6B529B7F667}"/>
                      </a:ext>
                    </a:extLst>
                  </p:cNvPr>
                  <p:cNvSpPr txBox="1">
                    <a:spLocks noRot="1" noChangeAspect="1" noMove="1" noResize="1" noEditPoints="1" noAdjustHandles="1" noChangeArrowheads="1" noChangeShapeType="1" noTextEdit="1"/>
                  </p:cNvSpPr>
                  <p:nvPr/>
                </p:nvSpPr>
                <p:spPr>
                  <a:xfrm>
                    <a:off x="2896900" y="3273273"/>
                    <a:ext cx="175368" cy="153888"/>
                  </a:xfrm>
                  <a:prstGeom prst="rect">
                    <a:avLst/>
                  </a:prstGeom>
                  <a:blipFill>
                    <a:blip r:embed="rId4"/>
                    <a:stretch>
                      <a:fillRect l="-6897" b="-12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A547DC1-22A3-4726-8E82-15FA9892435E}"/>
                      </a:ext>
                    </a:extLst>
                  </p:cNvPr>
                  <p:cNvSpPr txBox="1"/>
                  <p:nvPr/>
                </p:nvSpPr>
                <p:spPr>
                  <a:xfrm>
                    <a:off x="2896900" y="3574064"/>
                    <a:ext cx="16882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𝑖</m:t>
                              </m:r>
                            </m:sub>
                          </m:sSub>
                        </m:oMath>
                      </m:oMathPara>
                    </a14:m>
                    <a:endParaRPr lang="zh-TW" altLang="en-US" dirty="0"/>
                  </a:p>
                </p:txBody>
              </p:sp>
            </mc:Choice>
            <mc:Fallback xmlns="">
              <p:sp>
                <p:nvSpPr>
                  <p:cNvPr id="50" name="文字方塊 49">
                    <a:extLst>
                      <a:ext uri="{FF2B5EF4-FFF2-40B4-BE49-F238E27FC236}">
                        <a16:creationId xmlns:a16="http://schemas.microsoft.com/office/drawing/2014/main" id="{DA547DC1-22A3-4726-8E82-15FA9892435E}"/>
                      </a:ext>
                    </a:extLst>
                  </p:cNvPr>
                  <p:cNvSpPr txBox="1">
                    <a:spLocks noRot="1" noChangeAspect="1" noMove="1" noResize="1" noEditPoints="1" noAdjustHandles="1" noChangeArrowheads="1" noChangeShapeType="1" noTextEdit="1"/>
                  </p:cNvSpPr>
                  <p:nvPr/>
                </p:nvSpPr>
                <p:spPr>
                  <a:xfrm>
                    <a:off x="2896900" y="3574064"/>
                    <a:ext cx="168828" cy="153888"/>
                  </a:xfrm>
                  <a:prstGeom prst="rect">
                    <a:avLst/>
                  </a:prstGeom>
                  <a:blipFill>
                    <a:blip r:embed="rId6"/>
                    <a:stretch>
                      <a:fillRect l="-7143" r="-3571" b="-1538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4F07CB59-7D52-40C2-A0F4-A0C7195A85E7}"/>
                      </a:ext>
                    </a:extLst>
                  </p:cNvPr>
                  <p:cNvSpPr txBox="1"/>
                  <p:nvPr/>
                </p:nvSpPr>
                <p:spPr>
                  <a:xfrm>
                    <a:off x="842092" y="3424272"/>
                    <a:ext cx="189026" cy="1657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𝑝</m:t>
                              </m:r>
                            </m:sub>
                          </m:sSub>
                        </m:oMath>
                      </m:oMathPara>
                    </a14:m>
                    <a:endParaRPr lang="zh-TW" altLang="en-US" dirty="0"/>
                  </a:p>
                </p:txBody>
              </p:sp>
            </mc:Choice>
            <mc:Fallback xmlns="">
              <p:sp>
                <p:nvSpPr>
                  <p:cNvPr id="51" name="文字方塊 50">
                    <a:extLst>
                      <a:ext uri="{FF2B5EF4-FFF2-40B4-BE49-F238E27FC236}">
                        <a16:creationId xmlns:a16="http://schemas.microsoft.com/office/drawing/2014/main" id="{4F07CB59-7D52-40C2-A0F4-A0C7195A85E7}"/>
                      </a:ext>
                    </a:extLst>
                  </p:cNvPr>
                  <p:cNvSpPr txBox="1">
                    <a:spLocks noRot="1" noChangeAspect="1" noMove="1" noResize="1" noEditPoints="1" noAdjustHandles="1" noChangeArrowheads="1" noChangeShapeType="1" noTextEdit="1"/>
                  </p:cNvSpPr>
                  <p:nvPr/>
                </p:nvSpPr>
                <p:spPr>
                  <a:xfrm>
                    <a:off x="842092" y="3424272"/>
                    <a:ext cx="189026" cy="165751"/>
                  </a:xfrm>
                  <a:prstGeom prst="rect">
                    <a:avLst/>
                  </a:prstGeom>
                  <a:blipFill>
                    <a:blip r:embed="rId7"/>
                    <a:stretch>
                      <a:fillRect l="-6452" r="-3226" b="-18519"/>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2D74AB7B-735F-4B3A-ADEB-E481F195AFDF}"/>
                    </a:ext>
                  </a:extLst>
                </p:cNvPr>
                <p:cNvSpPr txBox="1"/>
                <p:nvPr/>
              </p:nvSpPr>
              <p:spPr>
                <a:xfrm>
                  <a:off x="2909583" y="2138872"/>
                  <a:ext cx="189026" cy="1657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𝑝</m:t>
                            </m:r>
                          </m:sub>
                        </m:sSub>
                      </m:oMath>
                    </m:oMathPara>
                  </a14:m>
                  <a:endParaRPr lang="zh-TW" altLang="en-US" dirty="0"/>
                </a:p>
              </p:txBody>
            </p:sp>
          </mc:Choice>
          <mc:Fallback xmlns="">
            <p:sp>
              <p:nvSpPr>
                <p:cNvPr id="52" name="文字方塊 51">
                  <a:extLst>
                    <a:ext uri="{FF2B5EF4-FFF2-40B4-BE49-F238E27FC236}">
                      <a16:creationId xmlns:a16="http://schemas.microsoft.com/office/drawing/2014/main" id="{2D74AB7B-735F-4B3A-ADEB-E481F195AFDF}"/>
                    </a:ext>
                  </a:extLst>
                </p:cNvPr>
                <p:cNvSpPr txBox="1">
                  <a:spLocks noRot="1" noChangeAspect="1" noMove="1" noResize="1" noEditPoints="1" noAdjustHandles="1" noChangeArrowheads="1" noChangeShapeType="1" noTextEdit="1"/>
                </p:cNvSpPr>
                <p:nvPr/>
              </p:nvSpPr>
              <p:spPr>
                <a:xfrm>
                  <a:off x="2909583" y="2138872"/>
                  <a:ext cx="189026" cy="165751"/>
                </a:xfrm>
                <a:prstGeom prst="rect">
                  <a:avLst/>
                </a:prstGeom>
                <a:blipFill>
                  <a:blip r:embed="rId7"/>
                  <a:stretch>
                    <a:fillRect l="-6452" r="-3226" b="-1851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6FDC0DDE-8246-4A4D-928D-6B06F6A692D8}"/>
                    </a:ext>
                  </a:extLst>
                </p:cNvPr>
                <p:cNvSpPr txBox="1"/>
                <p:nvPr/>
              </p:nvSpPr>
              <p:spPr>
                <a:xfrm>
                  <a:off x="848921" y="1986869"/>
                  <a:ext cx="17536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𝑠</m:t>
                            </m:r>
                          </m:sub>
                        </m:sSub>
                      </m:oMath>
                    </m:oMathPara>
                  </a14:m>
                  <a:endParaRPr lang="zh-TW" altLang="en-US" dirty="0"/>
                </a:p>
              </p:txBody>
            </p:sp>
          </mc:Choice>
          <mc:Fallback xmlns="">
            <p:sp>
              <p:nvSpPr>
                <p:cNvPr id="56" name="文字方塊 55">
                  <a:extLst>
                    <a:ext uri="{FF2B5EF4-FFF2-40B4-BE49-F238E27FC236}">
                      <a16:creationId xmlns:a16="http://schemas.microsoft.com/office/drawing/2014/main" id="{6FDC0DDE-8246-4A4D-928D-6B06F6A692D8}"/>
                    </a:ext>
                  </a:extLst>
                </p:cNvPr>
                <p:cNvSpPr txBox="1">
                  <a:spLocks noRot="1" noChangeAspect="1" noMove="1" noResize="1" noEditPoints="1" noAdjustHandles="1" noChangeArrowheads="1" noChangeShapeType="1" noTextEdit="1"/>
                </p:cNvSpPr>
                <p:nvPr/>
              </p:nvSpPr>
              <p:spPr>
                <a:xfrm>
                  <a:off x="848921" y="1986869"/>
                  <a:ext cx="175368" cy="153888"/>
                </a:xfrm>
                <a:prstGeom prst="rect">
                  <a:avLst/>
                </a:prstGeom>
                <a:blipFill>
                  <a:blip r:embed="rId4"/>
                  <a:stretch>
                    <a:fillRect l="-6897" b="-12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1CDD0ADF-6283-46FA-B465-B6C57677B781}"/>
                    </a:ext>
                  </a:extLst>
                </p:cNvPr>
                <p:cNvSpPr txBox="1"/>
                <p:nvPr/>
              </p:nvSpPr>
              <p:spPr>
                <a:xfrm>
                  <a:off x="848921" y="2279113"/>
                  <a:ext cx="16882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𝑖</m:t>
                            </m:r>
                          </m:sub>
                        </m:sSub>
                      </m:oMath>
                    </m:oMathPara>
                  </a14:m>
                  <a:endParaRPr lang="zh-TW" altLang="en-US" dirty="0"/>
                </a:p>
              </p:txBody>
            </p:sp>
          </mc:Choice>
          <mc:Fallback xmlns="">
            <p:sp>
              <p:nvSpPr>
                <p:cNvPr id="58" name="文字方塊 57">
                  <a:extLst>
                    <a:ext uri="{FF2B5EF4-FFF2-40B4-BE49-F238E27FC236}">
                      <a16:creationId xmlns:a16="http://schemas.microsoft.com/office/drawing/2014/main" id="{1CDD0ADF-6283-46FA-B465-B6C57677B781}"/>
                    </a:ext>
                  </a:extLst>
                </p:cNvPr>
                <p:cNvSpPr txBox="1">
                  <a:spLocks noRot="1" noChangeAspect="1" noMove="1" noResize="1" noEditPoints="1" noAdjustHandles="1" noChangeArrowheads="1" noChangeShapeType="1" noTextEdit="1"/>
                </p:cNvSpPr>
                <p:nvPr/>
              </p:nvSpPr>
              <p:spPr>
                <a:xfrm>
                  <a:off x="848921" y="2279113"/>
                  <a:ext cx="168828" cy="153888"/>
                </a:xfrm>
                <a:prstGeom prst="rect">
                  <a:avLst/>
                </a:prstGeom>
                <a:blipFill>
                  <a:blip r:embed="rId8"/>
                  <a:stretch>
                    <a:fillRect l="-7143" r="-3571" b="-16000"/>
                  </a:stretch>
                </a:blipFill>
              </p:spPr>
              <p:txBody>
                <a:bodyPr/>
                <a:lstStyle/>
                <a:p>
                  <a:r>
                    <a:rPr lang="zh-TW" altLang="en-US">
                      <a:noFill/>
                    </a:rPr>
                    <a:t> </a:t>
                  </a:r>
                </a:p>
              </p:txBody>
            </p:sp>
          </mc:Fallback>
        </mc:AlternateContent>
      </p:grpSp>
      <p:grpSp>
        <p:nvGrpSpPr>
          <p:cNvPr id="71" name="群組 70">
            <a:extLst>
              <a:ext uri="{FF2B5EF4-FFF2-40B4-BE49-F238E27FC236}">
                <a16:creationId xmlns:a16="http://schemas.microsoft.com/office/drawing/2014/main" id="{9B7168A7-A781-4317-9FAC-BFF5565623B1}"/>
              </a:ext>
            </a:extLst>
          </p:cNvPr>
          <p:cNvGrpSpPr/>
          <p:nvPr/>
        </p:nvGrpSpPr>
        <p:grpSpPr>
          <a:xfrm>
            <a:off x="6188310" y="1871838"/>
            <a:ext cx="2021679" cy="2245206"/>
            <a:chOff x="5997505" y="1871837"/>
            <a:chExt cx="2021679" cy="2245206"/>
          </a:xfrm>
        </p:grpSpPr>
        <p:sp>
          <p:nvSpPr>
            <p:cNvPr id="48" name="箭號: 向下 47">
              <a:extLst>
                <a:ext uri="{FF2B5EF4-FFF2-40B4-BE49-F238E27FC236}">
                  <a16:creationId xmlns:a16="http://schemas.microsoft.com/office/drawing/2014/main" id="{DA01FB8A-731C-4462-809E-2B059EC3FB6A}"/>
                </a:ext>
              </a:extLst>
            </p:cNvPr>
            <p:cNvSpPr/>
            <p:nvPr/>
          </p:nvSpPr>
          <p:spPr>
            <a:xfrm>
              <a:off x="6944470" y="3004110"/>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66" name="群組 65">
              <a:extLst>
                <a:ext uri="{FF2B5EF4-FFF2-40B4-BE49-F238E27FC236}">
                  <a16:creationId xmlns:a16="http://schemas.microsoft.com/office/drawing/2014/main" id="{92E80ACA-6BFA-4D23-A628-ADA09D83572A}"/>
                </a:ext>
              </a:extLst>
            </p:cNvPr>
            <p:cNvGrpSpPr/>
            <p:nvPr/>
          </p:nvGrpSpPr>
          <p:grpSpPr>
            <a:xfrm>
              <a:off x="5997505" y="1871837"/>
              <a:ext cx="2021679" cy="784487"/>
              <a:chOff x="5997505" y="1871837"/>
              <a:chExt cx="2021679" cy="784487"/>
            </a:xfrm>
          </p:grpSpPr>
          <p:grpSp>
            <p:nvGrpSpPr>
              <p:cNvPr id="43" name="群組 42">
                <a:extLst>
                  <a:ext uri="{FF2B5EF4-FFF2-40B4-BE49-F238E27FC236}">
                    <a16:creationId xmlns:a16="http://schemas.microsoft.com/office/drawing/2014/main" id="{374E0AB9-F471-4D54-B27E-85820211B45C}"/>
                  </a:ext>
                </a:extLst>
              </p:cNvPr>
              <p:cNvGrpSpPr/>
              <p:nvPr/>
            </p:nvGrpSpPr>
            <p:grpSpPr>
              <a:xfrm>
                <a:off x="5997505" y="2097141"/>
                <a:ext cx="2021679" cy="399053"/>
                <a:chOff x="6210139" y="2057694"/>
                <a:chExt cx="2021679" cy="399053"/>
              </a:xfrm>
            </p:grpSpPr>
            <p:sp>
              <p:nvSpPr>
                <p:cNvPr id="40" name="箭號: 向右 39">
                  <a:extLst>
                    <a:ext uri="{FF2B5EF4-FFF2-40B4-BE49-F238E27FC236}">
                      <a16:creationId xmlns:a16="http://schemas.microsoft.com/office/drawing/2014/main" id="{1B340EE1-9472-48E2-9110-C45D4BA9AE0C}"/>
                    </a:ext>
                  </a:extLst>
                </p:cNvPr>
                <p:cNvSpPr/>
                <p:nvPr/>
              </p:nvSpPr>
              <p:spPr>
                <a:xfrm>
                  <a:off x="6288345" y="2057694"/>
                  <a:ext cx="1800000" cy="67825"/>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箭號: 向右 40">
                  <a:extLst>
                    <a:ext uri="{FF2B5EF4-FFF2-40B4-BE49-F238E27FC236}">
                      <a16:creationId xmlns:a16="http://schemas.microsoft.com/office/drawing/2014/main" id="{6162FA9E-7027-4B5C-9D4F-5508A73D6B33}"/>
                    </a:ext>
                  </a:extLst>
                </p:cNvPr>
                <p:cNvSpPr/>
                <p:nvPr/>
              </p:nvSpPr>
              <p:spPr>
                <a:xfrm rot="2100000">
                  <a:off x="6210139" y="2383291"/>
                  <a:ext cx="1080000" cy="67825"/>
                </a:xfrm>
                <a:prstGeom prst="rightArrow">
                  <a:avLst/>
                </a:prstGeom>
                <a:solidFill>
                  <a:srgbClr val="E3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箭號: 向右 41">
                  <a:extLst>
                    <a:ext uri="{FF2B5EF4-FFF2-40B4-BE49-F238E27FC236}">
                      <a16:creationId xmlns:a16="http://schemas.microsoft.com/office/drawing/2014/main" id="{5DED5180-A72E-4E2A-ACE6-9581E66EC375}"/>
                    </a:ext>
                  </a:extLst>
                </p:cNvPr>
                <p:cNvSpPr/>
                <p:nvPr/>
              </p:nvSpPr>
              <p:spPr>
                <a:xfrm rot="-2100000">
                  <a:off x="7079818" y="2388922"/>
                  <a:ext cx="1152000" cy="67825"/>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28D24A13-4EAF-4D42-B329-04BA77E24673}"/>
                      </a:ext>
                    </a:extLst>
                  </p:cNvPr>
                  <p:cNvSpPr txBox="1"/>
                  <p:nvPr/>
                </p:nvSpPr>
                <p:spPr>
                  <a:xfrm>
                    <a:off x="6922551" y="1871837"/>
                    <a:ext cx="171585" cy="1919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𝑘</m:t>
                                  </m:r>
                                </m:e>
                              </m:acc>
                            </m:e>
                            <m:sub>
                              <m:r>
                                <a:rPr lang="en-US" altLang="zh-TW" sz="1000" b="0" i="1" smtClean="0">
                                  <a:latin typeface="Cambria Math" panose="02040503050406030204" pitchFamily="18" charset="0"/>
                                </a:rPr>
                                <m:t>𝑝</m:t>
                              </m:r>
                            </m:sub>
                          </m:sSub>
                        </m:oMath>
                      </m:oMathPara>
                    </a14:m>
                    <a:endParaRPr lang="zh-TW" altLang="en-US" dirty="0"/>
                  </a:p>
                </p:txBody>
              </p:sp>
            </mc:Choice>
            <mc:Fallback xmlns="">
              <p:sp>
                <p:nvSpPr>
                  <p:cNvPr id="59" name="文字方塊 58">
                    <a:extLst>
                      <a:ext uri="{FF2B5EF4-FFF2-40B4-BE49-F238E27FC236}">
                        <a16:creationId xmlns:a16="http://schemas.microsoft.com/office/drawing/2014/main" id="{28D24A13-4EAF-4D42-B329-04BA77E24673}"/>
                      </a:ext>
                    </a:extLst>
                  </p:cNvPr>
                  <p:cNvSpPr txBox="1">
                    <a:spLocks noRot="1" noChangeAspect="1" noMove="1" noResize="1" noEditPoints="1" noAdjustHandles="1" noChangeArrowheads="1" noChangeShapeType="1" noTextEdit="1"/>
                  </p:cNvSpPr>
                  <p:nvPr/>
                </p:nvSpPr>
                <p:spPr>
                  <a:xfrm>
                    <a:off x="6922551" y="1871837"/>
                    <a:ext cx="171585" cy="191976"/>
                  </a:xfrm>
                  <a:prstGeom prst="rect">
                    <a:avLst/>
                  </a:prstGeom>
                  <a:blipFill>
                    <a:blip r:embed="rId9"/>
                    <a:stretch>
                      <a:fillRect l="-17857" r="-3571" b="-156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B294E473-A9FB-48E9-AF81-8F1336E4026E}"/>
                      </a:ext>
                    </a:extLst>
                  </p:cNvPr>
                  <p:cNvSpPr txBox="1"/>
                  <p:nvPr/>
                </p:nvSpPr>
                <p:spPr>
                  <a:xfrm>
                    <a:off x="6350298" y="2454140"/>
                    <a:ext cx="157927" cy="176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𝑘</m:t>
                                  </m:r>
                                </m:e>
                              </m:acc>
                            </m:e>
                            <m:sub>
                              <m:r>
                                <a:rPr lang="en-US" altLang="zh-TW" sz="1000" b="0" i="1" smtClean="0">
                                  <a:latin typeface="Cambria Math" panose="02040503050406030204" pitchFamily="18" charset="0"/>
                                </a:rPr>
                                <m:t>𝑠</m:t>
                              </m:r>
                            </m:sub>
                          </m:sSub>
                        </m:oMath>
                      </m:oMathPara>
                    </a14:m>
                    <a:endParaRPr lang="zh-TW" altLang="en-US" dirty="0"/>
                  </a:p>
                </p:txBody>
              </p:sp>
            </mc:Choice>
            <mc:Fallback xmlns="">
              <p:sp>
                <p:nvSpPr>
                  <p:cNvPr id="61" name="文字方塊 60">
                    <a:extLst>
                      <a:ext uri="{FF2B5EF4-FFF2-40B4-BE49-F238E27FC236}">
                        <a16:creationId xmlns:a16="http://schemas.microsoft.com/office/drawing/2014/main" id="{B294E473-A9FB-48E9-AF81-8F1336E4026E}"/>
                      </a:ext>
                    </a:extLst>
                  </p:cNvPr>
                  <p:cNvSpPr txBox="1">
                    <a:spLocks noRot="1" noChangeAspect="1" noMove="1" noResize="1" noEditPoints="1" noAdjustHandles="1" noChangeArrowheads="1" noChangeShapeType="1" noTextEdit="1"/>
                  </p:cNvSpPr>
                  <p:nvPr/>
                </p:nvSpPr>
                <p:spPr>
                  <a:xfrm>
                    <a:off x="6350298" y="2454140"/>
                    <a:ext cx="157927" cy="176587"/>
                  </a:xfrm>
                  <a:prstGeom prst="rect">
                    <a:avLst/>
                  </a:prstGeom>
                  <a:blipFill>
                    <a:blip r:embed="rId10"/>
                    <a:stretch>
                      <a:fillRect l="-19231" b="-103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7A2D4D6B-5E90-4A96-A5EA-16C806B359CA}"/>
                      </a:ext>
                    </a:extLst>
                  </p:cNvPr>
                  <p:cNvSpPr txBox="1"/>
                  <p:nvPr/>
                </p:nvSpPr>
                <p:spPr>
                  <a:xfrm>
                    <a:off x="7457987" y="2479737"/>
                    <a:ext cx="146386" cy="176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𝑘</m:t>
                                  </m:r>
                                </m:e>
                              </m:acc>
                            </m:e>
                            <m:sub>
                              <m:r>
                                <a:rPr lang="en-US" altLang="zh-TW" sz="1000" b="0" i="1" smtClean="0">
                                  <a:latin typeface="Cambria Math" panose="02040503050406030204" pitchFamily="18" charset="0"/>
                                </a:rPr>
                                <m:t>𝑖</m:t>
                              </m:r>
                            </m:sub>
                          </m:sSub>
                        </m:oMath>
                      </m:oMathPara>
                    </a14:m>
                    <a:endParaRPr lang="zh-TW" altLang="en-US" dirty="0"/>
                  </a:p>
                </p:txBody>
              </p:sp>
            </mc:Choice>
            <mc:Fallback xmlns="">
              <p:sp>
                <p:nvSpPr>
                  <p:cNvPr id="62" name="文字方塊 61">
                    <a:extLst>
                      <a:ext uri="{FF2B5EF4-FFF2-40B4-BE49-F238E27FC236}">
                        <a16:creationId xmlns:a16="http://schemas.microsoft.com/office/drawing/2014/main" id="{7A2D4D6B-5E90-4A96-A5EA-16C806B359CA}"/>
                      </a:ext>
                    </a:extLst>
                  </p:cNvPr>
                  <p:cNvSpPr txBox="1">
                    <a:spLocks noRot="1" noChangeAspect="1" noMove="1" noResize="1" noEditPoints="1" noAdjustHandles="1" noChangeArrowheads="1" noChangeShapeType="1" noTextEdit="1"/>
                  </p:cNvSpPr>
                  <p:nvPr/>
                </p:nvSpPr>
                <p:spPr>
                  <a:xfrm>
                    <a:off x="7457987" y="2479737"/>
                    <a:ext cx="146386" cy="176587"/>
                  </a:xfrm>
                  <a:prstGeom prst="rect">
                    <a:avLst/>
                  </a:prstGeom>
                  <a:blipFill>
                    <a:blip r:embed="rId11"/>
                    <a:stretch>
                      <a:fillRect l="-20833" r="-4167" b="-13793"/>
                    </a:stretch>
                  </a:blipFill>
                </p:spPr>
                <p:txBody>
                  <a:bodyPr/>
                  <a:lstStyle/>
                  <a:p>
                    <a:r>
                      <a:rPr lang="zh-TW" altLang="en-US">
                        <a:noFill/>
                      </a:rPr>
                      <a:t> </a:t>
                    </a:r>
                  </a:p>
                </p:txBody>
              </p:sp>
            </mc:Fallback>
          </mc:AlternateContent>
        </p:grpSp>
        <p:grpSp>
          <p:nvGrpSpPr>
            <p:cNvPr id="67" name="群組 66">
              <a:extLst>
                <a:ext uri="{FF2B5EF4-FFF2-40B4-BE49-F238E27FC236}">
                  <a16:creationId xmlns:a16="http://schemas.microsoft.com/office/drawing/2014/main" id="{C9C53C24-9BCF-4EB3-BB10-360E0F48F42A}"/>
                </a:ext>
              </a:extLst>
            </p:cNvPr>
            <p:cNvGrpSpPr/>
            <p:nvPr/>
          </p:nvGrpSpPr>
          <p:grpSpPr>
            <a:xfrm>
              <a:off x="6134467" y="3431453"/>
              <a:ext cx="1800000" cy="685590"/>
              <a:chOff x="6134467" y="3431453"/>
              <a:chExt cx="1800000" cy="685590"/>
            </a:xfrm>
          </p:grpSpPr>
          <p:sp>
            <p:nvSpPr>
              <p:cNvPr id="44" name="箭號: 向右 43">
                <a:extLst>
                  <a:ext uri="{FF2B5EF4-FFF2-40B4-BE49-F238E27FC236}">
                    <a16:creationId xmlns:a16="http://schemas.microsoft.com/office/drawing/2014/main" id="{9E465E3B-E771-4FE9-8A6B-322B638F1315}"/>
                  </a:ext>
                </a:extLst>
              </p:cNvPr>
              <p:cNvSpPr/>
              <p:nvPr/>
            </p:nvSpPr>
            <p:spPr>
              <a:xfrm>
                <a:off x="6134467" y="3651997"/>
                <a:ext cx="1800000" cy="67825"/>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箭號: 向右 44">
                <a:extLst>
                  <a:ext uri="{FF2B5EF4-FFF2-40B4-BE49-F238E27FC236}">
                    <a16:creationId xmlns:a16="http://schemas.microsoft.com/office/drawing/2014/main" id="{5664FA4A-A096-4070-9220-112B9F97AA83}"/>
                  </a:ext>
                </a:extLst>
              </p:cNvPr>
              <p:cNvSpPr/>
              <p:nvPr/>
            </p:nvSpPr>
            <p:spPr>
              <a:xfrm>
                <a:off x="6134467" y="4049218"/>
                <a:ext cx="652182" cy="67825"/>
              </a:xfrm>
              <a:prstGeom prst="rightArrow">
                <a:avLst/>
              </a:prstGeom>
              <a:solidFill>
                <a:srgbClr val="E3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箭號: 向右 45">
                <a:extLst>
                  <a:ext uri="{FF2B5EF4-FFF2-40B4-BE49-F238E27FC236}">
                    <a16:creationId xmlns:a16="http://schemas.microsoft.com/office/drawing/2014/main" id="{A1B77153-B218-4E92-BAD5-EFBBF67252C2}"/>
                  </a:ext>
                </a:extLst>
              </p:cNvPr>
              <p:cNvSpPr/>
              <p:nvPr/>
            </p:nvSpPr>
            <p:spPr>
              <a:xfrm>
                <a:off x="6791002" y="4049218"/>
                <a:ext cx="652182" cy="67825"/>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箭號: 向右 46">
                <a:extLst>
                  <a:ext uri="{FF2B5EF4-FFF2-40B4-BE49-F238E27FC236}">
                    <a16:creationId xmlns:a16="http://schemas.microsoft.com/office/drawing/2014/main" id="{B91EE5C5-A070-484B-BF2D-7773D2ECD42F}"/>
                  </a:ext>
                </a:extLst>
              </p:cNvPr>
              <p:cNvSpPr/>
              <p:nvPr/>
            </p:nvSpPr>
            <p:spPr>
              <a:xfrm>
                <a:off x="7458921" y="4049217"/>
                <a:ext cx="475546" cy="67825"/>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BDA62B09-D8E7-463E-8175-68BFDD4D8609}"/>
                      </a:ext>
                    </a:extLst>
                  </p:cNvPr>
                  <p:cNvSpPr txBox="1"/>
                  <p:nvPr/>
                </p:nvSpPr>
                <p:spPr>
                  <a:xfrm>
                    <a:off x="6922551" y="3431453"/>
                    <a:ext cx="171585" cy="1919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𝑘</m:t>
                                  </m:r>
                                </m:e>
                              </m:acc>
                            </m:e>
                            <m:sub>
                              <m:r>
                                <a:rPr lang="en-US" altLang="zh-TW" sz="1000" b="0" i="1" smtClean="0">
                                  <a:latin typeface="Cambria Math" panose="02040503050406030204" pitchFamily="18" charset="0"/>
                                </a:rPr>
                                <m:t>𝑝</m:t>
                              </m:r>
                            </m:sub>
                          </m:sSub>
                        </m:oMath>
                      </m:oMathPara>
                    </a14:m>
                    <a:endParaRPr lang="zh-TW" altLang="en-US" dirty="0"/>
                  </a:p>
                </p:txBody>
              </p:sp>
            </mc:Choice>
            <mc:Fallback xmlns="">
              <p:sp>
                <p:nvSpPr>
                  <p:cNvPr id="60" name="文字方塊 59">
                    <a:extLst>
                      <a:ext uri="{FF2B5EF4-FFF2-40B4-BE49-F238E27FC236}">
                        <a16:creationId xmlns:a16="http://schemas.microsoft.com/office/drawing/2014/main" id="{BDA62B09-D8E7-463E-8175-68BFDD4D8609}"/>
                      </a:ext>
                    </a:extLst>
                  </p:cNvPr>
                  <p:cNvSpPr txBox="1">
                    <a:spLocks noRot="1" noChangeAspect="1" noMove="1" noResize="1" noEditPoints="1" noAdjustHandles="1" noChangeArrowheads="1" noChangeShapeType="1" noTextEdit="1"/>
                  </p:cNvSpPr>
                  <p:nvPr/>
                </p:nvSpPr>
                <p:spPr>
                  <a:xfrm>
                    <a:off x="6922551" y="3431453"/>
                    <a:ext cx="171585" cy="191976"/>
                  </a:xfrm>
                  <a:prstGeom prst="rect">
                    <a:avLst/>
                  </a:prstGeom>
                  <a:blipFill>
                    <a:blip r:embed="rId12"/>
                    <a:stretch>
                      <a:fillRect l="-17857" r="-3571" b="-161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F9D6CE9D-BB9B-48C5-9DAD-498628EFBA86}"/>
                      </a:ext>
                    </a:extLst>
                  </p:cNvPr>
                  <p:cNvSpPr txBox="1"/>
                  <p:nvPr/>
                </p:nvSpPr>
                <p:spPr>
                  <a:xfrm>
                    <a:off x="6350298" y="3838753"/>
                    <a:ext cx="157927" cy="176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𝑘</m:t>
                                  </m:r>
                                </m:e>
                              </m:acc>
                            </m:e>
                            <m:sub>
                              <m:r>
                                <a:rPr lang="en-US" altLang="zh-TW" sz="1000" b="0" i="1" smtClean="0">
                                  <a:latin typeface="Cambria Math" panose="02040503050406030204" pitchFamily="18" charset="0"/>
                                </a:rPr>
                                <m:t>𝑠</m:t>
                              </m:r>
                            </m:sub>
                          </m:sSub>
                        </m:oMath>
                      </m:oMathPara>
                    </a14:m>
                    <a:endParaRPr lang="zh-TW" altLang="en-US" dirty="0"/>
                  </a:p>
                </p:txBody>
              </p:sp>
            </mc:Choice>
            <mc:Fallback xmlns="">
              <p:sp>
                <p:nvSpPr>
                  <p:cNvPr id="63" name="文字方塊 62">
                    <a:extLst>
                      <a:ext uri="{FF2B5EF4-FFF2-40B4-BE49-F238E27FC236}">
                        <a16:creationId xmlns:a16="http://schemas.microsoft.com/office/drawing/2014/main" id="{F9D6CE9D-BB9B-48C5-9DAD-498628EFBA86}"/>
                      </a:ext>
                    </a:extLst>
                  </p:cNvPr>
                  <p:cNvSpPr txBox="1">
                    <a:spLocks noRot="1" noChangeAspect="1" noMove="1" noResize="1" noEditPoints="1" noAdjustHandles="1" noChangeArrowheads="1" noChangeShapeType="1" noTextEdit="1"/>
                  </p:cNvSpPr>
                  <p:nvPr/>
                </p:nvSpPr>
                <p:spPr>
                  <a:xfrm>
                    <a:off x="6350298" y="3838753"/>
                    <a:ext cx="157927" cy="176587"/>
                  </a:xfrm>
                  <a:prstGeom prst="rect">
                    <a:avLst/>
                  </a:prstGeom>
                  <a:blipFill>
                    <a:blip r:embed="rId13"/>
                    <a:stretch>
                      <a:fillRect l="-19231" b="-103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BA95E811-B220-4F7D-BDDD-7133999E85F1}"/>
                      </a:ext>
                    </a:extLst>
                  </p:cNvPr>
                  <p:cNvSpPr txBox="1"/>
                  <p:nvPr/>
                </p:nvSpPr>
                <p:spPr>
                  <a:xfrm>
                    <a:off x="7043900" y="3838752"/>
                    <a:ext cx="146386" cy="176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𝑘</m:t>
                                  </m:r>
                                </m:e>
                              </m:acc>
                            </m:e>
                            <m:sub>
                              <m:r>
                                <a:rPr lang="en-US" altLang="zh-TW" sz="1000" b="0" i="1" smtClean="0">
                                  <a:latin typeface="Cambria Math" panose="02040503050406030204" pitchFamily="18" charset="0"/>
                                </a:rPr>
                                <m:t>𝑖</m:t>
                              </m:r>
                            </m:sub>
                          </m:sSub>
                        </m:oMath>
                      </m:oMathPara>
                    </a14:m>
                    <a:endParaRPr lang="zh-TW" altLang="en-US" dirty="0"/>
                  </a:p>
                </p:txBody>
              </p:sp>
            </mc:Choice>
            <mc:Fallback xmlns="">
              <p:sp>
                <p:nvSpPr>
                  <p:cNvPr id="64" name="文字方塊 63">
                    <a:extLst>
                      <a:ext uri="{FF2B5EF4-FFF2-40B4-BE49-F238E27FC236}">
                        <a16:creationId xmlns:a16="http://schemas.microsoft.com/office/drawing/2014/main" id="{BA95E811-B220-4F7D-BDDD-7133999E85F1}"/>
                      </a:ext>
                    </a:extLst>
                  </p:cNvPr>
                  <p:cNvSpPr txBox="1">
                    <a:spLocks noRot="1" noChangeAspect="1" noMove="1" noResize="1" noEditPoints="1" noAdjustHandles="1" noChangeArrowheads="1" noChangeShapeType="1" noTextEdit="1"/>
                  </p:cNvSpPr>
                  <p:nvPr/>
                </p:nvSpPr>
                <p:spPr>
                  <a:xfrm>
                    <a:off x="7043900" y="3838752"/>
                    <a:ext cx="146386" cy="176587"/>
                  </a:xfrm>
                  <a:prstGeom prst="rect">
                    <a:avLst/>
                  </a:prstGeom>
                  <a:blipFill>
                    <a:blip r:embed="rId14"/>
                    <a:stretch>
                      <a:fillRect l="-20833" r="-4167" b="-1379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EAF37CFE-75D5-4FB2-AD8A-63514CB9D88A}"/>
                      </a:ext>
                    </a:extLst>
                  </p:cNvPr>
                  <p:cNvSpPr txBox="1"/>
                  <p:nvPr/>
                </p:nvSpPr>
                <p:spPr>
                  <a:xfrm>
                    <a:off x="7604373" y="3838751"/>
                    <a:ext cx="175241" cy="176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𝑘</m:t>
                                  </m:r>
                                </m:e>
                              </m:acc>
                            </m:e>
                            <m:sub>
                              <m:r>
                                <m:rPr>
                                  <m:sty m:val="p"/>
                                </m:rPr>
                                <a:rPr lang="el-GR" altLang="zh-TW" sz="1000" i="1" smtClean="0">
                                  <a:latin typeface="Cambria Math" panose="02040503050406030204" pitchFamily="18" charset="0"/>
                                  <a:ea typeface="Cambria Math" panose="02040503050406030204" pitchFamily="18" charset="0"/>
                                </a:rPr>
                                <m:t>Λ</m:t>
                              </m:r>
                            </m:sub>
                          </m:sSub>
                        </m:oMath>
                      </m:oMathPara>
                    </a14:m>
                    <a:endParaRPr lang="zh-TW" altLang="en-US" sz="1000" dirty="0"/>
                  </a:p>
                </p:txBody>
              </p:sp>
            </mc:Choice>
            <mc:Fallback xmlns="">
              <p:sp>
                <p:nvSpPr>
                  <p:cNvPr id="65" name="文字方塊 64">
                    <a:extLst>
                      <a:ext uri="{FF2B5EF4-FFF2-40B4-BE49-F238E27FC236}">
                        <a16:creationId xmlns:a16="http://schemas.microsoft.com/office/drawing/2014/main" id="{EAF37CFE-75D5-4FB2-AD8A-63514CB9D88A}"/>
                      </a:ext>
                    </a:extLst>
                  </p:cNvPr>
                  <p:cNvSpPr txBox="1">
                    <a:spLocks noRot="1" noChangeAspect="1" noMove="1" noResize="1" noEditPoints="1" noAdjustHandles="1" noChangeArrowheads="1" noChangeShapeType="1" noTextEdit="1"/>
                  </p:cNvSpPr>
                  <p:nvPr/>
                </p:nvSpPr>
                <p:spPr>
                  <a:xfrm>
                    <a:off x="7604373" y="3838751"/>
                    <a:ext cx="175241" cy="176587"/>
                  </a:xfrm>
                  <a:prstGeom prst="rect">
                    <a:avLst/>
                  </a:prstGeom>
                  <a:blipFill>
                    <a:blip r:embed="rId15"/>
                    <a:stretch>
                      <a:fillRect l="-17857" r="-7143" b="-13793"/>
                    </a:stretch>
                  </a:blipFill>
                </p:spPr>
                <p:txBody>
                  <a:bodyPr/>
                  <a:lstStyle/>
                  <a:p>
                    <a:r>
                      <a:rPr lang="zh-TW" altLang="en-US">
                        <a:noFill/>
                      </a:rPr>
                      <a:t> </a:t>
                    </a:r>
                  </a:p>
                </p:txBody>
              </p:sp>
            </mc:Fallback>
          </mc:AlternateContent>
        </p:grpSp>
      </p:grpSp>
      <p:sp>
        <p:nvSpPr>
          <p:cNvPr id="72" name="文字方塊 71">
            <a:extLst>
              <a:ext uri="{FF2B5EF4-FFF2-40B4-BE49-F238E27FC236}">
                <a16:creationId xmlns:a16="http://schemas.microsoft.com/office/drawing/2014/main" id="{903DDA58-A9C8-49BC-B7F9-0989C7E1E6A7}"/>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22</a:t>
            </a:r>
            <a:endParaRPr lang="zh-TW" altLang="en-US" sz="1100" dirty="0">
              <a:latin typeface="Montserrat" panose="02020500000000000000" charset="0"/>
            </a:endParaRPr>
          </a:p>
        </p:txBody>
      </p:sp>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03F593D2-AF4F-4F86-A25C-1597636F94EE}"/>
                  </a:ext>
                </a:extLst>
              </p:cNvPr>
              <p:cNvSpPr txBox="1"/>
              <p:nvPr/>
            </p:nvSpPr>
            <p:spPr>
              <a:xfrm>
                <a:off x="2743108" y="4117043"/>
                <a:ext cx="476412"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zh-TW" altLang="en-US" sz="1000" i="1" smtClean="0">
                              <a:latin typeface="Cambria Math" panose="02040503050406030204" pitchFamily="18" charset="0"/>
                            </a:rPr>
                            <m:t>𝜔</m:t>
                          </m:r>
                        </m:e>
                        <m:sub>
                          <m:r>
                            <a:rPr lang="en-US" altLang="zh-TW" sz="1000" b="0" i="1" smtClean="0">
                              <a:latin typeface="Cambria Math" panose="02040503050406030204" pitchFamily="18" charset="0"/>
                            </a:rPr>
                            <m:t>𝑠</m:t>
                          </m:r>
                        </m:sub>
                      </m:sSub>
                      <m:r>
                        <a:rPr lang="en-US" altLang="zh-TW" sz="1000" i="1">
                          <a:latin typeface="Cambria Math" panose="02040503050406030204" pitchFamily="18" charset="0"/>
                        </a:rPr>
                        <m:t>=</m:t>
                      </m:r>
                      <m:sSub>
                        <m:sSubPr>
                          <m:ctrlPr>
                            <a:rPr lang="en-US" altLang="zh-TW" sz="1000" i="1">
                              <a:latin typeface="Cambria Math" panose="02040503050406030204" pitchFamily="18" charset="0"/>
                            </a:rPr>
                          </m:ctrlPr>
                        </m:sSubPr>
                        <m:e>
                          <m:r>
                            <a:rPr lang="zh-TW" altLang="en-US" sz="1000" i="1">
                              <a:latin typeface="Cambria Math" panose="02040503050406030204" pitchFamily="18" charset="0"/>
                            </a:rPr>
                            <m:t>𝜔</m:t>
                          </m:r>
                        </m:e>
                        <m:sub>
                          <m:r>
                            <a:rPr lang="en-US" altLang="zh-TW" sz="1000" i="1">
                              <a:latin typeface="Cambria Math" panose="02040503050406030204" pitchFamily="18" charset="0"/>
                            </a:rPr>
                            <m:t>𝑖</m:t>
                          </m:r>
                        </m:sub>
                      </m:sSub>
                    </m:oMath>
                  </m:oMathPara>
                </a14:m>
                <a:endParaRPr lang="zh-TW" altLang="en-US" sz="1000" dirty="0"/>
              </a:p>
            </p:txBody>
          </p:sp>
        </mc:Choice>
        <mc:Fallback xmlns="">
          <p:sp>
            <p:nvSpPr>
              <p:cNvPr id="73" name="文字方塊 72">
                <a:extLst>
                  <a:ext uri="{FF2B5EF4-FFF2-40B4-BE49-F238E27FC236}">
                    <a16:creationId xmlns:a16="http://schemas.microsoft.com/office/drawing/2014/main" id="{03F593D2-AF4F-4F86-A25C-1597636F94EE}"/>
                  </a:ext>
                </a:extLst>
              </p:cNvPr>
              <p:cNvSpPr txBox="1">
                <a:spLocks noRot="1" noChangeAspect="1" noMove="1" noResize="1" noEditPoints="1" noAdjustHandles="1" noChangeArrowheads="1" noChangeShapeType="1" noTextEdit="1"/>
              </p:cNvSpPr>
              <p:nvPr/>
            </p:nvSpPr>
            <p:spPr>
              <a:xfrm>
                <a:off x="2743108" y="4117043"/>
                <a:ext cx="476412" cy="153888"/>
              </a:xfrm>
              <a:prstGeom prst="rect">
                <a:avLst/>
              </a:prstGeom>
              <a:blipFill>
                <a:blip r:embed="rId16"/>
                <a:stretch>
                  <a:fillRect l="-3846" b="-1538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37109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Quasi-phase-matching(QPM)</a:t>
            </a:r>
          </a:p>
        </p:txBody>
      </p:sp>
      <p:grpSp>
        <p:nvGrpSpPr>
          <p:cNvPr id="4" name="群組 3">
            <a:extLst>
              <a:ext uri="{FF2B5EF4-FFF2-40B4-BE49-F238E27FC236}">
                <a16:creationId xmlns:a16="http://schemas.microsoft.com/office/drawing/2014/main" id="{B7CD19D8-7425-4202-99F0-AFD44E702351}"/>
              </a:ext>
            </a:extLst>
          </p:cNvPr>
          <p:cNvGrpSpPr/>
          <p:nvPr/>
        </p:nvGrpSpPr>
        <p:grpSpPr>
          <a:xfrm>
            <a:off x="192683" y="-911"/>
            <a:ext cx="8761417" cy="295831"/>
            <a:chOff x="192683" y="-911"/>
            <a:chExt cx="8761417" cy="295831"/>
          </a:xfrm>
        </p:grpSpPr>
        <p:sp>
          <p:nvSpPr>
            <p:cNvPr id="5" name="矩形 4">
              <a:extLst>
                <a:ext uri="{FF2B5EF4-FFF2-40B4-BE49-F238E27FC236}">
                  <a16:creationId xmlns:a16="http://schemas.microsoft.com/office/drawing/2014/main" id="{5C07FEEE-0D74-4527-AA6D-A554EA10FC38}"/>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9CF05C3E-F09F-4E1A-A1C4-05321C3D7476}"/>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B9602CD-754D-4CBA-835E-CC6165358A43}"/>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8CB7BB94-9F77-40B8-94D6-7CCB0B4F5890}"/>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737CD94-072B-4938-8E96-CA4DBA7595E2}"/>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AA7880E3-8AF4-4A4C-B935-9D1B6B07223A}"/>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66" name="群組 65">
            <a:extLst>
              <a:ext uri="{FF2B5EF4-FFF2-40B4-BE49-F238E27FC236}">
                <a16:creationId xmlns:a16="http://schemas.microsoft.com/office/drawing/2014/main" id="{CF0DCA19-CCB2-41D0-9BAE-A500AAA54821}"/>
              </a:ext>
            </a:extLst>
          </p:cNvPr>
          <p:cNvGrpSpPr/>
          <p:nvPr/>
        </p:nvGrpSpPr>
        <p:grpSpPr>
          <a:xfrm>
            <a:off x="5204350" y="1436370"/>
            <a:ext cx="2968122" cy="2425887"/>
            <a:chOff x="5204350" y="1436370"/>
            <a:chExt cx="2968122" cy="2425887"/>
          </a:xfrm>
        </p:grpSpPr>
        <p:pic>
          <p:nvPicPr>
            <p:cNvPr id="12" name="圖片 11">
              <a:extLst>
                <a:ext uri="{FF2B5EF4-FFF2-40B4-BE49-F238E27FC236}">
                  <a16:creationId xmlns:a16="http://schemas.microsoft.com/office/drawing/2014/main" id="{1593AB43-C9E7-4A7F-A792-4BF3AC2B866E}"/>
                </a:ext>
              </a:extLst>
            </p:cNvPr>
            <p:cNvPicPr/>
            <p:nvPr/>
          </p:nvPicPr>
          <p:blipFill rotWithShape="1">
            <a:blip r:embed="rId3"/>
            <a:srcRect b="10472"/>
            <a:stretch/>
          </p:blipFill>
          <p:spPr>
            <a:xfrm>
              <a:off x="5464140" y="1436370"/>
              <a:ext cx="2199005" cy="2032971"/>
            </a:xfrm>
            <a:prstGeom prst="rect">
              <a:avLst/>
            </a:prstGeom>
          </p:spPr>
        </p:pic>
        <p:grpSp>
          <p:nvGrpSpPr>
            <p:cNvPr id="29" name="群組 28">
              <a:extLst>
                <a:ext uri="{FF2B5EF4-FFF2-40B4-BE49-F238E27FC236}">
                  <a16:creationId xmlns:a16="http://schemas.microsoft.com/office/drawing/2014/main" id="{A24FB913-4243-4756-AFCE-51D906ED9C09}"/>
                </a:ext>
              </a:extLst>
            </p:cNvPr>
            <p:cNvGrpSpPr/>
            <p:nvPr/>
          </p:nvGrpSpPr>
          <p:grpSpPr>
            <a:xfrm>
              <a:off x="5204350" y="3566929"/>
              <a:ext cx="2968122" cy="295328"/>
              <a:chOff x="5645939" y="3623167"/>
              <a:chExt cx="2968122" cy="295328"/>
            </a:xfrm>
          </p:grpSpPr>
          <p:sp>
            <p:nvSpPr>
              <p:cNvPr id="28" name="矩形 27">
                <a:extLst>
                  <a:ext uri="{FF2B5EF4-FFF2-40B4-BE49-F238E27FC236}">
                    <a16:creationId xmlns:a16="http://schemas.microsoft.com/office/drawing/2014/main" id="{DD3CD78B-0077-4CBF-8369-D9AF8EA5F2BF}"/>
                  </a:ext>
                </a:extLst>
              </p:cNvPr>
              <p:cNvSpPr/>
              <p:nvPr/>
            </p:nvSpPr>
            <p:spPr>
              <a:xfrm>
                <a:off x="7725791" y="3703407"/>
                <a:ext cx="888270" cy="14593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Oxide plane</a:t>
                </a:r>
                <a:endParaRPr lang="zh-TW" altLang="en-US" sz="900" dirty="0">
                  <a:solidFill>
                    <a:schemeClr val="tx1"/>
                  </a:solidFill>
                  <a:latin typeface="Montserrat" panose="02020500000000000000" charset="0"/>
                </a:endParaRPr>
              </a:p>
            </p:txBody>
          </p:sp>
          <p:sp>
            <p:nvSpPr>
              <p:cNvPr id="24" name="矩形 23">
                <a:extLst>
                  <a:ext uri="{FF2B5EF4-FFF2-40B4-BE49-F238E27FC236}">
                    <a16:creationId xmlns:a16="http://schemas.microsoft.com/office/drawing/2014/main" id="{322C23A0-61AB-40E2-9C93-10CF257E896E}"/>
                  </a:ext>
                </a:extLst>
              </p:cNvPr>
              <p:cNvSpPr/>
              <p:nvPr/>
            </p:nvSpPr>
            <p:spPr>
              <a:xfrm>
                <a:off x="5823758" y="3692324"/>
                <a:ext cx="635017" cy="1570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Lithium</a:t>
                </a:r>
                <a:endParaRPr lang="zh-TW" altLang="en-US" sz="900" dirty="0">
                  <a:solidFill>
                    <a:schemeClr val="tx1"/>
                  </a:solidFill>
                  <a:latin typeface="Montserrat" panose="02020500000000000000" charset="0"/>
                </a:endParaRPr>
              </a:p>
            </p:txBody>
          </p:sp>
          <p:sp>
            <p:nvSpPr>
              <p:cNvPr id="25" name="矩形 24">
                <a:extLst>
                  <a:ext uri="{FF2B5EF4-FFF2-40B4-BE49-F238E27FC236}">
                    <a16:creationId xmlns:a16="http://schemas.microsoft.com/office/drawing/2014/main" id="{8C10DC07-3D04-481D-92C8-C8133F2853AB}"/>
                  </a:ext>
                </a:extLst>
              </p:cNvPr>
              <p:cNvSpPr/>
              <p:nvPr/>
            </p:nvSpPr>
            <p:spPr>
              <a:xfrm>
                <a:off x="6601132" y="3692324"/>
                <a:ext cx="720030" cy="1570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err="1">
                    <a:solidFill>
                      <a:schemeClr val="tx1"/>
                    </a:solidFill>
                    <a:latin typeface="Montserrat" panose="02020500000000000000" charset="0"/>
                  </a:rPr>
                  <a:t>Niobate</a:t>
                </a:r>
                <a:endParaRPr lang="zh-TW" altLang="en-US" sz="900" dirty="0">
                  <a:solidFill>
                    <a:schemeClr val="tx1"/>
                  </a:solidFill>
                  <a:latin typeface="Montserrat" panose="02020500000000000000" charset="0"/>
                </a:endParaRPr>
              </a:p>
            </p:txBody>
          </p:sp>
          <p:pic>
            <p:nvPicPr>
              <p:cNvPr id="21" name="圖片 20">
                <a:extLst>
                  <a:ext uri="{FF2B5EF4-FFF2-40B4-BE49-F238E27FC236}">
                    <a16:creationId xmlns:a16="http://schemas.microsoft.com/office/drawing/2014/main" id="{9C58686B-8912-4A5F-8D2D-391895249377}"/>
                  </a:ext>
                </a:extLst>
              </p:cNvPr>
              <p:cNvPicPr>
                <a:picLocks noChangeAspect="1"/>
              </p:cNvPicPr>
              <p:nvPr/>
            </p:nvPicPr>
            <p:blipFill rotWithShape="1">
              <a:blip r:embed="rId4"/>
              <a:srcRect r="90008" b="4099"/>
              <a:stretch/>
            </p:blipFill>
            <p:spPr>
              <a:xfrm>
                <a:off x="5645939" y="3623167"/>
                <a:ext cx="237413" cy="269757"/>
              </a:xfrm>
              <a:prstGeom prst="rect">
                <a:avLst/>
              </a:prstGeom>
            </p:spPr>
          </p:pic>
          <p:pic>
            <p:nvPicPr>
              <p:cNvPr id="22" name="圖片 21">
                <a:extLst>
                  <a:ext uri="{FF2B5EF4-FFF2-40B4-BE49-F238E27FC236}">
                    <a16:creationId xmlns:a16="http://schemas.microsoft.com/office/drawing/2014/main" id="{60FF67A1-4BA8-4835-B0F2-22722853C9D6}"/>
                  </a:ext>
                </a:extLst>
              </p:cNvPr>
              <p:cNvPicPr>
                <a:picLocks noChangeAspect="1"/>
              </p:cNvPicPr>
              <p:nvPr/>
            </p:nvPicPr>
            <p:blipFill rotWithShape="1">
              <a:blip r:embed="rId4"/>
              <a:srcRect l="28292" t="1" r="61313" b="-13450"/>
              <a:stretch/>
            </p:blipFill>
            <p:spPr>
              <a:xfrm>
                <a:off x="6449342" y="3623167"/>
                <a:ext cx="228600" cy="295328"/>
              </a:xfrm>
              <a:prstGeom prst="rect">
                <a:avLst/>
              </a:prstGeom>
            </p:spPr>
          </p:pic>
          <p:cxnSp>
            <p:nvCxnSpPr>
              <p:cNvPr id="27" name="直線接點 26">
                <a:extLst>
                  <a:ext uri="{FF2B5EF4-FFF2-40B4-BE49-F238E27FC236}">
                    <a16:creationId xmlns:a16="http://schemas.microsoft.com/office/drawing/2014/main" id="{CBDA76F2-8AC0-49C2-A739-D9D3F0B0E1D6}"/>
                  </a:ext>
                </a:extLst>
              </p:cNvPr>
              <p:cNvCxnSpPr/>
              <p:nvPr/>
            </p:nvCxnSpPr>
            <p:spPr>
              <a:xfrm>
                <a:off x="7334905" y="3776372"/>
                <a:ext cx="44132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7" name="群組 66">
            <a:extLst>
              <a:ext uri="{FF2B5EF4-FFF2-40B4-BE49-F238E27FC236}">
                <a16:creationId xmlns:a16="http://schemas.microsoft.com/office/drawing/2014/main" id="{048B16E6-5216-4AA6-8774-C40773DCF89C}"/>
              </a:ext>
            </a:extLst>
          </p:cNvPr>
          <p:cNvGrpSpPr/>
          <p:nvPr/>
        </p:nvGrpSpPr>
        <p:grpSpPr>
          <a:xfrm>
            <a:off x="1514057" y="1631342"/>
            <a:ext cx="2917816" cy="684691"/>
            <a:chOff x="1535787" y="1031210"/>
            <a:chExt cx="2917816" cy="684691"/>
          </a:xfrm>
        </p:grpSpPr>
        <p:grpSp>
          <p:nvGrpSpPr>
            <p:cNvPr id="53" name="群組 52">
              <a:extLst>
                <a:ext uri="{FF2B5EF4-FFF2-40B4-BE49-F238E27FC236}">
                  <a16:creationId xmlns:a16="http://schemas.microsoft.com/office/drawing/2014/main" id="{1D38FF6B-C5BC-455A-8B90-617F70A86777}"/>
                </a:ext>
              </a:extLst>
            </p:cNvPr>
            <p:cNvGrpSpPr/>
            <p:nvPr/>
          </p:nvGrpSpPr>
          <p:grpSpPr>
            <a:xfrm>
              <a:off x="1535787" y="1339383"/>
              <a:ext cx="2917816" cy="376518"/>
              <a:chOff x="1340456" y="1243853"/>
              <a:chExt cx="2917816" cy="376518"/>
            </a:xfrm>
          </p:grpSpPr>
          <p:grpSp>
            <p:nvGrpSpPr>
              <p:cNvPr id="45" name="群組 44">
                <a:extLst>
                  <a:ext uri="{FF2B5EF4-FFF2-40B4-BE49-F238E27FC236}">
                    <a16:creationId xmlns:a16="http://schemas.microsoft.com/office/drawing/2014/main" id="{D450A891-41D9-4AFB-98DE-077D2519C12D}"/>
                  </a:ext>
                </a:extLst>
              </p:cNvPr>
              <p:cNvGrpSpPr/>
              <p:nvPr/>
            </p:nvGrpSpPr>
            <p:grpSpPr>
              <a:xfrm>
                <a:off x="1340456" y="1243853"/>
                <a:ext cx="1458908" cy="376518"/>
                <a:chOff x="1340456" y="1243853"/>
                <a:chExt cx="1458908" cy="376518"/>
              </a:xfrm>
            </p:grpSpPr>
            <p:grpSp>
              <p:nvGrpSpPr>
                <p:cNvPr id="41" name="群組 40">
                  <a:extLst>
                    <a:ext uri="{FF2B5EF4-FFF2-40B4-BE49-F238E27FC236}">
                      <a16:creationId xmlns:a16="http://schemas.microsoft.com/office/drawing/2014/main" id="{692E711C-9092-46A4-A8DB-67CC6D3D9EA4}"/>
                    </a:ext>
                  </a:extLst>
                </p:cNvPr>
                <p:cNvGrpSpPr/>
                <p:nvPr/>
              </p:nvGrpSpPr>
              <p:grpSpPr>
                <a:xfrm>
                  <a:off x="1340456" y="1243853"/>
                  <a:ext cx="729454" cy="376518"/>
                  <a:chOff x="1340456" y="1243853"/>
                  <a:chExt cx="729454" cy="376518"/>
                </a:xfrm>
              </p:grpSpPr>
              <p:sp>
                <p:nvSpPr>
                  <p:cNvPr id="39" name="矩形 38">
                    <a:extLst>
                      <a:ext uri="{FF2B5EF4-FFF2-40B4-BE49-F238E27FC236}">
                        <a16:creationId xmlns:a16="http://schemas.microsoft.com/office/drawing/2014/main" id="{778F074F-5926-4DA5-9F8E-990D22B25615}"/>
                      </a:ext>
                    </a:extLst>
                  </p:cNvPr>
                  <p:cNvSpPr/>
                  <p:nvPr/>
                </p:nvSpPr>
                <p:spPr>
                  <a:xfrm>
                    <a:off x="1340456" y="1243853"/>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0" name="矩形 39">
                    <a:extLst>
                      <a:ext uri="{FF2B5EF4-FFF2-40B4-BE49-F238E27FC236}">
                        <a16:creationId xmlns:a16="http://schemas.microsoft.com/office/drawing/2014/main" id="{B765094D-F00B-4A49-AC20-D4FC6E81D50E}"/>
                      </a:ext>
                    </a:extLst>
                  </p:cNvPr>
                  <p:cNvSpPr/>
                  <p:nvPr/>
                </p:nvSpPr>
                <p:spPr>
                  <a:xfrm>
                    <a:off x="1702590" y="124385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42" name="群組 41">
                  <a:extLst>
                    <a:ext uri="{FF2B5EF4-FFF2-40B4-BE49-F238E27FC236}">
                      <a16:creationId xmlns:a16="http://schemas.microsoft.com/office/drawing/2014/main" id="{9ABDCC82-A111-4749-B4C8-E9A49F4CCA37}"/>
                    </a:ext>
                  </a:extLst>
                </p:cNvPr>
                <p:cNvGrpSpPr/>
                <p:nvPr/>
              </p:nvGrpSpPr>
              <p:grpSpPr>
                <a:xfrm>
                  <a:off x="2069910" y="1243853"/>
                  <a:ext cx="729454" cy="376518"/>
                  <a:chOff x="1340456" y="1243853"/>
                  <a:chExt cx="729454" cy="376518"/>
                </a:xfrm>
              </p:grpSpPr>
              <p:sp>
                <p:nvSpPr>
                  <p:cNvPr id="43" name="矩形 42">
                    <a:extLst>
                      <a:ext uri="{FF2B5EF4-FFF2-40B4-BE49-F238E27FC236}">
                        <a16:creationId xmlns:a16="http://schemas.microsoft.com/office/drawing/2014/main" id="{574239CB-B96F-41A5-B157-1F08BF83FB71}"/>
                      </a:ext>
                    </a:extLst>
                  </p:cNvPr>
                  <p:cNvSpPr/>
                  <p:nvPr/>
                </p:nvSpPr>
                <p:spPr>
                  <a:xfrm>
                    <a:off x="1340456" y="1243853"/>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CB9BBD83-5CB5-4480-A080-736394F49BFC}"/>
                      </a:ext>
                    </a:extLst>
                  </p:cNvPr>
                  <p:cNvSpPr/>
                  <p:nvPr/>
                </p:nvSpPr>
                <p:spPr>
                  <a:xfrm>
                    <a:off x="1702590" y="124385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46" name="群組 45">
                <a:extLst>
                  <a:ext uri="{FF2B5EF4-FFF2-40B4-BE49-F238E27FC236}">
                    <a16:creationId xmlns:a16="http://schemas.microsoft.com/office/drawing/2014/main" id="{1A31DDE6-4A39-4144-9136-896AFD020A09}"/>
                  </a:ext>
                </a:extLst>
              </p:cNvPr>
              <p:cNvGrpSpPr/>
              <p:nvPr/>
            </p:nvGrpSpPr>
            <p:grpSpPr>
              <a:xfrm>
                <a:off x="2799364" y="1243853"/>
                <a:ext cx="1458908" cy="376518"/>
                <a:chOff x="1340456" y="1243853"/>
                <a:chExt cx="1458908" cy="376518"/>
              </a:xfrm>
            </p:grpSpPr>
            <p:grpSp>
              <p:nvGrpSpPr>
                <p:cNvPr id="47" name="群組 46">
                  <a:extLst>
                    <a:ext uri="{FF2B5EF4-FFF2-40B4-BE49-F238E27FC236}">
                      <a16:creationId xmlns:a16="http://schemas.microsoft.com/office/drawing/2014/main" id="{11A02D40-1B9C-4953-8F85-EF32E8A29EF7}"/>
                    </a:ext>
                  </a:extLst>
                </p:cNvPr>
                <p:cNvGrpSpPr/>
                <p:nvPr/>
              </p:nvGrpSpPr>
              <p:grpSpPr>
                <a:xfrm>
                  <a:off x="1340456" y="1243853"/>
                  <a:ext cx="729454" cy="376518"/>
                  <a:chOff x="1340456" y="1243853"/>
                  <a:chExt cx="729454" cy="376518"/>
                </a:xfrm>
              </p:grpSpPr>
              <p:sp>
                <p:nvSpPr>
                  <p:cNvPr id="51" name="矩形 50">
                    <a:extLst>
                      <a:ext uri="{FF2B5EF4-FFF2-40B4-BE49-F238E27FC236}">
                        <a16:creationId xmlns:a16="http://schemas.microsoft.com/office/drawing/2014/main" id="{00E5179C-84E1-4AC0-BA66-AFD7688EB35C}"/>
                      </a:ext>
                    </a:extLst>
                  </p:cNvPr>
                  <p:cNvSpPr/>
                  <p:nvPr/>
                </p:nvSpPr>
                <p:spPr>
                  <a:xfrm>
                    <a:off x="1340456" y="1243853"/>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420C1963-93EE-45D9-9587-3DE8D6898B09}"/>
                      </a:ext>
                    </a:extLst>
                  </p:cNvPr>
                  <p:cNvSpPr/>
                  <p:nvPr/>
                </p:nvSpPr>
                <p:spPr>
                  <a:xfrm>
                    <a:off x="1702590" y="124385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8" name="群組 47">
                  <a:extLst>
                    <a:ext uri="{FF2B5EF4-FFF2-40B4-BE49-F238E27FC236}">
                      <a16:creationId xmlns:a16="http://schemas.microsoft.com/office/drawing/2014/main" id="{80BA95C2-1728-41F6-B56E-6FBB575A689E}"/>
                    </a:ext>
                  </a:extLst>
                </p:cNvPr>
                <p:cNvGrpSpPr/>
                <p:nvPr/>
              </p:nvGrpSpPr>
              <p:grpSpPr>
                <a:xfrm>
                  <a:off x="2069910" y="1243853"/>
                  <a:ext cx="729454" cy="376518"/>
                  <a:chOff x="1340456" y="1243853"/>
                  <a:chExt cx="729454" cy="376518"/>
                </a:xfrm>
              </p:grpSpPr>
              <p:sp>
                <p:nvSpPr>
                  <p:cNvPr id="49" name="矩形 48">
                    <a:extLst>
                      <a:ext uri="{FF2B5EF4-FFF2-40B4-BE49-F238E27FC236}">
                        <a16:creationId xmlns:a16="http://schemas.microsoft.com/office/drawing/2014/main" id="{8D09B0D3-70BB-4C65-9656-BEAF7D932DFE}"/>
                      </a:ext>
                    </a:extLst>
                  </p:cNvPr>
                  <p:cNvSpPr/>
                  <p:nvPr/>
                </p:nvSpPr>
                <p:spPr>
                  <a:xfrm>
                    <a:off x="1340456" y="1243853"/>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621DDE6A-CDB3-485A-99C2-BE5340F7B56E}"/>
                      </a:ext>
                    </a:extLst>
                  </p:cNvPr>
                  <p:cNvSpPr/>
                  <p:nvPr/>
                </p:nvSpPr>
                <p:spPr>
                  <a:xfrm>
                    <a:off x="1702590" y="124385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sp>
          <p:nvSpPr>
            <p:cNvPr id="54" name="箭號: 向下 53">
              <a:extLst>
                <a:ext uri="{FF2B5EF4-FFF2-40B4-BE49-F238E27FC236}">
                  <a16:creationId xmlns:a16="http://schemas.microsoft.com/office/drawing/2014/main" id="{2CE42B91-FE22-4768-B77D-94ECD62204BA}"/>
                </a:ext>
              </a:extLst>
            </p:cNvPr>
            <p:cNvSpPr/>
            <p:nvPr/>
          </p:nvSpPr>
          <p:spPr>
            <a:xfrm>
              <a:off x="1658083" y="1423989"/>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箭號: 向下 54">
              <a:extLst>
                <a:ext uri="{FF2B5EF4-FFF2-40B4-BE49-F238E27FC236}">
                  <a16:creationId xmlns:a16="http://schemas.microsoft.com/office/drawing/2014/main" id="{97DC9E23-AD5D-4F3E-A2D0-6E5F56155F2D}"/>
                </a:ext>
              </a:extLst>
            </p:cNvPr>
            <p:cNvSpPr/>
            <p:nvPr/>
          </p:nvSpPr>
          <p:spPr>
            <a:xfrm>
              <a:off x="2386238" y="1427351"/>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箭號: 向下 55">
              <a:extLst>
                <a:ext uri="{FF2B5EF4-FFF2-40B4-BE49-F238E27FC236}">
                  <a16:creationId xmlns:a16="http://schemas.microsoft.com/office/drawing/2014/main" id="{CAEF0FD1-B26D-490E-B4FF-7EB2B43A9164}"/>
                </a:ext>
              </a:extLst>
            </p:cNvPr>
            <p:cNvSpPr/>
            <p:nvPr/>
          </p:nvSpPr>
          <p:spPr>
            <a:xfrm>
              <a:off x="3123261" y="1423988"/>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箭號: 向下 56">
              <a:extLst>
                <a:ext uri="{FF2B5EF4-FFF2-40B4-BE49-F238E27FC236}">
                  <a16:creationId xmlns:a16="http://schemas.microsoft.com/office/drawing/2014/main" id="{2BD44803-DF61-4F05-8E66-1D5CF90F00F8}"/>
                </a:ext>
              </a:extLst>
            </p:cNvPr>
            <p:cNvSpPr/>
            <p:nvPr/>
          </p:nvSpPr>
          <p:spPr>
            <a:xfrm>
              <a:off x="3842368" y="1431722"/>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8" name="箭號: 向下 57">
              <a:extLst>
                <a:ext uri="{FF2B5EF4-FFF2-40B4-BE49-F238E27FC236}">
                  <a16:creationId xmlns:a16="http://schemas.microsoft.com/office/drawing/2014/main" id="{FDE0B91F-43FA-4046-921B-5F2BAE7916EC}"/>
                </a:ext>
              </a:extLst>
            </p:cNvPr>
            <p:cNvSpPr/>
            <p:nvPr/>
          </p:nvSpPr>
          <p:spPr>
            <a:xfrm rot="10800000">
              <a:off x="4204502" y="1423988"/>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箭號: 向下 58">
              <a:extLst>
                <a:ext uri="{FF2B5EF4-FFF2-40B4-BE49-F238E27FC236}">
                  <a16:creationId xmlns:a16="http://schemas.microsoft.com/office/drawing/2014/main" id="{F14683A1-CD56-493E-BBF4-13FD706EFDCC}"/>
                </a:ext>
              </a:extLst>
            </p:cNvPr>
            <p:cNvSpPr/>
            <p:nvPr/>
          </p:nvSpPr>
          <p:spPr>
            <a:xfrm rot="10800000">
              <a:off x="3480235" y="1423988"/>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箭號: 向下 59">
              <a:extLst>
                <a:ext uri="{FF2B5EF4-FFF2-40B4-BE49-F238E27FC236}">
                  <a16:creationId xmlns:a16="http://schemas.microsoft.com/office/drawing/2014/main" id="{27518A2B-BFA3-4E6B-B7EC-55AAD9369700}"/>
                </a:ext>
              </a:extLst>
            </p:cNvPr>
            <p:cNvSpPr/>
            <p:nvPr/>
          </p:nvSpPr>
          <p:spPr>
            <a:xfrm rot="10800000">
              <a:off x="2759398" y="1431721"/>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箭號: 向下 60">
              <a:extLst>
                <a:ext uri="{FF2B5EF4-FFF2-40B4-BE49-F238E27FC236}">
                  <a16:creationId xmlns:a16="http://schemas.microsoft.com/office/drawing/2014/main" id="{E9E3DD7B-2E9E-42BC-B34D-955071546A18}"/>
                </a:ext>
              </a:extLst>
            </p:cNvPr>
            <p:cNvSpPr/>
            <p:nvPr/>
          </p:nvSpPr>
          <p:spPr>
            <a:xfrm rot="10800000">
              <a:off x="2020217" y="1423989"/>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3" name="直線單箭頭接點 62">
              <a:extLst>
                <a:ext uri="{FF2B5EF4-FFF2-40B4-BE49-F238E27FC236}">
                  <a16:creationId xmlns:a16="http://schemas.microsoft.com/office/drawing/2014/main" id="{F6E69484-F95E-43AC-B9D5-A92174295711}"/>
                </a:ext>
              </a:extLst>
            </p:cNvPr>
            <p:cNvCxnSpPr/>
            <p:nvPr/>
          </p:nvCxnSpPr>
          <p:spPr>
            <a:xfrm>
              <a:off x="1535787" y="1216960"/>
              <a:ext cx="729454" cy="0"/>
            </a:xfrm>
            <a:prstGeom prst="straightConnector1">
              <a:avLst/>
            </a:prstGeom>
            <a:ln>
              <a:solidFill>
                <a:schemeClr val="accent3"/>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EF60FC75-8732-46E9-9DCE-5ADDEFB35052}"/>
                    </a:ext>
                  </a:extLst>
                </p:cNvPr>
                <p:cNvSpPr txBox="1"/>
                <p:nvPr/>
              </p:nvSpPr>
              <p:spPr>
                <a:xfrm>
                  <a:off x="1833530" y="1031210"/>
                  <a:ext cx="112210"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altLang="zh-TW" sz="1000" i="1" smtClean="0">
                            <a:latin typeface="Cambria Math" panose="02040503050406030204" pitchFamily="18" charset="0"/>
                            <a:ea typeface="Cambria Math" panose="02040503050406030204" pitchFamily="18" charset="0"/>
                          </a:rPr>
                          <m:t>Λ</m:t>
                        </m:r>
                      </m:oMath>
                    </m:oMathPara>
                  </a14:m>
                  <a:endParaRPr lang="zh-TW" altLang="en-US" sz="1000" dirty="0"/>
                </a:p>
              </p:txBody>
            </p:sp>
          </mc:Choice>
          <mc:Fallback xmlns="">
            <p:sp>
              <p:nvSpPr>
                <p:cNvPr id="64" name="文字方塊 63">
                  <a:extLst>
                    <a:ext uri="{FF2B5EF4-FFF2-40B4-BE49-F238E27FC236}">
                      <a16:creationId xmlns:a16="http://schemas.microsoft.com/office/drawing/2014/main" id="{EF60FC75-8732-46E9-9DCE-5ADDEFB35052}"/>
                    </a:ext>
                  </a:extLst>
                </p:cNvPr>
                <p:cNvSpPr txBox="1">
                  <a:spLocks noRot="1" noChangeAspect="1" noMove="1" noResize="1" noEditPoints="1" noAdjustHandles="1" noChangeArrowheads="1" noChangeShapeType="1" noTextEdit="1"/>
                </p:cNvSpPr>
                <p:nvPr/>
              </p:nvSpPr>
              <p:spPr>
                <a:xfrm>
                  <a:off x="1833530" y="1031210"/>
                  <a:ext cx="112210" cy="153888"/>
                </a:xfrm>
                <a:prstGeom prst="rect">
                  <a:avLst/>
                </a:prstGeom>
                <a:blipFill>
                  <a:blip r:embed="rId6"/>
                  <a:stretch>
                    <a:fillRect l="-21053" r="-26316" b="-8000"/>
                  </a:stretch>
                </a:blipFill>
              </p:spPr>
              <p:txBody>
                <a:bodyPr/>
                <a:lstStyle/>
                <a:p>
                  <a:r>
                    <a:rPr lang="zh-TW" altLang="en-US">
                      <a:noFill/>
                    </a:rPr>
                    <a:t> </a:t>
                  </a:r>
                </a:p>
              </p:txBody>
            </p:sp>
          </mc:Fallback>
        </mc:AlternateContent>
      </p:grpSp>
      <p:sp>
        <p:nvSpPr>
          <p:cNvPr id="142" name="矩形 141">
            <a:extLst>
              <a:ext uri="{FF2B5EF4-FFF2-40B4-BE49-F238E27FC236}">
                <a16:creationId xmlns:a16="http://schemas.microsoft.com/office/drawing/2014/main" id="{73A964CB-E1C7-4F57-9F31-966A7D71A9B0}"/>
              </a:ext>
            </a:extLst>
          </p:cNvPr>
          <p:cNvSpPr/>
          <p:nvPr/>
        </p:nvSpPr>
        <p:spPr>
          <a:xfrm>
            <a:off x="1514057" y="1101066"/>
            <a:ext cx="2928645"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4" name="箭號: 向下 143">
            <a:extLst>
              <a:ext uri="{FF2B5EF4-FFF2-40B4-BE49-F238E27FC236}">
                <a16:creationId xmlns:a16="http://schemas.microsoft.com/office/drawing/2014/main" id="{A1CBB0F0-E3A8-41D5-B618-8682F9062E11}"/>
              </a:ext>
            </a:extLst>
          </p:cNvPr>
          <p:cNvSpPr/>
          <p:nvPr/>
        </p:nvSpPr>
        <p:spPr>
          <a:xfrm>
            <a:off x="2915815" y="1185671"/>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 name="群組 1">
            <a:extLst>
              <a:ext uri="{FF2B5EF4-FFF2-40B4-BE49-F238E27FC236}">
                <a16:creationId xmlns:a16="http://schemas.microsoft.com/office/drawing/2014/main" id="{CAE3E9A7-3860-4630-A337-91E1464183A8}"/>
              </a:ext>
            </a:extLst>
          </p:cNvPr>
          <p:cNvGrpSpPr/>
          <p:nvPr/>
        </p:nvGrpSpPr>
        <p:grpSpPr>
          <a:xfrm>
            <a:off x="1530042" y="2920605"/>
            <a:ext cx="3535832" cy="1832162"/>
            <a:chOff x="1530042" y="2920605"/>
            <a:chExt cx="3535832" cy="1832162"/>
          </a:xfrm>
        </p:grpSpPr>
        <p:grpSp>
          <p:nvGrpSpPr>
            <p:cNvPr id="65" name="群組 64">
              <a:extLst>
                <a:ext uri="{FF2B5EF4-FFF2-40B4-BE49-F238E27FC236}">
                  <a16:creationId xmlns:a16="http://schemas.microsoft.com/office/drawing/2014/main" id="{95035CFE-96E7-445F-B979-0A6ECD47D223}"/>
                </a:ext>
              </a:extLst>
            </p:cNvPr>
            <p:cNvGrpSpPr/>
            <p:nvPr/>
          </p:nvGrpSpPr>
          <p:grpSpPr>
            <a:xfrm>
              <a:off x="1530042" y="2920605"/>
              <a:ext cx="2593955" cy="1832162"/>
              <a:chOff x="1250576" y="2850571"/>
              <a:chExt cx="2593955" cy="1832162"/>
            </a:xfrm>
          </p:grpSpPr>
          <p:pic>
            <p:nvPicPr>
              <p:cNvPr id="13" name="圖片 12">
                <a:extLst>
                  <a:ext uri="{FF2B5EF4-FFF2-40B4-BE49-F238E27FC236}">
                    <a16:creationId xmlns:a16="http://schemas.microsoft.com/office/drawing/2014/main" id="{2A71F299-3361-424E-BC28-E961B8C183CE}"/>
                  </a:ext>
                </a:extLst>
              </p:cNvPr>
              <p:cNvPicPr/>
              <p:nvPr/>
            </p:nvPicPr>
            <p:blipFill rotWithShape="1">
              <a:blip r:embed="rId7"/>
              <a:srcRect t="-256"/>
              <a:stretch/>
            </p:blipFill>
            <p:spPr>
              <a:xfrm>
                <a:off x="1896838" y="2951424"/>
                <a:ext cx="1947693" cy="1731309"/>
              </a:xfrm>
              <a:prstGeom prst="rect">
                <a:avLst/>
              </a:prstGeom>
            </p:spPr>
          </p:pic>
          <p:sp>
            <p:nvSpPr>
              <p:cNvPr id="17" name="矩形 16">
                <a:extLst>
                  <a:ext uri="{FF2B5EF4-FFF2-40B4-BE49-F238E27FC236}">
                    <a16:creationId xmlns:a16="http://schemas.microsoft.com/office/drawing/2014/main" id="{FAC3A108-E044-40F8-AD9D-20CE850A7ABC}"/>
                  </a:ext>
                </a:extLst>
              </p:cNvPr>
              <p:cNvSpPr/>
              <p:nvPr/>
            </p:nvSpPr>
            <p:spPr>
              <a:xfrm>
                <a:off x="2345874" y="2850571"/>
                <a:ext cx="1297642" cy="20170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Potential energy</a:t>
                </a:r>
                <a:endParaRPr lang="zh-TW" altLang="en-US" sz="900" dirty="0">
                  <a:solidFill>
                    <a:schemeClr val="tx1"/>
                  </a:solidFill>
                  <a:latin typeface="Montserrat" panose="02020500000000000000" charset="0"/>
                </a:endParaRPr>
              </a:p>
            </p:txBody>
          </p:sp>
          <p:sp>
            <p:nvSpPr>
              <p:cNvPr id="19" name="矩形 18">
                <a:extLst>
                  <a:ext uri="{FF2B5EF4-FFF2-40B4-BE49-F238E27FC236}">
                    <a16:creationId xmlns:a16="http://schemas.microsoft.com/office/drawing/2014/main" id="{4594A630-A1A2-4280-A3A8-790FC5113C93}"/>
                  </a:ext>
                </a:extLst>
              </p:cNvPr>
              <p:cNvSpPr/>
              <p:nvPr/>
            </p:nvSpPr>
            <p:spPr>
              <a:xfrm>
                <a:off x="1250576" y="3978444"/>
                <a:ext cx="999565" cy="2073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Coercive Field</a:t>
                </a:r>
                <a:endParaRPr lang="zh-TW" altLang="en-US" sz="900" dirty="0">
                  <a:solidFill>
                    <a:schemeClr val="tx1"/>
                  </a:solidFill>
                  <a:latin typeface="Montserrat" panose="02020500000000000000" charset="0"/>
                </a:endParaRPr>
              </a:p>
            </p:txBody>
          </p:sp>
        </p:grpSp>
        <p:sp>
          <p:nvSpPr>
            <p:cNvPr id="68" name="矩形 67">
              <a:extLst>
                <a:ext uri="{FF2B5EF4-FFF2-40B4-BE49-F238E27FC236}">
                  <a16:creationId xmlns:a16="http://schemas.microsoft.com/office/drawing/2014/main" id="{86EE9134-76D4-4AD8-B492-C61AA1E07365}"/>
                </a:ext>
              </a:extLst>
            </p:cNvPr>
            <p:cNvSpPr/>
            <p:nvPr/>
          </p:nvSpPr>
          <p:spPr>
            <a:xfrm>
              <a:off x="4066309" y="4275188"/>
              <a:ext cx="999565" cy="2073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Steady state</a:t>
              </a:r>
              <a:endParaRPr lang="zh-TW" altLang="en-US" sz="900" dirty="0">
                <a:solidFill>
                  <a:schemeClr val="tx1"/>
                </a:solidFill>
                <a:latin typeface="Montserrat" panose="02020500000000000000" charset="0"/>
              </a:endParaRPr>
            </a:p>
          </p:txBody>
        </p:sp>
      </p:grpSp>
      <p:sp>
        <p:nvSpPr>
          <p:cNvPr id="62" name="文字方塊 61">
            <a:extLst>
              <a:ext uri="{FF2B5EF4-FFF2-40B4-BE49-F238E27FC236}">
                <a16:creationId xmlns:a16="http://schemas.microsoft.com/office/drawing/2014/main" id="{DC1C381A-8612-44D9-A442-54CA8E27FE68}"/>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23</a:t>
            </a:r>
            <a:endParaRPr lang="zh-TW" altLang="en-US" sz="1100" dirty="0">
              <a:latin typeface="Montserrat" panose="02020500000000000000" charset="0"/>
            </a:endParaRPr>
          </a:p>
        </p:txBody>
      </p:sp>
    </p:spTree>
    <p:extLst>
      <p:ext uri="{BB962C8B-B14F-4D97-AF65-F5344CB8AC3E}">
        <p14:creationId xmlns:p14="http://schemas.microsoft.com/office/powerpoint/2010/main" val="3914614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100" name="矩形 99">
            <a:extLst>
              <a:ext uri="{FF2B5EF4-FFF2-40B4-BE49-F238E27FC236}">
                <a16:creationId xmlns:a16="http://schemas.microsoft.com/office/drawing/2014/main" id="{2D3F077F-8A4F-4DE1-988A-BBFBCE666B4C}"/>
              </a:ext>
            </a:extLst>
          </p:cNvPr>
          <p:cNvSpPr/>
          <p:nvPr/>
        </p:nvSpPr>
        <p:spPr>
          <a:xfrm>
            <a:off x="2695101" y="105327"/>
            <a:ext cx="3753798" cy="1652314"/>
          </a:xfrm>
          <a:prstGeom prst="rect">
            <a:avLst/>
          </a:prstGeom>
          <a:solidFill>
            <a:schemeClr val="bg2">
              <a:lumMod val="20000"/>
              <a:lumOff val="80000"/>
              <a:alpha val="6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4" name="Google Shape;564;p39"/>
          <p:cNvSpPr txBox="1">
            <a:spLocks noGrp="1"/>
          </p:cNvSpPr>
          <p:nvPr>
            <p:ph type="title"/>
          </p:nvPr>
        </p:nvSpPr>
        <p:spPr>
          <a:xfrm>
            <a:off x="2438696" y="1722776"/>
            <a:ext cx="4275462"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Working principles</a:t>
            </a:r>
          </a:p>
        </p:txBody>
      </p:sp>
      <p:grpSp>
        <p:nvGrpSpPr>
          <p:cNvPr id="64" name="Google Shape;1292;p58">
            <a:extLst>
              <a:ext uri="{FF2B5EF4-FFF2-40B4-BE49-F238E27FC236}">
                <a16:creationId xmlns:a16="http://schemas.microsoft.com/office/drawing/2014/main" id="{FC6632E1-4DDB-4426-94DA-D4E75D2D5F02}"/>
              </a:ext>
            </a:extLst>
          </p:cNvPr>
          <p:cNvGrpSpPr/>
          <p:nvPr/>
        </p:nvGrpSpPr>
        <p:grpSpPr>
          <a:xfrm>
            <a:off x="5343406" y="4389120"/>
            <a:ext cx="3800594" cy="754380"/>
            <a:chOff x="474500" y="2502500"/>
            <a:chExt cx="6551575" cy="769875"/>
          </a:xfrm>
        </p:grpSpPr>
        <p:sp>
          <p:nvSpPr>
            <p:cNvPr id="65" name="Google Shape;1293;p58">
              <a:extLst>
                <a:ext uri="{FF2B5EF4-FFF2-40B4-BE49-F238E27FC236}">
                  <a16:creationId xmlns:a16="http://schemas.microsoft.com/office/drawing/2014/main" id="{336B5179-25EF-41B7-A75F-B1339648CDC4}"/>
                </a:ext>
              </a:extLst>
            </p:cNvPr>
            <p:cNvSpPr/>
            <p:nvPr/>
          </p:nvSpPr>
          <p:spPr>
            <a:xfrm>
              <a:off x="474500" y="2566550"/>
              <a:ext cx="3397475" cy="579050"/>
            </a:xfrm>
            <a:custGeom>
              <a:avLst/>
              <a:gdLst/>
              <a:ahLst/>
              <a:cxnLst/>
              <a:rect l="l" t="t" r="r" b="b"/>
              <a:pathLst>
                <a:path w="135899" h="23162" extrusionOk="0">
                  <a:moveTo>
                    <a:pt x="37708" y="0"/>
                  </a:moveTo>
                  <a:cubicBezTo>
                    <a:pt x="24912" y="0"/>
                    <a:pt x="0" y="10373"/>
                    <a:pt x="0" y="23162"/>
                  </a:cubicBezTo>
                  <a:lnTo>
                    <a:pt x="135899" y="23162"/>
                  </a:lnTo>
                  <a:lnTo>
                    <a:pt x="1358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294;p58">
              <a:extLst>
                <a:ext uri="{FF2B5EF4-FFF2-40B4-BE49-F238E27FC236}">
                  <a16:creationId xmlns:a16="http://schemas.microsoft.com/office/drawing/2014/main" id="{C2D8BB26-87C9-4B49-9908-BF0C01EA52DB}"/>
                </a:ext>
              </a:extLst>
            </p:cNvPr>
            <p:cNvSpPr/>
            <p:nvPr/>
          </p:nvSpPr>
          <p:spPr>
            <a:xfrm>
              <a:off x="474650" y="3145575"/>
              <a:ext cx="3397825" cy="126800"/>
            </a:xfrm>
            <a:custGeom>
              <a:avLst/>
              <a:gdLst/>
              <a:ahLst/>
              <a:cxnLst/>
              <a:rect l="l" t="t" r="r" b="b"/>
              <a:pathLst>
                <a:path w="135913" h="5072" extrusionOk="0">
                  <a:moveTo>
                    <a:pt x="1" y="1"/>
                  </a:moveTo>
                  <a:lnTo>
                    <a:pt x="1" y="4486"/>
                  </a:lnTo>
                  <a:cubicBezTo>
                    <a:pt x="1" y="4812"/>
                    <a:pt x="314" y="5071"/>
                    <a:pt x="693" y="5071"/>
                  </a:cubicBezTo>
                  <a:lnTo>
                    <a:pt x="135913" y="5071"/>
                  </a:lnTo>
                  <a:lnTo>
                    <a:pt x="1359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295;p58">
              <a:extLst>
                <a:ext uri="{FF2B5EF4-FFF2-40B4-BE49-F238E27FC236}">
                  <a16:creationId xmlns:a16="http://schemas.microsoft.com/office/drawing/2014/main" id="{31045745-061C-4EA8-A09F-7EADDCB69381}"/>
                </a:ext>
              </a:extLst>
            </p:cNvPr>
            <p:cNvSpPr/>
            <p:nvPr/>
          </p:nvSpPr>
          <p:spPr>
            <a:xfrm>
              <a:off x="2182875" y="2695800"/>
              <a:ext cx="1545875" cy="204125"/>
            </a:xfrm>
            <a:custGeom>
              <a:avLst/>
              <a:gdLst/>
              <a:ahLst/>
              <a:cxnLst/>
              <a:rect l="l" t="t" r="r" b="b"/>
              <a:pathLst>
                <a:path w="61835" h="8165" extrusionOk="0">
                  <a:moveTo>
                    <a:pt x="0" y="0"/>
                  </a:moveTo>
                  <a:lnTo>
                    <a:pt x="0" y="8164"/>
                  </a:lnTo>
                  <a:lnTo>
                    <a:pt x="61835" y="8164"/>
                  </a:lnTo>
                  <a:lnTo>
                    <a:pt x="618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296;p58">
              <a:extLst>
                <a:ext uri="{FF2B5EF4-FFF2-40B4-BE49-F238E27FC236}">
                  <a16:creationId xmlns:a16="http://schemas.microsoft.com/office/drawing/2014/main" id="{E4817A4E-D395-4786-8BD6-3058EE63B729}"/>
                </a:ext>
              </a:extLst>
            </p:cNvPr>
            <p:cNvSpPr/>
            <p:nvPr/>
          </p:nvSpPr>
          <p:spPr>
            <a:xfrm>
              <a:off x="1044900" y="2691050"/>
              <a:ext cx="614675" cy="208875"/>
            </a:xfrm>
            <a:custGeom>
              <a:avLst/>
              <a:gdLst/>
              <a:ahLst/>
              <a:cxnLst/>
              <a:rect l="l" t="t" r="r" b="b"/>
              <a:pathLst>
                <a:path w="24587" h="8355" extrusionOk="0">
                  <a:moveTo>
                    <a:pt x="20229" y="1"/>
                  </a:moveTo>
                  <a:cubicBezTo>
                    <a:pt x="14517" y="1"/>
                    <a:pt x="5310" y="775"/>
                    <a:pt x="0" y="4442"/>
                  </a:cubicBezTo>
                  <a:lnTo>
                    <a:pt x="0" y="8354"/>
                  </a:lnTo>
                  <a:lnTo>
                    <a:pt x="24586" y="8354"/>
                  </a:lnTo>
                  <a:lnTo>
                    <a:pt x="24586" y="190"/>
                  </a:lnTo>
                  <a:cubicBezTo>
                    <a:pt x="23751" y="93"/>
                    <a:pt x="22197" y="1"/>
                    <a:pt x="202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297;p58">
              <a:extLst>
                <a:ext uri="{FF2B5EF4-FFF2-40B4-BE49-F238E27FC236}">
                  <a16:creationId xmlns:a16="http://schemas.microsoft.com/office/drawing/2014/main" id="{7FA0A3F7-5926-4079-A8AB-405AD64B0FB1}"/>
                </a:ext>
              </a:extLst>
            </p:cNvPr>
            <p:cNvSpPr/>
            <p:nvPr/>
          </p:nvSpPr>
          <p:spPr>
            <a:xfrm>
              <a:off x="796050" y="2972925"/>
              <a:ext cx="3076100" cy="30125"/>
            </a:xfrm>
            <a:custGeom>
              <a:avLst/>
              <a:gdLst/>
              <a:ahLst/>
              <a:cxnLst/>
              <a:rect l="l" t="t" r="r" b="b"/>
              <a:pathLst>
                <a:path w="123044" h="1205" extrusionOk="0">
                  <a:moveTo>
                    <a:pt x="140" y="0"/>
                  </a:moveTo>
                  <a:cubicBezTo>
                    <a:pt x="67" y="0"/>
                    <a:pt x="0" y="67"/>
                    <a:pt x="0" y="140"/>
                  </a:cubicBezTo>
                  <a:lnTo>
                    <a:pt x="0" y="1205"/>
                  </a:lnTo>
                  <a:lnTo>
                    <a:pt x="123043" y="1205"/>
                  </a:lnTo>
                  <a:lnTo>
                    <a:pt x="1230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298;p58">
              <a:extLst>
                <a:ext uri="{FF2B5EF4-FFF2-40B4-BE49-F238E27FC236}">
                  <a16:creationId xmlns:a16="http://schemas.microsoft.com/office/drawing/2014/main" id="{72980734-F815-4B43-830C-BDF119E62F96}"/>
                </a:ext>
              </a:extLst>
            </p:cNvPr>
            <p:cNvSpPr/>
            <p:nvPr/>
          </p:nvSpPr>
          <p:spPr>
            <a:xfrm>
              <a:off x="1441625" y="2566550"/>
              <a:ext cx="2430350" cy="56575"/>
            </a:xfrm>
            <a:custGeom>
              <a:avLst/>
              <a:gdLst/>
              <a:ahLst/>
              <a:cxnLst/>
              <a:rect l="l" t="t" r="r" b="b"/>
              <a:pathLst>
                <a:path w="97214" h="2263" extrusionOk="0">
                  <a:moveTo>
                    <a:pt x="1" y="0"/>
                  </a:moveTo>
                  <a:lnTo>
                    <a:pt x="1" y="1996"/>
                  </a:lnTo>
                  <a:cubicBezTo>
                    <a:pt x="1" y="2149"/>
                    <a:pt x="120" y="2262"/>
                    <a:pt x="260" y="2262"/>
                  </a:cubicBezTo>
                  <a:lnTo>
                    <a:pt x="97214" y="2262"/>
                  </a:lnTo>
                  <a:lnTo>
                    <a:pt x="97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299;p58">
              <a:extLst>
                <a:ext uri="{FF2B5EF4-FFF2-40B4-BE49-F238E27FC236}">
                  <a16:creationId xmlns:a16="http://schemas.microsoft.com/office/drawing/2014/main" id="{1875F0C7-5AFB-4398-99AD-422A432B5BB0}"/>
                </a:ext>
              </a:extLst>
            </p:cNvPr>
            <p:cNvSpPr/>
            <p:nvPr/>
          </p:nvSpPr>
          <p:spPr>
            <a:xfrm>
              <a:off x="796050" y="2856150"/>
              <a:ext cx="144575" cy="146900"/>
            </a:xfrm>
            <a:custGeom>
              <a:avLst/>
              <a:gdLst/>
              <a:ahLst/>
              <a:cxnLst/>
              <a:rect l="l" t="t" r="r" b="b"/>
              <a:pathLst>
                <a:path w="5783" h="5876" extrusionOk="0">
                  <a:moveTo>
                    <a:pt x="5782" y="0"/>
                  </a:moveTo>
                  <a:cubicBezTo>
                    <a:pt x="0" y="2289"/>
                    <a:pt x="0" y="5876"/>
                    <a:pt x="0" y="5876"/>
                  </a:cubicBezTo>
                  <a:lnTo>
                    <a:pt x="925" y="5876"/>
                  </a:lnTo>
                  <a:cubicBezTo>
                    <a:pt x="925" y="5876"/>
                    <a:pt x="1071" y="2941"/>
                    <a:pt x="5782" y="958"/>
                  </a:cubicBezTo>
                  <a:lnTo>
                    <a:pt x="5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300;p58">
              <a:extLst>
                <a:ext uri="{FF2B5EF4-FFF2-40B4-BE49-F238E27FC236}">
                  <a16:creationId xmlns:a16="http://schemas.microsoft.com/office/drawing/2014/main" id="{6BDCB656-5900-4AC9-849F-2B066B71E4E3}"/>
                </a:ext>
              </a:extLst>
            </p:cNvPr>
            <p:cNvSpPr/>
            <p:nvPr/>
          </p:nvSpPr>
          <p:spPr>
            <a:xfrm>
              <a:off x="643175" y="2653200"/>
              <a:ext cx="366800" cy="213475"/>
            </a:xfrm>
            <a:custGeom>
              <a:avLst/>
              <a:gdLst/>
              <a:ahLst/>
              <a:cxnLst/>
              <a:rect l="l" t="t" r="r" b="b"/>
              <a:pathLst>
                <a:path w="14672" h="8539" extrusionOk="0">
                  <a:moveTo>
                    <a:pt x="14672" y="1"/>
                  </a:moveTo>
                  <a:lnTo>
                    <a:pt x="14672" y="1"/>
                  </a:lnTo>
                  <a:cubicBezTo>
                    <a:pt x="9282" y="2023"/>
                    <a:pt x="3986" y="4838"/>
                    <a:pt x="0" y="8172"/>
                  </a:cubicBezTo>
                  <a:cubicBezTo>
                    <a:pt x="697" y="8414"/>
                    <a:pt x="1431" y="8539"/>
                    <a:pt x="2169" y="8539"/>
                  </a:cubicBezTo>
                  <a:cubicBezTo>
                    <a:pt x="3396" y="8539"/>
                    <a:pt x="4635" y="8193"/>
                    <a:pt x="5736" y="7466"/>
                  </a:cubicBezTo>
                  <a:lnTo>
                    <a:pt x="12143" y="3228"/>
                  </a:lnTo>
                  <a:cubicBezTo>
                    <a:pt x="13361" y="2423"/>
                    <a:pt x="14213" y="1278"/>
                    <a:pt x="146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301;p58">
              <a:extLst>
                <a:ext uri="{FF2B5EF4-FFF2-40B4-BE49-F238E27FC236}">
                  <a16:creationId xmlns:a16="http://schemas.microsoft.com/office/drawing/2014/main" id="{0F9A2B37-1BBF-44DE-B66C-E320ECAD06EB}"/>
                </a:ext>
              </a:extLst>
            </p:cNvPr>
            <p:cNvSpPr/>
            <p:nvPr/>
          </p:nvSpPr>
          <p:spPr>
            <a:xfrm>
              <a:off x="680425" y="2659025"/>
              <a:ext cx="314750" cy="173050"/>
            </a:xfrm>
            <a:custGeom>
              <a:avLst/>
              <a:gdLst/>
              <a:ahLst/>
              <a:cxnLst/>
              <a:rect l="l" t="t" r="r" b="b"/>
              <a:pathLst>
                <a:path w="12590" h="6922" extrusionOk="0">
                  <a:moveTo>
                    <a:pt x="12590" y="1"/>
                  </a:moveTo>
                  <a:lnTo>
                    <a:pt x="12590" y="1"/>
                  </a:lnTo>
                  <a:cubicBezTo>
                    <a:pt x="8052" y="1757"/>
                    <a:pt x="3607" y="4059"/>
                    <a:pt x="1" y="6767"/>
                  </a:cubicBezTo>
                  <a:cubicBezTo>
                    <a:pt x="464" y="6869"/>
                    <a:pt x="937" y="6921"/>
                    <a:pt x="1412" y="6921"/>
                  </a:cubicBezTo>
                  <a:cubicBezTo>
                    <a:pt x="2643" y="6921"/>
                    <a:pt x="3887" y="6572"/>
                    <a:pt x="4991" y="5843"/>
                  </a:cubicBezTo>
                  <a:lnTo>
                    <a:pt x="10560" y="2156"/>
                  </a:lnTo>
                  <a:cubicBezTo>
                    <a:pt x="11425" y="1584"/>
                    <a:pt x="12104" y="846"/>
                    <a:pt x="125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302;p58">
              <a:extLst>
                <a:ext uri="{FF2B5EF4-FFF2-40B4-BE49-F238E27FC236}">
                  <a16:creationId xmlns:a16="http://schemas.microsoft.com/office/drawing/2014/main" id="{FD45EDD4-B685-4EF2-BA1A-D96173FCA25B}"/>
                </a:ext>
              </a:extLst>
            </p:cNvPr>
            <p:cNvSpPr/>
            <p:nvPr/>
          </p:nvSpPr>
          <p:spPr>
            <a:xfrm>
              <a:off x="511575" y="3029700"/>
              <a:ext cx="44775" cy="66950"/>
            </a:xfrm>
            <a:custGeom>
              <a:avLst/>
              <a:gdLst/>
              <a:ahLst/>
              <a:cxnLst/>
              <a:rect l="l" t="t" r="r" b="b"/>
              <a:pathLst>
                <a:path w="1791" h="2678" extrusionOk="0">
                  <a:moveTo>
                    <a:pt x="1367" y="1"/>
                  </a:moveTo>
                  <a:cubicBezTo>
                    <a:pt x="1055" y="1"/>
                    <a:pt x="622" y="449"/>
                    <a:pt x="334" y="1089"/>
                  </a:cubicBezTo>
                  <a:cubicBezTo>
                    <a:pt x="8" y="1815"/>
                    <a:pt x="1" y="2513"/>
                    <a:pt x="314" y="2653"/>
                  </a:cubicBezTo>
                  <a:cubicBezTo>
                    <a:pt x="350" y="2670"/>
                    <a:pt x="389" y="2678"/>
                    <a:pt x="430" y="2678"/>
                  </a:cubicBezTo>
                  <a:cubicBezTo>
                    <a:pt x="738" y="2678"/>
                    <a:pt x="1171" y="2234"/>
                    <a:pt x="1458" y="1588"/>
                  </a:cubicBezTo>
                  <a:cubicBezTo>
                    <a:pt x="1784" y="863"/>
                    <a:pt x="1791" y="165"/>
                    <a:pt x="1485" y="25"/>
                  </a:cubicBezTo>
                  <a:cubicBezTo>
                    <a:pt x="1448" y="8"/>
                    <a:pt x="1409" y="1"/>
                    <a:pt x="1367" y="1"/>
                  </a:cubicBezTo>
                  <a:close/>
                </a:path>
              </a:pathLst>
            </a:custGeom>
            <a:solidFill>
              <a:srgbClr val="BA2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303;p58">
              <a:extLst>
                <a:ext uri="{FF2B5EF4-FFF2-40B4-BE49-F238E27FC236}">
                  <a16:creationId xmlns:a16="http://schemas.microsoft.com/office/drawing/2014/main" id="{2B52033F-06DA-41F2-B444-2CFD77AD53DF}"/>
                </a:ext>
              </a:extLst>
            </p:cNvPr>
            <p:cNvSpPr/>
            <p:nvPr/>
          </p:nvSpPr>
          <p:spPr>
            <a:xfrm>
              <a:off x="514575" y="3029125"/>
              <a:ext cx="38800" cy="57625"/>
            </a:xfrm>
            <a:custGeom>
              <a:avLst/>
              <a:gdLst/>
              <a:ahLst/>
              <a:cxnLst/>
              <a:rect l="l" t="t" r="r" b="b"/>
              <a:pathLst>
                <a:path w="1552" h="2305" extrusionOk="0">
                  <a:moveTo>
                    <a:pt x="1177" y="0"/>
                  </a:moveTo>
                  <a:cubicBezTo>
                    <a:pt x="909" y="0"/>
                    <a:pt x="533" y="381"/>
                    <a:pt x="287" y="933"/>
                  </a:cubicBezTo>
                  <a:cubicBezTo>
                    <a:pt x="14" y="1558"/>
                    <a:pt x="1" y="2164"/>
                    <a:pt x="274" y="2283"/>
                  </a:cubicBezTo>
                  <a:cubicBezTo>
                    <a:pt x="305" y="2298"/>
                    <a:pt x="339" y="2304"/>
                    <a:pt x="375" y="2304"/>
                  </a:cubicBezTo>
                  <a:cubicBezTo>
                    <a:pt x="643" y="2304"/>
                    <a:pt x="1018" y="1924"/>
                    <a:pt x="1265" y="1372"/>
                  </a:cubicBezTo>
                  <a:cubicBezTo>
                    <a:pt x="1538" y="746"/>
                    <a:pt x="1551" y="141"/>
                    <a:pt x="1278" y="21"/>
                  </a:cubicBezTo>
                  <a:cubicBezTo>
                    <a:pt x="1247" y="7"/>
                    <a:pt x="1213" y="0"/>
                    <a:pt x="11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304;p58">
              <a:extLst>
                <a:ext uri="{FF2B5EF4-FFF2-40B4-BE49-F238E27FC236}">
                  <a16:creationId xmlns:a16="http://schemas.microsoft.com/office/drawing/2014/main" id="{99852B7F-9A09-441F-925F-ABA45BE9AF73}"/>
                </a:ext>
              </a:extLst>
            </p:cNvPr>
            <p:cNvSpPr/>
            <p:nvPr/>
          </p:nvSpPr>
          <p:spPr>
            <a:xfrm>
              <a:off x="3479550" y="2502500"/>
              <a:ext cx="342200" cy="64075"/>
            </a:xfrm>
            <a:custGeom>
              <a:avLst/>
              <a:gdLst/>
              <a:ahLst/>
              <a:cxnLst/>
              <a:rect l="l" t="t" r="r" b="b"/>
              <a:pathLst>
                <a:path w="13688" h="2563" extrusionOk="0">
                  <a:moveTo>
                    <a:pt x="153" y="0"/>
                  </a:moveTo>
                  <a:cubicBezTo>
                    <a:pt x="67" y="0"/>
                    <a:pt x="0" y="67"/>
                    <a:pt x="0" y="153"/>
                  </a:cubicBezTo>
                  <a:lnTo>
                    <a:pt x="0" y="2562"/>
                  </a:lnTo>
                  <a:lnTo>
                    <a:pt x="13687" y="2562"/>
                  </a:lnTo>
                  <a:lnTo>
                    <a:pt x="13687" y="153"/>
                  </a:lnTo>
                  <a:cubicBezTo>
                    <a:pt x="13687" y="67"/>
                    <a:pt x="13621"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305;p58">
              <a:extLst>
                <a:ext uri="{FF2B5EF4-FFF2-40B4-BE49-F238E27FC236}">
                  <a16:creationId xmlns:a16="http://schemas.microsoft.com/office/drawing/2014/main" id="{7B32B8C2-1B9F-430B-9AD1-CBD053A9F7A1}"/>
                </a:ext>
              </a:extLst>
            </p:cNvPr>
            <p:cNvSpPr/>
            <p:nvPr/>
          </p:nvSpPr>
          <p:spPr>
            <a:xfrm>
              <a:off x="3542750" y="2502500"/>
              <a:ext cx="216100" cy="30125"/>
            </a:xfrm>
            <a:custGeom>
              <a:avLst/>
              <a:gdLst/>
              <a:ahLst/>
              <a:cxnLst/>
              <a:rect l="l" t="t" r="r" b="b"/>
              <a:pathLst>
                <a:path w="8644" h="1205" extrusionOk="0">
                  <a:moveTo>
                    <a:pt x="1" y="0"/>
                  </a:moveTo>
                  <a:lnTo>
                    <a:pt x="1" y="1158"/>
                  </a:lnTo>
                  <a:cubicBezTo>
                    <a:pt x="1" y="1185"/>
                    <a:pt x="21" y="1205"/>
                    <a:pt x="54" y="1205"/>
                  </a:cubicBezTo>
                  <a:lnTo>
                    <a:pt x="8584" y="1205"/>
                  </a:lnTo>
                  <a:cubicBezTo>
                    <a:pt x="8617" y="1205"/>
                    <a:pt x="8637" y="1185"/>
                    <a:pt x="8644" y="1158"/>
                  </a:cubicBezTo>
                  <a:lnTo>
                    <a:pt x="8644" y="0"/>
                  </a:lnTo>
                  <a:close/>
                </a:path>
              </a:pathLst>
            </a:custGeom>
            <a:solidFill>
              <a:srgbClr val="3C4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306;p58">
              <a:extLst>
                <a:ext uri="{FF2B5EF4-FFF2-40B4-BE49-F238E27FC236}">
                  <a16:creationId xmlns:a16="http://schemas.microsoft.com/office/drawing/2014/main" id="{9483C74D-C537-436B-A3C4-70539B28519A}"/>
                </a:ext>
              </a:extLst>
            </p:cNvPr>
            <p:cNvSpPr/>
            <p:nvPr/>
          </p:nvSpPr>
          <p:spPr>
            <a:xfrm>
              <a:off x="3558900" y="2502500"/>
              <a:ext cx="184000" cy="25650"/>
            </a:xfrm>
            <a:custGeom>
              <a:avLst/>
              <a:gdLst/>
              <a:ahLst/>
              <a:cxnLst/>
              <a:rect l="l" t="t" r="r" b="b"/>
              <a:pathLst>
                <a:path w="7360" h="1026" extrusionOk="0">
                  <a:moveTo>
                    <a:pt x="0" y="0"/>
                  </a:moveTo>
                  <a:lnTo>
                    <a:pt x="0" y="972"/>
                  </a:lnTo>
                  <a:cubicBezTo>
                    <a:pt x="0" y="998"/>
                    <a:pt x="13" y="1025"/>
                    <a:pt x="47" y="1025"/>
                  </a:cubicBezTo>
                  <a:lnTo>
                    <a:pt x="7299" y="1025"/>
                  </a:lnTo>
                  <a:cubicBezTo>
                    <a:pt x="7333" y="1025"/>
                    <a:pt x="7359" y="1005"/>
                    <a:pt x="7359" y="972"/>
                  </a:cubicBezTo>
                  <a:lnTo>
                    <a:pt x="73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307;p58">
              <a:extLst>
                <a:ext uri="{FF2B5EF4-FFF2-40B4-BE49-F238E27FC236}">
                  <a16:creationId xmlns:a16="http://schemas.microsoft.com/office/drawing/2014/main" id="{BCD60B5E-407B-4F04-87BE-DC0981DB535F}"/>
                </a:ext>
              </a:extLst>
            </p:cNvPr>
            <p:cNvSpPr/>
            <p:nvPr/>
          </p:nvSpPr>
          <p:spPr>
            <a:xfrm>
              <a:off x="3939000" y="2566550"/>
              <a:ext cx="3087075" cy="579050"/>
            </a:xfrm>
            <a:custGeom>
              <a:avLst/>
              <a:gdLst/>
              <a:ahLst/>
              <a:cxnLst/>
              <a:rect l="l" t="t" r="r" b="b"/>
              <a:pathLst>
                <a:path w="123483" h="23162" extrusionOk="0">
                  <a:moveTo>
                    <a:pt x="0" y="0"/>
                  </a:moveTo>
                  <a:lnTo>
                    <a:pt x="0" y="23162"/>
                  </a:lnTo>
                  <a:lnTo>
                    <a:pt x="123482" y="23162"/>
                  </a:lnTo>
                  <a:lnTo>
                    <a:pt x="1234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308;p58">
              <a:extLst>
                <a:ext uri="{FF2B5EF4-FFF2-40B4-BE49-F238E27FC236}">
                  <a16:creationId xmlns:a16="http://schemas.microsoft.com/office/drawing/2014/main" id="{B1D24277-17F6-4A9E-B573-F1A8FFA6EB77}"/>
                </a:ext>
              </a:extLst>
            </p:cNvPr>
            <p:cNvSpPr/>
            <p:nvPr/>
          </p:nvSpPr>
          <p:spPr>
            <a:xfrm>
              <a:off x="4487100" y="2695800"/>
              <a:ext cx="1990850" cy="204125"/>
            </a:xfrm>
            <a:custGeom>
              <a:avLst/>
              <a:gdLst/>
              <a:ahLst/>
              <a:cxnLst/>
              <a:rect l="l" t="t" r="r" b="b"/>
              <a:pathLst>
                <a:path w="79634" h="8165" extrusionOk="0">
                  <a:moveTo>
                    <a:pt x="1" y="0"/>
                  </a:moveTo>
                  <a:lnTo>
                    <a:pt x="1" y="8164"/>
                  </a:lnTo>
                  <a:lnTo>
                    <a:pt x="79634" y="8164"/>
                  </a:lnTo>
                  <a:lnTo>
                    <a:pt x="796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309;p58">
              <a:extLst>
                <a:ext uri="{FF2B5EF4-FFF2-40B4-BE49-F238E27FC236}">
                  <a16:creationId xmlns:a16="http://schemas.microsoft.com/office/drawing/2014/main" id="{B40F52AA-75A1-4349-935B-62A4E128DEE4}"/>
                </a:ext>
              </a:extLst>
            </p:cNvPr>
            <p:cNvSpPr/>
            <p:nvPr/>
          </p:nvSpPr>
          <p:spPr>
            <a:xfrm>
              <a:off x="3939000" y="3145575"/>
              <a:ext cx="3086900" cy="126800"/>
            </a:xfrm>
            <a:custGeom>
              <a:avLst/>
              <a:gdLst/>
              <a:ahLst/>
              <a:cxnLst/>
              <a:rect l="l" t="t" r="r" b="b"/>
              <a:pathLst>
                <a:path w="123476" h="5072" extrusionOk="0">
                  <a:moveTo>
                    <a:pt x="0" y="1"/>
                  </a:moveTo>
                  <a:lnTo>
                    <a:pt x="0" y="5071"/>
                  </a:lnTo>
                  <a:lnTo>
                    <a:pt x="123476" y="5071"/>
                  </a:lnTo>
                  <a:lnTo>
                    <a:pt x="1234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310;p58">
              <a:extLst>
                <a:ext uri="{FF2B5EF4-FFF2-40B4-BE49-F238E27FC236}">
                  <a16:creationId xmlns:a16="http://schemas.microsoft.com/office/drawing/2014/main" id="{CBAC451C-EE6B-45A4-8CE8-5ADAE11F48F1}"/>
                </a:ext>
              </a:extLst>
            </p:cNvPr>
            <p:cNvSpPr/>
            <p:nvPr/>
          </p:nvSpPr>
          <p:spPr>
            <a:xfrm>
              <a:off x="3937325" y="2972925"/>
              <a:ext cx="3075950" cy="30125"/>
            </a:xfrm>
            <a:custGeom>
              <a:avLst/>
              <a:gdLst/>
              <a:ahLst/>
              <a:cxnLst/>
              <a:rect l="l" t="t" r="r" b="b"/>
              <a:pathLst>
                <a:path w="123038" h="1205" extrusionOk="0">
                  <a:moveTo>
                    <a:pt x="1" y="0"/>
                  </a:moveTo>
                  <a:lnTo>
                    <a:pt x="1" y="1205"/>
                  </a:lnTo>
                  <a:lnTo>
                    <a:pt x="123037" y="1205"/>
                  </a:lnTo>
                  <a:lnTo>
                    <a:pt x="1230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311;p58">
              <a:extLst>
                <a:ext uri="{FF2B5EF4-FFF2-40B4-BE49-F238E27FC236}">
                  <a16:creationId xmlns:a16="http://schemas.microsoft.com/office/drawing/2014/main" id="{03EFAEEE-4CD5-44EC-A04B-CC0064B2645E}"/>
                </a:ext>
              </a:extLst>
            </p:cNvPr>
            <p:cNvSpPr/>
            <p:nvPr/>
          </p:nvSpPr>
          <p:spPr>
            <a:xfrm>
              <a:off x="6666575"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312;p58">
              <a:extLst>
                <a:ext uri="{FF2B5EF4-FFF2-40B4-BE49-F238E27FC236}">
                  <a16:creationId xmlns:a16="http://schemas.microsoft.com/office/drawing/2014/main" id="{EE7F90EB-D883-475B-A9CA-3D0F0C404AE2}"/>
                </a:ext>
              </a:extLst>
            </p:cNvPr>
            <p:cNvSpPr/>
            <p:nvPr/>
          </p:nvSpPr>
          <p:spPr>
            <a:xfrm>
              <a:off x="4064750"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313;p58">
              <a:extLst>
                <a:ext uri="{FF2B5EF4-FFF2-40B4-BE49-F238E27FC236}">
                  <a16:creationId xmlns:a16="http://schemas.microsoft.com/office/drawing/2014/main" id="{AC29BC85-7D8B-4E11-A14C-7D6862246D08}"/>
                </a:ext>
              </a:extLst>
            </p:cNvPr>
            <p:cNvSpPr/>
            <p:nvPr/>
          </p:nvSpPr>
          <p:spPr>
            <a:xfrm>
              <a:off x="3937325" y="2566550"/>
              <a:ext cx="3088750" cy="56575"/>
            </a:xfrm>
            <a:custGeom>
              <a:avLst/>
              <a:gdLst/>
              <a:ahLst/>
              <a:cxnLst/>
              <a:rect l="l" t="t" r="r" b="b"/>
              <a:pathLst>
                <a:path w="123550" h="2263" extrusionOk="0">
                  <a:moveTo>
                    <a:pt x="1" y="0"/>
                  </a:moveTo>
                  <a:lnTo>
                    <a:pt x="1" y="2262"/>
                  </a:lnTo>
                  <a:lnTo>
                    <a:pt x="123549" y="2262"/>
                  </a:lnTo>
                  <a:lnTo>
                    <a:pt x="123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314;p58">
              <a:extLst>
                <a:ext uri="{FF2B5EF4-FFF2-40B4-BE49-F238E27FC236}">
                  <a16:creationId xmlns:a16="http://schemas.microsoft.com/office/drawing/2014/main" id="{197541C0-169A-48E8-B390-266C2B970CEF}"/>
                </a:ext>
              </a:extLst>
            </p:cNvPr>
            <p:cNvSpPr/>
            <p:nvPr/>
          </p:nvSpPr>
          <p:spPr>
            <a:xfrm>
              <a:off x="4014850" y="2502500"/>
              <a:ext cx="342025" cy="64075"/>
            </a:xfrm>
            <a:custGeom>
              <a:avLst/>
              <a:gdLst/>
              <a:ahLst/>
              <a:cxnLst/>
              <a:rect l="l" t="t" r="r" b="b"/>
              <a:pathLst>
                <a:path w="13681" h="2563" extrusionOk="0">
                  <a:moveTo>
                    <a:pt x="147" y="0"/>
                  </a:moveTo>
                  <a:cubicBezTo>
                    <a:pt x="67" y="0"/>
                    <a:pt x="0" y="67"/>
                    <a:pt x="0" y="153"/>
                  </a:cubicBezTo>
                  <a:lnTo>
                    <a:pt x="0" y="2562"/>
                  </a:lnTo>
                  <a:lnTo>
                    <a:pt x="13681" y="2562"/>
                  </a:lnTo>
                  <a:lnTo>
                    <a:pt x="13681" y="153"/>
                  </a:lnTo>
                  <a:cubicBezTo>
                    <a:pt x="13681" y="67"/>
                    <a:pt x="13614"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315;p58">
              <a:extLst>
                <a:ext uri="{FF2B5EF4-FFF2-40B4-BE49-F238E27FC236}">
                  <a16:creationId xmlns:a16="http://schemas.microsoft.com/office/drawing/2014/main" id="{C855CD66-C2F9-46B6-958E-2DB2F5AAE053}"/>
                </a:ext>
              </a:extLst>
            </p:cNvPr>
            <p:cNvSpPr/>
            <p:nvPr/>
          </p:nvSpPr>
          <p:spPr>
            <a:xfrm>
              <a:off x="4078050" y="2502500"/>
              <a:ext cx="216125" cy="30125"/>
            </a:xfrm>
            <a:custGeom>
              <a:avLst/>
              <a:gdLst/>
              <a:ahLst/>
              <a:cxnLst/>
              <a:rect l="l" t="t" r="r" b="b"/>
              <a:pathLst>
                <a:path w="8645" h="1205" extrusionOk="0">
                  <a:moveTo>
                    <a:pt x="1" y="0"/>
                  </a:moveTo>
                  <a:lnTo>
                    <a:pt x="1" y="1158"/>
                  </a:lnTo>
                  <a:cubicBezTo>
                    <a:pt x="1" y="1185"/>
                    <a:pt x="14" y="1205"/>
                    <a:pt x="47" y="1205"/>
                  </a:cubicBezTo>
                  <a:lnTo>
                    <a:pt x="8584" y="1205"/>
                  </a:lnTo>
                  <a:cubicBezTo>
                    <a:pt x="8617" y="1205"/>
                    <a:pt x="8644" y="1185"/>
                    <a:pt x="8644" y="1158"/>
                  </a:cubicBezTo>
                  <a:lnTo>
                    <a:pt x="86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316;p58">
              <a:extLst>
                <a:ext uri="{FF2B5EF4-FFF2-40B4-BE49-F238E27FC236}">
                  <a16:creationId xmlns:a16="http://schemas.microsoft.com/office/drawing/2014/main" id="{29363284-2E7D-4805-BA66-FD03CCA586BF}"/>
                </a:ext>
              </a:extLst>
            </p:cNvPr>
            <p:cNvSpPr/>
            <p:nvPr/>
          </p:nvSpPr>
          <p:spPr>
            <a:xfrm>
              <a:off x="4094025" y="2502500"/>
              <a:ext cx="184000" cy="25650"/>
            </a:xfrm>
            <a:custGeom>
              <a:avLst/>
              <a:gdLst/>
              <a:ahLst/>
              <a:cxnLst/>
              <a:rect l="l" t="t" r="r" b="b"/>
              <a:pathLst>
                <a:path w="7360" h="1026" extrusionOk="0">
                  <a:moveTo>
                    <a:pt x="0" y="0"/>
                  </a:moveTo>
                  <a:lnTo>
                    <a:pt x="0" y="972"/>
                  </a:lnTo>
                  <a:cubicBezTo>
                    <a:pt x="0" y="998"/>
                    <a:pt x="20" y="1025"/>
                    <a:pt x="54" y="1025"/>
                  </a:cubicBezTo>
                  <a:lnTo>
                    <a:pt x="7306" y="1025"/>
                  </a:lnTo>
                  <a:cubicBezTo>
                    <a:pt x="7340" y="1025"/>
                    <a:pt x="7360" y="1005"/>
                    <a:pt x="7360" y="972"/>
                  </a:cubicBezTo>
                  <a:lnTo>
                    <a:pt x="73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317;p58">
              <a:extLst>
                <a:ext uri="{FF2B5EF4-FFF2-40B4-BE49-F238E27FC236}">
                  <a16:creationId xmlns:a16="http://schemas.microsoft.com/office/drawing/2014/main" id="{A3AE9D2F-23EA-439F-8E66-E8F96454788D}"/>
                </a:ext>
              </a:extLst>
            </p:cNvPr>
            <p:cNvSpPr/>
            <p:nvPr/>
          </p:nvSpPr>
          <p:spPr>
            <a:xfrm>
              <a:off x="6588900" y="2502500"/>
              <a:ext cx="342200" cy="64075"/>
            </a:xfrm>
            <a:custGeom>
              <a:avLst/>
              <a:gdLst/>
              <a:ahLst/>
              <a:cxnLst/>
              <a:rect l="l" t="t" r="r" b="b"/>
              <a:pathLst>
                <a:path w="13688" h="2563" extrusionOk="0">
                  <a:moveTo>
                    <a:pt x="146" y="0"/>
                  </a:moveTo>
                  <a:cubicBezTo>
                    <a:pt x="67" y="0"/>
                    <a:pt x="0" y="67"/>
                    <a:pt x="0" y="153"/>
                  </a:cubicBezTo>
                  <a:lnTo>
                    <a:pt x="0" y="2562"/>
                  </a:lnTo>
                  <a:lnTo>
                    <a:pt x="13687" y="2562"/>
                  </a:lnTo>
                  <a:lnTo>
                    <a:pt x="13687" y="153"/>
                  </a:lnTo>
                  <a:cubicBezTo>
                    <a:pt x="13687" y="67"/>
                    <a:pt x="13621" y="0"/>
                    <a:pt x="135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318;p58">
              <a:extLst>
                <a:ext uri="{FF2B5EF4-FFF2-40B4-BE49-F238E27FC236}">
                  <a16:creationId xmlns:a16="http://schemas.microsoft.com/office/drawing/2014/main" id="{75715016-0666-4B4E-AE6D-19E832437ABB}"/>
                </a:ext>
              </a:extLst>
            </p:cNvPr>
            <p:cNvSpPr/>
            <p:nvPr/>
          </p:nvSpPr>
          <p:spPr>
            <a:xfrm>
              <a:off x="6652100" y="2502500"/>
              <a:ext cx="215950" cy="30125"/>
            </a:xfrm>
            <a:custGeom>
              <a:avLst/>
              <a:gdLst/>
              <a:ahLst/>
              <a:cxnLst/>
              <a:rect l="l" t="t" r="r" b="b"/>
              <a:pathLst>
                <a:path w="8638" h="1205" extrusionOk="0">
                  <a:moveTo>
                    <a:pt x="1" y="0"/>
                  </a:moveTo>
                  <a:lnTo>
                    <a:pt x="1" y="1158"/>
                  </a:lnTo>
                  <a:cubicBezTo>
                    <a:pt x="1" y="1185"/>
                    <a:pt x="14" y="1205"/>
                    <a:pt x="47" y="1205"/>
                  </a:cubicBezTo>
                  <a:lnTo>
                    <a:pt x="8584" y="1205"/>
                  </a:lnTo>
                  <a:cubicBezTo>
                    <a:pt x="8617" y="1205"/>
                    <a:pt x="8637" y="1185"/>
                    <a:pt x="8637" y="1158"/>
                  </a:cubicBezTo>
                  <a:lnTo>
                    <a:pt x="86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319;p58">
              <a:extLst>
                <a:ext uri="{FF2B5EF4-FFF2-40B4-BE49-F238E27FC236}">
                  <a16:creationId xmlns:a16="http://schemas.microsoft.com/office/drawing/2014/main" id="{9AC2765F-EF68-4001-AF21-F044D0F715DF}"/>
                </a:ext>
              </a:extLst>
            </p:cNvPr>
            <p:cNvSpPr/>
            <p:nvPr/>
          </p:nvSpPr>
          <p:spPr>
            <a:xfrm>
              <a:off x="6668075" y="2502500"/>
              <a:ext cx="184000" cy="25650"/>
            </a:xfrm>
            <a:custGeom>
              <a:avLst/>
              <a:gdLst/>
              <a:ahLst/>
              <a:cxnLst/>
              <a:rect l="l" t="t" r="r" b="b"/>
              <a:pathLst>
                <a:path w="7360" h="1026" extrusionOk="0">
                  <a:moveTo>
                    <a:pt x="0" y="0"/>
                  </a:moveTo>
                  <a:lnTo>
                    <a:pt x="0" y="972"/>
                  </a:lnTo>
                  <a:cubicBezTo>
                    <a:pt x="0" y="998"/>
                    <a:pt x="14" y="1025"/>
                    <a:pt x="47" y="1025"/>
                  </a:cubicBezTo>
                  <a:lnTo>
                    <a:pt x="7300" y="1025"/>
                  </a:lnTo>
                  <a:cubicBezTo>
                    <a:pt x="7333" y="1025"/>
                    <a:pt x="7359" y="1005"/>
                    <a:pt x="7359" y="972"/>
                  </a:cubicBezTo>
                  <a:lnTo>
                    <a:pt x="7359" y="0"/>
                  </a:lnTo>
                  <a:close/>
                </a:path>
              </a:pathLst>
            </a:custGeom>
            <a:solidFill>
              <a:srgbClr val="4E5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320;p58">
              <a:extLst>
                <a:ext uri="{FF2B5EF4-FFF2-40B4-BE49-F238E27FC236}">
                  <a16:creationId xmlns:a16="http://schemas.microsoft.com/office/drawing/2014/main" id="{3914B5D4-D194-4032-87C3-91BC75ECA61D}"/>
                </a:ext>
              </a:extLst>
            </p:cNvPr>
            <p:cNvSpPr/>
            <p:nvPr/>
          </p:nvSpPr>
          <p:spPr>
            <a:xfrm>
              <a:off x="3872125" y="2608300"/>
              <a:ext cx="65225" cy="550950"/>
            </a:xfrm>
            <a:custGeom>
              <a:avLst/>
              <a:gdLst/>
              <a:ahLst/>
              <a:cxnLst/>
              <a:rect l="l" t="t" r="r" b="b"/>
              <a:pathLst>
                <a:path w="2609" h="22038" extrusionOk="0">
                  <a:moveTo>
                    <a:pt x="113" y="0"/>
                  </a:moveTo>
                  <a:cubicBezTo>
                    <a:pt x="53" y="0"/>
                    <a:pt x="0" y="53"/>
                    <a:pt x="0" y="113"/>
                  </a:cubicBezTo>
                  <a:lnTo>
                    <a:pt x="0" y="21924"/>
                  </a:lnTo>
                  <a:cubicBezTo>
                    <a:pt x="0" y="21984"/>
                    <a:pt x="53" y="22037"/>
                    <a:pt x="113" y="22037"/>
                  </a:cubicBezTo>
                  <a:lnTo>
                    <a:pt x="2495" y="22037"/>
                  </a:lnTo>
                  <a:cubicBezTo>
                    <a:pt x="2555" y="22037"/>
                    <a:pt x="2609" y="21984"/>
                    <a:pt x="2609" y="21918"/>
                  </a:cubicBezTo>
                  <a:lnTo>
                    <a:pt x="2609" y="113"/>
                  </a:lnTo>
                  <a:cubicBezTo>
                    <a:pt x="2609" y="53"/>
                    <a:pt x="2555" y="0"/>
                    <a:pt x="2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321;p58">
              <a:extLst>
                <a:ext uri="{FF2B5EF4-FFF2-40B4-BE49-F238E27FC236}">
                  <a16:creationId xmlns:a16="http://schemas.microsoft.com/office/drawing/2014/main" id="{2A8941DA-1B30-467B-910C-A17172322905}"/>
                </a:ext>
              </a:extLst>
            </p:cNvPr>
            <p:cNvSpPr/>
            <p:nvPr/>
          </p:nvSpPr>
          <p:spPr>
            <a:xfrm>
              <a:off x="3872125" y="3029475"/>
              <a:ext cx="65225" cy="129450"/>
            </a:xfrm>
            <a:custGeom>
              <a:avLst/>
              <a:gdLst/>
              <a:ahLst/>
              <a:cxnLst/>
              <a:rect l="l" t="t" r="r" b="b"/>
              <a:pathLst>
                <a:path w="2609" h="5178" extrusionOk="0">
                  <a:moveTo>
                    <a:pt x="0" y="1"/>
                  </a:moveTo>
                  <a:lnTo>
                    <a:pt x="0" y="4232"/>
                  </a:lnTo>
                  <a:cubicBezTo>
                    <a:pt x="0" y="4758"/>
                    <a:pt x="426" y="5177"/>
                    <a:pt x="952" y="5177"/>
                  </a:cubicBezTo>
                  <a:lnTo>
                    <a:pt x="1657" y="5177"/>
                  </a:lnTo>
                  <a:cubicBezTo>
                    <a:pt x="2183" y="5177"/>
                    <a:pt x="2609" y="4751"/>
                    <a:pt x="2609" y="4232"/>
                  </a:cubicBezTo>
                  <a:lnTo>
                    <a:pt x="2609" y="1"/>
                  </a:lnTo>
                  <a:cubicBezTo>
                    <a:pt x="2609" y="520"/>
                    <a:pt x="2183" y="945"/>
                    <a:pt x="1657" y="945"/>
                  </a:cubicBezTo>
                  <a:lnTo>
                    <a:pt x="952" y="945"/>
                  </a:lnTo>
                  <a:cubicBezTo>
                    <a:pt x="426" y="945"/>
                    <a:pt x="0" y="520"/>
                    <a:pt x="0" y="1"/>
                  </a:cubicBezTo>
                  <a:close/>
                </a:path>
              </a:pathLst>
            </a:custGeom>
            <a:solidFill>
              <a:srgbClr val="2C2C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322;p58">
              <a:extLst>
                <a:ext uri="{FF2B5EF4-FFF2-40B4-BE49-F238E27FC236}">
                  <a16:creationId xmlns:a16="http://schemas.microsoft.com/office/drawing/2014/main" id="{4C385A10-D245-41A8-8E0F-08012A157232}"/>
                </a:ext>
              </a:extLst>
            </p:cNvPr>
            <p:cNvSpPr/>
            <p:nvPr/>
          </p:nvSpPr>
          <p:spPr>
            <a:xfrm>
              <a:off x="1828225" y="2695800"/>
              <a:ext cx="230575" cy="449800"/>
            </a:xfrm>
            <a:custGeom>
              <a:avLst/>
              <a:gdLst/>
              <a:ahLst/>
              <a:cxnLst/>
              <a:rect l="l" t="t" r="r" b="b"/>
              <a:pathLst>
                <a:path w="9223" h="17992" extrusionOk="0">
                  <a:moveTo>
                    <a:pt x="0" y="0"/>
                  </a:moveTo>
                  <a:lnTo>
                    <a:pt x="0" y="17992"/>
                  </a:lnTo>
                  <a:lnTo>
                    <a:pt x="9222" y="17992"/>
                  </a:lnTo>
                  <a:lnTo>
                    <a:pt x="92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1253;p57">
            <a:extLst>
              <a:ext uri="{FF2B5EF4-FFF2-40B4-BE49-F238E27FC236}">
                <a16:creationId xmlns:a16="http://schemas.microsoft.com/office/drawing/2014/main" id="{9B181D31-5AC8-4BCA-A868-2A1FDB28828E}"/>
              </a:ext>
            </a:extLst>
          </p:cNvPr>
          <p:cNvSpPr/>
          <p:nvPr/>
        </p:nvSpPr>
        <p:spPr>
          <a:xfrm>
            <a:off x="5529938" y="3708479"/>
            <a:ext cx="427197" cy="554542"/>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文字方塊 35">
            <a:extLst>
              <a:ext uri="{FF2B5EF4-FFF2-40B4-BE49-F238E27FC236}">
                <a16:creationId xmlns:a16="http://schemas.microsoft.com/office/drawing/2014/main" id="{41BF6ACB-EECF-4666-A137-7B3DA7F45CCA}"/>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24</a:t>
            </a:r>
            <a:endParaRPr lang="zh-TW" altLang="en-US" sz="1100" dirty="0">
              <a:latin typeface="Montserrat" panose="02020500000000000000" charset="0"/>
            </a:endParaRPr>
          </a:p>
        </p:txBody>
      </p:sp>
      <p:grpSp>
        <p:nvGrpSpPr>
          <p:cNvPr id="10" name="群組 9">
            <a:extLst>
              <a:ext uri="{FF2B5EF4-FFF2-40B4-BE49-F238E27FC236}">
                <a16:creationId xmlns:a16="http://schemas.microsoft.com/office/drawing/2014/main" id="{E2E75E76-6B6A-475C-96F3-394064FD3522}"/>
              </a:ext>
            </a:extLst>
          </p:cNvPr>
          <p:cNvGrpSpPr/>
          <p:nvPr/>
        </p:nvGrpSpPr>
        <p:grpSpPr>
          <a:xfrm>
            <a:off x="2698013" y="196006"/>
            <a:ext cx="3702389" cy="1420761"/>
            <a:chOff x="2698013" y="196006"/>
            <a:chExt cx="3702389" cy="1420761"/>
          </a:xfrm>
        </p:grpSpPr>
        <p:grpSp>
          <p:nvGrpSpPr>
            <p:cNvPr id="7" name="群組 6">
              <a:extLst>
                <a:ext uri="{FF2B5EF4-FFF2-40B4-BE49-F238E27FC236}">
                  <a16:creationId xmlns:a16="http://schemas.microsoft.com/office/drawing/2014/main" id="{6047CCF6-CC8E-4B63-B137-C7E8CE398CD6}"/>
                </a:ext>
              </a:extLst>
            </p:cNvPr>
            <p:cNvGrpSpPr/>
            <p:nvPr/>
          </p:nvGrpSpPr>
          <p:grpSpPr>
            <a:xfrm>
              <a:off x="3820034" y="196006"/>
              <a:ext cx="1409855" cy="1420761"/>
              <a:chOff x="3820034" y="196006"/>
              <a:chExt cx="1409855" cy="1420761"/>
            </a:xfrm>
          </p:grpSpPr>
          <p:pic>
            <p:nvPicPr>
              <p:cNvPr id="47" name="圖片 46">
                <a:extLst>
                  <a:ext uri="{FF2B5EF4-FFF2-40B4-BE49-F238E27FC236}">
                    <a16:creationId xmlns:a16="http://schemas.microsoft.com/office/drawing/2014/main" id="{652D5591-9B2E-4E6C-92AD-54D78B8E236A}"/>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3820034" y="374087"/>
                <a:ext cx="1409855" cy="1242680"/>
              </a:xfrm>
              <a:prstGeom prst="rect">
                <a:avLst/>
              </a:prstGeom>
            </p:spPr>
          </p:pic>
          <p:sp>
            <p:nvSpPr>
              <p:cNvPr id="6" name="手繪多邊形: 圖案 5">
                <a:extLst>
                  <a:ext uri="{FF2B5EF4-FFF2-40B4-BE49-F238E27FC236}">
                    <a16:creationId xmlns:a16="http://schemas.microsoft.com/office/drawing/2014/main" id="{5D07E32B-8704-4283-81B9-DEDD59600520}"/>
                  </a:ext>
                </a:extLst>
              </p:cNvPr>
              <p:cNvSpPr/>
              <p:nvPr/>
            </p:nvSpPr>
            <p:spPr>
              <a:xfrm>
                <a:off x="4138644" y="316667"/>
                <a:ext cx="250476" cy="329509"/>
              </a:xfrm>
              <a:custGeom>
                <a:avLst/>
                <a:gdLst>
                  <a:gd name="connsiteX0" fmla="*/ 250476 w 250476"/>
                  <a:gd name="connsiteY0" fmla="*/ 6421 h 329509"/>
                  <a:gd name="connsiteX1" fmla="*/ 31020 w 250476"/>
                  <a:gd name="connsiteY1" fmla="*/ 42997 h 329509"/>
                  <a:gd name="connsiteX2" fmla="*/ 6636 w 250476"/>
                  <a:gd name="connsiteY2" fmla="*/ 329509 h 329509"/>
                </a:gdLst>
                <a:ahLst/>
                <a:cxnLst>
                  <a:cxn ang="0">
                    <a:pos x="connsiteX0" y="connsiteY0"/>
                  </a:cxn>
                  <a:cxn ang="0">
                    <a:pos x="connsiteX1" y="connsiteY1"/>
                  </a:cxn>
                  <a:cxn ang="0">
                    <a:pos x="connsiteX2" y="connsiteY2"/>
                  </a:cxn>
                </a:cxnLst>
                <a:rect l="l" t="t" r="r" b="b"/>
                <a:pathLst>
                  <a:path w="250476" h="329509">
                    <a:moveTo>
                      <a:pt x="250476" y="6421"/>
                    </a:moveTo>
                    <a:cubicBezTo>
                      <a:pt x="161068" y="-2215"/>
                      <a:pt x="71660" y="-10851"/>
                      <a:pt x="31020" y="42997"/>
                    </a:cubicBezTo>
                    <a:cubicBezTo>
                      <a:pt x="-9620" y="96845"/>
                      <a:pt x="-1492" y="213177"/>
                      <a:pt x="6636" y="329509"/>
                    </a:cubicBezTo>
                  </a:path>
                </a:pathLst>
              </a:cu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手繪多邊形: 圖案 49">
                <a:extLst>
                  <a:ext uri="{FF2B5EF4-FFF2-40B4-BE49-F238E27FC236}">
                    <a16:creationId xmlns:a16="http://schemas.microsoft.com/office/drawing/2014/main" id="{47067A45-80B8-4365-9A0C-91DD157F9B74}"/>
                  </a:ext>
                </a:extLst>
              </p:cNvPr>
              <p:cNvSpPr/>
              <p:nvPr/>
            </p:nvSpPr>
            <p:spPr>
              <a:xfrm flipH="1">
                <a:off x="4657068" y="316666"/>
                <a:ext cx="250476" cy="329509"/>
              </a:xfrm>
              <a:custGeom>
                <a:avLst/>
                <a:gdLst>
                  <a:gd name="connsiteX0" fmla="*/ 250476 w 250476"/>
                  <a:gd name="connsiteY0" fmla="*/ 6421 h 329509"/>
                  <a:gd name="connsiteX1" fmla="*/ 31020 w 250476"/>
                  <a:gd name="connsiteY1" fmla="*/ 42997 h 329509"/>
                  <a:gd name="connsiteX2" fmla="*/ 6636 w 250476"/>
                  <a:gd name="connsiteY2" fmla="*/ 329509 h 329509"/>
                </a:gdLst>
                <a:ahLst/>
                <a:cxnLst>
                  <a:cxn ang="0">
                    <a:pos x="connsiteX0" y="connsiteY0"/>
                  </a:cxn>
                  <a:cxn ang="0">
                    <a:pos x="connsiteX1" y="connsiteY1"/>
                  </a:cxn>
                  <a:cxn ang="0">
                    <a:pos x="connsiteX2" y="connsiteY2"/>
                  </a:cxn>
                </a:cxnLst>
                <a:rect l="l" t="t" r="r" b="b"/>
                <a:pathLst>
                  <a:path w="250476" h="329509">
                    <a:moveTo>
                      <a:pt x="250476" y="6421"/>
                    </a:moveTo>
                    <a:cubicBezTo>
                      <a:pt x="161068" y="-2215"/>
                      <a:pt x="71660" y="-10851"/>
                      <a:pt x="31020" y="42997"/>
                    </a:cubicBezTo>
                    <a:cubicBezTo>
                      <a:pt x="-9620" y="96845"/>
                      <a:pt x="-1492" y="213177"/>
                      <a:pt x="6636" y="329509"/>
                    </a:cubicBez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947D7DAA-3CBF-47A0-AE19-65E915D5ED37}"/>
                  </a:ext>
                </a:extLst>
              </p:cNvPr>
              <p:cNvSpPr/>
              <p:nvPr/>
            </p:nvSpPr>
            <p:spPr>
              <a:xfrm>
                <a:off x="4397094" y="196006"/>
                <a:ext cx="252000" cy="252000"/>
              </a:xfrm>
              <a:prstGeom prst="ellipse">
                <a:avLst/>
              </a:prstGeom>
              <a:solidFill>
                <a:schemeClr val="accent4"/>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tx1"/>
                    </a:solidFill>
                    <a:latin typeface="Montserrat" panose="02020500000000000000" charset="0"/>
                  </a:rPr>
                  <a:t>V</a:t>
                </a:r>
                <a:endParaRPr lang="zh-TW" altLang="en-US" sz="1000" b="1" dirty="0">
                  <a:solidFill>
                    <a:schemeClr val="tx1"/>
                  </a:solidFill>
                  <a:latin typeface="Montserrat" panose="02020500000000000000" charset="0"/>
                </a:endParaRPr>
              </a:p>
            </p:txBody>
          </p:sp>
        </p:grpSp>
        <p:grpSp>
          <p:nvGrpSpPr>
            <p:cNvPr id="9" name="群組 8">
              <a:extLst>
                <a:ext uri="{FF2B5EF4-FFF2-40B4-BE49-F238E27FC236}">
                  <a16:creationId xmlns:a16="http://schemas.microsoft.com/office/drawing/2014/main" id="{9E5110DE-A2AF-46E2-AACE-5C19D9F63A00}"/>
                </a:ext>
              </a:extLst>
            </p:cNvPr>
            <p:cNvGrpSpPr/>
            <p:nvPr/>
          </p:nvGrpSpPr>
          <p:grpSpPr>
            <a:xfrm rot="16200000">
              <a:off x="3467776" y="873507"/>
              <a:ext cx="243840" cy="243840"/>
              <a:chOff x="3304032" y="859536"/>
              <a:chExt cx="243840" cy="243840"/>
            </a:xfrm>
          </p:grpSpPr>
          <p:sp>
            <p:nvSpPr>
              <p:cNvPr id="54" name="箭號: 上-下雙向 53">
                <a:extLst>
                  <a:ext uri="{FF2B5EF4-FFF2-40B4-BE49-F238E27FC236}">
                    <a16:creationId xmlns:a16="http://schemas.microsoft.com/office/drawing/2014/main" id="{BE25BAED-85C5-454C-9DCA-A39F7DC0F313}"/>
                  </a:ext>
                </a:extLst>
              </p:cNvPr>
              <p:cNvSpPr/>
              <p:nvPr/>
            </p:nvSpPr>
            <p:spPr>
              <a:xfrm rot="5400000">
                <a:off x="3401568" y="859536"/>
                <a:ext cx="48768" cy="243840"/>
              </a:xfrm>
              <a:prstGeom prst="upDown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箭號: 上-下雙向 7">
                <a:extLst>
                  <a:ext uri="{FF2B5EF4-FFF2-40B4-BE49-F238E27FC236}">
                    <a16:creationId xmlns:a16="http://schemas.microsoft.com/office/drawing/2014/main" id="{EE7CC389-1060-408E-9F72-E514CDD45B39}"/>
                  </a:ext>
                </a:extLst>
              </p:cNvPr>
              <p:cNvSpPr/>
              <p:nvPr/>
            </p:nvSpPr>
            <p:spPr>
              <a:xfrm>
                <a:off x="3401568" y="859536"/>
                <a:ext cx="48768" cy="243840"/>
              </a:xfrm>
              <a:prstGeom prst="up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5" name="群組 54">
              <a:extLst>
                <a:ext uri="{FF2B5EF4-FFF2-40B4-BE49-F238E27FC236}">
                  <a16:creationId xmlns:a16="http://schemas.microsoft.com/office/drawing/2014/main" id="{FECF1954-DF5A-449C-AF94-800557E905A6}"/>
                </a:ext>
              </a:extLst>
            </p:cNvPr>
            <p:cNvGrpSpPr/>
            <p:nvPr/>
          </p:nvGrpSpPr>
          <p:grpSpPr>
            <a:xfrm>
              <a:off x="5338307" y="883920"/>
              <a:ext cx="243840" cy="243840"/>
              <a:chOff x="3304032" y="859536"/>
              <a:chExt cx="243840" cy="243840"/>
            </a:xfrm>
          </p:grpSpPr>
          <p:sp>
            <p:nvSpPr>
              <p:cNvPr id="57" name="箭號: 上-下雙向 56">
                <a:extLst>
                  <a:ext uri="{FF2B5EF4-FFF2-40B4-BE49-F238E27FC236}">
                    <a16:creationId xmlns:a16="http://schemas.microsoft.com/office/drawing/2014/main" id="{509E61E5-A29F-47CF-8D81-D6C4F1B7761D}"/>
                  </a:ext>
                </a:extLst>
              </p:cNvPr>
              <p:cNvSpPr/>
              <p:nvPr/>
            </p:nvSpPr>
            <p:spPr>
              <a:xfrm rot="5400000">
                <a:off x="3401568" y="859536"/>
                <a:ext cx="48768" cy="243840"/>
              </a:xfrm>
              <a:prstGeom prst="upDown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箭號: 上-下雙向 55">
                <a:extLst>
                  <a:ext uri="{FF2B5EF4-FFF2-40B4-BE49-F238E27FC236}">
                    <a16:creationId xmlns:a16="http://schemas.microsoft.com/office/drawing/2014/main" id="{F493152D-6916-4F19-B266-EDF45B94A286}"/>
                  </a:ext>
                </a:extLst>
              </p:cNvPr>
              <p:cNvSpPr/>
              <p:nvPr/>
            </p:nvSpPr>
            <p:spPr>
              <a:xfrm>
                <a:off x="3401568" y="859536"/>
                <a:ext cx="48768" cy="243840"/>
              </a:xfrm>
              <a:prstGeom prst="up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8" name="矩形 57">
              <a:extLst>
                <a:ext uri="{FF2B5EF4-FFF2-40B4-BE49-F238E27FC236}">
                  <a16:creationId xmlns:a16="http://schemas.microsoft.com/office/drawing/2014/main" id="{054CB44E-A593-41B5-8C2E-D91212CA59A8}"/>
                </a:ext>
              </a:extLst>
            </p:cNvPr>
            <p:cNvSpPr/>
            <p:nvPr/>
          </p:nvSpPr>
          <p:spPr>
            <a:xfrm>
              <a:off x="2698013" y="751924"/>
              <a:ext cx="769763" cy="507831"/>
            </a:xfrm>
            <a:prstGeom prst="rect">
              <a:avLst/>
            </a:prstGeom>
          </p:spPr>
          <p:txBody>
            <a:bodyPr wrap="none">
              <a:spAutoFit/>
            </a:bodyPr>
            <a:lstStyle/>
            <a:p>
              <a:pPr algn="ctr"/>
              <a:r>
                <a:rPr lang="en-US" altLang="zh-TW" sz="900" b="1" dirty="0">
                  <a:latin typeface="Montserrat" panose="02020500000000000000" charset="0"/>
                </a:rPr>
                <a:t>Signal, TE</a:t>
              </a:r>
            </a:p>
            <a:p>
              <a:pPr algn="ctr"/>
              <a:r>
                <a:rPr lang="en-US" altLang="zh-TW" sz="900" b="1" dirty="0">
                  <a:latin typeface="Montserrat" panose="02020500000000000000" charset="0"/>
                </a:rPr>
                <a:t>&amp;</a:t>
              </a:r>
            </a:p>
            <a:p>
              <a:pPr algn="ctr"/>
              <a:r>
                <a:rPr lang="en-US" altLang="zh-TW" sz="900" b="1" dirty="0">
                  <a:latin typeface="Montserrat" panose="02020500000000000000" charset="0"/>
                </a:rPr>
                <a:t>Idler, TM</a:t>
              </a:r>
            </a:p>
          </p:txBody>
        </p:sp>
        <p:sp>
          <p:nvSpPr>
            <p:cNvPr id="59" name="矩形 58">
              <a:extLst>
                <a:ext uri="{FF2B5EF4-FFF2-40B4-BE49-F238E27FC236}">
                  <a16:creationId xmlns:a16="http://schemas.microsoft.com/office/drawing/2014/main" id="{61B642F8-A74F-4679-835F-F8604F1F3E87}"/>
                </a:ext>
              </a:extLst>
            </p:cNvPr>
            <p:cNvSpPr/>
            <p:nvPr/>
          </p:nvSpPr>
          <p:spPr>
            <a:xfrm>
              <a:off x="5596976" y="751924"/>
              <a:ext cx="803426" cy="507831"/>
            </a:xfrm>
            <a:prstGeom prst="rect">
              <a:avLst/>
            </a:prstGeom>
          </p:spPr>
          <p:txBody>
            <a:bodyPr wrap="none">
              <a:spAutoFit/>
            </a:bodyPr>
            <a:lstStyle/>
            <a:p>
              <a:pPr algn="ctr"/>
              <a:r>
                <a:rPr lang="en-US" altLang="zh-TW" sz="900" b="1" dirty="0">
                  <a:latin typeface="Montserrat" panose="02020500000000000000" charset="0"/>
                </a:rPr>
                <a:t>Signal, TM</a:t>
              </a:r>
            </a:p>
            <a:p>
              <a:pPr algn="ctr"/>
              <a:r>
                <a:rPr lang="en-US" altLang="zh-TW" sz="900" b="1" dirty="0">
                  <a:latin typeface="Montserrat" panose="02020500000000000000" charset="0"/>
                </a:rPr>
                <a:t>&amp;</a:t>
              </a:r>
            </a:p>
            <a:p>
              <a:pPr algn="ctr"/>
              <a:r>
                <a:rPr lang="en-US" altLang="zh-TW" sz="900" b="1" dirty="0">
                  <a:latin typeface="Montserrat" panose="02020500000000000000" charset="0"/>
                </a:rPr>
                <a:t>Idler, TE</a:t>
              </a:r>
            </a:p>
          </p:txBody>
        </p:sp>
      </p:grpSp>
      <p:grpSp>
        <p:nvGrpSpPr>
          <p:cNvPr id="11" name="群組 10">
            <a:extLst>
              <a:ext uri="{FF2B5EF4-FFF2-40B4-BE49-F238E27FC236}">
                <a16:creationId xmlns:a16="http://schemas.microsoft.com/office/drawing/2014/main" id="{D0A1BBBE-ABCE-4D0E-BF59-00567FA3E849}"/>
              </a:ext>
            </a:extLst>
          </p:cNvPr>
          <p:cNvGrpSpPr/>
          <p:nvPr/>
        </p:nvGrpSpPr>
        <p:grpSpPr>
          <a:xfrm>
            <a:off x="2852619" y="2423186"/>
            <a:ext cx="3438762" cy="1333250"/>
            <a:chOff x="2852619" y="2423186"/>
            <a:chExt cx="3438762" cy="1333250"/>
          </a:xfrm>
        </p:grpSpPr>
        <p:grpSp>
          <p:nvGrpSpPr>
            <p:cNvPr id="101" name="群組 100">
              <a:extLst>
                <a:ext uri="{FF2B5EF4-FFF2-40B4-BE49-F238E27FC236}">
                  <a16:creationId xmlns:a16="http://schemas.microsoft.com/office/drawing/2014/main" id="{675A6500-1681-4E10-A8DB-CC7ACFDA7907}"/>
                </a:ext>
              </a:extLst>
            </p:cNvPr>
            <p:cNvGrpSpPr/>
            <p:nvPr/>
          </p:nvGrpSpPr>
          <p:grpSpPr>
            <a:xfrm>
              <a:off x="2852619" y="2423186"/>
              <a:ext cx="3438762" cy="1333250"/>
              <a:chOff x="2852619" y="2423186"/>
              <a:chExt cx="3438762" cy="1333250"/>
            </a:xfrm>
          </p:grpSpPr>
          <p:sp>
            <p:nvSpPr>
              <p:cNvPr id="102" name="文字方塊 101">
                <a:extLst>
                  <a:ext uri="{FF2B5EF4-FFF2-40B4-BE49-F238E27FC236}">
                    <a16:creationId xmlns:a16="http://schemas.microsoft.com/office/drawing/2014/main" id="{39344717-3993-49CC-9A71-C2B31181DBEE}"/>
                  </a:ext>
                </a:extLst>
              </p:cNvPr>
              <p:cNvSpPr txBox="1"/>
              <p:nvPr/>
            </p:nvSpPr>
            <p:spPr>
              <a:xfrm>
                <a:off x="2852619" y="2423186"/>
                <a:ext cx="3438762"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SHG/SPDC</a:t>
                </a:r>
              </a:p>
              <a:p>
                <a:pPr marL="171450" indent="-171450">
                  <a:lnSpc>
                    <a:spcPct val="150000"/>
                  </a:lnSpc>
                  <a:buFont typeface="Arial" panose="020B0604020202020204" pitchFamily="34" charset="0"/>
                  <a:buChar char="•"/>
                </a:pPr>
                <a:r>
                  <a:rPr lang="en-US" altLang="zh-TW" sz="1100" dirty="0">
                    <a:solidFill>
                      <a:schemeClr val="tx1"/>
                    </a:solidFill>
                    <a:latin typeface="Montserrat"/>
                    <a:ea typeface="Montserrat"/>
                    <a:cs typeface="Montserrat"/>
                    <a:sym typeface="Montserrat"/>
                  </a:rPr>
                  <a:t>Quasi-phase-matching</a:t>
                </a:r>
                <a:endParaRPr lang="en-US" altLang="zh-TW" sz="1100" dirty="0">
                  <a:solidFill>
                    <a:schemeClr val="tx1"/>
                  </a:solidFill>
                  <a:latin typeface="Montserrat" panose="02020500000000000000" charset="0"/>
                  <a:ea typeface="Montserrat"/>
                  <a:cs typeface="Montserrat"/>
                  <a:sym typeface="Montserrat"/>
                </a:endParaRPr>
              </a:p>
              <a:p>
                <a:pPr marL="171450" indent="-171450">
                  <a:lnSpc>
                    <a:spcPct val="150000"/>
                  </a:lnSpc>
                  <a:buFont typeface="Arial" panose="020B0604020202020204" pitchFamily="34" charset="0"/>
                  <a:buChar char="•"/>
                </a:pPr>
                <a:r>
                  <a:rPr lang="en-US" altLang="zh-TW" sz="1100" dirty="0">
                    <a:latin typeface="Montserrat" panose="02020500000000000000" charset="0"/>
                  </a:rPr>
                  <a:t>Electro-optical polarization mode converter</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effect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 with EO-PMC</a:t>
                </a:r>
              </a:p>
            </p:txBody>
          </p:sp>
          <p:sp>
            <p:nvSpPr>
              <p:cNvPr id="103" name="矩形 102">
                <a:extLst>
                  <a:ext uri="{FF2B5EF4-FFF2-40B4-BE49-F238E27FC236}">
                    <a16:creationId xmlns:a16="http://schemas.microsoft.com/office/drawing/2014/main" id="{EC23FBCF-6929-4D6E-8731-D4D41A0068B3}"/>
                  </a:ext>
                </a:extLst>
              </p:cNvPr>
              <p:cNvSpPr/>
              <p:nvPr/>
            </p:nvSpPr>
            <p:spPr>
              <a:xfrm>
                <a:off x="2852619" y="3257128"/>
                <a:ext cx="3344981" cy="451350"/>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4" name="矩形 103">
              <a:extLst>
                <a:ext uri="{FF2B5EF4-FFF2-40B4-BE49-F238E27FC236}">
                  <a16:creationId xmlns:a16="http://schemas.microsoft.com/office/drawing/2014/main" id="{4714C2A3-9ECC-47A1-B923-5D6F58E06C0D}"/>
                </a:ext>
              </a:extLst>
            </p:cNvPr>
            <p:cNvSpPr/>
            <p:nvPr/>
          </p:nvSpPr>
          <p:spPr>
            <a:xfrm>
              <a:off x="2852619" y="2518959"/>
              <a:ext cx="3344981" cy="451350"/>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090752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6" name="Google Shape;212;p36">
            <a:extLst>
              <a:ext uri="{FF2B5EF4-FFF2-40B4-BE49-F238E27FC236}">
                <a16:creationId xmlns:a16="http://schemas.microsoft.com/office/drawing/2014/main" id="{8059FF73-1D02-4BFA-A7E8-647D56BC6A69}"/>
              </a:ext>
            </a:extLst>
          </p:cNvPr>
          <p:cNvSpPr txBox="1">
            <a:spLocks/>
          </p:cNvSpPr>
          <p:nvPr/>
        </p:nvSpPr>
        <p:spPr>
          <a:xfrm>
            <a:off x="943125" y="301738"/>
            <a:ext cx="7257750" cy="478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1800" b="1" i="0" u="none" strike="noStrike" cap="none">
                <a:solidFill>
                  <a:schemeClr val="dk1"/>
                </a:solidFill>
                <a:latin typeface="Open Sans"/>
                <a:ea typeface="Open Sans"/>
                <a:cs typeface="Open Sans"/>
                <a:sym typeface="Open Sans"/>
              </a:defRPr>
            </a:lvl1pPr>
            <a:lvl2pPr marR="0" lvl="1"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2pPr>
            <a:lvl3pPr marR="0" lvl="2"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3pPr>
            <a:lvl4pPr marR="0" lvl="3"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4pPr>
            <a:lvl5pPr marR="0" lvl="4"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5pPr>
            <a:lvl6pPr marR="0" lvl="5"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6pPr>
            <a:lvl7pPr marR="0" lvl="6"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7pPr>
            <a:lvl8pPr marR="0" lvl="7"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8pPr>
            <a:lvl9pPr marR="0" lvl="8"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9pPr>
          </a:lstStyle>
          <a:p>
            <a:r>
              <a:rPr lang="en-US" altLang="zh-TW" sz="2000" dirty="0">
                <a:latin typeface="Montserrat" panose="02020500000000000000" charset="0"/>
              </a:rPr>
              <a:t>Electro-optical polarization mode converter</a:t>
            </a:r>
          </a:p>
        </p:txBody>
      </p:sp>
      <p:grpSp>
        <p:nvGrpSpPr>
          <p:cNvPr id="7" name="群組 6">
            <a:extLst>
              <a:ext uri="{FF2B5EF4-FFF2-40B4-BE49-F238E27FC236}">
                <a16:creationId xmlns:a16="http://schemas.microsoft.com/office/drawing/2014/main" id="{24229B3B-ED93-4E05-8F4B-778D4FADC1DA}"/>
              </a:ext>
            </a:extLst>
          </p:cNvPr>
          <p:cNvGrpSpPr/>
          <p:nvPr/>
        </p:nvGrpSpPr>
        <p:grpSpPr>
          <a:xfrm>
            <a:off x="192683" y="-911"/>
            <a:ext cx="8761417" cy="295831"/>
            <a:chOff x="192683" y="-911"/>
            <a:chExt cx="8761417" cy="295831"/>
          </a:xfrm>
        </p:grpSpPr>
        <p:sp>
          <p:nvSpPr>
            <p:cNvPr id="8" name="矩形 7">
              <a:extLst>
                <a:ext uri="{FF2B5EF4-FFF2-40B4-BE49-F238E27FC236}">
                  <a16:creationId xmlns:a16="http://schemas.microsoft.com/office/drawing/2014/main" id="{362EB831-7A21-4B8C-8138-94807AF50A7F}"/>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77334341-FC24-4319-8F69-BBD676C1BB12}"/>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1000C9DF-098C-458E-92DD-7114B077029F}"/>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2" name="矩形 11">
              <a:extLst>
                <a:ext uri="{FF2B5EF4-FFF2-40B4-BE49-F238E27FC236}">
                  <a16:creationId xmlns:a16="http://schemas.microsoft.com/office/drawing/2014/main" id="{E1A6ACA1-461F-4CAE-989B-2E6F586BA5B5}"/>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3" name="矩形 12">
              <a:extLst>
                <a:ext uri="{FF2B5EF4-FFF2-40B4-BE49-F238E27FC236}">
                  <a16:creationId xmlns:a16="http://schemas.microsoft.com/office/drawing/2014/main" id="{374E6F94-E369-4AC7-B7CE-2476AC7BB31F}"/>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4" name="矩形 13">
              <a:extLst>
                <a:ext uri="{FF2B5EF4-FFF2-40B4-BE49-F238E27FC236}">
                  <a16:creationId xmlns:a16="http://schemas.microsoft.com/office/drawing/2014/main" id="{082D7010-B933-4FA7-8F0E-05EA18CF7C63}"/>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21" name="矩形 20">
            <a:extLst>
              <a:ext uri="{FF2B5EF4-FFF2-40B4-BE49-F238E27FC236}">
                <a16:creationId xmlns:a16="http://schemas.microsoft.com/office/drawing/2014/main" id="{992B142A-D11C-4049-83FF-7C54887880E5}"/>
              </a:ext>
            </a:extLst>
          </p:cNvPr>
          <p:cNvSpPr/>
          <p:nvPr/>
        </p:nvSpPr>
        <p:spPr>
          <a:xfrm>
            <a:off x="7982609" y="4925145"/>
            <a:ext cx="759922" cy="215444"/>
          </a:xfrm>
          <a:prstGeom prst="rect">
            <a:avLst/>
          </a:prstGeom>
        </p:spPr>
        <p:txBody>
          <a:bodyPr wrap="square">
            <a:spAutoFit/>
          </a:bodyPr>
          <a:lstStyle/>
          <a:p>
            <a:r>
              <a:rPr lang="en-US" altLang="zh-TW" sz="800" dirty="0">
                <a:solidFill>
                  <a:schemeClr val="tx1"/>
                </a:solidFill>
                <a:latin typeface="Montserrat" panose="02020500000000000000" charset="0"/>
                <a:cs typeface="Times New Roman" panose="02020603050405020304" pitchFamily="18" charset="0"/>
              </a:rPr>
              <a:t>(Yariv, 1983)</a:t>
            </a:r>
            <a:endParaRPr lang="zh-TW" altLang="zh-TW" sz="800" dirty="0">
              <a:solidFill>
                <a:schemeClr val="tx1"/>
              </a:solidFill>
              <a:latin typeface="Montserrat" panose="02020500000000000000" charset="0"/>
              <a:cs typeface="Times New Roman" panose="02020603050405020304" pitchFamily="18" charset="0"/>
            </a:endParaRPr>
          </a:p>
        </p:txBody>
      </p:sp>
      <p:sp>
        <p:nvSpPr>
          <p:cNvPr id="35" name="文字方塊 34">
            <a:extLst>
              <a:ext uri="{FF2B5EF4-FFF2-40B4-BE49-F238E27FC236}">
                <a16:creationId xmlns:a16="http://schemas.microsoft.com/office/drawing/2014/main" id="{8E30A7B2-9F02-4222-AD44-EBFCE7FD57CB}"/>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25</a:t>
            </a:r>
            <a:endParaRPr lang="zh-TW" altLang="en-US" sz="1100" dirty="0">
              <a:latin typeface="Montserrat" panose="02020500000000000000" charset="0"/>
            </a:endParaRPr>
          </a:p>
        </p:txBody>
      </p:sp>
      <p:grpSp>
        <p:nvGrpSpPr>
          <p:cNvPr id="26" name="群組 25">
            <a:extLst>
              <a:ext uri="{FF2B5EF4-FFF2-40B4-BE49-F238E27FC236}">
                <a16:creationId xmlns:a16="http://schemas.microsoft.com/office/drawing/2014/main" id="{3C3BA213-4777-4F72-A778-AE3FD8A1FBEB}"/>
              </a:ext>
            </a:extLst>
          </p:cNvPr>
          <p:cNvGrpSpPr/>
          <p:nvPr/>
        </p:nvGrpSpPr>
        <p:grpSpPr>
          <a:xfrm>
            <a:off x="751489" y="933440"/>
            <a:ext cx="7231120" cy="3708824"/>
            <a:chOff x="496328" y="810745"/>
            <a:chExt cx="7231120" cy="3708824"/>
          </a:xfrm>
        </p:grpSpPr>
        <p:grpSp>
          <p:nvGrpSpPr>
            <p:cNvPr id="43" name="群組 42">
              <a:extLst>
                <a:ext uri="{FF2B5EF4-FFF2-40B4-BE49-F238E27FC236}">
                  <a16:creationId xmlns:a16="http://schemas.microsoft.com/office/drawing/2014/main" id="{7D665887-E553-42CD-BFC2-44EB8AD813D4}"/>
                </a:ext>
              </a:extLst>
            </p:cNvPr>
            <p:cNvGrpSpPr/>
            <p:nvPr/>
          </p:nvGrpSpPr>
          <p:grpSpPr>
            <a:xfrm>
              <a:off x="1512525" y="933440"/>
              <a:ext cx="6214923" cy="3586129"/>
              <a:chOff x="2367219" y="1038844"/>
              <a:chExt cx="6214923" cy="3586129"/>
            </a:xfrm>
          </p:grpSpPr>
          <p:pic>
            <p:nvPicPr>
              <p:cNvPr id="3" name="圖片 2">
                <a:extLst>
                  <a:ext uri="{FF2B5EF4-FFF2-40B4-BE49-F238E27FC236}">
                    <a16:creationId xmlns:a16="http://schemas.microsoft.com/office/drawing/2014/main" id="{397E8A56-0A2F-417F-BF95-DB119B438652}"/>
                  </a:ext>
                </a:extLst>
              </p:cNvPr>
              <p:cNvPicPr>
                <a:picLocks noChangeAspect="1"/>
              </p:cNvPicPr>
              <p:nvPr/>
            </p:nvPicPr>
            <p:blipFill>
              <a:blip r:embed="rId3"/>
              <a:stretch>
                <a:fillRect/>
              </a:stretch>
            </p:blipFill>
            <p:spPr>
              <a:xfrm>
                <a:off x="3199997" y="1207585"/>
                <a:ext cx="2744006" cy="281817"/>
              </a:xfrm>
              <a:prstGeom prst="rect">
                <a:avLst/>
              </a:prstGeom>
            </p:spPr>
          </p:pic>
          <p:pic>
            <p:nvPicPr>
              <p:cNvPr id="5" name="圖片 4">
                <a:extLst>
                  <a:ext uri="{FF2B5EF4-FFF2-40B4-BE49-F238E27FC236}">
                    <a16:creationId xmlns:a16="http://schemas.microsoft.com/office/drawing/2014/main" id="{A30AB429-B903-43DA-9431-81990533E07D}"/>
                  </a:ext>
                </a:extLst>
              </p:cNvPr>
              <p:cNvPicPr>
                <a:picLocks noChangeAspect="1"/>
              </p:cNvPicPr>
              <p:nvPr/>
            </p:nvPicPr>
            <p:blipFill>
              <a:blip r:embed="rId4"/>
              <a:stretch>
                <a:fillRect/>
              </a:stretch>
            </p:blipFill>
            <p:spPr>
              <a:xfrm>
                <a:off x="2710522" y="3087883"/>
                <a:ext cx="4064504" cy="946427"/>
              </a:xfrm>
              <a:prstGeom prst="rect">
                <a:avLst/>
              </a:prstGeom>
            </p:spPr>
          </p:pic>
          <p:sp>
            <p:nvSpPr>
              <p:cNvPr id="15" name="矩形 14">
                <a:extLst>
                  <a:ext uri="{FF2B5EF4-FFF2-40B4-BE49-F238E27FC236}">
                    <a16:creationId xmlns:a16="http://schemas.microsoft.com/office/drawing/2014/main" id="{88902EFA-0E9F-410B-BA44-B121453B2BBF}"/>
                  </a:ext>
                </a:extLst>
              </p:cNvPr>
              <p:cNvSpPr/>
              <p:nvPr/>
            </p:nvSpPr>
            <p:spPr>
              <a:xfrm>
                <a:off x="3778624" y="1156447"/>
                <a:ext cx="470647" cy="38996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7" name="群組 16">
                <a:extLst>
                  <a:ext uri="{FF2B5EF4-FFF2-40B4-BE49-F238E27FC236}">
                    <a16:creationId xmlns:a16="http://schemas.microsoft.com/office/drawing/2014/main" id="{689F9F49-3B24-42D5-9248-DAE4DC1A56FA}"/>
                  </a:ext>
                </a:extLst>
              </p:cNvPr>
              <p:cNvGrpSpPr/>
              <p:nvPr/>
            </p:nvGrpSpPr>
            <p:grpSpPr>
              <a:xfrm>
                <a:off x="2440304" y="1738032"/>
                <a:ext cx="1519386" cy="1101221"/>
                <a:chOff x="2118043" y="1708056"/>
                <a:chExt cx="1519386" cy="1101221"/>
              </a:xfrm>
            </p:grpSpPr>
            <p:pic>
              <p:nvPicPr>
                <p:cNvPr id="4" name="圖片 3">
                  <a:extLst>
                    <a:ext uri="{FF2B5EF4-FFF2-40B4-BE49-F238E27FC236}">
                      <a16:creationId xmlns:a16="http://schemas.microsoft.com/office/drawing/2014/main" id="{FE1C697A-A9A9-44B8-A852-61536B844E7D}"/>
                    </a:ext>
                  </a:extLst>
                </p:cNvPr>
                <p:cNvPicPr>
                  <a:picLocks noChangeAspect="1"/>
                </p:cNvPicPr>
                <p:nvPr/>
              </p:nvPicPr>
              <p:blipFill>
                <a:blip r:embed="rId5"/>
                <a:stretch>
                  <a:fillRect/>
                </a:stretch>
              </p:blipFill>
              <p:spPr>
                <a:xfrm>
                  <a:off x="2118043" y="1783653"/>
                  <a:ext cx="1417953" cy="950028"/>
                </a:xfrm>
                <a:prstGeom prst="rect">
                  <a:avLst/>
                </a:prstGeom>
              </p:spPr>
            </p:pic>
            <p:sp>
              <p:nvSpPr>
                <p:cNvPr id="16" name="矩形 15">
                  <a:extLst>
                    <a:ext uri="{FF2B5EF4-FFF2-40B4-BE49-F238E27FC236}">
                      <a16:creationId xmlns:a16="http://schemas.microsoft.com/office/drawing/2014/main" id="{D0BBD710-BC54-46D6-B825-F7209F04E965}"/>
                    </a:ext>
                  </a:extLst>
                </p:cNvPr>
                <p:cNvSpPr/>
                <p:nvPr/>
              </p:nvSpPr>
              <p:spPr>
                <a:xfrm>
                  <a:off x="2118043" y="1708056"/>
                  <a:ext cx="1519386" cy="110122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矩形 17">
                <a:extLst>
                  <a:ext uri="{FF2B5EF4-FFF2-40B4-BE49-F238E27FC236}">
                    <a16:creationId xmlns:a16="http://schemas.microsoft.com/office/drawing/2014/main" id="{B5FA9E42-7E5E-427C-85B5-7B1DF07CB7C8}"/>
                  </a:ext>
                </a:extLst>
              </p:cNvPr>
              <p:cNvSpPr/>
              <p:nvPr/>
            </p:nvSpPr>
            <p:spPr>
              <a:xfrm>
                <a:off x="4787554" y="1147491"/>
                <a:ext cx="470647" cy="389965"/>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0" name="群組 19">
                <a:extLst>
                  <a:ext uri="{FF2B5EF4-FFF2-40B4-BE49-F238E27FC236}">
                    <a16:creationId xmlns:a16="http://schemas.microsoft.com/office/drawing/2014/main" id="{F0223EB2-DF22-49E9-9099-61190C9C880C}"/>
                  </a:ext>
                </a:extLst>
              </p:cNvPr>
              <p:cNvGrpSpPr/>
              <p:nvPr/>
            </p:nvGrpSpPr>
            <p:grpSpPr>
              <a:xfrm>
                <a:off x="4647939" y="1713061"/>
                <a:ext cx="2089038" cy="1155580"/>
                <a:chOff x="4547086" y="1683673"/>
                <a:chExt cx="2089038" cy="1155580"/>
              </a:xfrm>
            </p:grpSpPr>
            <p:pic>
              <p:nvPicPr>
                <p:cNvPr id="2" name="圖片 1">
                  <a:extLst>
                    <a:ext uri="{FF2B5EF4-FFF2-40B4-BE49-F238E27FC236}">
                      <a16:creationId xmlns:a16="http://schemas.microsoft.com/office/drawing/2014/main" id="{0CE29FD0-CA04-4D6C-AAB2-6234EE920F1C}"/>
                    </a:ext>
                  </a:extLst>
                </p:cNvPr>
                <p:cNvPicPr>
                  <a:picLocks noChangeAspect="1"/>
                </p:cNvPicPr>
                <p:nvPr/>
              </p:nvPicPr>
              <p:blipFill>
                <a:blip r:embed="rId6"/>
                <a:stretch>
                  <a:fillRect/>
                </a:stretch>
              </p:blipFill>
              <p:spPr>
                <a:xfrm>
                  <a:off x="4596915" y="1738032"/>
                  <a:ext cx="1963738" cy="1041270"/>
                </a:xfrm>
                <a:prstGeom prst="rect">
                  <a:avLst/>
                </a:prstGeom>
              </p:spPr>
            </p:pic>
            <p:sp>
              <p:nvSpPr>
                <p:cNvPr id="19" name="矩形 18">
                  <a:extLst>
                    <a:ext uri="{FF2B5EF4-FFF2-40B4-BE49-F238E27FC236}">
                      <a16:creationId xmlns:a16="http://schemas.microsoft.com/office/drawing/2014/main" id="{E0E72E7B-6D5B-4C07-AA1B-D3FBA72F32AC}"/>
                    </a:ext>
                  </a:extLst>
                </p:cNvPr>
                <p:cNvSpPr/>
                <p:nvPr/>
              </p:nvSpPr>
              <p:spPr>
                <a:xfrm>
                  <a:off x="4547086" y="1683673"/>
                  <a:ext cx="2089038" cy="1155580"/>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22" name="直線接點 21">
                <a:extLst>
                  <a:ext uri="{FF2B5EF4-FFF2-40B4-BE49-F238E27FC236}">
                    <a16:creationId xmlns:a16="http://schemas.microsoft.com/office/drawing/2014/main" id="{C17CDE7F-1B4D-4B62-A07D-89750FEC5BDF}"/>
                  </a:ext>
                </a:extLst>
              </p:cNvPr>
              <p:cNvCxnSpPr>
                <a:cxnSpLocks/>
                <a:stCxn id="15" idx="2"/>
              </p:cNvCxnSpPr>
              <p:nvPr/>
            </p:nvCxnSpPr>
            <p:spPr>
              <a:xfrm flipH="1">
                <a:off x="3858257" y="1546412"/>
                <a:ext cx="155691" cy="19162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6F3B8D30-2F70-4198-92F8-EE2F87333391}"/>
                  </a:ext>
                </a:extLst>
              </p:cNvPr>
              <p:cNvCxnSpPr>
                <a:cxnSpLocks/>
              </p:cNvCxnSpPr>
              <p:nvPr/>
            </p:nvCxnSpPr>
            <p:spPr>
              <a:xfrm flipH="1" flipV="1">
                <a:off x="5022878" y="1546787"/>
                <a:ext cx="136979" cy="170013"/>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5429DF-8087-416F-A54A-BC4B4B37BC10}"/>
                  </a:ext>
                </a:extLst>
              </p:cNvPr>
              <p:cNvCxnSpPr/>
              <p:nvPr/>
            </p:nvCxnSpPr>
            <p:spPr>
              <a:xfrm>
                <a:off x="5367908" y="1351429"/>
                <a:ext cx="623457" cy="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0" name="文字方塊 29">
                <a:extLst>
                  <a:ext uri="{FF2B5EF4-FFF2-40B4-BE49-F238E27FC236}">
                    <a16:creationId xmlns:a16="http://schemas.microsoft.com/office/drawing/2014/main" id="{C96CC5D5-C4EC-406C-9F02-B2932C825664}"/>
                  </a:ext>
                </a:extLst>
              </p:cNvPr>
              <p:cNvSpPr txBox="1"/>
              <p:nvPr/>
            </p:nvSpPr>
            <p:spPr>
              <a:xfrm>
                <a:off x="5406676" y="1038844"/>
                <a:ext cx="795411" cy="215444"/>
              </a:xfrm>
              <a:prstGeom prst="rect">
                <a:avLst/>
              </a:prstGeom>
              <a:noFill/>
            </p:spPr>
            <p:txBody>
              <a:bodyPr wrap="none" rtlCol="0">
                <a:spAutoFit/>
              </a:bodyPr>
              <a:lstStyle/>
              <a:p>
                <a:r>
                  <a:rPr lang="en-US" altLang="zh-TW" sz="800" b="1" dirty="0">
                    <a:solidFill>
                      <a:schemeClr val="accent5">
                        <a:lumMod val="50000"/>
                        <a:lumOff val="50000"/>
                      </a:schemeClr>
                    </a:solidFill>
                    <a:latin typeface="Montserrat" panose="02020500000000000000" charset="0"/>
                  </a:rPr>
                  <a:t>Ignore Kerr</a:t>
                </a:r>
                <a:endParaRPr lang="zh-TW" altLang="en-US" sz="800" b="1" dirty="0">
                  <a:solidFill>
                    <a:schemeClr val="accent5">
                      <a:lumMod val="50000"/>
                      <a:lumOff val="50000"/>
                    </a:schemeClr>
                  </a:solidFill>
                  <a:latin typeface="Montserrat" panose="02020500000000000000" charset="0"/>
                </a:endParaRPr>
              </a:p>
            </p:txBody>
          </p:sp>
          <p:sp>
            <p:nvSpPr>
              <p:cNvPr id="31" name="矩形 30">
                <a:extLst>
                  <a:ext uri="{FF2B5EF4-FFF2-40B4-BE49-F238E27FC236}">
                    <a16:creationId xmlns:a16="http://schemas.microsoft.com/office/drawing/2014/main" id="{A3A076C1-7AF7-4953-B8B7-B9B53D87C124}"/>
                  </a:ext>
                </a:extLst>
              </p:cNvPr>
              <p:cNvSpPr/>
              <p:nvPr/>
            </p:nvSpPr>
            <p:spPr>
              <a:xfrm>
                <a:off x="6031808" y="1488075"/>
                <a:ext cx="1574470" cy="230832"/>
              </a:xfrm>
              <a:prstGeom prst="rect">
                <a:avLst/>
              </a:prstGeom>
            </p:spPr>
            <p:txBody>
              <a:bodyPr wrap="none">
                <a:spAutoFit/>
              </a:bodyPr>
              <a:lstStyle/>
              <a:p>
                <a:r>
                  <a:rPr lang="en-US" altLang="zh-TW" sz="900" dirty="0">
                    <a:solidFill>
                      <a:schemeClr val="bg1">
                        <a:lumMod val="50000"/>
                      </a:schemeClr>
                    </a:solidFill>
                    <a:latin typeface="Montserrat" panose="02020500000000000000" charset="0"/>
                  </a:rPr>
                  <a:t>EO coefficient of LiNbO</a:t>
                </a:r>
                <a:r>
                  <a:rPr lang="en-US" altLang="zh-TW" sz="900" baseline="-25000" dirty="0">
                    <a:solidFill>
                      <a:schemeClr val="bg1">
                        <a:lumMod val="50000"/>
                      </a:schemeClr>
                    </a:solidFill>
                    <a:latin typeface="Montserrat" panose="02020500000000000000" charset="0"/>
                  </a:rPr>
                  <a:t>3</a:t>
                </a:r>
              </a:p>
            </p:txBody>
          </p:sp>
          <p:sp>
            <p:nvSpPr>
              <p:cNvPr id="32" name="矩形 31">
                <a:extLst>
                  <a:ext uri="{FF2B5EF4-FFF2-40B4-BE49-F238E27FC236}">
                    <a16:creationId xmlns:a16="http://schemas.microsoft.com/office/drawing/2014/main" id="{E41FCCD4-B6E6-4EAA-9F3F-E4012458E8F3}"/>
                  </a:ext>
                </a:extLst>
              </p:cNvPr>
              <p:cNvSpPr/>
              <p:nvPr/>
            </p:nvSpPr>
            <p:spPr>
              <a:xfrm>
                <a:off x="5217645" y="1779988"/>
                <a:ext cx="1142815" cy="1034294"/>
              </a:xfrm>
              <a:prstGeom prst="rect">
                <a:avLst/>
              </a:prstGeom>
              <a:solidFill>
                <a:schemeClr val="bg2">
                  <a:lumMod val="7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4" name="群組 33">
                <a:extLst>
                  <a:ext uri="{FF2B5EF4-FFF2-40B4-BE49-F238E27FC236}">
                    <a16:creationId xmlns:a16="http://schemas.microsoft.com/office/drawing/2014/main" id="{C765BC13-5FE6-4E89-9367-281D6B404DDE}"/>
                  </a:ext>
                </a:extLst>
              </p:cNvPr>
              <p:cNvGrpSpPr/>
              <p:nvPr/>
            </p:nvGrpSpPr>
            <p:grpSpPr>
              <a:xfrm>
                <a:off x="2680602" y="4263001"/>
                <a:ext cx="5901540" cy="361972"/>
                <a:chOff x="1896940" y="4427863"/>
                <a:chExt cx="5901540" cy="361972"/>
              </a:xfrm>
            </p:grpSpPr>
            <p:pic>
              <p:nvPicPr>
                <p:cNvPr id="9" name="圖片 8">
                  <a:extLst>
                    <a:ext uri="{FF2B5EF4-FFF2-40B4-BE49-F238E27FC236}">
                      <a16:creationId xmlns:a16="http://schemas.microsoft.com/office/drawing/2014/main" id="{4069DC21-1598-4A16-9D5F-39175546A1A4}"/>
                    </a:ext>
                  </a:extLst>
                </p:cNvPr>
                <p:cNvPicPr>
                  <a:picLocks noChangeAspect="1"/>
                </p:cNvPicPr>
                <p:nvPr/>
              </p:nvPicPr>
              <p:blipFill>
                <a:blip r:embed="rId7"/>
                <a:stretch>
                  <a:fillRect/>
                </a:stretch>
              </p:blipFill>
              <p:spPr>
                <a:xfrm>
                  <a:off x="4376195" y="4427863"/>
                  <a:ext cx="3422285" cy="361972"/>
                </a:xfrm>
                <a:prstGeom prst="rect">
                  <a:avLst/>
                </a:prstGeom>
              </p:spPr>
            </p:pic>
            <p:sp>
              <p:nvSpPr>
                <p:cNvPr id="33" name="矩形 32">
                  <a:extLst>
                    <a:ext uri="{FF2B5EF4-FFF2-40B4-BE49-F238E27FC236}">
                      <a16:creationId xmlns:a16="http://schemas.microsoft.com/office/drawing/2014/main" id="{1337CABF-93D3-40A6-AD96-4808CB39BC8F}"/>
                    </a:ext>
                  </a:extLst>
                </p:cNvPr>
                <p:cNvSpPr/>
                <p:nvPr/>
              </p:nvSpPr>
              <p:spPr>
                <a:xfrm>
                  <a:off x="1896940" y="4485739"/>
                  <a:ext cx="2513830" cy="246221"/>
                </a:xfrm>
                <a:prstGeom prst="rect">
                  <a:avLst/>
                </a:prstGeom>
              </p:spPr>
              <p:txBody>
                <a:bodyPr wrap="none">
                  <a:spAutoFit/>
                </a:bodyPr>
                <a:lstStyle/>
                <a:p>
                  <a:r>
                    <a:rPr lang="en-US" altLang="zh-TW" sz="1000" b="1" dirty="0">
                      <a:latin typeface="Montserrat" panose="02020500000000000000" charset="0"/>
                    </a:rPr>
                    <a:t>Refractive index ellipsoid equation</a:t>
                  </a:r>
                </a:p>
              </p:txBody>
            </p:sp>
          </p:grpSp>
          <p:sp>
            <p:nvSpPr>
              <p:cNvPr id="41" name="箭號: 向下 40">
                <a:extLst>
                  <a:ext uri="{FF2B5EF4-FFF2-40B4-BE49-F238E27FC236}">
                    <a16:creationId xmlns:a16="http://schemas.microsoft.com/office/drawing/2014/main" id="{D32F5250-0C78-4B0E-96CD-3C5DA9F035C1}"/>
                  </a:ext>
                </a:extLst>
              </p:cNvPr>
              <p:cNvSpPr/>
              <p:nvPr/>
            </p:nvSpPr>
            <p:spPr>
              <a:xfrm rot="16200000">
                <a:off x="2460037" y="3416417"/>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 name="箭號: 向下 41">
                <a:extLst>
                  <a:ext uri="{FF2B5EF4-FFF2-40B4-BE49-F238E27FC236}">
                    <a16:creationId xmlns:a16="http://schemas.microsoft.com/office/drawing/2014/main" id="{67C35EF6-D377-47DC-9B29-004F0C4B7890}"/>
                  </a:ext>
                </a:extLst>
              </p:cNvPr>
              <p:cNvSpPr/>
              <p:nvPr/>
            </p:nvSpPr>
            <p:spPr>
              <a:xfrm rot="16200000">
                <a:off x="2460036" y="4289304"/>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23" name="矩形 22">
              <a:extLst>
                <a:ext uri="{FF2B5EF4-FFF2-40B4-BE49-F238E27FC236}">
                  <a16:creationId xmlns:a16="http://schemas.microsoft.com/office/drawing/2014/main" id="{F365E425-12B3-4BA2-A154-DC7759636E86}"/>
                </a:ext>
              </a:extLst>
            </p:cNvPr>
            <p:cNvSpPr/>
            <p:nvPr/>
          </p:nvSpPr>
          <p:spPr>
            <a:xfrm>
              <a:off x="3865856" y="810745"/>
              <a:ext cx="604653" cy="215444"/>
            </a:xfrm>
            <a:prstGeom prst="rect">
              <a:avLst/>
            </a:prstGeom>
          </p:spPr>
          <p:txBody>
            <a:bodyPr wrap="none">
              <a:spAutoFit/>
            </a:bodyPr>
            <a:lstStyle/>
            <a:p>
              <a:r>
                <a:rPr lang="en-US" altLang="zh-TW" sz="800" b="1" dirty="0" err="1">
                  <a:solidFill>
                    <a:schemeClr val="accent2">
                      <a:lumMod val="50000"/>
                    </a:schemeClr>
                  </a:solidFill>
                  <a:latin typeface="Montserrat" panose="02020500000000000000" charset="0"/>
                  <a:ea typeface="標楷體" panose="03000509000000000000" pitchFamily="65" charset="-120"/>
                </a:rPr>
                <a:t>Pockels</a:t>
              </a:r>
              <a:endParaRPr lang="zh-TW" altLang="en-US" sz="800" b="1" dirty="0">
                <a:solidFill>
                  <a:schemeClr val="accent2">
                    <a:lumMod val="50000"/>
                  </a:schemeClr>
                </a:solidFill>
                <a:latin typeface="Montserrat" panose="02020500000000000000" charset="0"/>
              </a:endParaRPr>
            </a:p>
          </p:txBody>
        </p:sp>
        <p:sp>
          <p:nvSpPr>
            <p:cNvPr id="25" name="矩形 24">
              <a:extLst>
                <a:ext uri="{FF2B5EF4-FFF2-40B4-BE49-F238E27FC236}">
                  <a16:creationId xmlns:a16="http://schemas.microsoft.com/office/drawing/2014/main" id="{102845E4-9534-457E-A5A2-5971B3193624}"/>
                </a:ext>
              </a:extLst>
            </p:cNvPr>
            <p:cNvSpPr/>
            <p:nvPr/>
          </p:nvSpPr>
          <p:spPr>
            <a:xfrm>
              <a:off x="496328" y="1256342"/>
              <a:ext cx="1823218" cy="369332"/>
            </a:xfrm>
            <a:prstGeom prst="rect">
              <a:avLst/>
            </a:prstGeom>
          </p:spPr>
          <p:txBody>
            <a:bodyPr wrap="square">
              <a:spAutoFit/>
            </a:bodyPr>
            <a:lstStyle/>
            <a:p>
              <a:pPr algn="ctr"/>
              <a:r>
                <a:rPr lang="en-US" altLang="zh-TW" sz="900" dirty="0">
                  <a:solidFill>
                    <a:schemeClr val="tx2"/>
                  </a:solidFill>
                  <a:latin typeface="Montserrat" panose="02020500000000000000" charset="0"/>
                  <a:cs typeface="Aharoni" panose="02010803020104030203" pitchFamily="2" charset="-79"/>
                </a:rPr>
                <a:t>Impermeability tensor of negative uniaxial crystal</a:t>
              </a:r>
              <a:endParaRPr lang="zh-TW" altLang="en-US" sz="900" dirty="0">
                <a:solidFill>
                  <a:schemeClr val="tx2"/>
                </a:solidFill>
                <a:latin typeface="Montserrat" panose="02020500000000000000" charset="0"/>
                <a:cs typeface="Aharoni" panose="02010803020104030203" pitchFamily="2" charset="-79"/>
              </a:endParaRPr>
            </a:p>
          </p:txBody>
        </p:sp>
      </p:grpSp>
      <p:sp>
        <p:nvSpPr>
          <p:cNvPr id="27" name="文字方塊 26">
            <a:extLst>
              <a:ext uri="{FF2B5EF4-FFF2-40B4-BE49-F238E27FC236}">
                <a16:creationId xmlns:a16="http://schemas.microsoft.com/office/drawing/2014/main" id="{2448BB16-E224-436A-8BA0-F6019BC703E4}"/>
              </a:ext>
            </a:extLst>
          </p:cNvPr>
          <p:cNvSpPr txBox="1"/>
          <p:nvPr/>
        </p:nvSpPr>
        <p:spPr>
          <a:xfrm>
            <a:off x="8271260" y="1226083"/>
            <a:ext cx="352982" cy="246221"/>
          </a:xfrm>
          <a:prstGeom prst="rect">
            <a:avLst/>
          </a:prstGeom>
          <a:noFill/>
        </p:spPr>
        <p:txBody>
          <a:bodyPr wrap="none" rtlCol="0">
            <a:spAutoFit/>
          </a:bodyPr>
          <a:lstStyle/>
          <a:p>
            <a:r>
              <a:rPr lang="en-US" altLang="zh-TW" sz="1000" dirty="0">
                <a:latin typeface="Montserrat" panose="02020500000000000000" charset="0"/>
              </a:rPr>
              <a:t>(4)</a:t>
            </a:r>
            <a:endParaRPr lang="zh-TW" altLang="en-US" sz="1000" dirty="0">
              <a:latin typeface="Montserrat" panose="02020500000000000000" charset="0"/>
            </a:endParaRPr>
          </a:p>
        </p:txBody>
      </p:sp>
      <p:sp>
        <p:nvSpPr>
          <p:cNvPr id="38" name="文字方塊 37">
            <a:extLst>
              <a:ext uri="{FF2B5EF4-FFF2-40B4-BE49-F238E27FC236}">
                <a16:creationId xmlns:a16="http://schemas.microsoft.com/office/drawing/2014/main" id="{82B5D3A4-DF49-4949-8533-274BD74B7D5F}"/>
              </a:ext>
            </a:extLst>
          </p:cNvPr>
          <p:cNvSpPr txBox="1"/>
          <p:nvPr/>
        </p:nvSpPr>
        <p:spPr>
          <a:xfrm>
            <a:off x="3684610" y="2180745"/>
            <a:ext cx="340158" cy="246221"/>
          </a:xfrm>
          <a:prstGeom prst="rect">
            <a:avLst/>
          </a:prstGeom>
          <a:noFill/>
        </p:spPr>
        <p:txBody>
          <a:bodyPr wrap="none" rtlCol="0">
            <a:spAutoFit/>
          </a:bodyPr>
          <a:lstStyle/>
          <a:p>
            <a:r>
              <a:rPr lang="en-US" altLang="zh-TW" sz="1000" dirty="0">
                <a:latin typeface="Montserrat" panose="02020500000000000000" charset="0"/>
              </a:rPr>
              <a:t>(2)</a:t>
            </a:r>
            <a:endParaRPr lang="zh-TW" altLang="en-US" sz="1000" dirty="0">
              <a:latin typeface="Montserrat" panose="02020500000000000000" charset="0"/>
            </a:endParaRPr>
          </a:p>
        </p:txBody>
      </p:sp>
      <p:sp>
        <p:nvSpPr>
          <p:cNvPr id="39" name="文字方塊 38">
            <a:extLst>
              <a:ext uri="{FF2B5EF4-FFF2-40B4-BE49-F238E27FC236}">
                <a16:creationId xmlns:a16="http://schemas.microsoft.com/office/drawing/2014/main" id="{D4ABB8E1-C3C1-456F-A66C-77650F590669}"/>
              </a:ext>
            </a:extLst>
          </p:cNvPr>
          <p:cNvSpPr txBox="1"/>
          <p:nvPr/>
        </p:nvSpPr>
        <p:spPr>
          <a:xfrm>
            <a:off x="8258436" y="2180745"/>
            <a:ext cx="340158" cy="246221"/>
          </a:xfrm>
          <a:prstGeom prst="rect">
            <a:avLst/>
          </a:prstGeom>
          <a:noFill/>
        </p:spPr>
        <p:txBody>
          <a:bodyPr wrap="none" rtlCol="0">
            <a:spAutoFit/>
          </a:bodyPr>
          <a:lstStyle/>
          <a:p>
            <a:r>
              <a:rPr lang="en-US" altLang="zh-TW" sz="1000" dirty="0">
                <a:latin typeface="Montserrat" panose="02020500000000000000" charset="0"/>
              </a:rPr>
              <a:t>(5)</a:t>
            </a:r>
            <a:endParaRPr lang="zh-TW" altLang="en-US" sz="1000" dirty="0">
              <a:latin typeface="Montserrat" panose="02020500000000000000" charset="0"/>
            </a:endParaRPr>
          </a:p>
        </p:txBody>
      </p:sp>
      <p:sp>
        <p:nvSpPr>
          <p:cNvPr id="40" name="文字方塊 39">
            <a:extLst>
              <a:ext uri="{FF2B5EF4-FFF2-40B4-BE49-F238E27FC236}">
                <a16:creationId xmlns:a16="http://schemas.microsoft.com/office/drawing/2014/main" id="{EE575DEB-FC4D-4909-B96A-48B5A41ABFA8}"/>
              </a:ext>
            </a:extLst>
          </p:cNvPr>
          <p:cNvSpPr txBox="1"/>
          <p:nvPr/>
        </p:nvSpPr>
        <p:spPr>
          <a:xfrm>
            <a:off x="8269764" y="3438369"/>
            <a:ext cx="346570" cy="246221"/>
          </a:xfrm>
          <a:prstGeom prst="rect">
            <a:avLst/>
          </a:prstGeom>
          <a:noFill/>
        </p:spPr>
        <p:txBody>
          <a:bodyPr wrap="none" rtlCol="0">
            <a:spAutoFit/>
          </a:bodyPr>
          <a:lstStyle/>
          <a:p>
            <a:r>
              <a:rPr lang="en-US" altLang="zh-TW" sz="1000" dirty="0">
                <a:latin typeface="Montserrat" panose="02020500000000000000" charset="0"/>
              </a:rPr>
              <a:t>(6)</a:t>
            </a:r>
            <a:endParaRPr lang="zh-TW" altLang="en-US" sz="1000" dirty="0">
              <a:latin typeface="Montserrat" panose="02020500000000000000" charset="0"/>
            </a:endParaRPr>
          </a:p>
        </p:txBody>
      </p:sp>
      <p:sp>
        <p:nvSpPr>
          <p:cNvPr id="44" name="文字方塊 43">
            <a:extLst>
              <a:ext uri="{FF2B5EF4-FFF2-40B4-BE49-F238E27FC236}">
                <a16:creationId xmlns:a16="http://schemas.microsoft.com/office/drawing/2014/main" id="{5AFC4501-30D8-431B-BC33-73FAB448B81E}"/>
              </a:ext>
            </a:extLst>
          </p:cNvPr>
          <p:cNvSpPr txBox="1"/>
          <p:nvPr/>
        </p:nvSpPr>
        <p:spPr>
          <a:xfrm>
            <a:off x="8269764" y="4327598"/>
            <a:ext cx="343364" cy="246221"/>
          </a:xfrm>
          <a:prstGeom prst="rect">
            <a:avLst/>
          </a:prstGeom>
          <a:noFill/>
        </p:spPr>
        <p:txBody>
          <a:bodyPr wrap="none" rtlCol="0">
            <a:spAutoFit/>
          </a:bodyPr>
          <a:lstStyle/>
          <a:p>
            <a:r>
              <a:rPr lang="en-US" altLang="zh-TW" sz="1000" dirty="0">
                <a:latin typeface="Montserrat" panose="02020500000000000000" charset="0"/>
              </a:rPr>
              <a:t>(7)</a:t>
            </a:r>
            <a:endParaRPr lang="zh-TW" altLang="en-US" sz="1000" dirty="0">
              <a:latin typeface="Montserrat" panose="02020500000000000000" charset="0"/>
            </a:endParaRPr>
          </a:p>
        </p:txBody>
      </p: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9E224408-1736-40CB-9142-DBEBB997C8CE}"/>
                  </a:ext>
                </a:extLst>
              </p:cNvPr>
              <p:cNvSpPr/>
              <p:nvPr/>
            </p:nvSpPr>
            <p:spPr>
              <a:xfrm>
                <a:off x="6642790" y="654030"/>
                <a:ext cx="2259092" cy="501099"/>
              </a:xfrm>
              <a:prstGeom prst="rect">
                <a:avLst/>
              </a:prstGeom>
            </p:spPr>
            <p:txBody>
              <a:bodyPr wrap="square">
                <a:spAutoFit/>
              </a:bodyPr>
              <a:lstStyle/>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zh-TW" altLang="en-US" sz="900" i="1">
                            <a:latin typeface="Cambria Math" panose="02040503050406030204" pitchFamily="18" charset="0"/>
                          </a:rPr>
                          <m:t>𝜂</m:t>
                        </m:r>
                      </m:e>
                      <m:sub>
                        <m:r>
                          <a:rPr lang="zh-TW" altLang="en-US" sz="900" i="1">
                            <a:latin typeface="Cambria Math" panose="02040503050406030204" pitchFamily="18" charset="0"/>
                          </a:rPr>
                          <m:t>𝑖𝑗</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Impermeability tensor</a:t>
                </a:r>
              </a:p>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zh-TW" altLang="en-US" sz="900" i="1">
                            <a:latin typeface="Cambria Math" panose="02040503050406030204" pitchFamily="18" charset="0"/>
                          </a:rPr>
                          <m:t>𝑟</m:t>
                        </m:r>
                      </m:e>
                      <m:sub>
                        <m:r>
                          <a:rPr lang="zh-TW" altLang="en-US" sz="900">
                            <a:latin typeface="Cambria Math" panose="02040503050406030204" pitchFamily="18" charset="0"/>
                          </a:rPr>
                          <m:t>51</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Electro-optic coefficient tensor</a:t>
                </a:r>
              </a:p>
            </p:txBody>
          </p:sp>
        </mc:Choice>
        <mc:Fallback xmlns="">
          <p:sp>
            <p:nvSpPr>
              <p:cNvPr id="45" name="矩形 44">
                <a:extLst>
                  <a:ext uri="{FF2B5EF4-FFF2-40B4-BE49-F238E27FC236}">
                    <a16:creationId xmlns:a16="http://schemas.microsoft.com/office/drawing/2014/main" id="{9E224408-1736-40CB-9142-DBEBB997C8CE}"/>
                  </a:ext>
                </a:extLst>
              </p:cNvPr>
              <p:cNvSpPr>
                <a:spLocks noRot="1" noChangeAspect="1" noMove="1" noResize="1" noEditPoints="1" noAdjustHandles="1" noChangeArrowheads="1" noChangeShapeType="1" noTextEdit="1"/>
              </p:cNvSpPr>
              <p:nvPr/>
            </p:nvSpPr>
            <p:spPr>
              <a:xfrm>
                <a:off x="6642790" y="654030"/>
                <a:ext cx="2259092" cy="501099"/>
              </a:xfrm>
              <a:prstGeom prst="rect">
                <a:avLst/>
              </a:prstGeom>
              <a:blipFill>
                <a:blip r:embed="rId8"/>
                <a:stretch>
                  <a:fillRect b="-6098"/>
                </a:stretch>
              </a:blipFill>
            </p:spPr>
            <p:txBody>
              <a:bodyPr/>
              <a:lstStyle/>
              <a:p>
                <a:r>
                  <a:rPr lang="zh-TW" altLang="en-US">
                    <a:noFill/>
                  </a:rPr>
                  <a:t> </a:t>
                </a:r>
              </a:p>
            </p:txBody>
          </p:sp>
        </mc:Fallback>
      </mc:AlternateContent>
      <p:cxnSp>
        <p:nvCxnSpPr>
          <p:cNvPr id="36" name="直線接點 35">
            <a:extLst>
              <a:ext uri="{FF2B5EF4-FFF2-40B4-BE49-F238E27FC236}">
                <a16:creationId xmlns:a16="http://schemas.microsoft.com/office/drawing/2014/main" id="{A4968875-7FDB-4DFD-9875-D69240886C82}"/>
              </a:ext>
            </a:extLst>
          </p:cNvPr>
          <p:cNvCxnSpPr/>
          <p:nvPr/>
        </p:nvCxnSpPr>
        <p:spPr>
          <a:xfrm>
            <a:off x="7117080" y="4614869"/>
            <a:ext cx="625504" cy="0"/>
          </a:xfrm>
          <a:prstGeom prst="line">
            <a:avLst/>
          </a:prstGeom>
          <a:ln w="28575">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941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5E11F887-147E-45C5-BC09-457B449C0263}"/>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26</a:t>
            </a:r>
            <a:endParaRPr lang="zh-TW" altLang="en-US" sz="1100" dirty="0">
              <a:latin typeface="Montserrat" panose="02020500000000000000" charset="0"/>
            </a:endParaRPr>
          </a:p>
        </p:txBody>
      </p:sp>
      <p:grpSp>
        <p:nvGrpSpPr>
          <p:cNvPr id="5" name="群組 4">
            <a:extLst>
              <a:ext uri="{FF2B5EF4-FFF2-40B4-BE49-F238E27FC236}">
                <a16:creationId xmlns:a16="http://schemas.microsoft.com/office/drawing/2014/main" id="{C243D489-62CF-402D-9ACE-E7A36C02AE94}"/>
              </a:ext>
            </a:extLst>
          </p:cNvPr>
          <p:cNvGrpSpPr/>
          <p:nvPr/>
        </p:nvGrpSpPr>
        <p:grpSpPr>
          <a:xfrm>
            <a:off x="192683" y="-911"/>
            <a:ext cx="8761417" cy="295831"/>
            <a:chOff x="192683" y="-911"/>
            <a:chExt cx="8761417" cy="295831"/>
          </a:xfrm>
        </p:grpSpPr>
        <p:sp>
          <p:nvSpPr>
            <p:cNvPr id="6" name="矩形 5">
              <a:extLst>
                <a:ext uri="{FF2B5EF4-FFF2-40B4-BE49-F238E27FC236}">
                  <a16:creationId xmlns:a16="http://schemas.microsoft.com/office/drawing/2014/main" id="{A54E0A0A-F1BB-4BA5-B4B3-CE92A0E45CBF}"/>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40F3850-5D84-4A9D-AB4D-3E22099B2B67}"/>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A9FF0860-DBB8-4322-8B02-F98EAD0A568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C9D342C1-7902-483E-BB52-D4B3DEBCBB7B}"/>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30D87751-9ABA-4F2F-B210-4F9BAB68C51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1" name="矩形 10">
              <a:extLst>
                <a:ext uri="{FF2B5EF4-FFF2-40B4-BE49-F238E27FC236}">
                  <a16:creationId xmlns:a16="http://schemas.microsoft.com/office/drawing/2014/main" id="{ED4E45B5-FEEC-4D9E-89D5-BD44C35B5C2A}"/>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2" name="Google Shape;212;p36">
            <a:extLst>
              <a:ext uri="{FF2B5EF4-FFF2-40B4-BE49-F238E27FC236}">
                <a16:creationId xmlns:a16="http://schemas.microsoft.com/office/drawing/2014/main" id="{34AC4E8F-5360-4AC9-A806-40FB76C9C6E2}"/>
              </a:ext>
            </a:extLst>
          </p:cNvPr>
          <p:cNvSpPr txBox="1">
            <a:spLocks/>
          </p:cNvSpPr>
          <p:nvPr/>
        </p:nvSpPr>
        <p:spPr>
          <a:xfrm>
            <a:off x="943125" y="301738"/>
            <a:ext cx="7257750" cy="478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1800" b="1" i="0" u="none" strike="noStrike" cap="none">
                <a:solidFill>
                  <a:schemeClr val="dk1"/>
                </a:solidFill>
                <a:latin typeface="Open Sans"/>
                <a:ea typeface="Open Sans"/>
                <a:cs typeface="Open Sans"/>
                <a:sym typeface="Open Sans"/>
              </a:defRPr>
            </a:lvl1pPr>
            <a:lvl2pPr marR="0" lvl="1"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2pPr>
            <a:lvl3pPr marR="0" lvl="2"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3pPr>
            <a:lvl4pPr marR="0" lvl="3"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4pPr>
            <a:lvl5pPr marR="0" lvl="4"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5pPr>
            <a:lvl6pPr marR="0" lvl="5"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6pPr>
            <a:lvl7pPr marR="0" lvl="6"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7pPr>
            <a:lvl8pPr marR="0" lvl="7"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8pPr>
            <a:lvl9pPr marR="0" lvl="8"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9pPr>
          </a:lstStyle>
          <a:p>
            <a:r>
              <a:rPr lang="en-US" altLang="zh-TW" sz="2000" dirty="0">
                <a:latin typeface="Montserrat" panose="02020500000000000000" charset="0"/>
              </a:rPr>
              <a:t>Electro-optical polarization mode converter</a:t>
            </a:r>
          </a:p>
        </p:txBody>
      </p:sp>
      <p:grpSp>
        <p:nvGrpSpPr>
          <p:cNvPr id="24" name="群組 23">
            <a:extLst>
              <a:ext uri="{FF2B5EF4-FFF2-40B4-BE49-F238E27FC236}">
                <a16:creationId xmlns:a16="http://schemas.microsoft.com/office/drawing/2014/main" id="{650C501C-EF21-4A68-AEC8-E704C75EF5DF}"/>
              </a:ext>
            </a:extLst>
          </p:cNvPr>
          <p:cNvGrpSpPr/>
          <p:nvPr/>
        </p:nvGrpSpPr>
        <p:grpSpPr>
          <a:xfrm>
            <a:off x="943125" y="1883011"/>
            <a:ext cx="2146523" cy="1206961"/>
            <a:chOff x="943125" y="1364789"/>
            <a:chExt cx="2146523" cy="1206961"/>
          </a:xfrm>
        </p:grpSpPr>
        <p:grpSp>
          <p:nvGrpSpPr>
            <p:cNvPr id="13" name="群組 12">
              <a:extLst>
                <a:ext uri="{FF2B5EF4-FFF2-40B4-BE49-F238E27FC236}">
                  <a16:creationId xmlns:a16="http://schemas.microsoft.com/office/drawing/2014/main" id="{AA2F21DE-E7DA-4E50-8271-8C2171C7D8DD}"/>
                </a:ext>
              </a:extLst>
            </p:cNvPr>
            <p:cNvGrpSpPr/>
            <p:nvPr/>
          </p:nvGrpSpPr>
          <p:grpSpPr>
            <a:xfrm>
              <a:off x="943125" y="1364789"/>
              <a:ext cx="2146523" cy="370230"/>
              <a:chOff x="109687" y="1494309"/>
              <a:chExt cx="2146523" cy="370230"/>
            </a:xfrm>
          </p:grpSpPr>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AF4B2FAD-1CB7-4DFC-942F-6A7CC10B615B}"/>
                      </a:ext>
                    </a:extLst>
                  </p:cNvPr>
                  <p:cNvSpPr/>
                  <p:nvPr/>
                </p:nvSpPr>
                <p:spPr>
                  <a:xfrm>
                    <a:off x="109687" y="1494309"/>
                    <a:ext cx="1715405" cy="3702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TW" altLang="en-US" sz="1000" i="1">
                                  <a:latin typeface="Cambria Math" panose="02040503050406030204" pitchFamily="18" charset="0"/>
                                </a:rPr>
                              </m:ctrlPr>
                            </m:dPr>
                            <m:e>
                              <m:eqArr>
                                <m:eqArrPr>
                                  <m:ctrlPr>
                                    <a:rPr lang="zh-TW" altLang="en-US" sz="1000" i="1">
                                      <a:latin typeface="Cambria Math" panose="02040503050406030204" pitchFamily="18" charset="0"/>
                                    </a:rPr>
                                  </m:ctrlPr>
                                </m:eqArrPr>
                                <m:e>
                                  <m:r>
                                    <a:rPr lang="zh-TW" altLang="en-US" sz="1000">
                                      <a:latin typeface="Cambria Math" panose="02040503050406030204" pitchFamily="18" charset="0"/>
                                    </a:rPr>
                                    <m:t>&amp;</m:t>
                                  </m:r>
                                  <m:r>
                                    <a:rPr lang="zh-TW" altLang="en-US" sz="1000" i="1">
                                      <a:latin typeface="Cambria Math" panose="02040503050406030204" pitchFamily="18" charset="0"/>
                                    </a:rPr>
                                    <m:t>𝑦</m:t>
                                  </m:r>
                                </m:e>
                                <m:e>
                                  <m:r>
                                    <a:rPr lang="zh-TW" altLang="en-US" sz="1000" i="0">
                                      <a:latin typeface="Cambria Math" panose="02040503050406030204" pitchFamily="18" charset="0"/>
                                    </a:rPr>
                                    <m:t>&amp;</m:t>
                                  </m:r>
                                  <m:r>
                                    <a:rPr lang="zh-TW" altLang="en-US" sz="1000" i="1">
                                      <a:latin typeface="Cambria Math" panose="02040503050406030204" pitchFamily="18" charset="0"/>
                                    </a:rPr>
                                    <m:t>𝑧</m:t>
                                  </m:r>
                                </m:e>
                              </m:eqArr>
                            </m:e>
                          </m:d>
                          <m:r>
                            <a:rPr lang="zh-TW" altLang="en-US" sz="1000" i="0">
                              <a:latin typeface="Cambria Math" panose="02040503050406030204" pitchFamily="18" charset="0"/>
                            </a:rPr>
                            <m:t>=</m:t>
                          </m:r>
                          <m:d>
                            <m:dPr>
                              <m:ctrlPr>
                                <a:rPr lang="zh-TW" altLang="en-US" sz="1000" i="1">
                                  <a:latin typeface="Cambria Math" panose="02040503050406030204" pitchFamily="18" charset="0"/>
                                </a:rPr>
                              </m:ctrlPr>
                            </m:dPr>
                            <m:e>
                              <m:eqArr>
                                <m:eqArrPr>
                                  <m:ctrlPr>
                                    <a:rPr lang="zh-TW" altLang="en-US" sz="1000" i="1">
                                      <a:latin typeface="Cambria Math" panose="02040503050406030204" pitchFamily="18" charset="0"/>
                                    </a:rPr>
                                  </m:ctrlPr>
                                </m:eqArrPr>
                                <m:e>
                                  <m:r>
                                    <a:rPr lang="zh-TW" altLang="en-US" sz="1000" i="0">
                                      <a:latin typeface="Cambria Math" panose="02040503050406030204" pitchFamily="18" charset="0"/>
                                    </a:rPr>
                                    <m:t>&amp;</m:t>
                                  </m:r>
                                  <m:m>
                                    <m:mPr>
                                      <m:plcHide m:val="on"/>
                                      <m:mcs>
                                        <m:mc>
                                          <m:mcPr>
                                            <m:count m:val="2"/>
                                            <m:mcJc m:val="center"/>
                                          </m:mcPr>
                                        </m:mc>
                                      </m:mcs>
                                      <m:ctrlPr>
                                        <a:rPr lang="zh-TW" altLang="en-US" sz="1000" i="1">
                                          <a:latin typeface="Cambria Math" panose="02040503050406030204" pitchFamily="18" charset="0"/>
                                        </a:rPr>
                                      </m:ctrlPr>
                                    </m:mPr>
                                    <m:mr>
                                      <m:e>
                                        <m:r>
                                          <a:rPr lang="zh-TW" altLang="en-US" sz="1000" i="1">
                                            <a:latin typeface="Cambria Math" panose="02040503050406030204" pitchFamily="18" charset="0"/>
                                          </a:rPr>
                                          <m:t>𝑐𝑜𝑠</m:t>
                                        </m:r>
                                        <m:r>
                                          <a:rPr lang="zh-TW" altLang="en-US" sz="1000" i="1">
                                            <a:latin typeface="Cambria Math" panose="02040503050406030204" pitchFamily="18" charset="0"/>
                                          </a:rPr>
                                          <m:t>𝜃</m:t>
                                        </m:r>
                                      </m:e>
                                      <m:e>
                                        <m:r>
                                          <a:rPr lang="zh-TW" altLang="en-US" sz="1000" i="0">
                                            <a:latin typeface="Cambria Math" panose="02040503050406030204" pitchFamily="18" charset="0"/>
                                          </a:rPr>
                                          <m:t>−</m:t>
                                        </m:r>
                                        <m:r>
                                          <a:rPr lang="zh-TW" altLang="en-US" sz="1000" i="1">
                                            <a:latin typeface="Cambria Math" panose="02040503050406030204" pitchFamily="18" charset="0"/>
                                          </a:rPr>
                                          <m:t>𝑠𝑖𝑛</m:t>
                                        </m:r>
                                        <m:r>
                                          <a:rPr lang="zh-TW" altLang="en-US" sz="1000" i="1">
                                            <a:latin typeface="Cambria Math" panose="02040503050406030204" pitchFamily="18" charset="0"/>
                                          </a:rPr>
                                          <m:t>𝜃</m:t>
                                        </m:r>
                                      </m:e>
                                    </m:mr>
                                  </m:m>
                                </m:e>
                                <m:e>
                                  <m:r>
                                    <a:rPr lang="zh-TW" altLang="en-US" sz="1000" i="0">
                                      <a:latin typeface="Cambria Math" panose="02040503050406030204" pitchFamily="18" charset="0"/>
                                    </a:rPr>
                                    <m:t>&amp;</m:t>
                                  </m:r>
                                  <m:m>
                                    <m:mPr>
                                      <m:plcHide m:val="on"/>
                                      <m:mcs>
                                        <m:mc>
                                          <m:mcPr>
                                            <m:count m:val="2"/>
                                            <m:mcJc m:val="center"/>
                                          </m:mcPr>
                                        </m:mc>
                                      </m:mcs>
                                      <m:ctrlPr>
                                        <a:rPr lang="zh-TW" altLang="en-US" sz="1000" i="1">
                                          <a:latin typeface="Cambria Math" panose="02040503050406030204" pitchFamily="18" charset="0"/>
                                        </a:rPr>
                                      </m:ctrlPr>
                                    </m:mPr>
                                    <m:mr>
                                      <m:e>
                                        <m:r>
                                          <a:rPr lang="zh-TW" altLang="en-US" sz="1000" i="1">
                                            <a:latin typeface="Cambria Math" panose="02040503050406030204" pitchFamily="18" charset="0"/>
                                          </a:rPr>
                                          <m:t>𝑠𝑖𝑛</m:t>
                                        </m:r>
                                        <m:r>
                                          <a:rPr lang="zh-TW" altLang="en-US" sz="1000" i="1">
                                            <a:latin typeface="Cambria Math" panose="02040503050406030204" pitchFamily="18" charset="0"/>
                                          </a:rPr>
                                          <m:t>𝜃</m:t>
                                        </m:r>
                                      </m:e>
                                      <m:e>
                                        <m:r>
                                          <a:rPr lang="zh-TW" altLang="en-US" sz="1000" i="0">
                                            <a:latin typeface="Cambria Math" panose="02040503050406030204" pitchFamily="18" charset="0"/>
                                          </a:rPr>
                                          <m:t> </m:t>
                                        </m:r>
                                        <m:r>
                                          <a:rPr lang="zh-TW" altLang="en-US" sz="1000" i="1">
                                            <a:latin typeface="Cambria Math" panose="02040503050406030204" pitchFamily="18" charset="0"/>
                                          </a:rPr>
                                          <m:t>𝑐𝑜𝑠</m:t>
                                        </m:r>
                                        <m:r>
                                          <a:rPr lang="zh-TW" altLang="en-US" sz="1000" i="1">
                                            <a:latin typeface="Cambria Math" panose="02040503050406030204" pitchFamily="18" charset="0"/>
                                          </a:rPr>
                                          <m:t>𝜃</m:t>
                                        </m:r>
                                      </m:e>
                                    </m:mr>
                                  </m:m>
                                </m:e>
                              </m:eqArr>
                            </m:e>
                          </m:d>
                          <m:d>
                            <m:dPr>
                              <m:ctrlPr>
                                <a:rPr lang="zh-TW" altLang="en-US" sz="1000" i="1">
                                  <a:latin typeface="Cambria Math" panose="02040503050406030204" pitchFamily="18" charset="0"/>
                                </a:rPr>
                              </m:ctrlPr>
                            </m:dPr>
                            <m:e>
                              <m:eqArr>
                                <m:eqArrPr>
                                  <m:ctrlPr>
                                    <a:rPr lang="zh-TW" altLang="en-US" sz="1000" i="1">
                                      <a:latin typeface="Cambria Math" panose="02040503050406030204" pitchFamily="18" charset="0"/>
                                    </a:rPr>
                                  </m:ctrlPr>
                                </m:eqArrPr>
                                <m:e>
                                  <m:r>
                                    <a:rPr lang="zh-TW" altLang="en-US" sz="1000" i="0">
                                      <a:latin typeface="Cambria Math" panose="02040503050406030204" pitchFamily="18" charset="0"/>
                                    </a:rPr>
                                    <m:t>&amp;</m:t>
                                  </m:r>
                                  <m:sSup>
                                    <m:sSupPr>
                                      <m:ctrlPr>
                                        <a:rPr lang="zh-TW" altLang="en-US" sz="1000" i="1">
                                          <a:latin typeface="Cambria Math" panose="02040503050406030204" pitchFamily="18" charset="0"/>
                                        </a:rPr>
                                      </m:ctrlPr>
                                    </m:sSupPr>
                                    <m:e>
                                      <m:r>
                                        <a:rPr lang="zh-TW" altLang="en-US" sz="1000" i="1">
                                          <a:latin typeface="Cambria Math" panose="02040503050406030204" pitchFamily="18" charset="0"/>
                                        </a:rPr>
                                        <m:t>𝑦</m:t>
                                      </m:r>
                                    </m:e>
                                    <m:sup>
                                      <m:r>
                                        <a:rPr lang="zh-TW" altLang="en-US" sz="1000" i="0">
                                          <a:latin typeface="Cambria Math" panose="02040503050406030204" pitchFamily="18" charset="0"/>
                                        </a:rPr>
                                        <m:t>′</m:t>
                                      </m:r>
                                    </m:sup>
                                  </m:sSup>
                                </m:e>
                                <m:e>
                                  <m:r>
                                    <a:rPr lang="zh-TW" altLang="en-US" sz="1000" i="0">
                                      <a:latin typeface="Cambria Math" panose="02040503050406030204" pitchFamily="18" charset="0"/>
                                    </a:rPr>
                                    <m:t>&amp;</m:t>
                                  </m:r>
                                  <m:sSup>
                                    <m:sSupPr>
                                      <m:ctrlPr>
                                        <a:rPr lang="zh-TW" altLang="en-US" sz="1000" i="1">
                                          <a:latin typeface="Cambria Math" panose="02040503050406030204" pitchFamily="18" charset="0"/>
                                        </a:rPr>
                                      </m:ctrlPr>
                                    </m:sSupPr>
                                    <m:e>
                                      <m:r>
                                        <a:rPr lang="zh-TW" altLang="en-US" sz="1000" i="1">
                                          <a:latin typeface="Cambria Math" panose="02040503050406030204" pitchFamily="18" charset="0"/>
                                        </a:rPr>
                                        <m:t>𝑧</m:t>
                                      </m:r>
                                    </m:e>
                                    <m:sup>
                                      <m:r>
                                        <a:rPr lang="zh-TW" altLang="en-US" sz="1000" i="0">
                                          <a:latin typeface="Cambria Math" panose="02040503050406030204" pitchFamily="18" charset="0"/>
                                        </a:rPr>
                                        <m:t>′</m:t>
                                      </m:r>
                                    </m:sup>
                                  </m:sSup>
                                </m:e>
                              </m:eqArr>
                            </m:e>
                          </m:d>
                        </m:oMath>
                      </m:oMathPara>
                    </a14:m>
                    <a:endParaRPr lang="zh-TW" altLang="en-US" sz="1200" dirty="0"/>
                  </a:p>
                </p:txBody>
              </p:sp>
            </mc:Choice>
            <mc:Fallback xmlns="">
              <p:sp>
                <p:nvSpPr>
                  <p:cNvPr id="51" name="矩形 50">
                    <a:extLst>
                      <a:ext uri="{FF2B5EF4-FFF2-40B4-BE49-F238E27FC236}">
                        <a16:creationId xmlns:a16="http://schemas.microsoft.com/office/drawing/2014/main" id="{1984DD7C-9DAF-4816-A77F-ECC798057538}"/>
                      </a:ext>
                    </a:extLst>
                  </p:cNvPr>
                  <p:cNvSpPr>
                    <a:spLocks noRot="1" noChangeAspect="1" noMove="1" noResize="1" noEditPoints="1" noAdjustHandles="1" noChangeArrowheads="1" noChangeShapeType="1" noTextEdit="1"/>
                  </p:cNvSpPr>
                  <p:nvPr/>
                </p:nvSpPr>
                <p:spPr>
                  <a:xfrm>
                    <a:off x="109687" y="1494309"/>
                    <a:ext cx="1715405" cy="370230"/>
                  </a:xfrm>
                  <a:prstGeom prst="rect">
                    <a:avLst/>
                  </a:prstGeom>
                  <a:blipFill>
                    <a:blip r:embed="rId5"/>
                    <a:stretch>
                      <a:fillRect/>
                    </a:stretch>
                  </a:blipFill>
                </p:spPr>
                <p:txBody>
                  <a:bodyPr/>
                  <a:lstStyle/>
                  <a:p>
                    <a:r>
                      <a:rPr lang="zh-TW" altLang="en-US">
                        <a:noFill/>
                      </a:rPr>
                      <a:t> </a:t>
                    </a:r>
                  </a:p>
                </p:txBody>
              </p:sp>
            </mc:Fallback>
          </mc:AlternateContent>
          <p:sp>
            <p:nvSpPr>
              <p:cNvPr id="15" name="文字方塊 14">
                <a:extLst>
                  <a:ext uri="{FF2B5EF4-FFF2-40B4-BE49-F238E27FC236}">
                    <a16:creationId xmlns:a16="http://schemas.microsoft.com/office/drawing/2014/main" id="{FE33A8DE-F1A2-417B-9E8F-B0C1308B5F17}"/>
                  </a:ext>
                </a:extLst>
              </p:cNvPr>
              <p:cNvSpPr txBox="1"/>
              <p:nvPr/>
            </p:nvSpPr>
            <p:spPr>
              <a:xfrm>
                <a:off x="1906434" y="1552733"/>
                <a:ext cx="349776" cy="246221"/>
              </a:xfrm>
              <a:prstGeom prst="rect">
                <a:avLst/>
              </a:prstGeom>
              <a:noFill/>
            </p:spPr>
            <p:txBody>
              <a:bodyPr wrap="none" rtlCol="0">
                <a:spAutoFit/>
              </a:bodyPr>
              <a:lstStyle/>
              <a:p>
                <a:r>
                  <a:rPr lang="en-US" altLang="zh-TW" sz="1000" dirty="0">
                    <a:latin typeface="Montserrat" panose="02020500000000000000" charset="0"/>
                  </a:rPr>
                  <a:t>(8)</a:t>
                </a:r>
                <a:endParaRPr lang="zh-TW" altLang="en-US" sz="1000" dirty="0">
                  <a:latin typeface="Montserrat" panose="02020500000000000000" charset="0"/>
                </a:endParaRPr>
              </a:p>
            </p:txBody>
          </p:sp>
        </p:grpSp>
        <p:grpSp>
          <p:nvGrpSpPr>
            <p:cNvPr id="16" name="群組 15">
              <a:extLst>
                <a:ext uri="{FF2B5EF4-FFF2-40B4-BE49-F238E27FC236}">
                  <a16:creationId xmlns:a16="http://schemas.microsoft.com/office/drawing/2014/main" id="{DFC0BE5C-665A-4590-9EE8-F2338AA87AD4}"/>
                </a:ext>
              </a:extLst>
            </p:cNvPr>
            <p:cNvGrpSpPr/>
            <p:nvPr/>
          </p:nvGrpSpPr>
          <p:grpSpPr>
            <a:xfrm>
              <a:off x="1026121" y="1962031"/>
              <a:ext cx="2060321" cy="609719"/>
              <a:chOff x="192683" y="2091551"/>
              <a:chExt cx="2060321" cy="609719"/>
            </a:xfrm>
          </p:grpSpPr>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08C53058-C4F0-4473-86E8-6E220473FB9F}"/>
                      </a:ext>
                    </a:extLst>
                  </p:cNvPr>
                  <p:cNvSpPr/>
                  <p:nvPr/>
                </p:nvSpPr>
                <p:spPr>
                  <a:xfrm>
                    <a:off x="192683" y="2091551"/>
                    <a:ext cx="1453155" cy="6097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1000" i="1">
                              <a:latin typeface="Cambria Math" panose="02040503050406030204" pitchFamily="18" charset="0"/>
                            </a:rPr>
                            <m:t>𝜃</m:t>
                          </m:r>
                          <m:r>
                            <a:rPr lang="zh-TW" altLang="en-US" sz="1000" i="0">
                              <a:latin typeface="Cambria Math" panose="02040503050406030204" pitchFamily="18" charset="0"/>
                            </a:rPr>
                            <m:t>≈</m:t>
                          </m:r>
                          <m:r>
                            <m:rPr>
                              <m:sty m:val="p"/>
                            </m:rPr>
                            <a:rPr lang="zh-TW" altLang="en-US" sz="1000" i="0">
                              <a:latin typeface="Cambria Math" panose="02040503050406030204" pitchFamily="18" charset="0"/>
                            </a:rPr>
                            <m:t>tan</m:t>
                          </m:r>
                          <m:r>
                            <a:rPr lang="zh-TW" altLang="en-US" sz="1000" i="1">
                              <a:latin typeface="Cambria Math" panose="02040503050406030204" pitchFamily="18" charset="0"/>
                            </a:rPr>
                            <m:t>𝜃</m:t>
                          </m:r>
                          <m:r>
                            <a:rPr lang="zh-TW" altLang="en-US" sz="1000" i="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i="0">
                                  <a:latin typeface="Cambria Math" panose="02040503050406030204" pitchFamily="18" charset="0"/>
                                </a:rPr>
                                <m:t>2</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𝑟</m:t>
                                  </m:r>
                                </m:e>
                                <m:sub>
                                  <m:r>
                                    <a:rPr lang="zh-TW" altLang="en-US" sz="1000" i="0">
                                      <a:latin typeface="Cambria Math" panose="02040503050406030204" pitchFamily="18" charset="0"/>
                                    </a:rPr>
                                    <m:t>51</m:t>
                                  </m:r>
                                </m:sub>
                              </m:sSub>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𝐸</m:t>
                                  </m:r>
                                </m:e>
                                <m:sub>
                                  <m:r>
                                    <a:rPr lang="zh-TW" altLang="en-US" sz="1000" i="1">
                                      <a:latin typeface="Cambria Math" panose="02040503050406030204" pitchFamily="18" charset="0"/>
                                    </a:rPr>
                                    <m:t>𝑦</m:t>
                                  </m:r>
                                </m:sub>
                              </m:sSub>
                            </m:num>
                            <m:den>
                              <m:d>
                                <m:dPr>
                                  <m:ctrlPr>
                                    <a:rPr lang="zh-TW" altLang="en-US" sz="1000" i="1">
                                      <a:latin typeface="Cambria Math" panose="02040503050406030204" pitchFamily="18" charset="0"/>
                                    </a:rPr>
                                  </m:ctrlPr>
                                </m:dPr>
                                <m:e>
                                  <m:f>
                                    <m:fPr>
                                      <m:ctrlPr>
                                        <a:rPr lang="zh-TW" altLang="en-US" sz="1000" i="1">
                                          <a:latin typeface="Cambria Math" panose="02040503050406030204" pitchFamily="18" charset="0"/>
                                        </a:rPr>
                                      </m:ctrlPr>
                                    </m:fPr>
                                    <m:num>
                                      <m:r>
                                        <a:rPr lang="zh-TW" altLang="en-US" sz="1000" i="0">
                                          <a:latin typeface="Cambria Math" panose="02040503050406030204" pitchFamily="18" charset="0"/>
                                        </a:rPr>
                                        <m:t>1</m:t>
                                      </m:r>
                                    </m:num>
                                    <m:den>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𝑛</m:t>
                                          </m:r>
                                        </m:e>
                                        <m:sub>
                                          <m:r>
                                            <a:rPr lang="zh-TW" altLang="en-US" sz="1000" i="1">
                                              <a:latin typeface="Cambria Math" panose="02040503050406030204" pitchFamily="18" charset="0"/>
                                            </a:rPr>
                                            <m:t>𝑜</m:t>
                                          </m:r>
                                        </m:sub>
                                        <m:sup>
                                          <m:r>
                                            <a:rPr lang="zh-TW" altLang="en-US" sz="1000" i="0">
                                              <a:latin typeface="Cambria Math" panose="02040503050406030204" pitchFamily="18" charset="0"/>
                                            </a:rPr>
                                            <m:t>2</m:t>
                                          </m:r>
                                        </m:sup>
                                      </m:sSubSup>
                                    </m:den>
                                  </m:f>
                                  <m:r>
                                    <a:rPr lang="zh-TW" altLang="en-US" sz="1000" i="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i="0">
                                          <a:latin typeface="Cambria Math" panose="02040503050406030204" pitchFamily="18" charset="0"/>
                                        </a:rPr>
                                        <m:t>1</m:t>
                                      </m:r>
                                    </m:num>
                                    <m:den>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𝑛</m:t>
                                          </m:r>
                                        </m:e>
                                        <m:sub>
                                          <m:r>
                                            <a:rPr lang="zh-TW" altLang="en-US" sz="1000" i="1">
                                              <a:latin typeface="Cambria Math" panose="02040503050406030204" pitchFamily="18" charset="0"/>
                                            </a:rPr>
                                            <m:t>𝑒</m:t>
                                          </m:r>
                                        </m:sub>
                                        <m:sup>
                                          <m:r>
                                            <a:rPr lang="zh-TW" altLang="en-US" sz="1000" i="0">
                                              <a:latin typeface="Cambria Math" panose="02040503050406030204" pitchFamily="18" charset="0"/>
                                            </a:rPr>
                                            <m:t>2</m:t>
                                          </m:r>
                                        </m:sup>
                                      </m:sSubSup>
                                    </m:den>
                                  </m:f>
                                </m:e>
                              </m:d>
                            </m:den>
                          </m:f>
                        </m:oMath>
                      </m:oMathPara>
                    </a14:m>
                    <a:endParaRPr lang="zh-TW" altLang="en-US" sz="1400" dirty="0"/>
                  </a:p>
                </p:txBody>
              </p:sp>
            </mc:Choice>
            <mc:Fallback xmlns="">
              <p:sp>
                <p:nvSpPr>
                  <p:cNvPr id="52" name="矩形 51">
                    <a:extLst>
                      <a:ext uri="{FF2B5EF4-FFF2-40B4-BE49-F238E27FC236}">
                        <a16:creationId xmlns:a16="http://schemas.microsoft.com/office/drawing/2014/main" id="{0E78D0DB-747D-47B4-AC37-6C7D9106D1FB}"/>
                      </a:ext>
                    </a:extLst>
                  </p:cNvPr>
                  <p:cNvSpPr>
                    <a:spLocks noRot="1" noChangeAspect="1" noMove="1" noResize="1" noEditPoints="1" noAdjustHandles="1" noChangeArrowheads="1" noChangeShapeType="1" noTextEdit="1"/>
                  </p:cNvSpPr>
                  <p:nvPr/>
                </p:nvSpPr>
                <p:spPr>
                  <a:xfrm>
                    <a:off x="192683" y="2091551"/>
                    <a:ext cx="1453155" cy="609719"/>
                  </a:xfrm>
                  <a:prstGeom prst="rect">
                    <a:avLst/>
                  </a:prstGeom>
                  <a:blipFill>
                    <a:blip r:embed="rId6"/>
                    <a:stretch>
                      <a:fillRect/>
                    </a:stretch>
                  </a:blipFill>
                </p:spPr>
                <p:txBody>
                  <a:bodyPr/>
                  <a:lstStyle/>
                  <a:p>
                    <a:r>
                      <a:rPr lang="zh-TW" altLang="en-US">
                        <a:noFill/>
                      </a:rPr>
                      <a:t> </a:t>
                    </a:r>
                  </a:p>
                </p:txBody>
              </p:sp>
            </mc:Fallback>
          </mc:AlternateContent>
          <p:sp>
            <p:nvSpPr>
              <p:cNvPr id="18" name="文字方塊 17">
                <a:extLst>
                  <a:ext uri="{FF2B5EF4-FFF2-40B4-BE49-F238E27FC236}">
                    <a16:creationId xmlns:a16="http://schemas.microsoft.com/office/drawing/2014/main" id="{87C4E418-AD2B-4E11-A384-E580F16C001C}"/>
                  </a:ext>
                </a:extLst>
              </p:cNvPr>
              <p:cNvSpPr txBox="1"/>
              <p:nvPr/>
            </p:nvSpPr>
            <p:spPr>
              <a:xfrm>
                <a:off x="1906434" y="2150189"/>
                <a:ext cx="346570" cy="246221"/>
              </a:xfrm>
              <a:prstGeom prst="rect">
                <a:avLst/>
              </a:prstGeom>
              <a:noFill/>
            </p:spPr>
            <p:txBody>
              <a:bodyPr wrap="none" rtlCol="0">
                <a:spAutoFit/>
              </a:bodyPr>
              <a:lstStyle/>
              <a:p>
                <a:r>
                  <a:rPr lang="en-US" altLang="zh-TW" sz="1000" dirty="0">
                    <a:latin typeface="Montserrat" panose="02020500000000000000" charset="0"/>
                  </a:rPr>
                  <a:t>(9)</a:t>
                </a:r>
                <a:endParaRPr lang="zh-TW" altLang="en-US" sz="1000" dirty="0">
                  <a:latin typeface="Montserrat" panose="02020500000000000000" charset="0"/>
                </a:endParaRPr>
              </a:p>
            </p:txBody>
          </p:sp>
        </p:grpSp>
      </p:grpSp>
      <p:sp>
        <p:nvSpPr>
          <p:cNvPr id="19" name="矩形 18">
            <a:extLst>
              <a:ext uri="{FF2B5EF4-FFF2-40B4-BE49-F238E27FC236}">
                <a16:creationId xmlns:a16="http://schemas.microsoft.com/office/drawing/2014/main" id="{23D41D03-0BF4-437D-8BC7-ED1C3F458BAC}"/>
              </a:ext>
            </a:extLst>
          </p:cNvPr>
          <p:cNvSpPr/>
          <p:nvPr/>
        </p:nvSpPr>
        <p:spPr>
          <a:xfrm>
            <a:off x="943125" y="1217219"/>
            <a:ext cx="2488182" cy="246221"/>
          </a:xfrm>
          <a:prstGeom prst="rect">
            <a:avLst/>
          </a:prstGeom>
        </p:spPr>
        <p:txBody>
          <a:bodyPr wrap="none">
            <a:spAutoFit/>
          </a:bodyPr>
          <a:lstStyle/>
          <a:p>
            <a:r>
              <a:rPr lang="en-US" altLang="zh-TW" sz="1000" b="1" dirty="0">
                <a:latin typeface="Montserrat" panose="02020500000000000000" charset="0"/>
              </a:rPr>
              <a:t>Applied electric field in y direction</a:t>
            </a:r>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9B4FF38C-F81F-47B8-BAE1-42D62E65F47B}"/>
                  </a:ext>
                </a:extLst>
              </p:cNvPr>
              <p:cNvSpPr/>
              <p:nvPr/>
            </p:nvSpPr>
            <p:spPr>
              <a:xfrm>
                <a:off x="6608046" y="941075"/>
                <a:ext cx="2259092" cy="276679"/>
              </a:xfrm>
              <a:prstGeom prst="rect">
                <a:avLst/>
              </a:prstGeom>
            </p:spPr>
            <p:txBody>
              <a:bodyPr wrap="square">
                <a:spAutoFit/>
              </a:bodyPr>
              <a:lstStyle/>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zh-TW" altLang="en-US" sz="900" i="1">
                            <a:latin typeface="Cambria Math" panose="02040503050406030204" pitchFamily="18" charset="0"/>
                          </a:rPr>
                          <m:t>𝑟</m:t>
                        </m:r>
                      </m:e>
                      <m:sub>
                        <m:r>
                          <a:rPr lang="zh-TW" altLang="en-US" sz="900">
                            <a:latin typeface="Cambria Math" panose="02040503050406030204" pitchFamily="18" charset="0"/>
                          </a:rPr>
                          <m:t>51</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Electro-optic coefficient tensor</a:t>
                </a:r>
              </a:p>
            </p:txBody>
          </p:sp>
        </mc:Choice>
        <mc:Fallback xmlns="">
          <p:sp>
            <p:nvSpPr>
              <p:cNvPr id="28" name="矩形 27">
                <a:extLst>
                  <a:ext uri="{FF2B5EF4-FFF2-40B4-BE49-F238E27FC236}">
                    <a16:creationId xmlns:a16="http://schemas.microsoft.com/office/drawing/2014/main" id="{9B4FF38C-F81F-47B8-BAE1-42D62E65F47B}"/>
                  </a:ext>
                </a:extLst>
              </p:cNvPr>
              <p:cNvSpPr>
                <a:spLocks noRot="1" noChangeAspect="1" noMove="1" noResize="1" noEditPoints="1" noAdjustHandles="1" noChangeArrowheads="1" noChangeShapeType="1" noTextEdit="1"/>
              </p:cNvSpPr>
              <p:nvPr/>
            </p:nvSpPr>
            <p:spPr>
              <a:xfrm>
                <a:off x="6608046" y="941075"/>
                <a:ext cx="2259092" cy="276679"/>
              </a:xfrm>
              <a:prstGeom prst="rect">
                <a:avLst/>
              </a:prstGeom>
              <a:blipFill>
                <a:blip r:embed="rId7"/>
                <a:stretch>
                  <a:fillRect b="-8696"/>
                </a:stretch>
              </a:blipFill>
            </p:spPr>
            <p:txBody>
              <a:bodyPr/>
              <a:lstStyle/>
              <a:p>
                <a:r>
                  <a:rPr lang="zh-TW" altLang="en-US">
                    <a:noFill/>
                  </a:rPr>
                  <a:t> </a:t>
                </a:r>
              </a:p>
            </p:txBody>
          </p:sp>
        </mc:Fallback>
      </mc:AlternateContent>
      <p:grpSp>
        <p:nvGrpSpPr>
          <p:cNvPr id="121" name="群組 120">
            <a:extLst>
              <a:ext uri="{FF2B5EF4-FFF2-40B4-BE49-F238E27FC236}">
                <a16:creationId xmlns:a16="http://schemas.microsoft.com/office/drawing/2014/main" id="{16CD146A-95F1-4170-AC3F-0A0283BF8BFA}"/>
              </a:ext>
            </a:extLst>
          </p:cNvPr>
          <p:cNvGrpSpPr/>
          <p:nvPr/>
        </p:nvGrpSpPr>
        <p:grpSpPr>
          <a:xfrm>
            <a:off x="3538250" y="1399849"/>
            <a:ext cx="4444359" cy="2807779"/>
            <a:chOff x="3555113" y="1235181"/>
            <a:chExt cx="4444359" cy="2807779"/>
          </a:xfrm>
        </p:grpSpPr>
        <p:pic>
          <p:nvPicPr>
            <p:cNvPr id="23" name="圖片 22">
              <a:extLst>
                <a:ext uri="{FF2B5EF4-FFF2-40B4-BE49-F238E27FC236}">
                  <a16:creationId xmlns:a16="http://schemas.microsoft.com/office/drawing/2014/main" id="{4F09AFC8-3604-4CFD-95DA-E4ED1A38A257}"/>
                </a:ext>
              </a:extLst>
            </p:cNvPr>
            <p:cNvPicPr>
              <a:picLocks noChangeAspect="1"/>
            </p:cNvPicPr>
            <p:nvPr/>
          </p:nvPicPr>
          <p:blipFill>
            <a:blip r:embed="rId8"/>
            <a:stretch>
              <a:fillRect/>
            </a:stretch>
          </p:blipFill>
          <p:spPr>
            <a:xfrm>
              <a:off x="7567926" y="1425414"/>
              <a:ext cx="431546" cy="478200"/>
            </a:xfrm>
            <a:prstGeom prst="rect">
              <a:avLst/>
            </a:prstGeom>
          </p:spPr>
        </p:pic>
        <p:grpSp>
          <p:nvGrpSpPr>
            <p:cNvPr id="120" name="群組 119">
              <a:extLst>
                <a:ext uri="{FF2B5EF4-FFF2-40B4-BE49-F238E27FC236}">
                  <a16:creationId xmlns:a16="http://schemas.microsoft.com/office/drawing/2014/main" id="{13D66EBD-206E-4177-B108-7596BED06944}"/>
                </a:ext>
              </a:extLst>
            </p:cNvPr>
            <p:cNvGrpSpPr/>
            <p:nvPr/>
          </p:nvGrpSpPr>
          <p:grpSpPr>
            <a:xfrm>
              <a:off x="3555113" y="1235181"/>
              <a:ext cx="3921910" cy="2807779"/>
              <a:chOff x="3555113" y="1235181"/>
              <a:chExt cx="3921910" cy="2807779"/>
            </a:xfrm>
          </p:grpSpPr>
          <p:grpSp>
            <p:nvGrpSpPr>
              <p:cNvPr id="119" name="群組 118">
                <a:extLst>
                  <a:ext uri="{FF2B5EF4-FFF2-40B4-BE49-F238E27FC236}">
                    <a16:creationId xmlns:a16="http://schemas.microsoft.com/office/drawing/2014/main" id="{BEE16875-329A-4AAB-92F7-5D06882F6ECC}"/>
                  </a:ext>
                </a:extLst>
              </p:cNvPr>
              <p:cNvGrpSpPr/>
              <p:nvPr/>
            </p:nvGrpSpPr>
            <p:grpSpPr>
              <a:xfrm>
                <a:off x="5777899" y="1240598"/>
                <a:ext cx="1699124" cy="2802362"/>
                <a:chOff x="5777899" y="1240598"/>
                <a:chExt cx="1699124" cy="2802362"/>
              </a:xfrm>
            </p:grpSpPr>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7C01D000-8A58-4E21-BB7D-50293F4E381F}"/>
                        </a:ext>
                      </a:extLst>
                    </p:cNvPr>
                    <p:cNvSpPr/>
                    <p:nvPr/>
                  </p:nvSpPr>
                  <p:spPr>
                    <a:xfrm>
                      <a:off x="5914181" y="3433241"/>
                      <a:ext cx="1316706" cy="609719"/>
                    </a:xfrm>
                    <a:prstGeom prst="rect">
                      <a:avLst/>
                    </a:prstGeom>
                    <a:noFill/>
                    <a:ln>
                      <a:no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1000" i="1" smtClean="0">
                                    <a:latin typeface="Cambria Math" panose="02040503050406030204" pitchFamily="18" charset="0"/>
                                  </a:rPr>
                                </m:ctrlPr>
                              </m:sSupPr>
                              <m:e>
                                <m:r>
                                  <a:rPr lang="zh-TW" altLang="en-US" sz="1000" i="1" smtClean="0">
                                    <a:latin typeface="Cambria Math" panose="02040503050406030204" pitchFamily="18" charset="0"/>
                                  </a:rPr>
                                  <m:t>𝜃</m:t>
                                </m:r>
                              </m:e>
                              <m:sup>
                                <m:r>
                                  <a:rPr lang="en-US" altLang="zh-TW" sz="1000" b="0" i="1" smtClean="0">
                                    <a:latin typeface="Cambria Math" panose="02040503050406030204" pitchFamily="18" charset="0"/>
                                  </a:rPr>
                                  <m:t>′</m:t>
                                </m:r>
                              </m:sup>
                            </m:sSup>
                            <m:r>
                              <a:rPr lang="zh-TW" altLang="en-US" sz="1000">
                                <a:latin typeface="Cambria Math" panose="02040503050406030204" pitchFamily="18" charset="0"/>
                              </a:rPr>
                              <m:t>≈</m:t>
                            </m:r>
                            <m:r>
                              <a:rPr lang="zh-TW" altLang="en-US" sz="1000" i="1">
                                <a:latin typeface="Cambria Math" panose="02040503050406030204" pitchFamily="18" charset="0"/>
                              </a:rPr>
                              <m:t>𝜃</m:t>
                            </m:r>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2</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𝑟</m:t>
                                    </m:r>
                                  </m:e>
                                  <m:sub>
                                    <m:r>
                                      <a:rPr lang="zh-TW" altLang="en-US" sz="1000">
                                        <a:latin typeface="Cambria Math" panose="02040503050406030204" pitchFamily="18" charset="0"/>
                                      </a:rPr>
                                      <m:t>51</m:t>
                                    </m:r>
                                  </m:sub>
                                </m:sSub>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𝐸</m:t>
                                    </m:r>
                                  </m:e>
                                  <m:sub>
                                    <m:r>
                                      <a:rPr lang="zh-TW" altLang="en-US" sz="1000" i="1">
                                        <a:latin typeface="Cambria Math" panose="02040503050406030204" pitchFamily="18" charset="0"/>
                                      </a:rPr>
                                      <m:t>𝑦</m:t>
                                    </m:r>
                                  </m:sub>
                                </m:sSub>
                              </m:num>
                              <m:den>
                                <m:d>
                                  <m:dPr>
                                    <m:ctrlPr>
                                      <a:rPr lang="zh-TW" altLang="en-US" sz="1000" i="1">
                                        <a:latin typeface="Cambria Math" panose="02040503050406030204" pitchFamily="18" charset="0"/>
                                      </a:rPr>
                                    </m:ctrlPr>
                                  </m:dPr>
                                  <m:e>
                                    <m:f>
                                      <m:fPr>
                                        <m:ctrlPr>
                                          <a:rPr lang="zh-TW" altLang="en-US" sz="1000" i="1">
                                            <a:latin typeface="Cambria Math" panose="02040503050406030204" pitchFamily="18" charset="0"/>
                                          </a:rPr>
                                        </m:ctrlPr>
                                      </m:fPr>
                                      <m:num>
                                        <m:r>
                                          <a:rPr lang="zh-TW" altLang="en-US" sz="1000">
                                            <a:latin typeface="Cambria Math" panose="02040503050406030204" pitchFamily="18" charset="0"/>
                                          </a:rPr>
                                          <m:t>1</m:t>
                                        </m:r>
                                      </m:num>
                                      <m:den>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𝑛</m:t>
                                            </m:r>
                                          </m:e>
                                          <m:sub>
                                            <m:r>
                                              <a:rPr lang="zh-TW" altLang="en-US" sz="1000" i="1">
                                                <a:latin typeface="Cambria Math" panose="02040503050406030204" pitchFamily="18" charset="0"/>
                                              </a:rPr>
                                              <m:t>𝑜</m:t>
                                            </m:r>
                                          </m:sub>
                                          <m:sup>
                                            <m:r>
                                              <a:rPr lang="zh-TW" altLang="en-US" sz="1000">
                                                <a:latin typeface="Cambria Math" panose="02040503050406030204" pitchFamily="18" charset="0"/>
                                              </a:rPr>
                                              <m:t>2</m:t>
                                            </m:r>
                                          </m:sup>
                                        </m:sSubSup>
                                      </m:den>
                                    </m:f>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1</m:t>
                                        </m:r>
                                      </m:num>
                                      <m:den>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𝑛</m:t>
                                            </m:r>
                                          </m:e>
                                          <m:sub>
                                            <m:r>
                                              <a:rPr lang="zh-TW" altLang="en-US" sz="1000" i="1">
                                                <a:latin typeface="Cambria Math" panose="02040503050406030204" pitchFamily="18" charset="0"/>
                                              </a:rPr>
                                              <m:t>𝑒</m:t>
                                            </m:r>
                                          </m:sub>
                                          <m:sup>
                                            <m:r>
                                              <a:rPr lang="zh-TW" altLang="en-US" sz="1000">
                                                <a:latin typeface="Cambria Math" panose="02040503050406030204" pitchFamily="18" charset="0"/>
                                              </a:rPr>
                                              <m:t>2</m:t>
                                            </m:r>
                                          </m:sup>
                                        </m:sSubSup>
                                      </m:den>
                                    </m:f>
                                  </m:e>
                                </m:d>
                              </m:den>
                            </m:f>
                          </m:oMath>
                        </m:oMathPara>
                      </a14:m>
                      <a:endParaRPr lang="zh-TW" altLang="en-US" sz="1200" dirty="0"/>
                    </a:p>
                  </p:txBody>
                </p:sp>
              </mc:Choice>
              <mc:Fallback xmlns="">
                <p:sp>
                  <p:nvSpPr>
                    <p:cNvPr id="21" name="矩形 20">
                      <a:extLst>
                        <a:ext uri="{FF2B5EF4-FFF2-40B4-BE49-F238E27FC236}">
                          <a16:creationId xmlns:a16="http://schemas.microsoft.com/office/drawing/2014/main" id="{7C01D000-8A58-4E21-BB7D-50293F4E381F}"/>
                        </a:ext>
                      </a:extLst>
                    </p:cNvPr>
                    <p:cNvSpPr>
                      <a:spLocks noRot="1" noChangeAspect="1" noMove="1" noResize="1" noEditPoints="1" noAdjustHandles="1" noChangeArrowheads="1" noChangeShapeType="1" noTextEdit="1"/>
                    </p:cNvSpPr>
                    <p:nvPr/>
                  </p:nvSpPr>
                  <p:spPr>
                    <a:xfrm>
                      <a:off x="5914181" y="3433241"/>
                      <a:ext cx="1316706" cy="609719"/>
                    </a:xfrm>
                    <a:prstGeom prst="rect">
                      <a:avLst/>
                    </a:prstGeom>
                    <a:blipFill>
                      <a:blip r:embed="rId9"/>
                      <a:stretch>
                        <a:fillRect/>
                      </a:stretch>
                    </a:blipFill>
                    <a:ln>
                      <a:noFill/>
                    </a:ln>
                  </p:spPr>
                  <p:txBody>
                    <a:bodyPr/>
                    <a:lstStyle/>
                    <a:p>
                      <a:r>
                        <a:rPr lang="zh-TW" altLang="en-US">
                          <a:noFill/>
                        </a:rPr>
                        <a:t> </a:t>
                      </a:r>
                    </a:p>
                  </p:txBody>
                </p:sp>
              </mc:Fallback>
            </mc:AlternateContent>
            <p:grpSp>
              <p:nvGrpSpPr>
                <p:cNvPr id="116" name="群組 115">
                  <a:extLst>
                    <a:ext uri="{FF2B5EF4-FFF2-40B4-BE49-F238E27FC236}">
                      <a16:creationId xmlns:a16="http://schemas.microsoft.com/office/drawing/2014/main" id="{DB71BDE6-FF24-4B69-8A9E-857CD7FAA95E}"/>
                    </a:ext>
                  </a:extLst>
                </p:cNvPr>
                <p:cNvGrpSpPr/>
                <p:nvPr/>
              </p:nvGrpSpPr>
              <p:grpSpPr>
                <a:xfrm>
                  <a:off x="5777899" y="1240598"/>
                  <a:ext cx="1699124" cy="2123036"/>
                  <a:chOff x="3625525" y="1054658"/>
                  <a:chExt cx="1699124" cy="2123036"/>
                </a:xfrm>
              </p:grpSpPr>
              <p:grpSp>
                <p:nvGrpSpPr>
                  <p:cNvPr id="77" name="群組 76">
                    <a:extLst>
                      <a:ext uri="{FF2B5EF4-FFF2-40B4-BE49-F238E27FC236}">
                        <a16:creationId xmlns:a16="http://schemas.microsoft.com/office/drawing/2014/main" id="{D4EF0228-D1FE-4803-8AB3-65D34EC45310}"/>
                      </a:ext>
                    </a:extLst>
                  </p:cNvPr>
                  <p:cNvGrpSpPr/>
                  <p:nvPr/>
                </p:nvGrpSpPr>
                <p:grpSpPr>
                  <a:xfrm>
                    <a:off x="3804759" y="1612243"/>
                    <a:ext cx="1519890" cy="1565451"/>
                    <a:chOff x="3804759" y="1612243"/>
                    <a:chExt cx="1519890" cy="1565451"/>
                  </a:xfrm>
                </p:grpSpPr>
                <p:grpSp>
                  <p:nvGrpSpPr>
                    <p:cNvPr id="68" name="群組 67">
                      <a:extLst>
                        <a:ext uri="{FF2B5EF4-FFF2-40B4-BE49-F238E27FC236}">
                          <a16:creationId xmlns:a16="http://schemas.microsoft.com/office/drawing/2014/main" id="{18A75E62-67CF-4A4A-A2F2-CBE9FBE4102A}"/>
                        </a:ext>
                      </a:extLst>
                    </p:cNvPr>
                    <p:cNvGrpSpPr/>
                    <p:nvPr/>
                  </p:nvGrpSpPr>
                  <p:grpSpPr>
                    <a:xfrm>
                      <a:off x="3804759" y="1612243"/>
                      <a:ext cx="1264997" cy="1376386"/>
                      <a:chOff x="3804759" y="1612243"/>
                      <a:chExt cx="1264997" cy="1376386"/>
                    </a:xfrm>
                  </p:grpSpPr>
                  <p:grpSp>
                    <p:nvGrpSpPr>
                      <p:cNvPr id="60" name="群組 59">
                        <a:extLst>
                          <a:ext uri="{FF2B5EF4-FFF2-40B4-BE49-F238E27FC236}">
                            <a16:creationId xmlns:a16="http://schemas.microsoft.com/office/drawing/2014/main" id="{3A76ED23-81DD-4FE4-87EE-B2CA74C31DC9}"/>
                          </a:ext>
                        </a:extLst>
                      </p:cNvPr>
                      <p:cNvGrpSpPr/>
                      <p:nvPr/>
                    </p:nvGrpSpPr>
                    <p:grpSpPr>
                      <a:xfrm>
                        <a:off x="3804759" y="1612243"/>
                        <a:ext cx="1264997" cy="1376386"/>
                        <a:chOff x="3804759" y="1612243"/>
                        <a:chExt cx="1264997" cy="1376386"/>
                      </a:xfrm>
                    </p:grpSpPr>
                    <p:grpSp>
                      <p:nvGrpSpPr>
                        <p:cNvPr id="51" name="群組 50">
                          <a:extLst>
                            <a:ext uri="{FF2B5EF4-FFF2-40B4-BE49-F238E27FC236}">
                              <a16:creationId xmlns:a16="http://schemas.microsoft.com/office/drawing/2014/main" id="{873D11BE-969D-4F71-8FF1-1EED53524FA5}"/>
                            </a:ext>
                          </a:extLst>
                        </p:cNvPr>
                        <p:cNvGrpSpPr/>
                        <p:nvPr/>
                      </p:nvGrpSpPr>
                      <p:grpSpPr>
                        <a:xfrm>
                          <a:off x="3804759" y="1728629"/>
                          <a:ext cx="1260000" cy="1260000"/>
                          <a:chOff x="3804759" y="1728629"/>
                          <a:chExt cx="1260000" cy="1260000"/>
                        </a:xfrm>
                      </p:grpSpPr>
                      <p:grpSp>
                        <p:nvGrpSpPr>
                          <p:cNvPr id="45" name="群組 44">
                            <a:extLst>
                              <a:ext uri="{FF2B5EF4-FFF2-40B4-BE49-F238E27FC236}">
                                <a16:creationId xmlns:a16="http://schemas.microsoft.com/office/drawing/2014/main" id="{055AB909-352C-4E1B-BF13-4253A7D79902}"/>
                              </a:ext>
                            </a:extLst>
                          </p:cNvPr>
                          <p:cNvGrpSpPr/>
                          <p:nvPr/>
                        </p:nvGrpSpPr>
                        <p:grpSpPr>
                          <a:xfrm>
                            <a:off x="3804759" y="1728629"/>
                            <a:ext cx="1260000" cy="1260000"/>
                            <a:chOff x="3804759" y="1728629"/>
                            <a:chExt cx="1260000" cy="1260000"/>
                          </a:xfrm>
                        </p:grpSpPr>
                        <p:sp>
                          <p:nvSpPr>
                            <p:cNvPr id="2" name="立方體 1">
                              <a:extLst>
                                <a:ext uri="{FF2B5EF4-FFF2-40B4-BE49-F238E27FC236}">
                                  <a16:creationId xmlns:a16="http://schemas.microsoft.com/office/drawing/2014/main" id="{CE50FED7-1B48-41D1-B03A-A9BC857C8C14}"/>
                                </a:ext>
                              </a:extLst>
                            </p:cNvPr>
                            <p:cNvSpPr/>
                            <p:nvPr/>
                          </p:nvSpPr>
                          <p:spPr>
                            <a:xfrm>
                              <a:off x="3804759" y="1728629"/>
                              <a:ext cx="1260000" cy="1260000"/>
                            </a:xfrm>
                            <a:prstGeom prst="cube">
                              <a:avLst>
                                <a:gd name="adj" fmla="val 13723"/>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44" name="群組 43">
                              <a:extLst>
                                <a:ext uri="{FF2B5EF4-FFF2-40B4-BE49-F238E27FC236}">
                                  <a16:creationId xmlns:a16="http://schemas.microsoft.com/office/drawing/2014/main" id="{2D660FE6-FEE6-4015-A112-E01F48FF4424}"/>
                                </a:ext>
                              </a:extLst>
                            </p:cNvPr>
                            <p:cNvGrpSpPr/>
                            <p:nvPr/>
                          </p:nvGrpSpPr>
                          <p:grpSpPr>
                            <a:xfrm>
                              <a:off x="4329953" y="1810818"/>
                              <a:ext cx="719333" cy="797399"/>
                              <a:chOff x="4329953" y="1810818"/>
                              <a:chExt cx="719333" cy="797399"/>
                            </a:xfrm>
                          </p:grpSpPr>
                          <p:grpSp>
                            <p:nvGrpSpPr>
                              <p:cNvPr id="33" name="群組 32">
                                <a:extLst>
                                  <a:ext uri="{FF2B5EF4-FFF2-40B4-BE49-F238E27FC236}">
                                    <a16:creationId xmlns:a16="http://schemas.microsoft.com/office/drawing/2014/main" id="{3745C13E-C388-480D-ADC3-BC32DCC20106}"/>
                                  </a:ext>
                                </a:extLst>
                              </p:cNvPr>
                              <p:cNvGrpSpPr/>
                              <p:nvPr/>
                            </p:nvGrpSpPr>
                            <p:grpSpPr>
                              <a:xfrm>
                                <a:off x="4329953" y="1810818"/>
                                <a:ext cx="612000" cy="612000"/>
                                <a:chOff x="4329953" y="1810818"/>
                                <a:chExt cx="612000" cy="612000"/>
                              </a:xfrm>
                            </p:grpSpPr>
                            <p:cxnSp>
                              <p:nvCxnSpPr>
                                <p:cNvPr id="30" name="直線單箭頭接點 29">
                                  <a:extLst>
                                    <a:ext uri="{FF2B5EF4-FFF2-40B4-BE49-F238E27FC236}">
                                      <a16:creationId xmlns:a16="http://schemas.microsoft.com/office/drawing/2014/main" id="{52DF41AE-E3FB-4306-A71C-A4837C181A59}"/>
                                    </a:ext>
                                  </a:extLst>
                                </p:cNvPr>
                                <p:cNvCxnSpPr/>
                                <p:nvPr/>
                              </p:nvCxnSpPr>
                              <p:spPr>
                                <a:xfrm>
                                  <a:off x="4329953" y="2422818"/>
                                  <a:ext cx="612000" cy="0"/>
                                </a:xfrm>
                                <a:prstGeom prst="straightConnector1">
                                  <a:avLst/>
                                </a:prstGeom>
                                <a:ln>
                                  <a:solidFill>
                                    <a:schemeClr val="tx1"/>
                                  </a:solidFill>
                                  <a:headEnd w="med"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1E4B0682-2B7A-4741-9FBF-E80706E09635}"/>
                                    </a:ext>
                                  </a:extLst>
                                </p:cNvPr>
                                <p:cNvCxnSpPr>
                                  <a:cxnSpLocks/>
                                </p:cNvCxnSpPr>
                                <p:nvPr/>
                              </p:nvCxnSpPr>
                              <p:spPr>
                                <a:xfrm flipV="1">
                                  <a:off x="4329953" y="1810818"/>
                                  <a:ext cx="0" cy="612000"/>
                                </a:xfrm>
                                <a:prstGeom prst="straightConnector1">
                                  <a:avLst/>
                                </a:prstGeom>
                                <a:ln>
                                  <a:solidFill>
                                    <a:schemeClr val="tx1"/>
                                  </a:solidFill>
                                  <a:headEnd w="med" len="med"/>
                                  <a:tailEnd type="triangle" w="sm" len="med"/>
                                </a:ln>
                              </p:spPr>
                              <p:style>
                                <a:lnRef idx="1">
                                  <a:schemeClr val="accent1"/>
                                </a:lnRef>
                                <a:fillRef idx="0">
                                  <a:schemeClr val="accent1"/>
                                </a:fillRef>
                                <a:effectRef idx="0">
                                  <a:schemeClr val="accent1"/>
                                </a:effectRef>
                                <a:fontRef idx="minor">
                                  <a:schemeClr val="tx1"/>
                                </a:fontRef>
                              </p:style>
                            </p:cxnSp>
                          </p:grpSp>
                          <p:grpSp>
                            <p:nvGrpSpPr>
                              <p:cNvPr id="34" name="群組 33">
                                <a:extLst>
                                  <a:ext uri="{FF2B5EF4-FFF2-40B4-BE49-F238E27FC236}">
                                    <a16:creationId xmlns:a16="http://schemas.microsoft.com/office/drawing/2014/main" id="{0C77FD8C-B9E4-441F-9EA8-BD4674D0F7B2}"/>
                                  </a:ext>
                                </a:extLst>
                              </p:cNvPr>
                              <p:cNvGrpSpPr/>
                              <p:nvPr/>
                            </p:nvGrpSpPr>
                            <p:grpSpPr>
                              <a:xfrm rot="1666336">
                                <a:off x="4437286" y="1996217"/>
                                <a:ext cx="612000" cy="612000"/>
                                <a:chOff x="4329953" y="1810818"/>
                                <a:chExt cx="612000" cy="612000"/>
                              </a:xfrm>
                            </p:grpSpPr>
                            <p:cxnSp>
                              <p:nvCxnSpPr>
                                <p:cNvPr id="35" name="直線單箭頭接點 34">
                                  <a:extLst>
                                    <a:ext uri="{FF2B5EF4-FFF2-40B4-BE49-F238E27FC236}">
                                      <a16:creationId xmlns:a16="http://schemas.microsoft.com/office/drawing/2014/main" id="{771D5B44-C1E7-4B2A-A72E-B8EAF6354396}"/>
                                    </a:ext>
                                  </a:extLst>
                                </p:cNvPr>
                                <p:cNvCxnSpPr/>
                                <p:nvPr/>
                              </p:nvCxnSpPr>
                              <p:spPr>
                                <a:xfrm>
                                  <a:off x="4329953" y="2422818"/>
                                  <a:ext cx="612000" cy="0"/>
                                </a:xfrm>
                                <a:prstGeom prst="straightConnector1">
                                  <a:avLst/>
                                </a:prstGeom>
                                <a:ln>
                                  <a:solidFill>
                                    <a:schemeClr val="tx1"/>
                                  </a:solidFill>
                                  <a:prstDash val="dash"/>
                                  <a:headEnd w="med"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19DB7424-4B42-49ED-BB97-803835E35CE9}"/>
                                    </a:ext>
                                  </a:extLst>
                                </p:cNvPr>
                                <p:cNvCxnSpPr>
                                  <a:cxnSpLocks/>
                                </p:cNvCxnSpPr>
                                <p:nvPr/>
                              </p:nvCxnSpPr>
                              <p:spPr>
                                <a:xfrm flipV="1">
                                  <a:off x="4329953" y="1810818"/>
                                  <a:ext cx="0" cy="612000"/>
                                </a:xfrm>
                                <a:prstGeom prst="straightConnector1">
                                  <a:avLst/>
                                </a:prstGeom>
                                <a:ln>
                                  <a:solidFill>
                                    <a:schemeClr val="tx1"/>
                                  </a:solidFill>
                                  <a:prstDash val="dash"/>
                                  <a:headEnd w="med" len="med"/>
                                  <a:tailEnd type="triangle" w="sm" len="med"/>
                                </a:ln>
                              </p:spPr>
                              <p:style>
                                <a:lnRef idx="1">
                                  <a:schemeClr val="accent1"/>
                                </a:lnRef>
                                <a:fillRef idx="0">
                                  <a:schemeClr val="accent1"/>
                                </a:fillRef>
                                <a:effectRef idx="0">
                                  <a:schemeClr val="accent1"/>
                                </a:effectRef>
                                <a:fontRef idx="minor">
                                  <a:schemeClr val="tx1"/>
                                </a:fontRef>
                              </p:style>
                            </p:cxnSp>
                          </p:grpSp>
                        </p:grpSp>
                      </p:grpSp>
                      <p:sp>
                        <p:nvSpPr>
                          <p:cNvPr id="47" name="箭號: 向下 46">
                            <a:extLst>
                              <a:ext uri="{FF2B5EF4-FFF2-40B4-BE49-F238E27FC236}">
                                <a16:creationId xmlns:a16="http://schemas.microsoft.com/office/drawing/2014/main" id="{BFEF1E65-ED6F-4A40-9B88-7E68F1A1BEB3}"/>
                              </a:ext>
                            </a:extLst>
                          </p:cNvPr>
                          <p:cNvSpPr/>
                          <p:nvPr/>
                        </p:nvSpPr>
                        <p:spPr>
                          <a:xfrm>
                            <a:off x="3930279" y="2092193"/>
                            <a:ext cx="139005" cy="661248"/>
                          </a:xfrm>
                          <a:prstGeom prst="downArrow">
                            <a:avLst/>
                          </a:prstGeom>
                          <a:solidFill>
                            <a:schemeClr val="accent5">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E6D730BE-C13C-4720-8337-3CBD7C44B7F7}"/>
                                  </a:ext>
                                </a:extLst>
                              </p:cNvPr>
                              <p:cNvSpPr txBox="1"/>
                              <p:nvPr/>
                            </p:nvSpPr>
                            <p:spPr>
                              <a:xfrm>
                                <a:off x="4057729" y="2328275"/>
                                <a:ext cx="156710"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100" i="1" smtClean="0">
                                              <a:solidFill>
                                                <a:schemeClr val="accent3">
                                                  <a:lumMod val="65000"/>
                                                  <a:lumOff val="35000"/>
                                                </a:schemeClr>
                                              </a:solidFill>
                                              <a:latin typeface="Cambria Math" panose="02040503050406030204" pitchFamily="18" charset="0"/>
                                            </a:rPr>
                                          </m:ctrlPr>
                                        </m:sSubPr>
                                        <m:e>
                                          <m:r>
                                            <a:rPr lang="en-US" altLang="zh-TW" sz="1100" b="0" i="1" smtClean="0">
                                              <a:solidFill>
                                                <a:schemeClr val="accent3">
                                                  <a:lumMod val="65000"/>
                                                  <a:lumOff val="35000"/>
                                                </a:schemeClr>
                                              </a:solidFill>
                                              <a:latin typeface="Cambria Math" panose="02040503050406030204" pitchFamily="18" charset="0"/>
                                            </a:rPr>
                                            <m:t>𝑃</m:t>
                                          </m:r>
                                        </m:e>
                                        <m:sub>
                                          <m:r>
                                            <a:rPr lang="en-US" altLang="zh-TW" sz="1100" b="0" i="1" smtClean="0">
                                              <a:solidFill>
                                                <a:schemeClr val="accent3">
                                                  <a:lumMod val="65000"/>
                                                  <a:lumOff val="35000"/>
                                                </a:schemeClr>
                                              </a:solidFill>
                                              <a:latin typeface="Cambria Math" panose="02040503050406030204" pitchFamily="18" charset="0"/>
                                            </a:rPr>
                                            <m:t>𝑠</m:t>
                                          </m:r>
                                        </m:sub>
                                      </m:sSub>
                                    </m:oMath>
                                  </m:oMathPara>
                                </a14:m>
                                <a:endParaRPr lang="zh-TW" altLang="en-US" dirty="0"/>
                              </a:p>
                            </p:txBody>
                          </p:sp>
                        </mc:Choice>
                        <mc:Fallback xmlns="">
                          <p:sp>
                            <p:nvSpPr>
                              <p:cNvPr id="49" name="文字方塊 48">
                                <a:extLst>
                                  <a:ext uri="{FF2B5EF4-FFF2-40B4-BE49-F238E27FC236}">
                                    <a16:creationId xmlns:a16="http://schemas.microsoft.com/office/drawing/2014/main" id="{E6D730BE-C13C-4720-8337-3CBD7C44B7F7}"/>
                                  </a:ext>
                                </a:extLst>
                              </p:cNvPr>
                              <p:cNvSpPr txBox="1">
                                <a:spLocks noRot="1" noChangeAspect="1" noMove="1" noResize="1" noEditPoints="1" noAdjustHandles="1" noChangeArrowheads="1" noChangeShapeType="1" noTextEdit="1"/>
                              </p:cNvSpPr>
                              <p:nvPr/>
                            </p:nvSpPr>
                            <p:spPr>
                              <a:xfrm>
                                <a:off x="4057729" y="2328275"/>
                                <a:ext cx="156710" cy="169277"/>
                              </a:xfrm>
                              <a:prstGeom prst="rect">
                                <a:avLst/>
                              </a:prstGeom>
                              <a:blipFill>
                                <a:blip r:embed="rId10"/>
                                <a:stretch>
                                  <a:fillRect l="-19231" b="-1428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71C3DCAF-4631-4BD9-95B6-E29438B014B7}"/>
                                </a:ext>
                              </a:extLst>
                            </p:cNvPr>
                            <p:cNvSpPr txBox="1"/>
                            <p:nvPr/>
                          </p:nvSpPr>
                          <p:spPr>
                            <a:xfrm>
                              <a:off x="4270127" y="1612243"/>
                              <a:ext cx="119648"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𝑧</m:t>
                                    </m:r>
                                  </m:oMath>
                                </m:oMathPara>
                              </a14:m>
                              <a:endParaRPr lang="zh-TW" altLang="en-US" sz="1200" dirty="0"/>
                            </a:p>
                          </p:txBody>
                        </p:sp>
                      </mc:Choice>
                      <mc:Fallback xmlns="">
                        <p:sp>
                          <p:nvSpPr>
                            <p:cNvPr id="53" name="文字方塊 52">
                              <a:extLst>
                                <a:ext uri="{FF2B5EF4-FFF2-40B4-BE49-F238E27FC236}">
                                  <a16:creationId xmlns:a16="http://schemas.microsoft.com/office/drawing/2014/main" id="{71C3DCAF-4631-4BD9-95B6-E29438B014B7}"/>
                                </a:ext>
                              </a:extLst>
                            </p:cNvPr>
                            <p:cNvSpPr txBox="1">
                              <a:spLocks noRot="1" noChangeAspect="1" noMove="1" noResize="1" noEditPoints="1" noAdjustHandles="1" noChangeArrowheads="1" noChangeShapeType="1" noTextEdit="1"/>
                            </p:cNvSpPr>
                            <p:nvPr/>
                          </p:nvSpPr>
                          <p:spPr>
                            <a:xfrm>
                              <a:off x="4270127" y="1612243"/>
                              <a:ext cx="119648" cy="184666"/>
                            </a:xfrm>
                            <a:prstGeom prst="rect">
                              <a:avLst/>
                            </a:prstGeom>
                            <a:blipFill>
                              <a:blip r:embed="rId11"/>
                              <a:stretch>
                                <a:fillRect l="-15789" r="-157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C651FB5D-39EB-447F-B5BC-8CD4C80BB325}"/>
                                </a:ext>
                              </a:extLst>
                            </p:cNvPr>
                            <p:cNvSpPr txBox="1"/>
                            <p:nvPr/>
                          </p:nvSpPr>
                          <p:spPr>
                            <a:xfrm>
                              <a:off x="4937284" y="2312885"/>
                              <a:ext cx="132472"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𝑦</m:t>
                                    </m:r>
                                  </m:oMath>
                                </m:oMathPara>
                              </a14:m>
                              <a:endParaRPr lang="zh-TW" altLang="en-US" sz="1200" dirty="0"/>
                            </a:p>
                          </p:txBody>
                        </p:sp>
                      </mc:Choice>
                      <mc:Fallback xmlns="">
                        <p:sp>
                          <p:nvSpPr>
                            <p:cNvPr id="55" name="文字方塊 54">
                              <a:extLst>
                                <a:ext uri="{FF2B5EF4-FFF2-40B4-BE49-F238E27FC236}">
                                  <a16:creationId xmlns:a16="http://schemas.microsoft.com/office/drawing/2014/main" id="{C651FB5D-39EB-447F-B5BC-8CD4C80BB325}"/>
                                </a:ext>
                              </a:extLst>
                            </p:cNvPr>
                            <p:cNvSpPr txBox="1">
                              <a:spLocks noRot="1" noChangeAspect="1" noMove="1" noResize="1" noEditPoints="1" noAdjustHandles="1" noChangeArrowheads="1" noChangeShapeType="1" noTextEdit="1"/>
                            </p:cNvSpPr>
                            <p:nvPr/>
                          </p:nvSpPr>
                          <p:spPr>
                            <a:xfrm>
                              <a:off x="4937284" y="2312885"/>
                              <a:ext cx="132472" cy="184666"/>
                            </a:xfrm>
                            <a:prstGeom prst="rect">
                              <a:avLst/>
                            </a:prstGeom>
                            <a:blipFill>
                              <a:blip r:embed="rId12"/>
                              <a:stretch>
                                <a:fillRect l="-22727" r="-22727"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F4EEA7A5-D11C-4F96-8DE0-837E76B165A3}"/>
                                </a:ext>
                              </a:extLst>
                            </p:cNvPr>
                            <p:cNvSpPr txBox="1"/>
                            <p:nvPr/>
                          </p:nvSpPr>
                          <p:spPr>
                            <a:xfrm>
                              <a:off x="4605192" y="1704576"/>
                              <a:ext cx="17100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1200" i="1" smtClean="0">
                                            <a:latin typeface="Cambria Math" panose="02040503050406030204" pitchFamily="18" charset="0"/>
                                          </a:rPr>
                                        </m:ctrlPr>
                                      </m:sSupPr>
                                      <m:e>
                                        <m:r>
                                          <a:rPr lang="en-US" altLang="zh-TW" sz="1200" b="0" i="1" smtClean="0">
                                            <a:latin typeface="Cambria Math" panose="02040503050406030204" pitchFamily="18" charset="0"/>
                                          </a:rPr>
                                          <m:t>𝑧</m:t>
                                        </m:r>
                                      </m:e>
                                      <m:sup>
                                        <m:r>
                                          <a:rPr lang="en-US" altLang="zh-TW" sz="1200" b="0" i="1" smtClean="0">
                                            <a:latin typeface="Cambria Math" panose="02040503050406030204" pitchFamily="18" charset="0"/>
                                          </a:rPr>
                                          <m:t>′</m:t>
                                        </m:r>
                                      </m:sup>
                                    </m:sSup>
                                  </m:oMath>
                                </m:oMathPara>
                              </a14:m>
                              <a:endParaRPr lang="zh-TW" altLang="en-US" dirty="0"/>
                            </a:p>
                          </p:txBody>
                        </p:sp>
                      </mc:Choice>
                      <mc:Fallback xmlns="">
                        <p:sp>
                          <p:nvSpPr>
                            <p:cNvPr id="58" name="文字方塊 57">
                              <a:extLst>
                                <a:ext uri="{FF2B5EF4-FFF2-40B4-BE49-F238E27FC236}">
                                  <a16:creationId xmlns:a16="http://schemas.microsoft.com/office/drawing/2014/main" id="{F4EEA7A5-D11C-4F96-8DE0-837E76B165A3}"/>
                                </a:ext>
                              </a:extLst>
                            </p:cNvPr>
                            <p:cNvSpPr txBox="1">
                              <a:spLocks noRot="1" noChangeAspect="1" noMove="1" noResize="1" noEditPoints="1" noAdjustHandles="1" noChangeArrowheads="1" noChangeShapeType="1" noTextEdit="1"/>
                            </p:cNvSpPr>
                            <p:nvPr/>
                          </p:nvSpPr>
                          <p:spPr>
                            <a:xfrm>
                              <a:off x="4605192" y="1704576"/>
                              <a:ext cx="171009" cy="184666"/>
                            </a:xfrm>
                            <a:prstGeom prst="rect">
                              <a:avLst/>
                            </a:prstGeom>
                            <a:blipFill>
                              <a:blip r:embed="rId13"/>
                              <a:stretch>
                                <a:fillRect l="-10714" b="-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29DF0BFA-6258-468F-8D98-542518951D23}"/>
                                </a:ext>
                              </a:extLst>
                            </p:cNvPr>
                            <p:cNvSpPr txBox="1"/>
                            <p:nvPr/>
                          </p:nvSpPr>
                          <p:spPr>
                            <a:xfrm>
                              <a:off x="4865932" y="2598843"/>
                              <a:ext cx="18383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1200" i="1" smtClean="0">
                                            <a:latin typeface="Cambria Math" panose="02040503050406030204" pitchFamily="18" charset="0"/>
                                          </a:rPr>
                                        </m:ctrlPr>
                                      </m:sSupPr>
                                      <m:e>
                                        <m:r>
                                          <a:rPr lang="en-US" altLang="zh-TW" sz="1200" b="0" i="1" smtClean="0">
                                            <a:latin typeface="Cambria Math" panose="02040503050406030204" pitchFamily="18" charset="0"/>
                                          </a:rPr>
                                          <m:t>𝑦</m:t>
                                        </m:r>
                                      </m:e>
                                      <m:sup>
                                        <m:r>
                                          <a:rPr lang="en-US" altLang="zh-TW" sz="1200" b="0" i="1" smtClean="0">
                                            <a:latin typeface="Cambria Math" panose="02040503050406030204" pitchFamily="18" charset="0"/>
                                          </a:rPr>
                                          <m:t>′</m:t>
                                        </m:r>
                                      </m:sup>
                                    </m:sSup>
                                  </m:oMath>
                                </m:oMathPara>
                              </a14:m>
                              <a:endParaRPr lang="zh-TW" altLang="en-US" dirty="0"/>
                            </a:p>
                          </p:txBody>
                        </p:sp>
                      </mc:Choice>
                      <mc:Fallback xmlns="">
                        <p:sp>
                          <p:nvSpPr>
                            <p:cNvPr id="59" name="文字方塊 58">
                              <a:extLst>
                                <a:ext uri="{FF2B5EF4-FFF2-40B4-BE49-F238E27FC236}">
                                  <a16:creationId xmlns:a16="http://schemas.microsoft.com/office/drawing/2014/main" id="{29DF0BFA-6258-468F-8D98-542518951D23}"/>
                                </a:ext>
                              </a:extLst>
                            </p:cNvPr>
                            <p:cNvSpPr txBox="1">
                              <a:spLocks noRot="1" noChangeAspect="1" noMove="1" noResize="1" noEditPoints="1" noAdjustHandles="1" noChangeArrowheads="1" noChangeShapeType="1" noTextEdit="1"/>
                            </p:cNvSpPr>
                            <p:nvPr/>
                          </p:nvSpPr>
                          <p:spPr>
                            <a:xfrm>
                              <a:off x="4865932" y="2598843"/>
                              <a:ext cx="183833" cy="184666"/>
                            </a:xfrm>
                            <a:prstGeom prst="rect">
                              <a:avLst/>
                            </a:prstGeom>
                            <a:blipFill>
                              <a:blip r:embed="rId14"/>
                              <a:stretch>
                                <a:fillRect l="-16667" b="-26667"/>
                              </a:stretch>
                            </a:blipFill>
                          </p:spPr>
                          <p:txBody>
                            <a:bodyPr/>
                            <a:lstStyle/>
                            <a:p>
                              <a:r>
                                <a:rPr lang="zh-TW" altLang="en-US">
                                  <a:noFill/>
                                </a:rPr>
                                <a:t> </a:t>
                              </a:r>
                            </a:p>
                          </p:txBody>
                        </p:sp>
                      </mc:Fallback>
                    </mc:AlternateContent>
                  </p:grpSp>
                  <p:sp>
                    <p:nvSpPr>
                      <p:cNvPr id="64" name="弧形 63">
                        <a:extLst>
                          <a:ext uri="{FF2B5EF4-FFF2-40B4-BE49-F238E27FC236}">
                            <a16:creationId xmlns:a16="http://schemas.microsoft.com/office/drawing/2014/main" id="{D3397E4F-EFB6-43D1-A838-0ECE077792BB}"/>
                          </a:ext>
                        </a:extLst>
                      </p:cNvPr>
                      <p:cNvSpPr/>
                      <p:nvPr/>
                    </p:nvSpPr>
                    <p:spPr>
                      <a:xfrm rot="20181054">
                        <a:off x="4241160" y="2126063"/>
                        <a:ext cx="263592" cy="262476"/>
                      </a:xfrm>
                      <a:prstGeom prst="arc">
                        <a:avLst>
                          <a:gd name="adj1" fmla="val 16697387"/>
                          <a:gd name="adj2" fmla="val 20514267"/>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E0F7F37F-F1A1-454C-84A8-C30EC9BB2AF1}"/>
                              </a:ext>
                            </a:extLst>
                          </p:cNvPr>
                          <p:cNvSpPr/>
                          <p:nvPr/>
                        </p:nvSpPr>
                        <p:spPr>
                          <a:xfrm>
                            <a:off x="4259749" y="1885913"/>
                            <a:ext cx="31899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1200" i="1" smtClean="0">
                                      <a:solidFill>
                                        <a:schemeClr val="tx2"/>
                                      </a:solidFill>
                                      <a:latin typeface="Cambria Math" panose="02040503050406030204" pitchFamily="18" charset="0"/>
                                    </a:rPr>
                                    <m:t>𝜃</m:t>
                                  </m:r>
                                </m:oMath>
                              </m:oMathPara>
                            </a14:m>
                            <a:endParaRPr lang="zh-TW" altLang="en-US" sz="1200" dirty="0">
                              <a:solidFill>
                                <a:schemeClr val="tx2"/>
                              </a:solidFill>
                            </a:endParaRPr>
                          </a:p>
                        </p:txBody>
                      </p:sp>
                    </mc:Choice>
                    <mc:Fallback xmlns="">
                      <p:sp>
                        <p:nvSpPr>
                          <p:cNvPr id="67" name="矩形 66">
                            <a:extLst>
                              <a:ext uri="{FF2B5EF4-FFF2-40B4-BE49-F238E27FC236}">
                                <a16:creationId xmlns:a16="http://schemas.microsoft.com/office/drawing/2014/main" id="{E0F7F37F-F1A1-454C-84A8-C30EC9BB2AF1}"/>
                              </a:ext>
                            </a:extLst>
                          </p:cNvPr>
                          <p:cNvSpPr>
                            <a:spLocks noRot="1" noChangeAspect="1" noMove="1" noResize="1" noEditPoints="1" noAdjustHandles="1" noChangeArrowheads="1" noChangeShapeType="1" noTextEdit="1"/>
                          </p:cNvSpPr>
                          <p:nvPr/>
                        </p:nvSpPr>
                        <p:spPr>
                          <a:xfrm>
                            <a:off x="4259749" y="1885913"/>
                            <a:ext cx="318997" cy="276999"/>
                          </a:xfrm>
                          <a:prstGeom prst="rect">
                            <a:avLst/>
                          </a:prstGeom>
                          <a:blipFill>
                            <a:blip r:embed="rId15"/>
                            <a:stretch>
                              <a:fillRect/>
                            </a:stretch>
                          </a:blipFill>
                        </p:spPr>
                        <p:txBody>
                          <a:bodyPr/>
                          <a:lstStyle/>
                          <a:p>
                            <a:r>
                              <a:rPr lang="zh-TW" altLang="en-US">
                                <a:noFill/>
                              </a:rPr>
                              <a:t> </a:t>
                            </a:r>
                          </a:p>
                        </p:txBody>
                      </p:sp>
                    </mc:Fallback>
                  </mc:AlternateContent>
                </p:grpSp>
                <p:cxnSp>
                  <p:nvCxnSpPr>
                    <p:cNvPr id="72" name="直線單箭頭接點 71">
                      <a:extLst>
                        <a:ext uri="{FF2B5EF4-FFF2-40B4-BE49-F238E27FC236}">
                          <a16:creationId xmlns:a16="http://schemas.microsoft.com/office/drawing/2014/main" id="{9C60E43A-CE5D-4988-B83B-93FD8E270BAF}"/>
                        </a:ext>
                      </a:extLst>
                    </p:cNvPr>
                    <p:cNvCxnSpPr>
                      <a:cxnSpLocks/>
                    </p:cNvCxnSpPr>
                    <p:nvPr/>
                  </p:nvCxnSpPr>
                  <p:spPr>
                    <a:xfrm flipV="1">
                      <a:off x="4977139" y="2831411"/>
                      <a:ext cx="186480" cy="187116"/>
                    </a:xfrm>
                    <a:prstGeom prst="straightConnector1">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文字方塊 74">
                          <a:extLst>
                            <a:ext uri="{FF2B5EF4-FFF2-40B4-BE49-F238E27FC236}">
                              <a16:creationId xmlns:a16="http://schemas.microsoft.com/office/drawing/2014/main" id="{1257105A-19DE-4FAF-A1FF-5A30D2989399}"/>
                            </a:ext>
                          </a:extLst>
                        </p:cNvPr>
                        <p:cNvSpPr txBox="1"/>
                        <p:nvPr/>
                      </p:nvSpPr>
                      <p:spPr>
                        <a:xfrm>
                          <a:off x="5129596" y="2889538"/>
                          <a:ext cx="195053" cy="2881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000" i="1" smtClean="0">
                                        <a:latin typeface="Cambria Math" panose="02040503050406030204" pitchFamily="18" charset="0"/>
                                      </a:rPr>
                                    </m:ctrlPr>
                                  </m:fPr>
                                  <m:num>
                                    <m:r>
                                      <a:rPr lang="en-US" altLang="zh-TW" sz="1000" b="0" i="1" smtClean="0">
                                        <a:latin typeface="Cambria Math" panose="02040503050406030204" pitchFamily="18" charset="0"/>
                                      </a:rPr>
                                      <m:t>1</m:t>
                                    </m:r>
                                  </m:num>
                                  <m:den>
                                    <m:r>
                                      <a:rPr lang="en-US" altLang="zh-TW" sz="1000" b="0" i="1" smtClean="0">
                                        <a:latin typeface="Cambria Math" panose="02040503050406030204" pitchFamily="18" charset="0"/>
                                      </a:rPr>
                                      <m:t>2</m:t>
                                    </m:r>
                                  </m:den>
                                </m:f>
                                <m:r>
                                  <a:rPr lang="zh-TW" altLang="en-US" sz="1000" i="1" smtClean="0">
                                    <a:latin typeface="Cambria Math" panose="02040503050406030204" pitchFamily="18" charset="0"/>
                                  </a:rPr>
                                  <m:t>𝜆</m:t>
                                </m:r>
                              </m:oMath>
                            </m:oMathPara>
                          </a14:m>
                          <a:endParaRPr lang="zh-TW" altLang="en-US" dirty="0"/>
                        </a:p>
                      </p:txBody>
                    </p:sp>
                  </mc:Choice>
                  <mc:Fallback xmlns="">
                    <p:sp>
                      <p:nvSpPr>
                        <p:cNvPr id="75" name="文字方塊 74">
                          <a:extLst>
                            <a:ext uri="{FF2B5EF4-FFF2-40B4-BE49-F238E27FC236}">
                              <a16:creationId xmlns:a16="http://schemas.microsoft.com/office/drawing/2014/main" id="{1257105A-19DE-4FAF-A1FF-5A30D2989399}"/>
                            </a:ext>
                          </a:extLst>
                        </p:cNvPr>
                        <p:cNvSpPr txBox="1">
                          <a:spLocks noRot="1" noChangeAspect="1" noMove="1" noResize="1" noEditPoints="1" noAdjustHandles="1" noChangeArrowheads="1" noChangeShapeType="1" noTextEdit="1"/>
                        </p:cNvSpPr>
                        <p:nvPr/>
                      </p:nvSpPr>
                      <p:spPr>
                        <a:xfrm>
                          <a:off x="5129596" y="2889538"/>
                          <a:ext cx="195053" cy="288156"/>
                        </a:xfrm>
                        <a:prstGeom prst="rect">
                          <a:avLst/>
                        </a:prstGeom>
                        <a:blipFill>
                          <a:blip r:embed="rId16"/>
                          <a:stretch>
                            <a:fillRect l="-15625" t="-2128" r="-15625" b="-14894"/>
                          </a:stretch>
                        </a:blipFill>
                      </p:spPr>
                      <p:txBody>
                        <a:bodyPr/>
                        <a:lstStyle/>
                        <a:p>
                          <a:r>
                            <a:rPr lang="zh-TW" altLang="en-US">
                              <a:noFill/>
                            </a:rPr>
                            <a:t> </a:t>
                          </a:r>
                        </a:p>
                      </p:txBody>
                    </p:sp>
                  </mc:Fallback>
                </mc:AlternateContent>
              </p:grpSp>
              <p:grpSp>
                <p:nvGrpSpPr>
                  <p:cNvPr id="102" name="群組 101">
                    <a:extLst>
                      <a:ext uri="{FF2B5EF4-FFF2-40B4-BE49-F238E27FC236}">
                        <a16:creationId xmlns:a16="http://schemas.microsoft.com/office/drawing/2014/main" id="{EA3924F9-2AEA-46F1-95A6-C68B6E5ED844}"/>
                      </a:ext>
                    </a:extLst>
                  </p:cNvPr>
                  <p:cNvGrpSpPr/>
                  <p:nvPr/>
                </p:nvGrpSpPr>
                <p:grpSpPr>
                  <a:xfrm>
                    <a:off x="3625525" y="1322528"/>
                    <a:ext cx="1548134" cy="981703"/>
                    <a:chOff x="3625525" y="1322528"/>
                    <a:chExt cx="1548134" cy="1036101"/>
                  </a:xfrm>
                </p:grpSpPr>
                <p:cxnSp>
                  <p:nvCxnSpPr>
                    <p:cNvPr id="82" name="直線接點 81">
                      <a:extLst>
                        <a:ext uri="{FF2B5EF4-FFF2-40B4-BE49-F238E27FC236}">
                          <a16:creationId xmlns:a16="http://schemas.microsoft.com/office/drawing/2014/main" id="{C66871DB-2F30-426E-85F2-2C4E4CB24FD9}"/>
                        </a:ext>
                      </a:extLst>
                    </p:cNvPr>
                    <p:cNvCxnSpPr>
                      <a:cxnSpLocks/>
                    </p:cNvCxnSpPr>
                    <p:nvPr/>
                  </p:nvCxnSpPr>
                  <p:spPr>
                    <a:xfrm flipV="1">
                      <a:off x="3625525" y="1463440"/>
                      <a:ext cx="0" cy="895189"/>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85" name="直線接點 84">
                      <a:extLst>
                        <a:ext uri="{FF2B5EF4-FFF2-40B4-BE49-F238E27FC236}">
                          <a16:creationId xmlns:a16="http://schemas.microsoft.com/office/drawing/2014/main" id="{693566BF-A9FF-4680-B48F-EE7DC2DFA9EA}"/>
                        </a:ext>
                      </a:extLst>
                    </p:cNvPr>
                    <p:cNvCxnSpPr>
                      <a:cxnSpLocks/>
                    </p:cNvCxnSpPr>
                    <p:nvPr/>
                  </p:nvCxnSpPr>
                  <p:spPr>
                    <a:xfrm flipV="1">
                      <a:off x="3625525" y="1472246"/>
                      <a:ext cx="724714" cy="1166"/>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88" name="直線接點 87">
                      <a:extLst>
                        <a:ext uri="{FF2B5EF4-FFF2-40B4-BE49-F238E27FC236}">
                          <a16:creationId xmlns:a16="http://schemas.microsoft.com/office/drawing/2014/main" id="{14805221-FD70-4AC9-B2EC-B0EF32681B3B}"/>
                        </a:ext>
                      </a:extLst>
                    </p:cNvPr>
                    <p:cNvCxnSpPr>
                      <a:cxnSpLocks/>
                    </p:cNvCxnSpPr>
                    <p:nvPr/>
                  </p:nvCxnSpPr>
                  <p:spPr>
                    <a:xfrm flipV="1">
                      <a:off x="4412369" y="1474555"/>
                      <a:ext cx="761290" cy="0"/>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89" name="直線接點 88">
                      <a:extLst>
                        <a:ext uri="{FF2B5EF4-FFF2-40B4-BE49-F238E27FC236}">
                          <a16:creationId xmlns:a16="http://schemas.microsoft.com/office/drawing/2014/main" id="{63957B3D-9BA3-477B-9ACF-89EC9595AC85}"/>
                        </a:ext>
                      </a:extLst>
                    </p:cNvPr>
                    <p:cNvCxnSpPr>
                      <a:cxnSpLocks/>
                    </p:cNvCxnSpPr>
                    <p:nvPr/>
                  </p:nvCxnSpPr>
                  <p:spPr>
                    <a:xfrm flipV="1">
                      <a:off x="5168579" y="1463441"/>
                      <a:ext cx="0" cy="864833"/>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DF2B2224-441B-4038-BE1C-149DDC81D95E}"/>
                        </a:ext>
                      </a:extLst>
                    </p:cNvPr>
                    <p:cNvCxnSpPr>
                      <a:cxnSpLocks/>
                    </p:cNvCxnSpPr>
                    <p:nvPr/>
                  </p:nvCxnSpPr>
                  <p:spPr>
                    <a:xfrm flipH="1">
                      <a:off x="4957849" y="2317965"/>
                      <a:ext cx="215810" cy="0"/>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AFE26A5F-2D2C-41AC-BF72-D54747301974}"/>
                        </a:ext>
                      </a:extLst>
                    </p:cNvPr>
                    <p:cNvCxnSpPr>
                      <a:cxnSpLocks/>
                    </p:cNvCxnSpPr>
                    <p:nvPr/>
                  </p:nvCxnSpPr>
                  <p:spPr>
                    <a:xfrm flipH="1">
                      <a:off x="3625525" y="2345890"/>
                      <a:ext cx="179234" cy="0"/>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98" name="直線接點 97">
                      <a:extLst>
                        <a:ext uri="{FF2B5EF4-FFF2-40B4-BE49-F238E27FC236}">
                          <a16:creationId xmlns:a16="http://schemas.microsoft.com/office/drawing/2014/main" id="{C2EF15F9-7925-4B32-BE00-BCC72D96072E}"/>
                        </a:ext>
                      </a:extLst>
                    </p:cNvPr>
                    <p:cNvCxnSpPr>
                      <a:cxnSpLocks/>
                    </p:cNvCxnSpPr>
                    <p:nvPr/>
                  </p:nvCxnSpPr>
                  <p:spPr>
                    <a:xfrm flipV="1">
                      <a:off x="4428663" y="1322528"/>
                      <a:ext cx="0" cy="304538"/>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21561A14-8451-4741-93F9-A4F6AA534E52}"/>
                        </a:ext>
                      </a:extLst>
                    </p:cNvPr>
                    <p:cNvCxnSpPr>
                      <a:cxnSpLocks/>
                    </p:cNvCxnSpPr>
                    <p:nvPr/>
                  </p:nvCxnSpPr>
                  <p:spPr>
                    <a:xfrm flipV="1">
                      <a:off x="4365398" y="1389801"/>
                      <a:ext cx="0" cy="167223"/>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4" name="矩形 113">
                        <a:extLst>
                          <a:ext uri="{FF2B5EF4-FFF2-40B4-BE49-F238E27FC236}">
                            <a16:creationId xmlns:a16="http://schemas.microsoft.com/office/drawing/2014/main" id="{22AE92BC-8A94-4924-9015-69FD45C34116}"/>
                          </a:ext>
                        </a:extLst>
                      </p:cNvPr>
                      <p:cNvSpPr/>
                      <p:nvPr/>
                    </p:nvSpPr>
                    <p:spPr>
                      <a:xfrm>
                        <a:off x="4219563" y="1054658"/>
                        <a:ext cx="395556" cy="2916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𝐸</m:t>
                                  </m:r>
                                </m:e>
                                <m:sub>
                                  <m:r>
                                    <a:rPr lang="zh-TW" altLang="en-US" sz="1200" i="1">
                                      <a:latin typeface="Cambria Math" panose="02040503050406030204" pitchFamily="18" charset="0"/>
                                    </a:rPr>
                                    <m:t>𝑦</m:t>
                                  </m:r>
                                </m:sub>
                              </m:sSub>
                            </m:oMath>
                          </m:oMathPara>
                        </a14:m>
                        <a:endParaRPr lang="zh-TW" altLang="en-US" dirty="0"/>
                      </a:p>
                    </p:txBody>
                  </p:sp>
                </mc:Choice>
                <mc:Fallback xmlns="">
                  <p:sp>
                    <p:nvSpPr>
                      <p:cNvPr id="114" name="矩形 113">
                        <a:extLst>
                          <a:ext uri="{FF2B5EF4-FFF2-40B4-BE49-F238E27FC236}">
                            <a16:creationId xmlns:a16="http://schemas.microsoft.com/office/drawing/2014/main" id="{22AE92BC-8A94-4924-9015-69FD45C34116}"/>
                          </a:ext>
                        </a:extLst>
                      </p:cNvPr>
                      <p:cNvSpPr>
                        <a:spLocks noRot="1" noChangeAspect="1" noMove="1" noResize="1" noEditPoints="1" noAdjustHandles="1" noChangeArrowheads="1" noChangeShapeType="1" noTextEdit="1"/>
                      </p:cNvSpPr>
                      <p:nvPr/>
                    </p:nvSpPr>
                    <p:spPr>
                      <a:xfrm>
                        <a:off x="4219563" y="1054658"/>
                        <a:ext cx="395556" cy="291618"/>
                      </a:xfrm>
                      <a:prstGeom prst="rect">
                        <a:avLst/>
                      </a:prstGeom>
                      <a:blipFill>
                        <a:blip r:embed="rId17"/>
                        <a:stretch>
                          <a:fillRect/>
                        </a:stretch>
                      </a:blipFill>
                    </p:spPr>
                    <p:txBody>
                      <a:bodyPr/>
                      <a:lstStyle/>
                      <a:p>
                        <a:r>
                          <a:rPr lang="zh-TW" altLang="en-US">
                            <a:noFill/>
                          </a:rPr>
                          <a:t> </a:t>
                        </a:r>
                      </a:p>
                    </p:txBody>
                  </p:sp>
                </mc:Fallback>
              </mc:AlternateContent>
            </p:grpSp>
          </p:grpSp>
          <p:grpSp>
            <p:nvGrpSpPr>
              <p:cNvPr id="118" name="群組 117">
                <a:extLst>
                  <a:ext uri="{FF2B5EF4-FFF2-40B4-BE49-F238E27FC236}">
                    <a16:creationId xmlns:a16="http://schemas.microsoft.com/office/drawing/2014/main" id="{72C375E3-3B2B-47CA-B20B-4BAAAB31CFA8}"/>
                  </a:ext>
                </a:extLst>
              </p:cNvPr>
              <p:cNvGrpSpPr/>
              <p:nvPr/>
            </p:nvGrpSpPr>
            <p:grpSpPr>
              <a:xfrm>
                <a:off x="3555113" y="1235181"/>
                <a:ext cx="1819332" cy="2804666"/>
                <a:chOff x="3555113" y="1235181"/>
                <a:chExt cx="1819332" cy="2804666"/>
              </a:xfrm>
            </p:grpSpPr>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3374FF52-9AF0-473B-B5C2-124672303925}"/>
                        </a:ext>
                      </a:extLst>
                    </p:cNvPr>
                    <p:cNvSpPr/>
                    <p:nvPr/>
                  </p:nvSpPr>
                  <p:spPr>
                    <a:xfrm>
                      <a:off x="3747795" y="3430128"/>
                      <a:ext cx="1412886" cy="609719"/>
                    </a:xfrm>
                    <a:prstGeom prst="rect">
                      <a:avLst/>
                    </a:prstGeom>
                    <a:noFill/>
                    <a:ln>
                      <a:no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1000" i="1" smtClean="0">
                                    <a:latin typeface="Cambria Math" panose="02040503050406030204" pitchFamily="18" charset="0"/>
                                  </a:rPr>
                                </m:ctrlPr>
                              </m:sSupPr>
                              <m:e>
                                <m:r>
                                  <a:rPr lang="zh-TW" altLang="en-US" sz="1000" i="1" smtClean="0">
                                    <a:latin typeface="Cambria Math" panose="02040503050406030204" pitchFamily="18" charset="0"/>
                                  </a:rPr>
                                  <m:t>𝜃</m:t>
                                </m:r>
                              </m:e>
                              <m:sup>
                                <m:r>
                                  <a:rPr lang="en-US" altLang="zh-TW" sz="1000" b="0" i="1" smtClean="0">
                                    <a:latin typeface="Cambria Math" panose="02040503050406030204" pitchFamily="18" charset="0"/>
                                  </a:rPr>
                                  <m:t>′</m:t>
                                </m:r>
                              </m:sup>
                            </m:sSup>
                            <m:r>
                              <a:rPr lang="zh-TW" altLang="en-US" sz="1000">
                                <a:latin typeface="Cambria Math" panose="02040503050406030204" pitchFamily="18" charset="0"/>
                              </a:rPr>
                              <m:t>≈</m:t>
                            </m:r>
                            <m:r>
                              <a:rPr lang="en-US" altLang="zh-TW" sz="1000" b="0" i="1" smtClean="0">
                                <a:latin typeface="Cambria Math" panose="02040503050406030204" pitchFamily="18" charset="0"/>
                              </a:rPr>
                              <m:t>−</m:t>
                            </m:r>
                            <m:r>
                              <a:rPr lang="zh-TW" altLang="en-US" sz="1000" i="1">
                                <a:latin typeface="Cambria Math" panose="02040503050406030204" pitchFamily="18" charset="0"/>
                              </a:rPr>
                              <m:t>𝜃</m:t>
                            </m:r>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2</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𝑟</m:t>
                                    </m:r>
                                  </m:e>
                                  <m:sub>
                                    <m:r>
                                      <a:rPr lang="zh-TW" altLang="en-US" sz="1000">
                                        <a:latin typeface="Cambria Math" panose="02040503050406030204" pitchFamily="18" charset="0"/>
                                      </a:rPr>
                                      <m:t>51</m:t>
                                    </m:r>
                                  </m:sub>
                                </m:sSub>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𝐸</m:t>
                                    </m:r>
                                  </m:e>
                                  <m:sub>
                                    <m:r>
                                      <a:rPr lang="zh-TW" altLang="en-US" sz="1000" i="1">
                                        <a:latin typeface="Cambria Math" panose="02040503050406030204" pitchFamily="18" charset="0"/>
                                      </a:rPr>
                                      <m:t>𝑦</m:t>
                                    </m:r>
                                  </m:sub>
                                </m:sSub>
                              </m:num>
                              <m:den>
                                <m:d>
                                  <m:dPr>
                                    <m:ctrlPr>
                                      <a:rPr lang="zh-TW" altLang="en-US" sz="1000" i="1">
                                        <a:latin typeface="Cambria Math" panose="02040503050406030204" pitchFamily="18" charset="0"/>
                                      </a:rPr>
                                    </m:ctrlPr>
                                  </m:dPr>
                                  <m:e>
                                    <m:f>
                                      <m:fPr>
                                        <m:ctrlPr>
                                          <a:rPr lang="zh-TW" altLang="en-US" sz="1000" i="1">
                                            <a:latin typeface="Cambria Math" panose="02040503050406030204" pitchFamily="18" charset="0"/>
                                          </a:rPr>
                                        </m:ctrlPr>
                                      </m:fPr>
                                      <m:num>
                                        <m:r>
                                          <a:rPr lang="zh-TW" altLang="en-US" sz="1000">
                                            <a:latin typeface="Cambria Math" panose="02040503050406030204" pitchFamily="18" charset="0"/>
                                          </a:rPr>
                                          <m:t>1</m:t>
                                        </m:r>
                                      </m:num>
                                      <m:den>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𝑛</m:t>
                                            </m:r>
                                          </m:e>
                                          <m:sub>
                                            <m:r>
                                              <a:rPr lang="zh-TW" altLang="en-US" sz="1000" i="1">
                                                <a:latin typeface="Cambria Math" panose="02040503050406030204" pitchFamily="18" charset="0"/>
                                              </a:rPr>
                                              <m:t>𝑜</m:t>
                                            </m:r>
                                          </m:sub>
                                          <m:sup>
                                            <m:r>
                                              <a:rPr lang="zh-TW" altLang="en-US" sz="1000">
                                                <a:latin typeface="Cambria Math" panose="02040503050406030204" pitchFamily="18" charset="0"/>
                                              </a:rPr>
                                              <m:t>2</m:t>
                                            </m:r>
                                          </m:sup>
                                        </m:sSubSup>
                                      </m:den>
                                    </m:f>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1</m:t>
                                        </m:r>
                                      </m:num>
                                      <m:den>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𝑛</m:t>
                                            </m:r>
                                          </m:e>
                                          <m:sub>
                                            <m:r>
                                              <a:rPr lang="zh-TW" altLang="en-US" sz="1000" i="1">
                                                <a:latin typeface="Cambria Math" panose="02040503050406030204" pitchFamily="18" charset="0"/>
                                              </a:rPr>
                                              <m:t>𝑒</m:t>
                                            </m:r>
                                          </m:sub>
                                          <m:sup>
                                            <m:r>
                                              <a:rPr lang="zh-TW" altLang="en-US" sz="1000">
                                                <a:latin typeface="Cambria Math" panose="02040503050406030204" pitchFamily="18" charset="0"/>
                                              </a:rPr>
                                              <m:t>2</m:t>
                                            </m:r>
                                          </m:sup>
                                        </m:sSubSup>
                                      </m:den>
                                    </m:f>
                                  </m:e>
                                </m:d>
                              </m:den>
                            </m:f>
                          </m:oMath>
                        </m:oMathPara>
                      </a14:m>
                      <a:endParaRPr lang="zh-TW" altLang="en-US" sz="1200" dirty="0"/>
                    </a:p>
                  </p:txBody>
                </p:sp>
              </mc:Choice>
              <mc:Fallback xmlns="">
                <p:sp>
                  <p:nvSpPr>
                    <p:cNvPr id="22" name="矩形 21">
                      <a:extLst>
                        <a:ext uri="{FF2B5EF4-FFF2-40B4-BE49-F238E27FC236}">
                          <a16:creationId xmlns:a16="http://schemas.microsoft.com/office/drawing/2014/main" id="{3374FF52-9AF0-473B-B5C2-124672303925}"/>
                        </a:ext>
                      </a:extLst>
                    </p:cNvPr>
                    <p:cNvSpPr>
                      <a:spLocks noRot="1" noChangeAspect="1" noMove="1" noResize="1" noEditPoints="1" noAdjustHandles="1" noChangeArrowheads="1" noChangeShapeType="1" noTextEdit="1"/>
                    </p:cNvSpPr>
                    <p:nvPr/>
                  </p:nvSpPr>
                  <p:spPr>
                    <a:xfrm>
                      <a:off x="3747795" y="3430128"/>
                      <a:ext cx="1412886" cy="609719"/>
                    </a:xfrm>
                    <a:prstGeom prst="rect">
                      <a:avLst/>
                    </a:prstGeom>
                    <a:blipFill>
                      <a:blip r:embed="rId18"/>
                      <a:stretch>
                        <a:fillRect/>
                      </a:stretch>
                    </a:blipFill>
                    <a:ln>
                      <a:noFill/>
                    </a:ln>
                  </p:spPr>
                  <p:txBody>
                    <a:bodyPr/>
                    <a:lstStyle/>
                    <a:p>
                      <a:r>
                        <a:rPr lang="zh-TW" altLang="en-US">
                          <a:noFill/>
                        </a:rPr>
                        <a:t> </a:t>
                      </a:r>
                    </a:p>
                  </p:txBody>
                </p:sp>
              </mc:Fallback>
            </mc:AlternateContent>
            <p:grpSp>
              <p:nvGrpSpPr>
                <p:cNvPr id="117" name="群組 116">
                  <a:extLst>
                    <a:ext uri="{FF2B5EF4-FFF2-40B4-BE49-F238E27FC236}">
                      <a16:creationId xmlns:a16="http://schemas.microsoft.com/office/drawing/2014/main" id="{FD8B20BD-96E7-4AF2-A91D-ED71438ED0B0}"/>
                    </a:ext>
                  </a:extLst>
                </p:cNvPr>
                <p:cNvGrpSpPr/>
                <p:nvPr/>
              </p:nvGrpSpPr>
              <p:grpSpPr>
                <a:xfrm>
                  <a:off x="3555113" y="1235181"/>
                  <a:ext cx="1819332" cy="2123036"/>
                  <a:chOff x="5460181" y="1054658"/>
                  <a:chExt cx="1819332" cy="2123036"/>
                </a:xfrm>
              </p:grpSpPr>
              <p:grpSp>
                <p:nvGrpSpPr>
                  <p:cNvPr id="78" name="群組 77">
                    <a:extLst>
                      <a:ext uri="{FF2B5EF4-FFF2-40B4-BE49-F238E27FC236}">
                        <a16:creationId xmlns:a16="http://schemas.microsoft.com/office/drawing/2014/main" id="{D9EAC1E0-9416-4F1D-957E-AAAEE9F3AF62}"/>
                      </a:ext>
                    </a:extLst>
                  </p:cNvPr>
                  <p:cNvGrpSpPr/>
                  <p:nvPr/>
                </p:nvGrpSpPr>
                <p:grpSpPr>
                  <a:xfrm>
                    <a:off x="5460181" y="1613009"/>
                    <a:ext cx="1819332" cy="1564685"/>
                    <a:chOff x="5460181" y="1613009"/>
                    <a:chExt cx="1819332" cy="1564685"/>
                  </a:xfrm>
                </p:grpSpPr>
                <p:grpSp>
                  <p:nvGrpSpPr>
                    <p:cNvPr id="69" name="群組 68">
                      <a:extLst>
                        <a:ext uri="{FF2B5EF4-FFF2-40B4-BE49-F238E27FC236}">
                          <a16:creationId xmlns:a16="http://schemas.microsoft.com/office/drawing/2014/main" id="{CAB5D8BA-336A-4C8A-BB5C-D0F5963160D4}"/>
                        </a:ext>
                      </a:extLst>
                    </p:cNvPr>
                    <p:cNvGrpSpPr/>
                    <p:nvPr/>
                  </p:nvGrpSpPr>
                  <p:grpSpPr>
                    <a:xfrm>
                      <a:off x="5460181" y="1613009"/>
                      <a:ext cx="1546863" cy="1358940"/>
                      <a:chOff x="5460181" y="1613009"/>
                      <a:chExt cx="1546863" cy="1358940"/>
                    </a:xfrm>
                  </p:grpSpPr>
                  <p:grpSp>
                    <p:nvGrpSpPr>
                      <p:cNvPr id="63" name="群組 62">
                        <a:extLst>
                          <a:ext uri="{FF2B5EF4-FFF2-40B4-BE49-F238E27FC236}">
                            <a16:creationId xmlns:a16="http://schemas.microsoft.com/office/drawing/2014/main" id="{C6E1E126-DBF9-43D9-9392-9DEA84C5E13D}"/>
                          </a:ext>
                        </a:extLst>
                      </p:cNvPr>
                      <p:cNvGrpSpPr/>
                      <p:nvPr/>
                    </p:nvGrpSpPr>
                    <p:grpSpPr>
                      <a:xfrm>
                        <a:off x="5460181" y="1613009"/>
                        <a:ext cx="1546863" cy="1358940"/>
                        <a:chOff x="5460181" y="1613009"/>
                        <a:chExt cx="1546863" cy="1358940"/>
                      </a:xfrm>
                    </p:grpSpPr>
                    <p:grpSp>
                      <p:nvGrpSpPr>
                        <p:cNvPr id="52" name="群組 51">
                          <a:extLst>
                            <a:ext uri="{FF2B5EF4-FFF2-40B4-BE49-F238E27FC236}">
                              <a16:creationId xmlns:a16="http://schemas.microsoft.com/office/drawing/2014/main" id="{1555CD52-3CFD-4BF4-B90F-CA5A4732F3B7}"/>
                            </a:ext>
                          </a:extLst>
                        </p:cNvPr>
                        <p:cNvGrpSpPr/>
                        <p:nvPr/>
                      </p:nvGrpSpPr>
                      <p:grpSpPr>
                        <a:xfrm>
                          <a:off x="5580198" y="1711949"/>
                          <a:ext cx="1426846" cy="1260000"/>
                          <a:chOff x="5580198" y="1711949"/>
                          <a:chExt cx="1426846" cy="1260000"/>
                        </a:xfrm>
                      </p:grpSpPr>
                      <p:grpSp>
                        <p:nvGrpSpPr>
                          <p:cNvPr id="46" name="群組 45">
                            <a:extLst>
                              <a:ext uri="{FF2B5EF4-FFF2-40B4-BE49-F238E27FC236}">
                                <a16:creationId xmlns:a16="http://schemas.microsoft.com/office/drawing/2014/main" id="{03A04E40-066F-463D-A16E-B28311A6B57D}"/>
                              </a:ext>
                            </a:extLst>
                          </p:cNvPr>
                          <p:cNvGrpSpPr/>
                          <p:nvPr/>
                        </p:nvGrpSpPr>
                        <p:grpSpPr>
                          <a:xfrm>
                            <a:off x="5580198" y="1711949"/>
                            <a:ext cx="1426846" cy="1260000"/>
                            <a:chOff x="5580198" y="1711949"/>
                            <a:chExt cx="1426846" cy="1260000"/>
                          </a:xfrm>
                        </p:grpSpPr>
                        <p:sp>
                          <p:nvSpPr>
                            <p:cNvPr id="29" name="立方體 28">
                              <a:extLst>
                                <a:ext uri="{FF2B5EF4-FFF2-40B4-BE49-F238E27FC236}">
                                  <a16:creationId xmlns:a16="http://schemas.microsoft.com/office/drawing/2014/main" id="{665C8D21-3FB3-4EF5-AC98-85643F7D1823}"/>
                                </a:ext>
                              </a:extLst>
                            </p:cNvPr>
                            <p:cNvSpPr/>
                            <p:nvPr/>
                          </p:nvSpPr>
                          <p:spPr>
                            <a:xfrm>
                              <a:off x="5747044" y="1711949"/>
                              <a:ext cx="1260000" cy="1260000"/>
                            </a:xfrm>
                            <a:prstGeom prst="cube">
                              <a:avLst>
                                <a:gd name="adj" fmla="val 13723"/>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3" name="群組 42">
                              <a:extLst>
                                <a:ext uri="{FF2B5EF4-FFF2-40B4-BE49-F238E27FC236}">
                                  <a16:creationId xmlns:a16="http://schemas.microsoft.com/office/drawing/2014/main" id="{470AB525-C8DF-4AFE-B463-4AC6134B1B34}"/>
                                </a:ext>
                              </a:extLst>
                            </p:cNvPr>
                            <p:cNvGrpSpPr/>
                            <p:nvPr/>
                          </p:nvGrpSpPr>
                          <p:grpSpPr>
                            <a:xfrm>
                              <a:off x="5580198" y="1810818"/>
                              <a:ext cx="719841" cy="796894"/>
                              <a:chOff x="5580198" y="1810818"/>
                              <a:chExt cx="719841" cy="796894"/>
                            </a:xfrm>
                          </p:grpSpPr>
                          <p:grpSp>
                            <p:nvGrpSpPr>
                              <p:cNvPr id="37" name="群組 36">
                                <a:extLst>
                                  <a:ext uri="{FF2B5EF4-FFF2-40B4-BE49-F238E27FC236}">
                                    <a16:creationId xmlns:a16="http://schemas.microsoft.com/office/drawing/2014/main" id="{898886CB-2E86-4360-9BB8-16C7C45FE30B}"/>
                                  </a:ext>
                                </a:extLst>
                              </p:cNvPr>
                              <p:cNvGrpSpPr/>
                              <p:nvPr/>
                            </p:nvGrpSpPr>
                            <p:grpSpPr>
                              <a:xfrm rot="16200000">
                                <a:off x="5688039" y="1810818"/>
                                <a:ext cx="612000" cy="612000"/>
                                <a:chOff x="4329953" y="1810818"/>
                                <a:chExt cx="612000" cy="612000"/>
                              </a:xfrm>
                            </p:grpSpPr>
                            <p:cxnSp>
                              <p:nvCxnSpPr>
                                <p:cNvPr id="38" name="直線單箭頭接點 37">
                                  <a:extLst>
                                    <a:ext uri="{FF2B5EF4-FFF2-40B4-BE49-F238E27FC236}">
                                      <a16:creationId xmlns:a16="http://schemas.microsoft.com/office/drawing/2014/main" id="{DBAA8EAB-7E5F-4C47-A5FA-EC12970FA207}"/>
                                    </a:ext>
                                  </a:extLst>
                                </p:cNvPr>
                                <p:cNvCxnSpPr/>
                                <p:nvPr/>
                              </p:nvCxnSpPr>
                              <p:spPr>
                                <a:xfrm>
                                  <a:off x="4329953" y="2422818"/>
                                  <a:ext cx="612000" cy="0"/>
                                </a:xfrm>
                                <a:prstGeom prst="straightConnector1">
                                  <a:avLst/>
                                </a:prstGeom>
                                <a:ln>
                                  <a:solidFill>
                                    <a:schemeClr val="tx1"/>
                                  </a:solidFill>
                                  <a:headEnd w="med"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7E543552-452C-420C-BA7D-1DA0F0787D1F}"/>
                                    </a:ext>
                                  </a:extLst>
                                </p:cNvPr>
                                <p:cNvCxnSpPr>
                                  <a:cxnSpLocks/>
                                </p:cNvCxnSpPr>
                                <p:nvPr/>
                              </p:nvCxnSpPr>
                              <p:spPr>
                                <a:xfrm flipV="1">
                                  <a:off x="4329953" y="1810818"/>
                                  <a:ext cx="0" cy="612000"/>
                                </a:xfrm>
                                <a:prstGeom prst="straightConnector1">
                                  <a:avLst/>
                                </a:prstGeom>
                                <a:ln>
                                  <a:solidFill>
                                    <a:schemeClr val="tx1"/>
                                  </a:solidFill>
                                  <a:headEnd w="med" len="med"/>
                                  <a:tailEnd type="triangle" w="sm" len="med"/>
                                </a:ln>
                              </p:spPr>
                              <p:style>
                                <a:lnRef idx="1">
                                  <a:schemeClr val="accent1"/>
                                </a:lnRef>
                                <a:fillRef idx="0">
                                  <a:schemeClr val="accent1"/>
                                </a:fillRef>
                                <a:effectRef idx="0">
                                  <a:schemeClr val="accent1"/>
                                </a:effectRef>
                                <a:fontRef idx="minor">
                                  <a:schemeClr val="tx1"/>
                                </a:fontRef>
                              </p:style>
                            </p:cxnSp>
                          </p:grpSp>
                          <p:grpSp>
                            <p:nvGrpSpPr>
                              <p:cNvPr id="40" name="群組 39">
                                <a:extLst>
                                  <a:ext uri="{FF2B5EF4-FFF2-40B4-BE49-F238E27FC236}">
                                    <a16:creationId xmlns:a16="http://schemas.microsoft.com/office/drawing/2014/main" id="{341E1331-E096-4A99-867A-D5995E17D8B3}"/>
                                  </a:ext>
                                </a:extLst>
                              </p:cNvPr>
                              <p:cNvGrpSpPr/>
                              <p:nvPr/>
                            </p:nvGrpSpPr>
                            <p:grpSpPr>
                              <a:xfrm rot="14520000">
                                <a:off x="5580198" y="1995712"/>
                                <a:ext cx="612000" cy="612000"/>
                                <a:chOff x="4329953" y="1810818"/>
                                <a:chExt cx="612000" cy="612000"/>
                              </a:xfrm>
                            </p:grpSpPr>
                            <p:cxnSp>
                              <p:nvCxnSpPr>
                                <p:cNvPr id="41" name="直線單箭頭接點 40">
                                  <a:extLst>
                                    <a:ext uri="{FF2B5EF4-FFF2-40B4-BE49-F238E27FC236}">
                                      <a16:creationId xmlns:a16="http://schemas.microsoft.com/office/drawing/2014/main" id="{7C40857D-8BE5-4AF7-9B59-37BDBFB3D3C5}"/>
                                    </a:ext>
                                  </a:extLst>
                                </p:cNvPr>
                                <p:cNvCxnSpPr/>
                                <p:nvPr/>
                              </p:nvCxnSpPr>
                              <p:spPr>
                                <a:xfrm>
                                  <a:off x="4329953" y="2422818"/>
                                  <a:ext cx="612000" cy="0"/>
                                </a:xfrm>
                                <a:prstGeom prst="straightConnector1">
                                  <a:avLst/>
                                </a:prstGeom>
                                <a:ln>
                                  <a:solidFill>
                                    <a:schemeClr val="tx1"/>
                                  </a:solidFill>
                                  <a:prstDash val="dash"/>
                                  <a:headEnd w="med"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23B31EAC-6589-49F1-B405-47DE415FEF2D}"/>
                                    </a:ext>
                                  </a:extLst>
                                </p:cNvPr>
                                <p:cNvCxnSpPr>
                                  <a:cxnSpLocks/>
                                </p:cNvCxnSpPr>
                                <p:nvPr/>
                              </p:nvCxnSpPr>
                              <p:spPr>
                                <a:xfrm flipV="1">
                                  <a:off x="4329953" y="1810818"/>
                                  <a:ext cx="0" cy="612000"/>
                                </a:xfrm>
                                <a:prstGeom prst="straightConnector1">
                                  <a:avLst/>
                                </a:prstGeom>
                                <a:ln>
                                  <a:solidFill>
                                    <a:schemeClr val="tx1"/>
                                  </a:solidFill>
                                  <a:prstDash val="dash"/>
                                  <a:headEnd w="med" len="med"/>
                                  <a:tailEnd type="triangle" w="sm" len="med"/>
                                </a:ln>
                              </p:spPr>
                              <p:style>
                                <a:lnRef idx="1">
                                  <a:schemeClr val="accent1"/>
                                </a:lnRef>
                                <a:fillRef idx="0">
                                  <a:schemeClr val="accent1"/>
                                </a:fillRef>
                                <a:effectRef idx="0">
                                  <a:schemeClr val="accent1"/>
                                </a:effectRef>
                                <a:fontRef idx="minor">
                                  <a:schemeClr val="tx1"/>
                                </a:fontRef>
                              </p:style>
                            </p:cxnSp>
                          </p:grpSp>
                        </p:grpSp>
                      </p:grpSp>
                      <p:sp>
                        <p:nvSpPr>
                          <p:cNvPr id="48" name="箭號: 向下 47">
                            <a:extLst>
                              <a:ext uri="{FF2B5EF4-FFF2-40B4-BE49-F238E27FC236}">
                                <a16:creationId xmlns:a16="http://schemas.microsoft.com/office/drawing/2014/main" id="{E6B88A7C-497C-4251-B37C-7CF855BA8D66}"/>
                              </a:ext>
                            </a:extLst>
                          </p:cNvPr>
                          <p:cNvSpPr/>
                          <p:nvPr/>
                        </p:nvSpPr>
                        <p:spPr>
                          <a:xfrm rot="10800000">
                            <a:off x="6590351" y="2092193"/>
                            <a:ext cx="139005" cy="661248"/>
                          </a:xfrm>
                          <a:prstGeom prst="downArrow">
                            <a:avLst/>
                          </a:prstGeom>
                          <a:solidFill>
                            <a:schemeClr val="accent5">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8AA33E6F-49D9-43C3-BC18-E05B383A292B}"/>
                                  </a:ext>
                                </a:extLst>
                              </p:cNvPr>
                              <p:cNvSpPr txBox="1"/>
                              <p:nvPr/>
                            </p:nvSpPr>
                            <p:spPr>
                              <a:xfrm>
                                <a:off x="6426197" y="2328274"/>
                                <a:ext cx="156710"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100" i="1" smtClean="0">
                                              <a:solidFill>
                                                <a:schemeClr val="accent3">
                                                  <a:lumMod val="65000"/>
                                                  <a:lumOff val="35000"/>
                                                </a:schemeClr>
                                              </a:solidFill>
                                              <a:latin typeface="Cambria Math" panose="02040503050406030204" pitchFamily="18" charset="0"/>
                                            </a:rPr>
                                          </m:ctrlPr>
                                        </m:sSubPr>
                                        <m:e>
                                          <m:r>
                                            <a:rPr lang="en-US" altLang="zh-TW" sz="1100" b="0" i="1" smtClean="0">
                                              <a:solidFill>
                                                <a:schemeClr val="accent3">
                                                  <a:lumMod val="65000"/>
                                                  <a:lumOff val="35000"/>
                                                </a:schemeClr>
                                              </a:solidFill>
                                              <a:latin typeface="Cambria Math" panose="02040503050406030204" pitchFamily="18" charset="0"/>
                                            </a:rPr>
                                            <m:t>𝑃</m:t>
                                          </m:r>
                                        </m:e>
                                        <m:sub>
                                          <m:r>
                                            <a:rPr lang="en-US" altLang="zh-TW" sz="1100" b="0" i="1" smtClean="0">
                                              <a:solidFill>
                                                <a:schemeClr val="accent3">
                                                  <a:lumMod val="65000"/>
                                                  <a:lumOff val="35000"/>
                                                </a:schemeClr>
                                              </a:solidFill>
                                              <a:latin typeface="Cambria Math" panose="02040503050406030204" pitchFamily="18" charset="0"/>
                                            </a:rPr>
                                            <m:t>𝑠</m:t>
                                          </m:r>
                                        </m:sub>
                                      </m:sSub>
                                    </m:oMath>
                                  </m:oMathPara>
                                </a14:m>
                                <a:endParaRPr lang="zh-TW" altLang="en-US" dirty="0"/>
                              </a:p>
                            </p:txBody>
                          </p:sp>
                        </mc:Choice>
                        <mc:Fallback xmlns="">
                          <p:sp>
                            <p:nvSpPr>
                              <p:cNvPr id="50" name="文字方塊 49">
                                <a:extLst>
                                  <a:ext uri="{FF2B5EF4-FFF2-40B4-BE49-F238E27FC236}">
                                    <a16:creationId xmlns:a16="http://schemas.microsoft.com/office/drawing/2014/main" id="{8AA33E6F-49D9-43C3-BC18-E05B383A292B}"/>
                                  </a:ext>
                                </a:extLst>
                              </p:cNvPr>
                              <p:cNvSpPr txBox="1">
                                <a:spLocks noRot="1" noChangeAspect="1" noMove="1" noResize="1" noEditPoints="1" noAdjustHandles="1" noChangeArrowheads="1" noChangeShapeType="1" noTextEdit="1"/>
                              </p:cNvSpPr>
                              <p:nvPr/>
                            </p:nvSpPr>
                            <p:spPr>
                              <a:xfrm>
                                <a:off x="6426197" y="2328274"/>
                                <a:ext cx="156710" cy="169277"/>
                              </a:xfrm>
                              <a:prstGeom prst="rect">
                                <a:avLst/>
                              </a:prstGeom>
                              <a:blipFill>
                                <a:blip r:embed="rId19"/>
                                <a:stretch>
                                  <a:fillRect l="-19231" b="-14815"/>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CA13F154-9010-4C7C-B4D8-08D626846866}"/>
                                </a:ext>
                              </a:extLst>
                            </p:cNvPr>
                            <p:cNvSpPr txBox="1"/>
                            <p:nvPr/>
                          </p:nvSpPr>
                          <p:spPr>
                            <a:xfrm>
                              <a:off x="6240214" y="1613009"/>
                              <a:ext cx="119648"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𝑧</m:t>
                                    </m:r>
                                  </m:oMath>
                                </m:oMathPara>
                              </a14:m>
                              <a:endParaRPr lang="zh-TW" altLang="en-US" sz="1200" dirty="0"/>
                            </a:p>
                          </p:txBody>
                        </p:sp>
                      </mc:Choice>
                      <mc:Fallback xmlns="">
                        <p:sp>
                          <p:nvSpPr>
                            <p:cNvPr id="54" name="文字方塊 53">
                              <a:extLst>
                                <a:ext uri="{FF2B5EF4-FFF2-40B4-BE49-F238E27FC236}">
                                  <a16:creationId xmlns:a16="http://schemas.microsoft.com/office/drawing/2014/main" id="{CA13F154-9010-4C7C-B4D8-08D626846866}"/>
                                </a:ext>
                              </a:extLst>
                            </p:cNvPr>
                            <p:cNvSpPr txBox="1">
                              <a:spLocks noRot="1" noChangeAspect="1" noMove="1" noResize="1" noEditPoints="1" noAdjustHandles="1" noChangeArrowheads="1" noChangeShapeType="1" noTextEdit="1"/>
                            </p:cNvSpPr>
                            <p:nvPr/>
                          </p:nvSpPr>
                          <p:spPr>
                            <a:xfrm>
                              <a:off x="6240214" y="1613009"/>
                              <a:ext cx="119648" cy="184666"/>
                            </a:xfrm>
                            <a:prstGeom prst="rect">
                              <a:avLst/>
                            </a:prstGeom>
                            <a:blipFill>
                              <a:blip r:embed="rId20"/>
                              <a:stretch>
                                <a:fillRect l="-10000" r="-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397FE997-1C64-4FB8-9F62-4FE98698CA07}"/>
                                </a:ext>
                              </a:extLst>
                            </p:cNvPr>
                            <p:cNvSpPr txBox="1"/>
                            <p:nvPr/>
                          </p:nvSpPr>
                          <p:spPr>
                            <a:xfrm>
                              <a:off x="5460181" y="2312885"/>
                              <a:ext cx="247888"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𝑦</m:t>
                                    </m:r>
                                  </m:oMath>
                                </m:oMathPara>
                              </a14:m>
                              <a:endParaRPr lang="zh-TW" altLang="en-US" sz="1200" dirty="0"/>
                            </a:p>
                          </p:txBody>
                        </p:sp>
                      </mc:Choice>
                      <mc:Fallback xmlns="">
                        <p:sp>
                          <p:nvSpPr>
                            <p:cNvPr id="56" name="文字方塊 55">
                              <a:extLst>
                                <a:ext uri="{FF2B5EF4-FFF2-40B4-BE49-F238E27FC236}">
                                  <a16:creationId xmlns:a16="http://schemas.microsoft.com/office/drawing/2014/main" id="{397FE997-1C64-4FB8-9F62-4FE98698CA07}"/>
                                </a:ext>
                              </a:extLst>
                            </p:cNvPr>
                            <p:cNvSpPr txBox="1">
                              <a:spLocks noRot="1" noChangeAspect="1" noMove="1" noResize="1" noEditPoints="1" noAdjustHandles="1" noChangeArrowheads="1" noChangeShapeType="1" noTextEdit="1"/>
                            </p:cNvSpPr>
                            <p:nvPr/>
                          </p:nvSpPr>
                          <p:spPr>
                            <a:xfrm>
                              <a:off x="5460181" y="2312885"/>
                              <a:ext cx="247888" cy="184666"/>
                            </a:xfrm>
                            <a:prstGeom prst="rect">
                              <a:avLst/>
                            </a:prstGeom>
                            <a:blipFill>
                              <a:blip r:embed="rId21"/>
                              <a:stretch>
                                <a:fillRect r="-12195"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6D8F2056-1734-410A-BE51-8AC2B346BE9D}"/>
                                </a:ext>
                              </a:extLst>
                            </p:cNvPr>
                            <p:cNvSpPr txBox="1"/>
                            <p:nvPr/>
                          </p:nvSpPr>
                          <p:spPr>
                            <a:xfrm>
                              <a:off x="5463005" y="2645950"/>
                              <a:ext cx="2992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1200" i="1" smtClean="0">
                                            <a:latin typeface="Cambria Math" panose="02040503050406030204" pitchFamily="18" charset="0"/>
                                          </a:rPr>
                                        </m:ctrlPr>
                                      </m:sSupPr>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𝑦</m:t>
                                        </m:r>
                                      </m:e>
                                      <m:sup>
                                        <m:r>
                                          <a:rPr lang="en-US" altLang="zh-TW" sz="1200" b="0" i="1" smtClean="0">
                                            <a:latin typeface="Cambria Math" panose="02040503050406030204" pitchFamily="18" charset="0"/>
                                          </a:rPr>
                                          <m:t>′</m:t>
                                        </m:r>
                                      </m:sup>
                                    </m:sSup>
                                  </m:oMath>
                                </m:oMathPara>
                              </a14:m>
                              <a:endParaRPr lang="zh-TW" altLang="en-US" dirty="0"/>
                            </a:p>
                          </p:txBody>
                        </p:sp>
                      </mc:Choice>
                      <mc:Fallback xmlns="">
                        <p:sp>
                          <p:nvSpPr>
                            <p:cNvPr id="61" name="文字方塊 60">
                              <a:extLst>
                                <a:ext uri="{FF2B5EF4-FFF2-40B4-BE49-F238E27FC236}">
                                  <a16:creationId xmlns:a16="http://schemas.microsoft.com/office/drawing/2014/main" id="{6D8F2056-1734-410A-BE51-8AC2B346BE9D}"/>
                                </a:ext>
                              </a:extLst>
                            </p:cNvPr>
                            <p:cNvSpPr txBox="1">
                              <a:spLocks noRot="1" noChangeAspect="1" noMove="1" noResize="1" noEditPoints="1" noAdjustHandles="1" noChangeArrowheads="1" noChangeShapeType="1" noTextEdit="1"/>
                            </p:cNvSpPr>
                            <p:nvPr/>
                          </p:nvSpPr>
                          <p:spPr>
                            <a:xfrm>
                              <a:off x="5463005" y="2645950"/>
                              <a:ext cx="299249" cy="184666"/>
                            </a:xfrm>
                            <a:prstGeom prst="rect">
                              <a:avLst/>
                            </a:prstGeom>
                            <a:blipFill>
                              <a:blip r:embed="rId22"/>
                              <a:stretch>
                                <a:fillRect l="-204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503D9339-0D33-43DF-B973-B5047F621BF2}"/>
                                </a:ext>
                              </a:extLst>
                            </p:cNvPr>
                            <p:cNvSpPr txBox="1"/>
                            <p:nvPr/>
                          </p:nvSpPr>
                          <p:spPr>
                            <a:xfrm>
                              <a:off x="5787047" y="1719081"/>
                              <a:ext cx="28642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1200" i="1" smtClean="0">
                                            <a:latin typeface="Cambria Math" panose="02040503050406030204" pitchFamily="18" charset="0"/>
                                          </a:rPr>
                                        </m:ctrlPr>
                                      </m:sSupPr>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𝑧</m:t>
                                        </m:r>
                                      </m:e>
                                      <m:sup>
                                        <m:r>
                                          <a:rPr lang="en-US" altLang="zh-TW" sz="1200" b="0" i="1" smtClean="0">
                                            <a:latin typeface="Cambria Math" panose="02040503050406030204" pitchFamily="18" charset="0"/>
                                          </a:rPr>
                                          <m:t>′</m:t>
                                        </m:r>
                                      </m:sup>
                                    </m:sSup>
                                  </m:oMath>
                                </m:oMathPara>
                              </a14:m>
                              <a:endParaRPr lang="zh-TW" altLang="en-US" dirty="0"/>
                            </a:p>
                          </p:txBody>
                        </p:sp>
                      </mc:Choice>
                      <mc:Fallback xmlns="">
                        <p:sp>
                          <p:nvSpPr>
                            <p:cNvPr id="62" name="文字方塊 61">
                              <a:extLst>
                                <a:ext uri="{FF2B5EF4-FFF2-40B4-BE49-F238E27FC236}">
                                  <a16:creationId xmlns:a16="http://schemas.microsoft.com/office/drawing/2014/main" id="{503D9339-0D33-43DF-B973-B5047F621BF2}"/>
                                </a:ext>
                              </a:extLst>
                            </p:cNvPr>
                            <p:cNvSpPr txBox="1">
                              <a:spLocks noRot="1" noChangeAspect="1" noMove="1" noResize="1" noEditPoints="1" noAdjustHandles="1" noChangeArrowheads="1" noChangeShapeType="1" noTextEdit="1"/>
                            </p:cNvSpPr>
                            <p:nvPr/>
                          </p:nvSpPr>
                          <p:spPr>
                            <a:xfrm>
                              <a:off x="5787047" y="1719081"/>
                              <a:ext cx="286425" cy="184666"/>
                            </a:xfrm>
                            <a:prstGeom prst="rect">
                              <a:avLst/>
                            </a:prstGeom>
                            <a:blipFill>
                              <a:blip r:embed="rId23"/>
                              <a:stretch>
                                <a:fillRect r="-2128"/>
                              </a:stretch>
                            </a:blipFill>
                          </p:spPr>
                          <p:txBody>
                            <a:bodyPr/>
                            <a:lstStyle/>
                            <a:p>
                              <a:r>
                                <a:rPr lang="zh-TW" altLang="en-US">
                                  <a:noFill/>
                                </a:rPr>
                                <a:t> </a:t>
                              </a:r>
                            </a:p>
                          </p:txBody>
                        </p:sp>
                      </mc:Fallback>
                    </mc:AlternateContent>
                  </p:grpSp>
                  <p:sp>
                    <p:nvSpPr>
                      <p:cNvPr id="65" name="弧形 64">
                        <a:extLst>
                          <a:ext uri="{FF2B5EF4-FFF2-40B4-BE49-F238E27FC236}">
                            <a16:creationId xmlns:a16="http://schemas.microsoft.com/office/drawing/2014/main" id="{0644CE87-CFC3-47DE-B02D-B755A7AD24D7}"/>
                          </a:ext>
                        </a:extLst>
                      </p:cNvPr>
                      <p:cNvSpPr/>
                      <p:nvPr/>
                    </p:nvSpPr>
                    <p:spPr>
                      <a:xfrm rot="17895519">
                        <a:off x="6144694" y="2122317"/>
                        <a:ext cx="263592" cy="262476"/>
                      </a:xfrm>
                      <a:prstGeom prst="arc">
                        <a:avLst>
                          <a:gd name="adj1" fmla="val 16697387"/>
                          <a:gd name="adj2" fmla="val 20514267"/>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650A7300-6316-4A29-9CE3-66043B6E1E69}"/>
                              </a:ext>
                            </a:extLst>
                          </p:cNvPr>
                          <p:cNvSpPr/>
                          <p:nvPr/>
                        </p:nvSpPr>
                        <p:spPr>
                          <a:xfrm>
                            <a:off x="5955570" y="1884625"/>
                            <a:ext cx="43441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1200" b="0" i="1" smtClean="0">
                                      <a:solidFill>
                                        <a:schemeClr val="tx2"/>
                                      </a:solidFill>
                                      <a:latin typeface="Cambria Math" panose="02040503050406030204" pitchFamily="18" charset="0"/>
                                    </a:rPr>
                                    <m:t>−</m:t>
                                  </m:r>
                                  <m:r>
                                    <a:rPr lang="zh-TW" altLang="en-US" sz="1200" i="1" smtClean="0">
                                      <a:solidFill>
                                        <a:schemeClr val="tx2"/>
                                      </a:solidFill>
                                      <a:latin typeface="Cambria Math" panose="02040503050406030204" pitchFamily="18" charset="0"/>
                                    </a:rPr>
                                    <m:t>𝜃</m:t>
                                  </m:r>
                                </m:oMath>
                              </m:oMathPara>
                            </a14:m>
                            <a:endParaRPr lang="zh-TW" altLang="en-US" sz="1200" dirty="0">
                              <a:solidFill>
                                <a:schemeClr val="tx2"/>
                              </a:solidFill>
                            </a:endParaRPr>
                          </a:p>
                        </p:txBody>
                      </p:sp>
                    </mc:Choice>
                    <mc:Fallback xmlns="">
                      <p:sp>
                        <p:nvSpPr>
                          <p:cNvPr id="66" name="矩形 65">
                            <a:extLst>
                              <a:ext uri="{FF2B5EF4-FFF2-40B4-BE49-F238E27FC236}">
                                <a16:creationId xmlns:a16="http://schemas.microsoft.com/office/drawing/2014/main" id="{650A7300-6316-4A29-9CE3-66043B6E1E69}"/>
                              </a:ext>
                            </a:extLst>
                          </p:cNvPr>
                          <p:cNvSpPr>
                            <a:spLocks noRot="1" noChangeAspect="1" noMove="1" noResize="1" noEditPoints="1" noAdjustHandles="1" noChangeArrowheads="1" noChangeShapeType="1" noTextEdit="1"/>
                          </p:cNvSpPr>
                          <p:nvPr/>
                        </p:nvSpPr>
                        <p:spPr>
                          <a:xfrm>
                            <a:off x="5955570" y="1884625"/>
                            <a:ext cx="434414" cy="276999"/>
                          </a:xfrm>
                          <a:prstGeom prst="rect">
                            <a:avLst/>
                          </a:prstGeom>
                          <a:blipFill>
                            <a:blip r:embed="rId24"/>
                            <a:stretch>
                              <a:fillRect/>
                            </a:stretch>
                          </a:blipFill>
                        </p:spPr>
                        <p:txBody>
                          <a:bodyPr/>
                          <a:lstStyle/>
                          <a:p>
                            <a:r>
                              <a:rPr lang="zh-TW" altLang="en-US">
                                <a:noFill/>
                              </a:rPr>
                              <a:t> </a:t>
                            </a:r>
                          </a:p>
                        </p:txBody>
                      </p:sp>
                    </mc:Fallback>
                  </mc:AlternateContent>
                </p:grpSp>
                <p:cxnSp>
                  <p:nvCxnSpPr>
                    <p:cNvPr id="74" name="直線單箭頭接點 73">
                      <a:extLst>
                        <a:ext uri="{FF2B5EF4-FFF2-40B4-BE49-F238E27FC236}">
                          <a16:creationId xmlns:a16="http://schemas.microsoft.com/office/drawing/2014/main" id="{B62B06C0-7470-4CCF-9B42-4A53EA2C2B0E}"/>
                        </a:ext>
                      </a:extLst>
                    </p:cNvPr>
                    <p:cNvCxnSpPr>
                      <a:cxnSpLocks/>
                    </p:cNvCxnSpPr>
                    <p:nvPr/>
                  </p:nvCxnSpPr>
                  <p:spPr>
                    <a:xfrm flipV="1">
                      <a:off x="6913804" y="2830616"/>
                      <a:ext cx="186480" cy="187116"/>
                    </a:xfrm>
                    <a:prstGeom prst="straightConnector1">
                      <a:avLst/>
                    </a:prstGeom>
                    <a:ln w="9525" cap="flat">
                      <a:solidFill>
                        <a:schemeClr val="tx1"/>
                      </a:solidFill>
                      <a:round/>
                      <a:headEnd type="triangle" w="sm" len="sm"/>
                      <a:tailEnd type="triangle" w="sm" len="s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文字方塊 75">
                          <a:extLst>
                            <a:ext uri="{FF2B5EF4-FFF2-40B4-BE49-F238E27FC236}">
                              <a16:creationId xmlns:a16="http://schemas.microsoft.com/office/drawing/2014/main" id="{93EB7CF3-7141-48D1-90A0-688A22C17071}"/>
                            </a:ext>
                          </a:extLst>
                        </p:cNvPr>
                        <p:cNvSpPr txBox="1"/>
                        <p:nvPr/>
                      </p:nvSpPr>
                      <p:spPr>
                        <a:xfrm>
                          <a:off x="7084460" y="2889538"/>
                          <a:ext cx="195053" cy="2881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1000" i="1" smtClean="0">
                                        <a:latin typeface="Cambria Math" panose="02040503050406030204" pitchFamily="18" charset="0"/>
                                      </a:rPr>
                                    </m:ctrlPr>
                                  </m:fPr>
                                  <m:num>
                                    <m:r>
                                      <a:rPr lang="en-US" altLang="zh-TW" sz="1000" b="0" i="1" smtClean="0">
                                        <a:latin typeface="Cambria Math" panose="02040503050406030204" pitchFamily="18" charset="0"/>
                                      </a:rPr>
                                      <m:t>1</m:t>
                                    </m:r>
                                  </m:num>
                                  <m:den>
                                    <m:r>
                                      <a:rPr lang="en-US" altLang="zh-TW" sz="1000" b="0" i="1" smtClean="0">
                                        <a:latin typeface="Cambria Math" panose="02040503050406030204" pitchFamily="18" charset="0"/>
                                      </a:rPr>
                                      <m:t>2</m:t>
                                    </m:r>
                                  </m:den>
                                </m:f>
                                <m:r>
                                  <a:rPr lang="zh-TW" altLang="en-US" sz="1000" i="1" smtClean="0">
                                    <a:latin typeface="Cambria Math" panose="02040503050406030204" pitchFamily="18" charset="0"/>
                                  </a:rPr>
                                  <m:t>𝜆</m:t>
                                </m:r>
                              </m:oMath>
                            </m:oMathPara>
                          </a14:m>
                          <a:endParaRPr lang="zh-TW" altLang="en-US" dirty="0"/>
                        </a:p>
                      </p:txBody>
                    </p:sp>
                  </mc:Choice>
                  <mc:Fallback xmlns="">
                    <p:sp>
                      <p:nvSpPr>
                        <p:cNvPr id="76" name="文字方塊 75">
                          <a:extLst>
                            <a:ext uri="{FF2B5EF4-FFF2-40B4-BE49-F238E27FC236}">
                              <a16:creationId xmlns:a16="http://schemas.microsoft.com/office/drawing/2014/main" id="{93EB7CF3-7141-48D1-90A0-688A22C17071}"/>
                            </a:ext>
                          </a:extLst>
                        </p:cNvPr>
                        <p:cNvSpPr txBox="1">
                          <a:spLocks noRot="1" noChangeAspect="1" noMove="1" noResize="1" noEditPoints="1" noAdjustHandles="1" noChangeArrowheads="1" noChangeShapeType="1" noTextEdit="1"/>
                        </p:cNvSpPr>
                        <p:nvPr/>
                      </p:nvSpPr>
                      <p:spPr>
                        <a:xfrm>
                          <a:off x="7084460" y="2889538"/>
                          <a:ext cx="195053" cy="288156"/>
                        </a:xfrm>
                        <a:prstGeom prst="rect">
                          <a:avLst/>
                        </a:prstGeom>
                        <a:blipFill>
                          <a:blip r:embed="rId16"/>
                          <a:stretch>
                            <a:fillRect l="-15625" t="-2128" r="-15625" b="-14894"/>
                          </a:stretch>
                        </a:blipFill>
                      </p:spPr>
                      <p:txBody>
                        <a:bodyPr/>
                        <a:lstStyle/>
                        <a:p>
                          <a:r>
                            <a:rPr lang="zh-TW" altLang="en-US">
                              <a:noFill/>
                            </a:rPr>
                            <a:t> </a:t>
                          </a:r>
                        </a:p>
                      </p:txBody>
                    </p:sp>
                  </mc:Fallback>
                </mc:AlternateContent>
              </p:grpSp>
              <p:grpSp>
                <p:nvGrpSpPr>
                  <p:cNvPr id="105" name="群組 104">
                    <a:extLst>
                      <a:ext uri="{FF2B5EF4-FFF2-40B4-BE49-F238E27FC236}">
                        <a16:creationId xmlns:a16="http://schemas.microsoft.com/office/drawing/2014/main" id="{E3D7D294-28D8-4FA4-A9C8-7F14C36708E4}"/>
                      </a:ext>
                    </a:extLst>
                  </p:cNvPr>
                  <p:cNvGrpSpPr/>
                  <p:nvPr/>
                </p:nvGrpSpPr>
                <p:grpSpPr>
                  <a:xfrm>
                    <a:off x="5573809" y="1333243"/>
                    <a:ext cx="1555754" cy="987755"/>
                    <a:chOff x="3625525" y="1322528"/>
                    <a:chExt cx="1555754" cy="1036101"/>
                  </a:xfrm>
                </p:grpSpPr>
                <p:cxnSp>
                  <p:nvCxnSpPr>
                    <p:cNvPr id="106" name="直線接點 105">
                      <a:extLst>
                        <a:ext uri="{FF2B5EF4-FFF2-40B4-BE49-F238E27FC236}">
                          <a16:creationId xmlns:a16="http://schemas.microsoft.com/office/drawing/2014/main" id="{135A9931-5433-46E5-8E4E-45355EDCB0C0}"/>
                        </a:ext>
                      </a:extLst>
                    </p:cNvPr>
                    <p:cNvCxnSpPr>
                      <a:cxnSpLocks/>
                    </p:cNvCxnSpPr>
                    <p:nvPr/>
                  </p:nvCxnSpPr>
                  <p:spPr>
                    <a:xfrm flipV="1">
                      <a:off x="3633145" y="1463440"/>
                      <a:ext cx="0" cy="895189"/>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07" name="直線接點 106">
                      <a:extLst>
                        <a:ext uri="{FF2B5EF4-FFF2-40B4-BE49-F238E27FC236}">
                          <a16:creationId xmlns:a16="http://schemas.microsoft.com/office/drawing/2014/main" id="{CC8B0413-2409-4DDF-A5CE-0447F8F2E07D}"/>
                        </a:ext>
                      </a:extLst>
                    </p:cNvPr>
                    <p:cNvCxnSpPr>
                      <a:cxnSpLocks/>
                    </p:cNvCxnSpPr>
                    <p:nvPr/>
                  </p:nvCxnSpPr>
                  <p:spPr>
                    <a:xfrm flipV="1">
                      <a:off x="3625525" y="1472246"/>
                      <a:ext cx="724714" cy="1166"/>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08" name="直線接點 107">
                      <a:extLst>
                        <a:ext uri="{FF2B5EF4-FFF2-40B4-BE49-F238E27FC236}">
                          <a16:creationId xmlns:a16="http://schemas.microsoft.com/office/drawing/2014/main" id="{73FC30DC-AD38-4288-BE9A-659CFA5AA132}"/>
                        </a:ext>
                      </a:extLst>
                    </p:cNvPr>
                    <p:cNvCxnSpPr>
                      <a:cxnSpLocks/>
                    </p:cNvCxnSpPr>
                    <p:nvPr/>
                  </p:nvCxnSpPr>
                  <p:spPr>
                    <a:xfrm flipV="1">
                      <a:off x="4419989" y="1474555"/>
                      <a:ext cx="761290" cy="0"/>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09" name="直線接點 108">
                      <a:extLst>
                        <a:ext uri="{FF2B5EF4-FFF2-40B4-BE49-F238E27FC236}">
                          <a16:creationId xmlns:a16="http://schemas.microsoft.com/office/drawing/2014/main" id="{07F1E80C-CEDC-48C1-87FD-5CC5473A3E3F}"/>
                        </a:ext>
                      </a:extLst>
                    </p:cNvPr>
                    <p:cNvCxnSpPr>
                      <a:cxnSpLocks/>
                    </p:cNvCxnSpPr>
                    <p:nvPr/>
                  </p:nvCxnSpPr>
                  <p:spPr>
                    <a:xfrm flipV="1">
                      <a:off x="5168579" y="1463441"/>
                      <a:ext cx="0" cy="864833"/>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10" name="直線接點 109">
                      <a:extLst>
                        <a:ext uri="{FF2B5EF4-FFF2-40B4-BE49-F238E27FC236}">
                          <a16:creationId xmlns:a16="http://schemas.microsoft.com/office/drawing/2014/main" id="{7F1C1879-8EE5-4D52-96C2-2C4C5C7D49C5}"/>
                        </a:ext>
                      </a:extLst>
                    </p:cNvPr>
                    <p:cNvCxnSpPr>
                      <a:cxnSpLocks/>
                    </p:cNvCxnSpPr>
                    <p:nvPr/>
                  </p:nvCxnSpPr>
                  <p:spPr>
                    <a:xfrm flipH="1">
                      <a:off x="4957849" y="2317965"/>
                      <a:ext cx="215810" cy="0"/>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11" name="直線接點 110">
                      <a:extLst>
                        <a:ext uri="{FF2B5EF4-FFF2-40B4-BE49-F238E27FC236}">
                          <a16:creationId xmlns:a16="http://schemas.microsoft.com/office/drawing/2014/main" id="{DC737F23-617D-4158-9A10-DD35AECE8AFF}"/>
                        </a:ext>
                      </a:extLst>
                    </p:cNvPr>
                    <p:cNvCxnSpPr>
                      <a:cxnSpLocks/>
                    </p:cNvCxnSpPr>
                    <p:nvPr/>
                  </p:nvCxnSpPr>
                  <p:spPr>
                    <a:xfrm flipH="1">
                      <a:off x="3625525" y="2345890"/>
                      <a:ext cx="179234" cy="0"/>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12" name="直線接點 111">
                      <a:extLst>
                        <a:ext uri="{FF2B5EF4-FFF2-40B4-BE49-F238E27FC236}">
                          <a16:creationId xmlns:a16="http://schemas.microsoft.com/office/drawing/2014/main" id="{1CF6063A-7781-4D07-996F-3C7BC3490468}"/>
                        </a:ext>
                      </a:extLst>
                    </p:cNvPr>
                    <p:cNvCxnSpPr>
                      <a:cxnSpLocks/>
                    </p:cNvCxnSpPr>
                    <p:nvPr/>
                  </p:nvCxnSpPr>
                  <p:spPr>
                    <a:xfrm flipV="1">
                      <a:off x="4421043" y="1322528"/>
                      <a:ext cx="0" cy="304538"/>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cxnSp>
                  <p:nvCxnSpPr>
                    <p:cNvPr id="113" name="直線接點 112">
                      <a:extLst>
                        <a:ext uri="{FF2B5EF4-FFF2-40B4-BE49-F238E27FC236}">
                          <a16:creationId xmlns:a16="http://schemas.microsoft.com/office/drawing/2014/main" id="{85055072-3258-4A6B-BAFE-A6F5DB899B6B}"/>
                        </a:ext>
                      </a:extLst>
                    </p:cNvPr>
                    <p:cNvCxnSpPr>
                      <a:cxnSpLocks/>
                    </p:cNvCxnSpPr>
                    <p:nvPr/>
                  </p:nvCxnSpPr>
                  <p:spPr>
                    <a:xfrm flipV="1">
                      <a:off x="4357778" y="1389801"/>
                      <a:ext cx="0" cy="167223"/>
                    </a:xfrm>
                    <a:prstGeom prst="line">
                      <a:avLst/>
                    </a:prstGeom>
                    <a:ln w="28575" cap="flat">
                      <a:solidFill>
                        <a:schemeClr val="accent6">
                          <a:lumMod val="65000"/>
                        </a:schemeClr>
                      </a:solidFill>
                      <a:rou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5" name="矩形 114">
                        <a:extLst>
                          <a:ext uri="{FF2B5EF4-FFF2-40B4-BE49-F238E27FC236}">
                            <a16:creationId xmlns:a16="http://schemas.microsoft.com/office/drawing/2014/main" id="{2CF9DE01-88C7-4B0A-9D77-B4AAAA27BEBD}"/>
                          </a:ext>
                        </a:extLst>
                      </p:cNvPr>
                      <p:cNvSpPr/>
                      <p:nvPr/>
                    </p:nvSpPr>
                    <p:spPr>
                      <a:xfrm>
                        <a:off x="6145536" y="1054658"/>
                        <a:ext cx="395556" cy="2916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𝐸</m:t>
                                  </m:r>
                                </m:e>
                                <m:sub>
                                  <m:r>
                                    <a:rPr lang="zh-TW" altLang="en-US" sz="1200" i="1">
                                      <a:latin typeface="Cambria Math" panose="02040503050406030204" pitchFamily="18" charset="0"/>
                                    </a:rPr>
                                    <m:t>𝑦</m:t>
                                  </m:r>
                                </m:sub>
                              </m:sSub>
                            </m:oMath>
                          </m:oMathPara>
                        </a14:m>
                        <a:endParaRPr lang="zh-TW" altLang="en-US" dirty="0"/>
                      </a:p>
                    </p:txBody>
                  </p:sp>
                </mc:Choice>
                <mc:Fallback xmlns="">
                  <p:sp>
                    <p:nvSpPr>
                      <p:cNvPr id="115" name="矩形 114">
                        <a:extLst>
                          <a:ext uri="{FF2B5EF4-FFF2-40B4-BE49-F238E27FC236}">
                            <a16:creationId xmlns:a16="http://schemas.microsoft.com/office/drawing/2014/main" id="{2CF9DE01-88C7-4B0A-9D77-B4AAAA27BEBD}"/>
                          </a:ext>
                        </a:extLst>
                      </p:cNvPr>
                      <p:cNvSpPr>
                        <a:spLocks noRot="1" noChangeAspect="1" noMove="1" noResize="1" noEditPoints="1" noAdjustHandles="1" noChangeArrowheads="1" noChangeShapeType="1" noTextEdit="1"/>
                      </p:cNvSpPr>
                      <p:nvPr/>
                    </p:nvSpPr>
                    <p:spPr>
                      <a:xfrm>
                        <a:off x="6145536" y="1054658"/>
                        <a:ext cx="395556" cy="291618"/>
                      </a:xfrm>
                      <a:prstGeom prst="rect">
                        <a:avLst/>
                      </a:prstGeom>
                      <a:blipFill>
                        <a:blip r:embed="rId25"/>
                        <a:stretch>
                          <a:fillRect/>
                        </a:stretch>
                      </a:blipFill>
                    </p:spPr>
                    <p:txBody>
                      <a:bodyPr/>
                      <a:lstStyle/>
                      <a:p>
                        <a:r>
                          <a:rPr lang="zh-TW" altLang="en-US">
                            <a:noFill/>
                          </a:rPr>
                          <a:t> </a:t>
                        </a:r>
                      </a:p>
                    </p:txBody>
                  </p:sp>
                </mc:Fallback>
              </mc:AlternateContent>
            </p:grpSp>
          </p:grpSp>
        </p:grpSp>
      </p:grpSp>
      <p:sp>
        <p:nvSpPr>
          <p:cNvPr id="96" name="矩形 95">
            <a:extLst>
              <a:ext uri="{FF2B5EF4-FFF2-40B4-BE49-F238E27FC236}">
                <a16:creationId xmlns:a16="http://schemas.microsoft.com/office/drawing/2014/main" id="{6D2427C5-8046-4E3E-B4A7-9F9B59E5B8AB}"/>
              </a:ext>
            </a:extLst>
          </p:cNvPr>
          <p:cNvSpPr/>
          <p:nvPr/>
        </p:nvSpPr>
        <p:spPr>
          <a:xfrm>
            <a:off x="7982609" y="4925145"/>
            <a:ext cx="759922" cy="215444"/>
          </a:xfrm>
          <a:prstGeom prst="rect">
            <a:avLst/>
          </a:prstGeom>
        </p:spPr>
        <p:txBody>
          <a:bodyPr wrap="square">
            <a:spAutoFit/>
          </a:bodyPr>
          <a:lstStyle/>
          <a:p>
            <a:r>
              <a:rPr lang="en-US" altLang="zh-TW" sz="800" dirty="0">
                <a:solidFill>
                  <a:schemeClr val="tx1"/>
                </a:solidFill>
                <a:latin typeface="Montserrat" panose="02020500000000000000" charset="0"/>
                <a:cs typeface="Times New Roman" panose="02020603050405020304" pitchFamily="18" charset="0"/>
              </a:rPr>
              <a:t>(Yariv, 1983)</a:t>
            </a:r>
            <a:endParaRPr lang="zh-TW" altLang="zh-TW" sz="800" dirty="0">
              <a:solidFill>
                <a:schemeClr val="tx1"/>
              </a:solidFill>
              <a:latin typeface="Montserrat" panose="02020500000000000000" charset="0"/>
              <a:cs typeface="Times New Roman" panose="02020603050405020304" pitchFamily="18" charset="0"/>
            </a:endParaRPr>
          </a:p>
        </p:txBody>
      </p:sp>
    </p:spTree>
    <p:extLst>
      <p:ext uri="{BB962C8B-B14F-4D97-AF65-F5344CB8AC3E}">
        <p14:creationId xmlns:p14="http://schemas.microsoft.com/office/powerpoint/2010/main" val="3121584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6" name="Google Shape;212;p36">
            <a:extLst>
              <a:ext uri="{FF2B5EF4-FFF2-40B4-BE49-F238E27FC236}">
                <a16:creationId xmlns:a16="http://schemas.microsoft.com/office/drawing/2014/main" id="{8059FF73-1D02-4BFA-A7E8-647D56BC6A69}"/>
              </a:ext>
            </a:extLst>
          </p:cNvPr>
          <p:cNvSpPr txBox="1">
            <a:spLocks/>
          </p:cNvSpPr>
          <p:nvPr/>
        </p:nvSpPr>
        <p:spPr>
          <a:xfrm>
            <a:off x="943125" y="301738"/>
            <a:ext cx="7257750" cy="478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1800" b="1" i="0" u="none" strike="noStrike" cap="none">
                <a:solidFill>
                  <a:schemeClr val="dk1"/>
                </a:solidFill>
                <a:latin typeface="Open Sans"/>
                <a:ea typeface="Open Sans"/>
                <a:cs typeface="Open Sans"/>
                <a:sym typeface="Open Sans"/>
              </a:defRPr>
            </a:lvl1pPr>
            <a:lvl2pPr marR="0" lvl="1"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2pPr>
            <a:lvl3pPr marR="0" lvl="2"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3pPr>
            <a:lvl4pPr marR="0" lvl="3"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4pPr>
            <a:lvl5pPr marR="0" lvl="4"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5pPr>
            <a:lvl6pPr marR="0" lvl="5"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6pPr>
            <a:lvl7pPr marR="0" lvl="6"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7pPr>
            <a:lvl8pPr marR="0" lvl="7"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8pPr>
            <a:lvl9pPr marR="0" lvl="8"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9pPr>
          </a:lstStyle>
          <a:p>
            <a:r>
              <a:rPr lang="en-US" altLang="zh-TW" sz="2000" dirty="0">
                <a:latin typeface="Montserrat" panose="02020500000000000000" charset="0"/>
              </a:rPr>
              <a:t>Electro-optical polarization mode converter</a:t>
            </a:r>
          </a:p>
        </p:txBody>
      </p:sp>
      <p:grpSp>
        <p:nvGrpSpPr>
          <p:cNvPr id="7" name="群組 6">
            <a:extLst>
              <a:ext uri="{FF2B5EF4-FFF2-40B4-BE49-F238E27FC236}">
                <a16:creationId xmlns:a16="http://schemas.microsoft.com/office/drawing/2014/main" id="{24229B3B-ED93-4E05-8F4B-778D4FADC1DA}"/>
              </a:ext>
            </a:extLst>
          </p:cNvPr>
          <p:cNvGrpSpPr/>
          <p:nvPr/>
        </p:nvGrpSpPr>
        <p:grpSpPr>
          <a:xfrm>
            <a:off x="192683" y="-911"/>
            <a:ext cx="8761417" cy="295831"/>
            <a:chOff x="192683" y="-911"/>
            <a:chExt cx="8761417" cy="295831"/>
          </a:xfrm>
        </p:grpSpPr>
        <p:sp>
          <p:nvSpPr>
            <p:cNvPr id="8" name="矩形 7">
              <a:extLst>
                <a:ext uri="{FF2B5EF4-FFF2-40B4-BE49-F238E27FC236}">
                  <a16:creationId xmlns:a16="http://schemas.microsoft.com/office/drawing/2014/main" id="{362EB831-7A21-4B8C-8138-94807AF50A7F}"/>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77334341-FC24-4319-8F69-BBD676C1BB12}"/>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1000C9DF-098C-458E-92DD-7114B077029F}"/>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2" name="矩形 11">
              <a:extLst>
                <a:ext uri="{FF2B5EF4-FFF2-40B4-BE49-F238E27FC236}">
                  <a16:creationId xmlns:a16="http://schemas.microsoft.com/office/drawing/2014/main" id="{E1A6ACA1-461F-4CAE-989B-2E6F586BA5B5}"/>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3" name="矩形 12">
              <a:extLst>
                <a:ext uri="{FF2B5EF4-FFF2-40B4-BE49-F238E27FC236}">
                  <a16:creationId xmlns:a16="http://schemas.microsoft.com/office/drawing/2014/main" id="{374E6F94-E369-4AC7-B7CE-2476AC7BB31F}"/>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4" name="矩形 13">
              <a:extLst>
                <a:ext uri="{FF2B5EF4-FFF2-40B4-BE49-F238E27FC236}">
                  <a16:creationId xmlns:a16="http://schemas.microsoft.com/office/drawing/2014/main" id="{082D7010-B933-4FA7-8F0E-05EA18CF7C63}"/>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21" name="群組 20">
            <a:extLst>
              <a:ext uri="{FF2B5EF4-FFF2-40B4-BE49-F238E27FC236}">
                <a16:creationId xmlns:a16="http://schemas.microsoft.com/office/drawing/2014/main" id="{9835C6E1-9C33-4F78-8E9F-D8DAD4F011EF}"/>
              </a:ext>
            </a:extLst>
          </p:cNvPr>
          <p:cNvGrpSpPr/>
          <p:nvPr/>
        </p:nvGrpSpPr>
        <p:grpSpPr>
          <a:xfrm>
            <a:off x="800598" y="1507374"/>
            <a:ext cx="3401465" cy="2824329"/>
            <a:chOff x="943125" y="1507375"/>
            <a:chExt cx="3401465" cy="2824329"/>
          </a:xfrm>
        </p:grpSpPr>
        <p:pic>
          <p:nvPicPr>
            <p:cNvPr id="35" name="圖片 34">
              <a:extLst>
                <a:ext uri="{FF2B5EF4-FFF2-40B4-BE49-F238E27FC236}">
                  <a16:creationId xmlns:a16="http://schemas.microsoft.com/office/drawing/2014/main" id="{42C82EC0-B75E-4EC5-9281-7F89F9FF0394}"/>
                </a:ext>
              </a:extLst>
            </p:cNvPr>
            <p:cNvPicPr/>
            <p:nvPr/>
          </p:nvPicPr>
          <p:blipFill>
            <a:blip r:embed="rId3"/>
            <a:stretch>
              <a:fillRect/>
            </a:stretch>
          </p:blipFill>
          <p:spPr>
            <a:xfrm>
              <a:off x="943125" y="1507375"/>
              <a:ext cx="3401465" cy="2824329"/>
            </a:xfrm>
            <a:prstGeom prst="rect">
              <a:avLst/>
            </a:prstGeom>
          </p:spPr>
        </p:pic>
        <p:sp>
          <p:nvSpPr>
            <p:cNvPr id="36" name="矩形 35">
              <a:extLst>
                <a:ext uri="{FF2B5EF4-FFF2-40B4-BE49-F238E27FC236}">
                  <a16:creationId xmlns:a16="http://schemas.microsoft.com/office/drawing/2014/main" id="{58EAC10A-9655-4CDA-AEB8-59CAEF2FFA09}"/>
                </a:ext>
              </a:extLst>
            </p:cNvPr>
            <p:cNvSpPr/>
            <p:nvPr/>
          </p:nvSpPr>
          <p:spPr>
            <a:xfrm>
              <a:off x="2569006" y="1573725"/>
              <a:ext cx="709349" cy="1290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Analyzer</a:t>
              </a:r>
              <a:endParaRPr lang="zh-TW" altLang="en-US" sz="900" dirty="0">
                <a:solidFill>
                  <a:schemeClr val="tx1"/>
                </a:solidFill>
                <a:latin typeface="Montserrat" panose="02020500000000000000" charset="0"/>
              </a:endParaRPr>
            </a:p>
          </p:txBody>
        </p:sp>
        <p:sp>
          <p:nvSpPr>
            <p:cNvPr id="37" name="矩形 36">
              <a:extLst>
                <a:ext uri="{FF2B5EF4-FFF2-40B4-BE49-F238E27FC236}">
                  <a16:creationId xmlns:a16="http://schemas.microsoft.com/office/drawing/2014/main" id="{38F18B01-C137-41CE-A315-F80A48719A95}"/>
                </a:ext>
              </a:extLst>
            </p:cNvPr>
            <p:cNvSpPr/>
            <p:nvPr/>
          </p:nvSpPr>
          <p:spPr>
            <a:xfrm>
              <a:off x="2156974" y="4119244"/>
              <a:ext cx="709349" cy="1290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Polarizer</a:t>
              </a:r>
              <a:endParaRPr lang="zh-TW" altLang="en-US" sz="900" dirty="0">
                <a:solidFill>
                  <a:schemeClr val="tx1"/>
                </a:solidFill>
                <a:latin typeface="Montserrat" panose="02020500000000000000" charset="0"/>
              </a:endParaRPr>
            </a:p>
          </p:txBody>
        </p:sp>
        <p:sp>
          <p:nvSpPr>
            <p:cNvPr id="38" name="矩形 37">
              <a:extLst>
                <a:ext uri="{FF2B5EF4-FFF2-40B4-BE49-F238E27FC236}">
                  <a16:creationId xmlns:a16="http://schemas.microsoft.com/office/drawing/2014/main" id="{59F94A0C-4E2E-467A-A25E-F62A17BF31DD}"/>
                </a:ext>
              </a:extLst>
            </p:cNvPr>
            <p:cNvSpPr/>
            <p:nvPr/>
          </p:nvSpPr>
          <p:spPr>
            <a:xfrm>
              <a:off x="2866323" y="3117438"/>
              <a:ext cx="1109862" cy="14347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Half wave plane</a:t>
              </a:r>
              <a:endParaRPr lang="zh-TW" altLang="en-US" sz="900" dirty="0">
                <a:solidFill>
                  <a:schemeClr val="tx1"/>
                </a:solidFill>
                <a:latin typeface="Montserrat" panose="02020500000000000000" charset="0"/>
              </a:endParaRPr>
            </a:p>
          </p:txBody>
        </p:sp>
      </p:grpSp>
      <p:sp>
        <p:nvSpPr>
          <p:cNvPr id="48" name="箭號: 向下 47">
            <a:extLst>
              <a:ext uri="{FF2B5EF4-FFF2-40B4-BE49-F238E27FC236}">
                <a16:creationId xmlns:a16="http://schemas.microsoft.com/office/drawing/2014/main" id="{8CC7BF3B-C528-4BF8-AE83-28F798606DC1}"/>
              </a:ext>
            </a:extLst>
          </p:cNvPr>
          <p:cNvSpPr/>
          <p:nvPr/>
        </p:nvSpPr>
        <p:spPr>
          <a:xfrm rot="16200000">
            <a:off x="4533710" y="2476439"/>
            <a:ext cx="126409" cy="759789"/>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矩形 48">
            <a:extLst>
              <a:ext uri="{FF2B5EF4-FFF2-40B4-BE49-F238E27FC236}">
                <a16:creationId xmlns:a16="http://schemas.microsoft.com/office/drawing/2014/main" id="{D0C6FEFF-CA18-4421-BE8B-AD91CF0DFC68}"/>
              </a:ext>
            </a:extLst>
          </p:cNvPr>
          <p:cNvSpPr/>
          <p:nvPr/>
        </p:nvSpPr>
        <p:spPr>
          <a:xfrm>
            <a:off x="4094078" y="2571750"/>
            <a:ext cx="955844" cy="1290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rPr>
              <a:t>Use in LN</a:t>
            </a:r>
            <a:endParaRPr lang="zh-TW" altLang="en-US" sz="900" b="1" dirty="0">
              <a:solidFill>
                <a:schemeClr val="tx1"/>
              </a:solidFill>
              <a:latin typeface="Montserrat" panose="02020500000000000000" charset="0"/>
            </a:endParaRPr>
          </a:p>
        </p:txBody>
      </p:sp>
      <p:sp>
        <p:nvSpPr>
          <p:cNvPr id="28" name="矩形 27">
            <a:extLst>
              <a:ext uri="{FF2B5EF4-FFF2-40B4-BE49-F238E27FC236}">
                <a16:creationId xmlns:a16="http://schemas.microsoft.com/office/drawing/2014/main" id="{86598E91-961E-4DFE-A133-59BA788894DF}"/>
              </a:ext>
            </a:extLst>
          </p:cNvPr>
          <p:cNvSpPr/>
          <p:nvPr/>
        </p:nvSpPr>
        <p:spPr>
          <a:xfrm>
            <a:off x="1620358" y="1034141"/>
            <a:ext cx="1497526" cy="246221"/>
          </a:xfrm>
          <a:prstGeom prst="rect">
            <a:avLst/>
          </a:prstGeom>
        </p:spPr>
        <p:txBody>
          <a:bodyPr wrap="none">
            <a:spAutoFit/>
          </a:bodyPr>
          <a:lstStyle/>
          <a:p>
            <a:r>
              <a:rPr lang="en-US" altLang="zh-TW" sz="1000" b="1" dirty="0">
                <a:latin typeface="Montserrat" panose="02020500000000000000" charset="0"/>
              </a:rPr>
              <a:t>Fold </a:t>
            </a:r>
            <a:r>
              <a:rPr lang="en-US" altLang="zh-TW" sz="1000" b="1" dirty="0" err="1">
                <a:latin typeface="Montserrat" panose="02020500000000000000" charset="0"/>
              </a:rPr>
              <a:t>Šolc</a:t>
            </a:r>
            <a:r>
              <a:rPr lang="en-US" altLang="zh-TW" sz="1000" b="1" dirty="0">
                <a:latin typeface="Montserrat" panose="02020500000000000000" charset="0"/>
              </a:rPr>
              <a:t>-type filter</a:t>
            </a:r>
            <a:endParaRPr lang="zh-TW" altLang="en-US" sz="1000" b="1" dirty="0">
              <a:latin typeface="Montserrat" panose="02020500000000000000" charset="0"/>
            </a:endParaRPr>
          </a:p>
        </p:txBody>
      </p:sp>
      <p:sp>
        <p:nvSpPr>
          <p:cNvPr id="50" name="矩形 49">
            <a:extLst>
              <a:ext uri="{FF2B5EF4-FFF2-40B4-BE49-F238E27FC236}">
                <a16:creationId xmlns:a16="http://schemas.microsoft.com/office/drawing/2014/main" id="{A07218F9-D272-4617-9235-0B5BA8BDB326}"/>
              </a:ext>
            </a:extLst>
          </p:cNvPr>
          <p:cNvSpPr/>
          <p:nvPr/>
        </p:nvSpPr>
        <p:spPr>
          <a:xfrm>
            <a:off x="4521674" y="1032172"/>
            <a:ext cx="3794629" cy="246221"/>
          </a:xfrm>
          <a:prstGeom prst="rect">
            <a:avLst/>
          </a:prstGeom>
        </p:spPr>
        <p:txBody>
          <a:bodyPr wrap="none">
            <a:spAutoFit/>
          </a:bodyPr>
          <a:lstStyle/>
          <a:p>
            <a:r>
              <a:rPr lang="en-US" altLang="zh-TW" sz="1000" b="1" dirty="0">
                <a:latin typeface="Montserrat" panose="02020500000000000000" charset="0"/>
              </a:rPr>
              <a:t>Electro-optical polarization mode converter (EO-PMC)</a:t>
            </a:r>
          </a:p>
        </p:txBody>
      </p:sp>
      <p:sp>
        <p:nvSpPr>
          <p:cNvPr id="29" name="文字方塊 28">
            <a:extLst>
              <a:ext uri="{FF2B5EF4-FFF2-40B4-BE49-F238E27FC236}">
                <a16:creationId xmlns:a16="http://schemas.microsoft.com/office/drawing/2014/main" id="{4857C882-0D27-4C2A-92F2-92575B023D3F}"/>
              </a:ext>
            </a:extLst>
          </p:cNvPr>
          <p:cNvSpPr txBox="1"/>
          <p:nvPr/>
        </p:nvSpPr>
        <p:spPr>
          <a:xfrm>
            <a:off x="8585770" y="4631694"/>
            <a:ext cx="348172" cy="261610"/>
          </a:xfrm>
          <a:prstGeom prst="rect">
            <a:avLst/>
          </a:prstGeom>
          <a:noFill/>
        </p:spPr>
        <p:txBody>
          <a:bodyPr wrap="none" rtlCol="0">
            <a:spAutoFit/>
          </a:bodyPr>
          <a:lstStyle/>
          <a:p>
            <a:r>
              <a:rPr lang="en-US" altLang="zh-TW" sz="1100" dirty="0">
                <a:latin typeface="Montserrat" panose="02020500000000000000" charset="0"/>
              </a:rPr>
              <a:t>27</a:t>
            </a:r>
            <a:endParaRPr lang="zh-TW" altLang="en-US" sz="1100" dirty="0">
              <a:latin typeface="Montserrat" panose="02020500000000000000" charset="0"/>
            </a:endParaRPr>
          </a:p>
        </p:txBody>
      </p:sp>
      <p:grpSp>
        <p:nvGrpSpPr>
          <p:cNvPr id="4" name="群組 3">
            <a:extLst>
              <a:ext uri="{FF2B5EF4-FFF2-40B4-BE49-F238E27FC236}">
                <a16:creationId xmlns:a16="http://schemas.microsoft.com/office/drawing/2014/main" id="{2E2E1D1D-4F2C-471B-B5B3-665EC8B4625C}"/>
              </a:ext>
            </a:extLst>
          </p:cNvPr>
          <p:cNvGrpSpPr/>
          <p:nvPr/>
        </p:nvGrpSpPr>
        <p:grpSpPr>
          <a:xfrm>
            <a:off x="7164681" y="3269534"/>
            <a:ext cx="1645669" cy="410562"/>
            <a:chOff x="7164681" y="3269534"/>
            <a:chExt cx="1645669" cy="410562"/>
          </a:xfrm>
        </p:grpSpPr>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EA350F32-4BFE-46B2-AF56-A8BA779C2294}"/>
                    </a:ext>
                  </a:extLst>
                </p:cNvPr>
                <p:cNvSpPr/>
                <p:nvPr/>
              </p:nvSpPr>
              <p:spPr>
                <a:xfrm>
                  <a:off x="7164681" y="3269534"/>
                  <a:ext cx="1178721" cy="4105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sz="1000" b="0" i="1" smtClean="0">
                            <a:latin typeface="Cambria Math" panose="02040503050406030204" pitchFamily="18" charset="0"/>
                            <a:ea typeface="Cambria Math" panose="02040503050406030204" pitchFamily="18" charset="0"/>
                          </a:rPr>
                          <m:t>Λ</m:t>
                        </m:r>
                        <m:r>
                          <a:rPr lang="en-US" altLang="zh-TW" sz="1000" b="0" i="1" smtClean="0">
                            <a:latin typeface="Cambria Math" panose="02040503050406030204" pitchFamily="18" charset="0"/>
                          </a:rPr>
                          <m:t>=2</m:t>
                        </m:r>
                        <m:r>
                          <a:rPr lang="zh-TW" altLang="en-US" sz="1000" i="1">
                            <a:latin typeface="Cambria Math" panose="02040503050406030204" pitchFamily="18" charset="0"/>
                          </a:rPr>
                          <m:t>𝑡</m:t>
                        </m:r>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i="1">
                                <a:latin typeface="Cambria Math" panose="02040503050406030204" pitchFamily="18" charset="0"/>
                              </a:rPr>
                              <m:t>𝜆</m:t>
                            </m:r>
                          </m:num>
                          <m:den>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𝑛</m:t>
                                </m:r>
                              </m:e>
                              <m:sub>
                                <m:r>
                                  <a:rPr lang="zh-TW" altLang="en-US" sz="1000" i="1">
                                    <a:latin typeface="Cambria Math" panose="02040503050406030204" pitchFamily="18" charset="0"/>
                                  </a:rPr>
                                  <m:t>𝑜</m:t>
                                </m:r>
                              </m:sub>
                            </m:sSub>
                            <m:r>
                              <a:rPr lang="zh-TW" altLang="en-US" sz="1000">
                                <a:latin typeface="Cambria Math" panose="02040503050406030204" pitchFamily="18" charset="0"/>
                              </a:rPr>
                              <m:t>−</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𝑛</m:t>
                                </m:r>
                              </m:e>
                              <m:sub>
                                <m:r>
                                  <a:rPr lang="zh-TW" altLang="en-US" sz="1000" i="1">
                                    <a:latin typeface="Cambria Math" panose="02040503050406030204" pitchFamily="18" charset="0"/>
                                  </a:rPr>
                                  <m:t>𝑒</m:t>
                                </m:r>
                              </m:sub>
                            </m:sSub>
                          </m:den>
                        </m:f>
                      </m:oMath>
                    </m:oMathPara>
                  </a14:m>
                  <a:endParaRPr lang="zh-TW" altLang="en-US" dirty="0"/>
                </a:p>
              </p:txBody>
            </p:sp>
          </mc:Choice>
          <mc:Fallback xmlns="">
            <p:sp>
              <p:nvSpPr>
                <p:cNvPr id="27" name="矩形 26">
                  <a:extLst>
                    <a:ext uri="{FF2B5EF4-FFF2-40B4-BE49-F238E27FC236}">
                      <a16:creationId xmlns:a16="http://schemas.microsoft.com/office/drawing/2014/main" id="{EA350F32-4BFE-46B2-AF56-A8BA779C2294}"/>
                    </a:ext>
                  </a:extLst>
                </p:cNvPr>
                <p:cNvSpPr>
                  <a:spLocks noRot="1" noChangeAspect="1" noMove="1" noResize="1" noEditPoints="1" noAdjustHandles="1" noChangeArrowheads="1" noChangeShapeType="1" noTextEdit="1"/>
                </p:cNvSpPr>
                <p:nvPr/>
              </p:nvSpPr>
              <p:spPr>
                <a:xfrm>
                  <a:off x="7164681" y="3269534"/>
                  <a:ext cx="1178721" cy="410562"/>
                </a:xfrm>
                <a:prstGeom prst="rect">
                  <a:avLst/>
                </a:prstGeom>
                <a:blipFill>
                  <a:blip r:embed="rId7"/>
                  <a:stretch>
                    <a:fillRect/>
                  </a:stretch>
                </a:blipFill>
              </p:spPr>
              <p:txBody>
                <a:bodyPr/>
                <a:lstStyle/>
                <a:p>
                  <a:r>
                    <a:rPr lang="zh-TW" altLang="en-US">
                      <a:noFill/>
                    </a:rPr>
                    <a:t> </a:t>
                  </a:r>
                </a:p>
              </p:txBody>
            </p:sp>
          </mc:Fallback>
        </mc:AlternateContent>
        <p:sp>
          <p:nvSpPr>
            <p:cNvPr id="33" name="文字方塊 32">
              <a:extLst>
                <a:ext uri="{FF2B5EF4-FFF2-40B4-BE49-F238E27FC236}">
                  <a16:creationId xmlns:a16="http://schemas.microsoft.com/office/drawing/2014/main" id="{EB31611C-3A25-413A-9625-22DFCCE6FC74}"/>
                </a:ext>
              </a:extLst>
            </p:cNvPr>
            <p:cNvSpPr txBox="1"/>
            <p:nvPr/>
          </p:nvSpPr>
          <p:spPr>
            <a:xfrm>
              <a:off x="8410882" y="3351704"/>
              <a:ext cx="399468" cy="246221"/>
            </a:xfrm>
            <a:prstGeom prst="rect">
              <a:avLst/>
            </a:prstGeom>
            <a:noFill/>
          </p:spPr>
          <p:txBody>
            <a:bodyPr wrap="none" rtlCol="0">
              <a:spAutoFit/>
            </a:bodyPr>
            <a:lstStyle/>
            <a:p>
              <a:r>
                <a:rPr lang="en-US" altLang="zh-TW" sz="1000" dirty="0">
                  <a:latin typeface="Montserrat" panose="02020500000000000000" charset="0"/>
                </a:rPr>
                <a:t>(10)</a:t>
              </a:r>
              <a:endParaRPr lang="zh-TW" altLang="en-US" sz="1000" dirty="0">
                <a:latin typeface="Montserrat" panose="02020500000000000000" charset="0"/>
              </a:endParaRPr>
            </a:p>
          </p:txBody>
        </p:sp>
      </p:grpSp>
      <p:grpSp>
        <p:nvGrpSpPr>
          <p:cNvPr id="18" name="群組 17">
            <a:extLst>
              <a:ext uri="{FF2B5EF4-FFF2-40B4-BE49-F238E27FC236}">
                <a16:creationId xmlns:a16="http://schemas.microsoft.com/office/drawing/2014/main" id="{61CBE45F-098E-4BB7-8D12-552186B92120}"/>
              </a:ext>
            </a:extLst>
          </p:cNvPr>
          <p:cNvGrpSpPr/>
          <p:nvPr/>
        </p:nvGrpSpPr>
        <p:grpSpPr>
          <a:xfrm>
            <a:off x="4833877" y="1507374"/>
            <a:ext cx="3161581" cy="2826078"/>
            <a:chOff x="4833877" y="1507374"/>
            <a:chExt cx="3161581" cy="2826078"/>
          </a:xfrm>
        </p:grpSpPr>
        <p:cxnSp>
          <p:nvCxnSpPr>
            <p:cNvPr id="41" name="直線接點 40">
              <a:extLst>
                <a:ext uri="{FF2B5EF4-FFF2-40B4-BE49-F238E27FC236}">
                  <a16:creationId xmlns:a16="http://schemas.microsoft.com/office/drawing/2014/main" id="{3888D2EE-AEAC-4244-B3B4-4F3AE6793590}"/>
                </a:ext>
              </a:extLst>
            </p:cNvPr>
            <p:cNvCxnSpPr>
              <a:cxnSpLocks/>
            </p:cNvCxnSpPr>
            <p:nvPr/>
          </p:nvCxnSpPr>
          <p:spPr>
            <a:xfrm>
              <a:off x="6036321" y="2954985"/>
              <a:ext cx="199921" cy="0"/>
            </a:xfrm>
            <a:prstGeom prst="line">
              <a:avLst/>
            </a:prstGeom>
            <a:ln w="19050">
              <a:solidFill>
                <a:schemeClr val="tx2"/>
              </a:solidFill>
            </a:ln>
            <a:effectLst>
              <a:glow rad="63500">
                <a:schemeClr val="tx2">
                  <a:alpha val="40000"/>
                </a:schemeClr>
              </a:glow>
            </a:effectLst>
          </p:spPr>
          <p:style>
            <a:lnRef idx="1">
              <a:schemeClr val="accent1"/>
            </a:lnRef>
            <a:fillRef idx="0">
              <a:schemeClr val="accent1"/>
            </a:fillRef>
            <a:effectRef idx="0">
              <a:schemeClr val="accent1"/>
            </a:effectRef>
            <a:fontRef idx="minor">
              <a:schemeClr val="tx1"/>
            </a:fontRef>
          </p:style>
        </p:cxnSp>
        <p:grpSp>
          <p:nvGrpSpPr>
            <p:cNvPr id="51" name="群組 50">
              <a:extLst>
                <a:ext uri="{FF2B5EF4-FFF2-40B4-BE49-F238E27FC236}">
                  <a16:creationId xmlns:a16="http://schemas.microsoft.com/office/drawing/2014/main" id="{690AC813-38B9-4F18-B395-C8960731EFA9}"/>
                </a:ext>
              </a:extLst>
            </p:cNvPr>
            <p:cNvGrpSpPr/>
            <p:nvPr/>
          </p:nvGrpSpPr>
          <p:grpSpPr>
            <a:xfrm>
              <a:off x="4833877" y="1507374"/>
              <a:ext cx="3161581" cy="2826078"/>
              <a:chOff x="4833877" y="1507374"/>
              <a:chExt cx="3161581" cy="2826078"/>
            </a:xfrm>
          </p:grpSpPr>
          <p:grpSp>
            <p:nvGrpSpPr>
              <p:cNvPr id="52" name="群組 51">
                <a:extLst>
                  <a:ext uri="{FF2B5EF4-FFF2-40B4-BE49-F238E27FC236}">
                    <a16:creationId xmlns:a16="http://schemas.microsoft.com/office/drawing/2014/main" id="{AB00BCAF-CD42-4389-BBC0-978B60B23EC6}"/>
                  </a:ext>
                </a:extLst>
              </p:cNvPr>
              <p:cNvGrpSpPr/>
              <p:nvPr/>
            </p:nvGrpSpPr>
            <p:grpSpPr>
              <a:xfrm>
                <a:off x="4833877" y="1507374"/>
                <a:ext cx="3161581" cy="2826078"/>
                <a:chOff x="4833877" y="1507374"/>
                <a:chExt cx="3161581" cy="2826078"/>
              </a:xfrm>
            </p:grpSpPr>
            <p:pic>
              <p:nvPicPr>
                <p:cNvPr id="61" name="圖片 60">
                  <a:extLst>
                    <a:ext uri="{FF2B5EF4-FFF2-40B4-BE49-F238E27FC236}">
                      <a16:creationId xmlns:a16="http://schemas.microsoft.com/office/drawing/2014/main" id="{5625141D-D55D-485D-80E4-506ADE92EB11}"/>
                    </a:ext>
                  </a:extLst>
                </p:cNvPr>
                <p:cNvPicPr/>
                <p:nvPr/>
              </p:nvPicPr>
              <p:blipFill>
                <a:blip r:embed="rId8">
                  <a:clrChange>
                    <a:clrFrom>
                      <a:srgbClr val="FFFFFF"/>
                    </a:clrFrom>
                    <a:clrTo>
                      <a:srgbClr val="FFFFFF">
                        <a:alpha val="0"/>
                      </a:srgbClr>
                    </a:clrTo>
                  </a:clrChange>
                </a:blip>
                <a:stretch>
                  <a:fillRect/>
                </a:stretch>
              </p:blipFill>
              <p:spPr>
                <a:xfrm>
                  <a:off x="4842520" y="1507374"/>
                  <a:ext cx="3152938" cy="2824329"/>
                </a:xfrm>
                <a:prstGeom prst="rect">
                  <a:avLst/>
                </a:prstGeom>
              </p:spPr>
            </p:pic>
            <p:sp>
              <p:nvSpPr>
                <p:cNvPr id="62" name="矩形 61">
                  <a:extLst>
                    <a:ext uri="{FF2B5EF4-FFF2-40B4-BE49-F238E27FC236}">
                      <a16:creationId xmlns:a16="http://schemas.microsoft.com/office/drawing/2014/main" id="{9339BD5E-61F4-4C84-BDCA-E9BB8063E4AB}"/>
                    </a:ext>
                  </a:extLst>
                </p:cNvPr>
                <p:cNvSpPr/>
                <p:nvPr/>
              </p:nvSpPr>
              <p:spPr>
                <a:xfrm>
                  <a:off x="4833877" y="4204362"/>
                  <a:ext cx="955844" cy="1290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Incident light</a:t>
                  </a:r>
                  <a:endParaRPr lang="zh-TW" altLang="en-US" sz="900" dirty="0">
                    <a:solidFill>
                      <a:schemeClr val="tx1"/>
                    </a:solidFill>
                    <a:latin typeface="Montserrat" panose="02020500000000000000" charset="0"/>
                  </a:endParaRPr>
                </a:p>
              </p:txBody>
            </p:sp>
            <p:sp>
              <p:nvSpPr>
                <p:cNvPr id="63" name="矩形 62">
                  <a:extLst>
                    <a:ext uri="{FF2B5EF4-FFF2-40B4-BE49-F238E27FC236}">
                      <a16:creationId xmlns:a16="http://schemas.microsoft.com/office/drawing/2014/main" id="{F32A54B3-D2D2-4E3B-AEE3-95A74501E603}"/>
                    </a:ext>
                  </a:extLst>
                </p:cNvPr>
                <p:cNvSpPr/>
                <p:nvPr/>
              </p:nvSpPr>
              <p:spPr>
                <a:xfrm>
                  <a:off x="6741173" y="1783939"/>
                  <a:ext cx="343594" cy="852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TE</a:t>
                  </a:r>
                  <a:endParaRPr lang="zh-TW" altLang="en-US" sz="900" dirty="0">
                    <a:solidFill>
                      <a:schemeClr val="tx1"/>
                    </a:solidFill>
                    <a:latin typeface="Montserrat" panose="02020500000000000000" charset="0"/>
                  </a:endParaRPr>
                </a:p>
              </p:txBody>
            </p:sp>
            <p:sp>
              <p:nvSpPr>
                <p:cNvPr id="64" name="矩形 63">
                  <a:extLst>
                    <a:ext uri="{FF2B5EF4-FFF2-40B4-BE49-F238E27FC236}">
                      <a16:creationId xmlns:a16="http://schemas.microsoft.com/office/drawing/2014/main" id="{92D3D3B7-D016-4BE3-A360-52B125C40CE2}"/>
                    </a:ext>
                  </a:extLst>
                </p:cNvPr>
                <p:cNvSpPr/>
                <p:nvPr/>
              </p:nvSpPr>
              <p:spPr>
                <a:xfrm>
                  <a:off x="5145822" y="3327263"/>
                  <a:ext cx="366591" cy="1264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rPr>
                    <a:t>TM</a:t>
                  </a:r>
                  <a:endParaRPr lang="zh-TW" altLang="en-US" sz="900" dirty="0">
                    <a:solidFill>
                      <a:schemeClr val="tx1"/>
                    </a:solidFill>
                    <a:latin typeface="Montserrat" panose="02020500000000000000" charset="0"/>
                  </a:endParaRPr>
                </a:p>
              </p:txBody>
            </p:sp>
          </p:grpSp>
          <p:grpSp>
            <p:nvGrpSpPr>
              <p:cNvPr id="54" name="群組 53">
                <a:extLst>
                  <a:ext uri="{FF2B5EF4-FFF2-40B4-BE49-F238E27FC236}">
                    <a16:creationId xmlns:a16="http://schemas.microsoft.com/office/drawing/2014/main" id="{0F1EC4E1-4063-401C-A255-124BCC7A1AA0}"/>
                  </a:ext>
                </a:extLst>
              </p:cNvPr>
              <p:cNvGrpSpPr/>
              <p:nvPr/>
            </p:nvGrpSpPr>
            <p:grpSpPr>
              <a:xfrm>
                <a:off x="6036321" y="2499253"/>
                <a:ext cx="1143600" cy="465025"/>
                <a:chOff x="6036321" y="2499253"/>
                <a:chExt cx="1143600" cy="465025"/>
              </a:xfrm>
            </p:grpSpPr>
            <p:grpSp>
              <p:nvGrpSpPr>
                <p:cNvPr id="56" name="群組 55">
                  <a:extLst>
                    <a:ext uri="{FF2B5EF4-FFF2-40B4-BE49-F238E27FC236}">
                      <a16:creationId xmlns:a16="http://schemas.microsoft.com/office/drawing/2014/main" id="{5F8AF90D-321B-44A2-A374-8C8BFF77FD7E}"/>
                    </a:ext>
                  </a:extLst>
                </p:cNvPr>
                <p:cNvGrpSpPr/>
                <p:nvPr/>
              </p:nvGrpSpPr>
              <p:grpSpPr>
                <a:xfrm>
                  <a:off x="6036321" y="2499253"/>
                  <a:ext cx="1128360" cy="465025"/>
                  <a:chOff x="6126480" y="2560616"/>
                  <a:chExt cx="1128360" cy="465025"/>
                </a:xfrm>
              </p:grpSpPr>
              <p:cxnSp>
                <p:nvCxnSpPr>
                  <p:cNvPr id="59" name="直線接點 58">
                    <a:extLst>
                      <a:ext uri="{FF2B5EF4-FFF2-40B4-BE49-F238E27FC236}">
                        <a16:creationId xmlns:a16="http://schemas.microsoft.com/office/drawing/2014/main" id="{62F7484E-16A9-40B8-ADF8-5DA9F22C7ED4}"/>
                      </a:ext>
                    </a:extLst>
                  </p:cNvPr>
                  <p:cNvCxnSpPr/>
                  <p:nvPr/>
                </p:nvCxnSpPr>
                <p:spPr>
                  <a:xfrm>
                    <a:off x="6126480" y="2571750"/>
                    <a:ext cx="1128360" cy="0"/>
                  </a:xfrm>
                  <a:prstGeom prst="line">
                    <a:avLst/>
                  </a:prstGeom>
                  <a:ln w="19050">
                    <a:solidFill>
                      <a:schemeClr val="tx2"/>
                    </a:solidFill>
                  </a:ln>
                  <a:effectLst>
                    <a:glow rad="63500">
                      <a:schemeClr val="tx2">
                        <a:alpha val="40000"/>
                      </a:schemeClr>
                    </a:glow>
                  </a:effectLst>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77460946-3D9D-49DF-AD83-78A775AFB907}"/>
                      </a:ext>
                    </a:extLst>
                  </p:cNvPr>
                  <p:cNvCxnSpPr>
                    <a:cxnSpLocks/>
                  </p:cNvCxnSpPr>
                  <p:nvPr/>
                </p:nvCxnSpPr>
                <p:spPr>
                  <a:xfrm>
                    <a:off x="6126480" y="2560616"/>
                    <a:ext cx="0" cy="465025"/>
                  </a:xfrm>
                  <a:prstGeom prst="line">
                    <a:avLst/>
                  </a:prstGeom>
                  <a:ln w="19050">
                    <a:solidFill>
                      <a:schemeClr val="tx2"/>
                    </a:solidFill>
                  </a:ln>
                  <a:effectLst>
                    <a:glow rad="63500">
                      <a:schemeClr val="tx2">
                        <a:alpha val="40000"/>
                      </a:schemeClr>
                    </a:glow>
                  </a:effectLst>
                </p:spPr>
                <p:style>
                  <a:lnRef idx="1">
                    <a:schemeClr val="accent1"/>
                  </a:lnRef>
                  <a:fillRef idx="0">
                    <a:schemeClr val="accent1"/>
                  </a:fillRef>
                  <a:effectRef idx="0">
                    <a:schemeClr val="accent1"/>
                  </a:effectRef>
                  <a:fontRef idx="minor">
                    <a:schemeClr val="tx1"/>
                  </a:fontRef>
                </p:style>
              </p:cxnSp>
            </p:grpSp>
            <p:cxnSp>
              <p:nvCxnSpPr>
                <p:cNvPr id="57" name="直線接點 56">
                  <a:extLst>
                    <a:ext uri="{FF2B5EF4-FFF2-40B4-BE49-F238E27FC236}">
                      <a16:creationId xmlns:a16="http://schemas.microsoft.com/office/drawing/2014/main" id="{9D38BBFF-A9C7-44F5-928B-E3FDACEB842D}"/>
                    </a:ext>
                  </a:extLst>
                </p:cNvPr>
                <p:cNvCxnSpPr>
                  <a:cxnSpLocks/>
                </p:cNvCxnSpPr>
                <p:nvPr/>
              </p:nvCxnSpPr>
              <p:spPr>
                <a:xfrm>
                  <a:off x="7173582" y="2499253"/>
                  <a:ext cx="0" cy="465025"/>
                </a:xfrm>
                <a:prstGeom prst="line">
                  <a:avLst/>
                </a:prstGeom>
                <a:ln w="19050">
                  <a:solidFill>
                    <a:schemeClr val="tx2"/>
                  </a:solidFill>
                </a:ln>
                <a:effectLst>
                  <a:glow rad="63500">
                    <a:schemeClr val="tx2">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E239889B-77E7-42BD-A415-0EECA45653CB}"/>
                    </a:ext>
                  </a:extLst>
                </p:cNvPr>
                <p:cNvCxnSpPr>
                  <a:cxnSpLocks/>
                </p:cNvCxnSpPr>
                <p:nvPr/>
              </p:nvCxnSpPr>
              <p:spPr>
                <a:xfrm>
                  <a:off x="6844041" y="2959198"/>
                  <a:ext cx="335880" cy="0"/>
                </a:xfrm>
                <a:prstGeom prst="line">
                  <a:avLst/>
                </a:prstGeom>
                <a:ln w="19050">
                  <a:solidFill>
                    <a:schemeClr val="tx2"/>
                  </a:solidFill>
                </a:ln>
                <a:effectLst>
                  <a:glow rad="63500">
                    <a:schemeClr val="tx2">
                      <a:alpha val="40000"/>
                    </a:schemeClr>
                  </a:glow>
                </a:effectLst>
              </p:spPr>
              <p:style>
                <a:lnRef idx="1">
                  <a:schemeClr val="accent1"/>
                </a:lnRef>
                <a:fillRef idx="0">
                  <a:schemeClr val="accent1"/>
                </a:fillRef>
                <a:effectRef idx="0">
                  <a:schemeClr val="accent1"/>
                </a:effectRef>
                <a:fontRef idx="minor">
                  <a:schemeClr val="tx1"/>
                </a:fontRef>
              </p:style>
            </p:cxnSp>
          </p:grpSp>
          <p:sp>
            <p:nvSpPr>
              <p:cNvPr id="55" name="橢圓 54">
                <a:extLst>
                  <a:ext uri="{FF2B5EF4-FFF2-40B4-BE49-F238E27FC236}">
                    <a16:creationId xmlns:a16="http://schemas.microsoft.com/office/drawing/2014/main" id="{03C5A2AA-3413-447F-A31E-67435508EA61}"/>
                  </a:ext>
                </a:extLst>
              </p:cNvPr>
              <p:cNvSpPr/>
              <p:nvPr/>
            </p:nvSpPr>
            <p:spPr>
              <a:xfrm>
                <a:off x="6525173" y="2406683"/>
                <a:ext cx="216000" cy="216000"/>
              </a:xfrm>
              <a:prstGeom prst="ellipse">
                <a:avLst/>
              </a:prstGeom>
              <a:solidFill>
                <a:schemeClr val="accent4"/>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rPr>
                  <a:t>V</a:t>
                </a:r>
                <a:endParaRPr lang="zh-TW" altLang="en-US" sz="900" b="1" dirty="0">
                  <a:solidFill>
                    <a:schemeClr val="tx1"/>
                  </a:solidFill>
                  <a:latin typeface="Montserrat" panose="02020500000000000000" charset="0"/>
                </a:endParaRPr>
              </a:p>
            </p:txBody>
          </p:sp>
        </p:grpSp>
        <p:sp>
          <p:nvSpPr>
            <p:cNvPr id="2" name="矩形 1">
              <a:extLst>
                <a:ext uri="{FF2B5EF4-FFF2-40B4-BE49-F238E27FC236}">
                  <a16:creationId xmlns:a16="http://schemas.microsoft.com/office/drawing/2014/main" id="{22E69A1B-2D33-44DC-9B21-5CF69F697088}"/>
                </a:ext>
              </a:extLst>
            </p:cNvPr>
            <p:cNvSpPr/>
            <p:nvPr/>
          </p:nvSpPr>
          <p:spPr>
            <a:xfrm>
              <a:off x="6448024" y="3550920"/>
              <a:ext cx="76200" cy="811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4700F8A8-FB8E-488C-803D-F2BF5CEBA8A7}"/>
                    </a:ext>
                  </a:extLst>
                </p:cNvPr>
                <p:cNvSpPr txBox="1"/>
                <p:nvPr/>
              </p:nvSpPr>
              <p:spPr>
                <a:xfrm>
                  <a:off x="6448024" y="3551758"/>
                  <a:ext cx="67326" cy="92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altLang="zh-TW" sz="600" i="1" smtClean="0">
                            <a:latin typeface="Cambria Math" panose="02040503050406030204" pitchFamily="18" charset="0"/>
                            <a:ea typeface="Cambria Math" panose="02040503050406030204" pitchFamily="18" charset="0"/>
                          </a:rPr>
                          <m:t>Λ</m:t>
                        </m:r>
                      </m:oMath>
                    </m:oMathPara>
                  </a14:m>
                  <a:endParaRPr lang="zh-TW" altLang="en-US" sz="600" dirty="0"/>
                </a:p>
              </p:txBody>
            </p:sp>
          </mc:Choice>
          <mc:Fallback xmlns="">
            <p:sp>
              <p:nvSpPr>
                <p:cNvPr id="5" name="文字方塊 4">
                  <a:extLst>
                    <a:ext uri="{FF2B5EF4-FFF2-40B4-BE49-F238E27FC236}">
                      <a16:creationId xmlns:a16="http://schemas.microsoft.com/office/drawing/2014/main" id="{4700F8A8-FB8E-488C-803D-F2BF5CEBA8A7}"/>
                    </a:ext>
                  </a:extLst>
                </p:cNvPr>
                <p:cNvSpPr txBox="1">
                  <a:spLocks noRot="1" noChangeAspect="1" noMove="1" noResize="1" noEditPoints="1" noAdjustHandles="1" noChangeArrowheads="1" noChangeShapeType="1" noTextEdit="1"/>
                </p:cNvSpPr>
                <p:nvPr/>
              </p:nvSpPr>
              <p:spPr>
                <a:xfrm>
                  <a:off x="6448024" y="3551758"/>
                  <a:ext cx="67326" cy="92333"/>
                </a:xfrm>
                <a:prstGeom prst="rect">
                  <a:avLst/>
                </a:prstGeom>
                <a:blipFill>
                  <a:blip r:embed="rId9"/>
                  <a:stretch>
                    <a:fillRect l="-27273" r="-36364" b="-13333"/>
                  </a:stretch>
                </a:blipFill>
              </p:spPr>
              <p:txBody>
                <a:bodyPr/>
                <a:lstStyle/>
                <a:p>
                  <a:r>
                    <a:rPr lang="zh-TW" altLang="en-US">
                      <a:noFill/>
                    </a:rPr>
                    <a:t> </a:t>
                  </a:r>
                </a:p>
              </p:txBody>
            </p:sp>
          </mc:Fallback>
        </mc:AlternateContent>
      </p:grpSp>
      <p:sp>
        <p:nvSpPr>
          <p:cNvPr id="42" name="矩形 41">
            <a:extLst>
              <a:ext uri="{FF2B5EF4-FFF2-40B4-BE49-F238E27FC236}">
                <a16:creationId xmlns:a16="http://schemas.microsoft.com/office/drawing/2014/main" id="{BEFE0B33-A074-4721-9028-14B0BE29AC08}"/>
              </a:ext>
            </a:extLst>
          </p:cNvPr>
          <p:cNvSpPr/>
          <p:nvPr/>
        </p:nvSpPr>
        <p:spPr>
          <a:xfrm>
            <a:off x="7982609" y="4925145"/>
            <a:ext cx="759922" cy="215444"/>
          </a:xfrm>
          <a:prstGeom prst="rect">
            <a:avLst/>
          </a:prstGeom>
        </p:spPr>
        <p:txBody>
          <a:bodyPr wrap="square">
            <a:spAutoFit/>
          </a:bodyPr>
          <a:lstStyle/>
          <a:p>
            <a:r>
              <a:rPr lang="en-US" altLang="zh-TW" sz="800" dirty="0">
                <a:solidFill>
                  <a:schemeClr val="tx1"/>
                </a:solidFill>
                <a:latin typeface="Montserrat" panose="02020500000000000000" charset="0"/>
                <a:cs typeface="Times New Roman" panose="02020603050405020304" pitchFamily="18" charset="0"/>
              </a:rPr>
              <a:t>(Yariv, 1983)</a:t>
            </a:r>
            <a:endParaRPr lang="zh-TW" altLang="zh-TW" sz="800" dirty="0">
              <a:solidFill>
                <a:schemeClr val="tx1"/>
              </a:solidFill>
              <a:latin typeface="Montserrat" panose="02020500000000000000" charset="0"/>
              <a:cs typeface="Times New Roman" panose="02020603050405020304" pitchFamily="18" charset="0"/>
            </a:endParaRPr>
          </a:p>
        </p:txBody>
      </p:sp>
    </p:spTree>
    <p:extLst>
      <p:ext uri="{BB962C8B-B14F-4D97-AF65-F5344CB8AC3E}">
        <p14:creationId xmlns:p14="http://schemas.microsoft.com/office/powerpoint/2010/main" val="2143959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2438696" y="1722776"/>
            <a:ext cx="4275462"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Working principles</a:t>
            </a:r>
          </a:p>
        </p:txBody>
      </p:sp>
      <p:grpSp>
        <p:nvGrpSpPr>
          <p:cNvPr id="64" name="Google Shape;1292;p58">
            <a:extLst>
              <a:ext uri="{FF2B5EF4-FFF2-40B4-BE49-F238E27FC236}">
                <a16:creationId xmlns:a16="http://schemas.microsoft.com/office/drawing/2014/main" id="{FC6632E1-4DDB-4426-94DA-D4E75D2D5F02}"/>
              </a:ext>
            </a:extLst>
          </p:cNvPr>
          <p:cNvGrpSpPr/>
          <p:nvPr/>
        </p:nvGrpSpPr>
        <p:grpSpPr>
          <a:xfrm>
            <a:off x="5343406" y="4389120"/>
            <a:ext cx="3800594" cy="754380"/>
            <a:chOff x="474500" y="2502500"/>
            <a:chExt cx="6551575" cy="769875"/>
          </a:xfrm>
        </p:grpSpPr>
        <p:sp>
          <p:nvSpPr>
            <p:cNvPr id="65" name="Google Shape;1293;p58">
              <a:extLst>
                <a:ext uri="{FF2B5EF4-FFF2-40B4-BE49-F238E27FC236}">
                  <a16:creationId xmlns:a16="http://schemas.microsoft.com/office/drawing/2014/main" id="{336B5179-25EF-41B7-A75F-B1339648CDC4}"/>
                </a:ext>
              </a:extLst>
            </p:cNvPr>
            <p:cNvSpPr/>
            <p:nvPr/>
          </p:nvSpPr>
          <p:spPr>
            <a:xfrm>
              <a:off x="474500" y="2566550"/>
              <a:ext cx="3397475" cy="579050"/>
            </a:xfrm>
            <a:custGeom>
              <a:avLst/>
              <a:gdLst/>
              <a:ahLst/>
              <a:cxnLst/>
              <a:rect l="l" t="t" r="r" b="b"/>
              <a:pathLst>
                <a:path w="135899" h="23162" extrusionOk="0">
                  <a:moveTo>
                    <a:pt x="37708" y="0"/>
                  </a:moveTo>
                  <a:cubicBezTo>
                    <a:pt x="24912" y="0"/>
                    <a:pt x="0" y="10373"/>
                    <a:pt x="0" y="23162"/>
                  </a:cubicBezTo>
                  <a:lnTo>
                    <a:pt x="135899" y="23162"/>
                  </a:lnTo>
                  <a:lnTo>
                    <a:pt x="1358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294;p58">
              <a:extLst>
                <a:ext uri="{FF2B5EF4-FFF2-40B4-BE49-F238E27FC236}">
                  <a16:creationId xmlns:a16="http://schemas.microsoft.com/office/drawing/2014/main" id="{C2D8BB26-87C9-4B49-9908-BF0C01EA52DB}"/>
                </a:ext>
              </a:extLst>
            </p:cNvPr>
            <p:cNvSpPr/>
            <p:nvPr/>
          </p:nvSpPr>
          <p:spPr>
            <a:xfrm>
              <a:off x="474650" y="3145575"/>
              <a:ext cx="3397825" cy="126800"/>
            </a:xfrm>
            <a:custGeom>
              <a:avLst/>
              <a:gdLst/>
              <a:ahLst/>
              <a:cxnLst/>
              <a:rect l="l" t="t" r="r" b="b"/>
              <a:pathLst>
                <a:path w="135913" h="5072" extrusionOk="0">
                  <a:moveTo>
                    <a:pt x="1" y="1"/>
                  </a:moveTo>
                  <a:lnTo>
                    <a:pt x="1" y="4486"/>
                  </a:lnTo>
                  <a:cubicBezTo>
                    <a:pt x="1" y="4812"/>
                    <a:pt x="314" y="5071"/>
                    <a:pt x="693" y="5071"/>
                  </a:cubicBezTo>
                  <a:lnTo>
                    <a:pt x="135913" y="5071"/>
                  </a:lnTo>
                  <a:lnTo>
                    <a:pt x="1359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295;p58">
              <a:extLst>
                <a:ext uri="{FF2B5EF4-FFF2-40B4-BE49-F238E27FC236}">
                  <a16:creationId xmlns:a16="http://schemas.microsoft.com/office/drawing/2014/main" id="{31045745-061C-4EA8-A09F-7EADDCB69381}"/>
                </a:ext>
              </a:extLst>
            </p:cNvPr>
            <p:cNvSpPr/>
            <p:nvPr/>
          </p:nvSpPr>
          <p:spPr>
            <a:xfrm>
              <a:off x="2182875" y="2695800"/>
              <a:ext cx="1545875" cy="204125"/>
            </a:xfrm>
            <a:custGeom>
              <a:avLst/>
              <a:gdLst/>
              <a:ahLst/>
              <a:cxnLst/>
              <a:rect l="l" t="t" r="r" b="b"/>
              <a:pathLst>
                <a:path w="61835" h="8165" extrusionOk="0">
                  <a:moveTo>
                    <a:pt x="0" y="0"/>
                  </a:moveTo>
                  <a:lnTo>
                    <a:pt x="0" y="8164"/>
                  </a:lnTo>
                  <a:lnTo>
                    <a:pt x="61835" y="8164"/>
                  </a:lnTo>
                  <a:lnTo>
                    <a:pt x="618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296;p58">
              <a:extLst>
                <a:ext uri="{FF2B5EF4-FFF2-40B4-BE49-F238E27FC236}">
                  <a16:creationId xmlns:a16="http://schemas.microsoft.com/office/drawing/2014/main" id="{E4817A4E-D395-4786-8BD6-3058EE63B729}"/>
                </a:ext>
              </a:extLst>
            </p:cNvPr>
            <p:cNvSpPr/>
            <p:nvPr/>
          </p:nvSpPr>
          <p:spPr>
            <a:xfrm>
              <a:off x="1044900" y="2691050"/>
              <a:ext cx="614675" cy="208875"/>
            </a:xfrm>
            <a:custGeom>
              <a:avLst/>
              <a:gdLst/>
              <a:ahLst/>
              <a:cxnLst/>
              <a:rect l="l" t="t" r="r" b="b"/>
              <a:pathLst>
                <a:path w="24587" h="8355" extrusionOk="0">
                  <a:moveTo>
                    <a:pt x="20229" y="1"/>
                  </a:moveTo>
                  <a:cubicBezTo>
                    <a:pt x="14517" y="1"/>
                    <a:pt x="5310" y="775"/>
                    <a:pt x="0" y="4442"/>
                  </a:cubicBezTo>
                  <a:lnTo>
                    <a:pt x="0" y="8354"/>
                  </a:lnTo>
                  <a:lnTo>
                    <a:pt x="24586" y="8354"/>
                  </a:lnTo>
                  <a:lnTo>
                    <a:pt x="24586" y="190"/>
                  </a:lnTo>
                  <a:cubicBezTo>
                    <a:pt x="23751" y="93"/>
                    <a:pt x="22197" y="1"/>
                    <a:pt x="202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297;p58">
              <a:extLst>
                <a:ext uri="{FF2B5EF4-FFF2-40B4-BE49-F238E27FC236}">
                  <a16:creationId xmlns:a16="http://schemas.microsoft.com/office/drawing/2014/main" id="{7FA0A3F7-5926-4079-A8AB-405AD64B0FB1}"/>
                </a:ext>
              </a:extLst>
            </p:cNvPr>
            <p:cNvSpPr/>
            <p:nvPr/>
          </p:nvSpPr>
          <p:spPr>
            <a:xfrm>
              <a:off x="796050" y="2972925"/>
              <a:ext cx="3076100" cy="30125"/>
            </a:xfrm>
            <a:custGeom>
              <a:avLst/>
              <a:gdLst/>
              <a:ahLst/>
              <a:cxnLst/>
              <a:rect l="l" t="t" r="r" b="b"/>
              <a:pathLst>
                <a:path w="123044" h="1205" extrusionOk="0">
                  <a:moveTo>
                    <a:pt x="140" y="0"/>
                  </a:moveTo>
                  <a:cubicBezTo>
                    <a:pt x="67" y="0"/>
                    <a:pt x="0" y="67"/>
                    <a:pt x="0" y="140"/>
                  </a:cubicBezTo>
                  <a:lnTo>
                    <a:pt x="0" y="1205"/>
                  </a:lnTo>
                  <a:lnTo>
                    <a:pt x="123043" y="1205"/>
                  </a:lnTo>
                  <a:lnTo>
                    <a:pt x="1230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298;p58">
              <a:extLst>
                <a:ext uri="{FF2B5EF4-FFF2-40B4-BE49-F238E27FC236}">
                  <a16:creationId xmlns:a16="http://schemas.microsoft.com/office/drawing/2014/main" id="{72980734-F815-4B43-830C-BDF119E62F96}"/>
                </a:ext>
              </a:extLst>
            </p:cNvPr>
            <p:cNvSpPr/>
            <p:nvPr/>
          </p:nvSpPr>
          <p:spPr>
            <a:xfrm>
              <a:off x="1441625" y="2566550"/>
              <a:ext cx="2430350" cy="56575"/>
            </a:xfrm>
            <a:custGeom>
              <a:avLst/>
              <a:gdLst/>
              <a:ahLst/>
              <a:cxnLst/>
              <a:rect l="l" t="t" r="r" b="b"/>
              <a:pathLst>
                <a:path w="97214" h="2263" extrusionOk="0">
                  <a:moveTo>
                    <a:pt x="1" y="0"/>
                  </a:moveTo>
                  <a:lnTo>
                    <a:pt x="1" y="1996"/>
                  </a:lnTo>
                  <a:cubicBezTo>
                    <a:pt x="1" y="2149"/>
                    <a:pt x="120" y="2262"/>
                    <a:pt x="260" y="2262"/>
                  </a:cubicBezTo>
                  <a:lnTo>
                    <a:pt x="97214" y="2262"/>
                  </a:lnTo>
                  <a:lnTo>
                    <a:pt x="97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299;p58">
              <a:extLst>
                <a:ext uri="{FF2B5EF4-FFF2-40B4-BE49-F238E27FC236}">
                  <a16:creationId xmlns:a16="http://schemas.microsoft.com/office/drawing/2014/main" id="{1875F0C7-5AFB-4398-99AD-422A432B5BB0}"/>
                </a:ext>
              </a:extLst>
            </p:cNvPr>
            <p:cNvSpPr/>
            <p:nvPr/>
          </p:nvSpPr>
          <p:spPr>
            <a:xfrm>
              <a:off x="796050" y="2856150"/>
              <a:ext cx="144575" cy="146900"/>
            </a:xfrm>
            <a:custGeom>
              <a:avLst/>
              <a:gdLst/>
              <a:ahLst/>
              <a:cxnLst/>
              <a:rect l="l" t="t" r="r" b="b"/>
              <a:pathLst>
                <a:path w="5783" h="5876" extrusionOk="0">
                  <a:moveTo>
                    <a:pt x="5782" y="0"/>
                  </a:moveTo>
                  <a:cubicBezTo>
                    <a:pt x="0" y="2289"/>
                    <a:pt x="0" y="5876"/>
                    <a:pt x="0" y="5876"/>
                  </a:cubicBezTo>
                  <a:lnTo>
                    <a:pt x="925" y="5876"/>
                  </a:lnTo>
                  <a:cubicBezTo>
                    <a:pt x="925" y="5876"/>
                    <a:pt x="1071" y="2941"/>
                    <a:pt x="5782" y="958"/>
                  </a:cubicBezTo>
                  <a:lnTo>
                    <a:pt x="5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300;p58">
              <a:extLst>
                <a:ext uri="{FF2B5EF4-FFF2-40B4-BE49-F238E27FC236}">
                  <a16:creationId xmlns:a16="http://schemas.microsoft.com/office/drawing/2014/main" id="{6BDCB656-5900-4AC9-849F-2B066B71E4E3}"/>
                </a:ext>
              </a:extLst>
            </p:cNvPr>
            <p:cNvSpPr/>
            <p:nvPr/>
          </p:nvSpPr>
          <p:spPr>
            <a:xfrm>
              <a:off x="643175" y="2653200"/>
              <a:ext cx="366800" cy="213475"/>
            </a:xfrm>
            <a:custGeom>
              <a:avLst/>
              <a:gdLst/>
              <a:ahLst/>
              <a:cxnLst/>
              <a:rect l="l" t="t" r="r" b="b"/>
              <a:pathLst>
                <a:path w="14672" h="8539" extrusionOk="0">
                  <a:moveTo>
                    <a:pt x="14672" y="1"/>
                  </a:moveTo>
                  <a:lnTo>
                    <a:pt x="14672" y="1"/>
                  </a:lnTo>
                  <a:cubicBezTo>
                    <a:pt x="9282" y="2023"/>
                    <a:pt x="3986" y="4838"/>
                    <a:pt x="0" y="8172"/>
                  </a:cubicBezTo>
                  <a:cubicBezTo>
                    <a:pt x="697" y="8414"/>
                    <a:pt x="1431" y="8539"/>
                    <a:pt x="2169" y="8539"/>
                  </a:cubicBezTo>
                  <a:cubicBezTo>
                    <a:pt x="3396" y="8539"/>
                    <a:pt x="4635" y="8193"/>
                    <a:pt x="5736" y="7466"/>
                  </a:cubicBezTo>
                  <a:lnTo>
                    <a:pt x="12143" y="3228"/>
                  </a:lnTo>
                  <a:cubicBezTo>
                    <a:pt x="13361" y="2423"/>
                    <a:pt x="14213" y="1278"/>
                    <a:pt x="146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301;p58">
              <a:extLst>
                <a:ext uri="{FF2B5EF4-FFF2-40B4-BE49-F238E27FC236}">
                  <a16:creationId xmlns:a16="http://schemas.microsoft.com/office/drawing/2014/main" id="{0F9A2B37-1BBF-44DE-B66C-E320ECAD06EB}"/>
                </a:ext>
              </a:extLst>
            </p:cNvPr>
            <p:cNvSpPr/>
            <p:nvPr/>
          </p:nvSpPr>
          <p:spPr>
            <a:xfrm>
              <a:off x="680425" y="2659025"/>
              <a:ext cx="314750" cy="173050"/>
            </a:xfrm>
            <a:custGeom>
              <a:avLst/>
              <a:gdLst/>
              <a:ahLst/>
              <a:cxnLst/>
              <a:rect l="l" t="t" r="r" b="b"/>
              <a:pathLst>
                <a:path w="12590" h="6922" extrusionOk="0">
                  <a:moveTo>
                    <a:pt x="12590" y="1"/>
                  </a:moveTo>
                  <a:lnTo>
                    <a:pt x="12590" y="1"/>
                  </a:lnTo>
                  <a:cubicBezTo>
                    <a:pt x="8052" y="1757"/>
                    <a:pt x="3607" y="4059"/>
                    <a:pt x="1" y="6767"/>
                  </a:cubicBezTo>
                  <a:cubicBezTo>
                    <a:pt x="464" y="6869"/>
                    <a:pt x="937" y="6921"/>
                    <a:pt x="1412" y="6921"/>
                  </a:cubicBezTo>
                  <a:cubicBezTo>
                    <a:pt x="2643" y="6921"/>
                    <a:pt x="3887" y="6572"/>
                    <a:pt x="4991" y="5843"/>
                  </a:cubicBezTo>
                  <a:lnTo>
                    <a:pt x="10560" y="2156"/>
                  </a:lnTo>
                  <a:cubicBezTo>
                    <a:pt x="11425" y="1584"/>
                    <a:pt x="12104" y="846"/>
                    <a:pt x="125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302;p58">
              <a:extLst>
                <a:ext uri="{FF2B5EF4-FFF2-40B4-BE49-F238E27FC236}">
                  <a16:creationId xmlns:a16="http://schemas.microsoft.com/office/drawing/2014/main" id="{FD45EDD4-B685-4EF2-BA1A-D96173FCA25B}"/>
                </a:ext>
              </a:extLst>
            </p:cNvPr>
            <p:cNvSpPr/>
            <p:nvPr/>
          </p:nvSpPr>
          <p:spPr>
            <a:xfrm>
              <a:off x="511575" y="3029700"/>
              <a:ext cx="44775" cy="66950"/>
            </a:xfrm>
            <a:custGeom>
              <a:avLst/>
              <a:gdLst/>
              <a:ahLst/>
              <a:cxnLst/>
              <a:rect l="l" t="t" r="r" b="b"/>
              <a:pathLst>
                <a:path w="1791" h="2678" extrusionOk="0">
                  <a:moveTo>
                    <a:pt x="1367" y="1"/>
                  </a:moveTo>
                  <a:cubicBezTo>
                    <a:pt x="1055" y="1"/>
                    <a:pt x="622" y="449"/>
                    <a:pt x="334" y="1089"/>
                  </a:cubicBezTo>
                  <a:cubicBezTo>
                    <a:pt x="8" y="1815"/>
                    <a:pt x="1" y="2513"/>
                    <a:pt x="314" y="2653"/>
                  </a:cubicBezTo>
                  <a:cubicBezTo>
                    <a:pt x="350" y="2670"/>
                    <a:pt x="389" y="2678"/>
                    <a:pt x="430" y="2678"/>
                  </a:cubicBezTo>
                  <a:cubicBezTo>
                    <a:pt x="738" y="2678"/>
                    <a:pt x="1171" y="2234"/>
                    <a:pt x="1458" y="1588"/>
                  </a:cubicBezTo>
                  <a:cubicBezTo>
                    <a:pt x="1784" y="863"/>
                    <a:pt x="1791" y="165"/>
                    <a:pt x="1485" y="25"/>
                  </a:cubicBezTo>
                  <a:cubicBezTo>
                    <a:pt x="1448" y="8"/>
                    <a:pt x="1409" y="1"/>
                    <a:pt x="1367" y="1"/>
                  </a:cubicBezTo>
                  <a:close/>
                </a:path>
              </a:pathLst>
            </a:custGeom>
            <a:solidFill>
              <a:srgbClr val="BA2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303;p58">
              <a:extLst>
                <a:ext uri="{FF2B5EF4-FFF2-40B4-BE49-F238E27FC236}">
                  <a16:creationId xmlns:a16="http://schemas.microsoft.com/office/drawing/2014/main" id="{2B52033F-06DA-41F2-B444-2CFD77AD53DF}"/>
                </a:ext>
              </a:extLst>
            </p:cNvPr>
            <p:cNvSpPr/>
            <p:nvPr/>
          </p:nvSpPr>
          <p:spPr>
            <a:xfrm>
              <a:off x="514575" y="3029125"/>
              <a:ext cx="38800" cy="57625"/>
            </a:xfrm>
            <a:custGeom>
              <a:avLst/>
              <a:gdLst/>
              <a:ahLst/>
              <a:cxnLst/>
              <a:rect l="l" t="t" r="r" b="b"/>
              <a:pathLst>
                <a:path w="1552" h="2305" extrusionOk="0">
                  <a:moveTo>
                    <a:pt x="1177" y="0"/>
                  </a:moveTo>
                  <a:cubicBezTo>
                    <a:pt x="909" y="0"/>
                    <a:pt x="533" y="381"/>
                    <a:pt x="287" y="933"/>
                  </a:cubicBezTo>
                  <a:cubicBezTo>
                    <a:pt x="14" y="1558"/>
                    <a:pt x="1" y="2164"/>
                    <a:pt x="274" y="2283"/>
                  </a:cubicBezTo>
                  <a:cubicBezTo>
                    <a:pt x="305" y="2298"/>
                    <a:pt x="339" y="2304"/>
                    <a:pt x="375" y="2304"/>
                  </a:cubicBezTo>
                  <a:cubicBezTo>
                    <a:pt x="643" y="2304"/>
                    <a:pt x="1018" y="1924"/>
                    <a:pt x="1265" y="1372"/>
                  </a:cubicBezTo>
                  <a:cubicBezTo>
                    <a:pt x="1538" y="746"/>
                    <a:pt x="1551" y="141"/>
                    <a:pt x="1278" y="21"/>
                  </a:cubicBezTo>
                  <a:cubicBezTo>
                    <a:pt x="1247" y="7"/>
                    <a:pt x="1213" y="0"/>
                    <a:pt x="11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304;p58">
              <a:extLst>
                <a:ext uri="{FF2B5EF4-FFF2-40B4-BE49-F238E27FC236}">
                  <a16:creationId xmlns:a16="http://schemas.microsoft.com/office/drawing/2014/main" id="{99852B7F-9A09-441F-925F-ABA45BE9AF73}"/>
                </a:ext>
              </a:extLst>
            </p:cNvPr>
            <p:cNvSpPr/>
            <p:nvPr/>
          </p:nvSpPr>
          <p:spPr>
            <a:xfrm>
              <a:off x="3479550" y="2502500"/>
              <a:ext cx="342200" cy="64075"/>
            </a:xfrm>
            <a:custGeom>
              <a:avLst/>
              <a:gdLst/>
              <a:ahLst/>
              <a:cxnLst/>
              <a:rect l="l" t="t" r="r" b="b"/>
              <a:pathLst>
                <a:path w="13688" h="2563" extrusionOk="0">
                  <a:moveTo>
                    <a:pt x="153" y="0"/>
                  </a:moveTo>
                  <a:cubicBezTo>
                    <a:pt x="67" y="0"/>
                    <a:pt x="0" y="67"/>
                    <a:pt x="0" y="153"/>
                  </a:cubicBezTo>
                  <a:lnTo>
                    <a:pt x="0" y="2562"/>
                  </a:lnTo>
                  <a:lnTo>
                    <a:pt x="13687" y="2562"/>
                  </a:lnTo>
                  <a:lnTo>
                    <a:pt x="13687" y="153"/>
                  </a:lnTo>
                  <a:cubicBezTo>
                    <a:pt x="13687" y="67"/>
                    <a:pt x="13621"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305;p58">
              <a:extLst>
                <a:ext uri="{FF2B5EF4-FFF2-40B4-BE49-F238E27FC236}">
                  <a16:creationId xmlns:a16="http://schemas.microsoft.com/office/drawing/2014/main" id="{7B32B8C2-1B9F-430B-9AD1-CBD053A9F7A1}"/>
                </a:ext>
              </a:extLst>
            </p:cNvPr>
            <p:cNvSpPr/>
            <p:nvPr/>
          </p:nvSpPr>
          <p:spPr>
            <a:xfrm>
              <a:off x="3542750" y="2502500"/>
              <a:ext cx="216100" cy="30125"/>
            </a:xfrm>
            <a:custGeom>
              <a:avLst/>
              <a:gdLst/>
              <a:ahLst/>
              <a:cxnLst/>
              <a:rect l="l" t="t" r="r" b="b"/>
              <a:pathLst>
                <a:path w="8644" h="1205" extrusionOk="0">
                  <a:moveTo>
                    <a:pt x="1" y="0"/>
                  </a:moveTo>
                  <a:lnTo>
                    <a:pt x="1" y="1158"/>
                  </a:lnTo>
                  <a:cubicBezTo>
                    <a:pt x="1" y="1185"/>
                    <a:pt x="21" y="1205"/>
                    <a:pt x="54" y="1205"/>
                  </a:cubicBezTo>
                  <a:lnTo>
                    <a:pt x="8584" y="1205"/>
                  </a:lnTo>
                  <a:cubicBezTo>
                    <a:pt x="8617" y="1205"/>
                    <a:pt x="8637" y="1185"/>
                    <a:pt x="8644" y="1158"/>
                  </a:cubicBezTo>
                  <a:lnTo>
                    <a:pt x="8644" y="0"/>
                  </a:lnTo>
                  <a:close/>
                </a:path>
              </a:pathLst>
            </a:custGeom>
            <a:solidFill>
              <a:srgbClr val="3C4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306;p58">
              <a:extLst>
                <a:ext uri="{FF2B5EF4-FFF2-40B4-BE49-F238E27FC236}">
                  <a16:creationId xmlns:a16="http://schemas.microsoft.com/office/drawing/2014/main" id="{9483C74D-C537-436B-A3C4-70539B28519A}"/>
                </a:ext>
              </a:extLst>
            </p:cNvPr>
            <p:cNvSpPr/>
            <p:nvPr/>
          </p:nvSpPr>
          <p:spPr>
            <a:xfrm>
              <a:off x="3558900" y="2502500"/>
              <a:ext cx="184000" cy="25650"/>
            </a:xfrm>
            <a:custGeom>
              <a:avLst/>
              <a:gdLst/>
              <a:ahLst/>
              <a:cxnLst/>
              <a:rect l="l" t="t" r="r" b="b"/>
              <a:pathLst>
                <a:path w="7360" h="1026" extrusionOk="0">
                  <a:moveTo>
                    <a:pt x="0" y="0"/>
                  </a:moveTo>
                  <a:lnTo>
                    <a:pt x="0" y="972"/>
                  </a:lnTo>
                  <a:cubicBezTo>
                    <a:pt x="0" y="998"/>
                    <a:pt x="13" y="1025"/>
                    <a:pt x="47" y="1025"/>
                  </a:cubicBezTo>
                  <a:lnTo>
                    <a:pt x="7299" y="1025"/>
                  </a:lnTo>
                  <a:cubicBezTo>
                    <a:pt x="7333" y="1025"/>
                    <a:pt x="7359" y="1005"/>
                    <a:pt x="7359" y="972"/>
                  </a:cubicBezTo>
                  <a:lnTo>
                    <a:pt x="73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307;p58">
              <a:extLst>
                <a:ext uri="{FF2B5EF4-FFF2-40B4-BE49-F238E27FC236}">
                  <a16:creationId xmlns:a16="http://schemas.microsoft.com/office/drawing/2014/main" id="{BCD60B5E-407B-4F04-87BE-DC0981DB535F}"/>
                </a:ext>
              </a:extLst>
            </p:cNvPr>
            <p:cNvSpPr/>
            <p:nvPr/>
          </p:nvSpPr>
          <p:spPr>
            <a:xfrm>
              <a:off x="3939000" y="2566550"/>
              <a:ext cx="3087075" cy="579050"/>
            </a:xfrm>
            <a:custGeom>
              <a:avLst/>
              <a:gdLst/>
              <a:ahLst/>
              <a:cxnLst/>
              <a:rect l="l" t="t" r="r" b="b"/>
              <a:pathLst>
                <a:path w="123483" h="23162" extrusionOk="0">
                  <a:moveTo>
                    <a:pt x="0" y="0"/>
                  </a:moveTo>
                  <a:lnTo>
                    <a:pt x="0" y="23162"/>
                  </a:lnTo>
                  <a:lnTo>
                    <a:pt x="123482" y="23162"/>
                  </a:lnTo>
                  <a:lnTo>
                    <a:pt x="1234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308;p58">
              <a:extLst>
                <a:ext uri="{FF2B5EF4-FFF2-40B4-BE49-F238E27FC236}">
                  <a16:creationId xmlns:a16="http://schemas.microsoft.com/office/drawing/2014/main" id="{B1D24277-17F6-4A9E-B573-F1A8FFA6EB77}"/>
                </a:ext>
              </a:extLst>
            </p:cNvPr>
            <p:cNvSpPr/>
            <p:nvPr/>
          </p:nvSpPr>
          <p:spPr>
            <a:xfrm>
              <a:off x="4487100" y="2695800"/>
              <a:ext cx="1990850" cy="204125"/>
            </a:xfrm>
            <a:custGeom>
              <a:avLst/>
              <a:gdLst/>
              <a:ahLst/>
              <a:cxnLst/>
              <a:rect l="l" t="t" r="r" b="b"/>
              <a:pathLst>
                <a:path w="79634" h="8165" extrusionOk="0">
                  <a:moveTo>
                    <a:pt x="1" y="0"/>
                  </a:moveTo>
                  <a:lnTo>
                    <a:pt x="1" y="8164"/>
                  </a:lnTo>
                  <a:lnTo>
                    <a:pt x="79634" y="8164"/>
                  </a:lnTo>
                  <a:lnTo>
                    <a:pt x="796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309;p58">
              <a:extLst>
                <a:ext uri="{FF2B5EF4-FFF2-40B4-BE49-F238E27FC236}">
                  <a16:creationId xmlns:a16="http://schemas.microsoft.com/office/drawing/2014/main" id="{B40F52AA-75A1-4349-935B-62A4E128DEE4}"/>
                </a:ext>
              </a:extLst>
            </p:cNvPr>
            <p:cNvSpPr/>
            <p:nvPr/>
          </p:nvSpPr>
          <p:spPr>
            <a:xfrm>
              <a:off x="3939000" y="3145575"/>
              <a:ext cx="3086900" cy="126800"/>
            </a:xfrm>
            <a:custGeom>
              <a:avLst/>
              <a:gdLst/>
              <a:ahLst/>
              <a:cxnLst/>
              <a:rect l="l" t="t" r="r" b="b"/>
              <a:pathLst>
                <a:path w="123476" h="5072" extrusionOk="0">
                  <a:moveTo>
                    <a:pt x="0" y="1"/>
                  </a:moveTo>
                  <a:lnTo>
                    <a:pt x="0" y="5071"/>
                  </a:lnTo>
                  <a:lnTo>
                    <a:pt x="123476" y="5071"/>
                  </a:lnTo>
                  <a:lnTo>
                    <a:pt x="1234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310;p58">
              <a:extLst>
                <a:ext uri="{FF2B5EF4-FFF2-40B4-BE49-F238E27FC236}">
                  <a16:creationId xmlns:a16="http://schemas.microsoft.com/office/drawing/2014/main" id="{CBAC451C-EE6B-45A4-8CE8-5ADAE11F48F1}"/>
                </a:ext>
              </a:extLst>
            </p:cNvPr>
            <p:cNvSpPr/>
            <p:nvPr/>
          </p:nvSpPr>
          <p:spPr>
            <a:xfrm>
              <a:off x="3937325" y="2972925"/>
              <a:ext cx="3075950" cy="30125"/>
            </a:xfrm>
            <a:custGeom>
              <a:avLst/>
              <a:gdLst/>
              <a:ahLst/>
              <a:cxnLst/>
              <a:rect l="l" t="t" r="r" b="b"/>
              <a:pathLst>
                <a:path w="123038" h="1205" extrusionOk="0">
                  <a:moveTo>
                    <a:pt x="1" y="0"/>
                  </a:moveTo>
                  <a:lnTo>
                    <a:pt x="1" y="1205"/>
                  </a:lnTo>
                  <a:lnTo>
                    <a:pt x="123037" y="1205"/>
                  </a:lnTo>
                  <a:lnTo>
                    <a:pt x="1230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311;p58">
              <a:extLst>
                <a:ext uri="{FF2B5EF4-FFF2-40B4-BE49-F238E27FC236}">
                  <a16:creationId xmlns:a16="http://schemas.microsoft.com/office/drawing/2014/main" id="{03EFAEEE-4CD5-44EC-A04B-CC0064B2645E}"/>
                </a:ext>
              </a:extLst>
            </p:cNvPr>
            <p:cNvSpPr/>
            <p:nvPr/>
          </p:nvSpPr>
          <p:spPr>
            <a:xfrm>
              <a:off x="6666575"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312;p58">
              <a:extLst>
                <a:ext uri="{FF2B5EF4-FFF2-40B4-BE49-F238E27FC236}">
                  <a16:creationId xmlns:a16="http://schemas.microsoft.com/office/drawing/2014/main" id="{EE7F90EB-D883-475B-A9CA-3D0F0C404AE2}"/>
                </a:ext>
              </a:extLst>
            </p:cNvPr>
            <p:cNvSpPr/>
            <p:nvPr/>
          </p:nvSpPr>
          <p:spPr>
            <a:xfrm>
              <a:off x="4064750"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313;p58">
              <a:extLst>
                <a:ext uri="{FF2B5EF4-FFF2-40B4-BE49-F238E27FC236}">
                  <a16:creationId xmlns:a16="http://schemas.microsoft.com/office/drawing/2014/main" id="{AC29BC85-7D8B-4E11-A14C-7D6862246D08}"/>
                </a:ext>
              </a:extLst>
            </p:cNvPr>
            <p:cNvSpPr/>
            <p:nvPr/>
          </p:nvSpPr>
          <p:spPr>
            <a:xfrm>
              <a:off x="3937325" y="2566550"/>
              <a:ext cx="3088750" cy="56575"/>
            </a:xfrm>
            <a:custGeom>
              <a:avLst/>
              <a:gdLst/>
              <a:ahLst/>
              <a:cxnLst/>
              <a:rect l="l" t="t" r="r" b="b"/>
              <a:pathLst>
                <a:path w="123550" h="2263" extrusionOk="0">
                  <a:moveTo>
                    <a:pt x="1" y="0"/>
                  </a:moveTo>
                  <a:lnTo>
                    <a:pt x="1" y="2262"/>
                  </a:lnTo>
                  <a:lnTo>
                    <a:pt x="123549" y="2262"/>
                  </a:lnTo>
                  <a:lnTo>
                    <a:pt x="123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314;p58">
              <a:extLst>
                <a:ext uri="{FF2B5EF4-FFF2-40B4-BE49-F238E27FC236}">
                  <a16:creationId xmlns:a16="http://schemas.microsoft.com/office/drawing/2014/main" id="{197541C0-169A-48E8-B390-266C2B970CEF}"/>
                </a:ext>
              </a:extLst>
            </p:cNvPr>
            <p:cNvSpPr/>
            <p:nvPr/>
          </p:nvSpPr>
          <p:spPr>
            <a:xfrm>
              <a:off x="4014850" y="2502500"/>
              <a:ext cx="342025" cy="64075"/>
            </a:xfrm>
            <a:custGeom>
              <a:avLst/>
              <a:gdLst/>
              <a:ahLst/>
              <a:cxnLst/>
              <a:rect l="l" t="t" r="r" b="b"/>
              <a:pathLst>
                <a:path w="13681" h="2563" extrusionOk="0">
                  <a:moveTo>
                    <a:pt x="147" y="0"/>
                  </a:moveTo>
                  <a:cubicBezTo>
                    <a:pt x="67" y="0"/>
                    <a:pt x="0" y="67"/>
                    <a:pt x="0" y="153"/>
                  </a:cubicBezTo>
                  <a:lnTo>
                    <a:pt x="0" y="2562"/>
                  </a:lnTo>
                  <a:lnTo>
                    <a:pt x="13681" y="2562"/>
                  </a:lnTo>
                  <a:lnTo>
                    <a:pt x="13681" y="153"/>
                  </a:lnTo>
                  <a:cubicBezTo>
                    <a:pt x="13681" y="67"/>
                    <a:pt x="13614"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315;p58">
              <a:extLst>
                <a:ext uri="{FF2B5EF4-FFF2-40B4-BE49-F238E27FC236}">
                  <a16:creationId xmlns:a16="http://schemas.microsoft.com/office/drawing/2014/main" id="{C855CD66-C2F9-46B6-958E-2DB2F5AAE053}"/>
                </a:ext>
              </a:extLst>
            </p:cNvPr>
            <p:cNvSpPr/>
            <p:nvPr/>
          </p:nvSpPr>
          <p:spPr>
            <a:xfrm>
              <a:off x="4078050" y="2502500"/>
              <a:ext cx="216125" cy="30125"/>
            </a:xfrm>
            <a:custGeom>
              <a:avLst/>
              <a:gdLst/>
              <a:ahLst/>
              <a:cxnLst/>
              <a:rect l="l" t="t" r="r" b="b"/>
              <a:pathLst>
                <a:path w="8645" h="1205" extrusionOk="0">
                  <a:moveTo>
                    <a:pt x="1" y="0"/>
                  </a:moveTo>
                  <a:lnTo>
                    <a:pt x="1" y="1158"/>
                  </a:lnTo>
                  <a:cubicBezTo>
                    <a:pt x="1" y="1185"/>
                    <a:pt x="14" y="1205"/>
                    <a:pt x="47" y="1205"/>
                  </a:cubicBezTo>
                  <a:lnTo>
                    <a:pt x="8584" y="1205"/>
                  </a:lnTo>
                  <a:cubicBezTo>
                    <a:pt x="8617" y="1205"/>
                    <a:pt x="8644" y="1185"/>
                    <a:pt x="8644" y="1158"/>
                  </a:cubicBezTo>
                  <a:lnTo>
                    <a:pt x="86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316;p58">
              <a:extLst>
                <a:ext uri="{FF2B5EF4-FFF2-40B4-BE49-F238E27FC236}">
                  <a16:creationId xmlns:a16="http://schemas.microsoft.com/office/drawing/2014/main" id="{29363284-2E7D-4805-BA66-FD03CCA586BF}"/>
                </a:ext>
              </a:extLst>
            </p:cNvPr>
            <p:cNvSpPr/>
            <p:nvPr/>
          </p:nvSpPr>
          <p:spPr>
            <a:xfrm>
              <a:off x="4094025" y="2502500"/>
              <a:ext cx="184000" cy="25650"/>
            </a:xfrm>
            <a:custGeom>
              <a:avLst/>
              <a:gdLst/>
              <a:ahLst/>
              <a:cxnLst/>
              <a:rect l="l" t="t" r="r" b="b"/>
              <a:pathLst>
                <a:path w="7360" h="1026" extrusionOk="0">
                  <a:moveTo>
                    <a:pt x="0" y="0"/>
                  </a:moveTo>
                  <a:lnTo>
                    <a:pt x="0" y="972"/>
                  </a:lnTo>
                  <a:cubicBezTo>
                    <a:pt x="0" y="998"/>
                    <a:pt x="20" y="1025"/>
                    <a:pt x="54" y="1025"/>
                  </a:cubicBezTo>
                  <a:lnTo>
                    <a:pt x="7306" y="1025"/>
                  </a:lnTo>
                  <a:cubicBezTo>
                    <a:pt x="7340" y="1025"/>
                    <a:pt x="7360" y="1005"/>
                    <a:pt x="7360" y="972"/>
                  </a:cubicBezTo>
                  <a:lnTo>
                    <a:pt x="73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317;p58">
              <a:extLst>
                <a:ext uri="{FF2B5EF4-FFF2-40B4-BE49-F238E27FC236}">
                  <a16:creationId xmlns:a16="http://schemas.microsoft.com/office/drawing/2014/main" id="{A3AE9D2F-23EA-439F-8E66-E8F96454788D}"/>
                </a:ext>
              </a:extLst>
            </p:cNvPr>
            <p:cNvSpPr/>
            <p:nvPr/>
          </p:nvSpPr>
          <p:spPr>
            <a:xfrm>
              <a:off x="6588900" y="2502500"/>
              <a:ext cx="342200" cy="64075"/>
            </a:xfrm>
            <a:custGeom>
              <a:avLst/>
              <a:gdLst/>
              <a:ahLst/>
              <a:cxnLst/>
              <a:rect l="l" t="t" r="r" b="b"/>
              <a:pathLst>
                <a:path w="13688" h="2563" extrusionOk="0">
                  <a:moveTo>
                    <a:pt x="146" y="0"/>
                  </a:moveTo>
                  <a:cubicBezTo>
                    <a:pt x="67" y="0"/>
                    <a:pt x="0" y="67"/>
                    <a:pt x="0" y="153"/>
                  </a:cubicBezTo>
                  <a:lnTo>
                    <a:pt x="0" y="2562"/>
                  </a:lnTo>
                  <a:lnTo>
                    <a:pt x="13687" y="2562"/>
                  </a:lnTo>
                  <a:lnTo>
                    <a:pt x="13687" y="153"/>
                  </a:lnTo>
                  <a:cubicBezTo>
                    <a:pt x="13687" y="67"/>
                    <a:pt x="13621" y="0"/>
                    <a:pt x="135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318;p58">
              <a:extLst>
                <a:ext uri="{FF2B5EF4-FFF2-40B4-BE49-F238E27FC236}">
                  <a16:creationId xmlns:a16="http://schemas.microsoft.com/office/drawing/2014/main" id="{75715016-0666-4B4E-AE6D-19E832437ABB}"/>
                </a:ext>
              </a:extLst>
            </p:cNvPr>
            <p:cNvSpPr/>
            <p:nvPr/>
          </p:nvSpPr>
          <p:spPr>
            <a:xfrm>
              <a:off x="6652100" y="2502500"/>
              <a:ext cx="215950" cy="30125"/>
            </a:xfrm>
            <a:custGeom>
              <a:avLst/>
              <a:gdLst/>
              <a:ahLst/>
              <a:cxnLst/>
              <a:rect l="l" t="t" r="r" b="b"/>
              <a:pathLst>
                <a:path w="8638" h="1205" extrusionOk="0">
                  <a:moveTo>
                    <a:pt x="1" y="0"/>
                  </a:moveTo>
                  <a:lnTo>
                    <a:pt x="1" y="1158"/>
                  </a:lnTo>
                  <a:cubicBezTo>
                    <a:pt x="1" y="1185"/>
                    <a:pt x="14" y="1205"/>
                    <a:pt x="47" y="1205"/>
                  </a:cubicBezTo>
                  <a:lnTo>
                    <a:pt x="8584" y="1205"/>
                  </a:lnTo>
                  <a:cubicBezTo>
                    <a:pt x="8617" y="1205"/>
                    <a:pt x="8637" y="1185"/>
                    <a:pt x="8637" y="1158"/>
                  </a:cubicBezTo>
                  <a:lnTo>
                    <a:pt x="86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319;p58">
              <a:extLst>
                <a:ext uri="{FF2B5EF4-FFF2-40B4-BE49-F238E27FC236}">
                  <a16:creationId xmlns:a16="http://schemas.microsoft.com/office/drawing/2014/main" id="{9AC2765F-EF68-4001-AF21-F044D0F715DF}"/>
                </a:ext>
              </a:extLst>
            </p:cNvPr>
            <p:cNvSpPr/>
            <p:nvPr/>
          </p:nvSpPr>
          <p:spPr>
            <a:xfrm>
              <a:off x="6668075" y="2502500"/>
              <a:ext cx="184000" cy="25650"/>
            </a:xfrm>
            <a:custGeom>
              <a:avLst/>
              <a:gdLst/>
              <a:ahLst/>
              <a:cxnLst/>
              <a:rect l="l" t="t" r="r" b="b"/>
              <a:pathLst>
                <a:path w="7360" h="1026" extrusionOk="0">
                  <a:moveTo>
                    <a:pt x="0" y="0"/>
                  </a:moveTo>
                  <a:lnTo>
                    <a:pt x="0" y="972"/>
                  </a:lnTo>
                  <a:cubicBezTo>
                    <a:pt x="0" y="998"/>
                    <a:pt x="14" y="1025"/>
                    <a:pt x="47" y="1025"/>
                  </a:cubicBezTo>
                  <a:lnTo>
                    <a:pt x="7300" y="1025"/>
                  </a:lnTo>
                  <a:cubicBezTo>
                    <a:pt x="7333" y="1025"/>
                    <a:pt x="7359" y="1005"/>
                    <a:pt x="7359" y="972"/>
                  </a:cubicBezTo>
                  <a:lnTo>
                    <a:pt x="7359" y="0"/>
                  </a:lnTo>
                  <a:close/>
                </a:path>
              </a:pathLst>
            </a:custGeom>
            <a:solidFill>
              <a:srgbClr val="4E5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320;p58">
              <a:extLst>
                <a:ext uri="{FF2B5EF4-FFF2-40B4-BE49-F238E27FC236}">
                  <a16:creationId xmlns:a16="http://schemas.microsoft.com/office/drawing/2014/main" id="{3914B5D4-D194-4032-87C3-91BC75ECA61D}"/>
                </a:ext>
              </a:extLst>
            </p:cNvPr>
            <p:cNvSpPr/>
            <p:nvPr/>
          </p:nvSpPr>
          <p:spPr>
            <a:xfrm>
              <a:off x="3872125" y="2608300"/>
              <a:ext cx="65225" cy="550950"/>
            </a:xfrm>
            <a:custGeom>
              <a:avLst/>
              <a:gdLst/>
              <a:ahLst/>
              <a:cxnLst/>
              <a:rect l="l" t="t" r="r" b="b"/>
              <a:pathLst>
                <a:path w="2609" h="22038" extrusionOk="0">
                  <a:moveTo>
                    <a:pt x="113" y="0"/>
                  </a:moveTo>
                  <a:cubicBezTo>
                    <a:pt x="53" y="0"/>
                    <a:pt x="0" y="53"/>
                    <a:pt x="0" y="113"/>
                  </a:cubicBezTo>
                  <a:lnTo>
                    <a:pt x="0" y="21924"/>
                  </a:lnTo>
                  <a:cubicBezTo>
                    <a:pt x="0" y="21984"/>
                    <a:pt x="53" y="22037"/>
                    <a:pt x="113" y="22037"/>
                  </a:cubicBezTo>
                  <a:lnTo>
                    <a:pt x="2495" y="22037"/>
                  </a:lnTo>
                  <a:cubicBezTo>
                    <a:pt x="2555" y="22037"/>
                    <a:pt x="2609" y="21984"/>
                    <a:pt x="2609" y="21918"/>
                  </a:cubicBezTo>
                  <a:lnTo>
                    <a:pt x="2609" y="113"/>
                  </a:lnTo>
                  <a:cubicBezTo>
                    <a:pt x="2609" y="53"/>
                    <a:pt x="2555" y="0"/>
                    <a:pt x="2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321;p58">
              <a:extLst>
                <a:ext uri="{FF2B5EF4-FFF2-40B4-BE49-F238E27FC236}">
                  <a16:creationId xmlns:a16="http://schemas.microsoft.com/office/drawing/2014/main" id="{2A8941DA-1B30-467B-910C-A17172322905}"/>
                </a:ext>
              </a:extLst>
            </p:cNvPr>
            <p:cNvSpPr/>
            <p:nvPr/>
          </p:nvSpPr>
          <p:spPr>
            <a:xfrm>
              <a:off x="3872125" y="3029475"/>
              <a:ext cx="65225" cy="129450"/>
            </a:xfrm>
            <a:custGeom>
              <a:avLst/>
              <a:gdLst/>
              <a:ahLst/>
              <a:cxnLst/>
              <a:rect l="l" t="t" r="r" b="b"/>
              <a:pathLst>
                <a:path w="2609" h="5178" extrusionOk="0">
                  <a:moveTo>
                    <a:pt x="0" y="1"/>
                  </a:moveTo>
                  <a:lnTo>
                    <a:pt x="0" y="4232"/>
                  </a:lnTo>
                  <a:cubicBezTo>
                    <a:pt x="0" y="4758"/>
                    <a:pt x="426" y="5177"/>
                    <a:pt x="952" y="5177"/>
                  </a:cubicBezTo>
                  <a:lnTo>
                    <a:pt x="1657" y="5177"/>
                  </a:lnTo>
                  <a:cubicBezTo>
                    <a:pt x="2183" y="5177"/>
                    <a:pt x="2609" y="4751"/>
                    <a:pt x="2609" y="4232"/>
                  </a:cubicBezTo>
                  <a:lnTo>
                    <a:pt x="2609" y="1"/>
                  </a:lnTo>
                  <a:cubicBezTo>
                    <a:pt x="2609" y="520"/>
                    <a:pt x="2183" y="945"/>
                    <a:pt x="1657" y="945"/>
                  </a:cubicBezTo>
                  <a:lnTo>
                    <a:pt x="952" y="945"/>
                  </a:lnTo>
                  <a:cubicBezTo>
                    <a:pt x="426" y="945"/>
                    <a:pt x="0" y="520"/>
                    <a:pt x="0" y="1"/>
                  </a:cubicBezTo>
                  <a:close/>
                </a:path>
              </a:pathLst>
            </a:custGeom>
            <a:solidFill>
              <a:srgbClr val="2C2C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322;p58">
              <a:extLst>
                <a:ext uri="{FF2B5EF4-FFF2-40B4-BE49-F238E27FC236}">
                  <a16:creationId xmlns:a16="http://schemas.microsoft.com/office/drawing/2014/main" id="{4C385A10-D245-41A8-8E0F-08012A157232}"/>
                </a:ext>
              </a:extLst>
            </p:cNvPr>
            <p:cNvSpPr/>
            <p:nvPr/>
          </p:nvSpPr>
          <p:spPr>
            <a:xfrm>
              <a:off x="1828225" y="2695800"/>
              <a:ext cx="230575" cy="449800"/>
            </a:xfrm>
            <a:custGeom>
              <a:avLst/>
              <a:gdLst/>
              <a:ahLst/>
              <a:cxnLst/>
              <a:rect l="l" t="t" r="r" b="b"/>
              <a:pathLst>
                <a:path w="9223" h="17992" extrusionOk="0">
                  <a:moveTo>
                    <a:pt x="0" y="0"/>
                  </a:moveTo>
                  <a:lnTo>
                    <a:pt x="0" y="17992"/>
                  </a:lnTo>
                  <a:lnTo>
                    <a:pt x="9222" y="17992"/>
                  </a:lnTo>
                  <a:lnTo>
                    <a:pt x="92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1253;p57">
            <a:extLst>
              <a:ext uri="{FF2B5EF4-FFF2-40B4-BE49-F238E27FC236}">
                <a16:creationId xmlns:a16="http://schemas.microsoft.com/office/drawing/2014/main" id="{9B181D31-5AC8-4BCA-A868-2A1FDB28828E}"/>
              </a:ext>
            </a:extLst>
          </p:cNvPr>
          <p:cNvSpPr/>
          <p:nvPr/>
        </p:nvSpPr>
        <p:spPr>
          <a:xfrm>
            <a:off x="5529938" y="3708479"/>
            <a:ext cx="427197" cy="554542"/>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文字方塊 35">
            <a:extLst>
              <a:ext uri="{FF2B5EF4-FFF2-40B4-BE49-F238E27FC236}">
                <a16:creationId xmlns:a16="http://schemas.microsoft.com/office/drawing/2014/main" id="{41BF6ACB-EECF-4666-A137-7B3DA7F45CCA}"/>
              </a:ext>
            </a:extLst>
          </p:cNvPr>
          <p:cNvSpPr txBox="1"/>
          <p:nvPr/>
        </p:nvSpPr>
        <p:spPr>
          <a:xfrm>
            <a:off x="8585770" y="4631694"/>
            <a:ext cx="354584" cy="261610"/>
          </a:xfrm>
          <a:prstGeom prst="rect">
            <a:avLst/>
          </a:prstGeom>
          <a:noFill/>
        </p:spPr>
        <p:txBody>
          <a:bodyPr wrap="none" rtlCol="0">
            <a:spAutoFit/>
          </a:bodyPr>
          <a:lstStyle/>
          <a:p>
            <a:r>
              <a:rPr lang="en-US" altLang="zh-TW" sz="1100" dirty="0">
                <a:latin typeface="Montserrat" panose="02020500000000000000" charset="0"/>
              </a:rPr>
              <a:t>28</a:t>
            </a:r>
            <a:endParaRPr lang="zh-TW" altLang="en-US" sz="1100" dirty="0">
              <a:latin typeface="Montserrat" panose="02020500000000000000" charset="0"/>
            </a:endParaRPr>
          </a:p>
        </p:txBody>
      </p:sp>
      <p:grpSp>
        <p:nvGrpSpPr>
          <p:cNvPr id="61" name="群組 60">
            <a:extLst>
              <a:ext uri="{FF2B5EF4-FFF2-40B4-BE49-F238E27FC236}">
                <a16:creationId xmlns:a16="http://schemas.microsoft.com/office/drawing/2014/main" id="{68A17821-4342-4864-A0AD-43132617E998}"/>
              </a:ext>
            </a:extLst>
          </p:cNvPr>
          <p:cNvGrpSpPr/>
          <p:nvPr/>
        </p:nvGrpSpPr>
        <p:grpSpPr>
          <a:xfrm>
            <a:off x="2852619" y="2423186"/>
            <a:ext cx="3438762" cy="1333250"/>
            <a:chOff x="2852619" y="2423186"/>
            <a:chExt cx="3438762" cy="1333250"/>
          </a:xfrm>
        </p:grpSpPr>
        <p:grpSp>
          <p:nvGrpSpPr>
            <p:cNvPr id="62" name="群組 61">
              <a:extLst>
                <a:ext uri="{FF2B5EF4-FFF2-40B4-BE49-F238E27FC236}">
                  <a16:creationId xmlns:a16="http://schemas.microsoft.com/office/drawing/2014/main" id="{3234C3C4-AC2F-4A9F-A57B-01A26ABC094B}"/>
                </a:ext>
              </a:extLst>
            </p:cNvPr>
            <p:cNvGrpSpPr/>
            <p:nvPr/>
          </p:nvGrpSpPr>
          <p:grpSpPr>
            <a:xfrm>
              <a:off x="2852619" y="2423186"/>
              <a:ext cx="3438762" cy="1333250"/>
              <a:chOff x="2852619" y="2423186"/>
              <a:chExt cx="3438762" cy="1333250"/>
            </a:xfrm>
          </p:grpSpPr>
          <p:sp>
            <p:nvSpPr>
              <p:cNvPr id="96" name="文字方塊 95">
                <a:extLst>
                  <a:ext uri="{FF2B5EF4-FFF2-40B4-BE49-F238E27FC236}">
                    <a16:creationId xmlns:a16="http://schemas.microsoft.com/office/drawing/2014/main" id="{F6FD16CC-F4B2-44B8-A55D-BA70B013BA8A}"/>
                  </a:ext>
                </a:extLst>
              </p:cNvPr>
              <p:cNvSpPr txBox="1"/>
              <p:nvPr/>
            </p:nvSpPr>
            <p:spPr>
              <a:xfrm>
                <a:off x="2852619" y="2423186"/>
                <a:ext cx="3438762"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SHG/SPDC</a:t>
                </a:r>
              </a:p>
              <a:p>
                <a:pPr marL="171450" indent="-171450">
                  <a:lnSpc>
                    <a:spcPct val="150000"/>
                  </a:lnSpc>
                  <a:buFont typeface="Arial" panose="020B0604020202020204" pitchFamily="34" charset="0"/>
                  <a:buChar char="•"/>
                </a:pPr>
                <a:r>
                  <a:rPr lang="en-US" altLang="zh-TW" sz="1100" dirty="0">
                    <a:solidFill>
                      <a:schemeClr val="tx1"/>
                    </a:solidFill>
                    <a:latin typeface="Montserrat"/>
                    <a:ea typeface="Montserrat"/>
                    <a:cs typeface="Montserrat"/>
                    <a:sym typeface="Montserrat"/>
                  </a:rPr>
                  <a:t>Quasi-phase-matching</a:t>
                </a:r>
                <a:endParaRPr lang="en-US" altLang="zh-TW" sz="1100" dirty="0">
                  <a:solidFill>
                    <a:schemeClr val="tx1"/>
                  </a:solidFill>
                  <a:latin typeface="Montserrat" panose="02020500000000000000" charset="0"/>
                  <a:ea typeface="Montserrat"/>
                  <a:cs typeface="Montserrat"/>
                  <a:sym typeface="Montserrat"/>
                </a:endParaRPr>
              </a:p>
              <a:p>
                <a:pPr marL="171450" indent="-171450">
                  <a:lnSpc>
                    <a:spcPct val="150000"/>
                  </a:lnSpc>
                  <a:buFont typeface="Arial" panose="020B0604020202020204" pitchFamily="34" charset="0"/>
                  <a:buChar char="•"/>
                </a:pPr>
                <a:r>
                  <a:rPr lang="en-US" altLang="zh-TW" sz="1100" dirty="0">
                    <a:latin typeface="Montserrat" panose="02020500000000000000" charset="0"/>
                  </a:rPr>
                  <a:t>Electro-optical polarization mode converter</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effect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 with EO-PMC</a:t>
                </a:r>
              </a:p>
            </p:txBody>
          </p:sp>
          <p:sp>
            <p:nvSpPr>
              <p:cNvPr id="97" name="矩形 96">
                <a:extLst>
                  <a:ext uri="{FF2B5EF4-FFF2-40B4-BE49-F238E27FC236}">
                    <a16:creationId xmlns:a16="http://schemas.microsoft.com/office/drawing/2014/main" id="{A258A590-9F1F-4A89-AE7C-7BBDE8357673}"/>
                  </a:ext>
                </a:extLst>
              </p:cNvPr>
              <p:cNvSpPr/>
              <p:nvPr/>
            </p:nvSpPr>
            <p:spPr>
              <a:xfrm>
                <a:off x="2852619" y="3519618"/>
                <a:ext cx="3344981" cy="188859"/>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63" name="矩形 62">
              <a:extLst>
                <a:ext uri="{FF2B5EF4-FFF2-40B4-BE49-F238E27FC236}">
                  <a16:creationId xmlns:a16="http://schemas.microsoft.com/office/drawing/2014/main" id="{5B5E0176-C301-43D7-B39C-FFF3333C3C8B}"/>
                </a:ext>
              </a:extLst>
            </p:cNvPr>
            <p:cNvSpPr/>
            <p:nvPr/>
          </p:nvSpPr>
          <p:spPr>
            <a:xfrm>
              <a:off x="2852619" y="2518959"/>
              <a:ext cx="3344981" cy="727372"/>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487190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Hong–</a:t>
            </a:r>
            <a:r>
              <a:rPr lang="en-US" altLang="zh-TW" sz="2000" dirty="0" err="1">
                <a:latin typeface="Montserrat" panose="02020500000000000000" charset="0"/>
              </a:rPr>
              <a:t>Ou</a:t>
            </a:r>
            <a:r>
              <a:rPr lang="en-US" altLang="zh-TW" sz="2000" dirty="0">
                <a:latin typeface="Montserrat" panose="02020500000000000000" charset="0"/>
              </a:rPr>
              <a:t>–Mandel effect</a:t>
            </a:r>
          </a:p>
        </p:txBody>
      </p:sp>
      <p:grpSp>
        <p:nvGrpSpPr>
          <p:cNvPr id="3" name="群組 2">
            <a:extLst>
              <a:ext uri="{FF2B5EF4-FFF2-40B4-BE49-F238E27FC236}">
                <a16:creationId xmlns:a16="http://schemas.microsoft.com/office/drawing/2014/main" id="{9C505EC4-E6AF-4B0C-BB7A-7414E4838F54}"/>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D8FCF095-DB93-4EDC-9F52-F6E560399180}"/>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5" name="矩形 4">
              <a:extLst>
                <a:ext uri="{FF2B5EF4-FFF2-40B4-BE49-F238E27FC236}">
                  <a16:creationId xmlns:a16="http://schemas.microsoft.com/office/drawing/2014/main" id="{8430BBE7-968C-4F7A-9991-1B2723A88684}"/>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454FA1A3-D860-4440-A214-C46BB875D471}"/>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3FF160D-7AD5-4CD7-BD73-0188C9C994A1}"/>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7BE2D842-1F23-4DFF-87CF-0D893CA83172}"/>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03C2559C-D71B-470D-8BCD-F23D5292D871}"/>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11" name="群組 10">
            <a:extLst>
              <a:ext uri="{FF2B5EF4-FFF2-40B4-BE49-F238E27FC236}">
                <a16:creationId xmlns:a16="http://schemas.microsoft.com/office/drawing/2014/main" id="{4D2EDD26-85A7-464D-ABC7-EF7E34298023}"/>
              </a:ext>
            </a:extLst>
          </p:cNvPr>
          <p:cNvGrpSpPr/>
          <p:nvPr/>
        </p:nvGrpSpPr>
        <p:grpSpPr>
          <a:xfrm>
            <a:off x="1495870" y="1193685"/>
            <a:ext cx="6217989" cy="419262"/>
            <a:chOff x="1138310" y="1267644"/>
            <a:chExt cx="6217989" cy="419262"/>
          </a:xfrm>
        </p:grpSpPr>
        <p:grpSp>
          <p:nvGrpSpPr>
            <p:cNvPr id="2" name="群組 1">
              <a:extLst>
                <a:ext uri="{FF2B5EF4-FFF2-40B4-BE49-F238E27FC236}">
                  <a16:creationId xmlns:a16="http://schemas.microsoft.com/office/drawing/2014/main" id="{DA980956-2430-4C43-BE44-D59FBEC5CC57}"/>
                </a:ext>
              </a:extLst>
            </p:cNvPr>
            <p:cNvGrpSpPr/>
            <p:nvPr/>
          </p:nvGrpSpPr>
          <p:grpSpPr>
            <a:xfrm>
              <a:off x="1138310" y="1269143"/>
              <a:ext cx="404292" cy="404100"/>
              <a:chOff x="780801" y="1168052"/>
              <a:chExt cx="404292" cy="404100"/>
            </a:xfrm>
          </p:grpSpPr>
          <p:sp>
            <p:nvSpPr>
              <p:cNvPr id="14" name="Google Shape;211;p36">
                <a:extLst>
                  <a:ext uri="{FF2B5EF4-FFF2-40B4-BE49-F238E27FC236}">
                    <a16:creationId xmlns:a16="http://schemas.microsoft.com/office/drawing/2014/main" id="{8C61BDBE-3DA7-40FE-8DC8-615CFF8AE24D}"/>
                  </a:ext>
                </a:extLst>
              </p:cNvPr>
              <p:cNvSpPr/>
              <p:nvPr/>
            </p:nvSpPr>
            <p:spPr>
              <a:xfrm>
                <a:off x="780801" y="1168052"/>
                <a:ext cx="404292" cy="404100"/>
              </a:xfrm>
              <a:prstGeom prst="ellipse">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21;p36">
                <a:extLst>
                  <a:ext uri="{FF2B5EF4-FFF2-40B4-BE49-F238E27FC236}">
                    <a16:creationId xmlns:a16="http://schemas.microsoft.com/office/drawing/2014/main" id="{1C144FA9-94B2-49A3-92AD-AB96DABE4551}"/>
                  </a:ext>
                </a:extLst>
              </p:cNvPr>
              <p:cNvSpPr txBox="1">
                <a:spLocks/>
              </p:cNvSpPr>
              <p:nvPr/>
            </p:nvSpPr>
            <p:spPr>
              <a:xfrm>
                <a:off x="780801" y="1194260"/>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1</a:t>
                </a:r>
              </a:p>
            </p:txBody>
          </p:sp>
        </p:grpSp>
        <p:grpSp>
          <p:nvGrpSpPr>
            <p:cNvPr id="17" name="群組 16">
              <a:extLst>
                <a:ext uri="{FF2B5EF4-FFF2-40B4-BE49-F238E27FC236}">
                  <a16:creationId xmlns:a16="http://schemas.microsoft.com/office/drawing/2014/main" id="{F04D1378-B7AA-4653-947C-D7131E96E462}"/>
                </a:ext>
              </a:extLst>
            </p:cNvPr>
            <p:cNvGrpSpPr/>
            <p:nvPr/>
          </p:nvGrpSpPr>
          <p:grpSpPr>
            <a:xfrm>
              <a:off x="3076209" y="1282806"/>
              <a:ext cx="404292" cy="404100"/>
              <a:chOff x="780801" y="1168052"/>
              <a:chExt cx="404292" cy="404100"/>
            </a:xfrm>
          </p:grpSpPr>
          <p:sp>
            <p:nvSpPr>
              <p:cNvPr id="18" name="Google Shape;211;p36">
                <a:extLst>
                  <a:ext uri="{FF2B5EF4-FFF2-40B4-BE49-F238E27FC236}">
                    <a16:creationId xmlns:a16="http://schemas.microsoft.com/office/drawing/2014/main" id="{930DB9FD-B725-4970-B5C3-782D06DD7172}"/>
                  </a:ext>
                </a:extLst>
              </p:cNvPr>
              <p:cNvSpPr/>
              <p:nvPr/>
            </p:nvSpPr>
            <p:spPr>
              <a:xfrm>
                <a:off x="780801" y="1168052"/>
                <a:ext cx="404292" cy="404100"/>
              </a:xfrm>
              <a:prstGeom prst="ellipse">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221;p36">
                <a:extLst>
                  <a:ext uri="{FF2B5EF4-FFF2-40B4-BE49-F238E27FC236}">
                    <a16:creationId xmlns:a16="http://schemas.microsoft.com/office/drawing/2014/main" id="{D289E586-AD4D-4C91-8E0F-2D743D1BB741}"/>
                  </a:ext>
                </a:extLst>
              </p:cNvPr>
              <p:cNvSpPr txBox="1">
                <a:spLocks/>
              </p:cNvSpPr>
              <p:nvPr/>
            </p:nvSpPr>
            <p:spPr>
              <a:xfrm>
                <a:off x="780801" y="1194260"/>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2</a:t>
                </a:r>
              </a:p>
            </p:txBody>
          </p:sp>
        </p:grpSp>
        <p:grpSp>
          <p:nvGrpSpPr>
            <p:cNvPr id="20" name="群組 19">
              <a:extLst>
                <a:ext uri="{FF2B5EF4-FFF2-40B4-BE49-F238E27FC236}">
                  <a16:creationId xmlns:a16="http://schemas.microsoft.com/office/drawing/2014/main" id="{E6BBF235-CBB9-49B6-8E42-1797CD1FE228}"/>
                </a:ext>
              </a:extLst>
            </p:cNvPr>
            <p:cNvGrpSpPr/>
            <p:nvPr/>
          </p:nvGrpSpPr>
          <p:grpSpPr>
            <a:xfrm>
              <a:off x="5014108" y="1267644"/>
              <a:ext cx="404292" cy="404100"/>
              <a:chOff x="780801" y="1168052"/>
              <a:chExt cx="404292" cy="404100"/>
            </a:xfrm>
          </p:grpSpPr>
          <p:sp>
            <p:nvSpPr>
              <p:cNvPr id="21" name="Google Shape;211;p36">
                <a:extLst>
                  <a:ext uri="{FF2B5EF4-FFF2-40B4-BE49-F238E27FC236}">
                    <a16:creationId xmlns:a16="http://schemas.microsoft.com/office/drawing/2014/main" id="{534FCE03-B28E-4AB7-B9E4-DB9B2166FFFF}"/>
                  </a:ext>
                </a:extLst>
              </p:cNvPr>
              <p:cNvSpPr/>
              <p:nvPr/>
            </p:nvSpPr>
            <p:spPr>
              <a:xfrm>
                <a:off x="780801" y="1168052"/>
                <a:ext cx="404292" cy="404100"/>
              </a:xfrm>
              <a:prstGeom prst="ellipse">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221;p36">
                <a:extLst>
                  <a:ext uri="{FF2B5EF4-FFF2-40B4-BE49-F238E27FC236}">
                    <a16:creationId xmlns:a16="http://schemas.microsoft.com/office/drawing/2014/main" id="{1E74FA93-A799-40C1-A43B-E3DAC8EB346D}"/>
                  </a:ext>
                </a:extLst>
              </p:cNvPr>
              <p:cNvSpPr txBox="1">
                <a:spLocks/>
              </p:cNvSpPr>
              <p:nvPr/>
            </p:nvSpPr>
            <p:spPr>
              <a:xfrm>
                <a:off x="780801" y="1194260"/>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3</a:t>
                </a:r>
              </a:p>
            </p:txBody>
          </p:sp>
        </p:grpSp>
        <p:grpSp>
          <p:nvGrpSpPr>
            <p:cNvPr id="23" name="群組 22">
              <a:extLst>
                <a:ext uri="{FF2B5EF4-FFF2-40B4-BE49-F238E27FC236}">
                  <a16:creationId xmlns:a16="http://schemas.microsoft.com/office/drawing/2014/main" id="{EB916400-8233-4DA7-9D88-9D6EA23FC468}"/>
                </a:ext>
              </a:extLst>
            </p:cNvPr>
            <p:cNvGrpSpPr/>
            <p:nvPr/>
          </p:nvGrpSpPr>
          <p:grpSpPr>
            <a:xfrm>
              <a:off x="6952007" y="1267644"/>
              <a:ext cx="404292" cy="404100"/>
              <a:chOff x="780801" y="1168052"/>
              <a:chExt cx="404292" cy="404100"/>
            </a:xfrm>
          </p:grpSpPr>
          <p:sp>
            <p:nvSpPr>
              <p:cNvPr id="24" name="Google Shape;211;p36">
                <a:extLst>
                  <a:ext uri="{FF2B5EF4-FFF2-40B4-BE49-F238E27FC236}">
                    <a16:creationId xmlns:a16="http://schemas.microsoft.com/office/drawing/2014/main" id="{AB656296-4A49-4E4D-ACF5-E3A2F60472C4}"/>
                  </a:ext>
                </a:extLst>
              </p:cNvPr>
              <p:cNvSpPr/>
              <p:nvPr/>
            </p:nvSpPr>
            <p:spPr>
              <a:xfrm>
                <a:off x="780801" y="1168052"/>
                <a:ext cx="404292" cy="404100"/>
              </a:xfrm>
              <a:prstGeom prst="ellipse">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221;p36">
                <a:extLst>
                  <a:ext uri="{FF2B5EF4-FFF2-40B4-BE49-F238E27FC236}">
                    <a16:creationId xmlns:a16="http://schemas.microsoft.com/office/drawing/2014/main" id="{914A9599-891D-49C6-B9EC-2EDED91F2C23}"/>
                  </a:ext>
                </a:extLst>
              </p:cNvPr>
              <p:cNvSpPr txBox="1">
                <a:spLocks/>
              </p:cNvSpPr>
              <p:nvPr/>
            </p:nvSpPr>
            <p:spPr>
              <a:xfrm>
                <a:off x="780801" y="1194260"/>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1800" dirty="0">
                    <a:latin typeface="Montserrat" panose="02020500000000000000" charset="0"/>
                  </a:rPr>
                  <a:t>4</a:t>
                </a:r>
              </a:p>
            </p:txBody>
          </p:sp>
        </p:grpSp>
      </p:grpSp>
      <p:grpSp>
        <p:nvGrpSpPr>
          <p:cNvPr id="51" name="群組 50">
            <a:extLst>
              <a:ext uri="{FF2B5EF4-FFF2-40B4-BE49-F238E27FC236}">
                <a16:creationId xmlns:a16="http://schemas.microsoft.com/office/drawing/2014/main" id="{0520218C-D42B-45BA-8CBE-B88059A04947}"/>
              </a:ext>
            </a:extLst>
          </p:cNvPr>
          <p:cNvGrpSpPr/>
          <p:nvPr/>
        </p:nvGrpSpPr>
        <p:grpSpPr>
          <a:xfrm>
            <a:off x="958937" y="1751334"/>
            <a:ext cx="1393726" cy="1223649"/>
            <a:chOff x="958937" y="1751334"/>
            <a:chExt cx="1393726" cy="1223649"/>
          </a:xfrm>
        </p:grpSpPr>
        <p:pic>
          <p:nvPicPr>
            <p:cNvPr id="26" name="圖片 25">
              <a:extLst>
                <a:ext uri="{FF2B5EF4-FFF2-40B4-BE49-F238E27FC236}">
                  <a16:creationId xmlns:a16="http://schemas.microsoft.com/office/drawing/2014/main" id="{3DA01CA4-B00F-4EC9-81F6-C625A2FC7392}"/>
                </a:ext>
              </a:extLst>
            </p:cNvPr>
            <p:cNvPicPr/>
            <p:nvPr/>
          </p:nvPicPr>
          <p:blipFill rotWithShape="1">
            <a:blip r:embed="rId3"/>
            <a:srcRect r="76935" b="23435"/>
            <a:stretch/>
          </p:blipFill>
          <p:spPr>
            <a:xfrm>
              <a:off x="1043368" y="1815212"/>
              <a:ext cx="1309295" cy="1159771"/>
            </a:xfrm>
            <a:prstGeom prst="rect">
              <a:avLst/>
            </a:prstGeom>
          </p:spPr>
        </p:pic>
        <p:grpSp>
          <p:nvGrpSpPr>
            <p:cNvPr id="16" name="群組 15">
              <a:extLst>
                <a:ext uri="{FF2B5EF4-FFF2-40B4-BE49-F238E27FC236}">
                  <a16:creationId xmlns:a16="http://schemas.microsoft.com/office/drawing/2014/main" id="{23D1E099-8F77-4A93-BE45-9DC477DDE093}"/>
                </a:ext>
              </a:extLst>
            </p:cNvPr>
            <p:cNvGrpSpPr/>
            <p:nvPr/>
          </p:nvGrpSpPr>
          <p:grpSpPr>
            <a:xfrm>
              <a:off x="958937" y="1751334"/>
              <a:ext cx="1391678" cy="1220286"/>
              <a:chOff x="958937" y="1751334"/>
              <a:chExt cx="1391678" cy="1220286"/>
            </a:xfrm>
          </p:grpSpPr>
          <p:sp>
            <p:nvSpPr>
              <p:cNvPr id="13" name="文字方塊 12">
                <a:extLst>
                  <a:ext uri="{FF2B5EF4-FFF2-40B4-BE49-F238E27FC236}">
                    <a16:creationId xmlns:a16="http://schemas.microsoft.com/office/drawing/2014/main" id="{B6D10AE5-D26B-455A-8177-C16CC212A27A}"/>
                  </a:ext>
                </a:extLst>
              </p:cNvPr>
              <p:cNvSpPr txBox="1"/>
              <p:nvPr/>
            </p:nvSpPr>
            <p:spPr>
              <a:xfrm>
                <a:off x="963746" y="1751338"/>
                <a:ext cx="263214" cy="246221"/>
              </a:xfrm>
              <a:prstGeom prst="rect">
                <a:avLst/>
              </a:prstGeom>
              <a:noFill/>
            </p:spPr>
            <p:txBody>
              <a:bodyPr wrap="none" rtlCol="0">
                <a:spAutoFit/>
              </a:bodyPr>
              <a:lstStyle/>
              <a:p>
                <a:r>
                  <a:rPr lang="en-US" altLang="zh-TW" sz="1000" b="1" dirty="0">
                    <a:latin typeface="Montserrat" panose="02020500000000000000" charset="0"/>
                  </a:rPr>
                  <a:t>a</a:t>
                </a:r>
                <a:endParaRPr lang="zh-TW" altLang="en-US" sz="1000" b="1" dirty="0">
                  <a:latin typeface="Montserrat" panose="02020500000000000000" charset="0"/>
                </a:endParaRPr>
              </a:p>
            </p:txBody>
          </p:sp>
          <p:sp>
            <p:nvSpPr>
              <p:cNvPr id="33" name="文字方塊 32">
                <a:extLst>
                  <a:ext uri="{FF2B5EF4-FFF2-40B4-BE49-F238E27FC236}">
                    <a16:creationId xmlns:a16="http://schemas.microsoft.com/office/drawing/2014/main" id="{F2D5BCCC-79D5-4841-9B57-C103FCE39395}"/>
                  </a:ext>
                </a:extLst>
              </p:cNvPr>
              <p:cNvSpPr txBox="1"/>
              <p:nvPr/>
            </p:nvSpPr>
            <p:spPr>
              <a:xfrm>
                <a:off x="958937" y="2725399"/>
                <a:ext cx="272832" cy="246221"/>
              </a:xfrm>
              <a:prstGeom prst="rect">
                <a:avLst/>
              </a:prstGeom>
              <a:noFill/>
            </p:spPr>
            <p:txBody>
              <a:bodyPr wrap="none" rtlCol="0">
                <a:spAutoFit/>
              </a:bodyPr>
              <a:lstStyle/>
              <a:p>
                <a:r>
                  <a:rPr lang="en-US" altLang="zh-TW" sz="1000" b="1" dirty="0">
                    <a:latin typeface="Montserrat" panose="02020500000000000000" charset="0"/>
                  </a:rPr>
                  <a:t>b</a:t>
                </a:r>
                <a:endParaRPr lang="zh-TW" altLang="en-US" sz="1000" b="1" dirty="0">
                  <a:latin typeface="Montserrat" panose="02020500000000000000" charset="0"/>
                </a:endParaRPr>
              </a:p>
            </p:txBody>
          </p:sp>
          <p:sp>
            <p:nvSpPr>
              <p:cNvPr id="38" name="文字方塊 37">
                <a:extLst>
                  <a:ext uri="{FF2B5EF4-FFF2-40B4-BE49-F238E27FC236}">
                    <a16:creationId xmlns:a16="http://schemas.microsoft.com/office/drawing/2014/main" id="{7AB7FEC6-1FF3-4621-927B-69AAE5130F7C}"/>
                  </a:ext>
                </a:extLst>
              </p:cNvPr>
              <p:cNvSpPr txBox="1"/>
              <p:nvPr/>
            </p:nvSpPr>
            <p:spPr>
              <a:xfrm>
                <a:off x="2090607" y="1751334"/>
                <a:ext cx="260008" cy="246221"/>
              </a:xfrm>
              <a:prstGeom prst="rect">
                <a:avLst/>
              </a:prstGeom>
              <a:noFill/>
            </p:spPr>
            <p:txBody>
              <a:bodyPr wrap="none" rtlCol="0">
                <a:spAutoFit/>
              </a:bodyPr>
              <a:lstStyle/>
              <a:p>
                <a:r>
                  <a:rPr lang="en-US" altLang="zh-TW" sz="1000" b="1" dirty="0">
                    <a:latin typeface="Montserrat" panose="02020500000000000000" charset="0"/>
                  </a:rPr>
                  <a:t>c</a:t>
                </a:r>
                <a:endParaRPr lang="zh-TW" altLang="en-US" sz="1000" b="1" dirty="0">
                  <a:latin typeface="Montserrat" panose="02020500000000000000" charset="0"/>
                </a:endParaRPr>
              </a:p>
            </p:txBody>
          </p:sp>
          <p:sp>
            <p:nvSpPr>
              <p:cNvPr id="41" name="文字方塊 40">
                <a:extLst>
                  <a:ext uri="{FF2B5EF4-FFF2-40B4-BE49-F238E27FC236}">
                    <a16:creationId xmlns:a16="http://schemas.microsoft.com/office/drawing/2014/main" id="{B483701A-A599-4793-8815-114F86D54E2E}"/>
                  </a:ext>
                </a:extLst>
              </p:cNvPr>
              <p:cNvSpPr txBox="1"/>
              <p:nvPr/>
            </p:nvSpPr>
            <p:spPr>
              <a:xfrm>
                <a:off x="2073561" y="2722730"/>
                <a:ext cx="272832" cy="246221"/>
              </a:xfrm>
              <a:prstGeom prst="rect">
                <a:avLst/>
              </a:prstGeom>
              <a:noFill/>
            </p:spPr>
            <p:txBody>
              <a:bodyPr wrap="none" rtlCol="0">
                <a:spAutoFit/>
              </a:bodyPr>
              <a:lstStyle/>
              <a:p>
                <a:r>
                  <a:rPr lang="en-US" altLang="zh-TW" sz="1000" b="1" dirty="0">
                    <a:latin typeface="Montserrat" panose="02020500000000000000" charset="0"/>
                  </a:rPr>
                  <a:t>d</a:t>
                </a:r>
                <a:endParaRPr lang="zh-TW" altLang="en-US" sz="1000" b="1" dirty="0">
                  <a:latin typeface="Montserrat" panose="02020500000000000000" charset="0"/>
                </a:endParaRPr>
              </a:p>
            </p:txBody>
          </p:sp>
        </p:grpSp>
      </p:grpSp>
      <p:grpSp>
        <p:nvGrpSpPr>
          <p:cNvPr id="50" name="群組 49">
            <a:extLst>
              <a:ext uri="{FF2B5EF4-FFF2-40B4-BE49-F238E27FC236}">
                <a16:creationId xmlns:a16="http://schemas.microsoft.com/office/drawing/2014/main" id="{F6CAD377-C593-4C42-9699-3EC95E44E360}"/>
              </a:ext>
            </a:extLst>
          </p:cNvPr>
          <p:cNvGrpSpPr/>
          <p:nvPr/>
        </p:nvGrpSpPr>
        <p:grpSpPr>
          <a:xfrm>
            <a:off x="6837316" y="1757492"/>
            <a:ext cx="1401884" cy="1220286"/>
            <a:chOff x="2926048" y="1751335"/>
            <a:chExt cx="1401884" cy="1220286"/>
          </a:xfrm>
        </p:grpSpPr>
        <p:pic>
          <p:nvPicPr>
            <p:cNvPr id="27" name="圖片 26">
              <a:extLst>
                <a:ext uri="{FF2B5EF4-FFF2-40B4-BE49-F238E27FC236}">
                  <a16:creationId xmlns:a16="http://schemas.microsoft.com/office/drawing/2014/main" id="{6CA1266C-8884-4897-936A-C4A1F72D6CE7}"/>
                </a:ext>
              </a:extLst>
            </p:cNvPr>
            <p:cNvPicPr/>
            <p:nvPr/>
          </p:nvPicPr>
          <p:blipFill rotWithShape="1">
            <a:blip r:embed="rId3"/>
            <a:srcRect l="25363" r="51163" b="23435"/>
            <a:stretch/>
          </p:blipFill>
          <p:spPr>
            <a:xfrm>
              <a:off x="2969684" y="1811850"/>
              <a:ext cx="1332461" cy="1159771"/>
            </a:xfrm>
            <a:prstGeom prst="rect">
              <a:avLst/>
            </a:prstGeom>
          </p:spPr>
        </p:pic>
        <p:grpSp>
          <p:nvGrpSpPr>
            <p:cNvPr id="45" name="群組 44">
              <a:extLst>
                <a:ext uri="{FF2B5EF4-FFF2-40B4-BE49-F238E27FC236}">
                  <a16:creationId xmlns:a16="http://schemas.microsoft.com/office/drawing/2014/main" id="{A0DC9C1F-6027-4EDB-96CC-9B2E06FBDD30}"/>
                </a:ext>
              </a:extLst>
            </p:cNvPr>
            <p:cNvGrpSpPr/>
            <p:nvPr/>
          </p:nvGrpSpPr>
          <p:grpSpPr>
            <a:xfrm>
              <a:off x="2926048" y="1751335"/>
              <a:ext cx="1401884" cy="1220285"/>
              <a:chOff x="2926048" y="1751335"/>
              <a:chExt cx="1401884" cy="1220285"/>
            </a:xfrm>
          </p:grpSpPr>
          <p:sp>
            <p:nvSpPr>
              <p:cNvPr id="30" name="文字方塊 29">
                <a:extLst>
                  <a:ext uri="{FF2B5EF4-FFF2-40B4-BE49-F238E27FC236}">
                    <a16:creationId xmlns:a16="http://schemas.microsoft.com/office/drawing/2014/main" id="{4C2F89DE-73BC-49AD-B270-8833419FD19D}"/>
                  </a:ext>
                </a:extLst>
              </p:cNvPr>
              <p:cNvSpPr txBox="1"/>
              <p:nvPr/>
            </p:nvSpPr>
            <p:spPr>
              <a:xfrm>
                <a:off x="2935666" y="1751337"/>
                <a:ext cx="263214" cy="246221"/>
              </a:xfrm>
              <a:prstGeom prst="rect">
                <a:avLst/>
              </a:prstGeom>
              <a:noFill/>
            </p:spPr>
            <p:txBody>
              <a:bodyPr wrap="none" rtlCol="0">
                <a:spAutoFit/>
              </a:bodyPr>
              <a:lstStyle/>
              <a:p>
                <a:r>
                  <a:rPr lang="en-US" altLang="zh-TW" sz="1000" b="1" dirty="0">
                    <a:latin typeface="Montserrat" panose="02020500000000000000" charset="0"/>
                  </a:rPr>
                  <a:t>a</a:t>
                </a:r>
                <a:endParaRPr lang="zh-TW" altLang="en-US" sz="1000" b="1" dirty="0">
                  <a:latin typeface="Montserrat" panose="02020500000000000000" charset="0"/>
                </a:endParaRPr>
              </a:p>
            </p:txBody>
          </p:sp>
          <p:sp>
            <p:nvSpPr>
              <p:cNvPr id="34" name="文字方塊 33">
                <a:extLst>
                  <a:ext uri="{FF2B5EF4-FFF2-40B4-BE49-F238E27FC236}">
                    <a16:creationId xmlns:a16="http://schemas.microsoft.com/office/drawing/2014/main" id="{ED84EA7F-EF75-45E4-9882-33A36432208A}"/>
                  </a:ext>
                </a:extLst>
              </p:cNvPr>
              <p:cNvSpPr txBox="1"/>
              <p:nvPr/>
            </p:nvSpPr>
            <p:spPr>
              <a:xfrm>
                <a:off x="2926048" y="2725399"/>
                <a:ext cx="272832" cy="246221"/>
              </a:xfrm>
              <a:prstGeom prst="rect">
                <a:avLst/>
              </a:prstGeom>
              <a:noFill/>
            </p:spPr>
            <p:txBody>
              <a:bodyPr wrap="none" rtlCol="0">
                <a:spAutoFit/>
              </a:bodyPr>
              <a:lstStyle/>
              <a:p>
                <a:r>
                  <a:rPr lang="en-US" altLang="zh-TW" sz="1000" b="1" dirty="0">
                    <a:latin typeface="Montserrat" panose="02020500000000000000" charset="0"/>
                  </a:rPr>
                  <a:t>b</a:t>
                </a:r>
                <a:endParaRPr lang="zh-TW" altLang="en-US" sz="1000" b="1" dirty="0">
                  <a:latin typeface="Montserrat" panose="02020500000000000000" charset="0"/>
                </a:endParaRPr>
              </a:p>
            </p:txBody>
          </p:sp>
          <p:sp>
            <p:nvSpPr>
              <p:cNvPr id="37" name="文字方塊 36">
                <a:extLst>
                  <a:ext uri="{FF2B5EF4-FFF2-40B4-BE49-F238E27FC236}">
                    <a16:creationId xmlns:a16="http://schemas.microsoft.com/office/drawing/2014/main" id="{736D0062-19DB-455D-AFE2-F6F08C24E00B}"/>
                  </a:ext>
                </a:extLst>
              </p:cNvPr>
              <p:cNvSpPr txBox="1"/>
              <p:nvPr/>
            </p:nvSpPr>
            <p:spPr>
              <a:xfrm>
                <a:off x="4050633" y="1751335"/>
                <a:ext cx="260008" cy="246221"/>
              </a:xfrm>
              <a:prstGeom prst="rect">
                <a:avLst/>
              </a:prstGeom>
              <a:noFill/>
            </p:spPr>
            <p:txBody>
              <a:bodyPr wrap="none" rtlCol="0">
                <a:spAutoFit/>
              </a:bodyPr>
              <a:lstStyle/>
              <a:p>
                <a:r>
                  <a:rPr lang="en-US" altLang="zh-TW" sz="1000" b="1" dirty="0">
                    <a:latin typeface="Montserrat" panose="02020500000000000000" charset="0"/>
                  </a:rPr>
                  <a:t>c</a:t>
                </a:r>
                <a:endParaRPr lang="zh-TW" altLang="en-US" sz="1000" b="1" dirty="0">
                  <a:latin typeface="Montserrat" panose="02020500000000000000" charset="0"/>
                </a:endParaRPr>
              </a:p>
            </p:txBody>
          </p:sp>
          <p:sp>
            <p:nvSpPr>
              <p:cNvPr id="42" name="文字方塊 41">
                <a:extLst>
                  <a:ext uri="{FF2B5EF4-FFF2-40B4-BE49-F238E27FC236}">
                    <a16:creationId xmlns:a16="http://schemas.microsoft.com/office/drawing/2014/main" id="{1A291526-B6C4-4E50-91FE-00B3A62F734F}"/>
                  </a:ext>
                </a:extLst>
              </p:cNvPr>
              <p:cNvSpPr txBox="1"/>
              <p:nvPr/>
            </p:nvSpPr>
            <p:spPr>
              <a:xfrm>
                <a:off x="4055100" y="2722729"/>
                <a:ext cx="272832" cy="246221"/>
              </a:xfrm>
              <a:prstGeom prst="rect">
                <a:avLst/>
              </a:prstGeom>
              <a:noFill/>
            </p:spPr>
            <p:txBody>
              <a:bodyPr wrap="none" rtlCol="0">
                <a:spAutoFit/>
              </a:bodyPr>
              <a:lstStyle/>
              <a:p>
                <a:r>
                  <a:rPr lang="en-US" altLang="zh-TW" sz="1000" b="1" dirty="0">
                    <a:latin typeface="Montserrat" panose="02020500000000000000" charset="0"/>
                  </a:rPr>
                  <a:t>d</a:t>
                </a:r>
                <a:endParaRPr lang="zh-TW" altLang="en-US" sz="1000" b="1" dirty="0">
                  <a:latin typeface="Montserrat" panose="02020500000000000000" charset="0"/>
                </a:endParaRPr>
              </a:p>
            </p:txBody>
          </p:sp>
        </p:grpSp>
      </p:grpSp>
      <p:grpSp>
        <p:nvGrpSpPr>
          <p:cNvPr id="52" name="群組 51">
            <a:extLst>
              <a:ext uri="{FF2B5EF4-FFF2-40B4-BE49-F238E27FC236}">
                <a16:creationId xmlns:a16="http://schemas.microsoft.com/office/drawing/2014/main" id="{39065962-2C83-4F0F-97D5-CDFAF25F7F10}"/>
              </a:ext>
            </a:extLst>
          </p:cNvPr>
          <p:cNvGrpSpPr/>
          <p:nvPr/>
        </p:nvGrpSpPr>
        <p:grpSpPr>
          <a:xfrm>
            <a:off x="2927448" y="1751333"/>
            <a:ext cx="1416934" cy="1220288"/>
            <a:chOff x="4881800" y="1751333"/>
            <a:chExt cx="1416934" cy="1220288"/>
          </a:xfrm>
        </p:grpSpPr>
        <p:pic>
          <p:nvPicPr>
            <p:cNvPr id="28" name="圖片 27">
              <a:extLst>
                <a:ext uri="{FF2B5EF4-FFF2-40B4-BE49-F238E27FC236}">
                  <a16:creationId xmlns:a16="http://schemas.microsoft.com/office/drawing/2014/main" id="{58B3C3A6-41FE-4300-A219-477481C0FA88}"/>
                </a:ext>
              </a:extLst>
            </p:cNvPr>
            <p:cNvPicPr/>
            <p:nvPr/>
          </p:nvPicPr>
          <p:blipFill rotWithShape="1">
            <a:blip r:embed="rId3"/>
            <a:srcRect l="51086" r="24633" b="23435"/>
            <a:stretch/>
          </p:blipFill>
          <p:spPr>
            <a:xfrm>
              <a:off x="4907587" y="1811850"/>
              <a:ext cx="1378323" cy="1159771"/>
            </a:xfrm>
            <a:prstGeom prst="rect">
              <a:avLst/>
            </a:prstGeom>
          </p:spPr>
        </p:pic>
        <p:grpSp>
          <p:nvGrpSpPr>
            <p:cNvPr id="46" name="群組 45">
              <a:extLst>
                <a:ext uri="{FF2B5EF4-FFF2-40B4-BE49-F238E27FC236}">
                  <a16:creationId xmlns:a16="http://schemas.microsoft.com/office/drawing/2014/main" id="{8EA41C45-853D-401F-8707-1D51D92D5F8C}"/>
                </a:ext>
              </a:extLst>
            </p:cNvPr>
            <p:cNvGrpSpPr/>
            <p:nvPr/>
          </p:nvGrpSpPr>
          <p:grpSpPr>
            <a:xfrm>
              <a:off x="4881800" y="1751333"/>
              <a:ext cx="1416934" cy="1217622"/>
              <a:chOff x="4881800" y="1751333"/>
              <a:chExt cx="1416934" cy="1217622"/>
            </a:xfrm>
          </p:grpSpPr>
          <p:sp>
            <p:nvSpPr>
              <p:cNvPr id="31" name="文字方塊 30">
                <a:extLst>
                  <a:ext uri="{FF2B5EF4-FFF2-40B4-BE49-F238E27FC236}">
                    <a16:creationId xmlns:a16="http://schemas.microsoft.com/office/drawing/2014/main" id="{C531DB65-3139-4BB4-AE35-C90F7A94CE19}"/>
                  </a:ext>
                </a:extLst>
              </p:cNvPr>
              <p:cNvSpPr txBox="1"/>
              <p:nvPr/>
            </p:nvSpPr>
            <p:spPr>
              <a:xfrm>
                <a:off x="4881800" y="1751336"/>
                <a:ext cx="263214" cy="246221"/>
              </a:xfrm>
              <a:prstGeom prst="rect">
                <a:avLst/>
              </a:prstGeom>
              <a:noFill/>
            </p:spPr>
            <p:txBody>
              <a:bodyPr wrap="none" rtlCol="0">
                <a:spAutoFit/>
              </a:bodyPr>
              <a:lstStyle/>
              <a:p>
                <a:r>
                  <a:rPr lang="en-US" altLang="zh-TW" sz="1000" b="1" dirty="0">
                    <a:latin typeface="Montserrat" panose="02020500000000000000" charset="0"/>
                  </a:rPr>
                  <a:t>a</a:t>
                </a:r>
                <a:endParaRPr lang="zh-TW" altLang="en-US" sz="1000" b="1" dirty="0">
                  <a:latin typeface="Montserrat" panose="02020500000000000000" charset="0"/>
                </a:endParaRPr>
              </a:p>
            </p:txBody>
          </p:sp>
          <p:sp>
            <p:nvSpPr>
              <p:cNvPr id="35" name="文字方塊 34">
                <a:extLst>
                  <a:ext uri="{FF2B5EF4-FFF2-40B4-BE49-F238E27FC236}">
                    <a16:creationId xmlns:a16="http://schemas.microsoft.com/office/drawing/2014/main" id="{8BEA069A-F684-4B0E-8FA4-ED19ED743B8F}"/>
                  </a:ext>
                </a:extLst>
              </p:cNvPr>
              <p:cNvSpPr txBox="1"/>
              <p:nvPr/>
            </p:nvSpPr>
            <p:spPr>
              <a:xfrm>
                <a:off x="4881800" y="2722734"/>
                <a:ext cx="272832" cy="246221"/>
              </a:xfrm>
              <a:prstGeom prst="rect">
                <a:avLst/>
              </a:prstGeom>
              <a:noFill/>
            </p:spPr>
            <p:txBody>
              <a:bodyPr wrap="none" rtlCol="0">
                <a:spAutoFit/>
              </a:bodyPr>
              <a:lstStyle/>
              <a:p>
                <a:r>
                  <a:rPr lang="en-US" altLang="zh-TW" sz="1000" b="1" dirty="0">
                    <a:latin typeface="Montserrat" panose="02020500000000000000" charset="0"/>
                  </a:rPr>
                  <a:t>b</a:t>
                </a:r>
                <a:endParaRPr lang="zh-TW" altLang="en-US" sz="1000" b="1" dirty="0">
                  <a:latin typeface="Montserrat" panose="02020500000000000000" charset="0"/>
                </a:endParaRPr>
              </a:p>
            </p:txBody>
          </p:sp>
          <p:sp>
            <p:nvSpPr>
              <p:cNvPr id="39" name="文字方塊 38">
                <a:extLst>
                  <a:ext uri="{FF2B5EF4-FFF2-40B4-BE49-F238E27FC236}">
                    <a16:creationId xmlns:a16="http://schemas.microsoft.com/office/drawing/2014/main" id="{F2E54788-80BC-45CE-9C42-C64C1B2E8C73}"/>
                  </a:ext>
                </a:extLst>
              </p:cNvPr>
              <p:cNvSpPr txBox="1"/>
              <p:nvPr/>
            </p:nvSpPr>
            <p:spPr>
              <a:xfrm>
                <a:off x="6025902" y="1751333"/>
                <a:ext cx="260008" cy="246221"/>
              </a:xfrm>
              <a:prstGeom prst="rect">
                <a:avLst/>
              </a:prstGeom>
              <a:noFill/>
            </p:spPr>
            <p:txBody>
              <a:bodyPr wrap="none" rtlCol="0">
                <a:spAutoFit/>
              </a:bodyPr>
              <a:lstStyle/>
              <a:p>
                <a:r>
                  <a:rPr lang="en-US" altLang="zh-TW" sz="1000" b="1" dirty="0">
                    <a:latin typeface="Montserrat" panose="02020500000000000000" charset="0"/>
                  </a:rPr>
                  <a:t>c</a:t>
                </a:r>
                <a:endParaRPr lang="zh-TW" altLang="en-US" sz="1000" b="1" dirty="0">
                  <a:latin typeface="Montserrat" panose="02020500000000000000" charset="0"/>
                </a:endParaRPr>
              </a:p>
            </p:txBody>
          </p:sp>
          <p:sp>
            <p:nvSpPr>
              <p:cNvPr id="43" name="文字方塊 42">
                <a:extLst>
                  <a:ext uri="{FF2B5EF4-FFF2-40B4-BE49-F238E27FC236}">
                    <a16:creationId xmlns:a16="http://schemas.microsoft.com/office/drawing/2014/main" id="{8051B916-7DB2-4940-B24C-125BBE41C0F4}"/>
                  </a:ext>
                </a:extLst>
              </p:cNvPr>
              <p:cNvSpPr txBox="1"/>
              <p:nvPr/>
            </p:nvSpPr>
            <p:spPr>
              <a:xfrm>
                <a:off x="6025902" y="2722729"/>
                <a:ext cx="272832" cy="246221"/>
              </a:xfrm>
              <a:prstGeom prst="rect">
                <a:avLst/>
              </a:prstGeom>
              <a:noFill/>
            </p:spPr>
            <p:txBody>
              <a:bodyPr wrap="none" rtlCol="0">
                <a:spAutoFit/>
              </a:bodyPr>
              <a:lstStyle/>
              <a:p>
                <a:r>
                  <a:rPr lang="en-US" altLang="zh-TW" sz="1000" b="1" dirty="0">
                    <a:latin typeface="Montserrat" panose="02020500000000000000" charset="0"/>
                  </a:rPr>
                  <a:t>d</a:t>
                </a:r>
                <a:endParaRPr lang="zh-TW" altLang="en-US" sz="1000" b="1" dirty="0">
                  <a:latin typeface="Montserrat" panose="02020500000000000000" charset="0"/>
                </a:endParaRPr>
              </a:p>
            </p:txBody>
          </p:sp>
        </p:grpSp>
      </p:grpSp>
      <p:grpSp>
        <p:nvGrpSpPr>
          <p:cNvPr id="53" name="群組 52">
            <a:extLst>
              <a:ext uri="{FF2B5EF4-FFF2-40B4-BE49-F238E27FC236}">
                <a16:creationId xmlns:a16="http://schemas.microsoft.com/office/drawing/2014/main" id="{C74EFB72-0769-4211-952C-B47D4F6C8443}"/>
              </a:ext>
            </a:extLst>
          </p:cNvPr>
          <p:cNvGrpSpPr/>
          <p:nvPr/>
        </p:nvGrpSpPr>
        <p:grpSpPr>
          <a:xfrm>
            <a:off x="4873433" y="1751333"/>
            <a:ext cx="1400761" cy="1220287"/>
            <a:chOff x="6857069" y="1751333"/>
            <a:chExt cx="1400761" cy="1220287"/>
          </a:xfrm>
        </p:grpSpPr>
        <p:pic>
          <p:nvPicPr>
            <p:cNvPr id="29" name="圖片 28">
              <a:extLst>
                <a:ext uri="{FF2B5EF4-FFF2-40B4-BE49-F238E27FC236}">
                  <a16:creationId xmlns:a16="http://schemas.microsoft.com/office/drawing/2014/main" id="{CC9CE947-7343-45E6-B54A-2F4644672022}"/>
                </a:ext>
              </a:extLst>
            </p:cNvPr>
            <p:cNvPicPr/>
            <p:nvPr/>
          </p:nvPicPr>
          <p:blipFill rotWithShape="1">
            <a:blip r:embed="rId3"/>
            <a:srcRect l="78093" b="23435"/>
            <a:stretch/>
          </p:blipFill>
          <p:spPr>
            <a:xfrm>
              <a:off x="6857069" y="1811849"/>
              <a:ext cx="1243562" cy="1159771"/>
            </a:xfrm>
            <a:prstGeom prst="rect">
              <a:avLst/>
            </a:prstGeom>
          </p:spPr>
        </p:pic>
        <p:grpSp>
          <p:nvGrpSpPr>
            <p:cNvPr id="47" name="群組 46">
              <a:extLst>
                <a:ext uri="{FF2B5EF4-FFF2-40B4-BE49-F238E27FC236}">
                  <a16:creationId xmlns:a16="http://schemas.microsoft.com/office/drawing/2014/main" id="{7C272E63-CF22-48CD-8EE9-7AA677189BF6}"/>
                </a:ext>
              </a:extLst>
            </p:cNvPr>
            <p:cNvGrpSpPr/>
            <p:nvPr/>
          </p:nvGrpSpPr>
          <p:grpSpPr>
            <a:xfrm>
              <a:off x="6857069" y="1751333"/>
              <a:ext cx="1400761" cy="1217621"/>
              <a:chOff x="6857069" y="1751333"/>
              <a:chExt cx="1400761" cy="1217621"/>
            </a:xfrm>
          </p:grpSpPr>
          <p:sp>
            <p:nvSpPr>
              <p:cNvPr id="32" name="文字方塊 31">
                <a:extLst>
                  <a:ext uri="{FF2B5EF4-FFF2-40B4-BE49-F238E27FC236}">
                    <a16:creationId xmlns:a16="http://schemas.microsoft.com/office/drawing/2014/main" id="{E36D8237-9FA9-485D-946A-FFC3D9870E20}"/>
                  </a:ext>
                </a:extLst>
              </p:cNvPr>
              <p:cNvSpPr txBox="1"/>
              <p:nvPr/>
            </p:nvSpPr>
            <p:spPr>
              <a:xfrm>
                <a:off x="6876738" y="1751336"/>
                <a:ext cx="263214" cy="246221"/>
              </a:xfrm>
              <a:prstGeom prst="rect">
                <a:avLst/>
              </a:prstGeom>
              <a:noFill/>
            </p:spPr>
            <p:txBody>
              <a:bodyPr wrap="none" rtlCol="0">
                <a:spAutoFit/>
              </a:bodyPr>
              <a:lstStyle/>
              <a:p>
                <a:r>
                  <a:rPr lang="en-US" altLang="zh-TW" sz="1000" b="1" dirty="0">
                    <a:latin typeface="Montserrat" panose="02020500000000000000" charset="0"/>
                  </a:rPr>
                  <a:t>a</a:t>
                </a:r>
                <a:endParaRPr lang="zh-TW" altLang="en-US" sz="1000" b="1" dirty="0">
                  <a:latin typeface="Montserrat" panose="02020500000000000000" charset="0"/>
                </a:endParaRPr>
              </a:p>
            </p:txBody>
          </p:sp>
          <p:sp>
            <p:nvSpPr>
              <p:cNvPr id="36" name="文字方塊 35">
                <a:extLst>
                  <a:ext uri="{FF2B5EF4-FFF2-40B4-BE49-F238E27FC236}">
                    <a16:creationId xmlns:a16="http://schemas.microsoft.com/office/drawing/2014/main" id="{CD1CBB3E-0C31-45D5-B8CE-D2E1F26C2F1A}"/>
                  </a:ext>
                </a:extLst>
              </p:cNvPr>
              <p:cNvSpPr txBox="1"/>
              <p:nvPr/>
            </p:nvSpPr>
            <p:spPr>
              <a:xfrm>
                <a:off x="6857069" y="2722733"/>
                <a:ext cx="272832" cy="246221"/>
              </a:xfrm>
              <a:prstGeom prst="rect">
                <a:avLst/>
              </a:prstGeom>
              <a:noFill/>
            </p:spPr>
            <p:txBody>
              <a:bodyPr wrap="none" rtlCol="0">
                <a:spAutoFit/>
              </a:bodyPr>
              <a:lstStyle/>
              <a:p>
                <a:r>
                  <a:rPr lang="en-US" altLang="zh-TW" sz="1000" b="1" dirty="0">
                    <a:latin typeface="Montserrat" panose="02020500000000000000" charset="0"/>
                  </a:rPr>
                  <a:t>b</a:t>
                </a:r>
                <a:endParaRPr lang="zh-TW" altLang="en-US" sz="1000" b="1" dirty="0">
                  <a:latin typeface="Montserrat" panose="02020500000000000000" charset="0"/>
                </a:endParaRPr>
              </a:p>
            </p:txBody>
          </p:sp>
          <p:sp>
            <p:nvSpPr>
              <p:cNvPr id="40" name="文字方塊 39">
                <a:extLst>
                  <a:ext uri="{FF2B5EF4-FFF2-40B4-BE49-F238E27FC236}">
                    <a16:creationId xmlns:a16="http://schemas.microsoft.com/office/drawing/2014/main" id="{A738F457-B2C3-43CE-828D-FBF7AD9FB2B7}"/>
                  </a:ext>
                </a:extLst>
              </p:cNvPr>
              <p:cNvSpPr txBox="1"/>
              <p:nvPr/>
            </p:nvSpPr>
            <p:spPr>
              <a:xfrm>
                <a:off x="7997822" y="1751333"/>
                <a:ext cx="260008" cy="246221"/>
              </a:xfrm>
              <a:prstGeom prst="rect">
                <a:avLst/>
              </a:prstGeom>
              <a:noFill/>
            </p:spPr>
            <p:txBody>
              <a:bodyPr wrap="none" rtlCol="0">
                <a:spAutoFit/>
              </a:bodyPr>
              <a:lstStyle/>
              <a:p>
                <a:r>
                  <a:rPr lang="en-US" altLang="zh-TW" sz="1000" b="1" dirty="0">
                    <a:latin typeface="Montserrat" panose="02020500000000000000" charset="0"/>
                  </a:rPr>
                  <a:t>c</a:t>
                </a:r>
                <a:endParaRPr lang="zh-TW" altLang="en-US" sz="1000" b="1" dirty="0">
                  <a:latin typeface="Montserrat" panose="02020500000000000000" charset="0"/>
                </a:endParaRPr>
              </a:p>
            </p:txBody>
          </p:sp>
          <p:sp>
            <p:nvSpPr>
              <p:cNvPr id="44" name="文字方塊 43">
                <a:extLst>
                  <a:ext uri="{FF2B5EF4-FFF2-40B4-BE49-F238E27FC236}">
                    <a16:creationId xmlns:a16="http://schemas.microsoft.com/office/drawing/2014/main" id="{49CFF783-3220-470A-BE30-0CA004EC8060}"/>
                  </a:ext>
                </a:extLst>
              </p:cNvPr>
              <p:cNvSpPr txBox="1"/>
              <p:nvPr/>
            </p:nvSpPr>
            <p:spPr>
              <a:xfrm>
                <a:off x="7984998" y="2722728"/>
                <a:ext cx="272832" cy="246221"/>
              </a:xfrm>
              <a:prstGeom prst="rect">
                <a:avLst/>
              </a:prstGeom>
              <a:noFill/>
            </p:spPr>
            <p:txBody>
              <a:bodyPr wrap="none" rtlCol="0">
                <a:spAutoFit/>
              </a:bodyPr>
              <a:lstStyle/>
              <a:p>
                <a:r>
                  <a:rPr lang="en-US" altLang="zh-TW" sz="1000" b="1" dirty="0">
                    <a:latin typeface="Montserrat" panose="02020500000000000000" charset="0"/>
                  </a:rPr>
                  <a:t>d</a:t>
                </a:r>
                <a:endParaRPr lang="zh-TW" altLang="en-US" sz="1000" b="1" dirty="0">
                  <a:latin typeface="Montserrat" panose="02020500000000000000" charset="0"/>
                </a:endParaRPr>
              </a:p>
            </p:txBody>
          </p:sp>
        </p:grpSp>
      </p:grpSp>
      <p:sp>
        <p:nvSpPr>
          <p:cNvPr id="63" name="矩形 62">
            <a:extLst>
              <a:ext uri="{FF2B5EF4-FFF2-40B4-BE49-F238E27FC236}">
                <a16:creationId xmlns:a16="http://schemas.microsoft.com/office/drawing/2014/main" id="{F41A334E-4CD0-4D53-94D9-DD5C1A0584AB}"/>
              </a:ext>
            </a:extLst>
          </p:cNvPr>
          <p:cNvSpPr/>
          <p:nvPr/>
        </p:nvSpPr>
        <p:spPr>
          <a:xfrm>
            <a:off x="3819230" y="835465"/>
            <a:ext cx="1505540" cy="246221"/>
          </a:xfrm>
          <a:prstGeom prst="rect">
            <a:avLst/>
          </a:prstGeom>
        </p:spPr>
        <p:txBody>
          <a:bodyPr wrap="none">
            <a:spAutoFit/>
          </a:bodyPr>
          <a:lstStyle/>
          <a:p>
            <a:r>
              <a:rPr lang="en-US" altLang="zh-TW" sz="1000" b="1" dirty="0">
                <a:latin typeface="Montserrat" panose="02020500000000000000" charset="0"/>
                <a:ea typeface="標楷體" panose="03000509000000000000" pitchFamily="65" charset="-120"/>
              </a:rPr>
              <a:t>50/50 Beam splitter</a:t>
            </a:r>
            <a:endParaRPr lang="zh-TW" altLang="en-US" sz="1000" b="1" dirty="0">
              <a:latin typeface="Montserrat" panose="02020500000000000000" charset="0"/>
            </a:endParaRPr>
          </a:p>
        </p:txBody>
      </p:sp>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34793E5A-123C-4EEE-B1AA-78261F8D2227}"/>
                  </a:ext>
                </a:extLst>
              </p:cNvPr>
              <p:cNvSpPr/>
              <p:nvPr/>
            </p:nvSpPr>
            <p:spPr>
              <a:xfrm>
                <a:off x="1760374" y="3322268"/>
                <a:ext cx="5623252" cy="29174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sz="1100" i="1">
                              <a:latin typeface="Cambria Math" panose="02040503050406030204" pitchFamily="18" charset="0"/>
                              <a:ea typeface="標楷體" panose="03000509000000000000" pitchFamily="65" charset="-120"/>
                              <a:cs typeface="Times New Roman" panose="02020603050405020304" pitchFamily="18" charset="0"/>
                            </a:rPr>
                          </m:ctrlPr>
                        </m:sSubPr>
                        <m:e>
                          <m:d>
                            <m:dPr>
                              <m:begChr m:val=""/>
                              <m:endChr m:val="⟩"/>
                              <m:ctrlPr>
                                <a:rPr lang="el-GR" altLang="zh-TW" sz="1100" i="1">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sz="11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1100" i="1">
                                      <a:latin typeface="Cambria Math" panose="02040503050406030204" pitchFamily="18" charset="0"/>
                                      <a:ea typeface="標楷體" panose="03000509000000000000" pitchFamily="65" charset="-120"/>
                                      <a:cs typeface="Times New Roman" panose="02020603050405020304" pitchFamily="18" charset="0"/>
                                    </a:rPr>
                                  </m:ctrlPr>
                                </m:sSubPr>
                                <m:e>
                                  <m:r>
                                    <a:rPr lang="el-GR" altLang="zh-TW" sz="1100" i="1">
                                      <a:latin typeface="Cambria Math" panose="02040503050406030204" pitchFamily="18" charset="0"/>
                                      <a:ea typeface="標楷體" panose="03000509000000000000" pitchFamily="65" charset="-120"/>
                                      <a:cs typeface="Times New Roman" panose="02020603050405020304" pitchFamily="18" charset="0"/>
                                    </a:rPr>
                                    <m:t>𝜓</m:t>
                                  </m:r>
                                </m:e>
                                <m:sub>
                                  <m:r>
                                    <a:rPr lang="en-US" altLang="zh-TW" sz="1100" i="1">
                                      <a:latin typeface="Cambria Math" panose="02040503050406030204" pitchFamily="18" charset="0"/>
                                      <a:ea typeface="標楷體" panose="03000509000000000000" pitchFamily="65" charset="-120"/>
                                      <a:cs typeface="Times New Roman" panose="02020603050405020304" pitchFamily="18" charset="0"/>
                                    </a:rPr>
                                    <m:t>𝑜𝑢𝑡</m:t>
                                  </m:r>
                                </m:sub>
                              </m:sSub>
                            </m:e>
                          </m:d>
                        </m:e>
                        <m:sub>
                          <m:r>
                            <a:rPr lang="en-US" altLang="zh-TW" sz="1100" i="1">
                              <a:latin typeface="Cambria Math" panose="02040503050406030204" pitchFamily="18" charset="0"/>
                              <a:ea typeface="標楷體" panose="03000509000000000000" pitchFamily="65" charset="-120"/>
                              <a:cs typeface="Times New Roman" panose="02020603050405020304" pitchFamily="18" charset="0"/>
                            </a:rPr>
                            <m:t>𝑐</m:t>
                          </m:r>
                          <m:r>
                            <a:rPr lang="en-US" altLang="zh-TW" sz="11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100" i="1">
                              <a:latin typeface="Cambria Math" panose="02040503050406030204" pitchFamily="18" charset="0"/>
                              <a:ea typeface="標楷體" panose="03000509000000000000" pitchFamily="65" charset="-120"/>
                              <a:cs typeface="Times New Roman" panose="02020603050405020304" pitchFamily="18" charset="0"/>
                            </a:rPr>
                            <m:t>𝑑</m:t>
                          </m:r>
                        </m:sub>
                      </m:s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𝑇</m:t>
                          </m:r>
                        </m:e>
                      </m:rad>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𝑇</m:t>
                          </m:r>
                        </m:e>
                      </m:rad>
                      <m:sSub>
                        <m:sSubPr>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|1,1</m:t>
                              </m:r>
                            </m:e>
                          </m:d>
                        </m:e>
                        <m: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𝑎</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𝑏</m:t>
                          </m:r>
                        </m:sub>
                      </m:s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𝑇</m:t>
                          </m:r>
                        </m:e>
                      </m:rad>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𝑖</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𝑅</m:t>
                          </m:r>
                        </m:e>
                      </m:rad>
                      <m:sSub>
                        <m:sSubPr>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|0,2</m:t>
                              </m:r>
                            </m:e>
                          </m:d>
                        </m:e>
                        <m: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𝑎</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𝑏</m:t>
                          </m:r>
                        </m:sub>
                      </m:s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𝑖</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𝑅</m:t>
                          </m:r>
                        </m:e>
                      </m:rad>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𝑇</m:t>
                          </m:r>
                        </m:e>
                      </m:rad>
                      <m:sSub>
                        <m:sSubPr>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|2,0</m:t>
                              </m:r>
                            </m:e>
                          </m:d>
                        </m:e>
                        <m: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𝑎</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𝑏</m:t>
                          </m:r>
                        </m:sub>
                      </m:s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𝑖</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𝑅</m:t>
                          </m:r>
                        </m:e>
                      </m:rad>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𝑖</m:t>
                      </m:r>
                      <m:rad>
                        <m:radPr>
                          <m:degHide m:val="on"/>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𝑅</m:t>
                          </m:r>
                        </m:e>
                      </m:rad>
                      <m:sSub>
                        <m:sSubPr>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en-US" altLang="zh-TW" sz="11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100" i="1">
                                  <a:latin typeface="Cambria Math" panose="02040503050406030204" pitchFamily="18" charset="0"/>
                                  <a:ea typeface="Cambria Math" panose="02040503050406030204" pitchFamily="18" charset="0"/>
                                  <a:cs typeface="Times New Roman" panose="02020603050405020304" pitchFamily="18" charset="0"/>
                                </a:rPr>
                                <m:t>|1,1</m:t>
                              </m:r>
                            </m:e>
                          </m:d>
                        </m:e>
                        <m:sub>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𝑎</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a:latin typeface="Cambria Math" panose="02040503050406030204" pitchFamily="18" charset="0"/>
                              <a:ea typeface="Cambria Math" panose="02040503050406030204" pitchFamily="18" charset="0"/>
                              <a:cs typeface="Times New Roman" panose="02020603050405020304" pitchFamily="18" charset="0"/>
                            </a:rPr>
                            <m:t>𝑏</m:t>
                          </m:r>
                        </m:sub>
                      </m:sSub>
                    </m:oMath>
                  </m:oMathPara>
                </a14:m>
                <a:endParaRPr lang="zh-TW" altLang="en-US" dirty="0"/>
              </a:p>
            </p:txBody>
          </p:sp>
        </mc:Choice>
        <mc:Fallback xmlns="">
          <p:sp>
            <p:nvSpPr>
              <p:cNvPr id="66" name="矩形 65">
                <a:extLst>
                  <a:ext uri="{FF2B5EF4-FFF2-40B4-BE49-F238E27FC236}">
                    <a16:creationId xmlns:a16="http://schemas.microsoft.com/office/drawing/2014/main" id="{34793E5A-123C-4EEE-B1AA-78261F8D2227}"/>
                  </a:ext>
                </a:extLst>
              </p:cNvPr>
              <p:cNvSpPr>
                <a:spLocks noRot="1" noChangeAspect="1" noMove="1" noResize="1" noEditPoints="1" noAdjustHandles="1" noChangeArrowheads="1" noChangeShapeType="1" noTextEdit="1"/>
              </p:cNvSpPr>
              <p:nvPr/>
            </p:nvSpPr>
            <p:spPr>
              <a:xfrm>
                <a:off x="1760374" y="3322268"/>
                <a:ext cx="5623252" cy="291747"/>
              </a:xfrm>
              <a:prstGeom prst="rect">
                <a:avLst/>
              </a:prstGeom>
              <a:blipFill>
                <a:blip r:embed="rId4"/>
                <a:stretch>
                  <a:fillRect t="-77083" r="-217" b="-131250"/>
                </a:stretch>
              </a:blipFill>
            </p:spPr>
            <p:txBody>
              <a:bodyPr/>
              <a:lstStyle/>
              <a:p>
                <a:r>
                  <a:rPr lang="zh-TW" altLang="en-US">
                    <a:noFill/>
                  </a:rPr>
                  <a:t> </a:t>
                </a:r>
              </a:p>
            </p:txBody>
          </p:sp>
        </mc:Fallback>
      </mc:AlternateContent>
      <p:grpSp>
        <p:nvGrpSpPr>
          <p:cNvPr id="70" name="群組 69">
            <a:extLst>
              <a:ext uri="{FF2B5EF4-FFF2-40B4-BE49-F238E27FC236}">
                <a16:creationId xmlns:a16="http://schemas.microsoft.com/office/drawing/2014/main" id="{E6E2C5E4-86E6-4AFE-83E1-8795BF1C92BC}"/>
              </a:ext>
            </a:extLst>
          </p:cNvPr>
          <p:cNvGrpSpPr/>
          <p:nvPr/>
        </p:nvGrpSpPr>
        <p:grpSpPr>
          <a:xfrm>
            <a:off x="2689952" y="3957999"/>
            <a:ext cx="3764095" cy="291747"/>
            <a:chOff x="2770756" y="4085499"/>
            <a:chExt cx="3764095" cy="291747"/>
          </a:xfrm>
        </p:grpSpPr>
        <p:grpSp>
          <p:nvGrpSpPr>
            <p:cNvPr id="69" name="群組 68">
              <a:extLst>
                <a:ext uri="{FF2B5EF4-FFF2-40B4-BE49-F238E27FC236}">
                  <a16:creationId xmlns:a16="http://schemas.microsoft.com/office/drawing/2014/main" id="{2E1DB3E7-10C9-4D76-93C9-353FEF98F3F4}"/>
                </a:ext>
              </a:extLst>
            </p:cNvPr>
            <p:cNvGrpSpPr/>
            <p:nvPr/>
          </p:nvGrpSpPr>
          <p:grpSpPr>
            <a:xfrm>
              <a:off x="3133786" y="4085499"/>
              <a:ext cx="3401065" cy="291747"/>
              <a:chOff x="3133786" y="4085499"/>
              <a:chExt cx="3401065" cy="291747"/>
            </a:xfrm>
          </p:grpSpPr>
          <p:sp>
            <p:nvSpPr>
              <p:cNvPr id="65" name="文字方塊 64">
                <a:extLst>
                  <a:ext uri="{FF2B5EF4-FFF2-40B4-BE49-F238E27FC236}">
                    <a16:creationId xmlns:a16="http://schemas.microsoft.com/office/drawing/2014/main" id="{9B469FF5-1FF7-4D55-AA6B-349A6ED11591}"/>
                  </a:ext>
                </a:extLst>
              </p:cNvPr>
              <p:cNvSpPr txBox="1"/>
              <p:nvPr/>
            </p:nvSpPr>
            <p:spPr>
              <a:xfrm>
                <a:off x="3133786" y="4108261"/>
                <a:ext cx="1438214" cy="246221"/>
              </a:xfrm>
              <a:prstGeom prst="rect">
                <a:avLst/>
              </a:prstGeom>
              <a:noFill/>
            </p:spPr>
            <p:txBody>
              <a:bodyPr wrap="none" rtlCol="0">
                <a:spAutoFit/>
              </a:bodyPr>
              <a:lstStyle/>
              <a:p>
                <a:r>
                  <a:rPr lang="en-US" altLang="zh-TW" sz="1000" b="1" dirty="0">
                    <a:latin typeface="Montserrat" panose="02020500000000000000" charset="0"/>
                  </a:rPr>
                  <a:t>Because R + T = 1/2</a:t>
                </a:r>
                <a:endParaRPr lang="zh-TW" altLang="en-US" sz="1000" b="1" dirty="0">
                  <a:latin typeface="Montserrat" panose="02020500000000000000" charset="0"/>
                </a:endParaRPr>
              </a:p>
            </p:txBody>
          </p: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1EBB6789-7605-440F-ACD7-8A394CF3A9D7}"/>
                      </a:ext>
                    </a:extLst>
                  </p:cNvPr>
                  <p:cNvSpPr/>
                  <p:nvPr/>
                </p:nvSpPr>
                <p:spPr>
                  <a:xfrm>
                    <a:off x="4628688" y="4085499"/>
                    <a:ext cx="1906163" cy="2917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t>𝑖</m:t>
                          </m:r>
                          <m:rad>
                            <m:radPr>
                              <m:degHide m:val="on"/>
                              <m:ctrlP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ctrlPr>
                            </m:radPr>
                            <m:deg/>
                            <m:e>
                              <m: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t>𝑇𝑅</m:t>
                              </m:r>
                            </m:e>
                          </m:rad>
                          <m:sSub>
                            <m:sSubPr>
                              <m:ctrlP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ctrlPr>
                            </m:sSubPr>
                            <m:e>
                              <m:d>
                                <m:dPr>
                                  <m:begChr m:val=""/>
                                  <m:endChr m:val="⟩"/>
                                  <m:ctrlP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t>|0,2</m:t>
                                  </m:r>
                                </m:e>
                              </m:d>
                            </m:e>
                            <m:sub>
                              <m: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t>𝑎</m:t>
                              </m:r>
                              <m: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t>,</m:t>
                              </m:r>
                              <m:r>
                                <a:rPr lang="en-US" altLang="zh-TW" sz="1100" i="1" dirty="0">
                                  <a:latin typeface="Cambria Math" panose="02040503050406030204" pitchFamily="18" charset="0"/>
                                  <a:ea typeface="標楷體" panose="03000509000000000000" pitchFamily="65" charset="-120"/>
                                  <a:cs typeface="Times New Roman" panose="02020603050405020304" pitchFamily="18" charset="0"/>
                                </a:rPr>
                                <m:t>𝑏</m:t>
                              </m:r>
                            </m:sub>
                          </m:sSub>
                          <m: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t>𝑖</m:t>
                          </m:r>
                          <m:rad>
                            <m:radPr>
                              <m:degHide m:val="on"/>
                              <m:ctrlP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t>𝑅𝑇</m:t>
                              </m:r>
                            </m:e>
                          </m:rad>
                          <m:sSub>
                            <m:sSubPr>
                              <m:ctrlP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t>|2,0</m:t>
                                  </m:r>
                                </m:e>
                              </m:d>
                            </m:e>
                            <m:sub>
                              <m: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t>𝑎</m:t>
                              </m:r>
                              <m: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TW" sz="1100" i="1" dirty="0">
                                  <a:latin typeface="Cambria Math" panose="02040503050406030204" pitchFamily="18" charset="0"/>
                                  <a:ea typeface="Cambria Math" panose="02040503050406030204" pitchFamily="18" charset="0"/>
                                  <a:cs typeface="Times New Roman" panose="02020603050405020304" pitchFamily="18" charset="0"/>
                                </a:rPr>
                                <m:t>𝑏</m:t>
                              </m:r>
                            </m:sub>
                          </m:sSub>
                        </m:oMath>
                      </m:oMathPara>
                    </a14:m>
                    <a:endParaRPr lang="zh-TW" altLang="en-US" sz="1800" dirty="0"/>
                  </a:p>
                </p:txBody>
              </p:sp>
            </mc:Choice>
            <mc:Fallback xmlns="">
              <p:sp>
                <p:nvSpPr>
                  <p:cNvPr id="67" name="矩形 66">
                    <a:extLst>
                      <a:ext uri="{FF2B5EF4-FFF2-40B4-BE49-F238E27FC236}">
                        <a16:creationId xmlns:a16="http://schemas.microsoft.com/office/drawing/2014/main" id="{1EBB6789-7605-440F-ACD7-8A394CF3A9D7}"/>
                      </a:ext>
                    </a:extLst>
                  </p:cNvPr>
                  <p:cNvSpPr>
                    <a:spLocks noRot="1" noChangeAspect="1" noMove="1" noResize="1" noEditPoints="1" noAdjustHandles="1" noChangeArrowheads="1" noChangeShapeType="1" noTextEdit="1"/>
                  </p:cNvSpPr>
                  <p:nvPr/>
                </p:nvSpPr>
                <p:spPr>
                  <a:xfrm>
                    <a:off x="4628688" y="4085499"/>
                    <a:ext cx="1906163" cy="291747"/>
                  </a:xfrm>
                  <a:prstGeom prst="rect">
                    <a:avLst/>
                  </a:prstGeom>
                  <a:blipFill>
                    <a:blip r:embed="rId5"/>
                    <a:stretch>
                      <a:fillRect t="-77083" r="-4473" b="-131250"/>
                    </a:stretch>
                  </a:blipFill>
                </p:spPr>
                <p:txBody>
                  <a:bodyPr/>
                  <a:lstStyle/>
                  <a:p>
                    <a:r>
                      <a:rPr lang="zh-TW" altLang="en-US">
                        <a:noFill/>
                      </a:rPr>
                      <a:t> </a:t>
                    </a:r>
                  </a:p>
                </p:txBody>
              </p:sp>
            </mc:Fallback>
          </mc:AlternateContent>
        </p:grpSp>
        <p:sp>
          <p:nvSpPr>
            <p:cNvPr id="68" name="箭號: 向下 67">
              <a:extLst>
                <a:ext uri="{FF2B5EF4-FFF2-40B4-BE49-F238E27FC236}">
                  <a16:creationId xmlns:a16="http://schemas.microsoft.com/office/drawing/2014/main" id="{43C40217-2FE2-46C1-8360-9A68672873A0}"/>
                </a:ext>
              </a:extLst>
            </p:cNvPr>
            <p:cNvSpPr/>
            <p:nvPr/>
          </p:nvSpPr>
          <p:spPr>
            <a:xfrm rot="16200000">
              <a:off x="2863573" y="4074679"/>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58" name="文字方塊 57">
            <a:extLst>
              <a:ext uri="{FF2B5EF4-FFF2-40B4-BE49-F238E27FC236}">
                <a16:creationId xmlns:a16="http://schemas.microsoft.com/office/drawing/2014/main" id="{81304A33-94CF-493C-BB3F-D99A31BEE76A}"/>
              </a:ext>
            </a:extLst>
          </p:cNvPr>
          <p:cNvSpPr txBox="1"/>
          <p:nvPr/>
        </p:nvSpPr>
        <p:spPr>
          <a:xfrm>
            <a:off x="7724216" y="4909064"/>
            <a:ext cx="1029967" cy="215444"/>
          </a:xfrm>
          <a:prstGeom prst="rect">
            <a:avLst/>
          </a:prstGeom>
          <a:noFill/>
        </p:spPr>
        <p:txBody>
          <a:bodyPr wrap="square" rtlCol="0" anchor="ctr">
            <a:spAutoFit/>
          </a:bodyPr>
          <a:lstStyle/>
          <a:p>
            <a:r>
              <a:rPr lang="en-US" altLang="zh-TW" sz="800" dirty="0">
                <a:solidFill>
                  <a:schemeClr val="tx1"/>
                </a:solidFill>
                <a:latin typeface="Montserrat" panose="02020500000000000000" charset="0"/>
              </a:rPr>
              <a:t>(</a:t>
            </a:r>
            <a:r>
              <a:rPr lang="en-US" altLang="zh-TW" sz="800" dirty="0" err="1">
                <a:solidFill>
                  <a:schemeClr val="tx1"/>
                </a:solidFill>
                <a:latin typeface="Montserrat" panose="02020500000000000000" charset="0"/>
              </a:rPr>
              <a:t>Xuesong</a:t>
            </a:r>
            <a:r>
              <a:rPr lang="en-US" altLang="zh-TW" sz="800" dirty="0">
                <a:solidFill>
                  <a:schemeClr val="tx1"/>
                </a:solidFill>
                <a:latin typeface="Montserrat" panose="02020500000000000000" charset="0"/>
              </a:rPr>
              <a:t>, 2019)</a:t>
            </a:r>
            <a:endParaRPr lang="zh-TW" altLang="en-US" sz="800" dirty="0">
              <a:solidFill>
                <a:schemeClr val="tx1"/>
              </a:solidFill>
              <a:latin typeface="Montserrat" panose="02020500000000000000" charset="0"/>
            </a:endParaRPr>
          </a:p>
        </p:txBody>
      </p:sp>
      <p:sp>
        <p:nvSpPr>
          <p:cNvPr id="59" name="文字方塊 58">
            <a:extLst>
              <a:ext uri="{FF2B5EF4-FFF2-40B4-BE49-F238E27FC236}">
                <a16:creationId xmlns:a16="http://schemas.microsoft.com/office/drawing/2014/main" id="{74328054-8CA7-4F58-AC7C-71659E554321}"/>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29</a:t>
            </a:r>
            <a:endParaRPr lang="zh-TW" altLang="en-US" sz="1100" dirty="0">
              <a:latin typeface="Montserrat" panose="02020500000000000000" charset="0"/>
            </a:endParaRPr>
          </a:p>
        </p:txBody>
      </p:sp>
      <p:sp>
        <p:nvSpPr>
          <p:cNvPr id="60" name="文字方塊 59">
            <a:extLst>
              <a:ext uri="{FF2B5EF4-FFF2-40B4-BE49-F238E27FC236}">
                <a16:creationId xmlns:a16="http://schemas.microsoft.com/office/drawing/2014/main" id="{49B1DE44-709F-42FF-92DB-752566941284}"/>
              </a:ext>
            </a:extLst>
          </p:cNvPr>
          <p:cNvSpPr txBox="1"/>
          <p:nvPr/>
        </p:nvSpPr>
        <p:spPr>
          <a:xfrm>
            <a:off x="8239200" y="3345030"/>
            <a:ext cx="360996" cy="246221"/>
          </a:xfrm>
          <a:prstGeom prst="rect">
            <a:avLst/>
          </a:prstGeom>
          <a:noFill/>
        </p:spPr>
        <p:txBody>
          <a:bodyPr wrap="none" rtlCol="0">
            <a:spAutoFit/>
          </a:bodyPr>
          <a:lstStyle/>
          <a:p>
            <a:r>
              <a:rPr lang="en-US" altLang="zh-TW" sz="1000" dirty="0">
                <a:latin typeface="Montserrat" panose="02020500000000000000" charset="0"/>
              </a:rPr>
              <a:t>(11)</a:t>
            </a:r>
            <a:endParaRPr lang="zh-TW" altLang="en-US" sz="1000" dirty="0">
              <a:latin typeface="Montserrat" panose="02020500000000000000" charset="0"/>
            </a:endParaRPr>
          </a:p>
        </p:txBody>
      </p:sp>
      <p:sp>
        <p:nvSpPr>
          <p:cNvPr id="61" name="文字方塊 60">
            <a:extLst>
              <a:ext uri="{FF2B5EF4-FFF2-40B4-BE49-F238E27FC236}">
                <a16:creationId xmlns:a16="http://schemas.microsoft.com/office/drawing/2014/main" id="{48044F90-79FD-4397-B36E-17ED09016D73}"/>
              </a:ext>
            </a:extLst>
          </p:cNvPr>
          <p:cNvSpPr txBox="1"/>
          <p:nvPr/>
        </p:nvSpPr>
        <p:spPr>
          <a:xfrm>
            <a:off x="8212751" y="3980759"/>
            <a:ext cx="386644" cy="246221"/>
          </a:xfrm>
          <a:prstGeom prst="rect">
            <a:avLst/>
          </a:prstGeom>
          <a:noFill/>
        </p:spPr>
        <p:txBody>
          <a:bodyPr wrap="none" rtlCol="0">
            <a:spAutoFit/>
          </a:bodyPr>
          <a:lstStyle/>
          <a:p>
            <a:r>
              <a:rPr lang="en-US" altLang="zh-TW" sz="1000" dirty="0">
                <a:latin typeface="Montserrat" panose="02020500000000000000" charset="0"/>
              </a:rPr>
              <a:t>(12)</a:t>
            </a:r>
            <a:endParaRPr lang="zh-TW" altLang="en-US" sz="1000" dirty="0">
              <a:latin typeface="Montserrat" panose="02020500000000000000" charset="0"/>
            </a:endParaRPr>
          </a:p>
        </p:txBody>
      </p: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451FEE86-F28E-47D2-B680-0118A40613A9}"/>
                  </a:ext>
                </a:extLst>
              </p:cNvPr>
              <p:cNvSpPr/>
              <p:nvPr/>
            </p:nvSpPr>
            <p:spPr>
              <a:xfrm>
                <a:off x="6892904" y="294920"/>
                <a:ext cx="2023782" cy="923330"/>
              </a:xfrm>
              <a:prstGeom prst="rect">
                <a:avLst/>
              </a:prstGeom>
            </p:spPr>
            <p:txBody>
              <a:bodyPr wrap="square">
                <a:spAutoFit/>
              </a:bodyPr>
              <a:lstStyle/>
              <a:p>
                <a:pPr>
                  <a:lnSpc>
                    <a:spcPct val="150000"/>
                  </a:lnSpc>
                </a:pPr>
                <a14:m>
                  <m:oMath xmlns:m="http://schemas.openxmlformats.org/officeDocument/2006/math">
                    <m:sSub>
                      <m:sSubPr>
                        <m:ctrlPr>
                          <a:rPr lang="en-US" altLang="zh-TW" sz="90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l-GR" altLang="zh-TW" sz="900" i="1">
                            <a:latin typeface="Cambria Math" panose="02040503050406030204" pitchFamily="18" charset="0"/>
                            <a:ea typeface="標楷體" panose="03000509000000000000" pitchFamily="65" charset="-120"/>
                            <a:cs typeface="Times New Roman" panose="02020603050405020304" pitchFamily="18" charset="0"/>
                          </a:rPr>
                          <m:t>𝜓</m:t>
                        </m:r>
                      </m:e>
                      <m:sub>
                        <m:r>
                          <a:rPr lang="en-US" altLang="zh-TW" sz="900" i="1">
                            <a:latin typeface="Cambria Math" panose="02040503050406030204" pitchFamily="18" charset="0"/>
                            <a:ea typeface="標楷體" panose="03000509000000000000" pitchFamily="65" charset="-120"/>
                            <a:cs typeface="Times New Roman" panose="02020603050405020304" pitchFamily="18" charset="0"/>
                          </a:rPr>
                          <m:t>𝑜𝑢𝑡</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Output of quantum state</a:t>
                </a:r>
              </a:p>
              <a:p>
                <a:pPr>
                  <a:lnSpc>
                    <a:spcPct val="150000"/>
                  </a:lnSpc>
                </a:pPr>
                <a14:m>
                  <m:oMath xmlns:m="http://schemas.openxmlformats.org/officeDocument/2006/math">
                    <m:r>
                      <a:rPr lang="en-US" altLang="zh-TW" sz="900" b="0" i="1" smtClean="0">
                        <a:latin typeface="Cambria Math" panose="02040503050406030204" pitchFamily="18" charset="0"/>
                      </a:rPr>
                      <m:t>𝑅</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Reflection</a:t>
                </a:r>
              </a:p>
              <a:p>
                <a:pPr>
                  <a:lnSpc>
                    <a:spcPct val="150000"/>
                  </a:lnSpc>
                </a:pPr>
                <a14:m>
                  <m:oMath xmlns:m="http://schemas.openxmlformats.org/officeDocument/2006/math">
                    <m:r>
                      <a:rPr lang="en-US" altLang="zh-TW" sz="900" b="0" i="1" smtClean="0">
                        <a:latin typeface="Cambria Math" panose="02040503050406030204" pitchFamily="18" charset="0"/>
                      </a:rPr>
                      <m:t>𝑇</m:t>
                    </m:r>
                    <m:r>
                      <a:rPr lang="zh-TW" altLang="en-US" sz="900" i="1" smtClean="0">
                        <a:latin typeface="Cambria Math" panose="02040503050406030204" pitchFamily="18" charset="0"/>
                      </a:rPr>
                      <m:t>：</m:t>
                    </m:r>
                  </m:oMath>
                </a14:m>
                <a:r>
                  <a:rPr lang="en-US" altLang="zh-TW" sz="900" dirty="0">
                    <a:latin typeface="Montserrat" panose="02020500000000000000" charset="0"/>
                    <a:cs typeface="Times New Roman" pitchFamily="18" charset="0"/>
                  </a:rPr>
                  <a:t>Transmittance</a:t>
                </a:r>
              </a:p>
              <a:p>
                <a:pPr>
                  <a:lnSpc>
                    <a:spcPct val="150000"/>
                  </a:lnSpc>
                </a:pPr>
                <a14:m>
                  <m:oMath xmlns:m="http://schemas.openxmlformats.org/officeDocument/2006/math">
                    <m:r>
                      <a:rPr lang="en-US" altLang="zh-TW" sz="900" b="0" i="1" smtClean="0">
                        <a:latin typeface="Cambria Math" panose="02040503050406030204" pitchFamily="18" charset="0"/>
                      </a:rPr>
                      <m:t>𝑎</m:t>
                    </m:r>
                    <m:r>
                      <a:rPr lang="en-US" altLang="zh-TW" sz="900" b="0" i="1" smtClean="0">
                        <a:latin typeface="Cambria Math" panose="02040503050406030204" pitchFamily="18" charset="0"/>
                      </a:rPr>
                      <m:t>,</m:t>
                    </m:r>
                    <m:r>
                      <a:rPr lang="en-US" altLang="zh-TW" sz="900" b="0" i="1" smtClean="0">
                        <a:latin typeface="Cambria Math" panose="02040503050406030204" pitchFamily="18" charset="0"/>
                      </a:rPr>
                      <m:t>𝑏</m:t>
                    </m:r>
                    <m:r>
                      <a:rPr lang="en-US" altLang="zh-TW" sz="900" b="0" i="1" smtClean="0">
                        <a:latin typeface="Cambria Math" panose="02040503050406030204" pitchFamily="18" charset="0"/>
                      </a:rPr>
                      <m:t>,</m:t>
                    </m:r>
                    <m:r>
                      <a:rPr lang="en-US" altLang="zh-TW" sz="900" b="0" i="1" smtClean="0">
                        <a:latin typeface="Cambria Math" panose="02040503050406030204" pitchFamily="18" charset="0"/>
                      </a:rPr>
                      <m:t>𝑐</m:t>
                    </m:r>
                    <m:r>
                      <a:rPr lang="en-US" altLang="zh-TW" sz="900" b="0" i="1" smtClean="0">
                        <a:latin typeface="Cambria Math" panose="02040503050406030204" pitchFamily="18" charset="0"/>
                      </a:rPr>
                      <m:t>,</m:t>
                    </m:r>
                    <m:r>
                      <a:rPr lang="en-US" altLang="zh-TW" sz="900" b="0" i="1" smtClean="0">
                        <a:latin typeface="Cambria Math" panose="02040503050406030204" pitchFamily="18" charset="0"/>
                      </a:rPr>
                      <m:t>𝑑</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photons</a:t>
                </a:r>
              </a:p>
            </p:txBody>
          </p:sp>
        </mc:Choice>
        <mc:Fallback xmlns="">
          <p:sp>
            <p:nvSpPr>
              <p:cNvPr id="62" name="矩形 61">
                <a:extLst>
                  <a:ext uri="{FF2B5EF4-FFF2-40B4-BE49-F238E27FC236}">
                    <a16:creationId xmlns:a16="http://schemas.microsoft.com/office/drawing/2014/main" id="{451FEE86-F28E-47D2-B680-0118A40613A9}"/>
                  </a:ext>
                </a:extLst>
              </p:cNvPr>
              <p:cNvSpPr>
                <a:spLocks noRot="1" noChangeAspect="1" noMove="1" noResize="1" noEditPoints="1" noAdjustHandles="1" noChangeArrowheads="1" noChangeShapeType="1" noTextEdit="1"/>
              </p:cNvSpPr>
              <p:nvPr/>
            </p:nvSpPr>
            <p:spPr>
              <a:xfrm>
                <a:off x="6892904" y="294920"/>
                <a:ext cx="2023782" cy="923330"/>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90832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HOM dip</a:t>
            </a:r>
          </a:p>
        </p:txBody>
      </p:sp>
      <p:grpSp>
        <p:nvGrpSpPr>
          <p:cNvPr id="3" name="群組 2">
            <a:extLst>
              <a:ext uri="{FF2B5EF4-FFF2-40B4-BE49-F238E27FC236}">
                <a16:creationId xmlns:a16="http://schemas.microsoft.com/office/drawing/2014/main" id="{9C505EC4-E6AF-4B0C-BB7A-7414E4838F54}"/>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D8FCF095-DB93-4EDC-9F52-F6E560399180}"/>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5" name="矩形 4">
              <a:extLst>
                <a:ext uri="{FF2B5EF4-FFF2-40B4-BE49-F238E27FC236}">
                  <a16:creationId xmlns:a16="http://schemas.microsoft.com/office/drawing/2014/main" id="{8430BBE7-968C-4F7A-9991-1B2723A88684}"/>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454FA1A3-D860-4440-A214-C46BB875D471}"/>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73FF160D-7AD5-4CD7-BD73-0188C9C994A1}"/>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7BE2D842-1F23-4DFF-87CF-0D893CA83172}"/>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03C2559C-D71B-470D-8BCD-F23D5292D871}"/>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30" name="群組 29">
            <a:extLst>
              <a:ext uri="{FF2B5EF4-FFF2-40B4-BE49-F238E27FC236}">
                <a16:creationId xmlns:a16="http://schemas.microsoft.com/office/drawing/2014/main" id="{F93B108F-780D-4823-90F5-CB01EBF429DC}"/>
              </a:ext>
            </a:extLst>
          </p:cNvPr>
          <p:cNvGrpSpPr/>
          <p:nvPr/>
        </p:nvGrpSpPr>
        <p:grpSpPr>
          <a:xfrm>
            <a:off x="855745" y="853923"/>
            <a:ext cx="3357191" cy="2058008"/>
            <a:chOff x="505737" y="1067099"/>
            <a:chExt cx="3357191" cy="2058008"/>
          </a:xfrm>
        </p:grpSpPr>
        <p:pic>
          <p:nvPicPr>
            <p:cNvPr id="20" name="圖片 19">
              <a:extLst>
                <a:ext uri="{FF2B5EF4-FFF2-40B4-BE49-F238E27FC236}">
                  <a16:creationId xmlns:a16="http://schemas.microsoft.com/office/drawing/2014/main" id="{837A97D7-072E-4A14-A6CF-FC419B7D1CA4}"/>
                </a:ext>
              </a:extLst>
            </p:cNvPr>
            <p:cNvPicPr>
              <a:picLocks noChangeAspect="1"/>
            </p:cNvPicPr>
            <p:nvPr/>
          </p:nvPicPr>
          <p:blipFill>
            <a:blip r:embed="rId3"/>
            <a:stretch>
              <a:fillRect/>
            </a:stretch>
          </p:blipFill>
          <p:spPr>
            <a:xfrm>
              <a:off x="505737" y="1067099"/>
              <a:ext cx="2794142" cy="2058008"/>
            </a:xfrm>
            <a:prstGeom prst="rect">
              <a:avLst/>
            </a:prstGeom>
          </p:spPr>
        </p:pic>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719CD622-99FA-4E99-A774-3FB9F0911F1A}"/>
                    </a:ext>
                  </a:extLst>
                </p:cNvPr>
                <p:cNvSpPr txBox="1"/>
                <p:nvPr/>
              </p:nvSpPr>
              <p:spPr>
                <a:xfrm>
                  <a:off x="2017743" y="2331629"/>
                  <a:ext cx="1845185" cy="230832"/>
                </a:xfrm>
                <a:prstGeom prst="rect">
                  <a:avLst/>
                </a:prstGeom>
                <a:noFill/>
              </p:spPr>
              <p:txBody>
                <a:bodyPr wrap="none" rtlCol="0">
                  <a:spAutoFit/>
                </a:bodyPr>
                <a:lstStyle/>
                <a:p>
                  <a:r>
                    <a:rPr lang="en-US" altLang="zh-TW" sz="900" dirty="0">
                      <a:latin typeface="Montserrat" panose="02020500000000000000" charset="0"/>
                    </a:rPr>
                    <a:t>If </a:t>
                  </a:r>
                  <a14:m>
                    <m:oMath xmlns:m="http://schemas.openxmlformats.org/officeDocument/2006/math">
                      <m:r>
                        <a:rPr lang="zh-TW" altLang="en-US" sz="900" i="1" dirty="0" smtClean="0">
                          <a:latin typeface="Cambria Math" panose="02040503050406030204" pitchFamily="18" charset="0"/>
                        </a:rPr>
                        <m:t>𝜏</m:t>
                      </m:r>
                      <m:r>
                        <a:rPr lang="en-US" altLang="zh-TW" sz="900" i="1">
                          <a:latin typeface="Cambria Math" panose="02040503050406030204" pitchFamily="18" charset="0"/>
                          <a:ea typeface="Cambria Math" panose="02040503050406030204" pitchFamily="18" charset="0"/>
                        </a:rPr>
                        <m:t>=0</m:t>
                      </m:r>
                    </m:oMath>
                  </a14:m>
                  <a:r>
                    <a:rPr lang="en-US" altLang="zh-TW" sz="900" dirty="0">
                      <a:latin typeface="Montserrat" panose="02020500000000000000" charset="0"/>
                    </a:rPr>
                    <a:t>, </a:t>
                  </a:r>
                  <a14:m>
                    <m:oMath xmlns:m="http://schemas.openxmlformats.org/officeDocument/2006/math">
                      <m:r>
                        <a:rPr lang="en-US" altLang="zh-TW" sz="900" i="1">
                          <a:latin typeface="Cambria Math" panose="02040503050406030204" pitchFamily="18" charset="0"/>
                        </a:rPr>
                        <m:t>𝑅</m:t>
                      </m:r>
                      <m:r>
                        <a:rPr lang="en-US" altLang="zh-TW" sz="900" b="0" i="1" smtClean="0">
                          <a:latin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𝑇</m:t>
                      </m:r>
                      <m:r>
                        <a:rPr lang="en-US" altLang="zh-TW" sz="900" i="1">
                          <a:latin typeface="Cambria Math" panose="02040503050406030204" pitchFamily="18" charset="0"/>
                          <a:ea typeface="Cambria Math" panose="02040503050406030204" pitchFamily="18" charset="0"/>
                        </a:rPr>
                        <m:t>=1</m:t>
                      </m:r>
                    </m:oMath>
                  </a14:m>
                  <a:r>
                    <a:rPr lang="en-US" altLang="zh-TW" sz="900" dirty="0">
                      <a:latin typeface="Montserrat" panose="02020500000000000000" charset="0"/>
                    </a:rPr>
                    <a:t>, then </a:t>
                  </a:r>
                  <a14:m>
                    <m:oMath xmlns:m="http://schemas.openxmlformats.org/officeDocument/2006/math">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𝑃</m:t>
                          </m:r>
                        </m:e>
                        <m:sub>
                          <m:r>
                            <a:rPr lang="en-US" altLang="zh-TW" sz="900" i="1">
                              <a:latin typeface="Cambria Math" panose="02040503050406030204" pitchFamily="18" charset="0"/>
                            </a:rPr>
                            <m:t>12</m:t>
                          </m:r>
                        </m:sub>
                      </m:sSub>
                      <m:r>
                        <a:rPr lang="en-US" altLang="zh-TW" sz="900" i="1">
                          <a:latin typeface="Cambria Math" panose="02040503050406030204" pitchFamily="18" charset="0"/>
                          <a:ea typeface="Cambria Math" panose="02040503050406030204" pitchFamily="18" charset="0"/>
                        </a:rPr>
                        <m:t>=0</m:t>
                      </m:r>
                    </m:oMath>
                  </a14:m>
                  <a:endParaRPr lang="zh-TW" altLang="en-US" sz="900" dirty="0">
                    <a:latin typeface="Montserrat" panose="02020500000000000000" charset="0"/>
                  </a:endParaRPr>
                </a:p>
              </p:txBody>
            </p:sp>
          </mc:Choice>
          <mc:Fallback xmlns="">
            <p:sp>
              <p:nvSpPr>
                <p:cNvPr id="72" name="文字方塊 71">
                  <a:extLst>
                    <a:ext uri="{FF2B5EF4-FFF2-40B4-BE49-F238E27FC236}">
                      <a16:creationId xmlns:a16="http://schemas.microsoft.com/office/drawing/2014/main" id="{719CD622-99FA-4E99-A774-3FB9F0911F1A}"/>
                    </a:ext>
                  </a:extLst>
                </p:cNvPr>
                <p:cNvSpPr txBox="1">
                  <a:spLocks noRot="1" noChangeAspect="1" noMove="1" noResize="1" noEditPoints="1" noAdjustHandles="1" noChangeArrowheads="1" noChangeShapeType="1" noTextEdit="1"/>
                </p:cNvSpPr>
                <p:nvPr/>
              </p:nvSpPr>
              <p:spPr>
                <a:xfrm>
                  <a:off x="2017743" y="2331629"/>
                  <a:ext cx="1845185" cy="230832"/>
                </a:xfrm>
                <a:prstGeom prst="rect">
                  <a:avLst/>
                </a:prstGeom>
                <a:blipFill>
                  <a:blip r:embed="rId4"/>
                  <a:stretch>
                    <a:fillRect b="-13514"/>
                  </a:stretch>
                </a:blipFill>
              </p:spPr>
              <p:txBody>
                <a:bodyPr/>
                <a:lstStyle/>
                <a:p>
                  <a:r>
                    <a:rPr lang="zh-TW" altLang="en-US">
                      <a:noFill/>
                    </a:rPr>
                    <a:t> </a:t>
                  </a:r>
                </a:p>
              </p:txBody>
            </p:sp>
          </mc:Fallback>
        </mc:AlternateContent>
      </p:grpSp>
      <p:sp>
        <p:nvSpPr>
          <p:cNvPr id="69" name="文字方塊 68">
            <a:extLst>
              <a:ext uri="{FF2B5EF4-FFF2-40B4-BE49-F238E27FC236}">
                <a16:creationId xmlns:a16="http://schemas.microsoft.com/office/drawing/2014/main" id="{4D9C57CE-760F-485B-B958-A6CE21E5EF94}"/>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30</a:t>
            </a:r>
            <a:endParaRPr lang="zh-TW" altLang="en-US" sz="1100" dirty="0">
              <a:latin typeface="Montserrat" panose="02020500000000000000" charset="0"/>
            </a:endParaRPr>
          </a:p>
        </p:txBody>
      </p:sp>
      <p:grpSp>
        <p:nvGrpSpPr>
          <p:cNvPr id="26" name="群組 25">
            <a:extLst>
              <a:ext uri="{FF2B5EF4-FFF2-40B4-BE49-F238E27FC236}">
                <a16:creationId xmlns:a16="http://schemas.microsoft.com/office/drawing/2014/main" id="{DD9FFEBF-29BB-459E-835B-61FBF245D576}"/>
              </a:ext>
            </a:extLst>
          </p:cNvPr>
          <p:cNvGrpSpPr/>
          <p:nvPr/>
        </p:nvGrpSpPr>
        <p:grpSpPr>
          <a:xfrm>
            <a:off x="644018" y="2958547"/>
            <a:ext cx="4503730" cy="1934757"/>
            <a:chOff x="4326209" y="1001755"/>
            <a:chExt cx="4503730" cy="1934757"/>
          </a:xfrm>
        </p:grpSpPr>
        <p:grpSp>
          <p:nvGrpSpPr>
            <p:cNvPr id="78" name="群組 77">
              <a:extLst>
                <a:ext uri="{FF2B5EF4-FFF2-40B4-BE49-F238E27FC236}">
                  <a16:creationId xmlns:a16="http://schemas.microsoft.com/office/drawing/2014/main" id="{5C1E51E2-F5C6-4E3A-B41E-C70C6EAE9830}"/>
                </a:ext>
              </a:extLst>
            </p:cNvPr>
            <p:cNvGrpSpPr/>
            <p:nvPr/>
          </p:nvGrpSpPr>
          <p:grpSpPr>
            <a:xfrm>
              <a:off x="4326209" y="1001755"/>
              <a:ext cx="3825192" cy="428504"/>
              <a:chOff x="4326209" y="1001755"/>
              <a:chExt cx="3825192" cy="428504"/>
            </a:xfrm>
          </p:grpSpPr>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2F2F92AB-79C3-4D37-A47C-F3E0403E31D8}"/>
                      </a:ext>
                    </a:extLst>
                  </p:cNvPr>
                  <p:cNvSpPr txBox="1"/>
                  <p:nvPr/>
                </p:nvSpPr>
                <p:spPr>
                  <a:xfrm>
                    <a:off x="4326209" y="1220458"/>
                    <a:ext cx="3825192" cy="209801"/>
                  </a:xfrm>
                  <a:prstGeom prst="rect">
                    <a:avLst/>
                  </a:prstGeom>
                  <a:noFill/>
                </p:spPr>
                <p:txBody>
                  <a:bodyPr wrap="square" lIns="0" tIns="0" rIns="0" bIns="0" rtlCol="0">
                    <a:spAutoFit/>
                  </a:bodyPr>
                  <a:lstStyle/>
                  <a:p>
                    <a14:m>
                      <m:oMath xmlns:m="http://schemas.openxmlformats.org/officeDocument/2006/math">
                        <m:sSubSup>
                          <m:sSubSupPr>
                            <m:ctrlPr>
                              <a:rPr lang="en-US" altLang="zh-TW" sz="1000" i="1" smtClean="0">
                                <a:latin typeface="Cambria Math" panose="02040503050406030204" pitchFamily="18" charset="0"/>
                              </a:rPr>
                            </m:ctrlPr>
                          </m:sSubSupPr>
                          <m:e>
                            <m:r>
                              <a:rPr lang="en-US" altLang="zh-TW" sz="1000" b="0" i="1" smtClean="0">
                                <a:latin typeface="Cambria Math" panose="02040503050406030204" pitchFamily="18" charset="0"/>
                              </a:rPr>
                              <m:t>𝐺</m:t>
                            </m:r>
                          </m:e>
                          <m:sub>
                            <m:r>
                              <a:rPr lang="en-US" altLang="zh-TW" sz="1000" b="0" i="1" smtClean="0">
                                <a:latin typeface="Cambria Math" panose="02040503050406030204" pitchFamily="18" charset="0"/>
                              </a:rPr>
                              <m:t>12</m:t>
                            </m:r>
                          </m:sub>
                          <m:sup>
                            <m:r>
                              <a:rPr lang="en-US" altLang="zh-TW" sz="1000" b="0" i="1" smtClean="0">
                                <a:latin typeface="Cambria Math" panose="02040503050406030204" pitchFamily="18" charset="0"/>
                              </a:rPr>
                              <m:t>(2)</m:t>
                            </m:r>
                          </m:sup>
                        </m:sSubSup>
                        <m:d>
                          <m:dPr>
                            <m:ctrlPr>
                              <a:rPr lang="en-US" altLang="zh-TW" sz="1000" i="1" smtClean="0">
                                <a:latin typeface="Cambria Math" panose="02040503050406030204" pitchFamily="18" charset="0"/>
                              </a:rPr>
                            </m:ctrlPr>
                          </m:dPr>
                          <m:e>
                            <m:sSub>
                              <m:sSubPr>
                                <m:ctrlPr>
                                  <a:rPr lang="en-US" altLang="zh-TW" sz="1000" i="1" smtClean="0">
                                    <a:latin typeface="Cambria Math" panose="02040503050406030204" pitchFamily="18" charset="0"/>
                                  </a:rPr>
                                </m:ctrlPr>
                              </m:sSubPr>
                              <m:e>
                                <m:r>
                                  <a:rPr lang="en-US" altLang="zh-TW" sz="1000" b="0" i="1" smtClean="0">
                                    <a:latin typeface="Cambria Math" panose="02040503050406030204" pitchFamily="18" charset="0"/>
                                  </a:rPr>
                                  <m:t>𝑟</m:t>
                                </m:r>
                              </m:e>
                              <m:sub>
                                <m:r>
                                  <a:rPr lang="en-US" altLang="zh-TW" sz="1000" b="0" i="1" smtClean="0">
                                    <a:latin typeface="Cambria Math" panose="02040503050406030204" pitchFamily="18" charset="0"/>
                                  </a:rPr>
                                  <m:t>1</m:t>
                                </m:r>
                              </m:sub>
                            </m:sSub>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𝑡</m:t>
                                </m:r>
                              </m:e>
                              <m:sub>
                                <m:r>
                                  <a:rPr lang="en-US" altLang="zh-TW" sz="1000" b="0" i="1" smtClean="0">
                                    <a:latin typeface="Cambria Math" panose="02040503050406030204" pitchFamily="18" charset="0"/>
                                  </a:rPr>
                                  <m:t>1</m:t>
                                </m:r>
                              </m:sub>
                            </m:sSub>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𝑟</m:t>
                                </m:r>
                              </m:e>
                              <m:sub>
                                <m:r>
                                  <a:rPr lang="en-US" altLang="zh-TW" sz="1000" b="0" i="1" smtClean="0">
                                    <a:latin typeface="Cambria Math" panose="02040503050406030204" pitchFamily="18" charset="0"/>
                                  </a:rPr>
                                  <m:t>2</m:t>
                                </m:r>
                              </m:sub>
                            </m:sSub>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𝑡</m:t>
                                </m:r>
                              </m:e>
                              <m:sub>
                                <m:r>
                                  <a:rPr lang="en-US" altLang="zh-TW" sz="1000" b="0" i="1" smtClean="0">
                                    <a:latin typeface="Cambria Math" panose="02040503050406030204" pitchFamily="18" charset="0"/>
                                  </a:rPr>
                                  <m:t>2</m:t>
                                </m:r>
                              </m:sub>
                            </m:sSub>
                          </m:e>
                        </m:d>
                        <m:r>
                          <a:rPr lang="en-US" altLang="zh-TW" sz="1000" i="1" smtClean="0">
                            <a:latin typeface="Cambria Math" panose="02040503050406030204" pitchFamily="18" charset="0"/>
                            <a:ea typeface="Cambria Math" panose="02040503050406030204" pitchFamily="18" charset="0"/>
                          </a:rPr>
                          <m:t>=</m:t>
                        </m:r>
                        <m:sSup>
                          <m:sSupPr>
                            <m:ctrlPr>
                              <a:rPr lang="en-US" altLang="zh-TW" sz="1000" i="1" smtClean="0">
                                <a:latin typeface="Cambria Math" panose="02040503050406030204" pitchFamily="18" charset="0"/>
                                <a:ea typeface="Cambria Math" panose="02040503050406030204" pitchFamily="18" charset="0"/>
                              </a:rPr>
                            </m:ctrlPr>
                          </m:sSupPr>
                          <m:e>
                            <m:sSub>
                              <m:sSubPr>
                                <m:ctrlPr>
                                  <a:rPr lang="en-US" altLang="zh-TW" sz="1000" i="1" smtClean="0">
                                    <a:latin typeface="Cambria Math" panose="02040503050406030204" pitchFamily="18" charset="0"/>
                                    <a:ea typeface="Cambria Math" panose="02040503050406030204" pitchFamily="18" charset="0"/>
                                  </a:rPr>
                                </m:ctrlPr>
                              </m:sSubPr>
                              <m:e>
                                <m:acc>
                                  <m:accPr>
                                    <m:chr m:val="̂"/>
                                    <m:ctrlPr>
                                      <a:rPr lang="en-US" altLang="zh-TW" sz="1000" i="1" smtClean="0">
                                        <a:latin typeface="Cambria Math" panose="02040503050406030204" pitchFamily="18" charset="0"/>
                                        <a:ea typeface="Cambria Math" panose="02040503050406030204" pitchFamily="18" charset="0"/>
                                      </a:rPr>
                                    </m:ctrlPr>
                                  </m:accPr>
                                  <m:e>
                                    <m:r>
                                      <a:rPr lang="en-US" altLang="zh-TW" sz="1000" b="0" i="1" smtClean="0">
                                        <a:latin typeface="Cambria Math" panose="02040503050406030204" pitchFamily="18" charset="0"/>
                                        <a:ea typeface="Cambria Math" panose="02040503050406030204" pitchFamily="18" charset="0"/>
                                      </a:rPr>
                                      <m:t>𝐸</m:t>
                                    </m:r>
                                  </m:e>
                                </m:acc>
                              </m:e>
                              <m:sub>
                                <m:r>
                                  <a:rPr lang="en-US" altLang="zh-TW" sz="1000" b="0" i="1" smtClean="0">
                                    <a:latin typeface="Cambria Math" panose="02040503050406030204" pitchFamily="18" charset="0"/>
                                    <a:ea typeface="Cambria Math" panose="02040503050406030204" pitchFamily="18" charset="0"/>
                                  </a:rPr>
                                  <m:t>1</m:t>
                                </m:r>
                              </m:sub>
                            </m:sSub>
                          </m:e>
                          <m:sup>
                            <m:d>
                              <m:dPr>
                                <m:ctrlPr>
                                  <a:rPr lang="en-US" altLang="zh-TW" sz="1000" i="1" smtClean="0">
                                    <a:latin typeface="Cambria Math" panose="02040503050406030204" pitchFamily="18" charset="0"/>
                                    <a:ea typeface="Cambria Math" panose="02040503050406030204" pitchFamily="18" charset="0"/>
                                  </a:rPr>
                                </m:ctrlPr>
                              </m:dPr>
                              <m:e>
                                <m:r>
                                  <a:rPr lang="en-US" altLang="zh-TW" sz="1000" i="1" smtClean="0">
                                    <a:latin typeface="Cambria Math" panose="02040503050406030204" pitchFamily="18" charset="0"/>
                                    <a:ea typeface="Cambria Math" panose="02040503050406030204" pitchFamily="18" charset="0"/>
                                  </a:rPr>
                                  <m:t>−</m:t>
                                </m:r>
                              </m:e>
                            </m:d>
                          </m:sup>
                        </m:sSup>
                        <m:d>
                          <m:dPr>
                            <m:ctrlPr>
                              <a:rPr lang="en-US" altLang="zh-TW" sz="1000" i="1" smtClean="0">
                                <a:latin typeface="Cambria Math" panose="02040503050406030204" pitchFamily="18" charset="0"/>
                                <a:ea typeface="Cambria Math" panose="02040503050406030204" pitchFamily="18" charset="0"/>
                              </a:rPr>
                            </m:ctrlPr>
                          </m:dPr>
                          <m:e>
                            <m:sSub>
                              <m:sSubPr>
                                <m:ctrlPr>
                                  <a:rPr lang="en-US" altLang="zh-TW" sz="1000" i="1" smtClean="0">
                                    <a:latin typeface="Cambria Math" panose="02040503050406030204" pitchFamily="18" charset="0"/>
                                  </a:rPr>
                                </m:ctrlPr>
                              </m:sSubPr>
                              <m:e>
                                <m:r>
                                  <a:rPr lang="en-US" altLang="zh-TW" sz="1000" b="0" i="1" smtClean="0">
                                    <a:latin typeface="Cambria Math" panose="02040503050406030204" pitchFamily="18" charset="0"/>
                                  </a:rPr>
                                  <m:t>𝑟</m:t>
                                </m:r>
                              </m:e>
                              <m:sub>
                                <m:r>
                                  <a:rPr lang="en-US" altLang="zh-TW" sz="1000" b="0" i="1" smtClean="0">
                                    <a:latin typeface="Cambria Math" panose="02040503050406030204" pitchFamily="18" charset="0"/>
                                  </a:rPr>
                                  <m:t>1</m:t>
                                </m:r>
                              </m:sub>
                            </m:sSub>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𝑡</m:t>
                                </m:r>
                              </m:e>
                              <m:sub>
                                <m:r>
                                  <a:rPr lang="en-US" altLang="zh-TW" sz="1000" b="0" i="1" smtClean="0">
                                    <a:latin typeface="Cambria Math" panose="02040503050406030204" pitchFamily="18" charset="0"/>
                                  </a:rPr>
                                  <m:t>1</m:t>
                                </m:r>
                              </m:sub>
                            </m:sSub>
                          </m:e>
                        </m:d>
                        <m:sSup>
                          <m:sSupPr>
                            <m:ctrlPr>
                              <a:rPr lang="en-US" altLang="zh-TW" sz="1000" i="1" smtClean="0">
                                <a:latin typeface="Cambria Math" panose="02040503050406030204" pitchFamily="18" charset="0"/>
                                <a:ea typeface="Cambria Math" panose="02040503050406030204" pitchFamily="18" charset="0"/>
                              </a:rPr>
                            </m:ctrlPr>
                          </m:sSupPr>
                          <m:e>
                            <m:sSub>
                              <m:sSubPr>
                                <m:ctrlPr>
                                  <a:rPr lang="en-US" altLang="zh-TW" sz="1000" i="1">
                                    <a:latin typeface="Cambria Math" panose="02040503050406030204" pitchFamily="18" charset="0"/>
                                    <a:ea typeface="Cambria Math" panose="02040503050406030204" pitchFamily="18" charset="0"/>
                                  </a:rPr>
                                </m:ctrlPr>
                              </m:sSubPr>
                              <m:e>
                                <m:acc>
                                  <m:accPr>
                                    <m:chr m:val="̂"/>
                                    <m:ctrlPr>
                                      <a:rPr lang="en-US" altLang="zh-TW" sz="1000" i="1">
                                        <a:latin typeface="Cambria Math" panose="02040503050406030204" pitchFamily="18" charset="0"/>
                                        <a:ea typeface="Cambria Math" panose="02040503050406030204" pitchFamily="18" charset="0"/>
                                      </a:rPr>
                                    </m:ctrlPr>
                                  </m:accPr>
                                  <m:e>
                                    <m:r>
                                      <a:rPr lang="en-US" altLang="zh-TW" sz="1000" i="1">
                                        <a:latin typeface="Cambria Math" panose="02040503050406030204" pitchFamily="18" charset="0"/>
                                        <a:ea typeface="Cambria Math" panose="02040503050406030204" pitchFamily="18" charset="0"/>
                                      </a:rPr>
                                      <m:t>𝐸</m:t>
                                    </m:r>
                                  </m:e>
                                </m:acc>
                              </m:e>
                              <m:sub>
                                <m:r>
                                  <a:rPr lang="en-US" altLang="zh-TW" sz="1000" b="0" i="1" smtClean="0">
                                    <a:latin typeface="Cambria Math" panose="02040503050406030204" pitchFamily="18" charset="0"/>
                                    <a:ea typeface="Cambria Math" panose="02040503050406030204" pitchFamily="18" charset="0"/>
                                  </a:rPr>
                                  <m:t>2</m:t>
                                </m:r>
                              </m:sub>
                            </m:sSub>
                          </m:e>
                          <m:sup>
                            <m:d>
                              <m:dPr>
                                <m:ctrlPr>
                                  <a:rPr lang="en-US" altLang="zh-TW" sz="1000" i="1" smtClean="0">
                                    <a:latin typeface="Cambria Math" panose="02040503050406030204" pitchFamily="18" charset="0"/>
                                    <a:ea typeface="Cambria Math" panose="02040503050406030204" pitchFamily="18" charset="0"/>
                                  </a:rPr>
                                </m:ctrlPr>
                              </m:dPr>
                              <m:e>
                                <m:r>
                                  <a:rPr lang="en-US" altLang="zh-TW" sz="1000" i="1" smtClean="0">
                                    <a:latin typeface="Cambria Math" panose="02040503050406030204" pitchFamily="18" charset="0"/>
                                    <a:ea typeface="Cambria Math" panose="02040503050406030204" pitchFamily="18" charset="0"/>
                                  </a:rPr>
                                  <m:t>−</m:t>
                                </m:r>
                              </m:e>
                            </m:d>
                          </m:sup>
                        </m:sSup>
                        <m:d>
                          <m:dPr>
                            <m:ctrlPr>
                              <a:rPr lang="en-US" altLang="zh-TW" sz="1000" i="1" smtClean="0">
                                <a:latin typeface="Cambria Math" panose="02040503050406030204" pitchFamily="18" charset="0"/>
                                <a:ea typeface="Cambria Math" panose="02040503050406030204" pitchFamily="18" charset="0"/>
                              </a:rPr>
                            </m:ctrlPr>
                          </m:dPr>
                          <m:e>
                            <m:sSub>
                              <m:sSubPr>
                                <m:ctrlPr>
                                  <a:rPr lang="en-US" altLang="zh-TW" sz="1000" i="1" smtClean="0">
                                    <a:latin typeface="Cambria Math" panose="02040503050406030204" pitchFamily="18" charset="0"/>
                                  </a:rPr>
                                </m:ctrlPr>
                              </m:sSubPr>
                              <m:e>
                                <m:r>
                                  <a:rPr lang="en-US" altLang="zh-TW" sz="1000" b="0" i="1" smtClean="0">
                                    <a:latin typeface="Cambria Math" panose="02040503050406030204" pitchFamily="18" charset="0"/>
                                  </a:rPr>
                                  <m:t>𝑟</m:t>
                                </m:r>
                              </m:e>
                              <m:sub>
                                <m:r>
                                  <a:rPr lang="en-US" altLang="zh-TW" sz="1000" b="0" i="1" smtClean="0">
                                    <a:latin typeface="Cambria Math" panose="02040503050406030204" pitchFamily="18" charset="0"/>
                                  </a:rPr>
                                  <m:t>2</m:t>
                                </m:r>
                              </m:sub>
                            </m:sSub>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𝑡</m:t>
                                </m:r>
                              </m:e>
                              <m:sub>
                                <m:r>
                                  <a:rPr lang="en-US" altLang="zh-TW" sz="1000" b="0" i="1" smtClean="0">
                                    <a:latin typeface="Cambria Math" panose="02040503050406030204" pitchFamily="18" charset="0"/>
                                  </a:rPr>
                                  <m:t>2</m:t>
                                </m:r>
                              </m:sub>
                            </m:sSub>
                          </m:e>
                        </m:d>
                        <m:sSup>
                          <m:sSupPr>
                            <m:ctrlPr>
                              <a:rPr lang="en-US" altLang="zh-TW" sz="1000" i="1" smtClean="0">
                                <a:latin typeface="Cambria Math" panose="02040503050406030204" pitchFamily="18" charset="0"/>
                                <a:ea typeface="Cambria Math" panose="02040503050406030204" pitchFamily="18" charset="0"/>
                              </a:rPr>
                            </m:ctrlPr>
                          </m:sSupPr>
                          <m:e>
                            <m:sSub>
                              <m:sSubPr>
                                <m:ctrlPr>
                                  <a:rPr lang="en-US" altLang="zh-TW" sz="1000" i="1">
                                    <a:latin typeface="Cambria Math" panose="02040503050406030204" pitchFamily="18" charset="0"/>
                                    <a:ea typeface="Cambria Math" panose="02040503050406030204" pitchFamily="18" charset="0"/>
                                  </a:rPr>
                                </m:ctrlPr>
                              </m:sSubPr>
                              <m:e>
                                <m:acc>
                                  <m:accPr>
                                    <m:chr m:val="̂"/>
                                    <m:ctrlPr>
                                      <a:rPr lang="en-US" altLang="zh-TW" sz="1000" i="1">
                                        <a:latin typeface="Cambria Math" panose="02040503050406030204" pitchFamily="18" charset="0"/>
                                        <a:ea typeface="Cambria Math" panose="02040503050406030204" pitchFamily="18" charset="0"/>
                                      </a:rPr>
                                    </m:ctrlPr>
                                  </m:accPr>
                                  <m:e>
                                    <m:r>
                                      <a:rPr lang="en-US" altLang="zh-TW" sz="1000" i="1">
                                        <a:latin typeface="Cambria Math" panose="02040503050406030204" pitchFamily="18" charset="0"/>
                                        <a:ea typeface="Cambria Math" panose="02040503050406030204" pitchFamily="18" charset="0"/>
                                      </a:rPr>
                                      <m:t>𝐸</m:t>
                                    </m:r>
                                  </m:e>
                                </m:acc>
                              </m:e>
                              <m:sub>
                                <m:r>
                                  <a:rPr lang="en-US" altLang="zh-TW" sz="1000" b="0" i="1" smtClean="0">
                                    <a:latin typeface="Cambria Math" panose="02040503050406030204" pitchFamily="18" charset="0"/>
                                    <a:ea typeface="Cambria Math" panose="02040503050406030204" pitchFamily="18" charset="0"/>
                                  </a:rPr>
                                  <m:t>2</m:t>
                                </m:r>
                              </m:sub>
                            </m:sSub>
                          </m:e>
                          <m:sup>
                            <m:r>
                              <a:rPr lang="en-US" altLang="zh-TW" sz="1000" b="0" i="1" smtClean="0">
                                <a:latin typeface="Cambria Math" panose="02040503050406030204" pitchFamily="18" charset="0"/>
                                <a:ea typeface="Cambria Math" panose="02040503050406030204" pitchFamily="18" charset="0"/>
                              </a:rPr>
                              <m:t>(</m:t>
                            </m:r>
                            <m:r>
                              <a:rPr lang="en-US" altLang="zh-TW" sz="1000" i="1" smtClean="0">
                                <a:latin typeface="Cambria Math" panose="02040503050406030204" pitchFamily="18" charset="0"/>
                                <a:ea typeface="Cambria Math" panose="02040503050406030204" pitchFamily="18" charset="0"/>
                              </a:rPr>
                              <m:t>+</m:t>
                            </m:r>
                            <m:r>
                              <a:rPr lang="en-US" altLang="zh-TW" sz="1000" b="0" i="1" smtClean="0">
                                <a:latin typeface="Cambria Math" panose="02040503050406030204" pitchFamily="18" charset="0"/>
                                <a:ea typeface="Cambria Math" panose="02040503050406030204" pitchFamily="18" charset="0"/>
                              </a:rPr>
                              <m:t>)</m:t>
                            </m:r>
                          </m:sup>
                        </m:sSup>
                        <m:d>
                          <m:dPr>
                            <m:ctrlPr>
                              <a:rPr lang="en-US" altLang="zh-TW" sz="1000" i="1" smtClean="0">
                                <a:latin typeface="Cambria Math" panose="02040503050406030204" pitchFamily="18" charset="0"/>
                                <a:ea typeface="Cambria Math" panose="02040503050406030204" pitchFamily="18" charset="0"/>
                              </a:rPr>
                            </m:ctrlPr>
                          </m:dPr>
                          <m:e>
                            <m:sSub>
                              <m:sSubPr>
                                <m:ctrlPr>
                                  <a:rPr lang="en-US" altLang="zh-TW" sz="1000" i="1" smtClean="0">
                                    <a:latin typeface="Cambria Math" panose="02040503050406030204" pitchFamily="18" charset="0"/>
                                  </a:rPr>
                                </m:ctrlPr>
                              </m:sSubPr>
                              <m:e>
                                <m:r>
                                  <a:rPr lang="en-US" altLang="zh-TW" sz="1000" b="0" i="1" smtClean="0">
                                    <a:latin typeface="Cambria Math" panose="02040503050406030204" pitchFamily="18" charset="0"/>
                                  </a:rPr>
                                  <m:t>𝑟</m:t>
                                </m:r>
                              </m:e>
                              <m:sub>
                                <m:r>
                                  <a:rPr lang="en-US" altLang="zh-TW" sz="1000" b="0" i="1" smtClean="0">
                                    <a:latin typeface="Cambria Math" panose="02040503050406030204" pitchFamily="18" charset="0"/>
                                  </a:rPr>
                                  <m:t>2</m:t>
                                </m:r>
                              </m:sub>
                            </m:sSub>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𝑡</m:t>
                                </m:r>
                              </m:e>
                              <m:sub>
                                <m:r>
                                  <a:rPr lang="en-US" altLang="zh-TW" sz="1000" b="0" i="1" smtClean="0">
                                    <a:latin typeface="Cambria Math" panose="02040503050406030204" pitchFamily="18" charset="0"/>
                                  </a:rPr>
                                  <m:t>2</m:t>
                                </m:r>
                              </m:sub>
                            </m:sSub>
                          </m:e>
                        </m:d>
                      </m:oMath>
                    </a14:m>
                    <a:r>
                      <a:rPr lang="en-US" altLang="zh-TW" sz="1000" dirty="0">
                        <a:ea typeface="Cambria Math" panose="02040503050406030204" pitchFamily="18" charset="0"/>
                      </a:rPr>
                      <a:t> </a:t>
                    </a:r>
                    <a14:m>
                      <m:oMath xmlns:m="http://schemas.openxmlformats.org/officeDocument/2006/math">
                        <m:sSup>
                          <m:sSupPr>
                            <m:ctrlPr>
                              <a:rPr lang="en-US" altLang="zh-TW" sz="1000" i="1" smtClean="0">
                                <a:latin typeface="Cambria Math" panose="02040503050406030204" pitchFamily="18" charset="0"/>
                                <a:ea typeface="Cambria Math" panose="02040503050406030204" pitchFamily="18" charset="0"/>
                              </a:rPr>
                            </m:ctrlPr>
                          </m:sSupPr>
                          <m:e>
                            <m:sSub>
                              <m:sSubPr>
                                <m:ctrlPr>
                                  <a:rPr lang="en-US" altLang="zh-TW" sz="1000" i="1">
                                    <a:latin typeface="Cambria Math" panose="02040503050406030204" pitchFamily="18" charset="0"/>
                                    <a:ea typeface="Cambria Math" panose="02040503050406030204" pitchFamily="18" charset="0"/>
                                  </a:rPr>
                                </m:ctrlPr>
                              </m:sSubPr>
                              <m:e>
                                <m:acc>
                                  <m:accPr>
                                    <m:chr m:val="̂"/>
                                    <m:ctrlPr>
                                      <a:rPr lang="en-US" altLang="zh-TW" sz="1000" i="1">
                                        <a:latin typeface="Cambria Math" panose="02040503050406030204" pitchFamily="18" charset="0"/>
                                        <a:ea typeface="Cambria Math" panose="02040503050406030204" pitchFamily="18" charset="0"/>
                                      </a:rPr>
                                    </m:ctrlPr>
                                  </m:accPr>
                                  <m:e>
                                    <m:r>
                                      <a:rPr lang="en-US" altLang="zh-TW" sz="1000" i="1">
                                        <a:latin typeface="Cambria Math" panose="02040503050406030204" pitchFamily="18" charset="0"/>
                                        <a:ea typeface="Cambria Math" panose="02040503050406030204" pitchFamily="18" charset="0"/>
                                      </a:rPr>
                                      <m:t>𝐸</m:t>
                                    </m:r>
                                  </m:e>
                                </m:acc>
                              </m:e>
                              <m:sub>
                                <m:r>
                                  <a:rPr lang="en-US" altLang="zh-TW" sz="1000" i="1">
                                    <a:latin typeface="Cambria Math" panose="02040503050406030204" pitchFamily="18" charset="0"/>
                                    <a:ea typeface="Cambria Math" panose="02040503050406030204" pitchFamily="18" charset="0"/>
                                  </a:rPr>
                                  <m:t>1</m:t>
                                </m:r>
                              </m:sub>
                            </m:sSub>
                          </m:e>
                          <m:sup>
                            <m:r>
                              <a:rPr lang="en-US" altLang="zh-TW" sz="1000" b="0" i="1" smtClean="0">
                                <a:latin typeface="Cambria Math" panose="02040503050406030204" pitchFamily="18" charset="0"/>
                                <a:ea typeface="Cambria Math" panose="02040503050406030204" pitchFamily="18" charset="0"/>
                              </a:rPr>
                              <m:t>(</m:t>
                            </m:r>
                            <m:r>
                              <a:rPr lang="en-US" altLang="zh-TW" sz="1000" i="1" smtClean="0">
                                <a:latin typeface="Cambria Math" panose="02040503050406030204" pitchFamily="18" charset="0"/>
                                <a:ea typeface="Cambria Math" panose="02040503050406030204" pitchFamily="18" charset="0"/>
                              </a:rPr>
                              <m:t>+</m:t>
                            </m:r>
                            <m:r>
                              <a:rPr lang="en-US" altLang="zh-TW" sz="1000" b="0" i="1" smtClean="0">
                                <a:latin typeface="Cambria Math" panose="02040503050406030204" pitchFamily="18" charset="0"/>
                                <a:ea typeface="Cambria Math" panose="02040503050406030204" pitchFamily="18" charset="0"/>
                              </a:rPr>
                              <m:t>)</m:t>
                            </m:r>
                          </m:sup>
                        </m:sSup>
                        <m:d>
                          <m:dPr>
                            <m:ctrlPr>
                              <a:rPr lang="en-US" altLang="zh-TW" sz="1000" i="1" smtClean="0">
                                <a:latin typeface="Cambria Math" panose="02040503050406030204" pitchFamily="18" charset="0"/>
                                <a:ea typeface="Cambria Math" panose="02040503050406030204" pitchFamily="18" charset="0"/>
                              </a:rPr>
                            </m:ctrlPr>
                          </m:dPr>
                          <m:e>
                            <m:sSub>
                              <m:sSubPr>
                                <m:ctrlPr>
                                  <a:rPr lang="en-US" altLang="zh-TW" sz="1000" i="1" smtClean="0">
                                    <a:latin typeface="Cambria Math" panose="02040503050406030204" pitchFamily="18" charset="0"/>
                                  </a:rPr>
                                </m:ctrlPr>
                              </m:sSubPr>
                              <m:e>
                                <m:r>
                                  <a:rPr lang="en-US" altLang="zh-TW" sz="1000" b="0" i="1" smtClean="0">
                                    <a:latin typeface="Cambria Math" panose="02040503050406030204" pitchFamily="18" charset="0"/>
                                  </a:rPr>
                                  <m:t>𝑟</m:t>
                                </m:r>
                              </m:e>
                              <m:sub>
                                <m:r>
                                  <a:rPr lang="en-US" altLang="zh-TW" sz="1000" b="0" i="1" smtClean="0">
                                    <a:latin typeface="Cambria Math" panose="02040503050406030204" pitchFamily="18" charset="0"/>
                                  </a:rPr>
                                  <m:t>1</m:t>
                                </m:r>
                              </m:sub>
                            </m:sSub>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𝑡</m:t>
                                </m:r>
                              </m:e>
                              <m:sub>
                                <m:r>
                                  <a:rPr lang="en-US" altLang="zh-TW" sz="1000" b="0" i="1" smtClean="0">
                                    <a:latin typeface="Cambria Math" panose="02040503050406030204" pitchFamily="18" charset="0"/>
                                  </a:rPr>
                                  <m:t>1</m:t>
                                </m:r>
                              </m:sub>
                            </m:sSub>
                          </m:e>
                        </m:d>
                      </m:oMath>
                    </a14:m>
                    <a:endParaRPr lang="zh-TW" altLang="en-US" dirty="0"/>
                  </a:p>
                </p:txBody>
              </p:sp>
            </mc:Choice>
            <mc:Fallback xmlns="">
              <p:sp>
                <p:nvSpPr>
                  <p:cNvPr id="11" name="文字方塊 10">
                    <a:extLst>
                      <a:ext uri="{FF2B5EF4-FFF2-40B4-BE49-F238E27FC236}">
                        <a16:creationId xmlns:a16="http://schemas.microsoft.com/office/drawing/2014/main" id="{2F2F92AB-79C3-4D37-A47C-F3E0403E31D8}"/>
                      </a:ext>
                    </a:extLst>
                  </p:cNvPr>
                  <p:cNvSpPr txBox="1">
                    <a:spLocks noRot="1" noChangeAspect="1" noMove="1" noResize="1" noEditPoints="1" noAdjustHandles="1" noChangeArrowheads="1" noChangeShapeType="1" noTextEdit="1"/>
                  </p:cNvSpPr>
                  <p:nvPr/>
                </p:nvSpPr>
                <p:spPr>
                  <a:xfrm>
                    <a:off x="4326209" y="1220458"/>
                    <a:ext cx="3825192" cy="209801"/>
                  </a:xfrm>
                  <a:prstGeom prst="rect">
                    <a:avLst/>
                  </a:prstGeom>
                  <a:blipFill>
                    <a:blip r:embed="rId5"/>
                    <a:stretch>
                      <a:fillRect l="-1276" b="-14286"/>
                    </a:stretch>
                  </a:blipFill>
                </p:spPr>
                <p:txBody>
                  <a:bodyPr/>
                  <a:lstStyle/>
                  <a:p>
                    <a:r>
                      <a:rPr lang="zh-TW" altLang="en-US">
                        <a:noFill/>
                      </a:rPr>
                      <a:t> </a:t>
                    </a:r>
                  </a:p>
                </p:txBody>
              </p:sp>
            </mc:Fallback>
          </mc:AlternateContent>
          <p:grpSp>
            <p:nvGrpSpPr>
              <p:cNvPr id="25" name="群組 24">
                <a:extLst>
                  <a:ext uri="{FF2B5EF4-FFF2-40B4-BE49-F238E27FC236}">
                    <a16:creationId xmlns:a16="http://schemas.microsoft.com/office/drawing/2014/main" id="{EC4B67EE-9918-42A0-8E5D-27454624DB88}"/>
                  </a:ext>
                </a:extLst>
              </p:cNvPr>
              <p:cNvGrpSpPr/>
              <p:nvPr/>
            </p:nvGrpSpPr>
            <p:grpSpPr>
              <a:xfrm>
                <a:off x="5535083" y="1014615"/>
                <a:ext cx="305745" cy="254167"/>
                <a:chOff x="2514968" y="763588"/>
                <a:chExt cx="404292" cy="351682"/>
              </a:xfrm>
            </p:grpSpPr>
            <p:sp>
              <p:nvSpPr>
                <p:cNvPr id="21" name="Google Shape;211;p36">
                  <a:extLst>
                    <a:ext uri="{FF2B5EF4-FFF2-40B4-BE49-F238E27FC236}">
                      <a16:creationId xmlns:a16="http://schemas.microsoft.com/office/drawing/2014/main" id="{52117B41-8C50-46E0-9E77-00936A4913A6}"/>
                    </a:ext>
                  </a:extLst>
                </p:cNvPr>
                <p:cNvSpPr/>
                <p:nvPr/>
              </p:nvSpPr>
              <p:spPr>
                <a:xfrm>
                  <a:off x="2624874" y="842567"/>
                  <a:ext cx="184483" cy="182701"/>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221;p36">
                  <a:extLst>
                    <a:ext uri="{FF2B5EF4-FFF2-40B4-BE49-F238E27FC236}">
                      <a16:creationId xmlns:a16="http://schemas.microsoft.com/office/drawing/2014/main" id="{3727C46F-1EF5-4052-9276-77388182727A}"/>
                    </a:ext>
                  </a:extLst>
                </p:cNvPr>
                <p:cNvSpPr txBox="1">
                  <a:spLocks/>
                </p:cNvSpPr>
                <p:nvPr/>
              </p:nvSpPr>
              <p:spPr>
                <a:xfrm>
                  <a:off x="2514968" y="763588"/>
                  <a:ext cx="404292" cy="35168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1</a:t>
                  </a:r>
                </a:p>
              </p:txBody>
            </p:sp>
          </p:grpSp>
          <p:grpSp>
            <p:nvGrpSpPr>
              <p:cNvPr id="48" name="群組 47">
                <a:extLst>
                  <a:ext uri="{FF2B5EF4-FFF2-40B4-BE49-F238E27FC236}">
                    <a16:creationId xmlns:a16="http://schemas.microsoft.com/office/drawing/2014/main" id="{3D0431E4-6360-4C5C-877B-CE415D52AB78}"/>
                  </a:ext>
                </a:extLst>
              </p:cNvPr>
              <p:cNvGrpSpPr/>
              <p:nvPr/>
            </p:nvGrpSpPr>
            <p:grpSpPr>
              <a:xfrm>
                <a:off x="6169264" y="1001755"/>
                <a:ext cx="305745" cy="254168"/>
                <a:chOff x="2521030" y="752152"/>
                <a:chExt cx="404292" cy="351683"/>
              </a:xfrm>
            </p:grpSpPr>
            <p:sp>
              <p:nvSpPr>
                <p:cNvPr id="49" name="Google Shape;211;p36">
                  <a:extLst>
                    <a:ext uri="{FF2B5EF4-FFF2-40B4-BE49-F238E27FC236}">
                      <a16:creationId xmlns:a16="http://schemas.microsoft.com/office/drawing/2014/main" id="{C424E0E9-55E9-471B-A3A8-1396FDFE3069}"/>
                    </a:ext>
                  </a:extLst>
                </p:cNvPr>
                <p:cNvSpPr/>
                <p:nvPr/>
              </p:nvSpPr>
              <p:spPr>
                <a:xfrm>
                  <a:off x="2624874" y="842566"/>
                  <a:ext cx="184483" cy="182701"/>
                </a:xfrm>
                <a:prstGeom prst="ellipse">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221;p36">
                  <a:extLst>
                    <a:ext uri="{FF2B5EF4-FFF2-40B4-BE49-F238E27FC236}">
                      <a16:creationId xmlns:a16="http://schemas.microsoft.com/office/drawing/2014/main" id="{F43C874D-5D57-44EC-9668-7794C90B4EDE}"/>
                    </a:ext>
                  </a:extLst>
                </p:cNvPr>
                <p:cNvSpPr txBox="1">
                  <a:spLocks/>
                </p:cNvSpPr>
                <p:nvPr/>
              </p:nvSpPr>
              <p:spPr>
                <a:xfrm>
                  <a:off x="2521030" y="752152"/>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2</a:t>
                  </a:r>
                </a:p>
              </p:txBody>
            </p:sp>
          </p:grpSp>
          <p:grpSp>
            <p:nvGrpSpPr>
              <p:cNvPr id="51" name="群組 50">
                <a:extLst>
                  <a:ext uri="{FF2B5EF4-FFF2-40B4-BE49-F238E27FC236}">
                    <a16:creationId xmlns:a16="http://schemas.microsoft.com/office/drawing/2014/main" id="{498D76DD-3C4D-4124-9032-3C8B392654D4}"/>
                  </a:ext>
                </a:extLst>
              </p:cNvPr>
              <p:cNvGrpSpPr/>
              <p:nvPr/>
            </p:nvGrpSpPr>
            <p:grpSpPr>
              <a:xfrm>
                <a:off x="6812380" y="1021402"/>
                <a:ext cx="305745" cy="254167"/>
                <a:chOff x="2514969" y="765529"/>
                <a:chExt cx="404292" cy="351683"/>
              </a:xfrm>
            </p:grpSpPr>
            <p:sp>
              <p:nvSpPr>
                <p:cNvPr id="52" name="Google Shape;211;p36">
                  <a:extLst>
                    <a:ext uri="{FF2B5EF4-FFF2-40B4-BE49-F238E27FC236}">
                      <a16:creationId xmlns:a16="http://schemas.microsoft.com/office/drawing/2014/main" id="{A47F39A0-5E9F-4F25-9681-79ED357C33CC}"/>
                    </a:ext>
                  </a:extLst>
                </p:cNvPr>
                <p:cNvSpPr/>
                <p:nvPr/>
              </p:nvSpPr>
              <p:spPr>
                <a:xfrm>
                  <a:off x="2624874" y="842567"/>
                  <a:ext cx="184483" cy="182701"/>
                </a:xfrm>
                <a:prstGeom prst="ellipse">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221;p36">
                  <a:extLst>
                    <a:ext uri="{FF2B5EF4-FFF2-40B4-BE49-F238E27FC236}">
                      <a16:creationId xmlns:a16="http://schemas.microsoft.com/office/drawing/2014/main" id="{54278F72-FA0D-4BA4-8547-92B8F6236025}"/>
                    </a:ext>
                  </a:extLst>
                </p:cNvPr>
                <p:cNvSpPr txBox="1">
                  <a:spLocks/>
                </p:cNvSpPr>
                <p:nvPr/>
              </p:nvSpPr>
              <p:spPr>
                <a:xfrm>
                  <a:off x="2514969" y="765529"/>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3</a:t>
                  </a:r>
                </a:p>
              </p:txBody>
            </p:sp>
          </p:grpSp>
          <p:grpSp>
            <p:nvGrpSpPr>
              <p:cNvPr id="54" name="群組 53">
                <a:extLst>
                  <a:ext uri="{FF2B5EF4-FFF2-40B4-BE49-F238E27FC236}">
                    <a16:creationId xmlns:a16="http://schemas.microsoft.com/office/drawing/2014/main" id="{39D3D270-0234-4EB7-9C0E-38C4887BDBAA}"/>
                  </a:ext>
                </a:extLst>
              </p:cNvPr>
              <p:cNvGrpSpPr/>
              <p:nvPr/>
            </p:nvGrpSpPr>
            <p:grpSpPr>
              <a:xfrm>
                <a:off x="7510880" y="1021401"/>
                <a:ext cx="305745" cy="254167"/>
                <a:chOff x="2514969" y="765528"/>
                <a:chExt cx="404292" cy="351683"/>
              </a:xfrm>
            </p:grpSpPr>
            <p:sp>
              <p:nvSpPr>
                <p:cNvPr id="55" name="Google Shape;211;p36">
                  <a:extLst>
                    <a:ext uri="{FF2B5EF4-FFF2-40B4-BE49-F238E27FC236}">
                      <a16:creationId xmlns:a16="http://schemas.microsoft.com/office/drawing/2014/main" id="{F1F1EC4E-A931-4846-AE26-C8CE6A9809B6}"/>
                    </a:ext>
                  </a:extLst>
                </p:cNvPr>
                <p:cNvSpPr/>
                <p:nvPr/>
              </p:nvSpPr>
              <p:spPr>
                <a:xfrm>
                  <a:off x="2624874" y="842567"/>
                  <a:ext cx="184483" cy="182701"/>
                </a:xfrm>
                <a:prstGeom prst="ellipse">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221;p36">
                  <a:extLst>
                    <a:ext uri="{FF2B5EF4-FFF2-40B4-BE49-F238E27FC236}">
                      <a16:creationId xmlns:a16="http://schemas.microsoft.com/office/drawing/2014/main" id="{B8978556-347B-487C-BD87-336F60D34C54}"/>
                    </a:ext>
                  </a:extLst>
                </p:cNvPr>
                <p:cNvSpPr txBox="1">
                  <a:spLocks/>
                </p:cNvSpPr>
                <p:nvPr/>
              </p:nvSpPr>
              <p:spPr>
                <a:xfrm>
                  <a:off x="2514969" y="765528"/>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4</a:t>
                  </a:r>
                </a:p>
              </p:txBody>
            </p:sp>
          </p:grpSp>
        </p:grpSp>
        <p:grpSp>
          <p:nvGrpSpPr>
            <p:cNvPr id="19" name="群組 18">
              <a:extLst>
                <a:ext uri="{FF2B5EF4-FFF2-40B4-BE49-F238E27FC236}">
                  <a16:creationId xmlns:a16="http://schemas.microsoft.com/office/drawing/2014/main" id="{FB20BFA2-B2E9-42CA-BD76-EBF471D44F1D}"/>
                </a:ext>
              </a:extLst>
            </p:cNvPr>
            <p:cNvGrpSpPr/>
            <p:nvPr/>
          </p:nvGrpSpPr>
          <p:grpSpPr>
            <a:xfrm>
              <a:off x="5551844" y="1602518"/>
              <a:ext cx="2865166" cy="286218"/>
              <a:chOff x="5551839" y="1642634"/>
              <a:chExt cx="2865166" cy="286218"/>
            </a:xfrm>
          </p:grpSpPr>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68EB95BA-B58B-4457-ACDB-BCEB0E9322F5}"/>
                      </a:ext>
                    </a:extLst>
                  </p:cNvPr>
                  <p:cNvSpPr/>
                  <p:nvPr/>
                </p:nvSpPr>
                <p:spPr>
                  <a:xfrm>
                    <a:off x="5857586" y="1642634"/>
                    <a:ext cx="2559419" cy="2681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900" i="1" smtClean="0">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a:latin typeface="Cambria Math" panose="02040503050406030204" pitchFamily="18" charset="0"/>
                                      <a:ea typeface="Cambria Math" panose="02040503050406030204" pitchFamily="18" charset="0"/>
                                    </a:rPr>
                                    <m:t>1</m:t>
                                  </m:r>
                                </m:sub>
                              </m:sSub>
                            </m:e>
                            <m:sup>
                              <m:r>
                                <a:rPr lang="en-US" altLang="zh-TW" sz="900" i="1">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r>
                            <a:rPr lang="en-US" altLang="zh-TW" sz="900" b="0" i="1" smtClean="0">
                              <a:latin typeface="Cambria Math" panose="02040503050406030204" pitchFamily="18" charset="0"/>
                            </a:rPr>
                            <m:t>=</m:t>
                          </m:r>
                          <m:rad>
                            <m:radPr>
                              <m:degHide m:val="on"/>
                              <m:ctrlPr>
                                <a:rPr lang="en-US" altLang="zh-TW" sz="900" i="1" smtClean="0">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𝑇</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𝑖</m:t>
                                  </m:r>
                                </m:sub>
                              </m:sSub>
                            </m:e>
                            <m:sup>
                              <m:r>
                                <a:rPr lang="en-US" altLang="zh-TW" sz="900" i="1">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r>
                            <a:rPr lang="en-US" altLang="zh-TW" sz="900" i="1">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𝑖</m:t>
                          </m:r>
                          <m:rad>
                            <m:radPr>
                              <m:degHide m:val="on"/>
                              <m:ctrlPr>
                                <a:rPr lang="en-US" altLang="zh-TW" sz="900" i="1">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𝑅</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𝑠</m:t>
                                  </m:r>
                                </m:sub>
                              </m:sSub>
                            </m:e>
                            <m:sup>
                              <m:r>
                                <a:rPr lang="en-US" altLang="zh-TW" sz="900" i="1">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oMath>
                      </m:oMathPara>
                    </a14:m>
                    <a:endParaRPr lang="zh-TW" altLang="en-US" dirty="0"/>
                  </a:p>
                </p:txBody>
              </p:sp>
            </mc:Choice>
            <mc:Fallback xmlns="">
              <p:sp>
                <p:nvSpPr>
                  <p:cNvPr id="14" name="矩形 13">
                    <a:extLst>
                      <a:ext uri="{FF2B5EF4-FFF2-40B4-BE49-F238E27FC236}">
                        <a16:creationId xmlns:a16="http://schemas.microsoft.com/office/drawing/2014/main" id="{68EB95BA-B58B-4457-ACDB-BCEB0E9322F5}"/>
                      </a:ext>
                    </a:extLst>
                  </p:cNvPr>
                  <p:cNvSpPr>
                    <a:spLocks noRot="1" noChangeAspect="1" noMove="1" noResize="1" noEditPoints="1" noAdjustHandles="1" noChangeArrowheads="1" noChangeShapeType="1" noTextEdit="1"/>
                  </p:cNvSpPr>
                  <p:nvPr/>
                </p:nvSpPr>
                <p:spPr>
                  <a:xfrm>
                    <a:off x="5857586" y="1642634"/>
                    <a:ext cx="2559419" cy="268150"/>
                  </a:xfrm>
                  <a:prstGeom prst="rect">
                    <a:avLst/>
                  </a:prstGeom>
                  <a:blipFill>
                    <a:blip r:embed="rId6"/>
                    <a:stretch>
                      <a:fillRect/>
                    </a:stretch>
                  </a:blipFill>
                </p:spPr>
                <p:txBody>
                  <a:bodyPr/>
                  <a:lstStyle/>
                  <a:p>
                    <a:r>
                      <a:rPr lang="zh-TW" altLang="en-US">
                        <a:noFill/>
                      </a:rPr>
                      <a:t> </a:t>
                    </a:r>
                  </a:p>
                </p:txBody>
              </p:sp>
            </mc:Fallback>
          </mc:AlternateContent>
          <p:grpSp>
            <p:nvGrpSpPr>
              <p:cNvPr id="57" name="群組 56">
                <a:extLst>
                  <a:ext uri="{FF2B5EF4-FFF2-40B4-BE49-F238E27FC236}">
                    <a16:creationId xmlns:a16="http://schemas.microsoft.com/office/drawing/2014/main" id="{78849657-95E1-4635-977F-C930D05AC007}"/>
                  </a:ext>
                </a:extLst>
              </p:cNvPr>
              <p:cNvGrpSpPr/>
              <p:nvPr/>
            </p:nvGrpSpPr>
            <p:grpSpPr>
              <a:xfrm>
                <a:off x="5551839" y="1674685"/>
                <a:ext cx="305745" cy="254167"/>
                <a:chOff x="2514967" y="765529"/>
                <a:chExt cx="404292" cy="351683"/>
              </a:xfrm>
            </p:grpSpPr>
            <p:sp>
              <p:nvSpPr>
                <p:cNvPr id="58" name="Google Shape;211;p36">
                  <a:extLst>
                    <a:ext uri="{FF2B5EF4-FFF2-40B4-BE49-F238E27FC236}">
                      <a16:creationId xmlns:a16="http://schemas.microsoft.com/office/drawing/2014/main" id="{B4D34005-A372-447B-AA29-960D02A1CF4A}"/>
                    </a:ext>
                  </a:extLst>
                </p:cNvPr>
                <p:cNvSpPr/>
                <p:nvPr/>
              </p:nvSpPr>
              <p:spPr>
                <a:xfrm>
                  <a:off x="2624874" y="842567"/>
                  <a:ext cx="184483" cy="182701"/>
                </a:xfrm>
                <a:prstGeom prst="ellipse">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21;p36">
                  <a:extLst>
                    <a:ext uri="{FF2B5EF4-FFF2-40B4-BE49-F238E27FC236}">
                      <a16:creationId xmlns:a16="http://schemas.microsoft.com/office/drawing/2014/main" id="{B6B8BC96-AE70-4CA4-9B65-8AFC34C8E749}"/>
                    </a:ext>
                  </a:extLst>
                </p:cNvPr>
                <p:cNvSpPr txBox="1">
                  <a:spLocks/>
                </p:cNvSpPr>
                <p:nvPr/>
              </p:nvSpPr>
              <p:spPr>
                <a:xfrm>
                  <a:off x="2514969" y="765529"/>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1</a:t>
                  </a:r>
                </a:p>
              </p:txBody>
            </p:sp>
          </p:grpSp>
        </p:grpSp>
        <p:grpSp>
          <p:nvGrpSpPr>
            <p:cNvPr id="24" name="群組 23">
              <a:extLst>
                <a:ext uri="{FF2B5EF4-FFF2-40B4-BE49-F238E27FC236}">
                  <a16:creationId xmlns:a16="http://schemas.microsoft.com/office/drawing/2014/main" id="{86FF2C5F-388B-4E84-B0A3-8F7154750135}"/>
                </a:ext>
              </a:extLst>
            </p:cNvPr>
            <p:cNvGrpSpPr/>
            <p:nvPr/>
          </p:nvGrpSpPr>
          <p:grpSpPr>
            <a:xfrm>
              <a:off x="5551844" y="2298289"/>
              <a:ext cx="2865162" cy="291575"/>
              <a:chOff x="5551843" y="2520843"/>
              <a:chExt cx="2865162" cy="291575"/>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B788792D-876D-4305-835E-DF6F6BD4F37F}"/>
                      </a:ext>
                    </a:extLst>
                  </p:cNvPr>
                  <p:cNvSpPr/>
                  <p:nvPr/>
                </p:nvSpPr>
                <p:spPr>
                  <a:xfrm>
                    <a:off x="5857586" y="2520843"/>
                    <a:ext cx="2559419" cy="2681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900" i="1" smtClean="0">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a:latin typeface="Cambria Math" panose="02040503050406030204" pitchFamily="18" charset="0"/>
                                      <a:ea typeface="Cambria Math" panose="02040503050406030204" pitchFamily="18" charset="0"/>
                                    </a:rPr>
                                    <m:t>1</m:t>
                                  </m:r>
                                </m:sub>
                              </m:sSub>
                            </m:e>
                            <m:sup>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r>
                            <a:rPr lang="en-US" altLang="zh-TW" sz="900" i="1">
                              <a:latin typeface="Cambria Math" panose="02040503050406030204" pitchFamily="18" charset="0"/>
                              <a:ea typeface="Cambria Math" panose="02040503050406030204" pitchFamily="18" charset="0"/>
                            </a:rPr>
                            <m:t>=</m:t>
                          </m:r>
                          <m:rad>
                            <m:radPr>
                              <m:degHide m:val="on"/>
                              <m:ctrlPr>
                                <a:rPr lang="en-US" altLang="zh-TW" sz="900" i="1">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𝑇</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𝑖</m:t>
                                  </m:r>
                                </m:sub>
                              </m:sSub>
                            </m:e>
                            <m:sup>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r>
                            <a:rPr lang="en-US" altLang="zh-TW" sz="900" i="1">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𝑖</m:t>
                          </m:r>
                          <m:rad>
                            <m:radPr>
                              <m:degHide m:val="on"/>
                              <m:ctrlPr>
                                <a:rPr lang="en-US" altLang="zh-TW" sz="900" i="1">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𝑅</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𝑠</m:t>
                                  </m:r>
                                </m:sub>
                              </m:sSub>
                            </m:e>
                            <m:sup>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oMath>
                      </m:oMathPara>
                    </a14:m>
                    <a:endParaRPr lang="zh-TW" altLang="en-US" dirty="0"/>
                  </a:p>
                </p:txBody>
              </p:sp>
            </mc:Choice>
            <mc:Fallback xmlns="">
              <p:sp>
                <p:nvSpPr>
                  <p:cNvPr id="2" name="矩形 1">
                    <a:extLst>
                      <a:ext uri="{FF2B5EF4-FFF2-40B4-BE49-F238E27FC236}">
                        <a16:creationId xmlns:a16="http://schemas.microsoft.com/office/drawing/2014/main" id="{B788792D-876D-4305-835E-DF6F6BD4F37F}"/>
                      </a:ext>
                    </a:extLst>
                  </p:cNvPr>
                  <p:cNvSpPr>
                    <a:spLocks noRot="1" noChangeAspect="1" noMove="1" noResize="1" noEditPoints="1" noAdjustHandles="1" noChangeArrowheads="1" noChangeShapeType="1" noTextEdit="1"/>
                  </p:cNvSpPr>
                  <p:nvPr/>
                </p:nvSpPr>
                <p:spPr>
                  <a:xfrm>
                    <a:off x="5857586" y="2520843"/>
                    <a:ext cx="2559419" cy="268150"/>
                  </a:xfrm>
                  <a:prstGeom prst="rect">
                    <a:avLst/>
                  </a:prstGeom>
                  <a:blipFill>
                    <a:blip r:embed="rId7"/>
                    <a:stretch>
                      <a:fillRect/>
                    </a:stretch>
                  </a:blipFill>
                </p:spPr>
                <p:txBody>
                  <a:bodyPr/>
                  <a:lstStyle/>
                  <a:p>
                    <a:r>
                      <a:rPr lang="zh-TW" altLang="en-US">
                        <a:noFill/>
                      </a:rPr>
                      <a:t> </a:t>
                    </a:r>
                  </a:p>
                </p:txBody>
              </p:sp>
            </mc:Fallback>
          </mc:AlternateContent>
          <p:grpSp>
            <p:nvGrpSpPr>
              <p:cNvPr id="63" name="群組 62">
                <a:extLst>
                  <a:ext uri="{FF2B5EF4-FFF2-40B4-BE49-F238E27FC236}">
                    <a16:creationId xmlns:a16="http://schemas.microsoft.com/office/drawing/2014/main" id="{9832C51B-7FFC-49B1-BA71-7A95A1C9451E}"/>
                  </a:ext>
                </a:extLst>
              </p:cNvPr>
              <p:cNvGrpSpPr/>
              <p:nvPr/>
            </p:nvGrpSpPr>
            <p:grpSpPr>
              <a:xfrm>
                <a:off x="5551843" y="2558251"/>
                <a:ext cx="305745" cy="254167"/>
                <a:chOff x="2514969" y="765529"/>
                <a:chExt cx="404292" cy="351683"/>
              </a:xfrm>
            </p:grpSpPr>
            <p:sp>
              <p:nvSpPr>
                <p:cNvPr id="64" name="Google Shape;211;p36">
                  <a:extLst>
                    <a:ext uri="{FF2B5EF4-FFF2-40B4-BE49-F238E27FC236}">
                      <a16:creationId xmlns:a16="http://schemas.microsoft.com/office/drawing/2014/main" id="{74BEED8C-F2A3-4E95-9711-5ED3B870B875}"/>
                    </a:ext>
                  </a:extLst>
                </p:cNvPr>
                <p:cNvSpPr/>
                <p:nvPr/>
              </p:nvSpPr>
              <p:spPr>
                <a:xfrm>
                  <a:off x="2624874" y="842567"/>
                  <a:ext cx="184483" cy="182701"/>
                </a:xfrm>
                <a:prstGeom prst="ellipse">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21;p36">
                  <a:extLst>
                    <a:ext uri="{FF2B5EF4-FFF2-40B4-BE49-F238E27FC236}">
                      <a16:creationId xmlns:a16="http://schemas.microsoft.com/office/drawing/2014/main" id="{2468B43B-4B4C-4192-B0A8-18199239B8E1}"/>
                    </a:ext>
                  </a:extLst>
                </p:cNvPr>
                <p:cNvSpPr txBox="1">
                  <a:spLocks/>
                </p:cNvSpPr>
                <p:nvPr/>
              </p:nvSpPr>
              <p:spPr>
                <a:xfrm>
                  <a:off x="2514969" y="765529"/>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3</a:t>
                  </a:r>
                </a:p>
              </p:txBody>
            </p:sp>
          </p:grpSp>
        </p:grpSp>
        <p:grpSp>
          <p:nvGrpSpPr>
            <p:cNvPr id="27" name="群組 26">
              <a:extLst>
                <a:ext uri="{FF2B5EF4-FFF2-40B4-BE49-F238E27FC236}">
                  <a16:creationId xmlns:a16="http://schemas.microsoft.com/office/drawing/2014/main" id="{99D34ECD-D085-42A0-AAB1-EA7D4A91A176}"/>
                </a:ext>
              </a:extLst>
            </p:cNvPr>
            <p:cNvGrpSpPr/>
            <p:nvPr/>
          </p:nvGrpSpPr>
          <p:grpSpPr>
            <a:xfrm>
              <a:off x="5551844" y="1950214"/>
              <a:ext cx="2878627" cy="273667"/>
              <a:chOff x="5551844" y="1950214"/>
              <a:chExt cx="2878627" cy="273667"/>
            </a:xfrm>
          </p:grpSpPr>
          <p:grpSp>
            <p:nvGrpSpPr>
              <p:cNvPr id="60" name="群組 59">
                <a:extLst>
                  <a:ext uri="{FF2B5EF4-FFF2-40B4-BE49-F238E27FC236}">
                    <a16:creationId xmlns:a16="http://schemas.microsoft.com/office/drawing/2014/main" id="{503DBFF2-84B7-473B-87E6-55793DDB6B17}"/>
                  </a:ext>
                </a:extLst>
              </p:cNvPr>
              <p:cNvGrpSpPr/>
              <p:nvPr/>
            </p:nvGrpSpPr>
            <p:grpSpPr>
              <a:xfrm>
                <a:off x="5551844" y="1969714"/>
                <a:ext cx="305745" cy="254167"/>
                <a:chOff x="2514969" y="765529"/>
                <a:chExt cx="404292" cy="351683"/>
              </a:xfrm>
            </p:grpSpPr>
            <p:sp>
              <p:nvSpPr>
                <p:cNvPr id="61" name="Google Shape;211;p36">
                  <a:extLst>
                    <a:ext uri="{FF2B5EF4-FFF2-40B4-BE49-F238E27FC236}">
                      <a16:creationId xmlns:a16="http://schemas.microsoft.com/office/drawing/2014/main" id="{E3FC56CD-F65A-45A9-99C7-6B906DEBF040}"/>
                    </a:ext>
                  </a:extLst>
                </p:cNvPr>
                <p:cNvSpPr/>
                <p:nvPr/>
              </p:nvSpPr>
              <p:spPr>
                <a:xfrm>
                  <a:off x="2624874" y="842567"/>
                  <a:ext cx="184483" cy="182701"/>
                </a:xfrm>
                <a:prstGeom prst="ellipse">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21;p36">
                  <a:extLst>
                    <a:ext uri="{FF2B5EF4-FFF2-40B4-BE49-F238E27FC236}">
                      <a16:creationId xmlns:a16="http://schemas.microsoft.com/office/drawing/2014/main" id="{8F46E4B9-F9C0-4B41-8021-3FEDBAAEAE48}"/>
                    </a:ext>
                  </a:extLst>
                </p:cNvPr>
                <p:cNvSpPr txBox="1">
                  <a:spLocks/>
                </p:cNvSpPr>
                <p:nvPr/>
              </p:nvSpPr>
              <p:spPr>
                <a:xfrm>
                  <a:off x="2514969" y="765529"/>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2</a:t>
                  </a:r>
                </a:p>
              </p:txBody>
            </p:sp>
          </p:gr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1CDE04C8-B0F1-4E0E-8F21-F2711AB96BD8}"/>
                      </a:ext>
                    </a:extLst>
                  </p:cNvPr>
                  <p:cNvSpPr/>
                  <p:nvPr/>
                </p:nvSpPr>
                <p:spPr>
                  <a:xfrm>
                    <a:off x="5857587" y="1950214"/>
                    <a:ext cx="2572884" cy="2681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900" i="1" smtClean="0">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2</m:t>
                                  </m:r>
                                </m:sub>
                              </m:sSub>
                            </m:e>
                            <m:sup>
                              <m:r>
                                <a:rPr lang="en-US" altLang="zh-TW" sz="900" i="1">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r>
                            <a:rPr lang="en-US" altLang="zh-TW" sz="900" i="1">
                              <a:latin typeface="Cambria Math" panose="02040503050406030204" pitchFamily="18" charset="0"/>
                              <a:ea typeface="Cambria Math" panose="02040503050406030204" pitchFamily="18" charset="0"/>
                            </a:rPr>
                            <m:t>=</m:t>
                          </m:r>
                          <m:rad>
                            <m:radPr>
                              <m:degHide m:val="on"/>
                              <m:ctrlPr>
                                <a:rPr lang="en-US" altLang="zh-TW" sz="900" i="1" smtClean="0">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𝑇</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a:latin typeface="Cambria Math" panose="02040503050406030204" pitchFamily="18" charset="0"/>
                                      <a:ea typeface="Cambria Math" panose="02040503050406030204" pitchFamily="18" charset="0"/>
                                    </a:rPr>
                                    <m:t>𝑠</m:t>
                                  </m:r>
                                </m:sub>
                              </m:sSub>
                            </m:e>
                            <m:sup>
                              <m:r>
                                <a:rPr lang="en-US" altLang="zh-TW" sz="900" i="1">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2</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2</m:t>
                                  </m:r>
                                </m:sub>
                              </m:sSub>
                            </m:e>
                          </m:d>
                          <m:r>
                            <a:rPr lang="en-US" altLang="zh-TW" sz="900" i="1">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𝑖</m:t>
                          </m:r>
                          <m:rad>
                            <m:radPr>
                              <m:degHide m:val="on"/>
                              <m:ctrlPr>
                                <a:rPr lang="en-US" altLang="zh-TW" sz="900" i="1">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𝑅</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a:latin typeface="Cambria Math" panose="02040503050406030204" pitchFamily="18" charset="0"/>
                                      <a:ea typeface="Cambria Math" panose="02040503050406030204" pitchFamily="18" charset="0"/>
                                    </a:rPr>
                                    <m:t>𝑖</m:t>
                                  </m:r>
                                </m:sub>
                              </m:sSub>
                            </m:e>
                            <m:sup>
                              <m:r>
                                <a:rPr lang="en-US" altLang="zh-TW" sz="900" i="1">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2</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2</m:t>
                                  </m:r>
                                </m:sub>
                              </m:sSub>
                            </m:e>
                          </m:d>
                        </m:oMath>
                      </m:oMathPara>
                    </a14:m>
                    <a:endParaRPr lang="zh-TW" altLang="en-US" dirty="0"/>
                  </a:p>
                </p:txBody>
              </p:sp>
            </mc:Choice>
            <mc:Fallback xmlns="">
              <p:sp>
                <p:nvSpPr>
                  <p:cNvPr id="15" name="矩形 14">
                    <a:extLst>
                      <a:ext uri="{FF2B5EF4-FFF2-40B4-BE49-F238E27FC236}">
                        <a16:creationId xmlns:a16="http://schemas.microsoft.com/office/drawing/2014/main" id="{1CDE04C8-B0F1-4E0E-8F21-F2711AB96BD8}"/>
                      </a:ext>
                    </a:extLst>
                  </p:cNvPr>
                  <p:cNvSpPr>
                    <a:spLocks noRot="1" noChangeAspect="1" noMove="1" noResize="1" noEditPoints="1" noAdjustHandles="1" noChangeArrowheads="1" noChangeShapeType="1" noTextEdit="1"/>
                  </p:cNvSpPr>
                  <p:nvPr/>
                </p:nvSpPr>
                <p:spPr>
                  <a:xfrm>
                    <a:off x="5857587" y="1950214"/>
                    <a:ext cx="2572884" cy="268150"/>
                  </a:xfrm>
                  <a:prstGeom prst="rect">
                    <a:avLst/>
                  </a:prstGeom>
                  <a:blipFill>
                    <a:blip r:embed="rId8"/>
                    <a:stretch>
                      <a:fillRect/>
                    </a:stretch>
                  </a:blipFill>
                </p:spPr>
                <p:txBody>
                  <a:bodyPr/>
                  <a:lstStyle/>
                  <a:p>
                    <a:r>
                      <a:rPr lang="zh-TW" altLang="en-US">
                        <a:noFill/>
                      </a:rPr>
                      <a:t> </a:t>
                    </a:r>
                  </a:p>
                </p:txBody>
              </p:sp>
            </mc:Fallback>
          </mc:AlternateContent>
        </p:grpSp>
        <p:grpSp>
          <p:nvGrpSpPr>
            <p:cNvPr id="28" name="群組 27">
              <a:extLst>
                <a:ext uri="{FF2B5EF4-FFF2-40B4-BE49-F238E27FC236}">
                  <a16:creationId xmlns:a16="http://schemas.microsoft.com/office/drawing/2014/main" id="{4F012983-DFB9-4574-AE91-9477D9D210F8}"/>
                </a:ext>
              </a:extLst>
            </p:cNvPr>
            <p:cNvGrpSpPr/>
            <p:nvPr/>
          </p:nvGrpSpPr>
          <p:grpSpPr>
            <a:xfrm>
              <a:off x="5558025" y="2667134"/>
              <a:ext cx="2858981" cy="269378"/>
              <a:chOff x="5558025" y="2667134"/>
              <a:chExt cx="2858981" cy="269378"/>
            </a:xfrm>
          </p:grpSpPr>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C20C83AF-B4DB-4AD0-A735-D7E1E6CEEE8F}"/>
                      </a:ext>
                    </a:extLst>
                  </p:cNvPr>
                  <p:cNvSpPr/>
                  <p:nvPr/>
                </p:nvSpPr>
                <p:spPr>
                  <a:xfrm>
                    <a:off x="5844122" y="2667134"/>
                    <a:ext cx="2572884" cy="2681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900" i="1" smtClean="0">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2</m:t>
                                  </m:r>
                                </m:sub>
                              </m:sSub>
                            </m:e>
                            <m:sup>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1</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1</m:t>
                                  </m:r>
                                </m:sub>
                              </m:sSub>
                            </m:e>
                          </m:d>
                          <m:r>
                            <a:rPr lang="en-US" altLang="zh-TW" sz="900" i="1">
                              <a:latin typeface="Cambria Math" panose="02040503050406030204" pitchFamily="18" charset="0"/>
                              <a:ea typeface="Cambria Math" panose="02040503050406030204" pitchFamily="18" charset="0"/>
                            </a:rPr>
                            <m:t>=</m:t>
                          </m:r>
                          <m:rad>
                            <m:radPr>
                              <m:degHide m:val="on"/>
                              <m:ctrlPr>
                                <a:rPr lang="en-US" altLang="zh-TW" sz="900" i="1">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𝑇</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a:latin typeface="Cambria Math" panose="02040503050406030204" pitchFamily="18" charset="0"/>
                                      <a:ea typeface="Cambria Math" panose="02040503050406030204" pitchFamily="18" charset="0"/>
                                    </a:rPr>
                                    <m:t>𝑠</m:t>
                                  </m:r>
                                </m:sub>
                              </m:sSub>
                            </m:e>
                            <m:sup>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2</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2</m:t>
                                  </m:r>
                                </m:sub>
                              </m:sSub>
                            </m:e>
                          </m:d>
                          <m:r>
                            <a:rPr lang="en-US" altLang="zh-TW" sz="900" i="1">
                              <a:latin typeface="Cambria Math" panose="02040503050406030204" pitchFamily="18" charset="0"/>
                              <a:ea typeface="Cambria Math" panose="02040503050406030204" pitchFamily="18" charset="0"/>
                            </a:rPr>
                            <m:t>+</m:t>
                          </m:r>
                          <m:r>
                            <a:rPr lang="en-US" altLang="zh-TW" sz="900" i="1">
                              <a:latin typeface="Cambria Math" panose="02040503050406030204" pitchFamily="18" charset="0"/>
                              <a:ea typeface="Cambria Math" panose="02040503050406030204" pitchFamily="18" charset="0"/>
                            </a:rPr>
                            <m:t>𝑖</m:t>
                          </m:r>
                          <m:rad>
                            <m:radPr>
                              <m:degHide m:val="on"/>
                              <m:ctrlPr>
                                <a:rPr lang="en-US" altLang="zh-TW" sz="900" i="1">
                                  <a:latin typeface="Cambria Math" panose="02040503050406030204" pitchFamily="18" charset="0"/>
                                  <a:ea typeface="Cambria Math" panose="02040503050406030204" pitchFamily="18" charset="0"/>
                                </a:rPr>
                              </m:ctrlPr>
                            </m:radPr>
                            <m:deg/>
                            <m:e>
                              <m:r>
                                <a:rPr lang="en-US" altLang="zh-TW" sz="900" i="1">
                                  <a:latin typeface="Cambria Math" panose="02040503050406030204" pitchFamily="18" charset="0"/>
                                  <a:ea typeface="Cambria Math" panose="02040503050406030204" pitchFamily="18" charset="0"/>
                                </a:rPr>
                                <m:t>𝑅</m:t>
                              </m:r>
                            </m:e>
                          </m:rad>
                          <m:sSup>
                            <m:sSupPr>
                              <m:ctrlPr>
                                <a:rPr lang="en-US" altLang="zh-TW" sz="900" i="1">
                                  <a:latin typeface="Cambria Math" panose="02040503050406030204" pitchFamily="18" charset="0"/>
                                  <a:ea typeface="Cambria Math" panose="02040503050406030204" pitchFamily="18" charset="0"/>
                                </a:rPr>
                              </m:ctrlPr>
                            </m:sSupPr>
                            <m:e>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a:latin typeface="Cambria Math" panose="02040503050406030204" pitchFamily="18" charset="0"/>
                                      <a:ea typeface="Cambria Math" panose="02040503050406030204" pitchFamily="18" charset="0"/>
                                    </a:rPr>
                                    <m:t>𝑖</m:t>
                                  </m:r>
                                </m:sub>
                              </m:sSub>
                            </m:e>
                            <m:sup>
                              <m:r>
                                <a:rPr lang="en-US" altLang="zh-TW" sz="900" i="1">
                                  <a:latin typeface="Cambria Math" panose="02040503050406030204" pitchFamily="18" charset="0"/>
                                  <a:ea typeface="Cambria Math" panose="02040503050406030204" pitchFamily="18" charset="0"/>
                                </a:rPr>
                                <m:t>(+)</m:t>
                              </m:r>
                            </m:sup>
                          </m:sSup>
                          <m:d>
                            <m:dPr>
                              <m:ctrlPr>
                                <a:rPr lang="en-US" altLang="zh-TW" sz="900" i="1">
                                  <a:latin typeface="Cambria Math" panose="02040503050406030204" pitchFamily="18" charset="0"/>
                                  <a:ea typeface="Cambria Math" panose="02040503050406030204" pitchFamily="18" charset="0"/>
                                </a:rPr>
                              </m:ctrlPr>
                            </m:dPr>
                            <m:e>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𝑟</m:t>
                                  </m:r>
                                </m:e>
                                <m:sub>
                                  <m:r>
                                    <a:rPr lang="en-US" altLang="zh-TW" sz="900" i="1">
                                      <a:latin typeface="Cambria Math" panose="02040503050406030204" pitchFamily="18" charset="0"/>
                                    </a:rPr>
                                    <m:t>2</m:t>
                                  </m:r>
                                </m:sub>
                              </m:sSub>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𝑡</m:t>
                                  </m:r>
                                </m:e>
                                <m:sub>
                                  <m:r>
                                    <a:rPr lang="en-US" altLang="zh-TW" sz="900" i="1">
                                      <a:latin typeface="Cambria Math" panose="02040503050406030204" pitchFamily="18" charset="0"/>
                                    </a:rPr>
                                    <m:t>2</m:t>
                                  </m:r>
                                </m:sub>
                              </m:sSub>
                            </m:e>
                          </m:d>
                        </m:oMath>
                      </m:oMathPara>
                    </a14:m>
                    <a:endParaRPr lang="zh-TW" altLang="en-US" dirty="0"/>
                  </a:p>
                </p:txBody>
              </p:sp>
            </mc:Choice>
            <mc:Fallback xmlns="">
              <p:sp>
                <p:nvSpPr>
                  <p:cNvPr id="12" name="矩形 11">
                    <a:extLst>
                      <a:ext uri="{FF2B5EF4-FFF2-40B4-BE49-F238E27FC236}">
                        <a16:creationId xmlns:a16="http://schemas.microsoft.com/office/drawing/2014/main" id="{C20C83AF-B4DB-4AD0-A735-D7E1E6CEEE8F}"/>
                      </a:ext>
                    </a:extLst>
                  </p:cNvPr>
                  <p:cNvSpPr>
                    <a:spLocks noRot="1" noChangeAspect="1" noMove="1" noResize="1" noEditPoints="1" noAdjustHandles="1" noChangeArrowheads="1" noChangeShapeType="1" noTextEdit="1"/>
                  </p:cNvSpPr>
                  <p:nvPr/>
                </p:nvSpPr>
                <p:spPr>
                  <a:xfrm>
                    <a:off x="5844122" y="2667134"/>
                    <a:ext cx="2572884" cy="268150"/>
                  </a:xfrm>
                  <a:prstGeom prst="rect">
                    <a:avLst/>
                  </a:prstGeom>
                  <a:blipFill>
                    <a:blip r:embed="rId9"/>
                    <a:stretch>
                      <a:fillRect/>
                    </a:stretch>
                  </a:blipFill>
                </p:spPr>
                <p:txBody>
                  <a:bodyPr/>
                  <a:lstStyle/>
                  <a:p>
                    <a:r>
                      <a:rPr lang="zh-TW" altLang="en-US">
                        <a:noFill/>
                      </a:rPr>
                      <a:t> </a:t>
                    </a:r>
                  </a:p>
                </p:txBody>
              </p:sp>
            </mc:Fallback>
          </mc:AlternateContent>
          <p:grpSp>
            <p:nvGrpSpPr>
              <p:cNvPr id="66" name="群組 65">
                <a:extLst>
                  <a:ext uri="{FF2B5EF4-FFF2-40B4-BE49-F238E27FC236}">
                    <a16:creationId xmlns:a16="http://schemas.microsoft.com/office/drawing/2014/main" id="{4B8BFC09-7356-49B6-8DA4-017EF5E3DC4F}"/>
                  </a:ext>
                </a:extLst>
              </p:cNvPr>
              <p:cNvGrpSpPr/>
              <p:nvPr/>
            </p:nvGrpSpPr>
            <p:grpSpPr>
              <a:xfrm>
                <a:off x="5558025" y="2682345"/>
                <a:ext cx="305745" cy="254167"/>
                <a:chOff x="2514969" y="765529"/>
                <a:chExt cx="404292" cy="351683"/>
              </a:xfrm>
            </p:grpSpPr>
            <p:sp>
              <p:nvSpPr>
                <p:cNvPr id="67" name="Google Shape;211;p36">
                  <a:extLst>
                    <a:ext uri="{FF2B5EF4-FFF2-40B4-BE49-F238E27FC236}">
                      <a16:creationId xmlns:a16="http://schemas.microsoft.com/office/drawing/2014/main" id="{22990B5F-ABEC-473F-B1F7-34F2DAB20B47}"/>
                    </a:ext>
                  </a:extLst>
                </p:cNvPr>
                <p:cNvSpPr/>
                <p:nvPr/>
              </p:nvSpPr>
              <p:spPr>
                <a:xfrm>
                  <a:off x="2624874" y="842567"/>
                  <a:ext cx="184483" cy="182701"/>
                </a:xfrm>
                <a:prstGeom prst="ellipse">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21;p36">
                  <a:extLst>
                    <a:ext uri="{FF2B5EF4-FFF2-40B4-BE49-F238E27FC236}">
                      <a16:creationId xmlns:a16="http://schemas.microsoft.com/office/drawing/2014/main" id="{B090428E-8B3C-4F70-AD73-B7606A9322EA}"/>
                    </a:ext>
                  </a:extLst>
                </p:cNvPr>
                <p:cNvSpPr txBox="1">
                  <a:spLocks/>
                </p:cNvSpPr>
                <p:nvPr/>
              </p:nvSpPr>
              <p:spPr>
                <a:xfrm>
                  <a:off x="2514969" y="765529"/>
                  <a:ext cx="404292" cy="351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2400" b="1" i="0" u="none" strike="noStrike" cap="none">
                      <a:solidFill>
                        <a:schemeClr val="lt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2000"/>
                    <a:buFont typeface="Poppins"/>
                    <a:buNone/>
                    <a:defRPr sz="12000" b="1" i="0" u="none" strike="noStrike" cap="none">
                      <a:solidFill>
                        <a:schemeClr val="dk1"/>
                      </a:solidFill>
                      <a:latin typeface="Poppins"/>
                      <a:ea typeface="Poppins"/>
                      <a:cs typeface="Poppins"/>
                      <a:sym typeface="Poppins"/>
                    </a:defRPr>
                  </a:lvl9pPr>
                </a:lstStyle>
                <a:p>
                  <a:r>
                    <a:rPr lang="en-US" sz="800" dirty="0">
                      <a:solidFill>
                        <a:schemeClr val="accent4"/>
                      </a:solidFill>
                      <a:latin typeface="Montserrat" panose="02020500000000000000" charset="0"/>
                    </a:rPr>
                    <a:t>4</a:t>
                  </a:r>
                </a:p>
              </p:txBody>
            </p:sp>
          </p:grpSp>
        </p:grpSp>
        <p:sp>
          <p:nvSpPr>
            <p:cNvPr id="77" name="文字方塊 76">
              <a:extLst>
                <a:ext uri="{FF2B5EF4-FFF2-40B4-BE49-F238E27FC236}">
                  <a16:creationId xmlns:a16="http://schemas.microsoft.com/office/drawing/2014/main" id="{A44885E3-AA2D-4D9C-8EB3-EF4614E5AB95}"/>
                </a:ext>
              </a:extLst>
            </p:cNvPr>
            <p:cNvSpPr txBox="1"/>
            <p:nvPr/>
          </p:nvSpPr>
          <p:spPr>
            <a:xfrm>
              <a:off x="8430471" y="1201286"/>
              <a:ext cx="386644" cy="246221"/>
            </a:xfrm>
            <a:prstGeom prst="rect">
              <a:avLst/>
            </a:prstGeom>
            <a:noFill/>
          </p:spPr>
          <p:txBody>
            <a:bodyPr wrap="none" rtlCol="0">
              <a:spAutoFit/>
            </a:bodyPr>
            <a:lstStyle/>
            <a:p>
              <a:r>
                <a:rPr lang="en-US" altLang="zh-TW" sz="1000" dirty="0">
                  <a:latin typeface="Montserrat" panose="02020500000000000000" charset="0"/>
                </a:rPr>
                <a:t>(13)</a:t>
              </a:r>
              <a:endParaRPr lang="zh-TW" altLang="en-US" sz="1000" dirty="0">
                <a:latin typeface="Montserrat" panose="02020500000000000000" charset="0"/>
              </a:endParaRPr>
            </a:p>
          </p:txBody>
        </p:sp>
        <p:sp>
          <p:nvSpPr>
            <p:cNvPr id="79" name="文字方塊 78">
              <a:extLst>
                <a:ext uri="{FF2B5EF4-FFF2-40B4-BE49-F238E27FC236}">
                  <a16:creationId xmlns:a16="http://schemas.microsoft.com/office/drawing/2014/main" id="{90D5AFF0-AB54-4742-A2D8-D055A5BC1F77}"/>
                </a:ext>
              </a:extLst>
            </p:cNvPr>
            <p:cNvSpPr txBox="1"/>
            <p:nvPr/>
          </p:nvSpPr>
          <p:spPr>
            <a:xfrm>
              <a:off x="8430471" y="1639389"/>
              <a:ext cx="399468" cy="246221"/>
            </a:xfrm>
            <a:prstGeom prst="rect">
              <a:avLst/>
            </a:prstGeom>
            <a:noFill/>
          </p:spPr>
          <p:txBody>
            <a:bodyPr wrap="none" rtlCol="0">
              <a:spAutoFit/>
            </a:bodyPr>
            <a:lstStyle/>
            <a:p>
              <a:r>
                <a:rPr lang="en-US" altLang="zh-TW" sz="1000" dirty="0">
                  <a:latin typeface="Montserrat" panose="02020500000000000000" charset="0"/>
                </a:rPr>
                <a:t>(14)</a:t>
              </a:r>
              <a:endParaRPr lang="zh-TW" altLang="en-US" sz="1000" dirty="0">
                <a:latin typeface="Montserrat" panose="02020500000000000000" charset="0"/>
              </a:endParaRPr>
            </a:p>
          </p:txBody>
        </p:sp>
        <p:sp>
          <p:nvSpPr>
            <p:cNvPr id="80" name="文字方塊 79">
              <a:extLst>
                <a:ext uri="{FF2B5EF4-FFF2-40B4-BE49-F238E27FC236}">
                  <a16:creationId xmlns:a16="http://schemas.microsoft.com/office/drawing/2014/main" id="{B21D21CA-DE51-4AFA-B033-FA7FAA8F63E9}"/>
                </a:ext>
              </a:extLst>
            </p:cNvPr>
            <p:cNvSpPr txBox="1"/>
            <p:nvPr/>
          </p:nvSpPr>
          <p:spPr>
            <a:xfrm>
              <a:off x="8424059" y="1997665"/>
              <a:ext cx="386644" cy="246221"/>
            </a:xfrm>
            <a:prstGeom prst="rect">
              <a:avLst/>
            </a:prstGeom>
            <a:noFill/>
          </p:spPr>
          <p:txBody>
            <a:bodyPr wrap="none" rtlCol="0">
              <a:spAutoFit/>
            </a:bodyPr>
            <a:lstStyle/>
            <a:p>
              <a:r>
                <a:rPr lang="en-US" altLang="zh-TW" sz="1000" dirty="0">
                  <a:latin typeface="Montserrat" panose="02020500000000000000" charset="0"/>
                </a:rPr>
                <a:t>(15)</a:t>
              </a:r>
              <a:endParaRPr lang="zh-TW" altLang="en-US" sz="1000" dirty="0">
                <a:latin typeface="Montserrat" panose="02020500000000000000" charset="0"/>
              </a:endParaRPr>
            </a:p>
          </p:txBody>
        </p:sp>
        <p:sp>
          <p:nvSpPr>
            <p:cNvPr id="81" name="文字方塊 80">
              <a:extLst>
                <a:ext uri="{FF2B5EF4-FFF2-40B4-BE49-F238E27FC236}">
                  <a16:creationId xmlns:a16="http://schemas.microsoft.com/office/drawing/2014/main" id="{68E67B5D-A85E-4599-91DF-37BAD4F1B907}"/>
                </a:ext>
              </a:extLst>
            </p:cNvPr>
            <p:cNvSpPr txBox="1"/>
            <p:nvPr/>
          </p:nvSpPr>
          <p:spPr>
            <a:xfrm>
              <a:off x="8424059" y="2330419"/>
              <a:ext cx="393056" cy="246221"/>
            </a:xfrm>
            <a:prstGeom prst="rect">
              <a:avLst/>
            </a:prstGeom>
            <a:noFill/>
          </p:spPr>
          <p:txBody>
            <a:bodyPr wrap="none" rtlCol="0">
              <a:spAutoFit/>
            </a:bodyPr>
            <a:lstStyle/>
            <a:p>
              <a:r>
                <a:rPr lang="en-US" altLang="zh-TW" sz="1000" dirty="0">
                  <a:latin typeface="Montserrat" panose="02020500000000000000" charset="0"/>
                </a:rPr>
                <a:t>(16)</a:t>
              </a:r>
              <a:endParaRPr lang="zh-TW" altLang="en-US" sz="1000" dirty="0">
                <a:latin typeface="Montserrat" panose="02020500000000000000" charset="0"/>
              </a:endParaRPr>
            </a:p>
          </p:txBody>
        </p:sp>
        <p:sp>
          <p:nvSpPr>
            <p:cNvPr id="82" name="文字方塊 81">
              <a:extLst>
                <a:ext uri="{FF2B5EF4-FFF2-40B4-BE49-F238E27FC236}">
                  <a16:creationId xmlns:a16="http://schemas.microsoft.com/office/drawing/2014/main" id="{8F6F74CF-0369-49C3-AB43-E7F3AC70A5DD}"/>
                </a:ext>
              </a:extLst>
            </p:cNvPr>
            <p:cNvSpPr txBox="1"/>
            <p:nvPr/>
          </p:nvSpPr>
          <p:spPr>
            <a:xfrm>
              <a:off x="8432662" y="2688695"/>
              <a:ext cx="389850" cy="246221"/>
            </a:xfrm>
            <a:prstGeom prst="rect">
              <a:avLst/>
            </a:prstGeom>
            <a:noFill/>
          </p:spPr>
          <p:txBody>
            <a:bodyPr wrap="none" rtlCol="0">
              <a:spAutoFit/>
            </a:bodyPr>
            <a:lstStyle/>
            <a:p>
              <a:r>
                <a:rPr lang="en-US" altLang="zh-TW" sz="1000" dirty="0">
                  <a:latin typeface="Montserrat" panose="02020500000000000000" charset="0"/>
                </a:rPr>
                <a:t>(17)</a:t>
              </a:r>
              <a:endParaRPr lang="zh-TW" altLang="en-US" sz="1000" dirty="0">
                <a:latin typeface="Montserrat" panose="02020500000000000000" charset="0"/>
              </a:endParaRPr>
            </a:p>
          </p:txBody>
        </p:sp>
      </p:grpSp>
      <p:grpSp>
        <p:nvGrpSpPr>
          <p:cNvPr id="29" name="群組 28">
            <a:extLst>
              <a:ext uri="{FF2B5EF4-FFF2-40B4-BE49-F238E27FC236}">
                <a16:creationId xmlns:a16="http://schemas.microsoft.com/office/drawing/2014/main" id="{1DB307A9-33E1-4D79-AF64-C9FBC384B10B}"/>
              </a:ext>
            </a:extLst>
          </p:cNvPr>
          <p:cNvGrpSpPr/>
          <p:nvPr/>
        </p:nvGrpSpPr>
        <p:grpSpPr>
          <a:xfrm>
            <a:off x="4402390" y="1097586"/>
            <a:ext cx="4506187" cy="1304742"/>
            <a:chOff x="4326208" y="3451530"/>
            <a:chExt cx="4506187" cy="1304742"/>
          </a:xfrm>
        </p:grpSpPr>
        <p:grpSp>
          <p:nvGrpSpPr>
            <p:cNvPr id="17" name="群組 16">
              <a:extLst>
                <a:ext uri="{FF2B5EF4-FFF2-40B4-BE49-F238E27FC236}">
                  <a16:creationId xmlns:a16="http://schemas.microsoft.com/office/drawing/2014/main" id="{ECEB3286-CCEF-4A5C-80A3-AEC90FBF614C}"/>
                </a:ext>
              </a:extLst>
            </p:cNvPr>
            <p:cNvGrpSpPr/>
            <p:nvPr/>
          </p:nvGrpSpPr>
          <p:grpSpPr>
            <a:xfrm>
              <a:off x="4326208" y="4285246"/>
              <a:ext cx="2167885" cy="471026"/>
              <a:chOff x="4326209" y="4139254"/>
              <a:chExt cx="2167885" cy="471026"/>
            </a:xfrm>
          </p:grpSpPr>
          <p:sp>
            <p:nvSpPr>
              <p:cNvPr id="71" name="箭號: 向下 70">
                <a:extLst>
                  <a:ext uri="{FF2B5EF4-FFF2-40B4-BE49-F238E27FC236}">
                    <a16:creationId xmlns:a16="http://schemas.microsoft.com/office/drawing/2014/main" id="{EC5DF1E8-2E8E-4A3D-B8B0-F656BCCA2DC9}"/>
                  </a:ext>
                </a:extLst>
              </p:cNvPr>
              <p:cNvSpPr/>
              <p:nvPr/>
            </p:nvSpPr>
            <p:spPr>
              <a:xfrm rot="16200000">
                <a:off x="4419026" y="4218076"/>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8909C433-2933-43DC-93A1-3BADBA211627}"/>
                      </a:ext>
                    </a:extLst>
                  </p:cNvPr>
                  <p:cNvSpPr/>
                  <p:nvPr/>
                </p:nvSpPr>
                <p:spPr>
                  <a:xfrm>
                    <a:off x="5258820" y="4139254"/>
                    <a:ext cx="1235274" cy="4710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1000" i="1">
                              <a:latin typeface="Cambria Math" panose="02040503050406030204" pitchFamily="18" charset="0"/>
                            </a:rPr>
                            <m:t>𝑉</m:t>
                          </m:r>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𝑃</m:t>
                                  </m:r>
                                </m:e>
                                <m:sub>
                                  <m:r>
                                    <a:rPr lang="zh-TW" altLang="en-US" sz="1000">
                                      <a:latin typeface="Cambria Math" panose="02040503050406030204" pitchFamily="18" charset="0"/>
                                    </a:rPr>
                                    <m:t>12</m:t>
                                  </m:r>
                                </m:sub>
                                <m:sup>
                                  <m:r>
                                    <a:rPr lang="zh-TW" altLang="en-US" sz="1000" i="1">
                                      <a:latin typeface="Cambria Math" panose="02040503050406030204" pitchFamily="18" charset="0"/>
                                    </a:rPr>
                                    <m:t>𝑚𝑎𝑥</m:t>
                                  </m:r>
                                </m:sup>
                              </m:sSubSup>
                              <m:r>
                                <a:rPr lang="zh-TW" altLang="en-US" sz="1000">
                                  <a:latin typeface="Cambria Math" panose="02040503050406030204" pitchFamily="18" charset="0"/>
                                </a:rPr>
                                <m:t>−</m:t>
                              </m:r>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𝑃</m:t>
                                  </m:r>
                                </m:e>
                                <m:sub>
                                  <m:r>
                                    <a:rPr lang="zh-TW" altLang="en-US" sz="1000">
                                      <a:latin typeface="Cambria Math" panose="02040503050406030204" pitchFamily="18" charset="0"/>
                                    </a:rPr>
                                    <m:t>12</m:t>
                                  </m:r>
                                </m:sub>
                                <m:sup>
                                  <m:r>
                                    <a:rPr lang="zh-TW" altLang="en-US" sz="1000" i="1">
                                      <a:latin typeface="Cambria Math" panose="02040503050406030204" pitchFamily="18" charset="0"/>
                                    </a:rPr>
                                    <m:t>𝑚𝑖𝑛</m:t>
                                  </m:r>
                                </m:sup>
                              </m:sSubSup>
                            </m:num>
                            <m:den>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𝑃</m:t>
                                  </m:r>
                                </m:e>
                                <m:sub>
                                  <m:r>
                                    <a:rPr lang="zh-TW" altLang="en-US" sz="1000">
                                      <a:latin typeface="Cambria Math" panose="02040503050406030204" pitchFamily="18" charset="0"/>
                                    </a:rPr>
                                    <m:t>12</m:t>
                                  </m:r>
                                </m:sub>
                                <m:sup>
                                  <m:r>
                                    <a:rPr lang="zh-TW" altLang="en-US" sz="1000" i="1">
                                      <a:latin typeface="Cambria Math" panose="02040503050406030204" pitchFamily="18" charset="0"/>
                                    </a:rPr>
                                    <m:t>𝑚𝑎𝑥</m:t>
                                  </m:r>
                                </m:sup>
                              </m:sSubSup>
                              <m:r>
                                <a:rPr lang="zh-TW" altLang="en-US" sz="1000">
                                  <a:latin typeface="Cambria Math" panose="02040503050406030204" pitchFamily="18" charset="0"/>
                                </a:rPr>
                                <m:t>+</m:t>
                              </m:r>
                              <m:sSubSup>
                                <m:sSubSupPr>
                                  <m:ctrlPr>
                                    <a:rPr lang="zh-TW" altLang="en-US" sz="1000" i="1">
                                      <a:latin typeface="Cambria Math" panose="02040503050406030204" pitchFamily="18" charset="0"/>
                                    </a:rPr>
                                  </m:ctrlPr>
                                </m:sSubSupPr>
                                <m:e>
                                  <m:r>
                                    <a:rPr lang="zh-TW" altLang="en-US" sz="1000" i="1">
                                      <a:latin typeface="Cambria Math" panose="02040503050406030204" pitchFamily="18" charset="0"/>
                                    </a:rPr>
                                    <m:t>𝑃</m:t>
                                  </m:r>
                                </m:e>
                                <m:sub>
                                  <m:r>
                                    <a:rPr lang="zh-TW" altLang="en-US" sz="1000">
                                      <a:latin typeface="Cambria Math" panose="02040503050406030204" pitchFamily="18" charset="0"/>
                                    </a:rPr>
                                    <m:t>12</m:t>
                                  </m:r>
                                </m:sub>
                                <m:sup>
                                  <m:r>
                                    <a:rPr lang="zh-TW" altLang="en-US" sz="1000" i="1">
                                      <a:latin typeface="Cambria Math" panose="02040503050406030204" pitchFamily="18" charset="0"/>
                                    </a:rPr>
                                    <m:t>𝑚𝑖𝑛</m:t>
                                  </m:r>
                                </m:sup>
                              </m:sSubSup>
                            </m:den>
                          </m:f>
                        </m:oMath>
                      </m:oMathPara>
                    </a14:m>
                    <a:endParaRPr lang="zh-TW" altLang="en-US" dirty="0"/>
                  </a:p>
                </p:txBody>
              </p:sp>
            </mc:Choice>
            <mc:Fallback xmlns="">
              <p:sp>
                <p:nvSpPr>
                  <p:cNvPr id="13" name="矩形 12">
                    <a:extLst>
                      <a:ext uri="{FF2B5EF4-FFF2-40B4-BE49-F238E27FC236}">
                        <a16:creationId xmlns:a16="http://schemas.microsoft.com/office/drawing/2014/main" id="{8909C433-2933-43DC-93A1-3BADBA211627}"/>
                      </a:ext>
                    </a:extLst>
                  </p:cNvPr>
                  <p:cNvSpPr>
                    <a:spLocks noRot="1" noChangeAspect="1" noMove="1" noResize="1" noEditPoints="1" noAdjustHandles="1" noChangeArrowheads="1" noChangeShapeType="1" noTextEdit="1"/>
                  </p:cNvSpPr>
                  <p:nvPr/>
                </p:nvSpPr>
                <p:spPr>
                  <a:xfrm>
                    <a:off x="5258820" y="4139254"/>
                    <a:ext cx="1235274" cy="471026"/>
                  </a:xfrm>
                  <a:prstGeom prst="rect">
                    <a:avLst/>
                  </a:prstGeom>
                  <a:blipFill>
                    <a:blip r:embed="rId11"/>
                    <a:stretch>
                      <a:fillRect/>
                    </a:stretch>
                  </a:blipFill>
                </p:spPr>
                <p:txBody>
                  <a:bodyPr/>
                  <a:lstStyle/>
                  <a:p>
                    <a:r>
                      <a:rPr lang="zh-TW" altLang="en-US">
                        <a:noFill/>
                      </a:rPr>
                      <a:t> </a:t>
                    </a:r>
                  </a:p>
                </p:txBody>
              </p:sp>
            </mc:Fallback>
          </mc:AlternateContent>
          <p:sp>
            <p:nvSpPr>
              <p:cNvPr id="75" name="矩形 74">
                <a:extLst>
                  <a:ext uri="{FF2B5EF4-FFF2-40B4-BE49-F238E27FC236}">
                    <a16:creationId xmlns:a16="http://schemas.microsoft.com/office/drawing/2014/main" id="{F464106D-5109-4630-80E6-CB29EBB900FF}"/>
                  </a:ext>
                </a:extLst>
              </p:cNvPr>
              <p:cNvSpPr/>
              <p:nvPr/>
            </p:nvSpPr>
            <p:spPr>
              <a:xfrm>
                <a:off x="4639592" y="4259351"/>
                <a:ext cx="707245" cy="230832"/>
              </a:xfrm>
              <a:prstGeom prst="rect">
                <a:avLst/>
              </a:prstGeom>
            </p:spPr>
            <p:txBody>
              <a:bodyPr wrap="none">
                <a:spAutoFit/>
              </a:bodyPr>
              <a:lstStyle/>
              <a:p>
                <a:r>
                  <a:rPr lang="en-US" altLang="zh-TW" sz="900" b="1" dirty="0">
                    <a:latin typeface="Montserrat" panose="02020500000000000000" charset="0"/>
                  </a:rPr>
                  <a:t>Visibility</a:t>
                </a:r>
                <a:endParaRPr lang="zh-TW" altLang="en-US" sz="900" b="1" dirty="0">
                  <a:latin typeface="Montserrat" panose="02020500000000000000" charset="0"/>
                </a:endParaRPr>
              </a:p>
            </p:txBody>
          </p:sp>
        </p:grpSp>
        <p:grpSp>
          <p:nvGrpSpPr>
            <p:cNvPr id="23" name="群組 22">
              <a:extLst>
                <a:ext uri="{FF2B5EF4-FFF2-40B4-BE49-F238E27FC236}">
                  <a16:creationId xmlns:a16="http://schemas.microsoft.com/office/drawing/2014/main" id="{0A23EA5F-743B-4A7D-B177-034378AFECEE}"/>
                </a:ext>
              </a:extLst>
            </p:cNvPr>
            <p:cNvGrpSpPr/>
            <p:nvPr/>
          </p:nvGrpSpPr>
          <p:grpSpPr>
            <a:xfrm>
              <a:off x="4326208" y="3451530"/>
              <a:ext cx="3549086" cy="630045"/>
              <a:chOff x="4326208" y="3451530"/>
              <a:chExt cx="3549086" cy="630045"/>
            </a:xfrm>
          </p:grpSpPr>
          <p:sp>
            <p:nvSpPr>
              <p:cNvPr id="76" name="箭號: 向下 75">
                <a:extLst>
                  <a:ext uri="{FF2B5EF4-FFF2-40B4-BE49-F238E27FC236}">
                    <a16:creationId xmlns:a16="http://schemas.microsoft.com/office/drawing/2014/main" id="{084B4243-EF52-4C00-B02A-76275DCEB516}"/>
                  </a:ext>
                </a:extLst>
              </p:cNvPr>
              <p:cNvSpPr/>
              <p:nvPr/>
            </p:nvSpPr>
            <p:spPr>
              <a:xfrm rot="16200000">
                <a:off x="4419025" y="3410254"/>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矩形 15">
                <a:extLst>
                  <a:ext uri="{FF2B5EF4-FFF2-40B4-BE49-F238E27FC236}">
                    <a16:creationId xmlns:a16="http://schemas.microsoft.com/office/drawing/2014/main" id="{FADCB6C7-9608-42F9-B278-1C468E5D5FC6}"/>
                  </a:ext>
                </a:extLst>
              </p:cNvPr>
              <p:cNvSpPr/>
              <p:nvPr/>
            </p:nvSpPr>
            <p:spPr>
              <a:xfrm>
                <a:off x="4639592" y="3451530"/>
                <a:ext cx="1899879" cy="230832"/>
              </a:xfrm>
              <a:prstGeom prst="rect">
                <a:avLst/>
              </a:prstGeom>
            </p:spPr>
            <p:txBody>
              <a:bodyPr wrap="none">
                <a:spAutoFit/>
              </a:bodyPr>
              <a:lstStyle/>
              <a:p>
                <a:r>
                  <a:rPr lang="en-US" altLang="zh-TW" sz="900" b="1" dirty="0">
                    <a:latin typeface="Montserrat" panose="02020500000000000000" charset="0"/>
                  </a:rPr>
                  <a:t>P</a:t>
                </a:r>
                <a:r>
                  <a:rPr lang="zh-TW" altLang="en-US" sz="900" b="1" dirty="0">
                    <a:latin typeface="Montserrat" panose="02020500000000000000" charset="0"/>
                  </a:rPr>
                  <a:t>robability </a:t>
                </a:r>
                <a:r>
                  <a:rPr lang="en-US" altLang="zh-TW" sz="900" b="1" dirty="0">
                    <a:latin typeface="Montserrat" panose="02020500000000000000" charset="0"/>
                  </a:rPr>
                  <a:t>of detect photon</a:t>
                </a:r>
                <a:endParaRPr lang="zh-TW" altLang="en-US" sz="900" b="1" dirty="0">
                  <a:latin typeface="Montserrat" panose="02020500000000000000" charset="0"/>
                </a:endParaRPr>
              </a:p>
            </p:txBody>
          </p:sp>
          <p:grpSp>
            <p:nvGrpSpPr>
              <p:cNvPr id="74" name="群組 73">
                <a:extLst>
                  <a:ext uri="{FF2B5EF4-FFF2-40B4-BE49-F238E27FC236}">
                    <a16:creationId xmlns:a16="http://schemas.microsoft.com/office/drawing/2014/main" id="{665592C9-C581-43AB-AE5D-5E6610495376}"/>
                  </a:ext>
                </a:extLst>
              </p:cNvPr>
              <p:cNvGrpSpPr/>
              <p:nvPr/>
            </p:nvGrpSpPr>
            <p:grpSpPr>
              <a:xfrm>
                <a:off x="4735973" y="3699098"/>
                <a:ext cx="3139321" cy="382477"/>
                <a:chOff x="4320388" y="3506149"/>
                <a:chExt cx="3139321" cy="382477"/>
              </a:xfrm>
            </p:grpSpPr>
            <p:sp>
              <p:nvSpPr>
                <p:cNvPr id="73" name="矩形 72">
                  <a:extLst>
                    <a:ext uri="{FF2B5EF4-FFF2-40B4-BE49-F238E27FC236}">
                      <a16:creationId xmlns:a16="http://schemas.microsoft.com/office/drawing/2014/main" id="{550B163A-284F-41FB-BEE3-143240507FFC}"/>
                    </a:ext>
                  </a:extLst>
                </p:cNvPr>
                <p:cNvSpPr/>
                <p:nvPr/>
              </p:nvSpPr>
              <p:spPr>
                <a:xfrm>
                  <a:off x="5466993" y="3551560"/>
                  <a:ext cx="393446" cy="285757"/>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70" name="文字方塊 69">
                      <a:extLst>
                        <a:ext uri="{FF2B5EF4-FFF2-40B4-BE49-F238E27FC236}">
                          <a16:creationId xmlns:a16="http://schemas.microsoft.com/office/drawing/2014/main" id="{CD856631-52CE-4887-8671-F96720AA33B3}"/>
                        </a:ext>
                      </a:extLst>
                    </p:cNvPr>
                    <p:cNvSpPr txBox="1"/>
                    <p:nvPr/>
                  </p:nvSpPr>
                  <p:spPr>
                    <a:xfrm>
                      <a:off x="4320388" y="3506149"/>
                      <a:ext cx="3139321" cy="382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solidFill>
                                      <a:schemeClr val="tx1"/>
                                    </a:solidFill>
                                    <a:latin typeface="Cambria Math" panose="02040503050406030204" pitchFamily="18" charset="0"/>
                                  </a:rPr>
                                </m:ctrlPr>
                              </m:sSubPr>
                              <m:e>
                                <m:r>
                                  <a:rPr lang="en-US" altLang="zh-TW" sz="1000" b="0" i="1" smtClean="0">
                                    <a:solidFill>
                                      <a:schemeClr val="tx1"/>
                                    </a:solidFill>
                                    <a:latin typeface="Cambria Math" panose="02040503050406030204" pitchFamily="18" charset="0"/>
                                  </a:rPr>
                                  <m:t>𝑃</m:t>
                                </m:r>
                              </m:e>
                              <m:sub>
                                <m:r>
                                  <a:rPr lang="en-US" altLang="zh-TW" sz="1000" b="0" i="1" smtClean="0">
                                    <a:solidFill>
                                      <a:schemeClr val="tx1"/>
                                    </a:solidFill>
                                    <a:latin typeface="Cambria Math" panose="02040503050406030204" pitchFamily="18" charset="0"/>
                                  </a:rPr>
                                  <m:t>12</m:t>
                                </m:r>
                              </m:sub>
                            </m:sSub>
                            <m:r>
                              <a:rPr lang="en-US" altLang="zh-TW" sz="1000" i="1" smtClean="0">
                                <a:latin typeface="Cambria Math" panose="02040503050406030204" pitchFamily="18" charset="0"/>
                                <a:ea typeface="Cambria Math" panose="02040503050406030204" pitchFamily="18" charset="0"/>
                              </a:rPr>
                              <m:t>=</m:t>
                            </m:r>
                            <m:sSub>
                              <m:sSubPr>
                                <m:ctrlPr>
                                  <a:rPr lang="en-US" altLang="zh-TW" sz="1000" i="1" smtClean="0">
                                    <a:solidFill>
                                      <a:schemeClr val="tx1"/>
                                    </a:solidFill>
                                    <a:latin typeface="Cambria Math" panose="02040503050406030204" pitchFamily="18" charset="0"/>
                                    <a:ea typeface="Cambria Math" panose="02040503050406030204" pitchFamily="18" charset="0"/>
                                  </a:rPr>
                                </m:ctrlPr>
                              </m:sSubPr>
                              <m:e>
                                <m:r>
                                  <a:rPr lang="zh-TW" altLang="en-US" sz="1000" i="1" smtClean="0">
                                    <a:solidFill>
                                      <a:schemeClr val="tx1"/>
                                    </a:solidFill>
                                    <a:latin typeface="Cambria Math" panose="02040503050406030204" pitchFamily="18" charset="0"/>
                                    <a:ea typeface="Cambria Math" panose="02040503050406030204" pitchFamily="18" charset="0"/>
                                  </a:rPr>
                                  <m:t>𝛽</m:t>
                                </m:r>
                              </m:e>
                              <m:sub>
                                <m:r>
                                  <a:rPr lang="en-US" altLang="zh-TW" sz="1000" b="0" i="1" smtClean="0">
                                    <a:solidFill>
                                      <a:schemeClr val="tx1"/>
                                    </a:solidFill>
                                    <a:latin typeface="Cambria Math" panose="02040503050406030204" pitchFamily="18" charset="0"/>
                                    <a:ea typeface="Cambria Math" panose="02040503050406030204" pitchFamily="18" charset="0"/>
                                  </a:rPr>
                                  <m:t>1</m:t>
                                </m:r>
                              </m:sub>
                            </m:sSub>
                            <m:sSub>
                              <m:sSubPr>
                                <m:ctrlPr>
                                  <a:rPr lang="en-US" altLang="zh-TW" sz="1000" i="1" smtClean="0">
                                    <a:solidFill>
                                      <a:schemeClr val="tx1"/>
                                    </a:solidFill>
                                    <a:latin typeface="Cambria Math" panose="02040503050406030204" pitchFamily="18" charset="0"/>
                                    <a:ea typeface="Cambria Math" panose="02040503050406030204" pitchFamily="18" charset="0"/>
                                  </a:rPr>
                                </m:ctrlPr>
                              </m:sSubPr>
                              <m:e>
                                <m:r>
                                  <a:rPr lang="zh-TW" altLang="en-US" sz="1000" i="1" smtClean="0">
                                    <a:solidFill>
                                      <a:schemeClr val="tx1"/>
                                    </a:solidFill>
                                    <a:latin typeface="Cambria Math" panose="02040503050406030204" pitchFamily="18" charset="0"/>
                                    <a:ea typeface="Cambria Math" panose="02040503050406030204" pitchFamily="18" charset="0"/>
                                  </a:rPr>
                                  <m:t>𝛽</m:t>
                                </m:r>
                              </m:e>
                              <m:sub>
                                <m:r>
                                  <a:rPr lang="en-US" altLang="zh-TW" sz="1000" b="0" i="1" smtClean="0">
                                    <a:solidFill>
                                      <a:schemeClr val="tx1"/>
                                    </a:solidFill>
                                    <a:latin typeface="Cambria Math" panose="02040503050406030204" pitchFamily="18" charset="0"/>
                                    <a:ea typeface="Cambria Math" panose="02040503050406030204" pitchFamily="18" charset="0"/>
                                  </a:rPr>
                                  <m:t>2</m:t>
                                </m:r>
                              </m:sub>
                            </m:sSub>
                            <m:r>
                              <a:rPr lang="en-US" altLang="zh-TW" sz="1000" b="0" i="1" smtClean="0">
                                <a:latin typeface="Cambria Math" panose="02040503050406030204" pitchFamily="18" charset="0"/>
                                <a:ea typeface="Cambria Math" panose="02040503050406030204" pitchFamily="18" charset="0"/>
                              </a:rPr>
                              <m:t>𝑇</m:t>
                            </m:r>
                            <m:nary>
                              <m:naryPr>
                                <m:ctrlPr>
                                  <a:rPr lang="en-US" altLang="zh-TW" sz="1000" b="0" i="1" smtClean="0">
                                    <a:latin typeface="Cambria Math" panose="02040503050406030204" pitchFamily="18" charset="0"/>
                                    <a:ea typeface="Cambria Math" panose="02040503050406030204" pitchFamily="18" charset="0"/>
                                  </a:rPr>
                                </m:ctrlPr>
                              </m:naryPr>
                              <m:sub>
                                <m:r>
                                  <m:rPr>
                                    <m:brk m:alnAt="23"/>
                                  </m:rPr>
                                  <a:rPr lang="en-US" altLang="zh-TW" sz="1000" b="0" i="1" smtClean="0">
                                    <a:latin typeface="Cambria Math" panose="02040503050406030204" pitchFamily="18" charset="0"/>
                                    <a:ea typeface="Cambria Math" panose="02040503050406030204" pitchFamily="18" charset="0"/>
                                  </a:rPr>
                                  <m:t>−</m:t>
                                </m:r>
                                <m:r>
                                  <m:rPr>
                                    <m:nor/>
                                  </m:rPr>
                                  <a:rPr lang="zh-TW" altLang="en-US" sz="1000">
                                    <a:latin typeface="Cambria Math" panose="02040503050406030204" pitchFamily="18" charset="0"/>
                                    <a:ea typeface="Cambria Math" panose="02040503050406030204" pitchFamily="18" charset="0"/>
                                  </a:rPr>
                                  <m:t>∞</m:t>
                                </m:r>
                                <m:r>
                                  <m:rPr>
                                    <m:nor/>
                                  </m:rPr>
                                  <a:rPr lang="zh-TW" altLang="en-US" sz="1000"/>
                                  <m:t> </m:t>
                                </m:r>
                              </m:sub>
                              <m:sup>
                                <m:r>
                                  <m:rPr>
                                    <m:nor/>
                                  </m:rPr>
                                  <a:rPr lang="zh-TW" altLang="en-US" sz="1000"/>
                                  <m:t>	</m:t>
                                </m:r>
                                <m:r>
                                  <m:rPr>
                                    <m:nor/>
                                  </m:rPr>
                                  <a:rPr lang="zh-TW" altLang="en-US" sz="1000">
                                    <a:latin typeface="Cambria Math" panose="02040503050406030204" pitchFamily="18" charset="0"/>
                                    <a:ea typeface="Cambria Math" panose="02040503050406030204" pitchFamily="18" charset="0"/>
                                  </a:rPr>
                                  <m:t>∞</m:t>
                                </m:r>
                              </m:sup>
                              <m:e>
                                <m:r>
                                  <a:rPr lang="en-US" altLang="zh-TW" sz="1000" b="0" i="1" smtClean="0">
                                    <a:latin typeface="Cambria Math" panose="02040503050406030204" pitchFamily="18" charset="0"/>
                                    <a:ea typeface="Cambria Math" panose="02040503050406030204" pitchFamily="18" charset="0"/>
                                  </a:rPr>
                                  <m:t>𝑑</m:t>
                                </m:r>
                                <m:r>
                                  <a:rPr lang="zh-TW" altLang="en-US" sz="1000" b="0" i="1" smtClean="0">
                                    <a:latin typeface="Cambria Math" panose="02040503050406030204" pitchFamily="18" charset="0"/>
                                    <a:ea typeface="Cambria Math" panose="02040503050406030204" pitchFamily="18" charset="0"/>
                                  </a:rPr>
                                  <m:t>𝜏</m:t>
                                </m:r>
                                <m:sSubSup>
                                  <m:sSubSupPr>
                                    <m:ctrlPr>
                                      <a:rPr lang="en-US" altLang="zh-TW" sz="1000" b="0" i="1" smtClean="0">
                                        <a:latin typeface="Cambria Math" panose="02040503050406030204" pitchFamily="18" charset="0"/>
                                        <a:ea typeface="Cambria Math" panose="02040503050406030204" pitchFamily="18" charset="0"/>
                                      </a:rPr>
                                    </m:ctrlPr>
                                  </m:sSubSupPr>
                                  <m:e>
                                    <m:r>
                                      <a:rPr lang="en-US" altLang="zh-TW" sz="1000" b="0" i="1" smtClean="0">
                                        <a:latin typeface="Cambria Math" panose="02040503050406030204" pitchFamily="18" charset="0"/>
                                        <a:ea typeface="Cambria Math" panose="02040503050406030204" pitchFamily="18" charset="0"/>
                                      </a:rPr>
                                      <m:t>𝐺</m:t>
                                    </m:r>
                                  </m:e>
                                  <m:sub>
                                    <m:r>
                                      <a:rPr lang="en-US" altLang="zh-TW" sz="1000" b="0" i="1" smtClean="0">
                                        <a:latin typeface="Cambria Math" panose="02040503050406030204" pitchFamily="18" charset="0"/>
                                        <a:ea typeface="Cambria Math" panose="02040503050406030204" pitchFamily="18" charset="0"/>
                                      </a:rPr>
                                      <m:t>12</m:t>
                                    </m:r>
                                  </m:sub>
                                  <m:sup>
                                    <m:r>
                                      <a:rPr lang="en-US" altLang="zh-TW" sz="1000" b="0" i="1" smtClean="0">
                                        <a:latin typeface="Cambria Math" panose="02040503050406030204" pitchFamily="18" charset="0"/>
                                        <a:ea typeface="Cambria Math" panose="02040503050406030204" pitchFamily="18" charset="0"/>
                                      </a:rPr>
                                      <m:t>(2)</m:t>
                                    </m:r>
                                  </m:sup>
                                </m:sSubSup>
                                <m:d>
                                  <m:dPr>
                                    <m:ctrlPr>
                                      <a:rPr lang="en-US" altLang="zh-TW" sz="1000" b="0" i="1" smtClean="0">
                                        <a:latin typeface="Cambria Math" panose="02040503050406030204" pitchFamily="18" charset="0"/>
                                        <a:ea typeface="Cambria Math" panose="02040503050406030204" pitchFamily="18" charset="0"/>
                                      </a:rPr>
                                    </m:ctrlPr>
                                  </m:dPr>
                                  <m:e>
                                    <m:r>
                                      <a:rPr lang="zh-TW" altLang="en-US" sz="1000" b="0" i="1" smtClean="0">
                                        <a:latin typeface="Cambria Math" panose="02040503050406030204" pitchFamily="18" charset="0"/>
                                        <a:ea typeface="Cambria Math" panose="02040503050406030204" pitchFamily="18" charset="0"/>
                                      </a:rPr>
                                      <m:t>𝜏</m:t>
                                    </m:r>
                                  </m:e>
                                </m:d>
                              </m:e>
                            </m:nary>
                            <m:r>
                              <a:rPr lang="en-US" altLang="zh-TW" sz="1000" b="0" i="1" smtClean="0">
                                <a:latin typeface="Cambria Math" panose="02040503050406030204" pitchFamily="18" charset="0"/>
                                <a:ea typeface="Cambria Math" panose="02040503050406030204" pitchFamily="18" charset="0"/>
                              </a:rPr>
                              <m:t> ∝ </m:t>
                            </m:r>
                            <m:d>
                              <m:dPr>
                                <m:ctrlPr>
                                  <a:rPr lang="en-US" altLang="zh-TW" sz="1000" b="0" i="1" smtClean="0">
                                    <a:latin typeface="Cambria Math" panose="02040503050406030204" pitchFamily="18" charset="0"/>
                                    <a:ea typeface="Cambria Math" panose="02040503050406030204" pitchFamily="18" charset="0"/>
                                  </a:rPr>
                                </m:ctrlPr>
                              </m:dPr>
                              <m:e>
                                <m:r>
                                  <a:rPr lang="en-US" altLang="zh-TW" sz="1000" b="0" i="1" smtClean="0">
                                    <a:latin typeface="Cambria Math" panose="02040503050406030204" pitchFamily="18" charset="0"/>
                                    <a:ea typeface="Cambria Math" panose="02040503050406030204" pitchFamily="18" charset="0"/>
                                  </a:rPr>
                                  <m:t>1−</m:t>
                                </m:r>
                                <m:f>
                                  <m:fPr>
                                    <m:ctrlPr>
                                      <a:rPr lang="en-US" altLang="zh-TW" sz="1000" b="0" i="1" smtClean="0">
                                        <a:latin typeface="Cambria Math" panose="02040503050406030204" pitchFamily="18" charset="0"/>
                                        <a:ea typeface="Cambria Math" panose="02040503050406030204" pitchFamily="18" charset="0"/>
                                      </a:rPr>
                                    </m:ctrlPr>
                                  </m:fPr>
                                  <m:num>
                                    <m:r>
                                      <a:rPr lang="en-US" altLang="zh-TW" sz="1000" b="0" i="1" smtClean="0">
                                        <a:latin typeface="Cambria Math" panose="02040503050406030204" pitchFamily="18" charset="0"/>
                                        <a:ea typeface="Cambria Math" panose="02040503050406030204" pitchFamily="18" charset="0"/>
                                      </a:rPr>
                                      <m:t>2</m:t>
                                    </m:r>
                                    <m:r>
                                      <a:rPr lang="en-US" altLang="zh-TW" sz="1000" b="0" i="1" smtClean="0">
                                        <a:latin typeface="Cambria Math" panose="02040503050406030204" pitchFamily="18" charset="0"/>
                                        <a:ea typeface="Cambria Math" panose="02040503050406030204" pitchFamily="18" charset="0"/>
                                      </a:rPr>
                                      <m:t>𝑅𝑇</m:t>
                                    </m:r>
                                  </m:num>
                                  <m:den>
                                    <m:sSup>
                                      <m:sSupPr>
                                        <m:ctrlPr>
                                          <a:rPr lang="en-US" altLang="zh-TW" sz="1000" b="0" i="1" smtClean="0">
                                            <a:latin typeface="Cambria Math" panose="02040503050406030204" pitchFamily="18" charset="0"/>
                                            <a:ea typeface="Cambria Math" panose="02040503050406030204" pitchFamily="18" charset="0"/>
                                          </a:rPr>
                                        </m:ctrlPr>
                                      </m:sSupPr>
                                      <m:e>
                                        <m:r>
                                          <a:rPr lang="en-US" altLang="zh-TW" sz="1000" b="0" i="1" smtClean="0">
                                            <a:latin typeface="Cambria Math" panose="02040503050406030204" pitchFamily="18" charset="0"/>
                                            <a:ea typeface="Cambria Math" panose="02040503050406030204" pitchFamily="18" charset="0"/>
                                          </a:rPr>
                                          <m:t>𝑇</m:t>
                                        </m:r>
                                      </m:e>
                                      <m:sup>
                                        <m:r>
                                          <a:rPr lang="en-US" altLang="zh-TW" sz="1000" b="0" i="1" smtClean="0">
                                            <a:latin typeface="Cambria Math" panose="02040503050406030204" pitchFamily="18" charset="0"/>
                                            <a:ea typeface="Cambria Math" panose="02040503050406030204" pitchFamily="18" charset="0"/>
                                          </a:rPr>
                                          <m:t>2</m:t>
                                        </m:r>
                                      </m:sup>
                                    </m:sSup>
                                    <m:r>
                                      <a:rPr lang="en-US" altLang="zh-TW" sz="1000" b="0" i="1" smtClean="0">
                                        <a:latin typeface="Cambria Math" panose="02040503050406030204" pitchFamily="18" charset="0"/>
                                        <a:ea typeface="Cambria Math" panose="02040503050406030204" pitchFamily="18" charset="0"/>
                                      </a:rPr>
                                      <m:t>+</m:t>
                                    </m:r>
                                    <m:sSup>
                                      <m:sSupPr>
                                        <m:ctrlPr>
                                          <a:rPr lang="en-US" altLang="zh-TW" sz="1000" b="0" i="1" smtClean="0">
                                            <a:latin typeface="Cambria Math" panose="02040503050406030204" pitchFamily="18" charset="0"/>
                                            <a:ea typeface="Cambria Math" panose="02040503050406030204" pitchFamily="18" charset="0"/>
                                          </a:rPr>
                                        </m:ctrlPr>
                                      </m:sSupPr>
                                      <m:e>
                                        <m:r>
                                          <a:rPr lang="en-US" altLang="zh-TW" sz="1000" b="0" i="1" smtClean="0">
                                            <a:latin typeface="Cambria Math" panose="02040503050406030204" pitchFamily="18" charset="0"/>
                                            <a:ea typeface="Cambria Math" panose="02040503050406030204" pitchFamily="18" charset="0"/>
                                          </a:rPr>
                                          <m:t>𝑅</m:t>
                                        </m:r>
                                      </m:e>
                                      <m:sup>
                                        <m:r>
                                          <a:rPr lang="en-US" altLang="zh-TW" sz="1000" b="0" i="1" smtClean="0">
                                            <a:latin typeface="Cambria Math" panose="02040503050406030204" pitchFamily="18" charset="0"/>
                                            <a:ea typeface="Cambria Math" panose="02040503050406030204" pitchFamily="18" charset="0"/>
                                          </a:rPr>
                                          <m:t>2</m:t>
                                        </m:r>
                                      </m:sup>
                                    </m:sSup>
                                  </m:den>
                                </m:f>
                                <m:sSup>
                                  <m:sSupPr>
                                    <m:ctrlPr>
                                      <a:rPr lang="en-US" altLang="zh-TW" sz="1000" b="0" i="1" smtClean="0">
                                        <a:latin typeface="Cambria Math" panose="02040503050406030204" pitchFamily="18" charset="0"/>
                                        <a:ea typeface="Cambria Math" panose="02040503050406030204" pitchFamily="18" charset="0"/>
                                      </a:rPr>
                                    </m:ctrlPr>
                                  </m:sSupPr>
                                  <m:e>
                                    <m:r>
                                      <a:rPr lang="en-US" altLang="zh-TW" sz="1000" b="0" i="1" smtClean="0">
                                        <a:latin typeface="Cambria Math" panose="02040503050406030204" pitchFamily="18" charset="0"/>
                                        <a:ea typeface="Cambria Math" panose="02040503050406030204" pitchFamily="18" charset="0"/>
                                      </a:rPr>
                                      <m:t>𝑒</m:t>
                                    </m:r>
                                  </m:e>
                                  <m:sup>
                                    <m:r>
                                      <a:rPr lang="en-US" altLang="zh-TW" sz="1000" b="0" i="1" smtClean="0">
                                        <a:latin typeface="Cambria Math" panose="02040503050406030204" pitchFamily="18" charset="0"/>
                                        <a:ea typeface="Cambria Math" panose="02040503050406030204" pitchFamily="18" charset="0"/>
                                      </a:rPr>
                                      <m:t>−</m:t>
                                    </m:r>
                                    <m:r>
                                      <a:rPr lang="zh-TW" altLang="en-US" sz="1000" i="1">
                                        <a:latin typeface="Cambria Math" panose="02040503050406030204" pitchFamily="18" charset="0"/>
                                        <a:ea typeface="Cambria Math" panose="02040503050406030204" pitchFamily="18" charset="0"/>
                                      </a:rPr>
                                      <m:t> </m:t>
                                    </m:r>
                                    <m:f>
                                      <m:fPr>
                                        <m:ctrlPr>
                                          <a:rPr lang="en-US" altLang="zh-TW" sz="1000" i="1" smtClean="0">
                                            <a:latin typeface="Cambria Math" panose="02040503050406030204" pitchFamily="18" charset="0"/>
                                            <a:ea typeface="Cambria Math" panose="02040503050406030204" pitchFamily="18" charset="0"/>
                                          </a:rPr>
                                        </m:ctrlPr>
                                      </m:fPr>
                                      <m:num>
                                        <m:sSup>
                                          <m:sSupPr>
                                            <m:ctrlPr>
                                              <a:rPr lang="en-US" altLang="zh-TW" sz="1000" i="1" smtClean="0">
                                                <a:latin typeface="Cambria Math" panose="02040503050406030204" pitchFamily="18" charset="0"/>
                                                <a:ea typeface="Cambria Math" panose="02040503050406030204" pitchFamily="18" charset="0"/>
                                              </a:rPr>
                                            </m:ctrlPr>
                                          </m:sSupPr>
                                          <m:e>
                                            <m:d>
                                              <m:dPr>
                                                <m:ctrlPr>
                                                  <a:rPr lang="en-US" altLang="zh-TW" sz="1000" i="1" smtClean="0">
                                                    <a:latin typeface="Cambria Math" panose="02040503050406030204" pitchFamily="18" charset="0"/>
                                                    <a:ea typeface="Cambria Math" panose="02040503050406030204" pitchFamily="18" charset="0"/>
                                                  </a:rPr>
                                                </m:ctrlPr>
                                              </m:dPr>
                                              <m:e>
                                                <m:r>
                                                  <a:rPr lang="en-US" altLang="zh-TW" sz="1000" i="1" smtClean="0">
                                                    <a:latin typeface="Cambria Math" panose="02040503050406030204" pitchFamily="18" charset="0"/>
                                                    <a:ea typeface="Cambria Math" panose="02040503050406030204" pitchFamily="18" charset="0"/>
                                                  </a:rPr>
                                                  <m:t>∆</m:t>
                                                </m:r>
                                                <m:r>
                                                  <a:rPr lang="zh-TW" altLang="en-US" sz="1000" i="1" smtClean="0">
                                                    <a:latin typeface="Cambria Math" panose="02040503050406030204" pitchFamily="18" charset="0"/>
                                                    <a:ea typeface="Cambria Math" panose="02040503050406030204" pitchFamily="18" charset="0"/>
                                                  </a:rPr>
                                                  <m:t>𝜔</m:t>
                                                </m:r>
                                                <m:r>
                                                  <a:rPr lang="zh-TW" altLang="en-US" sz="1000" i="1" smtClean="0">
                                                    <a:latin typeface="Cambria Math" panose="02040503050406030204" pitchFamily="18" charset="0"/>
                                                    <a:ea typeface="Cambria Math" panose="02040503050406030204" pitchFamily="18" charset="0"/>
                                                  </a:rPr>
                                                  <m:t>∆</m:t>
                                                </m:r>
                                                <m:r>
                                                  <a:rPr lang="zh-TW" altLang="en-US" sz="1000" i="1" smtClean="0">
                                                    <a:latin typeface="Cambria Math" panose="02040503050406030204" pitchFamily="18" charset="0"/>
                                                    <a:ea typeface="Cambria Math" panose="02040503050406030204" pitchFamily="18" charset="0"/>
                                                  </a:rPr>
                                                  <m:t>𝜏</m:t>
                                                </m:r>
                                              </m:e>
                                            </m:d>
                                          </m:e>
                                          <m:sup>
                                            <m:r>
                                              <a:rPr lang="en-US" altLang="zh-TW" sz="1000" i="1">
                                                <a:latin typeface="Cambria Math" panose="02040503050406030204" pitchFamily="18" charset="0"/>
                                                <a:ea typeface="Cambria Math" panose="02040503050406030204" pitchFamily="18" charset="0"/>
                                              </a:rPr>
                                              <m:t>2</m:t>
                                            </m:r>
                                          </m:sup>
                                        </m:sSup>
                                      </m:num>
                                      <m:den>
                                        <m:r>
                                          <a:rPr lang="en-US" altLang="zh-TW" sz="1000" i="1">
                                            <a:latin typeface="Cambria Math" panose="02040503050406030204" pitchFamily="18" charset="0"/>
                                            <a:ea typeface="Cambria Math" panose="02040503050406030204" pitchFamily="18" charset="0"/>
                                          </a:rPr>
                                          <m:t>2</m:t>
                                        </m:r>
                                      </m:den>
                                    </m:f>
                                  </m:sup>
                                </m:sSup>
                              </m:e>
                            </m:d>
                          </m:oMath>
                        </m:oMathPara>
                      </a14:m>
                      <a:endParaRPr lang="zh-TW" altLang="en-US" dirty="0"/>
                    </a:p>
                  </p:txBody>
                </p:sp>
              </mc:Choice>
              <mc:Fallback xmlns="">
                <p:sp>
                  <p:nvSpPr>
                    <p:cNvPr id="70" name="文字方塊 69">
                      <a:extLst>
                        <a:ext uri="{FF2B5EF4-FFF2-40B4-BE49-F238E27FC236}">
                          <a16:creationId xmlns:a16="http://schemas.microsoft.com/office/drawing/2014/main" id="{CD856631-52CE-4887-8671-F96720AA33B3}"/>
                        </a:ext>
                      </a:extLst>
                    </p:cNvPr>
                    <p:cNvSpPr txBox="1">
                      <a:spLocks noRot="1" noChangeAspect="1" noMove="1" noResize="1" noEditPoints="1" noAdjustHandles="1" noChangeArrowheads="1" noChangeShapeType="1" noTextEdit="1"/>
                    </p:cNvSpPr>
                    <p:nvPr/>
                  </p:nvSpPr>
                  <p:spPr>
                    <a:xfrm>
                      <a:off x="4320388" y="3506149"/>
                      <a:ext cx="3139321" cy="382477"/>
                    </a:xfrm>
                    <a:prstGeom prst="rect">
                      <a:avLst/>
                    </a:prstGeom>
                    <a:blipFill>
                      <a:blip r:embed="rId12"/>
                      <a:stretch>
                        <a:fillRect l="-388" t="-166129" b="-254839"/>
                      </a:stretch>
                    </a:blipFill>
                  </p:spPr>
                  <p:txBody>
                    <a:bodyPr/>
                    <a:lstStyle/>
                    <a:p>
                      <a:r>
                        <a:rPr lang="zh-TW" altLang="en-US">
                          <a:noFill/>
                        </a:rPr>
                        <a:t> </a:t>
                      </a:r>
                    </a:p>
                  </p:txBody>
                </p:sp>
              </mc:Fallback>
            </mc:AlternateContent>
          </p:grpSp>
        </p:grpSp>
        <p:sp>
          <p:nvSpPr>
            <p:cNvPr id="83" name="文字方塊 82">
              <a:extLst>
                <a:ext uri="{FF2B5EF4-FFF2-40B4-BE49-F238E27FC236}">
                  <a16:creationId xmlns:a16="http://schemas.microsoft.com/office/drawing/2014/main" id="{2D7A147E-D835-49FC-AB1D-320CB3FB920A}"/>
                </a:ext>
              </a:extLst>
            </p:cNvPr>
            <p:cNvSpPr txBox="1"/>
            <p:nvPr/>
          </p:nvSpPr>
          <p:spPr>
            <a:xfrm>
              <a:off x="8436133" y="3764276"/>
              <a:ext cx="396262" cy="246221"/>
            </a:xfrm>
            <a:prstGeom prst="rect">
              <a:avLst/>
            </a:prstGeom>
            <a:noFill/>
          </p:spPr>
          <p:txBody>
            <a:bodyPr wrap="none" rtlCol="0">
              <a:spAutoFit/>
            </a:bodyPr>
            <a:lstStyle/>
            <a:p>
              <a:r>
                <a:rPr lang="en-US" altLang="zh-TW" sz="1000" dirty="0">
                  <a:latin typeface="Montserrat" panose="02020500000000000000" charset="0"/>
                </a:rPr>
                <a:t>(18)</a:t>
              </a:r>
              <a:endParaRPr lang="zh-TW" altLang="en-US" sz="1000" dirty="0">
                <a:latin typeface="Montserrat" panose="02020500000000000000" charset="0"/>
              </a:endParaRPr>
            </a:p>
          </p:txBody>
        </p:sp>
        <p:sp>
          <p:nvSpPr>
            <p:cNvPr id="84" name="文字方塊 83">
              <a:extLst>
                <a:ext uri="{FF2B5EF4-FFF2-40B4-BE49-F238E27FC236}">
                  <a16:creationId xmlns:a16="http://schemas.microsoft.com/office/drawing/2014/main" id="{C1C6EBF9-A8DB-4A8C-9A5D-72F6472E5873}"/>
                </a:ext>
              </a:extLst>
            </p:cNvPr>
            <p:cNvSpPr txBox="1"/>
            <p:nvPr/>
          </p:nvSpPr>
          <p:spPr>
            <a:xfrm>
              <a:off x="8437736" y="4385473"/>
              <a:ext cx="393056" cy="246221"/>
            </a:xfrm>
            <a:prstGeom prst="rect">
              <a:avLst/>
            </a:prstGeom>
            <a:noFill/>
          </p:spPr>
          <p:txBody>
            <a:bodyPr wrap="none" rtlCol="0">
              <a:spAutoFit/>
            </a:bodyPr>
            <a:lstStyle/>
            <a:p>
              <a:r>
                <a:rPr lang="en-US" altLang="zh-TW" sz="1000" dirty="0">
                  <a:latin typeface="Montserrat" panose="02020500000000000000" charset="0"/>
                </a:rPr>
                <a:t>(19)</a:t>
              </a:r>
              <a:endParaRPr lang="zh-TW" altLang="en-US" sz="1000" dirty="0">
                <a:latin typeface="Montserrat" panose="02020500000000000000" charset="0"/>
              </a:endParaRPr>
            </a:p>
          </p:txBody>
        </p:sp>
      </p:grpSp>
      <mc:AlternateContent xmlns:mc="http://schemas.openxmlformats.org/markup-compatibility/2006" xmlns:a14="http://schemas.microsoft.com/office/drawing/2010/main">
        <mc:Choice Requires="a14">
          <p:sp>
            <p:nvSpPr>
              <p:cNvPr id="86" name="矩形 85">
                <a:extLst>
                  <a:ext uri="{FF2B5EF4-FFF2-40B4-BE49-F238E27FC236}">
                    <a16:creationId xmlns:a16="http://schemas.microsoft.com/office/drawing/2014/main" id="{46D24A53-A217-4B32-9AC5-1A92ABCE2825}"/>
                  </a:ext>
                </a:extLst>
              </p:cNvPr>
              <p:cNvSpPr/>
              <p:nvPr/>
            </p:nvSpPr>
            <p:spPr>
              <a:xfrm>
                <a:off x="5830517" y="2608427"/>
                <a:ext cx="3139320" cy="2218428"/>
              </a:xfrm>
              <a:prstGeom prst="rect">
                <a:avLst/>
              </a:prstGeom>
            </p:spPr>
            <p:txBody>
              <a:bodyPr wrap="square">
                <a:spAutoFit/>
              </a:bodyPr>
              <a:lstStyle/>
              <a:p>
                <a:pPr>
                  <a:lnSpc>
                    <a:spcPct val="150000"/>
                  </a:lnSpc>
                </a:pPr>
                <a14:m>
                  <m:oMath xmlns:m="http://schemas.openxmlformats.org/officeDocument/2006/math">
                    <m:sSubSup>
                      <m:sSubSupPr>
                        <m:ctrlPr>
                          <a:rPr lang="en-US" altLang="zh-TW" sz="900" i="1" smtClean="0">
                            <a:latin typeface="Cambria Math" panose="02040503050406030204" pitchFamily="18" charset="0"/>
                          </a:rPr>
                        </m:ctrlPr>
                      </m:sSubSupPr>
                      <m:e>
                        <m:r>
                          <a:rPr lang="en-US" altLang="zh-TW" sz="900" i="1">
                            <a:latin typeface="Cambria Math" panose="02040503050406030204" pitchFamily="18" charset="0"/>
                          </a:rPr>
                          <m:t>𝐺</m:t>
                        </m:r>
                      </m:e>
                      <m:sub>
                        <m:r>
                          <a:rPr lang="en-US" altLang="zh-TW" sz="900" i="1">
                            <a:latin typeface="Cambria Math" panose="02040503050406030204" pitchFamily="18" charset="0"/>
                          </a:rPr>
                          <m:t>12</m:t>
                        </m:r>
                      </m:sub>
                      <m:sup>
                        <m:r>
                          <a:rPr lang="en-US" altLang="zh-TW" sz="900" i="1">
                            <a:latin typeface="Cambria Math" panose="02040503050406030204" pitchFamily="18" charset="0"/>
                          </a:rPr>
                          <m:t>(2)</m:t>
                        </m:r>
                      </m:sup>
                    </m:sSubSup>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the two signal detected by two detector</a:t>
                </a:r>
              </a:p>
              <a:p>
                <a:pPr>
                  <a:lnSpc>
                    <a:spcPct val="150000"/>
                  </a:lnSpc>
                </a:pPr>
                <a14:m>
                  <m:oMath xmlns:m="http://schemas.openxmlformats.org/officeDocument/2006/math">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smtClean="0">
                            <a:latin typeface="Cambria Math" panose="02040503050406030204" pitchFamily="18" charset="0"/>
                            <a:ea typeface="Cambria Math" panose="02040503050406030204" pitchFamily="18" charset="0"/>
                          </a:rPr>
                          <m:t>1</m:t>
                        </m:r>
                      </m:sub>
                    </m:sSub>
                    <m:r>
                      <a:rPr lang="en-US" altLang="zh-TW" sz="900" b="0" i="1" smtClean="0">
                        <a:latin typeface="Cambria Math" panose="02040503050406030204" pitchFamily="18" charset="0"/>
                        <a:ea typeface="Cambria Math" panose="02040503050406030204" pitchFamily="18" charset="0"/>
                      </a:rPr>
                      <m:t>,</m:t>
                    </m:r>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i="1">
                            <a:latin typeface="Cambria Math" panose="02040503050406030204" pitchFamily="18" charset="0"/>
                            <a:ea typeface="Cambria Math" panose="02040503050406030204" pitchFamily="18" charset="0"/>
                          </a:rPr>
                          <m:t>2</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Electric field operator(detector 1 and 2)</a:t>
                </a:r>
              </a:p>
              <a:p>
                <a:pPr>
                  <a:lnSpc>
                    <a:spcPct val="150000"/>
                  </a:lnSpc>
                </a:pPr>
                <a14:m>
                  <m:oMath xmlns:m="http://schemas.openxmlformats.org/officeDocument/2006/math">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𝑠</m:t>
                        </m:r>
                      </m:sub>
                    </m:sSub>
                    <m:r>
                      <a:rPr lang="en-US" altLang="zh-TW" sz="900" i="1">
                        <a:latin typeface="Cambria Math" panose="02040503050406030204" pitchFamily="18" charset="0"/>
                        <a:ea typeface="Cambria Math" panose="02040503050406030204" pitchFamily="18" charset="0"/>
                      </a:rPr>
                      <m:t>,</m:t>
                    </m:r>
                    <m:sSub>
                      <m:sSubPr>
                        <m:ctrlPr>
                          <a:rPr lang="en-US" altLang="zh-TW" sz="900" i="1">
                            <a:latin typeface="Cambria Math" panose="02040503050406030204" pitchFamily="18" charset="0"/>
                            <a:ea typeface="Cambria Math" panose="02040503050406030204" pitchFamily="18" charset="0"/>
                          </a:rPr>
                        </m:ctrlPr>
                      </m:sSubPr>
                      <m:e>
                        <m:acc>
                          <m:accPr>
                            <m:chr m:val="̂"/>
                            <m:ctrlPr>
                              <a:rPr lang="en-US" altLang="zh-TW" sz="900" i="1">
                                <a:latin typeface="Cambria Math" panose="02040503050406030204" pitchFamily="18" charset="0"/>
                                <a:ea typeface="Cambria Math" panose="02040503050406030204" pitchFamily="18" charset="0"/>
                              </a:rPr>
                            </m:ctrlPr>
                          </m:accPr>
                          <m:e>
                            <m:r>
                              <a:rPr lang="en-US" altLang="zh-TW" sz="900" i="1">
                                <a:latin typeface="Cambria Math" panose="02040503050406030204" pitchFamily="18" charset="0"/>
                                <a:ea typeface="Cambria Math" panose="02040503050406030204" pitchFamily="18" charset="0"/>
                              </a:rPr>
                              <m:t>𝐸</m:t>
                            </m:r>
                          </m:e>
                        </m:acc>
                      </m:e>
                      <m:sub>
                        <m:r>
                          <a:rPr lang="en-US" altLang="zh-TW" sz="900" b="0" i="1" smtClean="0">
                            <a:latin typeface="Cambria Math" panose="02040503050406030204" pitchFamily="18" charset="0"/>
                            <a:ea typeface="Cambria Math" panose="02040503050406030204" pitchFamily="18" charset="0"/>
                          </a:rPr>
                          <m:t>𝑖</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Electric field operator(signal and idler)</a:t>
                </a:r>
              </a:p>
              <a:p>
                <a:pPr>
                  <a:lnSpc>
                    <a:spcPct val="150000"/>
                  </a:lnSpc>
                </a:pPr>
                <a14:m>
                  <m:oMath xmlns:m="http://schemas.openxmlformats.org/officeDocument/2006/math">
                    <m:r>
                      <a:rPr lang="en-US" altLang="zh-TW" sz="900" b="0" i="1" smtClean="0">
                        <a:latin typeface="Cambria Math" panose="02040503050406030204" pitchFamily="18" charset="0"/>
                      </a:rPr>
                      <m:t>𝑟</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position</a:t>
                </a:r>
              </a:p>
              <a:p>
                <a:pPr>
                  <a:lnSpc>
                    <a:spcPct val="150000"/>
                  </a:lnSpc>
                </a:pPr>
                <a14:m>
                  <m:oMath xmlns:m="http://schemas.openxmlformats.org/officeDocument/2006/math">
                    <m:r>
                      <a:rPr lang="en-US" altLang="zh-TW" sz="900" b="0" i="1" smtClean="0">
                        <a:latin typeface="Cambria Math" panose="02040503050406030204" pitchFamily="18" charset="0"/>
                      </a:rPr>
                      <m:t>𝑡</m:t>
                    </m:r>
                    <m:r>
                      <a:rPr lang="zh-TW" altLang="en-US" sz="900">
                        <a:latin typeface="Cambria Math" panose="02040503050406030204" pitchFamily="18" charset="0"/>
                      </a:rPr>
                      <m:t>：</m:t>
                    </m:r>
                  </m:oMath>
                </a14:m>
                <a:r>
                  <a:rPr lang="en-US" altLang="zh-TW" sz="900" dirty="0">
                    <a:latin typeface="Montserrat" panose="02020500000000000000" charset="0"/>
                    <a:cs typeface="Times New Roman" pitchFamily="18" charset="0"/>
                  </a:rPr>
                  <a:t> time</a:t>
                </a:r>
              </a:p>
              <a:p>
                <a:pPr>
                  <a:lnSpc>
                    <a:spcPct val="150000"/>
                  </a:lnSpc>
                </a:pPr>
                <a14:m>
                  <m:oMath xmlns:m="http://schemas.openxmlformats.org/officeDocument/2006/math">
                    <m:r>
                      <a:rPr lang="en-US" altLang="zh-TW" sz="900" b="0" i="1" smtClean="0">
                        <a:latin typeface="Cambria Math" panose="02040503050406030204" pitchFamily="18" charset="0"/>
                      </a:rPr>
                      <m:t>𝑅</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Reflection</a:t>
                </a:r>
              </a:p>
              <a:p>
                <a:pPr>
                  <a:lnSpc>
                    <a:spcPct val="150000"/>
                  </a:lnSpc>
                </a:pPr>
                <a:r>
                  <a:rPr lang="zh-TW" altLang="en-US" sz="900" dirty="0">
                    <a:latin typeface="Montserrat" panose="02020500000000000000" charset="0"/>
                    <a:cs typeface="Times New Roman" pitchFamily="18" charset="0"/>
                  </a:rPr>
                  <a:t>𝑇：</a:t>
                </a:r>
                <a:r>
                  <a:rPr lang="en-US" altLang="zh-TW" sz="900" dirty="0">
                    <a:latin typeface="Montserrat" panose="02020500000000000000" charset="0"/>
                    <a:cs typeface="Times New Roman" pitchFamily="18" charset="0"/>
                  </a:rPr>
                  <a:t>Transmittance</a:t>
                </a:r>
              </a:p>
              <a:p>
                <a:pPr>
                  <a:lnSpc>
                    <a:spcPct val="150000"/>
                  </a:lnSpc>
                </a:pPr>
                <a14:m>
                  <m:oMath xmlns:m="http://schemas.openxmlformats.org/officeDocument/2006/math">
                    <m:sSub>
                      <m:sSubPr>
                        <m:ctrlPr>
                          <a:rPr lang="en-US" altLang="zh-TW" sz="900" i="1">
                            <a:solidFill>
                              <a:schemeClr val="tx1"/>
                            </a:solidFill>
                            <a:latin typeface="Cambria Math" panose="02040503050406030204" pitchFamily="18" charset="0"/>
                          </a:rPr>
                        </m:ctrlPr>
                      </m:sSubPr>
                      <m:e>
                        <m:r>
                          <a:rPr lang="en-US" altLang="zh-TW" sz="900" i="1">
                            <a:solidFill>
                              <a:schemeClr val="tx1"/>
                            </a:solidFill>
                            <a:latin typeface="Cambria Math" panose="02040503050406030204" pitchFamily="18" charset="0"/>
                          </a:rPr>
                          <m:t>𝑃</m:t>
                        </m:r>
                      </m:e>
                      <m:sub>
                        <m:r>
                          <a:rPr lang="en-US" altLang="zh-TW" sz="900" i="1">
                            <a:solidFill>
                              <a:schemeClr val="tx1"/>
                            </a:solidFill>
                            <a:latin typeface="Cambria Math" panose="02040503050406030204" pitchFamily="18" charset="0"/>
                          </a:rPr>
                          <m:t>12</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Probability of detect photon(detector 1 and 2)</a:t>
                </a:r>
              </a:p>
              <a:p>
                <a:pPr>
                  <a:lnSpc>
                    <a:spcPct val="150000"/>
                  </a:lnSpc>
                </a:pPr>
                <a14:m>
                  <m:oMath xmlns:m="http://schemas.openxmlformats.org/officeDocument/2006/math">
                    <m:sSub>
                      <m:sSubPr>
                        <m:ctrlPr>
                          <a:rPr lang="en-US" altLang="zh-TW" sz="900" i="1">
                            <a:solidFill>
                              <a:schemeClr val="tx1"/>
                            </a:solidFill>
                            <a:latin typeface="Cambria Math" panose="02040503050406030204" pitchFamily="18" charset="0"/>
                            <a:ea typeface="Cambria Math" panose="02040503050406030204" pitchFamily="18" charset="0"/>
                          </a:rPr>
                        </m:ctrlPr>
                      </m:sSubPr>
                      <m:e>
                        <m:r>
                          <a:rPr lang="zh-TW" altLang="en-US" sz="900" i="1">
                            <a:solidFill>
                              <a:schemeClr val="tx1"/>
                            </a:solidFill>
                            <a:latin typeface="Cambria Math" panose="02040503050406030204" pitchFamily="18" charset="0"/>
                            <a:ea typeface="Cambria Math" panose="02040503050406030204" pitchFamily="18" charset="0"/>
                          </a:rPr>
                          <m:t>𝛽</m:t>
                        </m:r>
                      </m:e>
                      <m:sub>
                        <m:r>
                          <a:rPr lang="en-US" altLang="zh-TW" sz="900" i="1">
                            <a:solidFill>
                              <a:schemeClr val="tx1"/>
                            </a:solidFill>
                            <a:latin typeface="Cambria Math" panose="02040503050406030204" pitchFamily="18" charset="0"/>
                            <a:ea typeface="Cambria Math" panose="02040503050406030204" pitchFamily="18" charset="0"/>
                          </a:rPr>
                          <m:t>1</m:t>
                        </m:r>
                        <m:r>
                          <a:rPr lang="en-US" altLang="zh-TW" sz="900" b="0" i="1" smtClean="0">
                            <a:solidFill>
                              <a:schemeClr val="tx1"/>
                            </a:solidFill>
                            <a:latin typeface="Cambria Math" panose="02040503050406030204" pitchFamily="18" charset="0"/>
                            <a:ea typeface="Cambria Math" panose="02040503050406030204" pitchFamily="18" charset="0"/>
                          </a:rPr>
                          <m:t>, </m:t>
                        </m:r>
                      </m:sub>
                    </m:sSub>
                    <m:sSub>
                      <m:sSubPr>
                        <m:ctrlPr>
                          <a:rPr lang="en-US" altLang="zh-TW" sz="900" i="1">
                            <a:solidFill>
                              <a:schemeClr val="tx1"/>
                            </a:solidFill>
                            <a:latin typeface="Cambria Math" panose="02040503050406030204" pitchFamily="18" charset="0"/>
                            <a:ea typeface="Cambria Math" panose="02040503050406030204" pitchFamily="18" charset="0"/>
                          </a:rPr>
                        </m:ctrlPr>
                      </m:sSubPr>
                      <m:e>
                        <m:r>
                          <a:rPr lang="zh-TW" altLang="en-US" sz="900" i="1">
                            <a:solidFill>
                              <a:schemeClr val="tx1"/>
                            </a:solidFill>
                            <a:latin typeface="Cambria Math" panose="02040503050406030204" pitchFamily="18" charset="0"/>
                            <a:ea typeface="Cambria Math" panose="02040503050406030204" pitchFamily="18" charset="0"/>
                          </a:rPr>
                          <m:t>𝛽</m:t>
                        </m:r>
                      </m:e>
                      <m:sub>
                        <m:r>
                          <a:rPr lang="en-US" altLang="zh-TW" sz="900" i="1">
                            <a:solidFill>
                              <a:schemeClr val="tx1"/>
                            </a:solidFill>
                            <a:latin typeface="Cambria Math" panose="02040503050406030204" pitchFamily="18" charset="0"/>
                            <a:ea typeface="Cambria Math" panose="02040503050406030204" pitchFamily="18" charset="0"/>
                          </a:rPr>
                          <m:t>2</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detection efficiency(detector 1 and 2)</a:t>
                </a:r>
              </a:p>
              <a:p>
                <a:pPr>
                  <a:lnSpc>
                    <a:spcPct val="150000"/>
                  </a:lnSpc>
                </a:pPr>
                <a14:m>
                  <m:oMath xmlns:m="http://schemas.openxmlformats.org/officeDocument/2006/math">
                    <m:r>
                      <a:rPr lang="zh-TW" altLang="en-US" sz="900" i="1" dirty="0" smtClean="0">
                        <a:latin typeface="Cambria Math" panose="02040503050406030204" pitchFamily="18" charset="0"/>
                      </a:rPr>
                      <m:t>𝜏</m:t>
                    </m:r>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time delay</a:t>
                </a:r>
              </a:p>
            </p:txBody>
          </p:sp>
        </mc:Choice>
        <mc:Fallback xmlns="">
          <p:sp>
            <p:nvSpPr>
              <p:cNvPr id="86" name="矩形 85">
                <a:extLst>
                  <a:ext uri="{FF2B5EF4-FFF2-40B4-BE49-F238E27FC236}">
                    <a16:creationId xmlns:a16="http://schemas.microsoft.com/office/drawing/2014/main" id="{46D24A53-A217-4B32-9AC5-1A92ABCE2825}"/>
                  </a:ext>
                </a:extLst>
              </p:cNvPr>
              <p:cNvSpPr>
                <a:spLocks noRot="1" noChangeAspect="1" noMove="1" noResize="1" noEditPoints="1" noAdjustHandles="1" noChangeArrowheads="1" noChangeShapeType="1" noTextEdit="1"/>
              </p:cNvSpPr>
              <p:nvPr/>
            </p:nvSpPr>
            <p:spPr>
              <a:xfrm>
                <a:off x="5830517" y="2608427"/>
                <a:ext cx="3139320" cy="2218428"/>
              </a:xfrm>
              <a:prstGeom prst="rect">
                <a:avLst/>
              </a:prstGeom>
              <a:blipFill>
                <a:blip r:embed="rId13"/>
                <a:stretch>
                  <a:fillRect b="-275"/>
                </a:stretch>
              </a:blipFill>
            </p:spPr>
            <p:txBody>
              <a:bodyPr/>
              <a:lstStyle/>
              <a:p>
                <a:r>
                  <a:rPr lang="zh-TW" altLang="en-US">
                    <a:noFill/>
                  </a:rPr>
                  <a:t> </a:t>
                </a:r>
              </a:p>
            </p:txBody>
          </p:sp>
        </mc:Fallback>
      </mc:AlternateContent>
      <p:sp>
        <p:nvSpPr>
          <p:cNvPr id="87" name="文字方塊 86">
            <a:extLst>
              <a:ext uri="{FF2B5EF4-FFF2-40B4-BE49-F238E27FC236}">
                <a16:creationId xmlns:a16="http://schemas.microsoft.com/office/drawing/2014/main" id="{13121B5B-F442-43DF-8DD6-C8EC5AC53EEB}"/>
              </a:ext>
            </a:extLst>
          </p:cNvPr>
          <p:cNvSpPr txBox="1"/>
          <p:nvPr/>
        </p:nvSpPr>
        <p:spPr>
          <a:xfrm>
            <a:off x="7724216" y="4909064"/>
            <a:ext cx="1029967" cy="215444"/>
          </a:xfrm>
          <a:prstGeom prst="rect">
            <a:avLst/>
          </a:prstGeom>
          <a:noFill/>
        </p:spPr>
        <p:txBody>
          <a:bodyPr wrap="square" rtlCol="0" anchor="ctr">
            <a:spAutoFit/>
          </a:bodyPr>
          <a:lstStyle/>
          <a:p>
            <a:r>
              <a:rPr lang="en-US" altLang="zh-TW" sz="800" dirty="0">
                <a:solidFill>
                  <a:schemeClr val="tx1"/>
                </a:solidFill>
                <a:latin typeface="Montserrat" panose="02020500000000000000" charset="0"/>
              </a:rPr>
              <a:t>(</a:t>
            </a:r>
            <a:r>
              <a:rPr lang="en-US" altLang="zh-TW" sz="800" dirty="0" err="1">
                <a:solidFill>
                  <a:schemeClr val="tx1"/>
                </a:solidFill>
                <a:latin typeface="Montserrat" panose="02020500000000000000" charset="0"/>
              </a:rPr>
              <a:t>Xuesong</a:t>
            </a:r>
            <a:r>
              <a:rPr lang="en-US" altLang="zh-TW" sz="800" dirty="0">
                <a:solidFill>
                  <a:schemeClr val="tx1"/>
                </a:solidFill>
                <a:latin typeface="Montserrat" panose="02020500000000000000" charset="0"/>
              </a:rPr>
              <a:t>, 2019)</a:t>
            </a:r>
            <a:endParaRPr lang="zh-TW" altLang="en-US" sz="800" dirty="0">
              <a:solidFill>
                <a:schemeClr val="tx1"/>
              </a:solidFill>
              <a:latin typeface="Montserrat" panose="02020500000000000000" charset="0"/>
            </a:endParaRPr>
          </a:p>
        </p:txBody>
      </p:sp>
    </p:spTree>
    <p:extLst>
      <p:ext uri="{BB962C8B-B14F-4D97-AF65-F5344CB8AC3E}">
        <p14:creationId xmlns:p14="http://schemas.microsoft.com/office/powerpoint/2010/main" val="655463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2438696" y="1722776"/>
            <a:ext cx="4275462"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Working principles</a:t>
            </a:r>
          </a:p>
        </p:txBody>
      </p:sp>
      <p:grpSp>
        <p:nvGrpSpPr>
          <p:cNvPr id="64" name="Google Shape;1292;p58">
            <a:extLst>
              <a:ext uri="{FF2B5EF4-FFF2-40B4-BE49-F238E27FC236}">
                <a16:creationId xmlns:a16="http://schemas.microsoft.com/office/drawing/2014/main" id="{FC6632E1-4DDB-4426-94DA-D4E75D2D5F02}"/>
              </a:ext>
            </a:extLst>
          </p:cNvPr>
          <p:cNvGrpSpPr/>
          <p:nvPr/>
        </p:nvGrpSpPr>
        <p:grpSpPr>
          <a:xfrm>
            <a:off x="5343406" y="4389120"/>
            <a:ext cx="3800594" cy="754380"/>
            <a:chOff x="474500" y="2502500"/>
            <a:chExt cx="6551575" cy="769875"/>
          </a:xfrm>
        </p:grpSpPr>
        <p:sp>
          <p:nvSpPr>
            <p:cNvPr id="65" name="Google Shape;1293;p58">
              <a:extLst>
                <a:ext uri="{FF2B5EF4-FFF2-40B4-BE49-F238E27FC236}">
                  <a16:creationId xmlns:a16="http://schemas.microsoft.com/office/drawing/2014/main" id="{336B5179-25EF-41B7-A75F-B1339648CDC4}"/>
                </a:ext>
              </a:extLst>
            </p:cNvPr>
            <p:cNvSpPr/>
            <p:nvPr/>
          </p:nvSpPr>
          <p:spPr>
            <a:xfrm>
              <a:off x="474500" y="2566550"/>
              <a:ext cx="3397475" cy="579050"/>
            </a:xfrm>
            <a:custGeom>
              <a:avLst/>
              <a:gdLst/>
              <a:ahLst/>
              <a:cxnLst/>
              <a:rect l="l" t="t" r="r" b="b"/>
              <a:pathLst>
                <a:path w="135899" h="23162" extrusionOk="0">
                  <a:moveTo>
                    <a:pt x="37708" y="0"/>
                  </a:moveTo>
                  <a:cubicBezTo>
                    <a:pt x="24912" y="0"/>
                    <a:pt x="0" y="10373"/>
                    <a:pt x="0" y="23162"/>
                  </a:cubicBezTo>
                  <a:lnTo>
                    <a:pt x="135899" y="23162"/>
                  </a:lnTo>
                  <a:lnTo>
                    <a:pt x="1358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294;p58">
              <a:extLst>
                <a:ext uri="{FF2B5EF4-FFF2-40B4-BE49-F238E27FC236}">
                  <a16:creationId xmlns:a16="http://schemas.microsoft.com/office/drawing/2014/main" id="{C2D8BB26-87C9-4B49-9908-BF0C01EA52DB}"/>
                </a:ext>
              </a:extLst>
            </p:cNvPr>
            <p:cNvSpPr/>
            <p:nvPr/>
          </p:nvSpPr>
          <p:spPr>
            <a:xfrm>
              <a:off x="474650" y="3145575"/>
              <a:ext cx="3397825" cy="126800"/>
            </a:xfrm>
            <a:custGeom>
              <a:avLst/>
              <a:gdLst/>
              <a:ahLst/>
              <a:cxnLst/>
              <a:rect l="l" t="t" r="r" b="b"/>
              <a:pathLst>
                <a:path w="135913" h="5072" extrusionOk="0">
                  <a:moveTo>
                    <a:pt x="1" y="1"/>
                  </a:moveTo>
                  <a:lnTo>
                    <a:pt x="1" y="4486"/>
                  </a:lnTo>
                  <a:cubicBezTo>
                    <a:pt x="1" y="4812"/>
                    <a:pt x="314" y="5071"/>
                    <a:pt x="693" y="5071"/>
                  </a:cubicBezTo>
                  <a:lnTo>
                    <a:pt x="135913" y="5071"/>
                  </a:lnTo>
                  <a:lnTo>
                    <a:pt x="1359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295;p58">
              <a:extLst>
                <a:ext uri="{FF2B5EF4-FFF2-40B4-BE49-F238E27FC236}">
                  <a16:creationId xmlns:a16="http://schemas.microsoft.com/office/drawing/2014/main" id="{31045745-061C-4EA8-A09F-7EADDCB69381}"/>
                </a:ext>
              </a:extLst>
            </p:cNvPr>
            <p:cNvSpPr/>
            <p:nvPr/>
          </p:nvSpPr>
          <p:spPr>
            <a:xfrm>
              <a:off x="2182875" y="2695800"/>
              <a:ext cx="1545875" cy="204125"/>
            </a:xfrm>
            <a:custGeom>
              <a:avLst/>
              <a:gdLst/>
              <a:ahLst/>
              <a:cxnLst/>
              <a:rect l="l" t="t" r="r" b="b"/>
              <a:pathLst>
                <a:path w="61835" h="8165" extrusionOk="0">
                  <a:moveTo>
                    <a:pt x="0" y="0"/>
                  </a:moveTo>
                  <a:lnTo>
                    <a:pt x="0" y="8164"/>
                  </a:lnTo>
                  <a:lnTo>
                    <a:pt x="61835" y="8164"/>
                  </a:lnTo>
                  <a:lnTo>
                    <a:pt x="618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296;p58">
              <a:extLst>
                <a:ext uri="{FF2B5EF4-FFF2-40B4-BE49-F238E27FC236}">
                  <a16:creationId xmlns:a16="http://schemas.microsoft.com/office/drawing/2014/main" id="{E4817A4E-D395-4786-8BD6-3058EE63B729}"/>
                </a:ext>
              </a:extLst>
            </p:cNvPr>
            <p:cNvSpPr/>
            <p:nvPr/>
          </p:nvSpPr>
          <p:spPr>
            <a:xfrm>
              <a:off x="1044900" y="2691050"/>
              <a:ext cx="614675" cy="208875"/>
            </a:xfrm>
            <a:custGeom>
              <a:avLst/>
              <a:gdLst/>
              <a:ahLst/>
              <a:cxnLst/>
              <a:rect l="l" t="t" r="r" b="b"/>
              <a:pathLst>
                <a:path w="24587" h="8355" extrusionOk="0">
                  <a:moveTo>
                    <a:pt x="20229" y="1"/>
                  </a:moveTo>
                  <a:cubicBezTo>
                    <a:pt x="14517" y="1"/>
                    <a:pt x="5310" y="775"/>
                    <a:pt x="0" y="4442"/>
                  </a:cubicBezTo>
                  <a:lnTo>
                    <a:pt x="0" y="8354"/>
                  </a:lnTo>
                  <a:lnTo>
                    <a:pt x="24586" y="8354"/>
                  </a:lnTo>
                  <a:lnTo>
                    <a:pt x="24586" y="190"/>
                  </a:lnTo>
                  <a:cubicBezTo>
                    <a:pt x="23751" y="93"/>
                    <a:pt x="22197" y="1"/>
                    <a:pt x="202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297;p58">
              <a:extLst>
                <a:ext uri="{FF2B5EF4-FFF2-40B4-BE49-F238E27FC236}">
                  <a16:creationId xmlns:a16="http://schemas.microsoft.com/office/drawing/2014/main" id="{7FA0A3F7-5926-4079-A8AB-405AD64B0FB1}"/>
                </a:ext>
              </a:extLst>
            </p:cNvPr>
            <p:cNvSpPr/>
            <p:nvPr/>
          </p:nvSpPr>
          <p:spPr>
            <a:xfrm>
              <a:off x="796050" y="2972925"/>
              <a:ext cx="3076100" cy="30125"/>
            </a:xfrm>
            <a:custGeom>
              <a:avLst/>
              <a:gdLst/>
              <a:ahLst/>
              <a:cxnLst/>
              <a:rect l="l" t="t" r="r" b="b"/>
              <a:pathLst>
                <a:path w="123044" h="1205" extrusionOk="0">
                  <a:moveTo>
                    <a:pt x="140" y="0"/>
                  </a:moveTo>
                  <a:cubicBezTo>
                    <a:pt x="67" y="0"/>
                    <a:pt x="0" y="67"/>
                    <a:pt x="0" y="140"/>
                  </a:cubicBezTo>
                  <a:lnTo>
                    <a:pt x="0" y="1205"/>
                  </a:lnTo>
                  <a:lnTo>
                    <a:pt x="123043" y="1205"/>
                  </a:lnTo>
                  <a:lnTo>
                    <a:pt x="1230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298;p58">
              <a:extLst>
                <a:ext uri="{FF2B5EF4-FFF2-40B4-BE49-F238E27FC236}">
                  <a16:creationId xmlns:a16="http://schemas.microsoft.com/office/drawing/2014/main" id="{72980734-F815-4B43-830C-BDF119E62F96}"/>
                </a:ext>
              </a:extLst>
            </p:cNvPr>
            <p:cNvSpPr/>
            <p:nvPr/>
          </p:nvSpPr>
          <p:spPr>
            <a:xfrm>
              <a:off x="1441625" y="2566550"/>
              <a:ext cx="2430350" cy="56575"/>
            </a:xfrm>
            <a:custGeom>
              <a:avLst/>
              <a:gdLst/>
              <a:ahLst/>
              <a:cxnLst/>
              <a:rect l="l" t="t" r="r" b="b"/>
              <a:pathLst>
                <a:path w="97214" h="2263" extrusionOk="0">
                  <a:moveTo>
                    <a:pt x="1" y="0"/>
                  </a:moveTo>
                  <a:lnTo>
                    <a:pt x="1" y="1996"/>
                  </a:lnTo>
                  <a:cubicBezTo>
                    <a:pt x="1" y="2149"/>
                    <a:pt x="120" y="2262"/>
                    <a:pt x="260" y="2262"/>
                  </a:cubicBezTo>
                  <a:lnTo>
                    <a:pt x="97214" y="2262"/>
                  </a:lnTo>
                  <a:lnTo>
                    <a:pt x="97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299;p58">
              <a:extLst>
                <a:ext uri="{FF2B5EF4-FFF2-40B4-BE49-F238E27FC236}">
                  <a16:creationId xmlns:a16="http://schemas.microsoft.com/office/drawing/2014/main" id="{1875F0C7-5AFB-4398-99AD-422A432B5BB0}"/>
                </a:ext>
              </a:extLst>
            </p:cNvPr>
            <p:cNvSpPr/>
            <p:nvPr/>
          </p:nvSpPr>
          <p:spPr>
            <a:xfrm>
              <a:off x="796050" y="2856150"/>
              <a:ext cx="144575" cy="146900"/>
            </a:xfrm>
            <a:custGeom>
              <a:avLst/>
              <a:gdLst/>
              <a:ahLst/>
              <a:cxnLst/>
              <a:rect l="l" t="t" r="r" b="b"/>
              <a:pathLst>
                <a:path w="5783" h="5876" extrusionOk="0">
                  <a:moveTo>
                    <a:pt x="5782" y="0"/>
                  </a:moveTo>
                  <a:cubicBezTo>
                    <a:pt x="0" y="2289"/>
                    <a:pt x="0" y="5876"/>
                    <a:pt x="0" y="5876"/>
                  </a:cubicBezTo>
                  <a:lnTo>
                    <a:pt x="925" y="5876"/>
                  </a:lnTo>
                  <a:cubicBezTo>
                    <a:pt x="925" y="5876"/>
                    <a:pt x="1071" y="2941"/>
                    <a:pt x="5782" y="958"/>
                  </a:cubicBezTo>
                  <a:lnTo>
                    <a:pt x="5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300;p58">
              <a:extLst>
                <a:ext uri="{FF2B5EF4-FFF2-40B4-BE49-F238E27FC236}">
                  <a16:creationId xmlns:a16="http://schemas.microsoft.com/office/drawing/2014/main" id="{6BDCB656-5900-4AC9-849F-2B066B71E4E3}"/>
                </a:ext>
              </a:extLst>
            </p:cNvPr>
            <p:cNvSpPr/>
            <p:nvPr/>
          </p:nvSpPr>
          <p:spPr>
            <a:xfrm>
              <a:off x="643175" y="2653200"/>
              <a:ext cx="366800" cy="213475"/>
            </a:xfrm>
            <a:custGeom>
              <a:avLst/>
              <a:gdLst/>
              <a:ahLst/>
              <a:cxnLst/>
              <a:rect l="l" t="t" r="r" b="b"/>
              <a:pathLst>
                <a:path w="14672" h="8539" extrusionOk="0">
                  <a:moveTo>
                    <a:pt x="14672" y="1"/>
                  </a:moveTo>
                  <a:lnTo>
                    <a:pt x="14672" y="1"/>
                  </a:lnTo>
                  <a:cubicBezTo>
                    <a:pt x="9282" y="2023"/>
                    <a:pt x="3986" y="4838"/>
                    <a:pt x="0" y="8172"/>
                  </a:cubicBezTo>
                  <a:cubicBezTo>
                    <a:pt x="697" y="8414"/>
                    <a:pt x="1431" y="8539"/>
                    <a:pt x="2169" y="8539"/>
                  </a:cubicBezTo>
                  <a:cubicBezTo>
                    <a:pt x="3396" y="8539"/>
                    <a:pt x="4635" y="8193"/>
                    <a:pt x="5736" y="7466"/>
                  </a:cubicBezTo>
                  <a:lnTo>
                    <a:pt x="12143" y="3228"/>
                  </a:lnTo>
                  <a:cubicBezTo>
                    <a:pt x="13361" y="2423"/>
                    <a:pt x="14213" y="1278"/>
                    <a:pt x="146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301;p58">
              <a:extLst>
                <a:ext uri="{FF2B5EF4-FFF2-40B4-BE49-F238E27FC236}">
                  <a16:creationId xmlns:a16="http://schemas.microsoft.com/office/drawing/2014/main" id="{0F9A2B37-1BBF-44DE-B66C-E320ECAD06EB}"/>
                </a:ext>
              </a:extLst>
            </p:cNvPr>
            <p:cNvSpPr/>
            <p:nvPr/>
          </p:nvSpPr>
          <p:spPr>
            <a:xfrm>
              <a:off x="680425" y="2659025"/>
              <a:ext cx="314750" cy="173050"/>
            </a:xfrm>
            <a:custGeom>
              <a:avLst/>
              <a:gdLst/>
              <a:ahLst/>
              <a:cxnLst/>
              <a:rect l="l" t="t" r="r" b="b"/>
              <a:pathLst>
                <a:path w="12590" h="6922" extrusionOk="0">
                  <a:moveTo>
                    <a:pt x="12590" y="1"/>
                  </a:moveTo>
                  <a:lnTo>
                    <a:pt x="12590" y="1"/>
                  </a:lnTo>
                  <a:cubicBezTo>
                    <a:pt x="8052" y="1757"/>
                    <a:pt x="3607" y="4059"/>
                    <a:pt x="1" y="6767"/>
                  </a:cubicBezTo>
                  <a:cubicBezTo>
                    <a:pt x="464" y="6869"/>
                    <a:pt x="937" y="6921"/>
                    <a:pt x="1412" y="6921"/>
                  </a:cubicBezTo>
                  <a:cubicBezTo>
                    <a:pt x="2643" y="6921"/>
                    <a:pt x="3887" y="6572"/>
                    <a:pt x="4991" y="5843"/>
                  </a:cubicBezTo>
                  <a:lnTo>
                    <a:pt x="10560" y="2156"/>
                  </a:lnTo>
                  <a:cubicBezTo>
                    <a:pt x="11425" y="1584"/>
                    <a:pt x="12104" y="846"/>
                    <a:pt x="125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302;p58">
              <a:extLst>
                <a:ext uri="{FF2B5EF4-FFF2-40B4-BE49-F238E27FC236}">
                  <a16:creationId xmlns:a16="http://schemas.microsoft.com/office/drawing/2014/main" id="{FD45EDD4-B685-4EF2-BA1A-D96173FCA25B}"/>
                </a:ext>
              </a:extLst>
            </p:cNvPr>
            <p:cNvSpPr/>
            <p:nvPr/>
          </p:nvSpPr>
          <p:spPr>
            <a:xfrm>
              <a:off x="511575" y="3029700"/>
              <a:ext cx="44775" cy="66950"/>
            </a:xfrm>
            <a:custGeom>
              <a:avLst/>
              <a:gdLst/>
              <a:ahLst/>
              <a:cxnLst/>
              <a:rect l="l" t="t" r="r" b="b"/>
              <a:pathLst>
                <a:path w="1791" h="2678" extrusionOk="0">
                  <a:moveTo>
                    <a:pt x="1367" y="1"/>
                  </a:moveTo>
                  <a:cubicBezTo>
                    <a:pt x="1055" y="1"/>
                    <a:pt x="622" y="449"/>
                    <a:pt x="334" y="1089"/>
                  </a:cubicBezTo>
                  <a:cubicBezTo>
                    <a:pt x="8" y="1815"/>
                    <a:pt x="1" y="2513"/>
                    <a:pt x="314" y="2653"/>
                  </a:cubicBezTo>
                  <a:cubicBezTo>
                    <a:pt x="350" y="2670"/>
                    <a:pt x="389" y="2678"/>
                    <a:pt x="430" y="2678"/>
                  </a:cubicBezTo>
                  <a:cubicBezTo>
                    <a:pt x="738" y="2678"/>
                    <a:pt x="1171" y="2234"/>
                    <a:pt x="1458" y="1588"/>
                  </a:cubicBezTo>
                  <a:cubicBezTo>
                    <a:pt x="1784" y="863"/>
                    <a:pt x="1791" y="165"/>
                    <a:pt x="1485" y="25"/>
                  </a:cubicBezTo>
                  <a:cubicBezTo>
                    <a:pt x="1448" y="8"/>
                    <a:pt x="1409" y="1"/>
                    <a:pt x="1367" y="1"/>
                  </a:cubicBezTo>
                  <a:close/>
                </a:path>
              </a:pathLst>
            </a:custGeom>
            <a:solidFill>
              <a:srgbClr val="BA2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303;p58">
              <a:extLst>
                <a:ext uri="{FF2B5EF4-FFF2-40B4-BE49-F238E27FC236}">
                  <a16:creationId xmlns:a16="http://schemas.microsoft.com/office/drawing/2014/main" id="{2B52033F-06DA-41F2-B444-2CFD77AD53DF}"/>
                </a:ext>
              </a:extLst>
            </p:cNvPr>
            <p:cNvSpPr/>
            <p:nvPr/>
          </p:nvSpPr>
          <p:spPr>
            <a:xfrm>
              <a:off x="514575" y="3029125"/>
              <a:ext cx="38800" cy="57625"/>
            </a:xfrm>
            <a:custGeom>
              <a:avLst/>
              <a:gdLst/>
              <a:ahLst/>
              <a:cxnLst/>
              <a:rect l="l" t="t" r="r" b="b"/>
              <a:pathLst>
                <a:path w="1552" h="2305" extrusionOk="0">
                  <a:moveTo>
                    <a:pt x="1177" y="0"/>
                  </a:moveTo>
                  <a:cubicBezTo>
                    <a:pt x="909" y="0"/>
                    <a:pt x="533" y="381"/>
                    <a:pt x="287" y="933"/>
                  </a:cubicBezTo>
                  <a:cubicBezTo>
                    <a:pt x="14" y="1558"/>
                    <a:pt x="1" y="2164"/>
                    <a:pt x="274" y="2283"/>
                  </a:cubicBezTo>
                  <a:cubicBezTo>
                    <a:pt x="305" y="2298"/>
                    <a:pt x="339" y="2304"/>
                    <a:pt x="375" y="2304"/>
                  </a:cubicBezTo>
                  <a:cubicBezTo>
                    <a:pt x="643" y="2304"/>
                    <a:pt x="1018" y="1924"/>
                    <a:pt x="1265" y="1372"/>
                  </a:cubicBezTo>
                  <a:cubicBezTo>
                    <a:pt x="1538" y="746"/>
                    <a:pt x="1551" y="141"/>
                    <a:pt x="1278" y="21"/>
                  </a:cubicBezTo>
                  <a:cubicBezTo>
                    <a:pt x="1247" y="7"/>
                    <a:pt x="1213" y="0"/>
                    <a:pt x="11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304;p58">
              <a:extLst>
                <a:ext uri="{FF2B5EF4-FFF2-40B4-BE49-F238E27FC236}">
                  <a16:creationId xmlns:a16="http://schemas.microsoft.com/office/drawing/2014/main" id="{99852B7F-9A09-441F-925F-ABA45BE9AF73}"/>
                </a:ext>
              </a:extLst>
            </p:cNvPr>
            <p:cNvSpPr/>
            <p:nvPr/>
          </p:nvSpPr>
          <p:spPr>
            <a:xfrm>
              <a:off x="3479550" y="2502500"/>
              <a:ext cx="342200" cy="64075"/>
            </a:xfrm>
            <a:custGeom>
              <a:avLst/>
              <a:gdLst/>
              <a:ahLst/>
              <a:cxnLst/>
              <a:rect l="l" t="t" r="r" b="b"/>
              <a:pathLst>
                <a:path w="13688" h="2563" extrusionOk="0">
                  <a:moveTo>
                    <a:pt x="153" y="0"/>
                  </a:moveTo>
                  <a:cubicBezTo>
                    <a:pt x="67" y="0"/>
                    <a:pt x="0" y="67"/>
                    <a:pt x="0" y="153"/>
                  </a:cubicBezTo>
                  <a:lnTo>
                    <a:pt x="0" y="2562"/>
                  </a:lnTo>
                  <a:lnTo>
                    <a:pt x="13687" y="2562"/>
                  </a:lnTo>
                  <a:lnTo>
                    <a:pt x="13687" y="153"/>
                  </a:lnTo>
                  <a:cubicBezTo>
                    <a:pt x="13687" y="67"/>
                    <a:pt x="13621"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305;p58">
              <a:extLst>
                <a:ext uri="{FF2B5EF4-FFF2-40B4-BE49-F238E27FC236}">
                  <a16:creationId xmlns:a16="http://schemas.microsoft.com/office/drawing/2014/main" id="{7B32B8C2-1B9F-430B-9AD1-CBD053A9F7A1}"/>
                </a:ext>
              </a:extLst>
            </p:cNvPr>
            <p:cNvSpPr/>
            <p:nvPr/>
          </p:nvSpPr>
          <p:spPr>
            <a:xfrm>
              <a:off x="3542750" y="2502500"/>
              <a:ext cx="216100" cy="30125"/>
            </a:xfrm>
            <a:custGeom>
              <a:avLst/>
              <a:gdLst/>
              <a:ahLst/>
              <a:cxnLst/>
              <a:rect l="l" t="t" r="r" b="b"/>
              <a:pathLst>
                <a:path w="8644" h="1205" extrusionOk="0">
                  <a:moveTo>
                    <a:pt x="1" y="0"/>
                  </a:moveTo>
                  <a:lnTo>
                    <a:pt x="1" y="1158"/>
                  </a:lnTo>
                  <a:cubicBezTo>
                    <a:pt x="1" y="1185"/>
                    <a:pt x="21" y="1205"/>
                    <a:pt x="54" y="1205"/>
                  </a:cubicBezTo>
                  <a:lnTo>
                    <a:pt x="8584" y="1205"/>
                  </a:lnTo>
                  <a:cubicBezTo>
                    <a:pt x="8617" y="1205"/>
                    <a:pt x="8637" y="1185"/>
                    <a:pt x="8644" y="1158"/>
                  </a:cubicBezTo>
                  <a:lnTo>
                    <a:pt x="8644" y="0"/>
                  </a:lnTo>
                  <a:close/>
                </a:path>
              </a:pathLst>
            </a:custGeom>
            <a:solidFill>
              <a:srgbClr val="3C4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306;p58">
              <a:extLst>
                <a:ext uri="{FF2B5EF4-FFF2-40B4-BE49-F238E27FC236}">
                  <a16:creationId xmlns:a16="http://schemas.microsoft.com/office/drawing/2014/main" id="{9483C74D-C537-436B-A3C4-70539B28519A}"/>
                </a:ext>
              </a:extLst>
            </p:cNvPr>
            <p:cNvSpPr/>
            <p:nvPr/>
          </p:nvSpPr>
          <p:spPr>
            <a:xfrm>
              <a:off x="3558900" y="2502500"/>
              <a:ext cx="184000" cy="25650"/>
            </a:xfrm>
            <a:custGeom>
              <a:avLst/>
              <a:gdLst/>
              <a:ahLst/>
              <a:cxnLst/>
              <a:rect l="l" t="t" r="r" b="b"/>
              <a:pathLst>
                <a:path w="7360" h="1026" extrusionOk="0">
                  <a:moveTo>
                    <a:pt x="0" y="0"/>
                  </a:moveTo>
                  <a:lnTo>
                    <a:pt x="0" y="972"/>
                  </a:lnTo>
                  <a:cubicBezTo>
                    <a:pt x="0" y="998"/>
                    <a:pt x="13" y="1025"/>
                    <a:pt x="47" y="1025"/>
                  </a:cubicBezTo>
                  <a:lnTo>
                    <a:pt x="7299" y="1025"/>
                  </a:lnTo>
                  <a:cubicBezTo>
                    <a:pt x="7333" y="1025"/>
                    <a:pt x="7359" y="1005"/>
                    <a:pt x="7359" y="972"/>
                  </a:cubicBezTo>
                  <a:lnTo>
                    <a:pt x="73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307;p58">
              <a:extLst>
                <a:ext uri="{FF2B5EF4-FFF2-40B4-BE49-F238E27FC236}">
                  <a16:creationId xmlns:a16="http://schemas.microsoft.com/office/drawing/2014/main" id="{BCD60B5E-407B-4F04-87BE-DC0981DB535F}"/>
                </a:ext>
              </a:extLst>
            </p:cNvPr>
            <p:cNvSpPr/>
            <p:nvPr/>
          </p:nvSpPr>
          <p:spPr>
            <a:xfrm>
              <a:off x="3939000" y="2566550"/>
              <a:ext cx="3087075" cy="579050"/>
            </a:xfrm>
            <a:custGeom>
              <a:avLst/>
              <a:gdLst/>
              <a:ahLst/>
              <a:cxnLst/>
              <a:rect l="l" t="t" r="r" b="b"/>
              <a:pathLst>
                <a:path w="123483" h="23162" extrusionOk="0">
                  <a:moveTo>
                    <a:pt x="0" y="0"/>
                  </a:moveTo>
                  <a:lnTo>
                    <a:pt x="0" y="23162"/>
                  </a:lnTo>
                  <a:lnTo>
                    <a:pt x="123482" y="23162"/>
                  </a:lnTo>
                  <a:lnTo>
                    <a:pt x="1234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308;p58">
              <a:extLst>
                <a:ext uri="{FF2B5EF4-FFF2-40B4-BE49-F238E27FC236}">
                  <a16:creationId xmlns:a16="http://schemas.microsoft.com/office/drawing/2014/main" id="{B1D24277-17F6-4A9E-B573-F1A8FFA6EB77}"/>
                </a:ext>
              </a:extLst>
            </p:cNvPr>
            <p:cNvSpPr/>
            <p:nvPr/>
          </p:nvSpPr>
          <p:spPr>
            <a:xfrm>
              <a:off x="4487100" y="2695800"/>
              <a:ext cx="1990850" cy="204125"/>
            </a:xfrm>
            <a:custGeom>
              <a:avLst/>
              <a:gdLst/>
              <a:ahLst/>
              <a:cxnLst/>
              <a:rect l="l" t="t" r="r" b="b"/>
              <a:pathLst>
                <a:path w="79634" h="8165" extrusionOk="0">
                  <a:moveTo>
                    <a:pt x="1" y="0"/>
                  </a:moveTo>
                  <a:lnTo>
                    <a:pt x="1" y="8164"/>
                  </a:lnTo>
                  <a:lnTo>
                    <a:pt x="79634" y="8164"/>
                  </a:lnTo>
                  <a:lnTo>
                    <a:pt x="796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309;p58">
              <a:extLst>
                <a:ext uri="{FF2B5EF4-FFF2-40B4-BE49-F238E27FC236}">
                  <a16:creationId xmlns:a16="http://schemas.microsoft.com/office/drawing/2014/main" id="{B40F52AA-75A1-4349-935B-62A4E128DEE4}"/>
                </a:ext>
              </a:extLst>
            </p:cNvPr>
            <p:cNvSpPr/>
            <p:nvPr/>
          </p:nvSpPr>
          <p:spPr>
            <a:xfrm>
              <a:off x="3939000" y="3145575"/>
              <a:ext cx="3086900" cy="126800"/>
            </a:xfrm>
            <a:custGeom>
              <a:avLst/>
              <a:gdLst/>
              <a:ahLst/>
              <a:cxnLst/>
              <a:rect l="l" t="t" r="r" b="b"/>
              <a:pathLst>
                <a:path w="123476" h="5072" extrusionOk="0">
                  <a:moveTo>
                    <a:pt x="0" y="1"/>
                  </a:moveTo>
                  <a:lnTo>
                    <a:pt x="0" y="5071"/>
                  </a:lnTo>
                  <a:lnTo>
                    <a:pt x="123476" y="5071"/>
                  </a:lnTo>
                  <a:lnTo>
                    <a:pt x="1234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310;p58">
              <a:extLst>
                <a:ext uri="{FF2B5EF4-FFF2-40B4-BE49-F238E27FC236}">
                  <a16:creationId xmlns:a16="http://schemas.microsoft.com/office/drawing/2014/main" id="{CBAC451C-EE6B-45A4-8CE8-5ADAE11F48F1}"/>
                </a:ext>
              </a:extLst>
            </p:cNvPr>
            <p:cNvSpPr/>
            <p:nvPr/>
          </p:nvSpPr>
          <p:spPr>
            <a:xfrm>
              <a:off x="3937325" y="2972925"/>
              <a:ext cx="3075950" cy="30125"/>
            </a:xfrm>
            <a:custGeom>
              <a:avLst/>
              <a:gdLst/>
              <a:ahLst/>
              <a:cxnLst/>
              <a:rect l="l" t="t" r="r" b="b"/>
              <a:pathLst>
                <a:path w="123038" h="1205" extrusionOk="0">
                  <a:moveTo>
                    <a:pt x="1" y="0"/>
                  </a:moveTo>
                  <a:lnTo>
                    <a:pt x="1" y="1205"/>
                  </a:lnTo>
                  <a:lnTo>
                    <a:pt x="123037" y="1205"/>
                  </a:lnTo>
                  <a:lnTo>
                    <a:pt x="1230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311;p58">
              <a:extLst>
                <a:ext uri="{FF2B5EF4-FFF2-40B4-BE49-F238E27FC236}">
                  <a16:creationId xmlns:a16="http://schemas.microsoft.com/office/drawing/2014/main" id="{03EFAEEE-4CD5-44EC-A04B-CC0064B2645E}"/>
                </a:ext>
              </a:extLst>
            </p:cNvPr>
            <p:cNvSpPr/>
            <p:nvPr/>
          </p:nvSpPr>
          <p:spPr>
            <a:xfrm>
              <a:off x="6666575"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312;p58">
              <a:extLst>
                <a:ext uri="{FF2B5EF4-FFF2-40B4-BE49-F238E27FC236}">
                  <a16:creationId xmlns:a16="http://schemas.microsoft.com/office/drawing/2014/main" id="{EE7F90EB-D883-475B-A9CA-3D0F0C404AE2}"/>
                </a:ext>
              </a:extLst>
            </p:cNvPr>
            <p:cNvSpPr/>
            <p:nvPr/>
          </p:nvSpPr>
          <p:spPr>
            <a:xfrm>
              <a:off x="4064750" y="2695800"/>
              <a:ext cx="230575" cy="449800"/>
            </a:xfrm>
            <a:custGeom>
              <a:avLst/>
              <a:gdLst/>
              <a:ahLst/>
              <a:cxnLst/>
              <a:rect l="l" t="t" r="r" b="b"/>
              <a:pathLst>
                <a:path w="9223" h="17992" extrusionOk="0">
                  <a:moveTo>
                    <a:pt x="0" y="0"/>
                  </a:moveTo>
                  <a:lnTo>
                    <a:pt x="0" y="17992"/>
                  </a:lnTo>
                  <a:lnTo>
                    <a:pt x="9223" y="17992"/>
                  </a:lnTo>
                  <a:lnTo>
                    <a:pt x="92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313;p58">
              <a:extLst>
                <a:ext uri="{FF2B5EF4-FFF2-40B4-BE49-F238E27FC236}">
                  <a16:creationId xmlns:a16="http://schemas.microsoft.com/office/drawing/2014/main" id="{AC29BC85-7D8B-4E11-A14C-7D6862246D08}"/>
                </a:ext>
              </a:extLst>
            </p:cNvPr>
            <p:cNvSpPr/>
            <p:nvPr/>
          </p:nvSpPr>
          <p:spPr>
            <a:xfrm>
              <a:off x="3937325" y="2566550"/>
              <a:ext cx="3088750" cy="56575"/>
            </a:xfrm>
            <a:custGeom>
              <a:avLst/>
              <a:gdLst/>
              <a:ahLst/>
              <a:cxnLst/>
              <a:rect l="l" t="t" r="r" b="b"/>
              <a:pathLst>
                <a:path w="123550" h="2263" extrusionOk="0">
                  <a:moveTo>
                    <a:pt x="1" y="0"/>
                  </a:moveTo>
                  <a:lnTo>
                    <a:pt x="1" y="2262"/>
                  </a:lnTo>
                  <a:lnTo>
                    <a:pt x="123549" y="2262"/>
                  </a:lnTo>
                  <a:lnTo>
                    <a:pt x="123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314;p58">
              <a:extLst>
                <a:ext uri="{FF2B5EF4-FFF2-40B4-BE49-F238E27FC236}">
                  <a16:creationId xmlns:a16="http://schemas.microsoft.com/office/drawing/2014/main" id="{197541C0-169A-48E8-B390-266C2B970CEF}"/>
                </a:ext>
              </a:extLst>
            </p:cNvPr>
            <p:cNvSpPr/>
            <p:nvPr/>
          </p:nvSpPr>
          <p:spPr>
            <a:xfrm>
              <a:off x="4014850" y="2502500"/>
              <a:ext cx="342025" cy="64075"/>
            </a:xfrm>
            <a:custGeom>
              <a:avLst/>
              <a:gdLst/>
              <a:ahLst/>
              <a:cxnLst/>
              <a:rect l="l" t="t" r="r" b="b"/>
              <a:pathLst>
                <a:path w="13681" h="2563" extrusionOk="0">
                  <a:moveTo>
                    <a:pt x="147" y="0"/>
                  </a:moveTo>
                  <a:cubicBezTo>
                    <a:pt x="67" y="0"/>
                    <a:pt x="0" y="67"/>
                    <a:pt x="0" y="153"/>
                  </a:cubicBezTo>
                  <a:lnTo>
                    <a:pt x="0" y="2562"/>
                  </a:lnTo>
                  <a:lnTo>
                    <a:pt x="13681" y="2562"/>
                  </a:lnTo>
                  <a:lnTo>
                    <a:pt x="13681" y="153"/>
                  </a:lnTo>
                  <a:cubicBezTo>
                    <a:pt x="13681" y="67"/>
                    <a:pt x="13614" y="0"/>
                    <a:pt x="13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315;p58">
              <a:extLst>
                <a:ext uri="{FF2B5EF4-FFF2-40B4-BE49-F238E27FC236}">
                  <a16:creationId xmlns:a16="http://schemas.microsoft.com/office/drawing/2014/main" id="{C855CD66-C2F9-46B6-958E-2DB2F5AAE053}"/>
                </a:ext>
              </a:extLst>
            </p:cNvPr>
            <p:cNvSpPr/>
            <p:nvPr/>
          </p:nvSpPr>
          <p:spPr>
            <a:xfrm>
              <a:off x="4078050" y="2502500"/>
              <a:ext cx="216125" cy="30125"/>
            </a:xfrm>
            <a:custGeom>
              <a:avLst/>
              <a:gdLst/>
              <a:ahLst/>
              <a:cxnLst/>
              <a:rect l="l" t="t" r="r" b="b"/>
              <a:pathLst>
                <a:path w="8645" h="1205" extrusionOk="0">
                  <a:moveTo>
                    <a:pt x="1" y="0"/>
                  </a:moveTo>
                  <a:lnTo>
                    <a:pt x="1" y="1158"/>
                  </a:lnTo>
                  <a:cubicBezTo>
                    <a:pt x="1" y="1185"/>
                    <a:pt x="14" y="1205"/>
                    <a:pt x="47" y="1205"/>
                  </a:cubicBezTo>
                  <a:lnTo>
                    <a:pt x="8584" y="1205"/>
                  </a:lnTo>
                  <a:cubicBezTo>
                    <a:pt x="8617" y="1205"/>
                    <a:pt x="8644" y="1185"/>
                    <a:pt x="8644" y="1158"/>
                  </a:cubicBezTo>
                  <a:lnTo>
                    <a:pt x="86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316;p58">
              <a:extLst>
                <a:ext uri="{FF2B5EF4-FFF2-40B4-BE49-F238E27FC236}">
                  <a16:creationId xmlns:a16="http://schemas.microsoft.com/office/drawing/2014/main" id="{29363284-2E7D-4805-BA66-FD03CCA586BF}"/>
                </a:ext>
              </a:extLst>
            </p:cNvPr>
            <p:cNvSpPr/>
            <p:nvPr/>
          </p:nvSpPr>
          <p:spPr>
            <a:xfrm>
              <a:off x="4094025" y="2502500"/>
              <a:ext cx="184000" cy="25650"/>
            </a:xfrm>
            <a:custGeom>
              <a:avLst/>
              <a:gdLst/>
              <a:ahLst/>
              <a:cxnLst/>
              <a:rect l="l" t="t" r="r" b="b"/>
              <a:pathLst>
                <a:path w="7360" h="1026" extrusionOk="0">
                  <a:moveTo>
                    <a:pt x="0" y="0"/>
                  </a:moveTo>
                  <a:lnTo>
                    <a:pt x="0" y="972"/>
                  </a:lnTo>
                  <a:cubicBezTo>
                    <a:pt x="0" y="998"/>
                    <a:pt x="20" y="1025"/>
                    <a:pt x="54" y="1025"/>
                  </a:cubicBezTo>
                  <a:lnTo>
                    <a:pt x="7306" y="1025"/>
                  </a:lnTo>
                  <a:cubicBezTo>
                    <a:pt x="7340" y="1025"/>
                    <a:pt x="7360" y="1005"/>
                    <a:pt x="7360" y="972"/>
                  </a:cubicBezTo>
                  <a:lnTo>
                    <a:pt x="73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317;p58">
              <a:extLst>
                <a:ext uri="{FF2B5EF4-FFF2-40B4-BE49-F238E27FC236}">
                  <a16:creationId xmlns:a16="http://schemas.microsoft.com/office/drawing/2014/main" id="{A3AE9D2F-23EA-439F-8E66-E8F96454788D}"/>
                </a:ext>
              </a:extLst>
            </p:cNvPr>
            <p:cNvSpPr/>
            <p:nvPr/>
          </p:nvSpPr>
          <p:spPr>
            <a:xfrm>
              <a:off x="6588900" y="2502500"/>
              <a:ext cx="342200" cy="64075"/>
            </a:xfrm>
            <a:custGeom>
              <a:avLst/>
              <a:gdLst/>
              <a:ahLst/>
              <a:cxnLst/>
              <a:rect l="l" t="t" r="r" b="b"/>
              <a:pathLst>
                <a:path w="13688" h="2563" extrusionOk="0">
                  <a:moveTo>
                    <a:pt x="146" y="0"/>
                  </a:moveTo>
                  <a:cubicBezTo>
                    <a:pt x="67" y="0"/>
                    <a:pt x="0" y="67"/>
                    <a:pt x="0" y="153"/>
                  </a:cubicBezTo>
                  <a:lnTo>
                    <a:pt x="0" y="2562"/>
                  </a:lnTo>
                  <a:lnTo>
                    <a:pt x="13687" y="2562"/>
                  </a:lnTo>
                  <a:lnTo>
                    <a:pt x="13687" y="153"/>
                  </a:lnTo>
                  <a:cubicBezTo>
                    <a:pt x="13687" y="67"/>
                    <a:pt x="13621" y="0"/>
                    <a:pt x="135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318;p58">
              <a:extLst>
                <a:ext uri="{FF2B5EF4-FFF2-40B4-BE49-F238E27FC236}">
                  <a16:creationId xmlns:a16="http://schemas.microsoft.com/office/drawing/2014/main" id="{75715016-0666-4B4E-AE6D-19E832437ABB}"/>
                </a:ext>
              </a:extLst>
            </p:cNvPr>
            <p:cNvSpPr/>
            <p:nvPr/>
          </p:nvSpPr>
          <p:spPr>
            <a:xfrm>
              <a:off x="6652100" y="2502500"/>
              <a:ext cx="215950" cy="30125"/>
            </a:xfrm>
            <a:custGeom>
              <a:avLst/>
              <a:gdLst/>
              <a:ahLst/>
              <a:cxnLst/>
              <a:rect l="l" t="t" r="r" b="b"/>
              <a:pathLst>
                <a:path w="8638" h="1205" extrusionOk="0">
                  <a:moveTo>
                    <a:pt x="1" y="0"/>
                  </a:moveTo>
                  <a:lnTo>
                    <a:pt x="1" y="1158"/>
                  </a:lnTo>
                  <a:cubicBezTo>
                    <a:pt x="1" y="1185"/>
                    <a:pt x="14" y="1205"/>
                    <a:pt x="47" y="1205"/>
                  </a:cubicBezTo>
                  <a:lnTo>
                    <a:pt x="8584" y="1205"/>
                  </a:lnTo>
                  <a:cubicBezTo>
                    <a:pt x="8617" y="1205"/>
                    <a:pt x="8637" y="1185"/>
                    <a:pt x="8637" y="1158"/>
                  </a:cubicBezTo>
                  <a:lnTo>
                    <a:pt x="86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319;p58">
              <a:extLst>
                <a:ext uri="{FF2B5EF4-FFF2-40B4-BE49-F238E27FC236}">
                  <a16:creationId xmlns:a16="http://schemas.microsoft.com/office/drawing/2014/main" id="{9AC2765F-EF68-4001-AF21-F044D0F715DF}"/>
                </a:ext>
              </a:extLst>
            </p:cNvPr>
            <p:cNvSpPr/>
            <p:nvPr/>
          </p:nvSpPr>
          <p:spPr>
            <a:xfrm>
              <a:off x="6668075" y="2502500"/>
              <a:ext cx="184000" cy="25650"/>
            </a:xfrm>
            <a:custGeom>
              <a:avLst/>
              <a:gdLst/>
              <a:ahLst/>
              <a:cxnLst/>
              <a:rect l="l" t="t" r="r" b="b"/>
              <a:pathLst>
                <a:path w="7360" h="1026" extrusionOk="0">
                  <a:moveTo>
                    <a:pt x="0" y="0"/>
                  </a:moveTo>
                  <a:lnTo>
                    <a:pt x="0" y="972"/>
                  </a:lnTo>
                  <a:cubicBezTo>
                    <a:pt x="0" y="998"/>
                    <a:pt x="14" y="1025"/>
                    <a:pt x="47" y="1025"/>
                  </a:cubicBezTo>
                  <a:lnTo>
                    <a:pt x="7300" y="1025"/>
                  </a:lnTo>
                  <a:cubicBezTo>
                    <a:pt x="7333" y="1025"/>
                    <a:pt x="7359" y="1005"/>
                    <a:pt x="7359" y="972"/>
                  </a:cubicBezTo>
                  <a:lnTo>
                    <a:pt x="7359" y="0"/>
                  </a:lnTo>
                  <a:close/>
                </a:path>
              </a:pathLst>
            </a:custGeom>
            <a:solidFill>
              <a:srgbClr val="4E5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320;p58">
              <a:extLst>
                <a:ext uri="{FF2B5EF4-FFF2-40B4-BE49-F238E27FC236}">
                  <a16:creationId xmlns:a16="http://schemas.microsoft.com/office/drawing/2014/main" id="{3914B5D4-D194-4032-87C3-91BC75ECA61D}"/>
                </a:ext>
              </a:extLst>
            </p:cNvPr>
            <p:cNvSpPr/>
            <p:nvPr/>
          </p:nvSpPr>
          <p:spPr>
            <a:xfrm>
              <a:off x="3872125" y="2608300"/>
              <a:ext cx="65225" cy="550950"/>
            </a:xfrm>
            <a:custGeom>
              <a:avLst/>
              <a:gdLst/>
              <a:ahLst/>
              <a:cxnLst/>
              <a:rect l="l" t="t" r="r" b="b"/>
              <a:pathLst>
                <a:path w="2609" h="22038" extrusionOk="0">
                  <a:moveTo>
                    <a:pt x="113" y="0"/>
                  </a:moveTo>
                  <a:cubicBezTo>
                    <a:pt x="53" y="0"/>
                    <a:pt x="0" y="53"/>
                    <a:pt x="0" y="113"/>
                  </a:cubicBezTo>
                  <a:lnTo>
                    <a:pt x="0" y="21924"/>
                  </a:lnTo>
                  <a:cubicBezTo>
                    <a:pt x="0" y="21984"/>
                    <a:pt x="53" y="22037"/>
                    <a:pt x="113" y="22037"/>
                  </a:cubicBezTo>
                  <a:lnTo>
                    <a:pt x="2495" y="22037"/>
                  </a:lnTo>
                  <a:cubicBezTo>
                    <a:pt x="2555" y="22037"/>
                    <a:pt x="2609" y="21984"/>
                    <a:pt x="2609" y="21918"/>
                  </a:cubicBezTo>
                  <a:lnTo>
                    <a:pt x="2609" y="113"/>
                  </a:lnTo>
                  <a:cubicBezTo>
                    <a:pt x="2609" y="53"/>
                    <a:pt x="2555" y="0"/>
                    <a:pt x="2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321;p58">
              <a:extLst>
                <a:ext uri="{FF2B5EF4-FFF2-40B4-BE49-F238E27FC236}">
                  <a16:creationId xmlns:a16="http://schemas.microsoft.com/office/drawing/2014/main" id="{2A8941DA-1B30-467B-910C-A17172322905}"/>
                </a:ext>
              </a:extLst>
            </p:cNvPr>
            <p:cNvSpPr/>
            <p:nvPr/>
          </p:nvSpPr>
          <p:spPr>
            <a:xfrm>
              <a:off x="3872125" y="3029475"/>
              <a:ext cx="65225" cy="129450"/>
            </a:xfrm>
            <a:custGeom>
              <a:avLst/>
              <a:gdLst/>
              <a:ahLst/>
              <a:cxnLst/>
              <a:rect l="l" t="t" r="r" b="b"/>
              <a:pathLst>
                <a:path w="2609" h="5178" extrusionOk="0">
                  <a:moveTo>
                    <a:pt x="0" y="1"/>
                  </a:moveTo>
                  <a:lnTo>
                    <a:pt x="0" y="4232"/>
                  </a:lnTo>
                  <a:cubicBezTo>
                    <a:pt x="0" y="4758"/>
                    <a:pt x="426" y="5177"/>
                    <a:pt x="952" y="5177"/>
                  </a:cubicBezTo>
                  <a:lnTo>
                    <a:pt x="1657" y="5177"/>
                  </a:lnTo>
                  <a:cubicBezTo>
                    <a:pt x="2183" y="5177"/>
                    <a:pt x="2609" y="4751"/>
                    <a:pt x="2609" y="4232"/>
                  </a:cubicBezTo>
                  <a:lnTo>
                    <a:pt x="2609" y="1"/>
                  </a:lnTo>
                  <a:cubicBezTo>
                    <a:pt x="2609" y="520"/>
                    <a:pt x="2183" y="945"/>
                    <a:pt x="1657" y="945"/>
                  </a:cubicBezTo>
                  <a:lnTo>
                    <a:pt x="952" y="945"/>
                  </a:lnTo>
                  <a:cubicBezTo>
                    <a:pt x="426" y="945"/>
                    <a:pt x="0" y="520"/>
                    <a:pt x="0" y="1"/>
                  </a:cubicBezTo>
                  <a:close/>
                </a:path>
              </a:pathLst>
            </a:custGeom>
            <a:solidFill>
              <a:srgbClr val="2C2C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322;p58">
              <a:extLst>
                <a:ext uri="{FF2B5EF4-FFF2-40B4-BE49-F238E27FC236}">
                  <a16:creationId xmlns:a16="http://schemas.microsoft.com/office/drawing/2014/main" id="{4C385A10-D245-41A8-8E0F-08012A157232}"/>
                </a:ext>
              </a:extLst>
            </p:cNvPr>
            <p:cNvSpPr/>
            <p:nvPr/>
          </p:nvSpPr>
          <p:spPr>
            <a:xfrm>
              <a:off x="1828225" y="2695800"/>
              <a:ext cx="230575" cy="449800"/>
            </a:xfrm>
            <a:custGeom>
              <a:avLst/>
              <a:gdLst/>
              <a:ahLst/>
              <a:cxnLst/>
              <a:rect l="l" t="t" r="r" b="b"/>
              <a:pathLst>
                <a:path w="9223" h="17992" extrusionOk="0">
                  <a:moveTo>
                    <a:pt x="0" y="0"/>
                  </a:moveTo>
                  <a:lnTo>
                    <a:pt x="0" y="17992"/>
                  </a:lnTo>
                  <a:lnTo>
                    <a:pt x="9222" y="17992"/>
                  </a:lnTo>
                  <a:lnTo>
                    <a:pt x="92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1253;p57">
            <a:extLst>
              <a:ext uri="{FF2B5EF4-FFF2-40B4-BE49-F238E27FC236}">
                <a16:creationId xmlns:a16="http://schemas.microsoft.com/office/drawing/2014/main" id="{9B181D31-5AC8-4BCA-A868-2A1FDB28828E}"/>
              </a:ext>
            </a:extLst>
          </p:cNvPr>
          <p:cNvSpPr/>
          <p:nvPr/>
        </p:nvSpPr>
        <p:spPr>
          <a:xfrm>
            <a:off x="5529938" y="3708479"/>
            <a:ext cx="427197" cy="554542"/>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文字方塊 35">
            <a:extLst>
              <a:ext uri="{FF2B5EF4-FFF2-40B4-BE49-F238E27FC236}">
                <a16:creationId xmlns:a16="http://schemas.microsoft.com/office/drawing/2014/main" id="{41BF6ACB-EECF-4666-A137-7B3DA7F45CCA}"/>
              </a:ext>
            </a:extLst>
          </p:cNvPr>
          <p:cNvSpPr txBox="1"/>
          <p:nvPr/>
        </p:nvSpPr>
        <p:spPr>
          <a:xfrm>
            <a:off x="8585770" y="4631694"/>
            <a:ext cx="316112" cy="261610"/>
          </a:xfrm>
          <a:prstGeom prst="rect">
            <a:avLst/>
          </a:prstGeom>
          <a:noFill/>
        </p:spPr>
        <p:txBody>
          <a:bodyPr wrap="none" rtlCol="0">
            <a:spAutoFit/>
          </a:bodyPr>
          <a:lstStyle/>
          <a:p>
            <a:r>
              <a:rPr lang="en-US" altLang="zh-TW" sz="1100" dirty="0">
                <a:latin typeface="Montserrat" panose="02020500000000000000" charset="0"/>
              </a:rPr>
              <a:t>31</a:t>
            </a:r>
            <a:endParaRPr lang="zh-TW" altLang="en-US" sz="1100" dirty="0">
              <a:latin typeface="Montserrat" panose="02020500000000000000" charset="0"/>
            </a:endParaRPr>
          </a:p>
        </p:txBody>
      </p:sp>
      <p:grpSp>
        <p:nvGrpSpPr>
          <p:cNvPr id="61" name="群組 60">
            <a:extLst>
              <a:ext uri="{FF2B5EF4-FFF2-40B4-BE49-F238E27FC236}">
                <a16:creationId xmlns:a16="http://schemas.microsoft.com/office/drawing/2014/main" id="{68A17821-4342-4864-A0AD-43132617E998}"/>
              </a:ext>
            </a:extLst>
          </p:cNvPr>
          <p:cNvGrpSpPr/>
          <p:nvPr/>
        </p:nvGrpSpPr>
        <p:grpSpPr>
          <a:xfrm>
            <a:off x="2852619" y="2423186"/>
            <a:ext cx="3438762" cy="1333250"/>
            <a:chOff x="2852619" y="2423186"/>
            <a:chExt cx="3438762" cy="1333250"/>
          </a:xfrm>
        </p:grpSpPr>
        <p:sp>
          <p:nvSpPr>
            <p:cNvPr id="96" name="文字方塊 95">
              <a:extLst>
                <a:ext uri="{FF2B5EF4-FFF2-40B4-BE49-F238E27FC236}">
                  <a16:creationId xmlns:a16="http://schemas.microsoft.com/office/drawing/2014/main" id="{F6FD16CC-F4B2-44B8-A55D-BA70B013BA8A}"/>
                </a:ext>
              </a:extLst>
            </p:cNvPr>
            <p:cNvSpPr txBox="1"/>
            <p:nvPr/>
          </p:nvSpPr>
          <p:spPr>
            <a:xfrm>
              <a:off x="2852619" y="2423186"/>
              <a:ext cx="3438762"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SHG/SPDC</a:t>
              </a:r>
            </a:p>
            <a:p>
              <a:pPr marL="171450" indent="-171450">
                <a:lnSpc>
                  <a:spcPct val="150000"/>
                </a:lnSpc>
                <a:buFont typeface="Arial" panose="020B0604020202020204" pitchFamily="34" charset="0"/>
                <a:buChar char="•"/>
              </a:pPr>
              <a:r>
                <a:rPr lang="en-US" altLang="zh-TW" sz="1100" dirty="0">
                  <a:solidFill>
                    <a:schemeClr val="tx1"/>
                  </a:solidFill>
                  <a:latin typeface="Montserrat"/>
                  <a:ea typeface="Montserrat"/>
                  <a:cs typeface="Montserrat"/>
                  <a:sym typeface="Montserrat"/>
                </a:rPr>
                <a:t>Quasi-phase-matching</a:t>
              </a:r>
              <a:endParaRPr lang="en-US" altLang="zh-TW" sz="1100" dirty="0">
                <a:solidFill>
                  <a:schemeClr val="tx1"/>
                </a:solidFill>
                <a:latin typeface="Montserrat" panose="02020500000000000000" charset="0"/>
                <a:ea typeface="Montserrat"/>
                <a:cs typeface="Montserrat"/>
                <a:sym typeface="Montserrat"/>
              </a:endParaRPr>
            </a:p>
            <a:p>
              <a:pPr marL="171450" indent="-171450">
                <a:lnSpc>
                  <a:spcPct val="150000"/>
                </a:lnSpc>
                <a:buFont typeface="Arial" panose="020B0604020202020204" pitchFamily="34" charset="0"/>
                <a:buChar char="•"/>
              </a:pPr>
              <a:r>
                <a:rPr lang="en-US" altLang="zh-TW" sz="1100" dirty="0">
                  <a:latin typeface="Montserrat" panose="02020500000000000000" charset="0"/>
                </a:rPr>
                <a:t>Electro-optical polarization mode converter</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effect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 with EO-PMC</a:t>
              </a:r>
            </a:p>
          </p:txBody>
        </p:sp>
        <p:sp>
          <p:nvSpPr>
            <p:cNvPr id="63" name="矩形 62">
              <a:extLst>
                <a:ext uri="{FF2B5EF4-FFF2-40B4-BE49-F238E27FC236}">
                  <a16:creationId xmlns:a16="http://schemas.microsoft.com/office/drawing/2014/main" id="{5B5E0176-C301-43D7-B39C-FFF3333C3C8B}"/>
                </a:ext>
              </a:extLst>
            </p:cNvPr>
            <p:cNvSpPr/>
            <p:nvPr/>
          </p:nvSpPr>
          <p:spPr>
            <a:xfrm>
              <a:off x="2852619" y="2518959"/>
              <a:ext cx="3344981" cy="1000660"/>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4234958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08384887-8BD2-4B45-A7B4-9BCC33FFABB9}"/>
              </a:ext>
            </a:extLst>
          </p:cNvPr>
          <p:cNvGrpSpPr/>
          <p:nvPr/>
        </p:nvGrpSpPr>
        <p:grpSpPr>
          <a:xfrm>
            <a:off x="192683" y="-911"/>
            <a:ext cx="8761417" cy="295831"/>
            <a:chOff x="192683" y="-911"/>
            <a:chExt cx="8761417" cy="295831"/>
          </a:xfrm>
        </p:grpSpPr>
        <p:sp>
          <p:nvSpPr>
            <p:cNvPr id="5" name="矩形 4">
              <a:extLst>
                <a:ext uri="{FF2B5EF4-FFF2-40B4-BE49-F238E27FC236}">
                  <a16:creationId xmlns:a16="http://schemas.microsoft.com/office/drawing/2014/main" id="{5B3BD64C-4F2C-4080-A803-910EEB1EAD75}"/>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A51A06A9-4F74-4DE7-9F5D-512BB14DD148}"/>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CCA86629-5A6C-4E27-914B-C42B2DC360D9}"/>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E7D32B52-3B34-4F9E-93CE-329EC8008FBD}"/>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ED02AF28-CA06-477E-84C0-3FCA3578901C}"/>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2C77C0E0-01AE-469F-9F86-CBDA50F63E92}"/>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1" name="文字方塊 10">
            <a:extLst>
              <a:ext uri="{FF2B5EF4-FFF2-40B4-BE49-F238E27FC236}">
                <a16:creationId xmlns:a16="http://schemas.microsoft.com/office/drawing/2014/main" id="{53539DA5-FA97-40E4-9532-070328E7D390}"/>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32</a:t>
            </a:r>
            <a:endParaRPr lang="zh-TW" altLang="en-US" sz="1100" dirty="0">
              <a:latin typeface="Montserrat" panose="02020500000000000000" charset="0"/>
            </a:endParaRPr>
          </a:p>
        </p:txBody>
      </p:sp>
      <p:sp>
        <p:nvSpPr>
          <p:cNvPr id="12" name="Google Shape;212;p36">
            <a:extLst>
              <a:ext uri="{FF2B5EF4-FFF2-40B4-BE49-F238E27FC236}">
                <a16:creationId xmlns:a16="http://schemas.microsoft.com/office/drawing/2014/main" id="{3115427C-80C1-4EA9-AC2E-0A05778F2FCE}"/>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Spectrum of SPDC with EO-PMC</a:t>
            </a:r>
          </a:p>
        </p:txBody>
      </p:sp>
      <p:grpSp>
        <p:nvGrpSpPr>
          <p:cNvPr id="22" name="群組 21">
            <a:extLst>
              <a:ext uri="{FF2B5EF4-FFF2-40B4-BE49-F238E27FC236}">
                <a16:creationId xmlns:a16="http://schemas.microsoft.com/office/drawing/2014/main" id="{77C2B46F-17C8-4E99-8404-C320B79613E7}"/>
              </a:ext>
            </a:extLst>
          </p:cNvPr>
          <p:cNvGrpSpPr/>
          <p:nvPr/>
        </p:nvGrpSpPr>
        <p:grpSpPr>
          <a:xfrm>
            <a:off x="1516524" y="1391197"/>
            <a:ext cx="2877088" cy="625486"/>
            <a:chOff x="963284" y="1146176"/>
            <a:chExt cx="2877088" cy="625486"/>
          </a:xfrm>
        </p:grpSpPr>
        <p:grpSp>
          <p:nvGrpSpPr>
            <p:cNvPr id="19" name="群組 18">
              <a:extLst>
                <a:ext uri="{FF2B5EF4-FFF2-40B4-BE49-F238E27FC236}">
                  <a16:creationId xmlns:a16="http://schemas.microsoft.com/office/drawing/2014/main" id="{EFE7A295-E3CD-4FD7-B16F-039E705F3E9F}"/>
                </a:ext>
              </a:extLst>
            </p:cNvPr>
            <p:cNvGrpSpPr/>
            <p:nvPr/>
          </p:nvGrpSpPr>
          <p:grpSpPr>
            <a:xfrm>
              <a:off x="1449456" y="1383401"/>
              <a:ext cx="2390916" cy="388261"/>
              <a:chOff x="1449456" y="1383401"/>
              <a:chExt cx="2390916" cy="388261"/>
            </a:xfrm>
          </p:grpSpPr>
          <p:cxnSp>
            <p:nvCxnSpPr>
              <p:cNvPr id="3" name="直線單箭頭接點 2">
                <a:extLst>
                  <a:ext uri="{FF2B5EF4-FFF2-40B4-BE49-F238E27FC236}">
                    <a16:creationId xmlns:a16="http://schemas.microsoft.com/office/drawing/2014/main" id="{24584D93-18C4-4F2B-89BE-777A2AAB1546}"/>
                  </a:ext>
                </a:extLst>
              </p:cNvPr>
              <p:cNvCxnSpPr/>
              <p:nvPr/>
            </p:nvCxnSpPr>
            <p:spPr>
              <a:xfrm>
                <a:off x="1585070" y="1506512"/>
                <a:ext cx="199369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3BC1214C-D46F-422E-852E-A6A90D57F7BF}"/>
                  </a:ext>
                </a:extLst>
              </p:cNvPr>
              <p:cNvSpPr txBox="1"/>
              <p:nvPr/>
            </p:nvSpPr>
            <p:spPr>
              <a:xfrm>
                <a:off x="1449456" y="1525441"/>
                <a:ext cx="271228" cy="246221"/>
              </a:xfrm>
              <a:prstGeom prst="rect">
                <a:avLst/>
              </a:prstGeom>
              <a:noFill/>
            </p:spPr>
            <p:txBody>
              <a:bodyPr wrap="none" rtlCol="0">
                <a:spAutoFit/>
              </a:bodyPr>
              <a:lstStyle/>
              <a:p>
                <a:r>
                  <a:rPr lang="en-US" altLang="zh-TW" sz="1000" b="1" dirty="0">
                    <a:latin typeface="Montserrat" panose="02020500000000000000" charset="0"/>
                  </a:rPr>
                  <a:t>0</a:t>
                </a:r>
                <a:endParaRPr lang="zh-TW" altLang="en-US" sz="1000" b="1" dirty="0">
                  <a:latin typeface="Montserrat" panose="02020500000000000000" charset="0"/>
                </a:endParaRPr>
              </a:p>
            </p:txBody>
          </p:sp>
          <p:sp>
            <p:nvSpPr>
              <p:cNvPr id="16" name="文字方塊 15">
                <a:extLst>
                  <a:ext uri="{FF2B5EF4-FFF2-40B4-BE49-F238E27FC236}">
                    <a16:creationId xmlns:a16="http://schemas.microsoft.com/office/drawing/2014/main" id="{84A07B63-3AD9-496B-A92F-2E39605F0EA1}"/>
                  </a:ext>
                </a:extLst>
              </p:cNvPr>
              <p:cNvSpPr txBox="1"/>
              <p:nvPr/>
            </p:nvSpPr>
            <p:spPr>
              <a:xfrm>
                <a:off x="3578762" y="1383401"/>
                <a:ext cx="261610" cy="246221"/>
              </a:xfrm>
              <a:prstGeom prst="rect">
                <a:avLst/>
              </a:prstGeom>
              <a:noFill/>
            </p:spPr>
            <p:txBody>
              <a:bodyPr wrap="none" rtlCol="0">
                <a:spAutoFit/>
              </a:bodyPr>
              <a:lstStyle/>
              <a:p>
                <a:r>
                  <a:rPr lang="en-US" altLang="zh-TW" sz="1000" b="1" dirty="0">
                    <a:latin typeface="Montserrat" panose="02020500000000000000" charset="0"/>
                  </a:rPr>
                  <a:t>x</a:t>
                </a:r>
                <a:endParaRPr lang="zh-TW" altLang="en-US" sz="1000" b="1" dirty="0">
                  <a:latin typeface="Montserrat" panose="02020500000000000000" charset="0"/>
                </a:endParaRPr>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B2EDDF4F-4A81-48F5-B529-1346C7F9A6A0}"/>
                      </a:ext>
                    </a:extLst>
                  </p:cNvPr>
                  <p:cNvSpPr txBox="1"/>
                  <p:nvPr/>
                </p:nvSpPr>
                <p:spPr>
                  <a:xfrm>
                    <a:off x="2985107" y="1540016"/>
                    <a:ext cx="123431"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1" i="1" smtClean="0">
                              <a:latin typeface="Cambria Math" panose="02040503050406030204" pitchFamily="18" charset="0"/>
                              <a:ea typeface="Cambria Math" panose="02040503050406030204" pitchFamily="18" charset="0"/>
                            </a:rPr>
                            <m:t>ℓ</m:t>
                          </m:r>
                        </m:oMath>
                      </m:oMathPara>
                    </a14:m>
                    <a:endParaRPr lang="zh-TW" altLang="en-US" sz="1200" b="1" i="1" dirty="0"/>
                  </a:p>
                </p:txBody>
              </p:sp>
            </mc:Choice>
            <mc:Fallback xmlns="">
              <p:sp>
                <p:nvSpPr>
                  <p:cNvPr id="18" name="文字方塊 17">
                    <a:extLst>
                      <a:ext uri="{FF2B5EF4-FFF2-40B4-BE49-F238E27FC236}">
                        <a16:creationId xmlns:a16="http://schemas.microsoft.com/office/drawing/2014/main" id="{B2EDDF4F-4A81-48F5-B529-1346C7F9A6A0}"/>
                      </a:ext>
                    </a:extLst>
                  </p:cNvPr>
                  <p:cNvSpPr txBox="1">
                    <a:spLocks noRot="1" noChangeAspect="1" noMove="1" noResize="1" noEditPoints="1" noAdjustHandles="1" noChangeArrowheads="1" noChangeShapeType="1" noTextEdit="1"/>
                  </p:cNvSpPr>
                  <p:nvPr/>
                </p:nvSpPr>
                <p:spPr>
                  <a:xfrm>
                    <a:off x="2985107" y="1540016"/>
                    <a:ext cx="123431" cy="184666"/>
                  </a:xfrm>
                  <a:prstGeom prst="rect">
                    <a:avLst/>
                  </a:prstGeom>
                  <a:blipFill>
                    <a:blip r:embed="rId3"/>
                    <a:stretch>
                      <a:fillRect l="-23810" r="-28571" b="-10000"/>
                    </a:stretch>
                  </a:blipFill>
                </p:spPr>
                <p:txBody>
                  <a:bodyPr/>
                  <a:lstStyle/>
                  <a:p>
                    <a:r>
                      <a:rPr lang="zh-TW" altLang="en-US">
                        <a:noFill/>
                      </a:rPr>
                      <a:t> </a:t>
                    </a:r>
                  </a:p>
                </p:txBody>
              </p:sp>
            </mc:Fallback>
          </mc:AlternateContent>
        </p:grpSp>
        <p:sp>
          <p:nvSpPr>
            <p:cNvPr id="20" name="箭號: 向下 19">
              <a:extLst>
                <a:ext uri="{FF2B5EF4-FFF2-40B4-BE49-F238E27FC236}">
                  <a16:creationId xmlns:a16="http://schemas.microsoft.com/office/drawing/2014/main" id="{4AC62780-6F41-423F-AB07-33AB3DFCB98D}"/>
                </a:ext>
              </a:extLst>
            </p:cNvPr>
            <p:cNvSpPr/>
            <p:nvPr/>
          </p:nvSpPr>
          <p:spPr>
            <a:xfrm rot="16200000">
              <a:off x="1194473" y="1284709"/>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矩形 20">
              <a:extLst>
                <a:ext uri="{FF2B5EF4-FFF2-40B4-BE49-F238E27FC236}">
                  <a16:creationId xmlns:a16="http://schemas.microsoft.com/office/drawing/2014/main" id="{BFBA11AB-DDFF-4A29-AFE4-D4BA4D90A930}"/>
                </a:ext>
              </a:extLst>
            </p:cNvPr>
            <p:cNvSpPr/>
            <p:nvPr/>
          </p:nvSpPr>
          <p:spPr>
            <a:xfrm>
              <a:off x="963284" y="1146176"/>
              <a:ext cx="545342" cy="230832"/>
            </a:xfrm>
            <a:prstGeom prst="rect">
              <a:avLst/>
            </a:prstGeom>
          </p:spPr>
          <p:txBody>
            <a:bodyPr wrap="none">
              <a:spAutoFit/>
            </a:bodyPr>
            <a:lstStyle/>
            <a:p>
              <a:r>
                <a:rPr lang="en-US" altLang="zh-TW" sz="900" b="1" dirty="0">
                  <a:latin typeface="Montserrat" panose="02020500000000000000" charset="0"/>
                </a:rPr>
                <a:t>Pump</a:t>
              </a:r>
            </a:p>
          </p:txBody>
        </p:sp>
      </p:gr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474F59A0-0E06-40EE-9DF1-A22A6A05E428}"/>
                  </a:ext>
                </a:extLst>
              </p:cNvPr>
              <p:cNvSpPr/>
              <p:nvPr/>
            </p:nvSpPr>
            <p:spPr>
              <a:xfrm>
                <a:off x="6294628" y="953298"/>
                <a:ext cx="2463625" cy="1730923"/>
              </a:xfrm>
              <a:prstGeom prst="rect">
                <a:avLst/>
              </a:prstGeom>
            </p:spPr>
            <p:txBody>
              <a:bodyPr wrap="square">
                <a:spAutoFit/>
              </a:bodyPr>
              <a:lstStyle/>
              <a:p>
                <a:pPr>
                  <a:lnSpc>
                    <a:spcPct val="150000"/>
                  </a:lnSpc>
                </a:pPr>
                <a14:m>
                  <m:oMath xmlns:m="http://schemas.openxmlformats.org/officeDocument/2006/math">
                    <m:sSub>
                      <m:sSubPr>
                        <m:ctrlPr>
                          <a:rPr lang="en-US" altLang="zh-TW" sz="90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l-GR" altLang="zh-TW" sz="900" i="1">
                            <a:latin typeface="Cambria Math" panose="02040503050406030204" pitchFamily="18" charset="0"/>
                            <a:ea typeface="標楷體" panose="03000509000000000000" pitchFamily="65" charset="-120"/>
                            <a:cs typeface="Times New Roman" panose="02020603050405020304" pitchFamily="18" charset="0"/>
                          </a:rPr>
                          <m:t>𝜓</m:t>
                        </m:r>
                      </m:e>
                      <m:sub>
                        <m:r>
                          <a:rPr lang="en-US" altLang="zh-TW" sz="900" b="0" i="1" smtClean="0">
                            <a:latin typeface="Cambria Math" panose="02040503050406030204" pitchFamily="18" charset="0"/>
                            <a:ea typeface="標楷體" panose="03000509000000000000" pitchFamily="65" charset="-120"/>
                            <a:cs typeface="Times New Roman" panose="02020603050405020304" pitchFamily="18" charset="0"/>
                          </a:rPr>
                          <m:t>𝑆𝑃𝐷𝐶</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Output of SPDC quantum state</a:t>
                </a:r>
              </a:p>
              <a:p>
                <a:pPr>
                  <a:lnSpc>
                    <a:spcPct val="150000"/>
                  </a:lnSpc>
                </a:pPr>
                <a14:m>
                  <m:oMath xmlns:m="http://schemas.openxmlformats.org/officeDocument/2006/math">
                    <m:r>
                      <a:rPr lang="en-US" altLang="zh-TW" sz="900" b="0" i="1" smtClean="0">
                        <a:latin typeface="Cambria Math" panose="02040503050406030204" pitchFamily="18" charset="0"/>
                        <a:ea typeface="Cambria Math" panose="02040503050406030204" pitchFamily="18" charset="0"/>
                      </a:rPr>
                      <m:t>𝑙</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Length</a:t>
                </a:r>
              </a:p>
              <a:p>
                <a:pPr>
                  <a:lnSpc>
                    <a:spcPct val="150000"/>
                  </a:lnSpc>
                </a:pPr>
                <a14:m>
                  <m:oMath xmlns:m="http://schemas.openxmlformats.org/officeDocument/2006/math">
                    <m:r>
                      <m:rPr>
                        <m:sty m:val="p"/>
                      </m:rPr>
                      <a:rPr lang="el-GR" altLang="zh-TW" sz="900" i="1">
                        <a:latin typeface="Cambria Math" panose="02040503050406030204" pitchFamily="18" charset="0"/>
                        <a:ea typeface="Cambria Math" panose="02040503050406030204" pitchFamily="18" charset="0"/>
                      </a:rPr>
                      <m:t>Ω</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Frequency difference</a:t>
                </a:r>
              </a:p>
              <a:p>
                <a:pPr>
                  <a:lnSpc>
                    <a:spcPct val="150000"/>
                  </a:lnSpc>
                </a:pPr>
                <a14:m>
                  <m:oMath xmlns:m="http://schemas.openxmlformats.org/officeDocument/2006/math">
                    <m:r>
                      <a:rPr lang="en-US" altLang="zh-TW" sz="900" b="0" i="1" smtClean="0">
                        <a:latin typeface="Cambria Math" panose="02040503050406030204" pitchFamily="18" charset="0"/>
                      </a:rPr>
                      <m:t>𝑥</m:t>
                    </m:r>
                    <m:r>
                      <a:rPr lang="zh-TW" altLang="en-US" sz="900" i="1" smtClean="0">
                        <a:latin typeface="Cambria Math" panose="02040503050406030204" pitchFamily="18" charset="0"/>
                      </a:rPr>
                      <m:t>：</m:t>
                    </m:r>
                  </m:oMath>
                </a14:m>
                <a:r>
                  <a:rPr lang="en-US" altLang="zh-TW" sz="900" dirty="0">
                    <a:latin typeface="Montserrat" panose="02020500000000000000" charset="0"/>
                    <a:cs typeface="Times New Roman" pitchFamily="18" charset="0"/>
                  </a:rPr>
                  <a:t>position</a:t>
                </a:r>
              </a:p>
              <a:p>
                <a:pPr>
                  <a:lnSpc>
                    <a:spcPct val="150000"/>
                  </a:lnSpc>
                </a:pPr>
                <a14:m>
                  <m:oMath xmlns:m="http://schemas.openxmlformats.org/officeDocument/2006/math">
                    <m:r>
                      <a:rPr lang="zh-TW" altLang="en-US" sz="900">
                        <a:latin typeface="Cambria Math" panose="02040503050406030204" pitchFamily="18" charset="0"/>
                      </a:rPr>
                      <m:t>∆</m:t>
                    </m:r>
                    <m:r>
                      <a:rPr lang="zh-TW" altLang="en-US" sz="900" i="1">
                        <a:latin typeface="Cambria Math" panose="02040503050406030204" pitchFamily="18" charset="0"/>
                      </a:rPr>
                      <m:t>𝑘</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phase matching condition</a:t>
                </a:r>
              </a:p>
              <a:p>
                <a:pPr>
                  <a:lnSpc>
                    <a:spcPct val="150000"/>
                  </a:lnSpc>
                </a:pPr>
                <a14:m>
                  <m:oMath xmlns:m="http://schemas.openxmlformats.org/officeDocument/2006/math">
                    <m:r>
                      <a:rPr lang="en-US" altLang="zh-TW" sz="900" b="0" i="1" smtClean="0">
                        <a:latin typeface="Cambria Math" panose="02040503050406030204" pitchFamily="18" charset="0"/>
                        <a:ea typeface="Cambria Math" panose="02040503050406030204" pitchFamily="18" charset="0"/>
                      </a:rPr>
                      <m:t>𝑎</m:t>
                    </m:r>
                    <m:r>
                      <a:rPr lang="en-US" altLang="zh-TW" sz="900" b="0" i="1" smtClean="0">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𝑏</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Polarization operator</a:t>
                </a:r>
              </a:p>
              <a:p>
                <a:pPr>
                  <a:lnSpc>
                    <a:spcPct val="150000"/>
                  </a:lnSpc>
                </a:pPr>
                <a14:m>
                  <m:oMath xmlns:m="http://schemas.openxmlformats.org/officeDocument/2006/math">
                    <m:sSub>
                      <m:sSubPr>
                        <m:ctrlPr>
                          <a:rPr lang="en-US" altLang="zh-TW" sz="900" i="1">
                            <a:latin typeface="Cambria Math" panose="02040503050406030204" pitchFamily="18" charset="0"/>
                            <a:ea typeface="Cambria Math" panose="02040503050406030204" pitchFamily="18" charset="0"/>
                          </a:rPr>
                        </m:ctrlPr>
                      </m:sSubPr>
                      <m:e>
                        <m:r>
                          <a:rPr lang="zh-TW" altLang="en-US" sz="900" i="1">
                            <a:latin typeface="Cambria Math" panose="02040503050406030204" pitchFamily="18" charset="0"/>
                            <a:ea typeface="Cambria Math" panose="02040503050406030204" pitchFamily="18" charset="0"/>
                          </a:rPr>
                          <m:t>𝜔</m:t>
                        </m:r>
                      </m:e>
                      <m:sub>
                        <m:r>
                          <a:rPr lang="en-US" altLang="zh-TW" sz="900" i="1">
                            <a:latin typeface="Cambria Math" panose="02040503050406030204" pitchFamily="18" charset="0"/>
                            <a:ea typeface="Cambria Math" panose="02040503050406030204" pitchFamily="18" charset="0"/>
                          </a:rPr>
                          <m:t>𝑠</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Central frequency of signal</a:t>
                </a:r>
              </a:p>
              <a:p>
                <a:pPr>
                  <a:lnSpc>
                    <a:spcPct val="150000"/>
                  </a:lnSpc>
                </a:pPr>
                <a14:m>
                  <m:oMath xmlns:m="http://schemas.openxmlformats.org/officeDocument/2006/math">
                    <m:sSub>
                      <m:sSubPr>
                        <m:ctrlPr>
                          <a:rPr lang="en-US" altLang="zh-TW" sz="900" i="1">
                            <a:latin typeface="Cambria Math" panose="02040503050406030204" pitchFamily="18" charset="0"/>
                            <a:ea typeface="Cambria Math" panose="02040503050406030204" pitchFamily="18" charset="0"/>
                          </a:rPr>
                        </m:ctrlPr>
                      </m:sSubPr>
                      <m:e>
                        <m:r>
                          <a:rPr lang="zh-TW" altLang="en-US" sz="900" i="1">
                            <a:latin typeface="Cambria Math" panose="02040503050406030204" pitchFamily="18" charset="0"/>
                            <a:ea typeface="Cambria Math" panose="02040503050406030204" pitchFamily="18" charset="0"/>
                          </a:rPr>
                          <m:t>𝜔</m:t>
                        </m:r>
                      </m:e>
                      <m:sub>
                        <m:r>
                          <a:rPr lang="en-US" altLang="zh-TW" sz="900" i="1">
                            <a:latin typeface="Cambria Math" panose="02040503050406030204" pitchFamily="18" charset="0"/>
                            <a:ea typeface="Cambria Math" panose="02040503050406030204" pitchFamily="18" charset="0"/>
                          </a:rPr>
                          <m:t>𝑖</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 Central frequency of idler</a:t>
                </a:r>
              </a:p>
            </p:txBody>
          </p:sp>
        </mc:Choice>
        <mc:Fallback xmlns="">
          <p:sp>
            <p:nvSpPr>
              <p:cNvPr id="50" name="矩形 49">
                <a:extLst>
                  <a:ext uri="{FF2B5EF4-FFF2-40B4-BE49-F238E27FC236}">
                    <a16:creationId xmlns:a16="http://schemas.microsoft.com/office/drawing/2014/main" id="{474F59A0-0E06-40EE-9DF1-A22A6A05E428}"/>
                  </a:ext>
                </a:extLst>
              </p:cNvPr>
              <p:cNvSpPr>
                <a:spLocks noRot="1" noChangeAspect="1" noMove="1" noResize="1" noEditPoints="1" noAdjustHandles="1" noChangeArrowheads="1" noChangeShapeType="1" noTextEdit="1"/>
              </p:cNvSpPr>
              <p:nvPr/>
            </p:nvSpPr>
            <p:spPr>
              <a:xfrm>
                <a:off x="6294628" y="953298"/>
                <a:ext cx="2463625" cy="1730923"/>
              </a:xfrm>
              <a:prstGeom prst="rect">
                <a:avLst/>
              </a:prstGeom>
              <a:blipFill>
                <a:blip r:embed="rId4"/>
                <a:stretch>
                  <a:fillRect b="-1056"/>
                </a:stretch>
              </a:blipFill>
            </p:spPr>
            <p:txBody>
              <a:bodyPr/>
              <a:lstStyle/>
              <a:p>
                <a:r>
                  <a:rPr lang="zh-TW" altLang="en-US">
                    <a:noFill/>
                  </a:rPr>
                  <a:t> </a:t>
                </a:r>
              </a:p>
            </p:txBody>
          </p:sp>
        </mc:Fallback>
      </mc:AlternateContent>
      <p:sp>
        <p:nvSpPr>
          <p:cNvPr id="51" name="文字方塊 50">
            <a:extLst>
              <a:ext uri="{FF2B5EF4-FFF2-40B4-BE49-F238E27FC236}">
                <a16:creationId xmlns:a16="http://schemas.microsoft.com/office/drawing/2014/main" id="{094F8078-2381-4451-BCC9-A52488105433}"/>
              </a:ext>
            </a:extLst>
          </p:cNvPr>
          <p:cNvSpPr txBox="1"/>
          <p:nvPr/>
        </p:nvSpPr>
        <p:spPr>
          <a:xfrm>
            <a:off x="7557283" y="4804946"/>
            <a:ext cx="1204176" cy="338554"/>
          </a:xfrm>
          <a:prstGeom prst="rect">
            <a:avLst/>
          </a:prstGeom>
          <a:noFill/>
        </p:spPr>
        <p:txBody>
          <a:bodyPr wrap="none" rtlCol="0">
            <a:spAutoFit/>
          </a:bodyPr>
          <a:lstStyle/>
          <a:p>
            <a:r>
              <a:rPr lang="en-US" altLang="zh-TW" sz="800" dirty="0">
                <a:solidFill>
                  <a:schemeClr val="tx1"/>
                </a:solidFill>
                <a:latin typeface="Montserrat" panose="02020500000000000000" charset="0"/>
              </a:rPr>
              <a:t>(Ming et al.)</a:t>
            </a:r>
          </a:p>
          <a:p>
            <a:r>
              <a:rPr lang="en-US" altLang="zh-TW" sz="800" dirty="0">
                <a:solidFill>
                  <a:schemeClr val="tx1"/>
                </a:solidFill>
                <a:latin typeface="Montserrat" panose="02020500000000000000" charset="0"/>
              </a:rPr>
              <a:t>(Herzog et al., 2008)</a:t>
            </a:r>
          </a:p>
        </p:txBody>
      </p:sp>
      <p:sp>
        <p:nvSpPr>
          <p:cNvPr id="52" name="矩形 51">
            <a:extLst>
              <a:ext uri="{FF2B5EF4-FFF2-40B4-BE49-F238E27FC236}">
                <a16:creationId xmlns:a16="http://schemas.microsoft.com/office/drawing/2014/main" id="{A75B803A-FA34-477F-A140-5AC7619ED987}"/>
              </a:ext>
            </a:extLst>
          </p:cNvPr>
          <p:cNvSpPr/>
          <p:nvPr/>
        </p:nvSpPr>
        <p:spPr>
          <a:xfrm>
            <a:off x="988436" y="906179"/>
            <a:ext cx="704039" cy="246221"/>
          </a:xfrm>
          <a:prstGeom prst="rect">
            <a:avLst/>
          </a:prstGeom>
        </p:spPr>
        <p:txBody>
          <a:bodyPr wrap="none">
            <a:spAutoFit/>
          </a:bodyPr>
          <a:lstStyle/>
          <a:p>
            <a:r>
              <a:rPr lang="en-US" altLang="zh-TW" sz="1000" b="1" dirty="0">
                <a:latin typeface="Montserrat" panose="02020500000000000000" charset="0"/>
              </a:rPr>
              <a:t>General</a:t>
            </a:r>
          </a:p>
        </p:txBody>
      </p:sp>
      <p:grpSp>
        <p:nvGrpSpPr>
          <p:cNvPr id="56" name="群組 55">
            <a:extLst>
              <a:ext uri="{FF2B5EF4-FFF2-40B4-BE49-F238E27FC236}">
                <a16:creationId xmlns:a16="http://schemas.microsoft.com/office/drawing/2014/main" id="{7FEEEC49-6300-4F20-9720-5F4BF6D4A2D8}"/>
              </a:ext>
            </a:extLst>
          </p:cNvPr>
          <p:cNvGrpSpPr/>
          <p:nvPr/>
        </p:nvGrpSpPr>
        <p:grpSpPr>
          <a:xfrm>
            <a:off x="1654896" y="2804816"/>
            <a:ext cx="5653373" cy="1286502"/>
            <a:chOff x="1654896" y="2471381"/>
            <a:chExt cx="5653373" cy="1286502"/>
          </a:xfrm>
        </p:grpSpPr>
        <p:grpSp>
          <p:nvGrpSpPr>
            <p:cNvPr id="48" name="群組 47">
              <a:extLst>
                <a:ext uri="{FF2B5EF4-FFF2-40B4-BE49-F238E27FC236}">
                  <a16:creationId xmlns:a16="http://schemas.microsoft.com/office/drawing/2014/main" id="{35B90739-A6DD-449A-AF3A-971A4665B509}"/>
                </a:ext>
              </a:extLst>
            </p:cNvPr>
            <p:cNvGrpSpPr/>
            <p:nvPr/>
          </p:nvGrpSpPr>
          <p:grpSpPr>
            <a:xfrm>
              <a:off x="1654896" y="2471381"/>
              <a:ext cx="5653373" cy="1286502"/>
              <a:chOff x="938616" y="1907394"/>
              <a:chExt cx="5653373" cy="1286502"/>
            </a:xfrm>
          </p:grpSpPr>
          <p:grpSp>
            <p:nvGrpSpPr>
              <p:cNvPr id="25" name="群組 24">
                <a:extLst>
                  <a:ext uri="{FF2B5EF4-FFF2-40B4-BE49-F238E27FC236}">
                    <a16:creationId xmlns:a16="http://schemas.microsoft.com/office/drawing/2014/main" id="{1BD3FE38-06F2-4630-AF75-34CBD71BF7E7}"/>
                  </a:ext>
                </a:extLst>
              </p:cNvPr>
              <p:cNvGrpSpPr/>
              <p:nvPr/>
            </p:nvGrpSpPr>
            <p:grpSpPr>
              <a:xfrm>
                <a:off x="938616" y="1907394"/>
                <a:ext cx="3037569" cy="472709"/>
                <a:chOff x="1233725" y="2210071"/>
                <a:chExt cx="3037569" cy="472709"/>
              </a:xfrm>
            </p:grpSpPr>
            <p:pic>
              <p:nvPicPr>
                <p:cNvPr id="23" name="圖片 22">
                  <a:extLst>
                    <a:ext uri="{FF2B5EF4-FFF2-40B4-BE49-F238E27FC236}">
                      <a16:creationId xmlns:a16="http://schemas.microsoft.com/office/drawing/2014/main" id="{764F3D40-7A63-45A3-96C6-F6D9981CAE1F}"/>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717139" y="2210071"/>
                  <a:ext cx="2554155" cy="472709"/>
                </a:xfrm>
                <a:prstGeom prst="rect">
                  <a:avLst/>
                </a:prstGeom>
              </p:spPr>
            </p:pic>
            <p:sp>
              <p:nvSpPr>
                <p:cNvPr id="24" name="箭號: 向下 23">
                  <a:extLst>
                    <a:ext uri="{FF2B5EF4-FFF2-40B4-BE49-F238E27FC236}">
                      <a16:creationId xmlns:a16="http://schemas.microsoft.com/office/drawing/2014/main" id="{22982CE1-F03E-4081-A927-445A5A276E6D}"/>
                    </a:ext>
                  </a:extLst>
                </p:cNvPr>
                <p:cNvSpPr/>
                <p:nvPr/>
              </p:nvSpPr>
              <p:spPr>
                <a:xfrm rot="16200000">
                  <a:off x="1326542" y="2289780"/>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8" name="群組 37">
                <a:extLst>
                  <a:ext uri="{FF2B5EF4-FFF2-40B4-BE49-F238E27FC236}">
                    <a16:creationId xmlns:a16="http://schemas.microsoft.com/office/drawing/2014/main" id="{9A07B75E-AD93-4A77-A853-EF399730E9F0}"/>
                  </a:ext>
                </a:extLst>
              </p:cNvPr>
              <p:cNvGrpSpPr/>
              <p:nvPr/>
            </p:nvGrpSpPr>
            <p:grpSpPr>
              <a:xfrm>
                <a:off x="3430962" y="2282065"/>
                <a:ext cx="426048" cy="796415"/>
                <a:chOff x="3430962" y="2282065"/>
                <a:chExt cx="426048" cy="796415"/>
              </a:xfrm>
            </p:grpSpPr>
            <p:cxnSp>
              <p:nvCxnSpPr>
                <p:cNvPr id="29" name="直線接點 28">
                  <a:extLst>
                    <a:ext uri="{FF2B5EF4-FFF2-40B4-BE49-F238E27FC236}">
                      <a16:creationId xmlns:a16="http://schemas.microsoft.com/office/drawing/2014/main" id="{782DB8EF-401F-4895-91DB-FDB98F6C3FC5}"/>
                    </a:ext>
                  </a:extLst>
                </p:cNvPr>
                <p:cNvCxnSpPr/>
                <p:nvPr/>
              </p:nvCxnSpPr>
              <p:spPr>
                <a:xfrm>
                  <a:off x="3430962" y="2282065"/>
                  <a:ext cx="130805" cy="0"/>
                </a:xfrm>
                <a:prstGeom prst="line">
                  <a:avLst/>
                </a:prstGeom>
                <a:ln w="76200" cmpd="dbl">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21FA8A6B-6AEE-4263-B29E-F1F4B532A356}"/>
                    </a:ext>
                  </a:extLst>
                </p:cNvPr>
                <p:cNvCxnSpPr>
                  <a:cxnSpLocks/>
                </p:cNvCxnSpPr>
                <p:nvPr/>
              </p:nvCxnSpPr>
              <p:spPr>
                <a:xfrm flipH="1">
                  <a:off x="3496364" y="2316417"/>
                  <a:ext cx="1378" cy="76206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D2AC60AA-728E-4EDC-B74D-EA121492082C}"/>
                    </a:ext>
                  </a:extLst>
                </p:cNvPr>
                <p:cNvCxnSpPr/>
                <p:nvPr/>
              </p:nvCxnSpPr>
              <p:spPr>
                <a:xfrm>
                  <a:off x="3482414" y="3067050"/>
                  <a:ext cx="374596"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群組 41">
                <a:extLst>
                  <a:ext uri="{FF2B5EF4-FFF2-40B4-BE49-F238E27FC236}">
                    <a16:creationId xmlns:a16="http://schemas.microsoft.com/office/drawing/2014/main" id="{D1A09368-6D7B-4BDB-BA5D-D804AF1BE054}"/>
                  </a:ext>
                </a:extLst>
              </p:cNvPr>
              <p:cNvGrpSpPr/>
              <p:nvPr/>
            </p:nvGrpSpPr>
            <p:grpSpPr>
              <a:xfrm>
                <a:off x="3614524" y="2282065"/>
                <a:ext cx="435341" cy="339215"/>
                <a:chOff x="3614524" y="2282065"/>
                <a:chExt cx="435341" cy="339215"/>
              </a:xfrm>
            </p:grpSpPr>
            <p:cxnSp>
              <p:nvCxnSpPr>
                <p:cNvPr id="30" name="直線接點 29">
                  <a:extLst>
                    <a:ext uri="{FF2B5EF4-FFF2-40B4-BE49-F238E27FC236}">
                      <a16:creationId xmlns:a16="http://schemas.microsoft.com/office/drawing/2014/main" id="{C707DB0D-A98B-4296-BE15-5EEFD322EAC3}"/>
                    </a:ext>
                  </a:extLst>
                </p:cNvPr>
                <p:cNvCxnSpPr/>
                <p:nvPr/>
              </p:nvCxnSpPr>
              <p:spPr>
                <a:xfrm>
                  <a:off x="3614524" y="2282065"/>
                  <a:ext cx="130805" cy="0"/>
                </a:xfrm>
                <a:prstGeom prst="line">
                  <a:avLst/>
                </a:prstGeom>
                <a:ln w="76200" cmpd="dbl">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6302FE28-DCDD-4438-9D0D-7D54B5FABD0B}"/>
                    </a:ext>
                  </a:extLst>
                </p:cNvPr>
                <p:cNvCxnSpPr/>
                <p:nvPr/>
              </p:nvCxnSpPr>
              <p:spPr>
                <a:xfrm>
                  <a:off x="3677332" y="2316417"/>
                  <a:ext cx="0" cy="304863"/>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0BC65880-BCAC-4E2D-9A55-08419DEE2E4B}"/>
                    </a:ext>
                  </a:extLst>
                </p:cNvPr>
                <p:cNvCxnSpPr/>
                <p:nvPr/>
              </p:nvCxnSpPr>
              <p:spPr>
                <a:xfrm>
                  <a:off x="3675269" y="2606040"/>
                  <a:ext cx="374596" cy="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783C3EFA-2A18-419A-B4CB-D8DE8D8471F6}"/>
                      </a:ext>
                    </a:extLst>
                  </p:cNvPr>
                  <p:cNvSpPr txBox="1"/>
                  <p:nvPr/>
                </p:nvSpPr>
                <p:spPr>
                  <a:xfrm>
                    <a:off x="3950465" y="2990106"/>
                    <a:ext cx="98482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000" i="1" smtClean="0">
                                  <a:latin typeface="Cambria Math" panose="02040503050406030204" pitchFamily="18" charset="0"/>
                                </a:rPr>
                              </m:ctrlPr>
                            </m:sSubSup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𝑎</m:t>
                                  </m:r>
                                </m:e>
                              </m:acc>
                            </m:e>
                            <m:sub>
                              <m:r>
                                <a:rPr lang="en-US" altLang="zh-TW" sz="1000" b="0" i="1" smtClean="0">
                                  <a:latin typeface="Cambria Math" panose="02040503050406030204" pitchFamily="18" charset="0"/>
                                </a:rPr>
                                <m:t>𝑠</m:t>
                              </m:r>
                            </m:sub>
                            <m:sup>
                              <m:r>
                                <a:rPr lang="en-US" altLang="zh-TW" sz="1000" b="0" i="1" smtClean="0">
                                  <a:latin typeface="Cambria Math" panose="02040503050406030204" pitchFamily="18" charset="0"/>
                                </a:rPr>
                                <m:t>+</m:t>
                              </m:r>
                            </m:sup>
                          </m:sSubSup>
                          <m:r>
                            <a:rPr lang="en-US" altLang="zh-TW" sz="1000" i="1" smtClean="0">
                              <a:latin typeface="Cambria Math" panose="02040503050406030204" pitchFamily="18" charset="0"/>
                              <a:ea typeface="Cambria Math" panose="02040503050406030204" pitchFamily="18" charset="0"/>
                            </a:rPr>
                            <m:t>≡</m:t>
                          </m:r>
                          <m:sSup>
                            <m:sSupPr>
                              <m:ctrlPr>
                                <a:rPr lang="en-US" altLang="zh-TW" sz="1000" i="1" smtClean="0">
                                  <a:latin typeface="Cambria Math" panose="02040503050406030204" pitchFamily="18" charset="0"/>
                                  <a:ea typeface="Cambria Math" panose="02040503050406030204" pitchFamily="18" charset="0"/>
                                </a:rPr>
                              </m:ctrlPr>
                            </m:sSupPr>
                            <m:e>
                              <m:acc>
                                <m:accPr>
                                  <m:chr m:val="̂"/>
                                  <m:ctrlPr>
                                    <a:rPr lang="en-US" altLang="zh-TW" sz="1000" i="1" smtClean="0">
                                      <a:latin typeface="Cambria Math" panose="02040503050406030204" pitchFamily="18" charset="0"/>
                                      <a:ea typeface="Cambria Math" panose="02040503050406030204" pitchFamily="18" charset="0"/>
                                    </a:rPr>
                                  </m:ctrlPr>
                                </m:accPr>
                                <m:e>
                                  <m:r>
                                    <a:rPr lang="en-US" altLang="zh-TW" sz="1000" b="0" i="1" smtClean="0">
                                      <a:latin typeface="Cambria Math" panose="02040503050406030204" pitchFamily="18" charset="0"/>
                                      <a:ea typeface="Cambria Math" panose="02040503050406030204" pitchFamily="18" charset="0"/>
                                    </a:rPr>
                                    <m:t>𝑎</m:t>
                                  </m:r>
                                </m:e>
                              </m:acc>
                            </m:e>
                            <m:sup>
                              <m:r>
                                <a:rPr lang="en-US" altLang="zh-TW" sz="1000" b="0" i="1" smtClean="0">
                                  <a:latin typeface="Cambria Math" panose="02040503050406030204" pitchFamily="18" charset="0"/>
                                  <a:ea typeface="Cambria Math" panose="02040503050406030204" pitchFamily="18" charset="0"/>
                                </a:rPr>
                                <m:t>+</m:t>
                              </m:r>
                            </m:sup>
                          </m:sSup>
                          <m:d>
                            <m:dPr>
                              <m:ctrlPr>
                                <a:rPr lang="en-US" altLang="zh-TW" sz="1000" i="1" smtClean="0">
                                  <a:latin typeface="Cambria Math" panose="02040503050406030204" pitchFamily="18" charset="0"/>
                                  <a:ea typeface="Cambria Math" panose="02040503050406030204" pitchFamily="18" charset="0"/>
                                </a:rPr>
                              </m:ctrlPr>
                            </m:dPr>
                            <m:e>
                              <m:sSub>
                                <m:sSubPr>
                                  <m:ctrlPr>
                                    <a:rPr lang="en-US" altLang="zh-TW" sz="1000" i="1" smtClean="0">
                                      <a:latin typeface="Cambria Math" panose="02040503050406030204" pitchFamily="18" charset="0"/>
                                      <a:ea typeface="Cambria Math" panose="02040503050406030204" pitchFamily="18" charset="0"/>
                                    </a:rPr>
                                  </m:ctrlPr>
                                </m:sSubPr>
                                <m:e>
                                  <m:r>
                                    <a:rPr lang="zh-TW" altLang="en-US" sz="1000" i="1" smtClean="0">
                                      <a:latin typeface="Cambria Math" panose="02040503050406030204" pitchFamily="18" charset="0"/>
                                      <a:ea typeface="Cambria Math" panose="02040503050406030204" pitchFamily="18" charset="0"/>
                                    </a:rPr>
                                    <m:t>𝜔</m:t>
                                  </m:r>
                                </m:e>
                                <m:sub>
                                  <m:r>
                                    <a:rPr lang="en-US" altLang="zh-TW" sz="1000" b="0" i="1" smtClean="0">
                                      <a:latin typeface="Cambria Math" panose="02040503050406030204" pitchFamily="18" charset="0"/>
                                      <a:ea typeface="Cambria Math" panose="02040503050406030204" pitchFamily="18" charset="0"/>
                                    </a:rPr>
                                    <m:t>𝑠</m:t>
                                  </m:r>
                                </m:sub>
                              </m:sSub>
                              <m:r>
                                <a:rPr lang="en-US" altLang="zh-TW" sz="1000" b="0" i="1" smtClean="0">
                                  <a:latin typeface="Cambria Math" panose="02040503050406030204" pitchFamily="18" charset="0"/>
                                  <a:ea typeface="Cambria Math" panose="02040503050406030204" pitchFamily="18" charset="0"/>
                                </a:rPr>
                                <m:t>+</m:t>
                              </m:r>
                              <m:r>
                                <m:rPr>
                                  <m:sty m:val="p"/>
                                </m:rPr>
                                <a:rPr lang="el-GR" altLang="zh-TW" sz="1000" b="0" i="1" smtClean="0">
                                  <a:latin typeface="Cambria Math" panose="02040503050406030204" pitchFamily="18" charset="0"/>
                                  <a:ea typeface="Cambria Math" panose="02040503050406030204" pitchFamily="18" charset="0"/>
                                </a:rPr>
                                <m:t>Ω</m:t>
                              </m:r>
                            </m:e>
                          </m:d>
                        </m:oMath>
                      </m:oMathPara>
                    </a14:m>
                    <a:endParaRPr lang="zh-TW" altLang="en-US" dirty="0"/>
                  </a:p>
                </p:txBody>
              </p:sp>
            </mc:Choice>
            <mc:Fallback xmlns="">
              <p:sp>
                <p:nvSpPr>
                  <p:cNvPr id="43" name="文字方塊 42">
                    <a:extLst>
                      <a:ext uri="{FF2B5EF4-FFF2-40B4-BE49-F238E27FC236}">
                        <a16:creationId xmlns:a16="http://schemas.microsoft.com/office/drawing/2014/main" id="{783C3EFA-2A18-419A-B4CB-D8DE8D8471F6}"/>
                      </a:ext>
                    </a:extLst>
                  </p:cNvPr>
                  <p:cNvSpPr txBox="1">
                    <a:spLocks noRot="1" noChangeAspect="1" noMove="1" noResize="1" noEditPoints="1" noAdjustHandles="1" noChangeArrowheads="1" noChangeShapeType="1" noTextEdit="1"/>
                  </p:cNvSpPr>
                  <p:nvPr/>
                </p:nvSpPr>
                <p:spPr>
                  <a:xfrm>
                    <a:off x="3950465" y="2990106"/>
                    <a:ext cx="984821" cy="153888"/>
                  </a:xfrm>
                  <a:prstGeom prst="rect">
                    <a:avLst/>
                  </a:prstGeom>
                  <a:blipFill>
                    <a:blip r:embed="rId6"/>
                    <a:stretch>
                      <a:fillRect l="-1242" t="-8000" b="-12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DF2CD3C6-91BA-4BC4-A8EC-665B26D0CBBA}"/>
                      </a:ext>
                    </a:extLst>
                  </p:cNvPr>
                  <p:cNvSpPr txBox="1"/>
                  <p:nvPr/>
                </p:nvSpPr>
                <p:spPr>
                  <a:xfrm>
                    <a:off x="4120344" y="2522940"/>
                    <a:ext cx="973793" cy="166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000" i="1" smtClean="0">
                                  <a:latin typeface="Cambria Math" panose="02040503050406030204" pitchFamily="18" charset="0"/>
                                </a:rPr>
                              </m:ctrlPr>
                            </m:sSubSup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𝑏</m:t>
                                  </m:r>
                                </m:e>
                              </m:acc>
                            </m:e>
                            <m:sub>
                              <m:r>
                                <a:rPr lang="en-US" altLang="zh-TW" sz="1000" b="0" i="1" smtClean="0">
                                  <a:latin typeface="Cambria Math" panose="02040503050406030204" pitchFamily="18" charset="0"/>
                                </a:rPr>
                                <m:t>𝑖</m:t>
                              </m:r>
                            </m:sub>
                            <m:sup>
                              <m:r>
                                <a:rPr lang="en-US" altLang="zh-TW" sz="1000" b="0" i="1" smtClean="0">
                                  <a:latin typeface="Cambria Math" panose="02040503050406030204" pitchFamily="18" charset="0"/>
                                </a:rPr>
                                <m:t>+</m:t>
                              </m:r>
                            </m:sup>
                          </m:sSubSup>
                          <m:r>
                            <a:rPr lang="en-US" altLang="zh-TW" sz="1000" i="1" smtClean="0">
                              <a:latin typeface="Cambria Math" panose="02040503050406030204" pitchFamily="18" charset="0"/>
                              <a:ea typeface="Cambria Math" panose="02040503050406030204" pitchFamily="18" charset="0"/>
                            </a:rPr>
                            <m:t>≡</m:t>
                          </m:r>
                          <m:sSup>
                            <m:sSupPr>
                              <m:ctrlPr>
                                <a:rPr lang="en-US" altLang="zh-TW" sz="1000" i="1" smtClean="0">
                                  <a:latin typeface="Cambria Math" panose="02040503050406030204" pitchFamily="18" charset="0"/>
                                  <a:ea typeface="Cambria Math" panose="02040503050406030204" pitchFamily="18" charset="0"/>
                                </a:rPr>
                              </m:ctrlPr>
                            </m:sSupPr>
                            <m:e>
                              <m:acc>
                                <m:accPr>
                                  <m:chr m:val="̂"/>
                                  <m:ctrlPr>
                                    <a:rPr lang="en-US" altLang="zh-TW" sz="1000" i="1" smtClean="0">
                                      <a:latin typeface="Cambria Math" panose="02040503050406030204" pitchFamily="18" charset="0"/>
                                      <a:ea typeface="Cambria Math" panose="02040503050406030204" pitchFamily="18" charset="0"/>
                                    </a:rPr>
                                  </m:ctrlPr>
                                </m:accPr>
                                <m:e>
                                  <m:r>
                                    <a:rPr lang="en-US" altLang="zh-TW" sz="1000" b="0" i="1" smtClean="0">
                                      <a:latin typeface="Cambria Math" panose="02040503050406030204" pitchFamily="18" charset="0"/>
                                      <a:ea typeface="Cambria Math" panose="02040503050406030204" pitchFamily="18" charset="0"/>
                                    </a:rPr>
                                    <m:t>𝑏</m:t>
                                  </m:r>
                                </m:e>
                              </m:acc>
                            </m:e>
                            <m:sup>
                              <m:r>
                                <a:rPr lang="en-US" altLang="zh-TW" sz="1000" b="0" i="1" smtClean="0">
                                  <a:latin typeface="Cambria Math" panose="02040503050406030204" pitchFamily="18" charset="0"/>
                                  <a:ea typeface="Cambria Math" panose="02040503050406030204" pitchFamily="18" charset="0"/>
                                </a:rPr>
                                <m:t>+</m:t>
                              </m:r>
                            </m:sup>
                          </m:sSup>
                          <m:d>
                            <m:dPr>
                              <m:ctrlPr>
                                <a:rPr lang="en-US" altLang="zh-TW" sz="1000" i="1" smtClean="0">
                                  <a:latin typeface="Cambria Math" panose="02040503050406030204" pitchFamily="18" charset="0"/>
                                  <a:ea typeface="Cambria Math" panose="02040503050406030204" pitchFamily="18" charset="0"/>
                                </a:rPr>
                              </m:ctrlPr>
                            </m:dPr>
                            <m:e>
                              <m:sSub>
                                <m:sSubPr>
                                  <m:ctrlPr>
                                    <a:rPr lang="en-US" altLang="zh-TW" sz="1000" i="1" smtClean="0">
                                      <a:latin typeface="Cambria Math" panose="02040503050406030204" pitchFamily="18" charset="0"/>
                                      <a:ea typeface="Cambria Math" panose="02040503050406030204" pitchFamily="18" charset="0"/>
                                    </a:rPr>
                                  </m:ctrlPr>
                                </m:sSubPr>
                                <m:e>
                                  <m:r>
                                    <a:rPr lang="zh-TW" altLang="en-US" sz="1000" i="1" smtClean="0">
                                      <a:latin typeface="Cambria Math" panose="02040503050406030204" pitchFamily="18" charset="0"/>
                                      <a:ea typeface="Cambria Math" panose="02040503050406030204" pitchFamily="18" charset="0"/>
                                    </a:rPr>
                                    <m:t>𝜔</m:t>
                                  </m:r>
                                </m:e>
                                <m:sub>
                                  <m:r>
                                    <a:rPr lang="en-US" altLang="zh-TW" sz="1000" b="0" i="1" smtClean="0">
                                      <a:latin typeface="Cambria Math" panose="02040503050406030204" pitchFamily="18" charset="0"/>
                                      <a:ea typeface="Cambria Math" panose="02040503050406030204" pitchFamily="18" charset="0"/>
                                    </a:rPr>
                                    <m:t>𝑖</m:t>
                                  </m:r>
                                </m:sub>
                              </m:sSub>
                              <m:r>
                                <a:rPr lang="en-US" altLang="zh-TW" sz="1000" b="0" i="1" smtClean="0">
                                  <a:latin typeface="Cambria Math" panose="02040503050406030204" pitchFamily="18" charset="0"/>
                                  <a:ea typeface="Cambria Math" panose="02040503050406030204" pitchFamily="18" charset="0"/>
                                </a:rPr>
                                <m:t>−</m:t>
                              </m:r>
                              <m:r>
                                <m:rPr>
                                  <m:sty m:val="p"/>
                                </m:rPr>
                                <a:rPr lang="el-GR" altLang="zh-TW" sz="1000" b="0" i="1" smtClean="0">
                                  <a:latin typeface="Cambria Math" panose="02040503050406030204" pitchFamily="18" charset="0"/>
                                  <a:ea typeface="Cambria Math" panose="02040503050406030204" pitchFamily="18" charset="0"/>
                                </a:rPr>
                                <m:t>Ω</m:t>
                              </m:r>
                            </m:e>
                          </m:d>
                        </m:oMath>
                      </m:oMathPara>
                    </a14:m>
                    <a:endParaRPr lang="zh-TW" altLang="en-US" dirty="0"/>
                  </a:p>
                </p:txBody>
              </p:sp>
            </mc:Choice>
            <mc:Fallback xmlns="">
              <p:sp>
                <p:nvSpPr>
                  <p:cNvPr id="44" name="文字方塊 43">
                    <a:extLst>
                      <a:ext uri="{FF2B5EF4-FFF2-40B4-BE49-F238E27FC236}">
                        <a16:creationId xmlns:a16="http://schemas.microsoft.com/office/drawing/2014/main" id="{DF2CD3C6-91BA-4BC4-A8EC-665B26D0CBBA}"/>
                      </a:ext>
                    </a:extLst>
                  </p:cNvPr>
                  <p:cNvSpPr txBox="1">
                    <a:spLocks noRot="1" noChangeAspect="1" noMove="1" noResize="1" noEditPoints="1" noAdjustHandles="1" noChangeArrowheads="1" noChangeShapeType="1" noTextEdit="1"/>
                  </p:cNvSpPr>
                  <p:nvPr/>
                </p:nvSpPr>
                <p:spPr>
                  <a:xfrm>
                    <a:off x="4120344" y="2522940"/>
                    <a:ext cx="973793" cy="166199"/>
                  </a:xfrm>
                  <a:prstGeom prst="rect">
                    <a:avLst/>
                  </a:prstGeom>
                  <a:blipFill>
                    <a:blip r:embed="rId7"/>
                    <a:stretch>
                      <a:fillRect l="-2500" t="-14815" b="-25926"/>
                    </a:stretch>
                  </a:blipFill>
                </p:spPr>
                <p:txBody>
                  <a:bodyPr/>
                  <a:lstStyle/>
                  <a:p>
                    <a:r>
                      <a:rPr lang="zh-TW" altLang="en-US">
                        <a:noFill/>
                      </a:rPr>
                      <a:t> </a:t>
                    </a:r>
                  </a:p>
                </p:txBody>
              </p:sp>
            </mc:Fallback>
          </mc:AlternateContent>
          <p:sp>
            <p:nvSpPr>
              <p:cNvPr id="45" name="矩形 44">
                <a:extLst>
                  <a:ext uri="{FF2B5EF4-FFF2-40B4-BE49-F238E27FC236}">
                    <a16:creationId xmlns:a16="http://schemas.microsoft.com/office/drawing/2014/main" id="{3EB71380-1120-4129-BF17-6BF82908ADF7}"/>
                  </a:ext>
                </a:extLst>
              </p:cNvPr>
              <p:cNvSpPr/>
              <p:nvPr/>
            </p:nvSpPr>
            <p:spPr>
              <a:xfrm>
                <a:off x="5028741" y="2963064"/>
                <a:ext cx="1563248" cy="230832"/>
              </a:xfrm>
              <a:prstGeom prst="rect">
                <a:avLst/>
              </a:prstGeom>
            </p:spPr>
            <p:txBody>
              <a:bodyPr wrap="none">
                <a:spAutoFit/>
              </a:bodyPr>
              <a:lstStyle/>
              <a:p>
                <a:r>
                  <a:rPr lang="en-US" altLang="zh-TW" sz="900" b="1" dirty="0">
                    <a:latin typeface="Montserrat" panose="02020500000000000000" charset="0"/>
                  </a:rPr>
                  <a:t>Horizontal polarization</a:t>
                </a:r>
              </a:p>
            </p:txBody>
          </p:sp>
          <p:sp>
            <p:nvSpPr>
              <p:cNvPr id="47" name="矩形 46">
                <a:extLst>
                  <a:ext uri="{FF2B5EF4-FFF2-40B4-BE49-F238E27FC236}">
                    <a16:creationId xmlns:a16="http://schemas.microsoft.com/office/drawing/2014/main" id="{339D9BAA-7A3C-4B74-A9E4-4575F074FDED}"/>
                  </a:ext>
                </a:extLst>
              </p:cNvPr>
              <p:cNvSpPr/>
              <p:nvPr/>
            </p:nvSpPr>
            <p:spPr>
              <a:xfrm>
                <a:off x="5164616" y="2505864"/>
                <a:ext cx="1404552" cy="230832"/>
              </a:xfrm>
              <a:prstGeom prst="rect">
                <a:avLst/>
              </a:prstGeom>
            </p:spPr>
            <p:txBody>
              <a:bodyPr wrap="none">
                <a:spAutoFit/>
              </a:bodyPr>
              <a:lstStyle/>
              <a:p>
                <a:r>
                  <a:rPr lang="en-US" altLang="zh-TW" sz="900" b="1" dirty="0">
                    <a:latin typeface="Montserrat" panose="02020500000000000000" charset="0"/>
                  </a:rPr>
                  <a:t>Vertical polarization</a:t>
                </a:r>
              </a:p>
            </p:txBody>
          </p:sp>
        </p:grpSp>
        <p:sp>
          <p:nvSpPr>
            <p:cNvPr id="53" name="文字方塊 52">
              <a:extLst>
                <a:ext uri="{FF2B5EF4-FFF2-40B4-BE49-F238E27FC236}">
                  <a16:creationId xmlns:a16="http://schemas.microsoft.com/office/drawing/2014/main" id="{4F6B1FC8-827F-4E0C-A759-EB8482322FAF}"/>
                </a:ext>
              </a:extLst>
            </p:cNvPr>
            <p:cNvSpPr txBox="1"/>
            <p:nvPr/>
          </p:nvSpPr>
          <p:spPr>
            <a:xfrm>
              <a:off x="5251582" y="2580634"/>
              <a:ext cx="425116" cy="246221"/>
            </a:xfrm>
            <a:prstGeom prst="rect">
              <a:avLst/>
            </a:prstGeom>
            <a:noFill/>
          </p:spPr>
          <p:txBody>
            <a:bodyPr wrap="none" rtlCol="0">
              <a:spAutoFit/>
            </a:bodyPr>
            <a:lstStyle/>
            <a:p>
              <a:r>
                <a:rPr lang="en-US" altLang="zh-TW" sz="1000" dirty="0">
                  <a:latin typeface="Montserrat" panose="02020500000000000000" charset="0"/>
                </a:rPr>
                <a:t>(20)</a:t>
              </a:r>
              <a:endParaRPr lang="zh-TW" altLang="en-US" sz="1000" dirty="0">
                <a:latin typeface="Montserrat" panose="02020500000000000000" charset="0"/>
              </a:endParaRPr>
            </a:p>
          </p:txBody>
        </p:sp>
      </p:grpSp>
      <p:sp>
        <p:nvSpPr>
          <p:cNvPr id="57" name="矩形 56">
            <a:extLst>
              <a:ext uri="{FF2B5EF4-FFF2-40B4-BE49-F238E27FC236}">
                <a16:creationId xmlns:a16="http://schemas.microsoft.com/office/drawing/2014/main" id="{07B080D9-5DDF-4C7A-8FAD-1B2ED4DE93CF}"/>
              </a:ext>
            </a:extLst>
          </p:cNvPr>
          <p:cNvSpPr/>
          <p:nvPr/>
        </p:nvSpPr>
        <p:spPr>
          <a:xfrm>
            <a:off x="2140238" y="1498730"/>
            <a:ext cx="1451928" cy="2404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a:extLst>
              <a:ext uri="{FF2B5EF4-FFF2-40B4-BE49-F238E27FC236}">
                <a16:creationId xmlns:a16="http://schemas.microsoft.com/office/drawing/2014/main" id="{005CEA7E-370D-4E3F-9218-89A4B19AB399}"/>
              </a:ext>
            </a:extLst>
          </p:cNvPr>
          <p:cNvSpPr/>
          <p:nvPr/>
        </p:nvSpPr>
        <p:spPr>
          <a:xfrm>
            <a:off x="2263312" y="1505464"/>
            <a:ext cx="1205779" cy="230832"/>
          </a:xfrm>
          <a:prstGeom prst="rect">
            <a:avLst/>
          </a:prstGeom>
        </p:spPr>
        <p:txBody>
          <a:bodyPr wrap="none">
            <a:spAutoFit/>
          </a:bodyPr>
          <a:lstStyle/>
          <a:p>
            <a:r>
              <a:rPr lang="en-US" altLang="zh-TW" sz="900" b="1" dirty="0">
                <a:solidFill>
                  <a:schemeClr val="bg1">
                    <a:lumMod val="50000"/>
                  </a:schemeClr>
                </a:solidFill>
                <a:latin typeface="Montserrat" panose="02020500000000000000" charset="0"/>
              </a:rPr>
              <a:t>Nonlinear device</a:t>
            </a:r>
          </a:p>
        </p:txBody>
      </p:sp>
    </p:spTree>
    <p:extLst>
      <p:ext uri="{BB962C8B-B14F-4D97-AF65-F5344CB8AC3E}">
        <p14:creationId xmlns:p14="http://schemas.microsoft.com/office/powerpoint/2010/main" val="503954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08384887-8BD2-4B45-A7B4-9BCC33FFABB9}"/>
              </a:ext>
            </a:extLst>
          </p:cNvPr>
          <p:cNvGrpSpPr/>
          <p:nvPr/>
        </p:nvGrpSpPr>
        <p:grpSpPr>
          <a:xfrm>
            <a:off x="192683" y="-911"/>
            <a:ext cx="8761417" cy="295831"/>
            <a:chOff x="192683" y="-911"/>
            <a:chExt cx="8761417" cy="295831"/>
          </a:xfrm>
        </p:grpSpPr>
        <p:sp>
          <p:nvSpPr>
            <p:cNvPr id="5" name="矩形 4">
              <a:extLst>
                <a:ext uri="{FF2B5EF4-FFF2-40B4-BE49-F238E27FC236}">
                  <a16:creationId xmlns:a16="http://schemas.microsoft.com/office/drawing/2014/main" id="{5B3BD64C-4F2C-4080-A803-910EEB1EAD75}"/>
                </a:ext>
              </a:extLst>
            </p:cNvPr>
            <p:cNvSpPr/>
            <p:nvPr/>
          </p:nvSpPr>
          <p:spPr>
            <a:xfrm>
              <a:off x="1340456"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Working principles</a:t>
              </a: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A51A06A9-4F74-4DE7-9F5D-512BB14DD148}"/>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CCA86629-5A6C-4E27-914B-C42B2DC360D9}"/>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E7D32B52-3B34-4F9E-93CE-329EC8008FBD}"/>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ED02AF28-CA06-477E-84C0-3FCA3578901C}"/>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2C77C0E0-01AE-469F-9F86-CBDA50F63E92}"/>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1" name="文字方塊 10">
            <a:extLst>
              <a:ext uri="{FF2B5EF4-FFF2-40B4-BE49-F238E27FC236}">
                <a16:creationId xmlns:a16="http://schemas.microsoft.com/office/drawing/2014/main" id="{53539DA5-FA97-40E4-9532-070328E7D390}"/>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33</a:t>
            </a:r>
            <a:endParaRPr lang="zh-TW" altLang="en-US" sz="1100" dirty="0">
              <a:latin typeface="Montserrat" panose="02020500000000000000" charset="0"/>
            </a:endParaRPr>
          </a:p>
        </p:txBody>
      </p:sp>
      <p:sp>
        <p:nvSpPr>
          <p:cNvPr id="12" name="Google Shape;212;p36">
            <a:extLst>
              <a:ext uri="{FF2B5EF4-FFF2-40B4-BE49-F238E27FC236}">
                <a16:creationId xmlns:a16="http://schemas.microsoft.com/office/drawing/2014/main" id="{3115427C-80C1-4EA9-AC2E-0A05778F2FCE}"/>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Spectrum of SPDC with EO-PMC</a:t>
            </a:r>
          </a:p>
        </p:txBody>
      </p:sp>
      <p:sp>
        <p:nvSpPr>
          <p:cNvPr id="36" name="文字方塊 35">
            <a:extLst>
              <a:ext uri="{FF2B5EF4-FFF2-40B4-BE49-F238E27FC236}">
                <a16:creationId xmlns:a16="http://schemas.microsoft.com/office/drawing/2014/main" id="{2422A73B-60AB-4B7C-8B91-D94267D7AC39}"/>
              </a:ext>
            </a:extLst>
          </p:cNvPr>
          <p:cNvSpPr txBox="1"/>
          <p:nvPr/>
        </p:nvSpPr>
        <p:spPr>
          <a:xfrm>
            <a:off x="7557283" y="4804946"/>
            <a:ext cx="1204176" cy="338554"/>
          </a:xfrm>
          <a:prstGeom prst="rect">
            <a:avLst/>
          </a:prstGeom>
          <a:noFill/>
        </p:spPr>
        <p:txBody>
          <a:bodyPr wrap="none" rtlCol="0">
            <a:spAutoFit/>
          </a:bodyPr>
          <a:lstStyle/>
          <a:p>
            <a:r>
              <a:rPr lang="en-US" altLang="zh-TW" sz="800" dirty="0">
                <a:solidFill>
                  <a:schemeClr val="tx1"/>
                </a:solidFill>
                <a:latin typeface="Montserrat" panose="02020500000000000000" charset="0"/>
              </a:rPr>
              <a:t>(Ming et al.)</a:t>
            </a:r>
          </a:p>
          <a:p>
            <a:r>
              <a:rPr lang="en-US" altLang="zh-TW" sz="800" dirty="0">
                <a:solidFill>
                  <a:schemeClr val="tx1"/>
                </a:solidFill>
                <a:latin typeface="Montserrat" panose="02020500000000000000" charset="0"/>
              </a:rPr>
              <a:t>(Herzog et al., 2008)</a:t>
            </a:r>
          </a:p>
        </p:txBody>
      </p:sp>
      <p:sp>
        <p:nvSpPr>
          <p:cNvPr id="39" name="矩形 38">
            <a:extLst>
              <a:ext uri="{FF2B5EF4-FFF2-40B4-BE49-F238E27FC236}">
                <a16:creationId xmlns:a16="http://schemas.microsoft.com/office/drawing/2014/main" id="{9D23D927-D97E-4E0B-A7F1-A2B1F356B460}"/>
              </a:ext>
            </a:extLst>
          </p:cNvPr>
          <p:cNvSpPr/>
          <p:nvPr/>
        </p:nvSpPr>
        <p:spPr>
          <a:xfrm>
            <a:off x="988436" y="906179"/>
            <a:ext cx="2321469" cy="246221"/>
          </a:xfrm>
          <a:prstGeom prst="rect">
            <a:avLst/>
          </a:prstGeom>
        </p:spPr>
        <p:txBody>
          <a:bodyPr wrap="none">
            <a:spAutoFit/>
          </a:bodyPr>
          <a:lstStyle/>
          <a:p>
            <a:r>
              <a:rPr lang="en-US" altLang="zh-TW" sz="1000" b="1" dirty="0">
                <a:latin typeface="Montserrat" panose="02020500000000000000" charset="0"/>
              </a:rPr>
              <a:t>Add EO-PMC process into SPDC</a:t>
            </a:r>
          </a:p>
        </p:txBody>
      </p:sp>
      <p:grpSp>
        <p:nvGrpSpPr>
          <p:cNvPr id="26" name="群組 25">
            <a:extLst>
              <a:ext uri="{FF2B5EF4-FFF2-40B4-BE49-F238E27FC236}">
                <a16:creationId xmlns:a16="http://schemas.microsoft.com/office/drawing/2014/main" id="{268A1647-55CA-432E-92AB-C892FE30E1F4}"/>
              </a:ext>
            </a:extLst>
          </p:cNvPr>
          <p:cNvGrpSpPr/>
          <p:nvPr/>
        </p:nvGrpSpPr>
        <p:grpSpPr>
          <a:xfrm>
            <a:off x="1095353" y="1599383"/>
            <a:ext cx="3944287" cy="610361"/>
            <a:chOff x="1095353" y="1599383"/>
            <a:chExt cx="3944287" cy="610361"/>
          </a:xfrm>
        </p:grpSpPr>
        <p:grpSp>
          <p:nvGrpSpPr>
            <p:cNvPr id="17" name="群組 16">
              <a:extLst>
                <a:ext uri="{FF2B5EF4-FFF2-40B4-BE49-F238E27FC236}">
                  <a16:creationId xmlns:a16="http://schemas.microsoft.com/office/drawing/2014/main" id="{9CC81EA5-0E17-48EC-BA12-748FA7AD05F7}"/>
                </a:ext>
              </a:extLst>
            </p:cNvPr>
            <p:cNvGrpSpPr/>
            <p:nvPr/>
          </p:nvGrpSpPr>
          <p:grpSpPr>
            <a:xfrm>
              <a:off x="1095353" y="1599383"/>
              <a:ext cx="3902545" cy="164276"/>
              <a:chOff x="1095353" y="1599383"/>
              <a:chExt cx="3902545" cy="164276"/>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40BC4C80-C54B-4924-B988-EF303502FC95}"/>
                      </a:ext>
                    </a:extLst>
                  </p:cNvPr>
                  <p:cNvSpPr txBox="1"/>
                  <p:nvPr/>
                </p:nvSpPr>
                <p:spPr>
                  <a:xfrm>
                    <a:off x="1095353" y="1599383"/>
                    <a:ext cx="667426" cy="1642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000" i="1" smtClean="0">
                                  <a:latin typeface="Cambria Math" panose="02040503050406030204" pitchFamily="18" charset="0"/>
                                </a:rPr>
                              </m:ctrlPr>
                            </m:sSubSup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𝑎</m:t>
                                  </m:r>
                                </m:e>
                              </m:acc>
                            </m:e>
                            <m:sub>
                              <m:r>
                                <a:rPr lang="en-US" altLang="zh-TW" sz="1000" b="0" i="1" smtClean="0">
                                  <a:latin typeface="Cambria Math" panose="02040503050406030204" pitchFamily="18" charset="0"/>
                                </a:rPr>
                                <m:t>𝑠</m:t>
                              </m:r>
                            </m:sub>
                            <m:sup>
                              <m:r>
                                <a:rPr lang="en-US" altLang="zh-TW" sz="1000" b="0" i="1" smtClean="0">
                                  <a:latin typeface="Cambria Math" panose="02040503050406030204" pitchFamily="18" charset="0"/>
                                </a:rPr>
                                <m:t>+</m:t>
                              </m:r>
                            </m:sup>
                          </m:sSubSup>
                          <m:sSup>
                            <m:sSupPr>
                              <m:ctrlPr>
                                <a:rPr lang="en-US" altLang="zh-TW" sz="1000" i="1" smtClean="0">
                                  <a:latin typeface="Cambria Math" panose="02040503050406030204" pitchFamily="18" charset="0"/>
                                </a:rPr>
                              </m:ctrlPr>
                            </m:sSupPr>
                            <m:e>
                              <m:r>
                                <a:rPr lang="en-US" altLang="zh-TW" sz="1000" b="0" i="1" smtClean="0">
                                  <a:latin typeface="Cambria Math" panose="02040503050406030204" pitchFamily="18" charset="0"/>
                                </a:rPr>
                                <m:t>𝑒</m:t>
                              </m:r>
                            </m:e>
                            <m:sup>
                              <m:r>
                                <a:rPr lang="en-US" altLang="zh-TW" sz="1000" b="0" i="1" smtClean="0">
                                  <a:latin typeface="Cambria Math" panose="02040503050406030204" pitchFamily="18" charset="0"/>
                                </a:rPr>
                                <m:t>−</m:t>
                              </m:r>
                              <m:r>
                                <a:rPr lang="en-US" altLang="zh-TW" sz="1000" b="0" i="1" smtClean="0">
                                  <a:latin typeface="Cambria Math" panose="02040503050406030204" pitchFamily="18" charset="0"/>
                                </a:rPr>
                                <m:t>𝑖</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𝑘</m:t>
                                  </m:r>
                                </m:e>
                                <m:sub>
                                  <m:r>
                                    <a:rPr lang="en-US" altLang="zh-TW" sz="1000" b="0" i="1" smtClean="0">
                                      <a:latin typeface="Cambria Math" panose="02040503050406030204" pitchFamily="18" charset="0"/>
                                    </a:rPr>
                                    <m:t>𝑠</m:t>
                                  </m:r>
                                </m:sub>
                              </m:sSub>
                              <m:d>
                                <m:dPr>
                                  <m:ctrlPr>
                                    <a:rPr lang="en-US" altLang="zh-TW" sz="1000" b="0" i="1" smtClean="0">
                                      <a:latin typeface="Cambria Math" panose="02040503050406030204" pitchFamily="18" charset="0"/>
                                    </a:rPr>
                                  </m:ctrlPr>
                                </m:dPr>
                                <m:e>
                                  <m:r>
                                    <m:rPr>
                                      <m:sty m:val="p"/>
                                    </m:rPr>
                                    <a:rPr lang="el-GR" altLang="zh-TW" sz="1000" b="0" i="1" smtClean="0">
                                      <a:latin typeface="Cambria Math" panose="02040503050406030204" pitchFamily="18" charset="0"/>
                                      <a:ea typeface="Cambria Math" panose="02040503050406030204" pitchFamily="18" charset="0"/>
                                    </a:rPr>
                                    <m:t>Ω</m:t>
                                  </m:r>
                                </m:e>
                              </m:d>
                              <m:r>
                                <a:rPr lang="en-US" altLang="zh-TW" sz="1000" b="0" i="1" smtClean="0">
                                  <a:latin typeface="Cambria Math" panose="02040503050406030204" pitchFamily="18" charset="0"/>
                                </a:rPr>
                                <m:t>𝑥</m:t>
                              </m:r>
                            </m:sup>
                          </m:sSup>
                        </m:oMath>
                      </m:oMathPara>
                    </a14:m>
                    <a:endParaRPr lang="zh-TW" altLang="en-US" dirty="0"/>
                  </a:p>
                </p:txBody>
              </p:sp>
            </mc:Choice>
            <mc:Fallback xmlns="">
              <p:sp>
                <p:nvSpPr>
                  <p:cNvPr id="2" name="文字方塊 1">
                    <a:extLst>
                      <a:ext uri="{FF2B5EF4-FFF2-40B4-BE49-F238E27FC236}">
                        <a16:creationId xmlns:a16="http://schemas.microsoft.com/office/drawing/2014/main" id="{40BC4C80-C54B-4924-B988-EF303502FC95}"/>
                      </a:ext>
                    </a:extLst>
                  </p:cNvPr>
                  <p:cNvSpPr txBox="1">
                    <a:spLocks noRot="1" noChangeAspect="1" noMove="1" noResize="1" noEditPoints="1" noAdjustHandles="1" noChangeArrowheads="1" noChangeShapeType="1" noTextEdit="1"/>
                  </p:cNvSpPr>
                  <p:nvPr/>
                </p:nvSpPr>
                <p:spPr>
                  <a:xfrm>
                    <a:off x="1095353" y="1599383"/>
                    <a:ext cx="667426" cy="164276"/>
                  </a:xfrm>
                  <a:prstGeom prst="rect">
                    <a:avLst/>
                  </a:prstGeom>
                  <a:blipFill>
                    <a:blip r:embed="rId3"/>
                    <a:stretch>
                      <a:fillRect l="-2752" b="-11111"/>
                    </a:stretch>
                  </a:blipFill>
                </p:spPr>
                <p:txBody>
                  <a:bodyPr/>
                  <a:lstStyle/>
                  <a:p>
                    <a:r>
                      <a:rPr lang="zh-TW" altLang="en-US">
                        <a:noFill/>
                      </a:rPr>
                      <a:t> </a:t>
                    </a:r>
                  </a:p>
                </p:txBody>
              </p:sp>
            </mc:Fallback>
          </mc:AlternateContent>
          <p:sp>
            <p:nvSpPr>
              <p:cNvPr id="46" name="箭號: 向下 45">
                <a:extLst>
                  <a:ext uri="{FF2B5EF4-FFF2-40B4-BE49-F238E27FC236}">
                    <a16:creationId xmlns:a16="http://schemas.microsoft.com/office/drawing/2014/main" id="{50059C8A-0EE8-47F8-B63B-DDAEBCD08C7D}"/>
                  </a:ext>
                </a:extLst>
              </p:cNvPr>
              <p:cNvSpPr/>
              <p:nvPr/>
            </p:nvSpPr>
            <p:spPr>
              <a:xfrm rot="16200000">
                <a:off x="2085295" y="1520693"/>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075103D-B54E-4E23-853E-A819BDF33354}"/>
                      </a:ext>
                    </a:extLst>
                  </p:cNvPr>
                  <p:cNvSpPr txBox="1"/>
                  <p:nvPr/>
                </p:nvSpPr>
                <p:spPr>
                  <a:xfrm>
                    <a:off x="2581916" y="1599383"/>
                    <a:ext cx="2415982" cy="1642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000" i="1" smtClean="0">
                                  <a:latin typeface="Cambria Math" panose="02040503050406030204" pitchFamily="18" charset="0"/>
                                </a:rPr>
                              </m:ctrlPr>
                            </m:sSubSup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𝑎</m:t>
                                  </m:r>
                                </m:e>
                              </m:acc>
                            </m:e>
                            <m:sub>
                              <m:r>
                                <a:rPr lang="en-US" altLang="zh-TW" sz="1000" b="0" i="1" smtClean="0">
                                  <a:latin typeface="Cambria Math" panose="02040503050406030204" pitchFamily="18" charset="0"/>
                                </a:rPr>
                                <m:t>𝑠</m:t>
                              </m:r>
                            </m:sub>
                            <m:sup>
                              <m:r>
                                <a:rPr lang="en-US" altLang="zh-TW" sz="1000" b="0" i="1" smtClean="0">
                                  <a:latin typeface="Cambria Math" panose="02040503050406030204" pitchFamily="18" charset="0"/>
                                </a:rPr>
                                <m:t>+</m:t>
                              </m:r>
                            </m:sup>
                          </m:sSubSup>
                          <m:sSup>
                            <m:sSupPr>
                              <m:ctrlPr>
                                <a:rPr lang="en-US" altLang="zh-TW" sz="1000" i="1" smtClean="0">
                                  <a:latin typeface="Cambria Math" panose="02040503050406030204" pitchFamily="18" charset="0"/>
                                </a:rPr>
                              </m:ctrlPr>
                            </m:sSupPr>
                            <m:e>
                              <m:r>
                                <a:rPr lang="en-US" altLang="zh-TW" sz="1000" b="0" i="1" smtClean="0">
                                  <a:latin typeface="Cambria Math" panose="02040503050406030204" pitchFamily="18" charset="0"/>
                                </a:rPr>
                                <m:t>𝑒</m:t>
                              </m:r>
                            </m:e>
                            <m:sup>
                              <m:r>
                                <a:rPr lang="en-US" altLang="zh-TW" sz="1000" b="0" i="1" smtClean="0">
                                  <a:latin typeface="Cambria Math" panose="02040503050406030204" pitchFamily="18" charset="0"/>
                                </a:rPr>
                                <m:t>−</m:t>
                              </m:r>
                              <m:r>
                                <a:rPr lang="en-US" altLang="zh-TW" sz="1000" b="0" i="1" smtClean="0">
                                  <a:latin typeface="Cambria Math" panose="02040503050406030204" pitchFamily="18" charset="0"/>
                                </a:rPr>
                                <m:t>𝑖</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𝑘</m:t>
                                  </m:r>
                                </m:e>
                                <m:sub>
                                  <m:r>
                                    <a:rPr lang="en-US" altLang="zh-TW" sz="1000" b="0" i="1" smtClean="0">
                                      <a:latin typeface="Cambria Math" panose="02040503050406030204" pitchFamily="18" charset="0"/>
                                    </a:rPr>
                                    <m:t>𝑠</m:t>
                                  </m:r>
                                </m:sub>
                              </m:sSub>
                              <m:d>
                                <m:dPr>
                                  <m:ctrlPr>
                                    <a:rPr lang="en-US" altLang="zh-TW" sz="1000" b="0" i="1" smtClean="0">
                                      <a:latin typeface="Cambria Math" panose="02040503050406030204" pitchFamily="18" charset="0"/>
                                    </a:rPr>
                                  </m:ctrlPr>
                                </m:dPr>
                                <m:e>
                                  <m:r>
                                    <m:rPr>
                                      <m:sty m:val="p"/>
                                    </m:rPr>
                                    <a:rPr lang="el-GR" altLang="zh-TW" sz="1000" b="0" i="1" smtClean="0">
                                      <a:latin typeface="Cambria Math" panose="02040503050406030204" pitchFamily="18" charset="0"/>
                                      <a:ea typeface="Cambria Math" panose="02040503050406030204" pitchFamily="18" charset="0"/>
                                    </a:rPr>
                                    <m:t>Ω</m:t>
                                  </m:r>
                                </m:e>
                              </m:d>
                              <m:r>
                                <a:rPr lang="en-US" altLang="zh-TW" sz="1000" b="0" i="1" smtClean="0">
                                  <a:latin typeface="Cambria Math" panose="02040503050406030204" pitchFamily="18" charset="0"/>
                                </a:rPr>
                                <m:t>𝑥</m:t>
                              </m:r>
                            </m:sup>
                          </m:sSup>
                          <m:func>
                            <m:funcPr>
                              <m:ctrlPr>
                                <a:rPr lang="en-US" altLang="zh-TW" sz="1000" i="1" smtClean="0">
                                  <a:latin typeface="Cambria Math" panose="02040503050406030204" pitchFamily="18" charset="0"/>
                                </a:rPr>
                              </m:ctrlPr>
                            </m:funcPr>
                            <m:fName>
                              <m:r>
                                <m:rPr>
                                  <m:sty m:val="p"/>
                                </m:rPr>
                                <a:rPr lang="en-US" altLang="zh-TW" sz="1000" i="0" smtClean="0">
                                  <a:latin typeface="Cambria Math" panose="02040503050406030204" pitchFamily="18" charset="0"/>
                                </a:rPr>
                                <m:t>cos</m:t>
                              </m:r>
                            </m:fName>
                            <m:e>
                              <m:d>
                                <m:dPr>
                                  <m:ctrlPr>
                                    <a:rPr lang="en-US" altLang="zh-TW" sz="1000" i="1" smtClean="0">
                                      <a:latin typeface="Cambria Math" panose="02040503050406030204" pitchFamily="18" charset="0"/>
                                    </a:rPr>
                                  </m:ctrlPr>
                                </m:dPr>
                                <m:e>
                                  <m:r>
                                    <a:rPr lang="zh-TW" altLang="en-US" sz="1000" i="1" smtClean="0">
                                      <a:latin typeface="Cambria Math" panose="02040503050406030204" pitchFamily="18" charset="0"/>
                                    </a:rPr>
                                    <m:t>𝜉</m:t>
                                  </m:r>
                                  <m:r>
                                    <a:rPr lang="en-US" altLang="zh-TW" sz="1000" b="0" i="1" smtClean="0">
                                      <a:latin typeface="Cambria Math" panose="02040503050406030204" pitchFamily="18" charset="0"/>
                                    </a:rPr>
                                    <m:t>𝑥</m:t>
                                  </m:r>
                                </m:e>
                              </m:d>
                              <m:r>
                                <a:rPr lang="en-US" altLang="zh-TW" sz="1000" b="0" i="1" smtClean="0">
                                  <a:latin typeface="Cambria Math" panose="02040503050406030204" pitchFamily="18" charset="0"/>
                                </a:rPr>
                                <m:t>+</m:t>
                              </m:r>
                              <m:sSubSup>
                                <m:sSubSupPr>
                                  <m:ctrlPr>
                                    <a:rPr lang="en-US" altLang="zh-TW" sz="1000" i="1">
                                      <a:latin typeface="Cambria Math" panose="02040503050406030204" pitchFamily="18" charset="0"/>
                                    </a:rPr>
                                  </m:ctrlPr>
                                </m:sSubSupPr>
                                <m:e>
                                  <m:acc>
                                    <m:accPr>
                                      <m:chr m:val="̂"/>
                                      <m:ctrlPr>
                                        <a:rPr lang="en-US" altLang="zh-TW" sz="1000" i="1">
                                          <a:latin typeface="Cambria Math" panose="02040503050406030204" pitchFamily="18" charset="0"/>
                                        </a:rPr>
                                      </m:ctrlPr>
                                    </m:accPr>
                                    <m:e>
                                      <m:r>
                                        <a:rPr lang="en-US" altLang="zh-TW" sz="1000" b="0" i="1" smtClean="0">
                                          <a:latin typeface="Cambria Math" panose="02040503050406030204" pitchFamily="18" charset="0"/>
                                        </a:rPr>
                                        <m:t>𝑏</m:t>
                                      </m:r>
                                    </m:e>
                                  </m:acc>
                                </m:e>
                                <m:sub>
                                  <m:r>
                                    <a:rPr lang="en-US" altLang="zh-TW" sz="1000" i="1">
                                      <a:latin typeface="Cambria Math" panose="02040503050406030204" pitchFamily="18" charset="0"/>
                                    </a:rPr>
                                    <m:t>𝑠</m:t>
                                  </m:r>
                                </m:sub>
                                <m:sup>
                                  <m:r>
                                    <a:rPr lang="en-US" altLang="zh-TW" sz="1000" i="1">
                                      <a:latin typeface="Cambria Math" panose="02040503050406030204" pitchFamily="18" charset="0"/>
                                    </a:rPr>
                                    <m:t>+</m:t>
                                  </m:r>
                                </m:sup>
                              </m:sSubSup>
                              <m:sSup>
                                <m:sSupPr>
                                  <m:ctrlPr>
                                    <a:rPr lang="en-US" altLang="zh-TW" sz="1000" i="1">
                                      <a:latin typeface="Cambria Math" panose="02040503050406030204" pitchFamily="18" charset="0"/>
                                    </a:rPr>
                                  </m:ctrlPr>
                                </m:sSupPr>
                                <m:e>
                                  <m:r>
                                    <a:rPr lang="en-US" altLang="zh-TW" sz="1000" i="1">
                                      <a:latin typeface="Cambria Math" panose="02040503050406030204" pitchFamily="18" charset="0"/>
                                    </a:rPr>
                                    <m:t>𝑒</m:t>
                                  </m:r>
                                </m:e>
                                <m:sup>
                                  <m:r>
                                    <a:rPr lang="en-US" altLang="zh-TW" sz="1000" i="1">
                                      <a:latin typeface="Cambria Math" panose="02040503050406030204" pitchFamily="18" charset="0"/>
                                    </a:rPr>
                                    <m:t>−</m:t>
                                  </m:r>
                                  <m:r>
                                    <a:rPr lang="en-US" altLang="zh-TW" sz="1000" i="1">
                                      <a:latin typeface="Cambria Math" panose="02040503050406030204" pitchFamily="18" charset="0"/>
                                    </a:rPr>
                                    <m:t>𝑖</m:t>
                                  </m:r>
                                  <m:sSub>
                                    <m:sSubPr>
                                      <m:ctrlPr>
                                        <a:rPr lang="en-US" altLang="zh-TW" sz="1000" i="1">
                                          <a:latin typeface="Cambria Math" panose="02040503050406030204" pitchFamily="18" charset="0"/>
                                        </a:rPr>
                                      </m:ctrlPr>
                                    </m:sSubPr>
                                    <m:e>
                                      <m:r>
                                        <a:rPr lang="en-US" altLang="zh-TW" sz="1000" i="1">
                                          <a:latin typeface="Cambria Math" panose="02040503050406030204" pitchFamily="18" charset="0"/>
                                        </a:rPr>
                                        <m:t>𝑘</m:t>
                                      </m:r>
                                    </m:e>
                                    <m:sub>
                                      <m:r>
                                        <a:rPr lang="en-US" altLang="zh-TW" sz="1000" b="0" i="1" smtClean="0">
                                          <a:latin typeface="Cambria Math" panose="02040503050406030204" pitchFamily="18" charset="0"/>
                                        </a:rPr>
                                        <m:t>𝑖</m:t>
                                      </m:r>
                                    </m:sub>
                                  </m:sSub>
                                  <m:d>
                                    <m:dPr>
                                      <m:ctrlPr>
                                        <a:rPr lang="en-US" altLang="zh-TW" sz="1000" i="1">
                                          <a:latin typeface="Cambria Math" panose="02040503050406030204" pitchFamily="18" charset="0"/>
                                        </a:rPr>
                                      </m:ctrlPr>
                                    </m:dPr>
                                    <m:e>
                                      <m:r>
                                        <a:rPr lang="en-US" altLang="zh-TW" sz="1000" b="0" i="1" smtClean="0">
                                          <a:latin typeface="Cambria Math" panose="02040503050406030204" pitchFamily="18" charset="0"/>
                                        </a:rPr>
                                        <m:t>−</m:t>
                                      </m:r>
                                      <m:r>
                                        <m:rPr>
                                          <m:sty m:val="p"/>
                                        </m:rPr>
                                        <a:rPr lang="el-GR" altLang="zh-TW" sz="1000" i="1">
                                          <a:latin typeface="Cambria Math" panose="02040503050406030204" pitchFamily="18" charset="0"/>
                                          <a:ea typeface="Cambria Math" panose="02040503050406030204" pitchFamily="18" charset="0"/>
                                        </a:rPr>
                                        <m:t>Ω</m:t>
                                      </m:r>
                                    </m:e>
                                  </m:d>
                                  <m:r>
                                    <a:rPr lang="en-US" altLang="zh-TW" sz="1000" i="1">
                                      <a:latin typeface="Cambria Math" panose="02040503050406030204" pitchFamily="18" charset="0"/>
                                    </a:rPr>
                                    <m:t>𝑥</m:t>
                                  </m:r>
                                </m:sup>
                              </m:sSup>
                              <m:func>
                                <m:funcPr>
                                  <m:ctrlPr>
                                    <a:rPr lang="en-US" altLang="zh-TW" sz="1000" i="1" smtClean="0">
                                      <a:latin typeface="Cambria Math" panose="02040503050406030204" pitchFamily="18" charset="0"/>
                                    </a:rPr>
                                  </m:ctrlPr>
                                </m:funcPr>
                                <m:fName>
                                  <m:r>
                                    <m:rPr>
                                      <m:sty m:val="p"/>
                                    </m:rPr>
                                    <a:rPr lang="en-US" altLang="zh-TW" sz="1000" i="0" smtClean="0">
                                      <a:latin typeface="Cambria Math" panose="02040503050406030204" pitchFamily="18" charset="0"/>
                                    </a:rPr>
                                    <m:t>sin</m:t>
                                  </m:r>
                                </m:fName>
                                <m:e>
                                  <m:d>
                                    <m:dPr>
                                      <m:ctrlPr>
                                        <a:rPr lang="en-US" altLang="zh-TW" sz="1000" i="1">
                                          <a:latin typeface="Cambria Math" panose="02040503050406030204" pitchFamily="18" charset="0"/>
                                        </a:rPr>
                                      </m:ctrlPr>
                                    </m:dPr>
                                    <m:e>
                                      <m:r>
                                        <a:rPr lang="zh-TW" altLang="en-US" sz="1000" i="1">
                                          <a:latin typeface="Cambria Math" panose="02040503050406030204" pitchFamily="18" charset="0"/>
                                        </a:rPr>
                                        <m:t>𝜉</m:t>
                                      </m:r>
                                      <m:r>
                                        <a:rPr lang="en-US" altLang="zh-TW" sz="1000" i="1">
                                          <a:latin typeface="Cambria Math" panose="02040503050406030204" pitchFamily="18" charset="0"/>
                                        </a:rPr>
                                        <m:t>𝑥</m:t>
                                      </m:r>
                                    </m:e>
                                  </m:d>
                                </m:e>
                              </m:func>
                            </m:e>
                          </m:func>
                        </m:oMath>
                      </m:oMathPara>
                    </a14:m>
                    <a:endParaRPr lang="zh-TW" altLang="en-US" dirty="0"/>
                  </a:p>
                </p:txBody>
              </p:sp>
            </mc:Choice>
            <mc:Fallback xmlns="">
              <p:sp>
                <p:nvSpPr>
                  <p:cNvPr id="13" name="文字方塊 12">
                    <a:extLst>
                      <a:ext uri="{FF2B5EF4-FFF2-40B4-BE49-F238E27FC236}">
                        <a16:creationId xmlns:a16="http://schemas.microsoft.com/office/drawing/2014/main" id="{6075103D-B54E-4E23-853E-A819BDF33354}"/>
                      </a:ext>
                    </a:extLst>
                  </p:cNvPr>
                  <p:cNvSpPr txBox="1">
                    <a:spLocks noRot="1" noChangeAspect="1" noMove="1" noResize="1" noEditPoints="1" noAdjustHandles="1" noChangeArrowheads="1" noChangeShapeType="1" noTextEdit="1"/>
                  </p:cNvSpPr>
                  <p:nvPr/>
                </p:nvSpPr>
                <p:spPr>
                  <a:xfrm>
                    <a:off x="2581916" y="1599383"/>
                    <a:ext cx="2415982" cy="164276"/>
                  </a:xfrm>
                  <a:prstGeom prst="rect">
                    <a:avLst/>
                  </a:prstGeom>
                  <a:blipFill>
                    <a:blip r:embed="rId4"/>
                    <a:stretch>
                      <a:fillRect t="-14815" b="-33333"/>
                    </a:stretch>
                  </a:blipFill>
                </p:spPr>
                <p:txBody>
                  <a:bodyPr/>
                  <a:lstStyle/>
                  <a:p>
                    <a:r>
                      <a:rPr lang="zh-TW" altLang="en-US">
                        <a:noFill/>
                      </a:rPr>
                      <a:t> </a:t>
                    </a:r>
                  </a:p>
                </p:txBody>
              </p:sp>
            </mc:Fallback>
          </mc:AlternateContent>
        </p:grpSp>
        <p:grpSp>
          <p:nvGrpSpPr>
            <p:cNvPr id="49" name="群組 48">
              <a:extLst>
                <a:ext uri="{FF2B5EF4-FFF2-40B4-BE49-F238E27FC236}">
                  <a16:creationId xmlns:a16="http://schemas.microsoft.com/office/drawing/2014/main" id="{EAA9551A-BA37-4B49-98F4-374ACA3F7C37}"/>
                </a:ext>
              </a:extLst>
            </p:cNvPr>
            <p:cNvGrpSpPr/>
            <p:nvPr/>
          </p:nvGrpSpPr>
          <p:grpSpPr>
            <a:xfrm>
              <a:off x="1095353" y="2038094"/>
              <a:ext cx="3944287" cy="171650"/>
              <a:chOff x="1095353" y="1599383"/>
              <a:chExt cx="3944287" cy="171650"/>
            </a:xfrm>
          </p:grpSpPr>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5C6E7464-A5D2-4109-AEAD-35A6C09A15B6}"/>
                      </a:ext>
                    </a:extLst>
                  </p:cNvPr>
                  <p:cNvSpPr txBox="1"/>
                  <p:nvPr/>
                </p:nvSpPr>
                <p:spPr>
                  <a:xfrm>
                    <a:off x="1095353" y="1599383"/>
                    <a:ext cx="722890" cy="1683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000" i="1" smtClean="0">
                                  <a:latin typeface="Cambria Math" panose="02040503050406030204" pitchFamily="18" charset="0"/>
                                </a:rPr>
                              </m:ctrlPr>
                            </m:sSubSupPr>
                            <m:e>
                              <m:r>
                                <a:rPr lang="en-US" altLang="zh-TW" sz="1000" b="0" i="1" smtClean="0">
                                  <a:latin typeface="Cambria Math" panose="02040503050406030204" pitchFamily="18" charset="0"/>
                                </a:rPr>
                                <m:t>𝑏</m:t>
                              </m:r>
                            </m:e>
                            <m:sub>
                              <m:r>
                                <a:rPr lang="en-US" altLang="zh-TW" sz="1000" b="0" i="1" smtClean="0">
                                  <a:latin typeface="Cambria Math" panose="02040503050406030204" pitchFamily="18" charset="0"/>
                                </a:rPr>
                                <m:t>𝑖</m:t>
                              </m:r>
                            </m:sub>
                            <m:sup>
                              <m:r>
                                <a:rPr lang="en-US" altLang="zh-TW" sz="1000" b="0" i="1" smtClean="0">
                                  <a:latin typeface="Cambria Math" panose="02040503050406030204" pitchFamily="18" charset="0"/>
                                </a:rPr>
                                <m:t>+</m:t>
                              </m:r>
                            </m:sup>
                          </m:sSubSup>
                          <m:sSup>
                            <m:sSupPr>
                              <m:ctrlPr>
                                <a:rPr lang="en-US" altLang="zh-TW" sz="1000" i="1" smtClean="0">
                                  <a:latin typeface="Cambria Math" panose="02040503050406030204" pitchFamily="18" charset="0"/>
                                </a:rPr>
                              </m:ctrlPr>
                            </m:sSupPr>
                            <m:e>
                              <m:r>
                                <a:rPr lang="en-US" altLang="zh-TW" sz="1000" b="0" i="1" smtClean="0">
                                  <a:latin typeface="Cambria Math" panose="02040503050406030204" pitchFamily="18" charset="0"/>
                                </a:rPr>
                                <m:t>𝑒</m:t>
                              </m:r>
                            </m:e>
                            <m:sup>
                              <m:r>
                                <a:rPr lang="en-US" altLang="zh-TW" sz="1000" b="0" i="1" smtClean="0">
                                  <a:latin typeface="Cambria Math" panose="02040503050406030204" pitchFamily="18" charset="0"/>
                                </a:rPr>
                                <m:t>−</m:t>
                              </m:r>
                              <m:r>
                                <a:rPr lang="en-US" altLang="zh-TW" sz="1000" b="0" i="1" smtClean="0">
                                  <a:latin typeface="Cambria Math" panose="02040503050406030204" pitchFamily="18" charset="0"/>
                                </a:rPr>
                                <m:t>𝑖</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𝑘</m:t>
                                  </m:r>
                                </m:e>
                                <m:sub>
                                  <m:r>
                                    <a:rPr lang="en-US" altLang="zh-TW" sz="1000" b="0" i="1" smtClean="0">
                                      <a:latin typeface="Cambria Math" panose="02040503050406030204" pitchFamily="18" charset="0"/>
                                    </a:rPr>
                                    <m:t>𝑖</m:t>
                                  </m:r>
                                </m:sub>
                              </m:sSub>
                              <m:d>
                                <m:dPr>
                                  <m:ctrlPr>
                                    <a:rPr lang="en-US" altLang="zh-TW" sz="1000" b="0" i="1" smtClean="0">
                                      <a:latin typeface="Cambria Math" panose="02040503050406030204" pitchFamily="18" charset="0"/>
                                    </a:rPr>
                                  </m:ctrlPr>
                                </m:dPr>
                                <m:e>
                                  <m:r>
                                    <a:rPr lang="en-US" altLang="zh-TW" sz="1000" b="0" i="1" smtClean="0">
                                      <a:latin typeface="Cambria Math" panose="02040503050406030204" pitchFamily="18" charset="0"/>
                                    </a:rPr>
                                    <m:t>−</m:t>
                                  </m:r>
                                  <m:r>
                                    <m:rPr>
                                      <m:sty m:val="p"/>
                                    </m:rPr>
                                    <a:rPr lang="el-GR" altLang="zh-TW" sz="1000" b="0" i="1" smtClean="0">
                                      <a:latin typeface="Cambria Math" panose="02040503050406030204" pitchFamily="18" charset="0"/>
                                      <a:ea typeface="Cambria Math" panose="02040503050406030204" pitchFamily="18" charset="0"/>
                                    </a:rPr>
                                    <m:t>Ω</m:t>
                                  </m:r>
                                </m:e>
                              </m:d>
                              <m:r>
                                <a:rPr lang="en-US" altLang="zh-TW" sz="1000" b="0" i="1" smtClean="0">
                                  <a:latin typeface="Cambria Math" panose="02040503050406030204" pitchFamily="18" charset="0"/>
                                </a:rPr>
                                <m:t>𝑥</m:t>
                              </m:r>
                            </m:sup>
                          </m:sSup>
                        </m:oMath>
                      </m:oMathPara>
                    </a14:m>
                    <a:endParaRPr lang="zh-TW" altLang="en-US" dirty="0"/>
                  </a:p>
                </p:txBody>
              </p:sp>
            </mc:Choice>
            <mc:Fallback xmlns="">
              <p:sp>
                <p:nvSpPr>
                  <p:cNvPr id="50" name="文字方塊 49">
                    <a:extLst>
                      <a:ext uri="{FF2B5EF4-FFF2-40B4-BE49-F238E27FC236}">
                        <a16:creationId xmlns:a16="http://schemas.microsoft.com/office/drawing/2014/main" id="{5C6E7464-A5D2-4109-AEAD-35A6C09A15B6}"/>
                      </a:ext>
                    </a:extLst>
                  </p:cNvPr>
                  <p:cNvSpPr txBox="1">
                    <a:spLocks noRot="1" noChangeAspect="1" noMove="1" noResize="1" noEditPoints="1" noAdjustHandles="1" noChangeArrowheads="1" noChangeShapeType="1" noTextEdit="1"/>
                  </p:cNvSpPr>
                  <p:nvPr/>
                </p:nvSpPr>
                <p:spPr>
                  <a:xfrm>
                    <a:off x="1095353" y="1599383"/>
                    <a:ext cx="722890" cy="168379"/>
                  </a:xfrm>
                  <a:prstGeom prst="rect">
                    <a:avLst/>
                  </a:prstGeom>
                  <a:blipFill>
                    <a:blip r:embed="rId5"/>
                    <a:stretch>
                      <a:fillRect l="-4237" b="-21429"/>
                    </a:stretch>
                  </a:blipFill>
                </p:spPr>
                <p:txBody>
                  <a:bodyPr/>
                  <a:lstStyle/>
                  <a:p>
                    <a:r>
                      <a:rPr lang="zh-TW" altLang="en-US">
                        <a:noFill/>
                      </a:rPr>
                      <a:t> </a:t>
                    </a:r>
                  </a:p>
                </p:txBody>
              </p:sp>
            </mc:Fallback>
          </mc:AlternateContent>
          <p:sp>
            <p:nvSpPr>
              <p:cNvPr id="51" name="箭號: 向下 50">
                <a:extLst>
                  <a:ext uri="{FF2B5EF4-FFF2-40B4-BE49-F238E27FC236}">
                    <a16:creationId xmlns:a16="http://schemas.microsoft.com/office/drawing/2014/main" id="{7F9313A7-C89E-4A20-ACA6-6B229EBDBC93}"/>
                  </a:ext>
                </a:extLst>
              </p:cNvPr>
              <p:cNvSpPr/>
              <p:nvPr/>
            </p:nvSpPr>
            <p:spPr>
              <a:xfrm rot="16200000">
                <a:off x="2085295" y="1520693"/>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32C62416-D353-4B00-8E70-D72898487196}"/>
                      </a:ext>
                    </a:extLst>
                  </p:cNvPr>
                  <p:cNvSpPr txBox="1"/>
                  <p:nvPr/>
                </p:nvSpPr>
                <p:spPr>
                  <a:xfrm>
                    <a:off x="2581916" y="1599383"/>
                    <a:ext cx="2457724" cy="171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000" i="1" smtClean="0">
                                  <a:latin typeface="Cambria Math" panose="02040503050406030204" pitchFamily="18" charset="0"/>
                                </a:rPr>
                              </m:ctrlPr>
                            </m:sSubSupPr>
                            <m:e>
                              <m:acc>
                                <m:accPr>
                                  <m:chr m:val="̂"/>
                                  <m:ctrlPr>
                                    <a:rPr lang="en-US" altLang="zh-TW" sz="1000" i="1" smtClean="0">
                                      <a:latin typeface="Cambria Math" panose="02040503050406030204" pitchFamily="18" charset="0"/>
                                    </a:rPr>
                                  </m:ctrlPr>
                                </m:accPr>
                                <m:e>
                                  <m:r>
                                    <a:rPr lang="en-US" altLang="zh-TW" sz="1000" b="0" i="1" smtClean="0">
                                      <a:latin typeface="Cambria Math" panose="02040503050406030204" pitchFamily="18" charset="0"/>
                                    </a:rPr>
                                    <m:t>𝑏</m:t>
                                  </m:r>
                                </m:e>
                              </m:acc>
                            </m:e>
                            <m:sub>
                              <m:r>
                                <a:rPr lang="en-US" altLang="zh-TW" sz="1000" b="0" i="1" smtClean="0">
                                  <a:latin typeface="Cambria Math" panose="02040503050406030204" pitchFamily="18" charset="0"/>
                                </a:rPr>
                                <m:t>𝑖</m:t>
                              </m:r>
                            </m:sub>
                            <m:sup>
                              <m:r>
                                <a:rPr lang="en-US" altLang="zh-TW" sz="1000" b="0" i="1" smtClean="0">
                                  <a:latin typeface="Cambria Math" panose="02040503050406030204" pitchFamily="18" charset="0"/>
                                </a:rPr>
                                <m:t>+</m:t>
                              </m:r>
                            </m:sup>
                          </m:sSubSup>
                          <m:sSup>
                            <m:sSupPr>
                              <m:ctrlPr>
                                <a:rPr lang="en-US" altLang="zh-TW" sz="1000" i="1" smtClean="0">
                                  <a:latin typeface="Cambria Math" panose="02040503050406030204" pitchFamily="18" charset="0"/>
                                </a:rPr>
                              </m:ctrlPr>
                            </m:sSupPr>
                            <m:e>
                              <m:r>
                                <a:rPr lang="en-US" altLang="zh-TW" sz="1000" b="0" i="1" smtClean="0">
                                  <a:latin typeface="Cambria Math" panose="02040503050406030204" pitchFamily="18" charset="0"/>
                                </a:rPr>
                                <m:t>𝑒</m:t>
                              </m:r>
                            </m:e>
                            <m:sup>
                              <m:r>
                                <a:rPr lang="en-US" altLang="zh-TW" sz="1000" b="0" i="1" smtClean="0">
                                  <a:latin typeface="Cambria Math" panose="02040503050406030204" pitchFamily="18" charset="0"/>
                                </a:rPr>
                                <m:t>−</m:t>
                              </m:r>
                              <m:r>
                                <a:rPr lang="en-US" altLang="zh-TW" sz="1000" b="0" i="1" smtClean="0">
                                  <a:latin typeface="Cambria Math" panose="02040503050406030204" pitchFamily="18" charset="0"/>
                                </a:rPr>
                                <m:t>𝑖</m:t>
                              </m:r>
                              <m:sSub>
                                <m:sSubPr>
                                  <m:ctrlPr>
                                    <a:rPr lang="en-US" altLang="zh-TW" sz="1000" b="0" i="1" smtClean="0">
                                      <a:latin typeface="Cambria Math" panose="02040503050406030204" pitchFamily="18" charset="0"/>
                                    </a:rPr>
                                  </m:ctrlPr>
                                </m:sSubPr>
                                <m:e>
                                  <m:r>
                                    <a:rPr lang="en-US" altLang="zh-TW" sz="1000" b="0" i="1" smtClean="0">
                                      <a:latin typeface="Cambria Math" panose="02040503050406030204" pitchFamily="18" charset="0"/>
                                    </a:rPr>
                                    <m:t>𝑘</m:t>
                                  </m:r>
                                </m:e>
                                <m:sub>
                                  <m:r>
                                    <a:rPr lang="en-US" altLang="zh-TW" sz="1000" b="0" i="1" smtClean="0">
                                      <a:latin typeface="Cambria Math" panose="02040503050406030204" pitchFamily="18" charset="0"/>
                                    </a:rPr>
                                    <m:t>𝑖</m:t>
                                  </m:r>
                                </m:sub>
                              </m:sSub>
                              <m:d>
                                <m:dPr>
                                  <m:ctrlPr>
                                    <a:rPr lang="en-US" altLang="zh-TW" sz="1000" b="0" i="1" smtClean="0">
                                      <a:latin typeface="Cambria Math" panose="02040503050406030204" pitchFamily="18" charset="0"/>
                                    </a:rPr>
                                  </m:ctrlPr>
                                </m:dPr>
                                <m:e>
                                  <m:r>
                                    <a:rPr lang="en-US" altLang="zh-TW" sz="1000" b="0" i="1" smtClean="0">
                                      <a:latin typeface="Cambria Math" panose="02040503050406030204" pitchFamily="18" charset="0"/>
                                    </a:rPr>
                                    <m:t>−</m:t>
                                  </m:r>
                                  <m:r>
                                    <m:rPr>
                                      <m:sty m:val="p"/>
                                    </m:rPr>
                                    <a:rPr lang="el-GR" altLang="zh-TW" sz="1000" b="0" i="1" smtClean="0">
                                      <a:latin typeface="Cambria Math" panose="02040503050406030204" pitchFamily="18" charset="0"/>
                                      <a:ea typeface="Cambria Math" panose="02040503050406030204" pitchFamily="18" charset="0"/>
                                    </a:rPr>
                                    <m:t>Ω</m:t>
                                  </m:r>
                                </m:e>
                              </m:d>
                              <m:r>
                                <a:rPr lang="en-US" altLang="zh-TW" sz="1000" b="0" i="1" smtClean="0">
                                  <a:latin typeface="Cambria Math" panose="02040503050406030204" pitchFamily="18" charset="0"/>
                                </a:rPr>
                                <m:t>𝑥</m:t>
                              </m:r>
                            </m:sup>
                          </m:sSup>
                          <m:func>
                            <m:funcPr>
                              <m:ctrlPr>
                                <a:rPr lang="en-US" altLang="zh-TW" sz="1000" i="1" smtClean="0">
                                  <a:latin typeface="Cambria Math" panose="02040503050406030204" pitchFamily="18" charset="0"/>
                                </a:rPr>
                              </m:ctrlPr>
                            </m:funcPr>
                            <m:fName>
                              <m:r>
                                <m:rPr>
                                  <m:sty m:val="p"/>
                                </m:rPr>
                                <a:rPr lang="en-US" altLang="zh-TW" sz="1000" i="0" smtClean="0">
                                  <a:latin typeface="Cambria Math" panose="02040503050406030204" pitchFamily="18" charset="0"/>
                                </a:rPr>
                                <m:t>cos</m:t>
                              </m:r>
                            </m:fName>
                            <m:e>
                              <m:d>
                                <m:dPr>
                                  <m:ctrlPr>
                                    <a:rPr lang="en-US" altLang="zh-TW" sz="1000" i="1" smtClean="0">
                                      <a:latin typeface="Cambria Math" panose="02040503050406030204" pitchFamily="18" charset="0"/>
                                    </a:rPr>
                                  </m:ctrlPr>
                                </m:dPr>
                                <m:e>
                                  <m:r>
                                    <a:rPr lang="zh-TW" altLang="en-US" sz="1000" i="1" smtClean="0">
                                      <a:latin typeface="Cambria Math" panose="02040503050406030204" pitchFamily="18" charset="0"/>
                                    </a:rPr>
                                    <m:t>𝜉</m:t>
                                  </m:r>
                                  <m:r>
                                    <a:rPr lang="en-US" altLang="zh-TW" sz="1000" b="0" i="1" smtClean="0">
                                      <a:latin typeface="Cambria Math" panose="02040503050406030204" pitchFamily="18" charset="0"/>
                                    </a:rPr>
                                    <m:t>𝑥</m:t>
                                  </m:r>
                                </m:e>
                              </m:d>
                              <m:r>
                                <a:rPr lang="en-US" altLang="zh-TW" sz="1000" b="0" i="1" smtClean="0">
                                  <a:latin typeface="Cambria Math" panose="02040503050406030204" pitchFamily="18" charset="0"/>
                                </a:rPr>
                                <m:t>+</m:t>
                              </m:r>
                              <m:sSubSup>
                                <m:sSubSupPr>
                                  <m:ctrlPr>
                                    <a:rPr lang="en-US" altLang="zh-TW" sz="1000" i="1">
                                      <a:latin typeface="Cambria Math" panose="02040503050406030204" pitchFamily="18" charset="0"/>
                                    </a:rPr>
                                  </m:ctrlPr>
                                </m:sSubSupPr>
                                <m:e>
                                  <m:acc>
                                    <m:accPr>
                                      <m:chr m:val="̂"/>
                                      <m:ctrlPr>
                                        <a:rPr lang="en-US" altLang="zh-TW" sz="1000" i="1">
                                          <a:latin typeface="Cambria Math" panose="02040503050406030204" pitchFamily="18" charset="0"/>
                                        </a:rPr>
                                      </m:ctrlPr>
                                    </m:accPr>
                                    <m:e>
                                      <m:r>
                                        <a:rPr lang="en-US" altLang="zh-TW" sz="1000" b="0" i="1" smtClean="0">
                                          <a:latin typeface="Cambria Math" panose="02040503050406030204" pitchFamily="18" charset="0"/>
                                        </a:rPr>
                                        <m:t>𝑎</m:t>
                                      </m:r>
                                    </m:e>
                                  </m:acc>
                                </m:e>
                                <m:sub>
                                  <m:r>
                                    <a:rPr lang="en-US" altLang="zh-TW" sz="1000" b="0" i="1" smtClean="0">
                                      <a:latin typeface="Cambria Math" panose="02040503050406030204" pitchFamily="18" charset="0"/>
                                    </a:rPr>
                                    <m:t>𝑖</m:t>
                                  </m:r>
                                </m:sub>
                                <m:sup>
                                  <m:r>
                                    <a:rPr lang="en-US" altLang="zh-TW" sz="1000" i="1">
                                      <a:latin typeface="Cambria Math" panose="02040503050406030204" pitchFamily="18" charset="0"/>
                                    </a:rPr>
                                    <m:t>+</m:t>
                                  </m:r>
                                </m:sup>
                              </m:sSubSup>
                              <m:sSup>
                                <m:sSupPr>
                                  <m:ctrlPr>
                                    <a:rPr lang="en-US" altLang="zh-TW" sz="1000" i="1">
                                      <a:latin typeface="Cambria Math" panose="02040503050406030204" pitchFamily="18" charset="0"/>
                                    </a:rPr>
                                  </m:ctrlPr>
                                </m:sSupPr>
                                <m:e>
                                  <m:r>
                                    <a:rPr lang="en-US" altLang="zh-TW" sz="1000" i="1">
                                      <a:latin typeface="Cambria Math" panose="02040503050406030204" pitchFamily="18" charset="0"/>
                                    </a:rPr>
                                    <m:t>𝑒</m:t>
                                  </m:r>
                                </m:e>
                                <m:sup>
                                  <m:r>
                                    <a:rPr lang="en-US" altLang="zh-TW" sz="1000" i="1">
                                      <a:latin typeface="Cambria Math" panose="02040503050406030204" pitchFamily="18" charset="0"/>
                                    </a:rPr>
                                    <m:t>−</m:t>
                                  </m:r>
                                  <m:r>
                                    <a:rPr lang="en-US" altLang="zh-TW" sz="1000" i="1">
                                      <a:latin typeface="Cambria Math" panose="02040503050406030204" pitchFamily="18" charset="0"/>
                                    </a:rPr>
                                    <m:t>𝑖</m:t>
                                  </m:r>
                                  <m:sSub>
                                    <m:sSubPr>
                                      <m:ctrlPr>
                                        <a:rPr lang="en-US" altLang="zh-TW" sz="1000" i="1">
                                          <a:latin typeface="Cambria Math" panose="02040503050406030204" pitchFamily="18" charset="0"/>
                                        </a:rPr>
                                      </m:ctrlPr>
                                    </m:sSubPr>
                                    <m:e>
                                      <m:r>
                                        <a:rPr lang="en-US" altLang="zh-TW" sz="1000" i="1">
                                          <a:latin typeface="Cambria Math" panose="02040503050406030204" pitchFamily="18" charset="0"/>
                                        </a:rPr>
                                        <m:t>𝑘</m:t>
                                      </m:r>
                                    </m:e>
                                    <m:sub>
                                      <m:r>
                                        <a:rPr lang="en-US" altLang="zh-TW" sz="1000" i="1">
                                          <a:latin typeface="Cambria Math" panose="02040503050406030204" pitchFamily="18" charset="0"/>
                                        </a:rPr>
                                        <m:t>𝑠</m:t>
                                      </m:r>
                                    </m:sub>
                                  </m:sSub>
                                  <m:d>
                                    <m:dPr>
                                      <m:ctrlPr>
                                        <a:rPr lang="en-US" altLang="zh-TW" sz="1000" i="1">
                                          <a:latin typeface="Cambria Math" panose="02040503050406030204" pitchFamily="18" charset="0"/>
                                        </a:rPr>
                                      </m:ctrlPr>
                                    </m:dPr>
                                    <m:e>
                                      <m:r>
                                        <m:rPr>
                                          <m:sty m:val="p"/>
                                        </m:rPr>
                                        <a:rPr lang="el-GR" altLang="zh-TW" sz="1000" i="1">
                                          <a:latin typeface="Cambria Math" panose="02040503050406030204" pitchFamily="18" charset="0"/>
                                          <a:ea typeface="Cambria Math" panose="02040503050406030204" pitchFamily="18" charset="0"/>
                                        </a:rPr>
                                        <m:t>Ω</m:t>
                                      </m:r>
                                    </m:e>
                                  </m:d>
                                  <m:r>
                                    <a:rPr lang="en-US" altLang="zh-TW" sz="1000" i="1">
                                      <a:latin typeface="Cambria Math" panose="02040503050406030204" pitchFamily="18" charset="0"/>
                                    </a:rPr>
                                    <m:t>𝑥</m:t>
                                  </m:r>
                                </m:sup>
                              </m:sSup>
                              <m:func>
                                <m:funcPr>
                                  <m:ctrlPr>
                                    <a:rPr lang="en-US" altLang="zh-TW" sz="1000" i="1" smtClean="0">
                                      <a:latin typeface="Cambria Math" panose="02040503050406030204" pitchFamily="18" charset="0"/>
                                    </a:rPr>
                                  </m:ctrlPr>
                                </m:funcPr>
                                <m:fName>
                                  <m:r>
                                    <m:rPr>
                                      <m:sty m:val="p"/>
                                    </m:rPr>
                                    <a:rPr lang="en-US" altLang="zh-TW" sz="1000" i="0" smtClean="0">
                                      <a:latin typeface="Cambria Math" panose="02040503050406030204" pitchFamily="18" charset="0"/>
                                    </a:rPr>
                                    <m:t>sin</m:t>
                                  </m:r>
                                </m:fName>
                                <m:e>
                                  <m:d>
                                    <m:dPr>
                                      <m:ctrlPr>
                                        <a:rPr lang="en-US" altLang="zh-TW" sz="1000" i="1">
                                          <a:latin typeface="Cambria Math" panose="02040503050406030204" pitchFamily="18" charset="0"/>
                                        </a:rPr>
                                      </m:ctrlPr>
                                    </m:dPr>
                                    <m:e>
                                      <m:r>
                                        <a:rPr lang="zh-TW" altLang="en-US" sz="1000" i="1">
                                          <a:latin typeface="Cambria Math" panose="02040503050406030204" pitchFamily="18" charset="0"/>
                                        </a:rPr>
                                        <m:t>𝜉</m:t>
                                      </m:r>
                                      <m:r>
                                        <a:rPr lang="en-US" altLang="zh-TW" sz="1000" i="1">
                                          <a:latin typeface="Cambria Math" panose="02040503050406030204" pitchFamily="18" charset="0"/>
                                        </a:rPr>
                                        <m:t>𝑥</m:t>
                                      </m:r>
                                    </m:e>
                                  </m:d>
                                </m:e>
                              </m:func>
                            </m:e>
                          </m:func>
                        </m:oMath>
                      </m:oMathPara>
                    </a14:m>
                    <a:endParaRPr lang="zh-TW" altLang="en-US" dirty="0"/>
                  </a:p>
                </p:txBody>
              </p:sp>
            </mc:Choice>
            <mc:Fallback xmlns="">
              <p:sp>
                <p:nvSpPr>
                  <p:cNvPr id="52" name="文字方塊 51">
                    <a:extLst>
                      <a:ext uri="{FF2B5EF4-FFF2-40B4-BE49-F238E27FC236}">
                        <a16:creationId xmlns:a16="http://schemas.microsoft.com/office/drawing/2014/main" id="{32C62416-D353-4B00-8E70-D72898487196}"/>
                      </a:ext>
                    </a:extLst>
                  </p:cNvPr>
                  <p:cNvSpPr txBox="1">
                    <a:spLocks noRot="1" noChangeAspect="1" noMove="1" noResize="1" noEditPoints="1" noAdjustHandles="1" noChangeArrowheads="1" noChangeShapeType="1" noTextEdit="1"/>
                  </p:cNvSpPr>
                  <p:nvPr/>
                </p:nvSpPr>
                <p:spPr>
                  <a:xfrm>
                    <a:off x="2581916" y="1599383"/>
                    <a:ext cx="2457724" cy="171650"/>
                  </a:xfrm>
                  <a:prstGeom prst="rect">
                    <a:avLst/>
                  </a:prstGeom>
                  <a:blipFill>
                    <a:blip r:embed="rId6"/>
                    <a:stretch>
                      <a:fillRect t="-14286" b="-28571"/>
                    </a:stretch>
                  </a:blipFill>
                </p:spPr>
                <p:txBody>
                  <a:bodyPr/>
                  <a:lstStyle/>
                  <a:p>
                    <a:r>
                      <a:rPr lang="zh-TW" altLang="en-US">
                        <a:noFill/>
                      </a:rPr>
                      <a:t> </a:t>
                    </a:r>
                  </a:p>
                </p:txBody>
              </p:sp>
            </mc:Fallback>
          </mc:AlternateContent>
        </p:grpSp>
      </p:grpSp>
      <p:grpSp>
        <p:nvGrpSpPr>
          <p:cNvPr id="71" name="群組 70">
            <a:extLst>
              <a:ext uri="{FF2B5EF4-FFF2-40B4-BE49-F238E27FC236}">
                <a16:creationId xmlns:a16="http://schemas.microsoft.com/office/drawing/2014/main" id="{89BDF141-C8B4-47D5-B176-0F05CC0D81FE}"/>
              </a:ext>
            </a:extLst>
          </p:cNvPr>
          <p:cNvGrpSpPr/>
          <p:nvPr/>
        </p:nvGrpSpPr>
        <p:grpSpPr>
          <a:xfrm>
            <a:off x="1095353" y="2656288"/>
            <a:ext cx="4235330" cy="1975406"/>
            <a:chOff x="1095353" y="2656288"/>
            <a:chExt cx="4235330" cy="1975406"/>
          </a:xfrm>
        </p:grpSpPr>
        <p:sp>
          <p:nvSpPr>
            <p:cNvPr id="69" name="矩形 68">
              <a:extLst>
                <a:ext uri="{FF2B5EF4-FFF2-40B4-BE49-F238E27FC236}">
                  <a16:creationId xmlns:a16="http://schemas.microsoft.com/office/drawing/2014/main" id="{B5587D88-FF14-4BF1-8009-093E4BA5FF90}"/>
                </a:ext>
              </a:extLst>
            </p:cNvPr>
            <p:cNvSpPr/>
            <p:nvPr/>
          </p:nvSpPr>
          <p:spPr>
            <a:xfrm>
              <a:off x="2812621" y="3421862"/>
              <a:ext cx="2518062" cy="285757"/>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0" name="矩形 69">
              <a:extLst>
                <a:ext uri="{FF2B5EF4-FFF2-40B4-BE49-F238E27FC236}">
                  <a16:creationId xmlns:a16="http://schemas.microsoft.com/office/drawing/2014/main" id="{95E8A85D-2F87-4A25-AB56-3EB2B39B77C6}"/>
                </a:ext>
              </a:extLst>
            </p:cNvPr>
            <p:cNvSpPr/>
            <p:nvPr/>
          </p:nvSpPr>
          <p:spPr>
            <a:xfrm>
              <a:off x="3182374" y="2973833"/>
              <a:ext cx="2148309" cy="285757"/>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31" name="群組 30">
              <a:extLst>
                <a:ext uri="{FF2B5EF4-FFF2-40B4-BE49-F238E27FC236}">
                  <a16:creationId xmlns:a16="http://schemas.microsoft.com/office/drawing/2014/main" id="{FD851402-CCDF-493E-89FB-D7C301CFF159}"/>
                </a:ext>
              </a:extLst>
            </p:cNvPr>
            <p:cNvGrpSpPr/>
            <p:nvPr/>
          </p:nvGrpSpPr>
          <p:grpSpPr>
            <a:xfrm>
              <a:off x="1095353" y="2656288"/>
              <a:ext cx="4084224" cy="1975406"/>
              <a:chOff x="1109752" y="2829540"/>
              <a:chExt cx="4084224" cy="1975406"/>
            </a:xfrm>
          </p:grpSpPr>
          <p:sp>
            <p:nvSpPr>
              <p:cNvPr id="54" name="箭號: 向下 53">
                <a:extLst>
                  <a:ext uri="{FF2B5EF4-FFF2-40B4-BE49-F238E27FC236}">
                    <a16:creationId xmlns:a16="http://schemas.microsoft.com/office/drawing/2014/main" id="{17B22088-3A67-4CCB-95D1-C8227767AEB6}"/>
                  </a:ext>
                </a:extLst>
              </p:cNvPr>
              <p:cNvSpPr/>
              <p:nvPr/>
            </p:nvSpPr>
            <p:spPr>
              <a:xfrm rot="16200000">
                <a:off x="1202569" y="2780336"/>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27" name="群組 26">
                <a:extLst>
                  <a:ext uri="{FF2B5EF4-FFF2-40B4-BE49-F238E27FC236}">
                    <a16:creationId xmlns:a16="http://schemas.microsoft.com/office/drawing/2014/main" id="{3FD13A0D-255A-49BF-9CCD-2FA2EF584F69}"/>
                  </a:ext>
                </a:extLst>
              </p:cNvPr>
              <p:cNvGrpSpPr/>
              <p:nvPr/>
            </p:nvGrpSpPr>
            <p:grpSpPr>
              <a:xfrm>
                <a:off x="1623389" y="2829540"/>
                <a:ext cx="3200071" cy="1975406"/>
                <a:chOff x="1623389" y="2829540"/>
                <a:chExt cx="3200071" cy="1975406"/>
              </a:xfrm>
            </p:grpSpPr>
            <p:pic>
              <p:nvPicPr>
                <p:cNvPr id="53" name="圖片 52">
                  <a:extLst>
                    <a:ext uri="{FF2B5EF4-FFF2-40B4-BE49-F238E27FC236}">
                      <a16:creationId xmlns:a16="http://schemas.microsoft.com/office/drawing/2014/main" id="{C0490661-9DB4-4A72-BF36-1B4CE374FCAA}"/>
                    </a:ext>
                  </a:extLst>
                </p:cNvPr>
                <p:cNvPicPr>
                  <a:picLocks noChangeAspect="1"/>
                </p:cNvPicPr>
                <p:nvPr/>
              </p:nvPicPr>
              <p:blipFill rotWithShape="1">
                <a:blip r:embed="rId7">
                  <a:clrChange>
                    <a:clrFrom>
                      <a:srgbClr val="FFFFFF"/>
                    </a:clrFrom>
                    <a:clrTo>
                      <a:srgbClr val="FFFFFF">
                        <a:alpha val="0"/>
                      </a:srgbClr>
                    </a:clrTo>
                  </a:clrChange>
                </a:blip>
                <a:srcRect r="35185" b="31928"/>
                <a:stretch/>
              </p:blipFill>
              <p:spPr>
                <a:xfrm>
                  <a:off x="1623389" y="2829540"/>
                  <a:ext cx="3200071" cy="635090"/>
                </a:xfrm>
                <a:prstGeom prst="rect">
                  <a:avLst/>
                </a:prstGeom>
              </p:spPr>
            </p:pic>
            <p:pic>
              <p:nvPicPr>
                <p:cNvPr id="55" name="圖片 54">
                  <a:extLst>
                    <a:ext uri="{FF2B5EF4-FFF2-40B4-BE49-F238E27FC236}">
                      <a16:creationId xmlns:a16="http://schemas.microsoft.com/office/drawing/2014/main" id="{6954964A-6352-4C14-9B6A-A9A224444D96}"/>
                    </a:ext>
                  </a:extLst>
                </p:cNvPr>
                <p:cNvPicPr>
                  <a:picLocks noChangeAspect="1"/>
                </p:cNvPicPr>
                <p:nvPr/>
              </p:nvPicPr>
              <p:blipFill rotWithShape="1">
                <a:blip r:embed="rId7">
                  <a:clrChange>
                    <a:clrFrom>
                      <a:srgbClr val="FFFFFF"/>
                    </a:clrFrom>
                    <a:clrTo>
                      <a:srgbClr val="FFFFFF">
                        <a:alpha val="0"/>
                      </a:srgbClr>
                    </a:clrTo>
                  </a:clrChange>
                </a:blip>
                <a:srcRect l="64992" t="31279" b="36803"/>
                <a:stretch/>
              </p:blipFill>
              <p:spPr>
                <a:xfrm>
                  <a:off x="2843574" y="3589103"/>
                  <a:ext cx="1728426" cy="297781"/>
                </a:xfrm>
                <a:prstGeom prst="rect">
                  <a:avLst/>
                </a:prstGeom>
              </p:spPr>
            </p:pic>
            <p:pic>
              <p:nvPicPr>
                <p:cNvPr id="56" name="圖片 55">
                  <a:extLst>
                    <a:ext uri="{FF2B5EF4-FFF2-40B4-BE49-F238E27FC236}">
                      <a16:creationId xmlns:a16="http://schemas.microsoft.com/office/drawing/2014/main" id="{53BEAC41-8F25-4C36-BBBB-0BA94394EABE}"/>
                    </a:ext>
                  </a:extLst>
                </p:cNvPr>
                <p:cNvPicPr>
                  <a:picLocks noChangeAspect="1"/>
                </p:cNvPicPr>
                <p:nvPr/>
              </p:nvPicPr>
              <p:blipFill rotWithShape="1">
                <a:blip r:embed="rId7">
                  <a:clrChange>
                    <a:clrFrom>
                      <a:srgbClr val="FFFFFF"/>
                    </a:clrFrom>
                    <a:clrTo>
                      <a:srgbClr val="FFFFFF">
                        <a:alpha val="0"/>
                      </a:srgbClr>
                    </a:clrTo>
                  </a:clrChange>
                </a:blip>
                <a:srcRect l="16840" t="68083" r="55953"/>
                <a:stretch/>
              </p:blipFill>
              <p:spPr>
                <a:xfrm>
                  <a:off x="2827020" y="4011357"/>
                  <a:ext cx="1343316" cy="297781"/>
                </a:xfrm>
                <a:prstGeom prst="rect">
                  <a:avLst/>
                </a:prstGeom>
              </p:spPr>
            </p:pic>
            <p:pic>
              <p:nvPicPr>
                <p:cNvPr id="57" name="圖片 56">
                  <a:extLst>
                    <a:ext uri="{FF2B5EF4-FFF2-40B4-BE49-F238E27FC236}">
                      <a16:creationId xmlns:a16="http://schemas.microsoft.com/office/drawing/2014/main" id="{7CB8E173-5E92-4A73-A6AC-93662E6EBFED}"/>
                    </a:ext>
                  </a:extLst>
                </p:cNvPr>
                <p:cNvPicPr>
                  <a:picLocks noChangeAspect="1"/>
                </p:cNvPicPr>
                <p:nvPr/>
              </p:nvPicPr>
              <p:blipFill rotWithShape="1">
                <a:blip r:embed="rId7">
                  <a:clrChange>
                    <a:clrFrom>
                      <a:srgbClr val="FFFFFF"/>
                    </a:clrFrom>
                    <a:clrTo>
                      <a:srgbClr val="FFFFFF">
                        <a:alpha val="0"/>
                      </a:srgbClr>
                    </a:clrTo>
                  </a:clrChange>
                </a:blip>
                <a:srcRect l="43896" t="71959" r="28157" b="-3680"/>
                <a:stretch/>
              </p:blipFill>
              <p:spPr>
                <a:xfrm>
                  <a:off x="2827020" y="4509006"/>
                  <a:ext cx="1379821" cy="295940"/>
                </a:xfrm>
                <a:prstGeom prst="rect">
                  <a:avLst/>
                </a:prstGeom>
              </p:spPr>
            </p:pic>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228144C-BB2C-4DCA-8401-121DC81935F5}"/>
                      </a:ext>
                    </a:extLst>
                  </p:cNvPr>
                  <p:cNvSpPr txBox="1"/>
                  <p:nvPr/>
                </p:nvSpPr>
                <p:spPr>
                  <a:xfrm>
                    <a:off x="4988433" y="3175125"/>
                    <a:ext cx="196079"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b="1" i="1" smtClean="0">
                                  <a:solidFill>
                                    <a:schemeClr val="tx2"/>
                                  </a:solidFill>
                                  <a:latin typeface="Cambria Math" panose="02040503050406030204" pitchFamily="18" charset="0"/>
                                </a:rPr>
                              </m:ctrlPr>
                            </m:sSubPr>
                            <m:e>
                              <m:r>
                                <a:rPr lang="zh-TW" altLang="en-US" sz="1000" b="1" i="1" smtClean="0">
                                  <a:solidFill>
                                    <a:schemeClr val="tx2"/>
                                  </a:solidFill>
                                  <a:latin typeface="Cambria Math" panose="02040503050406030204" pitchFamily="18" charset="0"/>
                                </a:rPr>
                                <m:t>𝝍</m:t>
                              </m:r>
                            </m:e>
                            <m:sub>
                              <m:r>
                                <a:rPr lang="en-US" altLang="zh-TW" sz="1000" b="1" i="1" smtClean="0">
                                  <a:solidFill>
                                    <a:schemeClr val="tx2"/>
                                  </a:solidFill>
                                  <a:latin typeface="Cambria Math" panose="02040503050406030204" pitchFamily="18" charset="0"/>
                                </a:rPr>
                                <m:t>𝟏</m:t>
                              </m:r>
                            </m:sub>
                          </m:sSub>
                        </m:oMath>
                      </m:oMathPara>
                    </a14:m>
                    <a:endParaRPr lang="zh-TW" altLang="en-US" b="1" dirty="0"/>
                  </a:p>
                </p:txBody>
              </p:sp>
            </mc:Choice>
            <mc:Fallback xmlns="">
              <p:sp>
                <p:nvSpPr>
                  <p:cNvPr id="28" name="文字方塊 27">
                    <a:extLst>
                      <a:ext uri="{FF2B5EF4-FFF2-40B4-BE49-F238E27FC236}">
                        <a16:creationId xmlns:a16="http://schemas.microsoft.com/office/drawing/2014/main" id="{A228144C-BB2C-4DCA-8401-121DC81935F5}"/>
                      </a:ext>
                    </a:extLst>
                  </p:cNvPr>
                  <p:cNvSpPr txBox="1">
                    <a:spLocks noRot="1" noChangeAspect="1" noMove="1" noResize="1" noEditPoints="1" noAdjustHandles="1" noChangeArrowheads="1" noChangeShapeType="1" noTextEdit="1"/>
                  </p:cNvSpPr>
                  <p:nvPr/>
                </p:nvSpPr>
                <p:spPr>
                  <a:xfrm>
                    <a:off x="4988433" y="3175125"/>
                    <a:ext cx="196079" cy="153888"/>
                  </a:xfrm>
                  <a:prstGeom prst="rect">
                    <a:avLst/>
                  </a:prstGeom>
                  <a:blipFill>
                    <a:blip r:embed="rId8"/>
                    <a:stretch>
                      <a:fillRect l="-21875" r="-3125" b="-3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14E2F42B-57C9-461F-9E91-EA3F69831C01}"/>
                      </a:ext>
                    </a:extLst>
                  </p:cNvPr>
                  <p:cNvSpPr txBox="1"/>
                  <p:nvPr/>
                </p:nvSpPr>
                <p:spPr>
                  <a:xfrm>
                    <a:off x="4997897" y="3661049"/>
                    <a:ext cx="196079"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b="1" i="1" smtClean="0">
                                  <a:solidFill>
                                    <a:schemeClr val="tx2"/>
                                  </a:solidFill>
                                  <a:latin typeface="Cambria Math" panose="02040503050406030204" pitchFamily="18" charset="0"/>
                                </a:rPr>
                              </m:ctrlPr>
                            </m:sSubPr>
                            <m:e>
                              <m:r>
                                <a:rPr lang="zh-TW" altLang="en-US" sz="1000" b="1" i="1" smtClean="0">
                                  <a:solidFill>
                                    <a:schemeClr val="tx2"/>
                                  </a:solidFill>
                                  <a:latin typeface="Cambria Math" panose="02040503050406030204" pitchFamily="18" charset="0"/>
                                </a:rPr>
                                <m:t>𝝍</m:t>
                              </m:r>
                            </m:e>
                            <m:sub>
                              <m:r>
                                <a:rPr lang="en-US" altLang="zh-TW" sz="1000" b="1" i="1" smtClean="0">
                                  <a:solidFill>
                                    <a:schemeClr val="tx2"/>
                                  </a:solidFill>
                                  <a:latin typeface="Cambria Math" panose="02040503050406030204" pitchFamily="18" charset="0"/>
                                </a:rPr>
                                <m:t>𝟐</m:t>
                              </m:r>
                            </m:sub>
                          </m:sSub>
                        </m:oMath>
                      </m:oMathPara>
                    </a14:m>
                    <a:endParaRPr lang="zh-TW" altLang="en-US" b="1" dirty="0"/>
                  </a:p>
                </p:txBody>
              </p:sp>
            </mc:Choice>
            <mc:Fallback xmlns="">
              <p:sp>
                <p:nvSpPr>
                  <p:cNvPr id="58" name="文字方塊 57">
                    <a:extLst>
                      <a:ext uri="{FF2B5EF4-FFF2-40B4-BE49-F238E27FC236}">
                        <a16:creationId xmlns:a16="http://schemas.microsoft.com/office/drawing/2014/main" id="{14E2F42B-57C9-461F-9E91-EA3F69831C01}"/>
                      </a:ext>
                    </a:extLst>
                  </p:cNvPr>
                  <p:cNvSpPr txBox="1">
                    <a:spLocks noRot="1" noChangeAspect="1" noMove="1" noResize="1" noEditPoints="1" noAdjustHandles="1" noChangeArrowheads="1" noChangeShapeType="1" noTextEdit="1"/>
                  </p:cNvSpPr>
                  <p:nvPr/>
                </p:nvSpPr>
                <p:spPr>
                  <a:xfrm>
                    <a:off x="4997897" y="3661049"/>
                    <a:ext cx="196079" cy="153888"/>
                  </a:xfrm>
                  <a:prstGeom prst="rect">
                    <a:avLst/>
                  </a:prstGeom>
                  <a:blipFill>
                    <a:blip r:embed="rId9"/>
                    <a:stretch>
                      <a:fillRect l="-21875" r="-3125" b="-3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D2CCB9BA-8F54-4A3D-99CB-DDB330E78598}"/>
                      </a:ext>
                    </a:extLst>
                  </p:cNvPr>
                  <p:cNvSpPr txBox="1"/>
                  <p:nvPr/>
                </p:nvSpPr>
                <p:spPr>
                  <a:xfrm>
                    <a:off x="4997897" y="4120540"/>
                    <a:ext cx="196079"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b="1" i="1" smtClean="0">
                                  <a:solidFill>
                                    <a:schemeClr val="tx2"/>
                                  </a:solidFill>
                                  <a:latin typeface="Cambria Math" panose="02040503050406030204" pitchFamily="18" charset="0"/>
                                </a:rPr>
                              </m:ctrlPr>
                            </m:sSubPr>
                            <m:e>
                              <m:r>
                                <a:rPr lang="zh-TW" altLang="en-US" sz="1000" b="1" i="1" smtClean="0">
                                  <a:solidFill>
                                    <a:schemeClr val="tx2"/>
                                  </a:solidFill>
                                  <a:latin typeface="Cambria Math" panose="02040503050406030204" pitchFamily="18" charset="0"/>
                                </a:rPr>
                                <m:t>𝝍</m:t>
                              </m:r>
                            </m:e>
                            <m:sub>
                              <m:r>
                                <a:rPr lang="en-US" altLang="zh-TW" sz="1000" b="1" i="1" smtClean="0">
                                  <a:solidFill>
                                    <a:schemeClr val="tx2"/>
                                  </a:solidFill>
                                  <a:latin typeface="Cambria Math" panose="02040503050406030204" pitchFamily="18" charset="0"/>
                                </a:rPr>
                                <m:t>𝟑</m:t>
                              </m:r>
                            </m:sub>
                          </m:sSub>
                        </m:oMath>
                      </m:oMathPara>
                    </a14:m>
                    <a:endParaRPr lang="zh-TW" altLang="en-US" b="1" dirty="0"/>
                  </a:p>
                </p:txBody>
              </p:sp>
            </mc:Choice>
            <mc:Fallback xmlns="">
              <p:sp>
                <p:nvSpPr>
                  <p:cNvPr id="59" name="文字方塊 58">
                    <a:extLst>
                      <a:ext uri="{FF2B5EF4-FFF2-40B4-BE49-F238E27FC236}">
                        <a16:creationId xmlns:a16="http://schemas.microsoft.com/office/drawing/2014/main" id="{D2CCB9BA-8F54-4A3D-99CB-DDB330E78598}"/>
                      </a:ext>
                    </a:extLst>
                  </p:cNvPr>
                  <p:cNvSpPr txBox="1">
                    <a:spLocks noRot="1" noChangeAspect="1" noMove="1" noResize="1" noEditPoints="1" noAdjustHandles="1" noChangeArrowheads="1" noChangeShapeType="1" noTextEdit="1"/>
                  </p:cNvSpPr>
                  <p:nvPr/>
                </p:nvSpPr>
                <p:spPr>
                  <a:xfrm>
                    <a:off x="4997897" y="4120540"/>
                    <a:ext cx="196079" cy="153888"/>
                  </a:xfrm>
                  <a:prstGeom prst="rect">
                    <a:avLst/>
                  </a:prstGeom>
                  <a:blipFill>
                    <a:blip r:embed="rId10"/>
                    <a:stretch>
                      <a:fillRect l="-21875" t="-4000" r="-3125" b="-36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6387C197-3D2B-4FDD-8691-0DBCEF66F39B}"/>
                      </a:ext>
                    </a:extLst>
                  </p:cNvPr>
                  <p:cNvSpPr txBox="1"/>
                  <p:nvPr/>
                </p:nvSpPr>
                <p:spPr>
                  <a:xfrm>
                    <a:off x="4986816" y="4580032"/>
                    <a:ext cx="196079"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b="1" i="1" smtClean="0">
                                  <a:solidFill>
                                    <a:schemeClr val="tx2"/>
                                  </a:solidFill>
                                  <a:latin typeface="Cambria Math" panose="02040503050406030204" pitchFamily="18" charset="0"/>
                                </a:rPr>
                              </m:ctrlPr>
                            </m:sSubPr>
                            <m:e>
                              <m:r>
                                <a:rPr lang="zh-TW" altLang="en-US" sz="1000" b="1" i="1" smtClean="0">
                                  <a:solidFill>
                                    <a:schemeClr val="tx2"/>
                                  </a:solidFill>
                                  <a:latin typeface="Cambria Math" panose="02040503050406030204" pitchFamily="18" charset="0"/>
                                </a:rPr>
                                <m:t>𝝍</m:t>
                              </m:r>
                            </m:e>
                            <m:sub>
                              <m:r>
                                <a:rPr lang="en-US" altLang="zh-TW" sz="1000" b="1" i="1" smtClean="0">
                                  <a:solidFill>
                                    <a:schemeClr val="tx2"/>
                                  </a:solidFill>
                                  <a:latin typeface="Cambria Math" panose="02040503050406030204" pitchFamily="18" charset="0"/>
                                </a:rPr>
                                <m:t>𝟒</m:t>
                              </m:r>
                            </m:sub>
                          </m:sSub>
                        </m:oMath>
                      </m:oMathPara>
                    </a14:m>
                    <a:endParaRPr lang="zh-TW" altLang="en-US" b="1" dirty="0"/>
                  </a:p>
                </p:txBody>
              </p:sp>
            </mc:Choice>
            <mc:Fallback xmlns="">
              <p:sp>
                <p:nvSpPr>
                  <p:cNvPr id="60" name="文字方塊 59">
                    <a:extLst>
                      <a:ext uri="{FF2B5EF4-FFF2-40B4-BE49-F238E27FC236}">
                        <a16:creationId xmlns:a16="http://schemas.microsoft.com/office/drawing/2014/main" id="{6387C197-3D2B-4FDD-8691-0DBCEF66F39B}"/>
                      </a:ext>
                    </a:extLst>
                  </p:cNvPr>
                  <p:cNvSpPr txBox="1">
                    <a:spLocks noRot="1" noChangeAspect="1" noMove="1" noResize="1" noEditPoints="1" noAdjustHandles="1" noChangeArrowheads="1" noChangeShapeType="1" noTextEdit="1"/>
                  </p:cNvSpPr>
                  <p:nvPr/>
                </p:nvSpPr>
                <p:spPr>
                  <a:xfrm>
                    <a:off x="4986816" y="4580032"/>
                    <a:ext cx="196079" cy="153888"/>
                  </a:xfrm>
                  <a:prstGeom prst="rect">
                    <a:avLst/>
                  </a:prstGeom>
                  <a:blipFill>
                    <a:blip r:embed="rId11"/>
                    <a:stretch>
                      <a:fillRect l="-21875" r="-3125" b="-36000"/>
                    </a:stretch>
                  </a:blipFill>
                </p:spPr>
                <p:txBody>
                  <a:bodyPr/>
                  <a:lstStyle/>
                  <a:p>
                    <a:r>
                      <a:rPr lang="zh-TW" altLang="en-US">
                        <a:noFill/>
                      </a:rPr>
                      <a:t> </a:t>
                    </a:r>
                  </a:p>
                </p:txBody>
              </p:sp>
            </mc:Fallback>
          </mc:AlternateContent>
        </p:grpSp>
      </p:grpSp>
      <p:sp>
        <p:nvSpPr>
          <p:cNvPr id="63" name="文字方塊 62">
            <a:extLst>
              <a:ext uri="{FF2B5EF4-FFF2-40B4-BE49-F238E27FC236}">
                <a16:creationId xmlns:a16="http://schemas.microsoft.com/office/drawing/2014/main" id="{1D614F41-26E2-459B-BE86-968C7185A829}"/>
              </a:ext>
            </a:extLst>
          </p:cNvPr>
          <p:cNvSpPr txBox="1"/>
          <p:nvPr/>
        </p:nvSpPr>
        <p:spPr>
          <a:xfrm>
            <a:off x="5358523" y="1554274"/>
            <a:ext cx="386644" cy="246221"/>
          </a:xfrm>
          <a:prstGeom prst="rect">
            <a:avLst/>
          </a:prstGeom>
          <a:noFill/>
        </p:spPr>
        <p:txBody>
          <a:bodyPr wrap="none" rtlCol="0">
            <a:spAutoFit/>
          </a:bodyPr>
          <a:lstStyle/>
          <a:p>
            <a:r>
              <a:rPr lang="en-US" altLang="zh-TW" sz="1000" dirty="0">
                <a:latin typeface="Montserrat" panose="02020500000000000000" charset="0"/>
              </a:rPr>
              <a:t>(21)</a:t>
            </a:r>
            <a:endParaRPr lang="zh-TW" altLang="en-US" sz="1000" dirty="0">
              <a:latin typeface="Montserrat" panose="02020500000000000000" charset="0"/>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52FACD05-7ACF-437F-A581-79296566D966}"/>
                  </a:ext>
                </a:extLst>
              </p:cNvPr>
              <p:cNvSpPr/>
              <p:nvPr/>
            </p:nvSpPr>
            <p:spPr>
              <a:xfrm>
                <a:off x="6294628" y="953298"/>
                <a:ext cx="2463625" cy="1938672"/>
              </a:xfrm>
              <a:prstGeom prst="rect">
                <a:avLst/>
              </a:prstGeom>
            </p:spPr>
            <p:txBody>
              <a:bodyPr wrap="square">
                <a:spAutoFit/>
              </a:bodyPr>
              <a:lstStyle/>
              <a:p>
                <a:pPr>
                  <a:lnSpc>
                    <a:spcPct val="150000"/>
                  </a:lnSpc>
                </a:pPr>
                <a14:m>
                  <m:oMath xmlns:m="http://schemas.openxmlformats.org/officeDocument/2006/math">
                    <m:sSub>
                      <m:sSubPr>
                        <m:ctrlPr>
                          <a:rPr lang="en-US" altLang="zh-TW" sz="90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l-GR" altLang="zh-TW" sz="900" i="1">
                            <a:latin typeface="Cambria Math" panose="02040503050406030204" pitchFamily="18" charset="0"/>
                            <a:ea typeface="標楷體" panose="03000509000000000000" pitchFamily="65" charset="-120"/>
                            <a:cs typeface="Times New Roman" panose="02020603050405020304" pitchFamily="18" charset="0"/>
                          </a:rPr>
                          <m:t>𝜓</m:t>
                        </m:r>
                      </m:e>
                      <m:sub>
                        <m:r>
                          <a:rPr lang="en-US" altLang="zh-TW" sz="900" b="0" i="1" smtClean="0">
                            <a:latin typeface="Cambria Math" panose="02040503050406030204" pitchFamily="18" charset="0"/>
                            <a:ea typeface="標楷體" panose="03000509000000000000" pitchFamily="65" charset="-120"/>
                            <a:cs typeface="Times New Roman" panose="02020603050405020304" pitchFamily="18" charset="0"/>
                          </a:rPr>
                          <m:t>𝑆𝑃𝐷𝐶</m:t>
                        </m:r>
                        <m:r>
                          <a:rPr lang="en-US" altLang="zh-TW" sz="900"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900" b="0" i="1" smtClean="0">
                            <a:latin typeface="Cambria Math" panose="02040503050406030204" pitchFamily="18" charset="0"/>
                            <a:ea typeface="標楷體" panose="03000509000000000000" pitchFamily="65" charset="-120"/>
                            <a:cs typeface="Times New Roman" panose="02020603050405020304" pitchFamily="18" charset="0"/>
                          </a:rPr>
                          <m:t>𝐸𝑂𝑃𝑀𝐶</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Output of SPDC quantum state include EOPMC process</a:t>
                </a:r>
              </a:p>
              <a:p>
                <a:pPr>
                  <a:lnSpc>
                    <a:spcPct val="150000"/>
                  </a:lnSpc>
                </a:pPr>
                <a14:m>
                  <m:oMath xmlns:m="http://schemas.openxmlformats.org/officeDocument/2006/math">
                    <m:r>
                      <a:rPr lang="zh-TW" altLang="en-US" sz="900">
                        <a:latin typeface="Cambria Math" panose="02040503050406030204" pitchFamily="18" charset="0"/>
                      </a:rPr>
                      <m:t>∆</m:t>
                    </m:r>
                    <m:r>
                      <a:rPr lang="zh-TW" altLang="en-US" sz="900" i="1">
                        <a:latin typeface="Cambria Math" panose="02040503050406030204" pitchFamily="18" charset="0"/>
                      </a:rPr>
                      <m:t>𝑘</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phase matching condition</a:t>
                </a:r>
              </a:p>
              <a:p>
                <a:pPr>
                  <a:lnSpc>
                    <a:spcPct val="150000"/>
                  </a:lnSpc>
                </a:pPr>
                <a14:m>
                  <m:oMath xmlns:m="http://schemas.openxmlformats.org/officeDocument/2006/math">
                    <m:r>
                      <a:rPr lang="zh-TW" altLang="en-US" sz="900" i="1">
                        <a:latin typeface="Cambria Math" panose="02040503050406030204" pitchFamily="18" charset="0"/>
                      </a:rPr>
                      <m:t>𝜉</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Electric field parameter</a:t>
                </a:r>
              </a:p>
              <a:p>
                <a:pPr>
                  <a:lnSpc>
                    <a:spcPct val="150000"/>
                  </a:lnSpc>
                </a:pPr>
                <a14:m>
                  <m:oMath xmlns:m="http://schemas.openxmlformats.org/officeDocument/2006/math">
                    <m:r>
                      <m:rPr>
                        <m:sty m:val="p"/>
                      </m:rPr>
                      <a:rPr lang="el-GR" altLang="zh-TW" sz="900" i="1">
                        <a:latin typeface="Cambria Math" panose="02040503050406030204" pitchFamily="18" charset="0"/>
                        <a:ea typeface="Cambria Math" panose="02040503050406030204" pitchFamily="18" charset="0"/>
                      </a:rPr>
                      <m:t>Ω</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Frequency difference</a:t>
                </a:r>
              </a:p>
              <a:p>
                <a:pPr>
                  <a:lnSpc>
                    <a:spcPct val="150000"/>
                  </a:lnSpc>
                </a:pPr>
                <a14:m>
                  <m:oMath xmlns:m="http://schemas.openxmlformats.org/officeDocument/2006/math">
                    <m:r>
                      <a:rPr lang="en-US" altLang="zh-TW" sz="900" b="0" i="1" smtClean="0">
                        <a:latin typeface="Cambria Math" panose="02040503050406030204" pitchFamily="18" charset="0"/>
                      </a:rPr>
                      <m:t>𝑥</m:t>
                    </m:r>
                    <m:r>
                      <a:rPr lang="zh-TW" altLang="en-US" sz="900" i="1" smtClean="0">
                        <a:latin typeface="Cambria Math" panose="02040503050406030204" pitchFamily="18" charset="0"/>
                      </a:rPr>
                      <m:t>：</m:t>
                    </m:r>
                  </m:oMath>
                </a14:m>
                <a:r>
                  <a:rPr lang="en-US" altLang="zh-TW" sz="900" dirty="0">
                    <a:latin typeface="Montserrat" panose="02020500000000000000" charset="0"/>
                    <a:cs typeface="Times New Roman" pitchFamily="18" charset="0"/>
                  </a:rPr>
                  <a:t>position</a:t>
                </a:r>
              </a:p>
              <a:p>
                <a:pPr>
                  <a:lnSpc>
                    <a:spcPct val="150000"/>
                  </a:lnSpc>
                </a:pPr>
                <a14:m>
                  <m:oMath xmlns:m="http://schemas.openxmlformats.org/officeDocument/2006/math">
                    <m:r>
                      <a:rPr lang="en-US" altLang="zh-TW" sz="900" b="0" i="1" smtClean="0">
                        <a:latin typeface="Cambria Math" panose="02040503050406030204" pitchFamily="18" charset="0"/>
                        <a:ea typeface="Cambria Math" panose="02040503050406030204" pitchFamily="18" charset="0"/>
                      </a:rPr>
                      <m:t>𝑎</m:t>
                    </m:r>
                    <m:r>
                      <a:rPr lang="en-US" altLang="zh-TW" sz="900" b="0" i="1" smtClean="0">
                        <a:latin typeface="Cambria Math" panose="02040503050406030204" pitchFamily="18" charset="0"/>
                        <a:ea typeface="Cambria Math" panose="02040503050406030204" pitchFamily="18" charset="0"/>
                      </a:rPr>
                      <m:t>,</m:t>
                    </m:r>
                    <m:r>
                      <a:rPr lang="en-US" altLang="zh-TW" sz="900" b="0" i="1" smtClean="0">
                        <a:latin typeface="Cambria Math" panose="02040503050406030204" pitchFamily="18" charset="0"/>
                        <a:ea typeface="Cambria Math" panose="02040503050406030204" pitchFamily="18" charset="0"/>
                      </a:rPr>
                      <m:t>𝑏</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Polarization operator</a:t>
                </a:r>
              </a:p>
              <a:p>
                <a:pPr>
                  <a:lnSpc>
                    <a:spcPct val="150000"/>
                  </a:lnSpc>
                </a:pPr>
                <a14:m>
                  <m:oMath xmlns:m="http://schemas.openxmlformats.org/officeDocument/2006/math">
                    <m:sSub>
                      <m:sSubPr>
                        <m:ctrlPr>
                          <a:rPr lang="en-US" altLang="zh-TW" sz="900" i="1">
                            <a:latin typeface="Cambria Math" panose="02040503050406030204" pitchFamily="18" charset="0"/>
                            <a:ea typeface="Cambria Math" panose="02040503050406030204" pitchFamily="18" charset="0"/>
                          </a:rPr>
                        </m:ctrlPr>
                      </m:sSubPr>
                      <m:e>
                        <m:r>
                          <a:rPr lang="zh-TW" altLang="en-US" sz="900" i="1">
                            <a:latin typeface="Cambria Math" panose="02040503050406030204" pitchFamily="18" charset="0"/>
                            <a:ea typeface="Cambria Math" panose="02040503050406030204" pitchFamily="18" charset="0"/>
                          </a:rPr>
                          <m:t>𝜔</m:t>
                        </m:r>
                      </m:e>
                      <m:sub>
                        <m:r>
                          <a:rPr lang="en-US" altLang="zh-TW" sz="900" i="1">
                            <a:latin typeface="Cambria Math" panose="02040503050406030204" pitchFamily="18" charset="0"/>
                            <a:ea typeface="Cambria Math" panose="02040503050406030204" pitchFamily="18" charset="0"/>
                          </a:rPr>
                          <m:t>𝑠</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Central frequency of signal</a:t>
                </a:r>
              </a:p>
              <a:p>
                <a:pPr>
                  <a:lnSpc>
                    <a:spcPct val="150000"/>
                  </a:lnSpc>
                </a:pPr>
                <a14:m>
                  <m:oMath xmlns:m="http://schemas.openxmlformats.org/officeDocument/2006/math">
                    <m:sSub>
                      <m:sSubPr>
                        <m:ctrlPr>
                          <a:rPr lang="en-US" altLang="zh-TW" sz="900" i="1">
                            <a:latin typeface="Cambria Math" panose="02040503050406030204" pitchFamily="18" charset="0"/>
                            <a:ea typeface="Cambria Math" panose="02040503050406030204" pitchFamily="18" charset="0"/>
                          </a:rPr>
                        </m:ctrlPr>
                      </m:sSubPr>
                      <m:e>
                        <m:r>
                          <a:rPr lang="zh-TW" altLang="en-US" sz="900" i="1">
                            <a:latin typeface="Cambria Math" panose="02040503050406030204" pitchFamily="18" charset="0"/>
                            <a:ea typeface="Cambria Math" panose="02040503050406030204" pitchFamily="18" charset="0"/>
                          </a:rPr>
                          <m:t>𝜔</m:t>
                        </m:r>
                      </m:e>
                      <m:sub>
                        <m:r>
                          <a:rPr lang="en-US" altLang="zh-TW" sz="900" i="1">
                            <a:latin typeface="Cambria Math" panose="02040503050406030204" pitchFamily="18" charset="0"/>
                            <a:ea typeface="Cambria Math" panose="02040503050406030204" pitchFamily="18" charset="0"/>
                          </a:rPr>
                          <m:t>𝑖</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 Central frequency of idler</a:t>
                </a:r>
              </a:p>
            </p:txBody>
          </p:sp>
        </mc:Choice>
        <mc:Fallback xmlns="">
          <p:sp>
            <p:nvSpPr>
              <p:cNvPr id="64" name="矩形 63">
                <a:extLst>
                  <a:ext uri="{FF2B5EF4-FFF2-40B4-BE49-F238E27FC236}">
                    <a16:creationId xmlns:a16="http://schemas.microsoft.com/office/drawing/2014/main" id="{52FACD05-7ACF-437F-A581-79296566D966}"/>
                  </a:ext>
                </a:extLst>
              </p:cNvPr>
              <p:cNvSpPr>
                <a:spLocks noRot="1" noChangeAspect="1" noMove="1" noResize="1" noEditPoints="1" noAdjustHandles="1" noChangeArrowheads="1" noChangeShapeType="1" noTextEdit="1"/>
              </p:cNvSpPr>
              <p:nvPr/>
            </p:nvSpPr>
            <p:spPr>
              <a:xfrm>
                <a:off x="6294628" y="953298"/>
                <a:ext cx="2463625" cy="1938672"/>
              </a:xfrm>
              <a:prstGeom prst="rect">
                <a:avLst/>
              </a:prstGeom>
              <a:blipFill>
                <a:blip r:embed="rId12"/>
                <a:stretch>
                  <a:fillRect b="-629"/>
                </a:stretch>
              </a:blipFill>
            </p:spPr>
            <p:txBody>
              <a:bodyPr/>
              <a:lstStyle/>
              <a:p>
                <a:r>
                  <a:rPr lang="zh-TW" altLang="en-US">
                    <a:noFill/>
                  </a:rPr>
                  <a:t> </a:t>
                </a:r>
              </a:p>
            </p:txBody>
          </p:sp>
        </mc:Fallback>
      </mc:AlternateContent>
      <p:grpSp>
        <p:nvGrpSpPr>
          <p:cNvPr id="72" name="群組 71">
            <a:extLst>
              <a:ext uri="{FF2B5EF4-FFF2-40B4-BE49-F238E27FC236}">
                <a16:creationId xmlns:a16="http://schemas.microsoft.com/office/drawing/2014/main" id="{3E3A912A-A423-4FC6-96F0-B385EAFD6DF1}"/>
              </a:ext>
            </a:extLst>
          </p:cNvPr>
          <p:cNvGrpSpPr/>
          <p:nvPr/>
        </p:nvGrpSpPr>
        <p:grpSpPr>
          <a:xfrm>
            <a:off x="5717782" y="3215233"/>
            <a:ext cx="2951836" cy="246221"/>
            <a:chOff x="5717782" y="3215233"/>
            <a:chExt cx="2951836" cy="246221"/>
          </a:xfrm>
        </p:grpSpPr>
        <p:sp>
          <p:nvSpPr>
            <p:cNvPr id="65" name="箭號: 向下 64">
              <a:extLst>
                <a:ext uri="{FF2B5EF4-FFF2-40B4-BE49-F238E27FC236}">
                  <a16:creationId xmlns:a16="http://schemas.microsoft.com/office/drawing/2014/main" id="{15147711-5256-4238-A1D5-9A25380ED9D7}"/>
                </a:ext>
              </a:extLst>
            </p:cNvPr>
            <p:cNvSpPr/>
            <p:nvPr/>
          </p:nvSpPr>
          <p:spPr>
            <a:xfrm rot="16200000">
              <a:off x="5810599" y="3198561"/>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50F4B5CE-24BB-42B7-80C8-202E2F6ED7C6}"/>
                    </a:ext>
                  </a:extLst>
                </p:cNvPr>
                <p:cNvSpPr/>
                <p:nvPr/>
              </p:nvSpPr>
              <p:spPr>
                <a:xfrm>
                  <a:off x="6151556" y="3215233"/>
                  <a:ext cx="2518062" cy="246221"/>
                </a:xfrm>
                <a:prstGeom prst="rect">
                  <a:avLst/>
                </a:prstGeom>
              </p:spPr>
              <p:txBody>
                <a:bodyPr wrap="none">
                  <a:spAutoFit/>
                </a:bodyPr>
                <a:lstStyle/>
                <a:p>
                  <a14:m>
                    <m:oMath xmlns:m="http://schemas.openxmlformats.org/officeDocument/2006/math">
                      <m:r>
                        <a:rPr lang="en-US" altLang="zh-TW" sz="1000" b="1" i="0" dirty="0" smtClean="0">
                          <a:solidFill>
                            <a:schemeClr val="tx2"/>
                          </a:solidFill>
                          <a:latin typeface="Cambria Math" panose="02040503050406030204" pitchFamily="18" charset="0"/>
                          <a:ea typeface="Cambria Math" panose="02040503050406030204" pitchFamily="18" charset="0"/>
                        </a:rPr>
                        <m:t>∆</m:t>
                      </m:r>
                      <m:r>
                        <a:rPr lang="en-US" altLang="zh-TW" sz="1000" b="1" i="0" dirty="0" smtClean="0">
                          <a:solidFill>
                            <a:schemeClr val="tx2"/>
                          </a:solidFill>
                          <a:latin typeface="Cambria Math" panose="02040503050406030204" pitchFamily="18" charset="0"/>
                          <a:ea typeface="Cambria Math" panose="02040503050406030204" pitchFamily="18" charset="0"/>
                        </a:rPr>
                        <m:t>𝐤</m:t>
                      </m:r>
                    </m:oMath>
                  </a14:m>
                  <a:r>
                    <a:rPr lang="en-US" altLang="zh-TW" sz="1000" b="1" dirty="0">
                      <a:solidFill>
                        <a:schemeClr val="tx2"/>
                      </a:solidFill>
                      <a:latin typeface="Montserrat" panose="02020500000000000000" charset="0"/>
                    </a:rPr>
                    <a:t> of </a:t>
                  </a:r>
                  <a14:m>
                    <m:oMath xmlns:m="http://schemas.openxmlformats.org/officeDocument/2006/math">
                      <m:sSub>
                        <m:sSubPr>
                          <m:ctrlPr>
                            <a:rPr lang="en-US" altLang="zh-TW" sz="1000" b="1" i="1">
                              <a:solidFill>
                                <a:schemeClr val="tx2"/>
                              </a:solidFill>
                              <a:latin typeface="Cambria Math" panose="02040503050406030204" pitchFamily="18" charset="0"/>
                            </a:rPr>
                          </m:ctrlPr>
                        </m:sSubPr>
                        <m:e>
                          <m:r>
                            <a:rPr lang="zh-TW" altLang="en-US" sz="1000" b="1" i="1">
                              <a:solidFill>
                                <a:schemeClr val="tx2"/>
                              </a:solidFill>
                              <a:latin typeface="Cambria Math" panose="02040503050406030204" pitchFamily="18" charset="0"/>
                            </a:rPr>
                            <m:t>𝝍</m:t>
                          </m:r>
                        </m:e>
                        <m:sub>
                          <m:r>
                            <a:rPr lang="en-US" altLang="zh-TW" sz="1000" b="1" i="1">
                              <a:solidFill>
                                <a:schemeClr val="tx2"/>
                              </a:solidFill>
                              <a:latin typeface="Cambria Math" panose="02040503050406030204" pitchFamily="18" charset="0"/>
                            </a:rPr>
                            <m:t>𝟏</m:t>
                          </m:r>
                        </m:sub>
                      </m:sSub>
                    </m:oMath>
                  </a14:m>
                  <a:r>
                    <a:rPr lang="en-US" altLang="zh-TW" sz="1000" b="1" i="1" dirty="0">
                      <a:solidFill>
                        <a:schemeClr val="tx2"/>
                      </a:solidFill>
                      <a:latin typeface="Montserrat" panose="02020500000000000000" charset="0"/>
                    </a:rPr>
                    <a:t> </a:t>
                  </a:r>
                  <a:r>
                    <a:rPr lang="en-US" altLang="zh-TW" sz="1000" b="1" dirty="0">
                      <a:solidFill>
                        <a:schemeClr val="tx2"/>
                      </a:solidFill>
                      <a:latin typeface="Montserrat" panose="02020500000000000000" charset="0"/>
                    </a:rPr>
                    <a:t>and </a:t>
                  </a:r>
                  <a14:m>
                    <m:oMath xmlns:m="http://schemas.openxmlformats.org/officeDocument/2006/math">
                      <m:sSub>
                        <m:sSubPr>
                          <m:ctrlPr>
                            <a:rPr lang="en-US" altLang="zh-TW" sz="1000" b="1" i="1">
                              <a:solidFill>
                                <a:schemeClr val="tx2"/>
                              </a:solidFill>
                              <a:latin typeface="Cambria Math" panose="02040503050406030204" pitchFamily="18" charset="0"/>
                            </a:rPr>
                          </m:ctrlPr>
                        </m:sSubPr>
                        <m:e>
                          <m:r>
                            <a:rPr lang="zh-TW" altLang="en-US" sz="1000" b="1" i="1">
                              <a:solidFill>
                                <a:schemeClr val="tx2"/>
                              </a:solidFill>
                              <a:latin typeface="Cambria Math" panose="02040503050406030204" pitchFamily="18" charset="0"/>
                            </a:rPr>
                            <m:t>𝝍</m:t>
                          </m:r>
                        </m:e>
                        <m:sub>
                          <m:r>
                            <a:rPr lang="en-US" altLang="zh-TW" sz="1000" b="1" i="1" smtClean="0">
                              <a:solidFill>
                                <a:schemeClr val="tx2"/>
                              </a:solidFill>
                              <a:latin typeface="Cambria Math" panose="02040503050406030204" pitchFamily="18" charset="0"/>
                            </a:rPr>
                            <m:t>𝟐</m:t>
                          </m:r>
                        </m:sub>
                      </m:sSub>
                    </m:oMath>
                  </a14:m>
                  <a:r>
                    <a:rPr lang="en-US" altLang="zh-TW" sz="1000" b="1" i="1" dirty="0">
                      <a:solidFill>
                        <a:schemeClr val="tx2"/>
                      </a:solidFill>
                      <a:latin typeface="Montserrat" panose="02020500000000000000" charset="0"/>
                    </a:rPr>
                    <a:t> </a:t>
                  </a:r>
                  <a:r>
                    <a:rPr lang="en-US" altLang="zh-TW" sz="1000" b="1" dirty="0">
                      <a:solidFill>
                        <a:schemeClr val="tx2"/>
                      </a:solidFill>
                      <a:latin typeface="Montserrat" panose="02020500000000000000" charset="0"/>
                    </a:rPr>
                    <a:t>have different type</a:t>
                  </a:r>
                  <a:endParaRPr lang="en-US" altLang="zh-TW" sz="1000" b="1" i="1" dirty="0">
                    <a:solidFill>
                      <a:schemeClr val="tx2"/>
                    </a:solidFill>
                    <a:latin typeface="Montserrat" panose="02020500000000000000" charset="0"/>
                  </a:endParaRPr>
                </a:p>
              </p:txBody>
            </p:sp>
          </mc:Choice>
          <mc:Fallback xmlns="">
            <p:sp>
              <p:nvSpPr>
                <p:cNvPr id="66" name="矩形 65">
                  <a:extLst>
                    <a:ext uri="{FF2B5EF4-FFF2-40B4-BE49-F238E27FC236}">
                      <a16:creationId xmlns:a16="http://schemas.microsoft.com/office/drawing/2014/main" id="{50F4B5CE-24BB-42B7-80C8-202E2F6ED7C6}"/>
                    </a:ext>
                  </a:extLst>
                </p:cNvPr>
                <p:cNvSpPr>
                  <a:spLocks noRot="1" noChangeAspect="1" noMove="1" noResize="1" noEditPoints="1" noAdjustHandles="1" noChangeArrowheads="1" noChangeShapeType="1" noTextEdit="1"/>
                </p:cNvSpPr>
                <p:nvPr/>
              </p:nvSpPr>
              <p:spPr>
                <a:xfrm>
                  <a:off x="6151556" y="3215233"/>
                  <a:ext cx="2518062" cy="246221"/>
                </a:xfrm>
                <a:prstGeom prst="rect">
                  <a:avLst/>
                </a:prstGeom>
                <a:blipFill>
                  <a:blip r:embed="rId13"/>
                  <a:stretch>
                    <a:fillRect b="-12195"/>
                  </a:stretch>
                </a:blipFill>
              </p:spPr>
              <p:txBody>
                <a:bodyPr/>
                <a:lstStyle/>
                <a:p>
                  <a:r>
                    <a:rPr lang="zh-TW" altLang="en-US">
                      <a:noFill/>
                    </a:rPr>
                    <a:t> </a:t>
                  </a:r>
                </a:p>
              </p:txBody>
            </p:sp>
          </mc:Fallback>
        </mc:AlternateContent>
      </p:grpSp>
      <p:sp>
        <p:nvSpPr>
          <p:cNvPr id="67" name="文字方塊 66">
            <a:extLst>
              <a:ext uri="{FF2B5EF4-FFF2-40B4-BE49-F238E27FC236}">
                <a16:creationId xmlns:a16="http://schemas.microsoft.com/office/drawing/2014/main" id="{B400A5FA-AD11-4248-A410-9348413112C0}"/>
              </a:ext>
            </a:extLst>
          </p:cNvPr>
          <p:cNvSpPr txBox="1"/>
          <p:nvPr/>
        </p:nvSpPr>
        <p:spPr>
          <a:xfrm>
            <a:off x="5345699" y="2000808"/>
            <a:ext cx="412292" cy="246221"/>
          </a:xfrm>
          <a:prstGeom prst="rect">
            <a:avLst/>
          </a:prstGeom>
          <a:noFill/>
        </p:spPr>
        <p:txBody>
          <a:bodyPr wrap="none" rtlCol="0">
            <a:spAutoFit/>
          </a:bodyPr>
          <a:lstStyle/>
          <a:p>
            <a:r>
              <a:rPr lang="en-US" altLang="zh-TW" sz="1000" dirty="0">
                <a:latin typeface="Montserrat" panose="02020500000000000000" charset="0"/>
              </a:rPr>
              <a:t>(22)</a:t>
            </a:r>
            <a:endParaRPr lang="zh-TW" altLang="en-US" sz="1000" dirty="0">
              <a:latin typeface="Montserrat" panose="02020500000000000000" charset="0"/>
            </a:endParaRPr>
          </a:p>
        </p:txBody>
      </p:sp>
      <p:sp>
        <p:nvSpPr>
          <p:cNvPr id="68" name="文字方塊 67">
            <a:extLst>
              <a:ext uri="{FF2B5EF4-FFF2-40B4-BE49-F238E27FC236}">
                <a16:creationId xmlns:a16="http://schemas.microsoft.com/office/drawing/2014/main" id="{37BBE79A-9809-4323-ACEE-B32B694421F5}"/>
              </a:ext>
            </a:extLst>
          </p:cNvPr>
          <p:cNvSpPr txBox="1"/>
          <p:nvPr/>
        </p:nvSpPr>
        <p:spPr>
          <a:xfrm>
            <a:off x="5668327" y="4360613"/>
            <a:ext cx="412292" cy="246221"/>
          </a:xfrm>
          <a:prstGeom prst="rect">
            <a:avLst/>
          </a:prstGeom>
          <a:noFill/>
        </p:spPr>
        <p:txBody>
          <a:bodyPr wrap="none" rtlCol="0">
            <a:spAutoFit/>
          </a:bodyPr>
          <a:lstStyle/>
          <a:p>
            <a:r>
              <a:rPr lang="en-US" altLang="zh-TW" sz="1000" dirty="0">
                <a:latin typeface="Montserrat" panose="02020500000000000000" charset="0"/>
              </a:rPr>
              <a:t>(23)</a:t>
            </a:r>
            <a:endParaRPr lang="zh-TW" altLang="en-US" sz="1000" dirty="0">
              <a:latin typeface="Montserrat" panose="02020500000000000000" charset="0"/>
            </a:endParaRPr>
          </a:p>
        </p:txBody>
      </p:sp>
    </p:spTree>
    <p:extLst>
      <p:ext uri="{BB962C8B-B14F-4D97-AF65-F5344CB8AC3E}">
        <p14:creationId xmlns:p14="http://schemas.microsoft.com/office/powerpoint/2010/main" val="1181098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2438696" y="1722776"/>
            <a:ext cx="4275462"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Simulation</a:t>
            </a:r>
          </a:p>
        </p:txBody>
      </p:sp>
      <p:sp>
        <p:nvSpPr>
          <p:cNvPr id="35" name="文字方塊 34">
            <a:extLst>
              <a:ext uri="{FF2B5EF4-FFF2-40B4-BE49-F238E27FC236}">
                <a16:creationId xmlns:a16="http://schemas.microsoft.com/office/drawing/2014/main" id="{9562AECB-C5BB-49B1-81B0-B7DE9DB0A496}"/>
              </a:ext>
            </a:extLst>
          </p:cNvPr>
          <p:cNvSpPr txBox="1"/>
          <p:nvPr/>
        </p:nvSpPr>
        <p:spPr>
          <a:xfrm>
            <a:off x="3742557" y="2433486"/>
            <a:ext cx="1957587" cy="825419"/>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Algorithm comparison</a:t>
            </a:r>
          </a:p>
          <a:p>
            <a:pPr marL="171450" indent="-171450">
              <a:lnSpc>
                <a:spcPct val="150000"/>
              </a:lnSpc>
              <a:buFont typeface="Arial" panose="020B0604020202020204" pitchFamily="34" charset="0"/>
              <a:buChar char="•"/>
            </a:pPr>
            <a:r>
              <a:rPr lang="en-US" altLang="zh-TW" sz="1100" dirty="0">
                <a:latin typeface="Montserrat" panose="02020500000000000000" charset="0"/>
              </a:rPr>
              <a:t>Genetic algorithm</a:t>
            </a:r>
          </a:p>
          <a:p>
            <a:pPr marL="171450" indent="-171450">
              <a:lnSpc>
                <a:spcPct val="150000"/>
              </a:lnSpc>
              <a:buFont typeface="Arial" panose="020B0604020202020204" pitchFamily="34" charset="0"/>
              <a:buChar char="•"/>
            </a:pPr>
            <a:r>
              <a:rPr lang="en-US" altLang="zh-TW" sz="1100" dirty="0">
                <a:latin typeface="Montserrat" panose="02020500000000000000" charset="0"/>
              </a:rPr>
              <a:t>Simulation result</a:t>
            </a:r>
            <a:endParaRPr lang="zh-TW" altLang="en-US" sz="1100" dirty="0">
              <a:latin typeface="Montserrat" panose="02020500000000000000" charset="0"/>
            </a:endParaRPr>
          </a:p>
        </p:txBody>
      </p:sp>
      <p:grpSp>
        <p:nvGrpSpPr>
          <p:cNvPr id="36" name="Google Shape;1627;p64">
            <a:extLst>
              <a:ext uri="{FF2B5EF4-FFF2-40B4-BE49-F238E27FC236}">
                <a16:creationId xmlns:a16="http://schemas.microsoft.com/office/drawing/2014/main" id="{D10ABC2D-7BCE-44A5-9695-B0C5D988EE75}"/>
              </a:ext>
            </a:extLst>
          </p:cNvPr>
          <p:cNvGrpSpPr/>
          <p:nvPr/>
        </p:nvGrpSpPr>
        <p:grpSpPr>
          <a:xfrm flipH="1">
            <a:off x="0" y="4489856"/>
            <a:ext cx="4686300" cy="653644"/>
            <a:chOff x="4004242" y="2610468"/>
            <a:chExt cx="2159335" cy="669312"/>
          </a:xfrm>
        </p:grpSpPr>
        <p:sp>
          <p:nvSpPr>
            <p:cNvPr id="37" name="Google Shape;1628;p64">
              <a:extLst>
                <a:ext uri="{FF2B5EF4-FFF2-40B4-BE49-F238E27FC236}">
                  <a16:creationId xmlns:a16="http://schemas.microsoft.com/office/drawing/2014/main" id="{9276738A-B8F2-4E7A-ACCC-6C6108435083}"/>
                </a:ext>
              </a:extLst>
            </p:cNvPr>
            <p:cNvSpPr/>
            <p:nvPr/>
          </p:nvSpPr>
          <p:spPr>
            <a:xfrm>
              <a:off x="4004242" y="2610468"/>
              <a:ext cx="2156595" cy="669312"/>
            </a:xfrm>
            <a:custGeom>
              <a:avLst/>
              <a:gdLst/>
              <a:ahLst/>
              <a:cxnLst/>
              <a:rect l="l" t="t" r="r" b="b"/>
              <a:pathLst>
                <a:path w="52539" h="33200" extrusionOk="0">
                  <a:moveTo>
                    <a:pt x="37893" y="0"/>
                  </a:moveTo>
                  <a:cubicBezTo>
                    <a:pt x="37827" y="0"/>
                    <a:pt x="37760" y="3"/>
                    <a:pt x="37694" y="9"/>
                  </a:cubicBezTo>
                  <a:cubicBezTo>
                    <a:pt x="36727" y="43"/>
                    <a:pt x="35926" y="677"/>
                    <a:pt x="35226" y="1277"/>
                  </a:cubicBezTo>
                  <a:cubicBezTo>
                    <a:pt x="32224" y="3879"/>
                    <a:pt x="29255" y="6447"/>
                    <a:pt x="26353" y="9083"/>
                  </a:cubicBezTo>
                  <a:cubicBezTo>
                    <a:pt x="25852" y="7748"/>
                    <a:pt x="25052" y="6514"/>
                    <a:pt x="24018" y="5513"/>
                  </a:cubicBezTo>
                  <a:cubicBezTo>
                    <a:pt x="23621" y="5116"/>
                    <a:pt x="23103" y="4743"/>
                    <a:pt x="22567" y="4743"/>
                  </a:cubicBezTo>
                  <a:cubicBezTo>
                    <a:pt x="22473" y="4743"/>
                    <a:pt x="22378" y="4755"/>
                    <a:pt x="22283" y="4779"/>
                  </a:cubicBezTo>
                  <a:cubicBezTo>
                    <a:pt x="21883" y="4880"/>
                    <a:pt x="21583" y="5213"/>
                    <a:pt x="21282" y="5513"/>
                  </a:cubicBezTo>
                  <a:cubicBezTo>
                    <a:pt x="17713" y="9383"/>
                    <a:pt x="14111" y="13252"/>
                    <a:pt x="10775" y="17355"/>
                  </a:cubicBezTo>
                  <a:cubicBezTo>
                    <a:pt x="8840" y="19724"/>
                    <a:pt x="7172" y="22125"/>
                    <a:pt x="5371" y="24594"/>
                  </a:cubicBezTo>
                  <a:cubicBezTo>
                    <a:pt x="4871" y="25294"/>
                    <a:pt x="1" y="33200"/>
                    <a:pt x="34" y="33200"/>
                  </a:cubicBezTo>
                  <a:lnTo>
                    <a:pt x="52538" y="33200"/>
                  </a:lnTo>
                  <a:cubicBezTo>
                    <a:pt x="52405" y="31532"/>
                    <a:pt x="52138" y="29897"/>
                    <a:pt x="51871" y="28263"/>
                  </a:cubicBezTo>
                  <a:cubicBezTo>
                    <a:pt x="50770" y="22926"/>
                    <a:pt x="48635" y="17622"/>
                    <a:pt x="47134" y="12552"/>
                  </a:cubicBezTo>
                  <a:cubicBezTo>
                    <a:pt x="45767" y="8048"/>
                    <a:pt x="44065" y="3178"/>
                    <a:pt x="39729" y="610"/>
                  </a:cubicBezTo>
                  <a:cubicBezTo>
                    <a:pt x="39155" y="278"/>
                    <a:pt x="38527" y="0"/>
                    <a:pt x="37893" y="0"/>
                  </a:cubicBezTo>
                  <a:close/>
                </a:path>
              </a:pathLst>
            </a:custGeom>
            <a:solidFill>
              <a:srgbClr val="275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629;p64">
              <a:extLst>
                <a:ext uri="{FF2B5EF4-FFF2-40B4-BE49-F238E27FC236}">
                  <a16:creationId xmlns:a16="http://schemas.microsoft.com/office/drawing/2014/main" id="{4F889816-905D-4C2E-9C1B-7341E0A5B860}"/>
                </a:ext>
              </a:extLst>
            </p:cNvPr>
            <p:cNvSpPr/>
            <p:nvPr/>
          </p:nvSpPr>
          <p:spPr>
            <a:xfrm>
              <a:off x="5129795" y="2671833"/>
              <a:ext cx="1033781" cy="605264"/>
            </a:xfrm>
            <a:custGeom>
              <a:avLst/>
              <a:gdLst/>
              <a:ahLst/>
              <a:cxnLst/>
              <a:rect l="l" t="t" r="r" b="b"/>
              <a:pathLst>
                <a:path w="25185" h="30023" extrusionOk="0">
                  <a:moveTo>
                    <a:pt x="15178" y="1"/>
                  </a:moveTo>
                  <a:cubicBezTo>
                    <a:pt x="15193" y="32"/>
                    <a:pt x="15210" y="64"/>
                    <a:pt x="15227" y="95"/>
                  </a:cubicBezTo>
                  <a:lnTo>
                    <a:pt x="15227" y="95"/>
                  </a:lnTo>
                  <a:cubicBezTo>
                    <a:pt x="15211" y="64"/>
                    <a:pt x="15194" y="32"/>
                    <a:pt x="15178" y="1"/>
                  </a:cubicBezTo>
                  <a:close/>
                  <a:moveTo>
                    <a:pt x="15227" y="95"/>
                  </a:moveTo>
                  <a:cubicBezTo>
                    <a:pt x="15470" y="568"/>
                    <a:pt x="15657" y="1068"/>
                    <a:pt x="15845" y="1569"/>
                  </a:cubicBezTo>
                  <a:cubicBezTo>
                    <a:pt x="16278" y="2870"/>
                    <a:pt x="16512" y="4237"/>
                    <a:pt x="16712" y="5572"/>
                  </a:cubicBezTo>
                  <a:cubicBezTo>
                    <a:pt x="16979" y="7373"/>
                    <a:pt x="17179" y="9208"/>
                    <a:pt x="16846" y="10975"/>
                  </a:cubicBezTo>
                  <a:cubicBezTo>
                    <a:pt x="16512" y="12743"/>
                    <a:pt x="15645" y="14478"/>
                    <a:pt x="14144" y="15479"/>
                  </a:cubicBezTo>
                  <a:cubicBezTo>
                    <a:pt x="12709" y="16379"/>
                    <a:pt x="10975" y="16546"/>
                    <a:pt x="9307" y="16746"/>
                  </a:cubicBezTo>
                  <a:cubicBezTo>
                    <a:pt x="6638" y="17080"/>
                    <a:pt x="4003" y="17647"/>
                    <a:pt x="1435" y="18381"/>
                  </a:cubicBezTo>
                  <a:cubicBezTo>
                    <a:pt x="968" y="18514"/>
                    <a:pt x="467" y="18681"/>
                    <a:pt x="0" y="18881"/>
                  </a:cubicBezTo>
                  <a:cubicBezTo>
                    <a:pt x="755" y="18840"/>
                    <a:pt x="1510" y="18821"/>
                    <a:pt x="2263" y="18821"/>
                  </a:cubicBezTo>
                  <a:cubicBezTo>
                    <a:pt x="3975" y="18821"/>
                    <a:pt x="5682" y="18919"/>
                    <a:pt x="7372" y="19081"/>
                  </a:cubicBezTo>
                  <a:cubicBezTo>
                    <a:pt x="9674" y="19348"/>
                    <a:pt x="11975" y="19682"/>
                    <a:pt x="14210" y="20215"/>
                  </a:cubicBezTo>
                  <a:cubicBezTo>
                    <a:pt x="16178" y="20716"/>
                    <a:pt x="17946" y="21183"/>
                    <a:pt x="19014" y="23084"/>
                  </a:cubicBezTo>
                  <a:cubicBezTo>
                    <a:pt x="19648" y="24218"/>
                    <a:pt x="19881" y="25586"/>
                    <a:pt x="19714" y="26887"/>
                  </a:cubicBezTo>
                  <a:cubicBezTo>
                    <a:pt x="19681" y="27421"/>
                    <a:pt x="19547" y="27988"/>
                    <a:pt x="19214" y="28388"/>
                  </a:cubicBezTo>
                  <a:cubicBezTo>
                    <a:pt x="18847" y="28855"/>
                    <a:pt x="18280" y="29088"/>
                    <a:pt x="17679" y="29255"/>
                  </a:cubicBezTo>
                  <a:cubicBezTo>
                    <a:pt x="16812" y="29555"/>
                    <a:pt x="15878" y="29822"/>
                    <a:pt x="15011" y="30022"/>
                  </a:cubicBezTo>
                  <a:lnTo>
                    <a:pt x="25185" y="30022"/>
                  </a:lnTo>
                  <a:cubicBezTo>
                    <a:pt x="24985" y="28488"/>
                    <a:pt x="24718" y="26853"/>
                    <a:pt x="24451" y="25219"/>
                  </a:cubicBezTo>
                  <a:cubicBezTo>
                    <a:pt x="23350" y="19882"/>
                    <a:pt x="21215" y="14578"/>
                    <a:pt x="19714" y="9508"/>
                  </a:cubicBezTo>
                  <a:cubicBezTo>
                    <a:pt x="18980" y="7006"/>
                    <a:pt x="18113" y="4371"/>
                    <a:pt x="16712" y="2136"/>
                  </a:cubicBezTo>
                  <a:cubicBezTo>
                    <a:pt x="16679" y="2069"/>
                    <a:pt x="16645" y="2002"/>
                    <a:pt x="16612" y="1969"/>
                  </a:cubicBezTo>
                  <a:cubicBezTo>
                    <a:pt x="16199" y="1365"/>
                    <a:pt x="15574" y="731"/>
                    <a:pt x="15227" y="95"/>
                  </a:cubicBezTo>
                  <a:close/>
                </a:path>
              </a:pathLst>
            </a:custGeom>
            <a:solidFill>
              <a:srgbClr val="1138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30;p64">
              <a:extLst>
                <a:ext uri="{FF2B5EF4-FFF2-40B4-BE49-F238E27FC236}">
                  <a16:creationId xmlns:a16="http://schemas.microsoft.com/office/drawing/2014/main" id="{55DED8FA-0D86-4FB3-8499-C5008430E20D}"/>
                </a:ext>
              </a:extLst>
            </p:cNvPr>
            <p:cNvSpPr/>
            <p:nvPr/>
          </p:nvSpPr>
          <p:spPr>
            <a:xfrm>
              <a:off x="4888799" y="2706064"/>
              <a:ext cx="321812" cy="121807"/>
            </a:xfrm>
            <a:custGeom>
              <a:avLst/>
              <a:gdLst/>
              <a:ahLst/>
              <a:cxnLst/>
              <a:rect l="l" t="t" r="r" b="b"/>
              <a:pathLst>
                <a:path w="7840" h="6042" extrusionOk="0">
                  <a:moveTo>
                    <a:pt x="950" y="1"/>
                  </a:moveTo>
                  <a:cubicBezTo>
                    <a:pt x="857" y="1"/>
                    <a:pt x="763" y="12"/>
                    <a:pt x="667" y="37"/>
                  </a:cubicBezTo>
                  <a:lnTo>
                    <a:pt x="601" y="37"/>
                  </a:lnTo>
                  <a:cubicBezTo>
                    <a:pt x="1201" y="1972"/>
                    <a:pt x="667" y="4107"/>
                    <a:pt x="0" y="6042"/>
                  </a:cubicBezTo>
                  <a:cubicBezTo>
                    <a:pt x="801" y="5808"/>
                    <a:pt x="1635" y="5842"/>
                    <a:pt x="2402" y="5708"/>
                  </a:cubicBezTo>
                  <a:cubicBezTo>
                    <a:pt x="4137" y="5475"/>
                    <a:pt x="5704" y="4607"/>
                    <a:pt x="6805" y="3306"/>
                  </a:cubicBezTo>
                  <a:cubicBezTo>
                    <a:pt x="7205" y="2806"/>
                    <a:pt x="7572" y="2172"/>
                    <a:pt x="7839" y="1539"/>
                  </a:cubicBezTo>
                  <a:lnTo>
                    <a:pt x="7839" y="1539"/>
                  </a:lnTo>
                  <a:cubicBezTo>
                    <a:pt x="6805" y="2473"/>
                    <a:pt x="5738" y="3373"/>
                    <a:pt x="4704" y="4341"/>
                  </a:cubicBezTo>
                  <a:cubicBezTo>
                    <a:pt x="4203" y="3006"/>
                    <a:pt x="3403" y="1772"/>
                    <a:pt x="2369" y="738"/>
                  </a:cubicBezTo>
                  <a:cubicBezTo>
                    <a:pt x="1972" y="369"/>
                    <a:pt x="1479" y="1"/>
                    <a:pt x="950" y="1"/>
                  </a:cubicBezTo>
                  <a:close/>
                </a:path>
              </a:pathLst>
            </a:custGeom>
            <a:solidFill>
              <a:srgbClr val="1138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1641;p64">
            <a:extLst>
              <a:ext uri="{FF2B5EF4-FFF2-40B4-BE49-F238E27FC236}">
                <a16:creationId xmlns:a16="http://schemas.microsoft.com/office/drawing/2014/main" id="{F538CEDE-684C-4E0B-8557-E99488D82AD1}"/>
              </a:ext>
            </a:extLst>
          </p:cNvPr>
          <p:cNvGrpSpPr/>
          <p:nvPr/>
        </p:nvGrpSpPr>
        <p:grpSpPr>
          <a:xfrm>
            <a:off x="1872356" y="3316148"/>
            <a:ext cx="1090052" cy="1500530"/>
            <a:chOff x="3459825" y="1425550"/>
            <a:chExt cx="2263701" cy="3173870"/>
          </a:xfrm>
        </p:grpSpPr>
        <p:sp>
          <p:nvSpPr>
            <p:cNvPr id="41" name="Google Shape;1642;p64">
              <a:extLst>
                <a:ext uri="{FF2B5EF4-FFF2-40B4-BE49-F238E27FC236}">
                  <a16:creationId xmlns:a16="http://schemas.microsoft.com/office/drawing/2014/main" id="{FE153F91-FAB5-45B4-92AF-2493FF56D6A7}"/>
                </a:ext>
              </a:extLst>
            </p:cNvPr>
            <p:cNvSpPr/>
            <p:nvPr/>
          </p:nvSpPr>
          <p:spPr>
            <a:xfrm>
              <a:off x="3533454" y="2548335"/>
              <a:ext cx="589209" cy="2051086"/>
            </a:xfrm>
            <a:custGeom>
              <a:avLst/>
              <a:gdLst/>
              <a:ahLst/>
              <a:cxnLst/>
              <a:rect l="l" t="t" r="r" b="b"/>
              <a:pathLst>
                <a:path w="26831" h="93401" extrusionOk="0">
                  <a:moveTo>
                    <a:pt x="0" y="1"/>
                  </a:moveTo>
                  <a:lnTo>
                    <a:pt x="0" y="93401"/>
                  </a:lnTo>
                  <a:lnTo>
                    <a:pt x="26831" y="93401"/>
                  </a:lnTo>
                  <a:lnTo>
                    <a:pt x="26831" y="1"/>
                  </a:lnTo>
                  <a:close/>
                </a:path>
              </a:pathLst>
            </a:custGeom>
            <a:solidFill>
              <a:srgbClr val="F78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43;p64">
              <a:extLst>
                <a:ext uri="{FF2B5EF4-FFF2-40B4-BE49-F238E27FC236}">
                  <a16:creationId xmlns:a16="http://schemas.microsoft.com/office/drawing/2014/main" id="{5ABC3969-EFF5-41BD-A7FC-091FF0D0E2A8}"/>
                </a:ext>
              </a:extLst>
            </p:cNvPr>
            <p:cNvSpPr/>
            <p:nvPr/>
          </p:nvSpPr>
          <p:spPr>
            <a:xfrm>
              <a:off x="3533454" y="1935569"/>
              <a:ext cx="589209" cy="589406"/>
            </a:xfrm>
            <a:custGeom>
              <a:avLst/>
              <a:gdLst/>
              <a:ahLst/>
              <a:cxnLst/>
              <a:rect l="l" t="t" r="r" b="b"/>
              <a:pathLst>
                <a:path w="26831" h="26840" extrusionOk="0">
                  <a:moveTo>
                    <a:pt x="0" y="1"/>
                  </a:moveTo>
                  <a:lnTo>
                    <a:pt x="0" y="26840"/>
                  </a:lnTo>
                  <a:lnTo>
                    <a:pt x="26831" y="26840"/>
                  </a:lnTo>
                  <a:lnTo>
                    <a:pt x="26831" y="1"/>
                  </a:lnTo>
                  <a:close/>
                </a:path>
              </a:pathLst>
            </a:custGeom>
            <a:solidFill>
              <a:srgbClr val="F78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44;p64">
              <a:extLst>
                <a:ext uri="{FF2B5EF4-FFF2-40B4-BE49-F238E27FC236}">
                  <a16:creationId xmlns:a16="http://schemas.microsoft.com/office/drawing/2014/main" id="{62233492-09C4-44A9-9E2A-11019C8E900F}"/>
                </a:ext>
              </a:extLst>
            </p:cNvPr>
            <p:cNvSpPr/>
            <p:nvPr/>
          </p:nvSpPr>
          <p:spPr>
            <a:xfrm>
              <a:off x="3603834" y="2784042"/>
              <a:ext cx="70799" cy="1603234"/>
            </a:xfrm>
            <a:custGeom>
              <a:avLst/>
              <a:gdLst/>
              <a:ahLst/>
              <a:cxnLst/>
              <a:rect l="l" t="t" r="r" b="b"/>
              <a:pathLst>
                <a:path w="3224" h="73007" extrusionOk="0">
                  <a:moveTo>
                    <a:pt x="1612" y="0"/>
                  </a:moveTo>
                  <a:cubicBezTo>
                    <a:pt x="720" y="0"/>
                    <a:pt x="1" y="728"/>
                    <a:pt x="1" y="1621"/>
                  </a:cubicBezTo>
                  <a:lnTo>
                    <a:pt x="1" y="71387"/>
                  </a:lnTo>
                  <a:cubicBezTo>
                    <a:pt x="1" y="72279"/>
                    <a:pt x="720" y="73007"/>
                    <a:pt x="1612" y="73007"/>
                  </a:cubicBezTo>
                  <a:cubicBezTo>
                    <a:pt x="2496" y="73007"/>
                    <a:pt x="3224" y="72279"/>
                    <a:pt x="3224" y="71387"/>
                  </a:cubicBezTo>
                  <a:lnTo>
                    <a:pt x="3224" y="1621"/>
                  </a:lnTo>
                  <a:cubicBezTo>
                    <a:pt x="3224" y="728"/>
                    <a:pt x="2496"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45;p64">
              <a:extLst>
                <a:ext uri="{FF2B5EF4-FFF2-40B4-BE49-F238E27FC236}">
                  <a16:creationId xmlns:a16="http://schemas.microsoft.com/office/drawing/2014/main" id="{AA547379-D8FE-427F-AE11-10560D9EF2A6}"/>
                </a:ext>
              </a:extLst>
            </p:cNvPr>
            <p:cNvSpPr/>
            <p:nvPr/>
          </p:nvSpPr>
          <p:spPr>
            <a:xfrm>
              <a:off x="3603834" y="2053335"/>
              <a:ext cx="70799" cy="283108"/>
            </a:xfrm>
            <a:custGeom>
              <a:avLst/>
              <a:gdLst/>
              <a:ahLst/>
              <a:cxnLst/>
              <a:rect l="l" t="t" r="r" b="b"/>
              <a:pathLst>
                <a:path w="3224" h="12892" extrusionOk="0">
                  <a:moveTo>
                    <a:pt x="1612" y="0"/>
                  </a:moveTo>
                  <a:cubicBezTo>
                    <a:pt x="720" y="0"/>
                    <a:pt x="1" y="728"/>
                    <a:pt x="1" y="1612"/>
                  </a:cubicBezTo>
                  <a:lnTo>
                    <a:pt x="1" y="11271"/>
                  </a:lnTo>
                  <a:cubicBezTo>
                    <a:pt x="1" y="12164"/>
                    <a:pt x="720" y="12892"/>
                    <a:pt x="1612" y="12892"/>
                  </a:cubicBezTo>
                  <a:cubicBezTo>
                    <a:pt x="2496" y="12892"/>
                    <a:pt x="3224" y="12164"/>
                    <a:pt x="3224" y="11271"/>
                  </a:cubicBezTo>
                  <a:lnTo>
                    <a:pt x="3224" y="1612"/>
                  </a:lnTo>
                  <a:cubicBezTo>
                    <a:pt x="3224" y="728"/>
                    <a:pt x="2496"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46;p64">
              <a:extLst>
                <a:ext uri="{FF2B5EF4-FFF2-40B4-BE49-F238E27FC236}">
                  <a16:creationId xmlns:a16="http://schemas.microsoft.com/office/drawing/2014/main" id="{B94FA00C-25D2-44AE-8B50-705FF5063C32}"/>
                </a:ext>
              </a:extLst>
            </p:cNvPr>
            <p:cNvSpPr/>
            <p:nvPr/>
          </p:nvSpPr>
          <p:spPr>
            <a:xfrm>
              <a:off x="3792376" y="2784042"/>
              <a:ext cx="70799" cy="1603234"/>
            </a:xfrm>
            <a:custGeom>
              <a:avLst/>
              <a:gdLst/>
              <a:ahLst/>
              <a:cxnLst/>
              <a:rect l="l" t="t" r="r" b="b"/>
              <a:pathLst>
                <a:path w="3224" h="73007" extrusionOk="0">
                  <a:moveTo>
                    <a:pt x="1612" y="0"/>
                  </a:moveTo>
                  <a:cubicBezTo>
                    <a:pt x="728" y="0"/>
                    <a:pt x="0" y="728"/>
                    <a:pt x="0" y="1621"/>
                  </a:cubicBezTo>
                  <a:lnTo>
                    <a:pt x="0" y="71387"/>
                  </a:lnTo>
                  <a:cubicBezTo>
                    <a:pt x="0" y="72279"/>
                    <a:pt x="728" y="73007"/>
                    <a:pt x="1612" y="73007"/>
                  </a:cubicBezTo>
                  <a:cubicBezTo>
                    <a:pt x="2504" y="73007"/>
                    <a:pt x="3223" y="72279"/>
                    <a:pt x="3223" y="71387"/>
                  </a:cubicBezTo>
                  <a:lnTo>
                    <a:pt x="3223" y="1621"/>
                  </a:lnTo>
                  <a:cubicBezTo>
                    <a:pt x="3223" y="728"/>
                    <a:pt x="2504"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47;p64">
              <a:extLst>
                <a:ext uri="{FF2B5EF4-FFF2-40B4-BE49-F238E27FC236}">
                  <a16:creationId xmlns:a16="http://schemas.microsoft.com/office/drawing/2014/main" id="{D3DF0B5E-80A1-4DDD-A51A-4E08C21BB3A7}"/>
                </a:ext>
              </a:extLst>
            </p:cNvPr>
            <p:cNvSpPr/>
            <p:nvPr/>
          </p:nvSpPr>
          <p:spPr>
            <a:xfrm>
              <a:off x="3957312" y="2784042"/>
              <a:ext cx="70975" cy="1603234"/>
            </a:xfrm>
            <a:custGeom>
              <a:avLst/>
              <a:gdLst/>
              <a:ahLst/>
              <a:cxnLst/>
              <a:rect l="l" t="t" r="r" b="b"/>
              <a:pathLst>
                <a:path w="3232" h="73007" extrusionOk="0">
                  <a:moveTo>
                    <a:pt x="1620" y="0"/>
                  </a:moveTo>
                  <a:cubicBezTo>
                    <a:pt x="728" y="0"/>
                    <a:pt x="0" y="728"/>
                    <a:pt x="0" y="1621"/>
                  </a:cubicBezTo>
                  <a:lnTo>
                    <a:pt x="0" y="71387"/>
                  </a:lnTo>
                  <a:cubicBezTo>
                    <a:pt x="0" y="72279"/>
                    <a:pt x="728" y="73007"/>
                    <a:pt x="1620" y="73007"/>
                  </a:cubicBezTo>
                  <a:cubicBezTo>
                    <a:pt x="2504" y="73007"/>
                    <a:pt x="3232" y="72279"/>
                    <a:pt x="3232" y="71387"/>
                  </a:cubicBezTo>
                  <a:lnTo>
                    <a:pt x="3232" y="1621"/>
                  </a:lnTo>
                  <a:cubicBezTo>
                    <a:pt x="3232" y="728"/>
                    <a:pt x="2504" y="0"/>
                    <a:pt x="1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48;p64">
              <a:extLst>
                <a:ext uri="{FF2B5EF4-FFF2-40B4-BE49-F238E27FC236}">
                  <a16:creationId xmlns:a16="http://schemas.microsoft.com/office/drawing/2014/main" id="{0BEF6FF4-051B-406D-B42A-3849BC667FF9}"/>
                </a:ext>
              </a:extLst>
            </p:cNvPr>
            <p:cNvSpPr/>
            <p:nvPr/>
          </p:nvSpPr>
          <p:spPr>
            <a:xfrm>
              <a:off x="3792376" y="2053335"/>
              <a:ext cx="70799" cy="283108"/>
            </a:xfrm>
            <a:custGeom>
              <a:avLst/>
              <a:gdLst/>
              <a:ahLst/>
              <a:cxnLst/>
              <a:rect l="l" t="t" r="r" b="b"/>
              <a:pathLst>
                <a:path w="3224" h="12892" extrusionOk="0">
                  <a:moveTo>
                    <a:pt x="1612" y="0"/>
                  </a:moveTo>
                  <a:cubicBezTo>
                    <a:pt x="728" y="0"/>
                    <a:pt x="0" y="728"/>
                    <a:pt x="0" y="1612"/>
                  </a:cubicBezTo>
                  <a:lnTo>
                    <a:pt x="0" y="11271"/>
                  </a:lnTo>
                  <a:cubicBezTo>
                    <a:pt x="0" y="12164"/>
                    <a:pt x="728" y="12892"/>
                    <a:pt x="1612" y="12892"/>
                  </a:cubicBezTo>
                  <a:cubicBezTo>
                    <a:pt x="2504" y="12892"/>
                    <a:pt x="3223" y="12164"/>
                    <a:pt x="3223" y="11271"/>
                  </a:cubicBezTo>
                  <a:lnTo>
                    <a:pt x="3223" y="1612"/>
                  </a:lnTo>
                  <a:cubicBezTo>
                    <a:pt x="3223" y="728"/>
                    <a:pt x="2504"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49;p64">
              <a:extLst>
                <a:ext uri="{FF2B5EF4-FFF2-40B4-BE49-F238E27FC236}">
                  <a16:creationId xmlns:a16="http://schemas.microsoft.com/office/drawing/2014/main" id="{3BB4D0EF-3365-4916-BED7-6C518A97B513}"/>
                </a:ext>
              </a:extLst>
            </p:cNvPr>
            <p:cNvSpPr/>
            <p:nvPr/>
          </p:nvSpPr>
          <p:spPr>
            <a:xfrm>
              <a:off x="3957312" y="2053335"/>
              <a:ext cx="70975" cy="283108"/>
            </a:xfrm>
            <a:custGeom>
              <a:avLst/>
              <a:gdLst/>
              <a:ahLst/>
              <a:cxnLst/>
              <a:rect l="l" t="t" r="r" b="b"/>
              <a:pathLst>
                <a:path w="3232" h="12892" extrusionOk="0">
                  <a:moveTo>
                    <a:pt x="1620" y="0"/>
                  </a:moveTo>
                  <a:cubicBezTo>
                    <a:pt x="728" y="0"/>
                    <a:pt x="0" y="728"/>
                    <a:pt x="0" y="1612"/>
                  </a:cubicBezTo>
                  <a:lnTo>
                    <a:pt x="0" y="11271"/>
                  </a:lnTo>
                  <a:cubicBezTo>
                    <a:pt x="0" y="12164"/>
                    <a:pt x="728" y="12892"/>
                    <a:pt x="1620" y="12892"/>
                  </a:cubicBezTo>
                  <a:cubicBezTo>
                    <a:pt x="2504" y="12892"/>
                    <a:pt x="3232" y="12164"/>
                    <a:pt x="3232" y="11271"/>
                  </a:cubicBezTo>
                  <a:lnTo>
                    <a:pt x="3232" y="1612"/>
                  </a:lnTo>
                  <a:cubicBezTo>
                    <a:pt x="3232" y="728"/>
                    <a:pt x="2504" y="0"/>
                    <a:pt x="1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50;p64">
              <a:extLst>
                <a:ext uri="{FF2B5EF4-FFF2-40B4-BE49-F238E27FC236}">
                  <a16:creationId xmlns:a16="http://schemas.microsoft.com/office/drawing/2014/main" id="{E5316A27-28B1-40E2-8E59-794342926822}"/>
                </a:ext>
              </a:extLst>
            </p:cNvPr>
            <p:cNvSpPr/>
            <p:nvPr/>
          </p:nvSpPr>
          <p:spPr>
            <a:xfrm>
              <a:off x="3462504" y="2406985"/>
              <a:ext cx="730741" cy="188571"/>
            </a:xfrm>
            <a:custGeom>
              <a:avLst/>
              <a:gdLst/>
              <a:ahLst/>
              <a:cxnLst/>
              <a:rect l="l" t="t" r="r" b="b"/>
              <a:pathLst>
                <a:path w="33276" h="8587" extrusionOk="0">
                  <a:moveTo>
                    <a:pt x="0" y="1"/>
                  </a:moveTo>
                  <a:lnTo>
                    <a:pt x="0" y="8586"/>
                  </a:lnTo>
                  <a:lnTo>
                    <a:pt x="33276" y="8586"/>
                  </a:lnTo>
                  <a:lnTo>
                    <a:pt x="33276" y="1"/>
                  </a:ln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651;p64">
              <a:extLst>
                <a:ext uri="{FF2B5EF4-FFF2-40B4-BE49-F238E27FC236}">
                  <a16:creationId xmlns:a16="http://schemas.microsoft.com/office/drawing/2014/main" id="{FA425315-1DBE-461D-9A6F-BFCB1703AFBC}"/>
                </a:ext>
              </a:extLst>
            </p:cNvPr>
            <p:cNvSpPr/>
            <p:nvPr/>
          </p:nvSpPr>
          <p:spPr>
            <a:xfrm>
              <a:off x="3459825" y="1425550"/>
              <a:ext cx="739701" cy="510065"/>
            </a:xfrm>
            <a:custGeom>
              <a:avLst/>
              <a:gdLst/>
              <a:ahLst/>
              <a:cxnLst/>
              <a:rect l="l" t="t" r="r" b="b"/>
              <a:pathLst>
                <a:path w="33684" h="23227" extrusionOk="0">
                  <a:moveTo>
                    <a:pt x="16842" y="0"/>
                  </a:moveTo>
                  <a:lnTo>
                    <a:pt x="1" y="23227"/>
                  </a:lnTo>
                  <a:lnTo>
                    <a:pt x="33684" y="23227"/>
                  </a:lnTo>
                  <a:lnTo>
                    <a:pt x="16842" y="0"/>
                  </a:ln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652;p64">
              <a:extLst>
                <a:ext uri="{FF2B5EF4-FFF2-40B4-BE49-F238E27FC236}">
                  <a16:creationId xmlns:a16="http://schemas.microsoft.com/office/drawing/2014/main" id="{42A525B9-5BCB-4AB8-AA63-3C04A2F36038}"/>
                </a:ext>
              </a:extLst>
            </p:cNvPr>
            <p:cNvSpPr/>
            <p:nvPr/>
          </p:nvSpPr>
          <p:spPr>
            <a:xfrm>
              <a:off x="5057454" y="2548335"/>
              <a:ext cx="589209" cy="2051086"/>
            </a:xfrm>
            <a:custGeom>
              <a:avLst/>
              <a:gdLst/>
              <a:ahLst/>
              <a:cxnLst/>
              <a:rect l="l" t="t" r="r" b="b"/>
              <a:pathLst>
                <a:path w="26831" h="93401" extrusionOk="0">
                  <a:moveTo>
                    <a:pt x="0" y="1"/>
                  </a:moveTo>
                  <a:lnTo>
                    <a:pt x="0" y="93401"/>
                  </a:lnTo>
                  <a:lnTo>
                    <a:pt x="26831" y="93401"/>
                  </a:lnTo>
                  <a:lnTo>
                    <a:pt x="26831" y="1"/>
                  </a:lnTo>
                  <a:close/>
                </a:path>
              </a:pathLst>
            </a:custGeom>
            <a:solidFill>
              <a:srgbClr val="F78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53;p64">
              <a:extLst>
                <a:ext uri="{FF2B5EF4-FFF2-40B4-BE49-F238E27FC236}">
                  <a16:creationId xmlns:a16="http://schemas.microsoft.com/office/drawing/2014/main" id="{7F158DEB-393A-4E54-99F4-6BA68180BCF4}"/>
                </a:ext>
              </a:extLst>
            </p:cNvPr>
            <p:cNvSpPr/>
            <p:nvPr/>
          </p:nvSpPr>
          <p:spPr>
            <a:xfrm>
              <a:off x="5127834" y="2784042"/>
              <a:ext cx="70799" cy="1603234"/>
            </a:xfrm>
            <a:custGeom>
              <a:avLst/>
              <a:gdLst/>
              <a:ahLst/>
              <a:cxnLst/>
              <a:rect l="l" t="t" r="r" b="b"/>
              <a:pathLst>
                <a:path w="3224" h="73007" extrusionOk="0">
                  <a:moveTo>
                    <a:pt x="1612" y="0"/>
                  </a:moveTo>
                  <a:cubicBezTo>
                    <a:pt x="720" y="0"/>
                    <a:pt x="1" y="728"/>
                    <a:pt x="1" y="1621"/>
                  </a:cubicBezTo>
                  <a:lnTo>
                    <a:pt x="1" y="71387"/>
                  </a:lnTo>
                  <a:cubicBezTo>
                    <a:pt x="1" y="72279"/>
                    <a:pt x="720" y="73007"/>
                    <a:pt x="1612" y="73007"/>
                  </a:cubicBezTo>
                  <a:cubicBezTo>
                    <a:pt x="2496" y="73007"/>
                    <a:pt x="3224" y="72279"/>
                    <a:pt x="3224" y="71387"/>
                  </a:cubicBezTo>
                  <a:lnTo>
                    <a:pt x="3224" y="1621"/>
                  </a:lnTo>
                  <a:cubicBezTo>
                    <a:pt x="3224" y="728"/>
                    <a:pt x="2496"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54;p64">
              <a:extLst>
                <a:ext uri="{FF2B5EF4-FFF2-40B4-BE49-F238E27FC236}">
                  <a16:creationId xmlns:a16="http://schemas.microsoft.com/office/drawing/2014/main" id="{1AAFDFC0-BC09-42EA-960D-5B50C64A7FD8}"/>
                </a:ext>
              </a:extLst>
            </p:cNvPr>
            <p:cNvSpPr/>
            <p:nvPr/>
          </p:nvSpPr>
          <p:spPr>
            <a:xfrm>
              <a:off x="5316376" y="2784042"/>
              <a:ext cx="70799" cy="1603234"/>
            </a:xfrm>
            <a:custGeom>
              <a:avLst/>
              <a:gdLst/>
              <a:ahLst/>
              <a:cxnLst/>
              <a:rect l="l" t="t" r="r" b="b"/>
              <a:pathLst>
                <a:path w="3224" h="73007" extrusionOk="0">
                  <a:moveTo>
                    <a:pt x="1612" y="0"/>
                  </a:moveTo>
                  <a:cubicBezTo>
                    <a:pt x="728" y="0"/>
                    <a:pt x="0" y="728"/>
                    <a:pt x="0" y="1621"/>
                  </a:cubicBezTo>
                  <a:lnTo>
                    <a:pt x="0" y="71387"/>
                  </a:lnTo>
                  <a:cubicBezTo>
                    <a:pt x="0" y="72279"/>
                    <a:pt x="728" y="73007"/>
                    <a:pt x="1612" y="73007"/>
                  </a:cubicBezTo>
                  <a:cubicBezTo>
                    <a:pt x="2504" y="73007"/>
                    <a:pt x="3223" y="72279"/>
                    <a:pt x="3223" y="71387"/>
                  </a:cubicBezTo>
                  <a:lnTo>
                    <a:pt x="3223" y="1621"/>
                  </a:lnTo>
                  <a:cubicBezTo>
                    <a:pt x="3223" y="728"/>
                    <a:pt x="2504"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55;p64">
              <a:extLst>
                <a:ext uri="{FF2B5EF4-FFF2-40B4-BE49-F238E27FC236}">
                  <a16:creationId xmlns:a16="http://schemas.microsoft.com/office/drawing/2014/main" id="{AECF3C72-77A9-47A0-AD0A-DF445F4D2364}"/>
                </a:ext>
              </a:extLst>
            </p:cNvPr>
            <p:cNvSpPr/>
            <p:nvPr/>
          </p:nvSpPr>
          <p:spPr>
            <a:xfrm>
              <a:off x="5481312" y="2784042"/>
              <a:ext cx="70975" cy="1603234"/>
            </a:xfrm>
            <a:custGeom>
              <a:avLst/>
              <a:gdLst/>
              <a:ahLst/>
              <a:cxnLst/>
              <a:rect l="l" t="t" r="r" b="b"/>
              <a:pathLst>
                <a:path w="3232" h="73007" extrusionOk="0">
                  <a:moveTo>
                    <a:pt x="1620" y="0"/>
                  </a:moveTo>
                  <a:cubicBezTo>
                    <a:pt x="728" y="0"/>
                    <a:pt x="0" y="728"/>
                    <a:pt x="0" y="1621"/>
                  </a:cubicBezTo>
                  <a:lnTo>
                    <a:pt x="0" y="71387"/>
                  </a:lnTo>
                  <a:cubicBezTo>
                    <a:pt x="0" y="72279"/>
                    <a:pt x="728" y="73007"/>
                    <a:pt x="1620" y="73007"/>
                  </a:cubicBezTo>
                  <a:cubicBezTo>
                    <a:pt x="2504" y="73007"/>
                    <a:pt x="3232" y="72279"/>
                    <a:pt x="3232" y="71387"/>
                  </a:cubicBezTo>
                  <a:lnTo>
                    <a:pt x="3232" y="1621"/>
                  </a:lnTo>
                  <a:cubicBezTo>
                    <a:pt x="3232" y="728"/>
                    <a:pt x="2504" y="0"/>
                    <a:pt x="1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56;p64">
              <a:extLst>
                <a:ext uri="{FF2B5EF4-FFF2-40B4-BE49-F238E27FC236}">
                  <a16:creationId xmlns:a16="http://schemas.microsoft.com/office/drawing/2014/main" id="{1FE673C0-E3D7-46D7-8680-150F3C42F9F0}"/>
                </a:ext>
              </a:extLst>
            </p:cNvPr>
            <p:cNvSpPr/>
            <p:nvPr/>
          </p:nvSpPr>
          <p:spPr>
            <a:xfrm>
              <a:off x="5057454" y="1935569"/>
              <a:ext cx="589209" cy="589406"/>
            </a:xfrm>
            <a:custGeom>
              <a:avLst/>
              <a:gdLst/>
              <a:ahLst/>
              <a:cxnLst/>
              <a:rect l="l" t="t" r="r" b="b"/>
              <a:pathLst>
                <a:path w="26831" h="26840" extrusionOk="0">
                  <a:moveTo>
                    <a:pt x="0" y="1"/>
                  </a:moveTo>
                  <a:lnTo>
                    <a:pt x="0" y="26840"/>
                  </a:lnTo>
                  <a:lnTo>
                    <a:pt x="26831" y="26840"/>
                  </a:lnTo>
                  <a:lnTo>
                    <a:pt x="26831" y="1"/>
                  </a:lnTo>
                  <a:close/>
                </a:path>
              </a:pathLst>
            </a:custGeom>
            <a:solidFill>
              <a:srgbClr val="F78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57;p64">
              <a:extLst>
                <a:ext uri="{FF2B5EF4-FFF2-40B4-BE49-F238E27FC236}">
                  <a16:creationId xmlns:a16="http://schemas.microsoft.com/office/drawing/2014/main" id="{692A9BE1-FC32-467A-8E56-F567F0E4F01D}"/>
                </a:ext>
              </a:extLst>
            </p:cNvPr>
            <p:cNvSpPr/>
            <p:nvPr/>
          </p:nvSpPr>
          <p:spPr>
            <a:xfrm>
              <a:off x="5127834" y="2053335"/>
              <a:ext cx="70799" cy="283108"/>
            </a:xfrm>
            <a:custGeom>
              <a:avLst/>
              <a:gdLst/>
              <a:ahLst/>
              <a:cxnLst/>
              <a:rect l="l" t="t" r="r" b="b"/>
              <a:pathLst>
                <a:path w="3224" h="12892" extrusionOk="0">
                  <a:moveTo>
                    <a:pt x="1612" y="0"/>
                  </a:moveTo>
                  <a:cubicBezTo>
                    <a:pt x="720" y="0"/>
                    <a:pt x="1" y="728"/>
                    <a:pt x="1" y="1612"/>
                  </a:cubicBezTo>
                  <a:lnTo>
                    <a:pt x="1" y="11271"/>
                  </a:lnTo>
                  <a:cubicBezTo>
                    <a:pt x="1" y="12164"/>
                    <a:pt x="720" y="12892"/>
                    <a:pt x="1612" y="12892"/>
                  </a:cubicBezTo>
                  <a:cubicBezTo>
                    <a:pt x="2496" y="12892"/>
                    <a:pt x="3224" y="12164"/>
                    <a:pt x="3224" y="11271"/>
                  </a:cubicBezTo>
                  <a:lnTo>
                    <a:pt x="3224" y="1612"/>
                  </a:lnTo>
                  <a:cubicBezTo>
                    <a:pt x="3224" y="728"/>
                    <a:pt x="2496"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58;p64">
              <a:extLst>
                <a:ext uri="{FF2B5EF4-FFF2-40B4-BE49-F238E27FC236}">
                  <a16:creationId xmlns:a16="http://schemas.microsoft.com/office/drawing/2014/main" id="{32366093-231A-4874-9416-8571146C053D}"/>
                </a:ext>
              </a:extLst>
            </p:cNvPr>
            <p:cNvSpPr/>
            <p:nvPr/>
          </p:nvSpPr>
          <p:spPr>
            <a:xfrm>
              <a:off x="5316376" y="2053335"/>
              <a:ext cx="70799" cy="283108"/>
            </a:xfrm>
            <a:custGeom>
              <a:avLst/>
              <a:gdLst/>
              <a:ahLst/>
              <a:cxnLst/>
              <a:rect l="l" t="t" r="r" b="b"/>
              <a:pathLst>
                <a:path w="3224" h="12892" extrusionOk="0">
                  <a:moveTo>
                    <a:pt x="1612" y="0"/>
                  </a:moveTo>
                  <a:cubicBezTo>
                    <a:pt x="728" y="0"/>
                    <a:pt x="0" y="728"/>
                    <a:pt x="0" y="1612"/>
                  </a:cubicBezTo>
                  <a:lnTo>
                    <a:pt x="0" y="11271"/>
                  </a:lnTo>
                  <a:cubicBezTo>
                    <a:pt x="0" y="12164"/>
                    <a:pt x="728" y="12892"/>
                    <a:pt x="1612" y="12892"/>
                  </a:cubicBezTo>
                  <a:cubicBezTo>
                    <a:pt x="2504" y="12892"/>
                    <a:pt x="3223" y="12164"/>
                    <a:pt x="3223" y="11271"/>
                  </a:cubicBezTo>
                  <a:lnTo>
                    <a:pt x="3223" y="1612"/>
                  </a:lnTo>
                  <a:cubicBezTo>
                    <a:pt x="3223" y="728"/>
                    <a:pt x="2504" y="0"/>
                    <a:pt x="16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59;p64">
              <a:extLst>
                <a:ext uri="{FF2B5EF4-FFF2-40B4-BE49-F238E27FC236}">
                  <a16:creationId xmlns:a16="http://schemas.microsoft.com/office/drawing/2014/main" id="{C575A368-3D7A-4899-84C4-A9216BAC5A70}"/>
                </a:ext>
              </a:extLst>
            </p:cNvPr>
            <p:cNvSpPr/>
            <p:nvPr/>
          </p:nvSpPr>
          <p:spPr>
            <a:xfrm>
              <a:off x="5481312" y="2053335"/>
              <a:ext cx="70975" cy="283108"/>
            </a:xfrm>
            <a:custGeom>
              <a:avLst/>
              <a:gdLst/>
              <a:ahLst/>
              <a:cxnLst/>
              <a:rect l="l" t="t" r="r" b="b"/>
              <a:pathLst>
                <a:path w="3232" h="12892" extrusionOk="0">
                  <a:moveTo>
                    <a:pt x="1620" y="0"/>
                  </a:moveTo>
                  <a:cubicBezTo>
                    <a:pt x="728" y="0"/>
                    <a:pt x="0" y="728"/>
                    <a:pt x="0" y="1612"/>
                  </a:cubicBezTo>
                  <a:lnTo>
                    <a:pt x="0" y="11271"/>
                  </a:lnTo>
                  <a:cubicBezTo>
                    <a:pt x="0" y="12164"/>
                    <a:pt x="728" y="12892"/>
                    <a:pt x="1620" y="12892"/>
                  </a:cubicBezTo>
                  <a:cubicBezTo>
                    <a:pt x="2504" y="12892"/>
                    <a:pt x="3232" y="12164"/>
                    <a:pt x="3232" y="11271"/>
                  </a:cubicBezTo>
                  <a:lnTo>
                    <a:pt x="3232" y="1612"/>
                  </a:lnTo>
                  <a:cubicBezTo>
                    <a:pt x="3232" y="728"/>
                    <a:pt x="2504" y="0"/>
                    <a:pt x="1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660;p64">
              <a:extLst>
                <a:ext uri="{FF2B5EF4-FFF2-40B4-BE49-F238E27FC236}">
                  <a16:creationId xmlns:a16="http://schemas.microsoft.com/office/drawing/2014/main" id="{1FA16205-8C23-4027-B578-136950576A78}"/>
                </a:ext>
              </a:extLst>
            </p:cNvPr>
            <p:cNvSpPr/>
            <p:nvPr/>
          </p:nvSpPr>
          <p:spPr>
            <a:xfrm>
              <a:off x="4986504" y="2406985"/>
              <a:ext cx="730741" cy="188571"/>
            </a:xfrm>
            <a:custGeom>
              <a:avLst/>
              <a:gdLst/>
              <a:ahLst/>
              <a:cxnLst/>
              <a:rect l="l" t="t" r="r" b="b"/>
              <a:pathLst>
                <a:path w="33276" h="8587" extrusionOk="0">
                  <a:moveTo>
                    <a:pt x="0" y="1"/>
                  </a:moveTo>
                  <a:lnTo>
                    <a:pt x="0" y="8586"/>
                  </a:lnTo>
                  <a:lnTo>
                    <a:pt x="33276" y="8586"/>
                  </a:lnTo>
                  <a:lnTo>
                    <a:pt x="33276" y="1"/>
                  </a:ln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61;p64">
              <a:extLst>
                <a:ext uri="{FF2B5EF4-FFF2-40B4-BE49-F238E27FC236}">
                  <a16:creationId xmlns:a16="http://schemas.microsoft.com/office/drawing/2014/main" id="{0D37F2D9-FEFB-4129-8BC4-C0C0EE7D52C2}"/>
                </a:ext>
              </a:extLst>
            </p:cNvPr>
            <p:cNvSpPr/>
            <p:nvPr/>
          </p:nvSpPr>
          <p:spPr>
            <a:xfrm>
              <a:off x="4983825" y="1425550"/>
              <a:ext cx="739701" cy="510065"/>
            </a:xfrm>
            <a:custGeom>
              <a:avLst/>
              <a:gdLst/>
              <a:ahLst/>
              <a:cxnLst/>
              <a:rect l="l" t="t" r="r" b="b"/>
              <a:pathLst>
                <a:path w="33684" h="23227" extrusionOk="0">
                  <a:moveTo>
                    <a:pt x="16842" y="0"/>
                  </a:moveTo>
                  <a:lnTo>
                    <a:pt x="1" y="23227"/>
                  </a:lnTo>
                  <a:lnTo>
                    <a:pt x="33684" y="23227"/>
                  </a:lnTo>
                  <a:lnTo>
                    <a:pt x="16842" y="0"/>
                  </a:lnTo>
                  <a:close/>
                </a:path>
              </a:pathLst>
            </a:custGeom>
            <a:solidFill>
              <a:srgbClr val="A760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文字方塊 28">
            <a:extLst>
              <a:ext uri="{FF2B5EF4-FFF2-40B4-BE49-F238E27FC236}">
                <a16:creationId xmlns:a16="http://schemas.microsoft.com/office/drawing/2014/main" id="{6E3960DC-D831-4094-B8FC-13EB341ADD7D}"/>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34</a:t>
            </a:r>
            <a:endParaRPr lang="zh-TW" altLang="en-US" sz="1100" dirty="0">
              <a:latin typeface="Montserrat" panose="02020500000000000000" charset="0"/>
            </a:endParaRPr>
          </a:p>
        </p:txBody>
      </p:sp>
    </p:spTree>
    <p:extLst>
      <p:ext uri="{BB962C8B-B14F-4D97-AF65-F5344CB8AC3E}">
        <p14:creationId xmlns:p14="http://schemas.microsoft.com/office/powerpoint/2010/main" val="4052064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2B09D78F-7CE6-4BE2-806C-ECEAF78D57EF}"/>
              </a:ext>
            </a:extLst>
          </p:cNvPr>
          <p:cNvGrpSpPr/>
          <p:nvPr/>
        </p:nvGrpSpPr>
        <p:grpSpPr>
          <a:xfrm>
            <a:off x="192683" y="-911"/>
            <a:ext cx="8761417" cy="295831"/>
            <a:chOff x="192683" y="-911"/>
            <a:chExt cx="8761417" cy="295831"/>
          </a:xfrm>
        </p:grpSpPr>
        <p:sp>
          <p:nvSpPr>
            <p:cNvPr id="5" name="矩形 4">
              <a:extLst>
                <a:ext uri="{FF2B5EF4-FFF2-40B4-BE49-F238E27FC236}">
                  <a16:creationId xmlns:a16="http://schemas.microsoft.com/office/drawing/2014/main" id="{86CC6BF7-4F22-441A-9196-6B648E8A411A}"/>
                </a:ext>
              </a:extLst>
            </p:cNvPr>
            <p:cNvSpPr/>
            <p:nvPr/>
          </p:nvSpPr>
          <p:spPr>
            <a:xfrm>
              <a:off x="2826656" y="-911"/>
              <a:ext cx="90618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Simulation</a:t>
              </a:r>
            </a:p>
          </p:txBody>
        </p:sp>
        <p:sp>
          <p:nvSpPr>
            <p:cNvPr id="6" name="矩形 5">
              <a:extLst>
                <a:ext uri="{FF2B5EF4-FFF2-40B4-BE49-F238E27FC236}">
                  <a16:creationId xmlns:a16="http://schemas.microsoft.com/office/drawing/2014/main" id="{04C939A0-B74A-4F67-A8ED-639A92BA44F1}"/>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B06AE489-6B60-4749-B8C1-B53183B6406B}"/>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19D0A23B-4992-4B33-9035-B592E8F57ED2}"/>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32F32A09-ECD7-4D99-9653-9E2EE2C7540C}"/>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7C990E1D-3E75-4A91-83D5-C0A4555EE421}"/>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1" name="Google Shape;212;p36">
            <a:extLst>
              <a:ext uri="{FF2B5EF4-FFF2-40B4-BE49-F238E27FC236}">
                <a16:creationId xmlns:a16="http://schemas.microsoft.com/office/drawing/2014/main" id="{7CC117DF-27D5-4221-964C-81A8AB01A09B}"/>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Algorithm comparison</a:t>
            </a:r>
          </a:p>
        </p:txBody>
      </p:sp>
      <p:graphicFrame>
        <p:nvGraphicFramePr>
          <p:cNvPr id="12" name="表格 11">
            <a:extLst>
              <a:ext uri="{FF2B5EF4-FFF2-40B4-BE49-F238E27FC236}">
                <a16:creationId xmlns:a16="http://schemas.microsoft.com/office/drawing/2014/main" id="{F2DE1F98-0F1A-41C2-AB69-EC29AD0AD23E}"/>
              </a:ext>
            </a:extLst>
          </p:cNvPr>
          <p:cNvGraphicFramePr>
            <a:graphicFrameLocks noGrp="1"/>
          </p:cNvGraphicFramePr>
          <p:nvPr>
            <p:extLst>
              <p:ext uri="{D42A27DB-BD31-4B8C-83A1-F6EECF244321}">
                <p14:modId xmlns:p14="http://schemas.microsoft.com/office/powerpoint/2010/main" val="3817850391"/>
              </p:ext>
            </p:extLst>
          </p:nvPr>
        </p:nvGraphicFramePr>
        <p:xfrm>
          <a:off x="1301345" y="1774494"/>
          <a:ext cx="6541310" cy="1594512"/>
        </p:xfrm>
        <a:graphic>
          <a:graphicData uri="http://schemas.openxmlformats.org/drawingml/2006/table">
            <a:tbl>
              <a:tblPr firstRow="1" firstCol="1" bandRow="1">
                <a:tableStyleId>{98252408-292B-446D-B347-1ABCC8AC41D4}</a:tableStyleId>
              </a:tblPr>
              <a:tblGrid>
                <a:gridCol w="3372553">
                  <a:extLst>
                    <a:ext uri="{9D8B030D-6E8A-4147-A177-3AD203B41FA5}">
                      <a16:colId xmlns:a16="http://schemas.microsoft.com/office/drawing/2014/main" val="2488836331"/>
                    </a:ext>
                  </a:extLst>
                </a:gridCol>
                <a:gridCol w="3168757">
                  <a:extLst>
                    <a:ext uri="{9D8B030D-6E8A-4147-A177-3AD203B41FA5}">
                      <a16:colId xmlns:a16="http://schemas.microsoft.com/office/drawing/2014/main" val="1720333333"/>
                    </a:ext>
                  </a:extLst>
                </a:gridCol>
              </a:tblGrid>
              <a:tr h="398628">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altLang="zh-TW" sz="1000" b="1" kern="100" dirty="0">
                          <a:effectLst/>
                          <a:latin typeface="Montserrat" panose="02020500000000000000" charset="0"/>
                          <a:ea typeface="Times New Roman" panose="02020603050405020304" pitchFamily="18" charset="0"/>
                          <a:cs typeface="Times New Roman" panose="02020603050405020304" pitchFamily="18" charset="0"/>
                        </a:rPr>
                        <a:t>Simulated annealing (SA)</a:t>
                      </a:r>
                      <a:endParaRPr lang="zh-TW" altLang="zh-TW" sz="10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TW" sz="1000" b="1" kern="100" dirty="0">
                          <a:effectLst/>
                          <a:latin typeface="Montserrat" panose="02020500000000000000" charset="0"/>
                          <a:ea typeface="Times New Roman" panose="02020603050405020304" pitchFamily="18" charset="0"/>
                          <a:cs typeface="Times New Roman" panose="02020603050405020304" pitchFamily="18" charset="0"/>
                        </a:rPr>
                        <a:t>Genetic algorithm (GA)</a:t>
                      </a:r>
                      <a:endParaRPr lang="zh-TW" altLang="zh-TW" sz="10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99055456"/>
                  </a:ext>
                </a:extLst>
              </a:tr>
              <a:tr h="398628">
                <a:tc>
                  <a:txBody>
                    <a:bodyPr/>
                    <a:lstStyle/>
                    <a:p>
                      <a:pPr algn="ctr">
                        <a:lnSpc>
                          <a:spcPct val="150000"/>
                        </a:lnSpc>
                        <a:spcAft>
                          <a:spcPts val="0"/>
                        </a:spcAft>
                      </a:pPr>
                      <a:r>
                        <a:rPr lang="en-US" altLang="zh-TW" sz="1000" b="0" kern="100" dirty="0">
                          <a:effectLst/>
                          <a:latin typeface="Montserrat" panose="02020500000000000000" charset="0"/>
                          <a:ea typeface="Times New Roman" panose="02020603050405020304" pitchFamily="18" charset="0"/>
                          <a:cs typeface="Times New Roman" panose="02020603050405020304" pitchFamily="18" charset="0"/>
                        </a:rPr>
                        <a:t>Unitary </a:t>
                      </a:r>
                      <a:r>
                        <a:rPr lang="en-US" altLang="zh-TW" sz="1000" b="0" kern="100" dirty="0" err="1">
                          <a:effectLst/>
                          <a:latin typeface="Montserrat" panose="02020500000000000000" charset="0"/>
                          <a:ea typeface="Times New Roman" panose="02020603050405020304" pitchFamily="18" charset="0"/>
                          <a:cs typeface="Times New Roman" panose="02020603050405020304" pitchFamily="18" charset="0"/>
                        </a:rPr>
                        <a:t>soluiton</a:t>
                      </a:r>
                      <a:endParaRPr lang="zh-TW" sz="10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TW" sz="1000" kern="100" dirty="0">
                          <a:effectLst/>
                          <a:latin typeface="Montserrat" panose="02020500000000000000" charset="0"/>
                          <a:ea typeface="Times New Roman" panose="02020603050405020304" pitchFamily="18" charset="0"/>
                          <a:cs typeface="Times New Roman" panose="02020603050405020304" pitchFamily="18" charset="0"/>
                        </a:rPr>
                        <a:t>Group solution</a:t>
                      </a:r>
                      <a:endParaRPr lang="zh-TW" sz="10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65024638"/>
                  </a:ext>
                </a:extLst>
              </a:tr>
              <a:tr h="398628">
                <a:tc>
                  <a:txBody>
                    <a:bodyPr/>
                    <a:lstStyle/>
                    <a:p>
                      <a:pPr algn="ctr">
                        <a:lnSpc>
                          <a:spcPct val="150000"/>
                        </a:lnSpc>
                        <a:spcAft>
                          <a:spcPts val="0"/>
                        </a:spcAft>
                      </a:pPr>
                      <a:r>
                        <a:rPr lang="en-US" altLang="zh-TW" sz="1000" b="0" kern="100" dirty="0">
                          <a:effectLst/>
                          <a:latin typeface="Montserrat" panose="02020500000000000000" charset="0"/>
                          <a:ea typeface="Times New Roman" panose="02020603050405020304" pitchFamily="18" charset="0"/>
                          <a:cs typeface="Times New Roman" panose="02020603050405020304" pitchFamily="18" charset="0"/>
                        </a:rPr>
                        <a:t>Random selection principle</a:t>
                      </a:r>
                      <a:endParaRPr lang="zh-TW" sz="10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TW" sz="1000" kern="100" dirty="0">
                          <a:effectLst/>
                          <a:latin typeface="Montserrat" panose="02020500000000000000" charset="0"/>
                          <a:ea typeface="Times New Roman" panose="02020603050405020304" pitchFamily="18" charset="0"/>
                          <a:cs typeface="Times New Roman" panose="02020603050405020304" pitchFamily="18" charset="0"/>
                        </a:rPr>
                        <a:t>Better probability of convergence</a:t>
                      </a:r>
                      <a:endParaRPr lang="zh-TW" sz="10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07157521"/>
                  </a:ext>
                </a:extLst>
              </a:tr>
              <a:tr h="398628">
                <a:tc>
                  <a:txBody>
                    <a:bodyPr/>
                    <a:lstStyle/>
                    <a:p>
                      <a:pPr algn="ctr">
                        <a:lnSpc>
                          <a:spcPct val="150000"/>
                        </a:lnSpc>
                        <a:spcAft>
                          <a:spcPts val="0"/>
                        </a:spcAft>
                      </a:pPr>
                      <a:r>
                        <a:rPr lang="en-US" altLang="zh-TW" sz="1000" b="0" kern="100" dirty="0">
                          <a:effectLst/>
                          <a:latin typeface="Montserrat" panose="02020500000000000000" charset="0"/>
                          <a:ea typeface="Times New Roman" panose="02020603050405020304" pitchFamily="18" charset="0"/>
                          <a:cs typeface="Times New Roman" panose="02020603050405020304" pitchFamily="18" charset="0"/>
                        </a:rPr>
                        <a:t>Faster computing speed</a:t>
                      </a:r>
                      <a:endParaRPr lang="zh-TW" sz="10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TW" sz="1000" kern="100" dirty="0">
                          <a:effectLst/>
                          <a:latin typeface="Montserrat" panose="02020500000000000000" charset="0"/>
                          <a:ea typeface="Times New Roman" panose="02020603050405020304" pitchFamily="18" charset="0"/>
                          <a:cs typeface="Times New Roman" panose="02020603050405020304" pitchFamily="18" charset="0"/>
                        </a:rPr>
                        <a:t>Slower </a:t>
                      </a:r>
                      <a:r>
                        <a:rPr lang="en-US" altLang="zh-TW" sz="1000" b="0" kern="100" dirty="0">
                          <a:effectLst/>
                          <a:latin typeface="Montserrat" panose="02020500000000000000" charset="0"/>
                          <a:ea typeface="Times New Roman" panose="02020603050405020304" pitchFamily="18" charset="0"/>
                          <a:cs typeface="Times New Roman" panose="02020603050405020304" pitchFamily="18" charset="0"/>
                        </a:rPr>
                        <a:t>computing speed</a:t>
                      </a:r>
                      <a:endParaRPr lang="zh-TW" sz="10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640501"/>
                  </a:ext>
                </a:extLst>
              </a:tr>
            </a:tbl>
          </a:graphicData>
        </a:graphic>
      </p:graphicFrame>
      <p:sp>
        <p:nvSpPr>
          <p:cNvPr id="13" name="矩形 12">
            <a:extLst>
              <a:ext uri="{FF2B5EF4-FFF2-40B4-BE49-F238E27FC236}">
                <a16:creationId xmlns:a16="http://schemas.microsoft.com/office/drawing/2014/main" id="{67795B07-5D90-417C-BEB5-8AA6A4254FCB}"/>
              </a:ext>
            </a:extLst>
          </p:cNvPr>
          <p:cNvSpPr/>
          <p:nvPr/>
        </p:nvSpPr>
        <p:spPr>
          <a:xfrm>
            <a:off x="5111158" y="3030452"/>
            <a:ext cx="352982" cy="338554"/>
          </a:xfrm>
          <a:prstGeom prst="rect">
            <a:avLst/>
          </a:prstGeom>
        </p:spPr>
        <p:txBody>
          <a:bodyPr wrap="none">
            <a:spAutoFit/>
          </a:bodyPr>
          <a:lstStyle/>
          <a:p>
            <a:r>
              <a:rPr lang="zh-TW" altLang="en-US" sz="1600" b="1" dirty="0">
                <a:solidFill>
                  <a:srgbClr val="FF0000"/>
                </a:solidFill>
                <a:latin typeface="Montserrat" panose="02020500000000000000" charset="0"/>
              </a:rPr>
              <a:t>✗</a:t>
            </a:r>
          </a:p>
        </p:txBody>
      </p:sp>
      <p:sp>
        <p:nvSpPr>
          <p:cNvPr id="14" name="矩形 13">
            <a:extLst>
              <a:ext uri="{FF2B5EF4-FFF2-40B4-BE49-F238E27FC236}">
                <a16:creationId xmlns:a16="http://schemas.microsoft.com/office/drawing/2014/main" id="{07CFA32F-7DA4-4F64-B92E-26588B1E61E3}"/>
              </a:ext>
            </a:extLst>
          </p:cNvPr>
          <p:cNvSpPr/>
          <p:nvPr/>
        </p:nvSpPr>
        <p:spPr>
          <a:xfrm>
            <a:off x="1786087" y="2631017"/>
            <a:ext cx="352982" cy="338554"/>
          </a:xfrm>
          <a:prstGeom prst="rect">
            <a:avLst/>
          </a:prstGeom>
        </p:spPr>
        <p:txBody>
          <a:bodyPr wrap="none">
            <a:spAutoFit/>
          </a:bodyPr>
          <a:lstStyle/>
          <a:p>
            <a:r>
              <a:rPr lang="zh-TW" altLang="en-US" sz="1600" b="1" dirty="0">
                <a:solidFill>
                  <a:srgbClr val="FF0000"/>
                </a:solidFill>
                <a:latin typeface="Montserrat" panose="02020500000000000000" charset="0"/>
              </a:rPr>
              <a:t>✗</a:t>
            </a:r>
          </a:p>
        </p:txBody>
      </p:sp>
      <p:sp>
        <p:nvSpPr>
          <p:cNvPr id="15" name="矩形 14">
            <a:extLst>
              <a:ext uri="{FF2B5EF4-FFF2-40B4-BE49-F238E27FC236}">
                <a16:creationId xmlns:a16="http://schemas.microsoft.com/office/drawing/2014/main" id="{9830445F-7975-41EA-8742-D4DAC055D097}"/>
              </a:ext>
            </a:extLst>
          </p:cNvPr>
          <p:cNvSpPr/>
          <p:nvPr/>
        </p:nvSpPr>
        <p:spPr>
          <a:xfrm>
            <a:off x="2139069" y="2219497"/>
            <a:ext cx="352982" cy="338554"/>
          </a:xfrm>
          <a:prstGeom prst="rect">
            <a:avLst/>
          </a:prstGeom>
        </p:spPr>
        <p:txBody>
          <a:bodyPr wrap="none">
            <a:spAutoFit/>
          </a:bodyPr>
          <a:lstStyle/>
          <a:p>
            <a:r>
              <a:rPr lang="zh-TW" altLang="en-US" sz="1600" b="1">
                <a:solidFill>
                  <a:srgbClr val="FF0000"/>
                </a:solidFill>
                <a:latin typeface="Montserrat" panose="02020500000000000000" charset="0"/>
              </a:rPr>
              <a:t>✗</a:t>
            </a:r>
            <a:endParaRPr lang="zh-TW" altLang="en-US" sz="1600" b="1" dirty="0">
              <a:solidFill>
                <a:srgbClr val="FF0000"/>
              </a:solidFill>
              <a:latin typeface="Montserrat" panose="02020500000000000000" charset="0"/>
            </a:endParaRPr>
          </a:p>
        </p:txBody>
      </p:sp>
      <p:sp>
        <p:nvSpPr>
          <p:cNvPr id="16" name="矩形 15">
            <a:extLst>
              <a:ext uri="{FF2B5EF4-FFF2-40B4-BE49-F238E27FC236}">
                <a16:creationId xmlns:a16="http://schemas.microsoft.com/office/drawing/2014/main" id="{9B285302-0A52-482B-B7A5-4C970F25CEB8}"/>
              </a:ext>
            </a:extLst>
          </p:cNvPr>
          <p:cNvSpPr/>
          <p:nvPr/>
        </p:nvSpPr>
        <p:spPr>
          <a:xfrm>
            <a:off x="5463655" y="2224058"/>
            <a:ext cx="338554" cy="338554"/>
          </a:xfrm>
          <a:prstGeom prst="rect">
            <a:avLst/>
          </a:prstGeom>
        </p:spPr>
        <p:txBody>
          <a:bodyPr wrap="none">
            <a:spAutoFit/>
          </a:bodyPr>
          <a:lstStyle/>
          <a:p>
            <a:r>
              <a:rPr lang="zh-TW" altLang="en-US" sz="1600" b="1" dirty="0">
                <a:solidFill>
                  <a:srgbClr val="00FF99"/>
                </a:solidFill>
                <a:latin typeface="arial" panose="020B0604020202020204" pitchFamily="34" charset="0"/>
              </a:rPr>
              <a:t>✓</a:t>
            </a:r>
            <a:endParaRPr lang="zh-TW" altLang="en-US" sz="1600" b="1" dirty="0">
              <a:solidFill>
                <a:srgbClr val="00FF99"/>
              </a:solidFill>
            </a:endParaRPr>
          </a:p>
        </p:txBody>
      </p:sp>
      <p:sp>
        <p:nvSpPr>
          <p:cNvPr id="17" name="矩形 16">
            <a:extLst>
              <a:ext uri="{FF2B5EF4-FFF2-40B4-BE49-F238E27FC236}">
                <a16:creationId xmlns:a16="http://schemas.microsoft.com/office/drawing/2014/main" id="{E8681F85-0035-45C0-8981-38BA1C5E27FC}"/>
              </a:ext>
            </a:extLst>
          </p:cNvPr>
          <p:cNvSpPr/>
          <p:nvPr/>
        </p:nvSpPr>
        <p:spPr>
          <a:xfrm>
            <a:off x="1886250" y="3030452"/>
            <a:ext cx="338554" cy="338554"/>
          </a:xfrm>
          <a:prstGeom prst="rect">
            <a:avLst/>
          </a:prstGeom>
        </p:spPr>
        <p:txBody>
          <a:bodyPr wrap="none">
            <a:spAutoFit/>
          </a:bodyPr>
          <a:lstStyle/>
          <a:p>
            <a:r>
              <a:rPr lang="zh-TW" altLang="en-US" sz="1600" b="1" dirty="0">
                <a:solidFill>
                  <a:srgbClr val="00FF99"/>
                </a:solidFill>
                <a:latin typeface="arial" panose="020B0604020202020204" pitchFamily="34" charset="0"/>
              </a:rPr>
              <a:t>✓</a:t>
            </a:r>
            <a:endParaRPr lang="zh-TW" altLang="en-US" sz="1600" b="1" dirty="0">
              <a:solidFill>
                <a:srgbClr val="00FF99"/>
              </a:solidFill>
            </a:endParaRPr>
          </a:p>
        </p:txBody>
      </p:sp>
      <p:sp>
        <p:nvSpPr>
          <p:cNvPr id="18" name="矩形 17">
            <a:extLst>
              <a:ext uri="{FF2B5EF4-FFF2-40B4-BE49-F238E27FC236}">
                <a16:creationId xmlns:a16="http://schemas.microsoft.com/office/drawing/2014/main" id="{0AC538AB-CDE1-4FC9-84E3-920143AE4695}"/>
              </a:ext>
            </a:extLst>
          </p:cNvPr>
          <p:cNvSpPr/>
          <p:nvPr/>
        </p:nvSpPr>
        <p:spPr>
          <a:xfrm>
            <a:off x="4879091" y="2631017"/>
            <a:ext cx="338554" cy="338554"/>
          </a:xfrm>
          <a:prstGeom prst="rect">
            <a:avLst/>
          </a:prstGeom>
        </p:spPr>
        <p:txBody>
          <a:bodyPr wrap="none">
            <a:spAutoFit/>
          </a:bodyPr>
          <a:lstStyle/>
          <a:p>
            <a:r>
              <a:rPr lang="zh-TW" altLang="en-US" sz="1600" b="1" dirty="0">
                <a:solidFill>
                  <a:srgbClr val="00FF99"/>
                </a:solidFill>
                <a:latin typeface="arial" panose="020B0604020202020204" pitchFamily="34" charset="0"/>
              </a:rPr>
              <a:t>✓</a:t>
            </a:r>
            <a:endParaRPr lang="zh-TW" altLang="en-US" sz="1600" b="1" dirty="0">
              <a:solidFill>
                <a:srgbClr val="00FF99"/>
              </a:solidFill>
            </a:endParaRPr>
          </a:p>
        </p:txBody>
      </p:sp>
      <p:sp>
        <p:nvSpPr>
          <p:cNvPr id="19" name="文字方塊 18">
            <a:extLst>
              <a:ext uri="{FF2B5EF4-FFF2-40B4-BE49-F238E27FC236}">
                <a16:creationId xmlns:a16="http://schemas.microsoft.com/office/drawing/2014/main" id="{3756CF81-A6FE-41E9-BC58-DAC47E2BDC45}"/>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35</a:t>
            </a:r>
            <a:endParaRPr lang="zh-TW" altLang="en-US" sz="1100" dirty="0">
              <a:latin typeface="Montserrat" panose="02020500000000000000" charset="0"/>
            </a:endParaRPr>
          </a:p>
        </p:txBody>
      </p:sp>
    </p:spTree>
    <p:extLst>
      <p:ext uri="{BB962C8B-B14F-4D97-AF65-F5344CB8AC3E}">
        <p14:creationId xmlns:p14="http://schemas.microsoft.com/office/powerpoint/2010/main" val="3545931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Genetic algorithm</a:t>
            </a:r>
          </a:p>
        </p:txBody>
      </p:sp>
      <p:grpSp>
        <p:nvGrpSpPr>
          <p:cNvPr id="2" name="群組 1">
            <a:extLst>
              <a:ext uri="{FF2B5EF4-FFF2-40B4-BE49-F238E27FC236}">
                <a16:creationId xmlns:a16="http://schemas.microsoft.com/office/drawing/2014/main" id="{45EE569E-F11B-4752-B701-CEF807C6690A}"/>
              </a:ext>
            </a:extLst>
          </p:cNvPr>
          <p:cNvGrpSpPr/>
          <p:nvPr/>
        </p:nvGrpSpPr>
        <p:grpSpPr>
          <a:xfrm>
            <a:off x="192683" y="-911"/>
            <a:ext cx="8761417" cy="295831"/>
            <a:chOff x="192683" y="-911"/>
            <a:chExt cx="8761417" cy="295831"/>
          </a:xfrm>
        </p:grpSpPr>
        <p:sp>
          <p:nvSpPr>
            <p:cNvPr id="3" name="矩形 2">
              <a:extLst>
                <a:ext uri="{FF2B5EF4-FFF2-40B4-BE49-F238E27FC236}">
                  <a16:creationId xmlns:a16="http://schemas.microsoft.com/office/drawing/2014/main" id="{334333F4-1DE5-4C34-941D-4211DB08B2B6}"/>
                </a:ext>
              </a:extLst>
            </p:cNvPr>
            <p:cNvSpPr/>
            <p:nvPr/>
          </p:nvSpPr>
          <p:spPr>
            <a:xfrm>
              <a:off x="2826656" y="-911"/>
              <a:ext cx="90618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Simulation</a:t>
              </a:r>
            </a:p>
          </p:txBody>
        </p:sp>
        <p:sp>
          <p:nvSpPr>
            <p:cNvPr id="4" name="矩形 3">
              <a:extLst>
                <a:ext uri="{FF2B5EF4-FFF2-40B4-BE49-F238E27FC236}">
                  <a16:creationId xmlns:a16="http://schemas.microsoft.com/office/drawing/2014/main" id="{8A87B6FD-7492-4217-AABC-FB3A6A7F4B34}"/>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5A13068B-F3E0-49DA-95B0-86CEBA1D9BC3}"/>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45BD29EF-93BC-4167-8B33-AB0C19A23588}"/>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EE9A2078-D6C5-4F79-A54F-A549E72B1CB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2" name="矩形 11">
              <a:extLst>
                <a:ext uri="{FF2B5EF4-FFF2-40B4-BE49-F238E27FC236}">
                  <a16:creationId xmlns:a16="http://schemas.microsoft.com/office/drawing/2014/main" id="{BD57BFC2-4B89-4A38-973B-AD9A4A7BCC10}"/>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42" name="群組 41">
            <a:extLst>
              <a:ext uri="{FF2B5EF4-FFF2-40B4-BE49-F238E27FC236}">
                <a16:creationId xmlns:a16="http://schemas.microsoft.com/office/drawing/2014/main" id="{3EEA3A38-FBFA-42CD-850A-1BE4A50EFB3E}"/>
              </a:ext>
            </a:extLst>
          </p:cNvPr>
          <p:cNvGrpSpPr/>
          <p:nvPr/>
        </p:nvGrpSpPr>
        <p:grpSpPr>
          <a:xfrm>
            <a:off x="381128" y="779938"/>
            <a:ext cx="4508415" cy="4158617"/>
            <a:chOff x="2839188" y="55757"/>
            <a:chExt cx="6667511" cy="6784019"/>
          </a:xfrm>
        </p:grpSpPr>
        <p:grpSp>
          <p:nvGrpSpPr>
            <p:cNvPr id="43" name="群組 42">
              <a:extLst>
                <a:ext uri="{FF2B5EF4-FFF2-40B4-BE49-F238E27FC236}">
                  <a16:creationId xmlns:a16="http://schemas.microsoft.com/office/drawing/2014/main" id="{7C7A3C31-4894-4D62-BB56-676D90DEBA71}"/>
                </a:ext>
              </a:extLst>
            </p:cNvPr>
            <p:cNvGrpSpPr/>
            <p:nvPr/>
          </p:nvGrpSpPr>
          <p:grpSpPr>
            <a:xfrm>
              <a:off x="2839188" y="55757"/>
              <a:ext cx="6667511" cy="6784019"/>
              <a:chOff x="2742667" y="22768"/>
              <a:chExt cx="6667511" cy="6784019"/>
            </a:xfrm>
          </p:grpSpPr>
          <p:grpSp>
            <p:nvGrpSpPr>
              <p:cNvPr id="48" name="群組 47">
                <a:extLst>
                  <a:ext uri="{FF2B5EF4-FFF2-40B4-BE49-F238E27FC236}">
                    <a16:creationId xmlns:a16="http://schemas.microsoft.com/office/drawing/2014/main" id="{7E0D7BA1-361C-49EF-876D-A3B396D86158}"/>
                  </a:ext>
                </a:extLst>
              </p:cNvPr>
              <p:cNvGrpSpPr/>
              <p:nvPr/>
            </p:nvGrpSpPr>
            <p:grpSpPr>
              <a:xfrm>
                <a:off x="2742667" y="22768"/>
                <a:ext cx="6667511" cy="6784019"/>
                <a:chOff x="2742667" y="22768"/>
                <a:chExt cx="6667511" cy="6784019"/>
              </a:xfrm>
            </p:grpSpPr>
            <p:sp>
              <p:nvSpPr>
                <p:cNvPr id="51" name="矩形 50">
                  <a:extLst>
                    <a:ext uri="{FF2B5EF4-FFF2-40B4-BE49-F238E27FC236}">
                      <a16:creationId xmlns:a16="http://schemas.microsoft.com/office/drawing/2014/main" id="{AC52B4ED-DEEB-4109-B003-6EF5A45E3EBA}"/>
                    </a:ext>
                  </a:extLst>
                </p:cNvPr>
                <p:cNvSpPr/>
                <p:nvPr/>
              </p:nvSpPr>
              <p:spPr>
                <a:xfrm>
                  <a:off x="3376415" y="22768"/>
                  <a:ext cx="2159346" cy="3892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Analyze problem</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2" name="矩形 51">
                  <a:extLst>
                    <a:ext uri="{FF2B5EF4-FFF2-40B4-BE49-F238E27FC236}">
                      <a16:creationId xmlns:a16="http://schemas.microsoft.com/office/drawing/2014/main" id="{EA6BFF02-028D-4A1D-AC43-879FDDFC3114}"/>
                    </a:ext>
                  </a:extLst>
                </p:cNvPr>
                <p:cNvSpPr/>
                <p:nvPr/>
              </p:nvSpPr>
              <p:spPr>
                <a:xfrm>
                  <a:off x="3376416" y="688452"/>
                  <a:ext cx="2159346" cy="3892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Set up parameters </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3" name="矩形 52">
                  <a:extLst>
                    <a:ext uri="{FF2B5EF4-FFF2-40B4-BE49-F238E27FC236}">
                      <a16:creationId xmlns:a16="http://schemas.microsoft.com/office/drawing/2014/main" id="{08DF4459-2FEA-4F70-83D7-BC84D27FB70A}"/>
                    </a:ext>
                  </a:extLst>
                </p:cNvPr>
                <p:cNvSpPr/>
                <p:nvPr/>
              </p:nvSpPr>
              <p:spPr>
                <a:xfrm>
                  <a:off x="3059540" y="2019819"/>
                  <a:ext cx="2793095" cy="3892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Create initial population</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4" name="矩形 53">
                  <a:extLst>
                    <a:ext uri="{FF2B5EF4-FFF2-40B4-BE49-F238E27FC236}">
                      <a16:creationId xmlns:a16="http://schemas.microsoft.com/office/drawing/2014/main" id="{BDDDD906-824B-4811-A4EB-D5B252EEE5F8}"/>
                    </a:ext>
                  </a:extLst>
                </p:cNvPr>
                <p:cNvSpPr/>
                <p:nvPr/>
              </p:nvSpPr>
              <p:spPr>
                <a:xfrm>
                  <a:off x="3376415" y="1354136"/>
                  <a:ext cx="2159346" cy="3892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Encoding</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5" name="菱形 54">
                  <a:extLst>
                    <a:ext uri="{FF2B5EF4-FFF2-40B4-BE49-F238E27FC236}">
                      <a16:creationId xmlns:a16="http://schemas.microsoft.com/office/drawing/2014/main" id="{5629FEDF-2BA6-4252-ACC8-ED832C09D22B}"/>
                    </a:ext>
                  </a:extLst>
                </p:cNvPr>
                <p:cNvSpPr/>
                <p:nvPr/>
              </p:nvSpPr>
              <p:spPr>
                <a:xfrm>
                  <a:off x="2742667" y="3348621"/>
                  <a:ext cx="3426843" cy="1089843"/>
                </a:xfrm>
                <a:prstGeom prst="diamond">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Satisfy the </a:t>
                  </a:r>
                  <a:r>
                    <a:rPr lang="en-US" altLang="zh-TW" sz="900" dirty="0">
                      <a:solidFill>
                        <a:schemeClr val="tx1"/>
                      </a:solidFill>
                      <a:latin typeface="Montserrat" panose="02020500000000000000" charset="0"/>
                      <a:ea typeface="標楷體" panose="03000509000000000000" pitchFamily="65" charset="-120"/>
                      <a:cs typeface="Times New Roman" panose="02020603050405020304" pitchFamily="18" charset="0"/>
                    </a:rPr>
                    <a:t>terminative condition?</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6" name="矩形 55">
                  <a:extLst>
                    <a:ext uri="{FF2B5EF4-FFF2-40B4-BE49-F238E27FC236}">
                      <a16:creationId xmlns:a16="http://schemas.microsoft.com/office/drawing/2014/main" id="{8793A57C-FF44-4313-85BE-D5EF642BEC70}"/>
                    </a:ext>
                  </a:extLst>
                </p:cNvPr>
                <p:cNvSpPr/>
                <p:nvPr/>
              </p:nvSpPr>
              <p:spPr>
                <a:xfrm>
                  <a:off x="3376416" y="4712346"/>
                  <a:ext cx="2159346" cy="3892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Optimal solution</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7" name="矩形 56">
                  <a:extLst>
                    <a:ext uri="{FF2B5EF4-FFF2-40B4-BE49-F238E27FC236}">
                      <a16:creationId xmlns:a16="http://schemas.microsoft.com/office/drawing/2014/main" id="{DC91D1A6-64DE-4137-AA6B-A70F4BAC971F}"/>
                    </a:ext>
                  </a:extLst>
                </p:cNvPr>
                <p:cNvSpPr/>
                <p:nvPr/>
              </p:nvSpPr>
              <p:spPr>
                <a:xfrm>
                  <a:off x="3376417" y="2684220"/>
                  <a:ext cx="2159344" cy="3892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Fitness calculation</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8" name="矩形 57">
                  <a:extLst>
                    <a:ext uri="{FF2B5EF4-FFF2-40B4-BE49-F238E27FC236}">
                      <a16:creationId xmlns:a16="http://schemas.microsoft.com/office/drawing/2014/main" id="{30193CFC-6B21-4DB4-9FC4-5048AAF9B8E9}"/>
                    </a:ext>
                  </a:extLst>
                </p:cNvPr>
                <p:cNvSpPr/>
                <p:nvPr/>
              </p:nvSpPr>
              <p:spPr>
                <a:xfrm>
                  <a:off x="7096947" y="3700423"/>
                  <a:ext cx="2159344" cy="389236"/>
                </a:xfrm>
                <a:prstGeom prst="rect">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ea typeface="標楷體" panose="03000509000000000000" pitchFamily="65" charset="-120"/>
                      <a:cs typeface="Times New Roman" panose="02020603050405020304" pitchFamily="18" charset="0"/>
                    </a:rPr>
                    <a:t>Selection</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59" name="矩形 58">
                  <a:extLst>
                    <a:ext uri="{FF2B5EF4-FFF2-40B4-BE49-F238E27FC236}">
                      <a16:creationId xmlns:a16="http://schemas.microsoft.com/office/drawing/2014/main" id="{307717F7-8278-4AFA-B188-6AEF99CB527D}"/>
                    </a:ext>
                  </a:extLst>
                </p:cNvPr>
                <p:cNvSpPr/>
                <p:nvPr/>
              </p:nvSpPr>
              <p:spPr>
                <a:xfrm>
                  <a:off x="7096944" y="4363325"/>
                  <a:ext cx="2159344" cy="389237"/>
                </a:xfrm>
                <a:prstGeom prst="rect">
                  <a:avLst/>
                </a:prstGeom>
                <a:noFill/>
                <a:ln w="28575">
                  <a:solidFill>
                    <a:srgbClr val="85B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ea typeface="標楷體" panose="03000509000000000000" pitchFamily="65" charset="-120"/>
                      <a:cs typeface="Times New Roman" panose="02020603050405020304" pitchFamily="18" charset="0"/>
                    </a:rPr>
                    <a:t>Crossover</a:t>
                  </a:r>
                  <a:endParaRPr lang="zh-TW" altLang="en-US" sz="900" dirty="0">
                    <a:solidFill>
                      <a:schemeClr val="tx1"/>
                    </a:solidFill>
                    <a:latin typeface="Montserrat" panose="02020500000000000000" charset="0"/>
                    <a:cs typeface="Times New Roman" panose="02020603050405020304" pitchFamily="18" charset="0"/>
                  </a:endParaRPr>
                </a:p>
              </p:txBody>
            </p:sp>
            <p:sp>
              <p:nvSpPr>
                <p:cNvPr id="60" name="矩形 59">
                  <a:extLst>
                    <a:ext uri="{FF2B5EF4-FFF2-40B4-BE49-F238E27FC236}">
                      <a16:creationId xmlns:a16="http://schemas.microsoft.com/office/drawing/2014/main" id="{03F696A7-6D4C-4E6C-82E5-9A1C3168BE4F}"/>
                    </a:ext>
                  </a:extLst>
                </p:cNvPr>
                <p:cNvSpPr/>
                <p:nvPr/>
              </p:nvSpPr>
              <p:spPr>
                <a:xfrm>
                  <a:off x="7096946" y="5711416"/>
                  <a:ext cx="2159345" cy="3892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ea typeface="標楷體" panose="03000509000000000000" pitchFamily="65" charset="-120"/>
                      <a:cs typeface="Times New Roman" panose="02020603050405020304" pitchFamily="18" charset="0"/>
                    </a:rPr>
                    <a:t>Migration</a:t>
                  </a:r>
                  <a:endParaRPr lang="zh-TW" altLang="en-US" sz="900" dirty="0">
                    <a:solidFill>
                      <a:schemeClr val="tx1"/>
                    </a:solidFill>
                    <a:latin typeface="Montserrat" panose="02020500000000000000" charset="0"/>
                    <a:cs typeface="Times New Roman" panose="02020603050405020304" pitchFamily="18" charset="0"/>
                  </a:endParaRPr>
                </a:p>
              </p:txBody>
            </p:sp>
            <p:cxnSp>
              <p:nvCxnSpPr>
                <p:cNvPr id="61" name="直線單箭頭接點 60">
                  <a:extLst>
                    <a:ext uri="{FF2B5EF4-FFF2-40B4-BE49-F238E27FC236}">
                      <a16:creationId xmlns:a16="http://schemas.microsoft.com/office/drawing/2014/main" id="{9B1CAE0B-9E9A-4A2A-9425-2F7A33A3EBDD}"/>
                    </a:ext>
                  </a:extLst>
                </p:cNvPr>
                <p:cNvCxnSpPr>
                  <a:cxnSpLocks/>
                  <a:stCxn id="51" idx="2"/>
                  <a:endCxn id="52" idx="0"/>
                </p:cNvCxnSpPr>
                <p:nvPr/>
              </p:nvCxnSpPr>
              <p:spPr>
                <a:xfrm>
                  <a:off x="4456089" y="412003"/>
                  <a:ext cx="0" cy="276448"/>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FD802643-178E-4504-8185-5DD9ABBCE441}"/>
                    </a:ext>
                  </a:extLst>
                </p:cNvPr>
                <p:cNvCxnSpPr>
                  <a:cxnSpLocks/>
                  <a:stCxn id="52" idx="2"/>
                  <a:endCxn id="54" idx="0"/>
                </p:cNvCxnSpPr>
                <p:nvPr/>
              </p:nvCxnSpPr>
              <p:spPr>
                <a:xfrm flipH="1">
                  <a:off x="4456088" y="1077688"/>
                  <a:ext cx="1" cy="276448"/>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B19770BF-DBC2-48F3-9C22-7B2396BD8B5C}"/>
                    </a:ext>
                  </a:extLst>
                </p:cNvPr>
                <p:cNvCxnSpPr>
                  <a:cxnSpLocks/>
                  <a:stCxn id="54" idx="2"/>
                  <a:endCxn id="53" idx="0"/>
                </p:cNvCxnSpPr>
                <p:nvPr/>
              </p:nvCxnSpPr>
              <p:spPr>
                <a:xfrm flipH="1">
                  <a:off x="4456088" y="1743371"/>
                  <a:ext cx="2" cy="276448"/>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63D1EE9A-81C1-418B-A38C-6E30412AA1E2}"/>
                    </a:ext>
                  </a:extLst>
                </p:cNvPr>
                <p:cNvCxnSpPr>
                  <a:cxnSpLocks/>
                  <a:stCxn id="55" idx="2"/>
                  <a:endCxn id="56" idx="0"/>
                </p:cNvCxnSpPr>
                <p:nvPr/>
              </p:nvCxnSpPr>
              <p:spPr>
                <a:xfrm>
                  <a:off x="4456089" y="4438464"/>
                  <a:ext cx="0" cy="273882"/>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933FEB03-E596-4B8C-86E3-3DA4766C5336}"/>
                    </a:ext>
                  </a:extLst>
                </p:cNvPr>
                <p:cNvCxnSpPr>
                  <a:cxnSpLocks/>
                  <a:stCxn id="57" idx="2"/>
                  <a:endCxn id="55" idx="0"/>
                </p:cNvCxnSpPr>
                <p:nvPr/>
              </p:nvCxnSpPr>
              <p:spPr>
                <a:xfrm>
                  <a:off x="4456089" y="3073456"/>
                  <a:ext cx="0" cy="275165"/>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00EF5C7D-4341-4253-8FBA-C9B6F6B66D0E}"/>
                    </a:ext>
                  </a:extLst>
                </p:cNvPr>
                <p:cNvCxnSpPr>
                  <a:cxnSpLocks/>
                  <a:stCxn id="53" idx="2"/>
                  <a:endCxn id="57" idx="0"/>
                </p:cNvCxnSpPr>
                <p:nvPr/>
              </p:nvCxnSpPr>
              <p:spPr>
                <a:xfrm>
                  <a:off x="4456088" y="2409055"/>
                  <a:ext cx="2" cy="275166"/>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288DB377-6AA2-4B1F-A50D-2A466CA41C51}"/>
                    </a:ext>
                  </a:extLst>
                </p:cNvPr>
                <p:cNvSpPr/>
                <p:nvPr/>
              </p:nvSpPr>
              <p:spPr>
                <a:xfrm>
                  <a:off x="6943049" y="6380018"/>
                  <a:ext cx="2467129" cy="4267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cs typeface="Times New Roman" panose="02020603050405020304" pitchFamily="18" charset="0"/>
                    </a:rPr>
                    <a:t>Generate new population</a:t>
                  </a:r>
                  <a:endParaRPr lang="zh-TW" altLang="en-US" sz="900" dirty="0">
                    <a:solidFill>
                      <a:schemeClr val="tx1"/>
                    </a:solidFill>
                    <a:latin typeface="Montserrat" panose="02020500000000000000" charset="0"/>
                    <a:cs typeface="Times New Roman" panose="02020603050405020304" pitchFamily="18" charset="0"/>
                  </a:endParaRPr>
                </a:p>
              </p:txBody>
            </p:sp>
            <p:cxnSp>
              <p:nvCxnSpPr>
                <p:cNvPr id="68" name="直線單箭頭接點 67">
                  <a:extLst>
                    <a:ext uri="{FF2B5EF4-FFF2-40B4-BE49-F238E27FC236}">
                      <a16:creationId xmlns:a16="http://schemas.microsoft.com/office/drawing/2014/main" id="{F8F3881C-2983-496E-8ED6-993029CDDC80}"/>
                    </a:ext>
                  </a:extLst>
                </p:cNvPr>
                <p:cNvCxnSpPr>
                  <a:cxnSpLocks/>
                  <a:stCxn id="60" idx="2"/>
                  <a:endCxn id="67" idx="0"/>
                </p:cNvCxnSpPr>
                <p:nvPr/>
              </p:nvCxnSpPr>
              <p:spPr>
                <a:xfrm flipH="1">
                  <a:off x="8176614" y="6100651"/>
                  <a:ext cx="6" cy="279368"/>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2988EDC1-D9A5-4405-B986-1B29D17FF565}"/>
                    </a:ext>
                  </a:extLst>
                </p:cNvPr>
                <p:cNvCxnSpPr>
                  <a:cxnSpLocks/>
                  <a:stCxn id="55" idx="3"/>
                  <a:endCxn id="58" idx="1"/>
                </p:cNvCxnSpPr>
                <p:nvPr/>
              </p:nvCxnSpPr>
              <p:spPr>
                <a:xfrm>
                  <a:off x="6169510" y="3893543"/>
                  <a:ext cx="927437" cy="1498"/>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70" name="接點: 肘形 69">
                  <a:extLst>
                    <a:ext uri="{FF2B5EF4-FFF2-40B4-BE49-F238E27FC236}">
                      <a16:creationId xmlns:a16="http://schemas.microsoft.com/office/drawing/2014/main" id="{CB303987-29D4-456D-BF97-9B2E77F0C2E1}"/>
                    </a:ext>
                  </a:extLst>
                </p:cNvPr>
                <p:cNvCxnSpPr>
                  <a:cxnSpLocks/>
                  <a:stCxn id="67" idx="3"/>
                  <a:endCxn id="57" idx="3"/>
                </p:cNvCxnSpPr>
                <p:nvPr/>
              </p:nvCxnSpPr>
              <p:spPr>
                <a:xfrm flipH="1" flipV="1">
                  <a:off x="5535761" y="2878837"/>
                  <a:ext cx="3874417" cy="3714566"/>
                </a:xfrm>
                <a:prstGeom prst="bentConnector3">
                  <a:avLst>
                    <a:gd name="adj1" fmla="val -8726"/>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grpSp>
          <p:sp>
            <p:nvSpPr>
              <p:cNvPr id="49" name="文字方塊 48">
                <a:extLst>
                  <a:ext uri="{FF2B5EF4-FFF2-40B4-BE49-F238E27FC236}">
                    <a16:creationId xmlns:a16="http://schemas.microsoft.com/office/drawing/2014/main" id="{088830B2-273B-4AAD-919F-EDB7AF82586E}"/>
                  </a:ext>
                </a:extLst>
              </p:cNvPr>
              <p:cNvSpPr txBox="1"/>
              <p:nvPr/>
            </p:nvSpPr>
            <p:spPr>
              <a:xfrm>
                <a:off x="6101651" y="3529881"/>
                <a:ext cx="538280" cy="363661"/>
              </a:xfrm>
              <a:prstGeom prst="rect">
                <a:avLst/>
              </a:prstGeom>
              <a:noFill/>
              <a:ln w="12700">
                <a:noFill/>
              </a:ln>
            </p:spPr>
            <p:txBody>
              <a:bodyPr wrap="none" rtlCol="0">
                <a:spAutoFit/>
              </a:bodyPr>
              <a:lstStyle/>
              <a:p>
                <a:r>
                  <a:rPr lang="en-US" altLang="zh-TW" sz="900" b="1" dirty="0">
                    <a:solidFill>
                      <a:srgbClr val="E34A2B"/>
                    </a:solidFill>
                    <a:latin typeface="Montserrat" panose="02020500000000000000" charset="0"/>
                    <a:cs typeface="Times New Roman" panose="02020603050405020304" pitchFamily="18" charset="0"/>
                  </a:rPr>
                  <a:t>No</a:t>
                </a:r>
                <a:endParaRPr lang="zh-TW" altLang="en-US" sz="900" b="1" dirty="0">
                  <a:solidFill>
                    <a:srgbClr val="E34A2B"/>
                  </a:solidFill>
                  <a:latin typeface="Montserrat" panose="02020500000000000000" charset="0"/>
                  <a:cs typeface="Times New Roman" panose="02020603050405020304" pitchFamily="18" charset="0"/>
                </a:endParaRPr>
              </a:p>
            </p:txBody>
          </p:sp>
          <p:sp>
            <p:nvSpPr>
              <p:cNvPr id="50" name="文字方塊 49">
                <a:extLst>
                  <a:ext uri="{FF2B5EF4-FFF2-40B4-BE49-F238E27FC236}">
                    <a16:creationId xmlns:a16="http://schemas.microsoft.com/office/drawing/2014/main" id="{63CB0CE5-5E2B-4E09-B06E-E03E3DD30994}"/>
                  </a:ext>
                </a:extLst>
              </p:cNvPr>
              <p:cNvSpPr txBox="1"/>
              <p:nvPr/>
            </p:nvSpPr>
            <p:spPr>
              <a:xfrm>
                <a:off x="3849050" y="4370489"/>
                <a:ext cx="607038" cy="363661"/>
              </a:xfrm>
              <a:prstGeom prst="rect">
                <a:avLst/>
              </a:prstGeom>
              <a:noFill/>
              <a:ln w="12700">
                <a:noFill/>
              </a:ln>
            </p:spPr>
            <p:txBody>
              <a:bodyPr wrap="none" rtlCol="0">
                <a:spAutoFit/>
              </a:bodyPr>
              <a:lstStyle/>
              <a:p>
                <a:r>
                  <a:rPr lang="en-US" altLang="zh-TW" sz="900" b="1" dirty="0">
                    <a:solidFill>
                      <a:srgbClr val="00B050"/>
                    </a:solidFill>
                    <a:latin typeface="Montserrat" panose="02020500000000000000" charset="0"/>
                    <a:cs typeface="Times New Roman" panose="02020603050405020304" pitchFamily="18" charset="0"/>
                  </a:rPr>
                  <a:t>Yes</a:t>
                </a:r>
                <a:endParaRPr lang="zh-TW" altLang="en-US" sz="900" b="1" dirty="0">
                  <a:solidFill>
                    <a:srgbClr val="00B050"/>
                  </a:solidFill>
                  <a:latin typeface="Montserrat" panose="02020500000000000000" charset="0"/>
                  <a:cs typeface="Times New Roman" panose="02020603050405020304" pitchFamily="18" charset="0"/>
                </a:endParaRPr>
              </a:p>
            </p:txBody>
          </p:sp>
        </p:grpSp>
        <p:sp>
          <p:nvSpPr>
            <p:cNvPr id="44" name="矩形 43">
              <a:extLst>
                <a:ext uri="{FF2B5EF4-FFF2-40B4-BE49-F238E27FC236}">
                  <a16:creationId xmlns:a16="http://schemas.microsoft.com/office/drawing/2014/main" id="{C2D1F77D-2D72-432C-ACCB-3335E132D9A0}"/>
                </a:ext>
              </a:extLst>
            </p:cNvPr>
            <p:cNvSpPr/>
            <p:nvPr/>
          </p:nvSpPr>
          <p:spPr>
            <a:xfrm>
              <a:off x="7193462" y="5070360"/>
              <a:ext cx="2159347" cy="389236"/>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solidFill>
                    <a:schemeClr val="tx1"/>
                  </a:solidFill>
                  <a:latin typeface="Montserrat" panose="02020500000000000000" charset="0"/>
                  <a:ea typeface="標楷體" panose="03000509000000000000" pitchFamily="65" charset="-120"/>
                  <a:cs typeface="Times New Roman" panose="02020603050405020304" pitchFamily="18" charset="0"/>
                </a:rPr>
                <a:t>Mutation</a:t>
              </a:r>
              <a:endParaRPr lang="zh-TW" altLang="en-US" sz="900" dirty="0">
                <a:solidFill>
                  <a:schemeClr val="tx1"/>
                </a:solidFill>
                <a:latin typeface="Montserrat" panose="02020500000000000000" charset="0"/>
                <a:cs typeface="Times New Roman" panose="02020603050405020304" pitchFamily="18" charset="0"/>
              </a:endParaRPr>
            </a:p>
          </p:txBody>
        </p:sp>
        <p:cxnSp>
          <p:nvCxnSpPr>
            <p:cNvPr id="45" name="直線單箭頭接點 44">
              <a:extLst>
                <a:ext uri="{FF2B5EF4-FFF2-40B4-BE49-F238E27FC236}">
                  <a16:creationId xmlns:a16="http://schemas.microsoft.com/office/drawing/2014/main" id="{F17DD67B-6838-40B2-A6C5-5527E34AAEA4}"/>
                </a:ext>
              </a:extLst>
            </p:cNvPr>
            <p:cNvCxnSpPr>
              <a:cxnSpLocks/>
              <a:stCxn id="58" idx="2"/>
              <a:endCxn id="59" idx="0"/>
            </p:cNvCxnSpPr>
            <p:nvPr/>
          </p:nvCxnSpPr>
          <p:spPr>
            <a:xfrm flipH="1">
              <a:off x="8273137" y="4122648"/>
              <a:ext cx="3" cy="273666"/>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67DCA197-CF74-4E73-815E-153A3A4BB6B1}"/>
                </a:ext>
              </a:extLst>
            </p:cNvPr>
            <p:cNvCxnSpPr>
              <a:cxnSpLocks/>
              <a:stCxn id="59" idx="2"/>
              <a:endCxn id="44" idx="0"/>
            </p:cNvCxnSpPr>
            <p:nvPr/>
          </p:nvCxnSpPr>
          <p:spPr>
            <a:xfrm flipH="1">
              <a:off x="8273136" y="4785551"/>
              <a:ext cx="1" cy="284809"/>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FB97C426-AC89-4E3E-98EB-EEF2030353E8}"/>
                </a:ext>
              </a:extLst>
            </p:cNvPr>
            <p:cNvCxnSpPr>
              <a:cxnSpLocks/>
              <a:stCxn id="44" idx="2"/>
              <a:endCxn id="60" idx="0"/>
            </p:cNvCxnSpPr>
            <p:nvPr/>
          </p:nvCxnSpPr>
          <p:spPr>
            <a:xfrm>
              <a:off x="8273136" y="5459596"/>
              <a:ext cx="4" cy="284809"/>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grpSp>
      <p:grpSp>
        <p:nvGrpSpPr>
          <p:cNvPr id="6" name="群組 5">
            <a:extLst>
              <a:ext uri="{FF2B5EF4-FFF2-40B4-BE49-F238E27FC236}">
                <a16:creationId xmlns:a16="http://schemas.microsoft.com/office/drawing/2014/main" id="{0888677A-DBEA-408A-AD25-688B7ED58F0C}"/>
              </a:ext>
            </a:extLst>
          </p:cNvPr>
          <p:cNvGrpSpPr/>
          <p:nvPr/>
        </p:nvGrpSpPr>
        <p:grpSpPr>
          <a:xfrm>
            <a:off x="5214014" y="3556562"/>
            <a:ext cx="3236879" cy="1177495"/>
            <a:chOff x="5356988" y="3265151"/>
            <a:chExt cx="3236879" cy="1177495"/>
          </a:xfrm>
        </p:grpSpPr>
        <p:pic>
          <p:nvPicPr>
            <p:cNvPr id="41" name="圖片 40">
              <a:extLst>
                <a:ext uri="{FF2B5EF4-FFF2-40B4-BE49-F238E27FC236}">
                  <a16:creationId xmlns:a16="http://schemas.microsoft.com/office/drawing/2014/main" id="{45E521FC-798E-40EE-A24D-7B492B48574E}"/>
                </a:ext>
              </a:extLst>
            </p:cNvPr>
            <p:cNvPicPr/>
            <p:nvPr/>
          </p:nvPicPr>
          <p:blipFill rotWithShape="1">
            <a:blip r:embed="rId3"/>
            <a:srcRect l="9027"/>
            <a:stretch/>
          </p:blipFill>
          <p:spPr>
            <a:xfrm>
              <a:off x="5412595" y="3356059"/>
              <a:ext cx="3181272" cy="995680"/>
            </a:xfrm>
            <a:prstGeom prst="rect">
              <a:avLst/>
            </a:prstGeom>
          </p:spPr>
        </p:pic>
        <p:sp>
          <p:nvSpPr>
            <p:cNvPr id="71" name="文字方塊 70">
              <a:extLst>
                <a:ext uri="{FF2B5EF4-FFF2-40B4-BE49-F238E27FC236}">
                  <a16:creationId xmlns:a16="http://schemas.microsoft.com/office/drawing/2014/main" id="{430BDC8F-C42B-490C-87A8-1D33A0167386}"/>
                </a:ext>
              </a:extLst>
            </p:cNvPr>
            <p:cNvSpPr txBox="1"/>
            <p:nvPr/>
          </p:nvSpPr>
          <p:spPr>
            <a:xfrm>
              <a:off x="7525096" y="3820766"/>
              <a:ext cx="734496" cy="230832"/>
            </a:xfrm>
            <a:prstGeom prst="rect">
              <a:avLst/>
            </a:prstGeom>
            <a:solidFill>
              <a:schemeClr val="accent4"/>
            </a:solidFill>
          </p:spPr>
          <p:txBody>
            <a:bodyPr wrap="none" rtlCol="0">
              <a:spAutoFit/>
            </a:bodyPr>
            <a:lstStyle/>
            <a:p>
              <a:r>
                <a:rPr lang="en-US" altLang="zh-TW" sz="900" b="1" dirty="0">
                  <a:latin typeface="Montserrat" panose="02020500000000000000" charset="0"/>
                  <a:cs typeface="Times New Roman" panose="02020603050405020304" pitchFamily="18" charset="0"/>
                </a:rPr>
                <a:t>Mutation</a:t>
              </a:r>
              <a:endParaRPr lang="zh-TW" altLang="en-US" sz="900" b="1" dirty="0">
                <a:latin typeface="Montserrat" panose="02020500000000000000" charset="0"/>
                <a:cs typeface="Times New Roman" panose="02020603050405020304" pitchFamily="18" charset="0"/>
              </a:endParaRPr>
            </a:p>
          </p:txBody>
        </p:sp>
        <p:sp>
          <p:nvSpPr>
            <p:cNvPr id="72" name="矩形 71">
              <a:extLst>
                <a:ext uri="{FF2B5EF4-FFF2-40B4-BE49-F238E27FC236}">
                  <a16:creationId xmlns:a16="http://schemas.microsoft.com/office/drawing/2014/main" id="{896D1677-DDD8-44AD-8954-FB6171338F62}"/>
                </a:ext>
              </a:extLst>
            </p:cNvPr>
            <p:cNvSpPr/>
            <p:nvPr/>
          </p:nvSpPr>
          <p:spPr>
            <a:xfrm>
              <a:off x="5356988" y="3265151"/>
              <a:ext cx="3236879" cy="1177495"/>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00" dirty="0">
                <a:solidFill>
                  <a:schemeClr val="tx1"/>
                </a:solidFill>
                <a:latin typeface="Montserrat" panose="02020500000000000000" charset="0"/>
                <a:cs typeface="Times New Roman" panose="02020603050405020304" pitchFamily="18" charset="0"/>
              </a:endParaRPr>
            </a:p>
          </p:txBody>
        </p:sp>
      </p:grpSp>
      <p:grpSp>
        <p:nvGrpSpPr>
          <p:cNvPr id="13" name="群組 12">
            <a:extLst>
              <a:ext uri="{FF2B5EF4-FFF2-40B4-BE49-F238E27FC236}">
                <a16:creationId xmlns:a16="http://schemas.microsoft.com/office/drawing/2014/main" id="{DEE36B7D-E2B0-4BA4-9514-B795D7E3ECD3}"/>
              </a:ext>
            </a:extLst>
          </p:cNvPr>
          <p:cNvGrpSpPr/>
          <p:nvPr/>
        </p:nvGrpSpPr>
        <p:grpSpPr>
          <a:xfrm>
            <a:off x="5214014" y="1036775"/>
            <a:ext cx="3428671" cy="2320054"/>
            <a:chOff x="5294008" y="898346"/>
            <a:chExt cx="3428671" cy="2320054"/>
          </a:xfrm>
        </p:grpSpPr>
        <p:grpSp>
          <p:nvGrpSpPr>
            <p:cNvPr id="8" name="群組 7">
              <a:extLst>
                <a:ext uri="{FF2B5EF4-FFF2-40B4-BE49-F238E27FC236}">
                  <a16:creationId xmlns:a16="http://schemas.microsoft.com/office/drawing/2014/main" id="{C4E60673-78B4-4008-8DF0-C54AAC583CF5}"/>
                </a:ext>
              </a:extLst>
            </p:cNvPr>
            <p:cNvGrpSpPr/>
            <p:nvPr/>
          </p:nvGrpSpPr>
          <p:grpSpPr>
            <a:xfrm>
              <a:off x="5294008" y="920023"/>
              <a:ext cx="3428671" cy="2232707"/>
              <a:chOff x="5646425" y="899239"/>
              <a:chExt cx="3428671" cy="2232707"/>
            </a:xfrm>
          </p:grpSpPr>
          <p:pic>
            <p:nvPicPr>
              <p:cNvPr id="5" name="圖片 4">
                <a:extLst>
                  <a:ext uri="{FF2B5EF4-FFF2-40B4-BE49-F238E27FC236}">
                    <a16:creationId xmlns:a16="http://schemas.microsoft.com/office/drawing/2014/main" id="{8CF4C1F4-EB55-4EC8-B449-AABF865DA5F0}"/>
                  </a:ext>
                </a:extLst>
              </p:cNvPr>
              <p:cNvPicPr>
                <a:picLocks noChangeAspect="1"/>
              </p:cNvPicPr>
              <p:nvPr/>
            </p:nvPicPr>
            <p:blipFill>
              <a:blip r:embed="rId4"/>
              <a:stretch>
                <a:fillRect/>
              </a:stretch>
            </p:blipFill>
            <p:spPr>
              <a:xfrm>
                <a:off x="5646425" y="899239"/>
                <a:ext cx="2723838" cy="2232707"/>
              </a:xfrm>
              <a:prstGeom prst="rect">
                <a:avLst/>
              </a:prstGeom>
            </p:spPr>
          </p:pic>
          <p:sp>
            <p:nvSpPr>
              <p:cNvPr id="73" name="文字方塊 72">
                <a:extLst>
                  <a:ext uri="{FF2B5EF4-FFF2-40B4-BE49-F238E27FC236}">
                    <a16:creationId xmlns:a16="http://schemas.microsoft.com/office/drawing/2014/main" id="{4A13D8ED-6FCD-40CC-A0CE-D214CB782F61}"/>
                  </a:ext>
                </a:extLst>
              </p:cNvPr>
              <p:cNvSpPr txBox="1"/>
              <p:nvPr/>
            </p:nvSpPr>
            <p:spPr>
              <a:xfrm>
                <a:off x="8292509" y="1900176"/>
                <a:ext cx="782587" cy="230832"/>
              </a:xfrm>
              <a:prstGeom prst="rect">
                <a:avLst/>
              </a:prstGeom>
              <a:noFill/>
            </p:spPr>
            <p:txBody>
              <a:bodyPr wrap="none" rtlCol="0">
                <a:spAutoFit/>
              </a:bodyPr>
              <a:lstStyle/>
              <a:p>
                <a:r>
                  <a:rPr lang="en-US" altLang="zh-TW" sz="900" b="1" dirty="0">
                    <a:latin typeface="Montserrat" panose="02020500000000000000" charset="0"/>
                    <a:cs typeface="Times New Roman" panose="02020603050405020304" pitchFamily="18" charset="0"/>
                  </a:rPr>
                  <a:t>Crossover</a:t>
                </a:r>
                <a:endParaRPr lang="zh-TW" altLang="en-US" sz="900" b="1" dirty="0">
                  <a:latin typeface="Montserrat" panose="02020500000000000000" charset="0"/>
                  <a:cs typeface="Times New Roman" panose="02020603050405020304" pitchFamily="18" charset="0"/>
                </a:endParaRPr>
              </a:p>
            </p:txBody>
          </p:sp>
        </p:grpSp>
        <p:sp>
          <p:nvSpPr>
            <p:cNvPr id="75" name="矩形 74">
              <a:extLst>
                <a:ext uri="{FF2B5EF4-FFF2-40B4-BE49-F238E27FC236}">
                  <a16:creationId xmlns:a16="http://schemas.microsoft.com/office/drawing/2014/main" id="{5CF0E5BD-A6B0-491C-BD80-EC4F23A6FC92}"/>
                </a:ext>
              </a:extLst>
            </p:cNvPr>
            <p:cNvSpPr/>
            <p:nvPr/>
          </p:nvSpPr>
          <p:spPr>
            <a:xfrm>
              <a:off x="5298693" y="898346"/>
              <a:ext cx="3423985" cy="232005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00" dirty="0">
                <a:solidFill>
                  <a:schemeClr val="tx1"/>
                </a:solidFill>
                <a:latin typeface="Montserrat" panose="02020500000000000000" charset="0"/>
                <a:cs typeface="Times New Roman" panose="02020603050405020304" pitchFamily="18" charset="0"/>
              </a:endParaRPr>
            </a:p>
          </p:txBody>
        </p:sp>
      </p:grpSp>
      <p:sp>
        <p:nvSpPr>
          <p:cNvPr id="74" name="文字方塊 73">
            <a:extLst>
              <a:ext uri="{FF2B5EF4-FFF2-40B4-BE49-F238E27FC236}">
                <a16:creationId xmlns:a16="http://schemas.microsoft.com/office/drawing/2014/main" id="{0012880F-5865-48A5-9CBC-B13DCFC37528}"/>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36</a:t>
            </a:r>
            <a:endParaRPr lang="zh-TW" altLang="en-US" sz="1100" dirty="0">
              <a:latin typeface="Montserrat" panose="02020500000000000000" charset="0"/>
            </a:endParaRPr>
          </a:p>
        </p:txBody>
      </p:sp>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0724420F-83AB-4285-95D7-961AEAC50FBE}"/>
                  </a:ext>
                </a:extLst>
              </p:cNvPr>
              <p:cNvSpPr/>
              <p:nvPr/>
            </p:nvSpPr>
            <p:spPr>
              <a:xfrm>
                <a:off x="7382122" y="517224"/>
                <a:ext cx="2023782" cy="500971"/>
              </a:xfrm>
              <a:prstGeom prst="rect">
                <a:avLst/>
              </a:prstGeom>
            </p:spPr>
            <p:txBody>
              <a:bodyPr wrap="square">
                <a:spAutoFit/>
              </a:bodyPr>
              <a:lstStyle/>
              <a:p>
                <a:pPr>
                  <a:lnSpc>
                    <a:spcPct val="150000"/>
                  </a:lnSpc>
                </a:pPr>
                <a14:m>
                  <m:oMath xmlns:m="http://schemas.openxmlformats.org/officeDocument/2006/math">
                    <m:r>
                      <a:rPr lang="en-US" altLang="zh-TW" sz="900" b="0" i="1" smtClean="0">
                        <a:latin typeface="Cambria Math" panose="02040503050406030204" pitchFamily="18" charset="0"/>
                      </a:rPr>
                      <m:t>0</m:t>
                    </m:r>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Positive polarization</a:t>
                </a:r>
              </a:p>
              <a:p>
                <a:pPr>
                  <a:lnSpc>
                    <a:spcPct val="150000"/>
                  </a:lnSpc>
                </a:pPr>
                <a14:m>
                  <m:oMath xmlns:m="http://schemas.openxmlformats.org/officeDocument/2006/math">
                    <m:r>
                      <a:rPr lang="en-US" altLang="zh-TW" sz="900" b="0" i="1" smtClean="0">
                        <a:latin typeface="Cambria Math" panose="02040503050406030204" pitchFamily="18" charset="0"/>
                      </a:rPr>
                      <m:t>1</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Negative Polarization</a:t>
                </a:r>
              </a:p>
            </p:txBody>
          </p:sp>
        </mc:Choice>
        <mc:Fallback xmlns="">
          <p:sp>
            <p:nvSpPr>
              <p:cNvPr id="76" name="矩形 75">
                <a:extLst>
                  <a:ext uri="{FF2B5EF4-FFF2-40B4-BE49-F238E27FC236}">
                    <a16:creationId xmlns:a16="http://schemas.microsoft.com/office/drawing/2014/main" id="{0724420F-83AB-4285-95D7-961AEAC50FBE}"/>
                  </a:ext>
                </a:extLst>
              </p:cNvPr>
              <p:cNvSpPr>
                <a:spLocks noRot="1" noChangeAspect="1" noMove="1" noResize="1" noEditPoints="1" noAdjustHandles="1" noChangeArrowheads="1" noChangeShapeType="1" noTextEdit="1"/>
              </p:cNvSpPr>
              <p:nvPr/>
            </p:nvSpPr>
            <p:spPr>
              <a:xfrm>
                <a:off x="7382122" y="517224"/>
                <a:ext cx="2023782" cy="500971"/>
              </a:xfrm>
              <a:prstGeom prst="rect">
                <a:avLst/>
              </a:prstGeom>
              <a:blipFill>
                <a:blip r:embed="rId5"/>
                <a:stretch>
                  <a:fillRect b="-122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12710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Genetic algorithm</a:t>
            </a:r>
          </a:p>
        </p:txBody>
      </p:sp>
      <p:grpSp>
        <p:nvGrpSpPr>
          <p:cNvPr id="2" name="群組 1">
            <a:extLst>
              <a:ext uri="{FF2B5EF4-FFF2-40B4-BE49-F238E27FC236}">
                <a16:creationId xmlns:a16="http://schemas.microsoft.com/office/drawing/2014/main" id="{45EE569E-F11B-4752-B701-CEF807C6690A}"/>
              </a:ext>
            </a:extLst>
          </p:cNvPr>
          <p:cNvGrpSpPr/>
          <p:nvPr/>
        </p:nvGrpSpPr>
        <p:grpSpPr>
          <a:xfrm>
            <a:off x="192683" y="-911"/>
            <a:ext cx="8761417" cy="295831"/>
            <a:chOff x="192683" y="-911"/>
            <a:chExt cx="8761417" cy="295831"/>
          </a:xfrm>
        </p:grpSpPr>
        <p:sp>
          <p:nvSpPr>
            <p:cNvPr id="3" name="矩形 2">
              <a:extLst>
                <a:ext uri="{FF2B5EF4-FFF2-40B4-BE49-F238E27FC236}">
                  <a16:creationId xmlns:a16="http://schemas.microsoft.com/office/drawing/2014/main" id="{334333F4-1DE5-4C34-941D-4211DB08B2B6}"/>
                </a:ext>
              </a:extLst>
            </p:cNvPr>
            <p:cNvSpPr/>
            <p:nvPr/>
          </p:nvSpPr>
          <p:spPr>
            <a:xfrm>
              <a:off x="2826656" y="-911"/>
              <a:ext cx="90618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Simulation</a:t>
              </a:r>
            </a:p>
          </p:txBody>
        </p:sp>
        <p:sp>
          <p:nvSpPr>
            <p:cNvPr id="4" name="矩形 3">
              <a:extLst>
                <a:ext uri="{FF2B5EF4-FFF2-40B4-BE49-F238E27FC236}">
                  <a16:creationId xmlns:a16="http://schemas.microsoft.com/office/drawing/2014/main" id="{8A87B6FD-7492-4217-AABC-FB3A6A7F4B34}"/>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5A13068B-F3E0-49DA-95B0-86CEBA1D9BC3}"/>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45BD29EF-93BC-4167-8B33-AB0C19A23588}"/>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EE9A2078-D6C5-4F79-A54F-A549E72B1CB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2" name="矩形 11">
              <a:extLst>
                <a:ext uri="{FF2B5EF4-FFF2-40B4-BE49-F238E27FC236}">
                  <a16:creationId xmlns:a16="http://schemas.microsoft.com/office/drawing/2014/main" id="{BD57BFC2-4B89-4A38-973B-AD9A4A7BCC10}"/>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AC9856BA-54C7-4F9F-9F0F-085B5E8F490D}"/>
                  </a:ext>
                </a:extLst>
              </p:cNvPr>
              <p:cNvSpPr/>
              <p:nvPr/>
            </p:nvSpPr>
            <p:spPr>
              <a:xfrm>
                <a:off x="869567" y="1616158"/>
                <a:ext cx="4594574" cy="103464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TW" altLang="en-US" sz="1000" smtClean="0">
                          <a:latin typeface="Cambria Math" panose="02040503050406030204" pitchFamily="18" charset="0"/>
                        </a:rPr>
                        <m:t>Ob</m:t>
                      </m:r>
                      <m:r>
                        <a:rPr lang="zh-TW" altLang="en-US" sz="1000" smtClean="0">
                          <a:latin typeface="Cambria Math" panose="02040503050406030204" pitchFamily="18" charset="0"/>
                        </a:rPr>
                        <m:t>=</m:t>
                      </m:r>
                      <m:nary>
                        <m:naryPr>
                          <m:chr m:val="∑"/>
                          <m:limLoc m:val="undOvr"/>
                          <m:ctrlPr>
                            <a:rPr lang="zh-TW" altLang="en-US" sz="1000" i="1">
                              <a:latin typeface="Cambria Math" panose="02040503050406030204" pitchFamily="18" charset="0"/>
                            </a:rPr>
                          </m:ctrlPr>
                        </m:naryPr>
                        <m:sub>
                          <m:r>
                            <a:rPr lang="zh-TW" altLang="en-US" sz="1000" i="1">
                              <a:latin typeface="Cambria Math" panose="02040503050406030204" pitchFamily="18" charset="0"/>
                            </a:rPr>
                            <m:t>𝑖</m:t>
                          </m:r>
                          <m:r>
                            <a:rPr lang="zh-TW" altLang="en-US" sz="1000">
                              <a:latin typeface="Cambria Math" panose="02040503050406030204" pitchFamily="18" charset="0"/>
                            </a:rPr>
                            <m:t>=0</m:t>
                          </m:r>
                        </m:sub>
                        <m:sup>
                          <m:r>
                            <a:rPr lang="zh-TW" altLang="en-US" sz="1000" i="1">
                              <a:latin typeface="Cambria Math" panose="02040503050406030204" pitchFamily="18" charset="0"/>
                            </a:rPr>
                            <m:t>𝑛</m:t>
                          </m:r>
                        </m:sup>
                        <m:e>
                          <m:d>
                            <m:dPr>
                              <m:begChr m:val="["/>
                              <m:endChr m:val="]"/>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𝑤</m:t>
                                  </m:r>
                                </m:e>
                                <m:sub>
                                  <m:r>
                                    <a:rPr lang="zh-TW" altLang="en-US" sz="1000" i="1">
                                      <a:latin typeface="Cambria Math" panose="02040503050406030204" pitchFamily="18" charset="0"/>
                                    </a:rPr>
                                    <m:t>𝑖</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smtClean="0">
                                          <a:latin typeface="Cambria Math" panose="02040503050406030204" pitchFamily="18" charset="0"/>
                                        </a:rPr>
                                        <m:t>𝜆</m:t>
                                      </m:r>
                                    </m:e>
                                    <m:sub>
                                      <m:r>
                                        <a:rPr lang="zh-TW" altLang="en-US" sz="1000" i="1">
                                          <a:latin typeface="Cambria Math" panose="02040503050406030204" pitchFamily="18" charset="0"/>
                                        </a:rPr>
                                        <m:t>𝑖</m:t>
                                      </m:r>
                                    </m:sub>
                                  </m:sSub>
                                </m:e>
                              </m:d>
                              <m:r>
                                <a:rPr lang="zh-TW" altLang="en-US" sz="1000">
                                  <a:latin typeface="Cambria Math" panose="02040503050406030204" pitchFamily="18" charset="0"/>
                                </a:rPr>
                                <m:t>×</m:t>
                              </m:r>
                              <m:d>
                                <m:dPr>
                                  <m:begChr m:val="|"/>
                                  <m:endChr m:val="|"/>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𝜂</m:t>
                                      </m:r>
                                    </m:e>
                                    <m:sub>
                                      <m:r>
                                        <a:rPr lang="en-US" altLang="zh-TW" sz="1000" b="0" i="1" smtClean="0">
                                          <a:latin typeface="Cambria Math" panose="02040503050406030204" pitchFamily="18" charset="0"/>
                                        </a:rPr>
                                        <m:t>𝑆𝑃𝐷𝐶</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𝜆</m:t>
                                          </m:r>
                                        </m:e>
                                        <m:sub>
                                          <m:r>
                                            <a:rPr lang="zh-TW" altLang="en-US" sz="1000" i="1">
                                              <a:latin typeface="Cambria Math" panose="02040503050406030204" pitchFamily="18" charset="0"/>
                                            </a:rPr>
                                            <m:t>𝑖</m:t>
                                          </m:r>
                                        </m:sub>
                                      </m:sSub>
                                    </m:e>
                                  </m:d>
                                  <m:r>
                                    <a:rPr lang="zh-TW" altLang="en-US" sz="1000">
                                      <a:latin typeface="Cambria Math" panose="02040503050406030204" pitchFamily="18" charset="0"/>
                                    </a:rPr>
                                    <m:t>−</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𝜂</m:t>
                                      </m:r>
                                    </m:e>
                                    <m:sub>
                                      <m:r>
                                        <a:rPr lang="zh-TW" altLang="en-US" sz="1000" i="1">
                                          <a:latin typeface="Cambria Math" panose="02040503050406030204" pitchFamily="18" charset="0"/>
                                        </a:rPr>
                                        <m:t>𝑒𝑓𝑓</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𝜆</m:t>
                                          </m:r>
                                        </m:e>
                                        <m:sub>
                                          <m:r>
                                            <a:rPr lang="zh-TW" altLang="en-US" sz="1000" i="1">
                                              <a:latin typeface="Cambria Math" panose="02040503050406030204" pitchFamily="18" charset="0"/>
                                            </a:rPr>
                                            <m:t>𝑖</m:t>
                                          </m:r>
                                        </m:sub>
                                      </m:sSub>
                                    </m:e>
                                  </m:d>
                                </m:e>
                              </m:d>
                            </m:e>
                          </m:d>
                          <m:r>
                            <a:rPr lang="en-US" altLang="zh-TW" sz="1000" i="1">
                              <a:latin typeface="Cambria Math" panose="02040503050406030204" pitchFamily="18" charset="0"/>
                            </a:rPr>
                            <m:t>+</m:t>
                          </m:r>
                          <m:nary>
                            <m:naryPr>
                              <m:chr m:val="∑"/>
                              <m:ctrlPr>
                                <a:rPr lang="en-US" altLang="zh-TW" sz="1000" i="1">
                                  <a:latin typeface="Cambria Math" panose="02040503050406030204" pitchFamily="18" charset="0"/>
                                </a:rPr>
                              </m:ctrlPr>
                            </m:naryPr>
                            <m:sub>
                              <m:r>
                                <m:rPr>
                                  <m:brk m:alnAt="23"/>
                                </m:rPr>
                                <a:rPr lang="en-US" altLang="zh-TW" sz="1000" i="1">
                                  <a:latin typeface="Cambria Math" panose="02040503050406030204" pitchFamily="18" charset="0"/>
                                </a:rPr>
                                <m:t>𝑗</m:t>
                              </m:r>
                              <m:r>
                                <a:rPr lang="en-US" altLang="zh-TW" sz="1000" i="1">
                                  <a:latin typeface="Cambria Math" panose="02040503050406030204" pitchFamily="18" charset="0"/>
                                </a:rPr>
                                <m:t>=</m:t>
                              </m:r>
                              <m:r>
                                <a:rPr lang="en-US" altLang="zh-TW" sz="1000" b="0" i="1" smtClean="0">
                                  <a:latin typeface="Cambria Math" panose="02040503050406030204" pitchFamily="18" charset="0"/>
                                </a:rPr>
                                <m:t>0</m:t>
                              </m:r>
                            </m:sub>
                            <m:sup>
                              <m:r>
                                <a:rPr lang="en-US" altLang="zh-TW" sz="1000" i="1">
                                  <a:latin typeface="Cambria Math" panose="02040503050406030204" pitchFamily="18" charset="0"/>
                                </a:rPr>
                                <m:t>𝑙</m:t>
                              </m:r>
                            </m:sup>
                            <m:e>
                              <m:d>
                                <m:dPr>
                                  <m:begChr m:val="["/>
                                  <m:endChr m:val="]"/>
                                  <m:ctrlPr>
                                    <a:rPr lang="en-US" altLang="zh-TW" sz="1000" i="1">
                                      <a:latin typeface="Cambria Math" panose="02040503050406030204" pitchFamily="18" charset="0"/>
                                    </a:rPr>
                                  </m:ctrlPr>
                                </m:dPr>
                                <m:e>
                                  <m:sSub>
                                    <m:sSubPr>
                                      <m:ctrlPr>
                                        <a:rPr lang="zh-TW" altLang="zh-TW" sz="1000" i="1">
                                          <a:latin typeface="Cambria Math" panose="02040503050406030204" pitchFamily="18" charset="0"/>
                                        </a:rPr>
                                      </m:ctrlPr>
                                    </m:sSubPr>
                                    <m:e>
                                      <m:r>
                                        <a:rPr lang="en-US" altLang="zh-TW" sz="1000" i="1">
                                          <a:latin typeface="Cambria Math" panose="02040503050406030204" pitchFamily="18" charset="0"/>
                                        </a:rPr>
                                        <m:t>𝑤</m:t>
                                      </m:r>
                                    </m:e>
                                    <m:sub>
                                      <m:r>
                                        <a:rPr lang="en-US" altLang="zh-TW" sz="1000" i="1">
                                          <a:latin typeface="Cambria Math" panose="02040503050406030204" pitchFamily="18" charset="0"/>
                                        </a:rPr>
                                        <m:t>𝑗</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𝜆</m:t>
                                          </m:r>
                                        </m:e>
                                        <m:sub>
                                          <m:r>
                                            <a:rPr lang="en-US" altLang="zh-TW" sz="1000" i="1">
                                              <a:latin typeface="Cambria Math" panose="02040503050406030204" pitchFamily="18" charset="0"/>
                                            </a:rPr>
                                            <m:t>𝑗</m:t>
                                          </m:r>
                                        </m:sub>
                                      </m:sSub>
                                    </m:e>
                                  </m:d>
                                  <m:r>
                                    <a:rPr lang="en-US" altLang="zh-TW" sz="1000" i="1">
                                      <a:latin typeface="Cambria Math" panose="02040503050406030204" pitchFamily="18" charset="0"/>
                                    </a:rPr>
                                    <m:t>×</m:t>
                                  </m:r>
                                  <m:d>
                                    <m:dPr>
                                      <m:begChr m:val="|"/>
                                      <m:endChr m:val="|"/>
                                      <m:ctrlPr>
                                        <a:rPr lang="zh-TW" altLang="zh-TW" sz="1000" i="1">
                                          <a:latin typeface="Cambria Math" panose="02040503050406030204" pitchFamily="18" charset="0"/>
                                        </a:rPr>
                                      </m:ctrlPr>
                                    </m:dPr>
                                    <m:e>
                                      <m:sSub>
                                        <m:sSubPr>
                                          <m:ctrlPr>
                                            <a:rPr lang="zh-TW" altLang="zh-TW" sz="1000" i="1">
                                              <a:latin typeface="Cambria Math" panose="02040503050406030204" pitchFamily="18" charset="0"/>
                                            </a:rPr>
                                          </m:ctrlPr>
                                        </m:sSubPr>
                                        <m:e>
                                          <m:r>
                                            <a:rPr lang="zh-TW" altLang="en-US" sz="1000" i="1">
                                              <a:latin typeface="Cambria Math" panose="02040503050406030204" pitchFamily="18" charset="0"/>
                                            </a:rPr>
                                            <m:t>𝜂</m:t>
                                          </m:r>
                                        </m:e>
                                        <m:sub>
                                          <m:r>
                                            <a:rPr lang="en-US" altLang="zh-TW" sz="1000" b="0" i="1" smtClean="0">
                                              <a:latin typeface="Cambria Math" panose="02040503050406030204" pitchFamily="18" charset="0"/>
                                            </a:rPr>
                                            <m:t>𝐸𝑂𝑃𝑀𝐶</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𝜆</m:t>
                                              </m:r>
                                            </m:e>
                                            <m:sub>
                                              <m:r>
                                                <a:rPr lang="en-US" altLang="zh-TW" sz="1000" i="1">
                                                  <a:latin typeface="Cambria Math" panose="02040503050406030204" pitchFamily="18" charset="0"/>
                                                </a:rPr>
                                                <m:t>𝑗</m:t>
                                              </m:r>
                                            </m:sub>
                                          </m:sSub>
                                        </m:e>
                                      </m:d>
                                      <m:r>
                                        <a:rPr lang="en-US" altLang="zh-TW" sz="1000" i="1">
                                          <a:latin typeface="Cambria Math" panose="02040503050406030204" pitchFamily="18" charset="0"/>
                                        </a:rPr>
                                        <m:t>−</m:t>
                                      </m:r>
                                      <m:sSub>
                                        <m:sSubPr>
                                          <m:ctrlPr>
                                            <a:rPr lang="zh-TW" altLang="zh-TW" sz="1000" i="1">
                                              <a:latin typeface="Cambria Math" panose="02040503050406030204" pitchFamily="18" charset="0"/>
                                            </a:rPr>
                                          </m:ctrlPr>
                                        </m:sSubPr>
                                        <m:e>
                                          <m:r>
                                            <a:rPr lang="zh-TW" altLang="en-US" sz="1000" i="1">
                                              <a:latin typeface="Cambria Math" panose="02040503050406030204" pitchFamily="18" charset="0"/>
                                            </a:rPr>
                                            <m:t>𝜂</m:t>
                                          </m:r>
                                        </m:e>
                                        <m:sub>
                                          <m:r>
                                            <a:rPr lang="en-US" altLang="zh-TW" sz="1000" b="0" i="1" smtClean="0">
                                              <a:latin typeface="Cambria Math" panose="02040503050406030204" pitchFamily="18" charset="0"/>
                                            </a:rPr>
                                            <m:t>𝑐𝑎𝑙</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𝜆</m:t>
                                              </m:r>
                                            </m:e>
                                            <m:sub>
                                              <m:r>
                                                <a:rPr lang="en-US" altLang="zh-TW" sz="1000" i="1">
                                                  <a:latin typeface="Cambria Math" panose="02040503050406030204" pitchFamily="18" charset="0"/>
                                                </a:rPr>
                                                <m:t>𝑗</m:t>
                                              </m:r>
                                            </m:sub>
                                          </m:sSub>
                                        </m:e>
                                      </m:d>
                                    </m:e>
                                  </m:d>
                                </m:e>
                              </m:d>
                            </m:e>
                          </m:nary>
                        </m:e>
                      </m:nary>
                    </m:oMath>
                  </m:oMathPara>
                </a14:m>
                <a:endParaRPr lang="en-US" altLang="zh-TW" sz="1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TW" altLang="en-US" sz="1000">
                          <a:latin typeface="Cambria Math" panose="02040503050406030204" pitchFamily="18" charset="0"/>
                        </a:rPr>
                        <m:t>+</m:t>
                      </m:r>
                      <m:r>
                        <a:rPr lang="zh-TW" altLang="en-US" sz="1000" i="1">
                          <a:latin typeface="Cambria Math" panose="02040503050406030204" pitchFamily="18" charset="0"/>
                        </a:rPr>
                        <m:t>𝛽</m:t>
                      </m:r>
                      <m:r>
                        <a:rPr lang="zh-TW" altLang="en-US" sz="1000">
                          <a:latin typeface="Cambria Math" panose="02040503050406030204" pitchFamily="18" charset="0"/>
                        </a:rPr>
                        <m:t>×</m:t>
                      </m:r>
                      <m:d>
                        <m:dPr>
                          <m:begChr m:val="["/>
                          <m:endChr m:val="]"/>
                          <m:ctrlPr>
                            <a:rPr lang="zh-TW" altLang="en-US" sz="1000" i="1">
                              <a:latin typeface="Cambria Math" panose="02040503050406030204" pitchFamily="18" charset="0"/>
                            </a:rPr>
                          </m:ctrlPr>
                        </m:dPr>
                        <m:e>
                          <m:r>
                            <a:rPr lang="zh-TW" altLang="en-US" sz="1000" i="1">
                              <a:latin typeface="Cambria Math" panose="02040503050406030204" pitchFamily="18" charset="0"/>
                            </a:rPr>
                            <m:t>𝑚𝑎𝑥</m:t>
                          </m:r>
                          <m:d>
                            <m:dPr>
                              <m:begChr m:val="{"/>
                              <m:endChr m:val="}"/>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𝜂</m:t>
                                  </m:r>
                                </m:e>
                                <m:sub>
                                  <m:r>
                                    <a:rPr lang="zh-TW" altLang="en-US" sz="1000" i="1">
                                      <a:latin typeface="Cambria Math" panose="02040503050406030204" pitchFamily="18" charset="0"/>
                                    </a:rPr>
                                    <m:t>𝑒𝑓𝑓</m:t>
                                  </m:r>
                                </m:sub>
                              </m:sSub>
                              <m:r>
                                <a:rPr lang="en-US" altLang="zh-TW" sz="1000" b="0" i="1" smtClean="0">
                                  <a:latin typeface="Cambria Math" panose="02040503050406030204" pitchFamily="18" charset="0"/>
                                </a:rPr>
                                <m:t>,</m:t>
                              </m:r>
                              <m:r>
                                <a:rPr lang="zh-TW" altLang="en-US" sz="1000" i="1">
                                  <a:latin typeface="Cambria Math" panose="02040503050406030204" pitchFamily="18" charset="0"/>
                                </a:rPr>
                                <m:t>𝜂</m:t>
                              </m:r>
                            </m:e>
                          </m:d>
                          <m:r>
                            <a:rPr lang="zh-TW" altLang="en-US" sz="1000">
                              <a:latin typeface="Cambria Math" panose="02040503050406030204" pitchFamily="18" charset="0"/>
                            </a:rPr>
                            <m:t>−</m:t>
                          </m:r>
                          <m:r>
                            <a:rPr lang="zh-TW" altLang="en-US" sz="1000" i="1">
                              <a:latin typeface="Cambria Math" panose="02040503050406030204" pitchFamily="18" charset="0"/>
                            </a:rPr>
                            <m:t>𝑚𝑖𝑛</m:t>
                          </m:r>
                          <m:d>
                            <m:dPr>
                              <m:begChr m:val="{"/>
                              <m:endChr m:val="}"/>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𝜂</m:t>
                                  </m:r>
                                </m:e>
                                <m:sub>
                                  <m:r>
                                    <a:rPr lang="zh-TW" altLang="en-US" sz="1000" i="1">
                                      <a:latin typeface="Cambria Math" panose="02040503050406030204" pitchFamily="18" charset="0"/>
                                    </a:rPr>
                                    <m:t>𝑒𝑓𝑓</m:t>
                                  </m:r>
                                </m:sub>
                              </m:sSub>
                              <m:r>
                                <a:rPr lang="en-US" altLang="zh-TW" sz="1000" b="0" i="1" smtClean="0">
                                  <a:latin typeface="Cambria Math" panose="02040503050406030204" pitchFamily="18" charset="0"/>
                                </a:rPr>
                                <m:t>,</m:t>
                              </m:r>
                              <m:r>
                                <a:rPr lang="zh-TW" altLang="en-US" sz="1000" i="1">
                                  <a:latin typeface="Cambria Math" panose="02040503050406030204" pitchFamily="18" charset="0"/>
                                </a:rPr>
                                <m:t>𝜂</m:t>
                              </m:r>
                            </m:e>
                          </m:d>
                        </m:e>
                      </m:d>
                    </m:oMath>
                  </m:oMathPara>
                </a14:m>
                <a:endParaRPr lang="en-US" altLang="zh-TW" sz="1000" i="1" dirty="0">
                  <a:latin typeface="Cambria Math" panose="02040503050406030204" pitchFamily="18" charset="0"/>
                </a:endParaRPr>
              </a:p>
              <a:p>
                <a:endParaRPr lang="zh-TW" altLang="en-US" sz="1050" dirty="0"/>
              </a:p>
            </p:txBody>
          </p:sp>
        </mc:Choice>
        <mc:Fallback xmlns="">
          <p:sp>
            <p:nvSpPr>
              <p:cNvPr id="16" name="矩形 15">
                <a:extLst>
                  <a:ext uri="{FF2B5EF4-FFF2-40B4-BE49-F238E27FC236}">
                    <a16:creationId xmlns:a16="http://schemas.microsoft.com/office/drawing/2014/main" id="{AC9856BA-54C7-4F9F-9F0F-085B5E8F490D}"/>
                  </a:ext>
                </a:extLst>
              </p:cNvPr>
              <p:cNvSpPr>
                <a:spLocks noRot="1" noChangeAspect="1" noMove="1" noResize="1" noEditPoints="1" noAdjustHandles="1" noChangeArrowheads="1" noChangeShapeType="1" noTextEdit="1"/>
              </p:cNvSpPr>
              <p:nvPr/>
            </p:nvSpPr>
            <p:spPr>
              <a:xfrm>
                <a:off x="869567" y="1616158"/>
                <a:ext cx="4594574" cy="1034642"/>
              </a:xfrm>
              <a:prstGeom prst="rect">
                <a:avLst/>
              </a:prstGeom>
              <a:blipFill>
                <a:blip r:embed="rId3"/>
                <a:stretch>
                  <a:fillRect l="-4250" t="-29412" b="-358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53947587-A800-4D4B-9B59-81CF28E406CC}"/>
                  </a:ext>
                </a:extLst>
              </p:cNvPr>
              <p:cNvSpPr txBox="1"/>
              <p:nvPr/>
            </p:nvSpPr>
            <p:spPr>
              <a:xfrm>
                <a:off x="5962330" y="754677"/>
                <a:ext cx="2198551" cy="2387385"/>
              </a:xfrm>
              <a:prstGeom prst="rect">
                <a:avLst/>
              </a:prstGeom>
              <a:noFill/>
            </p:spPr>
            <p:txBody>
              <a:bodyPr wrap="none" rtlCol="0">
                <a:spAutoFit/>
              </a:bodyPr>
              <a:lstStyle/>
              <a:p>
                <a:pPr>
                  <a:lnSpc>
                    <a:spcPct val="150000"/>
                  </a:lnSpc>
                </a:pPr>
                <a:r>
                  <a:rPr lang="en-US" altLang="zh-TW" sz="900" dirty="0">
                    <a:latin typeface="Montserrat" panose="02020500000000000000" charset="0"/>
                    <a:cs typeface="Times New Roman" panose="02020603050405020304" pitchFamily="18" charset="0"/>
                  </a:rPr>
                  <a:t>n</a:t>
                </a:r>
                <a:r>
                  <a:rPr lang="zh-TW" altLang="en-US" sz="900" dirty="0">
                    <a:latin typeface="Times New Roman" panose="02020603050405020304" pitchFamily="18" charset="0"/>
                    <a:cs typeface="Times New Roman" panose="02020603050405020304" pitchFamily="18" charset="0"/>
                  </a:rPr>
                  <a:t>：</a:t>
                </a:r>
                <a:r>
                  <a:rPr lang="en-US" altLang="zh-TW" sz="900" dirty="0">
                    <a:latin typeface="Montserrat" panose="02020500000000000000" charset="0"/>
                    <a:cs typeface="Times New Roman" panose="02020603050405020304" pitchFamily="18" charset="0"/>
                  </a:rPr>
                  <a:t>number of signals(SPDC)</a:t>
                </a:r>
              </a:p>
              <a:p>
                <a:pPr>
                  <a:lnSpc>
                    <a:spcPct val="150000"/>
                  </a:lnSpc>
                </a:pPr>
                <a14:m>
                  <m:oMath xmlns:m="http://schemas.openxmlformats.org/officeDocument/2006/math">
                    <m:r>
                      <a:rPr lang="en-US" altLang="zh-TW" sz="900" i="1">
                        <a:latin typeface="Cambria Math" panose="02040503050406030204" pitchFamily="18" charset="0"/>
                      </a:rPr>
                      <m:t>𝑙</m:t>
                    </m:r>
                  </m:oMath>
                </a14:m>
                <a:r>
                  <a:rPr lang="zh-TW" altLang="en-US" sz="900" dirty="0">
                    <a:latin typeface="Montserrat" panose="02020500000000000000" charset="0"/>
                    <a:cs typeface="Times New Roman" panose="02020603050405020304" pitchFamily="18" charset="0"/>
                  </a:rPr>
                  <a:t>：</a:t>
                </a:r>
                <a:r>
                  <a:rPr lang="en-US" altLang="zh-TW" sz="900" dirty="0">
                    <a:latin typeface="Montserrat" panose="02020500000000000000" charset="0"/>
                    <a:cs typeface="Times New Roman" panose="02020603050405020304" pitchFamily="18" charset="0"/>
                  </a:rPr>
                  <a:t> number of signals(EO-PMC)</a:t>
                </a:r>
              </a:p>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zh-TW" altLang="en-US" sz="900" i="1">
                            <a:latin typeface="Cambria Math" panose="02040503050406030204" pitchFamily="18" charset="0"/>
                          </a:rPr>
                          <m:t>𝜂</m:t>
                        </m:r>
                      </m:e>
                      <m:sub>
                        <m:r>
                          <a:rPr lang="en-US" altLang="zh-TW" sz="900" i="1">
                            <a:latin typeface="Cambria Math" panose="02040503050406030204" pitchFamily="18" charset="0"/>
                          </a:rPr>
                          <m:t>𝑆𝑃𝐷𝐶</m:t>
                        </m:r>
                      </m:sub>
                    </m:sSub>
                  </m:oMath>
                </a14:m>
                <a:r>
                  <a:rPr lang="zh-TW" altLang="en-US" sz="900" dirty="0">
                    <a:latin typeface="Montserrat" panose="02020500000000000000" charset="0"/>
                    <a:cs typeface="Times New Roman" panose="02020603050405020304" pitchFamily="18" charset="0"/>
                  </a:rPr>
                  <a:t>：</a:t>
                </a:r>
                <a:r>
                  <a:rPr lang="en-US" altLang="zh-TW" sz="900" dirty="0">
                    <a:latin typeface="Montserrat" panose="02020500000000000000" charset="0"/>
                    <a:cs typeface="Times New Roman" panose="02020603050405020304" pitchFamily="18" charset="0"/>
                  </a:rPr>
                  <a:t>efficiency target(SPDC)</a:t>
                </a:r>
              </a:p>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zh-TW" altLang="en-US" sz="900" i="1">
                            <a:latin typeface="Cambria Math" panose="02040503050406030204" pitchFamily="18" charset="0"/>
                          </a:rPr>
                          <m:t>𝜂</m:t>
                        </m:r>
                      </m:e>
                      <m:sub>
                        <m:r>
                          <a:rPr lang="zh-TW" altLang="en-US" sz="900" i="1">
                            <a:latin typeface="Cambria Math" panose="02040503050406030204" pitchFamily="18" charset="0"/>
                          </a:rPr>
                          <m:t>𝑒𝑓𝑓</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anose="02020603050405020304" pitchFamily="18" charset="0"/>
                  </a:rPr>
                  <a:t>efficiency(SPDC)</a:t>
                </a:r>
              </a:p>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zh-TW" altLang="en-US" sz="900" i="1">
                            <a:latin typeface="Cambria Math" panose="02040503050406030204" pitchFamily="18" charset="0"/>
                          </a:rPr>
                          <m:t>𝑤</m:t>
                        </m:r>
                      </m:e>
                      <m:sub>
                        <m:r>
                          <a:rPr lang="zh-TW" altLang="en-US" sz="900" i="1">
                            <a:latin typeface="Cambria Math" panose="02040503050406030204" pitchFamily="18" charset="0"/>
                          </a:rPr>
                          <m:t>𝑖</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anose="02020603050405020304" pitchFamily="18" charset="0"/>
                  </a:rPr>
                  <a:t>efficiency weighting(SPDC)</a:t>
                </a:r>
              </a:p>
              <a:p>
                <a:pPr>
                  <a:lnSpc>
                    <a:spcPct val="150000"/>
                  </a:lnSpc>
                </a:pPr>
                <a14:m>
                  <m:oMath xmlns:m="http://schemas.openxmlformats.org/officeDocument/2006/math">
                    <m:r>
                      <a:rPr lang="zh-TW" altLang="en-US" sz="900" i="1">
                        <a:latin typeface="Cambria Math" panose="02040503050406030204" pitchFamily="18" charset="0"/>
                      </a:rPr>
                      <m:t>𝛽</m:t>
                    </m:r>
                  </m:oMath>
                </a14:m>
                <a:r>
                  <a:rPr lang="zh-TW" altLang="en-US" sz="900" dirty="0">
                    <a:latin typeface="Montserrat" panose="02020500000000000000" charset="0"/>
                    <a:cs typeface="Times New Roman" pitchFamily="18" charset="0"/>
                  </a:rPr>
                  <a:t>：</a:t>
                </a:r>
                <a:r>
                  <a:rPr lang="en-US" altLang="zh-TW" sz="900" i="1" dirty="0">
                    <a:latin typeface="Montserrat" panose="02020500000000000000" charset="0"/>
                    <a:cs typeface="Times New Roman" pitchFamily="18" charset="0"/>
                  </a:rPr>
                  <a:t> </a:t>
                </a:r>
                <a:r>
                  <a:rPr lang="en-US" altLang="zh-TW" sz="900" dirty="0">
                    <a:latin typeface="Montserrat" panose="02020500000000000000" charset="0"/>
                    <a:cs typeface="Times New Roman" panose="02020603050405020304" pitchFamily="18" charset="0"/>
                  </a:rPr>
                  <a:t>equalization weighting</a:t>
                </a:r>
              </a:p>
              <a:p>
                <a:pPr>
                  <a:lnSpc>
                    <a:spcPct val="150000"/>
                  </a:lnSpc>
                </a:pPr>
                <a14:m>
                  <m:oMath xmlns:m="http://schemas.openxmlformats.org/officeDocument/2006/math">
                    <m:sSub>
                      <m:sSubPr>
                        <m:ctrlPr>
                          <a:rPr lang="zh-TW" altLang="zh-TW" sz="900" i="1">
                            <a:latin typeface="Cambria Math" panose="02040503050406030204" pitchFamily="18" charset="0"/>
                          </a:rPr>
                        </m:ctrlPr>
                      </m:sSubPr>
                      <m:e>
                        <m:r>
                          <a:rPr lang="zh-TW" altLang="en-US" sz="900" i="1">
                            <a:latin typeface="Cambria Math" panose="02040503050406030204" pitchFamily="18" charset="0"/>
                          </a:rPr>
                          <m:t>𝜂</m:t>
                        </m:r>
                      </m:e>
                      <m:sub>
                        <m:r>
                          <a:rPr lang="en-US" altLang="zh-TW" sz="900" i="1">
                            <a:latin typeface="Cambria Math" panose="02040503050406030204" pitchFamily="18" charset="0"/>
                          </a:rPr>
                          <m:t>𝐸𝑂𝑃𝑀𝐶</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anose="02020603050405020304" pitchFamily="18" charset="0"/>
                  </a:rPr>
                  <a:t> efficiency target(EO-PMC)</a:t>
                </a:r>
              </a:p>
              <a:p>
                <a:pPr>
                  <a:lnSpc>
                    <a:spcPct val="150000"/>
                  </a:lnSpc>
                </a:pPr>
                <a14:m>
                  <m:oMath xmlns:m="http://schemas.openxmlformats.org/officeDocument/2006/math">
                    <m:sSub>
                      <m:sSubPr>
                        <m:ctrlPr>
                          <a:rPr lang="zh-TW" altLang="zh-TW" sz="900" i="1">
                            <a:latin typeface="Cambria Math" panose="02040503050406030204" pitchFamily="18" charset="0"/>
                          </a:rPr>
                        </m:ctrlPr>
                      </m:sSubPr>
                      <m:e>
                        <m:r>
                          <a:rPr lang="zh-TW" altLang="en-US" sz="900" i="1">
                            <a:latin typeface="Cambria Math" panose="02040503050406030204" pitchFamily="18" charset="0"/>
                          </a:rPr>
                          <m:t>𝜂</m:t>
                        </m:r>
                      </m:e>
                      <m:sub>
                        <m:r>
                          <a:rPr lang="en-US" altLang="zh-TW" sz="900" i="1">
                            <a:latin typeface="Cambria Math" panose="02040503050406030204" pitchFamily="18" charset="0"/>
                          </a:rPr>
                          <m:t>𝑐𝑎𝑙</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anose="02020603050405020304" pitchFamily="18" charset="0"/>
                  </a:rPr>
                  <a:t> efficiency(EO-PMC)</a:t>
                </a:r>
              </a:p>
              <a:p>
                <a:pPr>
                  <a:lnSpc>
                    <a:spcPct val="150000"/>
                  </a:lnSpc>
                </a:pPr>
                <a14:m>
                  <m:oMath xmlns:m="http://schemas.openxmlformats.org/officeDocument/2006/math">
                    <m:sSub>
                      <m:sSubPr>
                        <m:ctrlPr>
                          <a:rPr lang="zh-TW" altLang="zh-TW" sz="900" i="1">
                            <a:latin typeface="Cambria Math" panose="02040503050406030204" pitchFamily="18" charset="0"/>
                          </a:rPr>
                        </m:ctrlPr>
                      </m:sSubPr>
                      <m:e>
                        <m:r>
                          <a:rPr lang="en-US" altLang="zh-TW" sz="900" i="1">
                            <a:latin typeface="Cambria Math" panose="02040503050406030204" pitchFamily="18" charset="0"/>
                          </a:rPr>
                          <m:t>𝑤</m:t>
                        </m:r>
                      </m:e>
                      <m:sub>
                        <m:r>
                          <a:rPr lang="en-US" altLang="zh-TW" sz="900" b="0" i="1" smtClean="0">
                            <a:latin typeface="Cambria Math" panose="02040503050406030204" pitchFamily="18" charset="0"/>
                          </a:rPr>
                          <m:t>𝑗</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anose="02020603050405020304" pitchFamily="18" charset="0"/>
                  </a:rPr>
                  <a:t> efficiency</a:t>
                </a:r>
                <a:r>
                  <a:rPr lang="zh-TW" altLang="en-US" sz="900" dirty="0">
                    <a:latin typeface="Montserrat" panose="02020500000000000000" charset="0"/>
                    <a:cs typeface="Times New Roman" pitchFamily="18" charset="0"/>
                  </a:rPr>
                  <a:t> </a:t>
                </a:r>
                <a:r>
                  <a:rPr lang="en-US" altLang="zh-TW" sz="900" dirty="0">
                    <a:latin typeface="Montserrat" panose="02020500000000000000" charset="0"/>
                    <a:cs typeface="Times New Roman" panose="02020603050405020304" pitchFamily="18" charset="0"/>
                  </a:rPr>
                  <a:t>weighting(EO-PMC)</a:t>
                </a:r>
              </a:p>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en-US" altLang="zh-TW" sz="900" i="1">
                            <a:latin typeface="Cambria Math" panose="02040503050406030204" pitchFamily="18" charset="0"/>
                          </a:rPr>
                          <m:t>𝑥</m:t>
                        </m:r>
                      </m:e>
                      <m:sub>
                        <m:r>
                          <a:rPr lang="zh-TW" altLang="en-US" sz="900" i="1">
                            <a:latin typeface="Cambria Math" panose="02040503050406030204" pitchFamily="18" charset="0"/>
                          </a:rPr>
                          <m:t>𝑛</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anose="02020603050405020304" pitchFamily="18" charset="0"/>
                  </a:rPr>
                  <a:t>domain position</a:t>
                </a:r>
              </a:p>
              <a:p>
                <a:pPr>
                  <a:lnSpc>
                    <a:spcPct val="150000"/>
                  </a:lnSpc>
                </a:pPr>
                <a14:m>
                  <m:oMath xmlns:m="http://schemas.openxmlformats.org/officeDocument/2006/math">
                    <m:r>
                      <a:rPr lang="en-US" altLang="zh-TW" sz="900" b="0" i="1" smtClean="0">
                        <a:latin typeface="Cambria Math" panose="02040503050406030204" pitchFamily="18" charset="0"/>
                      </a:rPr>
                      <m:t>𝑁</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anose="02020603050405020304" pitchFamily="18" charset="0"/>
                  </a:rPr>
                  <a:t>number of domain</a:t>
                </a:r>
              </a:p>
            </p:txBody>
          </p:sp>
        </mc:Choice>
        <mc:Fallback xmlns="">
          <p:sp>
            <p:nvSpPr>
              <p:cNvPr id="17" name="文字方塊 16">
                <a:extLst>
                  <a:ext uri="{FF2B5EF4-FFF2-40B4-BE49-F238E27FC236}">
                    <a16:creationId xmlns:a16="http://schemas.microsoft.com/office/drawing/2014/main" id="{53947587-A800-4D4B-9B59-81CF28E406CC}"/>
                  </a:ext>
                </a:extLst>
              </p:cNvPr>
              <p:cNvSpPr txBox="1">
                <a:spLocks noRot="1" noChangeAspect="1" noMove="1" noResize="1" noEditPoints="1" noAdjustHandles="1" noChangeArrowheads="1" noChangeShapeType="1" noTextEdit="1"/>
              </p:cNvSpPr>
              <p:nvPr/>
            </p:nvSpPr>
            <p:spPr>
              <a:xfrm>
                <a:off x="5962330" y="754677"/>
                <a:ext cx="2198551" cy="2387385"/>
              </a:xfrm>
              <a:prstGeom prst="rect">
                <a:avLst/>
              </a:prstGeom>
              <a:blipFill>
                <a:blip r:embed="rId4"/>
                <a:stretch>
                  <a:fillRect b="-2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F70A26DC-0B60-41E3-8CFB-926F13DA9745}"/>
                  </a:ext>
                </a:extLst>
              </p:cNvPr>
              <p:cNvGraphicFramePr>
                <a:graphicFrameLocks noGrp="1"/>
              </p:cNvGraphicFramePr>
              <p:nvPr>
                <p:extLst>
                  <p:ext uri="{D42A27DB-BD31-4B8C-83A1-F6EECF244321}">
                    <p14:modId xmlns:p14="http://schemas.microsoft.com/office/powerpoint/2010/main" val="2256051232"/>
                  </p:ext>
                </p:extLst>
              </p:nvPr>
            </p:nvGraphicFramePr>
            <p:xfrm>
              <a:off x="6073776" y="3434690"/>
              <a:ext cx="2036520" cy="1440180"/>
            </p:xfrm>
            <a:graphic>
              <a:graphicData uri="http://schemas.openxmlformats.org/drawingml/2006/table">
                <a:tbl>
                  <a:tblPr firstRow="1" firstCol="1" bandRow="1">
                    <a:tableStyleId>{98252408-292B-446D-B347-1ABCC8AC41D4}</a:tableStyleId>
                  </a:tblPr>
                  <a:tblGrid>
                    <a:gridCol w="1049984">
                      <a:extLst>
                        <a:ext uri="{9D8B030D-6E8A-4147-A177-3AD203B41FA5}">
                          <a16:colId xmlns:a16="http://schemas.microsoft.com/office/drawing/2014/main" val="2488836331"/>
                        </a:ext>
                      </a:extLst>
                    </a:gridCol>
                    <a:gridCol w="986536">
                      <a:extLst>
                        <a:ext uri="{9D8B030D-6E8A-4147-A177-3AD203B41FA5}">
                          <a16:colId xmlns:a16="http://schemas.microsoft.com/office/drawing/2014/main" val="1720333333"/>
                        </a:ext>
                      </a:extLst>
                    </a:gridCol>
                  </a:tblGrid>
                  <a:tr h="185360">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r>
                                  <a:rPr lang="zh-TW" altLang="en-US" sz="900" i="1" smtClean="0">
                                    <a:latin typeface="Cambria Math" panose="02040503050406030204" pitchFamily="18" charset="0"/>
                                  </a:rPr>
                                  <m:t>𝑛</m:t>
                                </m:r>
                              </m:oMath>
                            </m:oMathPara>
                          </a14:m>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b="0" kern="100" dirty="0">
                              <a:effectLst/>
                              <a:latin typeface="Montserrat" panose="02020500000000000000" charset="0"/>
                              <a:ea typeface="Times New Roman" panose="02020603050405020304" pitchFamily="18" charset="0"/>
                              <a:cs typeface="Times New Roman" panose="02020603050405020304" pitchFamily="18" charset="0"/>
                            </a:rPr>
                            <a:t>1 (1570nm)</a:t>
                          </a:r>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9055456"/>
                      </a:ext>
                    </a:extLst>
                  </a:tr>
                  <a:tr h="185360">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TW" altLang="en-US" sz="900" b="0" i="1" smtClean="0">
                                        <a:latin typeface="Cambria Math" panose="02040503050406030204" pitchFamily="18" charset="0"/>
                                      </a:rPr>
                                    </m:ctrlPr>
                                  </m:sSubPr>
                                  <m:e>
                                    <m:r>
                                      <a:rPr lang="zh-TW" altLang="en-US" sz="900" b="0" i="1">
                                        <a:latin typeface="Cambria Math" panose="02040503050406030204" pitchFamily="18" charset="0"/>
                                      </a:rPr>
                                      <m:t>𝜂</m:t>
                                    </m:r>
                                  </m:e>
                                  <m:sub>
                                    <m:r>
                                      <a:rPr lang="en-US" altLang="zh-TW" sz="900" b="0" i="1" smtClean="0">
                                        <a:latin typeface="Cambria Math" panose="02040503050406030204" pitchFamily="18" charset="0"/>
                                      </a:rPr>
                                      <m:t>𝑆𝑃𝐷𝐶</m:t>
                                    </m:r>
                                  </m:sub>
                                </m:sSub>
                              </m:oMath>
                            </m:oMathPara>
                          </a14:m>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2/</a:t>
                          </a:r>
                          <a14:m>
                            <m:oMath xmlns:m="http://schemas.openxmlformats.org/officeDocument/2006/math">
                              <m:r>
                                <a:rPr lang="zh-TW" altLang="en-US" sz="900" i="1" smtClean="0">
                                  <a:latin typeface="Cambria Math" panose="02040503050406030204" pitchFamily="18" charset="0"/>
                                </a:rPr>
                                <m:t>𝜋</m:t>
                              </m:r>
                            </m:oMath>
                          </a14:m>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5024638"/>
                      </a:ext>
                    </a:extLst>
                  </a:tr>
                  <a:tr h="185360">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TW" altLang="en-US" sz="900" b="0" i="1" smtClean="0">
                                        <a:latin typeface="Cambria Math" panose="02040503050406030204" pitchFamily="18" charset="0"/>
                                      </a:rPr>
                                    </m:ctrlPr>
                                  </m:sSubPr>
                                  <m:e>
                                    <m:r>
                                      <a:rPr lang="zh-TW" altLang="en-US" sz="900" b="0" i="1">
                                        <a:latin typeface="Cambria Math" panose="02040503050406030204" pitchFamily="18" charset="0"/>
                                      </a:rPr>
                                      <m:t>𝑤</m:t>
                                    </m:r>
                                  </m:e>
                                  <m:sub>
                                    <m:r>
                                      <a:rPr lang="en-US" altLang="zh-TW" sz="900" b="0" i="1" smtClean="0">
                                        <a:latin typeface="Cambria Math" panose="02040503050406030204" pitchFamily="18" charset="0"/>
                                      </a:rPr>
                                      <m:t>1</m:t>
                                    </m:r>
                                  </m:sub>
                                </m:sSub>
                              </m:oMath>
                            </m:oMathPara>
                          </a14:m>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7157521"/>
                      </a:ext>
                    </a:extLst>
                  </a:tr>
                  <a:tr h="185360">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altLang="zh-TW" sz="900" i="1" smtClean="0">
                                    <a:latin typeface="Cambria Math" panose="02040503050406030204" pitchFamily="18" charset="0"/>
                                  </a:rPr>
                                  <m:t>𝑙</m:t>
                                </m:r>
                              </m:oMath>
                            </m:oMathPara>
                          </a14:m>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30</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40501"/>
                      </a:ext>
                    </a:extLst>
                  </a:tr>
                  <a:tr h="190195">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TW" altLang="zh-TW" sz="900" i="1" smtClean="0">
                                        <a:latin typeface="Cambria Math" panose="02040503050406030204" pitchFamily="18" charset="0"/>
                                      </a:rPr>
                                    </m:ctrlPr>
                                  </m:sSubPr>
                                  <m:e>
                                    <m:r>
                                      <a:rPr lang="zh-TW" altLang="en-US" sz="900" i="1">
                                        <a:latin typeface="Cambria Math" panose="02040503050406030204" pitchFamily="18" charset="0"/>
                                      </a:rPr>
                                      <m:t>𝜂</m:t>
                                    </m:r>
                                  </m:e>
                                  <m:sub>
                                    <m:r>
                                      <a:rPr lang="en-US" altLang="zh-TW" sz="900" b="0" i="1" smtClean="0">
                                        <a:latin typeface="Cambria Math" panose="02040503050406030204" pitchFamily="18" charset="0"/>
                                      </a:rPr>
                                      <m:t>𝐸𝑂𝑃𝑀𝐶</m:t>
                                    </m:r>
                                  </m:sub>
                                </m:sSub>
                              </m:oMath>
                            </m:oMathPara>
                          </a14:m>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23264513"/>
                      </a:ext>
                    </a:extLst>
                  </a:tr>
                  <a:tr h="190195">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TW" altLang="zh-TW" sz="900" i="1" smtClean="0">
                                        <a:latin typeface="Cambria Math" panose="02040503050406030204" pitchFamily="18" charset="0"/>
                                      </a:rPr>
                                    </m:ctrlPr>
                                  </m:sSubPr>
                                  <m:e>
                                    <m:r>
                                      <a:rPr lang="en-US" altLang="zh-TW" sz="900" i="1">
                                        <a:latin typeface="Cambria Math" panose="02040503050406030204" pitchFamily="18" charset="0"/>
                                      </a:rPr>
                                      <m:t>𝑤</m:t>
                                    </m:r>
                                  </m:e>
                                  <m:sub>
                                    <m:r>
                                      <a:rPr lang="en-US" altLang="zh-TW" sz="900" b="0" i="1" smtClean="0">
                                        <a:latin typeface="Cambria Math" panose="02040503050406030204" pitchFamily="18" charset="0"/>
                                      </a:rPr>
                                      <m:t>1</m:t>
                                    </m:r>
                                  </m:sub>
                                </m:sSub>
                                <m:r>
                                  <a:rPr lang="en-US" altLang="zh-TW" sz="900" i="1" smtClean="0">
                                    <a:latin typeface="Cambria Math" panose="02040503050406030204" pitchFamily="18" charset="0"/>
                                  </a:rPr>
                                  <m:t>~</m:t>
                                </m:r>
                                <m:sSub>
                                  <m:sSubPr>
                                    <m:ctrlPr>
                                      <a:rPr lang="zh-TW" altLang="zh-TW" sz="900" i="1" smtClean="0">
                                        <a:latin typeface="Cambria Math" panose="02040503050406030204" pitchFamily="18" charset="0"/>
                                      </a:rPr>
                                    </m:ctrlPr>
                                  </m:sSubPr>
                                  <m:e>
                                    <m:r>
                                      <a:rPr lang="en-US" altLang="zh-TW" sz="900" i="1">
                                        <a:latin typeface="Cambria Math" panose="02040503050406030204" pitchFamily="18" charset="0"/>
                                      </a:rPr>
                                      <m:t>𝑤</m:t>
                                    </m:r>
                                  </m:e>
                                  <m:sub>
                                    <m:r>
                                      <a:rPr lang="en-US" altLang="zh-TW" sz="900" i="1" smtClean="0">
                                        <a:latin typeface="Cambria Math" panose="02040503050406030204" pitchFamily="18" charset="0"/>
                                      </a:rPr>
                                      <m:t>30</m:t>
                                    </m:r>
                                  </m:sub>
                                </m:sSub>
                              </m:oMath>
                            </m:oMathPara>
                          </a14:m>
                          <a:endParaRPr lang="zh-TW" sz="900" b="0" kern="1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3091282"/>
                      </a:ext>
                    </a:extLst>
                  </a:tr>
                  <a:tr h="190195">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r>
                                  <a:rPr lang="zh-TW" altLang="en-US" sz="900" b="0" i="1" smtClean="0">
                                    <a:latin typeface="Cambria Math" panose="02040503050406030204" pitchFamily="18" charset="0"/>
                                  </a:rPr>
                                  <m:t>𝛽</m:t>
                                </m:r>
                              </m:oMath>
                            </m:oMathPara>
                          </a14:m>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 / 70</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1697391"/>
                      </a:ext>
                    </a:extLst>
                  </a:tr>
                </a:tbl>
              </a:graphicData>
            </a:graphic>
          </p:graphicFrame>
        </mc:Choice>
        <mc:Fallback xmlns="">
          <p:graphicFrame>
            <p:nvGraphicFramePr>
              <p:cNvPr id="18" name="表格 17">
                <a:extLst>
                  <a:ext uri="{FF2B5EF4-FFF2-40B4-BE49-F238E27FC236}">
                    <a16:creationId xmlns:a16="http://schemas.microsoft.com/office/drawing/2014/main" id="{F70A26DC-0B60-41E3-8CFB-926F13DA9745}"/>
                  </a:ext>
                </a:extLst>
              </p:cNvPr>
              <p:cNvGraphicFramePr>
                <a:graphicFrameLocks noGrp="1"/>
              </p:cNvGraphicFramePr>
              <p:nvPr>
                <p:extLst>
                  <p:ext uri="{D42A27DB-BD31-4B8C-83A1-F6EECF244321}">
                    <p14:modId xmlns:p14="http://schemas.microsoft.com/office/powerpoint/2010/main" val="2256051232"/>
                  </p:ext>
                </p:extLst>
              </p:nvPr>
            </p:nvGraphicFramePr>
            <p:xfrm>
              <a:off x="6073776" y="3434690"/>
              <a:ext cx="2036520" cy="1440180"/>
            </p:xfrm>
            <a:graphic>
              <a:graphicData uri="http://schemas.openxmlformats.org/drawingml/2006/table">
                <a:tbl>
                  <a:tblPr firstRow="1" firstCol="1" bandRow="1">
                    <a:tableStyleId>{98252408-292B-446D-B347-1ABCC8AC41D4}</a:tableStyleId>
                  </a:tblPr>
                  <a:tblGrid>
                    <a:gridCol w="1049984">
                      <a:extLst>
                        <a:ext uri="{9D8B030D-6E8A-4147-A177-3AD203B41FA5}">
                          <a16:colId xmlns:a16="http://schemas.microsoft.com/office/drawing/2014/main" val="2488836331"/>
                        </a:ext>
                      </a:extLst>
                    </a:gridCol>
                    <a:gridCol w="986536">
                      <a:extLst>
                        <a:ext uri="{9D8B030D-6E8A-4147-A177-3AD203B41FA5}">
                          <a16:colId xmlns:a16="http://schemas.microsoft.com/office/drawing/2014/main" val="1720333333"/>
                        </a:ext>
                      </a:extLst>
                    </a:gridCol>
                  </a:tblGrid>
                  <a:tr h="205740">
                    <a:tc>
                      <a:txBody>
                        <a:bodyPr/>
                        <a:lstStyle/>
                        <a:p>
                          <a:endParaRPr lang="zh-TW"/>
                        </a:p>
                      </a:txBody>
                      <a:tcPr marL="68580" marR="68580" marT="0" marB="0">
                        <a:blipFill>
                          <a:blip r:embed="rId5"/>
                          <a:stretch>
                            <a:fillRect l="-578" t="-2941" r="-94220" b="-620588"/>
                          </a:stretch>
                        </a:blipFill>
                      </a:tcPr>
                    </a:tc>
                    <a:tc>
                      <a:txBody>
                        <a:bodyPr/>
                        <a:lstStyle/>
                        <a:p>
                          <a:pPr algn="ctr">
                            <a:lnSpc>
                              <a:spcPct val="150000"/>
                            </a:lnSpc>
                            <a:spcAft>
                              <a:spcPts val="0"/>
                            </a:spcAft>
                          </a:pPr>
                          <a:r>
                            <a:rPr lang="en-US" altLang="zh-TW" sz="900" b="0" kern="100" dirty="0">
                              <a:effectLst/>
                              <a:latin typeface="Montserrat" panose="02020500000000000000" charset="0"/>
                              <a:ea typeface="Times New Roman" panose="02020603050405020304" pitchFamily="18" charset="0"/>
                              <a:cs typeface="Times New Roman" panose="02020603050405020304" pitchFamily="18" charset="0"/>
                            </a:rPr>
                            <a:t>1 (1570nm)</a:t>
                          </a:r>
                          <a:endParaRPr lang="zh-TW" sz="900" b="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9055456"/>
                      </a:ext>
                    </a:extLst>
                  </a:tr>
                  <a:tr h="205740">
                    <a:tc>
                      <a:txBody>
                        <a:bodyPr/>
                        <a:lstStyle/>
                        <a:p>
                          <a:endParaRPr lang="zh-TW"/>
                        </a:p>
                      </a:txBody>
                      <a:tcPr marL="68580" marR="68580" marT="0" marB="0">
                        <a:blipFill>
                          <a:blip r:embed="rId5"/>
                          <a:stretch>
                            <a:fillRect l="-578" t="-102941" r="-94220" b="-520588"/>
                          </a:stretch>
                        </a:blipFill>
                      </a:tcPr>
                    </a:tc>
                    <a:tc>
                      <a:txBody>
                        <a:bodyPr/>
                        <a:lstStyle/>
                        <a:p>
                          <a:endParaRPr lang="zh-TW"/>
                        </a:p>
                      </a:txBody>
                      <a:tcPr marL="68580" marR="68580" marT="0" marB="0">
                        <a:blipFill>
                          <a:blip r:embed="rId5"/>
                          <a:stretch>
                            <a:fillRect l="-107407" t="-102941" r="-617" b="-520588"/>
                          </a:stretch>
                        </a:blipFill>
                      </a:tcPr>
                    </a:tc>
                    <a:extLst>
                      <a:ext uri="{0D108BD9-81ED-4DB2-BD59-A6C34878D82A}">
                        <a16:rowId xmlns:a16="http://schemas.microsoft.com/office/drawing/2014/main" val="2465024638"/>
                      </a:ext>
                    </a:extLst>
                  </a:tr>
                  <a:tr h="205740">
                    <a:tc>
                      <a:txBody>
                        <a:bodyPr/>
                        <a:lstStyle/>
                        <a:p>
                          <a:endParaRPr lang="zh-TW"/>
                        </a:p>
                      </a:txBody>
                      <a:tcPr marL="68580" marR="68580" marT="0" marB="0">
                        <a:blipFill>
                          <a:blip r:embed="rId5"/>
                          <a:stretch>
                            <a:fillRect l="-578" t="-202941" r="-94220" b="-420588"/>
                          </a:stretch>
                        </a:blipFill>
                      </a:tcPr>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7157521"/>
                      </a:ext>
                    </a:extLst>
                  </a:tr>
                  <a:tr h="205740">
                    <a:tc>
                      <a:txBody>
                        <a:bodyPr/>
                        <a:lstStyle/>
                        <a:p>
                          <a:endParaRPr lang="zh-TW"/>
                        </a:p>
                      </a:txBody>
                      <a:tcPr marL="68580" marR="68580" marT="0" marB="0">
                        <a:blipFill>
                          <a:blip r:embed="rId5"/>
                          <a:stretch>
                            <a:fillRect l="-578" t="-312121" r="-94220" b="-333333"/>
                          </a:stretch>
                        </a:blipFill>
                      </a:tcPr>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30</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40501"/>
                      </a:ext>
                    </a:extLst>
                  </a:tr>
                  <a:tr h="205740">
                    <a:tc>
                      <a:txBody>
                        <a:bodyPr/>
                        <a:lstStyle/>
                        <a:p>
                          <a:endParaRPr lang="zh-TW"/>
                        </a:p>
                      </a:txBody>
                      <a:tcPr marL="68580" marR="68580" marT="0" marB="0">
                        <a:blipFill>
                          <a:blip r:embed="rId5"/>
                          <a:stretch>
                            <a:fillRect l="-578" t="-400000" r="-94220" b="-223529"/>
                          </a:stretch>
                        </a:blipFill>
                      </a:tcPr>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23264513"/>
                      </a:ext>
                    </a:extLst>
                  </a:tr>
                  <a:tr h="205740">
                    <a:tc>
                      <a:txBody>
                        <a:bodyPr/>
                        <a:lstStyle/>
                        <a:p>
                          <a:endParaRPr lang="zh-TW"/>
                        </a:p>
                      </a:txBody>
                      <a:tcPr marL="68580" marR="68580" marT="0" marB="0">
                        <a:blipFill>
                          <a:blip r:embed="rId5"/>
                          <a:stretch>
                            <a:fillRect l="-578" t="-500000" r="-94220" b="-123529"/>
                          </a:stretch>
                        </a:blipFill>
                      </a:tcPr>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3091282"/>
                      </a:ext>
                    </a:extLst>
                  </a:tr>
                  <a:tr h="205740">
                    <a:tc>
                      <a:txBody>
                        <a:bodyPr/>
                        <a:lstStyle/>
                        <a:p>
                          <a:endParaRPr lang="zh-TW"/>
                        </a:p>
                      </a:txBody>
                      <a:tcPr marL="68580" marR="68580" marT="0" marB="0">
                        <a:blipFill>
                          <a:blip r:embed="rId5"/>
                          <a:stretch>
                            <a:fillRect l="-578" t="-600000" r="-94220" b="-23529"/>
                          </a:stretch>
                        </a:blipFill>
                      </a:tcPr>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 / 70</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1697391"/>
                      </a:ext>
                    </a:extLst>
                  </a:tr>
                </a:tbl>
              </a:graphicData>
            </a:graphic>
          </p:graphicFrame>
        </mc:Fallback>
      </mc:AlternateContent>
      <p:sp>
        <p:nvSpPr>
          <p:cNvPr id="19" name="矩形 18">
            <a:extLst>
              <a:ext uri="{FF2B5EF4-FFF2-40B4-BE49-F238E27FC236}">
                <a16:creationId xmlns:a16="http://schemas.microsoft.com/office/drawing/2014/main" id="{5D60DA07-600F-40F9-83D2-7F133274C4DA}"/>
              </a:ext>
            </a:extLst>
          </p:cNvPr>
          <p:cNvSpPr/>
          <p:nvPr/>
        </p:nvSpPr>
        <p:spPr>
          <a:xfrm>
            <a:off x="5962330" y="3181569"/>
            <a:ext cx="983076" cy="230832"/>
          </a:xfrm>
          <a:prstGeom prst="rect">
            <a:avLst/>
          </a:prstGeom>
        </p:spPr>
        <p:txBody>
          <a:bodyPr wrap="square">
            <a:spAutoFit/>
          </a:bodyPr>
          <a:lstStyle/>
          <a:p>
            <a:r>
              <a:rPr lang="en-US" altLang="zh-TW" sz="900" b="1" dirty="0">
                <a:latin typeface="Montserrat" panose="02020500000000000000" charset="0"/>
              </a:rPr>
              <a:t>Parameters</a:t>
            </a:r>
            <a:endParaRPr lang="zh-TW" altLang="en-US" sz="900" b="1" dirty="0">
              <a:latin typeface="Montserrat" panose="02020500000000000000" charset="0"/>
            </a:endParaRPr>
          </a:p>
        </p:txBody>
      </p:sp>
      <p:sp>
        <p:nvSpPr>
          <p:cNvPr id="82" name="矩形 81">
            <a:extLst>
              <a:ext uri="{FF2B5EF4-FFF2-40B4-BE49-F238E27FC236}">
                <a16:creationId xmlns:a16="http://schemas.microsoft.com/office/drawing/2014/main" id="{6C1C9CCC-E334-451D-9F2A-C7713D9B9579}"/>
              </a:ext>
            </a:extLst>
          </p:cNvPr>
          <p:cNvSpPr/>
          <p:nvPr/>
        </p:nvSpPr>
        <p:spPr>
          <a:xfrm>
            <a:off x="869567" y="1249771"/>
            <a:ext cx="1728358" cy="246221"/>
          </a:xfrm>
          <a:prstGeom prst="rect">
            <a:avLst/>
          </a:prstGeom>
        </p:spPr>
        <p:txBody>
          <a:bodyPr wrap="none">
            <a:spAutoFit/>
          </a:bodyPr>
          <a:lstStyle/>
          <a:p>
            <a:r>
              <a:rPr lang="en-US" altLang="zh-TW" sz="1000" b="1" dirty="0">
                <a:latin typeface="Montserrat" panose="02020500000000000000" charset="0"/>
              </a:rPr>
              <a:t>The objective function </a:t>
            </a:r>
            <a:endParaRPr lang="zh-TW" altLang="en-US" sz="1000" dirty="0"/>
          </a:p>
        </p:txBody>
      </p:sp>
      <p:sp>
        <p:nvSpPr>
          <p:cNvPr id="5" name="文字方塊 4">
            <a:extLst>
              <a:ext uri="{FF2B5EF4-FFF2-40B4-BE49-F238E27FC236}">
                <a16:creationId xmlns:a16="http://schemas.microsoft.com/office/drawing/2014/main" id="{15D95F66-BE5F-4B75-B6FB-C4709EBD1202}"/>
              </a:ext>
            </a:extLst>
          </p:cNvPr>
          <p:cNvSpPr txBox="1"/>
          <p:nvPr/>
        </p:nvSpPr>
        <p:spPr>
          <a:xfrm>
            <a:off x="7780100" y="4922593"/>
            <a:ext cx="978153" cy="215444"/>
          </a:xfrm>
          <a:prstGeom prst="rect">
            <a:avLst/>
          </a:prstGeom>
          <a:noFill/>
        </p:spPr>
        <p:txBody>
          <a:bodyPr wrap="none" rtlCol="0">
            <a:spAutoFit/>
          </a:bodyPr>
          <a:lstStyle/>
          <a:p>
            <a:r>
              <a:rPr lang="en-US" altLang="zh-TW" sz="800" dirty="0">
                <a:solidFill>
                  <a:schemeClr val="tx1"/>
                </a:solidFill>
                <a:latin typeface="Montserrat" panose="02020500000000000000" charset="0"/>
              </a:rPr>
              <a:t>(Gu et al., 2000)</a:t>
            </a:r>
            <a:endParaRPr lang="zh-TW" altLang="en-US" sz="800" dirty="0">
              <a:solidFill>
                <a:schemeClr val="tx1"/>
              </a:solidFill>
              <a:latin typeface="Montserrat" panose="02020500000000000000" charset="0"/>
            </a:endParaRPr>
          </a:p>
        </p:txBody>
      </p:sp>
      <p:sp>
        <p:nvSpPr>
          <p:cNvPr id="39" name="文字方塊 38">
            <a:extLst>
              <a:ext uri="{FF2B5EF4-FFF2-40B4-BE49-F238E27FC236}">
                <a16:creationId xmlns:a16="http://schemas.microsoft.com/office/drawing/2014/main" id="{720044F9-3759-4FF5-A7BE-B5881EDAFDF7}"/>
              </a:ext>
            </a:extLst>
          </p:cNvPr>
          <p:cNvSpPr txBox="1"/>
          <p:nvPr/>
        </p:nvSpPr>
        <p:spPr>
          <a:xfrm>
            <a:off x="8585770" y="4631694"/>
            <a:ext cx="348172" cy="261610"/>
          </a:xfrm>
          <a:prstGeom prst="rect">
            <a:avLst/>
          </a:prstGeom>
          <a:noFill/>
        </p:spPr>
        <p:txBody>
          <a:bodyPr wrap="none" rtlCol="0">
            <a:spAutoFit/>
          </a:bodyPr>
          <a:lstStyle/>
          <a:p>
            <a:r>
              <a:rPr lang="en-US" altLang="zh-TW" sz="1100" dirty="0">
                <a:latin typeface="Montserrat" panose="02020500000000000000" charset="0"/>
              </a:rPr>
              <a:t>37</a:t>
            </a:r>
            <a:endParaRPr lang="zh-TW" altLang="en-US" sz="1100" dirty="0">
              <a:latin typeface="Montserrat" panose="02020500000000000000" charset="0"/>
            </a:endParaRPr>
          </a:p>
        </p:txBody>
      </p:sp>
      <p:sp>
        <p:nvSpPr>
          <p:cNvPr id="40" name="文字方塊 39">
            <a:extLst>
              <a:ext uri="{FF2B5EF4-FFF2-40B4-BE49-F238E27FC236}">
                <a16:creationId xmlns:a16="http://schemas.microsoft.com/office/drawing/2014/main" id="{D4E8EFFB-6712-42FB-94A8-5941473B78B5}"/>
              </a:ext>
            </a:extLst>
          </p:cNvPr>
          <p:cNvSpPr txBox="1"/>
          <p:nvPr/>
        </p:nvSpPr>
        <p:spPr>
          <a:xfrm>
            <a:off x="4945657" y="2223229"/>
            <a:ext cx="425116" cy="246221"/>
          </a:xfrm>
          <a:prstGeom prst="rect">
            <a:avLst/>
          </a:prstGeom>
          <a:noFill/>
        </p:spPr>
        <p:txBody>
          <a:bodyPr wrap="none" rtlCol="0">
            <a:spAutoFit/>
          </a:bodyPr>
          <a:lstStyle/>
          <a:p>
            <a:r>
              <a:rPr lang="en-US" altLang="zh-TW" sz="1000" dirty="0">
                <a:latin typeface="Montserrat" panose="02020500000000000000" charset="0"/>
              </a:rPr>
              <a:t>(24)</a:t>
            </a:r>
            <a:endParaRPr lang="zh-TW" altLang="en-US" sz="1000" dirty="0">
              <a:latin typeface="Montserrat" panose="02020500000000000000" charset="0"/>
            </a:endParaRPr>
          </a:p>
        </p:txBody>
      </p:sp>
      <p:grpSp>
        <p:nvGrpSpPr>
          <p:cNvPr id="25" name="群組 24">
            <a:extLst>
              <a:ext uri="{FF2B5EF4-FFF2-40B4-BE49-F238E27FC236}">
                <a16:creationId xmlns:a16="http://schemas.microsoft.com/office/drawing/2014/main" id="{F0EF78FC-00E8-42E8-9A88-E05BC9959946}"/>
              </a:ext>
            </a:extLst>
          </p:cNvPr>
          <p:cNvGrpSpPr/>
          <p:nvPr/>
        </p:nvGrpSpPr>
        <p:grpSpPr>
          <a:xfrm>
            <a:off x="869567" y="3783693"/>
            <a:ext cx="4539325" cy="633651"/>
            <a:chOff x="869567" y="3783693"/>
            <a:chExt cx="4539325" cy="633651"/>
          </a:xfrm>
        </p:grpSpPr>
        <p:grpSp>
          <p:nvGrpSpPr>
            <p:cNvPr id="23" name="群組 22">
              <a:extLst>
                <a:ext uri="{FF2B5EF4-FFF2-40B4-BE49-F238E27FC236}">
                  <a16:creationId xmlns:a16="http://schemas.microsoft.com/office/drawing/2014/main" id="{8839E2E5-C36F-4346-BF7E-9CC5337FCA80}"/>
                </a:ext>
              </a:extLst>
            </p:cNvPr>
            <p:cNvGrpSpPr/>
            <p:nvPr/>
          </p:nvGrpSpPr>
          <p:grpSpPr>
            <a:xfrm>
              <a:off x="1017410" y="3783693"/>
              <a:ext cx="4295567" cy="377807"/>
              <a:chOff x="1017410" y="3783693"/>
              <a:chExt cx="4295567" cy="377807"/>
            </a:xfrm>
          </p:grpSpPr>
          <p:grpSp>
            <p:nvGrpSpPr>
              <p:cNvPr id="21" name="群組 20">
                <a:extLst>
                  <a:ext uri="{FF2B5EF4-FFF2-40B4-BE49-F238E27FC236}">
                    <a16:creationId xmlns:a16="http://schemas.microsoft.com/office/drawing/2014/main" id="{C95693ED-1454-401C-B150-453F07992281}"/>
                  </a:ext>
                </a:extLst>
              </p:cNvPr>
              <p:cNvGrpSpPr/>
              <p:nvPr/>
            </p:nvGrpSpPr>
            <p:grpSpPr>
              <a:xfrm>
                <a:off x="1017410" y="3784982"/>
                <a:ext cx="367320" cy="376518"/>
                <a:chOff x="1169810" y="3129476"/>
                <a:chExt cx="367320" cy="376518"/>
              </a:xfrm>
            </p:grpSpPr>
            <p:sp>
              <p:nvSpPr>
                <p:cNvPr id="49" name="矩形 48">
                  <a:extLst>
                    <a:ext uri="{FF2B5EF4-FFF2-40B4-BE49-F238E27FC236}">
                      <a16:creationId xmlns:a16="http://schemas.microsoft.com/office/drawing/2014/main" id="{C4A9EFB5-E9C8-42B0-BFB3-7680E330982A}"/>
                    </a:ext>
                  </a:extLst>
                </p:cNvPr>
                <p:cNvSpPr/>
                <p:nvPr/>
              </p:nvSpPr>
              <p:spPr>
                <a:xfrm>
                  <a:off x="1169810" y="3129476"/>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箭號: 向下 49">
                  <a:extLst>
                    <a:ext uri="{FF2B5EF4-FFF2-40B4-BE49-F238E27FC236}">
                      <a16:creationId xmlns:a16="http://schemas.microsoft.com/office/drawing/2014/main" id="{EFBC69FE-0772-43A0-9C7F-10DF53519DCD}"/>
                    </a:ext>
                  </a:extLst>
                </p:cNvPr>
                <p:cNvSpPr/>
                <p:nvPr/>
              </p:nvSpPr>
              <p:spPr>
                <a:xfrm>
                  <a:off x="1292106" y="3214082"/>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57" name="群組 56">
                <a:extLst>
                  <a:ext uri="{FF2B5EF4-FFF2-40B4-BE49-F238E27FC236}">
                    <a16:creationId xmlns:a16="http://schemas.microsoft.com/office/drawing/2014/main" id="{C4B3B203-C473-4DCE-8A29-71ED6AFADA71}"/>
                  </a:ext>
                </a:extLst>
              </p:cNvPr>
              <p:cNvGrpSpPr/>
              <p:nvPr/>
            </p:nvGrpSpPr>
            <p:grpSpPr>
              <a:xfrm>
                <a:off x="2112898" y="3783693"/>
                <a:ext cx="367320" cy="376518"/>
                <a:chOff x="1169810" y="3129476"/>
                <a:chExt cx="367320" cy="376518"/>
              </a:xfrm>
            </p:grpSpPr>
            <p:sp>
              <p:nvSpPr>
                <p:cNvPr id="61" name="矩形 60">
                  <a:extLst>
                    <a:ext uri="{FF2B5EF4-FFF2-40B4-BE49-F238E27FC236}">
                      <a16:creationId xmlns:a16="http://schemas.microsoft.com/office/drawing/2014/main" id="{4548EF2C-BD24-4D0A-9F36-0E424F95C2FC}"/>
                    </a:ext>
                  </a:extLst>
                </p:cNvPr>
                <p:cNvSpPr/>
                <p:nvPr/>
              </p:nvSpPr>
              <p:spPr>
                <a:xfrm>
                  <a:off x="1169810" y="3129476"/>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箭號: 向下 62">
                  <a:extLst>
                    <a:ext uri="{FF2B5EF4-FFF2-40B4-BE49-F238E27FC236}">
                      <a16:creationId xmlns:a16="http://schemas.microsoft.com/office/drawing/2014/main" id="{E6B55B8F-1BA3-457D-95A4-F1BA5716A2B7}"/>
                    </a:ext>
                  </a:extLst>
                </p:cNvPr>
                <p:cNvSpPr/>
                <p:nvPr/>
              </p:nvSpPr>
              <p:spPr>
                <a:xfrm>
                  <a:off x="1292106" y="3214082"/>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22" name="群組 21">
                <a:extLst>
                  <a:ext uri="{FF2B5EF4-FFF2-40B4-BE49-F238E27FC236}">
                    <a16:creationId xmlns:a16="http://schemas.microsoft.com/office/drawing/2014/main" id="{104BD617-F1E6-4A6D-8DF3-C0AD707A4C8C}"/>
                  </a:ext>
                </a:extLst>
              </p:cNvPr>
              <p:cNvGrpSpPr/>
              <p:nvPr/>
            </p:nvGrpSpPr>
            <p:grpSpPr>
              <a:xfrm>
                <a:off x="1381494" y="3783693"/>
                <a:ext cx="367320" cy="376518"/>
                <a:chOff x="1472144" y="3770593"/>
                <a:chExt cx="367320" cy="376518"/>
              </a:xfrm>
            </p:grpSpPr>
            <p:sp>
              <p:nvSpPr>
                <p:cNvPr id="67" name="矩形 66">
                  <a:extLst>
                    <a:ext uri="{FF2B5EF4-FFF2-40B4-BE49-F238E27FC236}">
                      <a16:creationId xmlns:a16="http://schemas.microsoft.com/office/drawing/2014/main" id="{77359FA2-379B-4F73-B2FC-C79069489404}"/>
                    </a:ext>
                  </a:extLst>
                </p:cNvPr>
                <p:cNvSpPr/>
                <p:nvPr/>
              </p:nvSpPr>
              <p:spPr>
                <a:xfrm>
                  <a:off x="1472144" y="377059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8" name="箭號: 向下 67">
                  <a:extLst>
                    <a:ext uri="{FF2B5EF4-FFF2-40B4-BE49-F238E27FC236}">
                      <a16:creationId xmlns:a16="http://schemas.microsoft.com/office/drawing/2014/main" id="{9C3DC242-16BF-43AD-9880-32924AFCDB1E}"/>
                    </a:ext>
                  </a:extLst>
                </p:cNvPr>
                <p:cNvSpPr/>
                <p:nvPr/>
              </p:nvSpPr>
              <p:spPr>
                <a:xfrm rot="10800000">
                  <a:off x="1594440" y="3855199"/>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69" name="群組 68">
                <a:extLst>
                  <a:ext uri="{FF2B5EF4-FFF2-40B4-BE49-F238E27FC236}">
                    <a16:creationId xmlns:a16="http://schemas.microsoft.com/office/drawing/2014/main" id="{D1C0A39B-3392-4C51-9F69-B261FEE634F5}"/>
                  </a:ext>
                </a:extLst>
              </p:cNvPr>
              <p:cNvGrpSpPr/>
              <p:nvPr/>
            </p:nvGrpSpPr>
            <p:grpSpPr>
              <a:xfrm>
                <a:off x="1748168" y="3783693"/>
                <a:ext cx="367320" cy="376518"/>
                <a:chOff x="1472144" y="3770593"/>
                <a:chExt cx="367320" cy="376518"/>
              </a:xfrm>
            </p:grpSpPr>
            <p:sp>
              <p:nvSpPr>
                <p:cNvPr id="71" name="矩形 70">
                  <a:extLst>
                    <a:ext uri="{FF2B5EF4-FFF2-40B4-BE49-F238E27FC236}">
                      <a16:creationId xmlns:a16="http://schemas.microsoft.com/office/drawing/2014/main" id="{A226F5CE-7114-4BEE-B6EE-440F328E0435}"/>
                    </a:ext>
                  </a:extLst>
                </p:cNvPr>
                <p:cNvSpPr/>
                <p:nvPr/>
              </p:nvSpPr>
              <p:spPr>
                <a:xfrm>
                  <a:off x="1472144" y="377059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3" name="箭號: 向下 82">
                  <a:extLst>
                    <a:ext uri="{FF2B5EF4-FFF2-40B4-BE49-F238E27FC236}">
                      <a16:creationId xmlns:a16="http://schemas.microsoft.com/office/drawing/2014/main" id="{87FF40DE-9026-4480-B651-DA3463FE9425}"/>
                    </a:ext>
                  </a:extLst>
                </p:cNvPr>
                <p:cNvSpPr/>
                <p:nvPr/>
              </p:nvSpPr>
              <p:spPr>
                <a:xfrm rot="10800000">
                  <a:off x="1594440" y="3855199"/>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84" name="群組 83">
                <a:extLst>
                  <a:ext uri="{FF2B5EF4-FFF2-40B4-BE49-F238E27FC236}">
                    <a16:creationId xmlns:a16="http://schemas.microsoft.com/office/drawing/2014/main" id="{A9F99D2F-57B5-47B3-8FDB-0124A4E30E3C}"/>
                  </a:ext>
                </a:extLst>
              </p:cNvPr>
              <p:cNvGrpSpPr/>
              <p:nvPr/>
            </p:nvGrpSpPr>
            <p:grpSpPr>
              <a:xfrm>
                <a:off x="2476982" y="3783693"/>
                <a:ext cx="367320" cy="376518"/>
                <a:chOff x="1169810" y="3129476"/>
                <a:chExt cx="367320" cy="376518"/>
              </a:xfrm>
            </p:grpSpPr>
            <p:sp>
              <p:nvSpPr>
                <p:cNvPr id="85" name="矩形 84">
                  <a:extLst>
                    <a:ext uri="{FF2B5EF4-FFF2-40B4-BE49-F238E27FC236}">
                      <a16:creationId xmlns:a16="http://schemas.microsoft.com/office/drawing/2014/main" id="{6963731A-7446-424F-8970-9E2815BF0A58}"/>
                    </a:ext>
                  </a:extLst>
                </p:cNvPr>
                <p:cNvSpPr/>
                <p:nvPr/>
              </p:nvSpPr>
              <p:spPr>
                <a:xfrm>
                  <a:off x="1169810" y="3129476"/>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6" name="箭號: 向下 85">
                  <a:extLst>
                    <a:ext uri="{FF2B5EF4-FFF2-40B4-BE49-F238E27FC236}">
                      <a16:creationId xmlns:a16="http://schemas.microsoft.com/office/drawing/2014/main" id="{A61EF978-87E2-411B-A436-A3E0F981ED64}"/>
                    </a:ext>
                  </a:extLst>
                </p:cNvPr>
                <p:cNvSpPr/>
                <p:nvPr/>
              </p:nvSpPr>
              <p:spPr>
                <a:xfrm>
                  <a:off x="1292106" y="3214082"/>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87" name="群組 86">
                <a:extLst>
                  <a:ext uri="{FF2B5EF4-FFF2-40B4-BE49-F238E27FC236}">
                    <a16:creationId xmlns:a16="http://schemas.microsoft.com/office/drawing/2014/main" id="{1BBACE1A-18B5-4BDA-8881-103D21EB84DA}"/>
                  </a:ext>
                </a:extLst>
              </p:cNvPr>
              <p:cNvGrpSpPr/>
              <p:nvPr/>
            </p:nvGrpSpPr>
            <p:grpSpPr>
              <a:xfrm>
                <a:off x="2838476" y="3783693"/>
                <a:ext cx="367320" cy="376518"/>
                <a:chOff x="1169810" y="3129476"/>
                <a:chExt cx="367320" cy="376518"/>
              </a:xfrm>
            </p:grpSpPr>
            <p:sp>
              <p:nvSpPr>
                <p:cNvPr id="88" name="矩形 87">
                  <a:extLst>
                    <a:ext uri="{FF2B5EF4-FFF2-40B4-BE49-F238E27FC236}">
                      <a16:creationId xmlns:a16="http://schemas.microsoft.com/office/drawing/2014/main" id="{B46D52EA-F7EE-4DEC-AB79-51BD48BBD02B}"/>
                    </a:ext>
                  </a:extLst>
                </p:cNvPr>
                <p:cNvSpPr/>
                <p:nvPr/>
              </p:nvSpPr>
              <p:spPr>
                <a:xfrm>
                  <a:off x="1169810" y="3129476"/>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9" name="箭號: 向下 88">
                  <a:extLst>
                    <a:ext uri="{FF2B5EF4-FFF2-40B4-BE49-F238E27FC236}">
                      <a16:creationId xmlns:a16="http://schemas.microsoft.com/office/drawing/2014/main" id="{FAC00196-51CB-4F02-A6D8-DF580BBB0E9A}"/>
                    </a:ext>
                  </a:extLst>
                </p:cNvPr>
                <p:cNvSpPr/>
                <p:nvPr/>
              </p:nvSpPr>
              <p:spPr>
                <a:xfrm>
                  <a:off x="1292106" y="3214082"/>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90" name="群組 89">
                <a:extLst>
                  <a:ext uri="{FF2B5EF4-FFF2-40B4-BE49-F238E27FC236}">
                    <a16:creationId xmlns:a16="http://schemas.microsoft.com/office/drawing/2014/main" id="{A90296C2-4CEC-45BB-BFDF-82D52CA3C0B5}"/>
                  </a:ext>
                </a:extLst>
              </p:cNvPr>
              <p:cNvGrpSpPr/>
              <p:nvPr/>
            </p:nvGrpSpPr>
            <p:grpSpPr>
              <a:xfrm>
                <a:off x="3204365" y="3783693"/>
                <a:ext cx="367320" cy="376518"/>
                <a:chOff x="1472144" y="3770593"/>
                <a:chExt cx="367320" cy="376518"/>
              </a:xfrm>
            </p:grpSpPr>
            <p:sp>
              <p:nvSpPr>
                <p:cNvPr id="91" name="矩形 90">
                  <a:extLst>
                    <a:ext uri="{FF2B5EF4-FFF2-40B4-BE49-F238E27FC236}">
                      <a16:creationId xmlns:a16="http://schemas.microsoft.com/office/drawing/2014/main" id="{255D1F45-41FC-4E4C-9504-5B83D2D1EF69}"/>
                    </a:ext>
                  </a:extLst>
                </p:cNvPr>
                <p:cNvSpPr/>
                <p:nvPr/>
              </p:nvSpPr>
              <p:spPr>
                <a:xfrm>
                  <a:off x="1472144" y="377059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2" name="箭號: 向下 91">
                  <a:extLst>
                    <a:ext uri="{FF2B5EF4-FFF2-40B4-BE49-F238E27FC236}">
                      <a16:creationId xmlns:a16="http://schemas.microsoft.com/office/drawing/2014/main" id="{8268D16F-E859-4BE7-AF45-106EDFBD7A98}"/>
                    </a:ext>
                  </a:extLst>
                </p:cNvPr>
                <p:cNvSpPr/>
                <p:nvPr/>
              </p:nvSpPr>
              <p:spPr>
                <a:xfrm rot="10800000">
                  <a:off x="1594440" y="3855199"/>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93" name="群組 92">
                <a:extLst>
                  <a:ext uri="{FF2B5EF4-FFF2-40B4-BE49-F238E27FC236}">
                    <a16:creationId xmlns:a16="http://schemas.microsoft.com/office/drawing/2014/main" id="{D7B5D387-30DF-4492-9BE4-41CAAC6750A8}"/>
                  </a:ext>
                </a:extLst>
              </p:cNvPr>
              <p:cNvGrpSpPr/>
              <p:nvPr/>
            </p:nvGrpSpPr>
            <p:grpSpPr>
              <a:xfrm>
                <a:off x="4211017" y="3783693"/>
                <a:ext cx="367320" cy="376518"/>
                <a:chOff x="1472144" y="3770593"/>
                <a:chExt cx="367320" cy="376518"/>
              </a:xfrm>
            </p:grpSpPr>
            <p:sp>
              <p:nvSpPr>
                <p:cNvPr id="94" name="矩形 93">
                  <a:extLst>
                    <a:ext uri="{FF2B5EF4-FFF2-40B4-BE49-F238E27FC236}">
                      <a16:creationId xmlns:a16="http://schemas.microsoft.com/office/drawing/2014/main" id="{667D0DD1-EEAB-4BA6-9298-EDC64B8CFECC}"/>
                    </a:ext>
                  </a:extLst>
                </p:cNvPr>
                <p:cNvSpPr/>
                <p:nvPr/>
              </p:nvSpPr>
              <p:spPr>
                <a:xfrm>
                  <a:off x="1472144" y="377059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5" name="箭號: 向下 94">
                  <a:extLst>
                    <a:ext uri="{FF2B5EF4-FFF2-40B4-BE49-F238E27FC236}">
                      <a16:creationId xmlns:a16="http://schemas.microsoft.com/office/drawing/2014/main" id="{5F673F58-C5A5-4787-9445-0488DC973FA1}"/>
                    </a:ext>
                  </a:extLst>
                </p:cNvPr>
                <p:cNvSpPr/>
                <p:nvPr/>
              </p:nvSpPr>
              <p:spPr>
                <a:xfrm rot="10800000">
                  <a:off x="1594440" y="3855199"/>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96" name="群組 95">
                <a:extLst>
                  <a:ext uri="{FF2B5EF4-FFF2-40B4-BE49-F238E27FC236}">
                    <a16:creationId xmlns:a16="http://schemas.microsoft.com/office/drawing/2014/main" id="{9DAF6941-86BE-4E10-8C9E-6AD02B10189B}"/>
                  </a:ext>
                </a:extLst>
              </p:cNvPr>
              <p:cNvGrpSpPr/>
              <p:nvPr/>
            </p:nvGrpSpPr>
            <p:grpSpPr>
              <a:xfrm>
                <a:off x="4578337" y="3783693"/>
                <a:ext cx="367320" cy="376518"/>
                <a:chOff x="1472144" y="3770593"/>
                <a:chExt cx="367320" cy="376518"/>
              </a:xfrm>
            </p:grpSpPr>
            <p:sp>
              <p:nvSpPr>
                <p:cNvPr id="97" name="矩形 96">
                  <a:extLst>
                    <a:ext uri="{FF2B5EF4-FFF2-40B4-BE49-F238E27FC236}">
                      <a16:creationId xmlns:a16="http://schemas.microsoft.com/office/drawing/2014/main" id="{3A5FC843-08A4-427C-BE13-0088F2E9D643}"/>
                    </a:ext>
                  </a:extLst>
                </p:cNvPr>
                <p:cNvSpPr/>
                <p:nvPr/>
              </p:nvSpPr>
              <p:spPr>
                <a:xfrm>
                  <a:off x="1472144" y="3770593"/>
                  <a:ext cx="367320" cy="37651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8" name="箭號: 向下 97">
                  <a:extLst>
                    <a:ext uri="{FF2B5EF4-FFF2-40B4-BE49-F238E27FC236}">
                      <a16:creationId xmlns:a16="http://schemas.microsoft.com/office/drawing/2014/main" id="{11E34D3D-B9B2-424B-BCBD-2D0BA550BF71}"/>
                    </a:ext>
                  </a:extLst>
                </p:cNvPr>
                <p:cNvSpPr/>
                <p:nvPr/>
              </p:nvSpPr>
              <p:spPr>
                <a:xfrm rot="10800000">
                  <a:off x="1594440" y="3855199"/>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99" name="群組 98">
                <a:extLst>
                  <a:ext uri="{FF2B5EF4-FFF2-40B4-BE49-F238E27FC236}">
                    <a16:creationId xmlns:a16="http://schemas.microsoft.com/office/drawing/2014/main" id="{642BF3D7-547A-450A-9D11-DE7B73375C25}"/>
                  </a:ext>
                </a:extLst>
              </p:cNvPr>
              <p:cNvGrpSpPr/>
              <p:nvPr/>
            </p:nvGrpSpPr>
            <p:grpSpPr>
              <a:xfrm>
                <a:off x="4945657" y="3783693"/>
                <a:ext cx="367320" cy="376518"/>
                <a:chOff x="1169810" y="3129476"/>
                <a:chExt cx="367320" cy="376518"/>
              </a:xfrm>
            </p:grpSpPr>
            <p:sp>
              <p:nvSpPr>
                <p:cNvPr id="100" name="矩形 99">
                  <a:extLst>
                    <a:ext uri="{FF2B5EF4-FFF2-40B4-BE49-F238E27FC236}">
                      <a16:creationId xmlns:a16="http://schemas.microsoft.com/office/drawing/2014/main" id="{2C1451D6-3E16-4432-ADBB-F9DBF82D7C6E}"/>
                    </a:ext>
                  </a:extLst>
                </p:cNvPr>
                <p:cNvSpPr/>
                <p:nvPr/>
              </p:nvSpPr>
              <p:spPr>
                <a:xfrm>
                  <a:off x="1169810" y="3129476"/>
                  <a:ext cx="367320" cy="376518"/>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1" name="箭號: 向下 100">
                  <a:extLst>
                    <a:ext uri="{FF2B5EF4-FFF2-40B4-BE49-F238E27FC236}">
                      <a16:creationId xmlns:a16="http://schemas.microsoft.com/office/drawing/2014/main" id="{A19DF774-4E3A-454E-BE0B-54883B015C1A}"/>
                    </a:ext>
                  </a:extLst>
                </p:cNvPr>
                <p:cNvSpPr/>
                <p:nvPr/>
              </p:nvSpPr>
              <p:spPr>
                <a:xfrm>
                  <a:off x="1292106" y="3214082"/>
                  <a:ext cx="114300" cy="207308"/>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grpSp>
          <p:nvGrpSpPr>
            <p:cNvPr id="24" name="群組 23">
              <a:extLst>
                <a:ext uri="{FF2B5EF4-FFF2-40B4-BE49-F238E27FC236}">
                  <a16:creationId xmlns:a16="http://schemas.microsoft.com/office/drawing/2014/main" id="{AB8A9D10-BF17-4BA8-BB74-BA63149E824F}"/>
                </a:ext>
              </a:extLst>
            </p:cNvPr>
            <p:cNvGrpSpPr/>
            <p:nvPr/>
          </p:nvGrpSpPr>
          <p:grpSpPr>
            <a:xfrm>
              <a:off x="869567" y="4072290"/>
              <a:ext cx="4539325" cy="345054"/>
              <a:chOff x="1021967" y="3421004"/>
              <a:chExt cx="4539325" cy="345054"/>
            </a:xfrm>
          </p:grpSpPr>
          <mc:AlternateContent xmlns:mc="http://schemas.openxmlformats.org/markup-compatibility/2006" xmlns:a14="http://schemas.microsoft.com/office/drawing/2010/main">
            <mc:Choice Requires="a14">
              <p:sp>
                <p:nvSpPr>
                  <p:cNvPr id="102" name="文字方塊 101">
                    <a:extLst>
                      <a:ext uri="{FF2B5EF4-FFF2-40B4-BE49-F238E27FC236}">
                        <a16:creationId xmlns:a16="http://schemas.microsoft.com/office/drawing/2014/main" id="{E854A7A5-E383-4A32-8C34-28372CCC1147}"/>
                      </a:ext>
                    </a:extLst>
                  </p:cNvPr>
                  <p:cNvSpPr txBox="1"/>
                  <p:nvPr/>
                </p:nvSpPr>
                <p:spPr>
                  <a:xfrm>
                    <a:off x="1441078" y="3513560"/>
                    <a:ext cx="192104"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1</m:t>
                              </m:r>
                            </m:sub>
                          </m:sSub>
                        </m:oMath>
                      </m:oMathPara>
                    </a14:m>
                    <a:endParaRPr lang="zh-TW" altLang="en-US" dirty="0"/>
                  </a:p>
                </p:txBody>
              </p:sp>
            </mc:Choice>
            <mc:Fallback xmlns="">
              <p:sp>
                <p:nvSpPr>
                  <p:cNvPr id="102" name="文字方塊 101">
                    <a:extLst>
                      <a:ext uri="{FF2B5EF4-FFF2-40B4-BE49-F238E27FC236}">
                        <a16:creationId xmlns:a16="http://schemas.microsoft.com/office/drawing/2014/main" id="{E854A7A5-E383-4A32-8C34-28372CCC1147}"/>
                      </a:ext>
                    </a:extLst>
                  </p:cNvPr>
                  <p:cNvSpPr txBox="1">
                    <a:spLocks noRot="1" noChangeAspect="1" noMove="1" noResize="1" noEditPoints="1" noAdjustHandles="1" noChangeArrowheads="1" noChangeShapeType="1" noTextEdit="1"/>
                  </p:cNvSpPr>
                  <p:nvPr/>
                </p:nvSpPr>
                <p:spPr>
                  <a:xfrm>
                    <a:off x="1441078" y="3513560"/>
                    <a:ext cx="192104" cy="184666"/>
                  </a:xfrm>
                  <a:prstGeom prst="rect">
                    <a:avLst/>
                  </a:prstGeom>
                  <a:blipFill>
                    <a:blip r:embed="rId6"/>
                    <a:stretch>
                      <a:fillRect l="-6250" b="-1290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3" name="文字方塊 102">
                    <a:extLst>
                      <a:ext uri="{FF2B5EF4-FFF2-40B4-BE49-F238E27FC236}">
                        <a16:creationId xmlns:a16="http://schemas.microsoft.com/office/drawing/2014/main" id="{55D12271-BA0F-4FB1-8860-9B7F9797E6B2}"/>
                      </a:ext>
                    </a:extLst>
                  </p:cNvPr>
                  <p:cNvSpPr txBox="1"/>
                  <p:nvPr/>
                </p:nvSpPr>
                <p:spPr>
                  <a:xfrm>
                    <a:off x="1805956" y="3508925"/>
                    <a:ext cx="19569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2</m:t>
                              </m:r>
                            </m:sub>
                          </m:sSub>
                        </m:oMath>
                      </m:oMathPara>
                    </a14:m>
                    <a:endParaRPr lang="zh-TW" altLang="en-US" dirty="0"/>
                  </a:p>
                </p:txBody>
              </p:sp>
            </mc:Choice>
            <mc:Fallback xmlns="">
              <p:sp>
                <p:nvSpPr>
                  <p:cNvPr id="103" name="文字方塊 102">
                    <a:extLst>
                      <a:ext uri="{FF2B5EF4-FFF2-40B4-BE49-F238E27FC236}">
                        <a16:creationId xmlns:a16="http://schemas.microsoft.com/office/drawing/2014/main" id="{55D12271-BA0F-4FB1-8860-9B7F9797E6B2}"/>
                      </a:ext>
                    </a:extLst>
                  </p:cNvPr>
                  <p:cNvSpPr txBox="1">
                    <a:spLocks noRot="1" noChangeAspect="1" noMove="1" noResize="1" noEditPoints="1" noAdjustHandles="1" noChangeArrowheads="1" noChangeShapeType="1" noTextEdit="1"/>
                  </p:cNvSpPr>
                  <p:nvPr/>
                </p:nvSpPr>
                <p:spPr>
                  <a:xfrm>
                    <a:off x="1805956" y="3508925"/>
                    <a:ext cx="195695" cy="184666"/>
                  </a:xfrm>
                  <a:prstGeom prst="rect">
                    <a:avLst/>
                  </a:prstGeom>
                  <a:blipFill>
                    <a:blip r:embed="rId7"/>
                    <a:stretch>
                      <a:fillRect l="-6250" r="-3125" b="-1290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4" name="文字方塊 103">
                    <a:extLst>
                      <a:ext uri="{FF2B5EF4-FFF2-40B4-BE49-F238E27FC236}">
                        <a16:creationId xmlns:a16="http://schemas.microsoft.com/office/drawing/2014/main" id="{5F506A93-CB02-4064-B9B0-AD0DB22933F5}"/>
                      </a:ext>
                    </a:extLst>
                  </p:cNvPr>
                  <p:cNvSpPr txBox="1"/>
                  <p:nvPr/>
                </p:nvSpPr>
                <p:spPr>
                  <a:xfrm>
                    <a:off x="2161624" y="3508925"/>
                    <a:ext cx="19569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3</m:t>
                              </m:r>
                            </m:sub>
                          </m:sSub>
                        </m:oMath>
                      </m:oMathPara>
                    </a14:m>
                    <a:endParaRPr lang="zh-TW" altLang="en-US" dirty="0"/>
                  </a:p>
                </p:txBody>
              </p:sp>
            </mc:Choice>
            <mc:Fallback xmlns="">
              <p:sp>
                <p:nvSpPr>
                  <p:cNvPr id="104" name="文字方塊 103">
                    <a:extLst>
                      <a:ext uri="{FF2B5EF4-FFF2-40B4-BE49-F238E27FC236}">
                        <a16:creationId xmlns:a16="http://schemas.microsoft.com/office/drawing/2014/main" id="{5F506A93-CB02-4064-B9B0-AD0DB22933F5}"/>
                      </a:ext>
                    </a:extLst>
                  </p:cNvPr>
                  <p:cNvSpPr txBox="1">
                    <a:spLocks noRot="1" noChangeAspect="1" noMove="1" noResize="1" noEditPoints="1" noAdjustHandles="1" noChangeArrowheads="1" noChangeShapeType="1" noTextEdit="1"/>
                  </p:cNvSpPr>
                  <p:nvPr/>
                </p:nvSpPr>
                <p:spPr>
                  <a:xfrm>
                    <a:off x="2161624" y="3508925"/>
                    <a:ext cx="195695" cy="184666"/>
                  </a:xfrm>
                  <a:prstGeom prst="rect">
                    <a:avLst/>
                  </a:prstGeom>
                  <a:blipFill>
                    <a:blip r:embed="rId8"/>
                    <a:stretch>
                      <a:fillRect l="-9375" r="-3125" b="-12903"/>
                    </a:stretch>
                  </a:blipFill>
                </p:spPr>
                <p:txBody>
                  <a:bodyPr/>
                  <a:lstStyle/>
                  <a:p>
                    <a:r>
                      <a:rPr lang="zh-TW" altLang="en-US">
                        <a:noFill/>
                      </a:rPr>
                      <a:t> </a:t>
                    </a:r>
                  </a:p>
                </p:txBody>
              </p:sp>
            </mc:Fallback>
          </mc:AlternateContent>
          <p:sp>
            <p:nvSpPr>
              <p:cNvPr id="105" name="文字方塊 104">
                <a:extLst>
                  <a:ext uri="{FF2B5EF4-FFF2-40B4-BE49-F238E27FC236}">
                    <a16:creationId xmlns:a16="http://schemas.microsoft.com/office/drawing/2014/main" id="{3CFB8B38-B204-46F9-9F8D-BE533EB77F06}"/>
                  </a:ext>
                </a:extLst>
              </p:cNvPr>
              <p:cNvSpPr txBox="1"/>
              <p:nvPr/>
            </p:nvSpPr>
            <p:spPr>
              <a:xfrm>
                <a:off x="1021967" y="3489059"/>
                <a:ext cx="269626" cy="276999"/>
              </a:xfrm>
              <a:prstGeom prst="rect">
                <a:avLst/>
              </a:prstGeom>
              <a:noFill/>
            </p:spPr>
            <p:txBody>
              <a:bodyPr wrap="none" rtlCol="0">
                <a:spAutoFit/>
              </a:bodyPr>
              <a:lstStyle/>
              <a:p>
                <a:r>
                  <a:rPr lang="en-US" altLang="zh-TW" sz="1200" dirty="0">
                    <a:latin typeface="Cambria" panose="02040503050406030204" pitchFamily="18" charset="0"/>
                    <a:ea typeface="Cambria" panose="02040503050406030204" pitchFamily="18" charset="0"/>
                  </a:rPr>
                  <a:t>0</a:t>
                </a:r>
                <a:endParaRPr lang="zh-TW" altLang="en-US" sz="120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106" name="文字方塊 105">
                    <a:extLst>
                      <a:ext uri="{FF2B5EF4-FFF2-40B4-BE49-F238E27FC236}">
                        <a16:creationId xmlns:a16="http://schemas.microsoft.com/office/drawing/2014/main" id="{B7650F8E-7030-45ED-BDD2-92EECF4EEB91}"/>
                      </a:ext>
                    </a:extLst>
                  </p:cNvPr>
                  <p:cNvSpPr txBox="1"/>
                  <p:nvPr/>
                </p:nvSpPr>
                <p:spPr>
                  <a:xfrm>
                    <a:off x="4883277" y="3513337"/>
                    <a:ext cx="365036"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𝑁</m:t>
                              </m:r>
                              <m:r>
                                <a:rPr lang="en-US" altLang="zh-TW" sz="1200" b="0" i="1" smtClean="0">
                                  <a:latin typeface="Cambria Math" panose="02040503050406030204" pitchFamily="18" charset="0"/>
                                </a:rPr>
                                <m:t>−1</m:t>
                              </m:r>
                            </m:sub>
                          </m:sSub>
                        </m:oMath>
                      </m:oMathPara>
                    </a14:m>
                    <a:endParaRPr lang="zh-TW" altLang="en-US" dirty="0"/>
                  </a:p>
                </p:txBody>
              </p:sp>
            </mc:Choice>
            <mc:Fallback xmlns="">
              <p:sp>
                <p:nvSpPr>
                  <p:cNvPr id="106" name="文字方塊 105">
                    <a:extLst>
                      <a:ext uri="{FF2B5EF4-FFF2-40B4-BE49-F238E27FC236}">
                        <a16:creationId xmlns:a16="http://schemas.microsoft.com/office/drawing/2014/main" id="{B7650F8E-7030-45ED-BDD2-92EECF4EEB91}"/>
                      </a:ext>
                    </a:extLst>
                  </p:cNvPr>
                  <p:cNvSpPr txBox="1">
                    <a:spLocks noRot="1" noChangeAspect="1" noMove="1" noResize="1" noEditPoints="1" noAdjustHandles="1" noChangeArrowheads="1" noChangeShapeType="1" noTextEdit="1"/>
                  </p:cNvSpPr>
                  <p:nvPr/>
                </p:nvSpPr>
                <p:spPr>
                  <a:xfrm>
                    <a:off x="4883277" y="3513337"/>
                    <a:ext cx="365036" cy="184666"/>
                  </a:xfrm>
                  <a:prstGeom prst="rect">
                    <a:avLst/>
                  </a:prstGeom>
                  <a:blipFill>
                    <a:blip r:embed="rId9"/>
                    <a:stretch>
                      <a:fillRect l="-3333" b="-1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7" name="文字方塊 106">
                    <a:extLst>
                      <a:ext uri="{FF2B5EF4-FFF2-40B4-BE49-F238E27FC236}">
                        <a16:creationId xmlns:a16="http://schemas.microsoft.com/office/drawing/2014/main" id="{5AB9048D-CCD0-4E35-8404-7BD2A307543A}"/>
                      </a:ext>
                    </a:extLst>
                  </p:cNvPr>
                  <p:cNvSpPr txBox="1"/>
                  <p:nvPr/>
                </p:nvSpPr>
                <p:spPr>
                  <a:xfrm>
                    <a:off x="5343733" y="3513337"/>
                    <a:ext cx="21755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𝑁</m:t>
                              </m:r>
                            </m:sub>
                          </m:sSub>
                        </m:oMath>
                      </m:oMathPara>
                    </a14:m>
                    <a:endParaRPr lang="zh-TW" altLang="en-US" dirty="0"/>
                  </a:p>
                </p:txBody>
              </p:sp>
            </mc:Choice>
            <mc:Fallback xmlns="">
              <p:sp>
                <p:nvSpPr>
                  <p:cNvPr id="107" name="文字方塊 106">
                    <a:extLst>
                      <a:ext uri="{FF2B5EF4-FFF2-40B4-BE49-F238E27FC236}">
                        <a16:creationId xmlns:a16="http://schemas.microsoft.com/office/drawing/2014/main" id="{5AB9048D-CCD0-4E35-8404-7BD2A307543A}"/>
                      </a:ext>
                    </a:extLst>
                  </p:cNvPr>
                  <p:cNvSpPr txBox="1">
                    <a:spLocks noRot="1" noChangeAspect="1" noMove="1" noResize="1" noEditPoints="1" noAdjustHandles="1" noChangeArrowheads="1" noChangeShapeType="1" noTextEdit="1"/>
                  </p:cNvSpPr>
                  <p:nvPr/>
                </p:nvSpPr>
                <p:spPr>
                  <a:xfrm>
                    <a:off x="5343733" y="3513337"/>
                    <a:ext cx="217559" cy="184666"/>
                  </a:xfrm>
                  <a:prstGeom prst="rect">
                    <a:avLst/>
                  </a:prstGeom>
                  <a:blipFill>
                    <a:blip r:embed="rId10"/>
                    <a:stretch>
                      <a:fillRect l="-8571" r="-5714" b="-16667"/>
                    </a:stretch>
                  </a:blipFill>
                </p:spPr>
                <p:txBody>
                  <a:bodyPr/>
                  <a:lstStyle/>
                  <a:p>
                    <a:r>
                      <a:rPr lang="zh-TW" altLang="en-US">
                        <a:noFill/>
                      </a:rPr>
                      <a:t> </a:t>
                    </a:r>
                  </a:p>
                </p:txBody>
              </p:sp>
            </mc:Fallback>
          </mc:AlternateContent>
          <p:sp>
            <p:nvSpPr>
              <p:cNvPr id="108" name="文字方塊 107">
                <a:extLst>
                  <a:ext uri="{FF2B5EF4-FFF2-40B4-BE49-F238E27FC236}">
                    <a16:creationId xmlns:a16="http://schemas.microsoft.com/office/drawing/2014/main" id="{69554C33-5FC4-41DA-AAD2-07D1E7B07370}"/>
                  </a:ext>
                </a:extLst>
              </p:cNvPr>
              <p:cNvSpPr txBox="1"/>
              <p:nvPr/>
            </p:nvSpPr>
            <p:spPr>
              <a:xfrm>
                <a:off x="3917506" y="3421004"/>
                <a:ext cx="284052" cy="276999"/>
              </a:xfrm>
              <a:prstGeom prst="rect">
                <a:avLst/>
              </a:prstGeom>
              <a:noFill/>
            </p:spPr>
            <p:txBody>
              <a:bodyPr wrap="none" rtlCol="0">
                <a:spAutoFit/>
              </a:bodyPr>
              <a:lstStyle/>
              <a:p>
                <a:r>
                  <a:rPr lang="en-US" altLang="zh-TW" sz="1200" dirty="0">
                    <a:latin typeface="Montserrat" panose="02020500000000000000" charset="0"/>
                  </a:rPr>
                  <a:t>…</a:t>
                </a:r>
                <a:endParaRPr lang="zh-TW" altLang="en-US" sz="1200" dirty="0">
                  <a:latin typeface="Montserrat" panose="02020500000000000000" charset="0"/>
                </a:endParaRPr>
              </a:p>
            </p:txBody>
          </p:sp>
        </p:grpSp>
      </p:grpSp>
      <p:sp>
        <p:nvSpPr>
          <p:cNvPr id="109" name="矩形 108">
            <a:extLst>
              <a:ext uri="{FF2B5EF4-FFF2-40B4-BE49-F238E27FC236}">
                <a16:creationId xmlns:a16="http://schemas.microsoft.com/office/drawing/2014/main" id="{4E5CDADD-5F05-4310-9423-2CF21566FF58}"/>
              </a:ext>
            </a:extLst>
          </p:cNvPr>
          <p:cNvSpPr/>
          <p:nvPr/>
        </p:nvSpPr>
        <p:spPr>
          <a:xfrm>
            <a:off x="854074" y="2911536"/>
            <a:ext cx="522900" cy="230832"/>
          </a:xfrm>
          <a:prstGeom prst="rect">
            <a:avLst/>
          </a:prstGeom>
        </p:spPr>
        <p:txBody>
          <a:bodyPr wrap="none">
            <a:spAutoFit/>
          </a:bodyPr>
          <a:lstStyle/>
          <a:p>
            <a:r>
              <a:rPr lang="en-US" altLang="zh-TW" sz="900" b="1" dirty="0">
                <a:latin typeface="Montserrat" panose="02020500000000000000" charset="0"/>
              </a:rPr>
              <a:t>SPDC</a:t>
            </a:r>
            <a:endParaRPr lang="zh-TW" altLang="en-US" sz="900" dirty="0"/>
          </a:p>
        </p:txBody>
      </p:sp>
      <p:grpSp>
        <p:nvGrpSpPr>
          <p:cNvPr id="20" name="群組 19">
            <a:extLst>
              <a:ext uri="{FF2B5EF4-FFF2-40B4-BE49-F238E27FC236}">
                <a16:creationId xmlns:a16="http://schemas.microsoft.com/office/drawing/2014/main" id="{989A0472-1B37-491A-97AB-85E71E2EE552}"/>
              </a:ext>
            </a:extLst>
          </p:cNvPr>
          <p:cNvGrpSpPr/>
          <p:nvPr/>
        </p:nvGrpSpPr>
        <p:grpSpPr>
          <a:xfrm>
            <a:off x="1480782" y="2836658"/>
            <a:ext cx="1528092" cy="380588"/>
            <a:chOff x="1084785" y="3893729"/>
            <a:chExt cx="1528092" cy="380588"/>
          </a:xfrm>
        </p:grpSpPr>
        <p:grpSp>
          <p:nvGrpSpPr>
            <p:cNvPr id="14" name="群組 13">
              <a:extLst>
                <a:ext uri="{FF2B5EF4-FFF2-40B4-BE49-F238E27FC236}">
                  <a16:creationId xmlns:a16="http://schemas.microsoft.com/office/drawing/2014/main" id="{03463032-3E6E-4104-9353-6900B0E26F55}"/>
                </a:ext>
              </a:extLst>
            </p:cNvPr>
            <p:cNvGrpSpPr/>
            <p:nvPr/>
          </p:nvGrpSpPr>
          <p:grpSpPr>
            <a:xfrm>
              <a:off x="1086283" y="3893729"/>
              <a:ext cx="1526594" cy="380588"/>
              <a:chOff x="1086283" y="3893729"/>
              <a:chExt cx="1526594" cy="380588"/>
            </a:xfrm>
          </p:grpSpPr>
          <p:pic>
            <p:nvPicPr>
              <p:cNvPr id="6" name="圖片 5">
                <a:extLst>
                  <a:ext uri="{FF2B5EF4-FFF2-40B4-BE49-F238E27FC236}">
                    <a16:creationId xmlns:a16="http://schemas.microsoft.com/office/drawing/2014/main" id="{22B5E8B3-DB7A-450E-BF82-4DA9F87A1401}"/>
                  </a:ext>
                </a:extLst>
              </p:cNvPr>
              <p:cNvPicPr>
                <a:picLocks noChangeAspect="1"/>
              </p:cNvPicPr>
              <p:nvPr/>
            </p:nvPicPr>
            <p:blipFill>
              <a:blip r:embed="rId11"/>
              <a:stretch>
                <a:fillRect/>
              </a:stretch>
            </p:blipFill>
            <p:spPr>
              <a:xfrm>
                <a:off x="1097444" y="3893729"/>
                <a:ext cx="1515433" cy="380588"/>
              </a:xfrm>
              <a:prstGeom prst="rect">
                <a:avLst/>
              </a:prstGeom>
            </p:spPr>
          </p:pic>
          <p:sp>
            <p:nvSpPr>
              <p:cNvPr id="13" name="矩形 12">
                <a:extLst>
                  <a:ext uri="{FF2B5EF4-FFF2-40B4-BE49-F238E27FC236}">
                    <a16:creationId xmlns:a16="http://schemas.microsoft.com/office/drawing/2014/main" id="{9F6EC110-D12D-47EC-A10D-636F5421071F}"/>
                  </a:ext>
                </a:extLst>
              </p:cNvPr>
              <p:cNvSpPr/>
              <p:nvPr/>
            </p:nvSpPr>
            <p:spPr>
              <a:xfrm>
                <a:off x="1086283" y="4018854"/>
                <a:ext cx="88287" cy="1303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8C9B2186-DFA0-4B10-AD82-13BAC0A21AC6}"/>
                    </a:ext>
                  </a:extLst>
                </p:cNvPr>
                <p:cNvSpPr txBox="1"/>
                <p:nvPr/>
              </p:nvSpPr>
              <p:spPr>
                <a:xfrm>
                  <a:off x="1084785" y="3956133"/>
                  <a:ext cx="116314"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1100" i="1" smtClean="0">
                            <a:latin typeface="Cambria Math" panose="02040503050406030204" pitchFamily="18" charset="0"/>
                          </a:rPr>
                          <m:t>𝜂</m:t>
                        </m:r>
                      </m:oMath>
                    </m:oMathPara>
                  </a14:m>
                  <a:endParaRPr lang="zh-TW" altLang="en-US" sz="1100" dirty="0"/>
                </a:p>
              </p:txBody>
            </p:sp>
          </mc:Choice>
          <mc:Fallback xmlns="">
            <p:sp>
              <p:nvSpPr>
                <p:cNvPr id="15" name="文字方塊 14">
                  <a:extLst>
                    <a:ext uri="{FF2B5EF4-FFF2-40B4-BE49-F238E27FC236}">
                      <a16:creationId xmlns:a16="http://schemas.microsoft.com/office/drawing/2014/main" id="{8C9B2186-DFA0-4B10-AD82-13BAC0A21AC6}"/>
                    </a:ext>
                  </a:extLst>
                </p:cNvPr>
                <p:cNvSpPr txBox="1">
                  <a:spLocks noRot="1" noChangeAspect="1" noMove="1" noResize="1" noEditPoints="1" noAdjustHandles="1" noChangeArrowheads="1" noChangeShapeType="1" noTextEdit="1"/>
                </p:cNvSpPr>
                <p:nvPr/>
              </p:nvSpPr>
              <p:spPr>
                <a:xfrm>
                  <a:off x="1084785" y="3956133"/>
                  <a:ext cx="116314" cy="169277"/>
                </a:xfrm>
                <a:prstGeom prst="rect">
                  <a:avLst/>
                </a:prstGeom>
                <a:blipFill>
                  <a:blip r:embed="rId13"/>
                  <a:stretch>
                    <a:fillRect l="-31579" r="-21053" b="-29630"/>
                  </a:stretch>
                </a:blipFill>
              </p:spPr>
              <p:txBody>
                <a:bodyPr/>
                <a:lstStyle/>
                <a:p>
                  <a:r>
                    <a:rPr lang="zh-TW" altLang="en-US">
                      <a:noFill/>
                    </a:rPr>
                    <a:t> </a:t>
                  </a:r>
                </a:p>
              </p:txBody>
            </p:sp>
          </mc:Fallback>
        </mc:AlternateContent>
      </p:grpSp>
      <p:grpSp>
        <p:nvGrpSpPr>
          <p:cNvPr id="31" name="群組 30">
            <a:extLst>
              <a:ext uri="{FF2B5EF4-FFF2-40B4-BE49-F238E27FC236}">
                <a16:creationId xmlns:a16="http://schemas.microsoft.com/office/drawing/2014/main" id="{AD3F4471-34A0-456F-9D94-3B79A9519CDA}"/>
              </a:ext>
            </a:extLst>
          </p:cNvPr>
          <p:cNvGrpSpPr/>
          <p:nvPr/>
        </p:nvGrpSpPr>
        <p:grpSpPr>
          <a:xfrm>
            <a:off x="3685487" y="2765439"/>
            <a:ext cx="1723405" cy="464572"/>
            <a:chOff x="3364355" y="2752674"/>
            <a:chExt cx="1723405" cy="464572"/>
          </a:xfrm>
        </p:grpSpPr>
        <p:sp>
          <p:nvSpPr>
            <p:cNvPr id="110" name="矩形 109">
              <a:extLst>
                <a:ext uri="{FF2B5EF4-FFF2-40B4-BE49-F238E27FC236}">
                  <a16:creationId xmlns:a16="http://schemas.microsoft.com/office/drawing/2014/main" id="{673915C4-E890-4EE4-8CFB-6C77B38C9409}"/>
                </a:ext>
              </a:extLst>
            </p:cNvPr>
            <p:cNvSpPr/>
            <p:nvPr/>
          </p:nvSpPr>
          <p:spPr>
            <a:xfrm>
              <a:off x="3364355" y="2883076"/>
              <a:ext cx="684803" cy="230832"/>
            </a:xfrm>
            <a:prstGeom prst="rect">
              <a:avLst/>
            </a:prstGeom>
          </p:spPr>
          <p:txBody>
            <a:bodyPr wrap="none">
              <a:spAutoFit/>
            </a:bodyPr>
            <a:lstStyle/>
            <a:p>
              <a:r>
                <a:rPr lang="en-US" altLang="zh-TW" sz="900" b="1" dirty="0">
                  <a:latin typeface="Montserrat" panose="02020500000000000000" charset="0"/>
                </a:rPr>
                <a:t>EO-PMC</a:t>
              </a:r>
              <a:endParaRPr lang="zh-TW" altLang="en-US" sz="900" dirty="0"/>
            </a:p>
          </p:txBody>
        </p:sp>
        <p:pic>
          <p:nvPicPr>
            <p:cNvPr id="8" name="圖片 7">
              <a:extLst>
                <a:ext uri="{FF2B5EF4-FFF2-40B4-BE49-F238E27FC236}">
                  <a16:creationId xmlns:a16="http://schemas.microsoft.com/office/drawing/2014/main" id="{79DCA4A6-7A1E-48E6-BB68-CD1CF605E3AD}"/>
                </a:ext>
              </a:extLst>
            </p:cNvPr>
            <p:cNvPicPr>
              <a:picLocks noChangeAspect="1"/>
            </p:cNvPicPr>
            <p:nvPr/>
          </p:nvPicPr>
          <p:blipFill>
            <a:blip r:embed="rId14"/>
            <a:stretch>
              <a:fillRect/>
            </a:stretch>
          </p:blipFill>
          <p:spPr>
            <a:xfrm>
              <a:off x="4131814" y="2752674"/>
              <a:ext cx="955946" cy="464572"/>
            </a:xfrm>
            <a:prstGeom prst="rect">
              <a:avLst/>
            </a:prstGeom>
          </p:spPr>
        </p:pic>
        <p:sp>
          <p:nvSpPr>
            <p:cNvPr id="27" name="矩形 26">
              <a:extLst>
                <a:ext uri="{FF2B5EF4-FFF2-40B4-BE49-F238E27FC236}">
                  <a16:creationId xmlns:a16="http://schemas.microsoft.com/office/drawing/2014/main" id="{874970B5-321D-4E5B-A87C-6982CC14F488}"/>
                </a:ext>
              </a:extLst>
            </p:cNvPr>
            <p:cNvSpPr/>
            <p:nvPr/>
          </p:nvSpPr>
          <p:spPr>
            <a:xfrm>
              <a:off x="4177303" y="2899062"/>
              <a:ext cx="150626" cy="2308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1" name="文字方塊 110">
                  <a:extLst>
                    <a:ext uri="{FF2B5EF4-FFF2-40B4-BE49-F238E27FC236}">
                      <a16:creationId xmlns:a16="http://schemas.microsoft.com/office/drawing/2014/main" id="{F369EB9C-242D-4FDB-ACF0-85C4F45FE00C}"/>
                    </a:ext>
                  </a:extLst>
                </p:cNvPr>
                <p:cNvSpPr txBox="1"/>
                <p:nvPr/>
              </p:nvSpPr>
              <p:spPr>
                <a:xfrm>
                  <a:off x="4040374" y="2899062"/>
                  <a:ext cx="273858"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100" i="1" smtClean="0">
                                <a:latin typeface="Cambria Math" panose="02040503050406030204" pitchFamily="18" charset="0"/>
                              </a:rPr>
                            </m:ctrlPr>
                          </m:sSubPr>
                          <m:e>
                            <m:r>
                              <a:rPr lang="zh-TW" altLang="en-US" sz="1100" i="1">
                                <a:latin typeface="Cambria Math" panose="02040503050406030204" pitchFamily="18" charset="0"/>
                              </a:rPr>
                              <m:t>𝜂</m:t>
                            </m:r>
                          </m:e>
                          <m:sub>
                            <m:r>
                              <a:rPr lang="en-US" altLang="zh-TW" sz="1100" b="0" i="1" smtClean="0">
                                <a:latin typeface="Cambria Math" panose="02040503050406030204" pitchFamily="18" charset="0"/>
                              </a:rPr>
                              <m:t>𝑐𝑎𝑙</m:t>
                            </m:r>
                          </m:sub>
                        </m:sSub>
                      </m:oMath>
                    </m:oMathPara>
                  </a14:m>
                  <a:endParaRPr lang="zh-TW" altLang="en-US" sz="1100" dirty="0"/>
                </a:p>
              </p:txBody>
            </p:sp>
          </mc:Choice>
          <mc:Fallback xmlns="">
            <p:sp>
              <p:nvSpPr>
                <p:cNvPr id="111" name="文字方塊 110">
                  <a:extLst>
                    <a:ext uri="{FF2B5EF4-FFF2-40B4-BE49-F238E27FC236}">
                      <a16:creationId xmlns:a16="http://schemas.microsoft.com/office/drawing/2014/main" id="{F369EB9C-242D-4FDB-ACF0-85C4F45FE00C}"/>
                    </a:ext>
                  </a:extLst>
                </p:cNvPr>
                <p:cNvSpPr txBox="1">
                  <a:spLocks noRot="1" noChangeAspect="1" noMove="1" noResize="1" noEditPoints="1" noAdjustHandles="1" noChangeArrowheads="1" noChangeShapeType="1" noTextEdit="1"/>
                </p:cNvSpPr>
                <p:nvPr/>
              </p:nvSpPr>
              <p:spPr>
                <a:xfrm>
                  <a:off x="4040374" y="2899062"/>
                  <a:ext cx="273858" cy="169277"/>
                </a:xfrm>
                <a:prstGeom prst="rect">
                  <a:avLst/>
                </a:prstGeom>
                <a:blipFill>
                  <a:blip r:embed="rId15"/>
                  <a:stretch>
                    <a:fillRect l="-11111" r="-4444" b="-29630"/>
                  </a:stretch>
                </a:blipFill>
              </p:spPr>
              <p:txBody>
                <a:bodyPr/>
                <a:lstStyle/>
                <a:p>
                  <a:r>
                    <a:rPr lang="zh-TW" altLang="en-US">
                      <a:noFill/>
                    </a:rPr>
                    <a:t> </a:t>
                  </a:r>
                </a:p>
              </p:txBody>
            </p:sp>
          </mc:Fallback>
        </mc:AlternateContent>
      </p:grpSp>
      <p:sp>
        <p:nvSpPr>
          <p:cNvPr id="75" name="文字方塊 74">
            <a:extLst>
              <a:ext uri="{FF2B5EF4-FFF2-40B4-BE49-F238E27FC236}">
                <a16:creationId xmlns:a16="http://schemas.microsoft.com/office/drawing/2014/main" id="{7FEF03B3-887F-4E0A-891F-C73DEDAABDF7}"/>
              </a:ext>
            </a:extLst>
          </p:cNvPr>
          <p:cNvSpPr txBox="1"/>
          <p:nvPr/>
        </p:nvSpPr>
        <p:spPr>
          <a:xfrm>
            <a:off x="3226172" y="2895841"/>
            <a:ext cx="412292" cy="246221"/>
          </a:xfrm>
          <a:prstGeom prst="rect">
            <a:avLst/>
          </a:prstGeom>
          <a:noFill/>
        </p:spPr>
        <p:txBody>
          <a:bodyPr wrap="none" rtlCol="0">
            <a:spAutoFit/>
          </a:bodyPr>
          <a:lstStyle/>
          <a:p>
            <a:r>
              <a:rPr lang="en-US" altLang="zh-TW" sz="1000" dirty="0">
                <a:latin typeface="Montserrat" panose="02020500000000000000" charset="0"/>
              </a:rPr>
              <a:t>(25)</a:t>
            </a:r>
            <a:endParaRPr lang="zh-TW" altLang="en-US" sz="1000" dirty="0">
              <a:latin typeface="Montserrat" panose="02020500000000000000" charset="0"/>
            </a:endParaRPr>
          </a:p>
        </p:txBody>
      </p:sp>
      <p:sp>
        <p:nvSpPr>
          <p:cNvPr id="76" name="文字方塊 75">
            <a:extLst>
              <a:ext uri="{FF2B5EF4-FFF2-40B4-BE49-F238E27FC236}">
                <a16:creationId xmlns:a16="http://schemas.microsoft.com/office/drawing/2014/main" id="{CE28E51C-7B56-49AE-B6B8-B6B2DAEB47BC}"/>
              </a:ext>
            </a:extLst>
          </p:cNvPr>
          <p:cNvSpPr txBox="1"/>
          <p:nvPr/>
        </p:nvSpPr>
        <p:spPr>
          <a:xfrm>
            <a:off x="5491548" y="2868374"/>
            <a:ext cx="418704" cy="246221"/>
          </a:xfrm>
          <a:prstGeom prst="rect">
            <a:avLst/>
          </a:prstGeom>
          <a:noFill/>
        </p:spPr>
        <p:txBody>
          <a:bodyPr wrap="none" rtlCol="0">
            <a:spAutoFit/>
          </a:bodyPr>
          <a:lstStyle/>
          <a:p>
            <a:r>
              <a:rPr lang="en-US" altLang="zh-TW" sz="1000" dirty="0">
                <a:latin typeface="Montserrat" panose="02020500000000000000" charset="0"/>
              </a:rPr>
              <a:t>(26)</a:t>
            </a:r>
            <a:endParaRPr lang="zh-TW" altLang="en-US" sz="1000" dirty="0">
              <a:latin typeface="Montserrat" panose="02020500000000000000" charset="0"/>
            </a:endParaRPr>
          </a:p>
        </p:txBody>
      </p:sp>
    </p:spTree>
    <p:extLst>
      <p:ext uri="{BB962C8B-B14F-4D97-AF65-F5344CB8AC3E}">
        <p14:creationId xmlns:p14="http://schemas.microsoft.com/office/powerpoint/2010/main" val="127958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Genetic algorithm</a:t>
            </a:r>
          </a:p>
        </p:txBody>
      </p:sp>
      <p:grpSp>
        <p:nvGrpSpPr>
          <p:cNvPr id="2" name="群組 1">
            <a:extLst>
              <a:ext uri="{FF2B5EF4-FFF2-40B4-BE49-F238E27FC236}">
                <a16:creationId xmlns:a16="http://schemas.microsoft.com/office/drawing/2014/main" id="{45EE569E-F11B-4752-B701-CEF807C6690A}"/>
              </a:ext>
            </a:extLst>
          </p:cNvPr>
          <p:cNvGrpSpPr/>
          <p:nvPr/>
        </p:nvGrpSpPr>
        <p:grpSpPr>
          <a:xfrm>
            <a:off x="192683" y="-911"/>
            <a:ext cx="8761417" cy="295831"/>
            <a:chOff x="192683" y="-911"/>
            <a:chExt cx="8761417" cy="295831"/>
          </a:xfrm>
        </p:grpSpPr>
        <p:sp>
          <p:nvSpPr>
            <p:cNvPr id="3" name="矩形 2">
              <a:extLst>
                <a:ext uri="{FF2B5EF4-FFF2-40B4-BE49-F238E27FC236}">
                  <a16:creationId xmlns:a16="http://schemas.microsoft.com/office/drawing/2014/main" id="{334333F4-1DE5-4C34-941D-4211DB08B2B6}"/>
                </a:ext>
              </a:extLst>
            </p:cNvPr>
            <p:cNvSpPr/>
            <p:nvPr/>
          </p:nvSpPr>
          <p:spPr>
            <a:xfrm>
              <a:off x="2826656" y="-911"/>
              <a:ext cx="90618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Simulation</a:t>
              </a:r>
            </a:p>
          </p:txBody>
        </p:sp>
        <p:sp>
          <p:nvSpPr>
            <p:cNvPr id="4" name="矩形 3">
              <a:extLst>
                <a:ext uri="{FF2B5EF4-FFF2-40B4-BE49-F238E27FC236}">
                  <a16:creationId xmlns:a16="http://schemas.microsoft.com/office/drawing/2014/main" id="{8A87B6FD-7492-4217-AABC-FB3A6A7F4B34}"/>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5A13068B-F3E0-49DA-95B0-86CEBA1D9BC3}"/>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45BD29EF-93BC-4167-8B33-AB0C19A23588}"/>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EE9A2078-D6C5-4F79-A54F-A549E72B1CB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2" name="矩形 11">
              <a:extLst>
                <a:ext uri="{FF2B5EF4-FFF2-40B4-BE49-F238E27FC236}">
                  <a16:creationId xmlns:a16="http://schemas.microsoft.com/office/drawing/2014/main" id="{BD57BFC2-4B89-4A38-973B-AD9A4A7BCC10}"/>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4" name="矩形 13">
            <a:extLst>
              <a:ext uri="{FF2B5EF4-FFF2-40B4-BE49-F238E27FC236}">
                <a16:creationId xmlns:a16="http://schemas.microsoft.com/office/drawing/2014/main" id="{D86DE708-D638-4183-872F-DD92D232861B}"/>
              </a:ext>
            </a:extLst>
          </p:cNvPr>
          <p:cNvSpPr/>
          <p:nvPr/>
        </p:nvSpPr>
        <p:spPr>
          <a:xfrm>
            <a:off x="644018" y="906304"/>
            <a:ext cx="2522764" cy="246221"/>
          </a:xfrm>
          <a:prstGeom prst="rect">
            <a:avLst/>
          </a:prstGeom>
        </p:spPr>
        <p:txBody>
          <a:bodyPr wrap="square">
            <a:spAutoFit/>
          </a:bodyPr>
          <a:lstStyle/>
          <a:p>
            <a:r>
              <a:rPr lang="en-US" altLang="zh-TW" sz="1000" b="1" dirty="0">
                <a:latin typeface="Montserrat" panose="02020500000000000000" charset="0"/>
              </a:rPr>
              <a:t>The conversion efficiency of SPDC</a:t>
            </a:r>
            <a:endParaRPr lang="zh-TW" altLang="en-US" sz="1000" b="1" dirty="0">
              <a:latin typeface="Montserrat" panose="02020500000000000000" charset="0"/>
            </a:endParaRPr>
          </a:p>
        </p:txBody>
      </p:sp>
      <p:grpSp>
        <p:nvGrpSpPr>
          <p:cNvPr id="30" name="群組 29">
            <a:extLst>
              <a:ext uri="{FF2B5EF4-FFF2-40B4-BE49-F238E27FC236}">
                <a16:creationId xmlns:a16="http://schemas.microsoft.com/office/drawing/2014/main" id="{90F4DBB8-2087-4256-A5DA-C2EF23C0A38C}"/>
              </a:ext>
            </a:extLst>
          </p:cNvPr>
          <p:cNvGrpSpPr/>
          <p:nvPr/>
        </p:nvGrpSpPr>
        <p:grpSpPr>
          <a:xfrm>
            <a:off x="650363" y="1391865"/>
            <a:ext cx="2721791" cy="525854"/>
            <a:chOff x="644018" y="2136073"/>
            <a:chExt cx="2721791" cy="525854"/>
          </a:xfrm>
        </p:grpSpPr>
        <p:pic>
          <p:nvPicPr>
            <p:cNvPr id="8" name="圖片 7">
              <a:extLst>
                <a:ext uri="{FF2B5EF4-FFF2-40B4-BE49-F238E27FC236}">
                  <a16:creationId xmlns:a16="http://schemas.microsoft.com/office/drawing/2014/main" id="{D503FF38-A7EC-4D33-A3B2-6A8C9B6D9DE3}"/>
                </a:ext>
              </a:extLst>
            </p:cNvPr>
            <p:cNvPicPr>
              <a:picLocks noChangeAspect="1"/>
            </p:cNvPicPr>
            <p:nvPr/>
          </p:nvPicPr>
          <p:blipFill>
            <a:blip r:embed="rId3"/>
            <a:stretch>
              <a:fillRect/>
            </a:stretch>
          </p:blipFill>
          <p:spPr>
            <a:xfrm>
              <a:off x="644018" y="2136073"/>
              <a:ext cx="2719763" cy="478200"/>
            </a:xfrm>
            <a:prstGeom prst="rect">
              <a:avLst/>
            </a:prstGeom>
          </p:spPr>
        </p:pic>
        <p:cxnSp>
          <p:nvCxnSpPr>
            <p:cNvPr id="19" name="直線接點 18">
              <a:extLst>
                <a:ext uri="{FF2B5EF4-FFF2-40B4-BE49-F238E27FC236}">
                  <a16:creationId xmlns:a16="http://schemas.microsoft.com/office/drawing/2014/main" id="{13139B85-1C0B-4022-95A9-3E6D755738A9}"/>
                </a:ext>
              </a:extLst>
            </p:cNvPr>
            <p:cNvCxnSpPr>
              <a:cxnSpLocks/>
            </p:cNvCxnSpPr>
            <p:nvPr/>
          </p:nvCxnSpPr>
          <p:spPr>
            <a:xfrm>
              <a:off x="2003899" y="2661927"/>
              <a:ext cx="136191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8" name="群組 27">
            <a:extLst>
              <a:ext uri="{FF2B5EF4-FFF2-40B4-BE49-F238E27FC236}">
                <a16:creationId xmlns:a16="http://schemas.microsoft.com/office/drawing/2014/main" id="{5CDBAAED-9731-4A7F-9C20-6426F366BB9E}"/>
              </a:ext>
            </a:extLst>
          </p:cNvPr>
          <p:cNvGrpSpPr/>
          <p:nvPr/>
        </p:nvGrpSpPr>
        <p:grpSpPr>
          <a:xfrm>
            <a:off x="1303482" y="2167197"/>
            <a:ext cx="4649415" cy="2555997"/>
            <a:chOff x="3976185" y="2008800"/>
            <a:chExt cx="4649415" cy="2555997"/>
          </a:xfrm>
        </p:grpSpPr>
        <p:grpSp>
          <p:nvGrpSpPr>
            <p:cNvPr id="26" name="群組 25">
              <a:extLst>
                <a:ext uri="{FF2B5EF4-FFF2-40B4-BE49-F238E27FC236}">
                  <a16:creationId xmlns:a16="http://schemas.microsoft.com/office/drawing/2014/main" id="{7B3CEA30-DE30-4228-98A5-6CF7A24DE05A}"/>
                </a:ext>
              </a:extLst>
            </p:cNvPr>
            <p:cNvGrpSpPr/>
            <p:nvPr/>
          </p:nvGrpSpPr>
          <p:grpSpPr>
            <a:xfrm>
              <a:off x="4091064" y="2076281"/>
              <a:ext cx="4425943" cy="2361233"/>
              <a:chOff x="4091064" y="2076281"/>
              <a:chExt cx="4425943" cy="2361233"/>
            </a:xfrm>
          </p:grpSpPr>
          <p:pic>
            <p:nvPicPr>
              <p:cNvPr id="6" name="圖片 5">
                <a:extLst>
                  <a:ext uri="{FF2B5EF4-FFF2-40B4-BE49-F238E27FC236}">
                    <a16:creationId xmlns:a16="http://schemas.microsoft.com/office/drawing/2014/main" id="{502BAB45-011A-4D35-B2C5-8FEEC43A6279}"/>
                  </a:ext>
                </a:extLst>
              </p:cNvPr>
              <p:cNvPicPr>
                <a:picLocks noChangeAspect="1"/>
              </p:cNvPicPr>
              <p:nvPr/>
            </p:nvPicPr>
            <p:blipFill>
              <a:blip r:embed="rId4"/>
              <a:stretch>
                <a:fillRect/>
              </a:stretch>
            </p:blipFill>
            <p:spPr>
              <a:xfrm>
                <a:off x="4091064" y="2076281"/>
                <a:ext cx="2253162" cy="1097694"/>
              </a:xfrm>
              <a:prstGeom prst="rect">
                <a:avLst/>
              </a:prstGeom>
            </p:spPr>
          </p:pic>
          <p:pic>
            <p:nvPicPr>
              <p:cNvPr id="23" name="圖片 22">
                <a:extLst>
                  <a:ext uri="{FF2B5EF4-FFF2-40B4-BE49-F238E27FC236}">
                    <a16:creationId xmlns:a16="http://schemas.microsoft.com/office/drawing/2014/main" id="{8551D01C-CC04-417B-BED0-85ADB69013D1}"/>
                  </a:ext>
                </a:extLst>
              </p:cNvPr>
              <p:cNvPicPr>
                <a:picLocks noChangeAspect="1"/>
              </p:cNvPicPr>
              <p:nvPr/>
            </p:nvPicPr>
            <p:blipFill>
              <a:blip r:embed="rId5"/>
              <a:stretch>
                <a:fillRect/>
              </a:stretch>
            </p:blipFill>
            <p:spPr>
              <a:xfrm>
                <a:off x="4596915" y="3173975"/>
                <a:ext cx="3920092" cy="604383"/>
              </a:xfrm>
              <a:prstGeom prst="rect">
                <a:avLst/>
              </a:prstGeom>
            </p:spPr>
          </p:pic>
          <p:pic>
            <p:nvPicPr>
              <p:cNvPr id="25" name="圖片 24">
                <a:extLst>
                  <a:ext uri="{FF2B5EF4-FFF2-40B4-BE49-F238E27FC236}">
                    <a16:creationId xmlns:a16="http://schemas.microsoft.com/office/drawing/2014/main" id="{F90E00E2-4370-4621-9415-2825FE0C8893}"/>
                  </a:ext>
                </a:extLst>
              </p:cNvPr>
              <p:cNvPicPr>
                <a:picLocks noChangeAspect="1"/>
              </p:cNvPicPr>
              <p:nvPr/>
            </p:nvPicPr>
            <p:blipFill>
              <a:blip r:embed="rId6"/>
              <a:stretch>
                <a:fillRect/>
              </a:stretch>
            </p:blipFill>
            <p:spPr>
              <a:xfrm>
                <a:off x="4596915" y="3789213"/>
                <a:ext cx="2718312" cy="648301"/>
              </a:xfrm>
              <a:prstGeom prst="rect">
                <a:avLst/>
              </a:prstGeom>
            </p:spPr>
          </p:pic>
        </p:grpSp>
        <p:sp>
          <p:nvSpPr>
            <p:cNvPr id="27" name="矩形 26">
              <a:extLst>
                <a:ext uri="{FF2B5EF4-FFF2-40B4-BE49-F238E27FC236}">
                  <a16:creationId xmlns:a16="http://schemas.microsoft.com/office/drawing/2014/main" id="{FE572596-C088-4C0F-AFC0-193519EDF42E}"/>
                </a:ext>
              </a:extLst>
            </p:cNvPr>
            <p:cNvSpPr/>
            <p:nvPr/>
          </p:nvSpPr>
          <p:spPr>
            <a:xfrm>
              <a:off x="3976185" y="2008800"/>
              <a:ext cx="4649415" cy="2555997"/>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3" name="群組 32">
            <a:extLst>
              <a:ext uri="{FF2B5EF4-FFF2-40B4-BE49-F238E27FC236}">
                <a16:creationId xmlns:a16="http://schemas.microsoft.com/office/drawing/2014/main" id="{85C978EF-3EC2-4903-81B9-C213809EF088}"/>
              </a:ext>
            </a:extLst>
          </p:cNvPr>
          <p:cNvGrpSpPr/>
          <p:nvPr/>
        </p:nvGrpSpPr>
        <p:grpSpPr>
          <a:xfrm>
            <a:off x="6095431" y="3314809"/>
            <a:ext cx="2764841" cy="260777"/>
            <a:chOff x="5922859" y="2310973"/>
            <a:chExt cx="2764841" cy="260777"/>
          </a:xfrm>
        </p:grpSpPr>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8DD147A4-1C94-436C-B284-A2B385029FDA}"/>
                    </a:ext>
                  </a:extLst>
                </p:cNvPr>
                <p:cNvSpPr/>
                <p:nvPr/>
              </p:nvSpPr>
              <p:spPr>
                <a:xfrm>
                  <a:off x="6378776" y="2310973"/>
                  <a:ext cx="2308924" cy="260777"/>
                </a:xfrm>
                <a:prstGeom prst="rect">
                  <a:avLst/>
                </a:prstGeom>
              </p:spPr>
              <p:txBody>
                <a:bodyPr wrap="square">
                  <a:spAutoFit/>
                </a:bodyPr>
                <a:lstStyle/>
                <a:p>
                  <a:r>
                    <a:rPr lang="en-US" altLang="zh-TW" sz="1000" b="1" dirty="0">
                      <a:latin typeface="Montserrat" panose="02020500000000000000" charset="0"/>
                    </a:rPr>
                    <a:t>Find the maximum of </a:t>
                  </a:r>
                  <a14:m>
                    <m:oMath xmlns:m="http://schemas.openxmlformats.org/officeDocument/2006/math">
                      <m:sSub>
                        <m:sSubPr>
                          <m:ctrlPr>
                            <a:rPr lang="en-US" altLang="zh-TW" sz="1000" b="1" i="1" smtClean="0">
                              <a:latin typeface="Cambria Math" panose="02040503050406030204" pitchFamily="18" charset="0"/>
                            </a:rPr>
                          </m:ctrlPr>
                        </m:sSubPr>
                        <m:e>
                          <m:r>
                            <a:rPr lang="en-US" altLang="zh-TW" sz="1000" b="1" i="1" smtClean="0">
                              <a:latin typeface="Cambria Math" panose="02040503050406030204" pitchFamily="18" charset="0"/>
                            </a:rPr>
                            <m:t>𝒅</m:t>
                          </m:r>
                        </m:e>
                        <m:sub>
                          <m:r>
                            <a:rPr lang="en-US" altLang="zh-TW" sz="1000" b="1" i="1" smtClean="0">
                              <a:latin typeface="Cambria Math" panose="02040503050406030204" pitchFamily="18" charset="0"/>
                            </a:rPr>
                            <m:t>𝒆𝒇𝒇</m:t>
                          </m:r>
                        </m:sub>
                      </m:sSub>
                      <m:d>
                        <m:dPr>
                          <m:ctrlPr>
                            <a:rPr lang="en-US" altLang="zh-TW" sz="1000" b="1" i="1" smtClean="0">
                              <a:latin typeface="Cambria Math" panose="02040503050406030204" pitchFamily="18" charset="0"/>
                            </a:rPr>
                          </m:ctrlPr>
                        </m:dPr>
                        <m:e>
                          <m:r>
                            <a:rPr lang="zh-TW" altLang="en-US" sz="1000" b="1" i="1" smtClean="0">
                              <a:latin typeface="Cambria Math" panose="02040503050406030204" pitchFamily="18" charset="0"/>
                            </a:rPr>
                            <m:t>𝝀</m:t>
                          </m:r>
                        </m:e>
                      </m:d>
                    </m:oMath>
                  </a14:m>
                  <a:endParaRPr lang="zh-TW" altLang="en-US" sz="1000" b="1" dirty="0">
                    <a:latin typeface="Montserrat" panose="02020500000000000000" charset="0"/>
                  </a:endParaRPr>
                </a:p>
              </p:txBody>
            </p:sp>
          </mc:Choice>
          <mc:Fallback xmlns="">
            <p:sp>
              <p:nvSpPr>
                <p:cNvPr id="31" name="矩形 30">
                  <a:extLst>
                    <a:ext uri="{FF2B5EF4-FFF2-40B4-BE49-F238E27FC236}">
                      <a16:creationId xmlns:a16="http://schemas.microsoft.com/office/drawing/2014/main" id="{8DD147A4-1C94-436C-B284-A2B385029FDA}"/>
                    </a:ext>
                  </a:extLst>
                </p:cNvPr>
                <p:cNvSpPr>
                  <a:spLocks noRot="1" noChangeAspect="1" noMove="1" noResize="1" noEditPoints="1" noAdjustHandles="1" noChangeArrowheads="1" noChangeShapeType="1" noTextEdit="1"/>
                </p:cNvSpPr>
                <p:nvPr/>
              </p:nvSpPr>
              <p:spPr>
                <a:xfrm>
                  <a:off x="6378776" y="2310973"/>
                  <a:ext cx="2308924" cy="260777"/>
                </a:xfrm>
                <a:prstGeom prst="rect">
                  <a:avLst/>
                </a:prstGeom>
                <a:blipFill>
                  <a:blip r:embed="rId7"/>
                  <a:stretch>
                    <a:fillRect b="-4651"/>
                  </a:stretch>
                </a:blipFill>
              </p:spPr>
              <p:txBody>
                <a:bodyPr/>
                <a:lstStyle/>
                <a:p>
                  <a:r>
                    <a:rPr lang="zh-TW" altLang="en-US">
                      <a:noFill/>
                    </a:rPr>
                    <a:t> </a:t>
                  </a:r>
                </a:p>
              </p:txBody>
            </p:sp>
          </mc:Fallback>
        </mc:AlternateContent>
        <p:sp>
          <p:nvSpPr>
            <p:cNvPr id="32" name="箭號: 向下 31">
              <a:extLst>
                <a:ext uri="{FF2B5EF4-FFF2-40B4-BE49-F238E27FC236}">
                  <a16:creationId xmlns:a16="http://schemas.microsoft.com/office/drawing/2014/main" id="{8D36BE5A-7352-4CC0-A218-8A7BCC1E7BB2}"/>
                </a:ext>
              </a:extLst>
            </p:cNvPr>
            <p:cNvSpPr/>
            <p:nvPr/>
          </p:nvSpPr>
          <p:spPr>
            <a:xfrm rot="16200000">
              <a:off x="6015676" y="2284669"/>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2E43FE5B-F61A-4171-870B-F828D8811E44}"/>
                  </a:ext>
                </a:extLst>
              </p:cNvPr>
              <p:cNvSpPr/>
              <p:nvPr/>
            </p:nvSpPr>
            <p:spPr>
              <a:xfrm>
                <a:off x="6492643" y="1042925"/>
                <a:ext cx="2023782" cy="1331968"/>
              </a:xfrm>
              <a:prstGeom prst="rect">
                <a:avLst/>
              </a:prstGeom>
            </p:spPr>
            <p:txBody>
              <a:bodyPr wrap="square">
                <a:spAutoFit/>
              </a:bodyPr>
              <a:lstStyle/>
              <a:p>
                <a:pPr>
                  <a:lnSpc>
                    <a:spcPct val="150000"/>
                  </a:lnSpc>
                </a:pPr>
                <a14:m>
                  <m:oMath xmlns:m="http://schemas.openxmlformats.org/officeDocument/2006/math">
                    <m:sSub>
                      <m:sSubPr>
                        <m:ctrlPr>
                          <a:rPr lang="zh-TW" altLang="en-US" sz="900" i="1" smtClean="0">
                            <a:latin typeface="Cambria Math" panose="02040503050406030204" pitchFamily="18" charset="0"/>
                          </a:rPr>
                        </m:ctrlPr>
                      </m:sSubPr>
                      <m:e>
                        <m:r>
                          <a:rPr lang="zh-TW" altLang="en-US" sz="900" i="1">
                            <a:latin typeface="Cambria Math" panose="02040503050406030204" pitchFamily="18" charset="0"/>
                          </a:rPr>
                          <m:t>𝑑</m:t>
                        </m:r>
                      </m:e>
                      <m:sub>
                        <m:r>
                          <a:rPr lang="zh-TW" altLang="en-US" sz="900" i="1">
                            <a:latin typeface="Cambria Math" panose="02040503050406030204" pitchFamily="18" charset="0"/>
                          </a:rPr>
                          <m:t>𝑒𝑓𝑓</m:t>
                        </m:r>
                      </m:sub>
                    </m:sSub>
                  </m:oMath>
                </a14:m>
                <a:r>
                  <a:rPr lang="zh-TW" altLang="en-US" sz="900" dirty="0">
                    <a:latin typeface="Montserrat" panose="02020500000000000000" charset="0"/>
                    <a:cs typeface="Times New Roman" pitchFamily="18" charset="0"/>
                  </a:rPr>
                  <a:t>：</a:t>
                </a:r>
                <a:r>
                  <a:rPr lang="en-US" altLang="zh-TW" sz="900" dirty="0" err="1">
                    <a:latin typeface="Montserrat" panose="02020500000000000000" charset="0"/>
                    <a:cs typeface="Times New Roman" pitchFamily="18" charset="0"/>
                  </a:rPr>
                  <a:t>fourier</a:t>
                </a:r>
                <a:r>
                  <a:rPr lang="en-US" altLang="zh-TW" sz="900" dirty="0">
                    <a:latin typeface="Montserrat" panose="02020500000000000000" charset="0"/>
                    <a:cs typeface="Times New Roman" pitchFamily="18" charset="0"/>
                  </a:rPr>
                  <a:t> coefficient</a:t>
                </a:r>
              </a:p>
              <a:p>
                <a:pPr>
                  <a:lnSpc>
                    <a:spcPct val="150000"/>
                  </a:lnSpc>
                </a:pPr>
                <a14:m>
                  <m:oMath xmlns:m="http://schemas.openxmlformats.org/officeDocument/2006/math">
                    <m:r>
                      <a:rPr lang="zh-TW" altLang="en-US" sz="900">
                        <a:latin typeface="Cambria Math" panose="02040503050406030204" pitchFamily="18" charset="0"/>
                      </a:rPr>
                      <m:t>∆</m:t>
                    </m:r>
                    <m:r>
                      <a:rPr lang="zh-TW" altLang="en-US" sz="900" i="1">
                        <a:latin typeface="Cambria Math" panose="02040503050406030204" pitchFamily="18" charset="0"/>
                      </a:rPr>
                      <m:t>𝑘</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phase matching condition</a:t>
                </a:r>
              </a:p>
              <a:p>
                <a:pPr>
                  <a:lnSpc>
                    <a:spcPct val="150000"/>
                  </a:lnSpc>
                </a:pPr>
                <a14:m>
                  <m:oMath xmlns:m="http://schemas.openxmlformats.org/officeDocument/2006/math">
                    <m:r>
                      <a:rPr lang="zh-TW" altLang="en-US" sz="900" i="1">
                        <a:latin typeface="Cambria Math" panose="02040503050406030204" pitchFamily="18" charset="0"/>
                      </a:rPr>
                      <m:t>𝐿</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crystal length</a:t>
                </a:r>
              </a:p>
              <a:p>
                <a:pPr>
                  <a:lnSpc>
                    <a:spcPct val="150000"/>
                  </a:lnSpc>
                </a:pPr>
                <a14:m>
                  <m:oMath xmlns:m="http://schemas.openxmlformats.org/officeDocument/2006/math">
                    <m:r>
                      <a:rPr lang="en-US" altLang="zh-TW" sz="900" i="1">
                        <a:latin typeface="Cambria Math" panose="02040503050406030204" pitchFamily="18" charset="0"/>
                      </a:rPr>
                      <m:t>𝑁</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number of domain</a:t>
                </a:r>
              </a:p>
              <a:p>
                <a:pPr>
                  <a:lnSpc>
                    <a:spcPct val="150000"/>
                  </a:lnSpc>
                </a:pPr>
                <a14:m>
                  <m:oMath xmlns:m="http://schemas.openxmlformats.org/officeDocument/2006/math">
                    <m:r>
                      <a:rPr lang="en-US" altLang="zh-TW" sz="900" i="1">
                        <a:latin typeface="Cambria Math" panose="02040503050406030204" pitchFamily="18" charset="0"/>
                      </a:rPr>
                      <m:t>𝑞</m:t>
                    </m:r>
                    <m:r>
                      <a:rPr lang="zh-TW" altLang="en-US" sz="900">
                        <a:latin typeface="Cambria Math" panose="02040503050406030204" pitchFamily="18" charset="0"/>
                      </a:rPr>
                      <m:t>：</m:t>
                    </m:r>
                  </m:oMath>
                </a14:m>
                <a:r>
                  <a:rPr lang="en-US" altLang="zh-TW" sz="900" dirty="0">
                    <a:latin typeface="Montserrat" panose="02020500000000000000" charset="0"/>
                    <a:cs typeface="Times New Roman" pitchFamily="18" charset="0"/>
                  </a:rPr>
                  <a:t> unit block number</a:t>
                </a:r>
              </a:p>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en-US" altLang="zh-TW" sz="900" b="0" i="1" smtClean="0">
                            <a:latin typeface="Cambria Math" panose="02040503050406030204" pitchFamily="18" charset="0"/>
                          </a:rPr>
                          <m:t>𝑥</m:t>
                        </m:r>
                      </m:e>
                      <m:sub>
                        <m:r>
                          <a:rPr lang="zh-TW" altLang="en-US" sz="900" i="1">
                            <a:latin typeface="Cambria Math" panose="02040503050406030204" pitchFamily="18" charset="0"/>
                          </a:rPr>
                          <m:t>𝑛</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domain position</a:t>
                </a:r>
                <a:endParaRPr lang="en-US" altLang="zh-TW" sz="1000" dirty="0">
                  <a:latin typeface="Montserrat" panose="02020500000000000000" charset="0"/>
                  <a:cs typeface="Times New Roman" pitchFamily="18" charset="0"/>
                </a:endParaRPr>
              </a:p>
            </p:txBody>
          </p:sp>
        </mc:Choice>
        <mc:Fallback xmlns="">
          <p:sp>
            <p:nvSpPr>
              <p:cNvPr id="35" name="矩形 34">
                <a:extLst>
                  <a:ext uri="{FF2B5EF4-FFF2-40B4-BE49-F238E27FC236}">
                    <a16:creationId xmlns:a16="http://schemas.microsoft.com/office/drawing/2014/main" id="{2E43FE5B-F61A-4171-870B-F828D8811E44}"/>
                  </a:ext>
                </a:extLst>
              </p:cNvPr>
              <p:cNvSpPr>
                <a:spLocks noRot="1" noChangeAspect="1" noMove="1" noResize="1" noEditPoints="1" noAdjustHandles="1" noChangeArrowheads="1" noChangeShapeType="1" noTextEdit="1"/>
              </p:cNvSpPr>
              <p:nvPr/>
            </p:nvSpPr>
            <p:spPr>
              <a:xfrm>
                <a:off x="6492643" y="1042925"/>
                <a:ext cx="2023782" cy="1331968"/>
              </a:xfrm>
              <a:prstGeom prst="rect">
                <a:avLst/>
              </a:prstGeom>
              <a:blipFill>
                <a:blip r:embed="rId8"/>
                <a:stretch>
                  <a:fillRect b="-1370"/>
                </a:stretch>
              </a:blipFill>
            </p:spPr>
            <p:txBody>
              <a:bodyPr/>
              <a:lstStyle/>
              <a:p>
                <a:r>
                  <a:rPr lang="zh-TW" altLang="en-US">
                    <a:noFill/>
                  </a:rPr>
                  <a:t> </a:t>
                </a:r>
              </a:p>
            </p:txBody>
          </p:sp>
        </mc:Fallback>
      </mc:AlternateContent>
      <p:sp>
        <p:nvSpPr>
          <p:cNvPr id="29" name="文字方塊 28">
            <a:extLst>
              <a:ext uri="{FF2B5EF4-FFF2-40B4-BE49-F238E27FC236}">
                <a16:creationId xmlns:a16="http://schemas.microsoft.com/office/drawing/2014/main" id="{E51B8E04-1138-4B0D-BEE4-22C39F8011DD}"/>
              </a:ext>
            </a:extLst>
          </p:cNvPr>
          <p:cNvSpPr txBox="1"/>
          <p:nvPr/>
        </p:nvSpPr>
        <p:spPr>
          <a:xfrm>
            <a:off x="8585770" y="4631694"/>
            <a:ext cx="354584" cy="261610"/>
          </a:xfrm>
          <a:prstGeom prst="rect">
            <a:avLst/>
          </a:prstGeom>
          <a:noFill/>
        </p:spPr>
        <p:txBody>
          <a:bodyPr wrap="none" rtlCol="0">
            <a:spAutoFit/>
          </a:bodyPr>
          <a:lstStyle/>
          <a:p>
            <a:r>
              <a:rPr lang="en-US" altLang="zh-TW" sz="1100" dirty="0">
                <a:latin typeface="Montserrat" panose="02020500000000000000" charset="0"/>
              </a:rPr>
              <a:t>38</a:t>
            </a:r>
            <a:endParaRPr lang="zh-TW" altLang="en-US" sz="1100" dirty="0">
              <a:latin typeface="Montserrat" panose="02020500000000000000" charset="0"/>
            </a:endParaRPr>
          </a:p>
        </p:txBody>
      </p:sp>
      <p:sp>
        <p:nvSpPr>
          <p:cNvPr id="13" name="文字方塊 12">
            <a:extLst>
              <a:ext uri="{FF2B5EF4-FFF2-40B4-BE49-F238E27FC236}">
                <a16:creationId xmlns:a16="http://schemas.microsoft.com/office/drawing/2014/main" id="{B1E837A5-BC68-4083-84C3-045A885FEE70}"/>
              </a:ext>
            </a:extLst>
          </p:cNvPr>
          <p:cNvSpPr txBox="1"/>
          <p:nvPr/>
        </p:nvSpPr>
        <p:spPr>
          <a:xfrm>
            <a:off x="7685523" y="4928056"/>
            <a:ext cx="1072730" cy="215444"/>
          </a:xfrm>
          <a:prstGeom prst="rect">
            <a:avLst/>
          </a:prstGeom>
          <a:noFill/>
        </p:spPr>
        <p:txBody>
          <a:bodyPr wrap="none" rtlCol="0">
            <a:spAutoFit/>
          </a:bodyPr>
          <a:lstStyle/>
          <a:p>
            <a:r>
              <a:rPr lang="en-US" altLang="zh-TW" sz="800" dirty="0">
                <a:solidFill>
                  <a:schemeClr val="tx1"/>
                </a:solidFill>
                <a:latin typeface="Montserrat" panose="02020500000000000000" charset="0"/>
              </a:rPr>
              <a:t>(Jiang et al., 2017)</a:t>
            </a:r>
            <a:endParaRPr lang="zh-TW" altLang="en-US" sz="800" dirty="0">
              <a:solidFill>
                <a:schemeClr val="tx1"/>
              </a:solidFill>
              <a:latin typeface="Montserrat" panose="02020500000000000000" charset="0"/>
            </a:endParaRPr>
          </a:p>
        </p:txBody>
      </p:sp>
      <p:sp>
        <p:nvSpPr>
          <p:cNvPr id="34" name="文字方塊 33">
            <a:extLst>
              <a:ext uri="{FF2B5EF4-FFF2-40B4-BE49-F238E27FC236}">
                <a16:creationId xmlns:a16="http://schemas.microsoft.com/office/drawing/2014/main" id="{3AE7D8EC-AE60-4F80-9E06-94F78970624E}"/>
              </a:ext>
            </a:extLst>
          </p:cNvPr>
          <p:cNvSpPr txBox="1"/>
          <p:nvPr/>
        </p:nvSpPr>
        <p:spPr>
          <a:xfrm>
            <a:off x="4140976" y="1507854"/>
            <a:ext cx="415498" cy="246221"/>
          </a:xfrm>
          <a:prstGeom prst="rect">
            <a:avLst/>
          </a:prstGeom>
          <a:noFill/>
        </p:spPr>
        <p:txBody>
          <a:bodyPr wrap="none" rtlCol="0">
            <a:spAutoFit/>
          </a:bodyPr>
          <a:lstStyle/>
          <a:p>
            <a:r>
              <a:rPr lang="en-US" altLang="zh-TW" sz="1000" dirty="0">
                <a:latin typeface="Montserrat" panose="02020500000000000000" charset="0"/>
              </a:rPr>
              <a:t>(27)</a:t>
            </a:r>
            <a:endParaRPr lang="zh-TW" altLang="en-US" sz="1000" dirty="0">
              <a:latin typeface="Montserrat" panose="02020500000000000000" charset="0"/>
            </a:endParaRPr>
          </a:p>
        </p:txBody>
      </p:sp>
      <p:sp>
        <p:nvSpPr>
          <p:cNvPr id="36" name="文字方塊 35">
            <a:extLst>
              <a:ext uri="{FF2B5EF4-FFF2-40B4-BE49-F238E27FC236}">
                <a16:creationId xmlns:a16="http://schemas.microsoft.com/office/drawing/2014/main" id="{D49496D2-C1CC-4047-8B86-A7B6DDFACFB8}"/>
              </a:ext>
            </a:extLst>
          </p:cNvPr>
          <p:cNvSpPr txBox="1"/>
          <p:nvPr/>
        </p:nvSpPr>
        <p:spPr>
          <a:xfrm>
            <a:off x="5321286" y="4148649"/>
            <a:ext cx="421910" cy="246221"/>
          </a:xfrm>
          <a:prstGeom prst="rect">
            <a:avLst/>
          </a:prstGeom>
          <a:noFill/>
        </p:spPr>
        <p:txBody>
          <a:bodyPr wrap="none" rtlCol="0">
            <a:spAutoFit/>
          </a:bodyPr>
          <a:lstStyle/>
          <a:p>
            <a:r>
              <a:rPr lang="en-US" altLang="zh-TW" sz="1000" dirty="0">
                <a:latin typeface="Montserrat" panose="02020500000000000000" charset="0"/>
              </a:rPr>
              <a:t>(28)</a:t>
            </a:r>
            <a:endParaRPr lang="zh-TW" altLang="en-US" sz="1000" dirty="0">
              <a:latin typeface="Montserrat" panose="02020500000000000000" charset="0"/>
            </a:endParaRPr>
          </a:p>
        </p:txBody>
      </p:sp>
    </p:spTree>
    <p:extLst>
      <p:ext uri="{BB962C8B-B14F-4D97-AF65-F5344CB8AC3E}">
        <p14:creationId xmlns:p14="http://schemas.microsoft.com/office/powerpoint/2010/main" val="385565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Genetic algorithm</a:t>
            </a:r>
          </a:p>
        </p:txBody>
      </p:sp>
      <p:grpSp>
        <p:nvGrpSpPr>
          <p:cNvPr id="2" name="群組 1">
            <a:extLst>
              <a:ext uri="{FF2B5EF4-FFF2-40B4-BE49-F238E27FC236}">
                <a16:creationId xmlns:a16="http://schemas.microsoft.com/office/drawing/2014/main" id="{45EE569E-F11B-4752-B701-CEF807C6690A}"/>
              </a:ext>
            </a:extLst>
          </p:cNvPr>
          <p:cNvGrpSpPr/>
          <p:nvPr/>
        </p:nvGrpSpPr>
        <p:grpSpPr>
          <a:xfrm>
            <a:off x="192683" y="-911"/>
            <a:ext cx="8761417" cy="295831"/>
            <a:chOff x="192683" y="-911"/>
            <a:chExt cx="8761417" cy="295831"/>
          </a:xfrm>
        </p:grpSpPr>
        <p:sp>
          <p:nvSpPr>
            <p:cNvPr id="3" name="矩形 2">
              <a:extLst>
                <a:ext uri="{FF2B5EF4-FFF2-40B4-BE49-F238E27FC236}">
                  <a16:creationId xmlns:a16="http://schemas.microsoft.com/office/drawing/2014/main" id="{334333F4-1DE5-4C34-941D-4211DB08B2B6}"/>
                </a:ext>
              </a:extLst>
            </p:cNvPr>
            <p:cNvSpPr/>
            <p:nvPr/>
          </p:nvSpPr>
          <p:spPr>
            <a:xfrm>
              <a:off x="2826656" y="-911"/>
              <a:ext cx="90618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Simulation</a:t>
              </a:r>
            </a:p>
          </p:txBody>
        </p:sp>
        <p:sp>
          <p:nvSpPr>
            <p:cNvPr id="4" name="矩形 3">
              <a:extLst>
                <a:ext uri="{FF2B5EF4-FFF2-40B4-BE49-F238E27FC236}">
                  <a16:creationId xmlns:a16="http://schemas.microsoft.com/office/drawing/2014/main" id="{8A87B6FD-7492-4217-AABC-FB3A6A7F4B34}"/>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5A13068B-F3E0-49DA-95B0-86CEBA1D9BC3}"/>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45BD29EF-93BC-4167-8B33-AB0C19A23588}"/>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EE9A2078-D6C5-4F79-A54F-A549E72B1CB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2" name="矩形 11">
              <a:extLst>
                <a:ext uri="{FF2B5EF4-FFF2-40B4-BE49-F238E27FC236}">
                  <a16:creationId xmlns:a16="http://schemas.microsoft.com/office/drawing/2014/main" id="{BD57BFC2-4B89-4A38-973B-AD9A4A7BCC10}"/>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4" name="矩形 13">
            <a:extLst>
              <a:ext uri="{FF2B5EF4-FFF2-40B4-BE49-F238E27FC236}">
                <a16:creationId xmlns:a16="http://schemas.microsoft.com/office/drawing/2014/main" id="{BF63AB65-86CF-42C5-B329-1553BDAAE166}"/>
              </a:ext>
            </a:extLst>
          </p:cNvPr>
          <p:cNvSpPr/>
          <p:nvPr/>
        </p:nvSpPr>
        <p:spPr>
          <a:xfrm>
            <a:off x="644017" y="919815"/>
            <a:ext cx="2826261" cy="246221"/>
          </a:xfrm>
          <a:prstGeom prst="rect">
            <a:avLst/>
          </a:prstGeom>
        </p:spPr>
        <p:txBody>
          <a:bodyPr wrap="square">
            <a:spAutoFit/>
          </a:bodyPr>
          <a:lstStyle/>
          <a:p>
            <a:r>
              <a:rPr lang="en-US" altLang="zh-TW" sz="1000" b="1" dirty="0">
                <a:latin typeface="Montserrat" panose="02020500000000000000" charset="0"/>
              </a:rPr>
              <a:t>The coupled-mode equation of EO-PMC</a:t>
            </a:r>
            <a:endParaRPr lang="zh-TW" altLang="en-US" sz="1000" b="1" dirty="0">
              <a:latin typeface="Montserrat" panose="02020500000000000000" charset="0"/>
            </a:endParaRPr>
          </a:p>
        </p:txBody>
      </p:sp>
      <p:pic>
        <p:nvPicPr>
          <p:cNvPr id="15" name="圖片 14">
            <a:extLst>
              <a:ext uri="{FF2B5EF4-FFF2-40B4-BE49-F238E27FC236}">
                <a16:creationId xmlns:a16="http://schemas.microsoft.com/office/drawing/2014/main" id="{DD9B5D2A-08E3-4DA8-AF34-63A0476D0D35}"/>
              </a:ext>
            </a:extLst>
          </p:cNvPr>
          <p:cNvPicPr/>
          <p:nvPr/>
        </p:nvPicPr>
        <p:blipFill>
          <a:blip r:embed="rId3"/>
          <a:stretch>
            <a:fillRect/>
          </a:stretch>
        </p:blipFill>
        <p:spPr>
          <a:xfrm>
            <a:off x="697807" y="3101996"/>
            <a:ext cx="2772472" cy="1529698"/>
          </a:xfrm>
          <a:prstGeom prst="rect">
            <a:avLst/>
          </a:prstGeom>
        </p:spPr>
      </p:pic>
      <p:sp>
        <p:nvSpPr>
          <p:cNvPr id="5" name="文字方塊 4">
            <a:extLst>
              <a:ext uri="{FF2B5EF4-FFF2-40B4-BE49-F238E27FC236}">
                <a16:creationId xmlns:a16="http://schemas.microsoft.com/office/drawing/2014/main" id="{A62BDB18-5128-45DF-A1C4-85095DACB140}"/>
              </a:ext>
            </a:extLst>
          </p:cNvPr>
          <p:cNvSpPr txBox="1"/>
          <p:nvPr/>
        </p:nvSpPr>
        <p:spPr>
          <a:xfrm>
            <a:off x="7772067" y="4928056"/>
            <a:ext cx="1039159" cy="215444"/>
          </a:xfrm>
          <a:prstGeom prst="rect">
            <a:avLst/>
          </a:prstGeom>
          <a:noFill/>
        </p:spPr>
        <p:txBody>
          <a:bodyPr wrap="square" rtlCol="0">
            <a:spAutoFit/>
          </a:bodyPr>
          <a:lstStyle/>
          <a:p>
            <a:r>
              <a:rPr lang="en-US" altLang="zh-TW" sz="800" dirty="0">
                <a:solidFill>
                  <a:schemeClr val="tx1"/>
                </a:solidFill>
                <a:latin typeface="Montserrat" panose="02020500000000000000" charset="0"/>
              </a:rPr>
              <a:t>(Lin et al., 2007)</a:t>
            </a:r>
            <a:endParaRPr lang="zh-TW" altLang="en-US" sz="800" dirty="0">
              <a:solidFill>
                <a:schemeClr val="tx1"/>
              </a:solidFill>
              <a:latin typeface="Montserrat" panose="02020500000000000000" charset="0"/>
            </a:endParaRPr>
          </a:p>
        </p:txBody>
      </p:sp>
      <p:sp>
        <p:nvSpPr>
          <p:cNvPr id="13" name="文字方塊 12">
            <a:extLst>
              <a:ext uri="{FF2B5EF4-FFF2-40B4-BE49-F238E27FC236}">
                <a16:creationId xmlns:a16="http://schemas.microsoft.com/office/drawing/2014/main" id="{E2D95CDF-72A2-4CCC-B400-93471F4B29AE}"/>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39</a:t>
            </a:r>
            <a:endParaRPr lang="zh-TW" altLang="en-US" sz="1100" dirty="0">
              <a:latin typeface="Montserrat" panose="02020500000000000000" charset="0"/>
            </a:endParaRPr>
          </a:p>
        </p:txBody>
      </p:sp>
      <p:grpSp>
        <p:nvGrpSpPr>
          <p:cNvPr id="16" name="群組 15">
            <a:extLst>
              <a:ext uri="{FF2B5EF4-FFF2-40B4-BE49-F238E27FC236}">
                <a16:creationId xmlns:a16="http://schemas.microsoft.com/office/drawing/2014/main" id="{57C9029F-F825-497B-BAAC-F2CA0BCD4B80}"/>
              </a:ext>
            </a:extLst>
          </p:cNvPr>
          <p:cNvGrpSpPr/>
          <p:nvPr/>
        </p:nvGrpSpPr>
        <p:grpSpPr>
          <a:xfrm>
            <a:off x="644018" y="1614490"/>
            <a:ext cx="6965577" cy="1087137"/>
            <a:chOff x="644018" y="1614490"/>
            <a:chExt cx="6965577" cy="1087137"/>
          </a:xfrm>
        </p:grpSpPr>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DF10E41-8ACB-42AD-9720-1A6688D8F3E5}"/>
                    </a:ext>
                  </a:extLst>
                </p:cNvPr>
                <p:cNvSpPr/>
                <p:nvPr/>
              </p:nvSpPr>
              <p:spPr>
                <a:xfrm>
                  <a:off x="669271" y="1614490"/>
                  <a:ext cx="3264483" cy="3397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sz="1000" i="1" smtClean="0">
                                <a:latin typeface="Cambria Math" panose="02040503050406030204" pitchFamily="18" charset="0"/>
                              </a:rPr>
                            </m:ctrlPr>
                          </m:sSubPr>
                          <m:e>
                            <m:r>
                              <a:rPr lang="zh-TW" altLang="en-US" sz="1000" i="1">
                                <a:latin typeface="Cambria Math" panose="02040503050406030204" pitchFamily="18" charset="0"/>
                              </a:rPr>
                              <m:t>𝐴</m:t>
                            </m:r>
                          </m:e>
                          <m:sub>
                            <m:r>
                              <a:rPr lang="zh-TW" altLang="en-US" sz="1000" i="1">
                                <a:latin typeface="Cambria Math" panose="02040503050406030204" pitchFamily="18" charset="0"/>
                              </a:rPr>
                              <m:t>𝑜</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d>
                        <m:r>
                          <a:rPr lang="zh-TW" altLang="en-US" sz="1000">
                            <a:latin typeface="Cambria Math" panose="02040503050406030204" pitchFamily="18" charset="0"/>
                          </a:rPr>
                          <m:t>=</m:t>
                        </m:r>
                        <m:sSup>
                          <m:sSupPr>
                            <m:ctrlPr>
                              <a:rPr lang="zh-TW" altLang="en-US" sz="1000" i="1">
                                <a:latin typeface="Cambria Math" panose="02040503050406030204" pitchFamily="18" charset="0"/>
                              </a:rPr>
                            </m:ctrlPr>
                          </m:sSupPr>
                          <m:e>
                            <m:r>
                              <a:rPr lang="zh-TW" altLang="en-US" sz="1000" i="1">
                                <a:latin typeface="Cambria Math" panose="02040503050406030204" pitchFamily="18" charset="0"/>
                              </a:rPr>
                              <m:t>𝑒</m:t>
                            </m:r>
                          </m:e>
                          <m:sup>
                            <m:r>
                              <a:rPr lang="zh-TW" altLang="en-US" sz="1000" i="1">
                                <a:latin typeface="Cambria Math" panose="02040503050406030204" pitchFamily="18" charset="0"/>
                              </a:rPr>
                              <m:t>𝑖</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m:t>
                                </m:r>
                                <m:r>
                                  <a:rPr lang="en-US" altLang="zh-TW" sz="1000" b="0" i="1" smtClean="0">
                                    <a:latin typeface="Cambria Math" panose="02040503050406030204" pitchFamily="18" charset="0"/>
                                  </a:rPr>
                                  <m:t>𝑘</m:t>
                                </m:r>
                              </m:num>
                              <m:den>
                                <m:r>
                                  <a:rPr lang="zh-TW" altLang="en-US" sz="1000">
                                    <a:latin typeface="Cambria Math" panose="02040503050406030204" pitchFamily="18" charset="0"/>
                                  </a:rPr>
                                  <m:t>2</m:t>
                                </m:r>
                              </m:den>
                            </m:f>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sup>
                        </m:sSup>
                        <m:d>
                          <m:dPr>
                            <m:begChr m:val="["/>
                            <m:endChr m:val="]"/>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𝑃</m:t>
                                </m:r>
                              </m:e>
                              <m:sub>
                                <m:r>
                                  <a:rPr lang="zh-TW" altLang="en-US" sz="1000">
                                    <a:latin typeface="Cambria Math" panose="02040503050406030204" pitchFamily="18" charset="0"/>
                                  </a:rPr>
                                  <m:t>1</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sub>
                                </m:sSub>
                              </m:e>
                            </m:d>
                            <m:func>
                              <m:funcPr>
                                <m:ctrlPr>
                                  <a:rPr lang="zh-TW" altLang="en-US" sz="1000" i="1">
                                    <a:latin typeface="Cambria Math" panose="02040503050406030204" pitchFamily="18" charset="0"/>
                                  </a:rPr>
                                </m:ctrlPr>
                              </m:funcPr>
                              <m:fName>
                                <m:r>
                                  <m:rPr>
                                    <m:sty m:val="p"/>
                                  </m:rPr>
                                  <a:rPr lang="zh-TW" altLang="en-US" sz="1000">
                                    <a:latin typeface="Cambria Math" panose="02040503050406030204" pitchFamily="18" charset="0"/>
                                  </a:rPr>
                                  <m:t>cos</m:t>
                                </m:r>
                              </m:fName>
                              <m:e>
                                <m:r>
                                  <a:rPr lang="zh-TW" altLang="en-US" sz="1000" i="1">
                                    <a:latin typeface="Cambria Math" panose="02040503050406030204" pitchFamily="18" charset="0"/>
                                  </a:rPr>
                                  <m:t>𝑟</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r>
                                  <a:rPr lang="zh-TW" altLang="en-US" sz="1000">
                                    <a:latin typeface="Cambria Math" panose="02040503050406030204" pitchFamily="18" charset="0"/>
                                  </a:rPr>
                                  <m:t>+</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𝑃</m:t>
                                    </m:r>
                                  </m:e>
                                  <m:sub>
                                    <m:r>
                                      <a:rPr lang="zh-TW" altLang="en-US" sz="1000">
                                        <a:latin typeface="Cambria Math" panose="02040503050406030204" pitchFamily="18" charset="0"/>
                                      </a:rPr>
                                      <m:t>2</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sub>
                                    </m:sSub>
                                  </m:e>
                                </m:d>
                                <m:func>
                                  <m:funcPr>
                                    <m:ctrlPr>
                                      <a:rPr lang="zh-TW" altLang="en-US" sz="1000" i="1">
                                        <a:latin typeface="Cambria Math" panose="02040503050406030204" pitchFamily="18" charset="0"/>
                                      </a:rPr>
                                    </m:ctrlPr>
                                  </m:funcPr>
                                  <m:fName>
                                    <m:r>
                                      <m:rPr>
                                        <m:sty m:val="p"/>
                                      </m:rPr>
                                      <a:rPr lang="zh-TW" altLang="en-US" sz="1000">
                                        <a:latin typeface="Cambria Math" panose="02040503050406030204" pitchFamily="18" charset="0"/>
                                      </a:rPr>
                                      <m:t>sin</m:t>
                                    </m:r>
                                  </m:fName>
                                  <m:e>
                                    <m:r>
                                      <a:rPr lang="zh-TW" altLang="en-US" sz="1000" i="1">
                                        <a:latin typeface="Cambria Math" panose="02040503050406030204" pitchFamily="18" charset="0"/>
                                      </a:rPr>
                                      <m:t>𝑟</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func>
                              </m:e>
                            </m:func>
                          </m:e>
                        </m:d>
                      </m:oMath>
                    </m:oMathPara>
                  </a14:m>
                  <a:endParaRPr lang="zh-TW" altLang="en-US" dirty="0"/>
                </a:p>
              </p:txBody>
            </p:sp>
          </mc:Choice>
          <mc:Fallback xmlns="">
            <p:sp>
              <p:nvSpPr>
                <p:cNvPr id="6" name="矩形 5">
                  <a:extLst>
                    <a:ext uri="{FF2B5EF4-FFF2-40B4-BE49-F238E27FC236}">
                      <a16:creationId xmlns:a16="http://schemas.microsoft.com/office/drawing/2014/main" id="{3DF10E41-8ACB-42AD-9720-1A6688D8F3E5}"/>
                    </a:ext>
                  </a:extLst>
                </p:cNvPr>
                <p:cNvSpPr>
                  <a:spLocks noRot="1" noChangeAspect="1" noMove="1" noResize="1" noEditPoints="1" noAdjustHandles="1" noChangeArrowheads="1" noChangeShapeType="1" noTextEdit="1"/>
                </p:cNvSpPr>
                <p:nvPr/>
              </p:nvSpPr>
              <p:spPr>
                <a:xfrm>
                  <a:off x="669271" y="1614490"/>
                  <a:ext cx="3264483" cy="339773"/>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24756D3-2E8F-4568-A5EB-A252C925EAD5}"/>
                    </a:ext>
                  </a:extLst>
                </p:cNvPr>
                <p:cNvSpPr/>
                <p:nvPr/>
              </p:nvSpPr>
              <p:spPr>
                <a:xfrm>
                  <a:off x="644018" y="2209633"/>
                  <a:ext cx="6965577" cy="49199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1000" i="1" smtClean="0">
                                <a:latin typeface="Cambria Math" panose="02040503050406030204" pitchFamily="18" charset="0"/>
                              </a:rPr>
                            </m:ctrlPr>
                          </m:sSubPr>
                          <m:e>
                            <m:r>
                              <a:rPr lang="zh-TW" altLang="en-US" sz="1000" i="1">
                                <a:latin typeface="Cambria Math" panose="02040503050406030204" pitchFamily="18" charset="0"/>
                              </a:rPr>
                              <m:t>𝐴</m:t>
                            </m:r>
                          </m:e>
                          <m:sub>
                            <m:r>
                              <a:rPr lang="zh-TW" altLang="en-US" sz="1000" i="1">
                                <a:latin typeface="Cambria Math" panose="02040503050406030204" pitchFamily="18" charset="0"/>
                              </a:rPr>
                              <m:t>𝑒</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d>
                        <m:r>
                          <a:rPr lang="zh-TW" altLang="en-US" sz="1000">
                            <a:latin typeface="Cambria Math" panose="02040503050406030204" pitchFamily="18" charset="0"/>
                          </a:rPr>
                          <m:t>=</m:t>
                        </m:r>
                        <m:sSup>
                          <m:sSupPr>
                            <m:ctrlPr>
                              <a:rPr lang="zh-TW" altLang="en-US" sz="1000" i="1">
                                <a:latin typeface="Cambria Math" panose="02040503050406030204" pitchFamily="18" charset="0"/>
                              </a:rPr>
                            </m:ctrlPr>
                          </m:sSupPr>
                          <m:e>
                            <m:r>
                              <a:rPr lang="zh-TW" altLang="en-US" sz="1000" i="1">
                                <a:latin typeface="Cambria Math" panose="02040503050406030204" pitchFamily="18" charset="0"/>
                              </a:rPr>
                              <m:t>𝑒</m:t>
                            </m:r>
                          </m:e>
                          <m:sup>
                            <m:r>
                              <a:rPr lang="zh-TW" altLang="en-US" sz="1000">
                                <a:latin typeface="Cambria Math" panose="02040503050406030204" pitchFamily="18" charset="0"/>
                              </a:rPr>
                              <m:t>−</m:t>
                            </m:r>
                            <m:r>
                              <a:rPr lang="zh-TW" altLang="en-US" sz="1000" i="1">
                                <a:latin typeface="Cambria Math" panose="02040503050406030204" pitchFamily="18" charset="0"/>
                              </a:rPr>
                              <m:t>𝑖</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m:t>
                                </m:r>
                                <m:r>
                                  <a:rPr lang="en-US" altLang="zh-TW" sz="1000" b="0" i="1" smtClean="0">
                                    <a:latin typeface="Cambria Math" panose="02040503050406030204" pitchFamily="18" charset="0"/>
                                  </a:rPr>
                                  <m:t>𝑘</m:t>
                                </m:r>
                              </m:num>
                              <m:den>
                                <m:r>
                                  <a:rPr lang="zh-TW" altLang="en-US" sz="1000">
                                    <a:latin typeface="Cambria Math" panose="02040503050406030204" pitchFamily="18" charset="0"/>
                                  </a:rPr>
                                  <m:t>2</m:t>
                                </m:r>
                              </m:den>
                            </m:f>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sup>
                        </m:sSup>
                        <m:d>
                          <m:dPr>
                            <m:begChr m:val="{"/>
                            <m:endChr m:val="}"/>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𝑃</m:t>
                                </m:r>
                              </m:e>
                              <m:sub>
                                <m:r>
                                  <a:rPr lang="zh-TW" altLang="en-US" sz="1000">
                                    <a:latin typeface="Cambria Math" panose="02040503050406030204" pitchFamily="18" charset="0"/>
                                  </a:rPr>
                                  <m:t>1</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sub>
                                </m:sSub>
                              </m:e>
                            </m:d>
                            <m:d>
                              <m:dPr>
                                <m:begChr m:val="["/>
                                <m:endChr m:val="]"/>
                                <m:ctrlPr>
                                  <a:rPr lang="zh-TW" altLang="en-US" sz="1000" i="1">
                                    <a:latin typeface="Cambria Math" panose="02040503050406030204" pitchFamily="18" charset="0"/>
                                  </a:rPr>
                                </m:ctrlPr>
                              </m:dPr>
                              <m:e>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m:t>
                                    </m:r>
                                    <m:r>
                                      <a:rPr lang="en-US" altLang="zh-TW" sz="1000" b="0" i="1" smtClean="0">
                                        <a:latin typeface="Cambria Math" panose="02040503050406030204" pitchFamily="18" charset="0"/>
                                      </a:rPr>
                                      <m:t>𝑘</m:t>
                                    </m:r>
                                  </m:num>
                                  <m:den>
                                    <m:r>
                                      <a:rPr lang="zh-TW" altLang="en-US" sz="1000">
                                        <a:latin typeface="Cambria Math" panose="02040503050406030204" pitchFamily="18" charset="0"/>
                                      </a:rPr>
                                      <m:t>2</m:t>
                                    </m:r>
                                    <m:r>
                                      <a:rPr lang="zh-TW" altLang="en-US" sz="1000" i="1">
                                        <a:latin typeface="Cambria Math" panose="02040503050406030204" pitchFamily="18" charset="0"/>
                                      </a:rPr>
                                      <m:t>𝜅</m:t>
                                    </m:r>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d>
                                  </m:den>
                                </m:f>
                                <m:func>
                                  <m:funcPr>
                                    <m:ctrlPr>
                                      <a:rPr lang="zh-TW" altLang="en-US" sz="1000" i="1">
                                        <a:latin typeface="Cambria Math" panose="02040503050406030204" pitchFamily="18" charset="0"/>
                                      </a:rPr>
                                    </m:ctrlPr>
                                  </m:funcPr>
                                  <m:fName>
                                    <m:r>
                                      <m:rPr>
                                        <m:sty m:val="p"/>
                                      </m:rPr>
                                      <a:rPr lang="zh-TW" altLang="en-US" sz="1000">
                                        <a:latin typeface="Cambria Math" panose="02040503050406030204" pitchFamily="18" charset="0"/>
                                      </a:rPr>
                                      <m:t>cos</m:t>
                                    </m:r>
                                  </m:fName>
                                  <m:e>
                                    <m:r>
                                      <a:rPr lang="zh-TW" altLang="en-US" sz="1000" i="1">
                                        <a:latin typeface="Cambria Math" panose="02040503050406030204" pitchFamily="18" charset="0"/>
                                      </a:rPr>
                                      <m:t>𝑟</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func>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i="1">
                                        <a:latin typeface="Cambria Math" panose="02040503050406030204" pitchFamily="18" charset="0"/>
                                      </a:rPr>
                                      <m:t>𝑖𝑟</m:t>
                                    </m:r>
                                  </m:num>
                                  <m:den>
                                    <m:r>
                                      <a:rPr lang="zh-TW" altLang="en-US" sz="1000" i="1">
                                        <a:latin typeface="Cambria Math" panose="02040503050406030204" pitchFamily="18" charset="0"/>
                                      </a:rPr>
                                      <m:t>𝜅</m:t>
                                    </m:r>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d>
                                  </m:den>
                                </m:f>
                                <m:func>
                                  <m:funcPr>
                                    <m:ctrlPr>
                                      <a:rPr lang="zh-TW" altLang="en-US" sz="1000" i="1">
                                        <a:latin typeface="Cambria Math" panose="02040503050406030204" pitchFamily="18" charset="0"/>
                                      </a:rPr>
                                    </m:ctrlPr>
                                  </m:funcPr>
                                  <m:fName>
                                    <m:r>
                                      <m:rPr>
                                        <m:sty m:val="p"/>
                                      </m:rPr>
                                      <a:rPr lang="zh-TW" altLang="en-US" sz="1000">
                                        <a:latin typeface="Cambria Math" panose="02040503050406030204" pitchFamily="18" charset="0"/>
                                      </a:rPr>
                                      <m:t>sin</m:t>
                                    </m:r>
                                  </m:fName>
                                  <m:e>
                                    <m:r>
                                      <a:rPr lang="zh-TW" altLang="en-US" sz="1000" i="1">
                                        <a:latin typeface="Cambria Math" panose="02040503050406030204" pitchFamily="18" charset="0"/>
                                      </a:rPr>
                                      <m:t>𝑟</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func>
                              </m:e>
                            </m:d>
                            <m:r>
                              <a:rPr lang="zh-TW" altLang="en-US" sz="1000">
                                <a:latin typeface="Cambria Math" panose="02040503050406030204" pitchFamily="18" charset="0"/>
                              </a:rPr>
                              <m:t>+</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𝑃</m:t>
                                </m:r>
                              </m:e>
                              <m:sub>
                                <m:r>
                                  <a:rPr lang="zh-TW" altLang="en-US" sz="1000">
                                    <a:latin typeface="Cambria Math" panose="02040503050406030204" pitchFamily="18" charset="0"/>
                                  </a:rPr>
                                  <m:t>2</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sub>
                                </m:sSub>
                              </m:e>
                            </m:d>
                            <m:d>
                              <m:dPr>
                                <m:begChr m:val="["/>
                                <m:endChr m:val="]"/>
                                <m:ctrlPr>
                                  <a:rPr lang="zh-TW" altLang="en-US" sz="1000" i="1">
                                    <a:latin typeface="Cambria Math" panose="02040503050406030204" pitchFamily="18" charset="0"/>
                                  </a:rPr>
                                </m:ctrlPr>
                              </m:dPr>
                              <m:e>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a:latin typeface="Cambria Math" panose="02040503050406030204" pitchFamily="18" charset="0"/>
                                      </a:rPr>
                                      <m:t>∆</m:t>
                                    </m:r>
                                    <m:r>
                                      <a:rPr lang="en-US" altLang="zh-TW" sz="1000" b="0" i="1" smtClean="0">
                                        <a:latin typeface="Cambria Math" panose="02040503050406030204" pitchFamily="18" charset="0"/>
                                      </a:rPr>
                                      <m:t>𝑘</m:t>
                                    </m:r>
                                  </m:num>
                                  <m:den>
                                    <m:r>
                                      <a:rPr lang="zh-TW" altLang="en-US" sz="1000">
                                        <a:latin typeface="Cambria Math" panose="02040503050406030204" pitchFamily="18" charset="0"/>
                                      </a:rPr>
                                      <m:t>2</m:t>
                                    </m:r>
                                    <m:r>
                                      <a:rPr lang="zh-TW" altLang="en-US" sz="1000" i="1">
                                        <a:latin typeface="Cambria Math" panose="02040503050406030204" pitchFamily="18" charset="0"/>
                                      </a:rPr>
                                      <m:t>𝜅</m:t>
                                    </m:r>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d>
                                  </m:den>
                                </m:f>
                                <m:func>
                                  <m:funcPr>
                                    <m:ctrlPr>
                                      <a:rPr lang="zh-TW" altLang="en-US" sz="1000" i="1">
                                        <a:latin typeface="Cambria Math" panose="02040503050406030204" pitchFamily="18" charset="0"/>
                                      </a:rPr>
                                    </m:ctrlPr>
                                  </m:funcPr>
                                  <m:fName>
                                    <m:r>
                                      <m:rPr>
                                        <m:sty m:val="p"/>
                                      </m:rPr>
                                      <a:rPr lang="zh-TW" altLang="en-US" sz="1000">
                                        <a:latin typeface="Cambria Math" panose="02040503050406030204" pitchFamily="18" charset="0"/>
                                      </a:rPr>
                                      <m:t>sin</m:t>
                                    </m:r>
                                  </m:fName>
                                  <m:e>
                                    <m:r>
                                      <a:rPr lang="zh-TW" altLang="en-US" sz="1000" i="1">
                                        <a:latin typeface="Cambria Math" panose="02040503050406030204" pitchFamily="18" charset="0"/>
                                      </a:rPr>
                                      <m:t>𝑟</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func>
                                <m:r>
                                  <a:rPr lang="zh-TW" altLang="en-US" sz="1000">
                                    <a:latin typeface="Cambria Math" panose="02040503050406030204" pitchFamily="18" charset="0"/>
                                  </a:rPr>
                                  <m:t>+</m:t>
                                </m:r>
                                <m:f>
                                  <m:fPr>
                                    <m:ctrlPr>
                                      <a:rPr lang="zh-TW" altLang="en-US" sz="1000" i="1">
                                        <a:latin typeface="Cambria Math" panose="02040503050406030204" pitchFamily="18" charset="0"/>
                                      </a:rPr>
                                    </m:ctrlPr>
                                  </m:fPr>
                                  <m:num>
                                    <m:r>
                                      <a:rPr lang="zh-TW" altLang="en-US" sz="1000" i="1">
                                        <a:latin typeface="Cambria Math" panose="02040503050406030204" pitchFamily="18" charset="0"/>
                                      </a:rPr>
                                      <m:t>𝑖𝑟</m:t>
                                    </m:r>
                                  </m:num>
                                  <m:den>
                                    <m:r>
                                      <a:rPr lang="zh-TW" altLang="en-US" sz="1000" i="1">
                                        <a:latin typeface="Cambria Math" panose="02040503050406030204" pitchFamily="18" charset="0"/>
                                      </a:rPr>
                                      <m:t>𝜅</m:t>
                                    </m:r>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d>
                                  </m:den>
                                </m:f>
                                <m:func>
                                  <m:funcPr>
                                    <m:ctrlPr>
                                      <a:rPr lang="zh-TW" altLang="en-US" sz="1000" i="1">
                                        <a:latin typeface="Cambria Math" panose="02040503050406030204" pitchFamily="18" charset="0"/>
                                      </a:rPr>
                                    </m:ctrlPr>
                                  </m:funcPr>
                                  <m:fName>
                                    <m:r>
                                      <m:rPr>
                                        <m:sty m:val="p"/>
                                      </m:rPr>
                                      <a:rPr lang="zh-TW" altLang="en-US" sz="1000">
                                        <a:latin typeface="Cambria Math" panose="02040503050406030204" pitchFamily="18" charset="0"/>
                                      </a:rPr>
                                      <m:t>cos</m:t>
                                    </m:r>
                                  </m:fName>
                                  <m:e>
                                    <m:r>
                                      <a:rPr lang="zh-TW" altLang="en-US" sz="1000" i="1">
                                        <a:latin typeface="Cambria Math" panose="02040503050406030204" pitchFamily="18" charset="0"/>
                                      </a:rPr>
                                      <m:t>𝑟</m:t>
                                    </m:r>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𝑗</m:t>
                                        </m:r>
                                        <m:r>
                                          <a:rPr lang="zh-TW" altLang="en-US" sz="1000">
                                            <a:latin typeface="Cambria Math" panose="02040503050406030204" pitchFamily="18" charset="0"/>
                                          </a:rPr>
                                          <m:t>+1</m:t>
                                        </m:r>
                                      </m:sub>
                                    </m:sSub>
                                  </m:e>
                                </m:func>
                              </m:e>
                            </m:d>
                          </m:e>
                        </m:d>
                      </m:oMath>
                    </m:oMathPara>
                  </a14:m>
                  <a:endParaRPr lang="zh-TW" altLang="en-US" dirty="0"/>
                </a:p>
              </p:txBody>
            </p:sp>
          </mc:Choice>
          <mc:Fallback xmlns="">
            <p:sp>
              <p:nvSpPr>
                <p:cNvPr id="8" name="矩形 7">
                  <a:extLst>
                    <a:ext uri="{FF2B5EF4-FFF2-40B4-BE49-F238E27FC236}">
                      <a16:creationId xmlns:a16="http://schemas.microsoft.com/office/drawing/2014/main" id="{924756D3-2E8F-4568-A5EB-A252C925EAD5}"/>
                    </a:ext>
                  </a:extLst>
                </p:cNvPr>
                <p:cNvSpPr>
                  <a:spLocks noRot="1" noChangeAspect="1" noMove="1" noResize="1" noEditPoints="1" noAdjustHandles="1" noChangeArrowheads="1" noChangeShapeType="1" noTextEdit="1"/>
                </p:cNvSpPr>
                <p:nvPr/>
              </p:nvSpPr>
              <p:spPr>
                <a:xfrm>
                  <a:off x="644018" y="2209633"/>
                  <a:ext cx="6965577" cy="491994"/>
                </a:xfrm>
                <a:prstGeom prst="rect">
                  <a:avLst/>
                </a:prstGeom>
                <a:blipFill>
                  <a:blip r:embed="rId5"/>
                  <a:stretch>
                    <a:fillRect/>
                  </a:stretch>
                </a:blipFill>
              </p:spPr>
              <p:txBody>
                <a:bodyPr/>
                <a:lstStyle/>
                <a:p>
                  <a:r>
                    <a:rPr lang="zh-TW" altLang="en-US">
                      <a:noFill/>
                    </a:rPr>
                    <a:t> </a:t>
                  </a:r>
                </a:p>
              </p:txBody>
            </p:sp>
          </mc:Fallback>
        </mc:AlternateContent>
      </p:grpSp>
      <p:grpSp>
        <p:nvGrpSpPr>
          <p:cNvPr id="21" name="群組 20">
            <a:extLst>
              <a:ext uri="{FF2B5EF4-FFF2-40B4-BE49-F238E27FC236}">
                <a16:creationId xmlns:a16="http://schemas.microsoft.com/office/drawing/2014/main" id="{3192F269-E97E-47A2-807F-69258E6B2EF8}"/>
              </a:ext>
            </a:extLst>
          </p:cNvPr>
          <p:cNvGrpSpPr/>
          <p:nvPr/>
        </p:nvGrpSpPr>
        <p:grpSpPr>
          <a:xfrm>
            <a:off x="4126806" y="3163595"/>
            <a:ext cx="1738828" cy="246221"/>
            <a:chOff x="3989620" y="3215237"/>
            <a:chExt cx="1738828" cy="246221"/>
          </a:xfrm>
        </p:grpSpPr>
        <p:sp>
          <p:nvSpPr>
            <p:cNvPr id="19" name="矩形 18">
              <a:extLst>
                <a:ext uri="{FF2B5EF4-FFF2-40B4-BE49-F238E27FC236}">
                  <a16:creationId xmlns:a16="http://schemas.microsoft.com/office/drawing/2014/main" id="{75A5E16D-C2F8-4F72-B127-C5E2E6A3FA0E}"/>
                </a:ext>
              </a:extLst>
            </p:cNvPr>
            <p:cNvSpPr/>
            <p:nvPr/>
          </p:nvSpPr>
          <p:spPr>
            <a:xfrm>
              <a:off x="4461145" y="3215237"/>
              <a:ext cx="1267303" cy="246221"/>
            </a:xfrm>
            <a:prstGeom prst="rect">
              <a:avLst/>
            </a:prstGeom>
          </p:spPr>
          <p:txBody>
            <a:bodyPr wrap="square">
              <a:spAutoFit/>
            </a:bodyPr>
            <a:lstStyle/>
            <a:p>
              <a:r>
                <a:rPr lang="en-US" altLang="zh-TW" sz="1000" b="1" dirty="0">
                  <a:latin typeface="Montserrat" panose="02020500000000000000" charset="0"/>
                </a:rPr>
                <a:t>Initial condition</a:t>
              </a:r>
              <a:endParaRPr lang="zh-TW" altLang="en-US" sz="1000" b="1" dirty="0">
                <a:latin typeface="Montserrat" panose="02020500000000000000" charset="0"/>
              </a:endParaRPr>
            </a:p>
          </p:txBody>
        </p:sp>
        <p:sp>
          <p:nvSpPr>
            <p:cNvPr id="20" name="箭號: 向下 19">
              <a:extLst>
                <a:ext uri="{FF2B5EF4-FFF2-40B4-BE49-F238E27FC236}">
                  <a16:creationId xmlns:a16="http://schemas.microsoft.com/office/drawing/2014/main" id="{90B22C44-A144-443F-A2AF-25DB530EF994}"/>
                </a:ext>
              </a:extLst>
            </p:cNvPr>
            <p:cNvSpPr/>
            <p:nvPr/>
          </p:nvSpPr>
          <p:spPr>
            <a:xfrm rot="16200000">
              <a:off x="4082437" y="3181655"/>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E209D279-5811-43A2-8072-156BF688578E}"/>
                  </a:ext>
                </a:extLst>
              </p:cNvPr>
              <p:cNvSpPr/>
              <p:nvPr/>
            </p:nvSpPr>
            <p:spPr>
              <a:xfrm>
                <a:off x="4585633" y="3468225"/>
                <a:ext cx="801758" cy="553998"/>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zh-TW" altLang="en-US" sz="1000" i="1" smtClean="0">
                              <a:latin typeface="Cambria Math" panose="02040503050406030204" pitchFamily="18" charset="0"/>
                            </a:rPr>
                          </m:ctrlPr>
                        </m:sSubPr>
                        <m:e>
                          <m:r>
                            <a:rPr lang="zh-TW" altLang="en-US" sz="1000" i="1">
                              <a:latin typeface="Cambria Math" panose="02040503050406030204" pitchFamily="18" charset="0"/>
                            </a:rPr>
                            <m:t>𝐴</m:t>
                          </m:r>
                        </m:e>
                        <m:sub>
                          <m:r>
                            <a:rPr lang="zh-TW" altLang="en-US" sz="1000" i="1">
                              <a:latin typeface="Cambria Math" panose="02040503050406030204" pitchFamily="18" charset="0"/>
                            </a:rPr>
                            <m:t>𝑒</m:t>
                          </m:r>
                        </m:sub>
                      </m:sSub>
                      <m:d>
                        <m:dPr>
                          <m:ctrlPr>
                            <a:rPr lang="zh-TW" altLang="en-US" sz="1000" i="1">
                              <a:latin typeface="Cambria Math" panose="02040503050406030204" pitchFamily="18" charset="0"/>
                            </a:rPr>
                          </m:ctrlPr>
                        </m:dPr>
                        <m:e>
                          <m:r>
                            <a:rPr lang="zh-TW" altLang="en-US" sz="1000">
                              <a:latin typeface="Cambria Math" panose="02040503050406030204" pitchFamily="18" charset="0"/>
                            </a:rPr>
                            <m:t>0</m:t>
                          </m:r>
                        </m:e>
                      </m:d>
                      <m:r>
                        <a:rPr lang="zh-TW" altLang="en-US" sz="1000">
                          <a:latin typeface="Cambria Math" panose="02040503050406030204" pitchFamily="18" charset="0"/>
                        </a:rPr>
                        <m:t>=0</m:t>
                      </m:r>
                      <m:r>
                        <a:rPr lang="en-US" altLang="zh-TW" sz="1000" b="0" i="0" smtClean="0">
                          <a:latin typeface="Cambria Math" panose="02040503050406030204" pitchFamily="18" charset="0"/>
                        </a:rPr>
                        <m:t>,</m:t>
                      </m:r>
                    </m:oMath>
                  </m:oMathPara>
                </a14:m>
                <a:endParaRPr lang="en-US" altLang="zh-TW" dirty="0"/>
              </a:p>
              <a:p>
                <a:pPr>
                  <a:lnSpc>
                    <a:spcPct val="150000"/>
                  </a:lnSpc>
                </a:pPr>
                <a14:m>
                  <m:oMathPara xmlns:m="http://schemas.openxmlformats.org/officeDocument/2006/math">
                    <m:oMathParaPr>
                      <m:jc m:val="centerGroup"/>
                    </m:oMathParaPr>
                    <m:oMath xmlns:m="http://schemas.openxmlformats.org/officeDocument/2006/math">
                      <m:sSub>
                        <m:sSubPr>
                          <m:ctrlPr>
                            <a:rPr lang="zh-TW" altLang="zh-TW" sz="1000" i="1">
                              <a:latin typeface="Cambria Math" panose="02040503050406030204" pitchFamily="18" charset="0"/>
                            </a:rPr>
                          </m:ctrlPr>
                        </m:sSubPr>
                        <m:e>
                          <m:r>
                            <a:rPr lang="en-US" altLang="zh-TW" sz="1000" i="1">
                              <a:latin typeface="Cambria Math" panose="02040503050406030204" pitchFamily="18" charset="0"/>
                            </a:rPr>
                            <m:t>𝐴</m:t>
                          </m:r>
                        </m:e>
                        <m:sub>
                          <m:r>
                            <a:rPr lang="en-US" altLang="zh-TW" sz="1000" i="1">
                              <a:latin typeface="Cambria Math" panose="02040503050406030204" pitchFamily="18" charset="0"/>
                            </a:rPr>
                            <m:t>𝑜</m:t>
                          </m:r>
                        </m:sub>
                      </m:sSub>
                      <m:d>
                        <m:dPr>
                          <m:ctrlPr>
                            <a:rPr lang="zh-TW" altLang="zh-TW" sz="1000" i="1">
                              <a:latin typeface="Cambria Math" panose="02040503050406030204" pitchFamily="18" charset="0"/>
                            </a:rPr>
                          </m:ctrlPr>
                        </m:dPr>
                        <m:e>
                          <m:r>
                            <a:rPr lang="en-US" altLang="zh-TW" sz="1000" i="1">
                              <a:latin typeface="Cambria Math" panose="02040503050406030204" pitchFamily="18" charset="0"/>
                            </a:rPr>
                            <m:t>0</m:t>
                          </m:r>
                        </m:e>
                      </m:d>
                      <m:r>
                        <a:rPr lang="en-US" altLang="zh-TW" sz="1000">
                          <a:latin typeface="Cambria Math" panose="02040503050406030204" pitchFamily="18" charset="0"/>
                        </a:rPr>
                        <m:t>=1</m:t>
                      </m:r>
                    </m:oMath>
                  </m:oMathPara>
                </a14:m>
                <a:endParaRPr lang="zh-TW" altLang="zh-TW" sz="1000" dirty="0"/>
              </a:p>
            </p:txBody>
          </p:sp>
        </mc:Choice>
        <mc:Fallback xmlns="">
          <p:sp>
            <p:nvSpPr>
              <p:cNvPr id="22" name="矩形 21">
                <a:extLst>
                  <a:ext uri="{FF2B5EF4-FFF2-40B4-BE49-F238E27FC236}">
                    <a16:creationId xmlns:a16="http://schemas.microsoft.com/office/drawing/2014/main" id="{E209D279-5811-43A2-8072-156BF688578E}"/>
                  </a:ext>
                </a:extLst>
              </p:cNvPr>
              <p:cNvSpPr>
                <a:spLocks noRot="1" noChangeAspect="1" noMove="1" noResize="1" noEditPoints="1" noAdjustHandles="1" noChangeArrowheads="1" noChangeShapeType="1" noTextEdit="1"/>
              </p:cNvSpPr>
              <p:nvPr/>
            </p:nvSpPr>
            <p:spPr>
              <a:xfrm>
                <a:off x="4585633" y="3468225"/>
                <a:ext cx="801758" cy="553998"/>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16C2F66B-BD18-45A2-9C91-47AF592DA685}"/>
                  </a:ext>
                </a:extLst>
              </p:cNvPr>
              <p:cNvSpPr/>
              <p:nvPr/>
            </p:nvSpPr>
            <p:spPr>
              <a:xfrm>
                <a:off x="4585633" y="4166567"/>
                <a:ext cx="1385892" cy="4651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en-US" altLang="zh-TW" sz="1000" b="0" i="1" smtClean="0">
                              <a:latin typeface="Cambria Math" panose="02040503050406030204" pitchFamily="18" charset="0"/>
                            </a:rPr>
                            <m:t>𝑇</m:t>
                          </m:r>
                          <m:r>
                            <a:rPr lang="en-US" altLang="zh-TW" sz="1000" b="0" i="1" smtClean="0">
                              <a:latin typeface="Cambria Math" panose="02040503050406030204" pitchFamily="18" charset="0"/>
                            </a:rPr>
                            <m:t>=</m:t>
                          </m:r>
                          <m:r>
                            <a:rPr lang="zh-TW" altLang="en-US" sz="1000" i="1">
                              <a:latin typeface="Cambria Math" panose="02040503050406030204" pitchFamily="18" charset="0"/>
                            </a:rPr>
                            <m:t>𝜂</m:t>
                          </m:r>
                        </m:e>
                        <m:sub>
                          <m:r>
                            <a:rPr lang="en-US" altLang="zh-TW" sz="1000" i="1">
                              <a:latin typeface="Cambria Math" panose="02040503050406030204" pitchFamily="18" charset="0"/>
                            </a:rPr>
                            <m:t>𝑐𝑎𝑙</m:t>
                          </m:r>
                        </m:sub>
                      </m:sSub>
                      <m:r>
                        <a:rPr lang="zh-TW" altLang="en-US" sz="1000">
                          <a:latin typeface="Cambria Math" panose="02040503050406030204" pitchFamily="18" charset="0"/>
                        </a:rPr>
                        <m:t>=</m:t>
                      </m:r>
                      <m:sSup>
                        <m:sSupPr>
                          <m:ctrlPr>
                            <a:rPr lang="zh-TW" altLang="en-US" sz="1000" i="1">
                              <a:latin typeface="Cambria Math" panose="02040503050406030204" pitchFamily="18" charset="0"/>
                            </a:rPr>
                          </m:ctrlPr>
                        </m:sSupPr>
                        <m:e>
                          <m:d>
                            <m:dPr>
                              <m:begChr m:val="|"/>
                              <m:endChr m:val="|"/>
                              <m:ctrlPr>
                                <a:rPr lang="zh-TW" altLang="en-US" sz="1000" i="1">
                                  <a:latin typeface="Cambria Math" panose="02040503050406030204" pitchFamily="18" charset="0"/>
                                </a:rPr>
                              </m:ctrlPr>
                            </m:dPr>
                            <m:e>
                              <m:f>
                                <m:fPr>
                                  <m:ctrlPr>
                                    <a:rPr lang="en-US" altLang="zh-TW" sz="1000" i="1" smtClean="0">
                                      <a:latin typeface="Cambria Math" panose="02040503050406030204" pitchFamily="18" charset="0"/>
                                    </a:rPr>
                                  </m:ctrlPr>
                                </m:fPr>
                                <m:num>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𝐴</m:t>
                                      </m:r>
                                    </m:e>
                                    <m:sub>
                                      <m:r>
                                        <a:rPr lang="zh-TW" altLang="en-US" sz="1000" i="1">
                                          <a:latin typeface="Cambria Math" panose="02040503050406030204" pitchFamily="18" charset="0"/>
                                        </a:rPr>
                                        <m:t>𝑒</m:t>
                                      </m:r>
                                    </m:sub>
                                  </m:sSub>
                                  <m:d>
                                    <m:dPr>
                                      <m:ctrlPr>
                                        <a:rPr lang="zh-TW" altLang="en-US" sz="1000" i="1">
                                          <a:latin typeface="Cambria Math" panose="02040503050406030204" pitchFamily="18" charset="0"/>
                                        </a:rPr>
                                      </m:ctrlPr>
                                    </m:dPr>
                                    <m:e>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𝑥</m:t>
                                          </m:r>
                                        </m:e>
                                        <m:sub>
                                          <m:r>
                                            <a:rPr lang="zh-TW" altLang="en-US" sz="1000" i="1">
                                              <a:latin typeface="Cambria Math" panose="02040503050406030204" pitchFamily="18" charset="0"/>
                                            </a:rPr>
                                            <m:t>𝑁</m:t>
                                          </m:r>
                                        </m:sub>
                                      </m:sSub>
                                    </m:e>
                                  </m:d>
                                </m:num>
                                <m:den>
                                  <m:sSub>
                                    <m:sSubPr>
                                      <m:ctrlPr>
                                        <a:rPr lang="zh-TW" altLang="en-US" sz="1000" i="1">
                                          <a:latin typeface="Cambria Math" panose="02040503050406030204" pitchFamily="18" charset="0"/>
                                        </a:rPr>
                                      </m:ctrlPr>
                                    </m:sSubPr>
                                    <m:e>
                                      <m:r>
                                        <a:rPr lang="zh-TW" altLang="en-US" sz="1000" i="1">
                                          <a:latin typeface="Cambria Math" panose="02040503050406030204" pitchFamily="18" charset="0"/>
                                        </a:rPr>
                                        <m:t>𝐴</m:t>
                                      </m:r>
                                    </m:e>
                                    <m:sub>
                                      <m:r>
                                        <a:rPr lang="zh-TW" altLang="en-US" sz="1000" i="1">
                                          <a:latin typeface="Cambria Math" panose="02040503050406030204" pitchFamily="18" charset="0"/>
                                        </a:rPr>
                                        <m:t>𝑜</m:t>
                                      </m:r>
                                    </m:sub>
                                  </m:sSub>
                                  <m:d>
                                    <m:dPr>
                                      <m:ctrlPr>
                                        <a:rPr lang="zh-TW" altLang="en-US" sz="1000" i="1">
                                          <a:latin typeface="Cambria Math" panose="02040503050406030204" pitchFamily="18" charset="0"/>
                                        </a:rPr>
                                      </m:ctrlPr>
                                    </m:dPr>
                                    <m:e>
                                      <m:r>
                                        <a:rPr lang="zh-TW" altLang="en-US" sz="1000">
                                          <a:latin typeface="Cambria Math" panose="02040503050406030204" pitchFamily="18" charset="0"/>
                                        </a:rPr>
                                        <m:t>0</m:t>
                                      </m:r>
                                    </m:e>
                                  </m:d>
                                </m:den>
                              </m:f>
                            </m:e>
                          </m:d>
                        </m:e>
                        <m:sup>
                          <m:r>
                            <a:rPr lang="zh-TW" altLang="en-US" sz="1000">
                              <a:latin typeface="Cambria Math" panose="02040503050406030204" pitchFamily="18" charset="0"/>
                            </a:rPr>
                            <m:t>2</m:t>
                          </m:r>
                        </m:sup>
                      </m:sSup>
                    </m:oMath>
                  </m:oMathPara>
                </a14:m>
                <a:endParaRPr lang="zh-TW" altLang="en-US" dirty="0"/>
              </a:p>
            </p:txBody>
          </p:sp>
        </mc:Choice>
        <mc:Fallback xmlns="">
          <p:sp>
            <p:nvSpPr>
              <p:cNvPr id="23" name="矩形 22">
                <a:extLst>
                  <a:ext uri="{FF2B5EF4-FFF2-40B4-BE49-F238E27FC236}">
                    <a16:creationId xmlns:a16="http://schemas.microsoft.com/office/drawing/2014/main" id="{16C2F66B-BD18-45A2-9C91-47AF592DA685}"/>
                  </a:ext>
                </a:extLst>
              </p:cNvPr>
              <p:cNvSpPr>
                <a:spLocks noRot="1" noChangeAspect="1" noMove="1" noResize="1" noEditPoints="1" noAdjustHandles="1" noChangeArrowheads="1" noChangeShapeType="1" noTextEdit="1"/>
              </p:cNvSpPr>
              <p:nvPr/>
            </p:nvSpPr>
            <p:spPr>
              <a:xfrm>
                <a:off x="4585633" y="4166567"/>
                <a:ext cx="1385892" cy="465127"/>
              </a:xfrm>
              <a:prstGeom prst="rect">
                <a:avLst/>
              </a:prstGeom>
              <a:blipFill>
                <a:blip r:embed="rId7"/>
                <a:stretch>
                  <a:fillRect/>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C6F4C673-EE70-457F-B0B5-F43E6AEA1DF4}"/>
              </a:ext>
            </a:extLst>
          </p:cNvPr>
          <p:cNvSpPr txBox="1"/>
          <p:nvPr/>
        </p:nvSpPr>
        <p:spPr>
          <a:xfrm>
            <a:off x="4440189" y="1661614"/>
            <a:ext cx="418704" cy="246221"/>
          </a:xfrm>
          <a:prstGeom prst="rect">
            <a:avLst/>
          </a:prstGeom>
          <a:noFill/>
        </p:spPr>
        <p:txBody>
          <a:bodyPr wrap="none" rtlCol="0">
            <a:spAutoFit/>
          </a:bodyPr>
          <a:lstStyle/>
          <a:p>
            <a:r>
              <a:rPr lang="en-US" altLang="zh-TW" sz="1000" dirty="0">
                <a:latin typeface="Montserrat" panose="02020500000000000000" charset="0"/>
              </a:rPr>
              <a:t>(29)</a:t>
            </a:r>
            <a:endParaRPr lang="zh-TW" altLang="en-US" sz="1000" dirty="0">
              <a:latin typeface="Montserrat" panose="02020500000000000000" charset="0"/>
            </a:endParaRPr>
          </a:p>
        </p:txBody>
      </p:sp>
      <p:sp>
        <p:nvSpPr>
          <p:cNvPr id="26" name="文字方塊 25">
            <a:extLst>
              <a:ext uri="{FF2B5EF4-FFF2-40B4-BE49-F238E27FC236}">
                <a16:creationId xmlns:a16="http://schemas.microsoft.com/office/drawing/2014/main" id="{B1EDC47A-EDCA-4F8C-881A-1FB5AA371E94}"/>
              </a:ext>
            </a:extLst>
          </p:cNvPr>
          <p:cNvSpPr txBox="1"/>
          <p:nvPr/>
        </p:nvSpPr>
        <p:spPr>
          <a:xfrm>
            <a:off x="8293836" y="2325529"/>
            <a:ext cx="425116" cy="246221"/>
          </a:xfrm>
          <a:prstGeom prst="rect">
            <a:avLst/>
          </a:prstGeom>
          <a:noFill/>
        </p:spPr>
        <p:txBody>
          <a:bodyPr wrap="none" rtlCol="0">
            <a:spAutoFit/>
          </a:bodyPr>
          <a:lstStyle/>
          <a:p>
            <a:r>
              <a:rPr lang="en-US" altLang="zh-TW" sz="1000" dirty="0">
                <a:latin typeface="Montserrat" panose="02020500000000000000" charset="0"/>
              </a:rPr>
              <a:t>(30)</a:t>
            </a:r>
            <a:endParaRPr lang="zh-TW" altLang="en-US" sz="1000" dirty="0">
              <a:latin typeface="Montserrat" panose="02020500000000000000" charset="0"/>
            </a:endParaRPr>
          </a:p>
        </p:txBody>
      </p:sp>
      <p:sp>
        <p:nvSpPr>
          <p:cNvPr id="27" name="文字方塊 26">
            <a:extLst>
              <a:ext uri="{FF2B5EF4-FFF2-40B4-BE49-F238E27FC236}">
                <a16:creationId xmlns:a16="http://schemas.microsoft.com/office/drawing/2014/main" id="{16051FD2-1057-4413-A245-4860E9765F04}"/>
              </a:ext>
            </a:extLst>
          </p:cNvPr>
          <p:cNvSpPr txBox="1"/>
          <p:nvPr/>
        </p:nvSpPr>
        <p:spPr>
          <a:xfrm>
            <a:off x="6167526" y="3627776"/>
            <a:ext cx="386644" cy="246221"/>
          </a:xfrm>
          <a:prstGeom prst="rect">
            <a:avLst/>
          </a:prstGeom>
          <a:noFill/>
        </p:spPr>
        <p:txBody>
          <a:bodyPr wrap="none" rtlCol="0">
            <a:spAutoFit/>
          </a:bodyPr>
          <a:lstStyle/>
          <a:p>
            <a:r>
              <a:rPr lang="en-US" altLang="zh-TW" sz="1000" dirty="0">
                <a:latin typeface="Montserrat" panose="02020500000000000000" charset="0"/>
              </a:rPr>
              <a:t>(31)</a:t>
            </a:r>
            <a:endParaRPr lang="zh-TW" altLang="en-US" sz="1000" dirty="0">
              <a:latin typeface="Montserrat" panose="02020500000000000000" charset="0"/>
            </a:endParaRPr>
          </a:p>
        </p:txBody>
      </p:sp>
      <p:sp>
        <p:nvSpPr>
          <p:cNvPr id="28" name="文字方塊 27">
            <a:extLst>
              <a:ext uri="{FF2B5EF4-FFF2-40B4-BE49-F238E27FC236}">
                <a16:creationId xmlns:a16="http://schemas.microsoft.com/office/drawing/2014/main" id="{1B588B38-7EE7-4DD1-8105-FD57CD4E42B1}"/>
              </a:ext>
            </a:extLst>
          </p:cNvPr>
          <p:cNvSpPr txBox="1"/>
          <p:nvPr/>
        </p:nvSpPr>
        <p:spPr>
          <a:xfrm>
            <a:off x="6161114" y="4276019"/>
            <a:ext cx="412292" cy="246221"/>
          </a:xfrm>
          <a:prstGeom prst="rect">
            <a:avLst/>
          </a:prstGeom>
          <a:noFill/>
        </p:spPr>
        <p:txBody>
          <a:bodyPr wrap="none" rtlCol="0">
            <a:spAutoFit/>
          </a:bodyPr>
          <a:lstStyle/>
          <a:p>
            <a:r>
              <a:rPr lang="en-US" altLang="zh-TW" sz="1000" dirty="0">
                <a:latin typeface="Montserrat" panose="02020500000000000000" charset="0"/>
              </a:rPr>
              <a:t>(32)</a:t>
            </a:r>
            <a:endParaRPr lang="zh-TW" altLang="en-US" sz="1000" dirty="0">
              <a:latin typeface="Montserrat" panose="02020500000000000000" charset="0"/>
            </a:endParaRPr>
          </a:p>
        </p:txBody>
      </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FB71C439-129F-47CE-B9B4-08CD48A1AB91}"/>
                  </a:ext>
                </a:extLst>
              </p:cNvPr>
              <p:cNvSpPr/>
              <p:nvPr/>
            </p:nvSpPr>
            <p:spPr>
              <a:xfrm>
                <a:off x="6408814" y="1029414"/>
                <a:ext cx="2023782" cy="1123897"/>
              </a:xfrm>
              <a:prstGeom prst="rect">
                <a:avLst/>
              </a:prstGeom>
            </p:spPr>
            <p:txBody>
              <a:bodyPr wrap="square">
                <a:spAutoFit/>
              </a:bodyPr>
              <a:lstStyle/>
              <a:p>
                <a:pPr>
                  <a:lnSpc>
                    <a:spcPct val="150000"/>
                  </a:lnSpc>
                </a:pPr>
                <a14:m>
                  <m:oMath xmlns:m="http://schemas.openxmlformats.org/officeDocument/2006/math">
                    <m:r>
                      <a:rPr lang="zh-TW" altLang="en-US" sz="900" smtClean="0">
                        <a:latin typeface="Cambria Math" panose="02040503050406030204" pitchFamily="18" charset="0"/>
                      </a:rPr>
                      <m:t>∆</m:t>
                    </m:r>
                    <m:r>
                      <a:rPr lang="zh-TW" altLang="en-US" sz="900" i="1">
                        <a:latin typeface="Cambria Math" panose="02040503050406030204" pitchFamily="18" charset="0"/>
                      </a:rPr>
                      <m:t>𝑘</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phase matching condition</a:t>
                </a:r>
              </a:p>
              <a:p>
                <a:pPr>
                  <a:lnSpc>
                    <a:spcPct val="150000"/>
                  </a:lnSpc>
                </a:pPr>
                <a14:m>
                  <m:oMath xmlns:m="http://schemas.openxmlformats.org/officeDocument/2006/math">
                    <m:sSub>
                      <m:sSubPr>
                        <m:ctrlPr>
                          <a:rPr lang="zh-TW" altLang="en-US" sz="900" i="1">
                            <a:latin typeface="Cambria Math" panose="02040503050406030204" pitchFamily="18" charset="0"/>
                          </a:rPr>
                        </m:ctrlPr>
                      </m:sSubPr>
                      <m:e>
                        <m:r>
                          <a:rPr lang="en-US" altLang="zh-TW" sz="900" b="0" i="1" smtClean="0">
                            <a:latin typeface="Cambria Math" panose="02040503050406030204" pitchFamily="18" charset="0"/>
                          </a:rPr>
                          <m:t>𝑥</m:t>
                        </m:r>
                      </m:e>
                      <m:sub>
                        <m:r>
                          <a:rPr lang="en-US" altLang="zh-TW" sz="900" b="0" i="1" smtClean="0">
                            <a:latin typeface="Cambria Math" panose="02040503050406030204" pitchFamily="18" charset="0"/>
                          </a:rPr>
                          <m:t>𝑗</m:t>
                        </m:r>
                      </m:sub>
                    </m:sSub>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domain position</a:t>
                </a:r>
              </a:p>
              <a:p>
                <a:pPr>
                  <a:lnSpc>
                    <a:spcPct val="150000"/>
                  </a:lnSpc>
                </a:pPr>
                <a14:m>
                  <m:oMath xmlns:m="http://schemas.openxmlformats.org/officeDocument/2006/math">
                    <m:r>
                      <a:rPr lang="zh-TW" altLang="en-US" sz="900" i="1">
                        <a:latin typeface="Cambria Math" panose="02040503050406030204" pitchFamily="18" charset="0"/>
                      </a:rPr>
                      <m:t>𝜅</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coupled-mode </a:t>
                </a:r>
                <a:r>
                  <a:rPr lang="en-US" altLang="zh-TW" sz="900" dirty="0">
                    <a:latin typeface="Montserrat" panose="02020500000000000000" charset="0"/>
                  </a:rPr>
                  <a:t>coefficient</a:t>
                </a:r>
              </a:p>
              <a:p>
                <a:pPr>
                  <a:lnSpc>
                    <a:spcPct val="150000"/>
                  </a:lnSpc>
                </a:pPr>
                <a14:m>
                  <m:oMath xmlns:m="http://schemas.openxmlformats.org/officeDocument/2006/math">
                    <m:sSup>
                      <m:sSupPr>
                        <m:ctrlPr>
                          <a:rPr lang="zh-TW" altLang="en-US" sz="900" i="1">
                            <a:latin typeface="Cambria Math" panose="02040503050406030204" pitchFamily="18" charset="0"/>
                          </a:rPr>
                        </m:ctrlPr>
                      </m:sSupPr>
                      <m:e>
                        <m:r>
                          <a:rPr lang="zh-TW" altLang="en-US" sz="900" i="1">
                            <a:latin typeface="Cambria Math" panose="02040503050406030204" pitchFamily="18" charset="0"/>
                          </a:rPr>
                          <m:t>𝑟</m:t>
                        </m:r>
                      </m:e>
                      <m:sup>
                        <m:r>
                          <a:rPr lang="zh-TW" altLang="en-US" sz="900">
                            <a:latin typeface="Cambria Math" panose="02040503050406030204" pitchFamily="18" charset="0"/>
                          </a:rPr>
                          <m:t>2</m:t>
                        </m:r>
                      </m:sup>
                    </m:sSup>
                    <m:r>
                      <a:rPr lang="zh-TW" altLang="en-US" sz="900">
                        <a:latin typeface="Cambria Math" panose="02040503050406030204" pitchFamily="18" charset="0"/>
                      </a:rPr>
                      <m:t>=</m:t>
                    </m:r>
                    <m:sSup>
                      <m:sSupPr>
                        <m:ctrlPr>
                          <a:rPr lang="zh-TW" altLang="en-US" sz="900" i="1">
                            <a:latin typeface="Cambria Math" panose="02040503050406030204" pitchFamily="18" charset="0"/>
                          </a:rPr>
                        </m:ctrlPr>
                      </m:sSupPr>
                      <m:e>
                        <m:d>
                          <m:dPr>
                            <m:begChr m:val="|"/>
                            <m:endChr m:val="|"/>
                            <m:ctrlPr>
                              <a:rPr lang="zh-TW" altLang="en-US" sz="900" i="1">
                                <a:latin typeface="Cambria Math" panose="02040503050406030204" pitchFamily="18" charset="0"/>
                              </a:rPr>
                            </m:ctrlPr>
                          </m:dPr>
                          <m:e>
                            <m:r>
                              <a:rPr lang="zh-TW" altLang="en-US" sz="900" i="1">
                                <a:latin typeface="Cambria Math" panose="02040503050406030204" pitchFamily="18" charset="0"/>
                              </a:rPr>
                              <m:t>𝜅</m:t>
                            </m:r>
                          </m:e>
                        </m:d>
                      </m:e>
                      <m:sup>
                        <m:r>
                          <a:rPr lang="zh-TW" altLang="en-US" sz="900">
                            <a:latin typeface="Cambria Math" panose="02040503050406030204" pitchFamily="18" charset="0"/>
                          </a:rPr>
                          <m:t>2</m:t>
                        </m:r>
                      </m:sup>
                    </m:sSup>
                    <m:r>
                      <a:rPr lang="zh-TW" altLang="en-US" sz="900">
                        <a:latin typeface="Cambria Math" panose="02040503050406030204" pitchFamily="18" charset="0"/>
                      </a:rPr>
                      <m:t>+</m:t>
                    </m:r>
                    <m:sSup>
                      <m:sSupPr>
                        <m:ctrlPr>
                          <a:rPr lang="zh-TW" altLang="en-US" sz="900" i="1">
                            <a:latin typeface="Cambria Math" panose="02040503050406030204" pitchFamily="18" charset="0"/>
                          </a:rPr>
                        </m:ctrlPr>
                      </m:sSupPr>
                      <m:e>
                        <m:d>
                          <m:dPr>
                            <m:ctrlPr>
                              <a:rPr lang="zh-TW" altLang="en-US" sz="900" i="1">
                                <a:latin typeface="Cambria Math" panose="02040503050406030204" pitchFamily="18" charset="0"/>
                              </a:rPr>
                            </m:ctrlPr>
                          </m:dPr>
                          <m:e>
                            <m:f>
                              <m:fPr>
                                <m:type m:val="lin"/>
                                <m:ctrlPr>
                                  <a:rPr lang="zh-TW" altLang="en-US" sz="900" i="1">
                                    <a:latin typeface="Cambria Math" panose="02040503050406030204" pitchFamily="18" charset="0"/>
                                  </a:rPr>
                                </m:ctrlPr>
                              </m:fPr>
                              <m:num>
                                <m:r>
                                  <a:rPr lang="zh-TW" altLang="en-US" sz="900">
                                    <a:latin typeface="Cambria Math" panose="02040503050406030204" pitchFamily="18" charset="0"/>
                                  </a:rPr>
                                  <m:t>∆</m:t>
                                </m:r>
                                <m:r>
                                  <a:rPr lang="en-US" altLang="zh-TW" sz="900" i="1">
                                    <a:latin typeface="Cambria Math" panose="02040503050406030204" pitchFamily="18" charset="0"/>
                                  </a:rPr>
                                  <m:t>𝑘</m:t>
                                </m:r>
                              </m:num>
                              <m:den>
                                <m:r>
                                  <a:rPr lang="zh-TW" altLang="en-US" sz="900">
                                    <a:latin typeface="Cambria Math" panose="02040503050406030204" pitchFamily="18" charset="0"/>
                                  </a:rPr>
                                  <m:t>2</m:t>
                                </m:r>
                              </m:den>
                            </m:f>
                          </m:e>
                        </m:d>
                      </m:e>
                      <m:sup>
                        <m:r>
                          <a:rPr lang="zh-TW" altLang="en-US" sz="900">
                            <a:latin typeface="Cambria Math" panose="02040503050406030204" pitchFamily="18" charset="0"/>
                          </a:rPr>
                          <m:t>2</m:t>
                        </m:r>
                      </m:sup>
                    </m:sSup>
                  </m:oMath>
                </a14:m>
                <a:r>
                  <a:rPr lang="en-US" altLang="zh-TW" sz="900" dirty="0">
                    <a:latin typeface="Montserrat" panose="02020500000000000000" charset="0"/>
                    <a:cs typeface="Times New Roman" pitchFamily="18" charset="0"/>
                  </a:rPr>
                  <a:t> </a:t>
                </a:r>
              </a:p>
              <a:p>
                <a:pPr>
                  <a:lnSpc>
                    <a:spcPct val="150000"/>
                  </a:lnSpc>
                </a:pPr>
                <a14:m>
                  <m:oMath xmlns:m="http://schemas.openxmlformats.org/officeDocument/2006/math">
                    <m:r>
                      <a:rPr lang="en-US" altLang="zh-TW" sz="900" i="1">
                        <a:latin typeface="Cambria Math" panose="02040503050406030204" pitchFamily="18" charset="0"/>
                        <a:cs typeface="Times New Roman" pitchFamily="18" charset="0"/>
                      </a:rPr>
                      <m:t>𝑇</m:t>
                    </m:r>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anose="02020603050405020304" pitchFamily="18" charset="0"/>
                  </a:rPr>
                  <a:t> transmittance</a:t>
                </a:r>
                <a:endParaRPr lang="en-US" altLang="zh-TW" sz="900" i="1" dirty="0">
                  <a:latin typeface="Cambria Math" panose="02040503050406030204" pitchFamily="18" charset="0"/>
                </a:endParaRPr>
              </a:p>
            </p:txBody>
          </p:sp>
        </mc:Choice>
        <mc:Fallback xmlns="">
          <p:sp>
            <p:nvSpPr>
              <p:cNvPr id="32" name="矩形 31">
                <a:extLst>
                  <a:ext uri="{FF2B5EF4-FFF2-40B4-BE49-F238E27FC236}">
                    <a16:creationId xmlns:a16="http://schemas.microsoft.com/office/drawing/2014/main" id="{FB71C439-129F-47CE-B9B4-08CD48A1AB91}"/>
                  </a:ext>
                </a:extLst>
              </p:cNvPr>
              <p:cNvSpPr>
                <a:spLocks noRot="1" noChangeAspect="1" noMove="1" noResize="1" noEditPoints="1" noAdjustHandles="1" noChangeArrowheads="1" noChangeShapeType="1" noTextEdit="1"/>
              </p:cNvSpPr>
              <p:nvPr/>
            </p:nvSpPr>
            <p:spPr>
              <a:xfrm>
                <a:off x="6408814" y="1029414"/>
                <a:ext cx="2023782" cy="1123897"/>
              </a:xfrm>
              <a:prstGeom prst="rect">
                <a:avLst/>
              </a:prstGeom>
              <a:blipFill>
                <a:blip r:embed="rId8"/>
                <a:stretch>
                  <a:fillRect b="-86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80864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16" name="圖片 15">
            <a:extLst>
              <a:ext uri="{FF2B5EF4-FFF2-40B4-BE49-F238E27FC236}">
                <a16:creationId xmlns:a16="http://schemas.microsoft.com/office/drawing/2014/main" id="{957818A4-72B6-4A08-A329-59B4A833A9A8}"/>
              </a:ext>
            </a:extLst>
          </p:cNvPr>
          <p:cNvPicPr>
            <a:picLocks noChangeAspect="1"/>
          </p:cNvPicPr>
          <p:nvPr/>
        </p:nvPicPr>
        <p:blipFill rotWithShape="1">
          <a:blip r:embed="rId3"/>
          <a:srcRect l="9082" r="8083"/>
          <a:stretch/>
        </p:blipFill>
        <p:spPr>
          <a:xfrm>
            <a:off x="1682156" y="1423103"/>
            <a:ext cx="5779687" cy="3110797"/>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Simulation result</a:t>
            </a:r>
          </a:p>
        </p:txBody>
      </p:sp>
      <p:grpSp>
        <p:nvGrpSpPr>
          <p:cNvPr id="3" name="群組 2">
            <a:extLst>
              <a:ext uri="{FF2B5EF4-FFF2-40B4-BE49-F238E27FC236}">
                <a16:creationId xmlns:a16="http://schemas.microsoft.com/office/drawing/2014/main" id="{C8898C27-CE98-400F-A19A-F70750672F1A}"/>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09CCEDFE-DD18-487F-A203-AC09C1D1A4EB}"/>
                </a:ext>
              </a:extLst>
            </p:cNvPr>
            <p:cNvSpPr/>
            <p:nvPr/>
          </p:nvSpPr>
          <p:spPr>
            <a:xfrm>
              <a:off x="2826656" y="-911"/>
              <a:ext cx="90618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Simulation</a:t>
              </a:r>
            </a:p>
          </p:txBody>
        </p:sp>
        <p:sp>
          <p:nvSpPr>
            <p:cNvPr id="5" name="矩形 4">
              <a:extLst>
                <a:ext uri="{FF2B5EF4-FFF2-40B4-BE49-F238E27FC236}">
                  <a16:creationId xmlns:a16="http://schemas.microsoft.com/office/drawing/2014/main" id="{C3CFE71D-3C83-48EE-B541-89829F825C4C}"/>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0F5FD9E-FFBA-4530-B8E6-13FD0CF5C3E9}"/>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E2C1E517-9A38-4F86-B79F-DED2D57CD247}"/>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7FF08BCB-794D-4902-A5B8-BF6AFF2298AA}"/>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4E281119-D266-4CF5-B5B5-B6BF42C9F4E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2" name="矩形 1">
            <a:extLst>
              <a:ext uri="{FF2B5EF4-FFF2-40B4-BE49-F238E27FC236}">
                <a16:creationId xmlns:a16="http://schemas.microsoft.com/office/drawing/2014/main" id="{2A7C1A06-3AA4-4BD2-AC98-8797364D4275}"/>
              </a:ext>
            </a:extLst>
          </p:cNvPr>
          <p:cNvSpPr/>
          <p:nvPr/>
        </p:nvSpPr>
        <p:spPr>
          <a:xfrm>
            <a:off x="2507876" y="1176882"/>
            <a:ext cx="4128247" cy="246221"/>
          </a:xfrm>
          <a:prstGeom prst="rect">
            <a:avLst/>
          </a:prstGeom>
        </p:spPr>
        <p:txBody>
          <a:bodyPr wrap="square">
            <a:spAutoFit/>
          </a:bodyPr>
          <a:lstStyle/>
          <a:p>
            <a:r>
              <a:rPr lang="en-US" altLang="zh-TW" sz="1000" b="1" dirty="0">
                <a:latin typeface="Montserrat" panose="02020500000000000000" charset="0"/>
              </a:rPr>
              <a:t>The spatial spectrum of the domain after Fourier transform</a:t>
            </a:r>
            <a:endParaRPr lang="zh-TW" altLang="en-US" sz="1000" b="1" dirty="0">
              <a:latin typeface="Montserrat" panose="02020500000000000000" charset="0"/>
            </a:endParaRPr>
          </a:p>
        </p:txBody>
      </p:sp>
      <p:sp>
        <p:nvSpPr>
          <p:cNvPr id="15" name="文字方塊 14">
            <a:extLst>
              <a:ext uri="{FF2B5EF4-FFF2-40B4-BE49-F238E27FC236}">
                <a16:creationId xmlns:a16="http://schemas.microsoft.com/office/drawing/2014/main" id="{1E12A60C-4558-43BD-A821-FD1D4CDE3A17}"/>
              </a:ext>
            </a:extLst>
          </p:cNvPr>
          <p:cNvSpPr txBox="1"/>
          <p:nvPr/>
        </p:nvSpPr>
        <p:spPr>
          <a:xfrm>
            <a:off x="8585770" y="4631694"/>
            <a:ext cx="370614" cy="261610"/>
          </a:xfrm>
          <a:prstGeom prst="rect">
            <a:avLst/>
          </a:prstGeom>
          <a:noFill/>
        </p:spPr>
        <p:txBody>
          <a:bodyPr wrap="none" rtlCol="0">
            <a:spAutoFit/>
          </a:bodyPr>
          <a:lstStyle/>
          <a:p>
            <a:r>
              <a:rPr lang="en-US" altLang="zh-TW" sz="1100" dirty="0">
                <a:latin typeface="Montserrat" panose="02020500000000000000" charset="0"/>
              </a:rPr>
              <a:t>40</a:t>
            </a:r>
            <a:endParaRPr lang="zh-TW" altLang="en-US" sz="1100" dirty="0">
              <a:latin typeface="Montserrat" panose="02020500000000000000" charset="0"/>
            </a:endParaRPr>
          </a:p>
        </p:txBody>
      </p:sp>
      <p:pic>
        <p:nvPicPr>
          <p:cNvPr id="12" name="圖片 11">
            <a:extLst>
              <a:ext uri="{FF2B5EF4-FFF2-40B4-BE49-F238E27FC236}">
                <a16:creationId xmlns:a16="http://schemas.microsoft.com/office/drawing/2014/main" id="{4F529A59-F94B-4EEF-8FE1-1690A10CD6D6}"/>
              </a:ext>
            </a:extLst>
          </p:cNvPr>
          <p:cNvPicPr>
            <a:picLocks noChangeAspect="1"/>
          </p:cNvPicPr>
          <p:nvPr/>
        </p:nvPicPr>
        <p:blipFill>
          <a:blip r:embed="rId4"/>
          <a:stretch>
            <a:fillRect/>
          </a:stretch>
        </p:blipFill>
        <p:spPr>
          <a:xfrm>
            <a:off x="4330883" y="1771597"/>
            <a:ext cx="2677462" cy="1782689"/>
          </a:xfrm>
          <a:prstGeom prst="rect">
            <a:avLst/>
          </a:prstGeom>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1D84BA89-9378-48D7-BDCB-B3D39484A925}"/>
                  </a:ext>
                </a:extLst>
              </p:cNvPr>
              <p:cNvSpPr txBox="1"/>
              <p:nvPr/>
            </p:nvSpPr>
            <p:spPr>
              <a:xfrm>
                <a:off x="5669614" y="1950020"/>
                <a:ext cx="880369" cy="461665"/>
              </a:xfrm>
              <a:prstGeom prst="rect">
                <a:avLst/>
              </a:prstGeom>
              <a:noFill/>
            </p:spPr>
            <p:txBody>
              <a:bodyPr wrap="none" rtlCol="0">
                <a:spAutoFit/>
              </a:bodyPr>
              <a:lstStyle/>
              <a:p>
                <a:r>
                  <a:rPr lang="en-US" altLang="zh-TW" sz="800" b="1" dirty="0">
                    <a:solidFill>
                      <a:schemeClr val="tx2"/>
                    </a:solidFill>
                    <a:latin typeface="Montserrat" panose="02020500000000000000" charset="0"/>
                    <a:cs typeface="Times New Roman" panose="02020603050405020304" pitchFamily="18" charset="0"/>
                  </a:rPr>
                  <a:t>SPDC</a:t>
                </a:r>
              </a:p>
              <a:p>
                <a14:m>
                  <m:oMath xmlns:m="http://schemas.openxmlformats.org/officeDocument/2006/math">
                    <m:r>
                      <m:rPr>
                        <m:nor/>
                      </m:rPr>
                      <a:rPr lang="en-US" altLang="zh-TW" sz="800" b="1" dirty="0" smtClean="0">
                        <a:solidFill>
                          <a:schemeClr val="tx2"/>
                        </a:solidFill>
                        <a:latin typeface="Montserrat" panose="02020500000000000000" charset="0"/>
                        <a:cs typeface="Times New Roman" panose="02020603050405020304" pitchFamily="18" charset="0"/>
                      </a:rPr>
                      <m:t>∆</m:t>
                    </m:r>
                  </m:oMath>
                </a14:m>
                <a:r>
                  <a:rPr lang="en-US" altLang="zh-TW" sz="800" b="1" dirty="0">
                    <a:solidFill>
                      <a:schemeClr val="tx2"/>
                    </a:solidFill>
                    <a:latin typeface="Montserrat" panose="02020500000000000000" charset="0"/>
                    <a:cs typeface="Times New Roman" panose="02020603050405020304" pitchFamily="18" charset="0"/>
                  </a:rPr>
                  <a:t>k=0.674342</a:t>
                </a:r>
              </a:p>
              <a:p>
                <a14:m>
                  <m:oMath xmlns:m="http://schemas.openxmlformats.org/officeDocument/2006/math">
                    <m:r>
                      <a:rPr lang="zh-TW" altLang="en-US" sz="800" b="1" i="1" smtClean="0">
                        <a:solidFill>
                          <a:schemeClr val="tx2"/>
                        </a:solidFill>
                        <a:latin typeface="Cambria Math" panose="02040503050406030204" pitchFamily="18" charset="0"/>
                        <a:cs typeface="Times New Roman" panose="02020603050405020304" pitchFamily="18" charset="0"/>
                      </a:rPr>
                      <m:t>𝚲</m:t>
                    </m:r>
                  </m:oMath>
                </a14:m>
                <a:r>
                  <a:rPr lang="en-US" altLang="zh-TW" sz="800" b="1" dirty="0">
                    <a:solidFill>
                      <a:schemeClr val="tx2"/>
                    </a:solidFill>
                    <a:latin typeface="Montserrat" panose="02020500000000000000" charset="0"/>
                    <a:cs typeface="Times New Roman" panose="02020603050405020304" pitchFamily="18" charset="0"/>
                  </a:rPr>
                  <a:t>=9.32um</a:t>
                </a:r>
                <a:endParaRPr lang="zh-TW" altLang="en-US" sz="800" b="1" dirty="0">
                  <a:solidFill>
                    <a:schemeClr val="tx2"/>
                  </a:solidFill>
                  <a:latin typeface="Montserrat" panose="02020500000000000000" charset="0"/>
                  <a:cs typeface="Times New Roman" panose="02020603050405020304" pitchFamily="18" charset="0"/>
                </a:endParaRPr>
              </a:p>
            </p:txBody>
          </p:sp>
        </mc:Choice>
        <mc:Fallback xmlns="">
          <p:sp>
            <p:nvSpPr>
              <p:cNvPr id="14" name="文字方塊 13">
                <a:extLst>
                  <a:ext uri="{FF2B5EF4-FFF2-40B4-BE49-F238E27FC236}">
                    <a16:creationId xmlns:a16="http://schemas.microsoft.com/office/drawing/2014/main" id="{1D84BA89-9378-48D7-BDCB-B3D39484A925}"/>
                  </a:ext>
                </a:extLst>
              </p:cNvPr>
              <p:cNvSpPr txBox="1">
                <a:spLocks noRot="1" noChangeAspect="1" noMove="1" noResize="1" noEditPoints="1" noAdjustHandles="1" noChangeArrowheads="1" noChangeShapeType="1" noTextEdit="1"/>
              </p:cNvSpPr>
              <p:nvPr/>
            </p:nvSpPr>
            <p:spPr>
              <a:xfrm>
                <a:off x="5669614" y="1950020"/>
                <a:ext cx="880369" cy="461665"/>
              </a:xfrm>
              <a:prstGeom prst="rect">
                <a:avLst/>
              </a:prstGeom>
              <a:blipFill>
                <a:blip r:embed="rId5"/>
                <a:stretch>
                  <a:fillRect b="-26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E592701E-535B-4456-BB2E-D2D2A0A8F273}"/>
                  </a:ext>
                </a:extLst>
              </p:cNvPr>
              <p:cNvSpPr txBox="1"/>
              <p:nvPr/>
            </p:nvSpPr>
            <p:spPr>
              <a:xfrm>
                <a:off x="4741375" y="2571750"/>
                <a:ext cx="857927" cy="461665"/>
              </a:xfrm>
              <a:prstGeom prst="rect">
                <a:avLst/>
              </a:prstGeom>
              <a:noFill/>
            </p:spPr>
            <p:txBody>
              <a:bodyPr wrap="none" rtlCol="0">
                <a:spAutoFit/>
              </a:bodyPr>
              <a:lstStyle/>
              <a:p>
                <a:r>
                  <a:rPr lang="en-US" altLang="zh-TW" sz="800" b="1" dirty="0">
                    <a:solidFill>
                      <a:schemeClr val="accent1"/>
                    </a:solidFill>
                    <a:latin typeface="Montserrat" panose="02020500000000000000" charset="0"/>
                    <a:cs typeface="Times New Roman" panose="02020603050405020304" pitchFamily="18" charset="0"/>
                  </a:rPr>
                  <a:t>EO-PMC</a:t>
                </a:r>
              </a:p>
              <a:p>
                <a14:m>
                  <m:oMath xmlns:m="http://schemas.openxmlformats.org/officeDocument/2006/math">
                    <m:r>
                      <m:rPr>
                        <m:nor/>
                      </m:rPr>
                      <a:rPr lang="en-US" altLang="zh-TW" sz="800" b="1" dirty="0" smtClean="0">
                        <a:solidFill>
                          <a:schemeClr val="accent1"/>
                        </a:solidFill>
                        <a:latin typeface="Montserrat" panose="02020500000000000000" charset="0"/>
                        <a:cs typeface="Times New Roman" panose="02020603050405020304" pitchFamily="18" charset="0"/>
                      </a:rPr>
                      <m:t>∆</m:t>
                    </m:r>
                  </m:oMath>
                </a14:m>
                <a:r>
                  <a:rPr lang="en-US" altLang="zh-TW" sz="800" b="1" dirty="0">
                    <a:solidFill>
                      <a:schemeClr val="accent1"/>
                    </a:solidFill>
                    <a:latin typeface="Montserrat" panose="02020500000000000000" charset="0"/>
                    <a:cs typeface="Times New Roman" panose="02020603050405020304" pitchFamily="18" charset="0"/>
                  </a:rPr>
                  <a:t>k=0.281646</a:t>
                </a:r>
              </a:p>
              <a:p>
                <a14:m>
                  <m:oMath xmlns:m="http://schemas.openxmlformats.org/officeDocument/2006/math">
                    <m:r>
                      <a:rPr lang="zh-TW" altLang="en-US" sz="800" b="1" i="1" smtClean="0">
                        <a:solidFill>
                          <a:schemeClr val="accent1"/>
                        </a:solidFill>
                        <a:latin typeface="Cambria Math" panose="02040503050406030204" pitchFamily="18" charset="0"/>
                        <a:cs typeface="Times New Roman" panose="02020603050405020304" pitchFamily="18" charset="0"/>
                      </a:rPr>
                      <m:t>𝚲</m:t>
                    </m:r>
                  </m:oMath>
                </a14:m>
                <a:r>
                  <a:rPr lang="en-US" altLang="zh-TW" sz="800" b="1" dirty="0">
                    <a:solidFill>
                      <a:schemeClr val="accent1"/>
                    </a:solidFill>
                    <a:latin typeface="Montserrat" panose="02020500000000000000" charset="0"/>
                    <a:cs typeface="Times New Roman" panose="02020603050405020304" pitchFamily="18" charset="0"/>
                  </a:rPr>
                  <a:t>=22.3um</a:t>
                </a:r>
                <a:endParaRPr lang="zh-TW" altLang="en-US" sz="800" b="1" dirty="0">
                  <a:solidFill>
                    <a:schemeClr val="accent1"/>
                  </a:solidFill>
                  <a:latin typeface="Montserrat" panose="02020500000000000000" charset="0"/>
                  <a:cs typeface="Times New Roman" panose="02020603050405020304" pitchFamily="18" charset="0"/>
                </a:endParaRPr>
              </a:p>
            </p:txBody>
          </p:sp>
        </mc:Choice>
        <mc:Fallback xmlns="">
          <p:sp>
            <p:nvSpPr>
              <p:cNvPr id="13" name="文字方塊 12">
                <a:extLst>
                  <a:ext uri="{FF2B5EF4-FFF2-40B4-BE49-F238E27FC236}">
                    <a16:creationId xmlns:a16="http://schemas.microsoft.com/office/drawing/2014/main" id="{E592701E-535B-4456-BB2E-D2D2A0A8F273}"/>
                  </a:ext>
                </a:extLst>
              </p:cNvPr>
              <p:cNvSpPr txBox="1">
                <a:spLocks noRot="1" noChangeAspect="1" noMove="1" noResize="1" noEditPoints="1" noAdjustHandles="1" noChangeArrowheads="1" noChangeShapeType="1" noTextEdit="1"/>
              </p:cNvSpPr>
              <p:nvPr/>
            </p:nvSpPr>
            <p:spPr>
              <a:xfrm>
                <a:off x="4741375" y="2571750"/>
                <a:ext cx="857927" cy="461665"/>
              </a:xfrm>
              <a:prstGeom prst="rect">
                <a:avLst/>
              </a:prstGeom>
              <a:blipFill>
                <a:blip r:embed="rId6"/>
                <a:stretch>
                  <a:fillRect b="-2632"/>
                </a:stretch>
              </a:blipFill>
            </p:spPr>
            <p:txBody>
              <a:bodyPr/>
              <a:lstStyle/>
              <a:p>
                <a:r>
                  <a:rPr lang="zh-TW" altLang="en-US">
                    <a:noFill/>
                  </a:rPr>
                  <a:t> </a:t>
                </a:r>
              </a:p>
            </p:txBody>
          </p:sp>
        </mc:Fallback>
      </mc:AlternateContent>
      <p:sp>
        <p:nvSpPr>
          <p:cNvPr id="17" name="矩形 16">
            <a:extLst>
              <a:ext uri="{FF2B5EF4-FFF2-40B4-BE49-F238E27FC236}">
                <a16:creationId xmlns:a16="http://schemas.microsoft.com/office/drawing/2014/main" id="{186BABA7-5099-4F69-BBE0-CB3B089685BB}"/>
              </a:ext>
            </a:extLst>
          </p:cNvPr>
          <p:cNvSpPr/>
          <p:nvPr/>
        </p:nvSpPr>
        <p:spPr>
          <a:xfrm>
            <a:off x="2135655" y="1648800"/>
            <a:ext cx="743180" cy="21384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1819F9F-BCD0-4C36-B3C7-AFE13216F306}"/>
                  </a:ext>
                </a:extLst>
              </p:cNvPr>
              <p:cNvSpPr txBox="1"/>
              <p:nvPr/>
            </p:nvSpPr>
            <p:spPr>
              <a:xfrm>
                <a:off x="7478684" y="2321683"/>
                <a:ext cx="436658"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l-GR" altLang="zh-TW" sz="1000" i="1" smtClean="0">
                          <a:latin typeface="Cambria Math" panose="02040503050406030204" pitchFamily="18" charset="0"/>
                          <a:ea typeface="Cambria Math" panose="02040503050406030204" pitchFamily="18" charset="0"/>
                        </a:rPr>
                        <m:t>𝛬</m:t>
                      </m:r>
                      <m:r>
                        <a:rPr lang="en-US" altLang="zh-TW" sz="1000" i="1">
                          <a:latin typeface="Cambria Math" panose="02040503050406030204" pitchFamily="18" charset="0"/>
                          <a:ea typeface="Cambria Math" panose="02040503050406030204" pitchFamily="18" charset="0"/>
                        </a:rPr>
                        <m:t>=</m:t>
                      </m:r>
                      <m:f>
                        <m:fPr>
                          <m:ctrlPr>
                            <a:rPr lang="en-US" altLang="zh-TW" sz="1000" i="1" smtClean="0">
                              <a:latin typeface="Cambria Math" panose="02040503050406030204" pitchFamily="18" charset="0"/>
                              <a:ea typeface="Cambria Math" panose="02040503050406030204" pitchFamily="18" charset="0"/>
                            </a:rPr>
                          </m:ctrlPr>
                        </m:fPr>
                        <m:num>
                          <m:r>
                            <a:rPr lang="en-US" altLang="zh-TW" sz="1000" i="1">
                              <a:latin typeface="Cambria Math" panose="02040503050406030204" pitchFamily="18" charset="0"/>
                              <a:ea typeface="Cambria Math" panose="02040503050406030204" pitchFamily="18" charset="0"/>
                            </a:rPr>
                            <m:t>2</m:t>
                          </m:r>
                          <m:r>
                            <a:rPr lang="zh-TW" altLang="en-US" sz="1000" i="1" smtClean="0">
                              <a:latin typeface="Cambria Math" panose="02040503050406030204" pitchFamily="18" charset="0"/>
                              <a:ea typeface="Cambria Math" panose="02040503050406030204" pitchFamily="18" charset="0"/>
                            </a:rPr>
                            <m:t>𝜋</m:t>
                          </m:r>
                        </m:num>
                        <m:den>
                          <m:r>
                            <a:rPr lang="en-US" altLang="zh-TW" sz="1000" i="1" smtClean="0">
                              <a:latin typeface="Cambria Math" panose="02040503050406030204" pitchFamily="18" charset="0"/>
                              <a:ea typeface="Cambria Math" panose="02040503050406030204" pitchFamily="18" charset="0"/>
                            </a:rPr>
                            <m:t>∆</m:t>
                          </m:r>
                          <m:r>
                            <a:rPr lang="en-US" altLang="zh-TW" sz="1000" i="1">
                              <a:latin typeface="Cambria Math" panose="02040503050406030204" pitchFamily="18" charset="0"/>
                              <a:ea typeface="Cambria Math" panose="02040503050406030204" pitchFamily="18" charset="0"/>
                            </a:rPr>
                            <m:t>𝑘</m:t>
                          </m:r>
                        </m:den>
                      </m:f>
                    </m:oMath>
                  </m:oMathPara>
                </a14:m>
                <a:endParaRPr lang="zh-TW" altLang="en-US" sz="1000" i="1" dirty="0"/>
              </a:p>
            </p:txBody>
          </p:sp>
        </mc:Choice>
        <mc:Fallback xmlns="">
          <p:sp>
            <p:nvSpPr>
              <p:cNvPr id="25" name="文字方塊 24">
                <a:extLst>
                  <a:ext uri="{FF2B5EF4-FFF2-40B4-BE49-F238E27FC236}">
                    <a16:creationId xmlns:a16="http://schemas.microsoft.com/office/drawing/2014/main" id="{D1819F9F-BCD0-4C36-B3C7-AFE13216F306}"/>
                  </a:ext>
                </a:extLst>
              </p:cNvPr>
              <p:cNvSpPr txBox="1">
                <a:spLocks noRot="1" noChangeAspect="1" noMove="1" noResize="1" noEditPoints="1" noAdjustHandles="1" noChangeArrowheads="1" noChangeShapeType="1" noTextEdit="1"/>
              </p:cNvSpPr>
              <p:nvPr/>
            </p:nvSpPr>
            <p:spPr>
              <a:xfrm>
                <a:off x="7478684" y="2321683"/>
                <a:ext cx="436658" cy="289182"/>
              </a:xfrm>
              <a:prstGeom prst="rect">
                <a:avLst/>
              </a:prstGeom>
              <a:blipFill>
                <a:blip r:embed="rId7"/>
                <a:stretch>
                  <a:fillRect l="-7042" t="-2128" r="-8451" b="-17021"/>
                </a:stretch>
              </a:blipFill>
            </p:spPr>
            <p:txBody>
              <a:bodyPr/>
              <a:lstStyle/>
              <a:p>
                <a:r>
                  <a:rPr lang="zh-TW" altLang="en-US">
                    <a:noFill/>
                  </a:rPr>
                  <a:t> </a:t>
                </a:r>
              </a:p>
            </p:txBody>
          </p:sp>
        </mc:Fallback>
      </mc:AlternateContent>
      <p:sp>
        <p:nvSpPr>
          <p:cNvPr id="26" name="文字方塊 25">
            <a:extLst>
              <a:ext uri="{FF2B5EF4-FFF2-40B4-BE49-F238E27FC236}">
                <a16:creationId xmlns:a16="http://schemas.microsoft.com/office/drawing/2014/main" id="{21808A5F-A509-42A4-98CC-1B4BB5880D9D}"/>
              </a:ext>
            </a:extLst>
          </p:cNvPr>
          <p:cNvSpPr txBox="1"/>
          <p:nvPr/>
        </p:nvSpPr>
        <p:spPr>
          <a:xfrm>
            <a:off x="8376418" y="2343163"/>
            <a:ext cx="412292" cy="246221"/>
          </a:xfrm>
          <a:prstGeom prst="rect">
            <a:avLst/>
          </a:prstGeom>
          <a:noFill/>
        </p:spPr>
        <p:txBody>
          <a:bodyPr wrap="none" rtlCol="0">
            <a:spAutoFit/>
          </a:bodyPr>
          <a:lstStyle/>
          <a:p>
            <a:r>
              <a:rPr lang="en-US" altLang="zh-TW" sz="1000" dirty="0">
                <a:latin typeface="Montserrat" panose="02020500000000000000" charset="0"/>
              </a:rPr>
              <a:t>(33)</a:t>
            </a:r>
            <a:endParaRPr lang="zh-TW" altLang="en-US" sz="1000" dirty="0">
              <a:latin typeface="Montserrat" panose="02020500000000000000" charset="0"/>
            </a:endParaRPr>
          </a:p>
        </p:txBody>
      </p:sp>
    </p:spTree>
    <p:extLst>
      <p:ext uri="{BB962C8B-B14F-4D97-AF65-F5344CB8AC3E}">
        <p14:creationId xmlns:p14="http://schemas.microsoft.com/office/powerpoint/2010/main" val="4186692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Simulation result</a:t>
            </a:r>
          </a:p>
        </p:txBody>
      </p:sp>
      <p:grpSp>
        <p:nvGrpSpPr>
          <p:cNvPr id="3" name="群組 2">
            <a:extLst>
              <a:ext uri="{FF2B5EF4-FFF2-40B4-BE49-F238E27FC236}">
                <a16:creationId xmlns:a16="http://schemas.microsoft.com/office/drawing/2014/main" id="{C8898C27-CE98-400F-A19A-F70750672F1A}"/>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09CCEDFE-DD18-487F-A203-AC09C1D1A4EB}"/>
                </a:ext>
              </a:extLst>
            </p:cNvPr>
            <p:cNvSpPr/>
            <p:nvPr/>
          </p:nvSpPr>
          <p:spPr>
            <a:xfrm>
              <a:off x="2826656" y="-911"/>
              <a:ext cx="90618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Simulation</a:t>
              </a:r>
            </a:p>
          </p:txBody>
        </p:sp>
        <p:sp>
          <p:nvSpPr>
            <p:cNvPr id="5" name="矩形 4">
              <a:extLst>
                <a:ext uri="{FF2B5EF4-FFF2-40B4-BE49-F238E27FC236}">
                  <a16:creationId xmlns:a16="http://schemas.microsoft.com/office/drawing/2014/main" id="{C3CFE71D-3C83-48EE-B541-89829F825C4C}"/>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0F5FD9E-FFBA-4530-B8E6-13FD0CF5C3E9}"/>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E2C1E517-9A38-4F86-B79F-DED2D57CD247}"/>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7FF08BCB-794D-4902-A5B8-BF6AFF2298AA}"/>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4E281119-D266-4CF5-B5B5-B6BF42C9F4E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mc:AlternateContent xmlns:mc="http://schemas.openxmlformats.org/markup-compatibility/2006" xmlns:a14="http://schemas.microsoft.com/office/drawing/2010/main">
        <mc:Choice Requires="a14">
          <p:graphicFrame>
            <p:nvGraphicFramePr>
              <p:cNvPr id="15" name="表格 14">
                <a:extLst>
                  <a:ext uri="{FF2B5EF4-FFF2-40B4-BE49-F238E27FC236}">
                    <a16:creationId xmlns:a16="http://schemas.microsoft.com/office/drawing/2014/main" id="{3D742B38-4142-4C07-B8B8-978ABBC0DFBD}"/>
                  </a:ext>
                </a:extLst>
              </p:cNvPr>
              <p:cNvGraphicFramePr>
                <a:graphicFrameLocks noGrp="1"/>
              </p:cNvGraphicFramePr>
              <p:nvPr>
                <p:extLst>
                  <p:ext uri="{D42A27DB-BD31-4B8C-83A1-F6EECF244321}">
                    <p14:modId xmlns:p14="http://schemas.microsoft.com/office/powerpoint/2010/main" val="2697631406"/>
                  </p:ext>
                </p:extLst>
              </p:nvPr>
            </p:nvGraphicFramePr>
            <p:xfrm>
              <a:off x="759759" y="4084940"/>
              <a:ext cx="7624481" cy="641702"/>
            </p:xfrm>
            <a:graphic>
              <a:graphicData uri="http://schemas.openxmlformats.org/drawingml/2006/table">
                <a:tbl>
                  <a:tblPr firstRow="1" firstCol="1" bandRow="1">
                    <a:tableStyleId>{98252408-292B-446D-B347-1ABCC8AC41D4}</a:tableStyleId>
                  </a:tblPr>
                  <a:tblGrid>
                    <a:gridCol w="901400">
                      <a:extLst>
                        <a:ext uri="{9D8B030D-6E8A-4147-A177-3AD203B41FA5}">
                          <a16:colId xmlns:a16="http://schemas.microsoft.com/office/drawing/2014/main" val="2488836331"/>
                        </a:ext>
                      </a:extLst>
                    </a:gridCol>
                    <a:gridCol w="846930">
                      <a:extLst>
                        <a:ext uri="{9D8B030D-6E8A-4147-A177-3AD203B41FA5}">
                          <a16:colId xmlns:a16="http://schemas.microsoft.com/office/drawing/2014/main" val="4089450003"/>
                        </a:ext>
                      </a:extLst>
                    </a:gridCol>
                    <a:gridCol w="846930">
                      <a:extLst>
                        <a:ext uri="{9D8B030D-6E8A-4147-A177-3AD203B41FA5}">
                          <a16:colId xmlns:a16="http://schemas.microsoft.com/office/drawing/2014/main" val="632799070"/>
                        </a:ext>
                      </a:extLst>
                    </a:gridCol>
                    <a:gridCol w="846930">
                      <a:extLst>
                        <a:ext uri="{9D8B030D-6E8A-4147-A177-3AD203B41FA5}">
                          <a16:colId xmlns:a16="http://schemas.microsoft.com/office/drawing/2014/main" val="1720333333"/>
                        </a:ext>
                      </a:extLst>
                    </a:gridCol>
                    <a:gridCol w="844956">
                      <a:extLst>
                        <a:ext uri="{9D8B030D-6E8A-4147-A177-3AD203B41FA5}">
                          <a16:colId xmlns:a16="http://schemas.microsoft.com/office/drawing/2014/main" val="1044088838"/>
                        </a:ext>
                      </a:extLst>
                    </a:gridCol>
                    <a:gridCol w="708502">
                      <a:extLst>
                        <a:ext uri="{9D8B030D-6E8A-4147-A177-3AD203B41FA5}">
                          <a16:colId xmlns:a16="http://schemas.microsoft.com/office/drawing/2014/main" val="1263421241"/>
                        </a:ext>
                      </a:extLst>
                    </a:gridCol>
                    <a:gridCol w="793560">
                      <a:extLst>
                        <a:ext uri="{9D8B030D-6E8A-4147-A177-3AD203B41FA5}">
                          <a16:colId xmlns:a16="http://schemas.microsoft.com/office/drawing/2014/main" val="2710639732"/>
                        </a:ext>
                      </a:extLst>
                    </a:gridCol>
                    <a:gridCol w="950410">
                      <a:extLst>
                        <a:ext uri="{9D8B030D-6E8A-4147-A177-3AD203B41FA5}">
                          <a16:colId xmlns:a16="http://schemas.microsoft.com/office/drawing/2014/main" val="1386425924"/>
                        </a:ext>
                      </a:extLst>
                    </a:gridCol>
                    <a:gridCol w="884863">
                      <a:extLst>
                        <a:ext uri="{9D8B030D-6E8A-4147-A177-3AD203B41FA5}">
                          <a16:colId xmlns:a16="http://schemas.microsoft.com/office/drawing/2014/main" val="4214754863"/>
                        </a:ext>
                      </a:extLst>
                    </a:gridCol>
                  </a:tblGrid>
                  <a:tr h="401471">
                    <a:tc>
                      <a:txBody>
                        <a:bodyPr/>
                        <a:lstStyle/>
                        <a:p>
                          <a:pPr algn="ctr">
                            <a:lnSpc>
                              <a:spcPct val="150000"/>
                            </a:lnSpc>
                            <a:spcAft>
                              <a:spcPts val="0"/>
                            </a:spcAft>
                          </a:pPr>
                          <a:r>
                            <a:rPr lang="en-US" sz="800" kern="100" dirty="0">
                              <a:effectLst/>
                              <a:latin typeface="Montserrat" panose="02020500000000000000" charset="0"/>
                            </a:rPr>
                            <a:t> </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Number of domain</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Population size</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Length (mm)</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b="1" kern="100" baseline="0" dirty="0">
                              <a:effectLst/>
                              <a:latin typeface="Montserrat" panose="02020500000000000000" charset="0"/>
                            </a:rPr>
                            <a:t>Unit domain </a:t>
                          </a:r>
                          <a:r>
                            <a:rPr lang="en-US" sz="800" b="1" kern="100" dirty="0">
                              <a:effectLst/>
                              <a:latin typeface="Montserrat" panose="02020500000000000000" charset="0"/>
                            </a:rPr>
                            <a:t>(</a:t>
                          </a:r>
                          <a14:m>
                            <m:oMath xmlns:m="http://schemas.openxmlformats.org/officeDocument/2006/math">
                              <m:r>
                                <a:rPr lang="en-US" sz="800" b="1" i="1" kern="100">
                                  <a:effectLst/>
                                  <a:latin typeface="Cambria Math" panose="02040503050406030204" pitchFamily="18" charset="0"/>
                                </a:rPr>
                                <m:t>𝝁</m:t>
                              </m:r>
                              <m:r>
                                <a:rPr lang="en-US" sz="800" b="1" i="1" kern="100">
                                  <a:effectLst/>
                                  <a:latin typeface="Cambria Math" panose="02040503050406030204" pitchFamily="18" charset="0"/>
                                </a:rPr>
                                <m:t>𝒎</m:t>
                              </m:r>
                            </m:oMath>
                          </a14:m>
                          <a:r>
                            <a:rPr lang="en-US" sz="800" b="1" kern="100" dirty="0">
                              <a:effectLst/>
                              <a:latin typeface="Montserrat" panose="02020500000000000000" charset="0"/>
                            </a:rPr>
                            <a:t>)</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Temp (°C)</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14:m>
                            <m:oMath xmlns:m="http://schemas.openxmlformats.org/officeDocument/2006/math">
                              <m:sSub>
                                <m:sSubPr>
                                  <m:ctrlPr>
                                    <a:rPr lang="en-US" altLang="zh-TW" sz="800" b="1" i="1" kern="100" smtClean="0">
                                      <a:effectLst/>
                                      <a:latin typeface="Cambria Math" panose="02040503050406030204" pitchFamily="18" charset="0"/>
                                    </a:rPr>
                                  </m:ctrlPr>
                                </m:sSubPr>
                                <m:e>
                                  <m:r>
                                    <a:rPr lang="zh-TW" altLang="en-US" sz="800" b="1" i="1" kern="100" smtClean="0">
                                      <a:effectLst/>
                                      <a:latin typeface="Cambria Math" panose="02040503050406030204" pitchFamily="18" charset="0"/>
                                    </a:rPr>
                                    <m:t>𝝀</m:t>
                                  </m:r>
                                </m:e>
                                <m:sub>
                                  <m:r>
                                    <a:rPr lang="en-US" altLang="zh-TW" sz="800" b="1" i="1" kern="100" smtClean="0">
                                      <a:effectLst/>
                                      <a:latin typeface="Cambria Math" panose="02040503050406030204" pitchFamily="18" charset="0"/>
                                    </a:rPr>
                                    <m:t>𝒑</m:t>
                                  </m:r>
                                </m:sub>
                              </m:sSub>
                            </m:oMath>
                          </a14:m>
                          <a:r>
                            <a:rPr lang="zh-TW" altLang="en-US" sz="800" b="1" kern="100" dirty="0">
                              <a:effectLst/>
                              <a:latin typeface="Montserrat" panose="02020500000000000000" charset="0"/>
                            </a:rPr>
                            <a:t> </a:t>
                          </a:r>
                          <a:r>
                            <a:rPr lang="en-US" altLang="zh-TW" sz="800" b="1" kern="100" dirty="0">
                              <a:effectLst/>
                              <a:latin typeface="Montserrat" panose="02020500000000000000" charset="0"/>
                            </a:rPr>
                            <a:t>(nm)</a:t>
                          </a:r>
                          <a:endParaRPr lang="zh-TW" alt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14:m>
                            <m:oMath xmlns:m="http://schemas.openxmlformats.org/officeDocument/2006/math">
                              <m:sSub>
                                <m:sSubPr>
                                  <m:ctrlPr>
                                    <a:rPr lang="en-US" altLang="zh-TW" sz="800" b="1" i="1" kern="100" smtClean="0">
                                      <a:effectLst/>
                                      <a:latin typeface="Cambria Math" panose="02040503050406030204" pitchFamily="18" charset="0"/>
                                    </a:rPr>
                                  </m:ctrlPr>
                                </m:sSubPr>
                                <m:e>
                                  <m:r>
                                    <a:rPr lang="zh-TW" altLang="en-US" sz="800" b="1" i="1" kern="100" smtClean="0">
                                      <a:effectLst/>
                                      <a:latin typeface="Cambria Math" panose="02040503050406030204" pitchFamily="18" charset="0"/>
                                    </a:rPr>
                                    <m:t>𝝀</m:t>
                                  </m:r>
                                </m:e>
                                <m:sub>
                                  <m:r>
                                    <a:rPr lang="en-US" altLang="zh-TW" sz="800" b="1" i="1" kern="100" smtClean="0">
                                      <a:effectLst/>
                                      <a:latin typeface="Cambria Math" panose="02040503050406030204" pitchFamily="18" charset="0"/>
                                    </a:rPr>
                                    <m:t>𝒔</m:t>
                                  </m:r>
                                </m:sub>
                              </m:sSub>
                            </m:oMath>
                          </a14:m>
                          <a:r>
                            <a:rPr lang="en-US" altLang="zh-TW" sz="800" b="1" kern="100" baseline="0" dirty="0">
                              <a:effectLst/>
                            </a:rPr>
                            <a:t> and </a:t>
                          </a:r>
                          <a14:m>
                            <m:oMath xmlns:m="http://schemas.openxmlformats.org/officeDocument/2006/math">
                              <m:sSub>
                                <m:sSubPr>
                                  <m:ctrlPr>
                                    <a:rPr lang="en-US" altLang="zh-TW" sz="800" b="1" i="1" kern="100" smtClean="0">
                                      <a:effectLst/>
                                      <a:latin typeface="Cambria Math" panose="02040503050406030204" pitchFamily="18" charset="0"/>
                                    </a:rPr>
                                  </m:ctrlPr>
                                </m:sSubPr>
                                <m:e>
                                  <m:r>
                                    <a:rPr lang="zh-TW" altLang="en-US" sz="800" b="1" i="1" kern="100" smtClean="0">
                                      <a:effectLst/>
                                      <a:latin typeface="Cambria Math" panose="02040503050406030204" pitchFamily="18" charset="0"/>
                                    </a:rPr>
                                    <m:t>𝝀</m:t>
                                  </m:r>
                                </m:e>
                                <m:sub>
                                  <m:r>
                                    <a:rPr lang="en-US" altLang="zh-TW" sz="800" b="1" i="1" kern="100" smtClean="0">
                                      <a:effectLst/>
                                      <a:latin typeface="Cambria Math" panose="02040503050406030204" pitchFamily="18" charset="0"/>
                                    </a:rPr>
                                    <m:t>𝒊</m:t>
                                  </m:r>
                                </m:sub>
                              </m:sSub>
                            </m:oMath>
                          </a14:m>
                          <a:r>
                            <a:rPr lang="zh-TW" altLang="en-US" sz="800" b="1" kern="100" dirty="0">
                              <a:effectLst/>
                              <a:latin typeface="Montserrat" panose="02020500000000000000" charset="0"/>
                            </a:rPr>
                            <a:t> </a:t>
                          </a:r>
                          <a:r>
                            <a:rPr lang="en-US" sz="800" b="1" kern="100" dirty="0">
                              <a:effectLst/>
                              <a:latin typeface="Montserrat" panose="02020500000000000000" charset="0"/>
                            </a:rPr>
                            <a:t>(nm)</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14:m>
                            <m:oMath xmlns:m="http://schemas.openxmlformats.org/officeDocument/2006/math">
                              <m:sSub>
                                <m:sSubPr>
                                  <m:ctrlPr>
                                    <a:rPr lang="en-US" altLang="zh-TW" sz="800" b="1" i="1" kern="100" smtClean="0">
                                      <a:effectLst/>
                                      <a:latin typeface="Cambria Math" panose="02040503050406030204" pitchFamily="18" charset="0"/>
                                    </a:rPr>
                                  </m:ctrlPr>
                                </m:sSubPr>
                                <m:e>
                                  <m:r>
                                    <a:rPr lang="zh-TW" altLang="en-US" sz="800" b="1" i="1" kern="100" smtClean="0">
                                      <a:effectLst/>
                                      <a:latin typeface="Cambria Math" panose="02040503050406030204" pitchFamily="18" charset="0"/>
                                    </a:rPr>
                                    <m:t>𝝀</m:t>
                                  </m:r>
                                </m:e>
                                <m:sub>
                                  <m:r>
                                    <a:rPr lang="en-US" altLang="zh-TW" sz="800" b="1" i="1" kern="100" smtClean="0">
                                      <a:effectLst/>
                                      <a:latin typeface="Cambria Math" panose="02040503050406030204" pitchFamily="18" charset="0"/>
                                    </a:rPr>
                                    <m:t>𝑬𝑶</m:t>
                                  </m:r>
                                  <m:r>
                                    <a:rPr lang="en-US" altLang="zh-TW" sz="800" b="1" i="1" kern="100" smtClean="0">
                                      <a:effectLst/>
                                      <a:latin typeface="Cambria Math" panose="02040503050406030204" pitchFamily="18" charset="0"/>
                                    </a:rPr>
                                    <m:t>−</m:t>
                                  </m:r>
                                  <m:r>
                                    <a:rPr lang="en-US" altLang="zh-TW" sz="800" b="1" i="1" kern="100" smtClean="0">
                                      <a:effectLst/>
                                      <a:latin typeface="Cambria Math" panose="02040503050406030204" pitchFamily="18" charset="0"/>
                                    </a:rPr>
                                    <m:t>𝑷𝑴𝑪</m:t>
                                  </m:r>
                                </m:sub>
                              </m:sSub>
                            </m:oMath>
                          </a14:m>
                          <a:r>
                            <a:rPr lang="zh-TW" altLang="en-US" sz="800" b="1" kern="100" dirty="0">
                              <a:effectLst/>
                              <a:latin typeface="Montserrat" panose="02020500000000000000" charset="0"/>
                            </a:rPr>
                            <a:t> </a:t>
                          </a:r>
                          <a:r>
                            <a:rPr lang="en-US" sz="800" b="1" kern="100" dirty="0">
                              <a:effectLst/>
                              <a:latin typeface="Montserrat" panose="02020500000000000000" charset="0"/>
                            </a:rPr>
                            <a:t>(nm)</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9055456"/>
                      </a:ext>
                    </a:extLst>
                  </a:tr>
                  <a:tr h="240231">
                    <a:tc>
                      <a:txBody>
                        <a:bodyPr/>
                        <a:lstStyle/>
                        <a:p>
                          <a:pPr algn="ctr">
                            <a:lnSpc>
                              <a:spcPct val="150000"/>
                            </a:lnSpc>
                            <a:spcAft>
                              <a:spcPts val="0"/>
                            </a:spcAft>
                          </a:pPr>
                          <a:r>
                            <a:rPr lang="en-US" altLang="zh-TW" sz="800" b="1" kern="100" dirty="0" err="1">
                              <a:effectLst/>
                              <a:latin typeface="Montserrat" panose="02020500000000000000" charset="0"/>
                              <a:ea typeface="Times New Roman" panose="02020603050405020304" pitchFamily="18" charset="0"/>
                              <a:cs typeface="Times New Roman" panose="02020603050405020304" pitchFamily="18" charset="0"/>
                            </a:rPr>
                            <a:t>Paremeters</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4292</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1000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20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4.66</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50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785</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1570 / 1570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1567 ~1573</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5024638"/>
                      </a:ext>
                    </a:extLst>
                  </a:tr>
                </a:tbl>
              </a:graphicData>
            </a:graphic>
          </p:graphicFrame>
        </mc:Choice>
        <mc:Fallback xmlns="">
          <p:graphicFrame>
            <p:nvGraphicFramePr>
              <p:cNvPr id="15" name="表格 14">
                <a:extLst>
                  <a:ext uri="{FF2B5EF4-FFF2-40B4-BE49-F238E27FC236}">
                    <a16:creationId xmlns:a16="http://schemas.microsoft.com/office/drawing/2014/main" id="{3D742B38-4142-4C07-B8B8-978ABBC0DFBD}"/>
                  </a:ext>
                </a:extLst>
              </p:cNvPr>
              <p:cNvGraphicFramePr>
                <a:graphicFrameLocks noGrp="1"/>
              </p:cNvGraphicFramePr>
              <p:nvPr>
                <p:extLst>
                  <p:ext uri="{D42A27DB-BD31-4B8C-83A1-F6EECF244321}">
                    <p14:modId xmlns:p14="http://schemas.microsoft.com/office/powerpoint/2010/main" val="2697631406"/>
                  </p:ext>
                </p:extLst>
              </p:nvPr>
            </p:nvGraphicFramePr>
            <p:xfrm>
              <a:off x="759759" y="4084940"/>
              <a:ext cx="7624481" cy="641702"/>
            </p:xfrm>
            <a:graphic>
              <a:graphicData uri="http://schemas.openxmlformats.org/drawingml/2006/table">
                <a:tbl>
                  <a:tblPr firstRow="1" firstCol="1" bandRow="1">
                    <a:tableStyleId>{98252408-292B-446D-B347-1ABCC8AC41D4}</a:tableStyleId>
                  </a:tblPr>
                  <a:tblGrid>
                    <a:gridCol w="901400">
                      <a:extLst>
                        <a:ext uri="{9D8B030D-6E8A-4147-A177-3AD203B41FA5}">
                          <a16:colId xmlns:a16="http://schemas.microsoft.com/office/drawing/2014/main" val="2488836331"/>
                        </a:ext>
                      </a:extLst>
                    </a:gridCol>
                    <a:gridCol w="846930">
                      <a:extLst>
                        <a:ext uri="{9D8B030D-6E8A-4147-A177-3AD203B41FA5}">
                          <a16:colId xmlns:a16="http://schemas.microsoft.com/office/drawing/2014/main" val="4089450003"/>
                        </a:ext>
                      </a:extLst>
                    </a:gridCol>
                    <a:gridCol w="846930">
                      <a:extLst>
                        <a:ext uri="{9D8B030D-6E8A-4147-A177-3AD203B41FA5}">
                          <a16:colId xmlns:a16="http://schemas.microsoft.com/office/drawing/2014/main" val="632799070"/>
                        </a:ext>
                      </a:extLst>
                    </a:gridCol>
                    <a:gridCol w="846930">
                      <a:extLst>
                        <a:ext uri="{9D8B030D-6E8A-4147-A177-3AD203B41FA5}">
                          <a16:colId xmlns:a16="http://schemas.microsoft.com/office/drawing/2014/main" val="1720333333"/>
                        </a:ext>
                      </a:extLst>
                    </a:gridCol>
                    <a:gridCol w="844956">
                      <a:extLst>
                        <a:ext uri="{9D8B030D-6E8A-4147-A177-3AD203B41FA5}">
                          <a16:colId xmlns:a16="http://schemas.microsoft.com/office/drawing/2014/main" val="1044088838"/>
                        </a:ext>
                      </a:extLst>
                    </a:gridCol>
                    <a:gridCol w="708502">
                      <a:extLst>
                        <a:ext uri="{9D8B030D-6E8A-4147-A177-3AD203B41FA5}">
                          <a16:colId xmlns:a16="http://schemas.microsoft.com/office/drawing/2014/main" val="1263421241"/>
                        </a:ext>
                      </a:extLst>
                    </a:gridCol>
                    <a:gridCol w="793560">
                      <a:extLst>
                        <a:ext uri="{9D8B030D-6E8A-4147-A177-3AD203B41FA5}">
                          <a16:colId xmlns:a16="http://schemas.microsoft.com/office/drawing/2014/main" val="2710639732"/>
                        </a:ext>
                      </a:extLst>
                    </a:gridCol>
                    <a:gridCol w="950410">
                      <a:extLst>
                        <a:ext uri="{9D8B030D-6E8A-4147-A177-3AD203B41FA5}">
                          <a16:colId xmlns:a16="http://schemas.microsoft.com/office/drawing/2014/main" val="1386425924"/>
                        </a:ext>
                      </a:extLst>
                    </a:gridCol>
                    <a:gridCol w="884863">
                      <a:extLst>
                        <a:ext uri="{9D8B030D-6E8A-4147-A177-3AD203B41FA5}">
                          <a16:colId xmlns:a16="http://schemas.microsoft.com/office/drawing/2014/main" val="4214754863"/>
                        </a:ext>
                      </a:extLst>
                    </a:gridCol>
                  </a:tblGrid>
                  <a:tr h="401471">
                    <a:tc>
                      <a:txBody>
                        <a:bodyPr/>
                        <a:lstStyle/>
                        <a:p>
                          <a:pPr algn="ctr">
                            <a:lnSpc>
                              <a:spcPct val="150000"/>
                            </a:lnSpc>
                            <a:spcAft>
                              <a:spcPts val="0"/>
                            </a:spcAft>
                          </a:pPr>
                          <a:r>
                            <a:rPr lang="en-US" sz="800" kern="100" dirty="0">
                              <a:effectLst/>
                              <a:latin typeface="Montserrat" panose="02020500000000000000" charset="0"/>
                            </a:rPr>
                            <a:t> </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Number of domain</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Population size</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Length (mm)</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zh-TW"/>
                        </a:p>
                      </a:txBody>
                      <a:tcPr marL="68580" marR="68580" marT="0" marB="0">
                        <a:blipFill>
                          <a:blip r:embed="rId6"/>
                          <a:stretch>
                            <a:fillRect l="-407194" t="-1515" r="-394964" b="-62121"/>
                          </a:stretch>
                        </a:blipFill>
                      </a:tcPr>
                    </a:tc>
                    <a:tc>
                      <a:txBody>
                        <a:bodyPr/>
                        <a:lstStyle/>
                        <a:p>
                          <a:pPr algn="ctr">
                            <a:lnSpc>
                              <a:spcPct val="150000"/>
                            </a:lnSpc>
                            <a:spcAft>
                              <a:spcPts val="0"/>
                            </a:spcAft>
                          </a:pPr>
                          <a:r>
                            <a:rPr lang="en-US" altLang="zh-TW" sz="800" b="1" kern="100" dirty="0">
                              <a:effectLst/>
                              <a:latin typeface="Montserrat" panose="02020500000000000000" charset="0"/>
                              <a:ea typeface="Times New Roman" panose="02020603050405020304" pitchFamily="18" charset="0"/>
                              <a:cs typeface="Times New Roman" panose="02020603050405020304" pitchFamily="18" charset="0"/>
                            </a:rPr>
                            <a:t>Temp (°C)</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zh-TW"/>
                        </a:p>
                      </a:txBody>
                      <a:tcPr marL="68580" marR="68580" marT="0" marB="0">
                        <a:blipFill>
                          <a:blip r:embed="rId6"/>
                          <a:stretch>
                            <a:fillRect l="-626718" t="-1515" r="-230534" b="-62121"/>
                          </a:stretch>
                        </a:blipFill>
                      </a:tcPr>
                    </a:tc>
                    <a:tc>
                      <a:txBody>
                        <a:bodyPr/>
                        <a:lstStyle/>
                        <a:p>
                          <a:endParaRPr lang="zh-TW"/>
                        </a:p>
                      </a:txBody>
                      <a:tcPr marL="68580" marR="68580" marT="0" marB="0">
                        <a:blipFill>
                          <a:blip r:embed="rId6"/>
                          <a:stretch>
                            <a:fillRect l="-610256" t="-1515" r="-93590" b="-62121"/>
                          </a:stretch>
                        </a:blipFill>
                      </a:tcPr>
                    </a:tc>
                    <a:tc>
                      <a:txBody>
                        <a:bodyPr/>
                        <a:lstStyle/>
                        <a:p>
                          <a:endParaRPr lang="zh-TW"/>
                        </a:p>
                      </a:txBody>
                      <a:tcPr marL="68580" marR="68580" marT="0" marB="0">
                        <a:blipFill>
                          <a:blip r:embed="rId6"/>
                          <a:stretch>
                            <a:fillRect l="-764138" t="-1515" r="-690" b="-62121"/>
                          </a:stretch>
                        </a:blipFill>
                      </a:tcPr>
                    </a:tc>
                    <a:extLst>
                      <a:ext uri="{0D108BD9-81ED-4DB2-BD59-A6C34878D82A}">
                        <a16:rowId xmlns:a16="http://schemas.microsoft.com/office/drawing/2014/main" val="1599055456"/>
                      </a:ext>
                    </a:extLst>
                  </a:tr>
                  <a:tr h="240231">
                    <a:tc>
                      <a:txBody>
                        <a:bodyPr/>
                        <a:lstStyle/>
                        <a:p>
                          <a:pPr algn="ctr">
                            <a:lnSpc>
                              <a:spcPct val="150000"/>
                            </a:lnSpc>
                            <a:spcAft>
                              <a:spcPts val="0"/>
                            </a:spcAft>
                          </a:pPr>
                          <a:r>
                            <a:rPr lang="en-US" altLang="zh-TW" sz="800" b="1" kern="100" dirty="0" err="1">
                              <a:effectLst/>
                              <a:latin typeface="Montserrat" panose="02020500000000000000" charset="0"/>
                              <a:ea typeface="Times New Roman" panose="02020603050405020304" pitchFamily="18" charset="0"/>
                              <a:cs typeface="Times New Roman" panose="02020603050405020304" pitchFamily="18" charset="0"/>
                            </a:rPr>
                            <a:t>Paremeters</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4292</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1000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20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4.66</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50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800" kern="100" dirty="0">
                              <a:effectLst/>
                              <a:latin typeface="Montserrat" panose="02020500000000000000" charset="0"/>
                              <a:ea typeface="Times New Roman" panose="02020603050405020304" pitchFamily="18" charset="0"/>
                              <a:cs typeface="Times New Roman" panose="02020603050405020304" pitchFamily="18" charset="0"/>
                            </a:rPr>
                            <a:t>785</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1570 / 1570</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1567 ~1573</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5024638"/>
                      </a:ext>
                    </a:extLst>
                  </a:tr>
                </a:tbl>
              </a:graphicData>
            </a:graphic>
          </p:graphicFrame>
        </mc:Fallback>
      </mc:AlternateContent>
      <p:grpSp>
        <p:nvGrpSpPr>
          <p:cNvPr id="2" name="群組 1">
            <a:extLst>
              <a:ext uri="{FF2B5EF4-FFF2-40B4-BE49-F238E27FC236}">
                <a16:creationId xmlns:a16="http://schemas.microsoft.com/office/drawing/2014/main" id="{2941DA92-9885-4F22-B999-92F4655DC8E0}"/>
              </a:ext>
            </a:extLst>
          </p:cNvPr>
          <p:cNvGrpSpPr/>
          <p:nvPr/>
        </p:nvGrpSpPr>
        <p:grpSpPr>
          <a:xfrm>
            <a:off x="97178" y="1457611"/>
            <a:ext cx="8949642" cy="2228278"/>
            <a:chOff x="97178" y="1457611"/>
            <a:chExt cx="8949642" cy="2228278"/>
          </a:xfrm>
        </p:grpSpPr>
        <p:grpSp>
          <p:nvGrpSpPr>
            <p:cNvPr id="16" name="群組 15">
              <a:extLst>
                <a:ext uri="{FF2B5EF4-FFF2-40B4-BE49-F238E27FC236}">
                  <a16:creationId xmlns:a16="http://schemas.microsoft.com/office/drawing/2014/main" id="{0DEC4159-0779-46A9-A6DF-541C3A8D0DB5}"/>
                </a:ext>
              </a:extLst>
            </p:cNvPr>
            <p:cNvGrpSpPr/>
            <p:nvPr/>
          </p:nvGrpSpPr>
          <p:grpSpPr>
            <a:xfrm>
              <a:off x="97178" y="1457611"/>
              <a:ext cx="8949642" cy="2228278"/>
              <a:chOff x="97179" y="1601488"/>
              <a:chExt cx="8949642" cy="2228278"/>
            </a:xfrm>
          </p:grpSpPr>
          <p:pic>
            <p:nvPicPr>
              <p:cNvPr id="12" name="圖片 11">
                <a:extLst>
                  <a:ext uri="{FF2B5EF4-FFF2-40B4-BE49-F238E27FC236}">
                    <a16:creationId xmlns:a16="http://schemas.microsoft.com/office/drawing/2014/main" id="{B8AA0720-E8FF-4C5B-97FF-49C4679CAE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179" y="1601488"/>
                <a:ext cx="2983214" cy="2228278"/>
              </a:xfrm>
              <a:prstGeom prst="rect">
                <a:avLst/>
              </a:prstGeom>
            </p:spPr>
          </p:pic>
          <p:pic>
            <p:nvPicPr>
              <p:cNvPr id="13" name="圖片 12">
                <a:extLst>
                  <a:ext uri="{FF2B5EF4-FFF2-40B4-BE49-F238E27FC236}">
                    <a16:creationId xmlns:a16="http://schemas.microsoft.com/office/drawing/2014/main" id="{04F9B287-4383-4EE1-AAD9-9CEE1BAC13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80393" y="1601488"/>
                <a:ext cx="2983214" cy="2228278"/>
              </a:xfrm>
              <a:prstGeom prst="rect">
                <a:avLst/>
              </a:prstGeom>
            </p:spPr>
          </p:pic>
          <p:pic>
            <p:nvPicPr>
              <p:cNvPr id="14" name="圖片 13">
                <a:extLst>
                  <a:ext uri="{FF2B5EF4-FFF2-40B4-BE49-F238E27FC236}">
                    <a16:creationId xmlns:a16="http://schemas.microsoft.com/office/drawing/2014/main" id="{CFB6CF87-694A-4017-B4B1-E70E2F7CD49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63607" y="1601488"/>
                <a:ext cx="2983214" cy="2228278"/>
              </a:xfrm>
              <a:prstGeom prst="rect">
                <a:avLst/>
              </a:prstGeom>
            </p:spPr>
          </p:pic>
        </p:grpSp>
        <p:sp>
          <p:nvSpPr>
            <p:cNvPr id="18" name="矩形 17">
              <a:extLst>
                <a:ext uri="{FF2B5EF4-FFF2-40B4-BE49-F238E27FC236}">
                  <a16:creationId xmlns:a16="http://schemas.microsoft.com/office/drawing/2014/main" id="{448322D3-487D-4BC5-B41D-F225316482ED}"/>
                </a:ext>
              </a:extLst>
            </p:cNvPr>
            <p:cNvSpPr/>
            <p:nvPr/>
          </p:nvSpPr>
          <p:spPr>
            <a:xfrm>
              <a:off x="7355530" y="2805194"/>
              <a:ext cx="1497880" cy="338554"/>
            </a:xfrm>
            <a:prstGeom prst="rect">
              <a:avLst/>
            </a:prstGeom>
          </p:spPr>
          <p:txBody>
            <a:bodyPr wrap="square">
              <a:spAutoFit/>
            </a:bodyPr>
            <a:lstStyle/>
            <a:p>
              <a:r>
                <a:rPr lang="en-US" altLang="zh-TW" sz="800" dirty="0">
                  <a:latin typeface="Montserrat" panose="02020500000000000000" charset="0"/>
                </a:rPr>
                <a:t>Full width at half maximum(FWHM)= 8nm</a:t>
              </a:r>
              <a:endParaRPr lang="zh-TW" altLang="en-US" sz="800" dirty="0">
                <a:latin typeface="Montserrat" panose="02020500000000000000" charset="0"/>
              </a:endParaRPr>
            </a:p>
          </p:txBody>
        </p:sp>
      </p:grpSp>
      <p:sp>
        <p:nvSpPr>
          <p:cNvPr id="17" name="文字方塊 16">
            <a:extLst>
              <a:ext uri="{FF2B5EF4-FFF2-40B4-BE49-F238E27FC236}">
                <a16:creationId xmlns:a16="http://schemas.microsoft.com/office/drawing/2014/main" id="{9B833729-47E3-4A18-BE90-D7969F088A55}"/>
              </a:ext>
            </a:extLst>
          </p:cNvPr>
          <p:cNvSpPr txBox="1"/>
          <p:nvPr/>
        </p:nvSpPr>
        <p:spPr>
          <a:xfrm>
            <a:off x="8585770" y="4631694"/>
            <a:ext cx="328936" cy="261610"/>
          </a:xfrm>
          <a:prstGeom prst="rect">
            <a:avLst/>
          </a:prstGeom>
          <a:noFill/>
        </p:spPr>
        <p:txBody>
          <a:bodyPr wrap="none" rtlCol="0">
            <a:spAutoFit/>
          </a:bodyPr>
          <a:lstStyle/>
          <a:p>
            <a:r>
              <a:rPr lang="en-US" altLang="zh-TW" sz="1100" dirty="0">
                <a:latin typeface="Montserrat" panose="02020500000000000000" charset="0"/>
              </a:rPr>
              <a:t>41</a:t>
            </a:r>
            <a:endParaRPr lang="zh-TW" altLang="en-US" sz="1100" dirty="0">
              <a:latin typeface="Montserrat" panose="02020500000000000000" charset="0"/>
            </a:endParaRPr>
          </a:p>
        </p:txBody>
      </p:sp>
    </p:spTree>
    <p:extLst>
      <p:ext uri="{BB962C8B-B14F-4D97-AF65-F5344CB8AC3E}">
        <p14:creationId xmlns:p14="http://schemas.microsoft.com/office/powerpoint/2010/main" val="1787945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30" name="Google Shape;1289;p58">
            <a:extLst>
              <a:ext uri="{FF2B5EF4-FFF2-40B4-BE49-F238E27FC236}">
                <a16:creationId xmlns:a16="http://schemas.microsoft.com/office/drawing/2014/main" id="{3C1276BA-F603-4B13-BD55-175CC4336E36}"/>
              </a:ext>
            </a:extLst>
          </p:cNvPr>
          <p:cNvSpPr/>
          <p:nvPr/>
        </p:nvSpPr>
        <p:spPr>
          <a:xfrm>
            <a:off x="1073676" y="469024"/>
            <a:ext cx="2295355" cy="2329654"/>
          </a:xfrm>
          <a:custGeom>
            <a:avLst/>
            <a:gdLst/>
            <a:ahLst/>
            <a:cxnLst/>
            <a:rect l="l" t="t" r="r" b="b"/>
            <a:pathLst>
              <a:path w="11176" h="11343" extrusionOk="0">
                <a:moveTo>
                  <a:pt x="11175" y="5938"/>
                </a:moveTo>
                <a:cubicBezTo>
                  <a:pt x="11042" y="7740"/>
                  <a:pt x="10141" y="9374"/>
                  <a:pt x="8107" y="10208"/>
                </a:cubicBezTo>
                <a:cubicBezTo>
                  <a:pt x="7806" y="10341"/>
                  <a:pt x="7473" y="10475"/>
                  <a:pt x="7173" y="10542"/>
                </a:cubicBezTo>
                <a:cubicBezTo>
                  <a:pt x="5004" y="11342"/>
                  <a:pt x="3170" y="10842"/>
                  <a:pt x="1602" y="9174"/>
                </a:cubicBezTo>
                <a:cubicBezTo>
                  <a:pt x="534" y="8040"/>
                  <a:pt x="1" y="6672"/>
                  <a:pt x="1" y="5138"/>
                </a:cubicBezTo>
                <a:cubicBezTo>
                  <a:pt x="1" y="3937"/>
                  <a:pt x="434" y="2836"/>
                  <a:pt x="1335" y="1969"/>
                </a:cubicBezTo>
                <a:cubicBezTo>
                  <a:pt x="2803" y="601"/>
                  <a:pt x="4537" y="1"/>
                  <a:pt x="6505" y="168"/>
                </a:cubicBezTo>
                <a:cubicBezTo>
                  <a:pt x="9041" y="468"/>
                  <a:pt x="11175" y="2970"/>
                  <a:pt x="11175" y="593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9"/>
          <p:cNvSpPr txBox="1">
            <a:spLocks noGrp="1"/>
          </p:cNvSpPr>
          <p:nvPr>
            <p:ph type="title"/>
          </p:nvPr>
        </p:nvSpPr>
        <p:spPr>
          <a:xfrm>
            <a:off x="2438696" y="1722776"/>
            <a:ext cx="4275462"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Device fabrication</a:t>
            </a:r>
          </a:p>
        </p:txBody>
      </p:sp>
      <p:sp>
        <p:nvSpPr>
          <p:cNvPr id="29" name="文字方塊 28">
            <a:extLst>
              <a:ext uri="{FF2B5EF4-FFF2-40B4-BE49-F238E27FC236}">
                <a16:creationId xmlns:a16="http://schemas.microsoft.com/office/drawing/2014/main" id="{32C4FAF3-FD49-4327-A010-D99F3C3CFA56}"/>
              </a:ext>
            </a:extLst>
          </p:cNvPr>
          <p:cNvSpPr txBox="1"/>
          <p:nvPr/>
        </p:nvSpPr>
        <p:spPr>
          <a:xfrm>
            <a:off x="3101886" y="2564576"/>
            <a:ext cx="2940228" cy="825419"/>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Fabrication of </a:t>
            </a:r>
            <a:r>
              <a:rPr lang="en-US" altLang="zh-TW" sz="1100" dirty="0" err="1">
                <a:latin typeface="Montserrat" panose="02020500000000000000" charset="0"/>
              </a:rPr>
              <a:t>Ti</a:t>
            </a:r>
            <a:r>
              <a:rPr lang="en-US" altLang="zh-TW" sz="1100" dirty="0">
                <a:latin typeface="Montserrat" panose="02020500000000000000" charset="0"/>
              </a:rPr>
              <a:t>-diffused waveguide</a:t>
            </a:r>
          </a:p>
          <a:p>
            <a:pPr marL="171450" indent="-171450">
              <a:lnSpc>
                <a:spcPct val="150000"/>
              </a:lnSpc>
              <a:buFont typeface="Arial" panose="020B0604020202020204" pitchFamily="34" charset="0"/>
              <a:buChar char="•"/>
            </a:pPr>
            <a:r>
              <a:rPr lang="en-US" altLang="zh-TW" sz="1100" dirty="0">
                <a:latin typeface="Montserrat" panose="02020500000000000000" charset="0"/>
              </a:rPr>
              <a:t>Fabrication of poling</a:t>
            </a:r>
          </a:p>
          <a:p>
            <a:pPr marL="171450" indent="-171450">
              <a:lnSpc>
                <a:spcPct val="150000"/>
              </a:lnSpc>
              <a:buFont typeface="Arial" panose="020B0604020202020204" pitchFamily="34" charset="0"/>
              <a:buChar char="•"/>
            </a:pPr>
            <a:r>
              <a:rPr lang="en-US" altLang="zh-TW" sz="1100" dirty="0">
                <a:latin typeface="Montserrat" panose="02020500000000000000" charset="0"/>
              </a:rPr>
              <a:t>Fabrication of electrode</a:t>
            </a:r>
            <a:endParaRPr lang="zh-TW" altLang="en-US" sz="1100" dirty="0">
              <a:latin typeface="Montserrat" panose="02020500000000000000" charset="0"/>
            </a:endParaRPr>
          </a:p>
        </p:txBody>
      </p:sp>
      <p:grpSp>
        <p:nvGrpSpPr>
          <p:cNvPr id="31" name="Google Shape;1176;p55">
            <a:extLst>
              <a:ext uri="{FF2B5EF4-FFF2-40B4-BE49-F238E27FC236}">
                <a16:creationId xmlns:a16="http://schemas.microsoft.com/office/drawing/2014/main" id="{7A33DD3E-129B-4C58-9E15-C82BBEC99487}"/>
              </a:ext>
            </a:extLst>
          </p:cNvPr>
          <p:cNvGrpSpPr/>
          <p:nvPr/>
        </p:nvGrpSpPr>
        <p:grpSpPr>
          <a:xfrm>
            <a:off x="2221353" y="574820"/>
            <a:ext cx="1324516" cy="1042161"/>
            <a:chOff x="557516" y="1342598"/>
            <a:chExt cx="816997" cy="642833"/>
          </a:xfrm>
        </p:grpSpPr>
        <p:sp>
          <p:nvSpPr>
            <p:cNvPr id="32" name="Google Shape;1177;p55">
              <a:extLst>
                <a:ext uri="{FF2B5EF4-FFF2-40B4-BE49-F238E27FC236}">
                  <a16:creationId xmlns:a16="http://schemas.microsoft.com/office/drawing/2014/main" id="{68B18C93-7D62-48A5-8FEE-4637187DDB02}"/>
                </a:ext>
              </a:extLst>
            </p:cNvPr>
            <p:cNvSpPr/>
            <p:nvPr/>
          </p:nvSpPr>
          <p:spPr>
            <a:xfrm>
              <a:off x="557516" y="1717134"/>
              <a:ext cx="422406" cy="80221"/>
            </a:xfrm>
            <a:custGeom>
              <a:avLst/>
              <a:gdLst/>
              <a:ahLst/>
              <a:cxnLst/>
              <a:rect l="l" t="t" r="r" b="b"/>
              <a:pathLst>
                <a:path w="9141" h="1736" extrusionOk="0">
                  <a:moveTo>
                    <a:pt x="9107" y="1569"/>
                  </a:moveTo>
                  <a:cubicBezTo>
                    <a:pt x="8540" y="1302"/>
                    <a:pt x="8006" y="1168"/>
                    <a:pt x="7439" y="1035"/>
                  </a:cubicBezTo>
                  <a:cubicBezTo>
                    <a:pt x="6639" y="868"/>
                    <a:pt x="5938" y="1035"/>
                    <a:pt x="5304" y="1502"/>
                  </a:cubicBezTo>
                  <a:cubicBezTo>
                    <a:pt x="4971" y="1736"/>
                    <a:pt x="4704" y="1736"/>
                    <a:pt x="4437" y="1535"/>
                  </a:cubicBezTo>
                  <a:cubicBezTo>
                    <a:pt x="4104" y="1335"/>
                    <a:pt x="3703" y="1168"/>
                    <a:pt x="3336" y="1035"/>
                  </a:cubicBezTo>
                  <a:cubicBezTo>
                    <a:pt x="2469" y="668"/>
                    <a:pt x="1568" y="701"/>
                    <a:pt x="768" y="1135"/>
                  </a:cubicBezTo>
                  <a:cubicBezTo>
                    <a:pt x="534" y="1202"/>
                    <a:pt x="334" y="1369"/>
                    <a:pt x="67" y="1369"/>
                  </a:cubicBezTo>
                  <a:cubicBezTo>
                    <a:pt x="1" y="1168"/>
                    <a:pt x="167" y="1035"/>
                    <a:pt x="234" y="968"/>
                  </a:cubicBezTo>
                  <a:cubicBezTo>
                    <a:pt x="968" y="301"/>
                    <a:pt x="1802" y="1"/>
                    <a:pt x="2736" y="201"/>
                  </a:cubicBezTo>
                  <a:cubicBezTo>
                    <a:pt x="3336" y="335"/>
                    <a:pt x="3870" y="501"/>
                    <a:pt x="4370" y="868"/>
                  </a:cubicBezTo>
                  <a:cubicBezTo>
                    <a:pt x="4637" y="1068"/>
                    <a:pt x="4804" y="1035"/>
                    <a:pt x="5038" y="868"/>
                  </a:cubicBezTo>
                  <a:cubicBezTo>
                    <a:pt x="5505" y="568"/>
                    <a:pt x="6005" y="435"/>
                    <a:pt x="6539" y="335"/>
                  </a:cubicBezTo>
                  <a:cubicBezTo>
                    <a:pt x="7639" y="134"/>
                    <a:pt x="8373" y="635"/>
                    <a:pt x="9040" y="1402"/>
                  </a:cubicBezTo>
                  <a:cubicBezTo>
                    <a:pt x="9140" y="1402"/>
                    <a:pt x="9107" y="1502"/>
                    <a:pt x="9107" y="15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78;p55">
              <a:extLst>
                <a:ext uri="{FF2B5EF4-FFF2-40B4-BE49-F238E27FC236}">
                  <a16:creationId xmlns:a16="http://schemas.microsoft.com/office/drawing/2014/main" id="{081220D7-B722-403F-BF74-5036EDA3DBDF}"/>
                </a:ext>
              </a:extLst>
            </p:cNvPr>
            <p:cNvSpPr/>
            <p:nvPr/>
          </p:nvSpPr>
          <p:spPr>
            <a:xfrm>
              <a:off x="1049241" y="1342598"/>
              <a:ext cx="325272" cy="120238"/>
            </a:xfrm>
            <a:custGeom>
              <a:avLst/>
              <a:gdLst/>
              <a:ahLst/>
              <a:cxnLst/>
              <a:rect l="l" t="t" r="r" b="b"/>
              <a:pathLst>
                <a:path w="7039" h="2602" extrusionOk="0">
                  <a:moveTo>
                    <a:pt x="1" y="334"/>
                  </a:moveTo>
                  <a:cubicBezTo>
                    <a:pt x="534" y="0"/>
                    <a:pt x="1068" y="100"/>
                    <a:pt x="1568" y="234"/>
                  </a:cubicBezTo>
                  <a:cubicBezTo>
                    <a:pt x="2202" y="400"/>
                    <a:pt x="2769" y="601"/>
                    <a:pt x="3203" y="1134"/>
                  </a:cubicBezTo>
                  <a:cubicBezTo>
                    <a:pt x="3403" y="1401"/>
                    <a:pt x="3570" y="1401"/>
                    <a:pt x="3870" y="1234"/>
                  </a:cubicBezTo>
                  <a:cubicBezTo>
                    <a:pt x="4671" y="734"/>
                    <a:pt x="5504" y="801"/>
                    <a:pt x="6338" y="1068"/>
                  </a:cubicBezTo>
                  <a:cubicBezTo>
                    <a:pt x="6739" y="1168"/>
                    <a:pt x="6872" y="1334"/>
                    <a:pt x="7039" y="1801"/>
                  </a:cubicBezTo>
                  <a:cubicBezTo>
                    <a:pt x="6672" y="1935"/>
                    <a:pt x="6305" y="1801"/>
                    <a:pt x="5971" y="1768"/>
                  </a:cubicBezTo>
                  <a:cubicBezTo>
                    <a:pt x="5204" y="1668"/>
                    <a:pt x="4470" y="1635"/>
                    <a:pt x="3870" y="2302"/>
                  </a:cubicBezTo>
                  <a:cubicBezTo>
                    <a:pt x="3636" y="2602"/>
                    <a:pt x="3370" y="2569"/>
                    <a:pt x="3069" y="2268"/>
                  </a:cubicBezTo>
                  <a:cubicBezTo>
                    <a:pt x="3003" y="2168"/>
                    <a:pt x="2869" y="2068"/>
                    <a:pt x="2836" y="1935"/>
                  </a:cubicBezTo>
                  <a:cubicBezTo>
                    <a:pt x="2336" y="1134"/>
                    <a:pt x="1568" y="767"/>
                    <a:pt x="701" y="567"/>
                  </a:cubicBezTo>
                  <a:cubicBezTo>
                    <a:pt x="468" y="567"/>
                    <a:pt x="201" y="567"/>
                    <a:pt x="1"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79;p55">
              <a:extLst>
                <a:ext uri="{FF2B5EF4-FFF2-40B4-BE49-F238E27FC236}">
                  <a16:creationId xmlns:a16="http://schemas.microsoft.com/office/drawing/2014/main" id="{BA34B5A6-1BFF-465A-8D2B-43C36D55DDD5}"/>
                </a:ext>
              </a:extLst>
            </p:cNvPr>
            <p:cNvSpPr/>
            <p:nvPr/>
          </p:nvSpPr>
          <p:spPr>
            <a:xfrm>
              <a:off x="1075442" y="1923694"/>
              <a:ext cx="235902" cy="61737"/>
            </a:xfrm>
            <a:custGeom>
              <a:avLst/>
              <a:gdLst/>
              <a:ahLst/>
              <a:cxnLst/>
              <a:rect l="l" t="t" r="r" b="b"/>
              <a:pathLst>
                <a:path w="5105" h="1336" extrusionOk="0">
                  <a:moveTo>
                    <a:pt x="1" y="1335"/>
                  </a:moveTo>
                  <a:cubicBezTo>
                    <a:pt x="434" y="368"/>
                    <a:pt x="1101" y="68"/>
                    <a:pt x="1969" y="334"/>
                  </a:cubicBezTo>
                  <a:cubicBezTo>
                    <a:pt x="2069" y="368"/>
                    <a:pt x="2169" y="368"/>
                    <a:pt x="2236" y="401"/>
                  </a:cubicBezTo>
                  <a:cubicBezTo>
                    <a:pt x="2636" y="701"/>
                    <a:pt x="3003" y="568"/>
                    <a:pt x="3470" y="368"/>
                  </a:cubicBezTo>
                  <a:cubicBezTo>
                    <a:pt x="4003" y="68"/>
                    <a:pt x="4537" y="1"/>
                    <a:pt x="5104" y="401"/>
                  </a:cubicBezTo>
                  <a:cubicBezTo>
                    <a:pt x="5004" y="568"/>
                    <a:pt x="4904" y="535"/>
                    <a:pt x="4771" y="535"/>
                  </a:cubicBezTo>
                  <a:cubicBezTo>
                    <a:pt x="4170" y="434"/>
                    <a:pt x="3670" y="668"/>
                    <a:pt x="3236" y="935"/>
                  </a:cubicBezTo>
                  <a:cubicBezTo>
                    <a:pt x="2969" y="1102"/>
                    <a:pt x="2769" y="1168"/>
                    <a:pt x="2502" y="1035"/>
                  </a:cubicBezTo>
                  <a:cubicBezTo>
                    <a:pt x="1735" y="601"/>
                    <a:pt x="935" y="601"/>
                    <a:pt x="267" y="1268"/>
                  </a:cubicBezTo>
                  <a:cubicBezTo>
                    <a:pt x="234" y="1302"/>
                    <a:pt x="167" y="1302"/>
                    <a:pt x="134" y="13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文字方塊 8">
            <a:extLst>
              <a:ext uri="{FF2B5EF4-FFF2-40B4-BE49-F238E27FC236}">
                <a16:creationId xmlns:a16="http://schemas.microsoft.com/office/drawing/2014/main" id="{C9BE64FC-4939-43DD-92F6-CC77F4BC7DFE}"/>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42</a:t>
            </a:r>
            <a:endParaRPr lang="zh-TW" altLang="en-US" sz="1100" dirty="0">
              <a:latin typeface="Montserrat" panose="02020500000000000000" charset="0"/>
            </a:endParaRPr>
          </a:p>
        </p:txBody>
      </p:sp>
    </p:spTree>
    <p:extLst>
      <p:ext uri="{BB962C8B-B14F-4D97-AF65-F5344CB8AC3E}">
        <p14:creationId xmlns:p14="http://schemas.microsoft.com/office/powerpoint/2010/main" val="3926950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6D2AE67B-3F99-41D7-86FB-11C01D446CC4}"/>
              </a:ext>
            </a:extLst>
          </p:cNvPr>
          <p:cNvGrpSpPr/>
          <p:nvPr/>
        </p:nvGrpSpPr>
        <p:grpSpPr>
          <a:xfrm>
            <a:off x="192683" y="-911"/>
            <a:ext cx="8761417" cy="295831"/>
            <a:chOff x="192683" y="-911"/>
            <a:chExt cx="8761417" cy="295831"/>
          </a:xfrm>
        </p:grpSpPr>
        <p:sp>
          <p:nvSpPr>
            <p:cNvPr id="5" name="矩形 4">
              <a:extLst>
                <a:ext uri="{FF2B5EF4-FFF2-40B4-BE49-F238E27FC236}">
                  <a16:creationId xmlns:a16="http://schemas.microsoft.com/office/drawing/2014/main" id="{14DB0833-3637-4144-A5A4-BE2C2DED30B4}"/>
                </a:ext>
              </a:extLst>
            </p:cNvPr>
            <p:cNvSpPr/>
            <p:nvPr/>
          </p:nvSpPr>
          <p:spPr>
            <a:xfrm>
              <a:off x="3976185"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Device fabrication</a:t>
              </a:r>
            </a:p>
          </p:txBody>
        </p:sp>
        <p:sp>
          <p:nvSpPr>
            <p:cNvPr id="6" name="矩形 5">
              <a:extLst>
                <a:ext uri="{FF2B5EF4-FFF2-40B4-BE49-F238E27FC236}">
                  <a16:creationId xmlns:a16="http://schemas.microsoft.com/office/drawing/2014/main" id="{C8B4CFCA-631A-4656-B567-86B50957813B}"/>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82A0E6DC-C803-4AA4-B29C-0A2E4D61F3A9}"/>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7AC01E2B-EA53-457C-889C-CF64C881BE6F}"/>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90182EBB-C38B-4DE5-96B6-3680F37ACA3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60AC9621-41E2-4BC1-B208-2FE965636C4F}"/>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1" name="Google Shape;212;p36">
            <a:extLst>
              <a:ext uri="{FF2B5EF4-FFF2-40B4-BE49-F238E27FC236}">
                <a16:creationId xmlns:a16="http://schemas.microsoft.com/office/drawing/2014/main" id="{54238DF9-B22D-4753-B7C2-A5373232B868}"/>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Fabrication process</a:t>
            </a:r>
          </a:p>
        </p:txBody>
      </p:sp>
      <p:grpSp>
        <p:nvGrpSpPr>
          <p:cNvPr id="172" name="群組 171">
            <a:extLst>
              <a:ext uri="{FF2B5EF4-FFF2-40B4-BE49-F238E27FC236}">
                <a16:creationId xmlns:a16="http://schemas.microsoft.com/office/drawing/2014/main" id="{4361A4C3-08B6-4654-A569-1FF681E74EE1}"/>
              </a:ext>
            </a:extLst>
          </p:cNvPr>
          <p:cNvGrpSpPr/>
          <p:nvPr/>
        </p:nvGrpSpPr>
        <p:grpSpPr>
          <a:xfrm>
            <a:off x="290637" y="1833851"/>
            <a:ext cx="8562726" cy="1475797"/>
            <a:chOff x="290637" y="1616626"/>
            <a:chExt cx="8562726" cy="1475797"/>
          </a:xfrm>
        </p:grpSpPr>
        <p:grpSp>
          <p:nvGrpSpPr>
            <p:cNvPr id="160" name="群組 159">
              <a:extLst>
                <a:ext uri="{FF2B5EF4-FFF2-40B4-BE49-F238E27FC236}">
                  <a16:creationId xmlns:a16="http://schemas.microsoft.com/office/drawing/2014/main" id="{CCD6559A-9EA6-4959-8D9A-472A049AD546}"/>
                </a:ext>
              </a:extLst>
            </p:cNvPr>
            <p:cNvGrpSpPr/>
            <p:nvPr/>
          </p:nvGrpSpPr>
          <p:grpSpPr>
            <a:xfrm>
              <a:off x="290637" y="1616626"/>
              <a:ext cx="8562726" cy="1475797"/>
              <a:chOff x="290637" y="1617907"/>
              <a:chExt cx="8562726" cy="1475797"/>
            </a:xfrm>
          </p:grpSpPr>
          <p:pic>
            <p:nvPicPr>
              <p:cNvPr id="156" name="圖片 155">
                <a:extLst>
                  <a:ext uri="{FF2B5EF4-FFF2-40B4-BE49-F238E27FC236}">
                    <a16:creationId xmlns:a16="http://schemas.microsoft.com/office/drawing/2014/main" id="{7AB21748-8E82-40E6-93B8-C8884846CEB2}"/>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290637" y="1617909"/>
                <a:ext cx="1671941" cy="1473687"/>
              </a:xfrm>
              <a:prstGeom prst="rect">
                <a:avLst/>
              </a:prstGeom>
            </p:spPr>
          </p:pic>
          <p:pic>
            <p:nvPicPr>
              <p:cNvPr id="157" name="圖片 156">
                <a:extLst>
                  <a:ext uri="{FF2B5EF4-FFF2-40B4-BE49-F238E27FC236}">
                    <a16:creationId xmlns:a16="http://schemas.microsoft.com/office/drawing/2014/main" id="{D25537F3-80EC-428F-91D7-570EE6DC5797}"/>
                  </a:ext>
                </a:extLst>
              </p:cNvPr>
              <p:cNvPicPr>
                <a:picLocks noChangeAspect="1"/>
              </p:cNvPicPr>
              <p:nvPr/>
            </p:nvPicPr>
            <p:blipFill>
              <a:blip r:embed="rId4">
                <a:clrChange>
                  <a:clrFrom>
                    <a:srgbClr val="F5F0E3"/>
                  </a:clrFrom>
                  <a:clrTo>
                    <a:srgbClr val="F5F0E3">
                      <a:alpha val="0"/>
                    </a:srgbClr>
                  </a:clrTo>
                </a:clrChange>
              </a:blip>
              <a:stretch>
                <a:fillRect/>
              </a:stretch>
            </p:blipFill>
            <p:spPr>
              <a:xfrm>
                <a:off x="2583308" y="1617908"/>
                <a:ext cx="1671940" cy="1473687"/>
              </a:xfrm>
              <a:prstGeom prst="rect">
                <a:avLst/>
              </a:prstGeom>
            </p:spPr>
          </p:pic>
          <p:pic>
            <p:nvPicPr>
              <p:cNvPr id="158" name="圖片 157">
                <a:extLst>
                  <a:ext uri="{FF2B5EF4-FFF2-40B4-BE49-F238E27FC236}">
                    <a16:creationId xmlns:a16="http://schemas.microsoft.com/office/drawing/2014/main" id="{95C88AC8-7C33-490B-9CA4-289F2A756C7C}"/>
                  </a:ext>
                </a:extLst>
              </p:cNvPr>
              <p:cNvPicPr>
                <a:picLocks noChangeAspect="1"/>
              </p:cNvPicPr>
              <p:nvPr/>
            </p:nvPicPr>
            <p:blipFill>
              <a:blip r:embed="rId5">
                <a:clrChange>
                  <a:clrFrom>
                    <a:srgbClr val="F5F0E3"/>
                  </a:clrFrom>
                  <a:clrTo>
                    <a:srgbClr val="F5F0E3">
                      <a:alpha val="0"/>
                    </a:srgbClr>
                  </a:clrTo>
                </a:clrChange>
              </a:blip>
              <a:stretch>
                <a:fillRect/>
              </a:stretch>
            </p:blipFill>
            <p:spPr>
              <a:xfrm>
                <a:off x="4888754" y="1617908"/>
                <a:ext cx="1671940" cy="1475796"/>
              </a:xfrm>
              <a:prstGeom prst="rect">
                <a:avLst/>
              </a:prstGeom>
            </p:spPr>
          </p:pic>
          <p:pic>
            <p:nvPicPr>
              <p:cNvPr id="159" name="圖片 158">
                <a:extLst>
                  <a:ext uri="{FF2B5EF4-FFF2-40B4-BE49-F238E27FC236}">
                    <a16:creationId xmlns:a16="http://schemas.microsoft.com/office/drawing/2014/main" id="{838AFF54-BDC4-4A57-B79C-72C44B982C57}"/>
                  </a:ext>
                </a:extLst>
              </p:cNvPr>
              <p:cNvPicPr>
                <a:picLocks noChangeAspect="1"/>
              </p:cNvPicPr>
              <p:nvPr/>
            </p:nvPicPr>
            <p:blipFill>
              <a:blip r:embed="rId6">
                <a:clrChange>
                  <a:clrFrom>
                    <a:srgbClr val="F5F0E3"/>
                  </a:clrFrom>
                  <a:clrTo>
                    <a:srgbClr val="F5F0E3">
                      <a:alpha val="0"/>
                    </a:srgbClr>
                  </a:clrTo>
                </a:clrChange>
              </a:blip>
              <a:stretch>
                <a:fillRect/>
              </a:stretch>
            </p:blipFill>
            <p:spPr>
              <a:xfrm>
                <a:off x="7181423" y="1617907"/>
                <a:ext cx="1671940" cy="1473688"/>
              </a:xfrm>
              <a:prstGeom prst="rect">
                <a:avLst/>
              </a:prstGeom>
            </p:spPr>
          </p:pic>
        </p:grpSp>
        <p:sp>
          <p:nvSpPr>
            <p:cNvPr id="168" name="文字方塊 167">
              <a:extLst>
                <a:ext uri="{FF2B5EF4-FFF2-40B4-BE49-F238E27FC236}">
                  <a16:creationId xmlns:a16="http://schemas.microsoft.com/office/drawing/2014/main" id="{43F57C21-730B-46E8-ADFE-1BBD56CE7151}"/>
                </a:ext>
              </a:extLst>
            </p:cNvPr>
            <p:cNvSpPr txBox="1"/>
            <p:nvPr/>
          </p:nvSpPr>
          <p:spPr>
            <a:xfrm>
              <a:off x="776992" y="2238059"/>
              <a:ext cx="699230"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LN wafer</a:t>
              </a:r>
              <a:endParaRPr lang="zh-TW" altLang="en-US" sz="900" dirty="0">
                <a:latin typeface="Montserrat" panose="02020500000000000000" charset="0"/>
                <a:cs typeface="Times New Roman" panose="02020603050405020304" pitchFamily="18" charset="0"/>
              </a:endParaRPr>
            </a:p>
          </p:txBody>
        </p:sp>
        <p:sp>
          <p:nvSpPr>
            <p:cNvPr id="169" name="文字方塊 168">
              <a:extLst>
                <a:ext uri="{FF2B5EF4-FFF2-40B4-BE49-F238E27FC236}">
                  <a16:creationId xmlns:a16="http://schemas.microsoft.com/office/drawing/2014/main" id="{C539F51B-88BA-4D53-83A5-821DB921EE45}"/>
                </a:ext>
              </a:extLst>
            </p:cNvPr>
            <p:cNvSpPr txBox="1"/>
            <p:nvPr/>
          </p:nvSpPr>
          <p:spPr>
            <a:xfrm>
              <a:off x="2669690" y="2058602"/>
              <a:ext cx="1511952" cy="230832"/>
            </a:xfrm>
            <a:prstGeom prst="rect">
              <a:avLst/>
            </a:prstGeom>
            <a:noFill/>
          </p:spPr>
          <p:txBody>
            <a:bodyPr wrap="none" rtlCol="0">
              <a:spAutoFit/>
            </a:bodyPr>
            <a:lstStyle/>
            <a:p>
              <a:r>
                <a:rPr lang="en-US" altLang="zh-TW" sz="900" dirty="0" err="1">
                  <a:latin typeface="Montserrat" panose="02020500000000000000" charset="0"/>
                  <a:cs typeface="Times New Roman" panose="02020603050405020304" pitchFamily="18" charset="0"/>
                </a:rPr>
                <a:t>Ti</a:t>
              </a:r>
              <a:r>
                <a:rPr lang="en-US" altLang="zh-TW" sz="900" dirty="0">
                  <a:latin typeface="Montserrat" panose="02020500000000000000" charset="0"/>
                  <a:cs typeface="Times New Roman" panose="02020603050405020304" pitchFamily="18" charset="0"/>
                </a:rPr>
                <a:t>-diffused waveguides</a:t>
              </a:r>
              <a:endParaRPr lang="zh-TW" altLang="en-US" sz="900" dirty="0">
                <a:latin typeface="Montserrat" panose="02020500000000000000" charset="0"/>
                <a:cs typeface="Times New Roman" panose="02020603050405020304" pitchFamily="18" charset="0"/>
              </a:endParaRPr>
            </a:p>
          </p:txBody>
        </p:sp>
        <p:sp>
          <p:nvSpPr>
            <p:cNvPr id="170" name="文字方塊 169">
              <a:extLst>
                <a:ext uri="{FF2B5EF4-FFF2-40B4-BE49-F238E27FC236}">
                  <a16:creationId xmlns:a16="http://schemas.microsoft.com/office/drawing/2014/main" id="{36C6335C-1DFA-4843-A557-1C2A6508E480}"/>
                </a:ext>
              </a:extLst>
            </p:cNvPr>
            <p:cNvSpPr txBox="1"/>
            <p:nvPr/>
          </p:nvSpPr>
          <p:spPr>
            <a:xfrm>
              <a:off x="5145879" y="1889584"/>
              <a:ext cx="1157689"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APPLN structure</a:t>
              </a:r>
              <a:endParaRPr lang="zh-TW" altLang="en-US" sz="900" dirty="0">
                <a:latin typeface="Montserrat" panose="02020500000000000000" charset="0"/>
                <a:cs typeface="Times New Roman" panose="02020603050405020304" pitchFamily="18" charset="0"/>
              </a:endParaRPr>
            </a:p>
          </p:txBody>
        </p:sp>
        <p:sp>
          <p:nvSpPr>
            <p:cNvPr id="171" name="文字方塊 170">
              <a:extLst>
                <a:ext uri="{FF2B5EF4-FFF2-40B4-BE49-F238E27FC236}">
                  <a16:creationId xmlns:a16="http://schemas.microsoft.com/office/drawing/2014/main" id="{F18F2F58-03B3-4D89-A164-684B71CD8C93}"/>
                </a:ext>
              </a:extLst>
            </p:cNvPr>
            <p:cNvSpPr txBox="1"/>
            <p:nvPr/>
          </p:nvSpPr>
          <p:spPr>
            <a:xfrm>
              <a:off x="8104470" y="1658752"/>
              <a:ext cx="739305"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Electrode</a:t>
              </a:r>
              <a:endParaRPr lang="zh-TW" altLang="en-US" sz="900" dirty="0">
                <a:latin typeface="Montserrat" panose="02020500000000000000" charset="0"/>
                <a:cs typeface="Times New Roman" panose="02020603050405020304" pitchFamily="18" charset="0"/>
              </a:endParaRPr>
            </a:p>
          </p:txBody>
        </p:sp>
      </p:grpSp>
      <p:sp>
        <p:nvSpPr>
          <p:cNvPr id="173" name="文字方塊 172">
            <a:extLst>
              <a:ext uri="{FF2B5EF4-FFF2-40B4-BE49-F238E27FC236}">
                <a16:creationId xmlns:a16="http://schemas.microsoft.com/office/drawing/2014/main" id="{B6B63DD9-9BD7-4F2E-9173-D63C9D76D06B}"/>
              </a:ext>
            </a:extLst>
          </p:cNvPr>
          <p:cNvSpPr txBox="1"/>
          <p:nvPr/>
        </p:nvSpPr>
        <p:spPr>
          <a:xfrm>
            <a:off x="1790277" y="1520818"/>
            <a:ext cx="965329" cy="230832"/>
          </a:xfrm>
          <a:prstGeom prst="rect">
            <a:avLst/>
          </a:prstGeom>
          <a:noFill/>
        </p:spPr>
        <p:txBody>
          <a:bodyPr wrap="none" rtlCol="0">
            <a:spAutoFit/>
          </a:bodyPr>
          <a:lstStyle/>
          <a:p>
            <a:r>
              <a:rPr lang="en-US" altLang="zh-TW" sz="900" dirty="0" err="1">
                <a:latin typeface="Montserrat" panose="02020500000000000000" charset="0"/>
                <a:cs typeface="Times New Roman" panose="02020603050405020304" pitchFamily="18" charset="0"/>
              </a:rPr>
              <a:t>Ti</a:t>
            </a:r>
            <a:r>
              <a:rPr lang="en-US" altLang="zh-TW" sz="900" dirty="0">
                <a:latin typeface="Montserrat" panose="02020500000000000000" charset="0"/>
                <a:cs typeface="Times New Roman" panose="02020603050405020304" pitchFamily="18" charset="0"/>
              </a:rPr>
              <a:t> in-diffusion</a:t>
            </a:r>
            <a:endParaRPr lang="zh-TW" altLang="en-US" sz="900" dirty="0">
              <a:latin typeface="Montserrat" panose="02020500000000000000" charset="0"/>
              <a:cs typeface="Times New Roman" panose="02020603050405020304" pitchFamily="18" charset="0"/>
            </a:endParaRPr>
          </a:p>
        </p:txBody>
      </p:sp>
      <p:sp>
        <p:nvSpPr>
          <p:cNvPr id="174" name="文字方塊 173">
            <a:extLst>
              <a:ext uri="{FF2B5EF4-FFF2-40B4-BE49-F238E27FC236}">
                <a16:creationId xmlns:a16="http://schemas.microsoft.com/office/drawing/2014/main" id="{64FCA984-23D0-441D-8EA7-6C303C7C5A11}"/>
              </a:ext>
            </a:extLst>
          </p:cNvPr>
          <p:cNvSpPr txBox="1"/>
          <p:nvPr/>
        </p:nvSpPr>
        <p:spPr>
          <a:xfrm>
            <a:off x="3925829" y="1520818"/>
            <a:ext cx="1292341"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Electric field poling</a:t>
            </a:r>
            <a:endParaRPr lang="zh-TW" altLang="en-US" sz="900" dirty="0">
              <a:latin typeface="Montserrat" panose="02020500000000000000" charset="0"/>
              <a:cs typeface="Times New Roman" panose="02020603050405020304" pitchFamily="18" charset="0"/>
            </a:endParaRPr>
          </a:p>
        </p:txBody>
      </p:sp>
      <p:sp>
        <p:nvSpPr>
          <p:cNvPr id="175" name="文字方塊 174">
            <a:extLst>
              <a:ext uri="{FF2B5EF4-FFF2-40B4-BE49-F238E27FC236}">
                <a16:creationId xmlns:a16="http://schemas.microsoft.com/office/drawing/2014/main" id="{34D5AA09-D560-4B52-9573-35E181CC9E3C}"/>
              </a:ext>
            </a:extLst>
          </p:cNvPr>
          <p:cNvSpPr txBox="1"/>
          <p:nvPr/>
        </p:nvSpPr>
        <p:spPr>
          <a:xfrm>
            <a:off x="6264161" y="1520818"/>
            <a:ext cx="1213794"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Electrode process</a:t>
            </a:r>
            <a:endParaRPr lang="zh-TW" altLang="en-US" sz="900" dirty="0">
              <a:latin typeface="Montserrat" panose="02020500000000000000" charset="0"/>
              <a:cs typeface="Times New Roman" panose="02020603050405020304" pitchFamily="18" charset="0"/>
            </a:endParaRPr>
          </a:p>
        </p:txBody>
      </p:sp>
      <p:sp>
        <p:nvSpPr>
          <p:cNvPr id="176" name="箭號: 向右 175">
            <a:extLst>
              <a:ext uri="{FF2B5EF4-FFF2-40B4-BE49-F238E27FC236}">
                <a16:creationId xmlns:a16="http://schemas.microsoft.com/office/drawing/2014/main" id="{494E9EE7-A346-4102-A2A1-46B73C1FA135}"/>
              </a:ext>
            </a:extLst>
          </p:cNvPr>
          <p:cNvSpPr/>
          <p:nvPr/>
        </p:nvSpPr>
        <p:spPr>
          <a:xfrm>
            <a:off x="2067201" y="2536405"/>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7" name="箭號: 向右 176">
            <a:extLst>
              <a:ext uri="{FF2B5EF4-FFF2-40B4-BE49-F238E27FC236}">
                <a16:creationId xmlns:a16="http://schemas.microsoft.com/office/drawing/2014/main" id="{58747739-6EF5-4D19-B73F-6275921656B0}"/>
              </a:ext>
            </a:extLst>
          </p:cNvPr>
          <p:cNvSpPr/>
          <p:nvPr/>
        </p:nvSpPr>
        <p:spPr>
          <a:xfrm>
            <a:off x="4366261" y="2506659"/>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8" name="箭號: 向右 177">
            <a:extLst>
              <a:ext uri="{FF2B5EF4-FFF2-40B4-BE49-F238E27FC236}">
                <a16:creationId xmlns:a16="http://schemas.microsoft.com/office/drawing/2014/main" id="{BEA0B0AC-DC72-4FA5-9FB6-C28D807268F0}"/>
              </a:ext>
            </a:extLst>
          </p:cNvPr>
          <p:cNvSpPr/>
          <p:nvPr/>
        </p:nvSpPr>
        <p:spPr>
          <a:xfrm>
            <a:off x="6665318" y="2506659"/>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16E296B7-65BA-4717-8A8F-DC87D894A853}"/>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43</a:t>
            </a:r>
            <a:endParaRPr lang="zh-TW" altLang="en-US" sz="1100" dirty="0">
              <a:latin typeface="Montserrat" panose="02020500000000000000" charset="0"/>
            </a:endParaRPr>
          </a:p>
        </p:txBody>
      </p:sp>
    </p:spTree>
    <p:extLst>
      <p:ext uri="{BB962C8B-B14F-4D97-AF65-F5344CB8AC3E}">
        <p14:creationId xmlns:p14="http://schemas.microsoft.com/office/powerpoint/2010/main" val="6639885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449855" y="309358"/>
            <a:ext cx="624429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Fabrication of </a:t>
            </a:r>
            <a:r>
              <a:rPr lang="en-US" altLang="zh-TW" sz="2000" dirty="0" err="1">
                <a:latin typeface="Montserrat" panose="02020500000000000000" charset="0"/>
              </a:rPr>
              <a:t>Ti</a:t>
            </a:r>
            <a:r>
              <a:rPr lang="en-US" altLang="zh-TW" sz="2000" dirty="0">
                <a:latin typeface="Montserrat" panose="02020500000000000000" charset="0"/>
              </a:rPr>
              <a:t>-diffused waveguide</a:t>
            </a:r>
          </a:p>
        </p:txBody>
      </p:sp>
      <p:grpSp>
        <p:nvGrpSpPr>
          <p:cNvPr id="2" name="群組 1">
            <a:extLst>
              <a:ext uri="{FF2B5EF4-FFF2-40B4-BE49-F238E27FC236}">
                <a16:creationId xmlns:a16="http://schemas.microsoft.com/office/drawing/2014/main" id="{C940A10E-D8F5-41E8-8BE1-A272FE67485B}"/>
              </a:ext>
            </a:extLst>
          </p:cNvPr>
          <p:cNvGrpSpPr/>
          <p:nvPr/>
        </p:nvGrpSpPr>
        <p:grpSpPr>
          <a:xfrm>
            <a:off x="192683" y="-911"/>
            <a:ext cx="8761417" cy="295831"/>
            <a:chOff x="192683" y="-911"/>
            <a:chExt cx="8761417" cy="295831"/>
          </a:xfrm>
        </p:grpSpPr>
        <p:sp>
          <p:nvSpPr>
            <p:cNvPr id="3" name="矩形 2">
              <a:extLst>
                <a:ext uri="{FF2B5EF4-FFF2-40B4-BE49-F238E27FC236}">
                  <a16:creationId xmlns:a16="http://schemas.microsoft.com/office/drawing/2014/main" id="{0654D798-D22D-4637-AFFD-CDDFE0B44C00}"/>
                </a:ext>
              </a:extLst>
            </p:cNvPr>
            <p:cNvSpPr/>
            <p:nvPr/>
          </p:nvSpPr>
          <p:spPr>
            <a:xfrm>
              <a:off x="3976185"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Device fabrication</a:t>
              </a:r>
            </a:p>
          </p:txBody>
        </p:sp>
        <p:sp>
          <p:nvSpPr>
            <p:cNvPr id="4" name="矩形 3">
              <a:extLst>
                <a:ext uri="{FF2B5EF4-FFF2-40B4-BE49-F238E27FC236}">
                  <a16:creationId xmlns:a16="http://schemas.microsoft.com/office/drawing/2014/main" id="{8A2721FE-63A3-4285-B311-328EA0A112D0}"/>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35D54FC1-967E-4801-AAE4-AB642A542829}"/>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3D541E8D-E350-4929-8575-D90AABBF3603}"/>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8A1C2282-EBB6-46B2-B207-1145B6D1BE8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2" name="矩形 11">
              <a:extLst>
                <a:ext uri="{FF2B5EF4-FFF2-40B4-BE49-F238E27FC236}">
                  <a16:creationId xmlns:a16="http://schemas.microsoft.com/office/drawing/2014/main" id="{2D967063-487F-435D-9438-73FDB106124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59" name="群組 58">
            <a:extLst>
              <a:ext uri="{FF2B5EF4-FFF2-40B4-BE49-F238E27FC236}">
                <a16:creationId xmlns:a16="http://schemas.microsoft.com/office/drawing/2014/main" id="{AE68E1CD-03C4-4267-9A36-590D51AAA4EC}"/>
              </a:ext>
            </a:extLst>
          </p:cNvPr>
          <p:cNvGrpSpPr/>
          <p:nvPr/>
        </p:nvGrpSpPr>
        <p:grpSpPr>
          <a:xfrm>
            <a:off x="1452942" y="948680"/>
            <a:ext cx="6287945" cy="3804985"/>
            <a:chOff x="1447990" y="769523"/>
            <a:chExt cx="6287945" cy="3804985"/>
          </a:xfrm>
        </p:grpSpPr>
        <p:grpSp>
          <p:nvGrpSpPr>
            <p:cNvPr id="47" name="群組 46">
              <a:extLst>
                <a:ext uri="{FF2B5EF4-FFF2-40B4-BE49-F238E27FC236}">
                  <a16:creationId xmlns:a16="http://schemas.microsoft.com/office/drawing/2014/main" id="{806F7C8D-ECA2-4261-9937-8E36AEACB987}"/>
                </a:ext>
              </a:extLst>
            </p:cNvPr>
            <p:cNvGrpSpPr/>
            <p:nvPr/>
          </p:nvGrpSpPr>
          <p:grpSpPr>
            <a:xfrm>
              <a:off x="6028785" y="769523"/>
              <a:ext cx="1665360" cy="1519986"/>
              <a:chOff x="4766893" y="1281439"/>
              <a:chExt cx="1665360" cy="1519986"/>
            </a:xfrm>
          </p:grpSpPr>
          <p:pic>
            <p:nvPicPr>
              <p:cNvPr id="15" name="圖片 14">
                <a:extLst>
                  <a:ext uri="{FF2B5EF4-FFF2-40B4-BE49-F238E27FC236}">
                    <a16:creationId xmlns:a16="http://schemas.microsoft.com/office/drawing/2014/main" id="{A1514821-F280-4637-92B2-FCD354921F6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766893" y="1281439"/>
                <a:ext cx="1665360" cy="1356552"/>
              </a:xfrm>
              <a:prstGeom prst="rect">
                <a:avLst/>
              </a:prstGeom>
            </p:spPr>
          </p:pic>
          <p:sp>
            <p:nvSpPr>
              <p:cNvPr id="46" name="文字方塊 45">
                <a:extLst>
                  <a:ext uri="{FF2B5EF4-FFF2-40B4-BE49-F238E27FC236}">
                    <a16:creationId xmlns:a16="http://schemas.microsoft.com/office/drawing/2014/main" id="{F80B2BFB-C5D6-4D9A-B85F-C1F7136A9C14}"/>
                  </a:ext>
                </a:extLst>
              </p:cNvPr>
              <p:cNvSpPr txBox="1"/>
              <p:nvPr/>
            </p:nvSpPr>
            <p:spPr>
              <a:xfrm>
                <a:off x="5238737" y="2570593"/>
                <a:ext cx="721672"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Exposure</a:t>
                </a:r>
                <a:endParaRPr lang="zh-TW" altLang="en-US" sz="900" dirty="0">
                  <a:latin typeface="Montserrat" panose="02020500000000000000" charset="0"/>
                  <a:cs typeface="Times New Roman" panose="02020603050405020304" pitchFamily="18" charset="0"/>
                </a:endParaRPr>
              </a:p>
            </p:txBody>
          </p:sp>
        </p:grpSp>
        <p:grpSp>
          <p:nvGrpSpPr>
            <p:cNvPr id="45" name="群組 44">
              <a:extLst>
                <a:ext uri="{FF2B5EF4-FFF2-40B4-BE49-F238E27FC236}">
                  <a16:creationId xmlns:a16="http://schemas.microsoft.com/office/drawing/2014/main" id="{20C9AAD4-6BDE-4E4E-98CB-F24314955BA9}"/>
                </a:ext>
              </a:extLst>
            </p:cNvPr>
            <p:cNvGrpSpPr/>
            <p:nvPr/>
          </p:nvGrpSpPr>
          <p:grpSpPr>
            <a:xfrm>
              <a:off x="3739320" y="1245188"/>
              <a:ext cx="1665360" cy="1061622"/>
              <a:chOff x="2617399" y="1740960"/>
              <a:chExt cx="1665360" cy="1061622"/>
            </a:xfrm>
          </p:grpSpPr>
          <p:pic>
            <p:nvPicPr>
              <p:cNvPr id="14" name="圖片 13">
                <a:extLst>
                  <a:ext uri="{FF2B5EF4-FFF2-40B4-BE49-F238E27FC236}">
                    <a16:creationId xmlns:a16="http://schemas.microsoft.com/office/drawing/2014/main" id="{B21B98B4-2E58-44B6-864A-438766F43CA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617399" y="1740960"/>
                <a:ext cx="1665360" cy="867712"/>
              </a:xfrm>
              <a:prstGeom prst="rect">
                <a:avLst/>
              </a:prstGeom>
            </p:spPr>
          </p:pic>
          <p:sp>
            <p:nvSpPr>
              <p:cNvPr id="44" name="文字方塊 43">
                <a:extLst>
                  <a:ext uri="{FF2B5EF4-FFF2-40B4-BE49-F238E27FC236}">
                    <a16:creationId xmlns:a16="http://schemas.microsoft.com/office/drawing/2014/main" id="{4680109F-F848-4854-82F3-DE82CC2F058A}"/>
                  </a:ext>
                </a:extLst>
              </p:cNvPr>
              <p:cNvSpPr txBox="1"/>
              <p:nvPr/>
            </p:nvSpPr>
            <p:spPr>
              <a:xfrm>
                <a:off x="2948176" y="2571750"/>
                <a:ext cx="1080745"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Coating AZ5214</a:t>
                </a:r>
                <a:endParaRPr lang="zh-TW" altLang="en-US" sz="900" dirty="0">
                  <a:latin typeface="Montserrat" panose="02020500000000000000" charset="0"/>
                  <a:cs typeface="Times New Roman" panose="02020603050405020304" pitchFamily="18" charset="0"/>
                </a:endParaRPr>
              </a:p>
            </p:txBody>
          </p:sp>
        </p:grpSp>
        <p:grpSp>
          <p:nvGrpSpPr>
            <p:cNvPr id="43" name="群組 42">
              <a:extLst>
                <a:ext uri="{FF2B5EF4-FFF2-40B4-BE49-F238E27FC236}">
                  <a16:creationId xmlns:a16="http://schemas.microsoft.com/office/drawing/2014/main" id="{F466093D-C1E7-44E8-9302-58B5039AB1FB}"/>
                </a:ext>
              </a:extLst>
            </p:cNvPr>
            <p:cNvGrpSpPr/>
            <p:nvPr/>
          </p:nvGrpSpPr>
          <p:grpSpPr>
            <a:xfrm>
              <a:off x="1452087" y="1260943"/>
              <a:ext cx="1665360" cy="1034237"/>
              <a:chOff x="464310" y="1768345"/>
              <a:chExt cx="1665360" cy="1034237"/>
            </a:xfrm>
          </p:grpSpPr>
          <p:pic>
            <p:nvPicPr>
              <p:cNvPr id="13" name="圖片 12">
                <a:extLst>
                  <a:ext uri="{FF2B5EF4-FFF2-40B4-BE49-F238E27FC236}">
                    <a16:creationId xmlns:a16="http://schemas.microsoft.com/office/drawing/2014/main" id="{E87142A5-75AB-4906-A43E-164C33DFD30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64310" y="1768345"/>
                <a:ext cx="1665360" cy="781146"/>
              </a:xfrm>
              <a:prstGeom prst="rect">
                <a:avLst/>
              </a:prstGeom>
            </p:spPr>
          </p:pic>
          <p:sp>
            <p:nvSpPr>
              <p:cNvPr id="42" name="文字方塊 41">
                <a:extLst>
                  <a:ext uri="{FF2B5EF4-FFF2-40B4-BE49-F238E27FC236}">
                    <a16:creationId xmlns:a16="http://schemas.microsoft.com/office/drawing/2014/main" id="{CE62A6D3-132A-4EA0-B288-921B3BD2260C}"/>
                  </a:ext>
                </a:extLst>
              </p:cNvPr>
              <p:cNvSpPr txBox="1"/>
              <p:nvPr/>
            </p:nvSpPr>
            <p:spPr>
              <a:xfrm>
                <a:off x="796666" y="2571750"/>
                <a:ext cx="1090363"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Clean the wafer</a:t>
                </a:r>
                <a:endParaRPr lang="zh-TW" altLang="en-US" sz="900" dirty="0">
                  <a:latin typeface="Montserrat" panose="02020500000000000000" charset="0"/>
                  <a:cs typeface="Times New Roman" panose="02020603050405020304" pitchFamily="18" charset="0"/>
                </a:endParaRPr>
              </a:p>
            </p:txBody>
          </p:sp>
        </p:grpSp>
        <p:sp>
          <p:nvSpPr>
            <p:cNvPr id="35" name="箭號: 向右 34">
              <a:extLst>
                <a:ext uri="{FF2B5EF4-FFF2-40B4-BE49-F238E27FC236}">
                  <a16:creationId xmlns:a16="http://schemas.microsoft.com/office/drawing/2014/main" id="{69EC0C01-0383-4186-98A7-FCA38469EB6A}"/>
                </a:ext>
              </a:extLst>
            </p:cNvPr>
            <p:cNvSpPr/>
            <p:nvPr/>
          </p:nvSpPr>
          <p:spPr>
            <a:xfrm>
              <a:off x="3221528" y="1644754"/>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箭號: 向右 35">
              <a:extLst>
                <a:ext uri="{FF2B5EF4-FFF2-40B4-BE49-F238E27FC236}">
                  <a16:creationId xmlns:a16="http://schemas.microsoft.com/office/drawing/2014/main" id="{4C1A462D-F403-4CA9-A62F-DA350E52EE27}"/>
                </a:ext>
              </a:extLst>
            </p:cNvPr>
            <p:cNvSpPr/>
            <p:nvPr/>
          </p:nvSpPr>
          <p:spPr>
            <a:xfrm>
              <a:off x="5510992" y="1644754"/>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箭號: 向右 36">
              <a:extLst>
                <a:ext uri="{FF2B5EF4-FFF2-40B4-BE49-F238E27FC236}">
                  <a16:creationId xmlns:a16="http://schemas.microsoft.com/office/drawing/2014/main" id="{6C5AFC3F-28A9-439B-B674-EAAD747591A6}"/>
                </a:ext>
              </a:extLst>
            </p:cNvPr>
            <p:cNvSpPr/>
            <p:nvPr/>
          </p:nvSpPr>
          <p:spPr>
            <a:xfrm rot="5400000">
              <a:off x="6815716" y="2345219"/>
              <a:ext cx="18000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8" name="箭號: 向右 37">
              <a:extLst>
                <a:ext uri="{FF2B5EF4-FFF2-40B4-BE49-F238E27FC236}">
                  <a16:creationId xmlns:a16="http://schemas.microsoft.com/office/drawing/2014/main" id="{B435DF5F-165A-4203-8FC9-A69F7CAEC1C7}"/>
                </a:ext>
              </a:extLst>
            </p:cNvPr>
            <p:cNvSpPr/>
            <p:nvPr/>
          </p:nvSpPr>
          <p:spPr>
            <a:xfrm rot="10800000">
              <a:off x="5513504" y="2802033"/>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箭號: 向右 38">
              <a:extLst>
                <a:ext uri="{FF2B5EF4-FFF2-40B4-BE49-F238E27FC236}">
                  <a16:creationId xmlns:a16="http://schemas.microsoft.com/office/drawing/2014/main" id="{8CBD042D-307D-401D-8986-E8AF8B7EC6CA}"/>
                </a:ext>
              </a:extLst>
            </p:cNvPr>
            <p:cNvSpPr/>
            <p:nvPr/>
          </p:nvSpPr>
          <p:spPr>
            <a:xfrm rot="10800000">
              <a:off x="3216321" y="2780050"/>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49" name="群組 48">
              <a:extLst>
                <a:ext uri="{FF2B5EF4-FFF2-40B4-BE49-F238E27FC236}">
                  <a16:creationId xmlns:a16="http://schemas.microsoft.com/office/drawing/2014/main" id="{DAAE6400-86B6-445E-A72A-0360FCD11951}"/>
                </a:ext>
              </a:extLst>
            </p:cNvPr>
            <p:cNvGrpSpPr/>
            <p:nvPr/>
          </p:nvGrpSpPr>
          <p:grpSpPr>
            <a:xfrm>
              <a:off x="6023946" y="2425341"/>
              <a:ext cx="1711989" cy="1052795"/>
              <a:chOff x="6910479" y="1748630"/>
              <a:chExt cx="1711989" cy="1052795"/>
            </a:xfrm>
          </p:grpSpPr>
          <p:pic>
            <p:nvPicPr>
              <p:cNvPr id="25" name="圖片 24">
                <a:extLst>
                  <a:ext uri="{FF2B5EF4-FFF2-40B4-BE49-F238E27FC236}">
                    <a16:creationId xmlns:a16="http://schemas.microsoft.com/office/drawing/2014/main" id="{F4C57D77-9B9E-45F3-8965-1ADB572E6224}"/>
                  </a:ext>
                </a:extLst>
              </p:cNvPr>
              <p:cNvPicPr>
                <a:picLocks noChangeAspect="1"/>
              </p:cNvPicPr>
              <p:nvPr/>
            </p:nvPicPr>
            <p:blipFill>
              <a:blip r:embed="rId6"/>
              <a:stretch>
                <a:fillRect/>
              </a:stretch>
            </p:blipFill>
            <p:spPr>
              <a:xfrm>
                <a:off x="6910479" y="1748630"/>
                <a:ext cx="1711989" cy="821964"/>
              </a:xfrm>
              <a:prstGeom prst="rect">
                <a:avLst/>
              </a:prstGeom>
            </p:spPr>
          </p:pic>
          <p:sp>
            <p:nvSpPr>
              <p:cNvPr id="48" name="文字方塊 47">
                <a:extLst>
                  <a:ext uri="{FF2B5EF4-FFF2-40B4-BE49-F238E27FC236}">
                    <a16:creationId xmlns:a16="http://schemas.microsoft.com/office/drawing/2014/main" id="{BECAA851-F8C7-4B11-A3C0-489EB20D3E2C}"/>
                  </a:ext>
                </a:extLst>
              </p:cNvPr>
              <p:cNvSpPr txBox="1"/>
              <p:nvPr/>
            </p:nvSpPr>
            <p:spPr>
              <a:xfrm>
                <a:off x="7303975" y="2570593"/>
                <a:ext cx="976549"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Development</a:t>
                </a:r>
                <a:endParaRPr lang="zh-TW" altLang="en-US" sz="900" dirty="0">
                  <a:latin typeface="Montserrat" panose="02020500000000000000" charset="0"/>
                  <a:cs typeface="Times New Roman" panose="02020603050405020304" pitchFamily="18" charset="0"/>
                </a:endParaRPr>
              </a:p>
            </p:txBody>
          </p:sp>
        </p:grpSp>
        <p:grpSp>
          <p:nvGrpSpPr>
            <p:cNvPr id="52" name="群組 51">
              <a:extLst>
                <a:ext uri="{FF2B5EF4-FFF2-40B4-BE49-F238E27FC236}">
                  <a16:creationId xmlns:a16="http://schemas.microsoft.com/office/drawing/2014/main" id="{FC401D53-ACF1-43E9-B3C2-3CCAC4AFFCDC}"/>
                </a:ext>
              </a:extLst>
            </p:cNvPr>
            <p:cNvGrpSpPr/>
            <p:nvPr/>
          </p:nvGrpSpPr>
          <p:grpSpPr>
            <a:xfrm>
              <a:off x="3744881" y="2413071"/>
              <a:ext cx="1665360" cy="1056496"/>
              <a:chOff x="5782737" y="3458045"/>
              <a:chExt cx="1665360" cy="1056496"/>
            </a:xfrm>
          </p:grpSpPr>
          <p:pic>
            <p:nvPicPr>
              <p:cNvPr id="19" name="圖片 18">
                <a:extLst>
                  <a:ext uri="{FF2B5EF4-FFF2-40B4-BE49-F238E27FC236}">
                    <a16:creationId xmlns:a16="http://schemas.microsoft.com/office/drawing/2014/main" id="{B623171E-AB4C-4913-AFB8-630791DE02D6}"/>
                  </a:ext>
                </a:extLst>
              </p:cNvPr>
              <p:cNvPicPr>
                <a:picLocks noChangeAspect="1"/>
              </p:cNvPicPr>
              <p:nvPr/>
            </p:nvPicPr>
            <p:blipFill>
              <a:blip r:embed="rId7"/>
              <a:stretch>
                <a:fillRect/>
              </a:stretch>
            </p:blipFill>
            <p:spPr>
              <a:xfrm>
                <a:off x="5782737" y="3458045"/>
                <a:ext cx="1665360" cy="846714"/>
              </a:xfrm>
              <a:prstGeom prst="rect">
                <a:avLst/>
              </a:prstGeom>
            </p:spPr>
          </p:pic>
          <p:sp>
            <p:nvSpPr>
              <p:cNvPr id="51" name="文字方塊 50">
                <a:extLst>
                  <a:ext uri="{FF2B5EF4-FFF2-40B4-BE49-F238E27FC236}">
                    <a16:creationId xmlns:a16="http://schemas.microsoft.com/office/drawing/2014/main" id="{A8ABA824-C900-4543-B65D-FB96C983C1D0}"/>
                  </a:ext>
                </a:extLst>
              </p:cNvPr>
              <p:cNvSpPr txBox="1"/>
              <p:nvPr/>
            </p:nvSpPr>
            <p:spPr>
              <a:xfrm>
                <a:off x="5943058" y="4283709"/>
                <a:ext cx="1332416"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Deposition of </a:t>
                </a:r>
                <a:r>
                  <a:rPr lang="en-US" altLang="zh-TW" sz="900" dirty="0" err="1">
                    <a:latin typeface="Montserrat" panose="02020500000000000000" charset="0"/>
                    <a:cs typeface="Times New Roman" panose="02020603050405020304" pitchFamily="18" charset="0"/>
                  </a:rPr>
                  <a:t>Ti</a:t>
                </a:r>
                <a:r>
                  <a:rPr lang="en-US" altLang="zh-TW" sz="900" dirty="0">
                    <a:latin typeface="Montserrat" panose="02020500000000000000" charset="0"/>
                    <a:cs typeface="Times New Roman" panose="02020603050405020304" pitchFamily="18" charset="0"/>
                  </a:rPr>
                  <a:t> film</a:t>
                </a:r>
                <a:endParaRPr lang="zh-TW" altLang="en-US" sz="900" dirty="0">
                  <a:latin typeface="Montserrat" panose="02020500000000000000" charset="0"/>
                  <a:cs typeface="Times New Roman" panose="02020603050405020304" pitchFamily="18" charset="0"/>
                </a:endParaRPr>
              </a:p>
            </p:txBody>
          </p:sp>
        </p:grpSp>
        <p:grpSp>
          <p:nvGrpSpPr>
            <p:cNvPr id="54" name="群組 53">
              <a:extLst>
                <a:ext uri="{FF2B5EF4-FFF2-40B4-BE49-F238E27FC236}">
                  <a16:creationId xmlns:a16="http://schemas.microsoft.com/office/drawing/2014/main" id="{BCA0EE7A-16C1-42D5-B7D2-2B99A0EBF0C9}"/>
                </a:ext>
              </a:extLst>
            </p:cNvPr>
            <p:cNvGrpSpPr/>
            <p:nvPr/>
          </p:nvGrpSpPr>
          <p:grpSpPr>
            <a:xfrm>
              <a:off x="1447990" y="2413071"/>
              <a:ext cx="1667307" cy="964791"/>
              <a:chOff x="3558742" y="3549750"/>
              <a:chExt cx="1667307" cy="964791"/>
            </a:xfrm>
          </p:grpSpPr>
          <p:pic>
            <p:nvPicPr>
              <p:cNvPr id="23" name="圖片 22">
                <a:extLst>
                  <a:ext uri="{FF2B5EF4-FFF2-40B4-BE49-F238E27FC236}">
                    <a16:creationId xmlns:a16="http://schemas.microsoft.com/office/drawing/2014/main" id="{64C1E91D-1368-4476-AFEE-2E9CDBDEF640}"/>
                  </a:ext>
                </a:extLst>
              </p:cNvPr>
              <p:cNvPicPr>
                <a:picLocks noChangeAspect="1"/>
              </p:cNvPicPr>
              <p:nvPr/>
            </p:nvPicPr>
            <p:blipFill rotWithShape="1">
              <a:blip r:embed="rId8"/>
              <a:srcRect r="12838"/>
              <a:stretch/>
            </p:blipFill>
            <p:spPr>
              <a:xfrm>
                <a:off x="3558742" y="3549750"/>
                <a:ext cx="1667307" cy="733959"/>
              </a:xfrm>
              <a:prstGeom prst="rect">
                <a:avLst/>
              </a:prstGeom>
            </p:spPr>
          </p:pic>
          <p:sp>
            <p:nvSpPr>
              <p:cNvPr id="53" name="文字方塊 52">
                <a:extLst>
                  <a:ext uri="{FF2B5EF4-FFF2-40B4-BE49-F238E27FC236}">
                    <a16:creationId xmlns:a16="http://schemas.microsoft.com/office/drawing/2014/main" id="{010B4ADB-00DA-4307-B4DD-943AEAEC1DE2}"/>
                  </a:ext>
                </a:extLst>
              </p:cNvPr>
              <p:cNvSpPr txBox="1"/>
              <p:nvPr/>
            </p:nvSpPr>
            <p:spPr>
              <a:xfrm>
                <a:off x="4108634" y="4283709"/>
                <a:ext cx="561372"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Lift-off</a:t>
                </a:r>
                <a:endParaRPr lang="zh-TW" altLang="en-US" sz="900" dirty="0">
                  <a:latin typeface="Montserrat" panose="02020500000000000000" charset="0"/>
                  <a:cs typeface="Times New Roman" panose="02020603050405020304" pitchFamily="18" charset="0"/>
                </a:endParaRPr>
              </a:p>
            </p:txBody>
          </p:sp>
        </p:grpSp>
        <p:grpSp>
          <p:nvGrpSpPr>
            <p:cNvPr id="56" name="群組 55">
              <a:extLst>
                <a:ext uri="{FF2B5EF4-FFF2-40B4-BE49-F238E27FC236}">
                  <a16:creationId xmlns:a16="http://schemas.microsoft.com/office/drawing/2014/main" id="{A4EDCCEF-A5FE-4B49-A243-29531895DCE4}"/>
                </a:ext>
              </a:extLst>
            </p:cNvPr>
            <p:cNvGrpSpPr/>
            <p:nvPr/>
          </p:nvGrpSpPr>
          <p:grpSpPr>
            <a:xfrm>
              <a:off x="1447990" y="3518012"/>
              <a:ext cx="1639185" cy="1056496"/>
              <a:chOff x="1362869" y="3458045"/>
              <a:chExt cx="1639185" cy="1056496"/>
            </a:xfrm>
          </p:grpSpPr>
          <p:pic>
            <p:nvPicPr>
              <p:cNvPr id="21" name="圖片 20">
                <a:extLst>
                  <a:ext uri="{FF2B5EF4-FFF2-40B4-BE49-F238E27FC236}">
                    <a16:creationId xmlns:a16="http://schemas.microsoft.com/office/drawing/2014/main" id="{01BD4722-2FC7-456C-A7A9-E93673462A79}"/>
                  </a:ext>
                </a:extLst>
              </p:cNvPr>
              <p:cNvPicPr>
                <a:picLocks noChangeAspect="1"/>
              </p:cNvPicPr>
              <p:nvPr/>
            </p:nvPicPr>
            <p:blipFill>
              <a:blip r:embed="rId9"/>
              <a:stretch>
                <a:fillRect/>
              </a:stretch>
            </p:blipFill>
            <p:spPr>
              <a:xfrm>
                <a:off x="1362869" y="3458045"/>
                <a:ext cx="1639185" cy="825664"/>
              </a:xfrm>
              <a:prstGeom prst="rect">
                <a:avLst/>
              </a:prstGeom>
            </p:spPr>
          </p:pic>
          <p:sp>
            <p:nvSpPr>
              <p:cNvPr id="55" name="文字方塊 54">
                <a:extLst>
                  <a:ext uri="{FF2B5EF4-FFF2-40B4-BE49-F238E27FC236}">
                    <a16:creationId xmlns:a16="http://schemas.microsoft.com/office/drawing/2014/main" id="{FBF00499-6BD2-4871-B81C-2C4DB3411C9C}"/>
                  </a:ext>
                </a:extLst>
              </p:cNvPr>
              <p:cNvSpPr txBox="1"/>
              <p:nvPr/>
            </p:nvSpPr>
            <p:spPr>
              <a:xfrm>
                <a:off x="1445155" y="4283709"/>
                <a:ext cx="1455848" cy="230832"/>
              </a:xfrm>
              <a:prstGeom prst="rect">
                <a:avLst/>
              </a:prstGeom>
              <a:noFill/>
            </p:spPr>
            <p:txBody>
              <a:bodyPr wrap="none" rtlCol="0">
                <a:spAutoFit/>
              </a:bodyPr>
              <a:lstStyle/>
              <a:p>
                <a:r>
                  <a:rPr lang="en-US" altLang="zh-TW" sz="900" dirty="0" err="1">
                    <a:latin typeface="Montserrat" panose="02020500000000000000" charset="0"/>
                    <a:cs typeface="Times New Roman" panose="02020603050405020304" pitchFamily="18" charset="0"/>
                  </a:rPr>
                  <a:t>Ti</a:t>
                </a:r>
                <a:r>
                  <a:rPr lang="en-US" altLang="zh-TW" sz="900" dirty="0">
                    <a:latin typeface="Montserrat" panose="02020500000000000000" charset="0"/>
                    <a:cs typeface="Times New Roman" panose="02020603050405020304" pitchFamily="18" charset="0"/>
                  </a:rPr>
                  <a:t>-diffused waveguide</a:t>
                </a:r>
                <a:endParaRPr lang="zh-TW" altLang="en-US" sz="900" dirty="0">
                  <a:latin typeface="Montserrat" panose="02020500000000000000" charset="0"/>
                  <a:cs typeface="Times New Roman" panose="02020603050405020304" pitchFamily="18" charset="0"/>
                </a:endParaRPr>
              </a:p>
            </p:txBody>
          </p:sp>
        </p:grpSp>
        <p:sp>
          <p:nvSpPr>
            <p:cNvPr id="58" name="箭號: 向右 57">
              <a:extLst>
                <a:ext uri="{FF2B5EF4-FFF2-40B4-BE49-F238E27FC236}">
                  <a16:creationId xmlns:a16="http://schemas.microsoft.com/office/drawing/2014/main" id="{FB938CE6-3E7A-4567-A15F-8420777DD480}"/>
                </a:ext>
              </a:extLst>
            </p:cNvPr>
            <p:cNvSpPr/>
            <p:nvPr/>
          </p:nvSpPr>
          <p:spPr>
            <a:xfrm rot="5400000">
              <a:off x="2186728" y="3483722"/>
              <a:ext cx="18000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7" name="群組 16">
            <a:extLst>
              <a:ext uri="{FF2B5EF4-FFF2-40B4-BE49-F238E27FC236}">
                <a16:creationId xmlns:a16="http://schemas.microsoft.com/office/drawing/2014/main" id="{03B868CC-4378-47D9-9ADD-92DCDFC89C9F}"/>
              </a:ext>
            </a:extLst>
          </p:cNvPr>
          <p:cNvGrpSpPr/>
          <p:nvPr/>
        </p:nvGrpSpPr>
        <p:grpSpPr>
          <a:xfrm>
            <a:off x="4012756" y="4177884"/>
            <a:ext cx="3380990" cy="215444"/>
            <a:chOff x="4012756" y="4177884"/>
            <a:chExt cx="3380990" cy="215444"/>
          </a:xfrm>
        </p:grpSpPr>
        <p:grpSp>
          <p:nvGrpSpPr>
            <p:cNvPr id="6" name="群組 5">
              <a:extLst>
                <a:ext uri="{FF2B5EF4-FFF2-40B4-BE49-F238E27FC236}">
                  <a16:creationId xmlns:a16="http://schemas.microsoft.com/office/drawing/2014/main" id="{51CB5D0F-167C-473A-925C-3A9290589412}"/>
                </a:ext>
              </a:extLst>
            </p:cNvPr>
            <p:cNvGrpSpPr/>
            <p:nvPr/>
          </p:nvGrpSpPr>
          <p:grpSpPr>
            <a:xfrm>
              <a:off x="4939103" y="4177884"/>
              <a:ext cx="827730" cy="215444"/>
              <a:chOff x="5374750" y="4177884"/>
              <a:chExt cx="827730" cy="215444"/>
            </a:xfrm>
          </p:grpSpPr>
          <p:sp>
            <p:nvSpPr>
              <p:cNvPr id="41" name="矩形 40">
                <a:extLst>
                  <a:ext uri="{FF2B5EF4-FFF2-40B4-BE49-F238E27FC236}">
                    <a16:creationId xmlns:a16="http://schemas.microsoft.com/office/drawing/2014/main" id="{3DE5999E-24BB-44DA-9787-52FBD83D44C1}"/>
                  </a:ext>
                </a:extLst>
              </p:cNvPr>
              <p:cNvSpPr/>
              <p:nvPr/>
            </p:nvSpPr>
            <p:spPr>
              <a:xfrm>
                <a:off x="5374750" y="4232118"/>
                <a:ext cx="282388" cy="117038"/>
              </a:xfrm>
              <a:prstGeom prst="rect">
                <a:avLst/>
              </a:prstGeom>
              <a:solidFill>
                <a:srgbClr val="FFD551"/>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文字方塊 56">
                <a:extLst>
                  <a:ext uri="{FF2B5EF4-FFF2-40B4-BE49-F238E27FC236}">
                    <a16:creationId xmlns:a16="http://schemas.microsoft.com/office/drawing/2014/main" id="{305D05A0-59AC-4CAA-A91C-D48EFBDE03DF}"/>
                  </a:ext>
                </a:extLst>
              </p:cNvPr>
              <p:cNvSpPr txBox="1"/>
              <p:nvPr/>
            </p:nvSpPr>
            <p:spPr>
              <a:xfrm>
                <a:off x="5657138" y="4177884"/>
                <a:ext cx="545342"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AZ5214</a:t>
                </a:r>
                <a:endParaRPr lang="zh-TW" altLang="en-US" sz="800" dirty="0">
                  <a:latin typeface="Montserrat" panose="02020500000000000000" charset="0"/>
                  <a:cs typeface="Times New Roman" panose="02020603050405020304" pitchFamily="18" charset="0"/>
                </a:endParaRPr>
              </a:p>
            </p:txBody>
          </p:sp>
        </p:grpSp>
        <p:grpSp>
          <p:nvGrpSpPr>
            <p:cNvPr id="10" name="群組 9">
              <a:extLst>
                <a:ext uri="{FF2B5EF4-FFF2-40B4-BE49-F238E27FC236}">
                  <a16:creationId xmlns:a16="http://schemas.microsoft.com/office/drawing/2014/main" id="{2CE6FB14-2C0E-4557-9CE4-3E4CCB013DF0}"/>
                </a:ext>
              </a:extLst>
            </p:cNvPr>
            <p:cNvGrpSpPr/>
            <p:nvPr/>
          </p:nvGrpSpPr>
          <p:grpSpPr>
            <a:xfrm>
              <a:off x="6049221" y="4177884"/>
              <a:ext cx="1344525" cy="215444"/>
              <a:chOff x="6665148" y="4177884"/>
              <a:chExt cx="1344525" cy="215444"/>
            </a:xfrm>
          </p:grpSpPr>
          <p:sp>
            <p:nvSpPr>
              <p:cNvPr id="50" name="矩形 49">
                <a:extLst>
                  <a:ext uri="{FF2B5EF4-FFF2-40B4-BE49-F238E27FC236}">
                    <a16:creationId xmlns:a16="http://schemas.microsoft.com/office/drawing/2014/main" id="{53AC7C20-AE8E-4C1D-85D0-059F0A57A7B7}"/>
                  </a:ext>
                </a:extLst>
              </p:cNvPr>
              <p:cNvSpPr/>
              <p:nvPr/>
            </p:nvSpPr>
            <p:spPr>
              <a:xfrm>
                <a:off x="6665148" y="4227087"/>
                <a:ext cx="282388" cy="117038"/>
              </a:xfrm>
              <a:prstGeom prst="rect">
                <a:avLst/>
              </a:prstGeom>
              <a:solidFill>
                <a:srgbClr val="CFCFCF"/>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a16="http://schemas.microsoft.com/office/drawing/2014/main" id="{E6B50AE2-2257-4D15-9BBD-6BF9166D7C91}"/>
                  </a:ext>
                </a:extLst>
              </p:cNvPr>
              <p:cNvSpPr txBox="1"/>
              <p:nvPr/>
            </p:nvSpPr>
            <p:spPr>
              <a:xfrm>
                <a:off x="6944958" y="4177884"/>
                <a:ext cx="1064715"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Titanium(100nm)</a:t>
                </a:r>
                <a:endParaRPr lang="zh-TW" altLang="en-US" sz="800" dirty="0">
                  <a:latin typeface="Montserrat" panose="02020500000000000000" charset="0"/>
                  <a:cs typeface="Times New Roman" panose="02020603050405020304" pitchFamily="18" charset="0"/>
                </a:endParaRPr>
              </a:p>
            </p:txBody>
          </p:sp>
        </p:grpSp>
        <p:grpSp>
          <p:nvGrpSpPr>
            <p:cNvPr id="16" name="群組 15">
              <a:extLst>
                <a:ext uri="{FF2B5EF4-FFF2-40B4-BE49-F238E27FC236}">
                  <a16:creationId xmlns:a16="http://schemas.microsoft.com/office/drawing/2014/main" id="{1933504C-BF90-48ED-85F1-6E1EBCA6EFFE}"/>
                </a:ext>
              </a:extLst>
            </p:cNvPr>
            <p:cNvGrpSpPr/>
            <p:nvPr/>
          </p:nvGrpSpPr>
          <p:grpSpPr>
            <a:xfrm>
              <a:off x="4012756" y="4177884"/>
              <a:ext cx="617347" cy="215444"/>
              <a:chOff x="3943158" y="4177884"/>
              <a:chExt cx="617347" cy="215444"/>
            </a:xfrm>
          </p:grpSpPr>
          <p:sp>
            <p:nvSpPr>
              <p:cNvPr id="5" name="矩形 4">
                <a:extLst>
                  <a:ext uri="{FF2B5EF4-FFF2-40B4-BE49-F238E27FC236}">
                    <a16:creationId xmlns:a16="http://schemas.microsoft.com/office/drawing/2014/main" id="{CB5FE415-92CE-46B3-8C32-6906F3EEEFBB}"/>
                  </a:ext>
                </a:extLst>
              </p:cNvPr>
              <p:cNvSpPr/>
              <p:nvPr/>
            </p:nvSpPr>
            <p:spPr>
              <a:xfrm>
                <a:off x="3943158" y="4232118"/>
                <a:ext cx="282388" cy="117038"/>
              </a:xfrm>
              <a:prstGeom prst="rect">
                <a:avLst/>
              </a:prstGeom>
              <a:solidFill>
                <a:srgbClr val="C8DDFB"/>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文字方塊 60">
                <a:extLst>
                  <a:ext uri="{FF2B5EF4-FFF2-40B4-BE49-F238E27FC236}">
                    <a16:creationId xmlns:a16="http://schemas.microsoft.com/office/drawing/2014/main" id="{CC04AC92-06D2-4F54-A879-A9EC7CDD24A1}"/>
                  </a:ext>
                </a:extLst>
              </p:cNvPr>
              <p:cNvSpPr txBox="1"/>
              <p:nvPr/>
            </p:nvSpPr>
            <p:spPr>
              <a:xfrm>
                <a:off x="4231569" y="4177884"/>
                <a:ext cx="328936"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LN</a:t>
                </a:r>
                <a:endParaRPr lang="zh-TW" altLang="en-US" sz="800" dirty="0">
                  <a:latin typeface="Montserrat" panose="02020500000000000000" charset="0"/>
                  <a:cs typeface="Times New Roman" panose="02020603050405020304" pitchFamily="18" charset="0"/>
                </a:endParaRPr>
              </a:p>
            </p:txBody>
          </p:sp>
        </p:grpSp>
      </p:grpSp>
      <p:sp>
        <p:nvSpPr>
          <p:cNvPr id="62" name="文字方塊 61">
            <a:extLst>
              <a:ext uri="{FF2B5EF4-FFF2-40B4-BE49-F238E27FC236}">
                <a16:creationId xmlns:a16="http://schemas.microsoft.com/office/drawing/2014/main" id="{53CC7D2C-C978-42D0-A8F2-47185339D159}"/>
              </a:ext>
            </a:extLst>
          </p:cNvPr>
          <p:cNvSpPr txBox="1"/>
          <p:nvPr/>
        </p:nvSpPr>
        <p:spPr>
          <a:xfrm>
            <a:off x="8585770" y="4631694"/>
            <a:ext cx="370614" cy="261610"/>
          </a:xfrm>
          <a:prstGeom prst="rect">
            <a:avLst/>
          </a:prstGeom>
          <a:noFill/>
        </p:spPr>
        <p:txBody>
          <a:bodyPr wrap="none" rtlCol="0">
            <a:spAutoFit/>
          </a:bodyPr>
          <a:lstStyle/>
          <a:p>
            <a:r>
              <a:rPr lang="en-US" altLang="zh-TW" sz="1100" dirty="0">
                <a:latin typeface="Montserrat" panose="02020500000000000000" charset="0"/>
              </a:rPr>
              <a:t>44</a:t>
            </a:r>
            <a:endParaRPr lang="zh-TW" altLang="en-US" sz="1100" dirty="0">
              <a:latin typeface="Montserrat" panose="02020500000000000000" charset="0"/>
            </a:endParaRPr>
          </a:p>
        </p:txBody>
      </p:sp>
    </p:spTree>
    <p:extLst>
      <p:ext uri="{BB962C8B-B14F-4D97-AF65-F5344CB8AC3E}">
        <p14:creationId xmlns:p14="http://schemas.microsoft.com/office/powerpoint/2010/main" val="37916960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449855" y="309358"/>
            <a:ext cx="624429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Fabrication of </a:t>
            </a:r>
            <a:r>
              <a:rPr lang="en-US" altLang="zh-TW" sz="2000" dirty="0" err="1">
                <a:latin typeface="Montserrat" panose="02020500000000000000" charset="0"/>
              </a:rPr>
              <a:t>Ti</a:t>
            </a:r>
            <a:r>
              <a:rPr lang="en-US" altLang="zh-TW" sz="2000" dirty="0">
                <a:latin typeface="Montserrat" panose="02020500000000000000" charset="0"/>
              </a:rPr>
              <a:t>-diffused waveguide</a:t>
            </a:r>
          </a:p>
        </p:txBody>
      </p:sp>
      <p:grpSp>
        <p:nvGrpSpPr>
          <p:cNvPr id="2" name="群組 1">
            <a:extLst>
              <a:ext uri="{FF2B5EF4-FFF2-40B4-BE49-F238E27FC236}">
                <a16:creationId xmlns:a16="http://schemas.microsoft.com/office/drawing/2014/main" id="{C940A10E-D8F5-41E8-8BE1-A272FE67485B}"/>
              </a:ext>
            </a:extLst>
          </p:cNvPr>
          <p:cNvGrpSpPr/>
          <p:nvPr/>
        </p:nvGrpSpPr>
        <p:grpSpPr>
          <a:xfrm>
            <a:off x="192683" y="-911"/>
            <a:ext cx="8761417" cy="295831"/>
            <a:chOff x="192683" y="-911"/>
            <a:chExt cx="8761417" cy="295831"/>
          </a:xfrm>
        </p:grpSpPr>
        <p:sp>
          <p:nvSpPr>
            <p:cNvPr id="3" name="矩形 2">
              <a:extLst>
                <a:ext uri="{FF2B5EF4-FFF2-40B4-BE49-F238E27FC236}">
                  <a16:creationId xmlns:a16="http://schemas.microsoft.com/office/drawing/2014/main" id="{0654D798-D22D-4637-AFFD-CDDFE0B44C00}"/>
                </a:ext>
              </a:extLst>
            </p:cNvPr>
            <p:cNvSpPr/>
            <p:nvPr/>
          </p:nvSpPr>
          <p:spPr>
            <a:xfrm>
              <a:off x="3976185"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Device fabrication</a:t>
              </a:r>
            </a:p>
          </p:txBody>
        </p:sp>
        <p:sp>
          <p:nvSpPr>
            <p:cNvPr id="4" name="矩形 3">
              <a:extLst>
                <a:ext uri="{FF2B5EF4-FFF2-40B4-BE49-F238E27FC236}">
                  <a16:creationId xmlns:a16="http://schemas.microsoft.com/office/drawing/2014/main" id="{8A2721FE-63A3-4285-B311-328EA0A112D0}"/>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35D54FC1-967E-4801-AAE4-AB642A542829}"/>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3D541E8D-E350-4929-8575-D90AABBF3603}"/>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8A1C2282-EBB6-46B2-B207-1145B6D1BE8D}"/>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2" name="矩形 11">
              <a:extLst>
                <a:ext uri="{FF2B5EF4-FFF2-40B4-BE49-F238E27FC236}">
                  <a16:creationId xmlns:a16="http://schemas.microsoft.com/office/drawing/2014/main" id="{2D967063-487F-435D-9438-73FDB106124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40" name="圖片 39">
            <a:extLst>
              <a:ext uri="{FF2B5EF4-FFF2-40B4-BE49-F238E27FC236}">
                <a16:creationId xmlns:a16="http://schemas.microsoft.com/office/drawing/2014/main" id="{671BC545-AE66-411C-A284-BE28D23BF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2120" y="2094551"/>
            <a:ext cx="2199760" cy="1649820"/>
          </a:xfrm>
          <a:prstGeom prst="rect">
            <a:avLst/>
          </a:prstGeom>
        </p:spPr>
      </p:pic>
      <p:pic>
        <p:nvPicPr>
          <p:cNvPr id="50" name="圖片 49">
            <a:extLst>
              <a:ext uri="{FF2B5EF4-FFF2-40B4-BE49-F238E27FC236}">
                <a16:creationId xmlns:a16="http://schemas.microsoft.com/office/drawing/2014/main" id="{FCAD70F5-5AD4-4F49-B732-B35164AE63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866" y="2094551"/>
            <a:ext cx="2199760" cy="1649820"/>
          </a:xfrm>
          <a:prstGeom prst="rect">
            <a:avLst/>
          </a:prstGeom>
        </p:spPr>
      </p:pic>
      <p:pic>
        <p:nvPicPr>
          <p:cNvPr id="58" name="圖片 57">
            <a:extLst>
              <a:ext uri="{FF2B5EF4-FFF2-40B4-BE49-F238E27FC236}">
                <a16:creationId xmlns:a16="http://schemas.microsoft.com/office/drawing/2014/main" id="{1DC0DEDB-B574-4A6E-BAA1-A1DE15CB48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4375" y="2094551"/>
            <a:ext cx="2199759" cy="1649820"/>
          </a:xfrm>
          <a:prstGeom prst="rect">
            <a:avLst/>
          </a:prstGeom>
        </p:spPr>
      </p:pic>
      <p:sp>
        <p:nvSpPr>
          <p:cNvPr id="5" name="矩形 4">
            <a:extLst>
              <a:ext uri="{FF2B5EF4-FFF2-40B4-BE49-F238E27FC236}">
                <a16:creationId xmlns:a16="http://schemas.microsoft.com/office/drawing/2014/main" id="{0758E36F-49E2-47E6-8F62-CDEB7C341FBA}"/>
              </a:ext>
            </a:extLst>
          </p:cNvPr>
          <p:cNvSpPr/>
          <p:nvPr/>
        </p:nvSpPr>
        <p:spPr>
          <a:xfrm>
            <a:off x="451880" y="1742064"/>
            <a:ext cx="2675732" cy="261610"/>
          </a:xfrm>
          <a:prstGeom prst="rect">
            <a:avLst/>
          </a:prstGeom>
        </p:spPr>
        <p:txBody>
          <a:bodyPr wrap="none">
            <a:spAutoFit/>
          </a:bodyPr>
          <a:lstStyle/>
          <a:p>
            <a:pPr lvl="0"/>
            <a:r>
              <a:rPr lang="en-US" altLang="zh-TW" sz="1100" dirty="0">
                <a:solidFill>
                  <a:schemeClr val="tx1"/>
                </a:solidFill>
                <a:latin typeface="Montserrat"/>
                <a:sym typeface="Montserrat"/>
              </a:rPr>
              <a:t>Lithography of waveguide patterns</a:t>
            </a:r>
          </a:p>
        </p:txBody>
      </p:sp>
      <p:sp>
        <p:nvSpPr>
          <p:cNvPr id="6" name="矩形 5">
            <a:extLst>
              <a:ext uri="{FF2B5EF4-FFF2-40B4-BE49-F238E27FC236}">
                <a16:creationId xmlns:a16="http://schemas.microsoft.com/office/drawing/2014/main" id="{2FE92373-EA68-4E96-BBD5-26DE15CF1504}"/>
              </a:ext>
            </a:extLst>
          </p:cNvPr>
          <p:cNvSpPr/>
          <p:nvPr/>
        </p:nvSpPr>
        <p:spPr>
          <a:xfrm>
            <a:off x="3581184" y="1683245"/>
            <a:ext cx="1981632" cy="317587"/>
          </a:xfrm>
          <a:prstGeom prst="rect">
            <a:avLst/>
          </a:prstGeom>
        </p:spPr>
        <p:txBody>
          <a:bodyPr wrap="none">
            <a:spAutoFit/>
          </a:bodyPr>
          <a:lstStyle/>
          <a:p>
            <a:pPr lvl="0" algn="ctr">
              <a:lnSpc>
                <a:spcPct val="150000"/>
              </a:lnSpc>
            </a:pPr>
            <a:r>
              <a:rPr lang="en-US" altLang="zh-TW" sz="1100" dirty="0">
                <a:solidFill>
                  <a:schemeClr val="tx1"/>
                </a:solidFill>
                <a:latin typeface="Montserrat"/>
                <a:ea typeface="Montserrat"/>
                <a:cs typeface="Montserrat"/>
                <a:sym typeface="Montserrat"/>
              </a:rPr>
              <a:t>Lift-off after </a:t>
            </a:r>
            <a:r>
              <a:rPr lang="en-US" altLang="zh-TW" sz="1100" dirty="0" err="1">
                <a:solidFill>
                  <a:schemeClr val="tx1"/>
                </a:solidFill>
                <a:latin typeface="Montserrat"/>
                <a:ea typeface="Montserrat"/>
                <a:cs typeface="Montserrat"/>
                <a:sym typeface="Montserrat"/>
              </a:rPr>
              <a:t>Ti</a:t>
            </a:r>
            <a:r>
              <a:rPr lang="en-US" altLang="zh-TW" sz="1100" dirty="0">
                <a:solidFill>
                  <a:schemeClr val="tx1"/>
                </a:solidFill>
                <a:latin typeface="Montserrat"/>
                <a:ea typeface="Montserrat"/>
                <a:cs typeface="Montserrat"/>
                <a:sym typeface="Montserrat"/>
              </a:rPr>
              <a:t>-deposition</a:t>
            </a:r>
          </a:p>
        </p:txBody>
      </p:sp>
      <p:sp>
        <p:nvSpPr>
          <p:cNvPr id="59" name="矩形 58">
            <a:extLst>
              <a:ext uri="{FF2B5EF4-FFF2-40B4-BE49-F238E27FC236}">
                <a16:creationId xmlns:a16="http://schemas.microsoft.com/office/drawing/2014/main" id="{429C2C53-FD55-4EFE-9111-13C8C6EEF176}"/>
              </a:ext>
            </a:extLst>
          </p:cNvPr>
          <p:cNvSpPr/>
          <p:nvPr/>
        </p:nvSpPr>
        <p:spPr>
          <a:xfrm>
            <a:off x="6522936" y="1682470"/>
            <a:ext cx="1662636" cy="317587"/>
          </a:xfrm>
          <a:prstGeom prst="rect">
            <a:avLst/>
          </a:prstGeom>
        </p:spPr>
        <p:txBody>
          <a:bodyPr wrap="none">
            <a:spAutoFit/>
          </a:bodyPr>
          <a:lstStyle/>
          <a:p>
            <a:pPr lvl="0" algn="ctr">
              <a:lnSpc>
                <a:spcPct val="150000"/>
              </a:lnSpc>
            </a:pPr>
            <a:r>
              <a:rPr lang="en-US" altLang="zh-TW" sz="1100" dirty="0">
                <a:solidFill>
                  <a:schemeClr val="tx1"/>
                </a:solidFill>
                <a:latin typeface="Montserrat"/>
                <a:ea typeface="Montserrat"/>
                <a:cs typeface="Montserrat"/>
                <a:sym typeface="Montserrat"/>
              </a:rPr>
              <a:t>Titanium in-diffusion</a:t>
            </a:r>
          </a:p>
        </p:txBody>
      </p:sp>
      <p:sp>
        <p:nvSpPr>
          <p:cNvPr id="16" name="文字方塊 15">
            <a:extLst>
              <a:ext uri="{FF2B5EF4-FFF2-40B4-BE49-F238E27FC236}">
                <a16:creationId xmlns:a16="http://schemas.microsoft.com/office/drawing/2014/main" id="{6455AD9D-405C-467D-8771-C04B12F993FE}"/>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45</a:t>
            </a:r>
            <a:endParaRPr lang="zh-TW" altLang="en-US" sz="1100" dirty="0">
              <a:latin typeface="Montserrat" panose="02020500000000000000" charset="0"/>
            </a:endParaRPr>
          </a:p>
        </p:txBody>
      </p:sp>
    </p:spTree>
    <p:extLst>
      <p:ext uri="{BB962C8B-B14F-4D97-AF65-F5344CB8AC3E}">
        <p14:creationId xmlns:p14="http://schemas.microsoft.com/office/powerpoint/2010/main" val="259150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Fabrication of poling</a:t>
            </a:r>
          </a:p>
        </p:txBody>
      </p:sp>
      <p:grpSp>
        <p:nvGrpSpPr>
          <p:cNvPr id="3" name="群組 2">
            <a:extLst>
              <a:ext uri="{FF2B5EF4-FFF2-40B4-BE49-F238E27FC236}">
                <a16:creationId xmlns:a16="http://schemas.microsoft.com/office/drawing/2014/main" id="{95CB929D-AE0B-4117-BE45-822831F36A7C}"/>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6136AE7B-E1CE-4ADC-8F11-FA159900CC42}"/>
                </a:ext>
              </a:extLst>
            </p:cNvPr>
            <p:cNvSpPr/>
            <p:nvPr/>
          </p:nvSpPr>
          <p:spPr>
            <a:xfrm>
              <a:off x="3976185"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Device fabrication</a:t>
              </a:r>
            </a:p>
          </p:txBody>
        </p:sp>
        <p:sp>
          <p:nvSpPr>
            <p:cNvPr id="5" name="矩形 4">
              <a:extLst>
                <a:ext uri="{FF2B5EF4-FFF2-40B4-BE49-F238E27FC236}">
                  <a16:creationId xmlns:a16="http://schemas.microsoft.com/office/drawing/2014/main" id="{38574690-7010-4515-8B00-DD605B75C553}"/>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4D279791-0CF8-4021-A8E3-2C5D0FCAB0CC}"/>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682E116C-A55D-4869-84A8-755ED4161FF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68FB7601-63D3-4F3E-98C8-015B8410B56A}"/>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B65E40B2-BBB2-4732-B6B8-A0FD40117160}"/>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43" name="群組 42">
            <a:extLst>
              <a:ext uri="{FF2B5EF4-FFF2-40B4-BE49-F238E27FC236}">
                <a16:creationId xmlns:a16="http://schemas.microsoft.com/office/drawing/2014/main" id="{5DA03A97-3064-425C-BD50-5A830AA8F557}"/>
              </a:ext>
            </a:extLst>
          </p:cNvPr>
          <p:cNvGrpSpPr/>
          <p:nvPr/>
        </p:nvGrpSpPr>
        <p:grpSpPr>
          <a:xfrm>
            <a:off x="1486089" y="933440"/>
            <a:ext cx="6171822" cy="4033198"/>
            <a:chOff x="1424476" y="933440"/>
            <a:chExt cx="6171822" cy="4033198"/>
          </a:xfrm>
        </p:grpSpPr>
        <p:pic>
          <p:nvPicPr>
            <p:cNvPr id="23" name="圖片 22">
              <a:extLst>
                <a:ext uri="{FF2B5EF4-FFF2-40B4-BE49-F238E27FC236}">
                  <a16:creationId xmlns:a16="http://schemas.microsoft.com/office/drawing/2014/main" id="{288BC8A4-0228-402B-9EBD-1A1ABF3F17D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52942" y="1353869"/>
              <a:ext cx="1657322" cy="863524"/>
            </a:xfrm>
            <a:prstGeom prst="rect">
              <a:avLst/>
            </a:prstGeom>
          </p:spPr>
        </p:pic>
        <p:sp>
          <p:nvSpPr>
            <p:cNvPr id="12" name="文字方塊 11">
              <a:extLst>
                <a:ext uri="{FF2B5EF4-FFF2-40B4-BE49-F238E27FC236}">
                  <a16:creationId xmlns:a16="http://schemas.microsoft.com/office/drawing/2014/main" id="{D0D740A6-275F-4BDE-A9EE-7AB6AF8731E2}"/>
                </a:ext>
              </a:extLst>
            </p:cNvPr>
            <p:cNvSpPr txBox="1"/>
            <p:nvPr/>
          </p:nvSpPr>
          <p:spPr>
            <a:xfrm>
              <a:off x="1595071" y="2161952"/>
              <a:ext cx="1120820"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Coating AZ4620</a:t>
              </a:r>
              <a:endParaRPr lang="zh-TW" altLang="en-US" sz="900" dirty="0">
                <a:latin typeface="Montserrat" panose="02020500000000000000" charset="0"/>
                <a:cs typeface="Times New Roman" panose="02020603050405020304" pitchFamily="18" charset="0"/>
              </a:endParaRPr>
            </a:p>
          </p:txBody>
        </p:sp>
        <p:pic>
          <p:nvPicPr>
            <p:cNvPr id="2" name="圖片 1">
              <a:extLst>
                <a:ext uri="{FF2B5EF4-FFF2-40B4-BE49-F238E27FC236}">
                  <a16:creationId xmlns:a16="http://schemas.microsoft.com/office/drawing/2014/main" id="{2A6AD53C-6176-45EA-A14E-8E0E7833B2E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681028" y="933440"/>
              <a:ext cx="1665360" cy="1368937"/>
            </a:xfrm>
            <a:prstGeom prst="rect">
              <a:avLst/>
            </a:prstGeom>
          </p:spPr>
        </p:pic>
        <p:pic>
          <p:nvPicPr>
            <p:cNvPr id="13" name="圖片 12">
              <a:extLst>
                <a:ext uri="{FF2B5EF4-FFF2-40B4-BE49-F238E27FC236}">
                  <a16:creationId xmlns:a16="http://schemas.microsoft.com/office/drawing/2014/main" id="{7CB78805-A671-4417-B8F7-DA552F1C37B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930337" y="1351591"/>
              <a:ext cx="1665361" cy="810361"/>
            </a:xfrm>
            <a:prstGeom prst="rect">
              <a:avLst/>
            </a:prstGeom>
          </p:spPr>
        </p:pic>
        <p:pic>
          <p:nvPicPr>
            <p:cNvPr id="15" name="圖片 14">
              <a:extLst>
                <a:ext uri="{FF2B5EF4-FFF2-40B4-BE49-F238E27FC236}">
                  <a16:creationId xmlns:a16="http://schemas.microsoft.com/office/drawing/2014/main" id="{DD5E6E6E-5B0D-4452-A34B-ACDB3BBD33BD}"/>
                </a:ext>
              </a:extLst>
            </p:cNvPr>
            <p:cNvPicPr>
              <a:picLocks noChangeAspect="1"/>
            </p:cNvPicPr>
            <p:nvPr/>
          </p:nvPicPr>
          <p:blipFill>
            <a:blip r:embed="rId6"/>
            <a:stretch>
              <a:fillRect/>
            </a:stretch>
          </p:blipFill>
          <p:spPr>
            <a:xfrm>
              <a:off x="5930938" y="2512126"/>
              <a:ext cx="1665360" cy="869688"/>
            </a:xfrm>
            <a:prstGeom prst="rect">
              <a:avLst/>
            </a:prstGeom>
          </p:spPr>
        </p:pic>
        <p:pic>
          <p:nvPicPr>
            <p:cNvPr id="16" name="圖片 15">
              <a:extLst>
                <a:ext uri="{FF2B5EF4-FFF2-40B4-BE49-F238E27FC236}">
                  <a16:creationId xmlns:a16="http://schemas.microsoft.com/office/drawing/2014/main" id="{5C766FAD-1E86-498F-9F26-1785D6862186}"/>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3771666" y="2379080"/>
              <a:ext cx="1475017" cy="1016438"/>
            </a:xfrm>
            <a:prstGeom prst="rect">
              <a:avLst/>
            </a:prstGeom>
          </p:spPr>
        </p:pic>
        <p:pic>
          <p:nvPicPr>
            <p:cNvPr id="19" name="圖片 18">
              <a:extLst>
                <a:ext uri="{FF2B5EF4-FFF2-40B4-BE49-F238E27FC236}">
                  <a16:creationId xmlns:a16="http://schemas.microsoft.com/office/drawing/2014/main" id="{A48FACF5-3144-4A77-ACD4-F356067B3600}"/>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3943337" y="3591563"/>
              <a:ext cx="1257326" cy="1138261"/>
            </a:xfrm>
            <a:prstGeom prst="rect">
              <a:avLst/>
            </a:prstGeom>
          </p:spPr>
        </p:pic>
        <p:sp>
          <p:nvSpPr>
            <p:cNvPr id="22" name="文字方塊 21">
              <a:extLst>
                <a:ext uri="{FF2B5EF4-FFF2-40B4-BE49-F238E27FC236}">
                  <a16:creationId xmlns:a16="http://schemas.microsoft.com/office/drawing/2014/main" id="{F1CF733D-104F-4720-B590-DDD3BBC57D7E}"/>
                </a:ext>
              </a:extLst>
            </p:cNvPr>
            <p:cNvSpPr txBox="1"/>
            <p:nvPr/>
          </p:nvSpPr>
          <p:spPr>
            <a:xfrm>
              <a:off x="4233289" y="2161952"/>
              <a:ext cx="721672"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Exposure</a:t>
              </a:r>
              <a:endParaRPr lang="zh-TW" altLang="en-US" sz="900" dirty="0">
                <a:latin typeface="Montserrat" panose="02020500000000000000" charset="0"/>
                <a:cs typeface="Times New Roman" panose="02020603050405020304" pitchFamily="18" charset="0"/>
              </a:endParaRPr>
            </a:p>
          </p:txBody>
        </p:sp>
        <p:pic>
          <p:nvPicPr>
            <p:cNvPr id="24" name="圖片 23">
              <a:extLst>
                <a:ext uri="{FF2B5EF4-FFF2-40B4-BE49-F238E27FC236}">
                  <a16:creationId xmlns:a16="http://schemas.microsoft.com/office/drawing/2014/main" id="{40A59F0A-7BB0-4A67-8241-6F4FE0912519}"/>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86222" y="2336300"/>
              <a:ext cx="1475017" cy="1100888"/>
            </a:xfrm>
            <a:prstGeom prst="rect">
              <a:avLst/>
            </a:prstGeom>
          </p:spPr>
        </p:pic>
        <p:pic>
          <p:nvPicPr>
            <p:cNvPr id="25" name="圖片 24">
              <a:extLst>
                <a:ext uri="{FF2B5EF4-FFF2-40B4-BE49-F238E27FC236}">
                  <a16:creationId xmlns:a16="http://schemas.microsoft.com/office/drawing/2014/main" id="{5F37D8DA-A552-419B-A96D-2054D9F1C171}"/>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1595071" y="3664749"/>
              <a:ext cx="1257327" cy="1071057"/>
            </a:xfrm>
            <a:prstGeom prst="rect">
              <a:avLst/>
            </a:prstGeom>
          </p:spPr>
        </p:pic>
        <p:sp>
          <p:nvSpPr>
            <p:cNvPr id="26" name="文字方塊 25">
              <a:extLst>
                <a:ext uri="{FF2B5EF4-FFF2-40B4-BE49-F238E27FC236}">
                  <a16:creationId xmlns:a16="http://schemas.microsoft.com/office/drawing/2014/main" id="{A0162AC9-0D68-412A-B0EC-192BCADC1B9B}"/>
                </a:ext>
              </a:extLst>
            </p:cNvPr>
            <p:cNvSpPr txBox="1"/>
            <p:nvPr/>
          </p:nvSpPr>
          <p:spPr>
            <a:xfrm>
              <a:off x="6236242" y="2161952"/>
              <a:ext cx="976549"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Development</a:t>
              </a:r>
              <a:endParaRPr lang="zh-TW" altLang="en-US" sz="900" dirty="0">
                <a:latin typeface="Montserrat" panose="02020500000000000000" charset="0"/>
                <a:cs typeface="Times New Roman" panose="02020603050405020304" pitchFamily="18" charset="0"/>
              </a:endParaRPr>
            </a:p>
          </p:txBody>
        </p:sp>
        <p:sp>
          <p:nvSpPr>
            <p:cNvPr id="27" name="文字方塊 26">
              <a:extLst>
                <a:ext uri="{FF2B5EF4-FFF2-40B4-BE49-F238E27FC236}">
                  <a16:creationId xmlns:a16="http://schemas.microsoft.com/office/drawing/2014/main" id="{F2910B05-AF5B-4146-9A1E-0655E02E23C2}"/>
                </a:ext>
              </a:extLst>
            </p:cNvPr>
            <p:cNvSpPr txBox="1"/>
            <p:nvPr/>
          </p:nvSpPr>
          <p:spPr>
            <a:xfrm>
              <a:off x="6370120" y="3364791"/>
              <a:ext cx="785793"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Hard bake</a:t>
              </a:r>
              <a:endParaRPr lang="zh-TW" altLang="en-US" sz="900" dirty="0">
                <a:latin typeface="Montserrat" panose="02020500000000000000" charset="0"/>
                <a:cs typeface="Times New Roman" panose="02020603050405020304" pitchFamily="18" charset="0"/>
              </a:endParaRPr>
            </a:p>
          </p:txBody>
        </p:sp>
        <p:sp>
          <p:nvSpPr>
            <p:cNvPr id="28" name="文字方塊 27">
              <a:extLst>
                <a:ext uri="{FF2B5EF4-FFF2-40B4-BE49-F238E27FC236}">
                  <a16:creationId xmlns:a16="http://schemas.microsoft.com/office/drawing/2014/main" id="{744A6B96-CDD9-42FD-B76D-C3F804C87285}"/>
                </a:ext>
              </a:extLst>
            </p:cNvPr>
            <p:cNvSpPr txBox="1"/>
            <p:nvPr/>
          </p:nvSpPr>
          <p:spPr>
            <a:xfrm>
              <a:off x="4276955" y="4735806"/>
              <a:ext cx="639919"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Etching</a:t>
              </a:r>
              <a:endParaRPr lang="zh-TW" altLang="en-US" sz="900" dirty="0">
                <a:latin typeface="Montserrat" panose="02020500000000000000" charset="0"/>
                <a:cs typeface="Times New Roman" panose="02020603050405020304" pitchFamily="18" charset="0"/>
              </a:endParaRPr>
            </a:p>
          </p:txBody>
        </p:sp>
        <p:sp>
          <p:nvSpPr>
            <p:cNvPr id="29" name="文字方塊 28">
              <a:extLst>
                <a:ext uri="{FF2B5EF4-FFF2-40B4-BE49-F238E27FC236}">
                  <a16:creationId xmlns:a16="http://schemas.microsoft.com/office/drawing/2014/main" id="{CB273F46-5010-41A8-8ECB-B3F8FEDF41DE}"/>
                </a:ext>
              </a:extLst>
            </p:cNvPr>
            <p:cNvSpPr txBox="1"/>
            <p:nvPr/>
          </p:nvSpPr>
          <p:spPr>
            <a:xfrm>
              <a:off x="1424476" y="4726346"/>
              <a:ext cx="1598515"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Removal the photoresist</a:t>
              </a:r>
              <a:endParaRPr lang="zh-TW" altLang="en-US" sz="900" dirty="0">
                <a:latin typeface="Montserrat" panose="02020500000000000000" charset="0"/>
                <a:cs typeface="Times New Roman" panose="02020603050405020304" pitchFamily="18" charset="0"/>
              </a:endParaRPr>
            </a:p>
          </p:txBody>
        </p:sp>
        <p:sp>
          <p:nvSpPr>
            <p:cNvPr id="30" name="文字方塊 29">
              <a:extLst>
                <a:ext uri="{FF2B5EF4-FFF2-40B4-BE49-F238E27FC236}">
                  <a16:creationId xmlns:a16="http://schemas.microsoft.com/office/drawing/2014/main" id="{CC173858-8647-41A4-974F-4B0D834EA892}"/>
                </a:ext>
              </a:extLst>
            </p:cNvPr>
            <p:cNvSpPr txBox="1"/>
            <p:nvPr/>
          </p:nvSpPr>
          <p:spPr>
            <a:xfrm>
              <a:off x="4034901" y="3381814"/>
              <a:ext cx="1124026"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Fix with UV glue</a:t>
              </a:r>
              <a:endParaRPr lang="zh-TW" altLang="en-US" sz="900" dirty="0">
                <a:latin typeface="Montserrat" panose="02020500000000000000" charset="0"/>
                <a:cs typeface="Times New Roman" panose="02020603050405020304" pitchFamily="18" charset="0"/>
              </a:endParaRPr>
            </a:p>
          </p:txBody>
        </p:sp>
        <p:sp>
          <p:nvSpPr>
            <p:cNvPr id="31" name="文字方塊 30">
              <a:extLst>
                <a:ext uri="{FF2B5EF4-FFF2-40B4-BE49-F238E27FC236}">
                  <a16:creationId xmlns:a16="http://schemas.microsoft.com/office/drawing/2014/main" id="{3C5E4D9E-3C35-45E2-A21A-EAFF0730E0C5}"/>
                </a:ext>
              </a:extLst>
            </p:cNvPr>
            <p:cNvSpPr txBox="1"/>
            <p:nvPr/>
          </p:nvSpPr>
          <p:spPr>
            <a:xfrm>
              <a:off x="1577561" y="3364791"/>
              <a:ext cx="1292341"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Electric field poling</a:t>
              </a:r>
              <a:endParaRPr lang="zh-TW" altLang="en-US" sz="900" dirty="0">
                <a:latin typeface="Montserrat" panose="02020500000000000000" charset="0"/>
                <a:cs typeface="Times New Roman" panose="02020603050405020304" pitchFamily="18" charset="0"/>
              </a:endParaRPr>
            </a:p>
          </p:txBody>
        </p:sp>
        <p:sp>
          <p:nvSpPr>
            <p:cNvPr id="32" name="箭號: 向右 31">
              <a:extLst>
                <a:ext uri="{FF2B5EF4-FFF2-40B4-BE49-F238E27FC236}">
                  <a16:creationId xmlns:a16="http://schemas.microsoft.com/office/drawing/2014/main" id="{CE9D648E-7A4C-4AFF-BEF2-03ACFDEC1DCB}"/>
                </a:ext>
              </a:extLst>
            </p:cNvPr>
            <p:cNvSpPr/>
            <p:nvPr/>
          </p:nvSpPr>
          <p:spPr>
            <a:xfrm>
              <a:off x="3189906" y="1756771"/>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箭號: 向右 32">
              <a:extLst>
                <a:ext uri="{FF2B5EF4-FFF2-40B4-BE49-F238E27FC236}">
                  <a16:creationId xmlns:a16="http://schemas.microsoft.com/office/drawing/2014/main" id="{F0C9417B-29DB-49F7-86DC-A6DD0D8062B6}"/>
                </a:ext>
              </a:extLst>
            </p:cNvPr>
            <p:cNvSpPr/>
            <p:nvPr/>
          </p:nvSpPr>
          <p:spPr>
            <a:xfrm>
              <a:off x="5426030" y="1751341"/>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向右 33">
              <a:extLst>
                <a:ext uri="{FF2B5EF4-FFF2-40B4-BE49-F238E27FC236}">
                  <a16:creationId xmlns:a16="http://schemas.microsoft.com/office/drawing/2014/main" id="{DB5334DB-F433-4113-BC54-0BFEBAF7E48A}"/>
                </a:ext>
              </a:extLst>
            </p:cNvPr>
            <p:cNvSpPr/>
            <p:nvPr/>
          </p:nvSpPr>
          <p:spPr>
            <a:xfrm>
              <a:off x="3189906" y="4378051"/>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箭號: 向右 35">
              <a:extLst>
                <a:ext uri="{FF2B5EF4-FFF2-40B4-BE49-F238E27FC236}">
                  <a16:creationId xmlns:a16="http://schemas.microsoft.com/office/drawing/2014/main" id="{CF03ADF5-66C7-4FF7-AC6D-ABE4C1B22AFD}"/>
                </a:ext>
              </a:extLst>
            </p:cNvPr>
            <p:cNvSpPr/>
            <p:nvPr/>
          </p:nvSpPr>
          <p:spPr>
            <a:xfrm rot="10800000">
              <a:off x="3185784" y="2912680"/>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箭號: 向右 36">
              <a:extLst>
                <a:ext uri="{FF2B5EF4-FFF2-40B4-BE49-F238E27FC236}">
                  <a16:creationId xmlns:a16="http://schemas.microsoft.com/office/drawing/2014/main" id="{DF4769ED-D4CF-421D-A3E7-0A1E6EF4606F}"/>
                </a:ext>
              </a:extLst>
            </p:cNvPr>
            <p:cNvSpPr/>
            <p:nvPr/>
          </p:nvSpPr>
          <p:spPr>
            <a:xfrm rot="10800000">
              <a:off x="5426030" y="2912681"/>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1" name="圖片 40">
              <a:extLst>
                <a:ext uri="{FF2B5EF4-FFF2-40B4-BE49-F238E27FC236}">
                  <a16:creationId xmlns:a16="http://schemas.microsoft.com/office/drawing/2014/main" id="{39E143F8-E706-4119-AFB0-030A9516474C}"/>
                </a:ext>
              </a:extLst>
            </p:cNvPr>
            <p:cNvPicPr>
              <a:picLocks noChangeAspect="1"/>
            </p:cNvPicPr>
            <p:nvPr/>
          </p:nvPicPr>
          <p:blipFill>
            <a:blip r:embed="rId11"/>
            <a:stretch>
              <a:fillRect/>
            </a:stretch>
          </p:blipFill>
          <p:spPr>
            <a:xfrm>
              <a:off x="6724516" y="2423726"/>
              <a:ext cx="67062" cy="176799"/>
            </a:xfrm>
            <a:prstGeom prst="rect">
              <a:avLst/>
            </a:prstGeom>
          </p:spPr>
        </p:pic>
        <p:pic>
          <p:nvPicPr>
            <p:cNvPr id="42" name="圖片 41">
              <a:extLst>
                <a:ext uri="{FF2B5EF4-FFF2-40B4-BE49-F238E27FC236}">
                  <a16:creationId xmlns:a16="http://schemas.microsoft.com/office/drawing/2014/main" id="{A3C93FAF-C275-4A3D-8213-D2DD119F0223}"/>
                </a:ext>
              </a:extLst>
            </p:cNvPr>
            <p:cNvPicPr>
              <a:picLocks noChangeAspect="1"/>
            </p:cNvPicPr>
            <p:nvPr/>
          </p:nvPicPr>
          <p:blipFill>
            <a:blip r:embed="rId11"/>
            <a:stretch>
              <a:fillRect/>
            </a:stretch>
          </p:blipFill>
          <p:spPr>
            <a:xfrm>
              <a:off x="2156668" y="3825750"/>
              <a:ext cx="67062" cy="176799"/>
            </a:xfrm>
            <a:prstGeom prst="rect">
              <a:avLst/>
            </a:prstGeom>
          </p:spPr>
        </p:pic>
      </p:grpSp>
      <p:grpSp>
        <p:nvGrpSpPr>
          <p:cNvPr id="11" name="群組 10">
            <a:extLst>
              <a:ext uri="{FF2B5EF4-FFF2-40B4-BE49-F238E27FC236}">
                <a16:creationId xmlns:a16="http://schemas.microsoft.com/office/drawing/2014/main" id="{02F3C7E5-8B0C-4BC6-8254-F6E4B611001F}"/>
              </a:ext>
            </a:extLst>
          </p:cNvPr>
          <p:cNvGrpSpPr/>
          <p:nvPr/>
        </p:nvGrpSpPr>
        <p:grpSpPr>
          <a:xfrm>
            <a:off x="5494563" y="4304619"/>
            <a:ext cx="3459537" cy="215444"/>
            <a:chOff x="5620846" y="4074022"/>
            <a:chExt cx="3459537" cy="215444"/>
          </a:xfrm>
        </p:grpSpPr>
        <p:grpSp>
          <p:nvGrpSpPr>
            <p:cNvPr id="39" name="群組 38">
              <a:extLst>
                <a:ext uri="{FF2B5EF4-FFF2-40B4-BE49-F238E27FC236}">
                  <a16:creationId xmlns:a16="http://schemas.microsoft.com/office/drawing/2014/main" id="{410B399B-2D99-453D-906E-BF47F8D0FB0A}"/>
                </a:ext>
              </a:extLst>
            </p:cNvPr>
            <p:cNvGrpSpPr/>
            <p:nvPr/>
          </p:nvGrpSpPr>
          <p:grpSpPr>
            <a:xfrm>
              <a:off x="6547193" y="4074022"/>
              <a:ext cx="862996" cy="215444"/>
              <a:chOff x="5374750" y="4177884"/>
              <a:chExt cx="862996" cy="215444"/>
            </a:xfrm>
          </p:grpSpPr>
          <p:sp>
            <p:nvSpPr>
              <p:cNvPr id="49" name="矩形 48">
                <a:extLst>
                  <a:ext uri="{FF2B5EF4-FFF2-40B4-BE49-F238E27FC236}">
                    <a16:creationId xmlns:a16="http://schemas.microsoft.com/office/drawing/2014/main" id="{32B47C34-8E85-4CAC-8358-85A1530C1F8D}"/>
                  </a:ext>
                </a:extLst>
              </p:cNvPr>
              <p:cNvSpPr/>
              <p:nvPr/>
            </p:nvSpPr>
            <p:spPr>
              <a:xfrm>
                <a:off x="5374750" y="4232118"/>
                <a:ext cx="282388" cy="117038"/>
              </a:xfrm>
              <a:prstGeom prst="rect">
                <a:avLst/>
              </a:prstGeom>
              <a:solidFill>
                <a:srgbClr val="FFD551"/>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a:extLst>
                  <a:ext uri="{FF2B5EF4-FFF2-40B4-BE49-F238E27FC236}">
                    <a16:creationId xmlns:a16="http://schemas.microsoft.com/office/drawing/2014/main" id="{AF8A9183-51C7-4E1F-8380-81FFD87CDAC9}"/>
                  </a:ext>
                </a:extLst>
              </p:cNvPr>
              <p:cNvSpPr txBox="1"/>
              <p:nvPr/>
            </p:nvSpPr>
            <p:spPr>
              <a:xfrm>
                <a:off x="5657138" y="4177884"/>
                <a:ext cx="580608"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AZ4620</a:t>
                </a:r>
                <a:endParaRPr lang="zh-TW" altLang="en-US" sz="800" dirty="0">
                  <a:latin typeface="Montserrat" panose="02020500000000000000" charset="0"/>
                  <a:cs typeface="Times New Roman" panose="02020603050405020304" pitchFamily="18" charset="0"/>
                </a:endParaRPr>
              </a:p>
            </p:txBody>
          </p:sp>
        </p:grpSp>
        <p:grpSp>
          <p:nvGrpSpPr>
            <p:cNvPr id="40" name="群組 39">
              <a:extLst>
                <a:ext uri="{FF2B5EF4-FFF2-40B4-BE49-F238E27FC236}">
                  <a16:creationId xmlns:a16="http://schemas.microsoft.com/office/drawing/2014/main" id="{EFFCC8EE-BB42-4E70-9CB2-2080BC4BF664}"/>
                </a:ext>
              </a:extLst>
            </p:cNvPr>
            <p:cNvGrpSpPr/>
            <p:nvPr/>
          </p:nvGrpSpPr>
          <p:grpSpPr>
            <a:xfrm>
              <a:off x="7657311" y="4074022"/>
              <a:ext cx="1423072" cy="215444"/>
              <a:chOff x="6665148" y="4177884"/>
              <a:chExt cx="1423072" cy="215444"/>
            </a:xfrm>
          </p:grpSpPr>
          <p:sp>
            <p:nvSpPr>
              <p:cNvPr id="47" name="矩形 46">
                <a:extLst>
                  <a:ext uri="{FF2B5EF4-FFF2-40B4-BE49-F238E27FC236}">
                    <a16:creationId xmlns:a16="http://schemas.microsoft.com/office/drawing/2014/main" id="{A31004F5-F90E-474B-A133-0C4704234F9C}"/>
                  </a:ext>
                </a:extLst>
              </p:cNvPr>
              <p:cNvSpPr/>
              <p:nvPr/>
            </p:nvSpPr>
            <p:spPr>
              <a:xfrm>
                <a:off x="6665148" y="4227087"/>
                <a:ext cx="282388" cy="117038"/>
              </a:xfrm>
              <a:prstGeom prst="rect">
                <a:avLst/>
              </a:prstGeom>
              <a:solidFill>
                <a:srgbClr val="E09224"/>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文字方塊 47">
                <a:extLst>
                  <a:ext uri="{FF2B5EF4-FFF2-40B4-BE49-F238E27FC236}">
                    <a16:creationId xmlns:a16="http://schemas.microsoft.com/office/drawing/2014/main" id="{895B642B-B28B-4DBF-8E29-B453BA0963DE}"/>
                  </a:ext>
                </a:extLst>
              </p:cNvPr>
              <p:cNvSpPr txBox="1"/>
              <p:nvPr/>
            </p:nvSpPr>
            <p:spPr>
              <a:xfrm>
                <a:off x="6944958" y="4177884"/>
                <a:ext cx="1143262"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Hard bake AZ4620</a:t>
                </a:r>
                <a:endParaRPr lang="zh-TW" altLang="en-US" sz="800" dirty="0">
                  <a:latin typeface="Montserrat" panose="02020500000000000000" charset="0"/>
                  <a:cs typeface="Times New Roman" panose="02020603050405020304" pitchFamily="18" charset="0"/>
                </a:endParaRPr>
              </a:p>
            </p:txBody>
          </p:sp>
        </p:grpSp>
        <p:grpSp>
          <p:nvGrpSpPr>
            <p:cNvPr id="44" name="群組 43">
              <a:extLst>
                <a:ext uri="{FF2B5EF4-FFF2-40B4-BE49-F238E27FC236}">
                  <a16:creationId xmlns:a16="http://schemas.microsoft.com/office/drawing/2014/main" id="{01D2105D-0240-4BFA-B00B-32CE2A434546}"/>
                </a:ext>
              </a:extLst>
            </p:cNvPr>
            <p:cNvGrpSpPr/>
            <p:nvPr/>
          </p:nvGrpSpPr>
          <p:grpSpPr>
            <a:xfrm>
              <a:off x="5620846" y="4074022"/>
              <a:ext cx="617347" cy="215444"/>
              <a:chOff x="3943158" y="4177884"/>
              <a:chExt cx="617347" cy="215444"/>
            </a:xfrm>
          </p:grpSpPr>
          <p:sp>
            <p:nvSpPr>
              <p:cNvPr id="45" name="矩形 44">
                <a:extLst>
                  <a:ext uri="{FF2B5EF4-FFF2-40B4-BE49-F238E27FC236}">
                    <a16:creationId xmlns:a16="http://schemas.microsoft.com/office/drawing/2014/main" id="{FC2C815D-447B-40EC-A8FA-A4BF5EC787CA}"/>
                  </a:ext>
                </a:extLst>
              </p:cNvPr>
              <p:cNvSpPr/>
              <p:nvPr/>
            </p:nvSpPr>
            <p:spPr>
              <a:xfrm>
                <a:off x="3943158" y="4232118"/>
                <a:ext cx="282388" cy="117038"/>
              </a:xfrm>
              <a:prstGeom prst="rect">
                <a:avLst/>
              </a:prstGeom>
              <a:solidFill>
                <a:srgbClr val="C8DDFB"/>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577F2525-677E-446C-88BE-2616D38BFBC3}"/>
                  </a:ext>
                </a:extLst>
              </p:cNvPr>
              <p:cNvSpPr txBox="1"/>
              <p:nvPr/>
            </p:nvSpPr>
            <p:spPr>
              <a:xfrm>
                <a:off x="4231569" y="4177884"/>
                <a:ext cx="328936"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LN</a:t>
                </a:r>
                <a:endParaRPr lang="zh-TW" altLang="en-US" sz="800" dirty="0">
                  <a:latin typeface="Montserrat" panose="02020500000000000000" charset="0"/>
                  <a:cs typeface="Times New Roman" panose="02020603050405020304" pitchFamily="18" charset="0"/>
                </a:endParaRPr>
              </a:p>
            </p:txBody>
          </p:sp>
        </p:grpSp>
      </p:grpSp>
      <p:sp>
        <p:nvSpPr>
          <p:cNvPr id="51" name="文字方塊 50">
            <a:extLst>
              <a:ext uri="{FF2B5EF4-FFF2-40B4-BE49-F238E27FC236}">
                <a16:creationId xmlns:a16="http://schemas.microsoft.com/office/drawing/2014/main" id="{7B136DE3-5146-4713-85A5-29F75D1EF667}"/>
              </a:ext>
            </a:extLst>
          </p:cNvPr>
          <p:cNvSpPr txBox="1"/>
          <p:nvPr/>
        </p:nvSpPr>
        <p:spPr>
          <a:xfrm>
            <a:off x="8585770" y="4631694"/>
            <a:ext cx="364202" cy="261610"/>
          </a:xfrm>
          <a:prstGeom prst="rect">
            <a:avLst/>
          </a:prstGeom>
          <a:noFill/>
        </p:spPr>
        <p:txBody>
          <a:bodyPr wrap="none" rtlCol="0">
            <a:spAutoFit/>
          </a:bodyPr>
          <a:lstStyle/>
          <a:p>
            <a:r>
              <a:rPr lang="en-US" altLang="zh-TW" sz="1100" dirty="0">
                <a:latin typeface="Montserrat" panose="02020500000000000000" charset="0"/>
              </a:rPr>
              <a:t>46</a:t>
            </a:r>
            <a:endParaRPr lang="zh-TW" altLang="en-US" sz="1100" dirty="0">
              <a:latin typeface="Montserrat" panose="02020500000000000000" charset="0"/>
            </a:endParaRPr>
          </a:p>
        </p:txBody>
      </p:sp>
    </p:spTree>
    <p:extLst>
      <p:ext uri="{BB962C8B-B14F-4D97-AF65-F5344CB8AC3E}">
        <p14:creationId xmlns:p14="http://schemas.microsoft.com/office/powerpoint/2010/main" val="2826442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Fabrication of poling</a:t>
            </a:r>
          </a:p>
        </p:txBody>
      </p:sp>
      <p:grpSp>
        <p:nvGrpSpPr>
          <p:cNvPr id="3" name="群組 2">
            <a:extLst>
              <a:ext uri="{FF2B5EF4-FFF2-40B4-BE49-F238E27FC236}">
                <a16:creationId xmlns:a16="http://schemas.microsoft.com/office/drawing/2014/main" id="{95CB929D-AE0B-4117-BE45-822831F36A7C}"/>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6136AE7B-E1CE-4ADC-8F11-FA159900CC42}"/>
                </a:ext>
              </a:extLst>
            </p:cNvPr>
            <p:cNvSpPr/>
            <p:nvPr/>
          </p:nvSpPr>
          <p:spPr>
            <a:xfrm>
              <a:off x="3976185"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Device fabrication</a:t>
              </a:r>
            </a:p>
          </p:txBody>
        </p:sp>
        <p:sp>
          <p:nvSpPr>
            <p:cNvPr id="5" name="矩形 4">
              <a:extLst>
                <a:ext uri="{FF2B5EF4-FFF2-40B4-BE49-F238E27FC236}">
                  <a16:creationId xmlns:a16="http://schemas.microsoft.com/office/drawing/2014/main" id="{38574690-7010-4515-8B00-DD605B75C553}"/>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4D279791-0CF8-4021-A8E3-2C5D0FCAB0CC}"/>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682E116C-A55D-4869-84A8-755ED4161FF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68FB7601-63D3-4F3E-98C8-015B8410B56A}"/>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B65E40B2-BBB2-4732-B6B8-A0FD40117160}"/>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2" name="圖片 11">
            <a:extLst>
              <a:ext uri="{FF2B5EF4-FFF2-40B4-BE49-F238E27FC236}">
                <a16:creationId xmlns:a16="http://schemas.microsoft.com/office/drawing/2014/main" id="{FF104018-015E-4085-9F26-B91EA7945E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7034" y="2094550"/>
            <a:ext cx="2199761" cy="1649821"/>
          </a:xfrm>
          <a:prstGeom prst="rect">
            <a:avLst/>
          </a:prstGeom>
        </p:spPr>
      </p:pic>
      <p:pic>
        <p:nvPicPr>
          <p:cNvPr id="13" name="圖片 12">
            <a:extLst>
              <a:ext uri="{FF2B5EF4-FFF2-40B4-BE49-F238E27FC236}">
                <a16:creationId xmlns:a16="http://schemas.microsoft.com/office/drawing/2014/main" id="{0C44D3CC-6EA4-4275-958B-8CE5547FD6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4202" y="2094550"/>
            <a:ext cx="2199762" cy="1649078"/>
          </a:xfrm>
          <a:prstGeom prst="rect">
            <a:avLst/>
          </a:prstGeom>
        </p:spPr>
      </p:pic>
      <p:pic>
        <p:nvPicPr>
          <p:cNvPr id="14" name="圖片 13">
            <a:extLst>
              <a:ext uri="{FF2B5EF4-FFF2-40B4-BE49-F238E27FC236}">
                <a16:creationId xmlns:a16="http://schemas.microsoft.com/office/drawing/2014/main" id="{52121ACB-20D0-4003-9AD0-2150BD1F13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866" y="2094550"/>
            <a:ext cx="2199761" cy="1649821"/>
          </a:xfrm>
          <a:prstGeom prst="rect">
            <a:avLst/>
          </a:prstGeom>
        </p:spPr>
      </p:pic>
      <p:sp>
        <p:nvSpPr>
          <p:cNvPr id="15" name="矩形 14">
            <a:extLst>
              <a:ext uri="{FF2B5EF4-FFF2-40B4-BE49-F238E27FC236}">
                <a16:creationId xmlns:a16="http://schemas.microsoft.com/office/drawing/2014/main" id="{FB06712B-C15D-41CB-A94D-A76FB86A59C5}"/>
              </a:ext>
            </a:extLst>
          </p:cNvPr>
          <p:cNvSpPr/>
          <p:nvPr/>
        </p:nvSpPr>
        <p:spPr>
          <a:xfrm>
            <a:off x="615386" y="1771979"/>
            <a:ext cx="2348720" cy="261610"/>
          </a:xfrm>
          <a:prstGeom prst="rect">
            <a:avLst/>
          </a:prstGeom>
        </p:spPr>
        <p:txBody>
          <a:bodyPr wrap="none">
            <a:spAutoFit/>
          </a:bodyPr>
          <a:lstStyle/>
          <a:p>
            <a:pPr lvl="0"/>
            <a:r>
              <a:rPr lang="en-US" altLang="zh-TW" sz="1100" dirty="0">
                <a:solidFill>
                  <a:schemeClr val="tx1"/>
                </a:solidFill>
                <a:latin typeface="Montserrat"/>
                <a:sym typeface="Montserrat"/>
              </a:rPr>
              <a:t>Lithography of poling patterns</a:t>
            </a:r>
          </a:p>
        </p:txBody>
      </p:sp>
      <p:sp>
        <p:nvSpPr>
          <p:cNvPr id="16" name="矩形 15">
            <a:extLst>
              <a:ext uri="{FF2B5EF4-FFF2-40B4-BE49-F238E27FC236}">
                <a16:creationId xmlns:a16="http://schemas.microsoft.com/office/drawing/2014/main" id="{7C1FD3E7-813B-4315-B91D-9517CE594A1C}"/>
              </a:ext>
            </a:extLst>
          </p:cNvPr>
          <p:cNvSpPr/>
          <p:nvPr/>
        </p:nvSpPr>
        <p:spPr>
          <a:xfrm>
            <a:off x="3870526" y="1771979"/>
            <a:ext cx="1402948" cy="261610"/>
          </a:xfrm>
          <a:prstGeom prst="rect">
            <a:avLst/>
          </a:prstGeom>
        </p:spPr>
        <p:txBody>
          <a:bodyPr wrap="none">
            <a:spAutoFit/>
          </a:bodyPr>
          <a:lstStyle/>
          <a:p>
            <a:pPr lvl="0"/>
            <a:r>
              <a:rPr lang="en-US" altLang="zh-TW" sz="1100" dirty="0">
                <a:solidFill>
                  <a:schemeClr val="tx1"/>
                </a:solidFill>
                <a:latin typeface="Montserrat"/>
                <a:sym typeface="Montserrat"/>
              </a:rPr>
              <a:t>Etching of poling</a:t>
            </a:r>
          </a:p>
        </p:txBody>
      </p:sp>
      <p:sp>
        <p:nvSpPr>
          <p:cNvPr id="17" name="矩形 16">
            <a:extLst>
              <a:ext uri="{FF2B5EF4-FFF2-40B4-BE49-F238E27FC236}">
                <a16:creationId xmlns:a16="http://schemas.microsoft.com/office/drawing/2014/main" id="{00E680B4-47EE-47DC-83C2-DF7CE7E72AAD}"/>
              </a:ext>
            </a:extLst>
          </p:cNvPr>
          <p:cNvSpPr/>
          <p:nvPr/>
        </p:nvSpPr>
        <p:spPr>
          <a:xfrm>
            <a:off x="6656923" y="1771979"/>
            <a:ext cx="1540806" cy="261610"/>
          </a:xfrm>
          <a:prstGeom prst="rect">
            <a:avLst/>
          </a:prstGeom>
        </p:spPr>
        <p:txBody>
          <a:bodyPr wrap="none">
            <a:spAutoFit/>
          </a:bodyPr>
          <a:lstStyle/>
          <a:p>
            <a:pPr lvl="0"/>
            <a:r>
              <a:rPr lang="en-US" altLang="zh-TW" sz="1100" dirty="0">
                <a:solidFill>
                  <a:schemeClr val="tx1"/>
                </a:solidFill>
                <a:latin typeface="Montserrat"/>
                <a:sym typeface="Montserrat"/>
              </a:rPr>
              <a:t>End face polishing</a:t>
            </a:r>
          </a:p>
        </p:txBody>
      </p:sp>
      <p:sp>
        <p:nvSpPr>
          <p:cNvPr id="18" name="文字方塊 17">
            <a:extLst>
              <a:ext uri="{FF2B5EF4-FFF2-40B4-BE49-F238E27FC236}">
                <a16:creationId xmlns:a16="http://schemas.microsoft.com/office/drawing/2014/main" id="{47B3CBD0-A43B-4FE5-8EA8-75276E00F681}"/>
              </a:ext>
            </a:extLst>
          </p:cNvPr>
          <p:cNvSpPr txBox="1"/>
          <p:nvPr/>
        </p:nvSpPr>
        <p:spPr>
          <a:xfrm>
            <a:off x="7035870" y="2688257"/>
            <a:ext cx="449162"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chip</a:t>
            </a:r>
            <a:endParaRPr lang="zh-TW" altLang="en-US" sz="900" dirty="0">
              <a:latin typeface="Montserrat" panose="02020500000000000000" charset="0"/>
              <a:cs typeface="Times New Roman" panose="02020603050405020304" pitchFamily="18" charset="0"/>
            </a:endParaRPr>
          </a:p>
        </p:txBody>
      </p:sp>
      <p:sp>
        <p:nvSpPr>
          <p:cNvPr id="19" name="文字方塊 18">
            <a:extLst>
              <a:ext uri="{FF2B5EF4-FFF2-40B4-BE49-F238E27FC236}">
                <a16:creationId xmlns:a16="http://schemas.microsoft.com/office/drawing/2014/main" id="{83A8D3D4-50DF-4219-949C-128837192F0B}"/>
              </a:ext>
            </a:extLst>
          </p:cNvPr>
          <p:cNvSpPr txBox="1"/>
          <p:nvPr/>
        </p:nvSpPr>
        <p:spPr>
          <a:xfrm>
            <a:off x="8585770" y="4631694"/>
            <a:ext cx="360996" cy="261610"/>
          </a:xfrm>
          <a:prstGeom prst="rect">
            <a:avLst/>
          </a:prstGeom>
          <a:noFill/>
        </p:spPr>
        <p:txBody>
          <a:bodyPr wrap="none" rtlCol="0">
            <a:spAutoFit/>
          </a:bodyPr>
          <a:lstStyle/>
          <a:p>
            <a:r>
              <a:rPr lang="en-US" altLang="zh-TW" sz="1100" dirty="0">
                <a:latin typeface="Montserrat" panose="02020500000000000000" charset="0"/>
              </a:rPr>
              <a:t>47</a:t>
            </a:r>
            <a:endParaRPr lang="zh-TW" altLang="en-US" sz="1100" dirty="0">
              <a:latin typeface="Montserrat" panose="02020500000000000000" charset="0"/>
            </a:endParaRPr>
          </a:p>
        </p:txBody>
      </p:sp>
    </p:spTree>
    <p:extLst>
      <p:ext uri="{BB962C8B-B14F-4D97-AF65-F5344CB8AC3E}">
        <p14:creationId xmlns:p14="http://schemas.microsoft.com/office/powerpoint/2010/main" val="5904465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Fabrication of electrode</a:t>
            </a:r>
          </a:p>
        </p:txBody>
      </p:sp>
      <p:grpSp>
        <p:nvGrpSpPr>
          <p:cNvPr id="3" name="群組 2">
            <a:extLst>
              <a:ext uri="{FF2B5EF4-FFF2-40B4-BE49-F238E27FC236}">
                <a16:creationId xmlns:a16="http://schemas.microsoft.com/office/drawing/2014/main" id="{84FF3420-41DD-47CF-A7D7-F2B6E8557F9C}"/>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5EC5C49A-73B5-46A0-BB4F-D653B894AFB2}"/>
                </a:ext>
              </a:extLst>
            </p:cNvPr>
            <p:cNvSpPr/>
            <p:nvPr/>
          </p:nvSpPr>
          <p:spPr>
            <a:xfrm>
              <a:off x="3976185"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Device fabrication</a:t>
              </a:r>
            </a:p>
          </p:txBody>
        </p:sp>
        <p:sp>
          <p:nvSpPr>
            <p:cNvPr id="5" name="矩形 4">
              <a:extLst>
                <a:ext uri="{FF2B5EF4-FFF2-40B4-BE49-F238E27FC236}">
                  <a16:creationId xmlns:a16="http://schemas.microsoft.com/office/drawing/2014/main" id="{86A81179-AA18-418E-8F5E-2527C82F4CC8}"/>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FFABDCE6-7C52-4F26-BA1C-9D4C5568F90E}"/>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669C6C72-84CD-4087-A30C-537BF97E4C17}"/>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5A1F2DAA-7189-41E1-9DA4-6BFCAD691522}"/>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44F7DD66-E9F8-455F-8035-C9DE830529C7}"/>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39" name="群組 38">
            <a:extLst>
              <a:ext uri="{FF2B5EF4-FFF2-40B4-BE49-F238E27FC236}">
                <a16:creationId xmlns:a16="http://schemas.microsoft.com/office/drawing/2014/main" id="{183819AF-5742-494D-9725-8D609173C4E4}"/>
              </a:ext>
            </a:extLst>
          </p:cNvPr>
          <p:cNvGrpSpPr/>
          <p:nvPr/>
        </p:nvGrpSpPr>
        <p:grpSpPr>
          <a:xfrm>
            <a:off x="1487257" y="933440"/>
            <a:ext cx="6142188" cy="3908322"/>
            <a:chOff x="1487257" y="933440"/>
            <a:chExt cx="6142188" cy="3908322"/>
          </a:xfrm>
        </p:grpSpPr>
        <p:pic>
          <p:nvPicPr>
            <p:cNvPr id="12" name="圖片 11">
              <a:extLst>
                <a:ext uri="{FF2B5EF4-FFF2-40B4-BE49-F238E27FC236}">
                  <a16:creationId xmlns:a16="http://schemas.microsoft.com/office/drawing/2014/main" id="{95E6D60C-02B9-40CF-B0FA-F65F8FB2555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514555" y="1353869"/>
              <a:ext cx="1657322" cy="863524"/>
            </a:xfrm>
            <a:prstGeom prst="rect">
              <a:avLst/>
            </a:prstGeom>
          </p:spPr>
        </p:pic>
        <p:pic>
          <p:nvPicPr>
            <p:cNvPr id="2" name="圖片 1">
              <a:extLst>
                <a:ext uri="{FF2B5EF4-FFF2-40B4-BE49-F238E27FC236}">
                  <a16:creationId xmlns:a16="http://schemas.microsoft.com/office/drawing/2014/main" id="{AA629C41-AAAE-482E-BA7C-A42AE481B42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729690" y="933440"/>
              <a:ext cx="1657322" cy="1299551"/>
            </a:xfrm>
            <a:prstGeom prst="rect">
              <a:avLst/>
            </a:prstGeom>
          </p:spPr>
        </p:pic>
        <p:pic>
          <p:nvPicPr>
            <p:cNvPr id="17" name="圖片 16">
              <a:extLst>
                <a:ext uri="{FF2B5EF4-FFF2-40B4-BE49-F238E27FC236}">
                  <a16:creationId xmlns:a16="http://schemas.microsoft.com/office/drawing/2014/main" id="{1E03DE51-6C76-4639-AD47-676A565D56DA}"/>
                </a:ext>
              </a:extLst>
            </p:cNvPr>
            <p:cNvPicPr>
              <a:picLocks noChangeAspect="1"/>
            </p:cNvPicPr>
            <p:nvPr/>
          </p:nvPicPr>
          <p:blipFill>
            <a:blip r:embed="rId5"/>
            <a:stretch>
              <a:fillRect/>
            </a:stretch>
          </p:blipFill>
          <p:spPr>
            <a:xfrm>
              <a:off x="5972123" y="1352250"/>
              <a:ext cx="1657322" cy="865143"/>
            </a:xfrm>
            <a:prstGeom prst="rect">
              <a:avLst/>
            </a:prstGeom>
          </p:spPr>
        </p:pic>
        <p:pic>
          <p:nvPicPr>
            <p:cNvPr id="19" name="圖片 18">
              <a:extLst>
                <a:ext uri="{FF2B5EF4-FFF2-40B4-BE49-F238E27FC236}">
                  <a16:creationId xmlns:a16="http://schemas.microsoft.com/office/drawing/2014/main" id="{52515BF7-83FC-4ACD-B4F5-5578B4224CE3}"/>
                </a:ext>
              </a:extLst>
            </p:cNvPr>
            <p:cNvPicPr>
              <a:picLocks noChangeAspect="1"/>
            </p:cNvPicPr>
            <p:nvPr/>
          </p:nvPicPr>
          <p:blipFill>
            <a:blip r:embed="rId6"/>
            <a:stretch>
              <a:fillRect/>
            </a:stretch>
          </p:blipFill>
          <p:spPr>
            <a:xfrm>
              <a:off x="5972123" y="2593350"/>
              <a:ext cx="1657322" cy="837347"/>
            </a:xfrm>
            <a:prstGeom prst="rect">
              <a:avLst/>
            </a:prstGeom>
          </p:spPr>
        </p:pic>
        <p:pic>
          <p:nvPicPr>
            <p:cNvPr id="21" name="圖片 20">
              <a:extLst>
                <a:ext uri="{FF2B5EF4-FFF2-40B4-BE49-F238E27FC236}">
                  <a16:creationId xmlns:a16="http://schemas.microsoft.com/office/drawing/2014/main" id="{E919CB1A-27AE-4D3A-B244-639C904660EE}"/>
                </a:ext>
              </a:extLst>
            </p:cNvPr>
            <p:cNvPicPr>
              <a:picLocks noChangeAspect="1"/>
            </p:cNvPicPr>
            <p:nvPr/>
          </p:nvPicPr>
          <p:blipFill>
            <a:blip r:embed="rId7"/>
            <a:stretch>
              <a:fillRect/>
            </a:stretch>
          </p:blipFill>
          <p:spPr>
            <a:xfrm>
              <a:off x="3729690" y="2614197"/>
              <a:ext cx="1657322" cy="816500"/>
            </a:xfrm>
            <a:prstGeom prst="rect">
              <a:avLst/>
            </a:prstGeom>
          </p:spPr>
        </p:pic>
        <p:pic>
          <p:nvPicPr>
            <p:cNvPr id="23" name="圖片 22">
              <a:extLst>
                <a:ext uri="{FF2B5EF4-FFF2-40B4-BE49-F238E27FC236}">
                  <a16:creationId xmlns:a16="http://schemas.microsoft.com/office/drawing/2014/main" id="{8AAA10DD-B5E5-425D-92BF-E57455E27CD1}"/>
                </a:ext>
              </a:extLst>
            </p:cNvPr>
            <p:cNvPicPr>
              <a:picLocks noChangeAspect="1"/>
            </p:cNvPicPr>
            <p:nvPr/>
          </p:nvPicPr>
          <p:blipFill>
            <a:blip r:embed="rId8"/>
            <a:stretch>
              <a:fillRect/>
            </a:stretch>
          </p:blipFill>
          <p:spPr>
            <a:xfrm>
              <a:off x="1487257" y="2622406"/>
              <a:ext cx="1657322" cy="813026"/>
            </a:xfrm>
            <a:prstGeom prst="rect">
              <a:avLst/>
            </a:prstGeom>
          </p:spPr>
        </p:pic>
        <p:pic>
          <p:nvPicPr>
            <p:cNvPr id="25" name="圖片 24">
              <a:extLst>
                <a:ext uri="{FF2B5EF4-FFF2-40B4-BE49-F238E27FC236}">
                  <a16:creationId xmlns:a16="http://schemas.microsoft.com/office/drawing/2014/main" id="{7B94E7F0-DA2F-479E-AEEE-A441D679030B}"/>
                </a:ext>
              </a:extLst>
            </p:cNvPr>
            <p:cNvPicPr>
              <a:picLocks noChangeAspect="1"/>
            </p:cNvPicPr>
            <p:nvPr/>
          </p:nvPicPr>
          <p:blipFill>
            <a:blip r:embed="rId9"/>
            <a:stretch>
              <a:fillRect/>
            </a:stretch>
          </p:blipFill>
          <p:spPr>
            <a:xfrm>
              <a:off x="1487257" y="3879768"/>
              <a:ext cx="1699013" cy="813025"/>
            </a:xfrm>
            <a:prstGeom prst="rect">
              <a:avLst/>
            </a:prstGeom>
          </p:spPr>
        </p:pic>
        <p:sp>
          <p:nvSpPr>
            <p:cNvPr id="26" name="箭號: 向右 25">
              <a:extLst>
                <a:ext uri="{FF2B5EF4-FFF2-40B4-BE49-F238E27FC236}">
                  <a16:creationId xmlns:a16="http://schemas.microsoft.com/office/drawing/2014/main" id="{C85FCA4C-A20B-4249-8C48-77B45920F706}"/>
                </a:ext>
              </a:extLst>
            </p:cNvPr>
            <p:cNvSpPr/>
            <p:nvPr/>
          </p:nvSpPr>
          <p:spPr>
            <a:xfrm>
              <a:off x="3245043" y="1750531"/>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箭號: 向右 26">
              <a:extLst>
                <a:ext uri="{FF2B5EF4-FFF2-40B4-BE49-F238E27FC236}">
                  <a16:creationId xmlns:a16="http://schemas.microsoft.com/office/drawing/2014/main" id="{51B3F264-7BC2-4F55-AD71-3D13DD83586B}"/>
                </a:ext>
              </a:extLst>
            </p:cNvPr>
            <p:cNvSpPr/>
            <p:nvPr/>
          </p:nvSpPr>
          <p:spPr>
            <a:xfrm>
              <a:off x="5473827" y="1750531"/>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箭號: 向右 27">
              <a:extLst>
                <a:ext uri="{FF2B5EF4-FFF2-40B4-BE49-F238E27FC236}">
                  <a16:creationId xmlns:a16="http://schemas.microsoft.com/office/drawing/2014/main" id="{19FC62FF-B9EB-431E-9376-FE21B466804D}"/>
                </a:ext>
              </a:extLst>
            </p:cNvPr>
            <p:cNvSpPr/>
            <p:nvPr/>
          </p:nvSpPr>
          <p:spPr>
            <a:xfrm rot="10800000">
              <a:off x="3231394" y="2994629"/>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箭號: 向右 28">
              <a:extLst>
                <a:ext uri="{FF2B5EF4-FFF2-40B4-BE49-F238E27FC236}">
                  <a16:creationId xmlns:a16="http://schemas.microsoft.com/office/drawing/2014/main" id="{AB8241DE-310D-4797-8109-4AE928C7CA68}"/>
                </a:ext>
              </a:extLst>
            </p:cNvPr>
            <p:cNvSpPr/>
            <p:nvPr/>
          </p:nvSpPr>
          <p:spPr>
            <a:xfrm rot="10800000">
              <a:off x="5473827" y="2977733"/>
              <a:ext cx="41148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箭號: 向右 29">
              <a:extLst>
                <a:ext uri="{FF2B5EF4-FFF2-40B4-BE49-F238E27FC236}">
                  <a16:creationId xmlns:a16="http://schemas.microsoft.com/office/drawing/2014/main" id="{1094710D-3DFD-413D-BFCD-399305A1BF08}"/>
                </a:ext>
              </a:extLst>
            </p:cNvPr>
            <p:cNvSpPr/>
            <p:nvPr/>
          </p:nvSpPr>
          <p:spPr>
            <a:xfrm rot="5400000">
              <a:off x="6710784" y="2469060"/>
              <a:ext cx="18000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箭號: 向右 30">
              <a:extLst>
                <a:ext uri="{FF2B5EF4-FFF2-40B4-BE49-F238E27FC236}">
                  <a16:creationId xmlns:a16="http://schemas.microsoft.com/office/drawing/2014/main" id="{55B68C4D-E091-4443-987C-555C48CC65BA}"/>
                </a:ext>
              </a:extLst>
            </p:cNvPr>
            <p:cNvSpPr/>
            <p:nvPr/>
          </p:nvSpPr>
          <p:spPr>
            <a:xfrm rot="5400000">
              <a:off x="2246763" y="3716155"/>
              <a:ext cx="180000" cy="6858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文字方塊 31">
              <a:extLst>
                <a:ext uri="{FF2B5EF4-FFF2-40B4-BE49-F238E27FC236}">
                  <a16:creationId xmlns:a16="http://schemas.microsoft.com/office/drawing/2014/main" id="{35D3A180-ECCA-4F02-8D38-F63B90FE6B61}"/>
                </a:ext>
              </a:extLst>
            </p:cNvPr>
            <p:cNvSpPr txBox="1"/>
            <p:nvPr/>
          </p:nvSpPr>
          <p:spPr>
            <a:xfrm>
              <a:off x="1775545" y="2163652"/>
              <a:ext cx="1080745"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Coating AZ5214</a:t>
              </a:r>
              <a:endParaRPr lang="zh-TW" altLang="en-US" sz="900" dirty="0">
                <a:latin typeface="Montserrat" panose="02020500000000000000" charset="0"/>
                <a:cs typeface="Times New Roman" panose="02020603050405020304" pitchFamily="18" charset="0"/>
              </a:endParaRPr>
            </a:p>
          </p:txBody>
        </p:sp>
        <p:sp>
          <p:nvSpPr>
            <p:cNvPr id="33" name="文字方塊 32">
              <a:extLst>
                <a:ext uri="{FF2B5EF4-FFF2-40B4-BE49-F238E27FC236}">
                  <a16:creationId xmlns:a16="http://schemas.microsoft.com/office/drawing/2014/main" id="{89AFFF2E-27EF-496B-82B3-5854DDF9326E}"/>
                </a:ext>
              </a:extLst>
            </p:cNvPr>
            <p:cNvSpPr txBox="1"/>
            <p:nvPr/>
          </p:nvSpPr>
          <p:spPr>
            <a:xfrm>
              <a:off x="4236079" y="2163652"/>
              <a:ext cx="721672"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Exposure</a:t>
              </a:r>
              <a:endParaRPr lang="zh-TW" altLang="en-US" sz="900" dirty="0">
                <a:latin typeface="Montserrat" panose="02020500000000000000" charset="0"/>
                <a:cs typeface="Times New Roman" panose="02020603050405020304" pitchFamily="18" charset="0"/>
              </a:endParaRPr>
            </a:p>
          </p:txBody>
        </p:sp>
        <p:sp>
          <p:nvSpPr>
            <p:cNvPr id="34" name="文字方塊 33">
              <a:extLst>
                <a:ext uri="{FF2B5EF4-FFF2-40B4-BE49-F238E27FC236}">
                  <a16:creationId xmlns:a16="http://schemas.microsoft.com/office/drawing/2014/main" id="{C597F066-E524-49F2-97CD-A028AA2B022D}"/>
                </a:ext>
              </a:extLst>
            </p:cNvPr>
            <p:cNvSpPr txBox="1"/>
            <p:nvPr/>
          </p:nvSpPr>
          <p:spPr>
            <a:xfrm>
              <a:off x="6312509" y="2163652"/>
              <a:ext cx="976549"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Development</a:t>
              </a:r>
              <a:endParaRPr lang="zh-TW" altLang="en-US" sz="900" dirty="0">
                <a:latin typeface="Montserrat" panose="02020500000000000000" charset="0"/>
                <a:cs typeface="Times New Roman" panose="02020603050405020304" pitchFamily="18" charset="0"/>
              </a:endParaRPr>
            </a:p>
          </p:txBody>
        </p:sp>
        <p:sp>
          <p:nvSpPr>
            <p:cNvPr id="35" name="文字方塊 34">
              <a:extLst>
                <a:ext uri="{FF2B5EF4-FFF2-40B4-BE49-F238E27FC236}">
                  <a16:creationId xmlns:a16="http://schemas.microsoft.com/office/drawing/2014/main" id="{07CBCD3B-1397-4259-8357-60CDB586BF02}"/>
                </a:ext>
              </a:extLst>
            </p:cNvPr>
            <p:cNvSpPr txBox="1"/>
            <p:nvPr/>
          </p:nvSpPr>
          <p:spPr>
            <a:xfrm>
              <a:off x="2035231" y="4610930"/>
              <a:ext cx="561372"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Lift-off</a:t>
              </a:r>
              <a:endParaRPr lang="zh-TW" altLang="en-US" sz="900" dirty="0">
                <a:latin typeface="Montserrat" panose="02020500000000000000" charset="0"/>
                <a:cs typeface="Times New Roman" panose="02020603050405020304" pitchFamily="18" charset="0"/>
              </a:endParaRPr>
            </a:p>
          </p:txBody>
        </p:sp>
        <p:sp>
          <p:nvSpPr>
            <p:cNvPr id="36" name="文字方塊 35">
              <a:extLst>
                <a:ext uri="{FF2B5EF4-FFF2-40B4-BE49-F238E27FC236}">
                  <a16:creationId xmlns:a16="http://schemas.microsoft.com/office/drawing/2014/main" id="{7942DAD8-6F10-4888-B36D-0DCE634AB88D}"/>
                </a:ext>
              </a:extLst>
            </p:cNvPr>
            <p:cNvSpPr txBox="1"/>
            <p:nvPr/>
          </p:nvSpPr>
          <p:spPr>
            <a:xfrm>
              <a:off x="3877716" y="3429613"/>
              <a:ext cx="1361270"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Deposition of Ni film</a:t>
              </a:r>
              <a:endParaRPr lang="zh-TW" altLang="en-US" sz="900" dirty="0">
                <a:latin typeface="Montserrat" panose="02020500000000000000" charset="0"/>
                <a:cs typeface="Times New Roman" panose="02020603050405020304" pitchFamily="18" charset="0"/>
              </a:endParaRPr>
            </a:p>
          </p:txBody>
        </p:sp>
        <p:sp>
          <p:nvSpPr>
            <p:cNvPr id="37" name="文字方塊 36">
              <a:extLst>
                <a:ext uri="{FF2B5EF4-FFF2-40B4-BE49-F238E27FC236}">
                  <a16:creationId xmlns:a16="http://schemas.microsoft.com/office/drawing/2014/main" id="{58DC4D33-F9B4-49B9-9984-C707330AD014}"/>
                </a:ext>
              </a:extLst>
            </p:cNvPr>
            <p:cNvSpPr txBox="1"/>
            <p:nvPr/>
          </p:nvSpPr>
          <p:spPr>
            <a:xfrm>
              <a:off x="1638495" y="3424221"/>
              <a:ext cx="1396536"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Deposition of Au film</a:t>
              </a:r>
              <a:endParaRPr lang="zh-TW" altLang="en-US" sz="900" dirty="0">
                <a:latin typeface="Montserrat" panose="02020500000000000000" charset="0"/>
                <a:cs typeface="Times New Roman" panose="02020603050405020304" pitchFamily="18" charset="0"/>
              </a:endParaRPr>
            </a:p>
          </p:txBody>
        </p:sp>
        <p:sp>
          <p:nvSpPr>
            <p:cNvPr id="38" name="文字方塊 37">
              <a:extLst>
                <a:ext uri="{FF2B5EF4-FFF2-40B4-BE49-F238E27FC236}">
                  <a16:creationId xmlns:a16="http://schemas.microsoft.com/office/drawing/2014/main" id="{B7D33932-A534-454E-B29E-EAB819FD13F4}"/>
                </a:ext>
              </a:extLst>
            </p:cNvPr>
            <p:cNvSpPr txBox="1"/>
            <p:nvPr/>
          </p:nvSpPr>
          <p:spPr>
            <a:xfrm>
              <a:off x="6051219" y="3429613"/>
              <a:ext cx="1499128" cy="230832"/>
            </a:xfrm>
            <a:prstGeom prst="rect">
              <a:avLst/>
            </a:prstGeom>
            <a:noFill/>
          </p:spPr>
          <p:txBody>
            <a:bodyPr wrap="none" rtlCol="0">
              <a:spAutoFit/>
            </a:bodyPr>
            <a:lstStyle/>
            <a:p>
              <a:r>
                <a:rPr lang="en-US" altLang="zh-TW" sz="900" dirty="0">
                  <a:latin typeface="Montserrat" panose="02020500000000000000" charset="0"/>
                  <a:cs typeface="Times New Roman" panose="02020603050405020304" pitchFamily="18" charset="0"/>
                </a:rPr>
                <a:t>Deposition of SiO</a:t>
              </a:r>
              <a:r>
                <a:rPr lang="en-US" altLang="zh-TW" sz="900" baseline="-25000" dirty="0">
                  <a:latin typeface="Montserrat" panose="02020500000000000000" charset="0"/>
                  <a:cs typeface="Times New Roman" panose="02020603050405020304" pitchFamily="18" charset="0"/>
                </a:rPr>
                <a:t>2</a:t>
              </a:r>
              <a:r>
                <a:rPr lang="en-US" altLang="zh-TW" sz="900" dirty="0">
                  <a:latin typeface="Montserrat" panose="02020500000000000000" charset="0"/>
                  <a:cs typeface="Times New Roman" panose="02020603050405020304" pitchFamily="18" charset="0"/>
                </a:rPr>
                <a:t> film</a:t>
              </a:r>
              <a:endParaRPr lang="zh-TW" altLang="en-US" sz="900" dirty="0">
                <a:latin typeface="Montserrat" panose="02020500000000000000" charset="0"/>
                <a:cs typeface="Times New Roman" panose="02020603050405020304" pitchFamily="18" charset="0"/>
              </a:endParaRPr>
            </a:p>
          </p:txBody>
        </p:sp>
      </p:grpSp>
      <p:grpSp>
        <p:nvGrpSpPr>
          <p:cNvPr id="11" name="群組 10">
            <a:extLst>
              <a:ext uri="{FF2B5EF4-FFF2-40B4-BE49-F238E27FC236}">
                <a16:creationId xmlns:a16="http://schemas.microsoft.com/office/drawing/2014/main" id="{EE30935F-9AF2-44E0-9006-B1D2D3F5AE64}"/>
              </a:ext>
            </a:extLst>
          </p:cNvPr>
          <p:cNvGrpSpPr/>
          <p:nvPr/>
        </p:nvGrpSpPr>
        <p:grpSpPr>
          <a:xfrm>
            <a:off x="3822353" y="4152025"/>
            <a:ext cx="3129318" cy="540768"/>
            <a:chOff x="4012756" y="4177884"/>
            <a:chExt cx="3129318" cy="540768"/>
          </a:xfrm>
        </p:grpSpPr>
        <p:grpSp>
          <p:nvGrpSpPr>
            <p:cNvPr id="41" name="群組 40">
              <a:extLst>
                <a:ext uri="{FF2B5EF4-FFF2-40B4-BE49-F238E27FC236}">
                  <a16:creationId xmlns:a16="http://schemas.microsoft.com/office/drawing/2014/main" id="{24524348-604D-46D1-AE2B-49054DC32562}"/>
                </a:ext>
              </a:extLst>
            </p:cNvPr>
            <p:cNvGrpSpPr/>
            <p:nvPr/>
          </p:nvGrpSpPr>
          <p:grpSpPr>
            <a:xfrm>
              <a:off x="4012756" y="4177884"/>
              <a:ext cx="3129318" cy="215444"/>
              <a:chOff x="4012756" y="4177884"/>
              <a:chExt cx="3129318" cy="215444"/>
            </a:xfrm>
          </p:grpSpPr>
          <p:grpSp>
            <p:nvGrpSpPr>
              <p:cNvPr id="42" name="群組 41">
                <a:extLst>
                  <a:ext uri="{FF2B5EF4-FFF2-40B4-BE49-F238E27FC236}">
                    <a16:creationId xmlns:a16="http://schemas.microsoft.com/office/drawing/2014/main" id="{89F42B72-9704-4DD4-A7B5-0EF63CF15AAB}"/>
                  </a:ext>
                </a:extLst>
              </p:cNvPr>
              <p:cNvGrpSpPr/>
              <p:nvPr/>
            </p:nvGrpSpPr>
            <p:grpSpPr>
              <a:xfrm>
                <a:off x="4939103" y="4177884"/>
                <a:ext cx="827730" cy="215444"/>
                <a:chOff x="5374750" y="4177884"/>
                <a:chExt cx="827730" cy="215444"/>
              </a:xfrm>
            </p:grpSpPr>
            <p:sp>
              <p:nvSpPr>
                <p:cNvPr id="49" name="矩形 48">
                  <a:extLst>
                    <a:ext uri="{FF2B5EF4-FFF2-40B4-BE49-F238E27FC236}">
                      <a16:creationId xmlns:a16="http://schemas.microsoft.com/office/drawing/2014/main" id="{0E557476-07A8-479A-8DB6-AA49647FC4CB}"/>
                    </a:ext>
                  </a:extLst>
                </p:cNvPr>
                <p:cNvSpPr/>
                <p:nvPr/>
              </p:nvSpPr>
              <p:spPr>
                <a:xfrm>
                  <a:off x="5374750" y="4232118"/>
                  <a:ext cx="282388" cy="117038"/>
                </a:xfrm>
                <a:prstGeom prst="rect">
                  <a:avLst/>
                </a:prstGeom>
                <a:solidFill>
                  <a:srgbClr val="FFD551"/>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a:extLst>
                    <a:ext uri="{FF2B5EF4-FFF2-40B4-BE49-F238E27FC236}">
                      <a16:creationId xmlns:a16="http://schemas.microsoft.com/office/drawing/2014/main" id="{9A088F29-9AAB-4D0E-8F6C-10261A4F5967}"/>
                    </a:ext>
                  </a:extLst>
                </p:cNvPr>
                <p:cNvSpPr txBox="1"/>
                <p:nvPr/>
              </p:nvSpPr>
              <p:spPr>
                <a:xfrm>
                  <a:off x="5657138" y="4177884"/>
                  <a:ext cx="545342"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AZ5214</a:t>
                  </a:r>
                  <a:endParaRPr lang="zh-TW" altLang="en-US" sz="800" dirty="0">
                    <a:latin typeface="Montserrat" panose="02020500000000000000" charset="0"/>
                    <a:cs typeface="Times New Roman" panose="02020603050405020304" pitchFamily="18" charset="0"/>
                  </a:endParaRPr>
                </a:p>
              </p:txBody>
            </p:sp>
          </p:grpSp>
          <p:grpSp>
            <p:nvGrpSpPr>
              <p:cNvPr id="43" name="群組 42">
                <a:extLst>
                  <a:ext uri="{FF2B5EF4-FFF2-40B4-BE49-F238E27FC236}">
                    <a16:creationId xmlns:a16="http://schemas.microsoft.com/office/drawing/2014/main" id="{8D6F1CE1-15DA-43BE-84BF-34FF21E4F3E6}"/>
                  </a:ext>
                </a:extLst>
              </p:cNvPr>
              <p:cNvGrpSpPr/>
              <p:nvPr/>
            </p:nvGrpSpPr>
            <p:grpSpPr>
              <a:xfrm>
                <a:off x="6049221" y="4177884"/>
                <a:ext cx="1092853" cy="215444"/>
                <a:chOff x="6665148" y="4177884"/>
                <a:chExt cx="1092853" cy="215444"/>
              </a:xfrm>
            </p:grpSpPr>
            <p:sp>
              <p:nvSpPr>
                <p:cNvPr id="47" name="矩形 46">
                  <a:extLst>
                    <a:ext uri="{FF2B5EF4-FFF2-40B4-BE49-F238E27FC236}">
                      <a16:creationId xmlns:a16="http://schemas.microsoft.com/office/drawing/2014/main" id="{CFC368A5-19C2-4FEB-8D81-17F5A452D717}"/>
                    </a:ext>
                  </a:extLst>
                </p:cNvPr>
                <p:cNvSpPr/>
                <p:nvPr/>
              </p:nvSpPr>
              <p:spPr>
                <a:xfrm>
                  <a:off x="6665148" y="4227087"/>
                  <a:ext cx="282388" cy="117038"/>
                </a:xfrm>
                <a:prstGeom prst="rect">
                  <a:avLst/>
                </a:prstGeom>
                <a:solidFill>
                  <a:srgbClr val="FFEA9E"/>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文字方塊 47">
                  <a:extLst>
                    <a:ext uri="{FF2B5EF4-FFF2-40B4-BE49-F238E27FC236}">
                      <a16:creationId xmlns:a16="http://schemas.microsoft.com/office/drawing/2014/main" id="{CEFC00A2-93A7-4698-B2C1-16153B7BF260}"/>
                    </a:ext>
                  </a:extLst>
                </p:cNvPr>
                <p:cNvSpPr txBox="1"/>
                <p:nvPr/>
              </p:nvSpPr>
              <p:spPr>
                <a:xfrm>
                  <a:off x="6944958" y="4177884"/>
                  <a:ext cx="813043"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Sio</a:t>
                  </a:r>
                  <a:r>
                    <a:rPr lang="en-US" altLang="zh-TW" sz="800" baseline="-25000" dirty="0">
                      <a:latin typeface="Montserrat" panose="02020500000000000000" charset="0"/>
                      <a:cs typeface="Times New Roman" panose="02020603050405020304" pitchFamily="18" charset="0"/>
                    </a:rPr>
                    <a:t>2</a:t>
                  </a:r>
                  <a:r>
                    <a:rPr lang="en-US" altLang="zh-TW" sz="800" dirty="0">
                      <a:latin typeface="Montserrat" panose="02020500000000000000" charset="0"/>
                      <a:cs typeface="Times New Roman" panose="02020603050405020304" pitchFamily="18" charset="0"/>
                    </a:rPr>
                    <a:t>(100nm)</a:t>
                  </a:r>
                  <a:endParaRPr lang="zh-TW" altLang="en-US" sz="800" dirty="0">
                    <a:latin typeface="Montserrat" panose="02020500000000000000" charset="0"/>
                    <a:cs typeface="Times New Roman" panose="02020603050405020304" pitchFamily="18" charset="0"/>
                  </a:endParaRPr>
                </a:p>
              </p:txBody>
            </p:sp>
          </p:grpSp>
          <p:grpSp>
            <p:nvGrpSpPr>
              <p:cNvPr id="44" name="群組 43">
                <a:extLst>
                  <a:ext uri="{FF2B5EF4-FFF2-40B4-BE49-F238E27FC236}">
                    <a16:creationId xmlns:a16="http://schemas.microsoft.com/office/drawing/2014/main" id="{DEC2689F-6C16-423D-BCC9-0E033C44DE6D}"/>
                  </a:ext>
                </a:extLst>
              </p:cNvPr>
              <p:cNvGrpSpPr/>
              <p:nvPr/>
            </p:nvGrpSpPr>
            <p:grpSpPr>
              <a:xfrm>
                <a:off x="4012756" y="4177884"/>
                <a:ext cx="617347" cy="215444"/>
                <a:chOff x="3943158" y="4177884"/>
                <a:chExt cx="617347" cy="215444"/>
              </a:xfrm>
            </p:grpSpPr>
            <p:sp>
              <p:nvSpPr>
                <p:cNvPr id="45" name="矩形 44">
                  <a:extLst>
                    <a:ext uri="{FF2B5EF4-FFF2-40B4-BE49-F238E27FC236}">
                      <a16:creationId xmlns:a16="http://schemas.microsoft.com/office/drawing/2014/main" id="{925F7F8F-726F-4C3C-9A3F-0B5E532C2C9B}"/>
                    </a:ext>
                  </a:extLst>
                </p:cNvPr>
                <p:cNvSpPr/>
                <p:nvPr/>
              </p:nvSpPr>
              <p:spPr>
                <a:xfrm>
                  <a:off x="3943158" y="4232118"/>
                  <a:ext cx="282388" cy="117038"/>
                </a:xfrm>
                <a:prstGeom prst="rect">
                  <a:avLst/>
                </a:prstGeom>
                <a:solidFill>
                  <a:srgbClr val="C8DDFB"/>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AFEE889B-6963-4629-A325-803669DD190C}"/>
                    </a:ext>
                  </a:extLst>
                </p:cNvPr>
                <p:cNvSpPr txBox="1"/>
                <p:nvPr/>
              </p:nvSpPr>
              <p:spPr>
                <a:xfrm>
                  <a:off x="4231569" y="4177884"/>
                  <a:ext cx="328936"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LN</a:t>
                  </a:r>
                  <a:endParaRPr lang="zh-TW" altLang="en-US" sz="800" dirty="0">
                    <a:latin typeface="Montserrat" panose="02020500000000000000" charset="0"/>
                    <a:cs typeface="Times New Roman" panose="02020603050405020304" pitchFamily="18" charset="0"/>
                  </a:endParaRPr>
                </a:p>
              </p:txBody>
            </p:sp>
          </p:grpSp>
        </p:grpSp>
        <p:sp>
          <p:nvSpPr>
            <p:cNvPr id="51" name="矩形 50">
              <a:extLst>
                <a:ext uri="{FF2B5EF4-FFF2-40B4-BE49-F238E27FC236}">
                  <a16:creationId xmlns:a16="http://schemas.microsoft.com/office/drawing/2014/main" id="{FC8A58A6-1640-41B4-B356-8F84E4E765DF}"/>
                </a:ext>
              </a:extLst>
            </p:cNvPr>
            <p:cNvSpPr/>
            <p:nvPr/>
          </p:nvSpPr>
          <p:spPr>
            <a:xfrm>
              <a:off x="4012756" y="4552411"/>
              <a:ext cx="282388" cy="117038"/>
            </a:xfrm>
            <a:prstGeom prst="rect">
              <a:avLst/>
            </a:prstGeom>
            <a:solidFill>
              <a:srgbClr val="BDA792"/>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02F72A4F-6845-4377-B3D5-0FE7CBC8A8A0}"/>
                </a:ext>
              </a:extLst>
            </p:cNvPr>
            <p:cNvSpPr/>
            <p:nvPr/>
          </p:nvSpPr>
          <p:spPr>
            <a:xfrm>
              <a:off x="4939103" y="4555584"/>
              <a:ext cx="282388" cy="117038"/>
            </a:xfrm>
            <a:prstGeom prst="rect">
              <a:avLst/>
            </a:prstGeom>
            <a:solidFill>
              <a:srgbClr val="FFFFCA"/>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文字方塊 52">
              <a:extLst>
                <a:ext uri="{FF2B5EF4-FFF2-40B4-BE49-F238E27FC236}">
                  <a16:creationId xmlns:a16="http://schemas.microsoft.com/office/drawing/2014/main" id="{8D468902-57B9-4092-9725-B75CF169A352}"/>
                </a:ext>
              </a:extLst>
            </p:cNvPr>
            <p:cNvSpPr txBox="1"/>
            <p:nvPr/>
          </p:nvSpPr>
          <p:spPr>
            <a:xfrm>
              <a:off x="5217645" y="4503208"/>
              <a:ext cx="744114"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Au(150nm)</a:t>
              </a:r>
              <a:endParaRPr lang="zh-TW" altLang="en-US" sz="800" dirty="0">
                <a:latin typeface="Montserrat" panose="02020500000000000000" charset="0"/>
                <a:cs typeface="Times New Roman" panose="02020603050405020304" pitchFamily="18" charset="0"/>
              </a:endParaRPr>
            </a:p>
          </p:txBody>
        </p:sp>
        <p:sp>
          <p:nvSpPr>
            <p:cNvPr id="54" name="文字方塊 53">
              <a:extLst>
                <a:ext uri="{FF2B5EF4-FFF2-40B4-BE49-F238E27FC236}">
                  <a16:creationId xmlns:a16="http://schemas.microsoft.com/office/drawing/2014/main" id="{27D53098-48C9-45C4-A880-0B35F25369D8}"/>
                </a:ext>
              </a:extLst>
            </p:cNvPr>
            <p:cNvSpPr txBox="1"/>
            <p:nvPr/>
          </p:nvSpPr>
          <p:spPr>
            <a:xfrm>
              <a:off x="4292184" y="4503208"/>
              <a:ext cx="665567" cy="215444"/>
            </a:xfrm>
            <a:prstGeom prst="rect">
              <a:avLst/>
            </a:prstGeom>
            <a:noFill/>
          </p:spPr>
          <p:txBody>
            <a:bodyPr wrap="none" rtlCol="0">
              <a:spAutoFit/>
            </a:bodyPr>
            <a:lstStyle/>
            <a:p>
              <a:r>
                <a:rPr lang="en-US" altLang="zh-TW" sz="800" dirty="0">
                  <a:latin typeface="Montserrat" panose="02020500000000000000" charset="0"/>
                  <a:cs typeface="Times New Roman" panose="02020603050405020304" pitchFamily="18" charset="0"/>
                </a:rPr>
                <a:t>Ni(50nm)</a:t>
              </a:r>
              <a:endParaRPr lang="zh-TW" altLang="en-US" sz="800" dirty="0">
                <a:latin typeface="Montserrat" panose="02020500000000000000" charset="0"/>
                <a:cs typeface="Times New Roman" panose="02020603050405020304" pitchFamily="18" charset="0"/>
              </a:endParaRPr>
            </a:p>
          </p:txBody>
        </p:sp>
      </p:grpSp>
      <p:sp>
        <p:nvSpPr>
          <p:cNvPr id="55" name="文字方塊 54">
            <a:extLst>
              <a:ext uri="{FF2B5EF4-FFF2-40B4-BE49-F238E27FC236}">
                <a16:creationId xmlns:a16="http://schemas.microsoft.com/office/drawing/2014/main" id="{EB7BDCDB-30F9-464F-9B4E-FF1C32BA7CE0}"/>
              </a:ext>
            </a:extLst>
          </p:cNvPr>
          <p:cNvSpPr txBox="1"/>
          <p:nvPr/>
        </p:nvSpPr>
        <p:spPr>
          <a:xfrm>
            <a:off x="8585770" y="4631694"/>
            <a:ext cx="367408" cy="261610"/>
          </a:xfrm>
          <a:prstGeom prst="rect">
            <a:avLst/>
          </a:prstGeom>
          <a:noFill/>
        </p:spPr>
        <p:txBody>
          <a:bodyPr wrap="none" rtlCol="0">
            <a:spAutoFit/>
          </a:bodyPr>
          <a:lstStyle/>
          <a:p>
            <a:r>
              <a:rPr lang="en-US" altLang="zh-TW" sz="1100" dirty="0">
                <a:latin typeface="Montserrat" panose="02020500000000000000" charset="0"/>
              </a:rPr>
              <a:t>48</a:t>
            </a:r>
            <a:endParaRPr lang="zh-TW" altLang="en-US" sz="1100" dirty="0">
              <a:latin typeface="Montserrat" panose="02020500000000000000" charset="0"/>
            </a:endParaRPr>
          </a:p>
        </p:txBody>
      </p:sp>
    </p:spTree>
    <p:extLst>
      <p:ext uri="{BB962C8B-B14F-4D97-AF65-F5344CB8AC3E}">
        <p14:creationId xmlns:p14="http://schemas.microsoft.com/office/powerpoint/2010/main" val="18081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Fabrication of electrode</a:t>
            </a:r>
          </a:p>
        </p:txBody>
      </p:sp>
      <p:grpSp>
        <p:nvGrpSpPr>
          <p:cNvPr id="3" name="群組 2">
            <a:extLst>
              <a:ext uri="{FF2B5EF4-FFF2-40B4-BE49-F238E27FC236}">
                <a16:creationId xmlns:a16="http://schemas.microsoft.com/office/drawing/2014/main" id="{84FF3420-41DD-47CF-A7D7-F2B6E8557F9C}"/>
              </a:ext>
            </a:extLst>
          </p:cNvPr>
          <p:cNvGrpSpPr/>
          <p:nvPr/>
        </p:nvGrpSpPr>
        <p:grpSpPr>
          <a:xfrm>
            <a:off x="192683" y="-911"/>
            <a:ext cx="8761417" cy="295831"/>
            <a:chOff x="192683" y="-911"/>
            <a:chExt cx="8761417" cy="295831"/>
          </a:xfrm>
        </p:grpSpPr>
        <p:sp>
          <p:nvSpPr>
            <p:cNvPr id="4" name="矩形 3">
              <a:extLst>
                <a:ext uri="{FF2B5EF4-FFF2-40B4-BE49-F238E27FC236}">
                  <a16:creationId xmlns:a16="http://schemas.microsoft.com/office/drawing/2014/main" id="{5EC5C49A-73B5-46A0-BB4F-D653B894AFB2}"/>
                </a:ext>
              </a:extLst>
            </p:cNvPr>
            <p:cNvSpPr/>
            <p:nvPr/>
          </p:nvSpPr>
          <p:spPr>
            <a:xfrm>
              <a:off x="3976185" y="-911"/>
              <a:ext cx="12414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Device fabrication</a:t>
              </a:r>
            </a:p>
          </p:txBody>
        </p:sp>
        <p:sp>
          <p:nvSpPr>
            <p:cNvPr id="5" name="矩形 4">
              <a:extLst>
                <a:ext uri="{FF2B5EF4-FFF2-40B4-BE49-F238E27FC236}">
                  <a16:creationId xmlns:a16="http://schemas.microsoft.com/office/drawing/2014/main" id="{86A81179-AA18-418E-8F5E-2527C82F4CC8}"/>
                </a:ext>
              </a:extLst>
            </p:cNvPr>
            <p:cNvSpPr/>
            <p:nvPr/>
          </p:nvSpPr>
          <p:spPr>
            <a:xfrm>
              <a:off x="192683"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FFABDCE6-7C52-4F26-BA1C-9D4C5568F90E}"/>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669C6C72-84CD-4087-A30C-537BF97E4C17}"/>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5A1F2DAA-7189-41E1-9DA4-6BFCAD691522}"/>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sp>
          <p:nvSpPr>
            <p:cNvPr id="10" name="矩形 9">
              <a:extLst>
                <a:ext uri="{FF2B5EF4-FFF2-40B4-BE49-F238E27FC236}">
                  <a16:creationId xmlns:a16="http://schemas.microsoft.com/office/drawing/2014/main" id="{44F7DD66-E9F8-455F-8035-C9DE830529C7}"/>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1" name="圖片 10">
            <a:extLst>
              <a:ext uri="{FF2B5EF4-FFF2-40B4-BE49-F238E27FC236}">
                <a16:creationId xmlns:a16="http://schemas.microsoft.com/office/drawing/2014/main" id="{1412E88B-4812-42C8-ADF7-74E063ADD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4322" y="2097404"/>
            <a:ext cx="2194965" cy="1646224"/>
          </a:xfrm>
          <a:prstGeom prst="rect">
            <a:avLst/>
          </a:prstGeom>
        </p:spPr>
      </p:pic>
      <p:pic>
        <p:nvPicPr>
          <p:cNvPr id="13" name="圖片 12">
            <a:extLst>
              <a:ext uri="{FF2B5EF4-FFF2-40B4-BE49-F238E27FC236}">
                <a16:creationId xmlns:a16="http://schemas.microsoft.com/office/drawing/2014/main" id="{9BA752A8-A32C-4529-80DC-CFEE4586BE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9918" y="2093806"/>
            <a:ext cx="2199762" cy="1649822"/>
          </a:xfrm>
          <a:prstGeom prst="rect">
            <a:avLst/>
          </a:prstGeom>
        </p:spPr>
      </p:pic>
      <p:sp>
        <p:nvSpPr>
          <p:cNvPr id="14" name="矩形 13">
            <a:extLst>
              <a:ext uri="{FF2B5EF4-FFF2-40B4-BE49-F238E27FC236}">
                <a16:creationId xmlns:a16="http://schemas.microsoft.com/office/drawing/2014/main" id="{8EE9FE9A-CD66-4A2F-A0B3-754B43643D56}"/>
              </a:ext>
            </a:extLst>
          </p:cNvPr>
          <p:cNvSpPr/>
          <p:nvPr/>
        </p:nvSpPr>
        <p:spPr>
          <a:xfrm>
            <a:off x="1555633" y="1756739"/>
            <a:ext cx="2568332" cy="261610"/>
          </a:xfrm>
          <a:prstGeom prst="rect">
            <a:avLst/>
          </a:prstGeom>
        </p:spPr>
        <p:txBody>
          <a:bodyPr wrap="none">
            <a:spAutoFit/>
          </a:bodyPr>
          <a:lstStyle/>
          <a:p>
            <a:pPr lvl="0"/>
            <a:r>
              <a:rPr lang="en-US" altLang="zh-TW" sz="1100" dirty="0">
                <a:solidFill>
                  <a:schemeClr val="tx1"/>
                </a:solidFill>
                <a:latin typeface="Montserrat"/>
                <a:sym typeface="Montserrat"/>
              </a:rPr>
              <a:t>Lithography of electrode patterns</a:t>
            </a:r>
          </a:p>
        </p:txBody>
      </p:sp>
      <p:sp>
        <p:nvSpPr>
          <p:cNvPr id="16" name="矩形 15">
            <a:extLst>
              <a:ext uri="{FF2B5EF4-FFF2-40B4-BE49-F238E27FC236}">
                <a16:creationId xmlns:a16="http://schemas.microsoft.com/office/drawing/2014/main" id="{C2DD3A3F-8673-46E7-9B3E-DBED5288C3F4}"/>
              </a:ext>
            </a:extLst>
          </p:cNvPr>
          <p:cNvSpPr/>
          <p:nvPr/>
        </p:nvSpPr>
        <p:spPr>
          <a:xfrm>
            <a:off x="5149084" y="1700762"/>
            <a:ext cx="2305439" cy="317587"/>
          </a:xfrm>
          <a:prstGeom prst="rect">
            <a:avLst/>
          </a:prstGeom>
        </p:spPr>
        <p:txBody>
          <a:bodyPr wrap="none">
            <a:spAutoFit/>
          </a:bodyPr>
          <a:lstStyle/>
          <a:p>
            <a:pPr lvl="0" algn="ctr">
              <a:lnSpc>
                <a:spcPct val="150000"/>
              </a:lnSpc>
            </a:pPr>
            <a:r>
              <a:rPr lang="en-US" altLang="zh-TW" sz="1100" dirty="0">
                <a:solidFill>
                  <a:schemeClr val="tx1"/>
                </a:solidFill>
                <a:latin typeface="Montserrat"/>
                <a:ea typeface="Montserrat"/>
                <a:cs typeface="Montserrat"/>
                <a:sym typeface="Montserrat"/>
              </a:rPr>
              <a:t>Lift-off after </a:t>
            </a:r>
            <a:r>
              <a:rPr lang="en-US" altLang="zh-TW" sz="1100" dirty="0" err="1">
                <a:solidFill>
                  <a:schemeClr val="tx1"/>
                </a:solidFill>
                <a:latin typeface="Montserrat"/>
                <a:ea typeface="Montserrat"/>
                <a:cs typeface="Montserrat"/>
                <a:sym typeface="Montserrat"/>
              </a:rPr>
              <a:t>Ni&amp;Au-deposition</a:t>
            </a:r>
            <a:endParaRPr lang="en-US" altLang="zh-TW" sz="1100" dirty="0">
              <a:solidFill>
                <a:schemeClr val="tx1"/>
              </a:solidFill>
              <a:latin typeface="Montserrat"/>
              <a:ea typeface="Montserrat"/>
              <a:cs typeface="Montserrat"/>
              <a:sym typeface="Montserrat"/>
            </a:endParaRPr>
          </a:p>
        </p:txBody>
      </p:sp>
      <p:sp>
        <p:nvSpPr>
          <p:cNvPr id="15" name="文字方塊 14">
            <a:extLst>
              <a:ext uri="{FF2B5EF4-FFF2-40B4-BE49-F238E27FC236}">
                <a16:creationId xmlns:a16="http://schemas.microsoft.com/office/drawing/2014/main" id="{A42B6886-EC5D-4F8B-B349-F7DBB15C8612}"/>
              </a:ext>
            </a:extLst>
          </p:cNvPr>
          <p:cNvSpPr txBox="1"/>
          <p:nvPr/>
        </p:nvSpPr>
        <p:spPr>
          <a:xfrm>
            <a:off x="8585770" y="4631694"/>
            <a:ext cx="364202" cy="261610"/>
          </a:xfrm>
          <a:prstGeom prst="rect">
            <a:avLst/>
          </a:prstGeom>
          <a:noFill/>
        </p:spPr>
        <p:txBody>
          <a:bodyPr wrap="none" rtlCol="0">
            <a:spAutoFit/>
          </a:bodyPr>
          <a:lstStyle/>
          <a:p>
            <a:r>
              <a:rPr lang="en-US" altLang="zh-TW" sz="1100" dirty="0">
                <a:latin typeface="Montserrat" panose="02020500000000000000" charset="0"/>
              </a:rPr>
              <a:t>49</a:t>
            </a:r>
            <a:endParaRPr lang="zh-TW" altLang="en-US" sz="1100" dirty="0">
              <a:latin typeface="Montserrat" panose="02020500000000000000" charset="0"/>
            </a:endParaRPr>
          </a:p>
        </p:txBody>
      </p:sp>
    </p:spTree>
    <p:extLst>
      <p:ext uri="{BB962C8B-B14F-4D97-AF65-F5344CB8AC3E}">
        <p14:creationId xmlns:p14="http://schemas.microsoft.com/office/powerpoint/2010/main" val="25072060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1957871" y="1713535"/>
            <a:ext cx="5228258"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Results and discussions</a:t>
            </a:r>
          </a:p>
        </p:txBody>
      </p:sp>
      <p:sp>
        <p:nvSpPr>
          <p:cNvPr id="9" name="文字方塊 8">
            <a:extLst>
              <a:ext uri="{FF2B5EF4-FFF2-40B4-BE49-F238E27FC236}">
                <a16:creationId xmlns:a16="http://schemas.microsoft.com/office/drawing/2014/main" id="{14117233-9218-4160-953C-196D6CBF165F}"/>
              </a:ext>
            </a:extLst>
          </p:cNvPr>
          <p:cNvSpPr txBox="1"/>
          <p:nvPr/>
        </p:nvSpPr>
        <p:spPr>
          <a:xfrm>
            <a:off x="2673082" y="2555335"/>
            <a:ext cx="3797835"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Tuning curves of SHG</a:t>
            </a:r>
          </a:p>
          <a:p>
            <a:pPr marL="171450" indent="-171450">
              <a:lnSpc>
                <a:spcPct val="150000"/>
              </a:lnSpc>
              <a:buFont typeface="Arial" panose="020B0604020202020204" pitchFamily="34" charset="0"/>
              <a:buChar char="•"/>
            </a:pPr>
            <a:r>
              <a:rPr lang="en-US" altLang="zh-TW" sz="1100" dirty="0">
                <a:latin typeface="Montserrat" panose="02020500000000000000" charset="0"/>
              </a:rPr>
              <a:t>EO-PMC measurement result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interference</a:t>
            </a:r>
          </a:p>
          <a:p>
            <a:pPr marL="171450" indent="-171450">
              <a:lnSpc>
                <a:spcPct val="150000"/>
              </a:lnSpc>
              <a:buFont typeface="Arial" panose="020B0604020202020204" pitchFamily="34" charset="0"/>
              <a:buChar char="•"/>
            </a:pPr>
            <a:r>
              <a:rPr lang="en-US" altLang="zh-TW" sz="1100" dirty="0">
                <a:latin typeface="Montserrat" panose="02020500000000000000" charset="0"/>
              </a:rPr>
              <a:t>Coincidence counts measurement with EO-PMC</a:t>
            </a:r>
            <a:endParaRPr lang="zh-TW" altLang="en-US" sz="1100" dirty="0">
              <a:latin typeface="Montserrat" panose="02020500000000000000" charset="0"/>
            </a:endParaRPr>
          </a:p>
        </p:txBody>
      </p:sp>
      <p:pic>
        <p:nvPicPr>
          <p:cNvPr id="2" name="圖片 1">
            <a:extLst>
              <a:ext uri="{FF2B5EF4-FFF2-40B4-BE49-F238E27FC236}">
                <a16:creationId xmlns:a16="http://schemas.microsoft.com/office/drawing/2014/main" id="{5081938B-B467-45EE-90F0-D20E9441C502}"/>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0" y="4481112"/>
            <a:ext cx="9144000" cy="662388"/>
          </a:xfrm>
          <a:prstGeom prst="rect">
            <a:avLst/>
          </a:prstGeom>
        </p:spPr>
      </p:pic>
      <p:grpSp>
        <p:nvGrpSpPr>
          <p:cNvPr id="12" name="Google Shape;2047;p67">
            <a:extLst>
              <a:ext uri="{FF2B5EF4-FFF2-40B4-BE49-F238E27FC236}">
                <a16:creationId xmlns:a16="http://schemas.microsoft.com/office/drawing/2014/main" id="{A737ED4D-80B4-4DFB-80B9-728A667074E0}"/>
              </a:ext>
            </a:extLst>
          </p:cNvPr>
          <p:cNvGrpSpPr/>
          <p:nvPr/>
        </p:nvGrpSpPr>
        <p:grpSpPr>
          <a:xfrm>
            <a:off x="7301497" y="3676650"/>
            <a:ext cx="1225283" cy="1333250"/>
            <a:chOff x="1473725" y="402400"/>
            <a:chExt cx="4629150" cy="4842650"/>
          </a:xfrm>
        </p:grpSpPr>
        <p:sp>
          <p:nvSpPr>
            <p:cNvPr id="13" name="Google Shape;2048;p67">
              <a:extLst>
                <a:ext uri="{FF2B5EF4-FFF2-40B4-BE49-F238E27FC236}">
                  <a16:creationId xmlns:a16="http://schemas.microsoft.com/office/drawing/2014/main" id="{A77CE4C8-40FA-485C-A7F4-3629E23F19B3}"/>
                </a:ext>
              </a:extLst>
            </p:cNvPr>
            <p:cNvSpPr/>
            <p:nvPr/>
          </p:nvSpPr>
          <p:spPr>
            <a:xfrm>
              <a:off x="3691150" y="4289350"/>
              <a:ext cx="79250" cy="154300"/>
            </a:xfrm>
            <a:custGeom>
              <a:avLst/>
              <a:gdLst/>
              <a:ahLst/>
              <a:cxnLst/>
              <a:rect l="l" t="t" r="r" b="b"/>
              <a:pathLst>
                <a:path w="3170" h="6172" extrusionOk="0">
                  <a:moveTo>
                    <a:pt x="33" y="0"/>
                  </a:moveTo>
                  <a:lnTo>
                    <a:pt x="0" y="6171"/>
                  </a:lnTo>
                  <a:lnTo>
                    <a:pt x="3169" y="6171"/>
                  </a:lnTo>
                  <a:lnTo>
                    <a:pt x="3136" y="100"/>
                  </a:lnTo>
                  <a:cubicBezTo>
                    <a:pt x="2135" y="67"/>
                    <a:pt x="1068" y="34"/>
                    <a:pt x="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49;p67">
              <a:extLst>
                <a:ext uri="{FF2B5EF4-FFF2-40B4-BE49-F238E27FC236}">
                  <a16:creationId xmlns:a16="http://schemas.microsoft.com/office/drawing/2014/main" id="{F582A7AB-EC04-40A2-A0CD-1617B4BC9086}"/>
                </a:ext>
              </a:extLst>
            </p:cNvPr>
            <p:cNvSpPr/>
            <p:nvPr/>
          </p:nvSpPr>
          <p:spPr>
            <a:xfrm>
              <a:off x="3696975" y="697600"/>
              <a:ext cx="68400" cy="2770350"/>
            </a:xfrm>
            <a:custGeom>
              <a:avLst/>
              <a:gdLst/>
              <a:ahLst/>
              <a:cxnLst/>
              <a:rect l="l" t="t" r="r" b="b"/>
              <a:pathLst>
                <a:path w="2736" h="110814" extrusionOk="0">
                  <a:moveTo>
                    <a:pt x="2102" y="1"/>
                  </a:moveTo>
                  <a:cubicBezTo>
                    <a:pt x="1602" y="1769"/>
                    <a:pt x="1101" y="3637"/>
                    <a:pt x="568" y="5672"/>
                  </a:cubicBezTo>
                  <a:lnTo>
                    <a:pt x="1" y="104009"/>
                  </a:lnTo>
                  <a:cubicBezTo>
                    <a:pt x="835" y="106310"/>
                    <a:pt x="1735" y="108545"/>
                    <a:pt x="2736" y="110813"/>
                  </a:cubicBezTo>
                  <a:lnTo>
                    <a:pt x="2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50;p67">
              <a:extLst>
                <a:ext uri="{FF2B5EF4-FFF2-40B4-BE49-F238E27FC236}">
                  <a16:creationId xmlns:a16="http://schemas.microsoft.com/office/drawing/2014/main" id="{3BFB68A4-31CA-4D34-919E-4F7C2F401C64}"/>
                </a:ext>
              </a:extLst>
            </p:cNvPr>
            <p:cNvSpPr/>
            <p:nvPr/>
          </p:nvSpPr>
          <p:spPr>
            <a:xfrm>
              <a:off x="2485275" y="4577875"/>
              <a:ext cx="1355175" cy="155975"/>
            </a:xfrm>
            <a:custGeom>
              <a:avLst/>
              <a:gdLst/>
              <a:ahLst/>
              <a:cxnLst/>
              <a:rect l="l" t="t" r="r" b="b"/>
              <a:pathLst>
                <a:path w="54207" h="6239" extrusionOk="0">
                  <a:moveTo>
                    <a:pt x="13944" y="1"/>
                  </a:moveTo>
                  <a:cubicBezTo>
                    <a:pt x="6005" y="2469"/>
                    <a:pt x="1" y="6172"/>
                    <a:pt x="1" y="6172"/>
                  </a:cubicBezTo>
                  <a:cubicBezTo>
                    <a:pt x="268" y="6205"/>
                    <a:pt x="568" y="6205"/>
                    <a:pt x="868" y="6239"/>
                  </a:cubicBezTo>
                  <a:lnTo>
                    <a:pt x="868" y="6072"/>
                  </a:lnTo>
                  <a:lnTo>
                    <a:pt x="51404" y="6072"/>
                  </a:lnTo>
                  <a:lnTo>
                    <a:pt x="54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51;p67">
              <a:extLst>
                <a:ext uri="{FF2B5EF4-FFF2-40B4-BE49-F238E27FC236}">
                  <a16:creationId xmlns:a16="http://schemas.microsoft.com/office/drawing/2014/main" id="{EE278A19-5780-4E4A-88C7-6EC07F1794AA}"/>
                </a:ext>
              </a:extLst>
            </p:cNvPr>
            <p:cNvSpPr/>
            <p:nvPr/>
          </p:nvSpPr>
          <p:spPr>
            <a:xfrm>
              <a:off x="5184700" y="4627925"/>
              <a:ext cx="918175" cy="217675"/>
            </a:xfrm>
            <a:custGeom>
              <a:avLst/>
              <a:gdLst/>
              <a:ahLst/>
              <a:cxnLst/>
              <a:rect l="l" t="t" r="r" b="b"/>
              <a:pathLst>
                <a:path w="36727" h="8707" extrusionOk="0">
                  <a:moveTo>
                    <a:pt x="3303" y="0"/>
                  </a:moveTo>
                  <a:cubicBezTo>
                    <a:pt x="2970" y="0"/>
                    <a:pt x="2636" y="201"/>
                    <a:pt x="2536" y="534"/>
                  </a:cubicBezTo>
                  <a:lnTo>
                    <a:pt x="1" y="8340"/>
                  </a:lnTo>
                  <a:lnTo>
                    <a:pt x="1102" y="8707"/>
                  </a:lnTo>
                  <a:lnTo>
                    <a:pt x="3370" y="1702"/>
                  </a:lnTo>
                  <a:cubicBezTo>
                    <a:pt x="3503" y="1368"/>
                    <a:pt x="3803" y="1168"/>
                    <a:pt x="4137" y="1168"/>
                  </a:cubicBezTo>
                  <a:lnTo>
                    <a:pt x="10942" y="1168"/>
                  </a:lnTo>
                  <a:cubicBezTo>
                    <a:pt x="11476" y="1168"/>
                    <a:pt x="11843" y="1702"/>
                    <a:pt x="11676" y="2202"/>
                  </a:cubicBezTo>
                  <a:lnTo>
                    <a:pt x="9674" y="8340"/>
                  </a:lnTo>
                  <a:lnTo>
                    <a:pt x="10775" y="8707"/>
                  </a:lnTo>
                  <a:lnTo>
                    <a:pt x="13043" y="1702"/>
                  </a:lnTo>
                  <a:cubicBezTo>
                    <a:pt x="13177" y="1368"/>
                    <a:pt x="13477" y="1168"/>
                    <a:pt x="13811" y="1168"/>
                  </a:cubicBezTo>
                  <a:lnTo>
                    <a:pt x="21950" y="1168"/>
                  </a:lnTo>
                  <a:cubicBezTo>
                    <a:pt x="22483" y="1168"/>
                    <a:pt x="22850" y="1702"/>
                    <a:pt x="22684" y="2202"/>
                  </a:cubicBezTo>
                  <a:lnTo>
                    <a:pt x="20682" y="8340"/>
                  </a:lnTo>
                  <a:lnTo>
                    <a:pt x="21783" y="8707"/>
                  </a:lnTo>
                  <a:lnTo>
                    <a:pt x="24051" y="1702"/>
                  </a:lnTo>
                  <a:cubicBezTo>
                    <a:pt x="24185" y="1368"/>
                    <a:pt x="24485" y="1168"/>
                    <a:pt x="24818" y="1168"/>
                  </a:cubicBezTo>
                  <a:lnTo>
                    <a:pt x="33491" y="1168"/>
                  </a:lnTo>
                  <a:cubicBezTo>
                    <a:pt x="33892" y="1168"/>
                    <a:pt x="34292" y="1501"/>
                    <a:pt x="34292" y="1935"/>
                  </a:cubicBezTo>
                  <a:lnTo>
                    <a:pt x="34459" y="8540"/>
                  </a:lnTo>
                  <a:lnTo>
                    <a:pt x="35626" y="8506"/>
                  </a:lnTo>
                  <a:lnTo>
                    <a:pt x="35393" y="1168"/>
                  </a:lnTo>
                  <a:lnTo>
                    <a:pt x="36727" y="1168"/>
                  </a:lnTo>
                  <a:lnTo>
                    <a:pt x="367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2;p67">
              <a:extLst>
                <a:ext uri="{FF2B5EF4-FFF2-40B4-BE49-F238E27FC236}">
                  <a16:creationId xmlns:a16="http://schemas.microsoft.com/office/drawing/2014/main" id="{04B793D6-664D-4E89-AE94-D098ACE4E2B1}"/>
                </a:ext>
              </a:extLst>
            </p:cNvPr>
            <p:cNvSpPr/>
            <p:nvPr/>
          </p:nvSpPr>
          <p:spPr>
            <a:xfrm>
              <a:off x="1473725" y="4451950"/>
              <a:ext cx="967375" cy="276075"/>
            </a:xfrm>
            <a:custGeom>
              <a:avLst/>
              <a:gdLst/>
              <a:ahLst/>
              <a:cxnLst/>
              <a:rect l="l" t="t" r="r" b="b"/>
              <a:pathLst>
                <a:path w="38695" h="11043" extrusionOk="0">
                  <a:moveTo>
                    <a:pt x="0" y="1"/>
                  </a:moveTo>
                  <a:lnTo>
                    <a:pt x="634" y="902"/>
                  </a:lnTo>
                  <a:cubicBezTo>
                    <a:pt x="668" y="935"/>
                    <a:pt x="3169" y="4571"/>
                    <a:pt x="6505" y="9041"/>
                  </a:cubicBezTo>
                  <a:lnTo>
                    <a:pt x="7472" y="8340"/>
                  </a:lnTo>
                  <a:cubicBezTo>
                    <a:pt x="5371" y="5538"/>
                    <a:pt x="3570" y="3070"/>
                    <a:pt x="2569" y="1602"/>
                  </a:cubicBezTo>
                  <a:cubicBezTo>
                    <a:pt x="2469" y="1435"/>
                    <a:pt x="2569" y="1202"/>
                    <a:pt x="2802" y="1202"/>
                  </a:cubicBezTo>
                  <a:cubicBezTo>
                    <a:pt x="5871" y="1235"/>
                    <a:pt x="9174" y="1402"/>
                    <a:pt x="13010" y="1736"/>
                  </a:cubicBezTo>
                  <a:cubicBezTo>
                    <a:pt x="13076" y="1736"/>
                    <a:pt x="13177" y="1769"/>
                    <a:pt x="13210" y="1869"/>
                  </a:cubicBezTo>
                  <a:cubicBezTo>
                    <a:pt x="13810" y="2670"/>
                    <a:pt x="16012" y="5872"/>
                    <a:pt x="18847" y="9608"/>
                  </a:cubicBezTo>
                  <a:lnTo>
                    <a:pt x="19314" y="9241"/>
                  </a:lnTo>
                  <a:lnTo>
                    <a:pt x="18914" y="9741"/>
                  </a:lnTo>
                  <a:lnTo>
                    <a:pt x="19381" y="9408"/>
                  </a:lnTo>
                  <a:lnTo>
                    <a:pt x="19748" y="8907"/>
                  </a:lnTo>
                  <a:cubicBezTo>
                    <a:pt x="17713" y="6205"/>
                    <a:pt x="16012" y="3770"/>
                    <a:pt x="14978" y="2369"/>
                  </a:cubicBezTo>
                  <a:cubicBezTo>
                    <a:pt x="14851" y="2211"/>
                    <a:pt x="14965" y="1933"/>
                    <a:pt x="15176" y="1933"/>
                  </a:cubicBezTo>
                  <a:cubicBezTo>
                    <a:pt x="15187" y="1933"/>
                    <a:pt x="15199" y="1934"/>
                    <a:pt x="15211" y="1936"/>
                  </a:cubicBezTo>
                  <a:cubicBezTo>
                    <a:pt x="18647" y="2269"/>
                    <a:pt x="22216" y="2670"/>
                    <a:pt x="26653" y="3170"/>
                  </a:cubicBezTo>
                  <a:cubicBezTo>
                    <a:pt x="26720" y="3170"/>
                    <a:pt x="26820" y="3203"/>
                    <a:pt x="26853" y="3270"/>
                  </a:cubicBezTo>
                  <a:cubicBezTo>
                    <a:pt x="28721" y="5939"/>
                    <a:pt x="30589" y="8574"/>
                    <a:pt x="32490" y="11042"/>
                  </a:cubicBezTo>
                  <a:lnTo>
                    <a:pt x="33424" y="10342"/>
                  </a:lnTo>
                  <a:cubicBezTo>
                    <a:pt x="31857" y="8240"/>
                    <a:pt x="30255" y="6072"/>
                    <a:pt x="28721" y="3837"/>
                  </a:cubicBezTo>
                  <a:cubicBezTo>
                    <a:pt x="28596" y="3619"/>
                    <a:pt x="28705" y="3400"/>
                    <a:pt x="28938" y="3400"/>
                  </a:cubicBezTo>
                  <a:cubicBezTo>
                    <a:pt x="28954" y="3400"/>
                    <a:pt x="28971" y="3401"/>
                    <a:pt x="28988" y="3403"/>
                  </a:cubicBezTo>
                  <a:cubicBezTo>
                    <a:pt x="31990" y="3737"/>
                    <a:pt x="35159" y="4071"/>
                    <a:pt x="38528" y="4404"/>
                  </a:cubicBezTo>
                  <a:lnTo>
                    <a:pt x="38695" y="3203"/>
                  </a:lnTo>
                  <a:cubicBezTo>
                    <a:pt x="34625" y="2770"/>
                    <a:pt x="30822" y="2369"/>
                    <a:pt x="27220" y="2002"/>
                  </a:cubicBezTo>
                  <a:cubicBezTo>
                    <a:pt x="21849" y="1369"/>
                    <a:pt x="17713" y="902"/>
                    <a:pt x="13644" y="568"/>
                  </a:cubicBezTo>
                  <a:cubicBezTo>
                    <a:pt x="8840" y="168"/>
                    <a:pt x="4837" y="1"/>
                    <a:pt x="1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53;p67">
              <a:extLst>
                <a:ext uri="{FF2B5EF4-FFF2-40B4-BE49-F238E27FC236}">
                  <a16:creationId xmlns:a16="http://schemas.microsoft.com/office/drawing/2014/main" id="{5B07ADCE-C351-4B23-96A1-8714CDA64364}"/>
                </a:ext>
              </a:extLst>
            </p:cNvPr>
            <p:cNvSpPr/>
            <p:nvPr/>
          </p:nvSpPr>
          <p:spPr>
            <a:xfrm>
              <a:off x="1623000" y="4660450"/>
              <a:ext cx="4463200" cy="500375"/>
            </a:xfrm>
            <a:custGeom>
              <a:avLst/>
              <a:gdLst/>
              <a:ahLst/>
              <a:cxnLst/>
              <a:rect l="l" t="t" r="r" b="b"/>
              <a:pathLst>
                <a:path w="178528" h="20015" extrusionOk="0">
                  <a:moveTo>
                    <a:pt x="0" y="0"/>
                  </a:moveTo>
                  <a:cubicBezTo>
                    <a:pt x="0" y="0"/>
                    <a:pt x="3069" y="4504"/>
                    <a:pt x="7039" y="9607"/>
                  </a:cubicBezTo>
                  <a:cubicBezTo>
                    <a:pt x="7839" y="10241"/>
                    <a:pt x="21349" y="20015"/>
                    <a:pt x="92767" y="20015"/>
                  </a:cubicBezTo>
                  <a:lnTo>
                    <a:pt x="169922" y="20015"/>
                  </a:lnTo>
                  <a:cubicBezTo>
                    <a:pt x="171289" y="19247"/>
                    <a:pt x="172490" y="18447"/>
                    <a:pt x="173291" y="17613"/>
                  </a:cubicBezTo>
                  <a:cubicBezTo>
                    <a:pt x="176260" y="14544"/>
                    <a:pt x="178528" y="6839"/>
                    <a:pt x="178528" y="6839"/>
                  </a:cubicBezTo>
                  <a:cubicBezTo>
                    <a:pt x="178528" y="6839"/>
                    <a:pt x="176230" y="6809"/>
                    <a:pt x="172148" y="6809"/>
                  </a:cubicBezTo>
                  <a:cubicBezTo>
                    <a:pt x="170107" y="6809"/>
                    <a:pt x="167620" y="6816"/>
                    <a:pt x="164751" y="6839"/>
                  </a:cubicBezTo>
                  <a:lnTo>
                    <a:pt x="153743" y="6839"/>
                  </a:lnTo>
                  <a:cubicBezTo>
                    <a:pt x="150675" y="6839"/>
                    <a:pt x="147439" y="6839"/>
                    <a:pt x="144003" y="6772"/>
                  </a:cubicBezTo>
                  <a:cubicBezTo>
                    <a:pt x="141835" y="6772"/>
                    <a:pt x="139633" y="6738"/>
                    <a:pt x="137332" y="6738"/>
                  </a:cubicBezTo>
                  <a:cubicBezTo>
                    <a:pt x="116417" y="6572"/>
                    <a:pt x="90532" y="6205"/>
                    <a:pt x="67015" y="5271"/>
                  </a:cubicBezTo>
                  <a:cubicBezTo>
                    <a:pt x="54406" y="4770"/>
                    <a:pt x="44165" y="3903"/>
                    <a:pt x="35326" y="3002"/>
                  </a:cubicBezTo>
                  <a:cubicBezTo>
                    <a:pt x="35025" y="2936"/>
                    <a:pt x="34725" y="2936"/>
                    <a:pt x="34425" y="2902"/>
                  </a:cubicBezTo>
                  <a:cubicBezTo>
                    <a:pt x="31490" y="2569"/>
                    <a:pt x="28688" y="2269"/>
                    <a:pt x="26019" y="2002"/>
                  </a:cubicBezTo>
                  <a:cubicBezTo>
                    <a:pt x="21082" y="1435"/>
                    <a:pt x="16646" y="934"/>
                    <a:pt x="12343" y="567"/>
                  </a:cubicBezTo>
                  <a:cubicBezTo>
                    <a:pt x="8073" y="200"/>
                    <a:pt x="403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54;p67">
              <a:extLst>
                <a:ext uri="{FF2B5EF4-FFF2-40B4-BE49-F238E27FC236}">
                  <a16:creationId xmlns:a16="http://schemas.microsoft.com/office/drawing/2014/main" id="{194E3012-E3D0-43B8-95D3-380E6C8E1F96}"/>
                </a:ext>
              </a:extLst>
            </p:cNvPr>
            <p:cNvSpPr/>
            <p:nvPr/>
          </p:nvSpPr>
          <p:spPr>
            <a:xfrm>
              <a:off x="3129900" y="4444450"/>
              <a:ext cx="2074000" cy="80100"/>
            </a:xfrm>
            <a:custGeom>
              <a:avLst/>
              <a:gdLst/>
              <a:ahLst/>
              <a:cxnLst/>
              <a:rect l="l" t="t" r="r" b="b"/>
              <a:pathLst>
                <a:path w="82960" h="3204" extrusionOk="0">
                  <a:moveTo>
                    <a:pt x="3170" y="1"/>
                  </a:moveTo>
                  <a:cubicBezTo>
                    <a:pt x="1435" y="1"/>
                    <a:pt x="1" y="1402"/>
                    <a:pt x="1" y="3170"/>
                  </a:cubicBezTo>
                  <a:lnTo>
                    <a:pt x="1" y="3203"/>
                  </a:lnTo>
                  <a:lnTo>
                    <a:pt x="81359" y="3203"/>
                  </a:lnTo>
                  <a:cubicBezTo>
                    <a:pt x="82226" y="3203"/>
                    <a:pt x="82960" y="2503"/>
                    <a:pt x="82960" y="1569"/>
                  </a:cubicBezTo>
                  <a:cubicBezTo>
                    <a:pt x="82960" y="701"/>
                    <a:pt x="82226" y="1"/>
                    <a:pt x="81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55;p67">
              <a:extLst>
                <a:ext uri="{FF2B5EF4-FFF2-40B4-BE49-F238E27FC236}">
                  <a16:creationId xmlns:a16="http://schemas.microsoft.com/office/drawing/2014/main" id="{CF94098C-58E7-4B0A-874D-7A15E4B455FD}"/>
                </a:ext>
              </a:extLst>
            </p:cNvPr>
            <p:cNvSpPr/>
            <p:nvPr/>
          </p:nvSpPr>
          <p:spPr>
            <a:xfrm>
              <a:off x="3129075" y="4445300"/>
              <a:ext cx="2074825" cy="78400"/>
            </a:xfrm>
            <a:custGeom>
              <a:avLst/>
              <a:gdLst/>
              <a:ahLst/>
              <a:cxnLst/>
              <a:rect l="l" t="t" r="r" b="b"/>
              <a:pathLst>
                <a:path w="82993" h="3136" extrusionOk="0">
                  <a:moveTo>
                    <a:pt x="81859" y="0"/>
                  </a:moveTo>
                  <a:lnTo>
                    <a:pt x="81859" y="0"/>
                  </a:lnTo>
                  <a:cubicBezTo>
                    <a:pt x="81926" y="200"/>
                    <a:pt x="82026" y="434"/>
                    <a:pt x="82026" y="667"/>
                  </a:cubicBezTo>
                  <a:lnTo>
                    <a:pt x="82026" y="701"/>
                  </a:lnTo>
                  <a:cubicBezTo>
                    <a:pt x="82026" y="1601"/>
                    <a:pt x="81325" y="2302"/>
                    <a:pt x="80424" y="2302"/>
                  </a:cubicBezTo>
                  <a:lnTo>
                    <a:pt x="134" y="2302"/>
                  </a:lnTo>
                  <a:cubicBezTo>
                    <a:pt x="34" y="2535"/>
                    <a:pt x="0" y="2836"/>
                    <a:pt x="0" y="3102"/>
                  </a:cubicBezTo>
                  <a:lnTo>
                    <a:pt x="0" y="3136"/>
                  </a:lnTo>
                  <a:lnTo>
                    <a:pt x="81392" y="3136"/>
                  </a:lnTo>
                  <a:cubicBezTo>
                    <a:pt x="82259" y="3136"/>
                    <a:pt x="82993" y="2435"/>
                    <a:pt x="82993" y="1535"/>
                  </a:cubicBezTo>
                  <a:lnTo>
                    <a:pt x="82993" y="1501"/>
                  </a:lnTo>
                  <a:cubicBezTo>
                    <a:pt x="82993" y="801"/>
                    <a:pt x="82526" y="200"/>
                    <a:pt x="8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56;p67">
              <a:extLst>
                <a:ext uri="{FF2B5EF4-FFF2-40B4-BE49-F238E27FC236}">
                  <a16:creationId xmlns:a16="http://schemas.microsoft.com/office/drawing/2014/main" id="{4FE2A90D-BFB8-43F2-8A3B-0F59845D93B1}"/>
                </a:ext>
              </a:extLst>
            </p:cNvPr>
            <p:cNvSpPr/>
            <p:nvPr/>
          </p:nvSpPr>
          <p:spPr>
            <a:xfrm>
              <a:off x="3855425" y="595875"/>
              <a:ext cx="1367675" cy="3558400"/>
            </a:xfrm>
            <a:custGeom>
              <a:avLst/>
              <a:gdLst/>
              <a:ahLst/>
              <a:cxnLst/>
              <a:rect l="l" t="t" r="r" b="b"/>
              <a:pathLst>
                <a:path w="54707" h="142336" extrusionOk="0">
                  <a:moveTo>
                    <a:pt x="0" y="0"/>
                  </a:moveTo>
                  <a:lnTo>
                    <a:pt x="0" y="122154"/>
                  </a:lnTo>
                  <a:cubicBezTo>
                    <a:pt x="4037" y="129426"/>
                    <a:pt x="9140" y="136231"/>
                    <a:pt x="15578" y="142335"/>
                  </a:cubicBezTo>
                  <a:lnTo>
                    <a:pt x="54706" y="142335"/>
                  </a:lnTo>
                  <a:cubicBezTo>
                    <a:pt x="54706" y="142335"/>
                    <a:pt x="11309" y="85628"/>
                    <a:pt x="0" y="0"/>
                  </a:cubicBezTo>
                  <a:close/>
                </a:path>
              </a:pathLst>
            </a:custGeom>
            <a:solidFill>
              <a:schemeClr val="accent5">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57;p67">
              <a:extLst>
                <a:ext uri="{FF2B5EF4-FFF2-40B4-BE49-F238E27FC236}">
                  <a16:creationId xmlns:a16="http://schemas.microsoft.com/office/drawing/2014/main" id="{54151CD9-5BB3-4BCB-87C0-D86DCE56DE8D}"/>
                </a:ext>
              </a:extLst>
            </p:cNvPr>
            <p:cNvSpPr/>
            <p:nvPr/>
          </p:nvSpPr>
          <p:spPr>
            <a:xfrm>
              <a:off x="2504450" y="4524525"/>
              <a:ext cx="2551025" cy="304400"/>
            </a:xfrm>
            <a:custGeom>
              <a:avLst/>
              <a:gdLst/>
              <a:ahLst/>
              <a:cxnLst/>
              <a:rect l="l" t="t" r="r" b="b"/>
              <a:pathLst>
                <a:path w="102041" h="12176" extrusionOk="0">
                  <a:moveTo>
                    <a:pt x="98505" y="0"/>
                  </a:moveTo>
                  <a:lnTo>
                    <a:pt x="98505" y="33"/>
                  </a:lnTo>
                  <a:lnTo>
                    <a:pt x="25786" y="33"/>
                  </a:lnTo>
                  <a:cubicBezTo>
                    <a:pt x="21416" y="33"/>
                    <a:pt x="16980" y="967"/>
                    <a:pt x="13077" y="2168"/>
                  </a:cubicBezTo>
                  <a:lnTo>
                    <a:pt x="53339" y="2168"/>
                  </a:lnTo>
                  <a:lnTo>
                    <a:pt x="50537" y="8273"/>
                  </a:lnTo>
                  <a:lnTo>
                    <a:pt x="1" y="8273"/>
                  </a:lnTo>
                  <a:lnTo>
                    <a:pt x="1" y="8439"/>
                  </a:lnTo>
                  <a:cubicBezTo>
                    <a:pt x="8841" y="9340"/>
                    <a:pt x="19115" y="10207"/>
                    <a:pt x="31690" y="10708"/>
                  </a:cubicBezTo>
                  <a:cubicBezTo>
                    <a:pt x="55207" y="11642"/>
                    <a:pt x="81125" y="12009"/>
                    <a:pt x="102040" y="12175"/>
                  </a:cubicBezTo>
                  <a:lnTo>
                    <a:pt x="985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58;p67">
              <a:extLst>
                <a:ext uri="{FF2B5EF4-FFF2-40B4-BE49-F238E27FC236}">
                  <a16:creationId xmlns:a16="http://schemas.microsoft.com/office/drawing/2014/main" id="{5BEA788E-3DDA-4D97-ACA0-A98C73111334}"/>
                </a:ext>
              </a:extLst>
            </p:cNvPr>
            <p:cNvSpPr/>
            <p:nvPr/>
          </p:nvSpPr>
          <p:spPr>
            <a:xfrm>
              <a:off x="4874475" y="4523675"/>
              <a:ext cx="181000" cy="304425"/>
            </a:xfrm>
            <a:custGeom>
              <a:avLst/>
              <a:gdLst/>
              <a:ahLst/>
              <a:cxnLst/>
              <a:rect l="l" t="t" r="r" b="b"/>
              <a:pathLst>
                <a:path w="7240" h="12177" extrusionOk="0">
                  <a:moveTo>
                    <a:pt x="1" y="1"/>
                  </a:moveTo>
                  <a:lnTo>
                    <a:pt x="3537" y="12143"/>
                  </a:lnTo>
                  <a:cubicBezTo>
                    <a:pt x="4838" y="12176"/>
                    <a:pt x="6039" y="12176"/>
                    <a:pt x="7239" y="12176"/>
                  </a:cubicBezTo>
                  <a:lnTo>
                    <a:pt x="37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59;p67">
              <a:extLst>
                <a:ext uri="{FF2B5EF4-FFF2-40B4-BE49-F238E27FC236}">
                  <a16:creationId xmlns:a16="http://schemas.microsoft.com/office/drawing/2014/main" id="{55BF8B09-1B10-4F4B-B847-16A0C3199400}"/>
                </a:ext>
              </a:extLst>
            </p:cNvPr>
            <p:cNvSpPr/>
            <p:nvPr/>
          </p:nvSpPr>
          <p:spPr>
            <a:xfrm>
              <a:off x="3144075" y="4524525"/>
              <a:ext cx="1831350" cy="25875"/>
            </a:xfrm>
            <a:custGeom>
              <a:avLst/>
              <a:gdLst/>
              <a:ahLst/>
              <a:cxnLst/>
              <a:rect l="l" t="t" r="r" b="b"/>
              <a:pathLst>
                <a:path w="73254" h="1035" extrusionOk="0">
                  <a:moveTo>
                    <a:pt x="1" y="0"/>
                  </a:moveTo>
                  <a:lnTo>
                    <a:pt x="72953" y="1034"/>
                  </a:lnTo>
                  <a:lnTo>
                    <a:pt x="73253" y="1034"/>
                  </a:lnTo>
                  <a:lnTo>
                    <a:pt x="72920" y="0"/>
                  </a:ln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60;p67">
              <a:extLst>
                <a:ext uri="{FF2B5EF4-FFF2-40B4-BE49-F238E27FC236}">
                  <a16:creationId xmlns:a16="http://schemas.microsoft.com/office/drawing/2014/main" id="{DF162C48-3001-46A6-AE0E-61ED832EA2E0}"/>
                </a:ext>
              </a:extLst>
            </p:cNvPr>
            <p:cNvSpPr/>
            <p:nvPr/>
          </p:nvSpPr>
          <p:spPr>
            <a:xfrm>
              <a:off x="1686375" y="402400"/>
              <a:ext cx="2739475" cy="3907825"/>
            </a:xfrm>
            <a:custGeom>
              <a:avLst/>
              <a:gdLst/>
              <a:ahLst/>
              <a:cxnLst/>
              <a:rect l="l" t="t" r="r" b="b"/>
              <a:pathLst>
                <a:path w="109579" h="156313" extrusionOk="0">
                  <a:moveTo>
                    <a:pt x="86262" y="0"/>
                  </a:moveTo>
                  <a:lnTo>
                    <a:pt x="86262" y="0"/>
                  </a:lnTo>
                  <a:cubicBezTo>
                    <a:pt x="24718" y="52271"/>
                    <a:pt x="1" y="147840"/>
                    <a:pt x="1" y="147840"/>
                  </a:cubicBezTo>
                  <a:cubicBezTo>
                    <a:pt x="21082" y="152376"/>
                    <a:pt x="55540" y="154544"/>
                    <a:pt x="80191" y="155512"/>
                  </a:cubicBezTo>
                  <a:cubicBezTo>
                    <a:pt x="81259" y="155545"/>
                    <a:pt x="82293" y="155578"/>
                    <a:pt x="83293" y="155612"/>
                  </a:cubicBezTo>
                  <a:cubicBezTo>
                    <a:pt x="98738" y="156179"/>
                    <a:pt x="109579" y="156312"/>
                    <a:pt x="109579" y="156312"/>
                  </a:cubicBezTo>
                  <a:cubicBezTo>
                    <a:pt x="107010" y="154311"/>
                    <a:pt x="104575" y="152243"/>
                    <a:pt x="102340" y="150074"/>
                  </a:cubicBezTo>
                  <a:cubicBezTo>
                    <a:pt x="95902" y="143970"/>
                    <a:pt x="90765" y="137165"/>
                    <a:pt x="86762" y="129893"/>
                  </a:cubicBezTo>
                  <a:cubicBezTo>
                    <a:pt x="85428" y="127525"/>
                    <a:pt x="84227" y="125057"/>
                    <a:pt x="83160" y="122621"/>
                  </a:cubicBezTo>
                  <a:cubicBezTo>
                    <a:pt x="82159" y="120353"/>
                    <a:pt x="81259" y="118118"/>
                    <a:pt x="80391" y="115883"/>
                  </a:cubicBezTo>
                  <a:cubicBezTo>
                    <a:pt x="67982" y="80892"/>
                    <a:pt x="75054" y="40196"/>
                    <a:pt x="80925" y="17580"/>
                  </a:cubicBezTo>
                  <a:cubicBezTo>
                    <a:pt x="81225" y="16479"/>
                    <a:pt x="81492" y="15445"/>
                    <a:pt x="81759" y="14444"/>
                  </a:cubicBezTo>
                  <a:cubicBezTo>
                    <a:pt x="82026" y="13510"/>
                    <a:pt x="82226" y="12676"/>
                    <a:pt x="82459" y="11842"/>
                  </a:cubicBezTo>
                  <a:cubicBezTo>
                    <a:pt x="82926" y="10241"/>
                    <a:pt x="83393" y="8740"/>
                    <a:pt x="83794" y="7406"/>
                  </a:cubicBezTo>
                  <a:cubicBezTo>
                    <a:pt x="85261" y="2669"/>
                    <a:pt x="86262" y="1"/>
                    <a:pt x="86262"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061;p67">
              <a:extLst>
                <a:ext uri="{FF2B5EF4-FFF2-40B4-BE49-F238E27FC236}">
                  <a16:creationId xmlns:a16="http://schemas.microsoft.com/office/drawing/2014/main" id="{863BB7D5-41DA-4F49-8EDA-6A4A8C4C6552}"/>
                </a:ext>
              </a:extLst>
            </p:cNvPr>
            <p:cNvSpPr/>
            <p:nvPr/>
          </p:nvSpPr>
          <p:spPr>
            <a:xfrm>
              <a:off x="3854600" y="2893350"/>
              <a:ext cx="656325" cy="1260925"/>
            </a:xfrm>
            <a:custGeom>
              <a:avLst/>
              <a:gdLst/>
              <a:ahLst/>
              <a:cxnLst/>
              <a:rect l="l" t="t" r="r" b="b"/>
              <a:pathLst>
                <a:path w="26253" h="50437" extrusionOk="0">
                  <a:moveTo>
                    <a:pt x="0" y="0"/>
                  </a:moveTo>
                  <a:lnTo>
                    <a:pt x="0" y="30222"/>
                  </a:lnTo>
                  <a:cubicBezTo>
                    <a:pt x="4036" y="37527"/>
                    <a:pt x="9173" y="44332"/>
                    <a:pt x="15545" y="50436"/>
                  </a:cubicBezTo>
                  <a:lnTo>
                    <a:pt x="26252" y="50436"/>
                  </a:lnTo>
                  <a:cubicBezTo>
                    <a:pt x="19848" y="44332"/>
                    <a:pt x="14744" y="37527"/>
                    <a:pt x="10708" y="30255"/>
                  </a:cubicBezTo>
                  <a:cubicBezTo>
                    <a:pt x="9373" y="27887"/>
                    <a:pt x="8173" y="25419"/>
                    <a:pt x="7072" y="22983"/>
                  </a:cubicBezTo>
                  <a:cubicBezTo>
                    <a:pt x="6104" y="20715"/>
                    <a:pt x="5204" y="18480"/>
                    <a:pt x="4370" y="16179"/>
                  </a:cubicBezTo>
                  <a:cubicBezTo>
                    <a:pt x="2502" y="10875"/>
                    <a:pt x="1101" y="5471"/>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62;p67">
              <a:extLst>
                <a:ext uri="{FF2B5EF4-FFF2-40B4-BE49-F238E27FC236}">
                  <a16:creationId xmlns:a16="http://schemas.microsoft.com/office/drawing/2014/main" id="{0B2F7652-BA63-4459-B1A1-F64A6C9B2C86}"/>
                </a:ext>
              </a:extLst>
            </p:cNvPr>
            <p:cNvSpPr/>
            <p:nvPr/>
          </p:nvSpPr>
          <p:spPr>
            <a:xfrm>
              <a:off x="3855425" y="632550"/>
              <a:ext cx="73400" cy="797275"/>
            </a:xfrm>
            <a:custGeom>
              <a:avLst/>
              <a:gdLst/>
              <a:ahLst/>
              <a:cxnLst/>
              <a:rect l="l" t="t" r="r" b="b"/>
              <a:pathLst>
                <a:path w="2936" h="31891" extrusionOk="0">
                  <a:moveTo>
                    <a:pt x="234" y="1"/>
                  </a:moveTo>
                  <a:lnTo>
                    <a:pt x="0" y="201"/>
                  </a:lnTo>
                  <a:lnTo>
                    <a:pt x="0" y="31890"/>
                  </a:lnTo>
                  <a:cubicBezTo>
                    <a:pt x="901" y="26387"/>
                    <a:pt x="1902" y="21216"/>
                    <a:pt x="2936" y="16513"/>
                  </a:cubicBezTo>
                  <a:cubicBezTo>
                    <a:pt x="1902" y="11109"/>
                    <a:pt x="1001" y="5605"/>
                    <a:pt x="234" y="1"/>
                  </a:cubicBez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63;p67">
              <a:extLst>
                <a:ext uri="{FF2B5EF4-FFF2-40B4-BE49-F238E27FC236}">
                  <a16:creationId xmlns:a16="http://schemas.microsoft.com/office/drawing/2014/main" id="{F3E495BE-704C-4490-A23C-43036BA033C9}"/>
                </a:ext>
              </a:extLst>
            </p:cNvPr>
            <p:cNvSpPr/>
            <p:nvPr/>
          </p:nvSpPr>
          <p:spPr>
            <a:xfrm>
              <a:off x="3855425" y="4577050"/>
              <a:ext cx="665500" cy="151800"/>
            </a:xfrm>
            <a:custGeom>
              <a:avLst/>
              <a:gdLst/>
              <a:ahLst/>
              <a:cxnLst/>
              <a:rect l="l" t="t" r="r" b="b"/>
              <a:pathLst>
                <a:path w="26620" h="6072" extrusionOk="0">
                  <a:moveTo>
                    <a:pt x="2769" y="1"/>
                  </a:moveTo>
                  <a:lnTo>
                    <a:pt x="0" y="6072"/>
                  </a:lnTo>
                  <a:lnTo>
                    <a:pt x="13310" y="6072"/>
                  </a:lnTo>
                  <a:cubicBezTo>
                    <a:pt x="14344" y="6072"/>
                    <a:pt x="15345" y="5871"/>
                    <a:pt x="16312" y="5404"/>
                  </a:cubicBezTo>
                  <a:lnTo>
                    <a:pt x="26253" y="701"/>
                  </a:lnTo>
                  <a:cubicBezTo>
                    <a:pt x="26619" y="534"/>
                    <a:pt x="26486" y="34"/>
                    <a:pt x="26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64;p67">
              <a:extLst>
                <a:ext uri="{FF2B5EF4-FFF2-40B4-BE49-F238E27FC236}">
                  <a16:creationId xmlns:a16="http://schemas.microsoft.com/office/drawing/2014/main" id="{D1D81DF4-5D5F-46A8-9132-19BE9E8CCB56}"/>
                </a:ext>
              </a:extLst>
            </p:cNvPr>
            <p:cNvSpPr/>
            <p:nvPr/>
          </p:nvSpPr>
          <p:spPr>
            <a:xfrm>
              <a:off x="2506950" y="4729650"/>
              <a:ext cx="2551025" cy="98450"/>
            </a:xfrm>
            <a:custGeom>
              <a:avLst/>
              <a:gdLst/>
              <a:ahLst/>
              <a:cxnLst/>
              <a:rect l="l" t="t" r="r" b="b"/>
              <a:pathLst>
                <a:path w="102041" h="3938" extrusionOk="0">
                  <a:moveTo>
                    <a:pt x="1" y="1"/>
                  </a:moveTo>
                  <a:lnTo>
                    <a:pt x="1" y="168"/>
                  </a:lnTo>
                  <a:cubicBezTo>
                    <a:pt x="8841" y="1102"/>
                    <a:pt x="19081" y="1969"/>
                    <a:pt x="31690" y="2469"/>
                  </a:cubicBezTo>
                  <a:cubicBezTo>
                    <a:pt x="55207" y="3403"/>
                    <a:pt x="81092" y="3804"/>
                    <a:pt x="102040" y="3937"/>
                  </a:cubicBezTo>
                  <a:lnTo>
                    <a:pt x="101573" y="2603"/>
                  </a:lnTo>
                  <a:cubicBezTo>
                    <a:pt x="63446" y="2603"/>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65;p67">
              <a:extLst>
                <a:ext uri="{FF2B5EF4-FFF2-40B4-BE49-F238E27FC236}">
                  <a16:creationId xmlns:a16="http://schemas.microsoft.com/office/drawing/2014/main" id="{A438B0F1-FB64-4AB4-9FC9-1E4540CF15E5}"/>
                </a:ext>
              </a:extLst>
            </p:cNvPr>
            <p:cNvSpPr/>
            <p:nvPr/>
          </p:nvSpPr>
          <p:spPr>
            <a:xfrm>
              <a:off x="2696275" y="4853925"/>
              <a:ext cx="129275" cy="129275"/>
            </a:xfrm>
            <a:custGeom>
              <a:avLst/>
              <a:gdLst/>
              <a:ahLst/>
              <a:cxnLst/>
              <a:rect l="l" t="t" r="r" b="b"/>
              <a:pathLst>
                <a:path w="5171" h="5171" extrusionOk="0">
                  <a:moveTo>
                    <a:pt x="2602" y="0"/>
                  </a:moveTo>
                  <a:cubicBezTo>
                    <a:pt x="1168" y="0"/>
                    <a:pt x="0" y="1168"/>
                    <a:pt x="0" y="2602"/>
                  </a:cubicBezTo>
                  <a:cubicBezTo>
                    <a:pt x="0" y="4003"/>
                    <a:pt x="1168" y="5171"/>
                    <a:pt x="2602" y="5171"/>
                  </a:cubicBezTo>
                  <a:cubicBezTo>
                    <a:pt x="4003" y="5171"/>
                    <a:pt x="5170" y="4003"/>
                    <a:pt x="5170" y="2602"/>
                  </a:cubicBezTo>
                  <a:cubicBezTo>
                    <a:pt x="5170" y="1168"/>
                    <a:pt x="4003" y="0"/>
                    <a:pt x="26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66;p67">
              <a:extLst>
                <a:ext uri="{FF2B5EF4-FFF2-40B4-BE49-F238E27FC236}">
                  <a16:creationId xmlns:a16="http://schemas.microsoft.com/office/drawing/2014/main" id="{D4A5B501-99E4-4D12-B24F-1DD85B2A86E9}"/>
                </a:ext>
              </a:extLst>
            </p:cNvPr>
            <p:cNvSpPr/>
            <p:nvPr/>
          </p:nvSpPr>
          <p:spPr>
            <a:xfrm>
              <a:off x="3044000" y="4853925"/>
              <a:ext cx="129300" cy="129275"/>
            </a:xfrm>
            <a:custGeom>
              <a:avLst/>
              <a:gdLst/>
              <a:ahLst/>
              <a:cxnLst/>
              <a:rect l="l" t="t" r="r" b="b"/>
              <a:pathLst>
                <a:path w="5172" h="5171" extrusionOk="0">
                  <a:moveTo>
                    <a:pt x="2569" y="0"/>
                  </a:moveTo>
                  <a:cubicBezTo>
                    <a:pt x="1102" y="0"/>
                    <a:pt x="1" y="1168"/>
                    <a:pt x="1" y="2602"/>
                  </a:cubicBezTo>
                  <a:cubicBezTo>
                    <a:pt x="1" y="4003"/>
                    <a:pt x="1168" y="5171"/>
                    <a:pt x="2569" y="5171"/>
                  </a:cubicBezTo>
                  <a:cubicBezTo>
                    <a:pt x="3970" y="5171"/>
                    <a:pt x="5171" y="4003"/>
                    <a:pt x="5171" y="2602"/>
                  </a:cubicBezTo>
                  <a:cubicBezTo>
                    <a:pt x="5171" y="1168"/>
                    <a:pt x="4004"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67;p67">
              <a:extLst>
                <a:ext uri="{FF2B5EF4-FFF2-40B4-BE49-F238E27FC236}">
                  <a16:creationId xmlns:a16="http://schemas.microsoft.com/office/drawing/2014/main" id="{BCA2CA49-C084-45EC-95BA-AFF6744B670D}"/>
                </a:ext>
              </a:extLst>
            </p:cNvPr>
            <p:cNvSpPr/>
            <p:nvPr/>
          </p:nvSpPr>
          <p:spPr>
            <a:xfrm>
              <a:off x="3390100" y="4853925"/>
              <a:ext cx="128450" cy="129275"/>
            </a:xfrm>
            <a:custGeom>
              <a:avLst/>
              <a:gdLst/>
              <a:ahLst/>
              <a:cxnLst/>
              <a:rect l="l" t="t" r="r" b="b"/>
              <a:pathLst>
                <a:path w="5138" h="5171" extrusionOk="0">
                  <a:moveTo>
                    <a:pt x="2569" y="0"/>
                  </a:moveTo>
                  <a:cubicBezTo>
                    <a:pt x="1168" y="0"/>
                    <a:pt x="0" y="1168"/>
                    <a:pt x="0" y="2602"/>
                  </a:cubicBezTo>
                  <a:cubicBezTo>
                    <a:pt x="0" y="4003"/>
                    <a:pt x="1168" y="5171"/>
                    <a:pt x="2569" y="5171"/>
                  </a:cubicBezTo>
                  <a:cubicBezTo>
                    <a:pt x="3970" y="5171"/>
                    <a:pt x="5137" y="4003"/>
                    <a:pt x="5137" y="2602"/>
                  </a:cubicBezTo>
                  <a:cubicBezTo>
                    <a:pt x="5137" y="1168"/>
                    <a:pt x="4003"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68;p67">
              <a:extLst>
                <a:ext uri="{FF2B5EF4-FFF2-40B4-BE49-F238E27FC236}">
                  <a16:creationId xmlns:a16="http://schemas.microsoft.com/office/drawing/2014/main" id="{C98FA573-0D5A-46C2-8652-E02F09B3551C}"/>
                </a:ext>
              </a:extLst>
            </p:cNvPr>
            <p:cNvSpPr/>
            <p:nvPr/>
          </p:nvSpPr>
          <p:spPr>
            <a:xfrm>
              <a:off x="1623000" y="4657950"/>
              <a:ext cx="4248900" cy="587100"/>
            </a:xfrm>
            <a:custGeom>
              <a:avLst/>
              <a:gdLst/>
              <a:ahLst/>
              <a:cxnLst/>
              <a:rect l="l" t="t" r="r" b="b"/>
              <a:pathLst>
                <a:path w="169956" h="23484" extrusionOk="0">
                  <a:moveTo>
                    <a:pt x="0" y="0"/>
                  </a:moveTo>
                  <a:cubicBezTo>
                    <a:pt x="3636" y="5638"/>
                    <a:pt x="13410" y="19614"/>
                    <a:pt x="19581" y="23484"/>
                  </a:cubicBezTo>
                  <a:lnTo>
                    <a:pt x="161649" y="23484"/>
                  </a:lnTo>
                  <a:cubicBezTo>
                    <a:pt x="161649" y="23484"/>
                    <a:pt x="166286" y="22016"/>
                    <a:pt x="169955" y="20015"/>
                  </a:cubicBezTo>
                  <a:lnTo>
                    <a:pt x="92800" y="20015"/>
                  </a:lnTo>
                  <a:cubicBezTo>
                    <a:pt x="21349" y="20015"/>
                    <a:pt x="801" y="63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文字方塊 28">
            <a:extLst>
              <a:ext uri="{FF2B5EF4-FFF2-40B4-BE49-F238E27FC236}">
                <a16:creationId xmlns:a16="http://schemas.microsoft.com/office/drawing/2014/main" id="{DAB6DEFC-3761-45FD-BC44-249F16235D79}"/>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50</a:t>
            </a:r>
            <a:endParaRPr lang="zh-TW" altLang="en-US" sz="1100" dirty="0">
              <a:latin typeface="Montserrat" panose="02020500000000000000" charset="0"/>
            </a:endParaRPr>
          </a:p>
        </p:txBody>
      </p:sp>
    </p:spTree>
    <p:extLst>
      <p:ext uri="{BB962C8B-B14F-4D97-AF65-F5344CB8AC3E}">
        <p14:creationId xmlns:p14="http://schemas.microsoft.com/office/powerpoint/2010/main" val="23362301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1957871" y="1713535"/>
            <a:ext cx="5228258"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Results and discussions</a:t>
            </a:r>
          </a:p>
        </p:txBody>
      </p:sp>
      <p:pic>
        <p:nvPicPr>
          <p:cNvPr id="2" name="圖片 1">
            <a:extLst>
              <a:ext uri="{FF2B5EF4-FFF2-40B4-BE49-F238E27FC236}">
                <a16:creationId xmlns:a16="http://schemas.microsoft.com/office/drawing/2014/main" id="{5081938B-B467-45EE-90F0-D20E9441C502}"/>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0" y="4481112"/>
            <a:ext cx="9144000" cy="662388"/>
          </a:xfrm>
          <a:prstGeom prst="rect">
            <a:avLst/>
          </a:prstGeom>
        </p:spPr>
      </p:pic>
      <p:grpSp>
        <p:nvGrpSpPr>
          <p:cNvPr id="12" name="Google Shape;2047;p67">
            <a:extLst>
              <a:ext uri="{FF2B5EF4-FFF2-40B4-BE49-F238E27FC236}">
                <a16:creationId xmlns:a16="http://schemas.microsoft.com/office/drawing/2014/main" id="{A737ED4D-80B4-4DFB-80B9-728A667074E0}"/>
              </a:ext>
            </a:extLst>
          </p:cNvPr>
          <p:cNvGrpSpPr/>
          <p:nvPr/>
        </p:nvGrpSpPr>
        <p:grpSpPr>
          <a:xfrm>
            <a:off x="7301497" y="3676650"/>
            <a:ext cx="1225283" cy="1333250"/>
            <a:chOff x="1473725" y="402400"/>
            <a:chExt cx="4629150" cy="4842650"/>
          </a:xfrm>
        </p:grpSpPr>
        <p:sp>
          <p:nvSpPr>
            <p:cNvPr id="13" name="Google Shape;2048;p67">
              <a:extLst>
                <a:ext uri="{FF2B5EF4-FFF2-40B4-BE49-F238E27FC236}">
                  <a16:creationId xmlns:a16="http://schemas.microsoft.com/office/drawing/2014/main" id="{A77CE4C8-40FA-485C-A7F4-3629E23F19B3}"/>
                </a:ext>
              </a:extLst>
            </p:cNvPr>
            <p:cNvSpPr/>
            <p:nvPr/>
          </p:nvSpPr>
          <p:spPr>
            <a:xfrm>
              <a:off x="3691150" y="4289350"/>
              <a:ext cx="79250" cy="154300"/>
            </a:xfrm>
            <a:custGeom>
              <a:avLst/>
              <a:gdLst/>
              <a:ahLst/>
              <a:cxnLst/>
              <a:rect l="l" t="t" r="r" b="b"/>
              <a:pathLst>
                <a:path w="3170" h="6172" extrusionOk="0">
                  <a:moveTo>
                    <a:pt x="33" y="0"/>
                  </a:moveTo>
                  <a:lnTo>
                    <a:pt x="0" y="6171"/>
                  </a:lnTo>
                  <a:lnTo>
                    <a:pt x="3169" y="6171"/>
                  </a:lnTo>
                  <a:lnTo>
                    <a:pt x="3136" y="100"/>
                  </a:lnTo>
                  <a:cubicBezTo>
                    <a:pt x="2135" y="67"/>
                    <a:pt x="1068" y="34"/>
                    <a:pt x="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49;p67">
              <a:extLst>
                <a:ext uri="{FF2B5EF4-FFF2-40B4-BE49-F238E27FC236}">
                  <a16:creationId xmlns:a16="http://schemas.microsoft.com/office/drawing/2014/main" id="{F582A7AB-EC04-40A2-A0CD-1617B4BC9086}"/>
                </a:ext>
              </a:extLst>
            </p:cNvPr>
            <p:cNvSpPr/>
            <p:nvPr/>
          </p:nvSpPr>
          <p:spPr>
            <a:xfrm>
              <a:off x="3696975" y="697600"/>
              <a:ext cx="68400" cy="2770350"/>
            </a:xfrm>
            <a:custGeom>
              <a:avLst/>
              <a:gdLst/>
              <a:ahLst/>
              <a:cxnLst/>
              <a:rect l="l" t="t" r="r" b="b"/>
              <a:pathLst>
                <a:path w="2736" h="110814" extrusionOk="0">
                  <a:moveTo>
                    <a:pt x="2102" y="1"/>
                  </a:moveTo>
                  <a:cubicBezTo>
                    <a:pt x="1602" y="1769"/>
                    <a:pt x="1101" y="3637"/>
                    <a:pt x="568" y="5672"/>
                  </a:cubicBezTo>
                  <a:lnTo>
                    <a:pt x="1" y="104009"/>
                  </a:lnTo>
                  <a:cubicBezTo>
                    <a:pt x="835" y="106310"/>
                    <a:pt x="1735" y="108545"/>
                    <a:pt x="2736" y="110813"/>
                  </a:cubicBezTo>
                  <a:lnTo>
                    <a:pt x="2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50;p67">
              <a:extLst>
                <a:ext uri="{FF2B5EF4-FFF2-40B4-BE49-F238E27FC236}">
                  <a16:creationId xmlns:a16="http://schemas.microsoft.com/office/drawing/2014/main" id="{3BFB68A4-31CA-4D34-919E-4F7C2F401C64}"/>
                </a:ext>
              </a:extLst>
            </p:cNvPr>
            <p:cNvSpPr/>
            <p:nvPr/>
          </p:nvSpPr>
          <p:spPr>
            <a:xfrm>
              <a:off x="2485275" y="4577875"/>
              <a:ext cx="1355175" cy="155975"/>
            </a:xfrm>
            <a:custGeom>
              <a:avLst/>
              <a:gdLst/>
              <a:ahLst/>
              <a:cxnLst/>
              <a:rect l="l" t="t" r="r" b="b"/>
              <a:pathLst>
                <a:path w="54207" h="6239" extrusionOk="0">
                  <a:moveTo>
                    <a:pt x="13944" y="1"/>
                  </a:moveTo>
                  <a:cubicBezTo>
                    <a:pt x="6005" y="2469"/>
                    <a:pt x="1" y="6172"/>
                    <a:pt x="1" y="6172"/>
                  </a:cubicBezTo>
                  <a:cubicBezTo>
                    <a:pt x="268" y="6205"/>
                    <a:pt x="568" y="6205"/>
                    <a:pt x="868" y="6239"/>
                  </a:cubicBezTo>
                  <a:lnTo>
                    <a:pt x="868" y="6072"/>
                  </a:lnTo>
                  <a:lnTo>
                    <a:pt x="51404" y="6072"/>
                  </a:lnTo>
                  <a:lnTo>
                    <a:pt x="54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51;p67">
              <a:extLst>
                <a:ext uri="{FF2B5EF4-FFF2-40B4-BE49-F238E27FC236}">
                  <a16:creationId xmlns:a16="http://schemas.microsoft.com/office/drawing/2014/main" id="{EE278A19-5780-4E4A-88C7-6EC07F1794AA}"/>
                </a:ext>
              </a:extLst>
            </p:cNvPr>
            <p:cNvSpPr/>
            <p:nvPr/>
          </p:nvSpPr>
          <p:spPr>
            <a:xfrm>
              <a:off x="5184700" y="4627925"/>
              <a:ext cx="918175" cy="217675"/>
            </a:xfrm>
            <a:custGeom>
              <a:avLst/>
              <a:gdLst/>
              <a:ahLst/>
              <a:cxnLst/>
              <a:rect l="l" t="t" r="r" b="b"/>
              <a:pathLst>
                <a:path w="36727" h="8707" extrusionOk="0">
                  <a:moveTo>
                    <a:pt x="3303" y="0"/>
                  </a:moveTo>
                  <a:cubicBezTo>
                    <a:pt x="2970" y="0"/>
                    <a:pt x="2636" y="201"/>
                    <a:pt x="2536" y="534"/>
                  </a:cubicBezTo>
                  <a:lnTo>
                    <a:pt x="1" y="8340"/>
                  </a:lnTo>
                  <a:lnTo>
                    <a:pt x="1102" y="8707"/>
                  </a:lnTo>
                  <a:lnTo>
                    <a:pt x="3370" y="1702"/>
                  </a:lnTo>
                  <a:cubicBezTo>
                    <a:pt x="3503" y="1368"/>
                    <a:pt x="3803" y="1168"/>
                    <a:pt x="4137" y="1168"/>
                  </a:cubicBezTo>
                  <a:lnTo>
                    <a:pt x="10942" y="1168"/>
                  </a:lnTo>
                  <a:cubicBezTo>
                    <a:pt x="11476" y="1168"/>
                    <a:pt x="11843" y="1702"/>
                    <a:pt x="11676" y="2202"/>
                  </a:cubicBezTo>
                  <a:lnTo>
                    <a:pt x="9674" y="8340"/>
                  </a:lnTo>
                  <a:lnTo>
                    <a:pt x="10775" y="8707"/>
                  </a:lnTo>
                  <a:lnTo>
                    <a:pt x="13043" y="1702"/>
                  </a:lnTo>
                  <a:cubicBezTo>
                    <a:pt x="13177" y="1368"/>
                    <a:pt x="13477" y="1168"/>
                    <a:pt x="13811" y="1168"/>
                  </a:cubicBezTo>
                  <a:lnTo>
                    <a:pt x="21950" y="1168"/>
                  </a:lnTo>
                  <a:cubicBezTo>
                    <a:pt x="22483" y="1168"/>
                    <a:pt x="22850" y="1702"/>
                    <a:pt x="22684" y="2202"/>
                  </a:cubicBezTo>
                  <a:lnTo>
                    <a:pt x="20682" y="8340"/>
                  </a:lnTo>
                  <a:lnTo>
                    <a:pt x="21783" y="8707"/>
                  </a:lnTo>
                  <a:lnTo>
                    <a:pt x="24051" y="1702"/>
                  </a:lnTo>
                  <a:cubicBezTo>
                    <a:pt x="24185" y="1368"/>
                    <a:pt x="24485" y="1168"/>
                    <a:pt x="24818" y="1168"/>
                  </a:cubicBezTo>
                  <a:lnTo>
                    <a:pt x="33491" y="1168"/>
                  </a:lnTo>
                  <a:cubicBezTo>
                    <a:pt x="33892" y="1168"/>
                    <a:pt x="34292" y="1501"/>
                    <a:pt x="34292" y="1935"/>
                  </a:cubicBezTo>
                  <a:lnTo>
                    <a:pt x="34459" y="8540"/>
                  </a:lnTo>
                  <a:lnTo>
                    <a:pt x="35626" y="8506"/>
                  </a:lnTo>
                  <a:lnTo>
                    <a:pt x="35393" y="1168"/>
                  </a:lnTo>
                  <a:lnTo>
                    <a:pt x="36727" y="1168"/>
                  </a:lnTo>
                  <a:lnTo>
                    <a:pt x="367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2;p67">
              <a:extLst>
                <a:ext uri="{FF2B5EF4-FFF2-40B4-BE49-F238E27FC236}">
                  <a16:creationId xmlns:a16="http://schemas.microsoft.com/office/drawing/2014/main" id="{04B793D6-664D-4E89-AE94-D098ACE4E2B1}"/>
                </a:ext>
              </a:extLst>
            </p:cNvPr>
            <p:cNvSpPr/>
            <p:nvPr/>
          </p:nvSpPr>
          <p:spPr>
            <a:xfrm>
              <a:off x="1473725" y="4451950"/>
              <a:ext cx="967375" cy="276075"/>
            </a:xfrm>
            <a:custGeom>
              <a:avLst/>
              <a:gdLst/>
              <a:ahLst/>
              <a:cxnLst/>
              <a:rect l="l" t="t" r="r" b="b"/>
              <a:pathLst>
                <a:path w="38695" h="11043" extrusionOk="0">
                  <a:moveTo>
                    <a:pt x="0" y="1"/>
                  </a:moveTo>
                  <a:lnTo>
                    <a:pt x="634" y="902"/>
                  </a:lnTo>
                  <a:cubicBezTo>
                    <a:pt x="668" y="935"/>
                    <a:pt x="3169" y="4571"/>
                    <a:pt x="6505" y="9041"/>
                  </a:cubicBezTo>
                  <a:lnTo>
                    <a:pt x="7472" y="8340"/>
                  </a:lnTo>
                  <a:cubicBezTo>
                    <a:pt x="5371" y="5538"/>
                    <a:pt x="3570" y="3070"/>
                    <a:pt x="2569" y="1602"/>
                  </a:cubicBezTo>
                  <a:cubicBezTo>
                    <a:pt x="2469" y="1435"/>
                    <a:pt x="2569" y="1202"/>
                    <a:pt x="2802" y="1202"/>
                  </a:cubicBezTo>
                  <a:cubicBezTo>
                    <a:pt x="5871" y="1235"/>
                    <a:pt x="9174" y="1402"/>
                    <a:pt x="13010" y="1736"/>
                  </a:cubicBezTo>
                  <a:cubicBezTo>
                    <a:pt x="13076" y="1736"/>
                    <a:pt x="13177" y="1769"/>
                    <a:pt x="13210" y="1869"/>
                  </a:cubicBezTo>
                  <a:cubicBezTo>
                    <a:pt x="13810" y="2670"/>
                    <a:pt x="16012" y="5872"/>
                    <a:pt x="18847" y="9608"/>
                  </a:cubicBezTo>
                  <a:lnTo>
                    <a:pt x="19314" y="9241"/>
                  </a:lnTo>
                  <a:lnTo>
                    <a:pt x="18914" y="9741"/>
                  </a:lnTo>
                  <a:lnTo>
                    <a:pt x="19381" y="9408"/>
                  </a:lnTo>
                  <a:lnTo>
                    <a:pt x="19748" y="8907"/>
                  </a:lnTo>
                  <a:cubicBezTo>
                    <a:pt x="17713" y="6205"/>
                    <a:pt x="16012" y="3770"/>
                    <a:pt x="14978" y="2369"/>
                  </a:cubicBezTo>
                  <a:cubicBezTo>
                    <a:pt x="14851" y="2211"/>
                    <a:pt x="14965" y="1933"/>
                    <a:pt x="15176" y="1933"/>
                  </a:cubicBezTo>
                  <a:cubicBezTo>
                    <a:pt x="15187" y="1933"/>
                    <a:pt x="15199" y="1934"/>
                    <a:pt x="15211" y="1936"/>
                  </a:cubicBezTo>
                  <a:cubicBezTo>
                    <a:pt x="18647" y="2269"/>
                    <a:pt x="22216" y="2670"/>
                    <a:pt x="26653" y="3170"/>
                  </a:cubicBezTo>
                  <a:cubicBezTo>
                    <a:pt x="26720" y="3170"/>
                    <a:pt x="26820" y="3203"/>
                    <a:pt x="26853" y="3270"/>
                  </a:cubicBezTo>
                  <a:cubicBezTo>
                    <a:pt x="28721" y="5939"/>
                    <a:pt x="30589" y="8574"/>
                    <a:pt x="32490" y="11042"/>
                  </a:cubicBezTo>
                  <a:lnTo>
                    <a:pt x="33424" y="10342"/>
                  </a:lnTo>
                  <a:cubicBezTo>
                    <a:pt x="31857" y="8240"/>
                    <a:pt x="30255" y="6072"/>
                    <a:pt x="28721" y="3837"/>
                  </a:cubicBezTo>
                  <a:cubicBezTo>
                    <a:pt x="28596" y="3619"/>
                    <a:pt x="28705" y="3400"/>
                    <a:pt x="28938" y="3400"/>
                  </a:cubicBezTo>
                  <a:cubicBezTo>
                    <a:pt x="28954" y="3400"/>
                    <a:pt x="28971" y="3401"/>
                    <a:pt x="28988" y="3403"/>
                  </a:cubicBezTo>
                  <a:cubicBezTo>
                    <a:pt x="31990" y="3737"/>
                    <a:pt x="35159" y="4071"/>
                    <a:pt x="38528" y="4404"/>
                  </a:cubicBezTo>
                  <a:lnTo>
                    <a:pt x="38695" y="3203"/>
                  </a:lnTo>
                  <a:cubicBezTo>
                    <a:pt x="34625" y="2770"/>
                    <a:pt x="30822" y="2369"/>
                    <a:pt x="27220" y="2002"/>
                  </a:cubicBezTo>
                  <a:cubicBezTo>
                    <a:pt x="21849" y="1369"/>
                    <a:pt x="17713" y="902"/>
                    <a:pt x="13644" y="568"/>
                  </a:cubicBezTo>
                  <a:cubicBezTo>
                    <a:pt x="8840" y="168"/>
                    <a:pt x="4837" y="1"/>
                    <a:pt x="1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53;p67">
              <a:extLst>
                <a:ext uri="{FF2B5EF4-FFF2-40B4-BE49-F238E27FC236}">
                  <a16:creationId xmlns:a16="http://schemas.microsoft.com/office/drawing/2014/main" id="{5B07ADCE-C351-4B23-96A1-8714CDA64364}"/>
                </a:ext>
              </a:extLst>
            </p:cNvPr>
            <p:cNvSpPr/>
            <p:nvPr/>
          </p:nvSpPr>
          <p:spPr>
            <a:xfrm>
              <a:off x="1623000" y="4660450"/>
              <a:ext cx="4463200" cy="500375"/>
            </a:xfrm>
            <a:custGeom>
              <a:avLst/>
              <a:gdLst/>
              <a:ahLst/>
              <a:cxnLst/>
              <a:rect l="l" t="t" r="r" b="b"/>
              <a:pathLst>
                <a:path w="178528" h="20015" extrusionOk="0">
                  <a:moveTo>
                    <a:pt x="0" y="0"/>
                  </a:moveTo>
                  <a:cubicBezTo>
                    <a:pt x="0" y="0"/>
                    <a:pt x="3069" y="4504"/>
                    <a:pt x="7039" y="9607"/>
                  </a:cubicBezTo>
                  <a:cubicBezTo>
                    <a:pt x="7839" y="10241"/>
                    <a:pt x="21349" y="20015"/>
                    <a:pt x="92767" y="20015"/>
                  </a:cubicBezTo>
                  <a:lnTo>
                    <a:pt x="169922" y="20015"/>
                  </a:lnTo>
                  <a:cubicBezTo>
                    <a:pt x="171289" y="19247"/>
                    <a:pt x="172490" y="18447"/>
                    <a:pt x="173291" y="17613"/>
                  </a:cubicBezTo>
                  <a:cubicBezTo>
                    <a:pt x="176260" y="14544"/>
                    <a:pt x="178528" y="6839"/>
                    <a:pt x="178528" y="6839"/>
                  </a:cubicBezTo>
                  <a:cubicBezTo>
                    <a:pt x="178528" y="6839"/>
                    <a:pt x="176230" y="6809"/>
                    <a:pt x="172148" y="6809"/>
                  </a:cubicBezTo>
                  <a:cubicBezTo>
                    <a:pt x="170107" y="6809"/>
                    <a:pt x="167620" y="6816"/>
                    <a:pt x="164751" y="6839"/>
                  </a:cubicBezTo>
                  <a:lnTo>
                    <a:pt x="153743" y="6839"/>
                  </a:lnTo>
                  <a:cubicBezTo>
                    <a:pt x="150675" y="6839"/>
                    <a:pt x="147439" y="6839"/>
                    <a:pt x="144003" y="6772"/>
                  </a:cubicBezTo>
                  <a:cubicBezTo>
                    <a:pt x="141835" y="6772"/>
                    <a:pt x="139633" y="6738"/>
                    <a:pt x="137332" y="6738"/>
                  </a:cubicBezTo>
                  <a:cubicBezTo>
                    <a:pt x="116417" y="6572"/>
                    <a:pt x="90532" y="6205"/>
                    <a:pt x="67015" y="5271"/>
                  </a:cubicBezTo>
                  <a:cubicBezTo>
                    <a:pt x="54406" y="4770"/>
                    <a:pt x="44165" y="3903"/>
                    <a:pt x="35326" y="3002"/>
                  </a:cubicBezTo>
                  <a:cubicBezTo>
                    <a:pt x="35025" y="2936"/>
                    <a:pt x="34725" y="2936"/>
                    <a:pt x="34425" y="2902"/>
                  </a:cubicBezTo>
                  <a:cubicBezTo>
                    <a:pt x="31490" y="2569"/>
                    <a:pt x="28688" y="2269"/>
                    <a:pt x="26019" y="2002"/>
                  </a:cubicBezTo>
                  <a:cubicBezTo>
                    <a:pt x="21082" y="1435"/>
                    <a:pt x="16646" y="934"/>
                    <a:pt x="12343" y="567"/>
                  </a:cubicBezTo>
                  <a:cubicBezTo>
                    <a:pt x="8073" y="200"/>
                    <a:pt x="403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54;p67">
              <a:extLst>
                <a:ext uri="{FF2B5EF4-FFF2-40B4-BE49-F238E27FC236}">
                  <a16:creationId xmlns:a16="http://schemas.microsoft.com/office/drawing/2014/main" id="{194E3012-E3D0-43B8-95D3-380E6C8E1F96}"/>
                </a:ext>
              </a:extLst>
            </p:cNvPr>
            <p:cNvSpPr/>
            <p:nvPr/>
          </p:nvSpPr>
          <p:spPr>
            <a:xfrm>
              <a:off x="3129900" y="4444450"/>
              <a:ext cx="2074000" cy="80100"/>
            </a:xfrm>
            <a:custGeom>
              <a:avLst/>
              <a:gdLst/>
              <a:ahLst/>
              <a:cxnLst/>
              <a:rect l="l" t="t" r="r" b="b"/>
              <a:pathLst>
                <a:path w="82960" h="3204" extrusionOk="0">
                  <a:moveTo>
                    <a:pt x="3170" y="1"/>
                  </a:moveTo>
                  <a:cubicBezTo>
                    <a:pt x="1435" y="1"/>
                    <a:pt x="1" y="1402"/>
                    <a:pt x="1" y="3170"/>
                  </a:cubicBezTo>
                  <a:lnTo>
                    <a:pt x="1" y="3203"/>
                  </a:lnTo>
                  <a:lnTo>
                    <a:pt x="81359" y="3203"/>
                  </a:lnTo>
                  <a:cubicBezTo>
                    <a:pt x="82226" y="3203"/>
                    <a:pt x="82960" y="2503"/>
                    <a:pt x="82960" y="1569"/>
                  </a:cubicBezTo>
                  <a:cubicBezTo>
                    <a:pt x="82960" y="701"/>
                    <a:pt x="82226" y="1"/>
                    <a:pt x="81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55;p67">
              <a:extLst>
                <a:ext uri="{FF2B5EF4-FFF2-40B4-BE49-F238E27FC236}">
                  <a16:creationId xmlns:a16="http://schemas.microsoft.com/office/drawing/2014/main" id="{CF94098C-58E7-4B0A-874D-7A15E4B455FD}"/>
                </a:ext>
              </a:extLst>
            </p:cNvPr>
            <p:cNvSpPr/>
            <p:nvPr/>
          </p:nvSpPr>
          <p:spPr>
            <a:xfrm>
              <a:off x="3129075" y="4445300"/>
              <a:ext cx="2074825" cy="78400"/>
            </a:xfrm>
            <a:custGeom>
              <a:avLst/>
              <a:gdLst/>
              <a:ahLst/>
              <a:cxnLst/>
              <a:rect l="l" t="t" r="r" b="b"/>
              <a:pathLst>
                <a:path w="82993" h="3136" extrusionOk="0">
                  <a:moveTo>
                    <a:pt x="81859" y="0"/>
                  </a:moveTo>
                  <a:lnTo>
                    <a:pt x="81859" y="0"/>
                  </a:lnTo>
                  <a:cubicBezTo>
                    <a:pt x="81926" y="200"/>
                    <a:pt x="82026" y="434"/>
                    <a:pt x="82026" y="667"/>
                  </a:cubicBezTo>
                  <a:lnTo>
                    <a:pt x="82026" y="701"/>
                  </a:lnTo>
                  <a:cubicBezTo>
                    <a:pt x="82026" y="1601"/>
                    <a:pt x="81325" y="2302"/>
                    <a:pt x="80424" y="2302"/>
                  </a:cubicBezTo>
                  <a:lnTo>
                    <a:pt x="134" y="2302"/>
                  </a:lnTo>
                  <a:cubicBezTo>
                    <a:pt x="34" y="2535"/>
                    <a:pt x="0" y="2836"/>
                    <a:pt x="0" y="3102"/>
                  </a:cubicBezTo>
                  <a:lnTo>
                    <a:pt x="0" y="3136"/>
                  </a:lnTo>
                  <a:lnTo>
                    <a:pt x="81392" y="3136"/>
                  </a:lnTo>
                  <a:cubicBezTo>
                    <a:pt x="82259" y="3136"/>
                    <a:pt x="82993" y="2435"/>
                    <a:pt x="82993" y="1535"/>
                  </a:cubicBezTo>
                  <a:lnTo>
                    <a:pt x="82993" y="1501"/>
                  </a:lnTo>
                  <a:cubicBezTo>
                    <a:pt x="82993" y="801"/>
                    <a:pt x="82526" y="200"/>
                    <a:pt x="8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56;p67">
              <a:extLst>
                <a:ext uri="{FF2B5EF4-FFF2-40B4-BE49-F238E27FC236}">
                  <a16:creationId xmlns:a16="http://schemas.microsoft.com/office/drawing/2014/main" id="{4FE2A90D-BFB8-43F2-8A3B-0F59845D93B1}"/>
                </a:ext>
              </a:extLst>
            </p:cNvPr>
            <p:cNvSpPr/>
            <p:nvPr/>
          </p:nvSpPr>
          <p:spPr>
            <a:xfrm>
              <a:off x="3855425" y="595875"/>
              <a:ext cx="1367675" cy="3558400"/>
            </a:xfrm>
            <a:custGeom>
              <a:avLst/>
              <a:gdLst/>
              <a:ahLst/>
              <a:cxnLst/>
              <a:rect l="l" t="t" r="r" b="b"/>
              <a:pathLst>
                <a:path w="54707" h="142336" extrusionOk="0">
                  <a:moveTo>
                    <a:pt x="0" y="0"/>
                  </a:moveTo>
                  <a:lnTo>
                    <a:pt x="0" y="122154"/>
                  </a:lnTo>
                  <a:cubicBezTo>
                    <a:pt x="4037" y="129426"/>
                    <a:pt x="9140" y="136231"/>
                    <a:pt x="15578" y="142335"/>
                  </a:cubicBezTo>
                  <a:lnTo>
                    <a:pt x="54706" y="142335"/>
                  </a:lnTo>
                  <a:cubicBezTo>
                    <a:pt x="54706" y="142335"/>
                    <a:pt x="11309" y="85628"/>
                    <a:pt x="0" y="0"/>
                  </a:cubicBezTo>
                  <a:close/>
                </a:path>
              </a:pathLst>
            </a:custGeom>
            <a:solidFill>
              <a:schemeClr val="accent5">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57;p67">
              <a:extLst>
                <a:ext uri="{FF2B5EF4-FFF2-40B4-BE49-F238E27FC236}">
                  <a16:creationId xmlns:a16="http://schemas.microsoft.com/office/drawing/2014/main" id="{54151CD9-5BB3-4BCB-87C0-D86DCE56DE8D}"/>
                </a:ext>
              </a:extLst>
            </p:cNvPr>
            <p:cNvSpPr/>
            <p:nvPr/>
          </p:nvSpPr>
          <p:spPr>
            <a:xfrm>
              <a:off x="2504450" y="4524525"/>
              <a:ext cx="2551025" cy="304400"/>
            </a:xfrm>
            <a:custGeom>
              <a:avLst/>
              <a:gdLst/>
              <a:ahLst/>
              <a:cxnLst/>
              <a:rect l="l" t="t" r="r" b="b"/>
              <a:pathLst>
                <a:path w="102041" h="12176" extrusionOk="0">
                  <a:moveTo>
                    <a:pt x="98505" y="0"/>
                  </a:moveTo>
                  <a:lnTo>
                    <a:pt x="98505" y="33"/>
                  </a:lnTo>
                  <a:lnTo>
                    <a:pt x="25786" y="33"/>
                  </a:lnTo>
                  <a:cubicBezTo>
                    <a:pt x="21416" y="33"/>
                    <a:pt x="16980" y="967"/>
                    <a:pt x="13077" y="2168"/>
                  </a:cubicBezTo>
                  <a:lnTo>
                    <a:pt x="53339" y="2168"/>
                  </a:lnTo>
                  <a:lnTo>
                    <a:pt x="50537" y="8273"/>
                  </a:lnTo>
                  <a:lnTo>
                    <a:pt x="1" y="8273"/>
                  </a:lnTo>
                  <a:lnTo>
                    <a:pt x="1" y="8439"/>
                  </a:lnTo>
                  <a:cubicBezTo>
                    <a:pt x="8841" y="9340"/>
                    <a:pt x="19115" y="10207"/>
                    <a:pt x="31690" y="10708"/>
                  </a:cubicBezTo>
                  <a:cubicBezTo>
                    <a:pt x="55207" y="11642"/>
                    <a:pt x="81125" y="12009"/>
                    <a:pt x="102040" y="12175"/>
                  </a:cubicBezTo>
                  <a:lnTo>
                    <a:pt x="985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58;p67">
              <a:extLst>
                <a:ext uri="{FF2B5EF4-FFF2-40B4-BE49-F238E27FC236}">
                  <a16:creationId xmlns:a16="http://schemas.microsoft.com/office/drawing/2014/main" id="{5BEA788E-3DDA-4D97-ACA0-A98C73111334}"/>
                </a:ext>
              </a:extLst>
            </p:cNvPr>
            <p:cNvSpPr/>
            <p:nvPr/>
          </p:nvSpPr>
          <p:spPr>
            <a:xfrm>
              <a:off x="4874475" y="4523675"/>
              <a:ext cx="181000" cy="304425"/>
            </a:xfrm>
            <a:custGeom>
              <a:avLst/>
              <a:gdLst/>
              <a:ahLst/>
              <a:cxnLst/>
              <a:rect l="l" t="t" r="r" b="b"/>
              <a:pathLst>
                <a:path w="7240" h="12177" extrusionOk="0">
                  <a:moveTo>
                    <a:pt x="1" y="1"/>
                  </a:moveTo>
                  <a:lnTo>
                    <a:pt x="3537" y="12143"/>
                  </a:lnTo>
                  <a:cubicBezTo>
                    <a:pt x="4838" y="12176"/>
                    <a:pt x="6039" y="12176"/>
                    <a:pt x="7239" y="12176"/>
                  </a:cubicBezTo>
                  <a:lnTo>
                    <a:pt x="37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59;p67">
              <a:extLst>
                <a:ext uri="{FF2B5EF4-FFF2-40B4-BE49-F238E27FC236}">
                  <a16:creationId xmlns:a16="http://schemas.microsoft.com/office/drawing/2014/main" id="{55BF8B09-1B10-4F4B-B847-16A0C3199400}"/>
                </a:ext>
              </a:extLst>
            </p:cNvPr>
            <p:cNvSpPr/>
            <p:nvPr/>
          </p:nvSpPr>
          <p:spPr>
            <a:xfrm>
              <a:off x="3144075" y="4524525"/>
              <a:ext cx="1831350" cy="25875"/>
            </a:xfrm>
            <a:custGeom>
              <a:avLst/>
              <a:gdLst/>
              <a:ahLst/>
              <a:cxnLst/>
              <a:rect l="l" t="t" r="r" b="b"/>
              <a:pathLst>
                <a:path w="73254" h="1035" extrusionOk="0">
                  <a:moveTo>
                    <a:pt x="1" y="0"/>
                  </a:moveTo>
                  <a:lnTo>
                    <a:pt x="72953" y="1034"/>
                  </a:lnTo>
                  <a:lnTo>
                    <a:pt x="73253" y="1034"/>
                  </a:lnTo>
                  <a:lnTo>
                    <a:pt x="72920" y="0"/>
                  </a:ln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60;p67">
              <a:extLst>
                <a:ext uri="{FF2B5EF4-FFF2-40B4-BE49-F238E27FC236}">
                  <a16:creationId xmlns:a16="http://schemas.microsoft.com/office/drawing/2014/main" id="{DF162C48-3001-46A6-AE0E-61ED832EA2E0}"/>
                </a:ext>
              </a:extLst>
            </p:cNvPr>
            <p:cNvSpPr/>
            <p:nvPr/>
          </p:nvSpPr>
          <p:spPr>
            <a:xfrm>
              <a:off x="1686375" y="402400"/>
              <a:ext cx="2739475" cy="3907825"/>
            </a:xfrm>
            <a:custGeom>
              <a:avLst/>
              <a:gdLst/>
              <a:ahLst/>
              <a:cxnLst/>
              <a:rect l="l" t="t" r="r" b="b"/>
              <a:pathLst>
                <a:path w="109579" h="156313" extrusionOk="0">
                  <a:moveTo>
                    <a:pt x="86262" y="0"/>
                  </a:moveTo>
                  <a:lnTo>
                    <a:pt x="86262" y="0"/>
                  </a:lnTo>
                  <a:cubicBezTo>
                    <a:pt x="24718" y="52271"/>
                    <a:pt x="1" y="147840"/>
                    <a:pt x="1" y="147840"/>
                  </a:cubicBezTo>
                  <a:cubicBezTo>
                    <a:pt x="21082" y="152376"/>
                    <a:pt x="55540" y="154544"/>
                    <a:pt x="80191" y="155512"/>
                  </a:cubicBezTo>
                  <a:cubicBezTo>
                    <a:pt x="81259" y="155545"/>
                    <a:pt x="82293" y="155578"/>
                    <a:pt x="83293" y="155612"/>
                  </a:cubicBezTo>
                  <a:cubicBezTo>
                    <a:pt x="98738" y="156179"/>
                    <a:pt x="109579" y="156312"/>
                    <a:pt x="109579" y="156312"/>
                  </a:cubicBezTo>
                  <a:cubicBezTo>
                    <a:pt x="107010" y="154311"/>
                    <a:pt x="104575" y="152243"/>
                    <a:pt x="102340" y="150074"/>
                  </a:cubicBezTo>
                  <a:cubicBezTo>
                    <a:pt x="95902" y="143970"/>
                    <a:pt x="90765" y="137165"/>
                    <a:pt x="86762" y="129893"/>
                  </a:cubicBezTo>
                  <a:cubicBezTo>
                    <a:pt x="85428" y="127525"/>
                    <a:pt x="84227" y="125057"/>
                    <a:pt x="83160" y="122621"/>
                  </a:cubicBezTo>
                  <a:cubicBezTo>
                    <a:pt x="82159" y="120353"/>
                    <a:pt x="81259" y="118118"/>
                    <a:pt x="80391" y="115883"/>
                  </a:cubicBezTo>
                  <a:cubicBezTo>
                    <a:pt x="67982" y="80892"/>
                    <a:pt x="75054" y="40196"/>
                    <a:pt x="80925" y="17580"/>
                  </a:cubicBezTo>
                  <a:cubicBezTo>
                    <a:pt x="81225" y="16479"/>
                    <a:pt x="81492" y="15445"/>
                    <a:pt x="81759" y="14444"/>
                  </a:cubicBezTo>
                  <a:cubicBezTo>
                    <a:pt x="82026" y="13510"/>
                    <a:pt x="82226" y="12676"/>
                    <a:pt x="82459" y="11842"/>
                  </a:cubicBezTo>
                  <a:cubicBezTo>
                    <a:pt x="82926" y="10241"/>
                    <a:pt x="83393" y="8740"/>
                    <a:pt x="83794" y="7406"/>
                  </a:cubicBezTo>
                  <a:cubicBezTo>
                    <a:pt x="85261" y="2669"/>
                    <a:pt x="86262" y="1"/>
                    <a:pt x="86262"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061;p67">
              <a:extLst>
                <a:ext uri="{FF2B5EF4-FFF2-40B4-BE49-F238E27FC236}">
                  <a16:creationId xmlns:a16="http://schemas.microsoft.com/office/drawing/2014/main" id="{863BB7D5-41DA-4F49-8EDA-6A4A8C4C6552}"/>
                </a:ext>
              </a:extLst>
            </p:cNvPr>
            <p:cNvSpPr/>
            <p:nvPr/>
          </p:nvSpPr>
          <p:spPr>
            <a:xfrm>
              <a:off x="3854600" y="2893350"/>
              <a:ext cx="656325" cy="1260925"/>
            </a:xfrm>
            <a:custGeom>
              <a:avLst/>
              <a:gdLst/>
              <a:ahLst/>
              <a:cxnLst/>
              <a:rect l="l" t="t" r="r" b="b"/>
              <a:pathLst>
                <a:path w="26253" h="50437" extrusionOk="0">
                  <a:moveTo>
                    <a:pt x="0" y="0"/>
                  </a:moveTo>
                  <a:lnTo>
                    <a:pt x="0" y="30222"/>
                  </a:lnTo>
                  <a:cubicBezTo>
                    <a:pt x="4036" y="37527"/>
                    <a:pt x="9173" y="44332"/>
                    <a:pt x="15545" y="50436"/>
                  </a:cubicBezTo>
                  <a:lnTo>
                    <a:pt x="26252" y="50436"/>
                  </a:lnTo>
                  <a:cubicBezTo>
                    <a:pt x="19848" y="44332"/>
                    <a:pt x="14744" y="37527"/>
                    <a:pt x="10708" y="30255"/>
                  </a:cubicBezTo>
                  <a:cubicBezTo>
                    <a:pt x="9373" y="27887"/>
                    <a:pt x="8173" y="25419"/>
                    <a:pt x="7072" y="22983"/>
                  </a:cubicBezTo>
                  <a:cubicBezTo>
                    <a:pt x="6104" y="20715"/>
                    <a:pt x="5204" y="18480"/>
                    <a:pt x="4370" y="16179"/>
                  </a:cubicBezTo>
                  <a:cubicBezTo>
                    <a:pt x="2502" y="10875"/>
                    <a:pt x="1101" y="5471"/>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62;p67">
              <a:extLst>
                <a:ext uri="{FF2B5EF4-FFF2-40B4-BE49-F238E27FC236}">
                  <a16:creationId xmlns:a16="http://schemas.microsoft.com/office/drawing/2014/main" id="{0B2F7652-BA63-4459-B1A1-F64A6C9B2C86}"/>
                </a:ext>
              </a:extLst>
            </p:cNvPr>
            <p:cNvSpPr/>
            <p:nvPr/>
          </p:nvSpPr>
          <p:spPr>
            <a:xfrm>
              <a:off x="3855425" y="632550"/>
              <a:ext cx="73400" cy="797275"/>
            </a:xfrm>
            <a:custGeom>
              <a:avLst/>
              <a:gdLst/>
              <a:ahLst/>
              <a:cxnLst/>
              <a:rect l="l" t="t" r="r" b="b"/>
              <a:pathLst>
                <a:path w="2936" h="31891" extrusionOk="0">
                  <a:moveTo>
                    <a:pt x="234" y="1"/>
                  </a:moveTo>
                  <a:lnTo>
                    <a:pt x="0" y="201"/>
                  </a:lnTo>
                  <a:lnTo>
                    <a:pt x="0" y="31890"/>
                  </a:lnTo>
                  <a:cubicBezTo>
                    <a:pt x="901" y="26387"/>
                    <a:pt x="1902" y="21216"/>
                    <a:pt x="2936" y="16513"/>
                  </a:cubicBezTo>
                  <a:cubicBezTo>
                    <a:pt x="1902" y="11109"/>
                    <a:pt x="1001" y="5605"/>
                    <a:pt x="234" y="1"/>
                  </a:cubicBez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63;p67">
              <a:extLst>
                <a:ext uri="{FF2B5EF4-FFF2-40B4-BE49-F238E27FC236}">
                  <a16:creationId xmlns:a16="http://schemas.microsoft.com/office/drawing/2014/main" id="{F3E495BE-704C-4490-A23C-43036BA033C9}"/>
                </a:ext>
              </a:extLst>
            </p:cNvPr>
            <p:cNvSpPr/>
            <p:nvPr/>
          </p:nvSpPr>
          <p:spPr>
            <a:xfrm>
              <a:off x="3855425" y="4577050"/>
              <a:ext cx="665500" cy="151800"/>
            </a:xfrm>
            <a:custGeom>
              <a:avLst/>
              <a:gdLst/>
              <a:ahLst/>
              <a:cxnLst/>
              <a:rect l="l" t="t" r="r" b="b"/>
              <a:pathLst>
                <a:path w="26620" h="6072" extrusionOk="0">
                  <a:moveTo>
                    <a:pt x="2769" y="1"/>
                  </a:moveTo>
                  <a:lnTo>
                    <a:pt x="0" y="6072"/>
                  </a:lnTo>
                  <a:lnTo>
                    <a:pt x="13310" y="6072"/>
                  </a:lnTo>
                  <a:cubicBezTo>
                    <a:pt x="14344" y="6072"/>
                    <a:pt x="15345" y="5871"/>
                    <a:pt x="16312" y="5404"/>
                  </a:cubicBezTo>
                  <a:lnTo>
                    <a:pt x="26253" y="701"/>
                  </a:lnTo>
                  <a:cubicBezTo>
                    <a:pt x="26619" y="534"/>
                    <a:pt x="26486" y="34"/>
                    <a:pt x="26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64;p67">
              <a:extLst>
                <a:ext uri="{FF2B5EF4-FFF2-40B4-BE49-F238E27FC236}">
                  <a16:creationId xmlns:a16="http://schemas.microsoft.com/office/drawing/2014/main" id="{D1D81DF4-5D5F-46A8-9132-19BE9E8CCB56}"/>
                </a:ext>
              </a:extLst>
            </p:cNvPr>
            <p:cNvSpPr/>
            <p:nvPr/>
          </p:nvSpPr>
          <p:spPr>
            <a:xfrm>
              <a:off x="2506950" y="4729650"/>
              <a:ext cx="2551025" cy="98450"/>
            </a:xfrm>
            <a:custGeom>
              <a:avLst/>
              <a:gdLst/>
              <a:ahLst/>
              <a:cxnLst/>
              <a:rect l="l" t="t" r="r" b="b"/>
              <a:pathLst>
                <a:path w="102041" h="3938" extrusionOk="0">
                  <a:moveTo>
                    <a:pt x="1" y="1"/>
                  </a:moveTo>
                  <a:lnTo>
                    <a:pt x="1" y="168"/>
                  </a:lnTo>
                  <a:cubicBezTo>
                    <a:pt x="8841" y="1102"/>
                    <a:pt x="19081" y="1969"/>
                    <a:pt x="31690" y="2469"/>
                  </a:cubicBezTo>
                  <a:cubicBezTo>
                    <a:pt x="55207" y="3403"/>
                    <a:pt x="81092" y="3804"/>
                    <a:pt x="102040" y="3937"/>
                  </a:cubicBezTo>
                  <a:lnTo>
                    <a:pt x="101573" y="2603"/>
                  </a:lnTo>
                  <a:cubicBezTo>
                    <a:pt x="63446" y="2603"/>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65;p67">
              <a:extLst>
                <a:ext uri="{FF2B5EF4-FFF2-40B4-BE49-F238E27FC236}">
                  <a16:creationId xmlns:a16="http://schemas.microsoft.com/office/drawing/2014/main" id="{A438B0F1-FB64-4AB4-9FC9-1E4540CF15E5}"/>
                </a:ext>
              </a:extLst>
            </p:cNvPr>
            <p:cNvSpPr/>
            <p:nvPr/>
          </p:nvSpPr>
          <p:spPr>
            <a:xfrm>
              <a:off x="2696275" y="4853925"/>
              <a:ext cx="129275" cy="129275"/>
            </a:xfrm>
            <a:custGeom>
              <a:avLst/>
              <a:gdLst/>
              <a:ahLst/>
              <a:cxnLst/>
              <a:rect l="l" t="t" r="r" b="b"/>
              <a:pathLst>
                <a:path w="5171" h="5171" extrusionOk="0">
                  <a:moveTo>
                    <a:pt x="2602" y="0"/>
                  </a:moveTo>
                  <a:cubicBezTo>
                    <a:pt x="1168" y="0"/>
                    <a:pt x="0" y="1168"/>
                    <a:pt x="0" y="2602"/>
                  </a:cubicBezTo>
                  <a:cubicBezTo>
                    <a:pt x="0" y="4003"/>
                    <a:pt x="1168" y="5171"/>
                    <a:pt x="2602" y="5171"/>
                  </a:cubicBezTo>
                  <a:cubicBezTo>
                    <a:pt x="4003" y="5171"/>
                    <a:pt x="5170" y="4003"/>
                    <a:pt x="5170" y="2602"/>
                  </a:cubicBezTo>
                  <a:cubicBezTo>
                    <a:pt x="5170" y="1168"/>
                    <a:pt x="4003" y="0"/>
                    <a:pt x="26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66;p67">
              <a:extLst>
                <a:ext uri="{FF2B5EF4-FFF2-40B4-BE49-F238E27FC236}">
                  <a16:creationId xmlns:a16="http://schemas.microsoft.com/office/drawing/2014/main" id="{D4A5B501-99E4-4D12-B24F-1DD85B2A86E9}"/>
                </a:ext>
              </a:extLst>
            </p:cNvPr>
            <p:cNvSpPr/>
            <p:nvPr/>
          </p:nvSpPr>
          <p:spPr>
            <a:xfrm>
              <a:off x="3044000" y="4853925"/>
              <a:ext cx="129300" cy="129275"/>
            </a:xfrm>
            <a:custGeom>
              <a:avLst/>
              <a:gdLst/>
              <a:ahLst/>
              <a:cxnLst/>
              <a:rect l="l" t="t" r="r" b="b"/>
              <a:pathLst>
                <a:path w="5172" h="5171" extrusionOk="0">
                  <a:moveTo>
                    <a:pt x="2569" y="0"/>
                  </a:moveTo>
                  <a:cubicBezTo>
                    <a:pt x="1102" y="0"/>
                    <a:pt x="1" y="1168"/>
                    <a:pt x="1" y="2602"/>
                  </a:cubicBezTo>
                  <a:cubicBezTo>
                    <a:pt x="1" y="4003"/>
                    <a:pt x="1168" y="5171"/>
                    <a:pt x="2569" y="5171"/>
                  </a:cubicBezTo>
                  <a:cubicBezTo>
                    <a:pt x="3970" y="5171"/>
                    <a:pt x="5171" y="4003"/>
                    <a:pt x="5171" y="2602"/>
                  </a:cubicBezTo>
                  <a:cubicBezTo>
                    <a:pt x="5171" y="1168"/>
                    <a:pt x="4004"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67;p67">
              <a:extLst>
                <a:ext uri="{FF2B5EF4-FFF2-40B4-BE49-F238E27FC236}">
                  <a16:creationId xmlns:a16="http://schemas.microsoft.com/office/drawing/2014/main" id="{BCA2CA49-C084-45EC-95BA-AFF6744B670D}"/>
                </a:ext>
              </a:extLst>
            </p:cNvPr>
            <p:cNvSpPr/>
            <p:nvPr/>
          </p:nvSpPr>
          <p:spPr>
            <a:xfrm>
              <a:off x="3390100" y="4853925"/>
              <a:ext cx="128450" cy="129275"/>
            </a:xfrm>
            <a:custGeom>
              <a:avLst/>
              <a:gdLst/>
              <a:ahLst/>
              <a:cxnLst/>
              <a:rect l="l" t="t" r="r" b="b"/>
              <a:pathLst>
                <a:path w="5138" h="5171" extrusionOk="0">
                  <a:moveTo>
                    <a:pt x="2569" y="0"/>
                  </a:moveTo>
                  <a:cubicBezTo>
                    <a:pt x="1168" y="0"/>
                    <a:pt x="0" y="1168"/>
                    <a:pt x="0" y="2602"/>
                  </a:cubicBezTo>
                  <a:cubicBezTo>
                    <a:pt x="0" y="4003"/>
                    <a:pt x="1168" y="5171"/>
                    <a:pt x="2569" y="5171"/>
                  </a:cubicBezTo>
                  <a:cubicBezTo>
                    <a:pt x="3970" y="5171"/>
                    <a:pt x="5137" y="4003"/>
                    <a:pt x="5137" y="2602"/>
                  </a:cubicBezTo>
                  <a:cubicBezTo>
                    <a:pt x="5137" y="1168"/>
                    <a:pt x="4003"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68;p67">
              <a:extLst>
                <a:ext uri="{FF2B5EF4-FFF2-40B4-BE49-F238E27FC236}">
                  <a16:creationId xmlns:a16="http://schemas.microsoft.com/office/drawing/2014/main" id="{C98FA573-0D5A-46C2-8652-E02F09B3551C}"/>
                </a:ext>
              </a:extLst>
            </p:cNvPr>
            <p:cNvSpPr/>
            <p:nvPr/>
          </p:nvSpPr>
          <p:spPr>
            <a:xfrm>
              <a:off x="1623000" y="4657950"/>
              <a:ext cx="4248900" cy="587100"/>
            </a:xfrm>
            <a:custGeom>
              <a:avLst/>
              <a:gdLst/>
              <a:ahLst/>
              <a:cxnLst/>
              <a:rect l="l" t="t" r="r" b="b"/>
              <a:pathLst>
                <a:path w="169956" h="23484" extrusionOk="0">
                  <a:moveTo>
                    <a:pt x="0" y="0"/>
                  </a:moveTo>
                  <a:cubicBezTo>
                    <a:pt x="3636" y="5638"/>
                    <a:pt x="13410" y="19614"/>
                    <a:pt x="19581" y="23484"/>
                  </a:cubicBezTo>
                  <a:lnTo>
                    <a:pt x="161649" y="23484"/>
                  </a:lnTo>
                  <a:cubicBezTo>
                    <a:pt x="161649" y="23484"/>
                    <a:pt x="166286" y="22016"/>
                    <a:pt x="169955" y="20015"/>
                  </a:cubicBezTo>
                  <a:lnTo>
                    <a:pt x="92800" y="20015"/>
                  </a:lnTo>
                  <a:cubicBezTo>
                    <a:pt x="21349" y="20015"/>
                    <a:pt x="801" y="63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文字方塊 28">
            <a:extLst>
              <a:ext uri="{FF2B5EF4-FFF2-40B4-BE49-F238E27FC236}">
                <a16:creationId xmlns:a16="http://schemas.microsoft.com/office/drawing/2014/main" id="{DAB6DEFC-3761-45FD-BC44-249F16235D79}"/>
              </a:ext>
            </a:extLst>
          </p:cNvPr>
          <p:cNvSpPr txBox="1"/>
          <p:nvPr/>
        </p:nvSpPr>
        <p:spPr>
          <a:xfrm>
            <a:off x="8585770" y="4631694"/>
            <a:ext cx="316112" cy="261610"/>
          </a:xfrm>
          <a:prstGeom prst="rect">
            <a:avLst/>
          </a:prstGeom>
          <a:noFill/>
        </p:spPr>
        <p:txBody>
          <a:bodyPr wrap="none" rtlCol="0">
            <a:spAutoFit/>
          </a:bodyPr>
          <a:lstStyle/>
          <a:p>
            <a:r>
              <a:rPr lang="en-US" altLang="zh-TW" sz="1100" dirty="0">
                <a:latin typeface="Montserrat" panose="02020500000000000000" charset="0"/>
              </a:rPr>
              <a:t>51</a:t>
            </a:r>
            <a:endParaRPr lang="zh-TW" altLang="en-US" sz="1100" dirty="0">
              <a:latin typeface="Montserrat" panose="02020500000000000000" charset="0"/>
            </a:endParaRPr>
          </a:p>
        </p:txBody>
      </p:sp>
      <p:grpSp>
        <p:nvGrpSpPr>
          <p:cNvPr id="4" name="群組 3">
            <a:extLst>
              <a:ext uri="{FF2B5EF4-FFF2-40B4-BE49-F238E27FC236}">
                <a16:creationId xmlns:a16="http://schemas.microsoft.com/office/drawing/2014/main" id="{56961CD2-4BCA-418A-885D-E91248804884}"/>
              </a:ext>
            </a:extLst>
          </p:cNvPr>
          <p:cNvGrpSpPr/>
          <p:nvPr/>
        </p:nvGrpSpPr>
        <p:grpSpPr>
          <a:xfrm>
            <a:off x="2673082" y="2555335"/>
            <a:ext cx="3797835" cy="1333250"/>
            <a:chOff x="2673082" y="2555335"/>
            <a:chExt cx="3797835" cy="1333250"/>
          </a:xfrm>
        </p:grpSpPr>
        <p:sp>
          <p:nvSpPr>
            <p:cNvPr id="9" name="文字方塊 8">
              <a:extLst>
                <a:ext uri="{FF2B5EF4-FFF2-40B4-BE49-F238E27FC236}">
                  <a16:creationId xmlns:a16="http://schemas.microsoft.com/office/drawing/2014/main" id="{14117233-9218-4160-953C-196D6CBF165F}"/>
                </a:ext>
              </a:extLst>
            </p:cNvPr>
            <p:cNvSpPr txBox="1"/>
            <p:nvPr/>
          </p:nvSpPr>
          <p:spPr>
            <a:xfrm>
              <a:off x="2673082" y="2555335"/>
              <a:ext cx="3797835"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Tuning curves of SHG</a:t>
              </a:r>
            </a:p>
            <a:p>
              <a:pPr marL="171450" indent="-171450">
                <a:lnSpc>
                  <a:spcPct val="150000"/>
                </a:lnSpc>
                <a:buFont typeface="Arial" panose="020B0604020202020204" pitchFamily="34" charset="0"/>
                <a:buChar char="•"/>
              </a:pPr>
              <a:r>
                <a:rPr lang="en-US" altLang="zh-TW" sz="1100" dirty="0">
                  <a:latin typeface="Montserrat" panose="02020500000000000000" charset="0"/>
                </a:rPr>
                <a:t>EO-PMC measurement result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interference</a:t>
              </a:r>
            </a:p>
            <a:p>
              <a:pPr marL="171450" indent="-171450">
                <a:lnSpc>
                  <a:spcPct val="150000"/>
                </a:lnSpc>
                <a:buFont typeface="Arial" panose="020B0604020202020204" pitchFamily="34" charset="0"/>
                <a:buChar char="•"/>
              </a:pPr>
              <a:r>
                <a:rPr lang="en-US" altLang="zh-TW" sz="1100" dirty="0">
                  <a:latin typeface="Montserrat" panose="02020500000000000000" charset="0"/>
                </a:rPr>
                <a:t>Coincidence counts measurement with EO-PMC</a:t>
              </a:r>
              <a:endParaRPr lang="zh-TW" altLang="en-US" sz="1100" dirty="0">
                <a:latin typeface="Montserrat" panose="02020500000000000000" charset="0"/>
              </a:endParaRPr>
            </a:p>
          </p:txBody>
        </p:sp>
        <p:sp>
          <p:nvSpPr>
            <p:cNvPr id="3" name="矩形 2">
              <a:extLst>
                <a:ext uri="{FF2B5EF4-FFF2-40B4-BE49-F238E27FC236}">
                  <a16:creationId xmlns:a16="http://schemas.microsoft.com/office/drawing/2014/main" id="{A8114A58-F9AD-4ADA-B15E-1A9EAB5E63EE}"/>
                </a:ext>
              </a:extLst>
            </p:cNvPr>
            <p:cNvSpPr/>
            <p:nvPr/>
          </p:nvSpPr>
          <p:spPr>
            <a:xfrm>
              <a:off x="2673082" y="2895600"/>
              <a:ext cx="3710785" cy="992985"/>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9475790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064914" y="294920"/>
            <a:ext cx="7014172"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Experimental setup for SHG measurement</a:t>
            </a:r>
          </a:p>
        </p:txBody>
      </p:sp>
      <p:grpSp>
        <p:nvGrpSpPr>
          <p:cNvPr id="2" name="群組 1">
            <a:extLst>
              <a:ext uri="{FF2B5EF4-FFF2-40B4-BE49-F238E27FC236}">
                <a16:creationId xmlns:a16="http://schemas.microsoft.com/office/drawing/2014/main" id="{4760DDAC-3662-4DBB-AF81-6D255BC13116}"/>
              </a:ext>
            </a:extLst>
          </p:cNvPr>
          <p:cNvGrpSpPr/>
          <p:nvPr/>
        </p:nvGrpSpPr>
        <p:grpSpPr>
          <a:xfrm>
            <a:off x="189900" y="-911"/>
            <a:ext cx="8764200" cy="295831"/>
            <a:chOff x="189900" y="-911"/>
            <a:chExt cx="8764200" cy="295831"/>
          </a:xfrm>
        </p:grpSpPr>
        <p:sp>
          <p:nvSpPr>
            <p:cNvPr id="3" name="矩形 2">
              <a:extLst>
                <a:ext uri="{FF2B5EF4-FFF2-40B4-BE49-F238E27FC236}">
                  <a16:creationId xmlns:a16="http://schemas.microsoft.com/office/drawing/2014/main" id="{87C16835-BE41-45F4-B53F-D1F38FCE2699}"/>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4" name="矩形 3">
              <a:extLst>
                <a:ext uri="{FF2B5EF4-FFF2-40B4-BE49-F238E27FC236}">
                  <a16:creationId xmlns:a16="http://schemas.microsoft.com/office/drawing/2014/main" id="{B6EBBEC4-530B-4CC1-800A-7BEA94EA0702}"/>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40221C43-F7AF-4CB0-B914-135FFFC1309E}"/>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07BD3D50-DC9D-4285-B01C-DEDDFAA67CDB}"/>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5F240FE-AD68-4CCD-820E-F8517DF2CEC4}"/>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2" name="矩形 11">
              <a:extLst>
                <a:ext uri="{FF2B5EF4-FFF2-40B4-BE49-F238E27FC236}">
                  <a16:creationId xmlns:a16="http://schemas.microsoft.com/office/drawing/2014/main" id="{277BFCAF-4AF7-4EB7-97A7-5A9F2A3023D9}"/>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6" name="圖片 5">
            <a:extLst>
              <a:ext uri="{FF2B5EF4-FFF2-40B4-BE49-F238E27FC236}">
                <a16:creationId xmlns:a16="http://schemas.microsoft.com/office/drawing/2014/main" id="{27F8A121-EB57-44C9-976F-7A941E48CF48}"/>
              </a:ext>
            </a:extLst>
          </p:cNvPr>
          <p:cNvPicPr>
            <a:picLocks noChangeAspect="1"/>
          </p:cNvPicPr>
          <p:nvPr/>
        </p:nvPicPr>
        <p:blipFill>
          <a:blip r:embed="rId3"/>
          <a:stretch>
            <a:fillRect/>
          </a:stretch>
        </p:blipFill>
        <p:spPr>
          <a:xfrm>
            <a:off x="939315" y="919804"/>
            <a:ext cx="7315200" cy="3900565"/>
          </a:xfrm>
          <a:prstGeom prst="rect">
            <a:avLst/>
          </a:prstGeom>
        </p:spPr>
      </p:pic>
      <p:sp>
        <p:nvSpPr>
          <p:cNvPr id="63" name="文字方塊 62">
            <a:extLst>
              <a:ext uri="{FF2B5EF4-FFF2-40B4-BE49-F238E27FC236}">
                <a16:creationId xmlns:a16="http://schemas.microsoft.com/office/drawing/2014/main" id="{2C2A152A-AC49-4B3F-93F2-17D62F8FC8B0}"/>
              </a:ext>
            </a:extLst>
          </p:cNvPr>
          <p:cNvSpPr txBox="1"/>
          <p:nvPr/>
        </p:nvSpPr>
        <p:spPr>
          <a:xfrm>
            <a:off x="5862546" y="3773495"/>
            <a:ext cx="425116"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PBS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65" name="文字方塊 64">
            <a:extLst>
              <a:ext uri="{FF2B5EF4-FFF2-40B4-BE49-F238E27FC236}">
                <a16:creationId xmlns:a16="http://schemas.microsoft.com/office/drawing/2014/main" id="{BB4A418D-5903-49CC-887B-09D75AF0C6D7}"/>
              </a:ext>
            </a:extLst>
          </p:cNvPr>
          <p:cNvSpPr txBox="1"/>
          <p:nvPr/>
        </p:nvSpPr>
        <p:spPr>
          <a:xfrm>
            <a:off x="1479843" y="1314093"/>
            <a:ext cx="1273105"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ECL(Agilent 81648)</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66" name="文字方塊 65">
            <a:extLst>
              <a:ext uri="{FF2B5EF4-FFF2-40B4-BE49-F238E27FC236}">
                <a16:creationId xmlns:a16="http://schemas.microsoft.com/office/drawing/2014/main" id="{16A90651-5B16-4E7F-8A22-EC5C0D6E3C70}"/>
              </a:ext>
            </a:extLst>
          </p:cNvPr>
          <p:cNvSpPr txBox="1"/>
          <p:nvPr/>
        </p:nvSpPr>
        <p:spPr>
          <a:xfrm>
            <a:off x="3278355" y="1663604"/>
            <a:ext cx="513282"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EDFA</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67" name="文字方塊 66">
            <a:extLst>
              <a:ext uri="{FF2B5EF4-FFF2-40B4-BE49-F238E27FC236}">
                <a16:creationId xmlns:a16="http://schemas.microsoft.com/office/drawing/2014/main" id="{0B8A1A70-7F44-4F5B-BF89-A6ACB38343C5}"/>
              </a:ext>
            </a:extLst>
          </p:cNvPr>
          <p:cNvSpPr txBox="1"/>
          <p:nvPr/>
        </p:nvSpPr>
        <p:spPr>
          <a:xfrm>
            <a:off x="1172672" y="3328983"/>
            <a:ext cx="1475084"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Polarization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68" name="文字方塊 67">
            <a:extLst>
              <a:ext uri="{FF2B5EF4-FFF2-40B4-BE49-F238E27FC236}">
                <a16:creationId xmlns:a16="http://schemas.microsoft.com/office/drawing/2014/main" id="{B4C6F77C-438A-4A7E-A765-ACB83E207936}"/>
              </a:ext>
            </a:extLst>
          </p:cNvPr>
          <p:cNvSpPr txBox="1"/>
          <p:nvPr/>
        </p:nvSpPr>
        <p:spPr>
          <a:xfrm>
            <a:off x="2960960" y="3421296"/>
            <a:ext cx="830677"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Fiber stage</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69" name="文字方塊 68">
            <a:extLst>
              <a:ext uri="{FF2B5EF4-FFF2-40B4-BE49-F238E27FC236}">
                <a16:creationId xmlns:a16="http://schemas.microsoft.com/office/drawing/2014/main" id="{3C5518FE-6F27-4BF8-BF36-4CCA9F241A30}"/>
              </a:ext>
            </a:extLst>
          </p:cNvPr>
          <p:cNvSpPr txBox="1"/>
          <p:nvPr/>
        </p:nvSpPr>
        <p:spPr>
          <a:xfrm>
            <a:off x="3791637" y="3708288"/>
            <a:ext cx="756938"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XYZ stage</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0" name="文字方塊 69">
            <a:extLst>
              <a:ext uri="{FF2B5EF4-FFF2-40B4-BE49-F238E27FC236}">
                <a16:creationId xmlns:a16="http://schemas.microsoft.com/office/drawing/2014/main" id="{740F3E67-2395-418B-A054-DC7D08A283EE}"/>
              </a:ext>
            </a:extLst>
          </p:cNvPr>
          <p:cNvSpPr txBox="1"/>
          <p:nvPr/>
        </p:nvSpPr>
        <p:spPr>
          <a:xfrm>
            <a:off x="4718149" y="4047309"/>
            <a:ext cx="998991"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Objective lens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1" name="文字方塊 70">
            <a:extLst>
              <a:ext uri="{FF2B5EF4-FFF2-40B4-BE49-F238E27FC236}">
                <a16:creationId xmlns:a16="http://schemas.microsoft.com/office/drawing/2014/main" id="{926B9F2C-B04B-458B-8768-48D811DBAFCA}"/>
              </a:ext>
            </a:extLst>
          </p:cNvPr>
          <p:cNvSpPr txBox="1"/>
          <p:nvPr/>
        </p:nvSpPr>
        <p:spPr>
          <a:xfrm>
            <a:off x="8004745" y="2456334"/>
            <a:ext cx="779381"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Computer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2" name="文字方塊 71">
            <a:extLst>
              <a:ext uri="{FF2B5EF4-FFF2-40B4-BE49-F238E27FC236}">
                <a16:creationId xmlns:a16="http://schemas.microsoft.com/office/drawing/2014/main" id="{C0BA01B3-1B5F-4FAA-A4E9-E8BA6319080C}"/>
              </a:ext>
            </a:extLst>
          </p:cNvPr>
          <p:cNvSpPr txBox="1"/>
          <p:nvPr/>
        </p:nvSpPr>
        <p:spPr>
          <a:xfrm>
            <a:off x="3791637" y="1018942"/>
            <a:ext cx="1297150"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Optical Microscope</a:t>
            </a:r>
          </a:p>
        </p:txBody>
      </p:sp>
      <p:sp>
        <p:nvSpPr>
          <p:cNvPr id="73" name="文字方塊 72">
            <a:extLst>
              <a:ext uri="{FF2B5EF4-FFF2-40B4-BE49-F238E27FC236}">
                <a16:creationId xmlns:a16="http://schemas.microsoft.com/office/drawing/2014/main" id="{62B0123B-90D9-43AF-891C-197A7043E234}"/>
              </a:ext>
            </a:extLst>
          </p:cNvPr>
          <p:cNvSpPr txBox="1"/>
          <p:nvPr/>
        </p:nvSpPr>
        <p:spPr>
          <a:xfrm>
            <a:off x="5605263" y="1978911"/>
            <a:ext cx="1500732"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Power meter(PM100D)</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4" name="文字方塊 73">
            <a:extLst>
              <a:ext uri="{FF2B5EF4-FFF2-40B4-BE49-F238E27FC236}">
                <a16:creationId xmlns:a16="http://schemas.microsoft.com/office/drawing/2014/main" id="{25FA8BBB-36EB-4FB9-BC9F-5EE9F4FF1AF7}"/>
              </a:ext>
            </a:extLst>
          </p:cNvPr>
          <p:cNvSpPr txBox="1"/>
          <p:nvPr/>
        </p:nvSpPr>
        <p:spPr>
          <a:xfrm>
            <a:off x="2105175" y="3977475"/>
            <a:ext cx="673582"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Vacuum</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5" name="文字方塊 74">
            <a:extLst>
              <a:ext uri="{FF2B5EF4-FFF2-40B4-BE49-F238E27FC236}">
                <a16:creationId xmlns:a16="http://schemas.microsoft.com/office/drawing/2014/main" id="{540CB689-EEAA-40DD-8B56-3DD9C5076757}"/>
              </a:ext>
            </a:extLst>
          </p:cNvPr>
          <p:cNvSpPr txBox="1"/>
          <p:nvPr/>
        </p:nvSpPr>
        <p:spPr>
          <a:xfrm>
            <a:off x="3211392" y="4502201"/>
            <a:ext cx="1529586" cy="3693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Temperature controller</a:t>
            </a:r>
          </a:p>
          <a:p>
            <a:r>
              <a:rPr lang="en-US" altLang="zh-TW" sz="900" dirty="0">
                <a:latin typeface="Montserrat" panose="02020500000000000000" charset="0"/>
                <a:ea typeface="標楷體" panose="03000509000000000000" pitchFamily="65" charset="-120"/>
                <a:cs typeface="Times New Roman" panose="02020603050405020304" pitchFamily="18" charset="0"/>
              </a:rPr>
              <a:t>(Yokogawa UT150)</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6" name="文字方塊 75">
            <a:extLst>
              <a:ext uri="{FF2B5EF4-FFF2-40B4-BE49-F238E27FC236}">
                <a16:creationId xmlns:a16="http://schemas.microsoft.com/office/drawing/2014/main" id="{26FDC3D4-9FD1-47D6-8BF1-D449319F9E97}"/>
              </a:ext>
            </a:extLst>
          </p:cNvPr>
          <p:cNvSpPr txBox="1"/>
          <p:nvPr/>
        </p:nvSpPr>
        <p:spPr>
          <a:xfrm>
            <a:off x="6365245" y="3939120"/>
            <a:ext cx="716863" cy="369332"/>
          </a:xfrm>
          <a:prstGeom prst="rect">
            <a:avLst/>
          </a:prstGeom>
          <a:noFill/>
        </p:spPr>
        <p:txBody>
          <a:bodyPr wrap="squar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Detector(S120C)</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4" name="文字方塊 23">
            <a:extLst>
              <a:ext uri="{FF2B5EF4-FFF2-40B4-BE49-F238E27FC236}">
                <a16:creationId xmlns:a16="http://schemas.microsoft.com/office/drawing/2014/main" id="{C0081883-E7F1-43C4-8306-961E69D135B1}"/>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52</a:t>
            </a:r>
            <a:endParaRPr lang="zh-TW" altLang="en-US" sz="1100" dirty="0">
              <a:latin typeface="Montserrat" panose="02020500000000000000" charset="0"/>
            </a:endParaRPr>
          </a:p>
        </p:txBody>
      </p:sp>
    </p:spTree>
    <p:extLst>
      <p:ext uri="{BB962C8B-B14F-4D97-AF65-F5344CB8AC3E}">
        <p14:creationId xmlns:p14="http://schemas.microsoft.com/office/powerpoint/2010/main" val="11655776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93" name="圖片 92">
            <a:extLst>
              <a:ext uri="{FF2B5EF4-FFF2-40B4-BE49-F238E27FC236}">
                <a16:creationId xmlns:a16="http://schemas.microsoft.com/office/drawing/2014/main" id="{BE997A01-FA67-4FBF-9540-E9941E1AA7FA}"/>
              </a:ext>
            </a:extLst>
          </p:cNvPr>
          <p:cNvPicPr>
            <a:picLocks noChangeAspect="1"/>
          </p:cNvPicPr>
          <p:nvPr/>
        </p:nvPicPr>
        <p:blipFill>
          <a:blip r:embed="rId3"/>
          <a:stretch>
            <a:fillRect/>
          </a:stretch>
        </p:blipFill>
        <p:spPr>
          <a:xfrm>
            <a:off x="3300456" y="3520074"/>
            <a:ext cx="857305" cy="755649"/>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064914" y="294920"/>
            <a:ext cx="7014172"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Experimental setup for SHG measurement</a:t>
            </a:r>
          </a:p>
        </p:txBody>
      </p:sp>
      <p:grpSp>
        <p:nvGrpSpPr>
          <p:cNvPr id="2" name="群組 1">
            <a:extLst>
              <a:ext uri="{FF2B5EF4-FFF2-40B4-BE49-F238E27FC236}">
                <a16:creationId xmlns:a16="http://schemas.microsoft.com/office/drawing/2014/main" id="{4760DDAC-3662-4DBB-AF81-6D255BC13116}"/>
              </a:ext>
            </a:extLst>
          </p:cNvPr>
          <p:cNvGrpSpPr/>
          <p:nvPr/>
        </p:nvGrpSpPr>
        <p:grpSpPr>
          <a:xfrm>
            <a:off x="189900" y="-911"/>
            <a:ext cx="8764200" cy="295831"/>
            <a:chOff x="189900" y="-911"/>
            <a:chExt cx="8764200" cy="295831"/>
          </a:xfrm>
        </p:grpSpPr>
        <p:sp>
          <p:nvSpPr>
            <p:cNvPr id="3" name="矩形 2">
              <a:extLst>
                <a:ext uri="{FF2B5EF4-FFF2-40B4-BE49-F238E27FC236}">
                  <a16:creationId xmlns:a16="http://schemas.microsoft.com/office/drawing/2014/main" id="{87C16835-BE41-45F4-B53F-D1F38FCE2699}"/>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4" name="矩形 3">
              <a:extLst>
                <a:ext uri="{FF2B5EF4-FFF2-40B4-BE49-F238E27FC236}">
                  <a16:creationId xmlns:a16="http://schemas.microsoft.com/office/drawing/2014/main" id="{B6EBBEC4-530B-4CC1-800A-7BEA94EA0702}"/>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40221C43-F7AF-4CB0-B914-135FFFC1309E}"/>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07BD3D50-DC9D-4285-B01C-DEDDFAA67CDB}"/>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5F240FE-AD68-4CCD-820E-F8517DF2CEC4}"/>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2" name="矩形 11">
              <a:extLst>
                <a:ext uri="{FF2B5EF4-FFF2-40B4-BE49-F238E27FC236}">
                  <a16:creationId xmlns:a16="http://schemas.microsoft.com/office/drawing/2014/main" id="{277BFCAF-4AF7-4EB7-97A7-5A9F2A3023D9}"/>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90" name="群組 89">
            <a:extLst>
              <a:ext uri="{FF2B5EF4-FFF2-40B4-BE49-F238E27FC236}">
                <a16:creationId xmlns:a16="http://schemas.microsoft.com/office/drawing/2014/main" id="{722020DB-E9D0-4172-A489-0A7482E6F524}"/>
              </a:ext>
            </a:extLst>
          </p:cNvPr>
          <p:cNvGrpSpPr/>
          <p:nvPr/>
        </p:nvGrpSpPr>
        <p:grpSpPr>
          <a:xfrm>
            <a:off x="1548158" y="1279697"/>
            <a:ext cx="6047683" cy="3456823"/>
            <a:chOff x="1500163" y="982154"/>
            <a:chExt cx="6047683" cy="3456823"/>
          </a:xfrm>
        </p:grpSpPr>
        <p:cxnSp>
          <p:nvCxnSpPr>
            <p:cNvPr id="47" name="直線單箭頭接點 46">
              <a:extLst>
                <a:ext uri="{FF2B5EF4-FFF2-40B4-BE49-F238E27FC236}">
                  <a16:creationId xmlns:a16="http://schemas.microsoft.com/office/drawing/2014/main" id="{F5F24DF3-1C62-4F28-8354-23AA0B2CC429}"/>
                </a:ext>
              </a:extLst>
            </p:cNvPr>
            <p:cNvCxnSpPr>
              <a:cxnSpLocks/>
            </p:cNvCxnSpPr>
            <p:nvPr/>
          </p:nvCxnSpPr>
          <p:spPr>
            <a:xfrm>
              <a:off x="5219026" y="1389250"/>
              <a:ext cx="2138663"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A03C5C5E-B0AA-491D-AE81-107057D06D8D}"/>
                </a:ext>
              </a:extLst>
            </p:cNvPr>
            <p:cNvCxnSpPr>
              <a:cxnSpLocks/>
            </p:cNvCxnSpPr>
            <p:nvPr/>
          </p:nvCxnSpPr>
          <p:spPr>
            <a:xfrm>
              <a:off x="3110447" y="1411250"/>
              <a:ext cx="865738"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6327AE1-BB42-4C16-8D79-61E7F0280228}"/>
                </a:ext>
              </a:extLst>
            </p:cNvPr>
            <p:cNvSpPr/>
            <p:nvPr/>
          </p:nvSpPr>
          <p:spPr>
            <a:xfrm>
              <a:off x="3866312" y="1061499"/>
              <a:ext cx="1958538" cy="629920"/>
            </a:xfrm>
            <a:prstGeom prst="rect">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tx1"/>
                  </a:solidFill>
                  <a:latin typeface="Montserrat" panose="02020500000000000000" charset="0"/>
                  <a:cs typeface="Times New Roman" panose="02020603050405020304" pitchFamily="18" charset="0"/>
                </a:rPr>
                <a:t>Erbium-Doped Fiber Amplifiers, EDFA</a:t>
              </a:r>
              <a:endParaRPr lang="zh-TW" altLang="en-US" sz="1000" b="1" dirty="0">
                <a:solidFill>
                  <a:schemeClr val="tx1"/>
                </a:solidFill>
                <a:latin typeface="Montserrat" panose="02020500000000000000" charset="0"/>
                <a:cs typeface="Times New Roman" panose="02020603050405020304" pitchFamily="18" charset="0"/>
              </a:endParaRPr>
            </a:p>
          </p:txBody>
        </p:sp>
        <p:sp>
          <p:nvSpPr>
            <p:cNvPr id="50" name="矩形 49">
              <a:extLst>
                <a:ext uri="{FF2B5EF4-FFF2-40B4-BE49-F238E27FC236}">
                  <a16:creationId xmlns:a16="http://schemas.microsoft.com/office/drawing/2014/main" id="{3DC487F5-43DA-4564-B503-66C5589E54AD}"/>
                </a:ext>
              </a:extLst>
            </p:cNvPr>
            <p:cNvSpPr/>
            <p:nvPr/>
          </p:nvSpPr>
          <p:spPr>
            <a:xfrm>
              <a:off x="1502094" y="982154"/>
              <a:ext cx="1735134" cy="870238"/>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tx1"/>
                  </a:solidFill>
                  <a:latin typeface="Montserrat" panose="02020500000000000000" charset="0"/>
                  <a:cs typeface="Mongolian Baiti" panose="03000500000000000000" pitchFamily="66" charset="0"/>
                </a:rPr>
                <a:t>1520~1640nm</a:t>
              </a:r>
            </a:p>
            <a:p>
              <a:pPr algn="ctr"/>
              <a:r>
                <a:rPr lang="en-US" altLang="zh-TW" sz="1000" b="1" dirty="0">
                  <a:solidFill>
                    <a:schemeClr val="tx1"/>
                  </a:solidFill>
                  <a:latin typeface="Montserrat" panose="02020500000000000000" charset="0"/>
                  <a:cs typeface="Mongolian Baiti" panose="03000500000000000000" pitchFamily="66" charset="0"/>
                </a:rPr>
                <a:t>External Cavity Laser, ECL</a:t>
              </a:r>
              <a:endParaRPr lang="zh-TW" altLang="en-US" sz="1000" b="1" dirty="0">
                <a:solidFill>
                  <a:schemeClr val="tx1"/>
                </a:solidFill>
                <a:latin typeface="Montserrat" panose="02020500000000000000" charset="0"/>
                <a:cs typeface="Mongolian Baiti" panose="03000500000000000000" pitchFamily="66" charset="0"/>
              </a:endParaRPr>
            </a:p>
          </p:txBody>
        </p:sp>
        <p:cxnSp>
          <p:nvCxnSpPr>
            <p:cNvPr id="51" name="直線單箭頭接點 50">
              <a:extLst>
                <a:ext uri="{FF2B5EF4-FFF2-40B4-BE49-F238E27FC236}">
                  <a16:creationId xmlns:a16="http://schemas.microsoft.com/office/drawing/2014/main" id="{8B037CA0-16A9-45AF-997E-DF2348FF5368}"/>
                </a:ext>
              </a:extLst>
            </p:cNvPr>
            <p:cNvCxnSpPr>
              <a:cxnSpLocks/>
            </p:cNvCxnSpPr>
            <p:nvPr/>
          </p:nvCxnSpPr>
          <p:spPr>
            <a:xfrm flipH="1">
              <a:off x="4914070" y="2548660"/>
              <a:ext cx="2409958"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88E217C6-F990-4AF2-93CE-BF9BF09DA178}"/>
                </a:ext>
              </a:extLst>
            </p:cNvPr>
            <p:cNvCxnSpPr>
              <a:cxnSpLocks/>
              <a:stCxn id="53" idx="1"/>
            </p:cNvCxnSpPr>
            <p:nvPr/>
          </p:nvCxnSpPr>
          <p:spPr>
            <a:xfrm>
              <a:off x="1756282" y="2550558"/>
              <a:ext cx="3264069" cy="4"/>
            </a:xfrm>
            <a:prstGeom prst="line">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53" name="右中括弧 52">
              <a:extLst>
                <a:ext uri="{FF2B5EF4-FFF2-40B4-BE49-F238E27FC236}">
                  <a16:creationId xmlns:a16="http://schemas.microsoft.com/office/drawing/2014/main" id="{F6BC98B2-D98E-488F-96E0-EC15A29A23A4}"/>
                </a:ext>
              </a:extLst>
            </p:cNvPr>
            <p:cNvSpPr/>
            <p:nvPr/>
          </p:nvSpPr>
          <p:spPr>
            <a:xfrm rot="10800000">
              <a:off x="1500163" y="2550558"/>
              <a:ext cx="256119" cy="1049798"/>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54" name="直線單箭頭接點 53">
              <a:extLst>
                <a:ext uri="{FF2B5EF4-FFF2-40B4-BE49-F238E27FC236}">
                  <a16:creationId xmlns:a16="http://schemas.microsoft.com/office/drawing/2014/main" id="{4FCA60F5-5F85-44F6-B909-4A5C002A3BC8}"/>
                </a:ext>
              </a:extLst>
            </p:cNvPr>
            <p:cNvCxnSpPr>
              <a:cxnSpLocks/>
              <a:endCxn id="66" idx="1"/>
            </p:cNvCxnSpPr>
            <p:nvPr/>
          </p:nvCxnSpPr>
          <p:spPr>
            <a:xfrm>
              <a:off x="1756282" y="3600356"/>
              <a:ext cx="1305822" cy="2144"/>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55" name="群組 54">
              <a:extLst>
                <a:ext uri="{FF2B5EF4-FFF2-40B4-BE49-F238E27FC236}">
                  <a16:creationId xmlns:a16="http://schemas.microsoft.com/office/drawing/2014/main" id="{795E2DE9-5CE4-4487-98A2-E91DFA2EE70E}"/>
                </a:ext>
              </a:extLst>
            </p:cNvPr>
            <p:cNvGrpSpPr/>
            <p:nvPr/>
          </p:nvGrpSpPr>
          <p:grpSpPr>
            <a:xfrm>
              <a:off x="2645832" y="3196057"/>
              <a:ext cx="4711857" cy="1242920"/>
              <a:chOff x="2878026" y="3192870"/>
              <a:chExt cx="4711857" cy="1242920"/>
            </a:xfrm>
          </p:grpSpPr>
          <p:sp>
            <p:nvSpPr>
              <p:cNvPr id="56" name="矩形 55">
                <a:extLst>
                  <a:ext uri="{FF2B5EF4-FFF2-40B4-BE49-F238E27FC236}">
                    <a16:creationId xmlns:a16="http://schemas.microsoft.com/office/drawing/2014/main" id="{85041E68-1A0B-4273-BB35-B768F794FF88}"/>
                  </a:ext>
                </a:extLst>
              </p:cNvPr>
              <p:cNvSpPr/>
              <p:nvPr/>
            </p:nvSpPr>
            <p:spPr>
              <a:xfrm>
                <a:off x="4528923" y="3510025"/>
                <a:ext cx="2700000" cy="1800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流程圖: 換頁接點 56">
                <a:extLst>
                  <a:ext uri="{FF2B5EF4-FFF2-40B4-BE49-F238E27FC236}">
                    <a16:creationId xmlns:a16="http://schemas.microsoft.com/office/drawing/2014/main" id="{09C00D34-1B56-4189-9C0E-25B40B7C1297}"/>
                  </a:ext>
                </a:extLst>
              </p:cNvPr>
              <p:cNvSpPr/>
              <p:nvPr/>
            </p:nvSpPr>
            <p:spPr>
              <a:xfrm rot="16200000">
                <a:off x="4876589" y="3379583"/>
                <a:ext cx="345220" cy="419095"/>
              </a:xfrm>
              <a:prstGeom prst="flowChartOffpageConnector">
                <a:avLst/>
              </a:prstGeom>
              <a:solidFill>
                <a:schemeClr val="tx1">
                  <a:lumMod val="65000"/>
                  <a:lumOff val="3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7285DFF0-1896-4066-AE2A-C8EB1C21BE4D}"/>
                  </a:ext>
                </a:extLst>
              </p:cNvPr>
              <p:cNvSpPr/>
              <p:nvPr/>
            </p:nvSpPr>
            <p:spPr>
              <a:xfrm>
                <a:off x="5703246" y="3355223"/>
                <a:ext cx="460800" cy="460800"/>
              </a:xfrm>
              <a:prstGeom prst="rect">
                <a:avLst/>
              </a:prstGeom>
              <a:solidFill>
                <a:schemeClr val="accent2">
                  <a:lumMod val="20000"/>
                  <a:lumOff val="80000"/>
                  <a:alpha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8" name="直線接點 57">
                <a:extLst>
                  <a:ext uri="{FF2B5EF4-FFF2-40B4-BE49-F238E27FC236}">
                    <a16:creationId xmlns:a16="http://schemas.microsoft.com/office/drawing/2014/main" id="{9BF32FAC-3D85-4DAD-8654-F8CB0AB581C1}"/>
                  </a:ext>
                </a:extLst>
              </p:cNvPr>
              <p:cNvCxnSpPr>
                <a:cxnSpLocks/>
              </p:cNvCxnSpPr>
              <p:nvPr/>
            </p:nvCxnSpPr>
            <p:spPr>
              <a:xfrm rot="5400000">
                <a:off x="5708088" y="3358821"/>
                <a:ext cx="460800" cy="45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字方塊 58">
                <a:extLst>
                  <a:ext uri="{FF2B5EF4-FFF2-40B4-BE49-F238E27FC236}">
                    <a16:creationId xmlns:a16="http://schemas.microsoft.com/office/drawing/2014/main" id="{D496B4B5-AA04-45A8-AC37-718CCC9C9446}"/>
                  </a:ext>
                </a:extLst>
              </p:cNvPr>
              <p:cNvSpPr txBox="1"/>
              <p:nvPr/>
            </p:nvSpPr>
            <p:spPr>
              <a:xfrm>
                <a:off x="5708264" y="3812415"/>
                <a:ext cx="450764"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PBS</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sp>
            <p:nvSpPr>
              <p:cNvPr id="60" name="文字方塊 59">
                <a:extLst>
                  <a:ext uri="{FF2B5EF4-FFF2-40B4-BE49-F238E27FC236}">
                    <a16:creationId xmlns:a16="http://schemas.microsoft.com/office/drawing/2014/main" id="{5EB21B68-40C4-4F09-B9E6-B7097D4AF397}"/>
                  </a:ext>
                </a:extLst>
              </p:cNvPr>
              <p:cNvSpPr txBox="1"/>
              <p:nvPr/>
            </p:nvSpPr>
            <p:spPr>
              <a:xfrm>
                <a:off x="4631286" y="3781859"/>
                <a:ext cx="795411" cy="400110"/>
              </a:xfrm>
              <a:prstGeom prst="rect">
                <a:avLst/>
              </a:prstGeom>
              <a:noFill/>
            </p:spPr>
            <p:txBody>
              <a:bodyPr wrap="none" rtlCol="0">
                <a:spAutoFit/>
              </a:bodyPr>
              <a:lstStyle/>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Objective</a:t>
                </a:r>
              </a:p>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lens</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nvGrpSpPr>
              <p:cNvPr id="61" name="群組 60">
                <a:extLst>
                  <a:ext uri="{FF2B5EF4-FFF2-40B4-BE49-F238E27FC236}">
                    <a16:creationId xmlns:a16="http://schemas.microsoft.com/office/drawing/2014/main" id="{004807F6-C98F-430F-9646-8DEFF98DEF34}"/>
                  </a:ext>
                </a:extLst>
              </p:cNvPr>
              <p:cNvGrpSpPr/>
              <p:nvPr/>
            </p:nvGrpSpPr>
            <p:grpSpPr>
              <a:xfrm>
                <a:off x="2878026" y="3192870"/>
                <a:ext cx="2061783" cy="1242920"/>
                <a:chOff x="2895994" y="3241984"/>
                <a:chExt cx="2061783" cy="1242920"/>
              </a:xfrm>
            </p:grpSpPr>
            <p:sp>
              <p:nvSpPr>
                <p:cNvPr id="64" name="文字方塊 63">
                  <a:extLst>
                    <a:ext uri="{FF2B5EF4-FFF2-40B4-BE49-F238E27FC236}">
                      <a16:creationId xmlns:a16="http://schemas.microsoft.com/office/drawing/2014/main" id="{430B06AA-B848-4A84-8A34-3C02FE7E696E}"/>
                    </a:ext>
                  </a:extLst>
                </p:cNvPr>
                <p:cNvSpPr txBox="1"/>
                <p:nvPr/>
              </p:nvSpPr>
              <p:spPr>
                <a:xfrm>
                  <a:off x="2895994" y="4084794"/>
                  <a:ext cx="2061783" cy="400110"/>
                </a:xfrm>
                <a:prstGeom prst="rect">
                  <a:avLst/>
                </a:prstGeom>
                <a:noFill/>
              </p:spPr>
              <p:txBody>
                <a:bodyPr wrap="none" rtlCol="0">
                  <a:spAutoFit/>
                </a:bodyPr>
                <a:lstStyle/>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Oven</a:t>
                  </a:r>
                </a:p>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(with temperature controller)</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sp>
              <p:nvSpPr>
                <p:cNvPr id="66" name="矩形 65">
                  <a:extLst>
                    <a:ext uri="{FF2B5EF4-FFF2-40B4-BE49-F238E27FC236}">
                      <a16:creationId xmlns:a16="http://schemas.microsoft.com/office/drawing/2014/main" id="{DD4C3AE2-A7CE-44D1-9038-D7EB82B6971F}"/>
                    </a:ext>
                  </a:extLst>
                </p:cNvPr>
                <p:cNvSpPr/>
                <p:nvPr/>
              </p:nvSpPr>
              <p:spPr>
                <a:xfrm>
                  <a:off x="3312266" y="3241984"/>
                  <a:ext cx="1229241" cy="81288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7" name="文字方塊 66">
                  <a:extLst>
                    <a:ext uri="{FF2B5EF4-FFF2-40B4-BE49-F238E27FC236}">
                      <a16:creationId xmlns:a16="http://schemas.microsoft.com/office/drawing/2014/main" id="{F766097B-689F-4607-B89A-D01574BF23F4}"/>
                    </a:ext>
                  </a:extLst>
                </p:cNvPr>
                <p:cNvSpPr txBox="1"/>
                <p:nvPr/>
              </p:nvSpPr>
              <p:spPr>
                <a:xfrm>
                  <a:off x="3627853" y="3751942"/>
                  <a:ext cx="48603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Chip</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sp>
            <p:nvSpPr>
              <p:cNvPr id="63" name="流程圖: 延遲 62">
                <a:extLst>
                  <a:ext uri="{FF2B5EF4-FFF2-40B4-BE49-F238E27FC236}">
                    <a16:creationId xmlns:a16="http://schemas.microsoft.com/office/drawing/2014/main" id="{D3293613-E906-4FEB-9533-4DED422ACB63}"/>
                  </a:ext>
                </a:extLst>
              </p:cNvPr>
              <p:cNvSpPr/>
              <p:nvPr/>
            </p:nvSpPr>
            <p:spPr>
              <a:xfrm>
                <a:off x="7237284" y="3412480"/>
                <a:ext cx="352599" cy="36937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68" name="右中括弧 67">
              <a:extLst>
                <a:ext uri="{FF2B5EF4-FFF2-40B4-BE49-F238E27FC236}">
                  <a16:creationId xmlns:a16="http://schemas.microsoft.com/office/drawing/2014/main" id="{99C2F71A-F6A8-4479-AEBB-E81F26FC67BD}"/>
                </a:ext>
              </a:extLst>
            </p:cNvPr>
            <p:cNvSpPr/>
            <p:nvPr/>
          </p:nvSpPr>
          <p:spPr>
            <a:xfrm>
              <a:off x="7315041" y="1392588"/>
              <a:ext cx="232805" cy="1157672"/>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69" name="群組 68">
              <a:extLst>
                <a:ext uri="{FF2B5EF4-FFF2-40B4-BE49-F238E27FC236}">
                  <a16:creationId xmlns:a16="http://schemas.microsoft.com/office/drawing/2014/main" id="{91A3D0B3-729B-4BE9-AA0F-E553E4E62492}"/>
                </a:ext>
              </a:extLst>
            </p:cNvPr>
            <p:cNvGrpSpPr/>
            <p:nvPr/>
          </p:nvGrpSpPr>
          <p:grpSpPr>
            <a:xfrm>
              <a:off x="5233785" y="2187433"/>
              <a:ext cx="1622560" cy="695571"/>
              <a:chOff x="3577226" y="536591"/>
              <a:chExt cx="1622560" cy="695571"/>
            </a:xfrm>
          </p:grpSpPr>
          <p:grpSp>
            <p:nvGrpSpPr>
              <p:cNvPr id="70" name="群組 69">
                <a:extLst>
                  <a:ext uri="{FF2B5EF4-FFF2-40B4-BE49-F238E27FC236}">
                    <a16:creationId xmlns:a16="http://schemas.microsoft.com/office/drawing/2014/main" id="{941BB730-C842-401D-87F6-7057601CFBA0}"/>
                  </a:ext>
                </a:extLst>
              </p:cNvPr>
              <p:cNvGrpSpPr/>
              <p:nvPr/>
            </p:nvGrpSpPr>
            <p:grpSpPr>
              <a:xfrm>
                <a:off x="3746338" y="536591"/>
                <a:ext cx="1234424" cy="422306"/>
                <a:chOff x="4290060" y="1143477"/>
                <a:chExt cx="1376680" cy="499395"/>
              </a:xfrm>
            </p:grpSpPr>
            <p:sp>
              <p:nvSpPr>
                <p:cNvPr id="72" name="矩形 71">
                  <a:extLst>
                    <a:ext uri="{FF2B5EF4-FFF2-40B4-BE49-F238E27FC236}">
                      <a16:creationId xmlns:a16="http://schemas.microsoft.com/office/drawing/2014/main" id="{BF8C5FAF-4B67-4533-B3C4-B78D86574DEC}"/>
                    </a:ext>
                  </a:extLst>
                </p:cNvPr>
                <p:cNvSpPr/>
                <p:nvPr/>
              </p:nvSpPr>
              <p:spPr>
                <a:xfrm>
                  <a:off x="4290060" y="1547367"/>
                  <a:ext cx="1376680" cy="9550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565A99C-A2F1-42C3-AFFD-1AF328A75117}"/>
                    </a:ext>
                  </a:extLst>
                </p:cNvPr>
                <p:cNvSpPr/>
                <p:nvPr/>
              </p:nvSpPr>
              <p:spPr>
                <a:xfrm>
                  <a:off x="429006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1C939A11-3597-4D2C-A002-1F825F84E6CC}"/>
                    </a:ext>
                  </a:extLst>
                </p:cNvPr>
                <p:cNvSpPr/>
                <p:nvPr/>
              </p:nvSpPr>
              <p:spPr>
                <a:xfrm>
                  <a:off x="478040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476C8925-6E55-4154-9E56-8022BFFC953A}"/>
                    </a:ext>
                  </a:extLst>
                </p:cNvPr>
                <p:cNvSpPr/>
                <p:nvPr/>
              </p:nvSpPr>
              <p:spPr>
                <a:xfrm>
                  <a:off x="5270740" y="1147422"/>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橢圓 75">
                  <a:extLst>
                    <a:ext uri="{FF2B5EF4-FFF2-40B4-BE49-F238E27FC236}">
                      <a16:creationId xmlns:a16="http://schemas.microsoft.com/office/drawing/2014/main" id="{7C584DC8-4287-49BB-AE9D-46904F3FE693}"/>
                    </a:ext>
                  </a:extLst>
                </p:cNvPr>
                <p:cNvSpPr/>
                <p:nvPr/>
              </p:nvSpPr>
              <p:spPr>
                <a:xfrm>
                  <a:off x="429006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橢圓 76">
                  <a:extLst>
                    <a:ext uri="{FF2B5EF4-FFF2-40B4-BE49-F238E27FC236}">
                      <a16:creationId xmlns:a16="http://schemas.microsoft.com/office/drawing/2014/main" id="{8D366B37-D6F1-470A-BE9D-8E3C5F196AD4}"/>
                    </a:ext>
                  </a:extLst>
                </p:cNvPr>
                <p:cNvSpPr/>
                <p:nvPr/>
              </p:nvSpPr>
              <p:spPr>
                <a:xfrm>
                  <a:off x="478040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橢圓 77">
                  <a:extLst>
                    <a:ext uri="{FF2B5EF4-FFF2-40B4-BE49-F238E27FC236}">
                      <a16:creationId xmlns:a16="http://schemas.microsoft.com/office/drawing/2014/main" id="{414BB18F-83E2-4ABD-BFDE-F02B2C0B5E86}"/>
                    </a:ext>
                  </a:extLst>
                </p:cNvPr>
                <p:cNvSpPr/>
                <p:nvPr/>
              </p:nvSpPr>
              <p:spPr>
                <a:xfrm>
                  <a:off x="5270740" y="1143477"/>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橢圓 78">
                  <a:extLst>
                    <a:ext uri="{FF2B5EF4-FFF2-40B4-BE49-F238E27FC236}">
                      <a16:creationId xmlns:a16="http://schemas.microsoft.com/office/drawing/2014/main" id="{C1CC314C-B15E-488B-BFD9-9393112494B7}"/>
                    </a:ext>
                  </a:extLst>
                </p:cNvPr>
                <p:cNvSpPr/>
                <p:nvPr/>
              </p:nvSpPr>
              <p:spPr>
                <a:xfrm>
                  <a:off x="545074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a:extLst>
                    <a:ext uri="{FF2B5EF4-FFF2-40B4-BE49-F238E27FC236}">
                      <a16:creationId xmlns:a16="http://schemas.microsoft.com/office/drawing/2014/main" id="{6F34AB8C-AFE9-4023-BB94-CB9690A4F7D5}"/>
                    </a:ext>
                  </a:extLst>
                </p:cNvPr>
                <p:cNvSpPr/>
                <p:nvPr/>
              </p:nvSpPr>
              <p:spPr>
                <a:xfrm>
                  <a:off x="496040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659413FD-2517-493B-B642-50A12A65184F}"/>
                    </a:ext>
                  </a:extLst>
                </p:cNvPr>
                <p:cNvSpPr/>
                <p:nvPr/>
              </p:nvSpPr>
              <p:spPr>
                <a:xfrm>
                  <a:off x="4470060" y="1331484"/>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文字方塊 70">
                <a:extLst>
                  <a:ext uri="{FF2B5EF4-FFF2-40B4-BE49-F238E27FC236}">
                    <a16:creationId xmlns:a16="http://schemas.microsoft.com/office/drawing/2014/main" id="{1F479D68-29BD-4983-AFE1-B5AD02660B06}"/>
                  </a:ext>
                </a:extLst>
              </p:cNvPr>
              <p:cNvSpPr txBox="1"/>
              <p:nvPr/>
            </p:nvSpPr>
            <p:spPr>
              <a:xfrm>
                <a:off x="3577226" y="985941"/>
                <a:ext cx="162256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Polarization Controller</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grpSp>
      <p:sp>
        <p:nvSpPr>
          <p:cNvPr id="91" name="文字方塊 90">
            <a:extLst>
              <a:ext uri="{FF2B5EF4-FFF2-40B4-BE49-F238E27FC236}">
                <a16:creationId xmlns:a16="http://schemas.microsoft.com/office/drawing/2014/main" id="{38EDD885-18CB-4DE9-80BF-2DB4B4E81613}"/>
              </a:ext>
            </a:extLst>
          </p:cNvPr>
          <p:cNvSpPr txBox="1"/>
          <p:nvPr/>
        </p:nvSpPr>
        <p:spPr>
          <a:xfrm>
            <a:off x="6879577" y="4111345"/>
            <a:ext cx="750526"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Detector</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sp>
        <p:nvSpPr>
          <p:cNvPr id="65" name="文字方塊 64">
            <a:extLst>
              <a:ext uri="{FF2B5EF4-FFF2-40B4-BE49-F238E27FC236}">
                <a16:creationId xmlns:a16="http://schemas.microsoft.com/office/drawing/2014/main" id="{C7647E1E-745F-4918-B0D0-50B3AEB951BF}"/>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53</a:t>
            </a:r>
            <a:endParaRPr lang="zh-TW" altLang="en-US" sz="1100" dirty="0">
              <a:latin typeface="Montserrat" panose="02020500000000000000" charset="0"/>
            </a:endParaRPr>
          </a:p>
        </p:txBody>
      </p:sp>
      <p:sp>
        <p:nvSpPr>
          <p:cNvPr id="82" name="文字方塊 81">
            <a:extLst>
              <a:ext uri="{FF2B5EF4-FFF2-40B4-BE49-F238E27FC236}">
                <a16:creationId xmlns:a16="http://schemas.microsoft.com/office/drawing/2014/main" id="{83AE0BBE-6212-4403-997C-797F1D5BB777}"/>
              </a:ext>
            </a:extLst>
          </p:cNvPr>
          <p:cNvSpPr txBox="1"/>
          <p:nvPr/>
        </p:nvSpPr>
        <p:spPr>
          <a:xfrm>
            <a:off x="7030894" y="3782482"/>
            <a:ext cx="332142" cy="230832"/>
          </a:xfrm>
          <a:prstGeom prst="rect">
            <a:avLst/>
          </a:prstGeom>
          <a:noFill/>
        </p:spPr>
        <p:txBody>
          <a:bodyPr wrap="none" rtlCol="0">
            <a:spAutoFit/>
          </a:bodyPr>
          <a:lstStyle/>
          <a:p>
            <a:r>
              <a:rPr lang="en-US" altLang="zh-TW" sz="900" b="1" dirty="0">
                <a:latin typeface="Montserrat" panose="02020500000000000000" charset="0"/>
              </a:rPr>
              <a:t>TE</a:t>
            </a:r>
            <a:endParaRPr lang="zh-TW" altLang="en-US" sz="900" b="1" dirty="0">
              <a:latin typeface="Montserrat" panose="02020500000000000000" charset="0"/>
            </a:endParaRPr>
          </a:p>
        </p:txBody>
      </p:sp>
      <p:sp>
        <p:nvSpPr>
          <p:cNvPr id="83" name="文字方塊 82">
            <a:extLst>
              <a:ext uri="{FF2B5EF4-FFF2-40B4-BE49-F238E27FC236}">
                <a16:creationId xmlns:a16="http://schemas.microsoft.com/office/drawing/2014/main" id="{6D2259F9-C3D1-4F73-8AC8-E286BFB6F921}"/>
              </a:ext>
            </a:extLst>
          </p:cNvPr>
          <p:cNvSpPr txBox="1"/>
          <p:nvPr/>
        </p:nvSpPr>
        <p:spPr>
          <a:xfrm>
            <a:off x="7405684" y="824724"/>
            <a:ext cx="1645002" cy="899733"/>
          </a:xfrm>
          <a:prstGeom prst="rect">
            <a:avLst/>
          </a:prstGeom>
          <a:noFill/>
        </p:spPr>
        <p:txBody>
          <a:bodyPr wrap="none" rtlCol="0">
            <a:spAutoFit/>
          </a:bodyPr>
          <a:lstStyle/>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ECL : ≈4mW</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EDFA : ≈80mW</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Polarization : 45°</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Oven temperature : 110°C</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41080420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17" name="圖片 16">
            <a:extLst>
              <a:ext uri="{FF2B5EF4-FFF2-40B4-BE49-F238E27FC236}">
                <a16:creationId xmlns:a16="http://schemas.microsoft.com/office/drawing/2014/main" id="{4D5D61AB-3267-4576-958A-EA919133869C}"/>
              </a:ext>
            </a:extLst>
          </p:cNvPr>
          <p:cNvPicPr>
            <a:picLocks noChangeAspect="1"/>
          </p:cNvPicPr>
          <p:nvPr/>
        </p:nvPicPr>
        <p:blipFill>
          <a:blip r:embed="rId3"/>
          <a:stretch>
            <a:fillRect/>
          </a:stretch>
        </p:blipFill>
        <p:spPr>
          <a:xfrm>
            <a:off x="2528886" y="1045440"/>
            <a:ext cx="4086227" cy="3052620"/>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Tuning curves of SHG</a:t>
            </a:r>
          </a:p>
        </p:txBody>
      </p:sp>
      <p:grpSp>
        <p:nvGrpSpPr>
          <p:cNvPr id="2" name="群組 1">
            <a:extLst>
              <a:ext uri="{FF2B5EF4-FFF2-40B4-BE49-F238E27FC236}">
                <a16:creationId xmlns:a16="http://schemas.microsoft.com/office/drawing/2014/main" id="{4760DDAC-3662-4DBB-AF81-6D255BC13116}"/>
              </a:ext>
            </a:extLst>
          </p:cNvPr>
          <p:cNvGrpSpPr/>
          <p:nvPr/>
        </p:nvGrpSpPr>
        <p:grpSpPr>
          <a:xfrm>
            <a:off x="189900" y="-911"/>
            <a:ext cx="8764200" cy="295831"/>
            <a:chOff x="189900" y="-911"/>
            <a:chExt cx="8764200" cy="295831"/>
          </a:xfrm>
        </p:grpSpPr>
        <p:sp>
          <p:nvSpPr>
            <p:cNvPr id="3" name="矩形 2">
              <a:extLst>
                <a:ext uri="{FF2B5EF4-FFF2-40B4-BE49-F238E27FC236}">
                  <a16:creationId xmlns:a16="http://schemas.microsoft.com/office/drawing/2014/main" id="{87C16835-BE41-45F4-B53F-D1F38FCE2699}"/>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4" name="矩形 3">
              <a:extLst>
                <a:ext uri="{FF2B5EF4-FFF2-40B4-BE49-F238E27FC236}">
                  <a16:creationId xmlns:a16="http://schemas.microsoft.com/office/drawing/2014/main" id="{B6EBBEC4-530B-4CC1-800A-7BEA94EA0702}"/>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40221C43-F7AF-4CB0-B914-135FFFC1309E}"/>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07BD3D50-DC9D-4285-B01C-DEDDFAA67CDB}"/>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5F240FE-AD68-4CCD-820E-F8517DF2CEC4}"/>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2" name="矩形 11">
              <a:extLst>
                <a:ext uri="{FF2B5EF4-FFF2-40B4-BE49-F238E27FC236}">
                  <a16:creationId xmlns:a16="http://schemas.microsoft.com/office/drawing/2014/main" id="{277BFCAF-4AF7-4EB7-97A7-5A9F2A3023D9}"/>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文字方塊 12">
            <a:extLst>
              <a:ext uri="{FF2B5EF4-FFF2-40B4-BE49-F238E27FC236}">
                <a16:creationId xmlns:a16="http://schemas.microsoft.com/office/drawing/2014/main" id="{3D51F264-03D4-4D6A-BABC-FA922FCD0FA2}"/>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54</a:t>
            </a:r>
            <a:endParaRPr lang="zh-TW" altLang="en-US" sz="1100" dirty="0">
              <a:latin typeface="Montserrat" panose="02020500000000000000" charset="0"/>
            </a:endParaRPr>
          </a:p>
        </p:txBody>
      </p:sp>
      <p:sp>
        <p:nvSpPr>
          <p:cNvPr id="15" name="文字方塊 14">
            <a:extLst>
              <a:ext uri="{FF2B5EF4-FFF2-40B4-BE49-F238E27FC236}">
                <a16:creationId xmlns:a16="http://schemas.microsoft.com/office/drawing/2014/main" id="{5E7A0101-4A54-427F-952C-ACF250C2D97A}"/>
              </a:ext>
            </a:extLst>
          </p:cNvPr>
          <p:cNvSpPr txBox="1"/>
          <p:nvPr/>
        </p:nvSpPr>
        <p:spPr>
          <a:xfrm>
            <a:off x="3517864" y="4363562"/>
            <a:ext cx="2108269" cy="297133"/>
          </a:xfrm>
          <a:prstGeom prst="rect">
            <a:avLst/>
          </a:prstGeom>
          <a:noFill/>
        </p:spPr>
        <p:txBody>
          <a:bodyPr wrap="none" rtlCol="0">
            <a:spAutoFit/>
          </a:bodyPr>
          <a:lstStyle/>
          <a:p>
            <a:pPr>
              <a:lnSpc>
                <a:spcPct val="150000"/>
              </a:lnSpc>
            </a:pPr>
            <a:r>
              <a:rPr lang="en-US" altLang="zh-TW" sz="1000" dirty="0">
                <a:latin typeface="Montserrat" panose="02020500000000000000" charset="0"/>
                <a:ea typeface="標楷體" panose="03000509000000000000" pitchFamily="65" charset="-120"/>
                <a:cs typeface="Times New Roman" panose="02020603050405020304" pitchFamily="18" charset="0"/>
              </a:rPr>
              <a:t>Center wavelength at </a:t>
            </a:r>
            <a:r>
              <a:rPr lang="en-US" altLang="zh-TW" sz="1000" b="1" dirty="0">
                <a:latin typeface="Montserrat" panose="02020500000000000000" charset="0"/>
                <a:ea typeface="標楷體" panose="03000509000000000000" pitchFamily="65" charset="-120"/>
                <a:cs typeface="Times New Roman" panose="02020603050405020304" pitchFamily="18" charset="0"/>
              </a:rPr>
              <a:t>1570nm</a:t>
            </a:r>
            <a:endParaRPr lang="zh-TW" altLang="en-US" sz="1000" b="1" dirty="0">
              <a:latin typeface="Montserrat" panose="02020500000000000000"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8569766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Tuning curves of SHG</a:t>
            </a:r>
          </a:p>
        </p:txBody>
      </p:sp>
      <p:grpSp>
        <p:nvGrpSpPr>
          <p:cNvPr id="2" name="群組 1">
            <a:extLst>
              <a:ext uri="{FF2B5EF4-FFF2-40B4-BE49-F238E27FC236}">
                <a16:creationId xmlns:a16="http://schemas.microsoft.com/office/drawing/2014/main" id="{4760DDAC-3662-4DBB-AF81-6D255BC13116}"/>
              </a:ext>
            </a:extLst>
          </p:cNvPr>
          <p:cNvGrpSpPr/>
          <p:nvPr/>
        </p:nvGrpSpPr>
        <p:grpSpPr>
          <a:xfrm>
            <a:off x="189900" y="-911"/>
            <a:ext cx="8764200" cy="295831"/>
            <a:chOff x="189900" y="-911"/>
            <a:chExt cx="8764200" cy="295831"/>
          </a:xfrm>
        </p:grpSpPr>
        <p:sp>
          <p:nvSpPr>
            <p:cNvPr id="3" name="矩形 2">
              <a:extLst>
                <a:ext uri="{FF2B5EF4-FFF2-40B4-BE49-F238E27FC236}">
                  <a16:creationId xmlns:a16="http://schemas.microsoft.com/office/drawing/2014/main" id="{87C16835-BE41-45F4-B53F-D1F38FCE2699}"/>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4" name="矩形 3">
              <a:extLst>
                <a:ext uri="{FF2B5EF4-FFF2-40B4-BE49-F238E27FC236}">
                  <a16:creationId xmlns:a16="http://schemas.microsoft.com/office/drawing/2014/main" id="{B6EBBEC4-530B-4CC1-800A-7BEA94EA0702}"/>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40221C43-F7AF-4CB0-B914-135FFFC1309E}"/>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07BD3D50-DC9D-4285-B01C-DEDDFAA67CDB}"/>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5F240FE-AD68-4CCD-820E-F8517DF2CEC4}"/>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2" name="矩形 11">
              <a:extLst>
                <a:ext uri="{FF2B5EF4-FFF2-40B4-BE49-F238E27FC236}">
                  <a16:creationId xmlns:a16="http://schemas.microsoft.com/office/drawing/2014/main" id="{277BFCAF-4AF7-4EB7-97A7-5A9F2A3023D9}"/>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1" name="圖片 10">
            <a:extLst>
              <a:ext uri="{FF2B5EF4-FFF2-40B4-BE49-F238E27FC236}">
                <a16:creationId xmlns:a16="http://schemas.microsoft.com/office/drawing/2014/main" id="{E0B98433-7ADB-4B35-9E63-FB1098A78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2570" y="1233074"/>
            <a:ext cx="3306822" cy="2470365"/>
          </a:xfrm>
          <a:prstGeom prst="rect">
            <a:avLst/>
          </a:prstGeom>
        </p:spPr>
      </p:pic>
      <p:pic>
        <p:nvPicPr>
          <p:cNvPr id="5" name="圖片 4">
            <a:extLst>
              <a:ext uri="{FF2B5EF4-FFF2-40B4-BE49-F238E27FC236}">
                <a16:creationId xmlns:a16="http://schemas.microsoft.com/office/drawing/2014/main" id="{82605BAE-C2D1-43AA-9CA7-EABA4DFCF989}"/>
              </a:ext>
            </a:extLst>
          </p:cNvPr>
          <p:cNvPicPr>
            <a:picLocks noChangeAspect="1"/>
          </p:cNvPicPr>
          <p:nvPr/>
        </p:nvPicPr>
        <p:blipFill>
          <a:blip r:embed="rId4"/>
          <a:stretch>
            <a:fillRect/>
          </a:stretch>
        </p:blipFill>
        <p:spPr>
          <a:xfrm>
            <a:off x="4797648" y="1233074"/>
            <a:ext cx="3306822" cy="2470365"/>
          </a:xfrm>
          <a:prstGeom prst="rect">
            <a:avLst/>
          </a:prstGeom>
        </p:spPr>
      </p:pic>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8DD2B794-13F8-47D4-8EB6-E5B4CB49CEBF}"/>
                  </a:ext>
                </a:extLst>
              </p:cNvPr>
              <p:cNvGraphicFramePr>
                <a:graphicFrameLocks noGrp="1"/>
              </p:cNvGraphicFramePr>
              <p:nvPr>
                <p:extLst>
                  <p:ext uri="{D42A27DB-BD31-4B8C-83A1-F6EECF244321}">
                    <p14:modId xmlns:p14="http://schemas.microsoft.com/office/powerpoint/2010/main" val="3547723960"/>
                  </p:ext>
                </p:extLst>
              </p:nvPr>
            </p:nvGraphicFramePr>
            <p:xfrm>
              <a:off x="3315922" y="3855455"/>
              <a:ext cx="2561985" cy="1036424"/>
            </p:xfrm>
            <a:graphic>
              <a:graphicData uri="http://schemas.openxmlformats.org/drawingml/2006/table">
                <a:tbl>
                  <a:tblPr firstRow="1" firstCol="1" bandRow="1">
                    <a:tableStyleId>{98252408-292B-446D-B347-1ABCC8AC41D4}</a:tableStyleId>
                  </a:tblPr>
                  <a:tblGrid>
                    <a:gridCol w="770573">
                      <a:extLst>
                        <a:ext uri="{9D8B030D-6E8A-4147-A177-3AD203B41FA5}">
                          <a16:colId xmlns:a16="http://schemas.microsoft.com/office/drawing/2014/main" val="2488836331"/>
                        </a:ext>
                      </a:extLst>
                    </a:gridCol>
                    <a:gridCol w="1791412">
                      <a:extLst>
                        <a:ext uri="{9D8B030D-6E8A-4147-A177-3AD203B41FA5}">
                          <a16:colId xmlns:a16="http://schemas.microsoft.com/office/drawing/2014/main" val="1720333333"/>
                        </a:ext>
                      </a:extLst>
                    </a:gridCol>
                  </a:tblGrid>
                  <a:tr h="206209">
                    <a:tc>
                      <a:txBody>
                        <a:bodyPr/>
                        <a:lstStyle/>
                        <a:p>
                          <a:pPr algn="ctr">
                            <a:lnSpc>
                              <a:spcPct val="150000"/>
                            </a:lnSpc>
                            <a:spcAft>
                              <a:spcPts val="0"/>
                            </a:spcAft>
                          </a:pPr>
                          <a:r>
                            <a:rPr lang="en-US" sz="800" kern="100" dirty="0">
                              <a:effectLst/>
                              <a:latin typeface="Montserrat" panose="02020500000000000000" charset="0"/>
                            </a:rPr>
                            <a:t> </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b="1" kern="100" baseline="0" dirty="0">
                              <a:effectLst/>
                              <a:latin typeface="Montserrat" panose="02020500000000000000" charset="0"/>
                            </a:rPr>
                            <a:t>Minimum of unit domain</a:t>
                          </a:r>
                          <a:r>
                            <a:rPr lang="en-US" sz="800" b="1" kern="100" dirty="0">
                              <a:effectLst/>
                              <a:latin typeface="Montserrat" panose="02020500000000000000" charset="0"/>
                            </a:rPr>
                            <a:t>(</a:t>
                          </a:r>
                          <a14:m>
                            <m:oMath xmlns:m="http://schemas.openxmlformats.org/officeDocument/2006/math">
                              <m:r>
                                <a:rPr lang="en-US" sz="800" b="1" i="1" kern="100">
                                  <a:effectLst/>
                                  <a:latin typeface="Cambria Math" panose="02040503050406030204" pitchFamily="18" charset="0"/>
                                </a:rPr>
                                <m:t>𝝁</m:t>
                              </m:r>
                              <m:r>
                                <a:rPr lang="en-US" sz="800" b="1" i="1" kern="100">
                                  <a:effectLst/>
                                  <a:latin typeface="Cambria Math" panose="02040503050406030204" pitchFamily="18" charset="0"/>
                                </a:rPr>
                                <m:t>𝒎</m:t>
                              </m:r>
                            </m:oMath>
                          </a14:m>
                          <a:r>
                            <a:rPr lang="en-US" sz="800" b="1" kern="100" dirty="0">
                              <a:effectLst/>
                              <a:latin typeface="Montserrat" panose="02020500000000000000" charset="0"/>
                            </a:rPr>
                            <a:t>)</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9055456"/>
                      </a:ext>
                    </a:extLst>
                  </a:tr>
                  <a:tr h="206209">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1</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4.66</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5024638"/>
                      </a:ext>
                    </a:extLst>
                  </a:tr>
                  <a:tr h="206209">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2</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4.1</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7157521"/>
                      </a:ext>
                    </a:extLst>
                  </a:tr>
                  <a:tr h="206209">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3</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61750209"/>
                      </a:ext>
                    </a:extLst>
                  </a:tr>
                  <a:tr h="211588">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4</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23264513"/>
                      </a:ext>
                    </a:extLst>
                  </a:tr>
                </a:tbl>
              </a:graphicData>
            </a:graphic>
          </p:graphicFrame>
        </mc:Choice>
        <mc:Fallback xmlns="">
          <p:graphicFrame>
            <p:nvGraphicFramePr>
              <p:cNvPr id="6" name="表格 5">
                <a:extLst>
                  <a:ext uri="{FF2B5EF4-FFF2-40B4-BE49-F238E27FC236}">
                    <a16:creationId xmlns:a16="http://schemas.microsoft.com/office/drawing/2014/main" id="{8DD2B794-13F8-47D4-8EB6-E5B4CB49CEBF}"/>
                  </a:ext>
                </a:extLst>
              </p:cNvPr>
              <p:cNvGraphicFramePr>
                <a:graphicFrameLocks noGrp="1"/>
              </p:cNvGraphicFramePr>
              <p:nvPr>
                <p:extLst>
                  <p:ext uri="{D42A27DB-BD31-4B8C-83A1-F6EECF244321}">
                    <p14:modId xmlns:p14="http://schemas.microsoft.com/office/powerpoint/2010/main" val="3547723960"/>
                  </p:ext>
                </p:extLst>
              </p:nvPr>
            </p:nvGraphicFramePr>
            <p:xfrm>
              <a:off x="3315922" y="3855455"/>
              <a:ext cx="2561985" cy="1036424"/>
            </p:xfrm>
            <a:graphic>
              <a:graphicData uri="http://schemas.openxmlformats.org/drawingml/2006/table">
                <a:tbl>
                  <a:tblPr firstRow="1" firstCol="1" bandRow="1">
                    <a:tableStyleId>{98252408-292B-446D-B347-1ABCC8AC41D4}</a:tableStyleId>
                  </a:tblPr>
                  <a:tblGrid>
                    <a:gridCol w="770573">
                      <a:extLst>
                        <a:ext uri="{9D8B030D-6E8A-4147-A177-3AD203B41FA5}">
                          <a16:colId xmlns:a16="http://schemas.microsoft.com/office/drawing/2014/main" val="2488836331"/>
                        </a:ext>
                      </a:extLst>
                    </a:gridCol>
                    <a:gridCol w="1791412">
                      <a:extLst>
                        <a:ext uri="{9D8B030D-6E8A-4147-A177-3AD203B41FA5}">
                          <a16:colId xmlns:a16="http://schemas.microsoft.com/office/drawing/2014/main" val="1720333333"/>
                        </a:ext>
                      </a:extLst>
                    </a:gridCol>
                  </a:tblGrid>
                  <a:tr h="206209">
                    <a:tc>
                      <a:txBody>
                        <a:bodyPr/>
                        <a:lstStyle/>
                        <a:p>
                          <a:pPr algn="ctr">
                            <a:lnSpc>
                              <a:spcPct val="150000"/>
                            </a:lnSpc>
                            <a:spcAft>
                              <a:spcPts val="0"/>
                            </a:spcAft>
                          </a:pPr>
                          <a:r>
                            <a:rPr lang="en-US" sz="800" kern="100" dirty="0">
                              <a:effectLst/>
                              <a:latin typeface="Montserrat" panose="02020500000000000000" charset="0"/>
                            </a:rPr>
                            <a:t> </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zh-TW"/>
                        </a:p>
                      </a:txBody>
                      <a:tcPr marL="68580" marR="68580" marT="0" marB="0">
                        <a:blipFill>
                          <a:blip r:embed="rId5"/>
                          <a:stretch>
                            <a:fillRect l="-43051" t="-2941" r="-339" b="-408824"/>
                          </a:stretch>
                        </a:blipFill>
                      </a:tcPr>
                    </a:tc>
                    <a:extLst>
                      <a:ext uri="{0D108BD9-81ED-4DB2-BD59-A6C34878D82A}">
                        <a16:rowId xmlns:a16="http://schemas.microsoft.com/office/drawing/2014/main" val="1599055456"/>
                      </a:ext>
                    </a:extLst>
                  </a:tr>
                  <a:tr h="206209">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1</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4.66</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5024638"/>
                      </a:ext>
                    </a:extLst>
                  </a:tr>
                  <a:tr h="206209">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2</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4.1</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7157521"/>
                      </a:ext>
                    </a:extLst>
                  </a:tr>
                  <a:tr h="206209">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3</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61750209"/>
                      </a:ext>
                    </a:extLst>
                  </a:tr>
                  <a:tr h="211588">
                    <a:tc>
                      <a:txBody>
                        <a:bodyPr/>
                        <a:lstStyle/>
                        <a:p>
                          <a:pPr algn="ctr">
                            <a:lnSpc>
                              <a:spcPct val="150000"/>
                            </a:lnSpc>
                            <a:spcAft>
                              <a:spcPts val="0"/>
                            </a:spcAft>
                          </a:pPr>
                          <a:r>
                            <a:rPr lang="en-US" altLang="zh-TW" sz="800" b="1" kern="100" dirty="0">
                              <a:effectLst/>
                              <a:latin typeface="Montserrat" panose="02020500000000000000" charset="0"/>
                            </a:rPr>
                            <a:t>Structure </a:t>
                          </a:r>
                          <a:r>
                            <a:rPr lang="en-US" sz="800" b="1" kern="100" dirty="0">
                              <a:effectLst/>
                              <a:latin typeface="Montserrat" panose="02020500000000000000" charset="0"/>
                            </a:rPr>
                            <a:t>4</a:t>
                          </a:r>
                          <a:endParaRPr lang="zh-TW" sz="8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800" kern="100" dirty="0">
                              <a:effectLst/>
                              <a:latin typeface="Montserrat" panose="02020500000000000000" charset="0"/>
                            </a:rPr>
                            <a:t>4</a:t>
                          </a:r>
                          <a:endParaRPr lang="zh-TW" sz="8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23264513"/>
                      </a:ext>
                    </a:extLst>
                  </a:tr>
                </a:tbl>
              </a:graphicData>
            </a:graphic>
          </p:graphicFrame>
        </mc:Fallback>
      </mc:AlternateContent>
      <p:sp>
        <p:nvSpPr>
          <p:cNvPr id="13" name="文字方塊 12">
            <a:extLst>
              <a:ext uri="{FF2B5EF4-FFF2-40B4-BE49-F238E27FC236}">
                <a16:creationId xmlns:a16="http://schemas.microsoft.com/office/drawing/2014/main" id="{3D51F264-03D4-4D6A-BABC-FA922FCD0FA2}"/>
              </a:ext>
            </a:extLst>
          </p:cNvPr>
          <p:cNvSpPr txBox="1"/>
          <p:nvPr/>
        </p:nvSpPr>
        <p:spPr>
          <a:xfrm>
            <a:off x="8585770" y="4631694"/>
            <a:ext cx="344966" cy="261610"/>
          </a:xfrm>
          <a:prstGeom prst="rect">
            <a:avLst/>
          </a:prstGeom>
          <a:noFill/>
        </p:spPr>
        <p:txBody>
          <a:bodyPr wrap="none" rtlCol="0">
            <a:spAutoFit/>
          </a:bodyPr>
          <a:lstStyle/>
          <a:p>
            <a:r>
              <a:rPr lang="en-US" altLang="zh-TW" sz="1100" dirty="0">
                <a:latin typeface="Montserrat" panose="02020500000000000000" charset="0"/>
              </a:rPr>
              <a:t>55</a:t>
            </a:r>
            <a:endParaRPr lang="zh-TW" altLang="en-US" sz="1100" dirty="0">
              <a:latin typeface="Montserrat" panose="02020500000000000000" charset="0"/>
            </a:endParaRPr>
          </a:p>
        </p:txBody>
      </p:sp>
    </p:spTree>
    <p:extLst>
      <p:ext uri="{BB962C8B-B14F-4D97-AF65-F5344CB8AC3E}">
        <p14:creationId xmlns:p14="http://schemas.microsoft.com/office/powerpoint/2010/main" val="36557036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1957871" y="1713535"/>
            <a:ext cx="5228258"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Results and discussions</a:t>
            </a:r>
          </a:p>
        </p:txBody>
      </p:sp>
      <p:pic>
        <p:nvPicPr>
          <p:cNvPr id="2" name="圖片 1">
            <a:extLst>
              <a:ext uri="{FF2B5EF4-FFF2-40B4-BE49-F238E27FC236}">
                <a16:creationId xmlns:a16="http://schemas.microsoft.com/office/drawing/2014/main" id="{5081938B-B467-45EE-90F0-D20E9441C502}"/>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0" y="4481112"/>
            <a:ext cx="9144000" cy="662388"/>
          </a:xfrm>
          <a:prstGeom prst="rect">
            <a:avLst/>
          </a:prstGeom>
        </p:spPr>
      </p:pic>
      <p:grpSp>
        <p:nvGrpSpPr>
          <p:cNvPr id="12" name="Google Shape;2047;p67">
            <a:extLst>
              <a:ext uri="{FF2B5EF4-FFF2-40B4-BE49-F238E27FC236}">
                <a16:creationId xmlns:a16="http://schemas.microsoft.com/office/drawing/2014/main" id="{A737ED4D-80B4-4DFB-80B9-728A667074E0}"/>
              </a:ext>
            </a:extLst>
          </p:cNvPr>
          <p:cNvGrpSpPr/>
          <p:nvPr/>
        </p:nvGrpSpPr>
        <p:grpSpPr>
          <a:xfrm>
            <a:off x="7301497" y="3676650"/>
            <a:ext cx="1225283" cy="1333250"/>
            <a:chOff x="1473725" y="402400"/>
            <a:chExt cx="4629150" cy="4842650"/>
          </a:xfrm>
        </p:grpSpPr>
        <p:sp>
          <p:nvSpPr>
            <p:cNvPr id="13" name="Google Shape;2048;p67">
              <a:extLst>
                <a:ext uri="{FF2B5EF4-FFF2-40B4-BE49-F238E27FC236}">
                  <a16:creationId xmlns:a16="http://schemas.microsoft.com/office/drawing/2014/main" id="{A77CE4C8-40FA-485C-A7F4-3629E23F19B3}"/>
                </a:ext>
              </a:extLst>
            </p:cNvPr>
            <p:cNvSpPr/>
            <p:nvPr/>
          </p:nvSpPr>
          <p:spPr>
            <a:xfrm>
              <a:off x="3691150" y="4289350"/>
              <a:ext cx="79250" cy="154300"/>
            </a:xfrm>
            <a:custGeom>
              <a:avLst/>
              <a:gdLst/>
              <a:ahLst/>
              <a:cxnLst/>
              <a:rect l="l" t="t" r="r" b="b"/>
              <a:pathLst>
                <a:path w="3170" h="6172" extrusionOk="0">
                  <a:moveTo>
                    <a:pt x="33" y="0"/>
                  </a:moveTo>
                  <a:lnTo>
                    <a:pt x="0" y="6171"/>
                  </a:lnTo>
                  <a:lnTo>
                    <a:pt x="3169" y="6171"/>
                  </a:lnTo>
                  <a:lnTo>
                    <a:pt x="3136" y="100"/>
                  </a:lnTo>
                  <a:cubicBezTo>
                    <a:pt x="2135" y="67"/>
                    <a:pt x="1068" y="34"/>
                    <a:pt x="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49;p67">
              <a:extLst>
                <a:ext uri="{FF2B5EF4-FFF2-40B4-BE49-F238E27FC236}">
                  <a16:creationId xmlns:a16="http://schemas.microsoft.com/office/drawing/2014/main" id="{F582A7AB-EC04-40A2-A0CD-1617B4BC9086}"/>
                </a:ext>
              </a:extLst>
            </p:cNvPr>
            <p:cNvSpPr/>
            <p:nvPr/>
          </p:nvSpPr>
          <p:spPr>
            <a:xfrm>
              <a:off x="3696975" y="697600"/>
              <a:ext cx="68400" cy="2770350"/>
            </a:xfrm>
            <a:custGeom>
              <a:avLst/>
              <a:gdLst/>
              <a:ahLst/>
              <a:cxnLst/>
              <a:rect l="l" t="t" r="r" b="b"/>
              <a:pathLst>
                <a:path w="2736" h="110814" extrusionOk="0">
                  <a:moveTo>
                    <a:pt x="2102" y="1"/>
                  </a:moveTo>
                  <a:cubicBezTo>
                    <a:pt x="1602" y="1769"/>
                    <a:pt x="1101" y="3637"/>
                    <a:pt x="568" y="5672"/>
                  </a:cubicBezTo>
                  <a:lnTo>
                    <a:pt x="1" y="104009"/>
                  </a:lnTo>
                  <a:cubicBezTo>
                    <a:pt x="835" y="106310"/>
                    <a:pt x="1735" y="108545"/>
                    <a:pt x="2736" y="110813"/>
                  </a:cubicBezTo>
                  <a:lnTo>
                    <a:pt x="2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50;p67">
              <a:extLst>
                <a:ext uri="{FF2B5EF4-FFF2-40B4-BE49-F238E27FC236}">
                  <a16:creationId xmlns:a16="http://schemas.microsoft.com/office/drawing/2014/main" id="{3BFB68A4-31CA-4D34-919E-4F7C2F401C64}"/>
                </a:ext>
              </a:extLst>
            </p:cNvPr>
            <p:cNvSpPr/>
            <p:nvPr/>
          </p:nvSpPr>
          <p:spPr>
            <a:xfrm>
              <a:off x="2485275" y="4577875"/>
              <a:ext cx="1355175" cy="155975"/>
            </a:xfrm>
            <a:custGeom>
              <a:avLst/>
              <a:gdLst/>
              <a:ahLst/>
              <a:cxnLst/>
              <a:rect l="l" t="t" r="r" b="b"/>
              <a:pathLst>
                <a:path w="54207" h="6239" extrusionOk="0">
                  <a:moveTo>
                    <a:pt x="13944" y="1"/>
                  </a:moveTo>
                  <a:cubicBezTo>
                    <a:pt x="6005" y="2469"/>
                    <a:pt x="1" y="6172"/>
                    <a:pt x="1" y="6172"/>
                  </a:cubicBezTo>
                  <a:cubicBezTo>
                    <a:pt x="268" y="6205"/>
                    <a:pt x="568" y="6205"/>
                    <a:pt x="868" y="6239"/>
                  </a:cubicBezTo>
                  <a:lnTo>
                    <a:pt x="868" y="6072"/>
                  </a:lnTo>
                  <a:lnTo>
                    <a:pt x="51404" y="6072"/>
                  </a:lnTo>
                  <a:lnTo>
                    <a:pt x="54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51;p67">
              <a:extLst>
                <a:ext uri="{FF2B5EF4-FFF2-40B4-BE49-F238E27FC236}">
                  <a16:creationId xmlns:a16="http://schemas.microsoft.com/office/drawing/2014/main" id="{EE278A19-5780-4E4A-88C7-6EC07F1794AA}"/>
                </a:ext>
              </a:extLst>
            </p:cNvPr>
            <p:cNvSpPr/>
            <p:nvPr/>
          </p:nvSpPr>
          <p:spPr>
            <a:xfrm>
              <a:off x="5184700" y="4627925"/>
              <a:ext cx="918175" cy="217675"/>
            </a:xfrm>
            <a:custGeom>
              <a:avLst/>
              <a:gdLst/>
              <a:ahLst/>
              <a:cxnLst/>
              <a:rect l="l" t="t" r="r" b="b"/>
              <a:pathLst>
                <a:path w="36727" h="8707" extrusionOk="0">
                  <a:moveTo>
                    <a:pt x="3303" y="0"/>
                  </a:moveTo>
                  <a:cubicBezTo>
                    <a:pt x="2970" y="0"/>
                    <a:pt x="2636" y="201"/>
                    <a:pt x="2536" y="534"/>
                  </a:cubicBezTo>
                  <a:lnTo>
                    <a:pt x="1" y="8340"/>
                  </a:lnTo>
                  <a:lnTo>
                    <a:pt x="1102" y="8707"/>
                  </a:lnTo>
                  <a:lnTo>
                    <a:pt x="3370" y="1702"/>
                  </a:lnTo>
                  <a:cubicBezTo>
                    <a:pt x="3503" y="1368"/>
                    <a:pt x="3803" y="1168"/>
                    <a:pt x="4137" y="1168"/>
                  </a:cubicBezTo>
                  <a:lnTo>
                    <a:pt x="10942" y="1168"/>
                  </a:lnTo>
                  <a:cubicBezTo>
                    <a:pt x="11476" y="1168"/>
                    <a:pt x="11843" y="1702"/>
                    <a:pt x="11676" y="2202"/>
                  </a:cubicBezTo>
                  <a:lnTo>
                    <a:pt x="9674" y="8340"/>
                  </a:lnTo>
                  <a:lnTo>
                    <a:pt x="10775" y="8707"/>
                  </a:lnTo>
                  <a:lnTo>
                    <a:pt x="13043" y="1702"/>
                  </a:lnTo>
                  <a:cubicBezTo>
                    <a:pt x="13177" y="1368"/>
                    <a:pt x="13477" y="1168"/>
                    <a:pt x="13811" y="1168"/>
                  </a:cubicBezTo>
                  <a:lnTo>
                    <a:pt x="21950" y="1168"/>
                  </a:lnTo>
                  <a:cubicBezTo>
                    <a:pt x="22483" y="1168"/>
                    <a:pt x="22850" y="1702"/>
                    <a:pt x="22684" y="2202"/>
                  </a:cubicBezTo>
                  <a:lnTo>
                    <a:pt x="20682" y="8340"/>
                  </a:lnTo>
                  <a:lnTo>
                    <a:pt x="21783" y="8707"/>
                  </a:lnTo>
                  <a:lnTo>
                    <a:pt x="24051" y="1702"/>
                  </a:lnTo>
                  <a:cubicBezTo>
                    <a:pt x="24185" y="1368"/>
                    <a:pt x="24485" y="1168"/>
                    <a:pt x="24818" y="1168"/>
                  </a:cubicBezTo>
                  <a:lnTo>
                    <a:pt x="33491" y="1168"/>
                  </a:lnTo>
                  <a:cubicBezTo>
                    <a:pt x="33892" y="1168"/>
                    <a:pt x="34292" y="1501"/>
                    <a:pt x="34292" y="1935"/>
                  </a:cubicBezTo>
                  <a:lnTo>
                    <a:pt x="34459" y="8540"/>
                  </a:lnTo>
                  <a:lnTo>
                    <a:pt x="35626" y="8506"/>
                  </a:lnTo>
                  <a:lnTo>
                    <a:pt x="35393" y="1168"/>
                  </a:lnTo>
                  <a:lnTo>
                    <a:pt x="36727" y="1168"/>
                  </a:lnTo>
                  <a:lnTo>
                    <a:pt x="367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2;p67">
              <a:extLst>
                <a:ext uri="{FF2B5EF4-FFF2-40B4-BE49-F238E27FC236}">
                  <a16:creationId xmlns:a16="http://schemas.microsoft.com/office/drawing/2014/main" id="{04B793D6-664D-4E89-AE94-D098ACE4E2B1}"/>
                </a:ext>
              </a:extLst>
            </p:cNvPr>
            <p:cNvSpPr/>
            <p:nvPr/>
          </p:nvSpPr>
          <p:spPr>
            <a:xfrm>
              <a:off x="1473725" y="4451950"/>
              <a:ext cx="967375" cy="276075"/>
            </a:xfrm>
            <a:custGeom>
              <a:avLst/>
              <a:gdLst/>
              <a:ahLst/>
              <a:cxnLst/>
              <a:rect l="l" t="t" r="r" b="b"/>
              <a:pathLst>
                <a:path w="38695" h="11043" extrusionOk="0">
                  <a:moveTo>
                    <a:pt x="0" y="1"/>
                  </a:moveTo>
                  <a:lnTo>
                    <a:pt x="634" y="902"/>
                  </a:lnTo>
                  <a:cubicBezTo>
                    <a:pt x="668" y="935"/>
                    <a:pt x="3169" y="4571"/>
                    <a:pt x="6505" y="9041"/>
                  </a:cubicBezTo>
                  <a:lnTo>
                    <a:pt x="7472" y="8340"/>
                  </a:lnTo>
                  <a:cubicBezTo>
                    <a:pt x="5371" y="5538"/>
                    <a:pt x="3570" y="3070"/>
                    <a:pt x="2569" y="1602"/>
                  </a:cubicBezTo>
                  <a:cubicBezTo>
                    <a:pt x="2469" y="1435"/>
                    <a:pt x="2569" y="1202"/>
                    <a:pt x="2802" y="1202"/>
                  </a:cubicBezTo>
                  <a:cubicBezTo>
                    <a:pt x="5871" y="1235"/>
                    <a:pt x="9174" y="1402"/>
                    <a:pt x="13010" y="1736"/>
                  </a:cubicBezTo>
                  <a:cubicBezTo>
                    <a:pt x="13076" y="1736"/>
                    <a:pt x="13177" y="1769"/>
                    <a:pt x="13210" y="1869"/>
                  </a:cubicBezTo>
                  <a:cubicBezTo>
                    <a:pt x="13810" y="2670"/>
                    <a:pt x="16012" y="5872"/>
                    <a:pt x="18847" y="9608"/>
                  </a:cubicBezTo>
                  <a:lnTo>
                    <a:pt x="19314" y="9241"/>
                  </a:lnTo>
                  <a:lnTo>
                    <a:pt x="18914" y="9741"/>
                  </a:lnTo>
                  <a:lnTo>
                    <a:pt x="19381" y="9408"/>
                  </a:lnTo>
                  <a:lnTo>
                    <a:pt x="19748" y="8907"/>
                  </a:lnTo>
                  <a:cubicBezTo>
                    <a:pt x="17713" y="6205"/>
                    <a:pt x="16012" y="3770"/>
                    <a:pt x="14978" y="2369"/>
                  </a:cubicBezTo>
                  <a:cubicBezTo>
                    <a:pt x="14851" y="2211"/>
                    <a:pt x="14965" y="1933"/>
                    <a:pt x="15176" y="1933"/>
                  </a:cubicBezTo>
                  <a:cubicBezTo>
                    <a:pt x="15187" y="1933"/>
                    <a:pt x="15199" y="1934"/>
                    <a:pt x="15211" y="1936"/>
                  </a:cubicBezTo>
                  <a:cubicBezTo>
                    <a:pt x="18647" y="2269"/>
                    <a:pt x="22216" y="2670"/>
                    <a:pt x="26653" y="3170"/>
                  </a:cubicBezTo>
                  <a:cubicBezTo>
                    <a:pt x="26720" y="3170"/>
                    <a:pt x="26820" y="3203"/>
                    <a:pt x="26853" y="3270"/>
                  </a:cubicBezTo>
                  <a:cubicBezTo>
                    <a:pt x="28721" y="5939"/>
                    <a:pt x="30589" y="8574"/>
                    <a:pt x="32490" y="11042"/>
                  </a:cubicBezTo>
                  <a:lnTo>
                    <a:pt x="33424" y="10342"/>
                  </a:lnTo>
                  <a:cubicBezTo>
                    <a:pt x="31857" y="8240"/>
                    <a:pt x="30255" y="6072"/>
                    <a:pt x="28721" y="3837"/>
                  </a:cubicBezTo>
                  <a:cubicBezTo>
                    <a:pt x="28596" y="3619"/>
                    <a:pt x="28705" y="3400"/>
                    <a:pt x="28938" y="3400"/>
                  </a:cubicBezTo>
                  <a:cubicBezTo>
                    <a:pt x="28954" y="3400"/>
                    <a:pt x="28971" y="3401"/>
                    <a:pt x="28988" y="3403"/>
                  </a:cubicBezTo>
                  <a:cubicBezTo>
                    <a:pt x="31990" y="3737"/>
                    <a:pt x="35159" y="4071"/>
                    <a:pt x="38528" y="4404"/>
                  </a:cubicBezTo>
                  <a:lnTo>
                    <a:pt x="38695" y="3203"/>
                  </a:lnTo>
                  <a:cubicBezTo>
                    <a:pt x="34625" y="2770"/>
                    <a:pt x="30822" y="2369"/>
                    <a:pt x="27220" y="2002"/>
                  </a:cubicBezTo>
                  <a:cubicBezTo>
                    <a:pt x="21849" y="1369"/>
                    <a:pt x="17713" y="902"/>
                    <a:pt x="13644" y="568"/>
                  </a:cubicBezTo>
                  <a:cubicBezTo>
                    <a:pt x="8840" y="168"/>
                    <a:pt x="4837" y="1"/>
                    <a:pt x="1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53;p67">
              <a:extLst>
                <a:ext uri="{FF2B5EF4-FFF2-40B4-BE49-F238E27FC236}">
                  <a16:creationId xmlns:a16="http://schemas.microsoft.com/office/drawing/2014/main" id="{5B07ADCE-C351-4B23-96A1-8714CDA64364}"/>
                </a:ext>
              </a:extLst>
            </p:cNvPr>
            <p:cNvSpPr/>
            <p:nvPr/>
          </p:nvSpPr>
          <p:spPr>
            <a:xfrm>
              <a:off x="1623000" y="4660450"/>
              <a:ext cx="4463200" cy="500375"/>
            </a:xfrm>
            <a:custGeom>
              <a:avLst/>
              <a:gdLst/>
              <a:ahLst/>
              <a:cxnLst/>
              <a:rect l="l" t="t" r="r" b="b"/>
              <a:pathLst>
                <a:path w="178528" h="20015" extrusionOk="0">
                  <a:moveTo>
                    <a:pt x="0" y="0"/>
                  </a:moveTo>
                  <a:cubicBezTo>
                    <a:pt x="0" y="0"/>
                    <a:pt x="3069" y="4504"/>
                    <a:pt x="7039" y="9607"/>
                  </a:cubicBezTo>
                  <a:cubicBezTo>
                    <a:pt x="7839" y="10241"/>
                    <a:pt x="21349" y="20015"/>
                    <a:pt x="92767" y="20015"/>
                  </a:cubicBezTo>
                  <a:lnTo>
                    <a:pt x="169922" y="20015"/>
                  </a:lnTo>
                  <a:cubicBezTo>
                    <a:pt x="171289" y="19247"/>
                    <a:pt x="172490" y="18447"/>
                    <a:pt x="173291" y="17613"/>
                  </a:cubicBezTo>
                  <a:cubicBezTo>
                    <a:pt x="176260" y="14544"/>
                    <a:pt x="178528" y="6839"/>
                    <a:pt x="178528" y="6839"/>
                  </a:cubicBezTo>
                  <a:cubicBezTo>
                    <a:pt x="178528" y="6839"/>
                    <a:pt x="176230" y="6809"/>
                    <a:pt x="172148" y="6809"/>
                  </a:cubicBezTo>
                  <a:cubicBezTo>
                    <a:pt x="170107" y="6809"/>
                    <a:pt x="167620" y="6816"/>
                    <a:pt x="164751" y="6839"/>
                  </a:cubicBezTo>
                  <a:lnTo>
                    <a:pt x="153743" y="6839"/>
                  </a:lnTo>
                  <a:cubicBezTo>
                    <a:pt x="150675" y="6839"/>
                    <a:pt x="147439" y="6839"/>
                    <a:pt x="144003" y="6772"/>
                  </a:cubicBezTo>
                  <a:cubicBezTo>
                    <a:pt x="141835" y="6772"/>
                    <a:pt x="139633" y="6738"/>
                    <a:pt x="137332" y="6738"/>
                  </a:cubicBezTo>
                  <a:cubicBezTo>
                    <a:pt x="116417" y="6572"/>
                    <a:pt x="90532" y="6205"/>
                    <a:pt x="67015" y="5271"/>
                  </a:cubicBezTo>
                  <a:cubicBezTo>
                    <a:pt x="54406" y="4770"/>
                    <a:pt x="44165" y="3903"/>
                    <a:pt x="35326" y="3002"/>
                  </a:cubicBezTo>
                  <a:cubicBezTo>
                    <a:pt x="35025" y="2936"/>
                    <a:pt x="34725" y="2936"/>
                    <a:pt x="34425" y="2902"/>
                  </a:cubicBezTo>
                  <a:cubicBezTo>
                    <a:pt x="31490" y="2569"/>
                    <a:pt x="28688" y="2269"/>
                    <a:pt x="26019" y="2002"/>
                  </a:cubicBezTo>
                  <a:cubicBezTo>
                    <a:pt x="21082" y="1435"/>
                    <a:pt x="16646" y="934"/>
                    <a:pt x="12343" y="567"/>
                  </a:cubicBezTo>
                  <a:cubicBezTo>
                    <a:pt x="8073" y="200"/>
                    <a:pt x="403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54;p67">
              <a:extLst>
                <a:ext uri="{FF2B5EF4-FFF2-40B4-BE49-F238E27FC236}">
                  <a16:creationId xmlns:a16="http://schemas.microsoft.com/office/drawing/2014/main" id="{194E3012-E3D0-43B8-95D3-380E6C8E1F96}"/>
                </a:ext>
              </a:extLst>
            </p:cNvPr>
            <p:cNvSpPr/>
            <p:nvPr/>
          </p:nvSpPr>
          <p:spPr>
            <a:xfrm>
              <a:off x="3129900" y="4444450"/>
              <a:ext cx="2074000" cy="80100"/>
            </a:xfrm>
            <a:custGeom>
              <a:avLst/>
              <a:gdLst/>
              <a:ahLst/>
              <a:cxnLst/>
              <a:rect l="l" t="t" r="r" b="b"/>
              <a:pathLst>
                <a:path w="82960" h="3204" extrusionOk="0">
                  <a:moveTo>
                    <a:pt x="3170" y="1"/>
                  </a:moveTo>
                  <a:cubicBezTo>
                    <a:pt x="1435" y="1"/>
                    <a:pt x="1" y="1402"/>
                    <a:pt x="1" y="3170"/>
                  </a:cubicBezTo>
                  <a:lnTo>
                    <a:pt x="1" y="3203"/>
                  </a:lnTo>
                  <a:lnTo>
                    <a:pt x="81359" y="3203"/>
                  </a:lnTo>
                  <a:cubicBezTo>
                    <a:pt x="82226" y="3203"/>
                    <a:pt x="82960" y="2503"/>
                    <a:pt x="82960" y="1569"/>
                  </a:cubicBezTo>
                  <a:cubicBezTo>
                    <a:pt x="82960" y="701"/>
                    <a:pt x="82226" y="1"/>
                    <a:pt x="81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55;p67">
              <a:extLst>
                <a:ext uri="{FF2B5EF4-FFF2-40B4-BE49-F238E27FC236}">
                  <a16:creationId xmlns:a16="http://schemas.microsoft.com/office/drawing/2014/main" id="{CF94098C-58E7-4B0A-874D-7A15E4B455FD}"/>
                </a:ext>
              </a:extLst>
            </p:cNvPr>
            <p:cNvSpPr/>
            <p:nvPr/>
          </p:nvSpPr>
          <p:spPr>
            <a:xfrm>
              <a:off x="3129075" y="4445300"/>
              <a:ext cx="2074825" cy="78400"/>
            </a:xfrm>
            <a:custGeom>
              <a:avLst/>
              <a:gdLst/>
              <a:ahLst/>
              <a:cxnLst/>
              <a:rect l="l" t="t" r="r" b="b"/>
              <a:pathLst>
                <a:path w="82993" h="3136" extrusionOk="0">
                  <a:moveTo>
                    <a:pt x="81859" y="0"/>
                  </a:moveTo>
                  <a:lnTo>
                    <a:pt x="81859" y="0"/>
                  </a:lnTo>
                  <a:cubicBezTo>
                    <a:pt x="81926" y="200"/>
                    <a:pt x="82026" y="434"/>
                    <a:pt x="82026" y="667"/>
                  </a:cubicBezTo>
                  <a:lnTo>
                    <a:pt x="82026" y="701"/>
                  </a:lnTo>
                  <a:cubicBezTo>
                    <a:pt x="82026" y="1601"/>
                    <a:pt x="81325" y="2302"/>
                    <a:pt x="80424" y="2302"/>
                  </a:cubicBezTo>
                  <a:lnTo>
                    <a:pt x="134" y="2302"/>
                  </a:lnTo>
                  <a:cubicBezTo>
                    <a:pt x="34" y="2535"/>
                    <a:pt x="0" y="2836"/>
                    <a:pt x="0" y="3102"/>
                  </a:cubicBezTo>
                  <a:lnTo>
                    <a:pt x="0" y="3136"/>
                  </a:lnTo>
                  <a:lnTo>
                    <a:pt x="81392" y="3136"/>
                  </a:lnTo>
                  <a:cubicBezTo>
                    <a:pt x="82259" y="3136"/>
                    <a:pt x="82993" y="2435"/>
                    <a:pt x="82993" y="1535"/>
                  </a:cubicBezTo>
                  <a:lnTo>
                    <a:pt x="82993" y="1501"/>
                  </a:lnTo>
                  <a:cubicBezTo>
                    <a:pt x="82993" y="801"/>
                    <a:pt x="82526" y="200"/>
                    <a:pt x="8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56;p67">
              <a:extLst>
                <a:ext uri="{FF2B5EF4-FFF2-40B4-BE49-F238E27FC236}">
                  <a16:creationId xmlns:a16="http://schemas.microsoft.com/office/drawing/2014/main" id="{4FE2A90D-BFB8-43F2-8A3B-0F59845D93B1}"/>
                </a:ext>
              </a:extLst>
            </p:cNvPr>
            <p:cNvSpPr/>
            <p:nvPr/>
          </p:nvSpPr>
          <p:spPr>
            <a:xfrm>
              <a:off x="3855425" y="595875"/>
              <a:ext cx="1367675" cy="3558400"/>
            </a:xfrm>
            <a:custGeom>
              <a:avLst/>
              <a:gdLst/>
              <a:ahLst/>
              <a:cxnLst/>
              <a:rect l="l" t="t" r="r" b="b"/>
              <a:pathLst>
                <a:path w="54707" h="142336" extrusionOk="0">
                  <a:moveTo>
                    <a:pt x="0" y="0"/>
                  </a:moveTo>
                  <a:lnTo>
                    <a:pt x="0" y="122154"/>
                  </a:lnTo>
                  <a:cubicBezTo>
                    <a:pt x="4037" y="129426"/>
                    <a:pt x="9140" y="136231"/>
                    <a:pt x="15578" y="142335"/>
                  </a:cubicBezTo>
                  <a:lnTo>
                    <a:pt x="54706" y="142335"/>
                  </a:lnTo>
                  <a:cubicBezTo>
                    <a:pt x="54706" y="142335"/>
                    <a:pt x="11309" y="85628"/>
                    <a:pt x="0" y="0"/>
                  </a:cubicBezTo>
                  <a:close/>
                </a:path>
              </a:pathLst>
            </a:custGeom>
            <a:solidFill>
              <a:schemeClr val="accent5">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57;p67">
              <a:extLst>
                <a:ext uri="{FF2B5EF4-FFF2-40B4-BE49-F238E27FC236}">
                  <a16:creationId xmlns:a16="http://schemas.microsoft.com/office/drawing/2014/main" id="{54151CD9-5BB3-4BCB-87C0-D86DCE56DE8D}"/>
                </a:ext>
              </a:extLst>
            </p:cNvPr>
            <p:cNvSpPr/>
            <p:nvPr/>
          </p:nvSpPr>
          <p:spPr>
            <a:xfrm>
              <a:off x="2504450" y="4524525"/>
              <a:ext cx="2551025" cy="304400"/>
            </a:xfrm>
            <a:custGeom>
              <a:avLst/>
              <a:gdLst/>
              <a:ahLst/>
              <a:cxnLst/>
              <a:rect l="l" t="t" r="r" b="b"/>
              <a:pathLst>
                <a:path w="102041" h="12176" extrusionOk="0">
                  <a:moveTo>
                    <a:pt x="98505" y="0"/>
                  </a:moveTo>
                  <a:lnTo>
                    <a:pt x="98505" y="33"/>
                  </a:lnTo>
                  <a:lnTo>
                    <a:pt x="25786" y="33"/>
                  </a:lnTo>
                  <a:cubicBezTo>
                    <a:pt x="21416" y="33"/>
                    <a:pt x="16980" y="967"/>
                    <a:pt x="13077" y="2168"/>
                  </a:cubicBezTo>
                  <a:lnTo>
                    <a:pt x="53339" y="2168"/>
                  </a:lnTo>
                  <a:lnTo>
                    <a:pt x="50537" y="8273"/>
                  </a:lnTo>
                  <a:lnTo>
                    <a:pt x="1" y="8273"/>
                  </a:lnTo>
                  <a:lnTo>
                    <a:pt x="1" y="8439"/>
                  </a:lnTo>
                  <a:cubicBezTo>
                    <a:pt x="8841" y="9340"/>
                    <a:pt x="19115" y="10207"/>
                    <a:pt x="31690" y="10708"/>
                  </a:cubicBezTo>
                  <a:cubicBezTo>
                    <a:pt x="55207" y="11642"/>
                    <a:pt x="81125" y="12009"/>
                    <a:pt x="102040" y="12175"/>
                  </a:cubicBezTo>
                  <a:lnTo>
                    <a:pt x="985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58;p67">
              <a:extLst>
                <a:ext uri="{FF2B5EF4-FFF2-40B4-BE49-F238E27FC236}">
                  <a16:creationId xmlns:a16="http://schemas.microsoft.com/office/drawing/2014/main" id="{5BEA788E-3DDA-4D97-ACA0-A98C73111334}"/>
                </a:ext>
              </a:extLst>
            </p:cNvPr>
            <p:cNvSpPr/>
            <p:nvPr/>
          </p:nvSpPr>
          <p:spPr>
            <a:xfrm>
              <a:off x="4874475" y="4523675"/>
              <a:ext cx="181000" cy="304425"/>
            </a:xfrm>
            <a:custGeom>
              <a:avLst/>
              <a:gdLst/>
              <a:ahLst/>
              <a:cxnLst/>
              <a:rect l="l" t="t" r="r" b="b"/>
              <a:pathLst>
                <a:path w="7240" h="12177" extrusionOk="0">
                  <a:moveTo>
                    <a:pt x="1" y="1"/>
                  </a:moveTo>
                  <a:lnTo>
                    <a:pt x="3537" y="12143"/>
                  </a:lnTo>
                  <a:cubicBezTo>
                    <a:pt x="4838" y="12176"/>
                    <a:pt x="6039" y="12176"/>
                    <a:pt x="7239" y="12176"/>
                  </a:cubicBezTo>
                  <a:lnTo>
                    <a:pt x="37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59;p67">
              <a:extLst>
                <a:ext uri="{FF2B5EF4-FFF2-40B4-BE49-F238E27FC236}">
                  <a16:creationId xmlns:a16="http://schemas.microsoft.com/office/drawing/2014/main" id="{55BF8B09-1B10-4F4B-B847-16A0C3199400}"/>
                </a:ext>
              </a:extLst>
            </p:cNvPr>
            <p:cNvSpPr/>
            <p:nvPr/>
          </p:nvSpPr>
          <p:spPr>
            <a:xfrm>
              <a:off x="3144075" y="4524525"/>
              <a:ext cx="1831350" cy="25875"/>
            </a:xfrm>
            <a:custGeom>
              <a:avLst/>
              <a:gdLst/>
              <a:ahLst/>
              <a:cxnLst/>
              <a:rect l="l" t="t" r="r" b="b"/>
              <a:pathLst>
                <a:path w="73254" h="1035" extrusionOk="0">
                  <a:moveTo>
                    <a:pt x="1" y="0"/>
                  </a:moveTo>
                  <a:lnTo>
                    <a:pt x="72953" y="1034"/>
                  </a:lnTo>
                  <a:lnTo>
                    <a:pt x="73253" y="1034"/>
                  </a:lnTo>
                  <a:lnTo>
                    <a:pt x="72920" y="0"/>
                  </a:ln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60;p67">
              <a:extLst>
                <a:ext uri="{FF2B5EF4-FFF2-40B4-BE49-F238E27FC236}">
                  <a16:creationId xmlns:a16="http://schemas.microsoft.com/office/drawing/2014/main" id="{DF162C48-3001-46A6-AE0E-61ED832EA2E0}"/>
                </a:ext>
              </a:extLst>
            </p:cNvPr>
            <p:cNvSpPr/>
            <p:nvPr/>
          </p:nvSpPr>
          <p:spPr>
            <a:xfrm>
              <a:off x="1686375" y="402400"/>
              <a:ext cx="2739475" cy="3907825"/>
            </a:xfrm>
            <a:custGeom>
              <a:avLst/>
              <a:gdLst/>
              <a:ahLst/>
              <a:cxnLst/>
              <a:rect l="l" t="t" r="r" b="b"/>
              <a:pathLst>
                <a:path w="109579" h="156313" extrusionOk="0">
                  <a:moveTo>
                    <a:pt x="86262" y="0"/>
                  </a:moveTo>
                  <a:lnTo>
                    <a:pt x="86262" y="0"/>
                  </a:lnTo>
                  <a:cubicBezTo>
                    <a:pt x="24718" y="52271"/>
                    <a:pt x="1" y="147840"/>
                    <a:pt x="1" y="147840"/>
                  </a:cubicBezTo>
                  <a:cubicBezTo>
                    <a:pt x="21082" y="152376"/>
                    <a:pt x="55540" y="154544"/>
                    <a:pt x="80191" y="155512"/>
                  </a:cubicBezTo>
                  <a:cubicBezTo>
                    <a:pt x="81259" y="155545"/>
                    <a:pt x="82293" y="155578"/>
                    <a:pt x="83293" y="155612"/>
                  </a:cubicBezTo>
                  <a:cubicBezTo>
                    <a:pt x="98738" y="156179"/>
                    <a:pt x="109579" y="156312"/>
                    <a:pt x="109579" y="156312"/>
                  </a:cubicBezTo>
                  <a:cubicBezTo>
                    <a:pt x="107010" y="154311"/>
                    <a:pt x="104575" y="152243"/>
                    <a:pt x="102340" y="150074"/>
                  </a:cubicBezTo>
                  <a:cubicBezTo>
                    <a:pt x="95902" y="143970"/>
                    <a:pt x="90765" y="137165"/>
                    <a:pt x="86762" y="129893"/>
                  </a:cubicBezTo>
                  <a:cubicBezTo>
                    <a:pt x="85428" y="127525"/>
                    <a:pt x="84227" y="125057"/>
                    <a:pt x="83160" y="122621"/>
                  </a:cubicBezTo>
                  <a:cubicBezTo>
                    <a:pt x="82159" y="120353"/>
                    <a:pt x="81259" y="118118"/>
                    <a:pt x="80391" y="115883"/>
                  </a:cubicBezTo>
                  <a:cubicBezTo>
                    <a:pt x="67982" y="80892"/>
                    <a:pt x="75054" y="40196"/>
                    <a:pt x="80925" y="17580"/>
                  </a:cubicBezTo>
                  <a:cubicBezTo>
                    <a:pt x="81225" y="16479"/>
                    <a:pt x="81492" y="15445"/>
                    <a:pt x="81759" y="14444"/>
                  </a:cubicBezTo>
                  <a:cubicBezTo>
                    <a:pt x="82026" y="13510"/>
                    <a:pt x="82226" y="12676"/>
                    <a:pt x="82459" y="11842"/>
                  </a:cubicBezTo>
                  <a:cubicBezTo>
                    <a:pt x="82926" y="10241"/>
                    <a:pt x="83393" y="8740"/>
                    <a:pt x="83794" y="7406"/>
                  </a:cubicBezTo>
                  <a:cubicBezTo>
                    <a:pt x="85261" y="2669"/>
                    <a:pt x="86262" y="1"/>
                    <a:pt x="86262"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061;p67">
              <a:extLst>
                <a:ext uri="{FF2B5EF4-FFF2-40B4-BE49-F238E27FC236}">
                  <a16:creationId xmlns:a16="http://schemas.microsoft.com/office/drawing/2014/main" id="{863BB7D5-41DA-4F49-8EDA-6A4A8C4C6552}"/>
                </a:ext>
              </a:extLst>
            </p:cNvPr>
            <p:cNvSpPr/>
            <p:nvPr/>
          </p:nvSpPr>
          <p:spPr>
            <a:xfrm>
              <a:off x="3854600" y="2893350"/>
              <a:ext cx="656325" cy="1260925"/>
            </a:xfrm>
            <a:custGeom>
              <a:avLst/>
              <a:gdLst/>
              <a:ahLst/>
              <a:cxnLst/>
              <a:rect l="l" t="t" r="r" b="b"/>
              <a:pathLst>
                <a:path w="26253" h="50437" extrusionOk="0">
                  <a:moveTo>
                    <a:pt x="0" y="0"/>
                  </a:moveTo>
                  <a:lnTo>
                    <a:pt x="0" y="30222"/>
                  </a:lnTo>
                  <a:cubicBezTo>
                    <a:pt x="4036" y="37527"/>
                    <a:pt x="9173" y="44332"/>
                    <a:pt x="15545" y="50436"/>
                  </a:cubicBezTo>
                  <a:lnTo>
                    <a:pt x="26252" y="50436"/>
                  </a:lnTo>
                  <a:cubicBezTo>
                    <a:pt x="19848" y="44332"/>
                    <a:pt x="14744" y="37527"/>
                    <a:pt x="10708" y="30255"/>
                  </a:cubicBezTo>
                  <a:cubicBezTo>
                    <a:pt x="9373" y="27887"/>
                    <a:pt x="8173" y="25419"/>
                    <a:pt x="7072" y="22983"/>
                  </a:cubicBezTo>
                  <a:cubicBezTo>
                    <a:pt x="6104" y="20715"/>
                    <a:pt x="5204" y="18480"/>
                    <a:pt x="4370" y="16179"/>
                  </a:cubicBezTo>
                  <a:cubicBezTo>
                    <a:pt x="2502" y="10875"/>
                    <a:pt x="1101" y="5471"/>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62;p67">
              <a:extLst>
                <a:ext uri="{FF2B5EF4-FFF2-40B4-BE49-F238E27FC236}">
                  <a16:creationId xmlns:a16="http://schemas.microsoft.com/office/drawing/2014/main" id="{0B2F7652-BA63-4459-B1A1-F64A6C9B2C86}"/>
                </a:ext>
              </a:extLst>
            </p:cNvPr>
            <p:cNvSpPr/>
            <p:nvPr/>
          </p:nvSpPr>
          <p:spPr>
            <a:xfrm>
              <a:off x="3855425" y="632550"/>
              <a:ext cx="73400" cy="797275"/>
            </a:xfrm>
            <a:custGeom>
              <a:avLst/>
              <a:gdLst/>
              <a:ahLst/>
              <a:cxnLst/>
              <a:rect l="l" t="t" r="r" b="b"/>
              <a:pathLst>
                <a:path w="2936" h="31891" extrusionOk="0">
                  <a:moveTo>
                    <a:pt x="234" y="1"/>
                  </a:moveTo>
                  <a:lnTo>
                    <a:pt x="0" y="201"/>
                  </a:lnTo>
                  <a:lnTo>
                    <a:pt x="0" y="31890"/>
                  </a:lnTo>
                  <a:cubicBezTo>
                    <a:pt x="901" y="26387"/>
                    <a:pt x="1902" y="21216"/>
                    <a:pt x="2936" y="16513"/>
                  </a:cubicBezTo>
                  <a:cubicBezTo>
                    <a:pt x="1902" y="11109"/>
                    <a:pt x="1001" y="5605"/>
                    <a:pt x="234" y="1"/>
                  </a:cubicBez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63;p67">
              <a:extLst>
                <a:ext uri="{FF2B5EF4-FFF2-40B4-BE49-F238E27FC236}">
                  <a16:creationId xmlns:a16="http://schemas.microsoft.com/office/drawing/2014/main" id="{F3E495BE-704C-4490-A23C-43036BA033C9}"/>
                </a:ext>
              </a:extLst>
            </p:cNvPr>
            <p:cNvSpPr/>
            <p:nvPr/>
          </p:nvSpPr>
          <p:spPr>
            <a:xfrm>
              <a:off x="3855425" y="4577050"/>
              <a:ext cx="665500" cy="151800"/>
            </a:xfrm>
            <a:custGeom>
              <a:avLst/>
              <a:gdLst/>
              <a:ahLst/>
              <a:cxnLst/>
              <a:rect l="l" t="t" r="r" b="b"/>
              <a:pathLst>
                <a:path w="26620" h="6072" extrusionOk="0">
                  <a:moveTo>
                    <a:pt x="2769" y="1"/>
                  </a:moveTo>
                  <a:lnTo>
                    <a:pt x="0" y="6072"/>
                  </a:lnTo>
                  <a:lnTo>
                    <a:pt x="13310" y="6072"/>
                  </a:lnTo>
                  <a:cubicBezTo>
                    <a:pt x="14344" y="6072"/>
                    <a:pt x="15345" y="5871"/>
                    <a:pt x="16312" y="5404"/>
                  </a:cubicBezTo>
                  <a:lnTo>
                    <a:pt x="26253" y="701"/>
                  </a:lnTo>
                  <a:cubicBezTo>
                    <a:pt x="26619" y="534"/>
                    <a:pt x="26486" y="34"/>
                    <a:pt x="26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64;p67">
              <a:extLst>
                <a:ext uri="{FF2B5EF4-FFF2-40B4-BE49-F238E27FC236}">
                  <a16:creationId xmlns:a16="http://schemas.microsoft.com/office/drawing/2014/main" id="{D1D81DF4-5D5F-46A8-9132-19BE9E8CCB56}"/>
                </a:ext>
              </a:extLst>
            </p:cNvPr>
            <p:cNvSpPr/>
            <p:nvPr/>
          </p:nvSpPr>
          <p:spPr>
            <a:xfrm>
              <a:off x="2506950" y="4729650"/>
              <a:ext cx="2551025" cy="98450"/>
            </a:xfrm>
            <a:custGeom>
              <a:avLst/>
              <a:gdLst/>
              <a:ahLst/>
              <a:cxnLst/>
              <a:rect l="l" t="t" r="r" b="b"/>
              <a:pathLst>
                <a:path w="102041" h="3938" extrusionOk="0">
                  <a:moveTo>
                    <a:pt x="1" y="1"/>
                  </a:moveTo>
                  <a:lnTo>
                    <a:pt x="1" y="168"/>
                  </a:lnTo>
                  <a:cubicBezTo>
                    <a:pt x="8841" y="1102"/>
                    <a:pt x="19081" y="1969"/>
                    <a:pt x="31690" y="2469"/>
                  </a:cubicBezTo>
                  <a:cubicBezTo>
                    <a:pt x="55207" y="3403"/>
                    <a:pt x="81092" y="3804"/>
                    <a:pt x="102040" y="3937"/>
                  </a:cubicBezTo>
                  <a:lnTo>
                    <a:pt x="101573" y="2603"/>
                  </a:lnTo>
                  <a:cubicBezTo>
                    <a:pt x="63446" y="2603"/>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65;p67">
              <a:extLst>
                <a:ext uri="{FF2B5EF4-FFF2-40B4-BE49-F238E27FC236}">
                  <a16:creationId xmlns:a16="http://schemas.microsoft.com/office/drawing/2014/main" id="{A438B0F1-FB64-4AB4-9FC9-1E4540CF15E5}"/>
                </a:ext>
              </a:extLst>
            </p:cNvPr>
            <p:cNvSpPr/>
            <p:nvPr/>
          </p:nvSpPr>
          <p:spPr>
            <a:xfrm>
              <a:off x="2696275" y="4853925"/>
              <a:ext cx="129275" cy="129275"/>
            </a:xfrm>
            <a:custGeom>
              <a:avLst/>
              <a:gdLst/>
              <a:ahLst/>
              <a:cxnLst/>
              <a:rect l="l" t="t" r="r" b="b"/>
              <a:pathLst>
                <a:path w="5171" h="5171" extrusionOk="0">
                  <a:moveTo>
                    <a:pt x="2602" y="0"/>
                  </a:moveTo>
                  <a:cubicBezTo>
                    <a:pt x="1168" y="0"/>
                    <a:pt x="0" y="1168"/>
                    <a:pt x="0" y="2602"/>
                  </a:cubicBezTo>
                  <a:cubicBezTo>
                    <a:pt x="0" y="4003"/>
                    <a:pt x="1168" y="5171"/>
                    <a:pt x="2602" y="5171"/>
                  </a:cubicBezTo>
                  <a:cubicBezTo>
                    <a:pt x="4003" y="5171"/>
                    <a:pt x="5170" y="4003"/>
                    <a:pt x="5170" y="2602"/>
                  </a:cubicBezTo>
                  <a:cubicBezTo>
                    <a:pt x="5170" y="1168"/>
                    <a:pt x="4003" y="0"/>
                    <a:pt x="26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66;p67">
              <a:extLst>
                <a:ext uri="{FF2B5EF4-FFF2-40B4-BE49-F238E27FC236}">
                  <a16:creationId xmlns:a16="http://schemas.microsoft.com/office/drawing/2014/main" id="{D4A5B501-99E4-4D12-B24F-1DD85B2A86E9}"/>
                </a:ext>
              </a:extLst>
            </p:cNvPr>
            <p:cNvSpPr/>
            <p:nvPr/>
          </p:nvSpPr>
          <p:spPr>
            <a:xfrm>
              <a:off x="3044000" y="4853925"/>
              <a:ext cx="129300" cy="129275"/>
            </a:xfrm>
            <a:custGeom>
              <a:avLst/>
              <a:gdLst/>
              <a:ahLst/>
              <a:cxnLst/>
              <a:rect l="l" t="t" r="r" b="b"/>
              <a:pathLst>
                <a:path w="5172" h="5171" extrusionOk="0">
                  <a:moveTo>
                    <a:pt x="2569" y="0"/>
                  </a:moveTo>
                  <a:cubicBezTo>
                    <a:pt x="1102" y="0"/>
                    <a:pt x="1" y="1168"/>
                    <a:pt x="1" y="2602"/>
                  </a:cubicBezTo>
                  <a:cubicBezTo>
                    <a:pt x="1" y="4003"/>
                    <a:pt x="1168" y="5171"/>
                    <a:pt x="2569" y="5171"/>
                  </a:cubicBezTo>
                  <a:cubicBezTo>
                    <a:pt x="3970" y="5171"/>
                    <a:pt x="5171" y="4003"/>
                    <a:pt x="5171" y="2602"/>
                  </a:cubicBezTo>
                  <a:cubicBezTo>
                    <a:pt x="5171" y="1168"/>
                    <a:pt x="4004"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67;p67">
              <a:extLst>
                <a:ext uri="{FF2B5EF4-FFF2-40B4-BE49-F238E27FC236}">
                  <a16:creationId xmlns:a16="http://schemas.microsoft.com/office/drawing/2014/main" id="{BCA2CA49-C084-45EC-95BA-AFF6744B670D}"/>
                </a:ext>
              </a:extLst>
            </p:cNvPr>
            <p:cNvSpPr/>
            <p:nvPr/>
          </p:nvSpPr>
          <p:spPr>
            <a:xfrm>
              <a:off x="3390100" y="4853925"/>
              <a:ext cx="128450" cy="129275"/>
            </a:xfrm>
            <a:custGeom>
              <a:avLst/>
              <a:gdLst/>
              <a:ahLst/>
              <a:cxnLst/>
              <a:rect l="l" t="t" r="r" b="b"/>
              <a:pathLst>
                <a:path w="5138" h="5171" extrusionOk="0">
                  <a:moveTo>
                    <a:pt x="2569" y="0"/>
                  </a:moveTo>
                  <a:cubicBezTo>
                    <a:pt x="1168" y="0"/>
                    <a:pt x="0" y="1168"/>
                    <a:pt x="0" y="2602"/>
                  </a:cubicBezTo>
                  <a:cubicBezTo>
                    <a:pt x="0" y="4003"/>
                    <a:pt x="1168" y="5171"/>
                    <a:pt x="2569" y="5171"/>
                  </a:cubicBezTo>
                  <a:cubicBezTo>
                    <a:pt x="3970" y="5171"/>
                    <a:pt x="5137" y="4003"/>
                    <a:pt x="5137" y="2602"/>
                  </a:cubicBezTo>
                  <a:cubicBezTo>
                    <a:pt x="5137" y="1168"/>
                    <a:pt x="4003"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68;p67">
              <a:extLst>
                <a:ext uri="{FF2B5EF4-FFF2-40B4-BE49-F238E27FC236}">
                  <a16:creationId xmlns:a16="http://schemas.microsoft.com/office/drawing/2014/main" id="{C98FA573-0D5A-46C2-8652-E02F09B3551C}"/>
                </a:ext>
              </a:extLst>
            </p:cNvPr>
            <p:cNvSpPr/>
            <p:nvPr/>
          </p:nvSpPr>
          <p:spPr>
            <a:xfrm>
              <a:off x="1623000" y="4657950"/>
              <a:ext cx="4248900" cy="587100"/>
            </a:xfrm>
            <a:custGeom>
              <a:avLst/>
              <a:gdLst/>
              <a:ahLst/>
              <a:cxnLst/>
              <a:rect l="l" t="t" r="r" b="b"/>
              <a:pathLst>
                <a:path w="169956" h="23484" extrusionOk="0">
                  <a:moveTo>
                    <a:pt x="0" y="0"/>
                  </a:moveTo>
                  <a:cubicBezTo>
                    <a:pt x="3636" y="5638"/>
                    <a:pt x="13410" y="19614"/>
                    <a:pt x="19581" y="23484"/>
                  </a:cubicBezTo>
                  <a:lnTo>
                    <a:pt x="161649" y="23484"/>
                  </a:lnTo>
                  <a:cubicBezTo>
                    <a:pt x="161649" y="23484"/>
                    <a:pt x="166286" y="22016"/>
                    <a:pt x="169955" y="20015"/>
                  </a:cubicBezTo>
                  <a:lnTo>
                    <a:pt x="92800" y="20015"/>
                  </a:lnTo>
                  <a:cubicBezTo>
                    <a:pt x="21349" y="20015"/>
                    <a:pt x="801" y="63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文字方塊 28">
            <a:extLst>
              <a:ext uri="{FF2B5EF4-FFF2-40B4-BE49-F238E27FC236}">
                <a16:creationId xmlns:a16="http://schemas.microsoft.com/office/drawing/2014/main" id="{DAB6DEFC-3761-45FD-BC44-249F16235D79}"/>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56</a:t>
            </a:r>
            <a:endParaRPr lang="zh-TW" altLang="en-US" sz="1100" dirty="0">
              <a:latin typeface="Montserrat" panose="02020500000000000000" charset="0"/>
            </a:endParaRPr>
          </a:p>
        </p:txBody>
      </p:sp>
      <p:grpSp>
        <p:nvGrpSpPr>
          <p:cNvPr id="4" name="群組 3">
            <a:extLst>
              <a:ext uri="{FF2B5EF4-FFF2-40B4-BE49-F238E27FC236}">
                <a16:creationId xmlns:a16="http://schemas.microsoft.com/office/drawing/2014/main" id="{B2F39859-451C-4732-B343-A56B513279CF}"/>
              </a:ext>
            </a:extLst>
          </p:cNvPr>
          <p:cNvGrpSpPr/>
          <p:nvPr/>
        </p:nvGrpSpPr>
        <p:grpSpPr>
          <a:xfrm>
            <a:off x="2673082" y="2555335"/>
            <a:ext cx="3797835" cy="1333250"/>
            <a:chOff x="2673082" y="2555335"/>
            <a:chExt cx="3797835" cy="1333250"/>
          </a:xfrm>
        </p:grpSpPr>
        <p:sp>
          <p:nvSpPr>
            <p:cNvPr id="9" name="文字方塊 8">
              <a:extLst>
                <a:ext uri="{FF2B5EF4-FFF2-40B4-BE49-F238E27FC236}">
                  <a16:creationId xmlns:a16="http://schemas.microsoft.com/office/drawing/2014/main" id="{14117233-9218-4160-953C-196D6CBF165F}"/>
                </a:ext>
              </a:extLst>
            </p:cNvPr>
            <p:cNvSpPr txBox="1"/>
            <p:nvPr/>
          </p:nvSpPr>
          <p:spPr>
            <a:xfrm>
              <a:off x="2673082" y="2555335"/>
              <a:ext cx="3797835"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Tuning curves of SHG</a:t>
              </a:r>
            </a:p>
            <a:p>
              <a:pPr marL="171450" indent="-171450">
                <a:lnSpc>
                  <a:spcPct val="150000"/>
                </a:lnSpc>
                <a:buFont typeface="Arial" panose="020B0604020202020204" pitchFamily="34" charset="0"/>
                <a:buChar char="•"/>
              </a:pPr>
              <a:r>
                <a:rPr lang="en-US" altLang="zh-TW" sz="1100" dirty="0">
                  <a:latin typeface="Montserrat" panose="02020500000000000000" charset="0"/>
                </a:rPr>
                <a:t>EO-PMC measurement result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interference</a:t>
              </a:r>
            </a:p>
            <a:p>
              <a:pPr marL="171450" indent="-171450">
                <a:lnSpc>
                  <a:spcPct val="150000"/>
                </a:lnSpc>
                <a:buFont typeface="Arial" panose="020B0604020202020204" pitchFamily="34" charset="0"/>
                <a:buChar char="•"/>
              </a:pPr>
              <a:r>
                <a:rPr lang="en-US" altLang="zh-TW" sz="1100" dirty="0">
                  <a:latin typeface="Montserrat" panose="02020500000000000000" charset="0"/>
                </a:rPr>
                <a:t>Coincidence counts measurement with EO-PMC</a:t>
              </a:r>
              <a:endParaRPr lang="zh-TW" altLang="en-US" sz="1100" dirty="0">
                <a:latin typeface="Montserrat" panose="02020500000000000000" charset="0"/>
              </a:endParaRPr>
            </a:p>
          </p:txBody>
        </p:sp>
        <p:sp>
          <p:nvSpPr>
            <p:cNvPr id="3" name="矩形 2">
              <a:extLst>
                <a:ext uri="{FF2B5EF4-FFF2-40B4-BE49-F238E27FC236}">
                  <a16:creationId xmlns:a16="http://schemas.microsoft.com/office/drawing/2014/main" id="{A8114A58-F9AD-4ADA-B15E-1A9EAB5E63EE}"/>
                </a:ext>
              </a:extLst>
            </p:cNvPr>
            <p:cNvSpPr/>
            <p:nvPr/>
          </p:nvSpPr>
          <p:spPr>
            <a:xfrm>
              <a:off x="2673082" y="3076932"/>
              <a:ext cx="3710785" cy="811653"/>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EAE8B883-1FC8-4984-B3E5-0937137F7974}"/>
                </a:ext>
              </a:extLst>
            </p:cNvPr>
            <p:cNvSpPr/>
            <p:nvPr/>
          </p:nvSpPr>
          <p:spPr>
            <a:xfrm>
              <a:off x="2760132" y="2635641"/>
              <a:ext cx="3710785" cy="290056"/>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9847112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grpSp>
        <p:nvGrpSpPr>
          <p:cNvPr id="3" name="群組 2">
            <a:extLst>
              <a:ext uri="{FF2B5EF4-FFF2-40B4-BE49-F238E27FC236}">
                <a16:creationId xmlns:a16="http://schemas.microsoft.com/office/drawing/2014/main" id="{CD6F8392-BD51-488A-A035-A3A2A0D47929}"/>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8274DD0-D65A-4DBB-8D67-7BEBBA23B15B}"/>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0CAFDBC4-27B3-4029-8C98-95F435A6815A}"/>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C0BA609A-ED4B-4DEA-B041-DB4BCA756A38}"/>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3ECFBD4B-C65B-47E3-8A04-7B995AFAD77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F67A1909-6581-4C5C-A391-0E944AD7A2AF}"/>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8F51B14F-2C3D-4180-8A41-924C3B12B75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5" name="Google Shape;212;p36">
            <a:extLst>
              <a:ext uri="{FF2B5EF4-FFF2-40B4-BE49-F238E27FC236}">
                <a16:creationId xmlns:a16="http://schemas.microsoft.com/office/drawing/2014/main" id="{E86C74BB-4F82-49E5-83CE-5E5DA2A21D53}"/>
              </a:ext>
            </a:extLst>
          </p:cNvPr>
          <p:cNvSpPr txBox="1">
            <a:spLocks/>
          </p:cNvSpPr>
          <p:nvPr/>
        </p:nvSpPr>
        <p:spPr>
          <a:xfrm>
            <a:off x="691629" y="294920"/>
            <a:ext cx="7810572" cy="478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1800" b="1" i="0" u="none" strike="noStrike" cap="none">
                <a:solidFill>
                  <a:schemeClr val="dk1"/>
                </a:solidFill>
                <a:latin typeface="Open Sans"/>
                <a:ea typeface="Open Sans"/>
                <a:cs typeface="Open Sans"/>
                <a:sym typeface="Open Sans"/>
              </a:defRPr>
            </a:lvl1pPr>
            <a:lvl2pPr marR="0" lvl="1"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2pPr>
            <a:lvl3pPr marR="0" lvl="2"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3pPr>
            <a:lvl4pPr marR="0" lvl="3"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4pPr>
            <a:lvl5pPr marR="0" lvl="4"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5pPr>
            <a:lvl6pPr marR="0" lvl="5"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6pPr>
            <a:lvl7pPr marR="0" lvl="6"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7pPr>
            <a:lvl8pPr marR="0" lvl="7"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8pPr>
            <a:lvl9pPr marR="0" lvl="8"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9pPr>
          </a:lstStyle>
          <a:p>
            <a:r>
              <a:rPr lang="en-US" altLang="zh-TW" sz="2000" dirty="0">
                <a:latin typeface="Montserrat" panose="02020500000000000000" charset="0"/>
              </a:rPr>
              <a:t>Experimental setup for EO-PMC measurement</a:t>
            </a:r>
          </a:p>
        </p:txBody>
      </p:sp>
      <p:pic>
        <p:nvPicPr>
          <p:cNvPr id="16" name="圖片 15">
            <a:extLst>
              <a:ext uri="{FF2B5EF4-FFF2-40B4-BE49-F238E27FC236}">
                <a16:creationId xmlns:a16="http://schemas.microsoft.com/office/drawing/2014/main" id="{F1AB7A93-3C37-436F-A1CC-2DACAEE04277}"/>
              </a:ext>
            </a:extLst>
          </p:cNvPr>
          <p:cNvPicPr>
            <a:picLocks noChangeAspect="1"/>
          </p:cNvPicPr>
          <p:nvPr/>
        </p:nvPicPr>
        <p:blipFill>
          <a:blip r:embed="rId3"/>
          <a:stretch>
            <a:fillRect/>
          </a:stretch>
        </p:blipFill>
        <p:spPr>
          <a:xfrm>
            <a:off x="1260080" y="919804"/>
            <a:ext cx="6623839" cy="4178711"/>
          </a:xfrm>
          <a:prstGeom prst="rect">
            <a:avLst/>
          </a:prstGeom>
        </p:spPr>
      </p:pic>
      <p:sp>
        <p:nvSpPr>
          <p:cNvPr id="17" name="文字方塊 16">
            <a:extLst>
              <a:ext uri="{FF2B5EF4-FFF2-40B4-BE49-F238E27FC236}">
                <a16:creationId xmlns:a16="http://schemas.microsoft.com/office/drawing/2014/main" id="{3273FC70-B8D5-411F-A0B8-B61902C271F1}"/>
              </a:ext>
            </a:extLst>
          </p:cNvPr>
          <p:cNvSpPr txBox="1"/>
          <p:nvPr/>
        </p:nvSpPr>
        <p:spPr>
          <a:xfrm>
            <a:off x="2280360" y="1241521"/>
            <a:ext cx="412292"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ECL</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8" name="文字方塊 17">
            <a:extLst>
              <a:ext uri="{FF2B5EF4-FFF2-40B4-BE49-F238E27FC236}">
                <a16:creationId xmlns:a16="http://schemas.microsoft.com/office/drawing/2014/main" id="{1749933E-7E28-4F3B-89C1-9524132EAB3B}"/>
              </a:ext>
            </a:extLst>
          </p:cNvPr>
          <p:cNvSpPr txBox="1"/>
          <p:nvPr/>
        </p:nvSpPr>
        <p:spPr>
          <a:xfrm>
            <a:off x="3653752" y="838119"/>
            <a:ext cx="1297150"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Optical Microscope</a:t>
            </a:r>
          </a:p>
        </p:txBody>
      </p:sp>
      <p:sp>
        <p:nvSpPr>
          <p:cNvPr id="19" name="文字方塊 18">
            <a:extLst>
              <a:ext uri="{FF2B5EF4-FFF2-40B4-BE49-F238E27FC236}">
                <a16:creationId xmlns:a16="http://schemas.microsoft.com/office/drawing/2014/main" id="{EBE26FDF-6002-4486-8BB0-C566D0FB01A8}"/>
              </a:ext>
            </a:extLst>
          </p:cNvPr>
          <p:cNvSpPr txBox="1"/>
          <p:nvPr/>
        </p:nvSpPr>
        <p:spPr>
          <a:xfrm>
            <a:off x="5628216" y="3587306"/>
            <a:ext cx="425116"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PBS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0" name="文字方塊 19">
            <a:extLst>
              <a:ext uri="{FF2B5EF4-FFF2-40B4-BE49-F238E27FC236}">
                <a16:creationId xmlns:a16="http://schemas.microsoft.com/office/drawing/2014/main" id="{81337555-13FD-4027-B8E5-4E2393EE96F7}"/>
              </a:ext>
            </a:extLst>
          </p:cNvPr>
          <p:cNvSpPr txBox="1"/>
          <p:nvPr/>
        </p:nvSpPr>
        <p:spPr>
          <a:xfrm>
            <a:off x="4564443" y="3840114"/>
            <a:ext cx="998991"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Objective lens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1" name="文字方塊 20">
            <a:extLst>
              <a:ext uri="{FF2B5EF4-FFF2-40B4-BE49-F238E27FC236}">
                <a16:creationId xmlns:a16="http://schemas.microsoft.com/office/drawing/2014/main" id="{E1FF0D6A-F9E9-44BB-9A5D-83D5564355CF}"/>
              </a:ext>
            </a:extLst>
          </p:cNvPr>
          <p:cNvSpPr txBox="1"/>
          <p:nvPr/>
        </p:nvSpPr>
        <p:spPr>
          <a:xfrm>
            <a:off x="7656402" y="2340918"/>
            <a:ext cx="779381"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Computer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2" name="文字方塊 21">
            <a:extLst>
              <a:ext uri="{FF2B5EF4-FFF2-40B4-BE49-F238E27FC236}">
                <a16:creationId xmlns:a16="http://schemas.microsoft.com/office/drawing/2014/main" id="{8DC4B1EE-C779-41B4-B5BD-D7AF486AAFA7}"/>
              </a:ext>
            </a:extLst>
          </p:cNvPr>
          <p:cNvSpPr txBox="1"/>
          <p:nvPr/>
        </p:nvSpPr>
        <p:spPr>
          <a:xfrm>
            <a:off x="5370933" y="1500709"/>
            <a:ext cx="1132041" cy="3693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Power meter</a:t>
            </a:r>
          </a:p>
          <a:p>
            <a:r>
              <a:rPr lang="en-US" altLang="zh-TW" sz="900" dirty="0">
                <a:latin typeface="Montserrat" panose="02020500000000000000" charset="0"/>
                <a:ea typeface="標楷體" panose="03000509000000000000" pitchFamily="65" charset="-120"/>
                <a:cs typeface="Times New Roman" panose="02020603050405020304" pitchFamily="18" charset="0"/>
              </a:rPr>
              <a:t>(Newport 1936R)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3" name="文字方塊 22">
            <a:extLst>
              <a:ext uri="{FF2B5EF4-FFF2-40B4-BE49-F238E27FC236}">
                <a16:creationId xmlns:a16="http://schemas.microsoft.com/office/drawing/2014/main" id="{E47DFF5E-3778-4727-9552-576CD20221D8}"/>
              </a:ext>
            </a:extLst>
          </p:cNvPr>
          <p:cNvSpPr txBox="1"/>
          <p:nvPr/>
        </p:nvSpPr>
        <p:spPr>
          <a:xfrm>
            <a:off x="2000635" y="4039030"/>
            <a:ext cx="971741"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Temperature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4" name="文字方塊 23">
            <a:extLst>
              <a:ext uri="{FF2B5EF4-FFF2-40B4-BE49-F238E27FC236}">
                <a16:creationId xmlns:a16="http://schemas.microsoft.com/office/drawing/2014/main" id="{FCFAC209-065E-4385-86C1-F20173C8B4FA}"/>
              </a:ext>
            </a:extLst>
          </p:cNvPr>
          <p:cNvSpPr txBox="1"/>
          <p:nvPr/>
        </p:nvSpPr>
        <p:spPr>
          <a:xfrm>
            <a:off x="6236242" y="3724698"/>
            <a:ext cx="1174008" cy="369332"/>
          </a:xfrm>
          <a:prstGeom prst="rect">
            <a:avLst/>
          </a:prstGeom>
          <a:noFill/>
        </p:spPr>
        <p:txBody>
          <a:bodyPr wrap="squar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Detector</a:t>
            </a:r>
          </a:p>
          <a:p>
            <a:r>
              <a:rPr lang="en-US" altLang="zh-TW" sz="900" dirty="0">
                <a:latin typeface="Montserrat" panose="02020500000000000000" charset="0"/>
                <a:ea typeface="標楷體" panose="03000509000000000000" pitchFamily="65" charset="-120"/>
                <a:cs typeface="Times New Roman" panose="02020603050405020304" pitchFamily="18" charset="0"/>
              </a:rPr>
              <a:t>(Newport 818-IR)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5" name="文字方塊 24">
            <a:extLst>
              <a:ext uri="{FF2B5EF4-FFF2-40B4-BE49-F238E27FC236}">
                <a16:creationId xmlns:a16="http://schemas.microsoft.com/office/drawing/2014/main" id="{9A9301B5-40D1-4164-8D68-97B8AA9495E7}"/>
              </a:ext>
            </a:extLst>
          </p:cNvPr>
          <p:cNvSpPr txBox="1"/>
          <p:nvPr/>
        </p:nvSpPr>
        <p:spPr>
          <a:xfrm>
            <a:off x="1005057" y="3545547"/>
            <a:ext cx="673582"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Vacuum</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6" name="文字方塊 25">
            <a:extLst>
              <a:ext uri="{FF2B5EF4-FFF2-40B4-BE49-F238E27FC236}">
                <a16:creationId xmlns:a16="http://schemas.microsoft.com/office/drawing/2014/main" id="{97A7C273-B58F-4985-B105-738C8588B949}"/>
              </a:ext>
            </a:extLst>
          </p:cNvPr>
          <p:cNvSpPr txBox="1"/>
          <p:nvPr/>
        </p:nvSpPr>
        <p:spPr>
          <a:xfrm>
            <a:off x="2827020" y="4783964"/>
            <a:ext cx="970137"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Power supply</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7" name="文字方塊 26">
            <a:extLst>
              <a:ext uri="{FF2B5EF4-FFF2-40B4-BE49-F238E27FC236}">
                <a16:creationId xmlns:a16="http://schemas.microsoft.com/office/drawing/2014/main" id="{2D500E48-2C32-45DC-8967-4D54077044EA}"/>
              </a:ext>
            </a:extLst>
          </p:cNvPr>
          <p:cNvSpPr txBox="1"/>
          <p:nvPr/>
        </p:nvSpPr>
        <p:spPr>
          <a:xfrm>
            <a:off x="3681072" y="3660963"/>
            <a:ext cx="590226"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Probes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8" name="文字方塊 27">
            <a:extLst>
              <a:ext uri="{FF2B5EF4-FFF2-40B4-BE49-F238E27FC236}">
                <a16:creationId xmlns:a16="http://schemas.microsoft.com/office/drawing/2014/main" id="{19EF1C5E-6BE7-4BF5-8923-9C31ACBC3CAB}"/>
              </a:ext>
            </a:extLst>
          </p:cNvPr>
          <p:cNvSpPr txBox="1"/>
          <p:nvPr/>
        </p:nvSpPr>
        <p:spPr>
          <a:xfrm>
            <a:off x="8585770" y="4631694"/>
            <a:ext cx="348172" cy="261610"/>
          </a:xfrm>
          <a:prstGeom prst="rect">
            <a:avLst/>
          </a:prstGeom>
          <a:noFill/>
        </p:spPr>
        <p:txBody>
          <a:bodyPr wrap="none" rtlCol="0">
            <a:spAutoFit/>
          </a:bodyPr>
          <a:lstStyle/>
          <a:p>
            <a:r>
              <a:rPr lang="en-US" altLang="zh-TW" sz="1100" dirty="0">
                <a:latin typeface="Montserrat" panose="02020500000000000000" charset="0"/>
              </a:rPr>
              <a:t>57</a:t>
            </a:r>
            <a:endParaRPr lang="zh-TW" altLang="en-US" sz="1100" dirty="0">
              <a:latin typeface="Montserrat" panose="02020500000000000000" charset="0"/>
            </a:endParaRPr>
          </a:p>
        </p:txBody>
      </p:sp>
    </p:spTree>
    <p:extLst>
      <p:ext uri="{BB962C8B-B14F-4D97-AF65-F5344CB8AC3E}">
        <p14:creationId xmlns:p14="http://schemas.microsoft.com/office/powerpoint/2010/main" val="8557328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1" name="矩形 50">
            <a:extLst>
              <a:ext uri="{FF2B5EF4-FFF2-40B4-BE49-F238E27FC236}">
                <a16:creationId xmlns:a16="http://schemas.microsoft.com/office/drawing/2014/main" id="{22322906-9793-444C-BB99-B37580912935}"/>
              </a:ext>
            </a:extLst>
          </p:cNvPr>
          <p:cNvSpPr/>
          <p:nvPr/>
        </p:nvSpPr>
        <p:spPr>
          <a:xfrm rot="5400000">
            <a:off x="5336378" y="3474623"/>
            <a:ext cx="826137"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 name="群組 2">
            <a:extLst>
              <a:ext uri="{FF2B5EF4-FFF2-40B4-BE49-F238E27FC236}">
                <a16:creationId xmlns:a16="http://schemas.microsoft.com/office/drawing/2014/main" id="{CD6F8392-BD51-488A-A035-A3A2A0D47929}"/>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8274DD0-D65A-4DBB-8D67-7BEBBA23B15B}"/>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0CAFDBC4-27B3-4029-8C98-95F435A6815A}"/>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C0BA609A-ED4B-4DEA-B041-DB4BCA756A38}"/>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3ECFBD4B-C65B-47E3-8A04-7B995AFAD77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F67A1909-6581-4C5C-A391-0E944AD7A2AF}"/>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8F51B14F-2C3D-4180-8A41-924C3B12B75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5" name="Google Shape;212;p36">
            <a:extLst>
              <a:ext uri="{FF2B5EF4-FFF2-40B4-BE49-F238E27FC236}">
                <a16:creationId xmlns:a16="http://schemas.microsoft.com/office/drawing/2014/main" id="{E86C74BB-4F82-49E5-83CE-5E5DA2A21D53}"/>
              </a:ext>
            </a:extLst>
          </p:cNvPr>
          <p:cNvSpPr txBox="1">
            <a:spLocks/>
          </p:cNvSpPr>
          <p:nvPr/>
        </p:nvSpPr>
        <p:spPr>
          <a:xfrm>
            <a:off x="691629" y="294920"/>
            <a:ext cx="7810572" cy="478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1800" b="1" i="0" u="none" strike="noStrike" cap="none">
                <a:solidFill>
                  <a:schemeClr val="dk1"/>
                </a:solidFill>
                <a:latin typeface="Open Sans"/>
                <a:ea typeface="Open Sans"/>
                <a:cs typeface="Open Sans"/>
                <a:sym typeface="Open Sans"/>
              </a:defRPr>
            </a:lvl1pPr>
            <a:lvl2pPr marR="0" lvl="1"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2pPr>
            <a:lvl3pPr marR="0" lvl="2"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3pPr>
            <a:lvl4pPr marR="0" lvl="3"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4pPr>
            <a:lvl5pPr marR="0" lvl="4"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5pPr>
            <a:lvl6pPr marR="0" lvl="5"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6pPr>
            <a:lvl7pPr marR="0" lvl="6"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7pPr>
            <a:lvl8pPr marR="0" lvl="7"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8pPr>
            <a:lvl9pPr marR="0" lvl="8"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9pPr>
          </a:lstStyle>
          <a:p>
            <a:r>
              <a:rPr lang="en-US" altLang="zh-TW" sz="2000" dirty="0">
                <a:latin typeface="Montserrat" panose="02020500000000000000" charset="0"/>
              </a:rPr>
              <a:t>Experimental setup for EO-PMC measurement</a:t>
            </a:r>
          </a:p>
        </p:txBody>
      </p:sp>
      <p:pic>
        <p:nvPicPr>
          <p:cNvPr id="11" name="圖片 10">
            <a:extLst>
              <a:ext uri="{FF2B5EF4-FFF2-40B4-BE49-F238E27FC236}">
                <a16:creationId xmlns:a16="http://schemas.microsoft.com/office/drawing/2014/main" id="{89CF51A3-4FC4-4BAD-A065-58004A9EA738}"/>
              </a:ext>
            </a:extLst>
          </p:cNvPr>
          <p:cNvPicPr>
            <a:picLocks noChangeAspect="1"/>
          </p:cNvPicPr>
          <p:nvPr/>
        </p:nvPicPr>
        <p:blipFill>
          <a:blip r:embed="rId3"/>
          <a:stretch>
            <a:fillRect/>
          </a:stretch>
        </p:blipFill>
        <p:spPr>
          <a:xfrm>
            <a:off x="3300456" y="3520074"/>
            <a:ext cx="857305" cy="755649"/>
          </a:xfrm>
          <a:prstGeom prst="rect">
            <a:avLst/>
          </a:prstGeom>
        </p:spPr>
      </p:pic>
      <p:cxnSp>
        <p:nvCxnSpPr>
          <p:cNvPr id="13" name="直線單箭頭接點 12">
            <a:extLst>
              <a:ext uri="{FF2B5EF4-FFF2-40B4-BE49-F238E27FC236}">
                <a16:creationId xmlns:a16="http://schemas.microsoft.com/office/drawing/2014/main" id="{B2044D06-3E03-444D-A706-55E20518AA10}"/>
              </a:ext>
            </a:extLst>
          </p:cNvPr>
          <p:cNvCxnSpPr>
            <a:cxnSpLocks/>
          </p:cNvCxnSpPr>
          <p:nvPr/>
        </p:nvCxnSpPr>
        <p:spPr>
          <a:xfrm>
            <a:off x="4024180" y="1686793"/>
            <a:ext cx="2147154"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47079DB3-984B-4B5B-9521-98F9BD1C37B0}"/>
              </a:ext>
            </a:extLst>
          </p:cNvPr>
          <p:cNvCxnSpPr>
            <a:cxnSpLocks/>
          </p:cNvCxnSpPr>
          <p:nvPr/>
        </p:nvCxnSpPr>
        <p:spPr>
          <a:xfrm>
            <a:off x="3158442" y="1686793"/>
            <a:ext cx="920072"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37D85214-AD37-4479-95ED-7D9000CBE07B}"/>
              </a:ext>
            </a:extLst>
          </p:cNvPr>
          <p:cNvSpPr/>
          <p:nvPr/>
        </p:nvSpPr>
        <p:spPr>
          <a:xfrm>
            <a:off x="1550089" y="1279697"/>
            <a:ext cx="1735134" cy="870238"/>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tx1"/>
                </a:solidFill>
                <a:latin typeface="Montserrat" panose="02020500000000000000" charset="0"/>
                <a:cs typeface="Mongolian Baiti" panose="03000500000000000000" pitchFamily="66" charset="0"/>
              </a:rPr>
              <a:t>1520~1640nm</a:t>
            </a:r>
          </a:p>
          <a:p>
            <a:pPr algn="ctr"/>
            <a:r>
              <a:rPr lang="en-US" altLang="zh-TW" sz="1000" b="1" dirty="0">
                <a:solidFill>
                  <a:schemeClr val="tx1"/>
                </a:solidFill>
                <a:latin typeface="Montserrat" panose="02020500000000000000" charset="0"/>
                <a:cs typeface="Mongolian Baiti" panose="03000500000000000000" pitchFamily="66" charset="0"/>
              </a:rPr>
              <a:t>External Cavity Laser, ECL</a:t>
            </a:r>
            <a:endParaRPr lang="zh-TW" altLang="en-US" sz="1000" b="1" dirty="0">
              <a:solidFill>
                <a:schemeClr val="tx1"/>
              </a:solidFill>
              <a:latin typeface="Montserrat" panose="02020500000000000000" charset="0"/>
              <a:cs typeface="Mongolian Baiti" panose="03000500000000000000" pitchFamily="66" charset="0"/>
            </a:endParaRPr>
          </a:p>
        </p:txBody>
      </p:sp>
      <p:cxnSp>
        <p:nvCxnSpPr>
          <p:cNvPr id="18" name="直線單箭頭接點 17">
            <a:extLst>
              <a:ext uri="{FF2B5EF4-FFF2-40B4-BE49-F238E27FC236}">
                <a16:creationId xmlns:a16="http://schemas.microsoft.com/office/drawing/2014/main" id="{898502CF-52BA-43CE-B309-3912DE479968}"/>
              </a:ext>
            </a:extLst>
          </p:cNvPr>
          <p:cNvCxnSpPr>
            <a:cxnSpLocks/>
            <a:stCxn id="23" idx="1"/>
          </p:cNvCxnSpPr>
          <p:nvPr/>
        </p:nvCxnSpPr>
        <p:spPr>
          <a:xfrm flipH="1">
            <a:off x="4966356" y="2391242"/>
            <a:ext cx="1100892" cy="10617"/>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260FE251-6458-4EF7-99AC-4983FC31E9F0}"/>
              </a:ext>
            </a:extLst>
          </p:cNvPr>
          <p:cNvCxnSpPr>
            <a:cxnSpLocks/>
            <a:stCxn id="20" idx="1"/>
          </p:cNvCxnSpPr>
          <p:nvPr/>
        </p:nvCxnSpPr>
        <p:spPr>
          <a:xfrm>
            <a:off x="1808566" y="2403755"/>
            <a:ext cx="3264070" cy="5"/>
          </a:xfrm>
          <a:prstGeom prst="line">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20" name="右中括弧 19">
            <a:extLst>
              <a:ext uri="{FF2B5EF4-FFF2-40B4-BE49-F238E27FC236}">
                <a16:creationId xmlns:a16="http://schemas.microsoft.com/office/drawing/2014/main" id="{312E8A71-5731-427A-8A6A-A5616B5D4089}"/>
              </a:ext>
            </a:extLst>
          </p:cNvPr>
          <p:cNvSpPr/>
          <p:nvPr/>
        </p:nvSpPr>
        <p:spPr>
          <a:xfrm rot="10800000">
            <a:off x="1552447" y="2403755"/>
            <a:ext cx="256119" cy="149199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21" name="直線單箭頭接點 20">
            <a:extLst>
              <a:ext uri="{FF2B5EF4-FFF2-40B4-BE49-F238E27FC236}">
                <a16:creationId xmlns:a16="http://schemas.microsoft.com/office/drawing/2014/main" id="{886B83BB-74A5-4550-A973-76C74B3B8919}"/>
              </a:ext>
            </a:extLst>
          </p:cNvPr>
          <p:cNvCxnSpPr>
            <a:cxnSpLocks/>
          </p:cNvCxnSpPr>
          <p:nvPr/>
        </p:nvCxnSpPr>
        <p:spPr>
          <a:xfrm>
            <a:off x="1804277" y="3890279"/>
            <a:ext cx="1305822" cy="2144"/>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22" name="群組 21">
            <a:extLst>
              <a:ext uri="{FF2B5EF4-FFF2-40B4-BE49-F238E27FC236}">
                <a16:creationId xmlns:a16="http://schemas.microsoft.com/office/drawing/2014/main" id="{B9503A06-0C48-4836-A290-59BFA0A25649}"/>
              </a:ext>
            </a:extLst>
          </p:cNvPr>
          <p:cNvGrpSpPr/>
          <p:nvPr/>
        </p:nvGrpSpPr>
        <p:grpSpPr>
          <a:xfrm>
            <a:off x="2693827" y="3493600"/>
            <a:ext cx="4350204" cy="1242920"/>
            <a:chOff x="2878026" y="3192870"/>
            <a:chExt cx="4350204" cy="1242920"/>
          </a:xfrm>
        </p:grpSpPr>
        <p:sp>
          <p:nvSpPr>
            <p:cNvPr id="37" name="矩形 36">
              <a:extLst>
                <a:ext uri="{FF2B5EF4-FFF2-40B4-BE49-F238E27FC236}">
                  <a16:creationId xmlns:a16="http://schemas.microsoft.com/office/drawing/2014/main" id="{C604D77D-21BE-4D74-8456-CEC0CE4C4716}"/>
                </a:ext>
              </a:extLst>
            </p:cNvPr>
            <p:cNvSpPr/>
            <p:nvPr/>
          </p:nvSpPr>
          <p:spPr>
            <a:xfrm>
              <a:off x="4528923" y="3510025"/>
              <a:ext cx="2340000" cy="1800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流程圖: 換頁接點 37">
              <a:extLst>
                <a:ext uri="{FF2B5EF4-FFF2-40B4-BE49-F238E27FC236}">
                  <a16:creationId xmlns:a16="http://schemas.microsoft.com/office/drawing/2014/main" id="{B4F1CD24-353F-486D-BE6E-71E747D2C326}"/>
                </a:ext>
              </a:extLst>
            </p:cNvPr>
            <p:cNvSpPr/>
            <p:nvPr/>
          </p:nvSpPr>
          <p:spPr>
            <a:xfrm rot="16200000">
              <a:off x="4876589" y="3379583"/>
              <a:ext cx="345220" cy="419095"/>
            </a:xfrm>
            <a:prstGeom prst="flowChartOffpageConnector">
              <a:avLst/>
            </a:prstGeom>
            <a:solidFill>
              <a:schemeClr val="tx1">
                <a:lumMod val="65000"/>
                <a:lumOff val="3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4F54499A-6170-48A9-BED3-2292F40B94B7}"/>
                </a:ext>
              </a:extLst>
            </p:cNvPr>
            <p:cNvSpPr/>
            <p:nvPr/>
          </p:nvSpPr>
          <p:spPr>
            <a:xfrm>
              <a:off x="5703246" y="3355223"/>
              <a:ext cx="460800" cy="460800"/>
            </a:xfrm>
            <a:prstGeom prst="rect">
              <a:avLst/>
            </a:prstGeom>
            <a:solidFill>
              <a:schemeClr val="accent2">
                <a:lumMod val="20000"/>
                <a:lumOff val="80000"/>
                <a:alpha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9" name="直線接點 38">
              <a:extLst>
                <a:ext uri="{FF2B5EF4-FFF2-40B4-BE49-F238E27FC236}">
                  <a16:creationId xmlns:a16="http://schemas.microsoft.com/office/drawing/2014/main" id="{711628E1-7CF3-403F-9835-CF6624943844}"/>
                </a:ext>
              </a:extLst>
            </p:cNvPr>
            <p:cNvCxnSpPr>
              <a:cxnSpLocks/>
            </p:cNvCxnSpPr>
            <p:nvPr/>
          </p:nvCxnSpPr>
          <p:spPr>
            <a:xfrm rot="5400000">
              <a:off x="5709292" y="3352278"/>
              <a:ext cx="460800" cy="45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C7C9135B-A0AA-405F-987B-1C6B35E708C4}"/>
                </a:ext>
              </a:extLst>
            </p:cNvPr>
            <p:cNvSpPr txBox="1"/>
            <p:nvPr/>
          </p:nvSpPr>
          <p:spPr>
            <a:xfrm>
              <a:off x="5708264" y="3812415"/>
              <a:ext cx="450764"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PBS</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sp>
          <p:nvSpPr>
            <p:cNvPr id="41" name="文字方塊 40">
              <a:extLst>
                <a:ext uri="{FF2B5EF4-FFF2-40B4-BE49-F238E27FC236}">
                  <a16:creationId xmlns:a16="http://schemas.microsoft.com/office/drawing/2014/main" id="{CFC0E629-C662-4A3F-9D53-F770EBAF4108}"/>
                </a:ext>
              </a:extLst>
            </p:cNvPr>
            <p:cNvSpPr txBox="1"/>
            <p:nvPr/>
          </p:nvSpPr>
          <p:spPr>
            <a:xfrm>
              <a:off x="4631286" y="3781859"/>
              <a:ext cx="795411" cy="400110"/>
            </a:xfrm>
            <a:prstGeom prst="rect">
              <a:avLst/>
            </a:prstGeom>
            <a:noFill/>
          </p:spPr>
          <p:txBody>
            <a:bodyPr wrap="none" rtlCol="0">
              <a:spAutoFit/>
            </a:bodyPr>
            <a:lstStyle/>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Objective</a:t>
              </a:r>
            </a:p>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lens</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nvGrpSpPr>
            <p:cNvPr id="42" name="群組 41">
              <a:extLst>
                <a:ext uri="{FF2B5EF4-FFF2-40B4-BE49-F238E27FC236}">
                  <a16:creationId xmlns:a16="http://schemas.microsoft.com/office/drawing/2014/main" id="{F9A019FF-09C4-4E6C-A953-BFF79EB22BB2}"/>
                </a:ext>
              </a:extLst>
            </p:cNvPr>
            <p:cNvGrpSpPr/>
            <p:nvPr/>
          </p:nvGrpSpPr>
          <p:grpSpPr>
            <a:xfrm>
              <a:off x="2878026" y="3192870"/>
              <a:ext cx="2061783" cy="1242920"/>
              <a:chOff x="2895994" y="3241984"/>
              <a:chExt cx="2061783" cy="1242920"/>
            </a:xfrm>
          </p:grpSpPr>
          <p:sp>
            <p:nvSpPr>
              <p:cNvPr id="45" name="文字方塊 44">
                <a:extLst>
                  <a:ext uri="{FF2B5EF4-FFF2-40B4-BE49-F238E27FC236}">
                    <a16:creationId xmlns:a16="http://schemas.microsoft.com/office/drawing/2014/main" id="{5A6EC0E0-F20B-4F9F-9EF2-9F770FCC5B3B}"/>
                  </a:ext>
                </a:extLst>
              </p:cNvPr>
              <p:cNvSpPr txBox="1"/>
              <p:nvPr/>
            </p:nvSpPr>
            <p:spPr>
              <a:xfrm>
                <a:off x="2895994" y="4084794"/>
                <a:ext cx="2061783" cy="400110"/>
              </a:xfrm>
              <a:prstGeom prst="rect">
                <a:avLst/>
              </a:prstGeom>
              <a:noFill/>
            </p:spPr>
            <p:txBody>
              <a:bodyPr wrap="none" rtlCol="0">
                <a:spAutoFit/>
              </a:bodyPr>
              <a:lstStyle/>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Oven</a:t>
                </a:r>
              </a:p>
              <a:p>
                <a:pPr algn="ctr"/>
                <a:r>
                  <a:rPr lang="en-US" altLang="zh-TW" sz="1000" dirty="0">
                    <a:latin typeface="Montserrat" panose="02020500000000000000" charset="0"/>
                    <a:ea typeface="標楷體" panose="03000509000000000000" pitchFamily="65" charset="-120"/>
                    <a:cs typeface="Times New Roman" panose="02020603050405020304" pitchFamily="18" charset="0"/>
                  </a:rPr>
                  <a:t>(with temperature controller)</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sp>
            <p:nvSpPr>
              <p:cNvPr id="46" name="矩形 45">
                <a:extLst>
                  <a:ext uri="{FF2B5EF4-FFF2-40B4-BE49-F238E27FC236}">
                    <a16:creationId xmlns:a16="http://schemas.microsoft.com/office/drawing/2014/main" id="{CF29FB4E-8885-4EBA-B15B-F6E1D5705996}"/>
                  </a:ext>
                </a:extLst>
              </p:cNvPr>
              <p:cNvSpPr/>
              <p:nvPr/>
            </p:nvSpPr>
            <p:spPr>
              <a:xfrm>
                <a:off x="3312266" y="3241984"/>
                <a:ext cx="1229241" cy="81288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文字方塊 46">
                <a:extLst>
                  <a:ext uri="{FF2B5EF4-FFF2-40B4-BE49-F238E27FC236}">
                    <a16:creationId xmlns:a16="http://schemas.microsoft.com/office/drawing/2014/main" id="{A56EBE2C-0AA6-4841-AEE3-199A36B0B74C}"/>
                  </a:ext>
                </a:extLst>
              </p:cNvPr>
              <p:cNvSpPr txBox="1"/>
              <p:nvPr/>
            </p:nvSpPr>
            <p:spPr>
              <a:xfrm>
                <a:off x="3627853" y="3751942"/>
                <a:ext cx="48603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Chip</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sp>
          <p:nvSpPr>
            <p:cNvPr id="44" name="流程圖: 延遲 43">
              <a:extLst>
                <a:ext uri="{FF2B5EF4-FFF2-40B4-BE49-F238E27FC236}">
                  <a16:creationId xmlns:a16="http://schemas.microsoft.com/office/drawing/2014/main" id="{E8C270E9-E589-44C4-881F-9EDB59C91DCC}"/>
                </a:ext>
              </a:extLst>
            </p:cNvPr>
            <p:cNvSpPr/>
            <p:nvPr/>
          </p:nvSpPr>
          <p:spPr>
            <a:xfrm>
              <a:off x="6875631" y="3404440"/>
              <a:ext cx="352599" cy="36937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23" name="右中括弧 22">
            <a:extLst>
              <a:ext uri="{FF2B5EF4-FFF2-40B4-BE49-F238E27FC236}">
                <a16:creationId xmlns:a16="http://schemas.microsoft.com/office/drawing/2014/main" id="{61A04EDE-4027-4EA1-890F-B6B0708A2D24}"/>
              </a:ext>
            </a:extLst>
          </p:cNvPr>
          <p:cNvSpPr/>
          <p:nvPr/>
        </p:nvSpPr>
        <p:spPr>
          <a:xfrm>
            <a:off x="6067248" y="1681412"/>
            <a:ext cx="232805" cy="709830"/>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24" name="群組 23">
            <a:extLst>
              <a:ext uri="{FF2B5EF4-FFF2-40B4-BE49-F238E27FC236}">
                <a16:creationId xmlns:a16="http://schemas.microsoft.com/office/drawing/2014/main" id="{A29A8106-31BA-43F4-9F38-E044359CEC61}"/>
              </a:ext>
            </a:extLst>
          </p:cNvPr>
          <p:cNvGrpSpPr/>
          <p:nvPr/>
        </p:nvGrpSpPr>
        <p:grpSpPr>
          <a:xfrm>
            <a:off x="4024180" y="1304895"/>
            <a:ext cx="1622560" cy="695571"/>
            <a:chOff x="3577226" y="536591"/>
            <a:chExt cx="1622560" cy="695571"/>
          </a:xfrm>
        </p:grpSpPr>
        <p:grpSp>
          <p:nvGrpSpPr>
            <p:cNvPr id="25" name="群組 24">
              <a:extLst>
                <a:ext uri="{FF2B5EF4-FFF2-40B4-BE49-F238E27FC236}">
                  <a16:creationId xmlns:a16="http://schemas.microsoft.com/office/drawing/2014/main" id="{8393788F-F727-4892-938A-7ECD29D70785}"/>
                </a:ext>
              </a:extLst>
            </p:cNvPr>
            <p:cNvGrpSpPr/>
            <p:nvPr/>
          </p:nvGrpSpPr>
          <p:grpSpPr>
            <a:xfrm>
              <a:off x="3746338" y="536591"/>
              <a:ext cx="1234424" cy="422306"/>
              <a:chOff x="4290060" y="1143477"/>
              <a:chExt cx="1376680" cy="499395"/>
            </a:xfrm>
          </p:grpSpPr>
          <p:sp>
            <p:nvSpPr>
              <p:cNvPr id="27" name="矩形 26">
                <a:extLst>
                  <a:ext uri="{FF2B5EF4-FFF2-40B4-BE49-F238E27FC236}">
                    <a16:creationId xmlns:a16="http://schemas.microsoft.com/office/drawing/2014/main" id="{A06B400B-4E2F-4D84-B6EC-F51A17E0C9D1}"/>
                  </a:ext>
                </a:extLst>
              </p:cNvPr>
              <p:cNvSpPr/>
              <p:nvPr/>
            </p:nvSpPr>
            <p:spPr>
              <a:xfrm>
                <a:off x="4290060" y="1547367"/>
                <a:ext cx="1376680" cy="9550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DB748199-4E74-4B3B-873C-C876511DDB22}"/>
                  </a:ext>
                </a:extLst>
              </p:cNvPr>
              <p:cNvSpPr/>
              <p:nvPr/>
            </p:nvSpPr>
            <p:spPr>
              <a:xfrm>
                <a:off x="429006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DC66200E-B275-462F-833C-B8BDD6E8FC33}"/>
                  </a:ext>
                </a:extLst>
              </p:cNvPr>
              <p:cNvSpPr/>
              <p:nvPr/>
            </p:nvSpPr>
            <p:spPr>
              <a:xfrm>
                <a:off x="478040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A64B4287-66E3-43EB-8959-4F6F500A69B4}"/>
                  </a:ext>
                </a:extLst>
              </p:cNvPr>
              <p:cNvSpPr/>
              <p:nvPr/>
            </p:nvSpPr>
            <p:spPr>
              <a:xfrm>
                <a:off x="5270740" y="1147422"/>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BF7305E9-5559-4720-B829-760658CEC4FD}"/>
                  </a:ext>
                </a:extLst>
              </p:cNvPr>
              <p:cNvSpPr/>
              <p:nvPr/>
            </p:nvSpPr>
            <p:spPr>
              <a:xfrm>
                <a:off x="429006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0D781861-0D1D-4546-8AEF-1E5C118C0F51}"/>
                  </a:ext>
                </a:extLst>
              </p:cNvPr>
              <p:cNvSpPr/>
              <p:nvPr/>
            </p:nvSpPr>
            <p:spPr>
              <a:xfrm>
                <a:off x="478040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D264EF80-3379-47FB-90EE-9316233FB10A}"/>
                  </a:ext>
                </a:extLst>
              </p:cNvPr>
              <p:cNvSpPr/>
              <p:nvPr/>
            </p:nvSpPr>
            <p:spPr>
              <a:xfrm>
                <a:off x="5270740" y="1143477"/>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29958A1B-F7B1-4FF9-9780-9D373E671089}"/>
                  </a:ext>
                </a:extLst>
              </p:cNvPr>
              <p:cNvSpPr/>
              <p:nvPr/>
            </p:nvSpPr>
            <p:spPr>
              <a:xfrm>
                <a:off x="545074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032145CD-88CA-4F6A-A88F-AB1C45042208}"/>
                  </a:ext>
                </a:extLst>
              </p:cNvPr>
              <p:cNvSpPr/>
              <p:nvPr/>
            </p:nvSpPr>
            <p:spPr>
              <a:xfrm>
                <a:off x="496040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5C7D0151-CCA5-4D81-9095-D39666E3649C}"/>
                  </a:ext>
                </a:extLst>
              </p:cNvPr>
              <p:cNvSpPr/>
              <p:nvPr/>
            </p:nvSpPr>
            <p:spPr>
              <a:xfrm>
                <a:off x="4470060" y="1331484"/>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6" name="文字方塊 25">
              <a:extLst>
                <a:ext uri="{FF2B5EF4-FFF2-40B4-BE49-F238E27FC236}">
                  <a16:creationId xmlns:a16="http://schemas.microsoft.com/office/drawing/2014/main" id="{7A04562C-3F47-4AF9-964D-72AEB69763DB}"/>
                </a:ext>
              </a:extLst>
            </p:cNvPr>
            <p:cNvSpPr txBox="1"/>
            <p:nvPr/>
          </p:nvSpPr>
          <p:spPr>
            <a:xfrm>
              <a:off x="3577226" y="985941"/>
              <a:ext cx="162256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Polarization Controller</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sp>
        <p:nvSpPr>
          <p:cNvPr id="48" name="文字方塊 47">
            <a:extLst>
              <a:ext uri="{FF2B5EF4-FFF2-40B4-BE49-F238E27FC236}">
                <a16:creationId xmlns:a16="http://schemas.microsoft.com/office/drawing/2014/main" id="{C9A933F3-B79E-416A-B4C3-5BFB5819A48F}"/>
              </a:ext>
            </a:extLst>
          </p:cNvPr>
          <p:cNvSpPr txBox="1"/>
          <p:nvPr/>
        </p:nvSpPr>
        <p:spPr>
          <a:xfrm>
            <a:off x="6492468" y="4082589"/>
            <a:ext cx="750526"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Detector</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sp>
        <p:nvSpPr>
          <p:cNvPr id="52" name="流程圖: 延遲 51">
            <a:extLst>
              <a:ext uri="{FF2B5EF4-FFF2-40B4-BE49-F238E27FC236}">
                <a16:creationId xmlns:a16="http://schemas.microsoft.com/office/drawing/2014/main" id="{DA10E84D-D76E-4282-89D4-670AA79052D3}"/>
              </a:ext>
            </a:extLst>
          </p:cNvPr>
          <p:cNvSpPr/>
          <p:nvPr/>
        </p:nvSpPr>
        <p:spPr>
          <a:xfrm rot="16200000">
            <a:off x="5573695" y="2794861"/>
            <a:ext cx="352599" cy="36937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文字方塊 49">
            <a:extLst>
              <a:ext uri="{FF2B5EF4-FFF2-40B4-BE49-F238E27FC236}">
                <a16:creationId xmlns:a16="http://schemas.microsoft.com/office/drawing/2014/main" id="{C12F64E8-ADC6-43E1-AB67-825369E5CE89}"/>
              </a:ext>
            </a:extLst>
          </p:cNvPr>
          <p:cNvSpPr txBox="1"/>
          <p:nvPr/>
        </p:nvSpPr>
        <p:spPr>
          <a:xfrm>
            <a:off x="8585770" y="4631694"/>
            <a:ext cx="354584" cy="261610"/>
          </a:xfrm>
          <a:prstGeom prst="rect">
            <a:avLst/>
          </a:prstGeom>
          <a:noFill/>
        </p:spPr>
        <p:txBody>
          <a:bodyPr wrap="none" rtlCol="0">
            <a:spAutoFit/>
          </a:bodyPr>
          <a:lstStyle/>
          <a:p>
            <a:r>
              <a:rPr lang="en-US" altLang="zh-TW" sz="1100" dirty="0">
                <a:latin typeface="Montserrat" panose="02020500000000000000" charset="0"/>
              </a:rPr>
              <a:t>58</a:t>
            </a:r>
            <a:endParaRPr lang="zh-TW" altLang="en-US" sz="1100" dirty="0">
              <a:latin typeface="Montserrat" panose="02020500000000000000" charset="0"/>
            </a:endParaRPr>
          </a:p>
        </p:txBody>
      </p:sp>
      <p:sp>
        <p:nvSpPr>
          <p:cNvPr id="57" name="文字方塊 56">
            <a:extLst>
              <a:ext uri="{FF2B5EF4-FFF2-40B4-BE49-F238E27FC236}">
                <a16:creationId xmlns:a16="http://schemas.microsoft.com/office/drawing/2014/main" id="{F983BF55-EA3B-420A-8B9D-CD50DE16E04A}"/>
              </a:ext>
            </a:extLst>
          </p:cNvPr>
          <p:cNvSpPr txBox="1"/>
          <p:nvPr/>
        </p:nvSpPr>
        <p:spPr>
          <a:xfrm>
            <a:off x="6560888" y="1260881"/>
            <a:ext cx="917239" cy="230832"/>
          </a:xfrm>
          <a:prstGeom prst="rect">
            <a:avLst/>
          </a:prstGeom>
          <a:noFill/>
        </p:spPr>
        <p:txBody>
          <a:bodyPr wrap="none" rtlCol="0">
            <a:spAutoFit/>
          </a:bodyPr>
          <a:lstStyle/>
          <a:p>
            <a:r>
              <a:rPr lang="en-US" altLang="zh-TW" sz="900" b="1" dirty="0">
                <a:latin typeface="Montserrat" panose="02020500000000000000" charset="0"/>
                <a:ea typeface="標楷體" panose="03000509000000000000" pitchFamily="65" charset="-120"/>
                <a:cs typeface="Times New Roman" panose="02020603050405020304" pitchFamily="18" charset="0"/>
              </a:rPr>
              <a:t>Non voltage</a:t>
            </a:r>
            <a:endParaRPr lang="zh-TW" altLang="en-US" sz="900" b="1" dirty="0">
              <a:latin typeface="Montserrat" panose="02020500000000000000" charset="0"/>
              <a:ea typeface="標楷體" panose="03000509000000000000" pitchFamily="65" charset="-120"/>
              <a:cs typeface="Times New Roman" panose="02020603050405020304" pitchFamily="18" charset="0"/>
            </a:endParaRPr>
          </a:p>
        </p:txBody>
      </p:sp>
      <p:sp>
        <p:nvSpPr>
          <p:cNvPr id="58" name="文字方塊 57">
            <a:extLst>
              <a:ext uri="{FF2B5EF4-FFF2-40B4-BE49-F238E27FC236}">
                <a16:creationId xmlns:a16="http://schemas.microsoft.com/office/drawing/2014/main" id="{6AE1714C-5B61-48C4-A07D-EF18C0DF4ACD}"/>
              </a:ext>
            </a:extLst>
          </p:cNvPr>
          <p:cNvSpPr txBox="1"/>
          <p:nvPr/>
        </p:nvSpPr>
        <p:spPr>
          <a:xfrm>
            <a:off x="7845759" y="1260881"/>
            <a:ext cx="1122423" cy="230832"/>
          </a:xfrm>
          <a:prstGeom prst="rect">
            <a:avLst/>
          </a:prstGeom>
          <a:noFill/>
        </p:spPr>
        <p:txBody>
          <a:bodyPr wrap="none" rtlCol="0">
            <a:spAutoFit/>
          </a:bodyPr>
          <a:lstStyle/>
          <a:p>
            <a:r>
              <a:rPr lang="en-US" altLang="zh-TW" sz="900" b="1" dirty="0">
                <a:latin typeface="Montserrat" panose="02020500000000000000" charset="0"/>
                <a:ea typeface="標楷體" panose="03000509000000000000" pitchFamily="65" charset="-120"/>
                <a:cs typeface="Times New Roman" panose="02020603050405020304" pitchFamily="18" charset="0"/>
              </a:rPr>
              <a:t>applied voltage</a:t>
            </a:r>
            <a:endParaRPr lang="zh-TW" altLang="en-US" sz="900" b="1" dirty="0">
              <a:latin typeface="Montserrat" panose="02020500000000000000" charset="0"/>
              <a:ea typeface="標楷體" panose="03000509000000000000" pitchFamily="65" charset="-120"/>
              <a:cs typeface="Times New Roman" panose="02020603050405020304" pitchFamily="18" charset="0"/>
            </a:endParaRPr>
          </a:p>
        </p:txBody>
      </p:sp>
      <p:sp>
        <p:nvSpPr>
          <p:cNvPr id="67" name="文字方塊 66">
            <a:extLst>
              <a:ext uri="{FF2B5EF4-FFF2-40B4-BE49-F238E27FC236}">
                <a16:creationId xmlns:a16="http://schemas.microsoft.com/office/drawing/2014/main" id="{F43830E1-EECA-4D1D-92FE-B2634A9731F7}"/>
              </a:ext>
            </a:extLst>
          </p:cNvPr>
          <p:cNvSpPr txBox="1"/>
          <p:nvPr/>
        </p:nvSpPr>
        <p:spPr>
          <a:xfrm>
            <a:off x="6691432" y="3782482"/>
            <a:ext cx="332142" cy="230832"/>
          </a:xfrm>
          <a:prstGeom prst="rect">
            <a:avLst/>
          </a:prstGeom>
          <a:noFill/>
        </p:spPr>
        <p:txBody>
          <a:bodyPr wrap="none" rtlCol="0">
            <a:spAutoFit/>
          </a:bodyPr>
          <a:lstStyle/>
          <a:p>
            <a:r>
              <a:rPr lang="en-US" altLang="zh-TW" sz="900" b="1" dirty="0">
                <a:latin typeface="Montserrat" panose="02020500000000000000" charset="0"/>
              </a:rPr>
              <a:t>TE</a:t>
            </a:r>
            <a:endParaRPr lang="zh-TW" altLang="en-US" sz="900" b="1" dirty="0">
              <a:latin typeface="Montserrat" panose="02020500000000000000" charset="0"/>
            </a:endParaRPr>
          </a:p>
        </p:txBody>
      </p:sp>
      <p:sp>
        <p:nvSpPr>
          <p:cNvPr id="68" name="文字方塊 67">
            <a:extLst>
              <a:ext uri="{FF2B5EF4-FFF2-40B4-BE49-F238E27FC236}">
                <a16:creationId xmlns:a16="http://schemas.microsoft.com/office/drawing/2014/main" id="{8291E778-EC01-4285-9948-07E622308888}"/>
              </a:ext>
            </a:extLst>
          </p:cNvPr>
          <p:cNvSpPr txBox="1"/>
          <p:nvPr/>
        </p:nvSpPr>
        <p:spPr>
          <a:xfrm>
            <a:off x="5561714" y="2904059"/>
            <a:ext cx="365806" cy="230832"/>
          </a:xfrm>
          <a:prstGeom prst="rect">
            <a:avLst/>
          </a:prstGeom>
          <a:noFill/>
        </p:spPr>
        <p:txBody>
          <a:bodyPr wrap="none" rtlCol="0">
            <a:spAutoFit/>
          </a:bodyPr>
          <a:lstStyle/>
          <a:p>
            <a:r>
              <a:rPr lang="en-US" altLang="zh-TW" sz="900" b="1" dirty="0">
                <a:latin typeface="Montserrat" panose="02020500000000000000" charset="0"/>
              </a:rPr>
              <a:t>TM</a:t>
            </a:r>
            <a:endParaRPr lang="zh-TW" altLang="en-US" sz="900" b="1" dirty="0">
              <a:latin typeface="Montserrat" panose="02020500000000000000" charset="0"/>
            </a:endParaRPr>
          </a:p>
        </p:txBody>
      </p:sp>
      <p:grpSp>
        <p:nvGrpSpPr>
          <p:cNvPr id="74" name="群組 73">
            <a:extLst>
              <a:ext uri="{FF2B5EF4-FFF2-40B4-BE49-F238E27FC236}">
                <a16:creationId xmlns:a16="http://schemas.microsoft.com/office/drawing/2014/main" id="{220C6316-85CC-43FC-8233-D30E1D76D5A6}"/>
              </a:ext>
            </a:extLst>
          </p:cNvPr>
          <p:cNvGrpSpPr/>
          <p:nvPr/>
        </p:nvGrpSpPr>
        <p:grpSpPr>
          <a:xfrm>
            <a:off x="6356773" y="2632712"/>
            <a:ext cx="1374515" cy="1019466"/>
            <a:chOff x="7745656" y="1578348"/>
            <a:chExt cx="1374515" cy="1019466"/>
          </a:xfrm>
        </p:grpSpPr>
        <p:pic>
          <p:nvPicPr>
            <p:cNvPr id="70" name="圖片 69">
              <a:extLst>
                <a:ext uri="{FF2B5EF4-FFF2-40B4-BE49-F238E27FC236}">
                  <a16:creationId xmlns:a16="http://schemas.microsoft.com/office/drawing/2014/main" id="{7A5A1B41-8865-49B3-9DAE-951C35675F50}"/>
                </a:ext>
              </a:extLst>
            </p:cNvPr>
            <p:cNvPicPr>
              <a:picLocks noChangeAspect="1"/>
            </p:cNvPicPr>
            <p:nvPr/>
          </p:nvPicPr>
          <p:blipFill>
            <a:blip r:embed="rId4"/>
            <a:stretch>
              <a:fillRect/>
            </a:stretch>
          </p:blipFill>
          <p:spPr>
            <a:xfrm>
              <a:off x="7745656" y="1578348"/>
              <a:ext cx="1322627" cy="993839"/>
            </a:xfrm>
            <a:prstGeom prst="rect">
              <a:avLst/>
            </a:prstGeom>
          </p:spPr>
        </p:pic>
        <p:sp>
          <p:nvSpPr>
            <p:cNvPr id="71" name="文字方塊 70">
              <a:extLst>
                <a:ext uri="{FF2B5EF4-FFF2-40B4-BE49-F238E27FC236}">
                  <a16:creationId xmlns:a16="http://schemas.microsoft.com/office/drawing/2014/main" id="{DBADDB54-E767-48C8-9661-66E25E59CAD7}"/>
                </a:ext>
              </a:extLst>
            </p:cNvPr>
            <p:cNvSpPr txBox="1"/>
            <p:nvPr/>
          </p:nvSpPr>
          <p:spPr>
            <a:xfrm>
              <a:off x="8788029" y="2366982"/>
              <a:ext cx="332142" cy="230832"/>
            </a:xfrm>
            <a:prstGeom prst="rect">
              <a:avLst/>
            </a:prstGeom>
            <a:noFill/>
          </p:spPr>
          <p:txBody>
            <a:bodyPr wrap="none" rtlCol="0">
              <a:spAutoFit/>
            </a:bodyPr>
            <a:lstStyle/>
            <a:p>
              <a:r>
                <a:rPr lang="en-US" altLang="zh-TW" sz="900" dirty="0">
                  <a:solidFill>
                    <a:schemeClr val="accent4"/>
                  </a:solidFill>
                  <a:latin typeface="Montserrat" panose="02020500000000000000" charset="0"/>
                </a:rPr>
                <a:t>TE</a:t>
              </a:r>
              <a:endParaRPr lang="zh-TW" altLang="en-US" sz="900" dirty="0">
                <a:solidFill>
                  <a:schemeClr val="accent4"/>
                </a:solidFill>
                <a:latin typeface="Montserrat" panose="02020500000000000000" charset="0"/>
              </a:endParaRPr>
            </a:p>
          </p:txBody>
        </p:sp>
      </p:grpSp>
      <p:grpSp>
        <p:nvGrpSpPr>
          <p:cNvPr id="73" name="群組 72">
            <a:extLst>
              <a:ext uri="{FF2B5EF4-FFF2-40B4-BE49-F238E27FC236}">
                <a16:creationId xmlns:a16="http://schemas.microsoft.com/office/drawing/2014/main" id="{541D2C83-21C8-4F9D-A936-F5C9CD0FFBAB}"/>
              </a:ext>
            </a:extLst>
          </p:cNvPr>
          <p:cNvGrpSpPr/>
          <p:nvPr/>
        </p:nvGrpSpPr>
        <p:grpSpPr>
          <a:xfrm>
            <a:off x="6359415" y="1581132"/>
            <a:ext cx="1371001" cy="1016682"/>
            <a:chOff x="6359415" y="1581132"/>
            <a:chExt cx="1371001" cy="1016682"/>
          </a:xfrm>
        </p:grpSpPr>
        <p:pic>
          <p:nvPicPr>
            <p:cNvPr id="69" name="圖片 68">
              <a:extLst>
                <a:ext uri="{FF2B5EF4-FFF2-40B4-BE49-F238E27FC236}">
                  <a16:creationId xmlns:a16="http://schemas.microsoft.com/office/drawing/2014/main" id="{37CD21C7-E217-40E3-90A9-E98A4410D584}"/>
                </a:ext>
              </a:extLst>
            </p:cNvPr>
            <p:cNvPicPr>
              <a:picLocks noChangeAspect="1"/>
            </p:cNvPicPr>
            <p:nvPr/>
          </p:nvPicPr>
          <p:blipFill>
            <a:blip r:embed="rId5"/>
            <a:stretch>
              <a:fillRect/>
            </a:stretch>
          </p:blipFill>
          <p:spPr>
            <a:xfrm>
              <a:off x="6359415" y="1581132"/>
              <a:ext cx="1320183" cy="988272"/>
            </a:xfrm>
            <a:prstGeom prst="rect">
              <a:avLst/>
            </a:prstGeom>
          </p:spPr>
        </p:pic>
        <p:sp>
          <p:nvSpPr>
            <p:cNvPr id="72" name="文字方塊 71">
              <a:extLst>
                <a:ext uri="{FF2B5EF4-FFF2-40B4-BE49-F238E27FC236}">
                  <a16:creationId xmlns:a16="http://schemas.microsoft.com/office/drawing/2014/main" id="{FF9FBCB5-767B-4D28-BAD2-BC7CED9D59A9}"/>
                </a:ext>
              </a:extLst>
            </p:cNvPr>
            <p:cNvSpPr txBox="1"/>
            <p:nvPr/>
          </p:nvSpPr>
          <p:spPr>
            <a:xfrm>
              <a:off x="7369420" y="2366982"/>
              <a:ext cx="360996" cy="230832"/>
            </a:xfrm>
            <a:prstGeom prst="rect">
              <a:avLst/>
            </a:prstGeom>
            <a:noFill/>
          </p:spPr>
          <p:txBody>
            <a:bodyPr wrap="none" rtlCol="0">
              <a:spAutoFit/>
            </a:bodyPr>
            <a:lstStyle/>
            <a:p>
              <a:r>
                <a:rPr lang="en-US" altLang="zh-TW" sz="900" dirty="0">
                  <a:solidFill>
                    <a:schemeClr val="accent4"/>
                  </a:solidFill>
                  <a:latin typeface="Montserrat" panose="02020500000000000000" charset="0"/>
                </a:rPr>
                <a:t>TM</a:t>
              </a:r>
              <a:endParaRPr lang="zh-TW" altLang="en-US" sz="900" dirty="0">
                <a:solidFill>
                  <a:schemeClr val="accent4"/>
                </a:solidFill>
                <a:latin typeface="Montserrat" panose="02020500000000000000" charset="0"/>
              </a:endParaRPr>
            </a:p>
          </p:txBody>
        </p:sp>
      </p:grpSp>
      <p:grpSp>
        <p:nvGrpSpPr>
          <p:cNvPr id="77" name="群組 76">
            <a:extLst>
              <a:ext uri="{FF2B5EF4-FFF2-40B4-BE49-F238E27FC236}">
                <a16:creationId xmlns:a16="http://schemas.microsoft.com/office/drawing/2014/main" id="{1B0765ED-1414-4DC2-A854-4DE62052EEF7}"/>
              </a:ext>
            </a:extLst>
          </p:cNvPr>
          <p:cNvGrpSpPr/>
          <p:nvPr/>
        </p:nvGrpSpPr>
        <p:grpSpPr>
          <a:xfrm>
            <a:off x="7717691" y="1579292"/>
            <a:ext cx="1371002" cy="1007042"/>
            <a:chOff x="6359414" y="2628448"/>
            <a:chExt cx="1371002" cy="1007042"/>
          </a:xfrm>
        </p:grpSpPr>
        <p:pic>
          <p:nvPicPr>
            <p:cNvPr id="75" name="圖片 74">
              <a:extLst>
                <a:ext uri="{FF2B5EF4-FFF2-40B4-BE49-F238E27FC236}">
                  <a16:creationId xmlns:a16="http://schemas.microsoft.com/office/drawing/2014/main" id="{0B288306-B09E-4E0F-A4EC-9E285A3780ED}"/>
                </a:ext>
              </a:extLst>
            </p:cNvPr>
            <p:cNvPicPr>
              <a:picLocks noChangeAspect="1"/>
            </p:cNvPicPr>
            <p:nvPr/>
          </p:nvPicPr>
          <p:blipFill>
            <a:blip r:embed="rId6"/>
            <a:stretch>
              <a:fillRect/>
            </a:stretch>
          </p:blipFill>
          <p:spPr>
            <a:xfrm>
              <a:off x="6359414" y="2628448"/>
              <a:ext cx="1320183" cy="984888"/>
            </a:xfrm>
            <a:prstGeom prst="rect">
              <a:avLst/>
            </a:prstGeom>
          </p:spPr>
        </p:pic>
        <p:sp>
          <p:nvSpPr>
            <p:cNvPr id="76" name="文字方塊 75">
              <a:extLst>
                <a:ext uri="{FF2B5EF4-FFF2-40B4-BE49-F238E27FC236}">
                  <a16:creationId xmlns:a16="http://schemas.microsoft.com/office/drawing/2014/main" id="{AEBE3E30-61BF-4955-9715-F3C95A9A29AD}"/>
                </a:ext>
              </a:extLst>
            </p:cNvPr>
            <p:cNvSpPr txBox="1"/>
            <p:nvPr/>
          </p:nvSpPr>
          <p:spPr>
            <a:xfrm>
              <a:off x="7369420" y="3404658"/>
              <a:ext cx="360996" cy="230832"/>
            </a:xfrm>
            <a:prstGeom prst="rect">
              <a:avLst/>
            </a:prstGeom>
            <a:noFill/>
          </p:spPr>
          <p:txBody>
            <a:bodyPr wrap="none" rtlCol="0">
              <a:spAutoFit/>
            </a:bodyPr>
            <a:lstStyle/>
            <a:p>
              <a:r>
                <a:rPr lang="en-US" altLang="zh-TW" sz="900" dirty="0">
                  <a:solidFill>
                    <a:schemeClr val="accent4"/>
                  </a:solidFill>
                  <a:latin typeface="Montserrat" panose="02020500000000000000" charset="0"/>
                </a:rPr>
                <a:t>TM</a:t>
              </a:r>
              <a:endParaRPr lang="zh-TW" altLang="en-US" sz="900" dirty="0">
                <a:solidFill>
                  <a:schemeClr val="accent4"/>
                </a:solidFill>
                <a:latin typeface="Montserrat" panose="02020500000000000000" charset="0"/>
              </a:endParaRPr>
            </a:p>
          </p:txBody>
        </p:sp>
      </p:grpSp>
      <p:grpSp>
        <p:nvGrpSpPr>
          <p:cNvPr id="80" name="群組 79">
            <a:extLst>
              <a:ext uri="{FF2B5EF4-FFF2-40B4-BE49-F238E27FC236}">
                <a16:creationId xmlns:a16="http://schemas.microsoft.com/office/drawing/2014/main" id="{59324471-4C5E-4118-871D-2CCE174EC8A7}"/>
              </a:ext>
            </a:extLst>
          </p:cNvPr>
          <p:cNvGrpSpPr/>
          <p:nvPr/>
        </p:nvGrpSpPr>
        <p:grpSpPr>
          <a:xfrm>
            <a:off x="7715780" y="2648405"/>
            <a:ext cx="1356563" cy="1003773"/>
            <a:chOff x="7715780" y="2648405"/>
            <a:chExt cx="1356563" cy="1003773"/>
          </a:xfrm>
        </p:grpSpPr>
        <p:pic>
          <p:nvPicPr>
            <p:cNvPr id="78" name="圖片 77">
              <a:extLst>
                <a:ext uri="{FF2B5EF4-FFF2-40B4-BE49-F238E27FC236}">
                  <a16:creationId xmlns:a16="http://schemas.microsoft.com/office/drawing/2014/main" id="{928496F7-6D75-4697-9E32-771E8FB12CC3}"/>
                </a:ext>
              </a:extLst>
            </p:cNvPr>
            <p:cNvPicPr>
              <a:picLocks noChangeAspect="1"/>
            </p:cNvPicPr>
            <p:nvPr/>
          </p:nvPicPr>
          <p:blipFill>
            <a:blip r:embed="rId7"/>
            <a:stretch>
              <a:fillRect/>
            </a:stretch>
          </p:blipFill>
          <p:spPr>
            <a:xfrm>
              <a:off x="7715780" y="2648405"/>
              <a:ext cx="1320183" cy="984888"/>
            </a:xfrm>
            <a:prstGeom prst="rect">
              <a:avLst/>
            </a:prstGeom>
          </p:spPr>
        </p:pic>
        <p:sp>
          <p:nvSpPr>
            <p:cNvPr id="79" name="文字方塊 78">
              <a:extLst>
                <a:ext uri="{FF2B5EF4-FFF2-40B4-BE49-F238E27FC236}">
                  <a16:creationId xmlns:a16="http://schemas.microsoft.com/office/drawing/2014/main" id="{B16DC8F3-7605-4AAA-A5CD-D0F473C11DF9}"/>
                </a:ext>
              </a:extLst>
            </p:cNvPr>
            <p:cNvSpPr txBox="1"/>
            <p:nvPr/>
          </p:nvSpPr>
          <p:spPr>
            <a:xfrm>
              <a:off x="8740201" y="3421346"/>
              <a:ext cx="332142" cy="230832"/>
            </a:xfrm>
            <a:prstGeom prst="rect">
              <a:avLst/>
            </a:prstGeom>
            <a:noFill/>
          </p:spPr>
          <p:txBody>
            <a:bodyPr wrap="none" rtlCol="0">
              <a:spAutoFit/>
            </a:bodyPr>
            <a:lstStyle/>
            <a:p>
              <a:r>
                <a:rPr lang="en-US" altLang="zh-TW" sz="900" dirty="0">
                  <a:solidFill>
                    <a:schemeClr val="accent4"/>
                  </a:solidFill>
                  <a:latin typeface="Montserrat" panose="02020500000000000000" charset="0"/>
                </a:rPr>
                <a:t>TE</a:t>
              </a:r>
              <a:endParaRPr lang="zh-TW" altLang="en-US" sz="900" dirty="0">
                <a:solidFill>
                  <a:schemeClr val="accent4"/>
                </a:solidFill>
                <a:latin typeface="Montserrat" panose="02020500000000000000" charset="0"/>
              </a:endParaRPr>
            </a:p>
          </p:txBody>
        </p:sp>
      </p:grpSp>
      <p:grpSp>
        <p:nvGrpSpPr>
          <p:cNvPr id="83" name="群組 82">
            <a:extLst>
              <a:ext uri="{FF2B5EF4-FFF2-40B4-BE49-F238E27FC236}">
                <a16:creationId xmlns:a16="http://schemas.microsoft.com/office/drawing/2014/main" id="{75011D31-DC88-4DCE-BFAD-F700D62A5D19}"/>
              </a:ext>
            </a:extLst>
          </p:cNvPr>
          <p:cNvGrpSpPr/>
          <p:nvPr/>
        </p:nvGrpSpPr>
        <p:grpSpPr>
          <a:xfrm>
            <a:off x="3158442" y="2645497"/>
            <a:ext cx="1125878" cy="1043057"/>
            <a:chOff x="3158442" y="2645497"/>
            <a:chExt cx="1125878" cy="1043057"/>
          </a:xfrm>
        </p:grpSpPr>
        <p:sp>
          <p:nvSpPr>
            <p:cNvPr id="64" name="手繪多邊形: 圖案 63">
              <a:extLst>
                <a:ext uri="{FF2B5EF4-FFF2-40B4-BE49-F238E27FC236}">
                  <a16:creationId xmlns:a16="http://schemas.microsoft.com/office/drawing/2014/main" id="{F9683CFE-7FFF-4CB6-8DB4-C0C77CC13A0C}"/>
                </a:ext>
              </a:extLst>
            </p:cNvPr>
            <p:cNvSpPr/>
            <p:nvPr/>
          </p:nvSpPr>
          <p:spPr>
            <a:xfrm rot="11539772" flipH="1">
              <a:off x="3358652" y="3223516"/>
              <a:ext cx="178558" cy="451176"/>
            </a:xfrm>
            <a:custGeom>
              <a:avLst/>
              <a:gdLst>
                <a:gd name="connsiteX0" fmla="*/ 312141 w 312141"/>
                <a:gd name="connsiteY0" fmla="*/ 1035 h 740175"/>
                <a:gd name="connsiteX1" fmla="*/ 30201 w 312141"/>
                <a:gd name="connsiteY1" fmla="*/ 35325 h 740175"/>
                <a:gd name="connsiteX2" fmla="*/ 26391 w 312141"/>
                <a:gd name="connsiteY2" fmla="*/ 233445 h 740175"/>
                <a:gd name="connsiteX3" fmla="*/ 194031 w 312141"/>
                <a:gd name="connsiteY3" fmla="*/ 401085 h 740175"/>
                <a:gd name="connsiteX4" fmla="*/ 304521 w 312141"/>
                <a:gd name="connsiteY4" fmla="*/ 740175 h 74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41" h="740175">
                  <a:moveTo>
                    <a:pt x="312141" y="1035"/>
                  </a:moveTo>
                  <a:cubicBezTo>
                    <a:pt x="194983" y="-1188"/>
                    <a:pt x="77826" y="-3410"/>
                    <a:pt x="30201" y="35325"/>
                  </a:cubicBezTo>
                  <a:cubicBezTo>
                    <a:pt x="-17424" y="74060"/>
                    <a:pt x="-914" y="172485"/>
                    <a:pt x="26391" y="233445"/>
                  </a:cubicBezTo>
                  <a:cubicBezTo>
                    <a:pt x="53696" y="294405"/>
                    <a:pt x="147676" y="316630"/>
                    <a:pt x="194031" y="401085"/>
                  </a:cubicBezTo>
                  <a:cubicBezTo>
                    <a:pt x="240386" y="485540"/>
                    <a:pt x="272453" y="612857"/>
                    <a:pt x="304521" y="740175"/>
                  </a:cubicBezTo>
                </a:path>
              </a:pathLst>
            </a:custGeom>
            <a:noFill/>
            <a:ln>
              <a:solidFill>
                <a:schemeClr val="tx1"/>
              </a:solidFill>
            </a:ln>
            <a:effectLst>
              <a:glow rad="63500">
                <a:schemeClr val="accent6">
                  <a:lumMod val="5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手繪多邊形: 圖案 64">
              <a:extLst>
                <a:ext uri="{FF2B5EF4-FFF2-40B4-BE49-F238E27FC236}">
                  <a16:creationId xmlns:a16="http://schemas.microsoft.com/office/drawing/2014/main" id="{A0C7B69F-D7B8-429A-BD31-7E6CB78EDBBC}"/>
                </a:ext>
              </a:extLst>
            </p:cNvPr>
            <p:cNvSpPr/>
            <p:nvPr/>
          </p:nvSpPr>
          <p:spPr>
            <a:xfrm rot="10800000">
              <a:off x="3963515" y="3237378"/>
              <a:ext cx="229777" cy="451176"/>
            </a:xfrm>
            <a:custGeom>
              <a:avLst/>
              <a:gdLst>
                <a:gd name="connsiteX0" fmla="*/ 312141 w 312141"/>
                <a:gd name="connsiteY0" fmla="*/ 1035 h 740175"/>
                <a:gd name="connsiteX1" fmla="*/ 30201 w 312141"/>
                <a:gd name="connsiteY1" fmla="*/ 35325 h 740175"/>
                <a:gd name="connsiteX2" fmla="*/ 26391 w 312141"/>
                <a:gd name="connsiteY2" fmla="*/ 233445 h 740175"/>
                <a:gd name="connsiteX3" fmla="*/ 194031 w 312141"/>
                <a:gd name="connsiteY3" fmla="*/ 401085 h 740175"/>
                <a:gd name="connsiteX4" fmla="*/ 304521 w 312141"/>
                <a:gd name="connsiteY4" fmla="*/ 740175 h 74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41" h="740175">
                  <a:moveTo>
                    <a:pt x="312141" y="1035"/>
                  </a:moveTo>
                  <a:cubicBezTo>
                    <a:pt x="194983" y="-1188"/>
                    <a:pt x="77826" y="-3410"/>
                    <a:pt x="30201" y="35325"/>
                  </a:cubicBezTo>
                  <a:cubicBezTo>
                    <a:pt x="-17424" y="74060"/>
                    <a:pt x="-914" y="172485"/>
                    <a:pt x="26391" y="233445"/>
                  </a:cubicBezTo>
                  <a:cubicBezTo>
                    <a:pt x="53696" y="294405"/>
                    <a:pt x="147676" y="316630"/>
                    <a:pt x="194031" y="401085"/>
                  </a:cubicBezTo>
                  <a:cubicBezTo>
                    <a:pt x="240386" y="485540"/>
                    <a:pt x="272453" y="612857"/>
                    <a:pt x="304521" y="740175"/>
                  </a:cubicBezTo>
                </a:path>
              </a:pathLst>
            </a:custGeom>
            <a:noFill/>
            <a:ln>
              <a:solidFill>
                <a:srgbClr val="E34A2B"/>
              </a:solidFill>
            </a:ln>
            <a:effectLst>
              <a:glow rad="63500">
                <a:schemeClr val="tx2">
                  <a:lumMod val="60000"/>
                  <a:lumOff val="4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228AFE09-C1DA-413C-9EF1-2A80D8784630}"/>
                </a:ext>
              </a:extLst>
            </p:cNvPr>
            <p:cNvSpPr/>
            <p:nvPr/>
          </p:nvSpPr>
          <p:spPr>
            <a:xfrm>
              <a:off x="3158442" y="2645497"/>
              <a:ext cx="1125878" cy="629920"/>
            </a:xfrm>
            <a:prstGeom prst="rect">
              <a:avLst/>
            </a:prstGeom>
            <a:solidFill>
              <a:schemeClr val="tx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tx1"/>
                  </a:solidFill>
                  <a:latin typeface="Montserrat" panose="02020500000000000000" charset="0"/>
                  <a:cs typeface="Times New Roman" panose="02020603050405020304" pitchFamily="18" charset="0"/>
                </a:rPr>
                <a:t>Power supply</a:t>
              </a:r>
              <a:endParaRPr lang="zh-TW" altLang="en-US" sz="1000" b="1" dirty="0">
                <a:solidFill>
                  <a:schemeClr val="tx1"/>
                </a:solidFill>
                <a:latin typeface="Montserrat" panose="02020500000000000000" charset="0"/>
                <a:cs typeface="Times New Roman" panose="02020603050405020304" pitchFamily="18" charset="0"/>
              </a:endParaRPr>
            </a:p>
          </p:txBody>
        </p:sp>
        <p:sp>
          <p:nvSpPr>
            <p:cNvPr id="81" name="文字方塊 80">
              <a:extLst>
                <a:ext uri="{FF2B5EF4-FFF2-40B4-BE49-F238E27FC236}">
                  <a16:creationId xmlns:a16="http://schemas.microsoft.com/office/drawing/2014/main" id="{AA28007A-04BA-409A-825C-EDB5CBABF8F4}"/>
                </a:ext>
              </a:extLst>
            </p:cNvPr>
            <p:cNvSpPr txBox="1"/>
            <p:nvPr/>
          </p:nvSpPr>
          <p:spPr>
            <a:xfrm>
              <a:off x="3852123" y="3032362"/>
              <a:ext cx="277640" cy="276999"/>
            </a:xfrm>
            <a:prstGeom prst="rect">
              <a:avLst/>
            </a:prstGeom>
            <a:noFill/>
          </p:spPr>
          <p:txBody>
            <a:bodyPr wrap="none" rtlCol="0">
              <a:spAutoFit/>
            </a:bodyPr>
            <a:lstStyle/>
            <a:p>
              <a:r>
                <a:rPr lang="en-US" altLang="zh-TW" sz="1200" b="1" dirty="0">
                  <a:latin typeface="Montserrat" panose="02020500000000000000" charset="0"/>
                </a:rPr>
                <a:t>+</a:t>
              </a:r>
              <a:endParaRPr lang="zh-TW" altLang="en-US" sz="1200" b="1" dirty="0">
                <a:latin typeface="Montserrat" panose="02020500000000000000" charset="0"/>
              </a:endParaRPr>
            </a:p>
          </p:txBody>
        </p:sp>
        <p:sp>
          <p:nvSpPr>
            <p:cNvPr id="82" name="文字方塊 81">
              <a:extLst>
                <a:ext uri="{FF2B5EF4-FFF2-40B4-BE49-F238E27FC236}">
                  <a16:creationId xmlns:a16="http://schemas.microsoft.com/office/drawing/2014/main" id="{E47A51B8-0F84-4E2C-8254-FD211DD79627}"/>
                </a:ext>
              </a:extLst>
            </p:cNvPr>
            <p:cNvSpPr txBox="1"/>
            <p:nvPr/>
          </p:nvSpPr>
          <p:spPr>
            <a:xfrm>
              <a:off x="3405892" y="2979713"/>
              <a:ext cx="263214" cy="338554"/>
            </a:xfrm>
            <a:prstGeom prst="rect">
              <a:avLst/>
            </a:prstGeom>
            <a:noFill/>
          </p:spPr>
          <p:txBody>
            <a:bodyPr wrap="none" rtlCol="0">
              <a:spAutoFit/>
            </a:bodyPr>
            <a:lstStyle/>
            <a:p>
              <a:r>
                <a:rPr lang="en-US" altLang="zh-TW" sz="1600" b="1" dirty="0">
                  <a:latin typeface="Montserrat" panose="02020500000000000000" charset="0"/>
                </a:rPr>
                <a:t>-</a:t>
              </a:r>
              <a:endParaRPr lang="zh-TW" altLang="en-US" sz="1600" b="1" dirty="0">
                <a:latin typeface="Montserrat" panose="02020500000000000000" charset="0"/>
              </a:endParaRPr>
            </a:p>
          </p:txBody>
        </p:sp>
      </p:grpSp>
      <p:sp>
        <p:nvSpPr>
          <p:cNvPr id="84" name="文字方塊 83">
            <a:extLst>
              <a:ext uri="{FF2B5EF4-FFF2-40B4-BE49-F238E27FC236}">
                <a16:creationId xmlns:a16="http://schemas.microsoft.com/office/drawing/2014/main" id="{040331FD-58CF-455E-BF45-0C551E892CD4}"/>
              </a:ext>
            </a:extLst>
          </p:cNvPr>
          <p:cNvSpPr txBox="1"/>
          <p:nvPr/>
        </p:nvSpPr>
        <p:spPr>
          <a:xfrm>
            <a:off x="456414" y="3963581"/>
            <a:ext cx="1620957" cy="484235"/>
          </a:xfrm>
          <a:prstGeom prst="rect">
            <a:avLst/>
          </a:prstGeom>
          <a:noFill/>
        </p:spPr>
        <p:txBody>
          <a:bodyPr wrap="none" rtlCol="0">
            <a:spAutoFit/>
          </a:bodyPr>
          <a:lstStyle/>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ECL : ≈4mW</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Oven temperature : 92°C</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942173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11" name="圖片 10">
            <a:extLst>
              <a:ext uri="{FF2B5EF4-FFF2-40B4-BE49-F238E27FC236}">
                <a16:creationId xmlns:a16="http://schemas.microsoft.com/office/drawing/2014/main" id="{D226B726-E380-441E-9F7A-1B3CBEE7EBFA}"/>
              </a:ext>
            </a:extLst>
          </p:cNvPr>
          <p:cNvPicPr>
            <a:picLocks noChangeAspect="1"/>
          </p:cNvPicPr>
          <p:nvPr/>
        </p:nvPicPr>
        <p:blipFill>
          <a:blip r:embed="rId3"/>
          <a:stretch>
            <a:fillRect/>
          </a:stretch>
        </p:blipFill>
        <p:spPr>
          <a:xfrm>
            <a:off x="2521116" y="1142180"/>
            <a:ext cx="4101766" cy="2859140"/>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EO-PMC measurement result</a:t>
            </a:r>
          </a:p>
        </p:txBody>
      </p:sp>
      <p:grpSp>
        <p:nvGrpSpPr>
          <p:cNvPr id="3" name="群組 2">
            <a:extLst>
              <a:ext uri="{FF2B5EF4-FFF2-40B4-BE49-F238E27FC236}">
                <a16:creationId xmlns:a16="http://schemas.microsoft.com/office/drawing/2014/main" id="{CD6F8392-BD51-488A-A035-A3A2A0D47929}"/>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8274DD0-D65A-4DBB-8D67-7BEBBA23B15B}"/>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0CAFDBC4-27B3-4029-8C98-95F435A6815A}"/>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C0BA609A-ED4B-4DEA-B041-DB4BCA756A38}"/>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3ECFBD4B-C65B-47E3-8A04-7B995AFAD77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F67A1909-6581-4C5C-A391-0E944AD7A2AF}"/>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8F51B14F-2C3D-4180-8A41-924C3B12B75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8" name="文字方塊 17">
            <a:extLst>
              <a:ext uri="{FF2B5EF4-FFF2-40B4-BE49-F238E27FC236}">
                <a16:creationId xmlns:a16="http://schemas.microsoft.com/office/drawing/2014/main" id="{04568F05-EC87-433D-9F61-E9C9F1F667E5}"/>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59</a:t>
            </a:r>
            <a:endParaRPr lang="zh-TW" altLang="en-US" sz="1100" dirty="0">
              <a:latin typeface="Montserrat" panose="02020500000000000000" charset="0"/>
            </a:endParaRPr>
          </a:p>
        </p:txBody>
      </p:sp>
      <p:sp>
        <p:nvSpPr>
          <p:cNvPr id="13" name="文字方塊 12">
            <a:extLst>
              <a:ext uri="{FF2B5EF4-FFF2-40B4-BE49-F238E27FC236}">
                <a16:creationId xmlns:a16="http://schemas.microsoft.com/office/drawing/2014/main" id="{9424B1FD-E709-45D0-B007-26FEBFA50A43}"/>
              </a:ext>
            </a:extLst>
          </p:cNvPr>
          <p:cNvSpPr txBox="1"/>
          <p:nvPr/>
        </p:nvSpPr>
        <p:spPr>
          <a:xfrm>
            <a:off x="3481064" y="4311101"/>
            <a:ext cx="2231701" cy="527965"/>
          </a:xfrm>
          <a:prstGeom prst="rect">
            <a:avLst/>
          </a:prstGeom>
          <a:noFill/>
        </p:spPr>
        <p:txBody>
          <a:bodyPr wrap="none" rtlCol="0">
            <a:spAutoFit/>
          </a:bodyPr>
          <a:lstStyle/>
          <a:p>
            <a:pPr>
              <a:lnSpc>
                <a:spcPct val="150000"/>
              </a:lnSpc>
            </a:pPr>
            <a:r>
              <a:rPr lang="en-US" altLang="zh-TW" sz="1000" dirty="0">
                <a:latin typeface="Montserrat" panose="02020500000000000000" charset="0"/>
                <a:ea typeface="標楷體" panose="03000509000000000000" pitchFamily="65" charset="-120"/>
                <a:cs typeface="Times New Roman" panose="02020603050405020304" pitchFamily="18" charset="0"/>
              </a:rPr>
              <a:t>Center wavelength at </a:t>
            </a:r>
            <a:r>
              <a:rPr lang="en-US" altLang="zh-TW" sz="1000" b="1" dirty="0">
                <a:latin typeface="Montserrat" panose="02020500000000000000" charset="0"/>
                <a:ea typeface="標楷體" panose="03000509000000000000" pitchFamily="65" charset="-120"/>
                <a:cs typeface="Times New Roman" panose="02020603050405020304" pitchFamily="18" charset="0"/>
              </a:rPr>
              <a:t>1570.2nm</a:t>
            </a:r>
          </a:p>
          <a:p>
            <a:pPr>
              <a:lnSpc>
                <a:spcPct val="150000"/>
              </a:lnSpc>
            </a:pPr>
            <a:r>
              <a:rPr lang="en-US" altLang="zh-TW" sz="1000" dirty="0">
                <a:latin typeface="Montserrat" panose="02020500000000000000" charset="0"/>
                <a:ea typeface="標楷體" panose="03000509000000000000" pitchFamily="65" charset="-120"/>
                <a:cs typeface="Times New Roman" panose="02020603050405020304" pitchFamily="18" charset="0"/>
              </a:rPr>
              <a:t>Bandwidth is </a:t>
            </a:r>
            <a:r>
              <a:rPr lang="en-US" altLang="zh-TW" sz="1000" b="1" dirty="0">
                <a:latin typeface="Montserrat" panose="02020500000000000000" charset="0"/>
                <a:ea typeface="標楷體" panose="03000509000000000000" pitchFamily="65" charset="-120"/>
                <a:cs typeface="Times New Roman" panose="02020603050405020304" pitchFamily="18" charset="0"/>
              </a:rPr>
              <a:t>10.7nm</a:t>
            </a:r>
            <a:endParaRPr lang="zh-TW" altLang="en-US" sz="1000" b="1" dirty="0">
              <a:latin typeface="Montserrat" panose="02020500000000000000"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96524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EO-PMC measurement result</a:t>
            </a:r>
          </a:p>
        </p:txBody>
      </p:sp>
      <p:grpSp>
        <p:nvGrpSpPr>
          <p:cNvPr id="3" name="群組 2">
            <a:extLst>
              <a:ext uri="{FF2B5EF4-FFF2-40B4-BE49-F238E27FC236}">
                <a16:creationId xmlns:a16="http://schemas.microsoft.com/office/drawing/2014/main" id="{CD6F8392-BD51-488A-A035-A3A2A0D47929}"/>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8274DD0-D65A-4DBB-8D67-7BEBBA23B15B}"/>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0CAFDBC4-27B3-4029-8C98-95F435A6815A}"/>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C0BA609A-ED4B-4DEA-B041-DB4BCA756A38}"/>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3ECFBD4B-C65B-47E3-8A04-7B995AFAD77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F67A1909-6581-4C5C-A391-0E944AD7A2AF}"/>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8F51B14F-2C3D-4180-8A41-924C3B12B75C}"/>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3" name="圖片 12">
            <a:extLst>
              <a:ext uri="{FF2B5EF4-FFF2-40B4-BE49-F238E27FC236}">
                <a16:creationId xmlns:a16="http://schemas.microsoft.com/office/drawing/2014/main" id="{B7A301B5-0779-4065-9D14-56E07B1076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4" y="1458296"/>
            <a:ext cx="3022691" cy="2268109"/>
          </a:xfrm>
          <a:prstGeom prst="rect">
            <a:avLst/>
          </a:prstGeom>
        </p:spPr>
      </p:pic>
      <p:pic>
        <p:nvPicPr>
          <p:cNvPr id="12" name="圖片 11">
            <a:extLst>
              <a:ext uri="{FF2B5EF4-FFF2-40B4-BE49-F238E27FC236}">
                <a16:creationId xmlns:a16="http://schemas.microsoft.com/office/drawing/2014/main" id="{5AD02A61-AA0B-42E6-963A-3153B954D2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9497" y="1458296"/>
            <a:ext cx="3022691" cy="2268108"/>
          </a:xfrm>
          <a:prstGeom prst="rect">
            <a:avLst/>
          </a:prstGeom>
        </p:spPr>
      </p:pic>
      <p:sp>
        <p:nvSpPr>
          <p:cNvPr id="2" name="文字方塊 1">
            <a:extLst>
              <a:ext uri="{FF2B5EF4-FFF2-40B4-BE49-F238E27FC236}">
                <a16:creationId xmlns:a16="http://schemas.microsoft.com/office/drawing/2014/main" id="{A3EF3046-0604-41A6-A49C-BC0119F321C8}"/>
              </a:ext>
            </a:extLst>
          </p:cNvPr>
          <p:cNvSpPr txBox="1"/>
          <p:nvPr/>
        </p:nvSpPr>
        <p:spPr>
          <a:xfrm>
            <a:off x="6474190" y="4083235"/>
            <a:ext cx="2233304" cy="400110"/>
          </a:xfrm>
          <a:prstGeom prst="rect">
            <a:avLst/>
          </a:prstGeom>
          <a:noFill/>
        </p:spPr>
        <p:txBody>
          <a:bodyPr wrap="none" rtlCol="0">
            <a:spAutoFit/>
          </a:bodyPr>
          <a:lstStyle/>
          <a:p>
            <a:r>
              <a:rPr lang="en-US" altLang="zh-TW" sz="1000" dirty="0">
                <a:latin typeface="Montserrat" panose="02020500000000000000" charset="0"/>
              </a:rPr>
              <a:t>Temperature at </a:t>
            </a:r>
            <a:r>
              <a:rPr lang="en-US" altLang="zh-TW" sz="1000" b="1" dirty="0">
                <a:latin typeface="Montserrat" panose="02020500000000000000" charset="0"/>
              </a:rPr>
              <a:t>95°C</a:t>
            </a:r>
          </a:p>
          <a:p>
            <a:r>
              <a:rPr lang="en-US" altLang="zh-TW" sz="1000" dirty="0">
                <a:latin typeface="Montserrat" panose="02020500000000000000" charset="0"/>
              </a:rPr>
              <a:t>Center wavelength at </a:t>
            </a:r>
            <a:r>
              <a:rPr lang="en-US" altLang="zh-TW" sz="1000" b="1" dirty="0">
                <a:latin typeface="Montserrat" panose="02020500000000000000" charset="0"/>
              </a:rPr>
              <a:t>1567.9nm</a:t>
            </a:r>
            <a:endParaRPr lang="zh-TW" altLang="en-US" sz="1000" b="1" dirty="0">
              <a:latin typeface="Montserrat" panose="02020500000000000000" charset="0"/>
            </a:endParaRPr>
          </a:p>
        </p:txBody>
      </p:sp>
      <p:sp>
        <p:nvSpPr>
          <p:cNvPr id="16" name="文字方塊 15">
            <a:extLst>
              <a:ext uri="{FF2B5EF4-FFF2-40B4-BE49-F238E27FC236}">
                <a16:creationId xmlns:a16="http://schemas.microsoft.com/office/drawing/2014/main" id="{E43F9C6F-E40D-4C88-A7BF-7E8051660A88}"/>
              </a:ext>
            </a:extLst>
          </p:cNvPr>
          <p:cNvSpPr txBox="1"/>
          <p:nvPr/>
        </p:nvSpPr>
        <p:spPr>
          <a:xfrm>
            <a:off x="3481064" y="4083235"/>
            <a:ext cx="2231701" cy="400110"/>
          </a:xfrm>
          <a:prstGeom prst="rect">
            <a:avLst/>
          </a:prstGeom>
          <a:noFill/>
        </p:spPr>
        <p:txBody>
          <a:bodyPr wrap="none" rtlCol="0">
            <a:spAutoFit/>
          </a:bodyPr>
          <a:lstStyle/>
          <a:p>
            <a:r>
              <a:rPr lang="en-US" altLang="zh-TW" sz="1000" dirty="0">
                <a:latin typeface="Montserrat" panose="02020500000000000000" charset="0"/>
              </a:rPr>
              <a:t>Temperature at </a:t>
            </a:r>
            <a:r>
              <a:rPr lang="en-US" altLang="zh-TW" sz="1000" b="1" dirty="0">
                <a:latin typeface="Montserrat" panose="02020500000000000000" charset="0"/>
              </a:rPr>
              <a:t>83°C</a:t>
            </a:r>
          </a:p>
          <a:p>
            <a:r>
              <a:rPr lang="en-US" altLang="zh-TW" sz="1000" dirty="0">
                <a:latin typeface="Montserrat" panose="02020500000000000000" charset="0"/>
              </a:rPr>
              <a:t>Center wavelength at </a:t>
            </a:r>
            <a:r>
              <a:rPr lang="en-US" altLang="zh-TW" sz="1000" b="1" dirty="0">
                <a:latin typeface="Montserrat" panose="02020500000000000000" charset="0"/>
              </a:rPr>
              <a:t>1577.9nm</a:t>
            </a:r>
            <a:endParaRPr lang="zh-TW" altLang="en-US" sz="1000" b="1" dirty="0">
              <a:latin typeface="Montserrat" panose="02020500000000000000" charset="0"/>
            </a:endParaRPr>
          </a:p>
        </p:txBody>
      </p:sp>
      <p:sp>
        <p:nvSpPr>
          <p:cNvPr id="17" name="文字方塊 16">
            <a:extLst>
              <a:ext uri="{FF2B5EF4-FFF2-40B4-BE49-F238E27FC236}">
                <a16:creationId xmlns:a16="http://schemas.microsoft.com/office/drawing/2014/main" id="{1A3A6BAD-B54C-4B01-9269-CB5BAAC59CE1}"/>
              </a:ext>
            </a:extLst>
          </p:cNvPr>
          <p:cNvSpPr txBox="1"/>
          <p:nvPr/>
        </p:nvSpPr>
        <p:spPr>
          <a:xfrm>
            <a:off x="436506" y="4083235"/>
            <a:ext cx="2230098" cy="400110"/>
          </a:xfrm>
          <a:prstGeom prst="rect">
            <a:avLst/>
          </a:prstGeom>
          <a:noFill/>
        </p:spPr>
        <p:txBody>
          <a:bodyPr wrap="none" rtlCol="0">
            <a:spAutoFit/>
          </a:bodyPr>
          <a:lstStyle/>
          <a:p>
            <a:r>
              <a:rPr lang="en-US" altLang="zh-TW" sz="1000" dirty="0">
                <a:latin typeface="Montserrat" panose="02020500000000000000" charset="0"/>
              </a:rPr>
              <a:t>Temperature at </a:t>
            </a:r>
            <a:r>
              <a:rPr lang="en-US" altLang="zh-TW" sz="1000" b="1" dirty="0">
                <a:latin typeface="Montserrat" panose="02020500000000000000" charset="0"/>
              </a:rPr>
              <a:t>77°C</a:t>
            </a:r>
          </a:p>
          <a:p>
            <a:r>
              <a:rPr lang="en-US" altLang="zh-TW" sz="1000" dirty="0">
                <a:latin typeface="Montserrat" panose="02020500000000000000" charset="0"/>
              </a:rPr>
              <a:t>Center wavelength at </a:t>
            </a:r>
            <a:r>
              <a:rPr lang="en-US" altLang="zh-TW" sz="1000" b="1" dirty="0">
                <a:latin typeface="Montserrat" panose="02020500000000000000" charset="0"/>
              </a:rPr>
              <a:t>1582.7nm</a:t>
            </a:r>
            <a:endParaRPr lang="zh-TW" altLang="en-US" sz="1000" b="1" dirty="0">
              <a:latin typeface="Montserrat" panose="02020500000000000000" charset="0"/>
            </a:endParaRPr>
          </a:p>
        </p:txBody>
      </p:sp>
      <p:sp>
        <p:nvSpPr>
          <p:cNvPr id="18" name="文字方塊 17">
            <a:extLst>
              <a:ext uri="{FF2B5EF4-FFF2-40B4-BE49-F238E27FC236}">
                <a16:creationId xmlns:a16="http://schemas.microsoft.com/office/drawing/2014/main" id="{04568F05-EC87-433D-9F61-E9C9F1F667E5}"/>
              </a:ext>
            </a:extLst>
          </p:cNvPr>
          <p:cNvSpPr txBox="1"/>
          <p:nvPr/>
        </p:nvSpPr>
        <p:spPr>
          <a:xfrm>
            <a:off x="8585770" y="4631694"/>
            <a:ext cx="364202" cy="261610"/>
          </a:xfrm>
          <a:prstGeom prst="rect">
            <a:avLst/>
          </a:prstGeom>
          <a:noFill/>
        </p:spPr>
        <p:txBody>
          <a:bodyPr wrap="none" rtlCol="0">
            <a:spAutoFit/>
          </a:bodyPr>
          <a:lstStyle/>
          <a:p>
            <a:r>
              <a:rPr lang="en-US" altLang="zh-TW" sz="1100" dirty="0">
                <a:latin typeface="Montserrat" panose="02020500000000000000" charset="0"/>
              </a:rPr>
              <a:t>60</a:t>
            </a:r>
            <a:endParaRPr lang="zh-TW" altLang="en-US" sz="1100" dirty="0">
              <a:latin typeface="Montserrat" panose="02020500000000000000" charset="0"/>
            </a:endParaRPr>
          </a:p>
        </p:txBody>
      </p:sp>
      <p:pic>
        <p:nvPicPr>
          <p:cNvPr id="14" name="圖片 13">
            <a:extLst>
              <a:ext uri="{FF2B5EF4-FFF2-40B4-BE49-F238E27FC236}">
                <a16:creationId xmlns:a16="http://schemas.microsoft.com/office/drawing/2014/main" id="{55128E81-2566-4A59-88EF-5268B8BE9101}"/>
              </a:ext>
            </a:extLst>
          </p:cNvPr>
          <p:cNvPicPr>
            <a:picLocks noChangeAspect="1"/>
          </p:cNvPicPr>
          <p:nvPr/>
        </p:nvPicPr>
        <p:blipFill>
          <a:blip r:embed="rId5"/>
          <a:stretch>
            <a:fillRect/>
          </a:stretch>
        </p:blipFill>
        <p:spPr>
          <a:xfrm>
            <a:off x="3060656" y="1458296"/>
            <a:ext cx="3022690" cy="2268108"/>
          </a:xfrm>
          <a:prstGeom prst="rect">
            <a:avLst/>
          </a:prstGeom>
        </p:spPr>
      </p:pic>
    </p:spTree>
    <p:extLst>
      <p:ext uri="{BB962C8B-B14F-4D97-AF65-F5344CB8AC3E}">
        <p14:creationId xmlns:p14="http://schemas.microsoft.com/office/powerpoint/2010/main" val="20740134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Combined SHG with EO-PMC</a:t>
            </a:r>
          </a:p>
        </p:txBody>
      </p:sp>
      <p:grpSp>
        <p:nvGrpSpPr>
          <p:cNvPr id="3" name="群組 2">
            <a:extLst>
              <a:ext uri="{FF2B5EF4-FFF2-40B4-BE49-F238E27FC236}">
                <a16:creationId xmlns:a16="http://schemas.microsoft.com/office/drawing/2014/main" id="{56A5B79F-F67B-435D-A5E3-E797DB7FDC97}"/>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61D2F9FF-DE20-4302-9713-7D2DE4D7521C}"/>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8F225B8D-6A01-4A73-8CDF-42C994DB290B}"/>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04047D2-D5D2-4317-89EE-6882F634ECF5}"/>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F2632CFE-4849-47AD-B1A2-BBAAB3AE53E9}"/>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1332DB28-028D-477B-B52E-57FA2823BF32}"/>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C8F29CBD-5BF2-47EF-8FB7-202814609764}"/>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12" name="群組 11">
            <a:extLst>
              <a:ext uri="{FF2B5EF4-FFF2-40B4-BE49-F238E27FC236}">
                <a16:creationId xmlns:a16="http://schemas.microsoft.com/office/drawing/2014/main" id="{15DAB431-EE21-44A5-A1CC-415AD9F78544}"/>
              </a:ext>
            </a:extLst>
          </p:cNvPr>
          <p:cNvGrpSpPr/>
          <p:nvPr/>
        </p:nvGrpSpPr>
        <p:grpSpPr>
          <a:xfrm>
            <a:off x="1240036" y="1184299"/>
            <a:ext cx="3625365" cy="2774901"/>
            <a:chOff x="946635" y="1184299"/>
            <a:chExt cx="3625365" cy="2774901"/>
          </a:xfrm>
        </p:grpSpPr>
        <p:pic>
          <p:nvPicPr>
            <p:cNvPr id="11" name="圖片 10">
              <a:extLst>
                <a:ext uri="{FF2B5EF4-FFF2-40B4-BE49-F238E27FC236}">
                  <a16:creationId xmlns:a16="http://schemas.microsoft.com/office/drawing/2014/main" id="{847095D9-5D72-4612-80A1-2CCF22DEED6A}"/>
                </a:ext>
              </a:extLst>
            </p:cNvPr>
            <p:cNvPicPr/>
            <p:nvPr/>
          </p:nvPicPr>
          <p:blipFill>
            <a:blip r:embed="rId3"/>
            <a:stretch>
              <a:fillRect/>
            </a:stretch>
          </p:blipFill>
          <p:spPr>
            <a:xfrm>
              <a:off x="946635" y="1184299"/>
              <a:ext cx="3625365" cy="2774901"/>
            </a:xfrm>
            <a:prstGeom prst="rect">
              <a:avLst/>
            </a:prstGeom>
          </p:spPr>
        </p:pic>
        <p:sp>
          <p:nvSpPr>
            <p:cNvPr id="13" name="文字方塊 12">
              <a:extLst>
                <a:ext uri="{FF2B5EF4-FFF2-40B4-BE49-F238E27FC236}">
                  <a16:creationId xmlns:a16="http://schemas.microsoft.com/office/drawing/2014/main" id="{73BE3357-07A3-49EB-A877-91B634E7D486}"/>
                </a:ext>
              </a:extLst>
            </p:cNvPr>
            <p:cNvSpPr txBox="1"/>
            <p:nvPr/>
          </p:nvSpPr>
          <p:spPr>
            <a:xfrm>
              <a:off x="3278355" y="1739300"/>
              <a:ext cx="914033" cy="625556"/>
            </a:xfrm>
            <a:prstGeom prst="rect">
              <a:avLst/>
            </a:prstGeom>
            <a:noFill/>
          </p:spPr>
          <p:txBody>
            <a:bodyPr wrap="none" rtlCol="0">
              <a:spAutoFit/>
            </a:bodyPr>
            <a:lstStyle/>
            <a:p>
              <a:pPr>
                <a:lnSpc>
                  <a:spcPct val="150000"/>
                </a:lnSpc>
              </a:pPr>
              <a:r>
                <a:rPr lang="en-US" altLang="zh-TW" sz="800" dirty="0">
                  <a:latin typeface="Montserrat" panose="02020500000000000000" charset="0"/>
                </a:rPr>
                <a:t>T&gt;99% : 1nm</a:t>
              </a:r>
            </a:p>
            <a:p>
              <a:pPr>
                <a:lnSpc>
                  <a:spcPct val="150000"/>
                </a:lnSpc>
              </a:pPr>
              <a:r>
                <a:rPr lang="en-US" altLang="zh-TW" sz="800" dirty="0">
                  <a:latin typeface="Montserrat" panose="02020500000000000000" charset="0"/>
                </a:rPr>
                <a:t>T&gt;90% : 7.5nm</a:t>
              </a:r>
            </a:p>
            <a:p>
              <a:pPr>
                <a:lnSpc>
                  <a:spcPct val="150000"/>
                </a:lnSpc>
              </a:pPr>
              <a:r>
                <a:rPr lang="en-US" altLang="zh-TW" sz="800" dirty="0">
                  <a:latin typeface="Montserrat" panose="02020500000000000000" charset="0"/>
                </a:rPr>
                <a:t>T&gt;50% : 10nm</a:t>
              </a:r>
              <a:endParaRPr lang="zh-TW" altLang="en-US" sz="800" dirty="0">
                <a:latin typeface="Montserrat" panose="02020500000000000000" charset="0"/>
              </a:endParaRPr>
            </a:p>
          </p:txBody>
        </p:sp>
      </p:grpSp>
      <p:sp>
        <p:nvSpPr>
          <p:cNvPr id="2" name="文字方塊 1">
            <a:extLst>
              <a:ext uri="{FF2B5EF4-FFF2-40B4-BE49-F238E27FC236}">
                <a16:creationId xmlns:a16="http://schemas.microsoft.com/office/drawing/2014/main" id="{CDDAE145-CCDD-4BC4-922B-7CE74D35AD54}"/>
              </a:ext>
            </a:extLst>
          </p:cNvPr>
          <p:cNvSpPr txBox="1"/>
          <p:nvPr/>
        </p:nvSpPr>
        <p:spPr>
          <a:xfrm>
            <a:off x="1559606" y="4003702"/>
            <a:ext cx="3121630" cy="758797"/>
          </a:xfrm>
          <a:prstGeom prst="rect">
            <a:avLst/>
          </a:prstGeom>
          <a:noFill/>
        </p:spPr>
        <p:txBody>
          <a:bodyPr wrap="square" rtlCol="0">
            <a:spAutoFit/>
          </a:bodyPr>
          <a:lstStyle/>
          <a:p>
            <a:pPr>
              <a:lnSpc>
                <a:spcPct val="150000"/>
              </a:lnSpc>
            </a:pPr>
            <a:r>
              <a:rPr lang="en-US" altLang="zh-TW" sz="1000" dirty="0">
                <a:latin typeface="Montserrat" panose="02020500000000000000" charset="0"/>
              </a:rPr>
              <a:t>Temperature at </a:t>
            </a:r>
            <a:r>
              <a:rPr lang="en-US" altLang="zh-TW" sz="1000" b="1" dirty="0">
                <a:latin typeface="Montserrat" panose="02020500000000000000" charset="0"/>
              </a:rPr>
              <a:t>95°C</a:t>
            </a:r>
            <a:r>
              <a:rPr lang="en-US" altLang="zh-TW" sz="1000" dirty="0">
                <a:latin typeface="Montserrat" panose="02020500000000000000" charset="0"/>
              </a:rPr>
              <a:t>, applied voltage </a:t>
            </a:r>
            <a:r>
              <a:rPr lang="en-US" altLang="zh-TW" sz="1000" b="1" dirty="0">
                <a:latin typeface="Montserrat" panose="02020500000000000000" charset="0"/>
              </a:rPr>
              <a:t>60V</a:t>
            </a:r>
            <a:r>
              <a:rPr lang="en-US" altLang="zh-TW" sz="1000" dirty="0">
                <a:latin typeface="Montserrat" panose="02020500000000000000" charset="0"/>
              </a:rPr>
              <a:t>, spectra of SHG and EO-PMC overlapping wavelength at </a:t>
            </a:r>
            <a:r>
              <a:rPr lang="en-US" altLang="zh-TW" sz="1000" b="1" dirty="0">
                <a:latin typeface="Montserrat" panose="02020500000000000000" charset="0"/>
              </a:rPr>
              <a:t>1571.2nm</a:t>
            </a:r>
            <a:endParaRPr lang="zh-TW" altLang="en-US" sz="1000" b="1" dirty="0">
              <a:latin typeface="Montserrat" panose="02020500000000000000" charset="0"/>
            </a:endParaRPr>
          </a:p>
        </p:txBody>
      </p:sp>
      <p:sp>
        <p:nvSpPr>
          <p:cNvPr id="14" name="文字方塊 13">
            <a:extLst>
              <a:ext uri="{FF2B5EF4-FFF2-40B4-BE49-F238E27FC236}">
                <a16:creationId xmlns:a16="http://schemas.microsoft.com/office/drawing/2014/main" id="{78505B42-2682-4FF3-8908-A12A87C9F528}"/>
              </a:ext>
            </a:extLst>
          </p:cNvPr>
          <p:cNvSpPr txBox="1"/>
          <p:nvPr/>
        </p:nvSpPr>
        <p:spPr>
          <a:xfrm>
            <a:off x="8585770" y="4631694"/>
            <a:ext cx="322524" cy="261610"/>
          </a:xfrm>
          <a:prstGeom prst="rect">
            <a:avLst/>
          </a:prstGeom>
          <a:noFill/>
        </p:spPr>
        <p:txBody>
          <a:bodyPr wrap="none" rtlCol="0">
            <a:spAutoFit/>
          </a:bodyPr>
          <a:lstStyle/>
          <a:p>
            <a:r>
              <a:rPr lang="en-US" altLang="zh-TW" sz="1100" dirty="0">
                <a:latin typeface="Montserrat" panose="02020500000000000000" charset="0"/>
              </a:rPr>
              <a:t>61</a:t>
            </a:r>
            <a:endParaRPr lang="zh-TW" altLang="en-US" sz="1100" dirty="0">
              <a:latin typeface="Montserrat" panose="02020500000000000000" charset="0"/>
            </a:endParaRPr>
          </a:p>
        </p:txBody>
      </p:sp>
      <p:graphicFrame>
        <p:nvGraphicFramePr>
          <p:cNvPr id="15" name="表格 14">
            <a:extLst>
              <a:ext uri="{FF2B5EF4-FFF2-40B4-BE49-F238E27FC236}">
                <a16:creationId xmlns:a16="http://schemas.microsoft.com/office/drawing/2014/main" id="{A26FB38D-6F11-4968-BB85-D1954F6D434E}"/>
              </a:ext>
            </a:extLst>
          </p:cNvPr>
          <p:cNvGraphicFramePr>
            <a:graphicFrameLocks noGrp="1"/>
          </p:cNvGraphicFramePr>
          <p:nvPr>
            <p:extLst>
              <p:ext uri="{D42A27DB-BD31-4B8C-83A1-F6EECF244321}">
                <p14:modId xmlns:p14="http://schemas.microsoft.com/office/powerpoint/2010/main" val="1756208064"/>
              </p:ext>
            </p:extLst>
          </p:nvPr>
        </p:nvGraphicFramePr>
        <p:xfrm>
          <a:off x="5686248" y="2225185"/>
          <a:ext cx="1962387" cy="709365"/>
        </p:xfrm>
        <a:graphic>
          <a:graphicData uri="http://schemas.openxmlformats.org/drawingml/2006/table">
            <a:tbl>
              <a:tblPr firstRow="1" firstCol="1" bandRow="1">
                <a:tableStyleId>{98252408-292B-446D-B347-1ABCC8AC41D4}</a:tableStyleId>
              </a:tblPr>
              <a:tblGrid>
                <a:gridCol w="726244">
                  <a:extLst>
                    <a:ext uri="{9D8B030D-6E8A-4147-A177-3AD203B41FA5}">
                      <a16:colId xmlns:a16="http://schemas.microsoft.com/office/drawing/2014/main" val="2488836331"/>
                    </a:ext>
                  </a:extLst>
                </a:gridCol>
                <a:gridCol w="1236143">
                  <a:extLst>
                    <a:ext uri="{9D8B030D-6E8A-4147-A177-3AD203B41FA5}">
                      <a16:colId xmlns:a16="http://schemas.microsoft.com/office/drawing/2014/main" val="1720333333"/>
                    </a:ext>
                  </a:extLst>
                </a:gridCol>
              </a:tblGrid>
              <a:tr h="236455">
                <a:tc>
                  <a:txBody>
                    <a:bodyPr/>
                    <a:lstStyle/>
                    <a:p>
                      <a:pPr algn="ctr">
                        <a:lnSpc>
                          <a:spcPct val="150000"/>
                        </a:lnSpc>
                        <a:spcAft>
                          <a:spcPts val="0"/>
                        </a:spcAft>
                      </a:pPr>
                      <a:r>
                        <a:rPr lang="en-US" sz="900" kern="100" dirty="0">
                          <a:effectLst/>
                          <a:latin typeface="Montserrat" panose="02020500000000000000" charset="0"/>
                        </a:rPr>
                        <a:t> </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b="1" kern="100" dirty="0">
                          <a:effectLst/>
                          <a:latin typeface="Montserrat" panose="02020500000000000000" charset="0"/>
                          <a:ea typeface="Times New Roman" panose="02020603050405020304" pitchFamily="18" charset="0"/>
                          <a:cs typeface="Times New Roman" panose="02020603050405020304" pitchFamily="18" charset="0"/>
                        </a:rPr>
                        <a:t>Temperature (°C)</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9055456"/>
                  </a:ext>
                </a:extLst>
              </a:tr>
              <a:tr h="236455">
                <a:tc>
                  <a:txBody>
                    <a:bodyPr/>
                    <a:lstStyle/>
                    <a:p>
                      <a:pPr algn="ctr">
                        <a:lnSpc>
                          <a:spcPct val="150000"/>
                        </a:lnSpc>
                        <a:spcAft>
                          <a:spcPts val="0"/>
                        </a:spcAft>
                      </a:pPr>
                      <a:r>
                        <a:rPr lang="en-US" altLang="zh-TW" sz="900" b="1" kern="100" dirty="0">
                          <a:effectLst/>
                          <a:latin typeface="Montserrat" panose="02020500000000000000" charset="0"/>
                        </a:rPr>
                        <a:t>SHG</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900" kern="100" dirty="0">
                          <a:effectLst/>
                          <a:latin typeface="Montserrat" panose="02020500000000000000" charset="0"/>
                        </a:rPr>
                        <a:t>104</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5024638"/>
                  </a:ext>
                </a:extLst>
              </a:tr>
              <a:tr h="236455">
                <a:tc>
                  <a:txBody>
                    <a:bodyPr/>
                    <a:lstStyle/>
                    <a:p>
                      <a:pPr algn="ctr">
                        <a:lnSpc>
                          <a:spcPct val="150000"/>
                        </a:lnSpc>
                        <a:spcAft>
                          <a:spcPts val="0"/>
                        </a:spcAft>
                      </a:pPr>
                      <a:r>
                        <a:rPr lang="en-US" altLang="zh-TW" sz="900" b="1" kern="100" dirty="0">
                          <a:effectLst/>
                          <a:latin typeface="Montserrat" panose="02020500000000000000" charset="0"/>
                        </a:rPr>
                        <a:t>EO-PMC</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900" kern="100" dirty="0">
                          <a:effectLst/>
                          <a:latin typeface="Montserrat" panose="02020500000000000000" charset="0"/>
                        </a:rPr>
                        <a:t>92</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7157521"/>
                  </a:ext>
                </a:extLst>
              </a:tr>
            </a:tbl>
          </a:graphicData>
        </a:graphic>
      </p:graphicFrame>
      <p:sp>
        <p:nvSpPr>
          <p:cNvPr id="16" name="矩形 15">
            <a:extLst>
              <a:ext uri="{FF2B5EF4-FFF2-40B4-BE49-F238E27FC236}">
                <a16:creationId xmlns:a16="http://schemas.microsoft.com/office/drawing/2014/main" id="{A98A5A1D-5439-47D3-80D4-A8D3DD9FA0B1}"/>
              </a:ext>
            </a:extLst>
          </p:cNvPr>
          <p:cNvSpPr/>
          <p:nvPr/>
        </p:nvSpPr>
        <p:spPr>
          <a:xfrm>
            <a:off x="5648844" y="1611338"/>
            <a:ext cx="2200297" cy="527965"/>
          </a:xfrm>
          <a:prstGeom prst="rect">
            <a:avLst/>
          </a:prstGeom>
        </p:spPr>
        <p:txBody>
          <a:bodyPr wrap="square">
            <a:spAutoFit/>
          </a:bodyPr>
          <a:lstStyle/>
          <a:p>
            <a:pPr>
              <a:lnSpc>
                <a:spcPct val="150000"/>
              </a:lnSpc>
            </a:pPr>
            <a:r>
              <a:rPr lang="en-US" altLang="zh-TW" sz="1000" dirty="0">
                <a:latin typeface="Montserrat" panose="02020500000000000000" charset="0"/>
              </a:rPr>
              <a:t>When the center wavelength of SHG and EO-PMC is 1570nm:</a:t>
            </a:r>
          </a:p>
        </p:txBody>
      </p:sp>
      <p:grpSp>
        <p:nvGrpSpPr>
          <p:cNvPr id="19" name="群組 18">
            <a:extLst>
              <a:ext uri="{FF2B5EF4-FFF2-40B4-BE49-F238E27FC236}">
                <a16:creationId xmlns:a16="http://schemas.microsoft.com/office/drawing/2014/main" id="{24A4260C-0534-414B-AFED-5926BD4B1F91}"/>
              </a:ext>
            </a:extLst>
          </p:cNvPr>
          <p:cNvGrpSpPr/>
          <p:nvPr/>
        </p:nvGrpSpPr>
        <p:grpSpPr>
          <a:xfrm>
            <a:off x="5686248" y="3200403"/>
            <a:ext cx="2644193" cy="758797"/>
            <a:chOff x="5941577" y="3641143"/>
            <a:chExt cx="2644193" cy="758797"/>
          </a:xfrm>
        </p:grpSpPr>
        <p:sp>
          <p:nvSpPr>
            <p:cNvPr id="17" name="箭號: 向下 16">
              <a:extLst>
                <a:ext uri="{FF2B5EF4-FFF2-40B4-BE49-F238E27FC236}">
                  <a16:creationId xmlns:a16="http://schemas.microsoft.com/office/drawing/2014/main" id="{6227FB94-1196-418F-9A22-CC60A9FD50D7}"/>
                </a:ext>
              </a:extLst>
            </p:cNvPr>
            <p:cNvSpPr/>
            <p:nvPr/>
          </p:nvSpPr>
          <p:spPr>
            <a:xfrm rot="16200000">
              <a:off x="6034394" y="3646857"/>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矩形 17">
              <a:extLst>
                <a:ext uri="{FF2B5EF4-FFF2-40B4-BE49-F238E27FC236}">
                  <a16:creationId xmlns:a16="http://schemas.microsoft.com/office/drawing/2014/main" id="{53EC183E-BD62-4357-AC81-F025EBE15FE8}"/>
                </a:ext>
              </a:extLst>
            </p:cNvPr>
            <p:cNvSpPr/>
            <p:nvPr/>
          </p:nvSpPr>
          <p:spPr>
            <a:xfrm>
              <a:off x="6385473" y="3641143"/>
              <a:ext cx="2200297" cy="758797"/>
            </a:xfrm>
            <a:prstGeom prst="rect">
              <a:avLst/>
            </a:prstGeom>
          </p:spPr>
          <p:txBody>
            <a:bodyPr wrap="square">
              <a:spAutoFit/>
            </a:bodyPr>
            <a:lstStyle/>
            <a:p>
              <a:pPr>
                <a:lnSpc>
                  <a:spcPct val="150000"/>
                </a:lnSpc>
              </a:pPr>
              <a:r>
                <a:rPr lang="en-US" altLang="zh-TW" sz="1000" dirty="0">
                  <a:latin typeface="Montserrat" panose="02020500000000000000" charset="0"/>
                </a:rPr>
                <a:t>SHG and EO-PMC </a:t>
              </a:r>
              <a:r>
                <a:rPr lang="en-US" altLang="zh-TW" sz="1000" b="1" dirty="0">
                  <a:solidFill>
                    <a:schemeClr val="tx2"/>
                  </a:solidFill>
                  <a:latin typeface="Montserrat" panose="02020500000000000000" charset="0"/>
                </a:rPr>
                <a:t>can’t </a:t>
              </a:r>
              <a:r>
                <a:rPr lang="en-US" altLang="zh-TW" sz="1000" dirty="0">
                  <a:latin typeface="Montserrat" panose="02020500000000000000" charset="0"/>
                </a:rPr>
                <a:t>overlapping at same temperature and wavelength</a:t>
              </a:r>
            </a:p>
          </p:txBody>
        </p:sp>
      </p:grpSp>
    </p:spTree>
    <p:extLst>
      <p:ext uri="{BB962C8B-B14F-4D97-AF65-F5344CB8AC3E}">
        <p14:creationId xmlns:p14="http://schemas.microsoft.com/office/powerpoint/2010/main" val="40245323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1957871" y="1713535"/>
            <a:ext cx="5228258"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Results and discussions</a:t>
            </a:r>
          </a:p>
        </p:txBody>
      </p:sp>
      <p:pic>
        <p:nvPicPr>
          <p:cNvPr id="2" name="圖片 1">
            <a:extLst>
              <a:ext uri="{FF2B5EF4-FFF2-40B4-BE49-F238E27FC236}">
                <a16:creationId xmlns:a16="http://schemas.microsoft.com/office/drawing/2014/main" id="{5081938B-B467-45EE-90F0-D20E9441C502}"/>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0" y="4481112"/>
            <a:ext cx="9144000" cy="662388"/>
          </a:xfrm>
          <a:prstGeom prst="rect">
            <a:avLst/>
          </a:prstGeom>
        </p:spPr>
      </p:pic>
      <p:grpSp>
        <p:nvGrpSpPr>
          <p:cNvPr id="12" name="Google Shape;2047;p67">
            <a:extLst>
              <a:ext uri="{FF2B5EF4-FFF2-40B4-BE49-F238E27FC236}">
                <a16:creationId xmlns:a16="http://schemas.microsoft.com/office/drawing/2014/main" id="{A737ED4D-80B4-4DFB-80B9-728A667074E0}"/>
              </a:ext>
            </a:extLst>
          </p:cNvPr>
          <p:cNvGrpSpPr/>
          <p:nvPr/>
        </p:nvGrpSpPr>
        <p:grpSpPr>
          <a:xfrm>
            <a:off x="7301497" y="3676650"/>
            <a:ext cx="1225283" cy="1333250"/>
            <a:chOff x="1473725" y="402400"/>
            <a:chExt cx="4629150" cy="4842650"/>
          </a:xfrm>
        </p:grpSpPr>
        <p:sp>
          <p:nvSpPr>
            <p:cNvPr id="13" name="Google Shape;2048;p67">
              <a:extLst>
                <a:ext uri="{FF2B5EF4-FFF2-40B4-BE49-F238E27FC236}">
                  <a16:creationId xmlns:a16="http://schemas.microsoft.com/office/drawing/2014/main" id="{A77CE4C8-40FA-485C-A7F4-3629E23F19B3}"/>
                </a:ext>
              </a:extLst>
            </p:cNvPr>
            <p:cNvSpPr/>
            <p:nvPr/>
          </p:nvSpPr>
          <p:spPr>
            <a:xfrm>
              <a:off x="3691150" y="4289350"/>
              <a:ext cx="79250" cy="154300"/>
            </a:xfrm>
            <a:custGeom>
              <a:avLst/>
              <a:gdLst/>
              <a:ahLst/>
              <a:cxnLst/>
              <a:rect l="l" t="t" r="r" b="b"/>
              <a:pathLst>
                <a:path w="3170" h="6172" extrusionOk="0">
                  <a:moveTo>
                    <a:pt x="33" y="0"/>
                  </a:moveTo>
                  <a:lnTo>
                    <a:pt x="0" y="6171"/>
                  </a:lnTo>
                  <a:lnTo>
                    <a:pt x="3169" y="6171"/>
                  </a:lnTo>
                  <a:lnTo>
                    <a:pt x="3136" y="100"/>
                  </a:lnTo>
                  <a:cubicBezTo>
                    <a:pt x="2135" y="67"/>
                    <a:pt x="1068" y="34"/>
                    <a:pt x="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49;p67">
              <a:extLst>
                <a:ext uri="{FF2B5EF4-FFF2-40B4-BE49-F238E27FC236}">
                  <a16:creationId xmlns:a16="http://schemas.microsoft.com/office/drawing/2014/main" id="{F582A7AB-EC04-40A2-A0CD-1617B4BC9086}"/>
                </a:ext>
              </a:extLst>
            </p:cNvPr>
            <p:cNvSpPr/>
            <p:nvPr/>
          </p:nvSpPr>
          <p:spPr>
            <a:xfrm>
              <a:off x="3696975" y="697600"/>
              <a:ext cx="68400" cy="2770350"/>
            </a:xfrm>
            <a:custGeom>
              <a:avLst/>
              <a:gdLst/>
              <a:ahLst/>
              <a:cxnLst/>
              <a:rect l="l" t="t" r="r" b="b"/>
              <a:pathLst>
                <a:path w="2736" h="110814" extrusionOk="0">
                  <a:moveTo>
                    <a:pt x="2102" y="1"/>
                  </a:moveTo>
                  <a:cubicBezTo>
                    <a:pt x="1602" y="1769"/>
                    <a:pt x="1101" y="3637"/>
                    <a:pt x="568" y="5672"/>
                  </a:cubicBezTo>
                  <a:lnTo>
                    <a:pt x="1" y="104009"/>
                  </a:lnTo>
                  <a:cubicBezTo>
                    <a:pt x="835" y="106310"/>
                    <a:pt x="1735" y="108545"/>
                    <a:pt x="2736" y="110813"/>
                  </a:cubicBezTo>
                  <a:lnTo>
                    <a:pt x="2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50;p67">
              <a:extLst>
                <a:ext uri="{FF2B5EF4-FFF2-40B4-BE49-F238E27FC236}">
                  <a16:creationId xmlns:a16="http://schemas.microsoft.com/office/drawing/2014/main" id="{3BFB68A4-31CA-4D34-919E-4F7C2F401C64}"/>
                </a:ext>
              </a:extLst>
            </p:cNvPr>
            <p:cNvSpPr/>
            <p:nvPr/>
          </p:nvSpPr>
          <p:spPr>
            <a:xfrm>
              <a:off x="2485275" y="4577875"/>
              <a:ext cx="1355175" cy="155975"/>
            </a:xfrm>
            <a:custGeom>
              <a:avLst/>
              <a:gdLst/>
              <a:ahLst/>
              <a:cxnLst/>
              <a:rect l="l" t="t" r="r" b="b"/>
              <a:pathLst>
                <a:path w="54207" h="6239" extrusionOk="0">
                  <a:moveTo>
                    <a:pt x="13944" y="1"/>
                  </a:moveTo>
                  <a:cubicBezTo>
                    <a:pt x="6005" y="2469"/>
                    <a:pt x="1" y="6172"/>
                    <a:pt x="1" y="6172"/>
                  </a:cubicBezTo>
                  <a:cubicBezTo>
                    <a:pt x="268" y="6205"/>
                    <a:pt x="568" y="6205"/>
                    <a:pt x="868" y="6239"/>
                  </a:cubicBezTo>
                  <a:lnTo>
                    <a:pt x="868" y="6072"/>
                  </a:lnTo>
                  <a:lnTo>
                    <a:pt x="51404" y="6072"/>
                  </a:lnTo>
                  <a:lnTo>
                    <a:pt x="54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51;p67">
              <a:extLst>
                <a:ext uri="{FF2B5EF4-FFF2-40B4-BE49-F238E27FC236}">
                  <a16:creationId xmlns:a16="http://schemas.microsoft.com/office/drawing/2014/main" id="{EE278A19-5780-4E4A-88C7-6EC07F1794AA}"/>
                </a:ext>
              </a:extLst>
            </p:cNvPr>
            <p:cNvSpPr/>
            <p:nvPr/>
          </p:nvSpPr>
          <p:spPr>
            <a:xfrm>
              <a:off x="5184700" y="4627925"/>
              <a:ext cx="918175" cy="217675"/>
            </a:xfrm>
            <a:custGeom>
              <a:avLst/>
              <a:gdLst/>
              <a:ahLst/>
              <a:cxnLst/>
              <a:rect l="l" t="t" r="r" b="b"/>
              <a:pathLst>
                <a:path w="36727" h="8707" extrusionOk="0">
                  <a:moveTo>
                    <a:pt x="3303" y="0"/>
                  </a:moveTo>
                  <a:cubicBezTo>
                    <a:pt x="2970" y="0"/>
                    <a:pt x="2636" y="201"/>
                    <a:pt x="2536" y="534"/>
                  </a:cubicBezTo>
                  <a:lnTo>
                    <a:pt x="1" y="8340"/>
                  </a:lnTo>
                  <a:lnTo>
                    <a:pt x="1102" y="8707"/>
                  </a:lnTo>
                  <a:lnTo>
                    <a:pt x="3370" y="1702"/>
                  </a:lnTo>
                  <a:cubicBezTo>
                    <a:pt x="3503" y="1368"/>
                    <a:pt x="3803" y="1168"/>
                    <a:pt x="4137" y="1168"/>
                  </a:cubicBezTo>
                  <a:lnTo>
                    <a:pt x="10942" y="1168"/>
                  </a:lnTo>
                  <a:cubicBezTo>
                    <a:pt x="11476" y="1168"/>
                    <a:pt x="11843" y="1702"/>
                    <a:pt x="11676" y="2202"/>
                  </a:cubicBezTo>
                  <a:lnTo>
                    <a:pt x="9674" y="8340"/>
                  </a:lnTo>
                  <a:lnTo>
                    <a:pt x="10775" y="8707"/>
                  </a:lnTo>
                  <a:lnTo>
                    <a:pt x="13043" y="1702"/>
                  </a:lnTo>
                  <a:cubicBezTo>
                    <a:pt x="13177" y="1368"/>
                    <a:pt x="13477" y="1168"/>
                    <a:pt x="13811" y="1168"/>
                  </a:cubicBezTo>
                  <a:lnTo>
                    <a:pt x="21950" y="1168"/>
                  </a:lnTo>
                  <a:cubicBezTo>
                    <a:pt x="22483" y="1168"/>
                    <a:pt x="22850" y="1702"/>
                    <a:pt x="22684" y="2202"/>
                  </a:cubicBezTo>
                  <a:lnTo>
                    <a:pt x="20682" y="8340"/>
                  </a:lnTo>
                  <a:lnTo>
                    <a:pt x="21783" y="8707"/>
                  </a:lnTo>
                  <a:lnTo>
                    <a:pt x="24051" y="1702"/>
                  </a:lnTo>
                  <a:cubicBezTo>
                    <a:pt x="24185" y="1368"/>
                    <a:pt x="24485" y="1168"/>
                    <a:pt x="24818" y="1168"/>
                  </a:cubicBezTo>
                  <a:lnTo>
                    <a:pt x="33491" y="1168"/>
                  </a:lnTo>
                  <a:cubicBezTo>
                    <a:pt x="33892" y="1168"/>
                    <a:pt x="34292" y="1501"/>
                    <a:pt x="34292" y="1935"/>
                  </a:cubicBezTo>
                  <a:lnTo>
                    <a:pt x="34459" y="8540"/>
                  </a:lnTo>
                  <a:lnTo>
                    <a:pt x="35626" y="8506"/>
                  </a:lnTo>
                  <a:lnTo>
                    <a:pt x="35393" y="1168"/>
                  </a:lnTo>
                  <a:lnTo>
                    <a:pt x="36727" y="1168"/>
                  </a:lnTo>
                  <a:lnTo>
                    <a:pt x="367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2;p67">
              <a:extLst>
                <a:ext uri="{FF2B5EF4-FFF2-40B4-BE49-F238E27FC236}">
                  <a16:creationId xmlns:a16="http://schemas.microsoft.com/office/drawing/2014/main" id="{04B793D6-664D-4E89-AE94-D098ACE4E2B1}"/>
                </a:ext>
              </a:extLst>
            </p:cNvPr>
            <p:cNvSpPr/>
            <p:nvPr/>
          </p:nvSpPr>
          <p:spPr>
            <a:xfrm>
              <a:off x="1473725" y="4451950"/>
              <a:ext cx="967375" cy="276075"/>
            </a:xfrm>
            <a:custGeom>
              <a:avLst/>
              <a:gdLst/>
              <a:ahLst/>
              <a:cxnLst/>
              <a:rect l="l" t="t" r="r" b="b"/>
              <a:pathLst>
                <a:path w="38695" h="11043" extrusionOk="0">
                  <a:moveTo>
                    <a:pt x="0" y="1"/>
                  </a:moveTo>
                  <a:lnTo>
                    <a:pt x="634" y="902"/>
                  </a:lnTo>
                  <a:cubicBezTo>
                    <a:pt x="668" y="935"/>
                    <a:pt x="3169" y="4571"/>
                    <a:pt x="6505" y="9041"/>
                  </a:cubicBezTo>
                  <a:lnTo>
                    <a:pt x="7472" y="8340"/>
                  </a:lnTo>
                  <a:cubicBezTo>
                    <a:pt x="5371" y="5538"/>
                    <a:pt x="3570" y="3070"/>
                    <a:pt x="2569" y="1602"/>
                  </a:cubicBezTo>
                  <a:cubicBezTo>
                    <a:pt x="2469" y="1435"/>
                    <a:pt x="2569" y="1202"/>
                    <a:pt x="2802" y="1202"/>
                  </a:cubicBezTo>
                  <a:cubicBezTo>
                    <a:pt x="5871" y="1235"/>
                    <a:pt x="9174" y="1402"/>
                    <a:pt x="13010" y="1736"/>
                  </a:cubicBezTo>
                  <a:cubicBezTo>
                    <a:pt x="13076" y="1736"/>
                    <a:pt x="13177" y="1769"/>
                    <a:pt x="13210" y="1869"/>
                  </a:cubicBezTo>
                  <a:cubicBezTo>
                    <a:pt x="13810" y="2670"/>
                    <a:pt x="16012" y="5872"/>
                    <a:pt x="18847" y="9608"/>
                  </a:cubicBezTo>
                  <a:lnTo>
                    <a:pt x="19314" y="9241"/>
                  </a:lnTo>
                  <a:lnTo>
                    <a:pt x="18914" y="9741"/>
                  </a:lnTo>
                  <a:lnTo>
                    <a:pt x="19381" y="9408"/>
                  </a:lnTo>
                  <a:lnTo>
                    <a:pt x="19748" y="8907"/>
                  </a:lnTo>
                  <a:cubicBezTo>
                    <a:pt x="17713" y="6205"/>
                    <a:pt x="16012" y="3770"/>
                    <a:pt x="14978" y="2369"/>
                  </a:cubicBezTo>
                  <a:cubicBezTo>
                    <a:pt x="14851" y="2211"/>
                    <a:pt x="14965" y="1933"/>
                    <a:pt x="15176" y="1933"/>
                  </a:cubicBezTo>
                  <a:cubicBezTo>
                    <a:pt x="15187" y="1933"/>
                    <a:pt x="15199" y="1934"/>
                    <a:pt x="15211" y="1936"/>
                  </a:cubicBezTo>
                  <a:cubicBezTo>
                    <a:pt x="18647" y="2269"/>
                    <a:pt x="22216" y="2670"/>
                    <a:pt x="26653" y="3170"/>
                  </a:cubicBezTo>
                  <a:cubicBezTo>
                    <a:pt x="26720" y="3170"/>
                    <a:pt x="26820" y="3203"/>
                    <a:pt x="26853" y="3270"/>
                  </a:cubicBezTo>
                  <a:cubicBezTo>
                    <a:pt x="28721" y="5939"/>
                    <a:pt x="30589" y="8574"/>
                    <a:pt x="32490" y="11042"/>
                  </a:cubicBezTo>
                  <a:lnTo>
                    <a:pt x="33424" y="10342"/>
                  </a:lnTo>
                  <a:cubicBezTo>
                    <a:pt x="31857" y="8240"/>
                    <a:pt x="30255" y="6072"/>
                    <a:pt x="28721" y="3837"/>
                  </a:cubicBezTo>
                  <a:cubicBezTo>
                    <a:pt x="28596" y="3619"/>
                    <a:pt x="28705" y="3400"/>
                    <a:pt x="28938" y="3400"/>
                  </a:cubicBezTo>
                  <a:cubicBezTo>
                    <a:pt x="28954" y="3400"/>
                    <a:pt x="28971" y="3401"/>
                    <a:pt x="28988" y="3403"/>
                  </a:cubicBezTo>
                  <a:cubicBezTo>
                    <a:pt x="31990" y="3737"/>
                    <a:pt x="35159" y="4071"/>
                    <a:pt x="38528" y="4404"/>
                  </a:cubicBezTo>
                  <a:lnTo>
                    <a:pt x="38695" y="3203"/>
                  </a:lnTo>
                  <a:cubicBezTo>
                    <a:pt x="34625" y="2770"/>
                    <a:pt x="30822" y="2369"/>
                    <a:pt x="27220" y="2002"/>
                  </a:cubicBezTo>
                  <a:cubicBezTo>
                    <a:pt x="21849" y="1369"/>
                    <a:pt x="17713" y="902"/>
                    <a:pt x="13644" y="568"/>
                  </a:cubicBezTo>
                  <a:cubicBezTo>
                    <a:pt x="8840" y="168"/>
                    <a:pt x="4837" y="1"/>
                    <a:pt x="1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53;p67">
              <a:extLst>
                <a:ext uri="{FF2B5EF4-FFF2-40B4-BE49-F238E27FC236}">
                  <a16:creationId xmlns:a16="http://schemas.microsoft.com/office/drawing/2014/main" id="{5B07ADCE-C351-4B23-96A1-8714CDA64364}"/>
                </a:ext>
              </a:extLst>
            </p:cNvPr>
            <p:cNvSpPr/>
            <p:nvPr/>
          </p:nvSpPr>
          <p:spPr>
            <a:xfrm>
              <a:off x="1623000" y="4660450"/>
              <a:ext cx="4463200" cy="500375"/>
            </a:xfrm>
            <a:custGeom>
              <a:avLst/>
              <a:gdLst/>
              <a:ahLst/>
              <a:cxnLst/>
              <a:rect l="l" t="t" r="r" b="b"/>
              <a:pathLst>
                <a:path w="178528" h="20015" extrusionOk="0">
                  <a:moveTo>
                    <a:pt x="0" y="0"/>
                  </a:moveTo>
                  <a:cubicBezTo>
                    <a:pt x="0" y="0"/>
                    <a:pt x="3069" y="4504"/>
                    <a:pt x="7039" y="9607"/>
                  </a:cubicBezTo>
                  <a:cubicBezTo>
                    <a:pt x="7839" y="10241"/>
                    <a:pt x="21349" y="20015"/>
                    <a:pt x="92767" y="20015"/>
                  </a:cubicBezTo>
                  <a:lnTo>
                    <a:pt x="169922" y="20015"/>
                  </a:lnTo>
                  <a:cubicBezTo>
                    <a:pt x="171289" y="19247"/>
                    <a:pt x="172490" y="18447"/>
                    <a:pt x="173291" y="17613"/>
                  </a:cubicBezTo>
                  <a:cubicBezTo>
                    <a:pt x="176260" y="14544"/>
                    <a:pt x="178528" y="6839"/>
                    <a:pt x="178528" y="6839"/>
                  </a:cubicBezTo>
                  <a:cubicBezTo>
                    <a:pt x="178528" y="6839"/>
                    <a:pt x="176230" y="6809"/>
                    <a:pt x="172148" y="6809"/>
                  </a:cubicBezTo>
                  <a:cubicBezTo>
                    <a:pt x="170107" y="6809"/>
                    <a:pt x="167620" y="6816"/>
                    <a:pt x="164751" y="6839"/>
                  </a:cubicBezTo>
                  <a:lnTo>
                    <a:pt x="153743" y="6839"/>
                  </a:lnTo>
                  <a:cubicBezTo>
                    <a:pt x="150675" y="6839"/>
                    <a:pt x="147439" y="6839"/>
                    <a:pt x="144003" y="6772"/>
                  </a:cubicBezTo>
                  <a:cubicBezTo>
                    <a:pt x="141835" y="6772"/>
                    <a:pt x="139633" y="6738"/>
                    <a:pt x="137332" y="6738"/>
                  </a:cubicBezTo>
                  <a:cubicBezTo>
                    <a:pt x="116417" y="6572"/>
                    <a:pt x="90532" y="6205"/>
                    <a:pt x="67015" y="5271"/>
                  </a:cubicBezTo>
                  <a:cubicBezTo>
                    <a:pt x="54406" y="4770"/>
                    <a:pt x="44165" y="3903"/>
                    <a:pt x="35326" y="3002"/>
                  </a:cubicBezTo>
                  <a:cubicBezTo>
                    <a:pt x="35025" y="2936"/>
                    <a:pt x="34725" y="2936"/>
                    <a:pt x="34425" y="2902"/>
                  </a:cubicBezTo>
                  <a:cubicBezTo>
                    <a:pt x="31490" y="2569"/>
                    <a:pt x="28688" y="2269"/>
                    <a:pt x="26019" y="2002"/>
                  </a:cubicBezTo>
                  <a:cubicBezTo>
                    <a:pt x="21082" y="1435"/>
                    <a:pt x="16646" y="934"/>
                    <a:pt x="12343" y="567"/>
                  </a:cubicBezTo>
                  <a:cubicBezTo>
                    <a:pt x="8073" y="200"/>
                    <a:pt x="403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54;p67">
              <a:extLst>
                <a:ext uri="{FF2B5EF4-FFF2-40B4-BE49-F238E27FC236}">
                  <a16:creationId xmlns:a16="http://schemas.microsoft.com/office/drawing/2014/main" id="{194E3012-E3D0-43B8-95D3-380E6C8E1F96}"/>
                </a:ext>
              </a:extLst>
            </p:cNvPr>
            <p:cNvSpPr/>
            <p:nvPr/>
          </p:nvSpPr>
          <p:spPr>
            <a:xfrm>
              <a:off x="3129900" y="4444450"/>
              <a:ext cx="2074000" cy="80100"/>
            </a:xfrm>
            <a:custGeom>
              <a:avLst/>
              <a:gdLst/>
              <a:ahLst/>
              <a:cxnLst/>
              <a:rect l="l" t="t" r="r" b="b"/>
              <a:pathLst>
                <a:path w="82960" h="3204" extrusionOk="0">
                  <a:moveTo>
                    <a:pt x="3170" y="1"/>
                  </a:moveTo>
                  <a:cubicBezTo>
                    <a:pt x="1435" y="1"/>
                    <a:pt x="1" y="1402"/>
                    <a:pt x="1" y="3170"/>
                  </a:cubicBezTo>
                  <a:lnTo>
                    <a:pt x="1" y="3203"/>
                  </a:lnTo>
                  <a:lnTo>
                    <a:pt x="81359" y="3203"/>
                  </a:lnTo>
                  <a:cubicBezTo>
                    <a:pt x="82226" y="3203"/>
                    <a:pt x="82960" y="2503"/>
                    <a:pt x="82960" y="1569"/>
                  </a:cubicBezTo>
                  <a:cubicBezTo>
                    <a:pt x="82960" y="701"/>
                    <a:pt x="82226" y="1"/>
                    <a:pt x="81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55;p67">
              <a:extLst>
                <a:ext uri="{FF2B5EF4-FFF2-40B4-BE49-F238E27FC236}">
                  <a16:creationId xmlns:a16="http://schemas.microsoft.com/office/drawing/2014/main" id="{CF94098C-58E7-4B0A-874D-7A15E4B455FD}"/>
                </a:ext>
              </a:extLst>
            </p:cNvPr>
            <p:cNvSpPr/>
            <p:nvPr/>
          </p:nvSpPr>
          <p:spPr>
            <a:xfrm>
              <a:off x="3129075" y="4445300"/>
              <a:ext cx="2074825" cy="78400"/>
            </a:xfrm>
            <a:custGeom>
              <a:avLst/>
              <a:gdLst/>
              <a:ahLst/>
              <a:cxnLst/>
              <a:rect l="l" t="t" r="r" b="b"/>
              <a:pathLst>
                <a:path w="82993" h="3136" extrusionOk="0">
                  <a:moveTo>
                    <a:pt x="81859" y="0"/>
                  </a:moveTo>
                  <a:lnTo>
                    <a:pt x="81859" y="0"/>
                  </a:lnTo>
                  <a:cubicBezTo>
                    <a:pt x="81926" y="200"/>
                    <a:pt x="82026" y="434"/>
                    <a:pt x="82026" y="667"/>
                  </a:cubicBezTo>
                  <a:lnTo>
                    <a:pt x="82026" y="701"/>
                  </a:lnTo>
                  <a:cubicBezTo>
                    <a:pt x="82026" y="1601"/>
                    <a:pt x="81325" y="2302"/>
                    <a:pt x="80424" y="2302"/>
                  </a:cubicBezTo>
                  <a:lnTo>
                    <a:pt x="134" y="2302"/>
                  </a:lnTo>
                  <a:cubicBezTo>
                    <a:pt x="34" y="2535"/>
                    <a:pt x="0" y="2836"/>
                    <a:pt x="0" y="3102"/>
                  </a:cubicBezTo>
                  <a:lnTo>
                    <a:pt x="0" y="3136"/>
                  </a:lnTo>
                  <a:lnTo>
                    <a:pt x="81392" y="3136"/>
                  </a:lnTo>
                  <a:cubicBezTo>
                    <a:pt x="82259" y="3136"/>
                    <a:pt x="82993" y="2435"/>
                    <a:pt x="82993" y="1535"/>
                  </a:cubicBezTo>
                  <a:lnTo>
                    <a:pt x="82993" y="1501"/>
                  </a:lnTo>
                  <a:cubicBezTo>
                    <a:pt x="82993" y="801"/>
                    <a:pt x="82526" y="200"/>
                    <a:pt x="8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56;p67">
              <a:extLst>
                <a:ext uri="{FF2B5EF4-FFF2-40B4-BE49-F238E27FC236}">
                  <a16:creationId xmlns:a16="http://schemas.microsoft.com/office/drawing/2014/main" id="{4FE2A90D-BFB8-43F2-8A3B-0F59845D93B1}"/>
                </a:ext>
              </a:extLst>
            </p:cNvPr>
            <p:cNvSpPr/>
            <p:nvPr/>
          </p:nvSpPr>
          <p:spPr>
            <a:xfrm>
              <a:off x="3855425" y="595875"/>
              <a:ext cx="1367675" cy="3558400"/>
            </a:xfrm>
            <a:custGeom>
              <a:avLst/>
              <a:gdLst/>
              <a:ahLst/>
              <a:cxnLst/>
              <a:rect l="l" t="t" r="r" b="b"/>
              <a:pathLst>
                <a:path w="54707" h="142336" extrusionOk="0">
                  <a:moveTo>
                    <a:pt x="0" y="0"/>
                  </a:moveTo>
                  <a:lnTo>
                    <a:pt x="0" y="122154"/>
                  </a:lnTo>
                  <a:cubicBezTo>
                    <a:pt x="4037" y="129426"/>
                    <a:pt x="9140" y="136231"/>
                    <a:pt x="15578" y="142335"/>
                  </a:cubicBezTo>
                  <a:lnTo>
                    <a:pt x="54706" y="142335"/>
                  </a:lnTo>
                  <a:cubicBezTo>
                    <a:pt x="54706" y="142335"/>
                    <a:pt x="11309" y="85628"/>
                    <a:pt x="0" y="0"/>
                  </a:cubicBezTo>
                  <a:close/>
                </a:path>
              </a:pathLst>
            </a:custGeom>
            <a:solidFill>
              <a:schemeClr val="accent5">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57;p67">
              <a:extLst>
                <a:ext uri="{FF2B5EF4-FFF2-40B4-BE49-F238E27FC236}">
                  <a16:creationId xmlns:a16="http://schemas.microsoft.com/office/drawing/2014/main" id="{54151CD9-5BB3-4BCB-87C0-D86DCE56DE8D}"/>
                </a:ext>
              </a:extLst>
            </p:cNvPr>
            <p:cNvSpPr/>
            <p:nvPr/>
          </p:nvSpPr>
          <p:spPr>
            <a:xfrm>
              <a:off x="2504450" y="4524525"/>
              <a:ext cx="2551025" cy="304400"/>
            </a:xfrm>
            <a:custGeom>
              <a:avLst/>
              <a:gdLst/>
              <a:ahLst/>
              <a:cxnLst/>
              <a:rect l="l" t="t" r="r" b="b"/>
              <a:pathLst>
                <a:path w="102041" h="12176" extrusionOk="0">
                  <a:moveTo>
                    <a:pt x="98505" y="0"/>
                  </a:moveTo>
                  <a:lnTo>
                    <a:pt x="98505" y="33"/>
                  </a:lnTo>
                  <a:lnTo>
                    <a:pt x="25786" y="33"/>
                  </a:lnTo>
                  <a:cubicBezTo>
                    <a:pt x="21416" y="33"/>
                    <a:pt x="16980" y="967"/>
                    <a:pt x="13077" y="2168"/>
                  </a:cubicBezTo>
                  <a:lnTo>
                    <a:pt x="53339" y="2168"/>
                  </a:lnTo>
                  <a:lnTo>
                    <a:pt x="50537" y="8273"/>
                  </a:lnTo>
                  <a:lnTo>
                    <a:pt x="1" y="8273"/>
                  </a:lnTo>
                  <a:lnTo>
                    <a:pt x="1" y="8439"/>
                  </a:lnTo>
                  <a:cubicBezTo>
                    <a:pt x="8841" y="9340"/>
                    <a:pt x="19115" y="10207"/>
                    <a:pt x="31690" y="10708"/>
                  </a:cubicBezTo>
                  <a:cubicBezTo>
                    <a:pt x="55207" y="11642"/>
                    <a:pt x="81125" y="12009"/>
                    <a:pt x="102040" y="12175"/>
                  </a:cubicBezTo>
                  <a:lnTo>
                    <a:pt x="985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58;p67">
              <a:extLst>
                <a:ext uri="{FF2B5EF4-FFF2-40B4-BE49-F238E27FC236}">
                  <a16:creationId xmlns:a16="http://schemas.microsoft.com/office/drawing/2014/main" id="{5BEA788E-3DDA-4D97-ACA0-A98C73111334}"/>
                </a:ext>
              </a:extLst>
            </p:cNvPr>
            <p:cNvSpPr/>
            <p:nvPr/>
          </p:nvSpPr>
          <p:spPr>
            <a:xfrm>
              <a:off x="4874475" y="4523675"/>
              <a:ext cx="181000" cy="304425"/>
            </a:xfrm>
            <a:custGeom>
              <a:avLst/>
              <a:gdLst/>
              <a:ahLst/>
              <a:cxnLst/>
              <a:rect l="l" t="t" r="r" b="b"/>
              <a:pathLst>
                <a:path w="7240" h="12177" extrusionOk="0">
                  <a:moveTo>
                    <a:pt x="1" y="1"/>
                  </a:moveTo>
                  <a:lnTo>
                    <a:pt x="3537" y="12143"/>
                  </a:lnTo>
                  <a:cubicBezTo>
                    <a:pt x="4838" y="12176"/>
                    <a:pt x="6039" y="12176"/>
                    <a:pt x="7239" y="12176"/>
                  </a:cubicBezTo>
                  <a:lnTo>
                    <a:pt x="37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59;p67">
              <a:extLst>
                <a:ext uri="{FF2B5EF4-FFF2-40B4-BE49-F238E27FC236}">
                  <a16:creationId xmlns:a16="http://schemas.microsoft.com/office/drawing/2014/main" id="{55BF8B09-1B10-4F4B-B847-16A0C3199400}"/>
                </a:ext>
              </a:extLst>
            </p:cNvPr>
            <p:cNvSpPr/>
            <p:nvPr/>
          </p:nvSpPr>
          <p:spPr>
            <a:xfrm>
              <a:off x="3144075" y="4524525"/>
              <a:ext cx="1831350" cy="25875"/>
            </a:xfrm>
            <a:custGeom>
              <a:avLst/>
              <a:gdLst/>
              <a:ahLst/>
              <a:cxnLst/>
              <a:rect l="l" t="t" r="r" b="b"/>
              <a:pathLst>
                <a:path w="73254" h="1035" extrusionOk="0">
                  <a:moveTo>
                    <a:pt x="1" y="0"/>
                  </a:moveTo>
                  <a:lnTo>
                    <a:pt x="72953" y="1034"/>
                  </a:lnTo>
                  <a:lnTo>
                    <a:pt x="73253" y="1034"/>
                  </a:lnTo>
                  <a:lnTo>
                    <a:pt x="72920" y="0"/>
                  </a:ln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60;p67">
              <a:extLst>
                <a:ext uri="{FF2B5EF4-FFF2-40B4-BE49-F238E27FC236}">
                  <a16:creationId xmlns:a16="http://schemas.microsoft.com/office/drawing/2014/main" id="{DF162C48-3001-46A6-AE0E-61ED832EA2E0}"/>
                </a:ext>
              </a:extLst>
            </p:cNvPr>
            <p:cNvSpPr/>
            <p:nvPr/>
          </p:nvSpPr>
          <p:spPr>
            <a:xfrm>
              <a:off x="1686375" y="402400"/>
              <a:ext cx="2739475" cy="3907825"/>
            </a:xfrm>
            <a:custGeom>
              <a:avLst/>
              <a:gdLst/>
              <a:ahLst/>
              <a:cxnLst/>
              <a:rect l="l" t="t" r="r" b="b"/>
              <a:pathLst>
                <a:path w="109579" h="156313" extrusionOk="0">
                  <a:moveTo>
                    <a:pt x="86262" y="0"/>
                  </a:moveTo>
                  <a:lnTo>
                    <a:pt x="86262" y="0"/>
                  </a:lnTo>
                  <a:cubicBezTo>
                    <a:pt x="24718" y="52271"/>
                    <a:pt x="1" y="147840"/>
                    <a:pt x="1" y="147840"/>
                  </a:cubicBezTo>
                  <a:cubicBezTo>
                    <a:pt x="21082" y="152376"/>
                    <a:pt x="55540" y="154544"/>
                    <a:pt x="80191" y="155512"/>
                  </a:cubicBezTo>
                  <a:cubicBezTo>
                    <a:pt x="81259" y="155545"/>
                    <a:pt x="82293" y="155578"/>
                    <a:pt x="83293" y="155612"/>
                  </a:cubicBezTo>
                  <a:cubicBezTo>
                    <a:pt x="98738" y="156179"/>
                    <a:pt x="109579" y="156312"/>
                    <a:pt x="109579" y="156312"/>
                  </a:cubicBezTo>
                  <a:cubicBezTo>
                    <a:pt x="107010" y="154311"/>
                    <a:pt x="104575" y="152243"/>
                    <a:pt x="102340" y="150074"/>
                  </a:cubicBezTo>
                  <a:cubicBezTo>
                    <a:pt x="95902" y="143970"/>
                    <a:pt x="90765" y="137165"/>
                    <a:pt x="86762" y="129893"/>
                  </a:cubicBezTo>
                  <a:cubicBezTo>
                    <a:pt x="85428" y="127525"/>
                    <a:pt x="84227" y="125057"/>
                    <a:pt x="83160" y="122621"/>
                  </a:cubicBezTo>
                  <a:cubicBezTo>
                    <a:pt x="82159" y="120353"/>
                    <a:pt x="81259" y="118118"/>
                    <a:pt x="80391" y="115883"/>
                  </a:cubicBezTo>
                  <a:cubicBezTo>
                    <a:pt x="67982" y="80892"/>
                    <a:pt x="75054" y="40196"/>
                    <a:pt x="80925" y="17580"/>
                  </a:cubicBezTo>
                  <a:cubicBezTo>
                    <a:pt x="81225" y="16479"/>
                    <a:pt x="81492" y="15445"/>
                    <a:pt x="81759" y="14444"/>
                  </a:cubicBezTo>
                  <a:cubicBezTo>
                    <a:pt x="82026" y="13510"/>
                    <a:pt x="82226" y="12676"/>
                    <a:pt x="82459" y="11842"/>
                  </a:cubicBezTo>
                  <a:cubicBezTo>
                    <a:pt x="82926" y="10241"/>
                    <a:pt x="83393" y="8740"/>
                    <a:pt x="83794" y="7406"/>
                  </a:cubicBezTo>
                  <a:cubicBezTo>
                    <a:pt x="85261" y="2669"/>
                    <a:pt x="86262" y="1"/>
                    <a:pt x="86262"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061;p67">
              <a:extLst>
                <a:ext uri="{FF2B5EF4-FFF2-40B4-BE49-F238E27FC236}">
                  <a16:creationId xmlns:a16="http://schemas.microsoft.com/office/drawing/2014/main" id="{863BB7D5-41DA-4F49-8EDA-6A4A8C4C6552}"/>
                </a:ext>
              </a:extLst>
            </p:cNvPr>
            <p:cNvSpPr/>
            <p:nvPr/>
          </p:nvSpPr>
          <p:spPr>
            <a:xfrm>
              <a:off x="3854600" y="2893350"/>
              <a:ext cx="656325" cy="1260925"/>
            </a:xfrm>
            <a:custGeom>
              <a:avLst/>
              <a:gdLst/>
              <a:ahLst/>
              <a:cxnLst/>
              <a:rect l="l" t="t" r="r" b="b"/>
              <a:pathLst>
                <a:path w="26253" h="50437" extrusionOk="0">
                  <a:moveTo>
                    <a:pt x="0" y="0"/>
                  </a:moveTo>
                  <a:lnTo>
                    <a:pt x="0" y="30222"/>
                  </a:lnTo>
                  <a:cubicBezTo>
                    <a:pt x="4036" y="37527"/>
                    <a:pt x="9173" y="44332"/>
                    <a:pt x="15545" y="50436"/>
                  </a:cubicBezTo>
                  <a:lnTo>
                    <a:pt x="26252" y="50436"/>
                  </a:lnTo>
                  <a:cubicBezTo>
                    <a:pt x="19848" y="44332"/>
                    <a:pt x="14744" y="37527"/>
                    <a:pt x="10708" y="30255"/>
                  </a:cubicBezTo>
                  <a:cubicBezTo>
                    <a:pt x="9373" y="27887"/>
                    <a:pt x="8173" y="25419"/>
                    <a:pt x="7072" y="22983"/>
                  </a:cubicBezTo>
                  <a:cubicBezTo>
                    <a:pt x="6104" y="20715"/>
                    <a:pt x="5204" y="18480"/>
                    <a:pt x="4370" y="16179"/>
                  </a:cubicBezTo>
                  <a:cubicBezTo>
                    <a:pt x="2502" y="10875"/>
                    <a:pt x="1101" y="5471"/>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62;p67">
              <a:extLst>
                <a:ext uri="{FF2B5EF4-FFF2-40B4-BE49-F238E27FC236}">
                  <a16:creationId xmlns:a16="http://schemas.microsoft.com/office/drawing/2014/main" id="{0B2F7652-BA63-4459-B1A1-F64A6C9B2C86}"/>
                </a:ext>
              </a:extLst>
            </p:cNvPr>
            <p:cNvSpPr/>
            <p:nvPr/>
          </p:nvSpPr>
          <p:spPr>
            <a:xfrm>
              <a:off x="3855425" y="632550"/>
              <a:ext cx="73400" cy="797275"/>
            </a:xfrm>
            <a:custGeom>
              <a:avLst/>
              <a:gdLst/>
              <a:ahLst/>
              <a:cxnLst/>
              <a:rect l="l" t="t" r="r" b="b"/>
              <a:pathLst>
                <a:path w="2936" h="31891" extrusionOk="0">
                  <a:moveTo>
                    <a:pt x="234" y="1"/>
                  </a:moveTo>
                  <a:lnTo>
                    <a:pt x="0" y="201"/>
                  </a:lnTo>
                  <a:lnTo>
                    <a:pt x="0" y="31890"/>
                  </a:lnTo>
                  <a:cubicBezTo>
                    <a:pt x="901" y="26387"/>
                    <a:pt x="1902" y="21216"/>
                    <a:pt x="2936" y="16513"/>
                  </a:cubicBezTo>
                  <a:cubicBezTo>
                    <a:pt x="1902" y="11109"/>
                    <a:pt x="1001" y="5605"/>
                    <a:pt x="234" y="1"/>
                  </a:cubicBez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63;p67">
              <a:extLst>
                <a:ext uri="{FF2B5EF4-FFF2-40B4-BE49-F238E27FC236}">
                  <a16:creationId xmlns:a16="http://schemas.microsoft.com/office/drawing/2014/main" id="{F3E495BE-704C-4490-A23C-43036BA033C9}"/>
                </a:ext>
              </a:extLst>
            </p:cNvPr>
            <p:cNvSpPr/>
            <p:nvPr/>
          </p:nvSpPr>
          <p:spPr>
            <a:xfrm>
              <a:off x="3855425" y="4577050"/>
              <a:ext cx="665500" cy="151800"/>
            </a:xfrm>
            <a:custGeom>
              <a:avLst/>
              <a:gdLst/>
              <a:ahLst/>
              <a:cxnLst/>
              <a:rect l="l" t="t" r="r" b="b"/>
              <a:pathLst>
                <a:path w="26620" h="6072" extrusionOk="0">
                  <a:moveTo>
                    <a:pt x="2769" y="1"/>
                  </a:moveTo>
                  <a:lnTo>
                    <a:pt x="0" y="6072"/>
                  </a:lnTo>
                  <a:lnTo>
                    <a:pt x="13310" y="6072"/>
                  </a:lnTo>
                  <a:cubicBezTo>
                    <a:pt x="14344" y="6072"/>
                    <a:pt x="15345" y="5871"/>
                    <a:pt x="16312" y="5404"/>
                  </a:cubicBezTo>
                  <a:lnTo>
                    <a:pt x="26253" y="701"/>
                  </a:lnTo>
                  <a:cubicBezTo>
                    <a:pt x="26619" y="534"/>
                    <a:pt x="26486" y="34"/>
                    <a:pt x="26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64;p67">
              <a:extLst>
                <a:ext uri="{FF2B5EF4-FFF2-40B4-BE49-F238E27FC236}">
                  <a16:creationId xmlns:a16="http://schemas.microsoft.com/office/drawing/2014/main" id="{D1D81DF4-5D5F-46A8-9132-19BE9E8CCB56}"/>
                </a:ext>
              </a:extLst>
            </p:cNvPr>
            <p:cNvSpPr/>
            <p:nvPr/>
          </p:nvSpPr>
          <p:spPr>
            <a:xfrm>
              <a:off x="2506950" y="4729650"/>
              <a:ext cx="2551025" cy="98450"/>
            </a:xfrm>
            <a:custGeom>
              <a:avLst/>
              <a:gdLst/>
              <a:ahLst/>
              <a:cxnLst/>
              <a:rect l="l" t="t" r="r" b="b"/>
              <a:pathLst>
                <a:path w="102041" h="3938" extrusionOk="0">
                  <a:moveTo>
                    <a:pt x="1" y="1"/>
                  </a:moveTo>
                  <a:lnTo>
                    <a:pt x="1" y="168"/>
                  </a:lnTo>
                  <a:cubicBezTo>
                    <a:pt x="8841" y="1102"/>
                    <a:pt x="19081" y="1969"/>
                    <a:pt x="31690" y="2469"/>
                  </a:cubicBezTo>
                  <a:cubicBezTo>
                    <a:pt x="55207" y="3403"/>
                    <a:pt x="81092" y="3804"/>
                    <a:pt x="102040" y="3937"/>
                  </a:cubicBezTo>
                  <a:lnTo>
                    <a:pt x="101573" y="2603"/>
                  </a:lnTo>
                  <a:cubicBezTo>
                    <a:pt x="63446" y="2603"/>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65;p67">
              <a:extLst>
                <a:ext uri="{FF2B5EF4-FFF2-40B4-BE49-F238E27FC236}">
                  <a16:creationId xmlns:a16="http://schemas.microsoft.com/office/drawing/2014/main" id="{A438B0F1-FB64-4AB4-9FC9-1E4540CF15E5}"/>
                </a:ext>
              </a:extLst>
            </p:cNvPr>
            <p:cNvSpPr/>
            <p:nvPr/>
          </p:nvSpPr>
          <p:spPr>
            <a:xfrm>
              <a:off x="2696275" y="4853925"/>
              <a:ext cx="129275" cy="129275"/>
            </a:xfrm>
            <a:custGeom>
              <a:avLst/>
              <a:gdLst/>
              <a:ahLst/>
              <a:cxnLst/>
              <a:rect l="l" t="t" r="r" b="b"/>
              <a:pathLst>
                <a:path w="5171" h="5171" extrusionOk="0">
                  <a:moveTo>
                    <a:pt x="2602" y="0"/>
                  </a:moveTo>
                  <a:cubicBezTo>
                    <a:pt x="1168" y="0"/>
                    <a:pt x="0" y="1168"/>
                    <a:pt x="0" y="2602"/>
                  </a:cubicBezTo>
                  <a:cubicBezTo>
                    <a:pt x="0" y="4003"/>
                    <a:pt x="1168" y="5171"/>
                    <a:pt x="2602" y="5171"/>
                  </a:cubicBezTo>
                  <a:cubicBezTo>
                    <a:pt x="4003" y="5171"/>
                    <a:pt x="5170" y="4003"/>
                    <a:pt x="5170" y="2602"/>
                  </a:cubicBezTo>
                  <a:cubicBezTo>
                    <a:pt x="5170" y="1168"/>
                    <a:pt x="4003" y="0"/>
                    <a:pt x="26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66;p67">
              <a:extLst>
                <a:ext uri="{FF2B5EF4-FFF2-40B4-BE49-F238E27FC236}">
                  <a16:creationId xmlns:a16="http://schemas.microsoft.com/office/drawing/2014/main" id="{D4A5B501-99E4-4D12-B24F-1DD85B2A86E9}"/>
                </a:ext>
              </a:extLst>
            </p:cNvPr>
            <p:cNvSpPr/>
            <p:nvPr/>
          </p:nvSpPr>
          <p:spPr>
            <a:xfrm>
              <a:off x="3044000" y="4853925"/>
              <a:ext cx="129300" cy="129275"/>
            </a:xfrm>
            <a:custGeom>
              <a:avLst/>
              <a:gdLst/>
              <a:ahLst/>
              <a:cxnLst/>
              <a:rect l="l" t="t" r="r" b="b"/>
              <a:pathLst>
                <a:path w="5172" h="5171" extrusionOk="0">
                  <a:moveTo>
                    <a:pt x="2569" y="0"/>
                  </a:moveTo>
                  <a:cubicBezTo>
                    <a:pt x="1102" y="0"/>
                    <a:pt x="1" y="1168"/>
                    <a:pt x="1" y="2602"/>
                  </a:cubicBezTo>
                  <a:cubicBezTo>
                    <a:pt x="1" y="4003"/>
                    <a:pt x="1168" y="5171"/>
                    <a:pt x="2569" y="5171"/>
                  </a:cubicBezTo>
                  <a:cubicBezTo>
                    <a:pt x="3970" y="5171"/>
                    <a:pt x="5171" y="4003"/>
                    <a:pt x="5171" y="2602"/>
                  </a:cubicBezTo>
                  <a:cubicBezTo>
                    <a:pt x="5171" y="1168"/>
                    <a:pt x="4004"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67;p67">
              <a:extLst>
                <a:ext uri="{FF2B5EF4-FFF2-40B4-BE49-F238E27FC236}">
                  <a16:creationId xmlns:a16="http://schemas.microsoft.com/office/drawing/2014/main" id="{BCA2CA49-C084-45EC-95BA-AFF6744B670D}"/>
                </a:ext>
              </a:extLst>
            </p:cNvPr>
            <p:cNvSpPr/>
            <p:nvPr/>
          </p:nvSpPr>
          <p:spPr>
            <a:xfrm>
              <a:off x="3390100" y="4853925"/>
              <a:ext cx="128450" cy="129275"/>
            </a:xfrm>
            <a:custGeom>
              <a:avLst/>
              <a:gdLst/>
              <a:ahLst/>
              <a:cxnLst/>
              <a:rect l="l" t="t" r="r" b="b"/>
              <a:pathLst>
                <a:path w="5138" h="5171" extrusionOk="0">
                  <a:moveTo>
                    <a:pt x="2569" y="0"/>
                  </a:moveTo>
                  <a:cubicBezTo>
                    <a:pt x="1168" y="0"/>
                    <a:pt x="0" y="1168"/>
                    <a:pt x="0" y="2602"/>
                  </a:cubicBezTo>
                  <a:cubicBezTo>
                    <a:pt x="0" y="4003"/>
                    <a:pt x="1168" y="5171"/>
                    <a:pt x="2569" y="5171"/>
                  </a:cubicBezTo>
                  <a:cubicBezTo>
                    <a:pt x="3970" y="5171"/>
                    <a:pt x="5137" y="4003"/>
                    <a:pt x="5137" y="2602"/>
                  </a:cubicBezTo>
                  <a:cubicBezTo>
                    <a:pt x="5137" y="1168"/>
                    <a:pt x="4003"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68;p67">
              <a:extLst>
                <a:ext uri="{FF2B5EF4-FFF2-40B4-BE49-F238E27FC236}">
                  <a16:creationId xmlns:a16="http://schemas.microsoft.com/office/drawing/2014/main" id="{C98FA573-0D5A-46C2-8652-E02F09B3551C}"/>
                </a:ext>
              </a:extLst>
            </p:cNvPr>
            <p:cNvSpPr/>
            <p:nvPr/>
          </p:nvSpPr>
          <p:spPr>
            <a:xfrm>
              <a:off x="1623000" y="4657950"/>
              <a:ext cx="4248900" cy="587100"/>
            </a:xfrm>
            <a:custGeom>
              <a:avLst/>
              <a:gdLst/>
              <a:ahLst/>
              <a:cxnLst/>
              <a:rect l="l" t="t" r="r" b="b"/>
              <a:pathLst>
                <a:path w="169956" h="23484" extrusionOk="0">
                  <a:moveTo>
                    <a:pt x="0" y="0"/>
                  </a:moveTo>
                  <a:cubicBezTo>
                    <a:pt x="3636" y="5638"/>
                    <a:pt x="13410" y="19614"/>
                    <a:pt x="19581" y="23484"/>
                  </a:cubicBezTo>
                  <a:lnTo>
                    <a:pt x="161649" y="23484"/>
                  </a:lnTo>
                  <a:cubicBezTo>
                    <a:pt x="161649" y="23484"/>
                    <a:pt x="166286" y="22016"/>
                    <a:pt x="169955" y="20015"/>
                  </a:cubicBezTo>
                  <a:lnTo>
                    <a:pt x="92800" y="20015"/>
                  </a:lnTo>
                  <a:cubicBezTo>
                    <a:pt x="21349" y="20015"/>
                    <a:pt x="801" y="63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文字方塊 28">
            <a:extLst>
              <a:ext uri="{FF2B5EF4-FFF2-40B4-BE49-F238E27FC236}">
                <a16:creationId xmlns:a16="http://schemas.microsoft.com/office/drawing/2014/main" id="{DAB6DEFC-3761-45FD-BC44-249F16235D79}"/>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62</a:t>
            </a:r>
            <a:endParaRPr lang="zh-TW" altLang="en-US" sz="1100" dirty="0">
              <a:latin typeface="Montserrat" panose="02020500000000000000" charset="0"/>
            </a:endParaRPr>
          </a:p>
        </p:txBody>
      </p:sp>
      <p:grpSp>
        <p:nvGrpSpPr>
          <p:cNvPr id="4" name="群組 3">
            <a:extLst>
              <a:ext uri="{FF2B5EF4-FFF2-40B4-BE49-F238E27FC236}">
                <a16:creationId xmlns:a16="http://schemas.microsoft.com/office/drawing/2014/main" id="{B2F39859-451C-4732-B343-A56B513279CF}"/>
              </a:ext>
            </a:extLst>
          </p:cNvPr>
          <p:cNvGrpSpPr/>
          <p:nvPr/>
        </p:nvGrpSpPr>
        <p:grpSpPr>
          <a:xfrm>
            <a:off x="2673082" y="2555335"/>
            <a:ext cx="3797835" cy="1333250"/>
            <a:chOff x="2673082" y="2555335"/>
            <a:chExt cx="3797835" cy="1333250"/>
          </a:xfrm>
        </p:grpSpPr>
        <p:sp>
          <p:nvSpPr>
            <p:cNvPr id="9" name="文字方塊 8">
              <a:extLst>
                <a:ext uri="{FF2B5EF4-FFF2-40B4-BE49-F238E27FC236}">
                  <a16:creationId xmlns:a16="http://schemas.microsoft.com/office/drawing/2014/main" id="{14117233-9218-4160-953C-196D6CBF165F}"/>
                </a:ext>
              </a:extLst>
            </p:cNvPr>
            <p:cNvSpPr txBox="1"/>
            <p:nvPr/>
          </p:nvSpPr>
          <p:spPr>
            <a:xfrm>
              <a:off x="2673082" y="2555335"/>
              <a:ext cx="3797835"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Tuning curves of SHG</a:t>
              </a:r>
            </a:p>
            <a:p>
              <a:pPr marL="171450" indent="-171450">
                <a:lnSpc>
                  <a:spcPct val="150000"/>
                </a:lnSpc>
                <a:buFont typeface="Arial" panose="020B0604020202020204" pitchFamily="34" charset="0"/>
                <a:buChar char="•"/>
              </a:pPr>
              <a:r>
                <a:rPr lang="en-US" altLang="zh-TW" sz="1100" dirty="0">
                  <a:latin typeface="Montserrat" panose="02020500000000000000" charset="0"/>
                </a:rPr>
                <a:t>EO-PMC measurement result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interference</a:t>
              </a:r>
            </a:p>
            <a:p>
              <a:pPr marL="171450" indent="-171450">
                <a:lnSpc>
                  <a:spcPct val="150000"/>
                </a:lnSpc>
                <a:buFont typeface="Arial" panose="020B0604020202020204" pitchFamily="34" charset="0"/>
                <a:buChar char="•"/>
              </a:pPr>
              <a:r>
                <a:rPr lang="en-US" altLang="zh-TW" sz="1100" dirty="0">
                  <a:latin typeface="Montserrat" panose="02020500000000000000" charset="0"/>
                </a:rPr>
                <a:t>Coincidence counts measurement with EO-PMC</a:t>
              </a:r>
              <a:endParaRPr lang="zh-TW" altLang="en-US" sz="1100" dirty="0">
                <a:latin typeface="Montserrat" panose="02020500000000000000" charset="0"/>
              </a:endParaRPr>
            </a:p>
          </p:txBody>
        </p:sp>
        <p:sp>
          <p:nvSpPr>
            <p:cNvPr id="3" name="矩形 2">
              <a:extLst>
                <a:ext uri="{FF2B5EF4-FFF2-40B4-BE49-F238E27FC236}">
                  <a16:creationId xmlns:a16="http://schemas.microsoft.com/office/drawing/2014/main" id="{A8114A58-F9AD-4ADA-B15E-1A9EAB5E63EE}"/>
                </a:ext>
              </a:extLst>
            </p:cNvPr>
            <p:cNvSpPr/>
            <p:nvPr/>
          </p:nvSpPr>
          <p:spPr>
            <a:xfrm>
              <a:off x="2673082" y="3397135"/>
              <a:ext cx="3710785" cy="491450"/>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EAE8B883-1FC8-4984-B3E5-0937137F7974}"/>
                </a:ext>
              </a:extLst>
            </p:cNvPr>
            <p:cNvSpPr/>
            <p:nvPr/>
          </p:nvSpPr>
          <p:spPr>
            <a:xfrm>
              <a:off x="2760132" y="2635640"/>
              <a:ext cx="3710785" cy="441291"/>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40068015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614049" y="294920"/>
            <a:ext cx="5915902"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Setup for spectrum</a:t>
            </a:r>
            <a:r>
              <a:rPr lang="zh-TW" altLang="en-US" sz="2000" dirty="0">
                <a:latin typeface="Montserrat" panose="02020500000000000000" charset="0"/>
              </a:rPr>
              <a:t> </a:t>
            </a:r>
            <a:r>
              <a:rPr lang="en-US" altLang="zh-TW" sz="2000" dirty="0">
                <a:latin typeface="Montserrat" panose="02020500000000000000" charset="0"/>
              </a:rPr>
              <a:t>of SPDC measurement</a:t>
            </a:r>
          </a:p>
        </p:txBody>
      </p:sp>
      <p:grpSp>
        <p:nvGrpSpPr>
          <p:cNvPr id="3" name="群組 2">
            <a:extLst>
              <a:ext uri="{FF2B5EF4-FFF2-40B4-BE49-F238E27FC236}">
                <a16:creationId xmlns:a16="http://schemas.microsoft.com/office/drawing/2014/main" id="{56A5B79F-F67B-435D-A5E3-E797DB7FDC97}"/>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61D2F9FF-DE20-4302-9713-7D2DE4D7521C}"/>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8F225B8D-6A01-4A73-8CDF-42C994DB290B}"/>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04047D2-D5D2-4317-89EE-6882F634ECF5}"/>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F2632CFE-4849-47AD-B1A2-BBAAB3AE53E9}"/>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1332DB28-028D-477B-B52E-57FA2823BF32}"/>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C8F29CBD-5BF2-47EF-8FB7-202814609764}"/>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112" name="群組 111">
            <a:extLst>
              <a:ext uri="{FF2B5EF4-FFF2-40B4-BE49-F238E27FC236}">
                <a16:creationId xmlns:a16="http://schemas.microsoft.com/office/drawing/2014/main" id="{2479C1EE-AF1F-4E00-9AA0-7B5A5CE05DE2}"/>
              </a:ext>
            </a:extLst>
          </p:cNvPr>
          <p:cNvGrpSpPr/>
          <p:nvPr/>
        </p:nvGrpSpPr>
        <p:grpSpPr>
          <a:xfrm>
            <a:off x="719123" y="1241239"/>
            <a:ext cx="7755584" cy="3572186"/>
            <a:chOff x="719123" y="1241239"/>
            <a:chExt cx="7755584" cy="3572186"/>
          </a:xfrm>
        </p:grpSpPr>
        <p:grpSp>
          <p:nvGrpSpPr>
            <p:cNvPr id="86" name="群組 85">
              <a:extLst>
                <a:ext uri="{FF2B5EF4-FFF2-40B4-BE49-F238E27FC236}">
                  <a16:creationId xmlns:a16="http://schemas.microsoft.com/office/drawing/2014/main" id="{C31E8CB2-10C6-4FB3-94E4-28DF9FF3230A}"/>
                </a:ext>
              </a:extLst>
            </p:cNvPr>
            <p:cNvGrpSpPr/>
            <p:nvPr/>
          </p:nvGrpSpPr>
          <p:grpSpPr>
            <a:xfrm>
              <a:off x="719123" y="1241239"/>
              <a:ext cx="7755584" cy="3427610"/>
              <a:chOff x="848741" y="1243935"/>
              <a:chExt cx="7755584" cy="3427610"/>
            </a:xfrm>
          </p:grpSpPr>
          <p:cxnSp>
            <p:nvCxnSpPr>
              <p:cNvPr id="16" name="直線單箭頭接點 15">
                <a:extLst>
                  <a:ext uri="{FF2B5EF4-FFF2-40B4-BE49-F238E27FC236}">
                    <a16:creationId xmlns:a16="http://schemas.microsoft.com/office/drawing/2014/main" id="{DA0D17A2-33B2-4FD2-A73D-5037A5CA66D4}"/>
                  </a:ext>
                </a:extLst>
              </p:cNvPr>
              <p:cNvCxnSpPr>
                <a:cxnSpLocks/>
              </p:cNvCxnSpPr>
              <p:nvPr/>
            </p:nvCxnSpPr>
            <p:spPr>
              <a:xfrm>
                <a:off x="3760720" y="1625833"/>
                <a:ext cx="3381504"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FA92A44C-2184-4586-8B6B-1B83FF1E4D4B}"/>
                  </a:ext>
                </a:extLst>
              </p:cNvPr>
              <p:cNvCxnSpPr>
                <a:cxnSpLocks/>
              </p:cNvCxnSpPr>
              <p:nvPr/>
            </p:nvCxnSpPr>
            <p:spPr>
              <a:xfrm>
                <a:off x="2894982" y="1625833"/>
                <a:ext cx="920072"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47A9BE9F-DF18-4BB6-89F4-7B1ABFE73305}"/>
                  </a:ext>
                </a:extLst>
              </p:cNvPr>
              <p:cNvGrpSpPr/>
              <p:nvPr/>
            </p:nvGrpSpPr>
            <p:grpSpPr>
              <a:xfrm>
                <a:off x="3830826" y="1243935"/>
                <a:ext cx="1475084" cy="673053"/>
                <a:chOff x="3647332" y="536591"/>
                <a:chExt cx="1475084" cy="673053"/>
              </a:xfrm>
            </p:grpSpPr>
            <p:grpSp>
              <p:nvGrpSpPr>
                <p:cNvPr id="19" name="群組 18">
                  <a:extLst>
                    <a:ext uri="{FF2B5EF4-FFF2-40B4-BE49-F238E27FC236}">
                      <a16:creationId xmlns:a16="http://schemas.microsoft.com/office/drawing/2014/main" id="{F89831F3-6A34-4E84-8E1E-1D0B0F66CA7A}"/>
                    </a:ext>
                  </a:extLst>
                </p:cNvPr>
                <p:cNvGrpSpPr/>
                <p:nvPr/>
              </p:nvGrpSpPr>
              <p:grpSpPr>
                <a:xfrm>
                  <a:off x="3746338" y="536591"/>
                  <a:ext cx="1234424" cy="422306"/>
                  <a:chOff x="4290060" y="1143477"/>
                  <a:chExt cx="1376680" cy="499395"/>
                </a:xfrm>
              </p:grpSpPr>
              <p:sp>
                <p:nvSpPr>
                  <p:cNvPr id="21" name="矩形 20">
                    <a:extLst>
                      <a:ext uri="{FF2B5EF4-FFF2-40B4-BE49-F238E27FC236}">
                        <a16:creationId xmlns:a16="http://schemas.microsoft.com/office/drawing/2014/main" id="{69B92A76-6539-455E-B08F-C830D79FF452}"/>
                      </a:ext>
                    </a:extLst>
                  </p:cNvPr>
                  <p:cNvSpPr/>
                  <p:nvPr/>
                </p:nvSpPr>
                <p:spPr>
                  <a:xfrm>
                    <a:off x="4290060" y="1547367"/>
                    <a:ext cx="1376680" cy="9550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0E62F869-319C-48A1-83A5-B2CCFB6FCCD5}"/>
                      </a:ext>
                    </a:extLst>
                  </p:cNvPr>
                  <p:cNvSpPr/>
                  <p:nvPr/>
                </p:nvSpPr>
                <p:spPr>
                  <a:xfrm>
                    <a:off x="429006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A47915AE-BAF1-4C48-93C3-E6EAE50E9966}"/>
                      </a:ext>
                    </a:extLst>
                  </p:cNvPr>
                  <p:cNvSpPr/>
                  <p:nvPr/>
                </p:nvSpPr>
                <p:spPr>
                  <a:xfrm>
                    <a:off x="478040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3578AD9B-569E-41A6-9A7B-50FAF163E8F8}"/>
                      </a:ext>
                    </a:extLst>
                  </p:cNvPr>
                  <p:cNvSpPr/>
                  <p:nvPr/>
                </p:nvSpPr>
                <p:spPr>
                  <a:xfrm>
                    <a:off x="5270740" y="1147422"/>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75E15485-228F-401E-B378-DA344FE7B034}"/>
                      </a:ext>
                    </a:extLst>
                  </p:cNvPr>
                  <p:cNvSpPr/>
                  <p:nvPr/>
                </p:nvSpPr>
                <p:spPr>
                  <a:xfrm>
                    <a:off x="429006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BB5648B9-F0AB-493B-A689-9E999C578710}"/>
                      </a:ext>
                    </a:extLst>
                  </p:cNvPr>
                  <p:cNvSpPr/>
                  <p:nvPr/>
                </p:nvSpPr>
                <p:spPr>
                  <a:xfrm>
                    <a:off x="478040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03B66FB5-805D-406D-8CB0-74A0F579EAA4}"/>
                      </a:ext>
                    </a:extLst>
                  </p:cNvPr>
                  <p:cNvSpPr/>
                  <p:nvPr/>
                </p:nvSpPr>
                <p:spPr>
                  <a:xfrm>
                    <a:off x="5270740" y="1143477"/>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88EE6DAD-0005-4D7A-A898-28F11A25EB20}"/>
                      </a:ext>
                    </a:extLst>
                  </p:cNvPr>
                  <p:cNvSpPr/>
                  <p:nvPr/>
                </p:nvSpPr>
                <p:spPr>
                  <a:xfrm>
                    <a:off x="545074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5D481D1B-54DC-4FA3-9B1B-D52B791CD7B2}"/>
                      </a:ext>
                    </a:extLst>
                  </p:cNvPr>
                  <p:cNvSpPr/>
                  <p:nvPr/>
                </p:nvSpPr>
                <p:spPr>
                  <a:xfrm>
                    <a:off x="496040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C651BEBE-FEFA-4889-B6D8-8CE46365F467}"/>
                      </a:ext>
                    </a:extLst>
                  </p:cNvPr>
                  <p:cNvSpPr/>
                  <p:nvPr/>
                </p:nvSpPr>
                <p:spPr>
                  <a:xfrm>
                    <a:off x="4470060" y="1331484"/>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0" name="文字方塊 19">
                  <a:extLst>
                    <a:ext uri="{FF2B5EF4-FFF2-40B4-BE49-F238E27FC236}">
                      <a16:creationId xmlns:a16="http://schemas.microsoft.com/office/drawing/2014/main" id="{62C037DD-A09C-4FC7-AA46-3A02952814C8}"/>
                    </a:ext>
                  </a:extLst>
                </p:cNvPr>
                <p:cNvSpPr txBox="1"/>
                <p:nvPr/>
              </p:nvSpPr>
              <p:spPr>
                <a:xfrm>
                  <a:off x="3647332" y="978812"/>
                  <a:ext cx="1475084"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Polarization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sp>
            <p:nvSpPr>
              <p:cNvPr id="15" name="矩形 14">
                <a:extLst>
                  <a:ext uri="{FF2B5EF4-FFF2-40B4-BE49-F238E27FC236}">
                    <a16:creationId xmlns:a16="http://schemas.microsoft.com/office/drawing/2014/main" id="{087F5638-41CA-4EB2-B0FF-AB1EB4DBE37C}"/>
                  </a:ext>
                </a:extLst>
              </p:cNvPr>
              <p:cNvSpPr/>
              <p:nvPr/>
            </p:nvSpPr>
            <p:spPr>
              <a:xfrm>
                <a:off x="848741" y="1335360"/>
                <a:ext cx="2100200" cy="549103"/>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Mongolian Baiti" panose="03000500000000000000" pitchFamily="66" charset="0"/>
                  </a:rPr>
                  <a:t>784.5 nm</a:t>
                </a:r>
              </a:p>
              <a:p>
                <a:pPr algn="ctr"/>
                <a:r>
                  <a:rPr lang="en-US" altLang="zh-TW" sz="900" b="1" dirty="0">
                    <a:solidFill>
                      <a:schemeClr val="tx1"/>
                    </a:solidFill>
                    <a:latin typeface="Montserrat" panose="02020500000000000000" charset="0"/>
                    <a:cs typeface="Mongolian Baiti" panose="03000500000000000000" pitchFamily="66" charset="0"/>
                  </a:rPr>
                  <a:t>Volume-Holographic-Grating- (VHG) Stabilized SF Lasers</a:t>
                </a:r>
              </a:p>
            </p:txBody>
          </p:sp>
          <p:cxnSp>
            <p:nvCxnSpPr>
              <p:cNvPr id="31" name="直線單箭頭接點 30">
                <a:extLst>
                  <a:ext uri="{FF2B5EF4-FFF2-40B4-BE49-F238E27FC236}">
                    <a16:creationId xmlns:a16="http://schemas.microsoft.com/office/drawing/2014/main" id="{7E3BA492-613C-4DAE-9AF8-9AF92E5BBCEA}"/>
                  </a:ext>
                </a:extLst>
              </p:cNvPr>
              <p:cNvCxnSpPr>
                <a:cxnSpLocks/>
              </p:cNvCxnSpPr>
              <p:nvPr/>
            </p:nvCxnSpPr>
            <p:spPr>
              <a:xfrm flipH="1">
                <a:off x="4724584" y="2197573"/>
                <a:ext cx="2409958"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4D50F0E5-7C47-4665-A259-881B0ECA58D9}"/>
                  </a:ext>
                </a:extLst>
              </p:cNvPr>
              <p:cNvCxnSpPr>
                <a:cxnSpLocks/>
              </p:cNvCxnSpPr>
              <p:nvPr/>
            </p:nvCxnSpPr>
            <p:spPr>
              <a:xfrm>
                <a:off x="1566795" y="2199470"/>
                <a:ext cx="3264070" cy="5"/>
              </a:xfrm>
              <a:prstGeom prst="line">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33" name="右中括弧 32">
                <a:extLst>
                  <a:ext uri="{FF2B5EF4-FFF2-40B4-BE49-F238E27FC236}">
                    <a16:creationId xmlns:a16="http://schemas.microsoft.com/office/drawing/2014/main" id="{EECA724F-4463-4EEF-99BF-9D5E5C80A5DD}"/>
                  </a:ext>
                </a:extLst>
              </p:cNvPr>
              <p:cNvSpPr/>
              <p:nvPr/>
            </p:nvSpPr>
            <p:spPr>
              <a:xfrm>
                <a:off x="7134604" y="1625833"/>
                <a:ext cx="211846" cy="56983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5" name="右中括弧 34">
                <a:extLst>
                  <a:ext uri="{FF2B5EF4-FFF2-40B4-BE49-F238E27FC236}">
                    <a16:creationId xmlns:a16="http://schemas.microsoft.com/office/drawing/2014/main" id="{A1692473-A86B-4FE1-8E5C-2DBEF0F5604D}"/>
                  </a:ext>
                </a:extLst>
              </p:cNvPr>
              <p:cNvSpPr/>
              <p:nvPr/>
            </p:nvSpPr>
            <p:spPr>
              <a:xfrm rot="10800000">
                <a:off x="1377023" y="2195652"/>
                <a:ext cx="211846" cy="56983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38" name="直線單箭頭接點 37">
                <a:extLst>
                  <a:ext uri="{FF2B5EF4-FFF2-40B4-BE49-F238E27FC236}">
                    <a16:creationId xmlns:a16="http://schemas.microsoft.com/office/drawing/2014/main" id="{B7D6F607-5D6D-48BF-9D3F-43F90399387B}"/>
                  </a:ext>
                </a:extLst>
              </p:cNvPr>
              <p:cNvCxnSpPr>
                <a:cxnSpLocks/>
              </p:cNvCxnSpPr>
              <p:nvPr/>
            </p:nvCxnSpPr>
            <p:spPr>
              <a:xfrm>
                <a:off x="1593973" y="2772542"/>
                <a:ext cx="603806" cy="7619"/>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9CC263D8-51F2-40BC-B4DF-00942CE1E2F0}"/>
                  </a:ext>
                </a:extLst>
              </p:cNvPr>
              <p:cNvSpPr/>
              <p:nvPr/>
            </p:nvSpPr>
            <p:spPr>
              <a:xfrm rot="5400000">
                <a:off x="4382734" y="2985389"/>
                <a:ext cx="826137"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7" name="圖片 36">
                <a:extLst>
                  <a:ext uri="{FF2B5EF4-FFF2-40B4-BE49-F238E27FC236}">
                    <a16:creationId xmlns:a16="http://schemas.microsoft.com/office/drawing/2014/main" id="{4A17201E-471B-4D76-B62E-485D2DCBB806}"/>
                  </a:ext>
                </a:extLst>
              </p:cNvPr>
              <p:cNvPicPr>
                <a:picLocks noChangeAspect="1"/>
              </p:cNvPicPr>
              <p:nvPr/>
            </p:nvPicPr>
            <p:blipFill>
              <a:blip r:embed="rId3"/>
              <a:stretch>
                <a:fillRect/>
              </a:stretch>
            </p:blipFill>
            <p:spPr>
              <a:xfrm>
                <a:off x="2362897" y="2369839"/>
                <a:ext cx="857305" cy="755649"/>
              </a:xfrm>
              <a:prstGeom prst="rect">
                <a:avLst/>
              </a:prstGeom>
            </p:spPr>
          </p:pic>
          <p:sp>
            <p:nvSpPr>
              <p:cNvPr id="40" name="矩形 39">
                <a:extLst>
                  <a:ext uri="{FF2B5EF4-FFF2-40B4-BE49-F238E27FC236}">
                    <a16:creationId xmlns:a16="http://schemas.microsoft.com/office/drawing/2014/main" id="{4C2FFCD6-4285-4EB0-AE01-04CE8FC6D2F3}"/>
                  </a:ext>
                </a:extLst>
              </p:cNvPr>
              <p:cNvSpPr/>
              <p:nvPr/>
            </p:nvSpPr>
            <p:spPr>
              <a:xfrm>
                <a:off x="3399545" y="2652900"/>
                <a:ext cx="2160000" cy="1800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流程圖: 換頁接點 40">
                <a:extLst>
                  <a:ext uri="{FF2B5EF4-FFF2-40B4-BE49-F238E27FC236}">
                    <a16:creationId xmlns:a16="http://schemas.microsoft.com/office/drawing/2014/main" id="{CBECD0D7-199B-43BB-AA43-AC840C3D5D8B}"/>
                  </a:ext>
                </a:extLst>
              </p:cNvPr>
              <p:cNvSpPr/>
              <p:nvPr/>
            </p:nvSpPr>
            <p:spPr>
              <a:xfrm rot="16200000">
                <a:off x="3754831" y="2530078"/>
                <a:ext cx="345220" cy="419095"/>
              </a:xfrm>
              <a:prstGeom prst="flowChartOffpageConnector">
                <a:avLst/>
              </a:prstGeom>
              <a:solidFill>
                <a:schemeClr val="tx1">
                  <a:lumMod val="65000"/>
                  <a:lumOff val="3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65BEF97E-55A8-461F-B98A-7B7B37B3444F}"/>
                  </a:ext>
                </a:extLst>
              </p:cNvPr>
              <p:cNvSpPr/>
              <p:nvPr/>
            </p:nvSpPr>
            <p:spPr>
              <a:xfrm>
                <a:off x="4581488" y="2505718"/>
                <a:ext cx="460800" cy="460800"/>
              </a:xfrm>
              <a:prstGeom prst="rect">
                <a:avLst/>
              </a:prstGeom>
              <a:solidFill>
                <a:schemeClr val="accent2">
                  <a:lumMod val="20000"/>
                  <a:lumOff val="80000"/>
                  <a:alpha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2" name="直線接點 41">
                <a:extLst>
                  <a:ext uri="{FF2B5EF4-FFF2-40B4-BE49-F238E27FC236}">
                    <a16:creationId xmlns:a16="http://schemas.microsoft.com/office/drawing/2014/main" id="{3CC96DAC-A1D1-4CFE-83C2-22EB1E359E24}"/>
                  </a:ext>
                </a:extLst>
              </p:cNvPr>
              <p:cNvCxnSpPr>
                <a:cxnSpLocks/>
              </p:cNvCxnSpPr>
              <p:nvPr/>
            </p:nvCxnSpPr>
            <p:spPr>
              <a:xfrm>
                <a:off x="4585209" y="2503435"/>
                <a:ext cx="460800" cy="45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52409053-4A28-4814-B3AA-F2C787AC16BC}"/>
                  </a:ext>
                </a:extLst>
              </p:cNvPr>
              <p:cNvSpPr txBox="1"/>
              <p:nvPr/>
            </p:nvSpPr>
            <p:spPr>
              <a:xfrm>
                <a:off x="4599330" y="2293496"/>
                <a:ext cx="425116"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PBS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44" name="文字方塊 43">
                <a:extLst>
                  <a:ext uri="{FF2B5EF4-FFF2-40B4-BE49-F238E27FC236}">
                    <a16:creationId xmlns:a16="http://schemas.microsoft.com/office/drawing/2014/main" id="{35B6343A-53C2-447E-A660-255488733932}"/>
                  </a:ext>
                </a:extLst>
              </p:cNvPr>
              <p:cNvSpPr txBox="1"/>
              <p:nvPr/>
            </p:nvSpPr>
            <p:spPr>
              <a:xfrm>
                <a:off x="3539986" y="2932354"/>
                <a:ext cx="734495"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Objective</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lens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nvGrpSpPr>
              <p:cNvPr id="45" name="群組 44">
                <a:extLst>
                  <a:ext uri="{FF2B5EF4-FFF2-40B4-BE49-F238E27FC236}">
                    <a16:creationId xmlns:a16="http://schemas.microsoft.com/office/drawing/2014/main" id="{8000B51C-28B2-4FC9-87F9-2BD00685FE55}"/>
                  </a:ext>
                </a:extLst>
              </p:cNvPr>
              <p:cNvGrpSpPr/>
              <p:nvPr/>
            </p:nvGrpSpPr>
            <p:grpSpPr>
              <a:xfrm>
                <a:off x="1850044" y="2343365"/>
                <a:ext cx="1874231" cy="1212142"/>
                <a:chOff x="2989770" y="3241984"/>
                <a:chExt cx="1874231" cy="1212142"/>
              </a:xfrm>
            </p:grpSpPr>
            <p:sp>
              <p:nvSpPr>
                <p:cNvPr id="48" name="文字方塊 47">
                  <a:extLst>
                    <a:ext uri="{FF2B5EF4-FFF2-40B4-BE49-F238E27FC236}">
                      <a16:creationId xmlns:a16="http://schemas.microsoft.com/office/drawing/2014/main" id="{7F58E51D-0D5D-41FF-90AC-00990AED18E4}"/>
                    </a:ext>
                  </a:extLst>
                </p:cNvPr>
                <p:cNvSpPr txBox="1"/>
                <p:nvPr/>
              </p:nvSpPr>
              <p:spPr>
                <a:xfrm>
                  <a:off x="2989770" y="4084794"/>
                  <a:ext cx="1874231"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Oven</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(with temperature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49" name="矩形 48">
                  <a:extLst>
                    <a:ext uri="{FF2B5EF4-FFF2-40B4-BE49-F238E27FC236}">
                      <a16:creationId xmlns:a16="http://schemas.microsoft.com/office/drawing/2014/main" id="{1050330E-2B24-40C0-9C80-33FC516A9816}"/>
                    </a:ext>
                  </a:extLst>
                </p:cNvPr>
                <p:cNvSpPr/>
                <p:nvPr/>
              </p:nvSpPr>
              <p:spPr>
                <a:xfrm>
                  <a:off x="3312266" y="3241984"/>
                  <a:ext cx="1229241" cy="81288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文字方塊 49">
                  <a:extLst>
                    <a:ext uri="{FF2B5EF4-FFF2-40B4-BE49-F238E27FC236}">
                      <a16:creationId xmlns:a16="http://schemas.microsoft.com/office/drawing/2014/main" id="{D54BC07C-3D8F-4455-8998-29B4A862793D}"/>
                    </a:ext>
                  </a:extLst>
                </p:cNvPr>
                <p:cNvSpPr txBox="1"/>
                <p:nvPr/>
              </p:nvSpPr>
              <p:spPr>
                <a:xfrm>
                  <a:off x="3627853" y="3751942"/>
                  <a:ext cx="48603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Chip</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grpSp>
            <p:nvGrpSpPr>
              <p:cNvPr id="2" name="群組 1">
                <a:extLst>
                  <a:ext uri="{FF2B5EF4-FFF2-40B4-BE49-F238E27FC236}">
                    <a16:creationId xmlns:a16="http://schemas.microsoft.com/office/drawing/2014/main" id="{1C32D14B-D864-4986-81A6-5681429985AD}"/>
                  </a:ext>
                </a:extLst>
              </p:cNvPr>
              <p:cNvGrpSpPr/>
              <p:nvPr/>
            </p:nvGrpSpPr>
            <p:grpSpPr>
              <a:xfrm>
                <a:off x="5388774" y="2655709"/>
                <a:ext cx="720468" cy="538049"/>
                <a:chOff x="6147164" y="2844054"/>
                <a:chExt cx="720468" cy="538049"/>
              </a:xfrm>
            </p:grpSpPr>
            <p:sp>
              <p:nvSpPr>
                <p:cNvPr id="53" name="矩形 52">
                  <a:extLst>
                    <a:ext uri="{FF2B5EF4-FFF2-40B4-BE49-F238E27FC236}">
                      <a16:creationId xmlns:a16="http://schemas.microsoft.com/office/drawing/2014/main" id="{377EAEF8-1EC5-44DE-9181-653B7CF4F1BB}"/>
                    </a:ext>
                  </a:extLst>
                </p:cNvPr>
                <p:cNvSpPr/>
                <p:nvPr/>
              </p:nvSpPr>
              <p:spPr>
                <a:xfrm>
                  <a:off x="6147632" y="3205703"/>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a:extLst>
                    <a:ext uri="{FF2B5EF4-FFF2-40B4-BE49-F238E27FC236}">
                      <a16:creationId xmlns:a16="http://schemas.microsoft.com/office/drawing/2014/main" id="{6592D2EC-C8A2-41E8-9807-E3FC9E9665C2}"/>
                    </a:ext>
                  </a:extLst>
                </p:cNvPr>
                <p:cNvSpPr/>
                <p:nvPr/>
              </p:nvSpPr>
              <p:spPr>
                <a:xfrm rot="5400000">
                  <a:off x="6054665" y="2936553"/>
                  <a:ext cx="361400" cy="176402"/>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58" name="群組 57">
                <a:extLst>
                  <a:ext uri="{FF2B5EF4-FFF2-40B4-BE49-F238E27FC236}">
                    <a16:creationId xmlns:a16="http://schemas.microsoft.com/office/drawing/2014/main" id="{1303FA29-6EA7-4D08-A338-34FEE37C3AA1}"/>
                  </a:ext>
                </a:extLst>
              </p:cNvPr>
              <p:cNvGrpSpPr/>
              <p:nvPr/>
            </p:nvGrpSpPr>
            <p:grpSpPr>
              <a:xfrm>
                <a:off x="4707602" y="3486658"/>
                <a:ext cx="536400" cy="720000"/>
                <a:chOff x="4468549" y="3036442"/>
                <a:chExt cx="536400" cy="720000"/>
              </a:xfrm>
            </p:grpSpPr>
            <p:sp>
              <p:nvSpPr>
                <p:cNvPr id="55" name="矩形 54">
                  <a:extLst>
                    <a:ext uri="{FF2B5EF4-FFF2-40B4-BE49-F238E27FC236}">
                      <a16:creationId xmlns:a16="http://schemas.microsoft.com/office/drawing/2014/main" id="{BCE18BFE-27A0-4EDA-9428-ADB2C87CFC2F}"/>
                    </a:ext>
                  </a:extLst>
                </p:cNvPr>
                <p:cNvSpPr/>
                <p:nvPr/>
              </p:nvSpPr>
              <p:spPr>
                <a:xfrm rot="5400000">
                  <a:off x="4556749" y="3308242"/>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a:extLst>
                    <a:ext uri="{FF2B5EF4-FFF2-40B4-BE49-F238E27FC236}">
                      <a16:creationId xmlns:a16="http://schemas.microsoft.com/office/drawing/2014/main" id="{9672D26B-6C5E-41F5-B109-FD6487B2B273}"/>
                    </a:ext>
                  </a:extLst>
                </p:cNvPr>
                <p:cNvSpPr/>
                <p:nvPr/>
              </p:nvSpPr>
              <p:spPr>
                <a:xfrm>
                  <a:off x="4468549" y="3036442"/>
                  <a:ext cx="36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9" name="矩形 58">
                <a:extLst>
                  <a:ext uri="{FF2B5EF4-FFF2-40B4-BE49-F238E27FC236}">
                    <a16:creationId xmlns:a16="http://schemas.microsoft.com/office/drawing/2014/main" id="{10ABE440-3280-4F34-B5A2-0CA45BDADE31}"/>
                  </a:ext>
                </a:extLst>
              </p:cNvPr>
              <p:cNvSpPr/>
              <p:nvPr/>
            </p:nvSpPr>
            <p:spPr>
              <a:xfrm rot="18900000">
                <a:off x="5370169" y="2971405"/>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a:extLst>
                  <a:ext uri="{FF2B5EF4-FFF2-40B4-BE49-F238E27FC236}">
                    <a16:creationId xmlns:a16="http://schemas.microsoft.com/office/drawing/2014/main" id="{2F45C896-ABEA-4D17-A0C7-19684586EDFE}"/>
                  </a:ext>
                </a:extLst>
              </p:cNvPr>
              <p:cNvSpPr/>
              <p:nvPr/>
            </p:nvSpPr>
            <p:spPr>
              <a:xfrm rot="18900000">
                <a:off x="4698796" y="3414785"/>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a:extLst>
                  <a:ext uri="{FF2B5EF4-FFF2-40B4-BE49-F238E27FC236}">
                    <a16:creationId xmlns:a16="http://schemas.microsoft.com/office/drawing/2014/main" id="{56A25A7D-17E8-4C6E-9E32-B3296E787807}"/>
                  </a:ext>
                </a:extLst>
              </p:cNvPr>
              <p:cNvSpPr/>
              <p:nvPr/>
            </p:nvSpPr>
            <p:spPr>
              <a:xfrm rot="18900000">
                <a:off x="5542023" y="2465321"/>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897C9EC3-B74E-4326-BEA2-0F2DA2B897D0}"/>
                  </a:ext>
                </a:extLst>
              </p:cNvPr>
              <p:cNvSpPr/>
              <p:nvPr/>
            </p:nvSpPr>
            <p:spPr>
              <a:xfrm rot="18900000">
                <a:off x="5213477" y="3286803"/>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9" name="群組 68">
                <a:extLst>
                  <a:ext uri="{FF2B5EF4-FFF2-40B4-BE49-F238E27FC236}">
                    <a16:creationId xmlns:a16="http://schemas.microsoft.com/office/drawing/2014/main" id="{8244ABB8-84EB-4263-BBD0-BBB86B42EE05}"/>
                  </a:ext>
                </a:extLst>
              </p:cNvPr>
              <p:cNvGrpSpPr/>
              <p:nvPr/>
            </p:nvGrpSpPr>
            <p:grpSpPr>
              <a:xfrm>
                <a:off x="5155801" y="4126397"/>
                <a:ext cx="1632275" cy="545148"/>
                <a:chOff x="5013338" y="5088690"/>
                <a:chExt cx="1416177" cy="561139"/>
              </a:xfrm>
              <a:effectLst/>
            </p:grpSpPr>
            <p:sp>
              <p:nvSpPr>
                <p:cNvPr id="70" name="弧形 69">
                  <a:extLst>
                    <a:ext uri="{FF2B5EF4-FFF2-40B4-BE49-F238E27FC236}">
                      <a16:creationId xmlns:a16="http://schemas.microsoft.com/office/drawing/2014/main" id="{242DEEC8-21A7-49B8-893D-78015E5D893A}"/>
                    </a:ext>
                  </a:extLst>
                </p:cNvPr>
                <p:cNvSpPr/>
                <p:nvPr/>
              </p:nvSpPr>
              <p:spPr>
                <a:xfrm rot="10554644">
                  <a:off x="5013338" y="5088690"/>
                  <a:ext cx="559335" cy="561139"/>
                </a:xfrm>
                <a:prstGeom prst="arc">
                  <a:avLst/>
                </a:prstGeom>
                <a:ln w="28575">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71" name="直線單箭頭接點 70">
                  <a:extLst>
                    <a:ext uri="{FF2B5EF4-FFF2-40B4-BE49-F238E27FC236}">
                      <a16:creationId xmlns:a16="http://schemas.microsoft.com/office/drawing/2014/main" id="{10DFFA4C-CAFD-4991-925E-95D2661041F8}"/>
                    </a:ext>
                  </a:extLst>
                </p:cNvPr>
                <p:cNvCxnSpPr>
                  <a:cxnSpLocks/>
                  <a:endCxn id="94" idx="1"/>
                </p:cNvCxnSpPr>
                <p:nvPr/>
              </p:nvCxnSpPr>
              <p:spPr>
                <a:xfrm flipV="1">
                  <a:off x="5263895" y="5648313"/>
                  <a:ext cx="1165620" cy="2"/>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6" name="群組 65">
                <a:extLst>
                  <a:ext uri="{FF2B5EF4-FFF2-40B4-BE49-F238E27FC236}">
                    <a16:creationId xmlns:a16="http://schemas.microsoft.com/office/drawing/2014/main" id="{8682B9BF-3822-44FB-BAC4-2843B59CAEAE}"/>
                  </a:ext>
                </a:extLst>
              </p:cNvPr>
              <p:cNvGrpSpPr/>
              <p:nvPr/>
            </p:nvGrpSpPr>
            <p:grpSpPr>
              <a:xfrm rot="5400000">
                <a:off x="5047051" y="4162090"/>
                <a:ext cx="217501" cy="292099"/>
                <a:chOff x="8991525" y="4409212"/>
                <a:chExt cx="297255" cy="368068"/>
              </a:xfrm>
              <a:solidFill>
                <a:schemeClr val="accent4"/>
              </a:solidFill>
            </p:grpSpPr>
            <p:sp>
              <p:nvSpPr>
                <p:cNvPr id="67" name="矩形 66">
                  <a:extLst>
                    <a:ext uri="{FF2B5EF4-FFF2-40B4-BE49-F238E27FC236}">
                      <a16:creationId xmlns:a16="http://schemas.microsoft.com/office/drawing/2014/main" id="{0F6CA9AC-F802-45A4-879A-537FB6C0DC0E}"/>
                    </a:ext>
                  </a:extLst>
                </p:cNvPr>
                <p:cNvSpPr/>
                <p:nvPr/>
              </p:nvSpPr>
              <p:spPr>
                <a:xfrm>
                  <a:off x="8991525"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流程圖: 延遲 67">
                  <a:extLst>
                    <a:ext uri="{FF2B5EF4-FFF2-40B4-BE49-F238E27FC236}">
                      <a16:creationId xmlns:a16="http://schemas.microsoft.com/office/drawing/2014/main" id="{C563B125-526D-42CA-BECA-8B56C401A5AF}"/>
                    </a:ext>
                  </a:extLst>
                </p:cNvPr>
                <p:cNvSpPr/>
                <p:nvPr/>
              </p:nvSpPr>
              <p:spPr>
                <a:xfrm>
                  <a:off x="9105897"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75" name="直線單箭頭接點 74">
                <a:extLst>
                  <a:ext uri="{FF2B5EF4-FFF2-40B4-BE49-F238E27FC236}">
                    <a16:creationId xmlns:a16="http://schemas.microsoft.com/office/drawing/2014/main" id="{FEC49413-F5B6-4D7C-9581-0ED816041198}"/>
                  </a:ext>
                </a:extLst>
              </p:cNvPr>
              <p:cNvCxnSpPr>
                <a:cxnSpLocks/>
                <a:endCxn id="47" idx="1"/>
              </p:cNvCxnSpPr>
              <p:nvPr/>
            </p:nvCxnSpPr>
            <p:spPr>
              <a:xfrm>
                <a:off x="6309196" y="3124873"/>
                <a:ext cx="478881" cy="4034"/>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63" name="群組 62">
                <a:extLst>
                  <a:ext uri="{FF2B5EF4-FFF2-40B4-BE49-F238E27FC236}">
                    <a16:creationId xmlns:a16="http://schemas.microsoft.com/office/drawing/2014/main" id="{3C000E92-7146-448C-8F90-8D3A177B3394}"/>
                  </a:ext>
                </a:extLst>
              </p:cNvPr>
              <p:cNvGrpSpPr/>
              <p:nvPr/>
            </p:nvGrpSpPr>
            <p:grpSpPr>
              <a:xfrm>
                <a:off x="6093062" y="2965617"/>
                <a:ext cx="217501" cy="292099"/>
                <a:chOff x="8991525" y="4409212"/>
                <a:chExt cx="297255" cy="368068"/>
              </a:xfrm>
              <a:solidFill>
                <a:schemeClr val="accent4"/>
              </a:solidFill>
            </p:grpSpPr>
            <p:sp>
              <p:nvSpPr>
                <p:cNvPr id="64" name="矩形 63">
                  <a:extLst>
                    <a:ext uri="{FF2B5EF4-FFF2-40B4-BE49-F238E27FC236}">
                      <a16:creationId xmlns:a16="http://schemas.microsoft.com/office/drawing/2014/main" id="{73C39B9A-8D47-499C-88D4-B0676F8255C8}"/>
                    </a:ext>
                  </a:extLst>
                </p:cNvPr>
                <p:cNvSpPr/>
                <p:nvPr/>
              </p:nvSpPr>
              <p:spPr>
                <a:xfrm>
                  <a:off x="8991525"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流程圖: 延遲 64">
                  <a:extLst>
                    <a:ext uri="{FF2B5EF4-FFF2-40B4-BE49-F238E27FC236}">
                      <a16:creationId xmlns:a16="http://schemas.microsoft.com/office/drawing/2014/main" id="{62BA8D41-6EFF-496B-986A-BA8449610534}"/>
                    </a:ext>
                  </a:extLst>
                </p:cNvPr>
                <p:cNvSpPr/>
                <p:nvPr/>
              </p:nvSpPr>
              <p:spPr>
                <a:xfrm>
                  <a:off x="9105897"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5" name="群組 84">
                <a:extLst>
                  <a:ext uri="{FF2B5EF4-FFF2-40B4-BE49-F238E27FC236}">
                    <a16:creationId xmlns:a16="http://schemas.microsoft.com/office/drawing/2014/main" id="{70728909-D202-4EEF-AFA9-CB29003E4986}"/>
                  </a:ext>
                </a:extLst>
              </p:cNvPr>
              <p:cNvGrpSpPr/>
              <p:nvPr/>
            </p:nvGrpSpPr>
            <p:grpSpPr>
              <a:xfrm>
                <a:off x="6400745" y="2615201"/>
                <a:ext cx="2203580" cy="2054871"/>
                <a:chOff x="6582144" y="2462904"/>
                <a:chExt cx="2203580" cy="2054871"/>
              </a:xfrm>
            </p:grpSpPr>
            <p:sp>
              <p:nvSpPr>
                <p:cNvPr id="47" name="流程圖: 延遲 46">
                  <a:extLst>
                    <a:ext uri="{FF2B5EF4-FFF2-40B4-BE49-F238E27FC236}">
                      <a16:creationId xmlns:a16="http://schemas.microsoft.com/office/drawing/2014/main" id="{E9A087F2-BF3F-4FF0-BE88-6DFF3FA1BC60}"/>
                    </a:ext>
                  </a:extLst>
                </p:cNvPr>
                <p:cNvSpPr/>
                <p:nvPr/>
              </p:nvSpPr>
              <p:spPr>
                <a:xfrm>
                  <a:off x="6969476" y="2830560"/>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78" name="群組 77">
                  <a:extLst>
                    <a:ext uri="{FF2B5EF4-FFF2-40B4-BE49-F238E27FC236}">
                      <a16:creationId xmlns:a16="http://schemas.microsoft.com/office/drawing/2014/main" id="{AAAAB62A-A4DA-423F-8A7B-7578933DDAFC}"/>
                    </a:ext>
                  </a:extLst>
                </p:cNvPr>
                <p:cNvGrpSpPr/>
                <p:nvPr/>
              </p:nvGrpSpPr>
              <p:grpSpPr>
                <a:xfrm>
                  <a:off x="6582144" y="2462904"/>
                  <a:ext cx="2203580" cy="2054871"/>
                  <a:chOff x="7096079" y="2432440"/>
                  <a:chExt cx="2203580" cy="2054871"/>
                </a:xfrm>
              </p:grpSpPr>
              <p:cxnSp>
                <p:nvCxnSpPr>
                  <p:cNvPr id="79" name="直線接點 78">
                    <a:extLst>
                      <a:ext uri="{FF2B5EF4-FFF2-40B4-BE49-F238E27FC236}">
                        <a16:creationId xmlns:a16="http://schemas.microsoft.com/office/drawing/2014/main" id="{1A8D52D1-6E1E-4161-B382-A966A13BD093}"/>
                      </a:ext>
                    </a:extLst>
                  </p:cNvPr>
                  <p:cNvCxnSpPr>
                    <a:cxnSpLocks/>
                  </p:cNvCxnSpPr>
                  <p:nvPr/>
                </p:nvCxnSpPr>
                <p:spPr>
                  <a:xfrm>
                    <a:off x="8017510" y="3656146"/>
                    <a:ext cx="3187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F9BCD8E2-8425-42A3-80CD-752CEFC94273}"/>
                      </a:ext>
                    </a:extLst>
                  </p:cNvPr>
                  <p:cNvSpPr/>
                  <p:nvPr/>
                </p:nvSpPr>
                <p:spPr>
                  <a:xfrm>
                    <a:off x="8343854" y="3388061"/>
                    <a:ext cx="955805" cy="533282"/>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Times New Roman" panose="02020603050405020304" pitchFamily="18" charset="0"/>
                      </a:rPr>
                      <a:t>Coincidence counter</a:t>
                    </a:r>
                    <a:endParaRPr lang="zh-TW" altLang="en-US" sz="900" b="1" dirty="0">
                      <a:solidFill>
                        <a:schemeClr val="tx1"/>
                      </a:solidFill>
                      <a:latin typeface="Montserrat" panose="02020500000000000000" charset="0"/>
                      <a:cs typeface="Times New Roman" panose="02020603050405020304" pitchFamily="18" charset="0"/>
                    </a:endParaRPr>
                  </a:p>
                </p:txBody>
              </p:sp>
              <p:sp>
                <p:nvSpPr>
                  <p:cNvPr id="81" name="文字方塊 80">
                    <a:extLst>
                      <a:ext uri="{FF2B5EF4-FFF2-40B4-BE49-F238E27FC236}">
                        <a16:creationId xmlns:a16="http://schemas.microsoft.com/office/drawing/2014/main" id="{444641D9-9FFF-4303-B088-1CAE8A2FB1B3}"/>
                      </a:ext>
                    </a:extLst>
                  </p:cNvPr>
                  <p:cNvSpPr txBox="1"/>
                  <p:nvPr/>
                </p:nvSpPr>
                <p:spPr>
                  <a:xfrm>
                    <a:off x="7096079" y="2432440"/>
                    <a:ext cx="1043876"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Single-photon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detector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82" name="右中括弧 81">
                    <a:extLst>
                      <a:ext uri="{FF2B5EF4-FFF2-40B4-BE49-F238E27FC236}">
                        <a16:creationId xmlns:a16="http://schemas.microsoft.com/office/drawing/2014/main" id="{FE55E94C-77AF-4B11-8230-4D1EB61EF5D8}"/>
                      </a:ext>
                    </a:extLst>
                  </p:cNvPr>
                  <p:cNvSpPr/>
                  <p:nvPr/>
                </p:nvSpPr>
                <p:spPr>
                  <a:xfrm>
                    <a:off x="7751834" y="2937494"/>
                    <a:ext cx="255299" cy="1549817"/>
                  </a:xfrm>
                  <a:prstGeom prst="rightBracket">
                    <a:avLst>
                      <a:gd name="adj" fmla="val 88455"/>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grpSp>
        </p:grpSp>
        <p:sp>
          <p:nvSpPr>
            <p:cNvPr id="94" name="流程圖: 延遲 93">
              <a:extLst>
                <a:ext uri="{FF2B5EF4-FFF2-40B4-BE49-F238E27FC236}">
                  <a16:creationId xmlns:a16="http://schemas.microsoft.com/office/drawing/2014/main" id="{16B5BC51-255B-4E65-A81A-B52897CCC9FE}"/>
                </a:ext>
              </a:extLst>
            </p:cNvPr>
            <p:cNvSpPr/>
            <p:nvPr/>
          </p:nvSpPr>
          <p:spPr>
            <a:xfrm>
              <a:off x="6658458" y="4521326"/>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103" name="群組 102">
              <a:extLst>
                <a:ext uri="{FF2B5EF4-FFF2-40B4-BE49-F238E27FC236}">
                  <a16:creationId xmlns:a16="http://schemas.microsoft.com/office/drawing/2014/main" id="{2BCBB08F-4DF5-4B10-A43E-4ED511249313}"/>
                </a:ext>
              </a:extLst>
            </p:cNvPr>
            <p:cNvGrpSpPr/>
            <p:nvPr/>
          </p:nvGrpSpPr>
          <p:grpSpPr>
            <a:xfrm>
              <a:off x="5428110" y="4542675"/>
              <a:ext cx="777614" cy="249399"/>
              <a:chOff x="3435647" y="4113835"/>
              <a:chExt cx="777614" cy="249399"/>
            </a:xfrm>
          </p:grpSpPr>
          <p:sp>
            <p:nvSpPr>
              <p:cNvPr id="97" name="矩形 96">
                <a:extLst>
                  <a:ext uri="{FF2B5EF4-FFF2-40B4-BE49-F238E27FC236}">
                    <a16:creationId xmlns:a16="http://schemas.microsoft.com/office/drawing/2014/main" id="{3BF2B9D9-5F2C-48B1-80E6-3921027CF6A9}"/>
                  </a:ext>
                </a:extLst>
              </p:cNvPr>
              <p:cNvSpPr/>
              <p:nvPr/>
            </p:nvSpPr>
            <p:spPr>
              <a:xfrm>
                <a:off x="3542528" y="4113835"/>
                <a:ext cx="423817" cy="249399"/>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a:extLst>
                  <a:ext uri="{FF2B5EF4-FFF2-40B4-BE49-F238E27FC236}">
                    <a16:creationId xmlns:a16="http://schemas.microsoft.com/office/drawing/2014/main" id="{FF661D49-1DC1-4A34-AA10-4581774E9F63}"/>
                  </a:ext>
                </a:extLst>
              </p:cNvPr>
              <p:cNvSpPr/>
              <p:nvPr/>
            </p:nvSpPr>
            <p:spPr>
              <a:xfrm>
                <a:off x="3435647" y="4191891"/>
                <a:ext cx="98932" cy="93288"/>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791A1309-C538-4296-B9E0-8D8E163FABBE}"/>
                  </a:ext>
                </a:extLst>
              </p:cNvPr>
              <p:cNvSpPr/>
              <p:nvPr/>
            </p:nvSpPr>
            <p:spPr>
              <a:xfrm>
                <a:off x="3973756" y="4191891"/>
                <a:ext cx="98932" cy="93288"/>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a:extLst>
                  <a:ext uri="{FF2B5EF4-FFF2-40B4-BE49-F238E27FC236}">
                    <a16:creationId xmlns:a16="http://schemas.microsoft.com/office/drawing/2014/main" id="{B7BD12EB-5B0C-4E14-B5E7-0E9DBC9B7E30}"/>
                  </a:ext>
                </a:extLst>
              </p:cNvPr>
              <p:cNvSpPr/>
              <p:nvPr/>
            </p:nvSpPr>
            <p:spPr>
              <a:xfrm rot="5400000">
                <a:off x="4070918" y="4220892"/>
                <a:ext cx="45719" cy="238966"/>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4" name="文字方塊 103">
              <a:extLst>
                <a:ext uri="{FF2B5EF4-FFF2-40B4-BE49-F238E27FC236}">
                  <a16:creationId xmlns:a16="http://schemas.microsoft.com/office/drawing/2014/main" id="{852FCAFE-B63F-4BF4-8A5B-F79B4D693588}"/>
                </a:ext>
              </a:extLst>
            </p:cNvPr>
            <p:cNvSpPr txBox="1"/>
            <p:nvPr/>
          </p:nvSpPr>
          <p:spPr>
            <a:xfrm>
              <a:off x="5282671" y="4164456"/>
              <a:ext cx="1039066"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Tunable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bandpass fiber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05" name="矩形 104">
              <a:extLst>
                <a:ext uri="{FF2B5EF4-FFF2-40B4-BE49-F238E27FC236}">
                  <a16:creationId xmlns:a16="http://schemas.microsoft.com/office/drawing/2014/main" id="{77B6D66E-19C2-423F-8BD9-DD91807D69F6}"/>
                </a:ext>
              </a:extLst>
            </p:cNvPr>
            <p:cNvSpPr/>
            <p:nvPr/>
          </p:nvSpPr>
          <p:spPr>
            <a:xfrm>
              <a:off x="4206008" y="2495057"/>
              <a:ext cx="61050" cy="459475"/>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文字方塊 105">
              <a:extLst>
                <a:ext uri="{FF2B5EF4-FFF2-40B4-BE49-F238E27FC236}">
                  <a16:creationId xmlns:a16="http://schemas.microsoft.com/office/drawing/2014/main" id="{B1211476-C236-4C8A-8B18-C54923891F8A}"/>
                </a:ext>
              </a:extLst>
            </p:cNvPr>
            <p:cNvSpPr txBox="1"/>
            <p:nvPr/>
          </p:nvSpPr>
          <p:spPr>
            <a:xfrm>
              <a:off x="3961614" y="2130864"/>
              <a:ext cx="575799"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Pump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07" name="文字方塊 106">
              <a:extLst>
                <a:ext uri="{FF2B5EF4-FFF2-40B4-BE49-F238E27FC236}">
                  <a16:creationId xmlns:a16="http://schemas.microsoft.com/office/drawing/2014/main" id="{9284DB80-E876-4840-BA76-4A2E5F741C1A}"/>
                </a:ext>
              </a:extLst>
            </p:cNvPr>
            <p:cNvSpPr txBox="1"/>
            <p:nvPr/>
          </p:nvSpPr>
          <p:spPr>
            <a:xfrm>
              <a:off x="5296231" y="2364648"/>
              <a:ext cx="593432"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Mirrors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08" name="文字方塊 107">
              <a:extLst>
                <a:ext uri="{FF2B5EF4-FFF2-40B4-BE49-F238E27FC236}">
                  <a16:creationId xmlns:a16="http://schemas.microsoft.com/office/drawing/2014/main" id="{2F66E8BB-2C26-4C7F-91DC-0C77EE35436A}"/>
                </a:ext>
              </a:extLst>
            </p:cNvPr>
            <p:cNvSpPr txBox="1"/>
            <p:nvPr/>
          </p:nvSpPr>
          <p:spPr>
            <a:xfrm>
              <a:off x="4065629" y="4165443"/>
              <a:ext cx="872355"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Collimators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09" name="文字方塊 108">
              <a:extLst>
                <a:ext uri="{FF2B5EF4-FFF2-40B4-BE49-F238E27FC236}">
                  <a16:creationId xmlns:a16="http://schemas.microsoft.com/office/drawing/2014/main" id="{5263224B-7DE3-43B8-97E1-E539EF890430}"/>
                </a:ext>
              </a:extLst>
            </p:cNvPr>
            <p:cNvSpPr txBox="1"/>
            <p:nvPr/>
          </p:nvSpPr>
          <p:spPr>
            <a:xfrm>
              <a:off x="3792028" y="3889619"/>
              <a:ext cx="1045479"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Bandpass 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sp>
        <p:nvSpPr>
          <p:cNvPr id="87" name="文字方塊 86">
            <a:extLst>
              <a:ext uri="{FF2B5EF4-FFF2-40B4-BE49-F238E27FC236}">
                <a16:creationId xmlns:a16="http://schemas.microsoft.com/office/drawing/2014/main" id="{9E9AEC49-1FFF-4739-9CC0-3700B43B65C2}"/>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63</a:t>
            </a:r>
            <a:endParaRPr lang="zh-TW" altLang="en-US" sz="1100" dirty="0">
              <a:latin typeface="Montserrat" panose="02020500000000000000" charset="0"/>
            </a:endParaRPr>
          </a:p>
        </p:txBody>
      </p:sp>
      <p:sp>
        <p:nvSpPr>
          <p:cNvPr id="88" name="矩形 87">
            <a:extLst>
              <a:ext uri="{FF2B5EF4-FFF2-40B4-BE49-F238E27FC236}">
                <a16:creationId xmlns:a16="http://schemas.microsoft.com/office/drawing/2014/main" id="{FD874366-691C-48D9-9119-9ED7569EA3AD}"/>
              </a:ext>
            </a:extLst>
          </p:cNvPr>
          <p:cNvSpPr/>
          <p:nvPr/>
        </p:nvSpPr>
        <p:spPr>
          <a:xfrm rot="5400000">
            <a:off x="4984339" y="3814834"/>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9" name="矩形 88">
            <a:extLst>
              <a:ext uri="{FF2B5EF4-FFF2-40B4-BE49-F238E27FC236}">
                <a16:creationId xmlns:a16="http://schemas.microsoft.com/office/drawing/2014/main" id="{8A7EF623-93BC-4D7E-A7D7-C3EBF7000ABF}"/>
              </a:ext>
            </a:extLst>
          </p:cNvPr>
          <p:cNvSpPr/>
          <p:nvPr/>
        </p:nvSpPr>
        <p:spPr>
          <a:xfrm>
            <a:off x="5725914" y="2917050"/>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0" name="文字方塊 89">
            <a:extLst>
              <a:ext uri="{FF2B5EF4-FFF2-40B4-BE49-F238E27FC236}">
                <a16:creationId xmlns:a16="http://schemas.microsoft.com/office/drawing/2014/main" id="{B3E637AA-B795-4FCB-995A-0757E719DFDA}"/>
              </a:ext>
            </a:extLst>
          </p:cNvPr>
          <p:cNvSpPr txBox="1"/>
          <p:nvPr/>
        </p:nvSpPr>
        <p:spPr>
          <a:xfrm>
            <a:off x="6626599" y="3025408"/>
            <a:ext cx="332142" cy="230832"/>
          </a:xfrm>
          <a:prstGeom prst="rect">
            <a:avLst/>
          </a:prstGeom>
          <a:noFill/>
        </p:spPr>
        <p:txBody>
          <a:bodyPr wrap="none" rtlCol="0">
            <a:spAutoFit/>
          </a:bodyPr>
          <a:lstStyle/>
          <a:p>
            <a:r>
              <a:rPr lang="en-US" altLang="zh-TW" sz="900" b="1" dirty="0">
                <a:latin typeface="Montserrat" panose="02020500000000000000" charset="0"/>
              </a:rPr>
              <a:t>TE</a:t>
            </a:r>
            <a:endParaRPr lang="zh-TW" altLang="en-US" sz="900" b="1" dirty="0">
              <a:latin typeface="Montserrat" panose="02020500000000000000" charset="0"/>
            </a:endParaRPr>
          </a:p>
        </p:txBody>
      </p:sp>
      <p:sp>
        <p:nvSpPr>
          <p:cNvPr id="91" name="文字方塊 90">
            <a:extLst>
              <a:ext uri="{FF2B5EF4-FFF2-40B4-BE49-F238E27FC236}">
                <a16:creationId xmlns:a16="http://schemas.microsoft.com/office/drawing/2014/main" id="{26D95F34-258C-47AB-B361-B07FB6F2B571}"/>
              </a:ext>
            </a:extLst>
          </p:cNvPr>
          <p:cNvSpPr txBox="1"/>
          <p:nvPr/>
        </p:nvSpPr>
        <p:spPr>
          <a:xfrm>
            <a:off x="6609767" y="4561242"/>
            <a:ext cx="365806" cy="230832"/>
          </a:xfrm>
          <a:prstGeom prst="rect">
            <a:avLst/>
          </a:prstGeom>
          <a:noFill/>
        </p:spPr>
        <p:txBody>
          <a:bodyPr wrap="none" rtlCol="0">
            <a:spAutoFit/>
          </a:bodyPr>
          <a:lstStyle/>
          <a:p>
            <a:r>
              <a:rPr lang="en-US" altLang="zh-TW" sz="900" b="1" dirty="0">
                <a:latin typeface="Montserrat" panose="02020500000000000000" charset="0"/>
              </a:rPr>
              <a:t>TM</a:t>
            </a:r>
            <a:endParaRPr lang="zh-TW" altLang="en-US" sz="900" b="1" dirty="0">
              <a:latin typeface="Montserrat" panose="02020500000000000000" charset="0"/>
            </a:endParaRPr>
          </a:p>
        </p:txBody>
      </p:sp>
      <p:sp>
        <p:nvSpPr>
          <p:cNvPr id="92" name="文字方塊 91">
            <a:extLst>
              <a:ext uri="{FF2B5EF4-FFF2-40B4-BE49-F238E27FC236}">
                <a16:creationId xmlns:a16="http://schemas.microsoft.com/office/drawing/2014/main" id="{AEEB1C5D-2350-4130-9746-40A3B58CDCEB}"/>
              </a:ext>
            </a:extLst>
          </p:cNvPr>
          <p:cNvSpPr txBox="1"/>
          <p:nvPr/>
        </p:nvSpPr>
        <p:spPr>
          <a:xfrm>
            <a:off x="7298558" y="958079"/>
            <a:ext cx="1670650" cy="692177"/>
          </a:xfrm>
          <a:prstGeom prst="rect">
            <a:avLst/>
          </a:prstGeom>
          <a:noFill/>
        </p:spPr>
        <p:txBody>
          <a:bodyPr wrap="none" rtlCol="0">
            <a:spAutoFit/>
          </a:bodyPr>
          <a:lstStyle/>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VHG Laser : ≈3mW</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Oven temperature : 107°C</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Detector’s efficiency : 25%</a:t>
            </a:r>
          </a:p>
        </p:txBody>
      </p:sp>
    </p:spTree>
    <p:extLst>
      <p:ext uri="{BB962C8B-B14F-4D97-AF65-F5344CB8AC3E}">
        <p14:creationId xmlns:p14="http://schemas.microsoft.com/office/powerpoint/2010/main" val="24548355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12" name="圖片 11">
            <a:extLst>
              <a:ext uri="{FF2B5EF4-FFF2-40B4-BE49-F238E27FC236}">
                <a16:creationId xmlns:a16="http://schemas.microsoft.com/office/drawing/2014/main" id="{2D494B66-F65A-4FD5-95C4-D4D454AF1B61}"/>
              </a:ext>
            </a:extLst>
          </p:cNvPr>
          <p:cNvPicPr>
            <a:picLocks noChangeAspect="1"/>
          </p:cNvPicPr>
          <p:nvPr/>
        </p:nvPicPr>
        <p:blipFill>
          <a:blip r:embed="rId3"/>
          <a:stretch>
            <a:fillRect/>
          </a:stretch>
        </p:blipFill>
        <p:spPr>
          <a:xfrm>
            <a:off x="1092570" y="1285741"/>
            <a:ext cx="3306823" cy="2572017"/>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Spectrum of SPDC</a:t>
            </a:r>
          </a:p>
        </p:txBody>
      </p:sp>
      <p:grpSp>
        <p:nvGrpSpPr>
          <p:cNvPr id="3" name="群組 2">
            <a:extLst>
              <a:ext uri="{FF2B5EF4-FFF2-40B4-BE49-F238E27FC236}">
                <a16:creationId xmlns:a16="http://schemas.microsoft.com/office/drawing/2014/main" id="{56A5B79F-F67B-435D-A5E3-E797DB7FDC97}"/>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61D2F9FF-DE20-4302-9713-7D2DE4D7521C}"/>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8F225B8D-6A01-4A73-8CDF-42C994DB290B}"/>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04047D2-D5D2-4317-89EE-6882F634ECF5}"/>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F2632CFE-4849-47AD-B1A2-BBAAB3AE53E9}"/>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1332DB28-028D-477B-B52E-57FA2823BF32}"/>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C8F29CBD-5BF2-47EF-8FB7-202814609764}"/>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6" name="圖片 15">
            <a:extLst>
              <a:ext uri="{FF2B5EF4-FFF2-40B4-BE49-F238E27FC236}">
                <a16:creationId xmlns:a16="http://schemas.microsoft.com/office/drawing/2014/main" id="{6743D8C8-FD2E-4C46-88FE-9A8AD09D1A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4608" y="856689"/>
            <a:ext cx="2810275" cy="2108720"/>
          </a:xfrm>
          <a:prstGeom prst="rect">
            <a:avLst/>
          </a:prstGeom>
        </p:spPr>
      </p:pic>
      <p:pic>
        <p:nvPicPr>
          <p:cNvPr id="17" name="圖片 16">
            <a:extLst>
              <a:ext uri="{FF2B5EF4-FFF2-40B4-BE49-F238E27FC236}">
                <a16:creationId xmlns:a16="http://schemas.microsoft.com/office/drawing/2014/main" id="{E20A53D3-B5F8-4BC9-8CF5-3B2F7201C5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4608" y="2965409"/>
            <a:ext cx="2810275" cy="2108720"/>
          </a:xfrm>
          <a:prstGeom prst="rect">
            <a:avLst/>
          </a:prstGeom>
        </p:spPr>
      </p:pic>
      <p:sp>
        <p:nvSpPr>
          <p:cNvPr id="14" name="文字方塊 13">
            <a:extLst>
              <a:ext uri="{FF2B5EF4-FFF2-40B4-BE49-F238E27FC236}">
                <a16:creationId xmlns:a16="http://schemas.microsoft.com/office/drawing/2014/main" id="{59E07574-4F2C-407D-B4F6-1444B63A11A5}"/>
              </a:ext>
            </a:extLst>
          </p:cNvPr>
          <p:cNvSpPr txBox="1"/>
          <p:nvPr/>
        </p:nvSpPr>
        <p:spPr>
          <a:xfrm>
            <a:off x="1658270" y="4019769"/>
            <a:ext cx="2337499" cy="758797"/>
          </a:xfrm>
          <a:prstGeom prst="rect">
            <a:avLst/>
          </a:prstGeom>
          <a:noFill/>
        </p:spPr>
        <p:txBody>
          <a:bodyPr wrap="none" rtlCol="0">
            <a:spAutoFit/>
          </a:bodyPr>
          <a:lstStyle/>
          <a:p>
            <a:pPr>
              <a:lnSpc>
                <a:spcPct val="150000"/>
              </a:lnSpc>
            </a:pPr>
            <a:r>
              <a:rPr lang="en-US" altLang="zh-TW" sz="1000" dirty="0">
                <a:latin typeface="Montserrat" panose="02020500000000000000" charset="0"/>
              </a:rPr>
              <a:t>Temperature at </a:t>
            </a:r>
            <a:r>
              <a:rPr lang="en-US" altLang="zh-TW" sz="1000" b="1" dirty="0">
                <a:latin typeface="Montserrat" panose="02020500000000000000" charset="0"/>
              </a:rPr>
              <a:t>107°C</a:t>
            </a:r>
          </a:p>
          <a:p>
            <a:pPr>
              <a:lnSpc>
                <a:spcPct val="150000"/>
              </a:lnSpc>
            </a:pPr>
            <a:r>
              <a:rPr lang="en-US" altLang="zh-TW" sz="1000" dirty="0">
                <a:latin typeface="Montserrat" panose="02020500000000000000" charset="0"/>
              </a:rPr>
              <a:t>Wavelength of signal at </a:t>
            </a:r>
            <a:r>
              <a:rPr lang="en-US" altLang="zh-TW" sz="1000" b="1" dirty="0">
                <a:latin typeface="Montserrat" panose="02020500000000000000" charset="0"/>
              </a:rPr>
              <a:t>1569nm</a:t>
            </a:r>
          </a:p>
          <a:p>
            <a:pPr>
              <a:lnSpc>
                <a:spcPct val="150000"/>
              </a:lnSpc>
            </a:pPr>
            <a:r>
              <a:rPr lang="en-US" altLang="zh-TW" sz="1000" dirty="0">
                <a:latin typeface="Montserrat" panose="02020500000000000000" charset="0"/>
              </a:rPr>
              <a:t>Wavelength of idler at </a:t>
            </a:r>
            <a:r>
              <a:rPr lang="en-US" altLang="zh-TW" sz="1000" b="1" dirty="0">
                <a:latin typeface="Montserrat" panose="02020500000000000000" charset="0"/>
              </a:rPr>
              <a:t>1569.1nm</a:t>
            </a:r>
          </a:p>
        </p:txBody>
      </p:sp>
      <p:sp>
        <p:nvSpPr>
          <p:cNvPr id="18" name="文字方塊 17">
            <a:extLst>
              <a:ext uri="{FF2B5EF4-FFF2-40B4-BE49-F238E27FC236}">
                <a16:creationId xmlns:a16="http://schemas.microsoft.com/office/drawing/2014/main" id="{120DDFAC-4C38-4A96-BBFB-DF8F8B7577EE}"/>
              </a:ext>
            </a:extLst>
          </p:cNvPr>
          <p:cNvSpPr txBox="1"/>
          <p:nvPr/>
        </p:nvSpPr>
        <p:spPr>
          <a:xfrm>
            <a:off x="8585770" y="4631694"/>
            <a:ext cx="364202" cy="261610"/>
          </a:xfrm>
          <a:prstGeom prst="rect">
            <a:avLst/>
          </a:prstGeom>
          <a:noFill/>
        </p:spPr>
        <p:txBody>
          <a:bodyPr wrap="none" rtlCol="0">
            <a:spAutoFit/>
          </a:bodyPr>
          <a:lstStyle/>
          <a:p>
            <a:r>
              <a:rPr lang="en-US" altLang="zh-TW" sz="1100" dirty="0">
                <a:latin typeface="Montserrat" panose="02020500000000000000" charset="0"/>
              </a:rPr>
              <a:t>64</a:t>
            </a:r>
            <a:endParaRPr lang="zh-TW" altLang="en-US" sz="1100" dirty="0">
              <a:latin typeface="Montserrat" panose="02020500000000000000" charset="0"/>
            </a:endParaRPr>
          </a:p>
        </p:txBody>
      </p:sp>
    </p:spTree>
    <p:extLst>
      <p:ext uri="{BB962C8B-B14F-4D97-AF65-F5344CB8AC3E}">
        <p14:creationId xmlns:p14="http://schemas.microsoft.com/office/powerpoint/2010/main" val="39234871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8681AF10-2CF3-49FD-9990-2519B70B2A1C}"/>
              </a:ext>
            </a:extLst>
          </p:cNvPr>
          <p:cNvPicPr>
            <a:picLocks noChangeAspect="1"/>
          </p:cNvPicPr>
          <p:nvPr/>
        </p:nvPicPr>
        <p:blipFill rotWithShape="1">
          <a:blip r:embed="rId3"/>
          <a:srcRect l="9316" t="3660" r="8291" b="4055"/>
          <a:stretch/>
        </p:blipFill>
        <p:spPr>
          <a:xfrm>
            <a:off x="1722209" y="1570892"/>
            <a:ext cx="5699581" cy="2932564"/>
          </a:xfrm>
          <a:prstGeom prst="rect">
            <a:avLst/>
          </a:prstGeom>
        </p:spPr>
      </p:pic>
      <p:sp>
        <p:nvSpPr>
          <p:cNvPr id="6" name="Google Shape;212;p36">
            <a:extLst>
              <a:ext uri="{FF2B5EF4-FFF2-40B4-BE49-F238E27FC236}">
                <a16:creationId xmlns:a16="http://schemas.microsoft.com/office/drawing/2014/main" id="{518E7183-8B04-432E-B49A-6C6563654E9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Spectrum of SPDC</a:t>
            </a:r>
          </a:p>
        </p:txBody>
      </p:sp>
      <p:grpSp>
        <p:nvGrpSpPr>
          <p:cNvPr id="7" name="群組 6">
            <a:extLst>
              <a:ext uri="{FF2B5EF4-FFF2-40B4-BE49-F238E27FC236}">
                <a16:creationId xmlns:a16="http://schemas.microsoft.com/office/drawing/2014/main" id="{06A45B8B-61BB-4119-9B60-81430982EB3B}"/>
              </a:ext>
            </a:extLst>
          </p:cNvPr>
          <p:cNvGrpSpPr/>
          <p:nvPr/>
        </p:nvGrpSpPr>
        <p:grpSpPr>
          <a:xfrm>
            <a:off x="189900" y="-911"/>
            <a:ext cx="8764200" cy="295831"/>
            <a:chOff x="189900" y="-911"/>
            <a:chExt cx="8764200" cy="295831"/>
          </a:xfrm>
        </p:grpSpPr>
        <p:sp>
          <p:nvSpPr>
            <p:cNvPr id="8" name="矩形 7">
              <a:extLst>
                <a:ext uri="{FF2B5EF4-FFF2-40B4-BE49-F238E27FC236}">
                  <a16:creationId xmlns:a16="http://schemas.microsoft.com/office/drawing/2014/main" id="{F209709D-A1B3-4F16-9158-79D46B2D51B4}"/>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9" name="矩形 8">
              <a:extLst>
                <a:ext uri="{FF2B5EF4-FFF2-40B4-BE49-F238E27FC236}">
                  <a16:creationId xmlns:a16="http://schemas.microsoft.com/office/drawing/2014/main" id="{B26FF0A9-ABA0-4049-8E3E-C503C2F8FEC2}"/>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9B33841-8F90-482E-859B-6AD543703355}"/>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FF0E368D-5C3F-47FD-8221-A634CEDD29B0}"/>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2" name="矩形 11">
              <a:extLst>
                <a:ext uri="{FF2B5EF4-FFF2-40B4-BE49-F238E27FC236}">
                  <a16:creationId xmlns:a16="http://schemas.microsoft.com/office/drawing/2014/main" id="{A7932A7E-171A-47C4-BDC7-C7C6B7A5A78B}"/>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3" name="矩形 12">
              <a:extLst>
                <a:ext uri="{FF2B5EF4-FFF2-40B4-BE49-F238E27FC236}">
                  <a16:creationId xmlns:a16="http://schemas.microsoft.com/office/drawing/2014/main" id="{A25F0B6C-7E25-49F5-84F2-F59AE5DA5C76}"/>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5" name="文字方塊 14">
            <a:extLst>
              <a:ext uri="{FF2B5EF4-FFF2-40B4-BE49-F238E27FC236}">
                <a16:creationId xmlns:a16="http://schemas.microsoft.com/office/drawing/2014/main" id="{855EC38E-0549-4A61-AC99-2505B8CCA85A}"/>
              </a:ext>
            </a:extLst>
          </p:cNvPr>
          <p:cNvSpPr txBox="1"/>
          <p:nvPr/>
        </p:nvSpPr>
        <p:spPr>
          <a:xfrm>
            <a:off x="3048985" y="1166620"/>
            <a:ext cx="3046027" cy="246221"/>
          </a:xfrm>
          <a:prstGeom prst="rect">
            <a:avLst/>
          </a:prstGeom>
          <a:noFill/>
        </p:spPr>
        <p:txBody>
          <a:bodyPr wrap="none" rtlCol="0">
            <a:spAutoFit/>
          </a:bodyPr>
          <a:lstStyle/>
          <a:p>
            <a:r>
              <a:rPr lang="en-US" altLang="zh-TW" sz="1000" b="1" dirty="0">
                <a:latin typeface="Montserrat" panose="02020500000000000000" charset="0"/>
              </a:rPr>
              <a:t>The overlapping spectra of signal and idler</a:t>
            </a:r>
            <a:endParaRPr lang="zh-TW" altLang="en-US" sz="1000" b="1" dirty="0">
              <a:latin typeface="Montserrat" panose="02020500000000000000" charset="0"/>
            </a:endParaRPr>
          </a:p>
        </p:txBody>
      </p:sp>
      <p:sp>
        <p:nvSpPr>
          <p:cNvPr id="16" name="文字方塊 15">
            <a:extLst>
              <a:ext uri="{FF2B5EF4-FFF2-40B4-BE49-F238E27FC236}">
                <a16:creationId xmlns:a16="http://schemas.microsoft.com/office/drawing/2014/main" id="{45B01272-E6F4-49FF-90DE-9EE21D5C1142}"/>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65</a:t>
            </a:r>
            <a:endParaRPr lang="zh-TW" altLang="en-US" sz="1100" dirty="0">
              <a:latin typeface="Montserrat" panose="02020500000000000000" charset="0"/>
            </a:endParaRPr>
          </a:p>
        </p:txBody>
      </p:sp>
    </p:spTree>
    <p:extLst>
      <p:ext uri="{BB962C8B-B14F-4D97-AF65-F5344CB8AC3E}">
        <p14:creationId xmlns:p14="http://schemas.microsoft.com/office/powerpoint/2010/main" val="10945829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1957871" y="1713535"/>
            <a:ext cx="5228258"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Results and discussions</a:t>
            </a:r>
          </a:p>
        </p:txBody>
      </p:sp>
      <p:pic>
        <p:nvPicPr>
          <p:cNvPr id="2" name="圖片 1">
            <a:extLst>
              <a:ext uri="{FF2B5EF4-FFF2-40B4-BE49-F238E27FC236}">
                <a16:creationId xmlns:a16="http://schemas.microsoft.com/office/drawing/2014/main" id="{5081938B-B467-45EE-90F0-D20E9441C502}"/>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0" y="4481112"/>
            <a:ext cx="9144000" cy="662388"/>
          </a:xfrm>
          <a:prstGeom prst="rect">
            <a:avLst/>
          </a:prstGeom>
        </p:spPr>
      </p:pic>
      <p:grpSp>
        <p:nvGrpSpPr>
          <p:cNvPr id="12" name="Google Shape;2047;p67">
            <a:extLst>
              <a:ext uri="{FF2B5EF4-FFF2-40B4-BE49-F238E27FC236}">
                <a16:creationId xmlns:a16="http://schemas.microsoft.com/office/drawing/2014/main" id="{A737ED4D-80B4-4DFB-80B9-728A667074E0}"/>
              </a:ext>
            </a:extLst>
          </p:cNvPr>
          <p:cNvGrpSpPr/>
          <p:nvPr/>
        </p:nvGrpSpPr>
        <p:grpSpPr>
          <a:xfrm>
            <a:off x="7301497" y="3676650"/>
            <a:ext cx="1225283" cy="1333250"/>
            <a:chOff x="1473725" y="402400"/>
            <a:chExt cx="4629150" cy="4842650"/>
          </a:xfrm>
        </p:grpSpPr>
        <p:sp>
          <p:nvSpPr>
            <p:cNvPr id="13" name="Google Shape;2048;p67">
              <a:extLst>
                <a:ext uri="{FF2B5EF4-FFF2-40B4-BE49-F238E27FC236}">
                  <a16:creationId xmlns:a16="http://schemas.microsoft.com/office/drawing/2014/main" id="{A77CE4C8-40FA-485C-A7F4-3629E23F19B3}"/>
                </a:ext>
              </a:extLst>
            </p:cNvPr>
            <p:cNvSpPr/>
            <p:nvPr/>
          </p:nvSpPr>
          <p:spPr>
            <a:xfrm>
              <a:off x="3691150" y="4289350"/>
              <a:ext cx="79250" cy="154300"/>
            </a:xfrm>
            <a:custGeom>
              <a:avLst/>
              <a:gdLst/>
              <a:ahLst/>
              <a:cxnLst/>
              <a:rect l="l" t="t" r="r" b="b"/>
              <a:pathLst>
                <a:path w="3170" h="6172" extrusionOk="0">
                  <a:moveTo>
                    <a:pt x="33" y="0"/>
                  </a:moveTo>
                  <a:lnTo>
                    <a:pt x="0" y="6171"/>
                  </a:lnTo>
                  <a:lnTo>
                    <a:pt x="3169" y="6171"/>
                  </a:lnTo>
                  <a:lnTo>
                    <a:pt x="3136" y="100"/>
                  </a:lnTo>
                  <a:cubicBezTo>
                    <a:pt x="2135" y="67"/>
                    <a:pt x="1068" y="34"/>
                    <a:pt x="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49;p67">
              <a:extLst>
                <a:ext uri="{FF2B5EF4-FFF2-40B4-BE49-F238E27FC236}">
                  <a16:creationId xmlns:a16="http://schemas.microsoft.com/office/drawing/2014/main" id="{F582A7AB-EC04-40A2-A0CD-1617B4BC9086}"/>
                </a:ext>
              </a:extLst>
            </p:cNvPr>
            <p:cNvSpPr/>
            <p:nvPr/>
          </p:nvSpPr>
          <p:spPr>
            <a:xfrm>
              <a:off x="3696975" y="697600"/>
              <a:ext cx="68400" cy="2770350"/>
            </a:xfrm>
            <a:custGeom>
              <a:avLst/>
              <a:gdLst/>
              <a:ahLst/>
              <a:cxnLst/>
              <a:rect l="l" t="t" r="r" b="b"/>
              <a:pathLst>
                <a:path w="2736" h="110814" extrusionOk="0">
                  <a:moveTo>
                    <a:pt x="2102" y="1"/>
                  </a:moveTo>
                  <a:cubicBezTo>
                    <a:pt x="1602" y="1769"/>
                    <a:pt x="1101" y="3637"/>
                    <a:pt x="568" y="5672"/>
                  </a:cubicBezTo>
                  <a:lnTo>
                    <a:pt x="1" y="104009"/>
                  </a:lnTo>
                  <a:cubicBezTo>
                    <a:pt x="835" y="106310"/>
                    <a:pt x="1735" y="108545"/>
                    <a:pt x="2736" y="110813"/>
                  </a:cubicBezTo>
                  <a:lnTo>
                    <a:pt x="2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50;p67">
              <a:extLst>
                <a:ext uri="{FF2B5EF4-FFF2-40B4-BE49-F238E27FC236}">
                  <a16:creationId xmlns:a16="http://schemas.microsoft.com/office/drawing/2014/main" id="{3BFB68A4-31CA-4D34-919E-4F7C2F401C64}"/>
                </a:ext>
              </a:extLst>
            </p:cNvPr>
            <p:cNvSpPr/>
            <p:nvPr/>
          </p:nvSpPr>
          <p:spPr>
            <a:xfrm>
              <a:off x="2485275" y="4577875"/>
              <a:ext cx="1355175" cy="155975"/>
            </a:xfrm>
            <a:custGeom>
              <a:avLst/>
              <a:gdLst/>
              <a:ahLst/>
              <a:cxnLst/>
              <a:rect l="l" t="t" r="r" b="b"/>
              <a:pathLst>
                <a:path w="54207" h="6239" extrusionOk="0">
                  <a:moveTo>
                    <a:pt x="13944" y="1"/>
                  </a:moveTo>
                  <a:cubicBezTo>
                    <a:pt x="6005" y="2469"/>
                    <a:pt x="1" y="6172"/>
                    <a:pt x="1" y="6172"/>
                  </a:cubicBezTo>
                  <a:cubicBezTo>
                    <a:pt x="268" y="6205"/>
                    <a:pt x="568" y="6205"/>
                    <a:pt x="868" y="6239"/>
                  </a:cubicBezTo>
                  <a:lnTo>
                    <a:pt x="868" y="6072"/>
                  </a:lnTo>
                  <a:lnTo>
                    <a:pt x="51404" y="6072"/>
                  </a:lnTo>
                  <a:lnTo>
                    <a:pt x="54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51;p67">
              <a:extLst>
                <a:ext uri="{FF2B5EF4-FFF2-40B4-BE49-F238E27FC236}">
                  <a16:creationId xmlns:a16="http://schemas.microsoft.com/office/drawing/2014/main" id="{EE278A19-5780-4E4A-88C7-6EC07F1794AA}"/>
                </a:ext>
              </a:extLst>
            </p:cNvPr>
            <p:cNvSpPr/>
            <p:nvPr/>
          </p:nvSpPr>
          <p:spPr>
            <a:xfrm>
              <a:off x="5184700" y="4627925"/>
              <a:ext cx="918175" cy="217675"/>
            </a:xfrm>
            <a:custGeom>
              <a:avLst/>
              <a:gdLst/>
              <a:ahLst/>
              <a:cxnLst/>
              <a:rect l="l" t="t" r="r" b="b"/>
              <a:pathLst>
                <a:path w="36727" h="8707" extrusionOk="0">
                  <a:moveTo>
                    <a:pt x="3303" y="0"/>
                  </a:moveTo>
                  <a:cubicBezTo>
                    <a:pt x="2970" y="0"/>
                    <a:pt x="2636" y="201"/>
                    <a:pt x="2536" y="534"/>
                  </a:cubicBezTo>
                  <a:lnTo>
                    <a:pt x="1" y="8340"/>
                  </a:lnTo>
                  <a:lnTo>
                    <a:pt x="1102" y="8707"/>
                  </a:lnTo>
                  <a:lnTo>
                    <a:pt x="3370" y="1702"/>
                  </a:lnTo>
                  <a:cubicBezTo>
                    <a:pt x="3503" y="1368"/>
                    <a:pt x="3803" y="1168"/>
                    <a:pt x="4137" y="1168"/>
                  </a:cubicBezTo>
                  <a:lnTo>
                    <a:pt x="10942" y="1168"/>
                  </a:lnTo>
                  <a:cubicBezTo>
                    <a:pt x="11476" y="1168"/>
                    <a:pt x="11843" y="1702"/>
                    <a:pt x="11676" y="2202"/>
                  </a:cubicBezTo>
                  <a:lnTo>
                    <a:pt x="9674" y="8340"/>
                  </a:lnTo>
                  <a:lnTo>
                    <a:pt x="10775" y="8707"/>
                  </a:lnTo>
                  <a:lnTo>
                    <a:pt x="13043" y="1702"/>
                  </a:lnTo>
                  <a:cubicBezTo>
                    <a:pt x="13177" y="1368"/>
                    <a:pt x="13477" y="1168"/>
                    <a:pt x="13811" y="1168"/>
                  </a:cubicBezTo>
                  <a:lnTo>
                    <a:pt x="21950" y="1168"/>
                  </a:lnTo>
                  <a:cubicBezTo>
                    <a:pt x="22483" y="1168"/>
                    <a:pt x="22850" y="1702"/>
                    <a:pt x="22684" y="2202"/>
                  </a:cubicBezTo>
                  <a:lnTo>
                    <a:pt x="20682" y="8340"/>
                  </a:lnTo>
                  <a:lnTo>
                    <a:pt x="21783" y="8707"/>
                  </a:lnTo>
                  <a:lnTo>
                    <a:pt x="24051" y="1702"/>
                  </a:lnTo>
                  <a:cubicBezTo>
                    <a:pt x="24185" y="1368"/>
                    <a:pt x="24485" y="1168"/>
                    <a:pt x="24818" y="1168"/>
                  </a:cubicBezTo>
                  <a:lnTo>
                    <a:pt x="33491" y="1168"/>
                  </a:lnTo>
                  <a:cubicBezTo>
                    <a:pt x="33892" y="1168"/>
                    <a:pt x="34292" y="1501"/>
                    <a:pt x="34292" y="1935"/>
                  </a:cubicBezTo>
                  <a:lnTo>
                    <a:pt x="34459" y="8540"/>
                  </a:lnTo>
                  <a:lnTo>
                    <a:pt x="35626" y="8506"/>
                  </a:lnTo>
                  <a:lnTo>
                    <a:pt x="35393" y="1168"/>
                  </a:lnTo>
                  <a:lnTo>
                    <a:pt x="36727" y="1168"/>
                  </a:lnTo>
                  <a:lnTo>
                    <a:pt x="367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2;p67">
              <a:extLst>
                <a:ext uri="{FF2B5EF4-FFF2-40B4-BE49-F238E27FC236}">
                  <a16:creationId xmlns:a16="http://schemas.microsoft.com/office/drawing/2014/main" id="{04B793D6-664D-4E89-AE94-D098ACE4E2B1}"/>
                </a:ext>
              </a:extLst>
            </p:cNvPr>
            <p:cNvSpPr/>
            <p:nvPr/>
          </p:nvSpPr>
          <p:spPr>
            <a:xfrm>
              <a:off x="1473725" y="4451950"/>
              <a:ext cx="967375" cy="276075"/>
            </a:xfrm>
            <a:custGeom>
              <a:avLst/>
              <a:gdLst/>
              <a:ahLst/>
              <a:cxnLst/>
              <a:rect l="l" t="t" r="r" b="b"/>
              <a:pathLst>
                <a:path w="38695" h="11043" extrusionOk="0">
                  <a:moveTo>
                    <a:pt x="0" y="1"/>
                  </a:moveTo>
                  <a:lnTo>
                    <a:pt x="634" y="902"/>
                  </a:lnTo>
                  <a:cubicBezTo>
                    <a:pt x="668" y="935"/>
                    <a:pt x="3169" y="4571"/>
                    <a:pt x="6505" y="9041"/>
                  </a:cubicBezTo>
                  <a:lnTo>
                    <a:pt x="7472" y="8340"/>
                  </a:lnTo>
                  <a:cubicBezTo>
                    <a:pt x="5371" y="5538"/>
                    <a:pt x="3570" y="3070"/>
                    <a:pt x="2569" y="1602"/>
                  </a:cubicBezTo>
                  <a:cubicBezTo>
                    <a:pt x="2469" y="1435"/>
                    <a:pt x="2569" y="1202"/>
                    <a:pt x="2802" y="1202"/>
                  </a:cubicBezTo>
                  <a:cubicBezTo>
                    <a:pt x="5871" y="1235"/>
                    <a:pt x="9174" y="1402"/>
                    <a:pt x="13010" y="1736"/>
                  </a:cubicBezTo>
                  <a:cubicBezTo>
                    <a:pt x="13076" y="1736"/>
                    <a:pt x="13177" y="1769"/>
                    <a:pt x="13210" y="1869"/>
                  </a:cubicBezTo>
                  <a:cubicBezTo>
                    <a:pt x="13810" y="2670"/>
                    <a:pt x="16012" y="5872"/>
                    <a:pt x="18847" y="9608"/>
                  </a:cubicBezTo>
                  <a:lnTo>
                    <a:pt x="19314" y="9241"/>
                  </a:lnTo>
                  <a:lnTo>
                    <a:pt x="18914" y="9741"/>
                  </a:lnTo>
                  <a:lnTo>
                    <a:pt x="19381" y="9408"/>
                  </a:lnTo>
                  <a:lnTo>
                    <a:pt x="19748" y="8907"/>
                  </a:lnTo>
                  <a:cubicBezTo>
                    <a:pt x="17713" y="6205"/>
                    <a:pt x="16012" y="3770"/>
                    <a:pt x="14978" y="2369"/>
                  </a:cubicBezTo>
                  <a:cubicBezTo>
                    <a:pt x="14851" y="2211"/>
                    <a:pt x="14965" y="1933"/>
                    <a:pt x="15176" y="1933"/>
                  </a:cubicBezTo>
                  <a:cubicBezTo>
                    <a:pt x="15187" y="1933"/>
                    <a:pt x="15199" y="1934"/>
                    <a:pt x="15211" y="1936"/>
                  </a:cubicBezTo>
                  <a:cubicBezTo>
                    <a:pt x="18647" y="2269"/>
                    <a:pt x="22216" y="2670"/>
                    <a:pt x="26653" y="3170"/>
                  </a:cubicBezTo>
                  <a:cubicBezTo>
                    <a:pt x="26720" y="3170"/>
                    <a:pt x="26820" y="3203"/>
                    <a:pt x="26853" y="3270"/>
                  </a:cubicBezTo>
                  <a:cubicBezTo>
                    <a:pt x="28721" y="5939"/>
                    <a:pt x="30589" y="8574"/>
                    <a:pt x="32490" y="11042"/>
                  </a:cubicBezTo>
                  <a:lnTo>
                    <a:pt x="33424" y="10342"/>
                  </a:lnTo>
                  <a:cubicBezTo>
                    <a:pt x="31857" y="8240"/>
                    <a:pt x="30255" y="6072"/>
                    <a:pt x="28721" y="3837"/>
                  </a:cubicBezTo>
                  <a:cubicBezTo>
                    <a:pt x="28596" y="3619"/>
                    <a:pt x="28705" y="3400"/>
                    <a:pt x="28938" y="3400"/>
                  </a:cubicBezTo>
                  <a:cubicBezTo>
                    <a:pt x="28954" y="3400"/>
                    <a:pt x="28971" y="3401"/>
                    <a:pt x="28988" y="3403"/>
                  </a:cubicBezTo>
                  <a:cubicBezTo>
                    <a:pt x="31990" y="3737"/>
                    <a:pt x="35159" y="4071"/>
                    <a:pt x="38528" y="4404"/>
                  </a:cubicBezTo>
                  <a:lnTo>
                    <a:pt x="38695" y="3203"/>
                  </a:lnTo>
                  <a:cubicBezTo>
                    <a:pt x="34625" y="2770"/>
                    <a:pt x="30822" y="2369"/>
                    <a:pt x="27220" y="2002"/>
                  </a:cubicBezTo>
                  <a:cubicBezTo>
                    <a:pt x="21849" y="1369"/>
                    <a:pt x="17713" y="902"/>
                    <a:pt x="13644" y="568"/>
                  </a:cubicBezTo>
                  <a:cubicBezTo>
                    <a:pt x="8840" y="168"/>
                    <a:pt x="4837" y="1"/>
                    <a:pt x="1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53;p67">
              <a:extLst>
                <a:ext uri="{FF2B5EF4-FFF2-40B4-BE49-F238E27FC236}">
                  <a16:creationId xmlns:a16="http://schemas.microsoft.com/office/drawing/2014/main" id="{5B07ADCE-C351-4B23-96A1-8714CDA64364}"/>
                </a:ext>
              </a:extLst>
            </p:cNvPr>
            <p:cNvSpPr/>
            <p:nvPr/>
          </p:nvSpPr>
          <p:spPr>
            <a:xfrm>
              <a:off x="1623000" y="4660450"/>
              <a:ext cx="4463200" cy="500375"/>
            </a:xfrm>
            <a:custGeom>
              <a:avLst/>
              <a:gdLst/>
              <a:ahLst/>
              <a:cxnLst/>
              <a:rect l="l" t="t" r="r" b="b"/>
              <a:pathLst>
                <a:path w="178528" h="20015" extrusionOk="0">
                  <a:moveTo>
                    <a:pt x="0" y="0"/>
                  </a:moveTo>
                  <a:cubicBezTo>
                    <a:pt x="0" y="0"/>
                    <a:pt x="3069" y="4504"/>
                    <a:pt x="7039" y="9607"/>
                  </a:cubicBezTo>
                  <a:cubicBezTo>
                    <a:pt x="7839" y="10241"/>
                    <a:pt x="21349" y="20015"/>
                    <a:pt x="92767" y="20015"/>
                  </a:cubicBezTo>
                  <a:lnTo>
                    <a:pt x="169922" y="20015"/>
                  </a:lnTo>
                  <a:cubicBezTo>
                    <a:pt x="171289" y="19247"/>
                    <a:pt x="172490" y="18447"/>
                    <a:pt x="173291" y="17613"/>
                  </a:cubicBezTo>
                  <a:cubicBezTo>
                    <a:pt x="176260" y="14544"/>
                    <a:pt x="178528" y="6839"/>
                    <a:pt x="178528" y="6839"/>
                  </a:cubicBezTo>
                  <a:cubicBezTo>
                    <a:pt x="178528" y="6839"/>
                    <a:pt x="176230" y="6809"/>
                    <a:pt x="172148" y="6809"/>
                  </a:cubicBezTo>
                  <a:cubicBezTo>
                    <a:pt x="170107" y="6809"/>
                    <a:pt x="167620" y="6816"/>
                    <a:pt x="164751" y="6839"/>
                  </a:cubicBezTo>
                  <a:lnTo>
                    <a:pt x="153743" y="6839"/>
                  </a:lnTo>
                  <a:cubicBezTo>
                    <a:pt x="150675" y="6839"/>
                    <a:pt x="147439" y="6839"/>
                    <a:pt x="144003" y="6772"/>
                  </a:cubicBezTo>
                  <a:cubicBezTo>
                    <a:pt x="141835" y="6772"/>
                    <a:pt x="139633" y="6738"/>
                    <a:pt x="137332" y="6738"/>
                  </a:cubicBezTo>
                  <a:cubicBezTo>
                    <a:pt x="116417" y="6572"/>
                    <a:pt x="90532" y="6205"/>
                    <a:pt x="67015" y="5271"/>
                  </a:cubicBezTo>
                  <a:cubicBezTo>
                    <a:pt x="54406" y="4770"/>
                    <a:pt x="44165" y="3903"/>
                    <a:pt x="35326" y="3002"/>
                  </a:cubicBezTo>
                  <a:cubicBezTo>
                    <a:pt x="35025" y="2936"/>
                    <a:pt x="34725" y="2936"/>
                    <a:pt x="34425" y="2902"/>
                  </a:cubicBezTo>
                  <a:cubicBezTo>
                    <a:pt x="31490" y="2569"/>
                    <a:pt x="28688" y="2269"/>
                    <a:pt x="26019" y="2002"/>
                  </a:cubicBezTo>
                  <a:cubicBezTo>
                    <a:pt x="21082" y="1435"/>
                    <a:pt x="16646" y="934"/>
                    <a:pt x="12343" y="567"/>
                  </a:cubicBezTo>
                  <a:cubicBezTo>
                    <a:pt x="8073" y="200"/>
                    <a:pt x="403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54;p67">
              <a:extLst>
                <a:ext uri="{FF2B5EF4-FFF2-40B4-BE49-F238E27FC236}">
                  <a16:creationId xmlns:a16="http://schemas.microsoft.com/office/drawing/2014/main" id="{194E3012-E3D0-43B8-95D3-380E6C8E1F96}"/>
                </a:ext>
              </a:extLst>
            </p:cNvPr>
            <p:cNvSpPr/>
            <p:nvPr/>
          </p:nvSpPr>
          <p:spPr>
            <a:xfrm>
              <a:off x="3129900" y="4444450"/>
              <a:ext cx="2074000" cy="80100"/>
            </a:xfrm>
            <a:custGeom>
              <a:avLst/>
              <a:gdLst/>
              <a:ahLst/>
              <a:cxnLst/>
              <a:rect l="l" t="t" r="r" b="b"/>
              <a:pathLst>
                <a:path w="82960" h="3204" extrusionOk="0">
                  <a:moveTo>
                    <a:pt x="3170" y="1"/>
                  </a:moveTo>
                  <a:cubicBezTo>
                    <a:pt x="1435" y="1"/>
                    <a:pt x="1" y="1402"/>
                    <a:pt x="1" y="3170"/>
                  </a:cubicBezTo>
                  <a:lnTo>
                    <a:pt x="1" y="3203"/>
                  </a:lnTo>
                  <a:lnTo>
                    <a:pt x="81359" y="3203"/>
                  </a:lnTo>
                  <a:cubicBezTo>
                    <a:pt x="82226" y="3203"/>
                    <a:pt x="82960" y="2503"/>
                    <a:pt x="82960" y="1569"/>
                  </a:cubicBezTo>
                  <a:cubicBezTo>
                    <a:pt x="82960" y="701"/>
                    <a:pt x="82226" y="1"/>
                    <a:pt x="81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55;p67">
              <a:extLst>
                <a:ext uri="{FF2B5EF4-FFF2-40B4-BE49-F238E27FC236}">
                  <a16:creationId xmlns:a16="http://schemas.microsoft.com/office/drawing/2014/main" id="{CF94098C-58E7-4B0A-874D-7A15E4B455FD}"/>
                </a:ext>
              </a:extLst>
            </p:cNvPr>
            <p:cNvSpPr/>
            <p:nvPr/>
          </p:nvSpPr>
          <p:spPr>
            <a:xfrm>
              <a:off x="3129075" y="4445300"/>
              <a:ext cx="2074825" cy="78400"/>
            </a:xfrm>
            <a:custGeom>
              <a:avLst/>
              <a:gdLst/>
              <a:ahLst/>
              <a:cxnLst/>
              <a:rect l="l" t="t" r="r" b="b"/>
              <a:pathLst>
                <a:path w="82993" h="3136" extrusionOk="0">
                  <a:moveTo>
                    <a:pt x="81859" y="0"/>
                  </a:moveTo>
                  <a:lnTo>
                    <a:pt x="81859" y="0"/>
                  </a:lnTo>
                  <a:cubicBezTo>
                    <a:pt x="81926" y="200"/>
                    <a:pt x="82026" y="434"/>
                    <a:pt x="82026" y="667"/>
                  </a:cubicBezTo>
                  <a:lnTo>
                    <a:pt x="82026" y="701"/>
                  </a:lnTo>
                  <a:cubicBezTo>
                    <a:pt x="82026" y="1601"/>
                    <a:pt x="81325" y="2302"/>
                    <a:pt x="80424" y="2302"/>
                  </a:cubicBezTo>
                  <a:lnTo>
                    <a:pt x="134" y="2302"/>
                  </a:lnTo>
                  <a:cubicBezTo>
                    <a:pt x="34" y="2535"/>
                    <a:pt x="0" y="2836"/>
                    <a:pt x="0" y="3102"/>
                  </a:cubicBezTo>
                  <a:lnTo>
                    <a:pt x="0" y="3136"/>
                  </a:lnTo>
                  <a:lnTo>
                    <a:pt x="81392" y="3136"/>
                  </a:lnTo>
                  <a:cubicBezTo>
                    <a:pt x="82259" y="3136"/>
                    <a:pt x="82993" y="2435"/>
                    <a:pt x="82993" y="1535"/>
                  </a:cubicBezTo>
                  <a:lnTo>
                    <a:pt x="82993" y="1501"/>
                  </a:lnTo>
                  <a:cubicBezTo>
                    <a:pt x="82993" y="801"/>
                    <a:pt x="82526" y="200"/>
                    <a:pt x="8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56;p67">
              <a:extLst>
                <a:ext uri="{FF2B5EF4-FFF2-40B4-BE49-F238E27FC236}">
                  <a16:creationId xmlns:a16="http://schemas.microsoft.com/office/drawing/2014/main" id="{4FE2A90D-BFB8-43F2-8A3B-0F59845D93B1}"/>
                </a:ext>
              </a:extLst>
            </p:cNvPr>
            <p:cNvSpPr/>
            <p:nvPr/>
          </p:nvSpPr>
          <p:spPr>
            <a:xfrm>
              <a:off x="3855425" y="595875"/>
              <a:ext cx="1367675" cy="3558400"/>
            </a:xfrm>
            <a:custGeom>
              <a:avLst/>
              <a:gdLst/>
              <a:ahLst/>
              <a:cxnLst/>
              <a:rect l="l" t="t" r="r" b="b"/>
              <a:pathLst>
                <a:path w="54707" h="142336" extrusionOk="0">
                  <a:moveTo>
                    <a:pt x="0" y="0"/>
                  </a:moveTo>
                  <a:lnTo>
                    <a:pt x="0" y="122154"/>
                  </a:lnTo>
                  <a:cubicBezTo>
                    <a:pt x="4037" y="129426"/>
                    <a:pt x="9140" y="136231"/>
                    <a:pt x="15578" y="142335"/>
                  </a:cubicBezTo>
                  <a:lnTo>
                    <a:pt x="54706" y="142335"/>
                  </a:lnTo>
                  <a:cubicBezTo>
                    <a:pt x="54706" y="142335"/>
                    <a:pt x="11309" y="85628"/>
                    <a:pt x="0" y="0"/>
                  </a:cubicBezTo>
                  <a:close/>
                </a:path>
              </a:pathLst>
            </a:custGeom>
            <a:solidFill>
              <a:schemeClr val="accent5">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57;p67">
              <a:extLst>
                <a:ext uri="{FF2B5EF4-FFF2-40B4-BE49-F238E27FC236}">
                  <a16:creationId xmlns:a16="http://schemas.microsoft.com/office/drawing/2014/main" id="{54151CD9-5BB3-4BCB-87C0-D86DCE56DE8D}"/>
                </a:ext>
              </a:extLst>
            </p:cNvPr>
            <p:cNvSpPr/>
            <p:nvPr/>
          </p:nvSpPr>
          <p:spPr>
            <a:xfrm>
              <a:off x="2504450" y="4524525"/>
              <a:ext cx="2551025" cy="304400"/>
            </a:xfrm>
            <a:custGeom>
              <a:avLst/>
              <a:gdLst/>
              <a:ahLst/>
              <a:cxnLst/>
              <a:rect l="l" t="t" r="r" b="b"/>
              <a:pathLst>
                <a:path w="102041" h="12176" extrusionOk="0">
                  <a:moveTo>
                    <a:pt x="98505" y="0"/>
                  </a:moveTo>
                  <a:lnTo>
                    <a:pt x="98505" y="33"/>
                  </a:lnTo>
                  <a:lnTo>
                    <a:pt x="25786" y="33"/>
                  </a:lnTo>
                  <a:cubicBezTo>
                    <a:pt x="21416" y="33"/>
                    <a:pt x="16980" y="967"/>
                    <a:pt x="13077" y="2168"/>
                  </a:cubicBezTo>
                  <a:lnTo>
                    <a:pt x="53339" y="2168"/>
                  </a:lnTo>
                  <a:lnTo>
                    <a:pt x="50537" y="8273"/>
                  </a:lnTo>
                  <a:lnTo>
                    <a:pt x="1" y="8273"/>
                  </a:lnTo>
                  <a:lnTo>
                    <a:pt x="1" y="8439"/>
                  </a:lnTo>
                  <a:cubicBezTo>
                    <a:pt x="8841" y="9340"/>
                    <a:pt x="19115" y="10207"/>
                    <a:pt x="31690" y="10708"/>
                  </a:cubicBezTo>
                  <a:cubicBezTo>
                    <a:pt x="55207" y="11642"/>
                    <a:pt x="81125" y="12009"/>
                    <a:pt x="102040" y="12175"/>
                  </a:cubicBezTo>
                  <a:lnTo>
                    <a:pt x="985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58;p67">
              <a:extLst>
                <a:ext uri="{FF2B5EF4-FFF2-40B4-BE49-F238E27FC236}">
                  <a16:creationId xmlns:a16="http://schemas.microsoft.com/office/drawing/2014/main" id="{5BEA788E-3DDA-4D97-ACA0-A98C73111334}"/>
                </a:ext>
              </a:extLst>
            </p:cNvPr>
            <p:cNvSpPr/>
            <p:nvPr/>
          </p:nvSpPr>
          <p:spPr>
            <a:xfrm>
              <a:off x="4874475" y="4523675"/>
              <a:ext cx="181000" cy="304425"/>
            </a:xfrm>
            <a:custGeom>
              <a:avLst/>
              <a:gdLst/>
              <a:ahLst/>
              <a:cxnLst/>
              <a:rect l="l" t="t" r="r" b="b"/>
              <a:pathLst>
                <a:path w="7240" h="12177" extrusionOk="0">
                  <a:moveTo>
                    <a:pt x="1" y="1"/>
                  </a:moveTo>
                  <a:lnTo>
                    <a:pt x="3537" y="12143"/>
                  </a:lnTo>
                  <a:cubicBezTo>
                    <a:pt x="4838" y="12176"/>
                    <a:pt x="6039" y="12176"/>
                    <a:pt x="7239" y="12176"/>
                  </a:cubicBezTo>
                  <a:lnTo>
                    <a:pt x="37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59;p67">
              <a:extLst>
                <a:ext uri="{FF2B5EF4-FFF2-40B4-BE49-F238E27FC236}">
                  <a16:creationId xmlns:a16="http://schemas.microsoft.com/office/drawing/2014/main" id="{55BF8B09-1B10-4F4B-B847-16A0C3199400}"/>
                </a:ext>
              </a:extLst>
            </p:cNvPr>
            <p:cNvSpPr/>
            <p:nvPr/>
          </p:nvSpPr>
          <p:spPr>
            <a:xfrm>
              <a:off x="3144075" y="4524525"/>
              <a:ext cx="1831350" cy="25875"/>
            </a:xfrm>
            <a:custGeom>
              <a:avLst/>
              <a:gdLst/>
              <a:ahLst/>
              <a:cxnLst/>
              <a:rect l="l" t="t" r="r" b="b"/>
              <a:pathLst>
                <a:path w="73254" h="1035" extrusionOk="0">
                  <a:moveTo>
                    <a:pt x="1" y="0"/>
                  </a:moveTo>
                  <a:lnTo>
                    <a:pt x="72953" y="1034"/>
                  </a:lnTo>
                  <a:lnTo>
                    <a:pt x="73253" y="1034"/>
                  </a:lnTo>
                  <a:lnTo>
                    <a:pt x="72920" y="0"/>
                  </a:ln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60;p67">
              <a:extLst>
                <a:ext uri="{FF2B5EF4-FFF2-40B4-BE49-F238E27FC236}">
                  <a16:creationId xmlns:a16="http://schemas.microsoft.com/office/drawing/2014/main" id="{DF162C48-3001-46A6-AE0E-61ED832EA2E0}"/>
                </a:ext>
              </a:extLst>
            </p:cNvPr>
            <p:cNvSpPr/>
            <p:nvPr/>
          </p:nvSpPr>
          <p:spPr>
            <a:xfrm>
              <a:off x="1686375" y="402400"/>
              <a:ext cx="2739475" cy="3907825"/>
            </a:xfrm>
            <a:custGeom>
              <a:avLst/>
              <a:gdLst/>
              <a:ahLst/>
              <a:cxnLst/>
              <a:rect l="l" t="t" r="r" b="b"/>
              <a:pathLst>
                <a:path w="109579" h="156313" extrusionOk="0">
                  <a:moveTo>
                    <a:pt x="86262" y="0"/>
                  </a:moveTo>
                  <a:lnTo>
                    <a:pt x="86262" y="0"/>
                  </a:lnTo>
                  <a:cubicBezTo>
                    <a:pt x="24718" y="52271"/>
                    <a:pt x="1" y="147840"/>
                    <a:pt x="1" y="147840"/>
                  </a:cubicBezTo>
                  <a:cubicBezTo>
                    <a:pt x="21082" y="152376"/>
                    <a:pt x="55540" y="154544"/>
                    <a:pt x="80191" y="155512"/>
                  </a:cubicBezTo>
                  <a:cubicBezTo>
                    <a:pt x="81259" y="155545"/>
                    <a:pt x="82293" y="155578"/>
                    <a:pt x="83293" y="155612"/>
                  </a:cubicBezTo>
                  <a:cubicBezTo>
                    <a:pt x="98738" y="156179"/>
                    <a:pt x="109579" y="156312"/>
                    <a:pt x="109579" y="156312"/>
                  </a:cubicBezTo>
                  <a:cubicBezTo>
                    <a:pt x="107010" y="154311"/>
                    <a:pt x="104575" y="152243"/>
                    <a:pt x="102340" y="150074"/>
                  </a:cubicBezTo>
                  <a:cubicBezTo>
                    <a:pt x="95902" y="143970"/>
                    <a:pt x="90765" y="137165"/>
                    <a:pt x="86762" y="129893"/>
                  </a:cubicBezTo>
                  <a:cubicBezTo>
                    <a:pt x="85428" y="127525"/>
                    <a:pt x="84227" y="125057"/>
                    <a:pt x="83160" y="122621"/>
                  </a:cubicBezTo>
                  <a:cubicBezTo>
                    <a:pt x="82159" y="120353"/>
                    <a:pt x="81259" y="118118"/>
                    <a:pt x="80391" y="115883"/>
                  </a:cubicBezTo>
                  <a:cubicBezTo>
                    <a:pt x="67982" y="80892"/>
                    <a:pt x="75054" y="40196"/>
                    <a:pt x="80925" y="17580"/>
                  </a:cubicBezTo>
                  <a:cubicBezTo>
                    <a:pt x="81225" y="16479"/>
                    <a:pt x="81492" y="15445"/>
                    <a:pt x="81759" y="14444"/>
                  </a:cubicBezTo>
                  <a:cubicBezTo>
                    <a:pt x="82026" y="13510"/>
                    <a:pt x="82226" y="12676"/>
                    <a:pt x="82459" y="11842"/>
                  </a:cubicBezTo>
                  <a:cubicBezTo>
                    <a:pt x="82926" y="10241"/>
                    <a:pt x="83393" y="8740"/>
                    <a:pt x="83794" y="7406"/>
                  </a:cubicBezTo>
                  <a:cubicBezTo>
                    <a:pt x="85261" y="2669"/>
                    <a:pt x="86262" y="1"/>
                    <a:pt x="86262"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061;p67">
              <a:extLst>
                <a:ext uri="{FF2B5EF4-FFF2-40B4-BE49-F238E27FC236}">
                  <a16:creationId xmlns:a16="http://schemas.microsoft.com/office/drawing/2014/main" id="{863BB7D5-41DA-4F49-8EDA-6A4A8C4C6552}"/>
                </a:ext>
              </a:extLst>
            </p:cNvPr>
            <p:cNvSpPr/>
            <p:nvPr/>
          </p:nvSpPr>
          <p:spPr>
            <a:xfrm>
              <a:off x="3854600" y="2893350"/>
              <a:ext cx="656325" cy="1260925"/>
            </a:xfrm>
            <a:custGeom>
              <a:avLst/>
              <a:gdLst/>
              <a:ahLst/>
              <a:cxnLst/>
              <a:rect l="l" t="t" r="r" b="b"/>
              <a:pathLst>
                <a:path w="26253" h="50437" extrusionOk="0">
                  <a:moveTo>
                    <a:pt x="0" y="0"/>
                  </a:moveTo>
                  <a:lnTo>
                    <a:pt x="0" y="30222"/>
                  </a:lnTo>
                  <a:cubicBezTo>
                    <a:pt x="4036" y="37527"/>
                    <a:pt x="9173" y="44332"/>
                    <a:pt x="15545" y="50436"/>
                  </a:cubicBezTo>
                  <a:lnTo>
                    <a:pt x="26252" y="50436"/>
                  </a:lnTo>
                  <a:cubicBezTo>
                    <a:pt x="19848" y="44332"/>
                    <a:pt x="14744" y="37527"/>
                    <a:pt x="10708" y="30255"/>
                  </a:cubicBezTo>
                  <a:cubicBezTo>
                    <a:pt x="9373" y="27887"/>
                    <a:pt x="8173" y="25419"/>
                    <a:pt x="7072" y="22983"/>
                  </a:cubicBezTo>
                  <a:cubicBezTo>
                    <a:pt x="6104" y="20715"/>
                    <a:pt x="5204" y="18480"/>
                    <a:pt x="4370" y="16179"/>
                  </a:cubicBezTo>
                  <a:cubicBezTo>
                    <a:pt x="2502" y="10875"/>
                    <a:pt x="1101" y="5471"/>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62;p67">
              <a:extLst>
                <a:ext uri="{FF2B5EF4-FFF2-40B4-BE49-F238E27FC236}">
                  <a16:creationId xmlns:a16="http://schemas.microsoft.com/office/drawing/2014/main" id="{0B2F7652-BA63-4459-B1A1-F64A6C9B2C86}"/>
                </a:ext>
              </a:extLst>
            </p:cNvPr>
            <p:cNvSpPr/>
            <p:nvPr/>
          </p:nvSpPr>
          <p:spPr>
            <a:xfrm>
              <a:off x="3855425" y="632550"/>
              <a:ext cx="73400" cy="797275"/>
            </a:xfrm>
            <a:custGeom>
              <a:avLst/>
              <a:gdLst/>
              <a:ahLst/>
              <a:cxnLst/>
              <a:rect l="l" t="t" r="r" b="b"/>
              <a:pathLst>
                <a:path w="2936" h="31891" extrusionOk="0">
                  <a:moveTo>
                    <a:pt x="234" y="1"/>
                  </a:moveTo>
                  <a:lnTo>
                    <a:pt x="0" y="201"/>
                  </a:lnTo>
                  <a:lnTo>
                    <a:pt x="0" y="31890"/>
                  </a:lnTo>
                  <a:cubicBezTo>
                    <a:pt x="901" y="26387"/>
                    <a:pt x="1902" y="21216"/>
                    <a:pt x="2936" y="16513"/>
                  </a:cubicBezTo>
                  <a:cubicBezTo>
                    <a:pt x="1902" y="11109"/>
                    <a:pt x="1001" y="5605"/>
                    <a:pt x="234" y="1"/>
                  </a:cubicBez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63;p67">
              <a:extLst>
                <a:ext uri="{FF2B5EF4-FFF2-40B4-BE49-F238E27FC236}">
                  <a16:creationId xmlns:a16="http://schemas.microsoft.com/office/drawing/2014/main" id="{F3E495BE-704C-4490-A23C-43036BA033C9}"/>
                </a:ext>
              </a:extLst>
            </p:cNvPr>
            <p:cNvSpPr/>
            <p:nvPr/>
          </p:nvSpPr>
          <p:spPr>
            <a:xfrm>
              <a:off x="3855425" y="4577050"/>
              <a:ext cx="665500" cy="151800"/>
            </a:xfrm>
            <a:custGeom>
              <a:avLst/>
              <a:gdLst/>
              <a:ahLst/>
              <a:cxnLst/>
              <a:rect l="l" t="t" r="r" b="b"/>
              <a:pathLst>
                <a:path w="26620" h="6072" extrusionOk="0">
                  <a:moveTo>
                    <a:pt x="2769" y="1"/>
                  </a:moveTo>
                  <a:lnTo>
                    <a:pt x="0" y="6072"/>
                  </a:lnTo>
                  <a:lnTo>
                    <a:pt x="13310" y="6072"/>
                  </a:lnTo>
                  <a:cubicBezTo>
                    <a:pt x="14344" y="6072"/>
                    <a:pt x="15345" y="5871"/>
                    <a:pt x="16312" y="5404"/>
                  </a:cubicBezTo>
                  <a:lnTo>
                    <a:pt x="26253" y="701"/>
                  </a:lnTo>
                  <a:cubicBezTo>
                    <a:pt x="26619" y="534"/>
                    <a:pt x="26486" y="34"/>
                    <a:pt x="26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64;p67">
              <a:extLst>
                <a:ext uri="{FF2B5EF4-FFF2-40B4-BE49-F238E27FC236}">
                  <a16:creationId xmlns:a16="http://schemas.microsoft.com/office/drawing/2014/main" id="{D1D81DF4-5D5F-46A8-9132-19BE9E8CCB56}"/>
                </a:ext>
              </a:extLst>
            </p:cNvPr>
            <p:cNvSpPr/>
            <p:nvPr/>
          </p:nvSpPr>
          <p:spPr>
            <a:xfrm>
              <a:off x="2506950" y="4729650"/>
              <a:ext cx="2551025" cy="98450"/>
            </a:xfrm>
            <a:custGeom>
              <a:avLst/>
              <a:gdLst/>
              <a:ahLst/>
              <a:cxnLst/>
              <a:rect l="l" t="t" r="r" b="b"/>
              <a:pathLst>
                <a:path w="102041" h="3938" extrusionOk="0">
                  <a:moveTo>
                    <a:pt x="1" y="1"/>
                  </a:moveTo>
                  <a:lnTo>
                    <a:pt x="1" y="168"/>
                  </a:lnTo>
                  <a:cubicBezTo>
                    <a:pt x="8841" y="1102"/>
                    <a:pt x="19081" y="1969"/>
                    <a:pt x="31690" y="2469"/>
                  </a:cubicBezTo>
                  <a:cubicBezTo>
                    <a:pt x="55207" y="3403"/>
                    <a:pt x="81092" y="3804"/>
                    <a:pt x="102040" y="3937"/>
                  </a:cubicBezTo>
                  <a:lnTo>
                    <a:pt x="101573" y="2603"/>
                  </a:lnTo>
                  <a:cubicBezTo>
                    <a:pt x="63446" y="2603"/>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65;p67">
              <a:extLst>
                <a:ext uri="{FF2B5EF4-FFF2-40B4-BE49-F238E27FC236}">
                  <a16:creationId xmlns:a16="http://schemas.microsoft.com/office/drawing/2014/main" id="{A438B0F1-FB64-4AB4-9FC9-1E4540CF15E5}"/>
                </a:ext>
              </a:extLst>
            </p:cNvPr>
            <p:cNvSpPr/>
            <p:nvPr/>
          </p:nvSpPr>
          <p:spPr>
            <a:xfrm>
              <a:off x="2696275" y="4853925"/>
              <a:ext cx="129275" cy="129275"/>
            </a:xfrm>
            <a:custGeom>
              <a:avLst/>
              <a:gdLst/>
              <a:ahLst/>
              <a:cxnLst/>
              <a:rect l="l" t="t" r="r" b="b"/>
              <a:pathLst>
                <a:path w="5171" h="5171" extrusionOk="0">
                  <a:moveTo>
                    <a:pt x="2602" y="0"/>
                  </a:moveTo>
                  <a:cubicBezTo>
                    <a:pt x="1168" y="0"/>
                    <a:pt x="0" y="1168"/>
                    <a:pt x="0" y="2602"/>
                  </a:cubicBezTo>
                  <a:cubicBezTo>
                    <a:pt x="0" y="4003"/>
                    <a:pt x="1168" y="5171"/>
                    <a:pt x="2602" y="5171"/>
                  </a:cubicBezTo>
                  <a:cubicBezTo>
                    <a:pt x="4003" y="5171"/>
                    <a:pt x="5170" y="4003"/>
                    <a:pt x="5170" y="2602"/>
                  </a:cubicBezTo>
                  <a:cubicBezTo>
                    <a:pt x="5170" y="1168"/>
                    <a:pt x="4003" y="0"/>
                    <a:pt x="26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66;p67">
              <a:extLst>
                <a:ext uri="{FF2B5EF4-FFF2-40B4-BE49-F238E27FC236}">
                  <a16:creationId xmlns:a16="http://schemas.microsoft.com/office/drawing/2014/main" id="{D4A5B501-99E4-4D12-B24F-1DD85B2A86E9}"/>
                </a:ext>
              </a:extLst>
            </p:cNvPr>
            <p:cNvSpPr/>
            <p:nvPr/>
          </p:nvSpPr>
          <p:spPr>
            <a:xfrm>
              <a:off x="3044000" y="4853925"/>
              <a:ext cx="129300" cy="129275"/>
            </a:xfrm>
            <a:custGeom>
              <a:avLst/>
              <a:gdLst/>
              <a:ahLst/>
              <a:cxnLst/>
              <a:rect l="l" t="t" r="r" b="b"/>
              <a:pathLst>
                <a:path w="5172" h="5171" extrusionOk="0">
                  <a:moveTo>
                    <a:pt x="2569" y="0"/>
                  </a:moveTo>
                  <a:cubicBezTo>
                    <a:pt x="1102" y="0"/>
                    <a:pt x="1" y="1168"/>
                    <a:pt x="1" y="2602"/>
                  </a:cubicBezTo>
                  <a:cubicBezTo>
                    <a:pt x="1" y="4003"/>
                    <a:pt x="1168" y="5171"/>
                    <a:pt x="2569" y="5171"/>
                  </a:cubicBezTo>
                  <a:cubicBezTo>
                    <a:pt x="3970" y="5171"/>
                    <a:pt x="5171" y="4003"/>
                    <a:pt x="5171" y="2602"/>
                  </a:cubicBezTo>
                  <a:cubicBezTo>
                    <a:pt x="5171" y="1168"/>
                    <a:pt x="4004"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67;p67">
              <a:extLst>
                <a:ext uri="{FF2B5EF4-FFF2-40B4-BE49-F238E27FC236}">
                  <a16:creationId xmlns:a16="http://schemas.microsoft.com/office/drawing/2014/main" id="{BCA2CA49-C084-45EC-95BA-AFF6744B670D}"/>
                </a:ext>
              </a:extLst>
            </p:cNvPr>
            <p:cNvSpPr/>
            <p:nvPr/>
          </p:nvSpPr>
          <p:spPr>
            <a:xfrm>
              <a:off x="3390100" y="4853925"/>
              <a:ext cx="128450" cy="129275"/>
            </a:xfrm>
            <a:custGeom>
              <a:avLst/>
              <a:gdLst/>
              <a:ahLst/>
              <a:cxnLst/>
              <a:rect l="l" t="t" r="r" b="b"/>
              <a:pathLst>
                <a:path w="5138" h="5171" extrusionOk="0">
                  <a:moveTo>
                    <a:pt x="2569" y="0"/>
                  </a:moveTo>
                  <a:cubicBezTo>
                    <a:pt x="1168" y="0"/>
                    <a:pt x="0" y="1168"/>
                    <a:pt x="0" y="2602"/>
                  </a:cubicBezTo>
                  <a:cubicBezTo>
                    <a:pt x="0" y="4003"/>
                    <a:pt x="1168" y="5171"/>
                    <a:pt x="2569" y="5171"/>
                  </a:cubicBezTo>
                  <a:cubicBezTo>
                    <a:pt x="3970" y="5171"/>
                    <a:pt x="5137" y="4003"/>
                    <a:pt x="5137" y="2602"/>
                  </a:cubicBezTo>
                  <a:cubicBezTo>
                    <a:pt x="5137" y="1168"/>
                    <a:pt x="4003"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68;p67">
              <a:extLst>
                <a:ext uri="{FF2B5EF4-FFF2-40B4-BE49-F238E27FC236}">
                  <a16:creationId xmlns:a16="http://schemas.microsoft.com/office/drawing/2014/main" id="{C98FA573-0D5A-46C2-8652-E02F09B3551C}"/>
                </a:ext>
              </a:extLst>
            </p:cNvPr>
            <p:cNvSpPr/>
            <p:nvPr/>
          </p:nvSpPr>
          <p:spPr>
            <a:xfrm>
              <a:off x="1623000" y="4657950"/>
              <a:ext cx="4248900" cy="587100"/>
            </a:xfrm>
            <a:custGeom>
              <a:avLst/>
              <a:gdLst/>
              <a:ahLst/>
              <a:cxnLst/>
              <a:rect l="l" t="t" r="r" b="b"/>
              <a:pathLst>
                <a:path w="169956" h="23484" extrusionOk="0">
                  <a:moveTo>
                    <a:pt x="0" y="0"/>
                  </a:moveTo>
                  <a:cubicBezTo>
                    <a:pt x="3636" y="5638"/>
                    <a:pt x="13410" y="19614"/>
                    <a:pt x="19581" y="23484"/>
                  </a:cubicBezTo>
                  <a:lnTo>
                    <a:pt x="161649" y="23484"/>
                  </a:lnTo>
                  <a:cubicBezTo>
                    <a:pt x="161649" y="23484"/>
                    <a:pt x="166286" y="22016"/>
                    <a:pt x="169955" y="20015"/>
                  </a:cubicBezTo>
                  <a:lnTo>
                    <a:pt x="92800" y="20015"/>
                  </a:lnTo>
                  <a:cubicBezTo>
                    <a:pt x="21349" y="20015"/>
                    <a:pt x="801" y="63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文字方塊 28">
            <a:extLst>
              <a:ext uri="{FF2B5EF4-FFF2-40B4-BE49-F238E27FC236}">
                <a16:creationId xmlns:a16="http://schemas.microsoft.com/office/drawing/2014/main" id="{DAB6DEFC-3761-45FD-BC44-249F16235D79}"/>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66</a:t>
            </a:r>
            <a:endParaRPr lang="zh-TW" altLang="en-US" sz="1100" dirty="0">
              <a:latin typeface="Montserrat" panose="02020500000000000000" charset="0"/>
            </a:endParaRPr>
          </a:p>
        </p:txBody>
      </p:sp>
      <p:grpSp>
        <p:nvGrpSpPr>
          <p:cNvPr id="4" name="群組 3">
            <a:extLst>
              <a:ext uri="{FF2B5EF4-FFF2-40B4-BE49-F238E27FC236}">
                <a16:creationId xmlns:a16="http://schemas.microsoft.com/office/drawing/2014/main" id="{B2F39859-451C-4732-B343-A56B513279CF}"/>
              </a:ext>
            </a:extLst>
          </p:cNvPr>
          <p:cNvGrpSpPr/>
          <p:nvPr/>
        </p:nvGrpSpPr>
        <p:grpSpPr>
          <a:xfrm>
            <a:off x="2673082" y="2555335"/>
            <a:ext cx="3797835" cy="1333250"/>
            <a:chOff x="2673082" y="2555335"/>
            <a:chExt cx="3797835" cy="1333250"/>
          </a:xfrm>
        </p:grpSpPr>
        <p:sp>
          <p:nvSpPr>
            <p:cNvPr id="9" name="文字方塊 8">
              <a:extLst>
                <a:ext uri="{FF2B5EF4-FFF2-40B4-BE49-F238E27FC236}">
                  <a16:creationId xmlns:a16="http://schemas.microsoft.com/office/drawing/2014/main" id="{14117233-9218-4160-953C-196D6CBF165F}"/>
                </a:ext>
              </a:extLst>
            </p:cNvPr>
            <p:cNvSpPr txBox="1"/>
            <p:nvPr/>
          </p:nvSpPr>
          <p:spPr>
            <a:xfrm>
              <a:off x="2673082" y="2555335"/>
              <a:ext cx="3797835"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Tuning curves of SHG</a:t>
              </a:r>
            </a:p>
            <a:p>
              <a:pPr marL="171450" indent="-171450">
                <a:lnSpc>
                  <a:spcPct val="150000"/>
                </a:lnSpc>
                <a:buFont typeface="Arial" panose="020B0604020202020204" pitchFamily="34" charset="0"/>
                <a:buChar char="•"/>
              </a:pPr>
              <a:r>
                <a:rPr lang="en-US" altLang="zh-TW" sz="1100" dirty="0">
                  <a:latin typeface="Montserrat" panose="02020500000000000000" charset="0"/>
                </a:rPr>
                <a:t>EO-PMC measurement result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interference</a:t>
              </a:r>
            </a:p>
            <a:p>
              <a:pPr marL="171450" indent="-171450">
                <a:lnSpc>
                  <a:spcPct val="150000"/>
                </a:lnSpc>
                <a:buFont typeface="Arial" panose="020B0604020202020204" pitchFamily="34" charset="0"/>
                <a:buChar char="•"/>
              </a:pPr>
              <a:r>
                <a:rPr lang="en-US" altLang="zh-TW" sz="1100" dirty="0">
                  <a:latin typeface="Montserrat" panose="02020500000000000000" charset="0"/>
                </a:rPr>
                <a:t>Coincidence counts measurement with EO-PMC</a:t>
              </a:r>
              <a:endParaRPr lang="zh-TW" altLang="en-US" sz="1100" dirty="0">
                <a:latin typeface="Montserrat" panose="02020500000000000000" charset="0"/>
              </a:endParaRPr>
            </a:p>
          </p:txBody>
        </p:sp>
        <p:sp>
          <p:nvSpPr>
            <p:cNvPr id="3" name="矩形 2">
              <a:extLst>
                <a:ext uri="{FF2B5EF4-FFF2-40B4-BE49-F238E27FC236}">
                  <a16:creationId xmlns:a16="http://schemas.microsoft.com/office/drawing/2014/main" id="{A8114A58-F9AD-4ADA-B15E-1A9EAB5E63EE}"/>
                </a:ext>
              </a:extLst>
            </p:cNvPr>
            <p:cNvSpPr/>
            <p:nvPr/>
          </p:nvSpPr>
          <p:spPr>
            <a:xfrm>
              <a:off x="2673082" y="3606799"/>
              <a:ext cx="3710785" cy="281785"/>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EAE8B883-1FC8-4984-B3E5-0937137F7974}"/>
                </a:ext>
              </a:extLst>
            </p:cNvPr>
            <p:cNvSpPr/>
            <p:nvPr/>
          </p:nvSpPr>
          <p:spPr>
            <a:xfrm>
              <a:off x="2760132" y="2635640"/>
              <a:ext cx="3710785" cy="724157"/>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2603474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146325" y="319237"/>
            <a:ext cx="685135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Setup for Hong-</a:t>
            </a:r>
            <a:r>
              <a:rPr lang="en-US" altLang="zh-TW" sz="2000" dirty="0" err="1">
                <a:latin typeface="Montserrat" panose="02020500000000000000" charset="0"/>
              </a:rPr>
              <a:t>Ou</a:t>
            </a:r>
            <a:r>
              <a:rPr lang="en-US" altLang="zh-TW" sz="2000" dirty="0">
                <a:latin typeface="Montserrat" panose="02020500000000000000" charset="0"/>
              </a:rPr>
              <a:t>-Mandel interference</a:t>
            </a:r>
          </a:p>
        </p:txBody>
      </p:sp>
      <p:grpSp>
        <p:nvGrpSpPr>
          <p:cNvPr id="3" name="群組 2">
            <a:extLst>
              <a:ext uri="{FF2B5EF4-FFF2-40B4-BE49-F238E27FC236}">
                <a16:creationId xmlns:a16="http://schemas.microsoft.com/office/drawing/2014/main" id="{1079046F-1BEA-4E4D-8FC6-CF63DD558BBF}"/>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1F436357-7361-4561-BBAE-103CECA8F4E8}"/>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1E9209DF-82B2-437F-97D5-6922F94D7A94}"/>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F8A7C2CB-3F2B-41C0-AF03-7B26404A94FD}"/>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1B817F0C-C021-4598-9028-83B06AAC872E}"/>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1EDA595A-5B57-43E5-BC32-469EEE3CBE1D}"/>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23AEE153-4213-47DE-9E36-FA4E97B2813E}"/>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1" name="圖片 10">
            <a:extLst>
              <a:ext uri="{FF2B5EF4-FFF2-40B4-BE49-F238E27FC236}">
                <a16:creationId xmlns:a16="http://schemas.microsoft.com/office/drawing/2014/main" id="{B04B9DA8-4A3E-44E7-8E71-319B2EF47EDD}"/>
              </a:ext>
            </a:extLst>
          </p:cNvPr>
          <p:cNvPicPr>
            <a:picLocks noChangeAspect="1"/>
          </p:cNvPicPr>
          <p:nvPr/>
        </p:nvPicPr>
        <p:blipFill>
          <a:blip r:embed="rId3"/>
          <a:stretch>
            <a:fillRect/>
          </a:stretch>
        </p:blipFill>
        <p:spPr>
          <a:xfrm>
            <a:off x="1133177" y="877684"/>
            <a:ext cx="6927476" cy="4197236"/>
          </a:xfrm>
          <a:prstGeom prst="rect">
            <a:avLst/>
          </a:prstGeom>
        </p:spPr>
      </p:pic>
      <p:sp>
        <p:nvSpPr>
          <p:cNvPr id="12" name="文字方塊 11">
            <a:extLst>
              <a:ext uri="{FF2B5EF4-FFF2-40B4-BE49-F238E27FC236}">
                <a16:creationId xmlns:a16="http://schemas.microsoft.com/office/drawing/2014/main" id="{8985912C-ADF2-4EAA-A10A-613E9C7B1086}"/>
              </a:ext>
            </a:extLst>
          </p:cNvPr>
          <p:cNvSpPr txBox="1"/>
          <p:nvPr/>
        </p:nvSpPr>
        <p:spPr>
          <a:xfrm>
            <a:off x="8585770" y="4631694"/>
            <a:ext cx="354584" cy="261610"/>
          </a:xfrm>
          <a:prstGeom prst="rect">
            <a:avLst/>
          </a:prstGeom>
          <a:noFill/>
        </p:spPr>
        <p:txBody>
          <a:bodyPr wrap="none" rtlCol="0">
            <a:spAutoFit/>
          </a:bodyPr>
          <a:lstStyle/>
          <a:p>
            <a:r>
              <a:rPr lang="en-US" altLang="zh-TW" sz="1100" dirty="0">
                <a:latin typeface="Montserrat" panose="02020500000000000000" charset="0"/>
              </a:rPr>
              <a:t>67</a:t>
            </a:r>
            <a:endParaRPr lang="zh-TW" altLang="en-US" sz="1100" dirty="0">
              <a:latin typeface="Montserrat" panose="02020500000000000000" charset="0"/>
            </a:endParaRPr>
          </a:p>
        </p:txBody>
      </p:sp>
      <p:sp>
        <p:nvSpPr>
          <p:cNvPr id="13" name="文字方塊 12">
            <a:extLst>
              <a:ext uri="{FF2B5EF4-FFF2-40B4-BE49-F238E27FC236}">
                <a16:creationId xmlns:a16="http://schemas.microsoft.com/office/drawing/2014/main" id="{453D4FB4-FCDB-4CED-8968-94CA6E100834}"/>
              </a:ext>
            </a:extLst>
          </p:cNvPr>
          <p:cNvSpPr txBox="1"/>
          <p:nvPr/>
        </p:nvSpPr>
        <p:spPr>
          <a:xfrm>
            <a:off x="6234071" y="3482537"/>
            <a:ext cx="1257075"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ID Quantique-230</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BF2A6FD5-358F-492D-B8E0-0DC20EBDB2D6}"/>
              </a:ext>
            </a:extLst>
          </p:cNvPr>
          <p:cNvSpPr txBox="1"/>
          <p:nvPr/>
        </p:nvSpPr>
        <p:spPr>
          <a:xfrm>
            <a:off x="3954683" y="3036421"/>
            <a:ext cx="1234633"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ID Quantique-900</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5" name="文字方塊 14">
            <a:extLst>
              <a:ext uri="{FF2B5EF4-FFF2-40B4-BE49-F238E27FC236}">
                <a16:creationId xmlns:a16="http://schemas.microsoft.com/office/drawing/2014/main" id="{4C087EA3-B7FE-4C70-8934-3D3A81C9A4E2}"/>
              </a:ext>
            </a:extLst>
          </p:cNvPr>
          <p:cNvSpPr txBox="1"/>
          <p:nvPr/>
        </p:nvSpPr>
        <p:spPr>
          <a:xfrm>
            <a:off x="1033332" y="1802250"/>
            <a:ext cx="699230"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FPV785S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6" name="文字方塊 15">
            <a:extLst>
              <a:ext uri="{FF2B5EF4-FFF2-40B4-BE49-F238E27FC236}">
                <a16:creationId xmlns:a16="http://schemas.microsoft.com/office/drawing/2014/main" id="{D24ED214-890A-44E3-AB82-34CF565C73C7}"/>
              </a:ext>
            </a:extLst>
          </p:cNvPr>
          <p:cNvSpPr txBox="1"/>
          <p:nvPr/>
        </p:nvSpPr>
        <p:spPr>
          <a:xfrm>
            <a:off x="1757233" y="1483229"/>
            <a:ext cx="410690"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TEC</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7" name="文字方塊 16">
            <a:extLst>
              <a:ext uri="{FF2B5EF4-FFF2-40B4-BE49-F238E27FC236}">
                <a16:creationId xmlns:a16="http://schemas.microsoft.com/office/drawing/2014/main" id="{A5AD9DEA-C187-4795-B694-7A0BA39219F6}"/>
              </a:ext>
            </a:extLst>
          </p:cNvPr>
          <p:cNvSpPr txBox="1"/>
          <p:nvPr/>
        </p:nvSpPr>
        <p:spPr>
          <a:xfrm>
            <a:off x="975364" y="1140751"/>
            <a:ext cx="1220206"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Current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9" name="文字方塊 18">
            <a:extLst>
              <a:ext uri="{FF2B5EF4-FFF2-40B4-BE49-F238E27FC236}">
                <a16:creationId xmlns:a16="http://schemas.microsoft.com/office/drawing/2014/main" id="{3F38E4C0-3F99-457D-9E00-BB03C9BBEF11}"/>
              </a:ext>
            </a:extLst>
          </p:cNvPr>
          <p:cNvSpPr txBox="1"/>
          <p:nvPr/>
        </p:nvSpPr>
        <p:spPr>
          <a:xfrm>
            <a:off x="5883528" y="1495389"/>
            <a:ext cx="785793"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Collimator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nvGrpSpPr>
          <p:cNvPr id="27" name="群組 26">
            <a:extLst>
              <a:ext uri="{FF2B5EF4-FFF2-40B4-BE49-F238E27FC236}">
                <a16:creationId xmlns:a16="http://schemas.microsoft.com/office/drawing/2014/main" id="{7BB7B46E-9450-49F9-91C4-D34A25FE9A54}"/>
              </a:ext>
            </a:extLst>
          </p:cNvPr>
          <p:cNvGrpSpPr/>
          <p:nvPr/>
        </p:nvGrpSpPr>
        <p:grpSpPr>
          <a:xfrm>
            <a:off x="4053336" y="1726221"/>
            <a:ext cx="1087157" cy="460719"/>
            <a:chOff x="4053336" y="1726221"/>
            <a:chExt cx="1087157" cy="460719"/>
          </a:xfrm>
        </p:grpSpPr>
        <p:sp>
          <p:nvSpPr>
            <p:cNvPr id="18" name="文字方塊 17">
              <a:extLst>
                <a:ext uri="{FF2B5EF4-FFF2-40B4-BE49-F238E27FC236}">
                  <a16:creationId xmlns:a16="http://schemas.microsoft.com/office/drawing/2014/main" id="{166977E2-BE80-4E40-905B-93A6BD170EE1}"/>
                </a:ext>
              </a:extLst>
            </p:cNvPr>
            <p:cNvSpPr txBox="1"/>
            <p:nvPr/>
          </p:nvSpPr>
          <p:spPr>
            <a:xfrm>
              <a:off x="4053336" y="1726221"/>
              <a:ext cx="1087157" cy="230832"/>
            </a:xfrm>
            <a:prstGeom prst="rect">
              <a:avLst/>
            </a:prstGeom>
            <a:noFill/>
          </p:spPr>
          <p:txBody>
            <a:bodyPr wrap="none" rtlCol="0">
              <a:spAutoFit/>
            </a:bodyPr>
            <a:lstStyle/>
            <a:p>
              <a:r>
                <a:rPr lang="en-US" altLang="zh-TW" sz="900" dirty="0" err="1">
                  <a:latin typeface="Montserrat" panose="02020500000000000000" charset="0"/>
                  <a:ea typeface="標楷體" panose="03000509000000000000" pitchFamily="65" charset="-120"/>
                  <a:cs typeface="Times New Roman" panose="02020603050405020304" pitchFamily="18" charset="0"/>
                </a:rPr>
                <a:t>Longpass</a:t>
              </a:r>
              <a:r>
                <a:rPr lang="en-US" altLang="zh-TW" sz="900" dirty="0">
                  <a:latin typeface="Montserrat" panose="02020500000000000000" charset="0"/>
                  <a:ea typeface="標楷體" panose="03000509000000000000" pitchFamily="65" charset="-120"/>
                  <a:cs typeface="Times New Roman" panose="02020603050405020304" pitchFamily="18" charset="0"/>
                </a:rPr>
                <a:t> filters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cxnSp>
          <p:nvCxnSpPr>
            <p:cNvPr id="20" name="直線接點 19">
              <a:extLst>
                <a:ext uri="{FF2B5EF4-FFF2-40B4-BE49-F238E27FC236}">
                  <a16:creationId xmlns:a16="http://schemas.microsoft.com/office/drawing/2014/main" id="{BECC669D-C494-46EB-A5BB-0652E3DF1272}"/>
                </a:ext>
              </a:extLst>
            </p:cNvPr>
            <p:cNvCxnSpPr>
              <a:cxnSpLocks/>
            </p:cNvCxnSpPr>
            <p:nvPr/>
          </p:nvCxnSpPr>
          <p:spPr>
            <a:xfrm flipV="1">
              <a:off x="4332691" y="1960867"/>
              <a:ext cx="171419" cy="1656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9B23E3C2-F1A8-416B-9173-ED539DDC1AF8}"/>
                </a:ext>
              </a:extLst>
            </p:cNvPr>
            <p:cNvCxnSpPr>
              <a:cxnSpLocks/>
            </p:cNvCxnSpPr>
            <p:nvPr/>
          </p:nvCxnSpPr>
          <p:spPr>
            <a:xfrm>
              <a:off x="4494643" y="1960867"/>
              <a:ext cx="167280" cy="2260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群組 27">
            <a:extLst>
              <a:ext uri="{FF2B5EF4-FFF2-40B4-BE49-F238E27FC236}">
                <a16:creationId xmlns:a16="http://schemas.microsoft.com/office/drawing/2014/main" id="{38C8B54C-44A7-4D5B-8682-C2884A9BA6BE}"/>
              </a:ext>
            </a:extLst>
          </p:cNvPr>
          <p:cNvGrpSpPr/>
          <p:nvPr/>
        </p:nvGrpSpPr>
        <p:grpSpPr>
          <a:xfrm>
            <a:off x="4775566" y="1553199"/>
            <a:ext cx="1045479" cy="302990"/>
            <a:chOff x="4775566" y="1553199"/>
            <a:chExt cx="1045479" cy="302990"/>
          </a:xfrm>
        </p:grpSpPr>
        <p:sp>
          <p:nvSpPr>
            <p:cNvPr id="22" name="文字方塊 21">
              <a:extLst>
                <a:ext uri="{FF2B5EF4-FFF2-40B4-BE49-F238E27FC236}">
                  <a16:creationId xmlns:a16="http://schemas.microsoft.com/office/drawing/2014/main" id="{1F754FB9-DF0A-4951-9AE5-7F9336B8A55F}"/>
                </a:ext>
              </a:extLst>
            </p:cNvPr>
            <p:cNvSpPr txBox="1"/>
            <p:nvPr/>
          </p:nvSpPr>
          <p:spPr>
            <a:xfrm>
              <a:off x="4775566" y="1553199"/>
              <a:ext cx="1045479"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Bandpass 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cxnSp>
          <p:nvCxnSpPr>
            <p:cNvPr id="23" name="直線接點 22">
              <a:extLst>
                <a:ext uri="{FF2B5EF4-FFF2-40B4-BE49-F238E27FC236}">
                  <a16:creationId xmlns:a16="http://schemas.microsoft.com/office/drawing/2014/main" id="{3B732B6A-9600-4633-AF0B-BE052D609769}"/>
                </a:ext>
              </a:extLst>
            </p:cNvPr>
            <p:cNvCxnSpPr>
              <a:cxnSpLocks/>
            </p:cNvCxnSpPr>
            <p:nvPr/>
          </p:nvCxnSpPr>
          <p:spPr>
            <a:xfrm>
              <a:off x="5651414" y="1749304"/>
              <a:ext cx="118734" cy="106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文字方塊 28">
            <a:extLst>
              <a:ext uri="{FF2B5EF4-FFF2-40B4-BE49-F238E27FC236}">
                <a16:creationId xmlns:a16="http://schemas.microsoft.com/office/drawing/2014/main" id="{04424A4D-64D9-46F8-BB99-C078B5B391D0}"/>
              </a:ext>
            </a:extLst>
          </p:cNvPr>
          <p:cNvSpPr txBox="1"/>
          <p:nvPr/>
        </p:nvSpPr>
        <p:spPr>
          <a:xfrm>
            <a:off x="7267780" y="3096166"/>
            <a:ext cx="1317990"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50/50 Beam splitter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921403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146325" y="319237"/>
            <a:ext cx="685135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Setup for Hong-</a:t>
            </a:r>
            <a:r>
              <a:rPr lang="en-US" altLang="zh-TW" sz="2000" dirty="0" err="1">
                <a:latin typeface="Montserrat" panose="02020500000000000000" charset="0"/>
              </a:rPr>
              <a:t>Ou</a:t>
            </a:r>
            <a:r>
              <a:rPr lang="en-US" altLang="zh-TW" sz="2000" dirty="0">
                <a:latin typeface="Montserrat" panose="02020500000000000000" charset="0"/>
              </a:rPr>
              <a:t>-Mandel interference</a:t>
            </a:r>
          </a:p>
        </p:txBody>
      </p:sp>
      <p:grpSp>
        <p:nvGrpSpPr>
          <p:cNvPr id="3" name="群組 2">
            <a:extLst>
              <a:ext uri="{FF2B5EF4-FFF2-40B4-BE49-F238E27FC236}">
                <a16:creationId xmlns:a16="http://schemas.microsoft.com/office/drawing/2014/main" id="{1079046F-1BEA-4E4D-8FC6-CF63DD558BBF}"/>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1F436357-7361-4561-BBAE-103CECA8F4E8}"/>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1E9209DF-82B2-437F-97D5-6922F94D7A94}"/>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F8A7C2CB-3F2B-41C0-AF03-7B26404A94FD}"/>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1B817F0C-C021-4598-9028-83B06AAC872E}"/>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1EDA595A-5B57-43E5-BC32-469EEE3CBE1D}"/>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23AEE153-4213-47DE-9E36-FA4E97B2813E}"/>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grpSp>
        <p:nvGrpSpPr>
          <p:cNvPr id="82" name="群組 81">
            <a:extLst>
              <a:ext uri="{FF2B5EF4-FFF2-40B4-BE49-F238E27FC236}">
                <a16:creationId xmlns:a16="http://schemas.microsoft.com/office/drawing/2014/main" id="{FD66801D-C5F2-4687-96A8-5A5ECA6C9DA5}"/>
              </a:ext>
            </a:extLst>
          </p:cNvPr>
          <p:cNvGrpSpPr/>
          <p:nvPr/>
        </p:nvGrpSpPr>
        <p:grpSpPr>
          <a:xfrm>
            <a:off x="486494" y="1235616"/>
            <a:ext cx="8220851" cy="3497477"/>
            <a:chOff x="486494" y="1235616"/>
            <a:chExt cx="8220851" cy="3497477"/>
          </a:xfrm>
        </p:grpSpPr>
        <p:grpSp>
          <p:nvGrpSpPr>
            <p:cNvPr id="81" name="群組 80">
              <a:extLst>
                <a:ext uri="{FF2B5EF4-FFF2-40B4-BE49-F238E27FC236}">
                  <a16:creationId xmlns:a16="http://schemas.microsoft.com/office/drawing/2014/main" id="{B324038A-5FB4-40F3-AB88-CF3DFB41CEC0}"/>
                </a:ext>
              </a:extLst>
            </p:cNvPr>
            <p:cNvGrpSpPr/>
            <p:nvPr/>
          </p:nvGrpSpPr>
          <p:grpSpPr>
            <a:xfrm>
              <a:off x="4711814" y="2913062"/>
              <a:ext cx="402740" cy="451048"/>
              <a:chOff x="4711814" y="2913062"/>
              <a:chExt cx="402740" cy="451048"/>
            </a:xfrm>
          </p:grpSpPr>
          <p:sp>
            <p:nvSpPr>
              <p:cNvPr id="11" name="矩形 10">
                <a:extLst>
                  <a:ext uri="{FF2B5EF4-FFF2-40B4-BE49-F238E27FC236}">
                    <a16:creationId xmlns:a16="http://schemas.microsoft.com/office/drawing/2014/main" id="{280203B8-A749-4E1E-B0D1-95A5A832D3EF}"/>
                  </a:ext>
                </a:extLst>
              </p:cNvPr>
              <p:cNvSpPr/>
              <p:nvPr/>
            </p:nvSpPr>
            <p:spPr>
              <a:xfrm>
                <a:off x="4711814" y="2913062"/>
                <a:ext cx="360000" cy="360000"/>
              </a:xfrm>
              <a:prstGeom prst="rect">
                <a:avLst/>
              </a:prstGeom>
              <a:solidFill>
                <a:schemeClr val="accent4">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11">
                <a:extLst>
                  <a:ext uri="{FF2B5EF4-FFF2-40B4-BE49-F238E27FC236}">
                    <a16:creationId xmlns:a16="http://schemas.microsoft.com/office/drawing/2014/main" id="{369E6867-3BFD-4A0A-8AED-E5898A91D4A9}"/>
                  </a:ext>
                </a:extLst>
              </p:cNvPr>
              <p:cNvSpPr/>
              <p:nvPr/>
            </p:nvSpPr>
            <p:spPr>
              <a:xfrm>
                <a:off x="4756479" y="3277335"/>
                <a:ext cx="51058" cy="86238"/>
              </a:xfrm>
              <a:prstGeom prst="rect">
                <a:avLst/>
              </a:prstGeom>
              <a:solidFill>
                <a:schemeClr val="accent4">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0" name="圖片 79">
                <a:extLst>
                  <a:ext uri="{FF2B5EF4-FFF2-40B4-BE49-F238E27FC236}">
                    <a16:creationId xmlns:a16="http://schemas.microsoft.com/office/drawing/2014/main" id="{8730F63C-99C5-4608-8459-A39469E2CD07}"/>
                  </a:ext>
                </a:extLst>
              </p:cNvPr>
              <p:cNvPicPr>
                <a:picLocks noChangeAspect="1"/>
              </p:cNvPicPr>
              <p:nvPr/>
            </p:nvPicPr>
            <p:blipFill>
              <a:blip r:embed="rId3"/>
              <a:stretch>
                <a:fillRect/>
              </a:stretch>
            </p:blipFill>
            <p:spPr>
              <a:xfrm>
                <a:off x="4811442" y="3309492"/>
                <a:ext cx="303112" cy="54618"/>
              </a:xfrm>
              <a:prstGeom prst="rect">
                <a:avLst/>
              </a:prstGeom>
              <a:ln w="12700">
                <a:solidFill>
                  <a:schemeClr val="tx1"/>
                </a:solidFill>
              </a:ln>
            </p:spPr>
          </p:pic>
        </p:grpSp>
        <p:grpSp>
          <p:nvGrpSpPr>
            <p:cNvPr id="149" name="群組 148">
              <a:extLst>
                <a:ext uri="{FF2B5EF4-FFF2-40B4-BE49-F238E27FC236}">
                  <a16:creationId xmlns:a16="http://schemas.microsoft.com/office/drawing/2014/main" id="{B9763603-27AD-4582-9565-41116114CB8D}"/>
                </a:ext>
              </a:extLst>
            </p:cNvPr>
            <p:cNvGrpSpPr/>
            <p:nvPr/>
          </p:nvGrpSpPr>
          <p:grpSpPr>
            <a:xfrm>
              <a:off x="486494" y="1272626"/>
              <a:ext cx="8220851" cy="3460467"/>
              <a:chOff x="768022" y="1234526"/>
              <a:chExt cx="8220851" cy="3460467"/>
            </a:xfrm>
          </p:grpSpPr>
          <p:cxnSp>
            <p:nvCxnSpPr>
              <p:cNvPr id="108" name="直線單箭頭接點 107">
                <a:extLst>
                  <a:ext uri="{FF2B5EF4-FFF2-40B4-BE49-F238E27FC236}">
                    <a16:creationId xmlns:a16="http://schemas.microsoft.com/office/drawing/2014/main" id="{0C6C72F4-2401-4E2C-97A4-CEE353C006CC}"/>
                  </a:ext>
                </a:extLst>
              </p:cNvPr>
              <p:cNvCxnSpPr>
                <a:cxnSpLocks/>
              </p:cNvCxnSpPr>
              <p:nvPr/>
            </p:nvCxnSpPr>
            <p:spPr>
              <a:xfrm flipV="1">
                <a:off x="5284624" y="3052865"/>
                <a:ext cx="1368387" cy="1"/>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7BA28FD8-3F7C-49BB-A344-4C8AC4E8891B}"/>
                  </a:ext>
                </a:extLst>
              </p:cNvPr>
              <p:cNvCxnSpPr>
                <a:cxnSpLocks/>
              </p:cNvCxnSpPr>
              <p:nvPr/>
            </p:nvCxnSpPr>
            <p:spPr>
              <a:xfrm>
                <a:off x="3101879" y="1539317"/>
                <a:ext cx="3381504"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sp>
            <p:nvSpPr>
              <p:cNvPr id="76" name="文字方塊 75">
                <a:extLst>
                  <a:ext uri="{FF2B5EF4-FFF2-40B4-BE49-F238E27FC236}">
                    <a16:creationId xmlns:a16="http://schemas.microsoft.com/office/drawing/2014/main" id="{A8AC6C56-F6A0-4C11-811E-94C39075419C}"/>
                  </a:ext>
                </a:extLst>
              </p:cNvPr>
              <p:cNvSpPr txBox="1"/>
              <p:nvPr/>
            </p:nvSpPr>
            <p:spPr>
              <a:xfrm>
                <a:off x="4399910" y="1606776"/>
                <a:ext cx="1475084"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Polarization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30" name="矩形 29">
                <a:extLst>
                  <a:ext uri="{FF2B5EF4-FFF2-40B4-BE49-F238E27FC236}">
                    <a16:creationId xmlns:a16="http://schemas.microsoft.com/office/drawing/2014/main" id="{4EA305D9-FB6C-4834-933F-FDBD1DCEAF5B}"/>
                  </a:ext>
                </a:extLst>
              </p:cNvPr>
              <p:cNvSpPr/>
              <p:nvPr/>
            </p:nvSpPr>
            <p:spPr>
              <a:xfrm>
                <a:off x="1419148" y="1234526"/>
                <a:ext cx="2100200" cy="549103"/>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Mongolian Baiti" panose="03000500000000000000" pitchFamily="66" charset="0"/>
                  </a:rPr>
                  <a:t>784.5 nm</a:t>
                </a:r>
              </a:p>
              <a:p>
                <a:pPr algn="ctr"/>
                <a:r>
                  <a:rPr lang="en-US" altLang="zh-TW" sz="900" b="1" dirty="0">
                    <a:solidFill>
                      <a:schemeClr val="tx1"/>
                    </a:solidFill>
                    <a:latin typeface="Montserrat" panose="02020500000000000000" charset="0"/>
                    <a:cs typeface="Mongolian Baiti" panose="03000500000000000000" pitchFamily="66" charset="0"/>
                  </a:rPr>
                  <a:t>Volume-Holographic-Grating- (VHG) Stabilized SF Lasers</a:t>
                </a:r>
              </a:p>
            </p:txBody>
          </p:sp>
          <p:cxnSp>
            <p:nvCxnSpPr>
              <p:cNvPr id="31" name="直線單箭頭接點 30">
                <a:extLst>
                  <a:ext uri="{FF2B5EF4-FFF2-40B4-BE49-F238E27FC236}">
                    <a16:creationId xmlns:a16="http://schemas.microsoft.com/office/drawing/2014/main" id="{FD4B71A1-9173-4B2B-B85D-E64204E15405}"/>
                  </a:ext>
                </a:extLst>
              </p:cNvPr>
              <p:cNvCxnSpPr>
                <a:cxnSpLocks/>
              </p:cNvCxnSpPr>
              <p:nvPr/>
            </p:nvCxnSpPr>
            <p:spPr>
              <a:xfrm flipH="1">
                <a:off x="4065743" y="2111057"/>
                <a:ext cx="2409958"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6C85CAC3-625E-4292-9719-DA1C131F8147}"/>
                  </a:ext>
                </a:extLst>
              </p:cNvPr>
              <p:cNvCxnSpPr>
                <a:cxnSpLocks/>
              </p:cNvCxnSpPr>
              <p:nvPr/>
            </p:nvCxnSpPr>
            <p:spPr>
              <a:xfrm>
                <a:off x="907954" y="2103623"/>
                <a:ext cx="3264070" cy="5"/>
              </a:xfrm>
              <a:prstGeom prst="line">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33" name="右中括弧 32">
                <a:extLst>
                  <a:ext uri="{FF2B5EF4-FFF2-40B4-BE49-F238E27FC236}">
                    <a16:creationId xmlns:a16="http://schemas.microsoft.com/office/drawing/2014/main" id="{E65EB069-A132-4A79-A8E0-D273C8E5F0EA}"/>
                  </a:ext>
                </a:extLst>
              </p:cNvPr>
              <p:cNvSpPr/>
              <p:nvPr/>
            </p:nvSpPr>
            <p:spPr>
              <a:xfrm>
                <a:off x="6475763" y="1539317"/>
                <a:ext cx="211846" cy="56983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4" name="右中括弧 33">
                <a:extLst>
                  <a:ext uri="{FF2B5EF4-FFF2-40B4-BE49-F238E27FC236}">
                    <a16:creationId xmlns:a16="http://schemas.microsoft.com/office/drawing/2014/main" id="{FDF81BEE-B4B6-4DD2-B4A4-8A599F989245}"/>
                  </a:ext>
                </a:extLst>
              </p:cNvPr>
              <p:cNvSpPr/>
              <p:nvPr/>
            </p:nvSpPr>
            <p:spPr>
              <a:xfrm rot="10800000">
                <a:off x="768022" y="2109154"/>
                <a:ext cx="161944" cy="57743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35" name="直線單箭頭接點 34">
                <a:extLst>
                  <a:ext uri="{FF2B5EF4-FFF2-40B4-BE49-F238E27FC236}">
                    <a16:creationId xmlns:a16="http://schemas.microsoft.com/office/drawing/2014/main" id="{D66F11AE-BFF6-4439-917E-491C4FC2F777}"/>
                  </a:ext>
                </a:extLst>
              </p:cNvPr>
              <p:cNvCxnSpPr>
                <a:cxnSpLocks/>
              </p:cNvCxnSpPr>
              <p:nvPr/>
            </p:nvCxnSpPr>
            <p:spPr>
              <a:xfrm>
                <a:off x="930029" y="2686595"/>
                <a:ext cx="239291"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107" name="群組 106">
                <a:extLst>
                  <a:ext uri="{FF2B5EF4-FFF2-40B4-BE49-F238E27FC236}">
                    <a16:creationId xmlns:a16="http://schemas.microsoft.com/office/drawing/2014/main" id="{48F88EC7-93B9-4736-AB50-8BAD62685004}"/>
                  </a:ext>
                </a:extLst>
              </p:cNvPr>
              <p:cNvGrpSpPr/>
              <p:nvPr/>
            </p:nvGrpSpPr>
            <p:grpSpPr>
              <a:xfrm>
                <a:off x="824105" y="2074681"/>
                <a:ext cx="4866446" cy="2537984"/>
                <a:chOff x="1191203" y="2047044"/>
                <a:chExt cx="4866446" cy="2537984"/>
              </a:xfrm>
            </p:grpSpPr>
            <p:sp>
              <p:nvSpPr>
                <p:cNvPr id="36" name="矩形 35">
                  <a:extLst>
                    <a:ext uri="{FF2B5EF4-FFF2-40B4-BE49-F238E27FC236}">
                      <a16:creationId xmlns:a16="http://schemas.microsoft.com/office/drawing/2014/main" id="{C5B346F5-57A6-4EDA-B1F7-3E79E54CE5C4}"/>
                    </a:ext>
                  </a:extLst>
                </p:cNvPr>
                <p:cNvSpPr/>
                <p:nvPr/>
              </p:nvSpPr>
              <p:spPr>
                <a:xfrm rot="5400000">
                  <a:off x="3723893" y="2898873"/>
                  <a:ext cx="826137"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7" name="圖片 36">
                  <a:extLst>
                    <a:ext uri="{FF2B5EF4-FFF2-40B4-BE49-F238E27FC236}">
                      <a16:creationId xmlns:a16="http://schemas.microsoft.com/office/drawing/2014/main" id="{0049ABC2-95D8-409C-9C42-80A0BD8B2F3D}"/>
                    </a:ext>
                  </a:extLst>
                </p:cNvPr>
                <p:cNvPicPr>
                  <a:picLocks noChangeAspect="1"/>
                </p:cNvPicPr>
                <p:nvPr/>
              </p:nvPicPr>
              <p:blipFill>
                <a:blip r:embed="rId4"/>
                <a:stretch>
                  <a:fillRect/>
                </a:stretch>
              </p:blipFill>
              <p:spPr>
                <a:xfrm>
                  <a:off x="1704056" y="2283323"/>
                  <a:ext cx="857305" cy="755649"/>
                </a:xfrm>
                <a:prstGeom prst="rect">
                  <a:avLst/>
                </a:prstGeom>
              </p:spPr>
            </p:pic>
            <p:sp>
              <p:nvSpPr>
                <p:cNvPr id="38" name="矩形 37">
                  <a:extLst>
                    <a:ext uri="{FF2B5EF4-FFF2-40B4-BE49-F238E27FC236}">
                      <a16:creationId xmlns:a16="http://schemas.microsoft.com/office/drawing/2014/main" id="{10F32B60-B285-45FD-ABBC-9D5ABCDE935A}"/>
                    </a:ext>
                  </a:extLst>
                </p:cNvPr>
                <p:cNvSpPr/>
                <p:nvPr/>
              </p:nvSpPr>
              <p:spPr>
                <a:xfrm>
                  <a:off x="2740704" y="2566384"/>
                  <a:ext cx="2160000" cy="1800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流程圖: 換頁接點 38">
                  <a:extLst>
                    <a:ext uri="{FF2B5EF4-FFF2-40B4-BE49-F238E27FC236}">
                      <a16:creationId xmlns:a16="http://schemas.microsoft.com/office/drawing/2014/main" id="{686D2A60-3861-4C7F-9BF0-703A07713EBB}"/>
                    </a:ext>
                  </a:extLst>
                </p:cNvPr>
                <p:cNvSpPr/>
                <p:nvPr/>
              </p:nvSpPr>
              <p:spPr>
                <a:xfrm rot="16200000">
                  <a:off x="3095990" y="2443562"/>
                  <a:ext cx="345220" cy="419095"/>
                </a:xfrm>
                <a:prstGeom prst="flowChartOffpageConnector">
                  <a:avLst/>
                </a:prstGeom>
                <a:solidFill>
                  <a:schemeClr val="tx1">
                    <a:lumMod val="65000"/>
                    <a:lumOff val="3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D850C08C-41E9-40B7-AF49-0F6FE3586A0F}"/>
                    </a:ext>
                  </a:extLst>
                </p:cNvPr>
                <p:cNvSpPr/>
                <p:nvPr/>
              </p:nvSpPr>
              <p:spPr>
                <a:xfrm>
                  <a:off x="3922647" y="2419202"/>
                  <a:ext cx="460800" cy="460800"/>
                </a:xfrm>
                <a:prstGeom prst="rect">
                  <a:avLst/>
                </a:prstGeom>
                <a:solidFill>
                  <a:schemeClr val="accent2">
                    <a:lumMod val="20000"/>
                    <a:lumOff val="80000"/>
                    <a:alpha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0" name="直線接點 39">
                  <a:extLst>
                    <a:ext uri="{FF2B5EF4-FFF2-40B4-BE49-F238E27FC236}">
                      <a16:creationId xmlns:a16="http://schemas.microsoft.com/office/drawing/2014/main" id="{1902BEEE-A76D-48ED-AFFB-4198450C55E4}"/>
                    </a:ext>
                  </a:extLst>
                </p:cNvPr>
                <p:cNvCxnSpPr>
                  <a:cxnSpLocks/>
                </p:cNvCxnSpPr>
                <p:nvPr/>
              </p:nvCxnSpPr>
              <p:spPr>
                <a:xfrm>
                  <a:off x="3926368" y="2416919"/>
                  <a:ext cx="460800" cy="45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8482DE1F-EA00-4E83-8CB8-096F1D20EE97}"/>
                    </a:ext>
                  </a:extLst>
                </p:cNvPr>
                <p:cNvSpPr txBox="1"/>
                <p:nvPr/>
              </p:nvSpPr>
              <p:spPr>
                <a:xfrm>
                  <a:off x="3940489" y="2206980"/>
                  <a:ext cx="425116"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PBS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42" name="文字方塊 41">
                  <a:extLst>
                    <a:ext uri="{FF2B5EF4-FFF2-40B4-BE49-F238E27FC236}">
                      <a16:creationId xmlns:a16="http://schemas.microsoft.com/office/drawing/2014/main" id="{010CAFFB-28E4-445B-95AF-BD214B6F6ED0}"/>
                    </a:ext>
                  </a:extLst>
                </p:cNvPr>
                <p:cNvSpPr txBox="1"/>
                <p:nvPr/>
              </p:nvSpPr>
              <p:spPr>
                <a:xfrm>
                  <a:off x="2881145" y="2845838"/>
                  <a:ext cx="734495"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Objective</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lens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nvGrpSpPr>
                <p:cNvPr id="43" name="群組 42">
                  <a:extLst>
                    <a:ext uri="{FF2B5EF4-FFF2-40B4-BE49-F238E27FC236}">
                      <a16:creationId xmlns:a16="http://schemas.microsoft.com/office/drawing/2014/main" id="{5934E523-B36F-423F-B7A5-0FF600DAF238}"/>
                    </a:ext>
                  </a:extLst>
                </p:cNvPr>
                <p:cNvGrpSpPr/>
                <p:nvPr/>
              </p:nvGrpSpPr>
              <p:grpSpPr>
                <a:xfrm>
                  <a:off x="1191203" y="2256849"/>
                  <a:ext cx="1874231" cy="1212142"/>
                  <a:chOff x="2989770" y="3241984"/>
                  <a:chExt cx="1874231" cy="1212142"/>
                </a:xfrm>
              </p:grpSpPr>
              <p:sp>
                <p:nvSpPr>
                  <p:cNvPr id="72" name="文字方塊 71">
                    <a:extLst>
                      <a:ext uri="{FF2B5EF4-FFF2-40B4-BE49-F238E27FC236}">
                        <a16:creationId xmlns:a16="http://schemas.microsoft.com/office/drawing/2014/main" id="{98DD2E93-01E3-49F2-8904-CF51B54CF608}"/>
                      </a:ext>
                    </a:extLst>
                  </p:cNvPr>
                  <p:cNvSpPr txBox="1"/>
                  <p:nvPr/>
                </p:nvSpPr>
                <p:spPr>
                  <a:xfrm>
                    <a:off x="2989770" y="4084794"/>
                    <a:ext cx="1874231"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Oven</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(with temperature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3" name="矩形 72">
                    <a:extLst>
                      <a:ext uri="{FF2B5EF4-FFF2-40B4-BE49-F238E27FC236}">
                        <a16:creationId xmlns:a16="http://schemas.microsoft.com/office/drawing/2014/main" id="{5B6E961D-FAA0-45C7-AA60-2D19CAF11E1C}"/>
                      </a:ext>
                    </a:extLst>
                  </p:cNvPr>
                  <p:cNvSpPr/>
                  <p:nvPr/>
                </p:nvSpPr>
                <p:spPr>
                  <a:xfrm>
                    <a:off x="3312266" y="3241984"/>
                    <a:ext cx="1229241" cy="81288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4" name="文字方塊 73">
                    <a:extLst>
                      <a:ext uri="{FF2B5EF4-FFF2-40B4-BE49-F238E27FC236}">
                        <a16:creationId xmlns:a16="http://schemas.microsoft.com/office/drawing/2014/main" id="{1F9D229E-C794-4690-884A-D2FA49CF2E35}"/>
                      </a:ext>
                    </a:extLst>
                  </p:cNvPr>
                  <p:cNvSpPr txBox="1"/>
                  <p:nvPr/>
                </p:nvSpPr>
                <p:spPr>
                  <a:xfrm>
                    <a:off x="3627853" y="3751942"/>
                    <a:ext cx="48603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Chip</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grpSp>
              <p:nvGrpSpPr>
                <p:cNvPr id="45" name="群組 44">
                  <a:extLst>
                    <a:ext uri="{FF2B5EF4-FFF2-40B4-BE49-F238E27FC236}">
                      <a16:creationId xmlns:a16="http://schemas.microsoft.com/office/drawing/2014/main" id="{48507E30-F49B-4AF1-809A-E4ADC74B33CB}"/>
                    </a:ext>
                  </a:extLst>
                </p:cNvPr>
                <p:cNvGrpSpPr/>
                <p:nvPr/>
              </p:nvGrpSpPr>
              <p:grpSpPr>
                <a:xfrm>
                  <a:off x="4729933" y="2561573"/>
                  <a:ext cx="720468" cy="538049"/>
                  <a:chOff x="6147164" y="2836434"/>
                  <a:chExt cx="720468" cy="538049"/>
                </a:xfrm>
              </p:grpSpPr>
              <p:sp>
                <p:nvSpPr>
                  <p:cNvPr id="70" name="矩形 69">
                    <a:extLst>
                      <a:ext uri="{FF2B5EF4-FFF2-40B4-BE49-F238E27FC236}">
                        <a16:creationId xmlns:a16="http://schemas.microsoft.com/office/drawing/2014/main" id="{ED6B73CD-CCFE-4EAF-8D07-744F1102ECF0}"/>
                      </a:ext>
                    </a:extLst>
                  </p:cNvPr>
                  <p:cNvSpPr/>
                  <p:nvPr/>
                </p:nvSpPr>
                <p:spPr>
                  <a:xfrm>
                    <a:off x="6147632" y="3198083"/>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1" name="矩形 70">
                    <a:extLst>
                      <a:ext uri="{FF2B5EF4-FFF2-40B4-BE49-F238E27FC236}">
                        <a16:creationId xmlns:a16="http://schemas.microsoft.com/office/drawing/2014/main" id="{9FB9BCB2-3158-4D32-90F3-2BF713C593B8}"/>
                      </a:ext>
                    </a:extLst>
                  </p:cNvPr>
                  <p:cNvSpPr/>
                  <p:nvPr/>
                </p:nvSpPr>
                <p:spPr>
                  <a:xfrm rot="5400000">
                    <a:off x="6054665" y="2928933"/>
                    <a:ext cx="361400" cy="176402"/>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46" name="群組 45">
                  <a:extLst>
                    <a:ext uri="{FF2B5EF4-FFF2-40B4-BE49-F238E27FC236}">
                      <a16:creationId xmlns:a16="http://schemas.microsoft.com/office/drawing/2014/main" id="{7FC7D6A8-7AB7-4EAB-895B-27ED818BFFA1}"/>
                    </a:ext>
                  </a:extLst>
                </p:cNvPr>
                <p:cNvGrpSpPr/>
                <p:nvPr/>
              </p:nvGrpSpPr>
              <p:grpSpPr>
                <a:xfrm>
                  <a:off x="4048761" y="3400142"/>
                  <a:ext cx="536400" cy="720000"/>
                  <a:chOff x="4468549" y="3036442"/>
                  <a:chExt cx="536400" cy="720000"/>
                </a:xfrm>
              </p:grpSpPr>
              <p:sp>
                <p:nvSpPr>
                  <p:cNvPr id="68" name="矩形 67">
                    <a:extLst>
                      <a:ext uri="{FF2B5EF4-FFF2-40B4-BE49-F238E27FC236}">
                        <a16:creationId xmlns:a16="http://schemas.microsoft.com/office/drawing/2014/main" id="{9B24D3C3-FE97-44B4-BEE4-E2EC1CAA3B04}"/>
                      </a:ext>
                    </a:extLst>
                  </p:cNvPr>
                  <p:cNvSpPr/>
                  <p:nvPr/>
                </p:nvSpPr>
                <p:spPr>
                  <a:xfrm rot="5400000">
                    <a:off x="4556749" y="3308242"/>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a:extLst>
                      <a:ext uri="{FF2B5EF4-FFF2-40B4-BE49-F238E27FC236}">
                        <a16:creationId xmlns:a16="http://schemas.microsoft.com/office/drawing/2014/main" id="{67B5A9AE-EF87-46A9-843F-754136D923FC}"/>
                      </a:ext>
                    </a:extLst>
                  </p:cNvPr>
                  <p:cNvSpPr/>
                  <p:nvPr/>
                </p:nvSpPr>
                <p:spPr>
                  <a:xfrm>
                    <a:off x="4468549" y="3036442"/>
                    <a:ext cx="36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7" name="矩形 46">
                  <a:extLst>
                    <a:ext uri="{FF2B5EF4-FFF2-40B4-BE49-F238E27FC236}">
                      <a16:creationId xmlns:a16="http://schemas.microsoft.com/office/drawing/2014/main" id="{D33DE9DE-AAE2-4327-81DD-51C56A1190FA}"/>
                    </a:ext>
                  </a:extLst>
                </p:cNvPr>
                <p:cNvSpPr/>
                <p:nvPr/>
              </p:nvSpPr>
              <p:spPr>
                <a:xfrm rot="18900000">
                  <a:off x="4711328" y="2884889"/>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矩形 47">
                  <a:extLst>
                    <a:ext uri="{FF2B5EF4-FFF2-40B4-BE49-F238E27FC236}">
                      <a16:creationId xmlns:a16="http://schemas.microsoft.com/office/drawing/2014/main" id="{92102C1A-4D0C-4611-8DD1-06EC388096F3}"/>
                    </a:ext>
                  </a:extLst>
                </p:cNvPr>
                <p:cNvSpPr/>
                <p:nvPr/>
              </p:nvSpPr>
              <p:spPr>
                <a:xfrm rot="18900000">
                  <a:off x="4039955" y="3328269"/>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57CB5C8-FDBC-42B2-A675-AF6BA09CD9D3}"/>
                    </a:ext>
                  </a:extLst>
                </p:cNvPr>
                <p:cNvSpPr/>
                <p:nvPr/>
              </p:nvSpPr>
              <p:spPr>
                <a:xfrm rot="18900000">
                  <a:off x="4883182" y="2378805"/>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AE77636A-C044-41F4-A8A1-B2709C02C194}"/>
                    </a:ext>
                  </a:extLst>
                </p:cNvPr>
                <p:cNvSpPr/>
                <p:nvPr/>
              </p:nvSpPr>
              <p:spPr>
                <a:xfrm rot="18900000">
                  <a:off x="4554636" y="3200287"/>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1" name="群組 50">
                  <a:extLst>
                    <a:ext uri="{FF2B5EF4-FFF2-40B4-BE49-F238E27FC236}">
                      <a16:creationId xmlns:a16="http://schemas.microsoft.com/office/drawing/2014/main" id="{1F656191-2DFA-4C2B-B383-8033B67728B7}"/>
                    </a:ext>
                  </a:extLst>
                </p:cNvPr>
                <p:cNvGrpSpPr/>
                <p:nvPr/>
              </p:nvGrpSpPr>
              <p:grpSpPr>
                <a:xfrm>
                  <a:off x="4496963" y="4039880"/>
                  <a:ext cx="1560686" cy="545148"/>
                  <a:chOff x="5013338" y="5088690"/>
                  <a:chExt cx="1397537" cy="561139"/>
                </a:xfrm>
                <a:effectLst/>
              </p:grpSpPr>
              <p:sp>
                <p:nvSpPr>
                  <p:cNvPr id="66" name="弧形 65">
                    <a:extLst>
                      <a:ext uri="{FF2B5EF4-FFF2-40B4-BE49-F238E27FC236}">
                        <a16:creationId xmlns:a16="http://schemas.microsoft.com/office/drawing/2014/main" id="{FB992F5D-9699-4941-9B10-104BA7FAF4EB}"/>
                      </a:ext>
                    </a:extLst>
                  </p:cNvPr>
                  <p:cNvSpPr/>
                  <p:nvPr/>
                </p:nvSpPr>
                <p:spPr>
                  <a:xfrm rot="10554644">
                    <a:off x="5013338" y="5088690"/>
                    <a:ext cx="559335" cy="561139"/>
                  </a:xfrm>
                  <a:prstGeom prst="arc">
                    <a:avLst/>
                  </a:prstGeom>
                  <a:ln w="28575">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67" name="直線單箭頭接點 66">
                    <a:extLst>
                      <a:ext uri="{FF2B5EF4-FFF2-40B4-BE49-F238E27FC236}">
                        <a16:creationId xmlns:a16="http://schemas.microsoft.com/office/drawing/2014/main" id="{681A72F9-1545-4E22-BC09-E5BEA6D94D8E}"/>
                      </a:ext>
                    </a:extLst>
                  </p:cNvPr>
                  <p:cNvCxnSpPr>
                    <a:cxnSpLocks/>
                    <a:stCxn id="66" idx="0"/>
                  </p:cNvCxnSpPr>
                  <p:nvPr/>
                </p:nvCxnSpPr>
                <p:spPr>
                  <a:xfrm flipV="1">
                    <a:off x="5310411" y="5649114"/>
                    <a:ext cx="1100464" cy="1"/>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群組 51">
                  <a:extLst>
                    <a:ext uri="{FF2B5EF4-FFF2-40B4-BE49-F238E27FC236}">
                      <a16:creationId xmlns:a16="http://schemas.microsoft.com/office/drawing/2014/main" id="{8ED02AC0-AF95-4082-913F-801FCD6EDB9A}"/>
                    </a:ext>
                  </a:extLst>
                </p:cNvPr>
                <p:cNvGrpSpPr/>
                <p:nvPr/>
              </p:nvGrpSpPr>
              <p:grpSpPr>
                <a:xfrm rot="5400000">
                  <a:off x="4388210" y="4075574"/>
                  <a:ext cx="217501" cy="292099"/>
                  <a:chOff x="8991525" y="4409212"/>
                  <a:chExt cx="297255" cy="368068"/>
                </a:xfrm>
                <a:solidFill>
                  <a:schemeClr val="accent4"/>
                </a:solidFill>
              </p:grpSpPr>
              <p:sp>
                <p:nvSpPr>
                  <p:cNvPr id="64" name="矩形 63">
                    <a:extLst>
                      <a:ext uri="{FF2B5EF4-FFF2-40B4-BE49-F238E27FC236}">
                        <a16:creationId xmlns:a16="http://schemas.microsoft.com/office/drawing/2014/main" id="{5071BAAF-CBC0-4A1B-8046-33675D6584CA}"/>
                      </a:ext>
                    </a:extLst>
                  </p:cNvPr>
                  <p:cNvSpPr/>
                  <p:nvPr/>
                </p:nvSpPr>
                <p:spPr>
                  <a:xfrm>
                    <a:off x="8991525"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流程圖: 延遲 64">
                    <a:extLst>
                      <a:ext uri="{FF2B5EF4-FFF2-40B4-BE49-F238E27FC236}">
                        <a16:creationId xmlns:a16="http://schemas.microsoft.com/office/drawing/2014/main" id="{4141F6E5-A933-4249-AB11-1C092F947543}"/>
                      </a:ext>
                    </a:extLst>
                  </p:cNvPr>
                  <p:cNvSpPr/>
                  <p:nvPr/>
                </p:nvSpPr>
                <p:spPr>
                  <a:xfrm>
                    <a:off x="9105897"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4" name="群組 53">
                  <a:extLst>
                    <a:ext uri="{FF2B5EF4-FFF2-40B4-BE49-F238E27FC236}">
                      <a16:creationId xmlns:a16="http://schemas.microsoft.com/office/drawing/2014/main" id="{5B895756-E819-4FA4-8826-6F041D8888D6}"/>
                    </a:ext>
                  </a:extLst>
                </p:cNvPr>
                <p:cNvGrpSpPr/>
                <p:nvPr/>
              </p:nvGrpSpPr>
              <p:grpSpPr>
                <a:xfrm>
                  <a:off x="5434224" y="2879101"/>
                  <a:ext cx="217492" cy="292099"/>
                  <a:chOff x="8991538" y="4409212"/>
                  <a:chExt cx="297243" cy="368068"/>
                </a:xfrm>
                <a:solidFill>
                  <a:schemeClr val="accent4"/>
                </a:solidFill>
              </p:grpSpPr>
              <p:sp>
                <p:nvSpPr>
                  <p:cNvPr id="62" name="矩形 61">
                    <a:extLst>
                      <a:ext uri="{FF2B5EF4-FFF2-40B4-BE49-F238E27FC236}">
                        <a16:creationId xmlns:a16="http://schemas.microsoft.com/office/drawing/2014/main" id="{9A8A6421-78B7-4C05-8589-55424C0FD9D6}"/>
                      </a:ext>
                    </a:extLst>
                  </p:cNvPr>
                  <p:cNvSpPr/>
                  <p:nvPr/>
                </p:nvSpPr>
                <p:spPr>
                  <a:xfrm>
                    <a:off x="8991538"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流程圖: 延遲 62">
                    <a:extLst>
                      <a:ext uri="{FF2B5EF4-FFF2-40B4-BE49-F238E27FC236}">
                        <a16:creationId xmlns:a16="http://schemas.microsoft.com/office/drawing/2014/main" id="{EA880D27-B943-441B-811C-51E8EC8C54E2}"/>
                      </a:ext>
                    </a:extLst>
                  </p:cNvPr>
                  <p:cNvSpPr/>
                  <p:nvPr/>
                </p:nvSpPr>
                <p:spPr>
                  <a:xfrm>
                    <a:off x="9105898"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矩形 15">
                  <a:extLst>
                    <a:ext uri="{FF2B5EF4-FFF2-40B4-BE49-F238E27FC236}">
                      <a16:creationId xmlns:a16="http://schemas.microsoft.com/office/drawing/2014/main" id="{70343B5E-7E61-4A6C-9B61-804E463AF929}"/>
                    </a:ext>
                  </a:extLst>
                </p:cNvPr>
                <p:cNvSpPr/>
                <p:nvPr/>
              </p:nvSpPr>
              <p:spPr>
                <a:xfrm>
                  <a:off x="3676785" y="2411237"/>
                  <a:ext cx="61050" cy="459475"/>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C6B5CDAA-FC4B-44AA-9721-1D7D1781FB80}"/>
                    </a:ext>
                  </a:extLst>
                </p:cNvPr>
                <p:cNvSpPr txBox="1"/>
                <p:nvPr/>
              </p:nvSpPr>
              <p:spPr>
                <a:xfrm>
                  <a:off x="3432391" y="2047044"/>
                  <a:ext cx="575799"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Pump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8" name="文字方塊 17">
                  <a:extLst>
                    <a:ext uri="{FF2B5EF4-FFF2-40B4-BE49-F238E27FC236}">
                      <a16:creationId xmlns:a16="http://schemas.microsoft.com/office/drawing/2014/main" id="{C509FBFB-23C2-4734-9E9E-3A0A85A18985}"/>
                    </a:ext>
                  </a:extLst>
                </p:cNvPr>
                <p:cNvSpPr txBox="1"/>
                <p:nvPr/>
              </p:nvSpPr>
              <p:spPr>
                <a:xfrm>
                  <a:off x="4767008" y="2280828"/>
                  <a:ext cx="593432"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Mirrors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9" name="文字方塊 18">
                  <a:extLst>
                    <a:ext uri="{FF2B5EF4-FFF2-40B4-BE49-F238E27FC236}">
                      <a16:creationId xmlns:a16="http://schemas.microsoft.com/office/drawing/2014/main" id="{4AFCB37D-263B-4A98-ADCE-76EEF2C8FD0E}"/>
                    </a:ext>
                  </a:extLst>
                </p:cNvPr>
                <p:cNvSpPr txBox="1"/>
                <p:nvPr/>
              </p:nvSpPr>
              <p:spPr>
                <a:xfrm>
                  <a:off x="3579687" y="4081623"/>
                  <a:ext cx="785792"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Collimator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0" name="文字方塊 19">
                  <a:extLst>
                    <a:ext uri="{FF2B5EF4-FFF2-40B4-BE49-F238E27FC236}">
                      <a16:creationId xmlns:a16="http://schemas.microsoft.com/office/drawing/2014/main" id="{6B27BBAC-7F6F-4462-B9A4-9A0A496EF01F}"/>
                    </a:ext>
                  </a:extLst>
                </p:cNvPr>
                <p:cNvSpPr txBox="1"/>
                <p:nvPr/>
              </p:nvSpPr>
              <p:spPr>
                <a:xfrm>
                  <a:off x="3262805" y="3805799"/>
                  <a:ext cx="1045479"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Bandpass 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1" name="矩形 20">
                  <a:extLst>
                    <a:ext uri="{FF2B5EF4-FFF2-40B4-BE49-F238E27FC236}">
                      <a16:creationId xmlns:a16="http://schemas.microsoft.com/office/drawing/2014/main" id="{C6C2E400-D9B0-4C06-9A69-481B1F54E66B}"/>
                    </a:ext>
                  </a:extLst>
                </p:cNvPr>
                <p:cNvSpPr/>
                <p:nvPr/>
              </p:nvSpPr>
              <p:spPr>
                <a:xfrm rot="5400000">
                  <a:off x="4453703" y="3736871"/>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pic>
            <p:nvPicPr>
              <p:cNvPr id="139" name="圖片 138">
                <a:extLst>
                  <a:ext uri="{FF2B5EF4-FFF2-40B4-BE49-F238E27FC236}">
                    <a16:creationId xmlns:a16="http://schemas.microsoft.com/office/drawing/2014/main" id="{937A11A0-8D77-479C-94FF-E095C2D08DA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358810" y="4259089"/>
                <a:ext cx="1128223" cy="435904"/>
              </a:xfrm>
              <a:prstGeom prst="rect">
                <a:avLst/>
              </a:prstGeom>
            </p:spPr>
          </p:pic>
          <p:sp>
            <p:nvSpPr>
              <p:cNvPr id="142" name="手繪多邊形: 圖案 141">
                <a:extLst>
                  <a:ext uri="{FF2B5EF4-FFF2-40B4-BE49-F238E27FC236}">
                    <a16:creationId xmlns:a16="http://schemas.microsoft.com/office/drawing/2014/main" id="{A6640B49-80E1-4717-9BD4-95E19248D253}"/>
                  </a:ext>
                </a:extLst>
              </p:cNvPr>
              <p:cNvSpPr/>
              <p:nvPr/>
            </p:nvSpPr>
            <p:spPr>
              <a:xfrm>
                <a:off x="5638800" y="3496362"/>
                <a:ext cx="1553832" cy="1111198"/>
              </a:xfrm>
              <a:custGeom>
                <a:avLst/>
                <a:gdLst>
                  <a:gd name="connsiteX0" fmla="*/ 0 w 1346200"/>
                  <a:gd name="connsiteY0" fmla="*/ 1168400 h 1168400"/>
                  <a:gd name="connsiteX1" fmla="*/ 304800 w 1346200"/>
                  <a:gd name="connsiteY1" fmla="*/ 1066800 h 1168400"/>
                  <a:gd name="connsiteX2" fmla="*/ 528320 w 1346200"/>
                  <a:gd name="connsiteY2" fmla="*/ 782320 h 1168400"/>
                  <a:gd name="connsiteX3" fmla="*/ 701040 w 1346200"/>
                  <a:gd name="connsiteY3" fmla="*/ 325120 h 1168400"/>
                  <a:gd name="connsiteX4" fmla="*/ 970280 w 1346200"/>
                  <a:gd name="connsiteY4" fmla="*/ 60960 h 1168400"/>
                  <a:gd name="connsiteX5" fmla="*/ 1346200 w 1346200"/>
                  <a:gd name="connsiteY5" fmla="*/ 0 h 116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6200" h="1168400">
                    <a:moveTo>
                      <a:pt x="0" y="1168400"/>
                    </a:moveTo>
                    <a:cubicBezTo>
                      <a:pt x="108373" y="1149773"/>
                      <a:pt x="216747" y="1131147"/>
                      <a:pt x="304800" y="1066800"/>
                    </a:cubicBezTo>
                    <a:cubicBezTo>
                      <a:pt x="392853" y="1002453"/>
                      <a:pt x="462280" y="905933"/>
                      <a:pt x="528320" y="782320"/>
                    </a:cubicBezTo>
                    <a:cubicBezTo>
                      <a:pt x="594360" y="658707"/>
                      <a:pt x="627380" y="445347"/>
                      <a:pt x="701040" y="325120"/>
                    </a:cubicBezTo>
                    <a:cubicBezTo>
                      <a:pt x="774700" y="204893"/>
                      <a:pt x="862753" y="115147"/>
                      <a:pt x="970280" y="60960"/>
                    </a:cubicBezTo>
                    <a:cubicBezTo>
                      <a:pt x="1077807" y="6773"/>
                      <a:pt x="1212003" y="3386"/>
                      <a:pt x="1346200" y="0"/>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 name="手繪多邊形: 圖案 143">
                <a:extLst>
                  <a:ext uri="{FF2B5EF4-FFF2-40B4-BE49-F238E27FC236}">
                    <a16:creationId xmlns:a16="http://schemas.microsoft.com/office/drawing/2014/main" id="{43789704-45E3-42D4-80CF-7427A08A9960}"/>
                  </a:ext>
                </a:extLst>
              </p:cNvPr>
              <p:cNvSpPr/>
              <p:nvPr/>
            </p:nvSpPr>
            <p:spPr>
              <a:xfrm rot="307793">
                <a:off x="6577315" y="3067911"/>
                <a:ext cx="626178" cy="373553"/>
              </a:xfrm>
              <a:custGeom>
                <a:avLst/>
                <a:gdLst>
                  <a:gd name="connsiteX0" fmla="*/ 0 w 584200"/>
                  <a:gd name="connsiteY0" fmla="*/ 11814 h 373553"/>
                  <a:gd name="connsiteX1" fmla="*/ 198120 w 584200"/>
                  <a:gd name="connsiteY1" fmla="*/ 37214 h 373553"/>
                  <a:gd name="connsiteX2" fmla="*/ 396240 w 584200"/>
                  <a:gd name="connsiteY2" fmla="*/ 321694 h 373553"/>
                  <a:gd name="connsiteX3" fmla="*/ 584200 w 584200"/>
                  <a:gd name="connsiteY3" fmla="*/ 372494 h 373553"/>
                </a:gdLst>
                <a:ahLst/>
                <a:cxnLst>
                  <a:cxn ang="0">
                    <a:pos x="connsiteX0" y="connsiteY0"/>
                  </a:cxn>
                  <a:cxn ang="0">
                    <a:pos x="connsiteX1" y="connsiteY1"/>
                  </a:cxn>
                  <a:cxn ang="0">
                    <a:pos x="connsiteX2" y="connsiteY2"/>
                  </a:cxn>
                  <a:cxn ang="0">
                    <a:pos x="connsiteX3" y="connsiteY3"/>
                  </a:cxn>
                </a:cxnLst>
                <a:rect l="l" t="t" r="r" b="b"/>
                <a:pathLst>
                  <a:path w="584200" h="373553">
                    <a:moveTo>
                      <a:pt x="0" y="11814"/>
                    </a:moveTo>
                    <a:cubicBezTo>
                      <a:pt x="66040" y="-1310"/>
                      <a:pt x="132080" y="-14433"/>
                      <a:pt x="198120" y="37214"/>
                    </a:cubicBezTo>
                    <a:cubicBezTo>
                      <a:pt x="264160" y="88861"/>
                      <a:pt x="331893" y="265814"/>
                      <a:pt x="396240" y="321694"/>
                    </a:cubicBezTo>
                    <a:cubicBezTo>
                      <a:pt x="460587" y="377574"/>
                      <a:pt x="522393" y="375034"/>
                      <a:pt x="584200" y="372494"/>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7" name="手繪多邊形: 圖案 146">
                <a:extLst>
                  <a:ext uri="{FF2B5EF4-FFF2-40B4-BE49-F238E27FC236}">
                    <a16:creationId xmlns:a16="http://schemas.microsoft.com/office/drawing/2014/main" id="{74E56E14-9C2E-4243-B368-9BA61624236A}"/>
                  </a:ext>
                </a:extLst>
              </p:cNvPr>
              <p:cNvSpPr/>
              <p:nvPr/>
            </p:nvSpPr>
            <p:spPr>
              <a:xfrm>
                <a:off x="7187192" y="2792730"/>
                <a:ext cx="573085" cy="670560"/>
              </a:xfrm>
              <a:custGeom>
                <a:avLst/>
                <a:gdLst>
                  <a:gd name="connsiteX0" fmla="*/ 406138 w 573085"/>
                  <a:gd name="connsiteY0" fmla="*/ 670560 h 670560"/>
                  <a:gd name="connsiteX1" fmla="*/ 524248 w 573085"/>
                  <a:gd name="connsiteY1" fmla="*/ 632460 h 670560"/>
                  <a:gd name="connsiteX2" fmla="*/ 569968 w 573085"/>
                  <a:gd name="connsiteY2" fmla="*/ 567690 h 670560"/>
                  <a:gd name="connsiteX3" fmla="*/ 554728 w 573085"/>
                  <a:gd name="connsiteY3" fmla="*/ 476250 h 670560"/>
                  <a:gd name="connsiteX4" fmla="*/ 440428 w 573085"/>
                  <a:gd name="connsiteY4" fmla="*/ 392430 h 670560"/>
                  <a:gd name="connsiteX5" fmla="*/ 208018 w 573085"/>
                  <a:gd name="connsiteY5" fmla="*/ 419100 h 670560"/>
                  <a:gd name="connsiteX6" fmla="*/ 86098 w 573085"/>
                  <a:gd name="connsiteY6" fmla="*/ 369570 h 670560"/>
                  <a:gd name="connsiteX7" fmla="*/ 6088 w 573085"/>
                  <a:gd name="connsiteY7" fmla="*/ 228600 h 670560"/>
                  <a:gd name="connsiteX8" fmla="*/ 13708 w 573085"/>
                  <a:gd name="connsiteY8" fmla="*/ 106680 h 670560"/>
                  <a:gd name="connsiteX9" fmla="*/ 78478 w 573085"/>
                  <a:gd name="connsiteY9" fmla="*/ 19050 h 670560"/>
                  <a:gd name="connsiteX10" fmla="*/ 219448 w 573085"/>
                  <a:gd name="connsiteY10" fmla="*/ 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3085" h="670560">
                    <a:moveTo>
                      <a:pt x="406138" y="670560"/>
                    </a:moveTo>
                    <a:cubicBezTo>
                      <a:pt x="451540" y="660082"/>
                      <a:pt x="496943" y="649605"/>
                      <a:pt x="524248" y="632460"/>
                    </a:cubicBezTo>
                    <a:cubicBezTo>
                      <a:pt x="551553" y="615315"/>
                      <a:pt x="564888" y="593725"/>
                      <a:pt x="569968" y="567690"/>
                    </a:cubicBezTo>
                    <a:cubicBezTo>
                      <a:pt x="575048" y="541655"/>
                      <a:pt x="576318" y="505460"/>
                      <a:pt x="554728" y="476250"/>
                    </a:cubicBezTo>
                    <a:cubicBezTo>
                      <a:pt x="533138" y="447040"/>
                      <a:pt x="498213" y="401955"/>
                      <a:pt x="440428" y="392430"/>
                    </a:cubicBezTo>
                    <a:cubicBezTo>
                      <a:pt x="382643" y="382905"/>
                      <a:pt x="267073" y="422910"/>
                      <a:pt x="208018" y="419100"/>
                    </a:cubicBezTo>
                    <a:cubicBezTo>
                      <a:pt x="148963" y="415290"/>
                      <a:pt x="119753" y="401320"/>
                      <a:pt x="86098" y="369570"/>
                    </a:cubicBezTo>
                    <a:cubicBezTo>
                      <a:pt x="52443" y="337820"/>
                      <a:pt x="18153" y="272415"/>
                      <a:pt x="6088" y="228600"/>
                    </a:cubicBezTo>
                    <a:cubicBezTo>
                      <a:pt x="-5977" y="184785"/>
                      <a:pt x="1643" y="141605"/>
                      <a:pt x="13708" y="106680"/>
                    </a:cubicBezTo>
                    <a:cubicBezTo>
                      <a:pt x="25773" y="71755"/>
                      <a:pt x="44188" y="36830"/>
                      <a:pt x="78478" y="19050"/>
                    </a:cubicBezTo>
                    <a:cubicBezTo>
                      <a:pt x="112768" y="1270"/>
                      <a:pt x="166108" y="635"/>
                      <a:pt x="219448" y="0"/>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8" name="手繪多邊形: 圖案 147">
                <a:extLst>
                  <a:ext uri="{FF2B5EF4-FFF2-40B4-BE49-F238E27FC236}">
                    <a16:creationId xmlns:a16="http://schemas.microsoft.com/office/drawing/2014/main" id="{432FD912-5504-4DFD-B922-07ABDE69820A}"/>
                  </a:ext>
                </a:extLst>
              </p:cNvPr>
              <p:cNvSpPr/>
              <p:nvPr/>
            </p:nvSpPr>
            <p:spPr>
              <a:xfrm flipH="1">
                <a:off x="7267550" y="3500867"/>
                <a:ext cx="530457" cy="832836"/>
              </a:xfrm>
              <a:custGeom>
                <a:avLst/>
                <a:gdLst>
                  <a:gd name="connsiteX0" fmla="*/ 406138 w 573085"/>
                  <a:gd name="connsiteY0" fmla="*/ 670560 h 670560"/>
                  <a:gd name="connsiteX1" fmla="*/ 524248 w 573085"/>
                  <a:gd name="connsiteY1" fmla="*/ 632460 h 670560"/>
                  <a:gd name="connsiteX2" fmla="*/ 569968 w 573085"/>
                  <a:gd name="connsiteY2" fmla="*/ 567690 h 670560"/>
                  <a:gd name="connsiteX3" fmla="*/ 554728 w 573085"/>
                  <a:gd name="connsiteY3" fmla="*/ 476250 h 670560"/>
                  <a:gd name="connsiteX4" fmla="*/ 440428 w 573085"/>
                  <a:gd name="connsiteY4" fmla="*/ 392430 h 670560"/>
                  <a:gd name="connsiteX5" fmla="*/ 208018 w 573085"/>
                  <a:gd name="connsiteY5" fmla="*/ 419100 h 670560"/>
                  <a:gd name="connsiteX6" fmla="*/ 86098 w 573085"/>
                  <a:gd name="connsiteY6" fmla="*/ 369570 h 670560"/>
                  <a:gd name="connsiteX7" fmla="*/ 6088 w 573085"/>
                  <a:gd name="connsiteY7" fmla="*/ 228600 h 670560"/>
                  <a:gd name="connsiteX8" fmla="*/ 13708 w 573085"/>
                  <a:gd name="connsiteY8" fmla="*/ 106680 h 670560"/>
                  <a:gd name="connsiteX9" fmla="*/ 78478 w 573085"/>
                  <a:gd name="connsiteY9" fmla="*/ 19050 h 670560"/>
                  <a:gd name="connsiteX10" fmla="*/ 219448 w 573085"/>
                  <a:gd name="connsiteY10" fmla="*/ 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3085" h="670560">
                    <a:moveTo>
                      <a:pt x="406138" y="670560"/>
                    </a:moveTo>
                    <a:cubicBezTo>
                      <a:pt x="451540" y="660082"/>
                      <a:pt x="496943" y="649605"/>
                      <a:pt x="524248" y="632460"/>
                    </a:cubicBezTo>
                    <a:cubicBezTo>
                      <a:pt x="551553" y="615315"/>
                      <a:pt x="564888" y="593725"/>
                      <a:pt x="569968" y="567690"/>
                    </a:cubicBezTo>
                    <a:cubicBezTo>
                      <a:pt x="575048" y="541655"/>
                      <a:pt x="576318" y="505460"/>
                      <a:pt x="554728" y="476250"/>
                    </a:cubicBezTo>
                    <a:cubicBezTo>
                      <a:pt x="533138" y="447040"/>
                      <a:pt x="498213" y="401955"/>
                      <a:pt x="440428" y="392430"/>
                    </a:cubicBezTo>
                    <a:cubicBezTo>
                      <a:pt x="382643" y="382905"/>
                      <a:pt x="267073" y="422910"/>
                      <a:pt x="208018" y="419100"/>
                    </a:cubicBezTo>
                    <a:cubicBezTo>
                      <a:pt x="148963" y="415290"/>
                      <a:pt x="119753" y="401320"/>
                      <a:pt x="86098" y="369570"/>
                    </a:cubicBezTo>
                    <a:cubicBezTo>
                      <a:pt x="52443" y="337820"/>
                      <a:pt x="18153" y="272415"/>
                      <a:pt x="6088" y="228600"/>
                    </a:cubicBezTo>
                    <a:cubicBezTo>
                      <a:pt x="-5977" y="184785"/>
                      <a:pt x="1643" y="141605"/>
                      <a:pt x="13708" y="106680"/>
                    </a:cubicBezTo>
                    <a:cubicBezTo>
                      <a:pt x="25773" y="71755"/>
                      <a:pt x="44188" y="36830"/>
                      <a:pt x="78478" y="19050"/>
                    </a:cubicBezTo>
                    <a:cubicBezTo>
                      <a:pt x="112768" y="1270"/>
                      <a:pt x="166108" y="635"/>
                      <a:pt x="219448" y="0"/>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 name="矩形 144">
                <a:extLst>
                  <a:ext uri="{FF2B5EF4-FFF2-40B4-BE49-F238E27FC236}">
                    <a16:creationId xmlns:a16="http://schemas.microsoft.com/office/drawing/2014/main" id="{53A07465-CDBE-463A-A70A-6958F9124463}"/>
                  </a:ext>
                </a:extLst>
              </p:cNvPr>
              <p:cNvSpPr/>
              <p:nvPr/>
            </p:nvSpPr>
            <p:spPr>
              <a:xfrm rot="5400000">
                <a:off x="7316436" y="3252799"/>
                <a:ext cx="86517" cy="459475"/>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7" name="群組 86">
                <a:extLst>
                  <a:ext uri="{FF2B5EF4-FFF2-40B4-BE49-F238E27FC236}">
                    <a16:creationId xmlns:a16="http://schemas.microsoft.com/office/drawing/2014/main" id="{8DE2D8A9-33BC-4370-B14D-632BF0D34C45}"/>
                  </a:ext>
                </a:extLst>
              </p:cNvPr>
              <p:cNvGrpSpPr/>
              <p:nvPr/>
            </p:nvGrpSpPr>
            <p:grpSpPr>
              <a:xfrm>
                <a:off x="7056711" y="2269738"/>
                <a:ext cx="1932162" cy="2207303"/>
                <a:chOff x="5771091" y="2522302"/>
                <a:chExt cx="1932162" cy="2207303"/>
              </a:xfrm>
            </p:grpSpPr>
            <p:grpSp>
              <p:nvGrpSpPr>
                <p:cNvPr id="55" name="群組 54">
                  <a:extLst>
                    <a:ext uri="{FF2B5EF4-FFF2-40B4-BE49-F238E27FC236}">
                      <a16:creationId xmlns:a16="http://schemas.microsoft.com/office/drawing/2014/main" id="{7A2C6F25-95BA-4CC8-9297-F98D64FBFAA4}"/>
                    </a:ext>
                  </a:extLst>
                </p:cNvPr>
                <p:cNvGrpSpPr/>
                <p:nvPr/>
              </p:nvGrpSpPr>
              <p:grpSpPr>
                <a:xfrm>
                  <a:off x="5771091" y="2522302"/>
                  <a:ext cx="1932162" cy="2061254"/>
                  <a:chOff x="6611331" y="2456521"/>
                  <a:chExt cx="1932162" cy="2061254"/>
                </a:xfrm>
              </p:grpSpPr>
              <p:sp>
                <p:nvSpPr>
                  <p:cNvPr id="56" name="流程圖: 延遲 55">
                    <a:extLst>
                      <a:ext uri="{FF2B5EF4-FFF2-40B4-BE49-F238E27FC236}">
                        <a16:creationId xmlns:a16="http://schemas.microsoft.com/office/drawing/2014/main" id="{AD904440-251A-432E-8689-2DCED9556029}"/>
                      </a:ext>
                    </a:extLst>
                  </p:cNvPr>
                  <p:cNvSpPr/>
                  <p:nvPr/>
                </p:nvSpPr>
                <p:spPr>
                  <a:xfrm>
                    <a:off x="6969476" y="2830560"/>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57" name="群組 56">
                    <a:extLst>
                      <a:ext uri="{FF2B5EF4-FFF2-40B4-BE49-F238E27FC236}">
                        <a16:creationId xmlns:a16="http://schemas.microsoft.com/office/drawing/2014/main" id="{39968F7F-9A81-470B-9466-9C8F3E770760}"/>
                      </a:ext>
                    </a:extLst>
                  </p:cNvPr>
                  <p:cNvGrpSpPr/>
                  <p:nvPr/>
                </p:nvGrpSpPr>
                <p:grpSpPr>
                  <a:xfrm>
                    <a:off x="6611331" y="2456521"/>
                    <a:ext cx="1932162" cy="2061254"/>
                    <a:chOff x="7125266" y="2426057"/>
                    <a:chExt cx="1932162" cy="2061254"/>
                  </a:xfrm>
                </p:grpSpPr>
                <p:cxnSp>
                  <p:nvCxnSpPr>
                    <p:cNvPr id="58" name="直線接點 57">
                      <a:extLst>
                        <a:ext uri="{FF2B5EF4-FFF2-40B4-BE49-F238E27FC236}">
                          <a16:creationId xmlns:a16="http://schemas.microsoft.com/office/drawing/2014/main" id="{E9B3888E-BF7D-4B37-89AC-DAC7DE387BD7}"/>
                        </a:ext>
                      </a:extLst>
                    </p:cNvPr>
                    <p:cNvCxnSpPr>
                      <a:cxnSpLocks/>
                    </p:cNvCxnSpPr>
                    <p:nvPr/>
                  </p:nvCxnSpPr>
                  <p:spPr>
                    <a:xfrm>
                      <a:off x="8017510" y="3656146"/>
                      <a:ext cx="8411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2D9C624F-C170-4D2F-94A6-595108C1D3FC}"/>
                        </a:ext>
                      </a:extLst>
                    </p:cNvPr>
                    <p:cNvSpPr/>
                    <p:nvPr/>
                  </p:nvSpPr>
                  <p:spPr>
                    <a:xfrm>
                      <a:off x="8101623" y="3376048"/>
                      <a:ext cx="955805" cy="533282"/>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Times New Roman" panose="02020603050405020304" pitchFamily="18" charset="0"/>
                        </a:rPr>
                        <a:t>Coincidence counter</a:t>
                      </a:r>
                      <a:endParaRPr lang="zh-TW" altLang="en-US" sz="900" b="1" dirty="0">
                        <a:solidFill>
                          <a:schemeClr val="tx1"/>
                        </a:solidFill>
                        <a:latin typeface="Montserrat" panose="02020500000000000000" charset="0"/>
                        <a:cs typeface="Times New Roman" panose="02020603050405020304" pitchFamily="18" charset="0"/>
                      </a:endParaRPr>
                    </a:p>
                  </p:txBody>
                </p:sp>
                <p:sp>
                  <p:nvSpPr>
                    <p:cNvPr id="60" name="文字方塊 59">
                      <a:extLst>
                        <a:ext uri="{FF2B5EF4-FFF2-40B4-BE49-F238E27FC236}">
                          <a16:creationId xmlns:a16="http://schemas.microsoft.com/office/drawing/2014/main" id="{A05D0027-2183-4373-A952-7DBA7EA85A43}"/>
                        </a:ext>
                      </a:extLst>
                    </p:cNvPr>
                    <p:cNvSpPr txBox="1"/>
                    <p:nvPr/>
                  </p:nvSpPr>
                  <p:spPr>
                    <a:xfrm>
                      <a:off x="7125266" y="2426057"/>
                      <a:ext cx="1043876"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Single-photon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detector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61" name="右中括弧 60">
                      <a:extLst>
                        <a:ext uri="{FF2B5EF4-FFF2-40B4-BE49-F238E27FC236}">
                          <a16:creationId xmlns:a16="http://schemas.microsoft.com/office/drawing/2014/main" id="{642FB6E3-D9F4-4A7D-A852-F1DD0EB72318}"/>
                        </a:ext>
                      </a:extLst>
                    </p:cNvPr>
                    <p:cNvSpPr/>
                    <p:nvPr/>
                  </p:nvSpPr>
                  <p:spPr>
                    <a:xfrm>
                      <a:off x="7751834" y="2937494"/>
                      <a:ext cx="255299" cy="1549817"/>
                    </a:xfrm>
                    <a:prstGeom prst="rightBracket">
                      <a:avLst>
                        <a:gd name="adj" fmla="val 88455"/>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grpSp>
            <p:sp>
              <p:nvSpPr>
                <p:cNvPr id="13" name="流程圖: 延遲 12">
                  <a:extLst>
                    <a:ext uri="{FF2B5EF4-FFF2-40B4-BE49-F238E27FC236}">
                      <a16:creationId xmlns:a16="http://schemas.microsoft.com/office/drawing/2014/main" id="{F85BDA0A-9EF3-48BA-AB1B-B815D1B9A3D5}"/>
                    </a:ext>
                  </a:extLst>
                </p:cNvPr>
                <p:cNvSpPr/>
                <p:nvPr/>
              </p:nvSpPr>
              <p:spPr>
                <a:xfrm>
                  <a:off x="6129235" y="4437506"/>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pic>
            <p:nvPicPr>
              <p:cNvPr id="138" name="圖片 137">
                <a:extLst>
                  <a:ext uri="{FF2B5EF4-FFF2-40B4-BE49-F238E27FC236}">
                    <a16:creationId xmlns:a16="http://schemas.microsoft.com/office/drawing/2014/main" id="{0B7D0178-D2DD-4E14-834C-F998688AD83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453463" y="2690928"/>
                <a:ext cx="1128223" cy="435904"/>
              </a:xfrm>
              <a:prstGeom prst="rect">
                <a:avLst/>
              </a:prstGeom>
            </p:spPr>
          </p:pic>
        </p:grpSp>
        <p:sp>
          <p:nvSpPr>
            <p:cNvPr id="150" name="文字方塊 149">
              <a:extLst>
                <a:ext uri="{FF2B5EF4-FFF2-40B4-BE49-F238E27FC236}">
                  <a16:creationId xmlns:a16="http://schemas.microsoft.com/office/drawing/2014/main" id="{5AA10107-75E3-4CFF-A5C3-C027A93BE20D}"/>
                </a:ext>
              </a:extLst>
            </p:cNvPr>
            <p:cNvSpPr txBox="1"/>
            <p:nvPr/>
          </p:nvSpPr>
          <p:spPr>
            <a:xfrm>
              <a:off x="6742978" y="3563895"/>
              <a:ext cx="670376"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Fiber BS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52" name="矩形 151">
              <a:extLst>
                <a:ext uri="{FF2B5EF4-FFF2-40B4-BE49-F238E27FC236}">
                  <a16:creationId xmlns:a16="http://schemas.microsoft.com/office/drawing/2014/main" id="{98EEEEAF-BCE0-4A80-9E01-F66A87788F1A}"/>
                </a:ext>
              </a:extLst>
            </p:cNvPr>
            <p:cNvSpPr/>
            <p:nvPr/>
          </p:nvSpPr>
          <p:spPr>
            <a:xfrm>
              <a:off x="4498921" y="2898535"/>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53" name="圖片 152">
              <a:extLst>
                <a:ext uri="{FF2B5EF4-FFF2-40B4-BE49-F238E27FC236}">
                  <a16:creationId xmlns:a16="http://schemas.microsoft.com/office/drawing/2014/main" id="{6AA273DD-C051-4E6C-BE49-60CB31DDE75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255207" y="1235616"/>
              <a:ext cx="1128223" cy="435904"/>
            </a:xfrm>
            <a:prstGeom prst="rect">
              <a:avLst/>
            </a:prstGeom>
          </p:spPr>
        </p:pic>
      </p:grpSp>
      <p:sp>
        <p:nvSpPr>
          <p:cNvPr id="77" name="文字方塊 76">
            <a:extLst>
              <a:ext uri="{FF2B5EF4-FFF2-40B4-BE49-F238E27FC236}">
                <a16:creationId xmlns:a16="http://schemas.microsoft.com/office/drawing/2014/main" id="{593CD8A9-A480-448A-9B88-B9B2B5419455}"/>
              </a:ext>
            </a:extLst>
          </p:cNvPr>
          <p:cNvSpPr txBox="1"/>
          <p:nvPr/>
        </p:nvSpPr>
        <p:spPr>
          <a:xfrm>
            <a:off x="8585770" y="4631694"/>
            <a:ext cx="360996" cy="261610"/>
          </a:xfrm>
          <a:prstGeom prst="rect">
            <a:avLst/>
          </a:prstGeom>
          <a:noFill/>
        </p:spPr>
        <p:txBody>
          <a:bodyPr wrap="none" rtlCol="0">
            <a:spAutoFit/>
          </a:bodyPr>
          <a:lstStyle/>
          <a:p>
            <a:r>
              <a:rPr lang="en-US" altLang="zh-TW" sz="1100" dirty="0">
                <a:latin typeface="Montserrat" panose="02020500000000000000" charset="0"/>
              </a:rPr>
              <a:t>68</a:t>
            </a:r>
            <a:endParaRPr lang="zh-TW" altLang="en-US" sz="1100" dirty="0">
              <a:latin typeface="Montserrat" panose="02020500000000000000" charset="0"/>
            </a:endParaRPr>
          </a:p>
        </p:txBody>
      </p:sp>
      <p:sp>
        <p:nvSpPr>
          <p:cNvPr id="114" name="文字方塊 113">
            <a:extLst>
              <a:ext uri="{FF2B5EF4-FFF2-40B4-BE49-F238E27FC236}">
                <a16:creationId xmlns:a16="http://schemas.microsoft.com/office/drawing/2014/main" id="{DC283E8A-1A2E-42C5-A3E6-43B237390E66}"/>
              </a:ext>
            </a:extLst>
          </p:cNvPr>
          <p:cNvSpPr txBox="1"/>
          <p:nvPr/>
        </p:nvSpPr>
        <p:spPr>
          <a:xfrm>
            <a:off x="4549777" y="3378082"/>
            <a:ext cx="816249"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Collimator</a:t>
            </a:r>
            <a:r>
              <a:rPr lang="zh-TW" altLang="en-US" sz="900" dirty="0">
                <a:latin typeface="Montserrat" panose="02020500000000000000" charset="0"/>
                <a:ea typeface="標楷體" panose="03000509000000000000" pitchFamily="65" charset="-120"/>
                <a:cs typeface="Times New Roman" panose="02020603050405020304" pitchFamily="18" charset="0"/>
              </a:rPr>
              <a:t> </a:t>
            </a:r>
            <a:endParaRPr lang="en-US" altLang="zh-TW" sz="900" dirty="0">
              <a:latin typeface="Montserrat" panose="02020500000000000000" charset="0"/>
              <a:ea typeface="標楷體" panose="03000509000000000000" pitchFamily="65" charset="-120"/>
              <a:cs typeface="Times New Roman" panose="02020603050405020304" pitchFamily="18" charset="0"/>
            </a:endParaRP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on stage</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84" name="文字方塊 83">
            <a:extLst>
              <a:ext uri="{FF2B5EF4-FFF2-40B4-BE49-F238E27FC236}">
                <a16:creationId xmlns:a16="http://schemas.microsoft.com/office/drawing/2014/main" id="{DB6AF230-04D5-46A8-AE4C-4DD02F707E19}"/>
              </a:ext>
            </a:extLst>
          </p:cNvPr>
          <p:cNvSpPr txBox="1"/>
          <p:nvPr/>
        </p:nvSpPr>
        <p:spPr>
          <a:xfrm>
            <a:off x="7092035" y="2726942"/>
            <a:ext cx="332142" cy="230832"/>
          </a:xfrm>
          <a:prstGeom prst="rect">
            <a:avLst/>
          </a:prstGeom>
          <a:noFill/>
        </p:spPr>
        <p:txBody>
          <a:bodyPr wrap="none" rtlCol="0">
            <a:spAutoFit/>
          </a:bodyPr>
          <a:lstStyle/>
          <a:p>
            <a:r>
              <a:rPr lang="en-US" altLang="zh-TW" sz="900" b="1" dirty="0">
                <a:latin typeface="Montserrat" panose="02020500000000000000" charset="0"/>
              </a:rPr>
              <a:t>TE</a:t>
            </a:r>
            <a:endParaRPr lang="zh-TW" altLang="en-US" sz="900" b="1" dirty="0">
              <a:latin typeface="Montserrat" panose="02020500000000000000" charset="0"/>
            </a:endParaRPr>
          </a:p>
        </p:txBody>
      </p:sp>
      <p:sp>
        <p:nvSpPr>
          <p:cNvPr id="85" name="文字方塊 84">
            <a:extLst>
              <a:ext uri="{FF2B5EF4-FFF2-40B4-BE49-F238E27FC236}">
                <a16:creationId xmlns:a16="http://schemas.microsoft.com/office/drawing/2014/main" id="{A43C48B2-570C-42F3-9F0F-127B51385B37}"/>
              </a:ext>
            </a:extLst>
          </p:cNvPr>
          <p:cNvSpPr txBox="1"/>
          <p:nvPr/>
        </p:nvSpPr>
        <p:spPr>
          <a:xfrm>
            <a:off x="7075203" y="4262776"/>
            <a:ext cx="365806" cy="230832"/>
          </a:xfrm>
          <a:prstGeom prst="rect">
            <a:avLst/>
          </a:prstGeom>
          <a:noFill/>
        </p:spPr>
        <p:txBody>
          <a:bodyPr wrap="none" rtlCol="0">
            <a:spAutoFit/>
          </a:bodyPr>
          <a:lstStyle/>
          <a:p>
            <a:r>
              <a:rPr lang="en-US" altLang="zh-TW" sz="900" b="1" dirty="0">
                <a:latin typeface="Montserrat" panose="02020500000000000000" charset="0"/>
              </a:rPr>
              <a:t>TM</a:t>
            </a:r>
            <a:endParaRPr lang="zh-TW" altLang="en-US" sz="900" b="1" dirty="0">
              <a:latin typeface="Montserrat" panose="02020500000000000000" charset="0"/>
            </a:endParaRPr>
          </a:p>
        </p:txBody>
      </p:sp>
      <p:sp>
        <p:nvSpPr>
          <p:cNvPr id="86" name="文字方塊 85">
            <a:extLst>
              <a:ext uri="{FF2B5EF4-FFF2-40B4-BE49-F238E27FC236}">
                <a16:creationId xmlns:a16="http://schemas.microsoft.com/office/drawing/2014/main" id="{2E0714B4-62A4-446C-8130-45D5DE7D797F}"/>
              </a:ext>
            </a:extLst>
          </p:cNvPr>
          <p:cNvSpPr txBox="1"/>
          <p:nvPr/>
        </p:nvSpPr>
        <p:spPr>
          <a:xfrm>
            <a:off x="7298558" y="958079"/>
            <a:ext cx="1670650" cy="692177"/>
          </a:xfrm>
          <a:prstGeom prst="rect">
            <a:avLst/>
          </a:prstGeom>
          <a:noFill/>
        </p:spPr>
        <p:txBody>
          <a:bodyPr wrap="none" rtlCol="0">
            <a:spAutoFit/>
          </a:bodyPr>
          <a:lstStyle/>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VHG Laser : ≈3mW</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Oven temperature : 107°C</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Detector’s efficiency : 25%</a:t>
            </a:r>
          </a:p>
        </p:txBody>
      </p:sp>
    </p:spTree>
    <p:extLst>
      <p:ext uri="{BB962C8B-B14F-4D97-AF65-F5344CB8AC3E}">
        <p14:creationId xmlns:p14="http://schemas.microsoft.com/office/powerpoint/2010/main" val="25847154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Hong-</a:t>
            </a:r>
            <a:r>
              <a:rPr lang="en-US" altLang="zh-TW" sz="2000" dirty="0" err="1">
                <a:latin typeface="Montserrat" panose="02020500000000000000" charset="0"/>
              </a:rPr>
              <a:t>Ou</a:t>
            </a:r>
            <a:r>
              <a:rPr lang="en-US" altLang="zh-TW" sz="2000" dirty="0">
                <a:latin typeface="Montserrat" panose="02020500000000000000" charset="0"/>
              </a:rPr>
              <a:t>-Mandel interference</a:t>
            </a:r>
          </a:p>
        </p:txBody>
      </p:sp>
      <p:grpSp>
        <p:nvGrpSpPr>
          <p:cNvPr id="3" name="群組 2">
            <a:extLst>
              <a:ext uri="{FF2B5EF4-FFF2-40B4-BE49-F238E27FC236}">
                <a16:creationId xmlns:a16="http://schemas.microsoft.com/office/drawing/2014/main" id="{1079046F-1BEA-4E4D-8FC6-CF63DD558BBF}"/>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1F436357-7361-4561-BBAE-103CECA8F4E8}"/>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1E9209DF-82B2-437F-97D5-6922F94D7A94}"/>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F8A7C2CB-3F2B-41C0-AF03-7B26404A94FD}"/>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1B817F0C-C021-4598-9028-83B06AAC872E}"/>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1EDA595A-5B57-43E5-BC32-469EEE3CBE1D}"/>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23AEE153-4213-47DE-9E36-FA4E97B2813E}"/>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1" name="圖片 10">
            <a:extLst>
              <a:ext uri="{FF2B5EF4-FFF2-40B4-BE49-F238E27FC236}">
                <a16:creationId xmlns:a16="http://schemas.microsoft.com/office/drawing/2014/main" id="{D370D566-2BD4-41B7-BF9E-78AA6532D1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863" y="1201916"/>
            <a:ext cx="3652890" cy="2739667"/>
          </a:xfrm>
          <a:prstGeom prst="rect">
            <a:avLst/>
          </a:prstGeom>
        </p:spPr>
      </p:pic>
      <p:pic>
        <p:nvPicPr>
          <p:cNvPr id="12" name="圖片 11">
            <a:extLst>
              <a:ext uri="{FF2B5EF4-FFF2-40B4-BE49-F238E27FC236}">
                <a16:creationId xmlns:a16="http://schemas.microsoft.com/office/drawing/2014/main" id="{073587C0-EC6C-4AFA-8951-E22E1E2EA709}"/>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734249" y="1201915"/>
            <a:ext cx="3652890" cy="2739668"/>
          </a:xfrm>
          <a:prstGeom prst="rect">
            <a:avLst/>
          </a:prstGeom>
          <a:noFill/>
          <a:ln>
            <a:noFill/>
          </a:ln>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1BEE735-1667-4142-9CBA-587E4DC6C313}"/>
                  </a:ext>
                </a:extLst>
              </p:cNvPr>
              <p:cNvSpPr/>
              <p:nvPr/>
            </p:nvSpPr>
            <p:spPr>
              <a:xfrm>
                <a:off x="5741399" y="4240449"/>
                <a:ext cx="1640193" cy="302840"/>
              </a:xfrm>
              <a:prstGeom prst="rect">
                <a:avLst/>
              </a:prstGeom>
            </p:spPr>
            <p:txBody>
              <a:bodyPr wrap="none">
                <a:spAutoFit/>
              </a:bodyPr>
              <a:lstStyle/>
              <a:p>
                <a:r>
                  <a:rPr lang="en-US" altLang="zh-TW" sz="1000" dirty="0">
                    <a:latin typeface="Montserrat" panose="02020500000000000000" charset="0"/>
                    <a:ea typeface="標楷體" panose="03000509000000000000" pitchFamily="65" charset="-120"/>
                  </a:rPr>
                  <a:t>Visibility is </a:t>
                </a:r>
                <a:r>
                  <a:rPr lang="en-US" altLang="zh-TW" sz="1000" b="1" dirty="0">
                    <a:latin typeface="Montserrat" panose="02020500000000000000" charset="0"/>
                    <a:ea typeface="標楷體" panose="03000509000000000000" pitchFamily="65" charset="-120"/>
                  </a:rPr>
                  <a:t>82.3%</a:t>
                </a:r>
                <a14:m>
                  <m:oMath xmlns:m="http://schemas.openxmlformats.org/officeDocument/2006/math">
                    <m:r>
                      <m:rPr>
                        <m:nor/>
                      </m:rPr>
                      <a:rPr lang="en-US" altLang="zh-TW"/>
                      <m:t>±</m:t>
                    </m:r>
                  </m:oMath>
                </a14:m>
                <a:r>
                  <a:rPr lang="en-US" altLang="zh-TW" sz="1000" b="1" dirty="0">
                    <a:latin typeface="Montserrat" panose="02020500000000000000" charset="0"/>
                    <a:ea typeface="標楷體" panose="03000509000000000000" pitchFamily="65" charset="-120"/>
                  </a:rPr>
                  <a:t>1.7%</a:t>
                </a:r>
                <a:endParaRPr lang="zh-TW" altLang="en-US" sz="1000" b="1" dirty="0">
                  <a:latin typeface="Montserrat" panose="02020500000000000000" charset="0"/>
                </a:endParaRPr>
              </a:p>
            </p:txBody>
          </p:sp>
        </mc:Choice>
        <mc:Fallback xmlns="">
          <p:sp>
            <p:nvSpPr>
              <p:cNvPr id="2" name="矩形 1">
                <a:extLst>
                  <a:ext uri="{FF2B5EF4-FFF2-40B4-BE49-F238E27FC236}">
                    <a16:creationId xmlns:a16="http://schemas.microsoft.com/office/drawing/2014/main" id="{71BEE735-1667-4142-9CBA-587E4DC6C313}"/>
                  </a:ext>
                </a:extLst>
              </p:cNvPr>
              <p:cNvSpPr>
                <a:spLocks noRot="1" noChangeAspect="1" noMove="1" noResize="1" noEditPoints="1" noAdjustHandles="1" noChangeArrowheads="1" noChangeShapeType="1" noTextEdit="1"/>
              </p:cNvSpPr>
              <p:nvPr/>
            </p:nvSpPr>
            <p:spPr>
              <a:xfrm>
                <a:off x="5741399" y="4240449"/>
                <a:ext cx="1640193" cy="302840"/>
              </a:xfrm>
              <a:prstGeom prst="rect">
                <a:avLst/>
              </a:prstGeom>
              <a:blipFill>
                <a:blip r:embed="rId5"/>
                <a:stretch>
                  <a:fillRect b="-8163"/>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E7C3A9BD-D477-4542-BCEA-B8FDF9D17EE5}"/>
              </a:ext>
            </a:extLst>
          </p:cNvPr>
          <p:cNvSpPr/>
          <p:nvPr/>
        </p:nvSpPr>
        <p:spPr>
          <a:xfrm>
            <a:off x="1116301" y="4240449"/>
            <a:ext cx="2934013" cy="553998"/>
          </a:xfrm>
          <a:prstGeom prst="rect">
            <a:avLst/>
          </a:prstGeom>
        </p:spPr>
        <p:txBody>
          <a:bodyPr wrap="square">
            <a:spAutoFit/>
          </a:bodyPr>
          <a:lstStyle/>
          <a:p>
            <a:r>
              <a:rPr lang="en-US" altLang="zh-TW" sz="1000" dirty="0">
                <a:latin typeface="Montserrat" panose="02020500000000000000" charset="0"/>
                <a:ea typeface="Calibri"/>
                <a:cs typeface="Calibri"/>
                <a:sym typeface="Calibri"/>
              </a:rPr>
              <a:t>The -0.1ns offset comes from the optical path difference between signal and idler arms.</a:t>
            </a:r>
            <a:endParaRPr lang="zh-TW" altLang="en-US" sz="1000" dirty="0">
              <a:latin typeface="Montserrat" panose="02020500000000000000" charset="0"/>
            </a:endParaRPr>
          </a:p>
        </p:txBody>
      </p:sp>
      <p:sp>
        <p:nvSpPr>
          <p:cNvPr id="14" name="文字方塊 13">
            <a:extLst>
              <a:ext uri="{FF2B5EF4-FFF2-40B4-BE49-F238E27FC236}">
                <a16:creationId xmlns:a16="http://schemas.microsoft.com/office/drawing/2014/main" id="{282392A1-3461-45C7-94D0-C9857514916B}"/>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69</a:t>
            </a:r>
            <a:endParaRPr lang="zh-TW" altLang="en-US" sz="1100" dirty="0">
              <a:latin typeface="Montserrat" panose="02020500000000000000" charset="0"/>
            </a:endParaRPr>
          </a:p>
        </p:txBody>
      </p:sp>
    </p:spTree>
    <p:extLst>
      <p:ext uri="{BB962C8B-B14F-4D97-AF65-F5344CB8AC3E}">
        <p14:creationId xmlns:p14="http://schemas.microsoft.com/office/powerpoint/2010/main" val="35432483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1957871" y="1713535"/>
            <a:ext cx="5228258"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Results and discussions</a:t>
            </a:r>
          </a:p>
        </p:txBody>
      </p:sp>
      <p:pic>
        <p:nvPicPr>
          <p:cNvPr id="2" name="圖片 1">
            <a:extLst>
              <a:ext uri="{FF2B5EF4-FFF2-40B4-BE49-F238E27FC236}">
                <a16:creationId xmlns:a16="http://schemas.microsoft.com/office/drawing/2014/main" id="{5081938B-B467-45EE-90F0-D20E9441C502}"/>
              </a:ext>
            </a:extLst>
          </p:cNvPr>
          <p:cNvPicPr>
            <a:picLocks noChangeAspect="1"/>
          </p:cNvPicPr>
          <p:nvPr/>
        </p:nvPicPr>
        <p:blipFill>
          <a:blip r:embed="rId3">
            <a:clrChange>
              <a:clrFrom>
                <a:srgbClr val="F5F0E3"/>
              </a:clrFrom>
              <a:clrTo>
                <a:srgbClr val="F5F0E3">
                  <a:alpha val="0"/>
                </a:srgbClr>
              </a:clrTo>
            </a:clrChange>
          </a:blip>
          <a:stretch>
            <a:fillRect/>
          </a:stretch>
        </p:blipFill>
        <p:spPr>
          <a:xfrm>
            <a:off x="0" y="4481112"/>
            <a:ext cx="9144000" cy="662388"/>
          </a:xfrm>
          <a:prstGeom prst="rect">
            <a:avLst/>
          </a:prstGeom>
        </p:spPr>
      </p:pic>
      <p:grpSp>
        <p:nvGrpSpPr>
          <p:cNvPr id="12" name="Google Shape;2047;p67">
            <a:extLst>
              <a:ext uri="{FF2B5EF4-FFF2-40B4-BE49-F238E27FC236}">
                <a16:creationId xmlns:a16="http://schemas.microsoft.com/office/drawing/2014/main" id="{A737ED4D-80B4-4DFB-80B9-728A667074E0}"/>
              </a:ext>
            </a:extLst>
          </p:cNvPr>
          <p:cNvGrpSpPr/>
          <p:nvPr/>
        </p:nvGrpSpPr>
        <p:grpSpPr>
          <a:xfrm>
            <a:off x="7301497" y="3676650"/>
            <a:ext cx="1225283" cy="1333250"/>
            <a:chOff x="1473725" y="402400"/>
            <a:chExt cx="4629150" cy="4842650"/>
          </a:xfrm>
        </p:grpSpPr>
        <p:sp>
          <p:nvSpPr>
            <p:cNvPr id="13" name="Google Shape;2048;p67">
              <a:extLst>
                <a:ext uri="{FF2B5EF4-FFF2-40B4-BE49-F238E27FC236}">
                  <a16:creationId xmlns:a16="http://schemas.microsoft.com/office/drawing/2014/main" id="{A77CE4C8-40FA-485C-A7F4-3629E23F19B3}"/>
                </a:ext>
              </a:extLst>
            </p:cNvPr>
            <p:cNvSpPr/>
            <p:nvPr/>
          </p:nvSpPr>
          <p:spPr>
            <a:xfrm>
              <a:off x="3691150" y="4289350"/>
              <a:ext cx="79250" cy="154300"/>
            </a:xfrm>
            <a:custGeom>
              <a:avLst/>
              <a:gdLst/>
              <a:ahLst/>
              <a:cxnLst/>
              <a:rect l="l" t="t" r="r" b="b"/>
              <a:pathLst>
                <a:path w="3170" h="6172" extrusionOk="0">
                  <a:moveTo>
                    <a:pt x="33" y="0"/>
                  </a:moveTo>
                  <a:lnTo>
                    <a:pt x="0" y="6171"/>
                  </a:lnTo>
                  <a:lnTo>
                    <a:pt x="3169" y="6171"/>
                  </a:lnTo>
                  <a:lnTo>
                    <a:pt x="3136" y="100"/>
                  </a:lnTo>
                  <a:cubicBezTo>
                    <a:pt x="2135" y="67"/>
                    <a:pt x="1068" y="34"/>
                    <a:pt x="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49;p67">
              <a:extLst>
                <a:ext uri="{FF2B5EF4-FFF2-40B4-BE49-F238E27FC236}">
                  <a16:creationId xmlns:a16="http://schemas.microsoft.com/office/drawing/2014/main" id="{F582A7AB-EC04-40A2-A0CD-1617B4BC9086}"/>
                </a:ext>
              </a:extLst>
            </p:cNvPr>
            <p:cNvSpPr/>
            <p:nvPr/>
          </p:nvSpPr>
          <p:spPr>
            <a:xfrm>
              <a:off x="3696975" y="697600"/>
              <a:ext cx="68400" cy="2770350"/>
            </a:xfrm>
            <a:custGeom>
              <a:avLst/>
              <a:gdLst/>
              <a:ahLst/>
              <a:cxnLst/>
              <a:rect l="l" t="t" r="r" b="b"/>
              <a:pathLst>
                <a:path w="2736" h="110814" extrusionOk="0">
                  <a:moveTo>
                    <a:pt x="2102" y="1"/>
                  </a:moveTo>
                  <a:cubicBezTo>
                    <a:pt x="1602" y="1769"/>
                    <a:pt x="1101" y="3637"/>
                    <a:pt x="568" y="5672"/>
                  </a:cubicBezTo>
                  <a:lnTo>
                    <a:pt x="1" y="104009"/>
                  </a:lnTo>
                  <a:cubicBezTo>
                    <a:pt x="835" y="106310"/>
                    <a:pt x="1735" y="108545"/>
                    <a:pt x="2736" y="110813"/>
                  </a:cubicBezTo>
                  <a:lnTo>
                    <a:pt x="2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50;p67">
              <a:extLst>
                <a:ext uri="{FF2B5EF4-FFF2-40B4-BE49-F238E27FC236}">
                  <a16:creationId xmlns:a16="http://schemas.microsoft.com/office/drawing/2014/main" id="{3BFB68A4-31CA-4D34-919E-4F7C2F401C64}"/>
                </a:ext>
              </a:extLst>
            </p:cNvPr>
            <p:cNvSpPr/>
            <p:nvPr/>
          </p:nvSpPr>
          <p:spPr>
            <a:xfrm>
              <a:off x="2485275" y="4577875"/>
              <a:ext cx="1355175" cy="155975"/>
            </a:xfrm>
            <a:custGeom>
              <a:avLst/>
              <a:gdLst/>
              <a:ahLst/>
              <a:cxnLst/>
              <a:rect l="l" t="t" r="r" b="b"/>
              <a:pathLst>
                <a:path w="54207" h="6239" extrusionOk="0">
                  <a:moveTo>
                    <a:pt x="13944" y="1"/>
                  </a:moveTo>
                  <a:cubicBezTo>
                    <a:pt x="6005" y="2469"/>
                    <a:pt x="1" y="6172"/>
                    <a:pt x="1" y="6172"/>
                  </a:cubicBezTo>
                  <a:cubicBezTo>
                    <a:pt x="268" y="6205"/>
                    <a:pt x="568" y="6205"/>
                    <a:pt x="868" y="6239"/>
                  </a:cubicBezTo>
                  <a:lnTo>
                    <a:pt x="868" y="6072"/>
                  </a:lnTo>
                  <a:lnTo>
                    <a:pt x="51404" y="6072"/>
                  </a:lnTo>
                  <a:lnTo>
                    <a:pt x="54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51;p67">
              <a:extLst>
                <a:ext uri="{FF2B5EF4-FFF2-40B4-BE49-F238E27FC236}">
                  <a16:creationId xmlns:a16="http://schemas.microsoft.com/office/drawing/2014/main" id="{EE278A19-5780-4E4A-88C7-6EC07F1794AA}"/>
                </a:ext>
              </a:extLst>
            </p:cNvPr>
            <p:cNvSpPr/>
            <p:nvPr/>
          </p:nvSpPr>
          <p:spPr>
            <a:xfrm>
              <a:off x="5184700" y="4627925"/>
              <a:ext cx="918175" cy="217675"/>
            </a:xfrm>
            <a:custGeom>
              <a:avLst/>
              <a:gdLst/>
              <a:ahLst/>
              <a:cxnLst/>
              <a:rect l="l" t="t" r="r" b="b"/>
              <a:pathLst>
                <a:path w="36727" h="8707" extrusionOk="0">
                  <a:moveTo>
                    <a:pt x="3303" y="0"/>
                  </a:moveTo>
                  <a:cubicBezTo>
                    <a:pt x="2970" y="0"/>
                    <a:pt x="2636" y="201"/>
                    <a:pt x="2536" y="534"/>
                  </a:cubicBezTo>
                  <a:lnTo>
                    <a:pt x="1" y="8340"/>
                  </a:lnTo>
                  <a:lnTo>
                    <a:pt x="1102" y="8707"/>
                  </a:lnTo>
                  <a:lnTo>
                    <a:pt x="3370" y="1702"/>
                  </a:lnTo>
                  <a:cubicBezTo>
                    <a:pt x="3503" y="1368"/>
                    <a:pt x="3803" y="1168"/>
                    <a:pt x="4137" y="1168"/>
                  </a:cubicBezTo>
                  <a:lnTo>
                    <a:pt x="10942" y="1168"/>
                  </a:lnTo>
                  <a:cubicBezTo>
                    <a:pt x="11476" y="1168"/>
                    <a:pt x="11843" y="1702"/>
                    <a:pt x="11676" y="2202"/>
                  </a:cubicBezTo>
                  <a:lnTo>
                    <a:pt x="9674" y="8340"/>
                  </a:lnTo>
                  <a:lnTo>
                    <a:pt x="10775" y="8707"/>
                  </a:lnTo>
                  <a:lnTo>
                    <a:pt x="13043" y="1702"/>
                  </a:lnTo>
                  <a:cubicBezTo>
                    <a:pt x="13177" y="1368"/>
                    <a:pt x="13477" y="1168"/>
                    <a:pt x="13811" y="1168"/>
                  </a:cubicBezTo>
                  <a:lnTo>
                    <a:pt x="21950" y="1168"/>
                  </a:lnTo>
                  <a:cubicBezTo>
                    <a:pt x="22483" y="1168"/>
                    <a:pt x="22850" y="1702"/>
                    <a:pt x="22684" y="2202"/>
                  </a:cubicBezTo>
                  <a:lnTo>
                    <a:pt x="20682" y="8340"/>
                  </a:lnTo>
                  <a:lnTo>
                    <a:pt x="21783" y="8707"/>
                  </a:lnTo>
                  <a:lnTo>
                    <a:pt x="24051" y="1702"/>
                  </a:lnTo>
                  <a:cubicBezTo>
                    <a:pt x="24185" y="1368"/>
                    <a:pt x="24485" y="1168"/>
                    <a:pt x="24818" y="1168"/>
                  </a:cubicBezTo>
                  <a:lnTo>
                    <a:pt x="33491" y="1168"/>
                  </a:lnTo>
                  <a:cubicBezTo>
                    <a:pt x="33892" y="1168"/>
                    <a:pt x="34292" y="1501"/>
                    <a:pt x="34292" y="1935"/>
                  </a:cubicBezTo>
                  <a:lnTo>
                    <a:pt x="34459" y="8540"/>
                  </a:lnTo>
                  <a:lnTo>
                    <a:pt x="35626" y="8506"/>
                  </a:lnTo>
                  <a:lnTo>
                    <a:pt x="35393" y="1168"/>
                  </a:lnTo>
                  <a:lnTo>
                    <a:pt x="36727" y="1168"/>
                  </a:lnTo>
                  <a:lnTo>
                    <a:pt x="367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2;p67">
              <a:extLst>
                <a:ext uri="{FF2B5EF4-FFF2-40B4-BE49-F238E27FC236}">
                  <a16:creationId xmlns:a16="http://schemas.microsoft.com/office/drawing/2014/main" id="{04B793D6-664D-4E89-AE94-D098ACE4E2B1}"/>
                </a:ext>
              </a:extLst>
            </p:cNvPr>
            <p:cNvSpPr/>
            <p:nvPr/>
          </p:nvSpPr>
          <p:spPr>
            <a:xfrm>
              <a:off x="1473725" y="4451950"/>
              <a:ext cx="967375" cy="276075"/>
            </a:xfrm>
            <a:custGeom>
              <a:avLst/>
              <a:gdLst/>
              <a:ahLst/>
              <a:cxnLst/>
              <a:rect l="l" t="t" r="r" b="b"/>
              <a:pathLst>
                <a:path w="38695" h="11043" extrusionOk="0">
                  <a:moveTo>
                    <a:pt x="0" y="1"/>
                  </a:moveTo>
                  <a:lnTo>
                    <a:pt x="634" y="902"/>
                  </a:lnTo>
                  <a:cubicBezTo>
                    <a:pt x="668" y="935"/>
                    <a:pt x="3169" y="4571"/>
                    <a:pt x="6505" y="9041"/>
                  </a:cubicBezTo>
                  <a:lnTo>
                    <a:pt x="7472" y="8340"/>
                  </a:lnTo>
                  <a:cubicBezTo>
                    <a:pt x="5371" y="5538"/>
                    <a:pt x="3570" y="3070"/>
                    <a:pt x="2569" y="1602"/>
                  </a:cubicBezTo>
                  <a:cubicBezTo>
                    <a:pt x="2469" y="1435"/>
                    <a:pt x="2569" y="1202"/>
                    <a:pt x="2802" y="1202"/>
                  </a:cubicBezTo>
                  <a:cubicBezTo>
                    <a:pt x="5871" y="1235"/>
                    <a:pt x="9174" y="1402"/>
                    <a:pt x="13010" y="1736"/>
                  </a:cubicBezTo>
                  <a:cubicBezTo>
                    <a:pt x="13076" y="1736"/>
                    <a:pt x="13177" y="1769"/>
                    <a:pt x="13210" y="1869"/>
                  </a:cubicBezTo>
                  <a:cubicBezTo>
                    <a:pt x="13810" y="2670"/>
                    <a:pt x="16012" y="5872"/>
                    <a:pt x="18847" y="9608"/>
                  </a:cubicBezTo>
                  <a:lnTo>
                    <a:pt x="19314" y="9241"/>
                  </a:lnTo>
                  <a:lnTo>
                    <a:pt x="18914" y="9741"/>
                  </a:lnTo>
                  <a:lnTo>
                    <a:pt x="19381" y="9408"/>
                  </a:lnTo>
                  <a:lnTo>
                    <a:pt x="19748" y="8907"/>
                  </a:lnTo>
                  <a:cubicBezTo>
                    <a:pt x="17713" y="6205"/>
                    <a:pt x="16012" y="3770"/>
                    <a:pt x="14978" y="2369"/>
                  </a:cubicBezTo>
                  <a:cubicBezTo>
                    <a:pt x="14851" y="2211"/>
                    <a:pt x="14965" y="1933"/>
                    <a:pt x="15176" y="1933"/>
                  </a:cubicBezTo>
                  <a:cubicBezTo>
                    <a:pt x="15187" y="1933"/>
                    <a:pt x="15199" y="1934"/>
                    <a:pt x="15211" y="1936"/>
                  </a:cubicBezTo>
                  <a:cubicBezTo>
                    <a:pt x="18647" y="2269"/>
                    <a:pt x="22216" y="2670"/>
                    <a:pt x="26653" y="3170"/>
                  </a:cubicBezTo>
                  <a:cubicBezTo>
                    <a:pt x="26720" y="3170"/>
                    <a:pt x="26820" y="3203"/>
                    <a:pt x="26853" y="3270"/>
                  </a:cubicBezTo>
                  <a:cubicBezTo>
                    <a:pt x="28721" y="5939"/>
                    <a:pt x="30589" y="8574"/>
                    <a:pt x="32490" y="11042"/>
                  </a:cubicBezTo>
                  <a:lnTo>
                    <a:pt x="33424" y="10342"/>
                  </a:lnTo>
                  <a:cubicBezTo>
                    <a:pt x="31857" y="8240"/>
                    <a:pt x="30255" y="6072"/>
                    <a:pt x="28721" y="3837"/>
                  </a:cubicBezTo>
                  <a:cubicBezTo>
                    <a:pt x="28596" y="3619"/>
                    <a:pt x="28705" y="3400"/>
                    <a:pt x="28938" y="3400"/>
                  </a:cubicBezTo>
                  <a:cubicBezTo>
                    <a:pt x="28954" y="3400"/>
                    <a:pt x="28971" y="3401"/>
                    <a:pt x="28988" y="3403"/>
                  </a:cubicBezTo>
                  <a:cubicBezTo>
                    <a:pt x="31990" y="3737"/>
                    <a:pt x="35159" y="4071"/>
                    <a:pt x="38528" y="4404"/>
                  </a:cubicBezTo>
                  <a:lnTo>
                    <a:pt x="38695" y="3203"/>
                  </a:lnTo>
                  <a:cubicBezTo>
                    <a:pt x="34625" y="2770"/>
                    <a:pt x="30822" y="2369"/>
                    <a:pt x="27220" y="2002"/>
                  </a:cubicBezTo>
                  <a:cubicBezTo>
                    <a:pt x="21849" y="1369"/>
                    <a:pt x="17713" y="902"/>
                    <a:pt x="13644" y="568"/>
                  </a:cubicBezTo>
                  <a:cubicBezTo>
                    <a:pt x="8840" y="168"/>
                    <a:pt x="4837" y="1"/>
                    <a:pt x="1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53;p67">
              <a:extLst>
                <a:ext uri="{FF2B5EF4-FFF2-40B4-BE49-F238E27FC236}">
                  <a16:creationId xmlns:a16="http://schemas.microsoft.com/office/drawing/2014/main" id="{5B07ADCE-C351-4B23-96A1-8714CDA64364}"/>
                </a:ext>
              </a:extLst>
            </p:cNvPr>
            <p:cNvSpPr/>
            <p:nvPr/>
          </p:nvSpPr>
          <p:spPr>
            <a:xfrm>
              <a:off x="1623000" y="4660450"/>
              <a:ext cx="4463200" cy="500375"/>
            </a:xfrm>
            <a:custGeom>
              <a:avLst/>
              <a:gdLst/>
              <a:ahLst/>
              <a:cxnLst/>
              <a:rect l="l" t="t" r="r" b="b"/>
              <a:pathLst>
                <a:path w="178528" h="20015" extrusionOk="0">
                  <a:moveTo>
                    <a:pt x="0" y="0"/>
                  </a:moveTo>
                  <a:cubicBezTo>
                    <a:pt x="0" y="0"/>
                    <a:pt x="3069" y="4504"/>
                    <a:pt x="7039" y="9607"/>
                  </a:cubicBezTo>
                  <a:cubicBezTo>
                    <a:pt x="7839" y="10241"/>
                    <a:pt x="21349" y="20015"/>
                    <a:pt x="92767" y="20015"/>
                  </a:cubicBezTo>
                  <a:lnTo>
                    <a:pt x="169922" y="20015"/>
                  </a:lnTo>
                  <a:cubicBezTo>
                    <a:pt x="171289" y="19247"/>
                    <a:pt x="172490" y="18447"/>
                    <a:pt x="173291" y="17613"/>
                  </a:cubicBezTo>
                  <a:cubicBezTo>
                    <a:pt x="176260" y="14544"/>
                    <a:pt x="178528" y="6839"/>
                    <a:pt x="178528" y="6839"/>
                  </a:cubicBezTo>
                  <a:cubicBezTo>
                    <a:pt x="178528" y="6839"/>
                    <a:pt x="176230" y="6809"/>
                    <a:pt x="172148" y="6809"/>
                  </a:cubicBezTo>
                  <a:cubicBezTo>
                    <a:pt x="170107" y="6809"/>
                    <a:pt x="167620" y="6816"/>
                    <a:pt x="164751" y="6839"/>
                  </a:cubicBezTo>
                  <a:lnTo>
                    <a:pt x="153743" y="6839"/>
                  </a:lnTo>
                  <a:cubicBezTo>
                    <a:pt x="150675" y="6839"/>
                    <a:pt x="147439" y="6839"/>
                    <a:pt x="144003" y="6772"/>
                  </a:cubicBezTo>
                  <a:cubicBezTo>
                    <a:pt x="141835" y="6772"/>
                    <a:pt x="139633" y="6738"/>
                    <a:pt x="137332" y="6738"/>
                  </a:cubicBezTo>
                  <a:cubicBezTo>
                    <a:pt x="116417" y="6572"/>
                    <a:pt x="90532" y="6205"/>
                    <a:pt x="67015" y="5271"/>
                  </a:cubicBezTo>
                  <a:cubicBezTo>
                    <a:pt x="54406" y="4770"/>
                    <a:pt x="44165" y="3903"/>
                    <a:pt x="35326" y="3002"/>
                  </a:cubicBezTo>
                  <a:cubicBezTo>
                    <a:pt x="35025" y="2936"/>
                    <a:pt x="34725" y="2936"/>
                    <a:pt x="34425" y="2902"/>
                  </a:cubicBezTo>
                  <a:cubicBezTo>
                    <a:pt x="31490" y="2569"/>
                    <a:pt x="28688" y="2269"/>
                    <a:pt x="26019" y="2002"/>
                  </a:cubicBezTo>
                  <a:cubicBezTo>
                    <a:pt x="21082" y="1435"/>
                    <a:pt x="16646" y="934"/>
                    <a:pt x="12343" y="567"/>
                  </a:cubicBezTo>
                  <a:cubicBezTo>
                    <a:pt x="8073" y="200"/>
                    <a:pt x="403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54;p67">
              <a:extLst>
                <a:ext uri="{FF2B5EF4-FFF2-40B4-BE49-F238E27FC236}">
                  <a16:creationId xmlns:a16="http://schemas.microsoft.com/office/drawing/2014/main" id="{194E3012-E3D0-43B8-95D3-380E6C8E1F96}"/>
                </a:ext>
              </a:extLst>
            </p:cNvPr>
            <p:cNvSpPr/>
            <p:nvPr/>
          </p:nvSpPr>
          <p:spPr>
            <a:xfrm>
              <a:off x="3129900" y="4444450"/>
              <a:ext cx="2074000" cy="80100"/>
            </a:xfrm>
            <a:custGeom>
              <a:avLst/>
              <a:gdLst/>
              <a:ahLst/>
              <a:cxnLst/>
              <a:rect l="l" t="t" r="r" b="b"/>
              <a:pathLst>
                <a:path w="82960" h="3204" extrusionOk="0">
                  <a:moveTo>
                    <a:pt x="3170" y="1"/>
                  </a:moveTo>
                  <a:cubicBezTo>
                    <a:pt x="1435" y="1"/>
                    <a:pt x="1" y="1402"/>
                    <a:pt x="1" y="3170"/>
                  </a:cubicBezTo>
                  <a:lnTo>
                    <a:pt x="1" y="3203"/>
                  </a:lnTo>
                  <a:lnTo>
                    <a:pt x="81359" y="3203"/>
                  </a:lnTo>
                  <a:cubicBezTo>
                    <a:pt x="82226" y="3203"/>
                    <a:pt x="82960" y="2503"/>
                    <a:pt x="82960" y="1569"/>
                  </a:cubicBezTo>
                  <a:cubicBezTo>
                    <a:pt x="82960" y="701"/>
                    <a:pt x="82226" y="1"/>
                    <a:pt x="81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55;p67">
              <a:extLst>
                <a:ext uri="{FF2B5EF4-FFF2-40B4-BE49-F238E27FC236}">
                  <a16:creationId xmlns:a16="http://schemas.microsoft.com/office/drawing/2014/main" id="{CF94098C-58E7-4B0A-874D-7A15E4B455FD}"/>
                </a:ext>
              </a:extLst>
            </p:cNvPr>
            <p:cNvSpPr/>
            <p:nvPr/>
          </p:nvSpPr>
          <p:spPr>
            <a:xfrm>
              <a:off x="3129075" y="4445300"/>
              <a:ext cx="2074825" cy="78400"/>
            </a:xfrm>
            <a:custGeom>
              <a:avLst/>
              <a:gdLst/>
              <a:ahLst/>
              <a:cxnLst/>
              <a:rect l="l" t="t" r="r" b="b"/>
              <a:pathLst>
                <a:path w="82993" h="3136" extrusionOk="0">
                  <a:moveTo>
                    <a:pt x="81859" y="0"/>
                  </a:moveTo>
                  <a:lnTo>
                    <a:pt x="81859" y="0"/>
                  </a:lnTo>
                  <a:cubicBezTo>
                    <a:pt x="81926" y="200"/>
                    <a:pt x="82026" y="434"/>
                    <a:pt x="82026" y="667"/>
                  </a:cubicBezTo>
                  <a:lnTo>
                    <a:pt x="82026" y="701"/>
                  </a:lnTo>
                  <a:cubicBezTo>
                    <a:pt x="82026" y="1601"/>
                    <a:pt x="81325" y="2302"/>
                    <a:pt x="80424" y="2302"/>
                  </a:cubicBezTo>
                  <a:lnTo>
                    <a:pt x="134" y="2302"/>
                  </a:lnTo>
                  <a:cubicBezTo>
                    <a:pt x="34" y="2535"/>
                    <a:pt x="0" y="2836"/>
                    <a:pt x="0" y="3102"/>
                  </a:cubicBezTo>
                  <a:lnTo>
                    <a:pt x="0" y="3136"/>
                  </a:lnTo>
                  <a:lnTo>
                    <a:pt x="81392" y="3136"/>
                  </a:lnTo>
                  <a:cubicBezTo>
                    <a:pt x="82259" y="3136"/>
                    <a:pt x="82993" y="2435"/>
                    <a:pt x="82993" y="1535"/>
                  </a:cubicBezTo>
                  <a:lnTo>
                    <a:pt x="82993" y="1501"/>
                  </a:lnTo>
                  <a:cubicBezTo>
                    <a:pt x="82993" y="801"/>
                    <a:pt x="82526" y="200"/>
                    <a:pt x="8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56;p67">
              <a:extLst>
                <a:ext uri="{FF2B5EF4-FFF2-40B4-BE49-F238E27FC236}">
                  <a16:creationId xmlns:a16="http://schemas.microsoft.com/office/drawing/2014/main" id="{4FE2A90D-BFB8-43F2-8A3B-0F59845D93B1}"/>
                </a:ext>
              </a:extLst>
            </p:cNvPr>
            <p:cNvSpPr/>
            <p:nvPr/>
          </p:nvSpPr>
          <p:spPr>
            <a:xfrm>
              <a:off x="3855425" y="595875"/>
              <a:ext cx="1367675" cy="3558400"/>
            </a:xfrm>
            <a:custGeom>
              <a:avLst/>
              <a:gdLst/>
              <a:ahLst/>
              <a:cxnLst/>
              <a:rect l="l" t="t" r="r" b="b"/>
              <a:pathLst>
                <a:path w="54707" h="142336" extrusionOk="0">
                  <a:moveTo>
                    <a:pt x="0" y="0"/>
                  </a:moveTo>
                  <a:lnTo>
                    <a:pt x="0" y="122154"/>
                  </a:lnTo>
                  <a:cubicBezTo>
                    <a:pt x="4037" y="129426"/>
                    <a:pt x="9140" y="136231"/>
                    <a:pt x="15578" y="142335"/>
                  </a:cubicBezTo>
                  <a:lnTo>
                    <a:pt x="54706" y="142335"/>
                  </a:lnTo>
                  <a:cubicBezTo>
                    <a:pt x="54706" y="142335"/>
                    <a:pt x="11309" y="85628"/>
                    <a:pt x="0" y="0"/>
                  </a:cubicBezTo>
                  <a:close/>
                </a:path>
              </a:pathLst>
            </a:custGeom>
            <a:solidFill>
              <a:schemeClr val="accent5">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57;p67">
              <a:extLst>
                <a:ext uri="{FF2B5EF4-FFF2-40B4-BE49-F238E27FC236}">
                  <a16:creationId xmlns:a16="http://schemas.microsoft.com/office/drawing/2014/main" id="{54151CD9-5BB3-4BCB-87C0-D86DCE56DE8D}"/>
                </a:ext>
              </a:extLst>
            </p:cNvPr>
            <p:cNvSpPr/>
            <p:nvPr/>
          </p:nvSpPr>
          <p:spPr>
            <a:xfrm>
              <a:off x="2504450" y="4524525"/>
              <a:ext cx="2551025" cy="304400"/>
            </a:xfrm>
            <a:custGeom>
              <a:avLst/>
              <a:gdLst/>
              <a:ahLst/>
              <a:cxnLst/>
              <a:rect l="l" t="t" r="r" b="b"/>
              <a:pathLst>
                <a:path w="102041" h="12176" extrusionOk="0">
                  <a:moveTo>
                    <a:pt x="98505" y="0"/>
                  </a:moveTo>
                  <a:lnTo>
                    <a:pt x="98505" y="33"/>
                  </a:lnTo>
                  <a:lnTo>
                    <a:pt x="25786" y="33"/>
                  </a:lnTo>
                  <a:cubicBezTo>
                    <a:pt x="21416" y="33"/>
                    <a:pt x="16980" y="967"/>
                    <a:pt x="13077" y="2168"/>
                  </a:cubicBezTo>
                  <a:lnTo>
                    <a:pt x="53339" y="2168"/>
                  </a:lnTo>
                  <a:lnTo>
                    <a:pt x="50537" y="8273"/>
                  </a:lnTo>
                  <a:lnTo>
                    <a:pt x="1" y="8273"/>
                  </a:lnTo>
                  <a:lnTo>
                    <a:pt x="1" y="8439"/>
                  </a:lnTo>
                  <a:cubicBezTo>
                    <a:pt x="8841" y="9340"/>
                    <a:pt x="19115" y="10207"/>
                    <a:pt x="31690" y="10708"/>
                  </a:cubicBezTo>
                  <a:cubicBezTo>
                    <a:pt x="55207" y="11642"/>
                    <a:pt x="81125" y="12009"/>
                    <a:pt x="102040" y="12175"/>
                  </a:cubicBezTo>
                  <a:lnTo>
                    <a:pt x="985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58;p67">
              <a:extLst>
                <a:ext uri="{FF2B5EF4-FFF2-40B4-BE49-F238E27FC236}">
                  <a16:creationId xmlns:a16="http://schemas.microsoft.com/office/drawing/2014/main" id="{5BEA788E-3DDA-4D97-ACA0-A98C73111334}"/>
                </a:ext>
              </a:extLst>
            </p:cNvPr>
            <p:cNvSpPr/>
            <p:nvPr/>
          </p:nvSpPr>
          <p:spPr>
            <a:xfrm>
              <a:off x="4874475" y="4523675"/>
              <a:ext cx="181000" cy="304425"/>
            </a:xfrm>
            <a:custGeom>
              <a:avLst/>
              <a:gdLst/>
              <a:ahLst/>
              <a:cxnLst/>
              <a:rect l="l" t="t" r="r" b="b"/>
              <a:pathLst>
                <a:path w="7240" h="12177" extrusionOk="0">
                  <a:moveTo>
                    <a:pt x="1" y="1"/>
                  </a:moveTo>
                  <a:lnTo>
                    <a:pt x="3537" y="12143"/>
                  </a:lnTo>
                  <a:cubicBezTo>
                    <a:pt x="4838" y="12176"/>
                    <a:pt x="6039" y="12176"/>
                    <a:pt x="7239" y="12176"/>
                  </a:cubicBezTo>
                  <a:lnTo>
                    <a:pt x="37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59;p67">
              <a:extLst>
                <a:ext uri="{FF2B5EF4-FFF2-40B4-BE49-F238E27FC236}">
                  <a16:creationId xmlns:a16="http://schemas.microsoft.com/office/drawing/2014/main" id="{55BF8B09-1B10-4F4B-B847-16A0C3199400}"/>
                </a:ext>
              </a:extLst>
            </p:cNvPr>
            <p:cNvSpPr/>
            <p:nvPr/>
          </p:nvSpPr>
          <p:spPr>
            <a:xfrm>
              <a:off x="3144075" y="4524525"/>
              <a:ext cx="1831350" cy="25875"/>
            </a:xfrm>
            <a:custGeom>
              <a:avLst/>
              <a:gdLst/>
              <a:ahLst/>
              <a:cxnLst/>
              <a:rect l="l" t="t" r="r" b="b"/>
              <a:pathLst>
                <a:path w="73254" h="1035" extrusionOk="0">
                  <a:moveTo>
                    <a:pt x="1" y="0"/>
                  </a:moveTo>
                  <a:lnTo>
                    <a:pt x="72953" y="1034"/>
                  </a:lnTo>
                  <a:lnTo>
                    <a:pt x="73253" y="1034"/>
                  </a:lnTo>
                  <a:lnTo>
                    <a:pt x="72920" y="0"/>
                  </a:ln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60;p67">
              <a:extLst>
                <a:ext uri="{FF2B5EF4-FFF2-40B4-BE49-F238E27FC236}">
                  <a16:creationId xmlns:a16="http://schemas.microsoft.com/office/drawing/2014/main" id="{DF162C48-3001-46A6-AE0E-61ED832EA2E0}"/>
                </a:ext>
              </a:extLst>
            </p:cNvPr>
            <p:cNvSpPr/>
            <p:nvPr/>
          </p:nvSpPr>
          <p:spPr>
            <a:xfrm>
              <a:off x="1686375" y="402400"/>
              <a:ext cx="2739475" cy="3907825"/>
            </a:xfrm>
            <a:custGeom>
              <a:avLst/>
              <a:gdLst/>
              <a:ahLst/>
              <a:cxnLst/>
              <a:rect l="l" t="t" r="r" b="b"/>
              <a:pathLst>
                <a:path w="109579" h="156313" extrusionOk="0">
                  <a:moveTo>
                    <a:pt x="86262" y="0"/>
                  </a:moveTo>
                  <a:lnTo>
                    <a:pt x="86262" y="0"/>
                  </a:lnTo>
                  <a:cubicBezTo>
                    <a:pt x="24718" y="52271"/>
                    <a:pt x="1" y="147840"/>
                    <a:pt x="1" y="147840"/>
                  </a:cubicBezTo>
                  <a:cubicBezTo>
                    <a:pt x="21082" y="152376"/>
                    <a:pt x="55540" y="154544"/>
                    <a:pt x="80191" y="155512"/>
                  </a:cubicBezTo>
                  <a:cubicBezTo>
                    <a:pt x="81259" y="155545"/>
                    <a:pt x="82293" y="155578"/>
                    <a:pt x="83293" y="155612"/>
                  </a:cubicBezTo>
                  <a:cubicBezTo>
                    <a:pt x="98738" y="156179"/>
                    <a:pt x="109579" y="156312"/>
                    <a:pt x="109579" y="156312"/>
                  </a:cubicBezTo>
                  <a:cubicBezTo>
                    <a:pt x="107010" y="154311"/>
                    <a:pt x="104575" y="152243"/>
                    <a:pt x="102340" y="150074"/>
                  </a:cubicBezTo>
                  <a:cubicBezTo>
                    <a:pt x="95902" y="143970"/>
                    <a:pt x="90765" y="137165"/>
                    <a:pt x="86762" y="129893"/>
                  </a:cubicBezTo>
                  <a:cubicBezTo>
                    <a:pt x="85428" y="127525"/>
                    <a:pt x="84227" y="125057"/>
                    <a:pt x="83160" y="122621"/>
                  </a:cubicBezTo>
                  <a:cubicBezTo>
                    <a:pt x="82159" y="120353"/>
                    <a:pt x="81259" y="118118"/>
                    <a:pt x="80391" y="115883"/>
                  </a:cubicBezTo>
                  <a:cubicBezTo>
                    <a:pt x="67982" y="80892"/>
                    <a:pt x="75054" y="40196"/>
                    <a:pt x="80925" y="17580"/>
                  </a:cubicBezTo>
                  <a:cubicBezTo>
                    <a:pt x="81225" y="16479"/>
                    <a:pt x="81492" y="15445"/>
                    <a:pt x="81759" y="14444"/>
                  </a:cubicBezTo>
                  <a:cubicBezTo>
                    <a:pt x="82026" y="13510"/>
                    <a:pt x="82226" y="12676"/>
                    <a:pt x="82459" y="11842"/>
                  </a:cubicBezTo>
                  <a:cubicBezTo>
                    <a:pt x="82926" y="10241"/>
                    <a:pt x="83393" y="8740"/>
                    <a:pt x="83794" y="7406"/>
                  </a:cubicBezTo>
                  <a:cubicBezTo>
                    <a:pt x="85261" y="2669"/>
                    <a:pt x="86262" y="1"/>
                    <a:pt x="86262"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061;p67">
              <a:extLst>
                <a:ext uri="{FF2B5EF4-FFF2-40B4-BE49-F238E27FC236}">
                  <a16:creationId xmlns:a16="http://schemas.microsoft.com/office/drawing/2014/main" id="{863BB7D5-41DA-4F49-8EDA-6A4A8C4C6552}"/>
                </a:ext>
              </a:extLst>
            </p:cNvPr>
            <p:cNvSpPr/>
            <p:nvPr/>
          </p:nvSpPr>
          <p:spPr>
            <a:xfrm>
              <a:off x="3854600" y="2893350"/>
              <a:ext cx="656325" cy="1260925"/>
            </a:xfrm>
            <a:custGeom>
              <a:avLst/>
              <a:gdLst/>
              <a:ahLst/>
              <a:cxnLst/>
              <a:rect l="l" t="t" r="r" b="b"/>
              <a:pathLst>
                <a:path w="26253" h="50437" extrusionOk="0">
                  <a:moveTo>
                    <a:pt x="0" y="0"/>
                  </a:moveTo>
                  <a:lnTo>
                    <a:pt x="0" y="30222"/>
                  </a:lnTo>
                  <a:cubicBezTo>
                    <a:pt x="4036" y="37527"/>
                    <a:pt x="9173" y="44332"/>
                    <a:pt x="15545" y="50436"/>
                  </a:cubicBezTo>
                  <a:lnTo>
                    <a:pt x="26252" y="50436"/>
                  </a:lnTo>
                  <a:cubicBezTo>
                    <a:pt x="19848" y="44332"/>
                    <a:pt x="14744" y="37527"/>
                    <a:pt x="10708" y="30255"/>
                  </a:cubicBezTo>
                  <a:cubicBezTo>
                    <a:pt x="9373" y="27887"/>
                    <a:pt x="8173" y="25419"/>
                    <a:pt x="7072" y="22983"/>
                  </a:cubicBezTo>
                  <a:cubicBezTo>
                    <a:pt x="6104" y="20715"/>
                    <a:pt x="5204" y="18480"/>
                    <a:pt x="4370" y="16179"/>
                  </a:cubicBezTo>
                  <a:cubicBezTo>
                    <a:pt x="2502" y="10875"/>
                    <a:pt x="1101" y="5471"/>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62;p67">
              <a:extLst>
                <a:ext uri="{FF2B5EF4-FFF2-40B4-BE49-F238E27FC236}">
                  <a16:creationId xmlns:a16="http://schemas.microsoft.com/office/drawing/2014/main" id="{0B2F7652-BA63-4459-B1A1-F64A6C9B2C86}"/>
                </a:ext>
              </a:extLst>
            </p:cNvPr>
            <p:cNvSpPr/>
            <p:nvPr/>
          </p:nvSpPr>
          <p:spPr>
            <a:xfrm>
              <a:off x="3855425" y="632550"/>
              <a:ext cx="73400" cy="797275"/>
            </a:xfrm>
            <a:custGeom>
              <a:avLst/>
              <a:gdLst/>
              <a:ahLst/>
              <a:cxnLst/>
              <a:rect l="l" t="t" r="r" b="b"/>
              <a:pathLst>
                <a:path w="2936" h="31891" extrusionOk="0">
                  <a:moveTo>
                    <a:pt x="234" y="1"/>
                  </a:moveTo>
                  <a:lnTo>
                    <a:pt x="0" y="201"/>
                  </a:lnTo>
                  <a:lnTo>
                    <a:pt x="0" y="31890"/>
                  </a:lnTo>
                  <a:cubicBezTo>
                    <a:pt x="901" y="26387"/>
                    <a:pt x="1902" y="21216"/>
                    <a:pt x="2936" y="16513"/>
                  </a:cubicBezTo>
                  <a:cubicBezTo>
                    <a:pt x="1902" y="11109"/>
                    <a:pt x="1001" y="5605"/>
                    <a:pt x="234" y="1"/>
                  </a:cubicBezTo>
                  <a:close/>
                </a:path>
              </a:pathLst>
            </a:custGeom>
            <a:solidFill>
              <a:srgbClr val="E0E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63;p67">
              <a:extLst>
                <a:ext uri="{FF2B5EF4-FFF2-40B4-BE49-F238E27FC236}">
                  <a16:creationId xmlns:a16="http://schemas.microsoft.com/office/drawing/2014/main" id="{F3E495BE-704C-4490-A23C-43036BA033C9}"/>
                </a:ext>
              </a:extLst>
            </p:cNvPr>
            <p:cNvSpPr/>
            <p:nvPr/>
          </p:nvSpPr>
          <p:spPr>
            <a:xfrm>
              <a:off x="3855425" y="4577050"/>
              <a:ext cx="665500" cy="151800"/>
            </a:xfrm>
            <a:custGeom>
              <a:avLst/>
              <a:gdLst/>
              <a:ahLst/>
              <a:cxnLst/>
              <a:rect l="l" t="t" r="r" b="b"/>
              <a:pathLst>
                <a:path w="26620" h="6072" extrusionOk="0">
                  <a:moveTo>
                    <a:pt x="2769" y="1"/>
                  </a:moveTo>
                  <a:lnTo>
                    <a:pt x="0" y="6072"/>
                  </a:lnTo>
                  <a:lnTo>
                    <a:pt x="13310" y="6072"/>
                  </a:lnTo>
                  <a:cubicBezTo>
                    <a:pt x="14344" y="6072"/>
                    <a:pt x="15345" y="5871"/>
                    <a:pt x="16312" y="5404"/>
                  </a:cubicBezTo>
                  <a:lnTo>
                    <a:pt x="26253" y="701"/>
                  </a:lnTo>
                  <a:cubicBezTo>
                    <a:pt x="26619" y="534"/>
                    <a:pt x="26486" y="34"/>
                    <a:pt x="26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64;p67">
              <a:extLst>
                <a:ext uri="{FF2B5EF4-FFF2-40B4-BE49-F238E27FC236}">
                  <a16:creationId xmlns:a16="http://schemas.microsoft.com/office/drawing/2014/main" id="{D1D81DF4-5D5F-46A8-9132-19BE9E8CCB56}"/>
                </a:ext>
              </a:extLst>
            </p:cNvPr>
            <p:cNvSpPr/>
            <p:nvPr/>
          </p:nvSpPr>
          <p:spPr>
            <a:xfrm>
              <a:off x="2506950" y="4729650"/>
              <a:ext cx="2551025" cy="98450"/>
            </a:xfrm>
            <a:custGeom>
              <a:avLst/>
              <a:gdLst/>
              <a:ahLst/>
              <a:cxnLst/>
              <a:rect l="l" t="t" r="r" b="b"/>
              <a:pathLst>
                <a:path w="102041" h="3938" extrusionOk="0">
                  <a:moveTo>
                    <a:pt x="1" y="1"/>
                  </a:moveTo>
                  <a:lnTo>
                    <a:pt x="1" y="168"/>
                  </a:lnTo>
                  <a:cubicBezTo>
                    <a:pt x="8841" y="1102"/>
                    <a:pt x="19081" y="1969"/>
                    <a:pt x="31690" y="2469"/>
                  </a:cubicBezTo>
                  <a:cubicBezTo>
                    <a:pt x="55207" y="3403"/>
                    <a:pt x="81092" y="3804"/>
                    <a:pt x="102040" y="3937"/>
                  </a:cubicBezTo>
                  <a:lnTo>
                    <a:pt x="101573" y="2603"/>
                  </a:lnTo>
                  <a:cubicBezTo>
                    <a:pt x="63446" y="2603"/>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65;p67">
              <a:extLst>
                <a:ext uri="{FF2B5EF4-FFF2-40B4-BE49-F238E27FC236}">
                  <a16:creationId xmlns:a16="http://schemas.microsoft.com/office/drawing/2014/main" id="{A438B0F1-FB64-4AB4-9FC9-1E4540CF15E5}"/>
                </a:ext>
              </a:extLst>
            </p:cNvPr>
            <p:cNvSpPr/>
            <p:nvPr/>
          </p:nvSpPr>
          <p:spPr>
            <a:xfrm>
              <a:off x="2696275" y="4853925"/>
              <a:ext cx="129275" cy="129275"/>
            </a:xfrm>
            <a:custGeom>
              <a:avLst/>
              <a:gdLst/>
              <a:ahLst/>
              <a:cxnLst/>
              <a:rect l="l" t="t" r="r" b="b"/>
              <a:pathLst>
                <a:path w="5171" h="5171" extrusionOk="0">
                  <a:moveTo>
                    <a:pt x="2602" y="0"/>
                  </a:moveTo>
                  <a:cubicBezTo>
                    <a:pt x="1168" y="0"/>
                    <a:pt x="0" y="1168"/>
                    <a:pt x="0" y="2602"/>
                  </a:cubicBezTo>
                  <a:cubicBezTo>
                    <a:pt x="0" y="4003"/>
                    <a:pt x="1168" y="5171"/>
                    <a:pt x="2602" y="5171"/>
                  </a:cubicBezTo>
                  <a:cubicBezTo>
                    <a:pt x="4003" y="5171"/>
                    <a:pt x="5170" y="4003"/>
                    <a:pt x="5170" y="2602"/>
                  </a:cubicBezTo>
                  <a:cubicBezTo>
                    <a:pt x="5170" y="1168"/>
                    <a:pt x="4003" y="0"/>
                    <a:pt x="26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66;p67">
              <a:extLst>
                <a:ext uri="{FF2B5EF4-FFF2-40B4-BE49-F238E27FC236}">
                  <a16:creationId xmlns:a16="http://schemas.microsoft.com/office/drawing/2014/main" id="{D4A5B501-99E4-4D12-B24F-1DD85B2A86E9}"/>
                </a:ext>
              </a:extLst>
            </p:cNvPr>
            <p:cNvSpPr/>
            <p:nvPr/>
          </p:nvSpPr>
          <p:spPr>
            <a:xfrm>
              <a:off x="3044000" y="4853925"/>
              <a:ext cx="129300" cy="129275"/>
            </a:xfrm>
            <a:custGeom>
              <a:avLst/>
              <a:gdLst/>
              <a:ahLst/>
              <a:cxnLst/>
              <a:rect l="l" t="t" r="r" b="b"/>
              <a:pathLst>
                <a:path w="5172" h="5171" extrusionOk="0">
                  <a:moveTo>
                    <a:pt x="2569" y="0"/>
                  </a:moveTo>
                  <a:cubicBezTo>
                    <a:pt x="1102" y="0"/>
                    <a:pt x="1" y="1168"/>
                    <a:pt x="1" y="2602"/>
                  </a:cubicBezTo>
                  <a:cubicBezTo>
                    <a:pt x="1" y="4003"/>
                    <a:pt x="1168" y="5171"/>
                    <a:pt x="2569" y="5171"/>
                  </a:cubicBezTo>
                  <a:cubicBezTo>
                    <a:pt x="3970" y="5171"/>
                    <a:pt x="5171" y="4003"/>
                    <a:pt x="5171" y="2602"/>
                  </a:cubicBezTo>
                  <a:cubicBezTo>
                    <a:pt x="5171" y="1168"/>
                    <a:pt x="4004"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67;p67">
              <a:extLst>
                <a:ext uri="{FF2B5EF4-FFF2-40B4-BE49-F238E27FC236}">
                  <a16:creationId xmlns:a16="http://schemas.microsoft.com/office/drawing/2014/main" id="{BCA2CA49-C084-45EC-95BA-AFF6744B670D}"/>
                </a:ext>
              </a:extLst>
            </p:cNvPr>
            <p:cNvSpPr/>
            <p:nvPr/>
          </p:nvSpPr>
          <p:spPr>
            <a:xfrm>
              <a:off x="3390100" y="4853925"/>
              <a:ext cx="128450" cy="129275"/>
            </a:xfrm>
            <a:custGeom>
              <a:avLst/>
              <a:gdLst/>
              <a:ahLst/>
              <a:cxnLst/>
              <a:rect l="l" t="t" r="r" b="b"/>
              <a:pathLst>
                <a:path w="5138" h="5171" extrusionOk="0">
                  <a:moveTo>
                    <a:pt x="2569" y="0"/>
                  </a:moveTo>
                  <a:cubicBezTo>
                    <a:pt x="1168" y="0"/>
                    <a:pt x="0" y="1168"/>
                    <a:pt x="0" y="2602"/>
                  </a:cubicBezTo>
                  <a:cubicBezTo>
                    <a:pt x="0" y="4003"/>
                    <a:pt x="1168" y="5171"/>
                    <a:pt x="2569" y="5171"/>
                  </a:cubicBezTo>
                  <a:cubicBezTo>
                    <a:pt x="3970" y="5171"/>
                    <a:pt x="5137" y="4003"/>
                    <a:pt x="5137" y="2602"/>
                  </a:cubicBezTo>
                  <a:cubicBezTo>
                    <a:pt x="5137" y="1168"/>
                    <a:pt x="4003" y="0"/>
                    <a:pt x="2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68;p67">
              <a:extLst>
                <a:ext uri="{FF2B5EF4-FFF2-40B4-BE49-F238E27FC236}">
                  <a16:creationId xmlns:a16="http://schemas.microsoft.com/office/drawing/2014/main" id="{C98FA573-0D5A-46C2-8652-E02F09B3551C}"/>
                </a:ext>
              </a:extLst>
            </p:cNvPr>
            <p:cNvSpPr/>
            <p:nvPr/>
          </p:nvSpPr>
          <p:spPr>
            <a:xfrm>
              <a:off x="1623000" y="4657950"/>
              <a:ext cx="4248900" cy="587100"/>
            </a:xfrm>
            <a:custGeom>
              <a:avLst/>
              <a:gdLst/>
              <a:ahLst/>
              <a:cxnLst/>
              <a:rect l="l" t="t" r="r" b="b"/>
              <a:pathLst>
                <a:path w="169956" h="23484" extrusionOk="0">
                  <a:moveTo>
                    <a:pt x="0" y="0"/>
                  </a:moveTo>
                  <a:cubicBezTo>
                    <a:pt x="3636" y="5638"/>
                    <a:pt x="13410" y="19614"/>
                    <a:pt x="19581" y="23484"/>
                  </a:cubicBezTo>
                  <a:lnTo>
                    <a:pt x="161649" y="23484"/>
                  </a:lnTo>
                  <a:cubicBezTo>
                    <a:pt x="161649" y="23484"/>
                    <a:pt x="166286" y="22016"/>
                    <a:pt x="169955" y="20015"/>
                  </a:cubicBezTo>
                  <a:lnTo>
                    <a:pt x="92800" y="20015"/>
                  </a:lnTo>
                  <a:cubicBezTo>
                    <a:pt x="21349" y="20015"/>
                    <a:pt x="801" y="63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文字方塊 28">
            <a:extLst>
              <a:ext uri="{FF2B5EF4-FFF2-40B4-BE49-F238E27FC236}">
                <a16:creationId xmlns:a16="http://schemas.microsoft.com/office/drawing/2014/main" id="{DAB6DEFC-3761-45FD-BC44-249F16235D79}"/>
              </a:ext>
            </a:extLst>
          </p:cNvPr>
          <p:cNvSpPr txBox="1"/>
          <p:nvPr/>
        </p:nvSpPr>
        <p:spPr>
          <a:xfrm>
            <a:off x="8585770" y="4631694"/>
            <a:ext cx="360996" cy="261610"/>
          </a:xfrm>
          <a:prstGeom prst="rect">
            <a:avLst/>
          </a:prstGeom>
          <a:noFill/>
        </p:spPr>
        <p:txBody>
          <a:bodyPr wrap="none" rtlCol="0">
            <a:spAutoFit/>
          </a:bodyPr>
          <a:lstStyle/>
          <a:p>
            <a:r>
              <a:rPr lang="en-US" altLang="zh-TW" sz="1100" dirty="0">
                <a:latin typeface="Montserrat" panose="02020500000000000000" charset="0"/>
              </a:rPr>
              <a:t>70</a:t>
            </a:r>
            <a:endParaRPr lang="zh-TW" altLang="en-US" sz="1100" dirty="0">
              <a:latin typeface="Montserrat" panose="02020500000000000000" charset="0"/>
            </a:endParaRPr>
          </a:p>
        </p:txBody>
      </p:sp>
      <p:grpSp>
        <p:nvGrpSpPr>
          <p:cNvPr id="4" name="群組 3">
            <a:extLst>
              <a:ext uri="{FF2B5EF4-FFF2-40B4-BE49-F238E27FC236}">
                <a16:creationId xmlns:a16="http://schemas.microsoft.com/office/drawing/2014/main" id="{B2F39859-451C-4732-B343-A56B513279CF}"/>
              </a:ext>
            </a:extLst>
          </p:cNvPr>
          <p:cNvGrpSpPr/>
          <p:nvPr/>
        </p:nvGrpSpPr>
        <p:grpSpPr>
          <a:xfrm>
            <a:off x="2673082" y="2555335"/>
            <a:ext cx="3797835" cy="1333250"/>
            <a:chOff x="2673082" y="2555335"/>
            <a:chExt cx="3797835" cy="1333250"/>
          </a:xfrm>
        </p:grpSpPr>
        <p:sp>
          <p:nvSpPr>
            <p:cNvPr id="9" name="文字方塊 8">
              <a:extLst>
                <a:ext uri="{FF2B5EF4-FFF2-40B4-BE49-F238E27FC236}">
                  <a16:creationId xmlns:a16="http://schemas.microsoft.com/office/drawing/2014/main" id="{14117233-9218-4160-953C-196D6CBF165F}"/>
                </a:ext>
              </a:extLst>
            </p:cNvPr>
            <p:cNvSpPr txBox="1"/>
            <p:nvPr/>
          </p:nvSpPr>
          <p:spPr>
            <a:xfrm>
              <a:off x="2673082" y="2555335"/>
              <a:ext cx="3797835" cy="1333250"/>
            </a:xfrm>
            <a:prstGeom prst="rect">
              <a:avLst/>
            </a:prstGeom>
            <a:noFill/>
          </p:spPr>
          <p:txBody>
            <a:bodyPr wrap="none" rtlCol="0" anchor="ctr">
              <a:spAutoFit/>
            </a:bodyPr>
            <a:lstStyle/>
            <a:p>
              <a:pPr marL="171450" indent="-171450">
                <a:lnSpc>
                  <a:spcPct val="150000"/>
                </a:lnSpc>
                <a:buFont typeface="Arial" panose="020B0604020202020204" pitchFamily="34" charset="0"/>
                <a:buChar char="•"/>
              </a:pPr>
              <a:r>
                <a:rPr lang="en-US" altLang="zh-TW" sz="1100" dirty="0">
                  <a:latin typeface="Montserrat" panose="02020500000000000000" charset="0"/>
                </a:rPr>
                <a:t>Tuning curves of SHG</a:t>
              </a:r>
            </a:p>
            <a:p>
              <a:pPr marL="171450" indent="-171450">
                <a:lnSpc>
                  <a:spcPct val="150000"/>
                </a:lnSpc>
                <a:buFont typeface="Arial" panose="020B0604020202020204" pitchFamily="34" charset="0"/>
                <a:buChar char="•"/>
              </a:pPr>
              <a:r>
                <a:rPr lang="en-US" altLang="zh-TW" sz="1100" dirty="0">
                  <a:latin typeface="Montserrat" panose="02020500000000000000" charset="0"/>
                </a:rPr>
                <a:t>EO-PMC measurement result</a:t>
              </a:r>
            </a:p>
            <a:p>
              <a:pPr marL="171450" indent="-171450">
                <a:lnSpc>
                  <a:spcPct val="150000"/>
                </a:lnSpc>
                <a:buFont typeface="Arial" panose="020B0604020202020204" pitchFamily="34" charset="0"/>
                <a:buChar char="•"/>
              </a:pPr>
              <a:r>
                <a:rPr lang="en-US" altLang="zh-TW" sz="1100" dirty="0">
                  <a:latin typeface="Montserrat" panose="02020500000000000000" charset="0"/>
                </a:rPr>
                <a:t>Spectrum of SPDC</a:t>
              </a:r>
            </a:p>
            <a:p>
              <a:pPr marL="171450" indent="-171450">
                <a:lnSpc>
                  <a:spcPct val="150000"/>
                </a:lnSpc>
                <a:buFont typeface="Arial" panose="020B0604020202020204" pitchFamily="34" charset="0"/>
                <a:buChar char="•"/>
              </a:pPr>
              <a:r>
                <a:rPr lang="en-US" altLang="zh-TW" sz="1100" dirty="0">
                  <a:latin typeface="Montserrat" panose="02020500000000000000" charset="0"/>
                </a:rPr>
                <a:t>Hong-</a:t>
              </a:r>
              <a:r>
                <a:rPr lang="en-US" altLang="zh-TW" sz="1100" dirty="0" err="1">
                  <a:latin typeface="Montserrat" panose="02020500000000000000" charset="0"/>
                </a:rPr>
                <a:t>Ou</a:t>
              </a:r>
              <a:r>
                <a:rPr lang="en-US" altLang="zh-TW" sz="1100" dirty="0">
                  <a:latin typeface="Montserrat" panose="02020500000000000000" charset="0"/>
                </a:rPr>
                <a:t>-Mandel interference</a:t>
              </a:r>
            </a:p>
            <a:p>
              <a:pPr marL="171450" indent="-171450">
                <a:lnSpc>
                  <a:spcPct val="150000"/>
                </a:lnSpc>
                <a:buFont typeface="Arial" panose="020B0604020202020204" pitchFamily="34" charset="0"/>
                <a:buChar char="•"/>
              </a:pPr>
              <a:r>
                <a:rPr lang="en-US" altLang="zh-TW" sz="1100" dirty="0">
                  <a:latin typeface="Montserrat" panose="02020500000000000000" charset="0"/>
                </a:rPr>
                <a:t>Coincidence counts measurement with EO-PMC</a:t>
              </a:r>
              <a:endParaRPr lang="zh-TW" altLang="en-US" sz="1100" dirty="0">
                <a:latin typeface="Montserrat" panose="02020500000000000000" charset="0"/>
              </a:endParaRPr>
            </a:p>
          </p:txBody>
        </p:sp>
        <p:sp>
          <p:nvSpPr>
            <p:cNvPr id="30" name="矩形 29">
              <a:extLst>
                <a:ext uri="{FF2B5EF4-FFF2-40B4-BE49-F238E27FC236}">
                  <a16:creationId xmlns:a16="http://schemas.microsoft.com/office/drawing/2014/main" id="{EAE8B883-1FC8-4984-B3E5-0937137F7974}"/>
                </a:ext>
              </a:extLst>
            </p:cNvPr>
            <p:cNvSpPr/>
            <p:nvPr/>
          </p:nvSpPr>
          <p:spPr>
            <a:xfrm>
              <a:off x="2760132" y="2635640"/>
              <a:ext cx="3710785" cy="979627"/>
            </a:xfrm>
            <a:prstGeom prst="rect">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7420993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582930" y="294118"/>
            <a:ext cx="797814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Coincidence counts measurement with EO-PMC</a:t>
            </a:r>
          </a:p>
        </p:txBody>
      </p:sp>
      <p:grpSp>
        <p:nvGrpSpPr>
          <p:cNvPr id="3" name="群組 2">
            <a:extLst>
              <a:ext uri="{FF2B5EF4-FFF2-40B4-BE49-F238E27FC236}">
                <a16:creationId xmlns:a16="http://schemas.microsoft.com/office/drawing/2014/main" id="{AADD21B3-493E-4A1C-870D-8E9F748CCFAE}"/>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BA96D3E-C16A-41B9-BEFA-DEEFA3266BD2}"/>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C124FC27-1C94-4BDD-AD04-FDFEB8529BFD}"/>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7A01F88-DF2A-4954-BE26-C7F59D35B34B}"/>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8393AB7D-97D8-4416-B8BA-A7F46283660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EDBE20B8-6990-4013-A212-5E7CFD31816B}"/>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BAF782C-A943-4019-BE56-58C5D094A55F}"/>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89" name="文字方塊 88">
            <a:extLst>
              <a:ext uri="{FF2B5EF4-FFF2-40B4-BE49-F238E27FC236}">
                <a16:creationId xmlns:a16="http://schemas.microsoft.com/office/drawing/2014/main" id="{5CEE3FBC-D1FC-4DF9-9118-1EF6562ECE65}"/>
              </a:ext>
            </a:extLst>
          </p:cNvPr>
          <p:cNvSpPr txBox="1"/>
          <p:nvPr/>
        </p:nvSpPr>
        <p:spPr>
          <a:xfrm>
            <a:off x="8585770" y="4631694"/>
            <a:ext cx="319318" cy="261610"/>
          </a:xfrm>
          <a:prstGeom prst="rect">
            <a:avLst/>
          </a:prstGeom>
          <a:noFill/>
        </p:spPr>
        <p:txBody>
          <a:bodyPr wrap="none" rtlCol="0">
            <a:spAutoFit/>
          </a:bodyPr>
          <a:lstStyle/>
          <a:p>
            <a:r>
              <a:rPr lang="en-US" altLang="zh-TW" sz="1100" dirty="0">
                <a:latin typeface="Montserrat" panose="02020500000000000000" charset="0"/>
              </a:rPr>
              <a:t>71</a:t>
            </a:r>
            <a:endParaRPr lang="zh-TW" altLang="en-US" sz="1100" dirty="0">
              <a:latin typeface="Montserrat" panose="02020500000000000000" charset="0"/>
            </a:endParaRPr>
          </a:p>
        </p:txBody>
      </p:sp>
      <p:grpSp>
        <p:nvGrpSpPr>
          <p:cNvPr id="21" name="群組 20">
            <a:extLst>
              <a:ext uri="{FF2B5EF4-FFF2-40B4-BE49-F238E27FC236}">
                <a16:creationId xmlns:a16="http://schemas.microsoft.com/office/drawing/2014/main" id="{33DD92E9-DD20-485B-BA18-D0E8C7D68435}"/>
              </a:ext>
            </a:extLst>
          </p:cNvPr>
          <p:cNvGrpSpPr/>
          <p:nvPr/>
        </p:nvGrpSpPr>
        <p:grpSpPr>
          <a:xfrm>
            <a:off x="719123" y="1241239"/>
            <a:ext cx="7755584" cy="3572186"/>
            <a:chOff x="719123" y="1241239"/>
            <a:chExt cx="7755584" cy="3572186"/>
          </a:xfrm>
        </p:grpSpPr>
        <p:grpSp>
          <p:nvGrpSpPr>
            <p:cNvPr id="11" name="群組 10">
              <a:extLst>
                <a:ext uri="{FF2B5EF4-FFF2-40B4-BE49-F238E27FC236}">
                  <a16:creationId xmlns:a16="http://schemas.microsoft.com/office/drawing/2014/main" id="{93FB1E4C-8391-4B28-98A5-FA9559671429}"/>
                </a:ext>
              </a:extLst>
            </p:cNvPr>
            <p:cNvGrpSpPr/>
            <p:nvPr/>
          </p:nvGrpSpPr>
          <p:grpSpPr>
            <a:xfrm>
              <a:off x="719123" y="1241239"/>
              <a:ext cx="7755584" cy="3572186"/>
              <a:chOff x="719123" y="1241239"/>
              <a:chExt cx="7755584" cy="3572186"/>
            </a:xfrm>
          </p:grpSpPr>
          <p:grpSp>
            <p:nvGrpSpPr>
              <p:cNvPr id="12" name="群組 11">
                <a:extLst>
                  <a:ext uri="{FF2B5EF4-FFF2-40B4-BE49-F238E27FC236}">
                    <a16:creationId xmlns:a16="http://schemas.microsoft.com/office/drawing/2014/main" id="{285B8C4C-C8F2-493F-BE97-3DF22E763375}"/>
                  </a:ext>
                </a:extLst>
              </p:cNvPr>
              <p:cNvGrpSpPr/>
              <p:nvPr/>
            </p:nvGrpSpPr>
            <p:grpSpPr>
              <a:xfrm>
                <a:off x="719123" y="1241239"/>
                <a:ext cx="7755584" cy="3427610"/>
                <a:chOff x="848741" y="1243935"/>
                <a:chExt cx="7755584" cy="3427610"/>
              </a:xfrm>
            </p:grpSpPr>
            <p:cxnSp>
              <p:nvCxnSpPr>
                <p:cNvPr id="27" name="直線單箭頭接點 26">
                  <a:extLst>
                    <a:ext uri="{FF2B5EF4-FFF2-40B4-BE49-F238E27FC236}">
                      <a16:creationId xmlns:a16="http://schemas.microsoft.com/office/drawing/2014/main" id="{1FAA869A-001D-41CF-96FB-9E8417C2E6B4}"/>
                    </a:ext>
                  </a:extLst>
                </p:cNvPr>
                <p:cNvCxnSpPr>
                  <a:cxnSpLocks/>
                </p:cNvCxnSpPr>
                <p:nvPr/>
              </p:nvCxnSpPr>
              <p:spPr>
                <a:xfrm>
                  <a:off x="3760720" y="1625833"/>
                  <a:ext cx="3381504"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E9D1F015-2CBE-4135-BCCF-38966399D961}"/>
                    </a:ext>
                  </a:extLst>
                </p:cNvPr>
                <p:cNvCxnSpPr>
                  <a:cxnSpLocks/>
                </p:cNvCxnSpPr>
                <p:nvPr/>
              </p:nvCxnSpPr>
              <p:spPr>
                <a:xfrm>
                  <a:off x="2894982" y="1625833"/>
                  <a:ext cx="920072"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29" name="群組 28">
                  <a:extLst>
                    <a:ext uri="{FF2B5EF4-FFF2-40B4-BE49-F238E27FC236}">
                      <a16:creationId xmlns:a16="http://schemas.microsoft.com/office/drawing/2014/main" id="{085EBB89-8E1D-4B2A-B285-FCBB8748A04A}"/>
                    </a:ext>
                  </a:extLst>
                </p:cNvPr>
                <p:cNvGrpSpPr/>
                <p:nvPr/>
              </p:nvGrpSpPr>
              <p:grpSpPr>
                <a:xfrm>
                  <a:off x="3830826" y="1243935"/>
                  <a:ext cx="1475084" cy="673053"/>
                  <a:chOff x="3647332" y="536591"/>
                  <a:chExt cx="1475084" cy="673053"/>
                </a:xfrm>
              </p:grpSpPr>
              <p:grpSp>
                <p:nvGrpSpPr>
                  <p:cNvPr id="75" name="群組 74">
                    <a:extLst>
                      <a:ext uri="{FF2B5EF4-FFF2-40B4-BE49-F238E27FC236}">
                        <a16:creationId xmlns:a16="http://schemas.microsoft.com/office/drawing/2014/main" id="{2B837675-8EFF-485C-A926-E95ECC34F85C}"/>
                      </a:ext>
                    </a:extLst>
                  </p:cNvPr>
                  <p:cNvGrpSpPr/>
                  <p:nvPr/>
                </p:nvGrpSpPr>
                <p:grpSpPr>
                  <a:xfrm>
                    <a:off x="3746338" y="536591"/>
                    <a:ext cx="1234424" cy="422306"/>
                    <a:chOff x="4290060" y="1143477"/>
                    <a:chExt cx="1376680" cy="499395"/>
                  </a:xfrm>
                </p:grpSpPr>
                <p:sp>
                  <p:nvSpPr>
                    <p:cNvPr id="77" name="矩形 76">
                      <a:extLst>
                        <a:ext uri="{FF2B5EF4-FFF2-40B4-BE49-F238E27FC236}">
                          <a16:creationId xmlns:a16="http://schemas.microsoft.com/office/drawing/2014/main" id="{C61FEA63-DAE5-4DDD-AD24-FA533043BB6B}"/>
                        </a:ext>
                      </a:extLst>
                    </p:cNvPr>
                    <p:cNvSpPr/>
                    <p:nvPr/>
                  </p:nvSpPr>
                  <p:spPr>
                    <a:xfrm>
                      <a:off x="4290060" y="1547367"/>
                      <a:ext cx="1376680" cy="9550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a:extLst>
                        <a:ext uri="{FF2B5EF4-FFF2-40B4-BE49-F238E27FC236}">
                          <a16:creationId xmlns:a16="http://schemas.microsoft.com/office/drawing/2014/main" id="{E006CADC-E925-469D-A8BC-2650C649DC02}"/>
                        </a:ext>
                      </a:extLst>
                    </p:cNvPr>
                    <p:cNvSpPr/>
                    <p:nvPr/>
                  </p:nvSpPr>
                  <p:spPr>
                    <a:xfrm>
                      <a:off x="429006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a:extLst>
                        <a:ext uri="{FF2B5EF4-FFF2-40B4-BE49-F238E27FC236}">
                          <a16:creationId xmlns:a16="http://schemas.microsoft.com/office/drawing/2014/main" id="{4AFD0A98-B677-4F80-AB97-60E3ECE12859}"/>
                        </a:ext>
                      </a:extLst>
                    </p:cNvPr>
                    <p:cNvSpPr/>
                    <p:nvPr/>
                  </p:nvSpPr>
                  <p:spPr>
                    <a:xfrm>
                      <a:off x="4780400" y="1151367"/>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a:extLst>
                        <a:ext uri="{FF2B5EF4-FFF2-40B4-BE49-F238E27FC236}">
                          <a16:creationId xmlns:a16="http://schemas.microsoft.com/office/drawing/2014/main" id="{D18518CA-9276-427B-85D0-9BB1F133AB90}"/>
                        </a:ext>
                      </a:extLst>
                    </p:cNvPr>
                    <p:cNvSpPr/>
                    <p:nvPr/>
                  </p:nvSpPr>
                  <p:spPr>
                    <a:xfrm>
                      <a:off x="5270740" y="1147422"/>
                      <a:ext cx="396000" cy="39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290A1670-A036-4B56-82C3-CFC9451D0963}"/>
                        </a:ext>
                      </a:extLst>
                    </p:cNvPr>
                    <p:cNvSpPr/>
                    <p:nvPr/>
                  </p:nvSpPr>
                  <p:spPr>
                    <a:xfrm>
                      <a:off x="429006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橢圓 81">
                      <a:extLst>
                        <a:ext uri="{FF2B5EF4-FFF2-40B4-BE49-F238E27FC236}">
                          <a16:creationId xmlns:a16="http://schemas.microsoft.com/office/drawing/2014/main" id="{BECD8D4E-8246-4519-A43C-4F6A8F485334}"/>
                        </a:ext>
                      </a:extLst>
                    </p:cNvPr>
                    <p:cNvSpPr/>
                    <p:nvPr/>
                  </p:nvSpPr>
                  <p:spPr>
                    <a:xfrm>
                      <a:off x="4780400" y="1155312"/>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橢圓 82">
                      <a:extLst>
                        <a:ext uri="{FF2B5EF4-FFF2-40B4-BE49-F238E27FC236}">
                          <a16:creationId xmlns:a16="http://schemas.microsoft.com/office/drawing/2014/main" id="{3B9E0E3D-A8EE-4922-9211-11D43FC31B43}"/>
                        </a:ext>
                      </a:extLst>
                    </p:cNvPr>
                    <p:cNvSpPr/>
                    <p:nvPr/>
                  </p:nvSpPr>
                  <p:spPr>
                    <a:xfrm>
                      <a:off x="5270740" y="1143477"/>
                      <a:ext cx="396000" cy="396000"/>
                    </a:xfrm>
                    <a:prstGeom prst="ellipse">
                      <a:avLst/>
                    </a:prstGeom>
                    <a:solidFill>
                      <a:schemeClr val="tx1">
                        <a:lumMod val="65000"/>
                        <a:lumOff val="35000"/>
                      </a:schemeClr>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橢圓 83">
                      <a:extLst>
                        <a:ext uri="{FF2B5EF4-FFF2-40B4-BE49-F238E27FC236}">
                          <a16:creationId xmlns:a16="http://schemas.microsoft.com/office/drawing/2014/main" id="{A13976E6-44D9-4B09-95F8-4157B6769930}"/>
                        </a:ext>
                      </a:extLst>
                    </p:cNvPr>
                    <p:cNvSpPr/>
                    <p:nvPr/>
                  </p:nvSpPr>
                  <p:spPr>
                    <a:xfrm>
                      <a:off x="545074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F30EC61E-DB35-4B06-8F3F-69ADD430A8CD}"/>
                        </a:ext>
                      </a:extLst>
                    </p:cNvPr>
                    <p:cNvSpPr/>
                    <p:nvPr/>
                  </p:nvSpPr>
                  <p:spPr>
                    <a:xfrm>
                      <a:off x="4960400" y="1331367"/>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橢圓 85">
                      <a:extLst>
                        <a:ext uri="{FF2B5EF4-FFF2-40B4-BE49-F238E27FC236}">
                          <a16:creationId xmlns:a16="http://schemas.microsoft.com/office/drawing/2014/main" id="{5E0F9F79-D3BE-4AE8-A7A2-6B1FC3AEAC25}"/>
                        </a:ext>
                      </a:extLst>
                    </p:cNvPr>
                    <p:cNvSpPr/>
                    <p:nvPr/>
                  </p:nvSpPr>
                  <p:spPr>
                    <a:xfrm>
                      <a:off x="4470060" y="1331484"/>
                      <a:ext cx="36000" cy="36000"/>
                    </a:xfrm>
                    <a:prstGeom prst="ellipse">
                      <a:avLst/>
                    </a:prstGeom>
                    <a:solidFill>
                      <a:schemeClr val="bg1"/>
                    </a:solidFill>
                    <a:ln>
                      <a:solidFill>
                        <a:schemeClr val="bg1">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6" name="文字方塊 75">
                    <a:extLst>
                      <a:ext uri="{FF2B5EF4-FFF2-40B4-BE49-F238E27FC236}">
                        <a16:creationId xmlns:a16="http://schemas.microsoft.com/office/drawing/2014/main" id="{DFD0B9F6-40E0-484C-9777-2A34487DFD2C}"/>
                      </a:ext>
                    </a:extLst>
                  </p:cNvPr>
                  <p:cNvSpPr txBox="1"/>
                  <p:nvPr/>
                </p:nvSpPr>
                <p:spPr>
                  <a:xfrm>
                    <a:off x="3647332" y="978812"/>
                    <a:ext cx="1475084"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Polarization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sp>
              <p:nvSpPr>
                <p:cNvPr id="30" name="矩形 29">
                  <a:extLst>
                    <a:ext uri="{FF2B5EF4-FFF2-40B4-BE49-F238E27FC236}">
                      <a16:creationId xmlns:a16="http://schemas.microsoft.com/office/drawing/2014/main" id="{6226CF62-62D5-4871-8290-66353A110F44}"/>
                    </a:ext>
                  </a:extLst>
                </p:cNvPr>
                <p:cNvSpPr/>
                <p:nvPr/>
              </p:nvSpPr>
              <p:spPr>
                <a:xfrm>
                  <a:off x="848741" y="1335360"/>
                  <a:ext cx="2100200" cy="549103"/>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Mongolian Baiti" panose="03000500000000000000" pitchFamily="66" charset="0"/>
                    </a:rPr>
                    <a:t>784.5 nm</a:t>
                  </a:r>
                </a:p>
                <a:p>
                  <a:pPr algn="ctr"/>
                  <a:r>
                    <a:rPr lang="en-US" altLang="zh-TW" sz="900" b="1" dirty="0">
                      <a:solidFill>
                        <a:schemeClr val="tx1"/>
                      </a:solidFill>
                      <a:latin typeface="Montserrat" panose="02020500000000000000" charset="0"/>
                      <a:cs typeface="Mongolian Baiti" panose="03000500000000000000" pitchFamily="66" charset="0"/>
                    </a:rPr>
                    <a:t>Volume-Holographic-Grating- (VHG) Stabilized SF Lasers</a:t>
                  </a:r>
                </a:p>
              </p:txBody>
            </p:sp>
            <p:cxnSp>
              <p:nvCxnSpPr>
                <p:cNvPr id="31" name="直線單箭頭接點 30">
                  <a:extLst>
                    <a:ext uri="{FF2B5EF4-FFF2-40B4-BE49-F238E27FC236}">
                      <a16:creationId xmlns:a16="http://schemas.microsoft.com/office/drawing/2014/main" id="{FA8AACBD-C5EB-4921-A162-CFD1DC19A880}"/>
                    </a:ext>
                  </a:extLst>
                </p:cNvPr>
                <p:cNvCxnSpPr>
                  <a:cxnSpLocks/>
                </p:cNvCxnSpPr>
                <p:nvPr/>
              </p:nvCxnSpPr>
              <p:spPr>
                <a:xfrm flipH="1">
                  <a:off x="4724584" y="2197573"/>
                  <a:ext cx="2409958"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3AA1052E-7D6A-426F-91A8-09873DB2C17B}"/>
                    </a:ext>
                  </a:extLst>
                </p:cNvPr>
                <p:cNvCxnSpPr>
                  <a:cxnSpLocks/>
                </p:cNvCxnSpPr>
                <p:nvPr/>
              </p:nvCxnSpPr>
              <p:spPr>
                <a:xfrm>
                  <a:off x="1566795" y="2199470"/>
                  <a:ext cx="3264070" cy="5"/>
                </a:xfrm>
                <a:prstGeom prst="line">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33" name="右中括弧 32">
                  <a:extLst>
                    <a:ext uri="{FF2B5EF4-FFF2-40B4-BE49-F238E27FC236}">
                      <a16:creationId xmlns:a16="http://schemas.microsoft.com/office/drawing/2014/main" id="{352AAFD6-D60C-4230-8FEB-54B731CD2006}"/>
                    </a:ext>
                  </a:extLst>
                </p:cNvPr>
                <p:cNvSpPr/>
                <p:nvPr/>
              </p:nvSpPr>
              <p:spPr>
                <a:xfrm>
                  <a:off x="7134604" y="1625833"/>
                  <a:ext cx="211846" cy="56983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4" name="右中括弧 33">
                  <a:extLst>
                    <a:ext uri="{FF2B5EF4-FFF2-40B4-BE49-F238E27FC236}">
                      <a16:creationId xmlns:a16="http://schemas.microsoft.com/office/drawing/2014/main" id="{4C5F29B7-73A4-4B01-8705-9840E99486FC}"/>
                    </a:ext>
                  </a:extLst>
                </p:cNvPr>
                <p:cNvSpPr/>
                <p:nvPr/>
              </p:nvSpPr>
              <p:spPr>
                <a:xfrm rot="10800000">
                  <a:off x="1377023" y="2199461"/>
                  <a:ext cx="211846" cy="58069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35" name="直線單箭頭接點 34">
                  <a:extLst>
                    <a:ext uri="{FF2B5EF4-FFF2-40B4-BE49-F238E27FC236}">
                      <a16:creationId xmlns:a16="http://schemas.microsoft.com/office/drawing/2014/main" id="{E3789E1B-8585-48B5-8DD9-B11CFBD3B5B8}"/>
                    </a:ext>
                  </a:extLst>
                </p:cNvPr>
                <p:cNvCxnSpPr>
                  <a:cxnSpLocks/>
                </p:cNvCxnSpPr>
                <p:nvPr/>
              </p:nvCxnSpPr>
              <p:spPr>
                <a:xfrm>
                  <a:off x="1593973" y="2780162"/>
                  <a:ext cx="603806" cy="7619"/>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767DDA43-DD12-4AEE-A2AA-4AAA8DF13F67}"/>
                    </a:ext>
                  </a:extLst>
                </p:cNvPr>
                <p:cNvSpPr/>
                <p:nvPr/>
              </p:nvSpPr>
              <p:spPr>
                <a:xfrm rot="5400000">
                  <a:off x="4382734" y="2985389"/>
                  <a:ext cx="826137"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7" name="圖片 36">
                  <a:extLst>
                    <a:ext uri="{FF2B5EF4-FFF2-40B4-BE49-F238E27FC236}">
                      <a16:creationId xmlns:a16="http://schemas.microsoft.com/office/drawing/2014/main" id="{1CEE587D-DFA0-4A6B-AEE6-86FE5AF3BC9C}"/>
                    </a:ext>
                  </a:extLst>
                </p:cNvPr>
                <p:cNvPicPr>
                  <a:picLocks noChangeAspect="1"/>
                </p:cNvPicPr>
                <p:nvPr/>
              </p:nvPicPr>
              <p:blipFill>
                <a:blip r:embed="rId3"/>
                <a:stretch>
                  <a:fillRect/>
                </a:stretch>
              </p:blipFill>
              <p:spPr>
                <a:xfrm>
                  <a:off x="2362897" y="2369839"/>
                  <a:ext cx="857305" cy="755649"/>
                </a:xfrm>
                <a:prstGeom prst="rect">
                  <a:avLst/>
                </a:prstGeom>
              </p:spPr>
            </p:pic>
            <p:sp>
              <p:nvSpPr>
                <p:cNvPr id="38" name="矩形 37">
                  <a:extLst>
                    <a:ext uri="{FF2B5EF4-FFF2-40B4-BE49-F238E27FC236}">
                      <a16:creationId xmlns:a16="http://schemas.microsoft.com/office/drawing/2014/main" id="{5DE55DA7-FBCC-4865-A251-B7F9D3C3EA61}"/>
                    </a:ext>
                  </a:extLst>
                </p:cNvPr>
                <p:cNvSpPr/>
                <p:nvPr/>
              </p:nvSpPr>
              <p:spPr>
                <a:xfrm>
                  <a:off x="3399545" y="2652900"/>
                  <a:ext cx="2160000" cy="1800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流程圖: 換頁接點 38">
                  <a:extLst>
                    <a:ext uri="{FF2B5EF4-FFF2-40B4-BE49-F238E27FC236}">
                      <a16:creationId xmlns:a16="http://schemas.microsoft.com/office/drawing/2014/main" id="{35AC8BB3-CA7E-40DC-8371-C75C18BE1CD7}"/>
                    </a:ext>
                  </a:extLst>
                </p:cNvPr>
                <p:cNvSpPr/>
                <p:nvPr/>
              </p:nvSpPr>
              <p:spPr>
                <a:xfrm rot="16200000">
                  <a:off x="3754831" y="2530078"/>
                  <a:ext cx="345220" cy="419095"/>
                </a:xfrm>
                <a:prstGeom prst="flowChartOffpageConnector">
                  <a:avLst/>
                </a:prstGeom>
                <a:solidFill>
                  <a:schemeClr val="tx1">
                    <a:lumMod val="65000"/>
                    <a:lumOff val="3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A7DB8A95-D13F-4BA4-BD75-8ACA4DC52F1A}"/>
                    </a:ext>
                  </a:extLst>
                </p:cNvPr>
                <p:cNvSpPr/>
                <p:nvPr/>
              </p:nvSpPr>
              <p:spPr>
                <a:xfrm>
                  <a:off x="4581488" y="2505718"/>
                  <a:ext cx="460800" cy="460800"/>
                </a:xfrm>
                <a:prstGeom prst="rect">
                  <a:avLst/>
                </a:prstGeom>
                <a:solidFill>
                  <a:schemeClr val="accent2">
                    <a:lumMod val="20000"/>
                    <a:lumOff val="80000"/>
                    <a:alpha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0" name="直線接點 39">
                  <a:extLst>
                    <a:ext uri="{FF2B5EF4-FFF2-40B4-BE49-F238E27FC236}">
                      <a16:creationId xmlns:a16="http://schemas.microsoft.com/office/drawing/2014/main" id="{2B105759-5718-48BB-9DF1-02789DD4D8FE}"/>
                    </a:ext>
                  </a:extLst>
                </p:cNvPr>
                <p:cNvCxnSpPr>
                  <a:cxnSpLocks/>
                </p:cNvCxnSpPr>
                <p:nvPr/>
              </p:nvCxnSpPr>
              <p:spPr>
                <a:xfrm>
                  <a:off x="4585209" y="2503435"/>
                  <a:ext cx="460800" cy="45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4A802F02-21A6-4FB9-B1C8-86FEA10ED75E}"/>
                    </a:ext>
                  </a:extLst>
                </p:cNvPr>
                <p:cNvSpPr txBox="1"/>
                <p:nvPr/>
              </p:nvSpPr>
              <p:spPr>
                <a:xfrm>
                  <a:off x="4599330" y="2293496"/>
                  <a:ext cx="425116"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PBS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42" name="文字方塊 41">
                  <a:extLst>
                    <a:ext uri="{FF2B5EF4-FFF2-40B4-BE49-F238E27FC236}">
                      <a16:creationId xmlns:a16="http://schemas.microsoft.com/office/drawing/2014/main" id="{AF13080D-E0A1-456B-A167-F3D2F7030E13}"/>
                    </a:ext>
                  </a:extLst>
                </p:cNvPr>
                <p:cNvSpPr txBox="1"/>
                <p:nvPr/>
              </p:nvSpPr>
              <p:spPr>
                <a:xfrm>
                  <a:off x="3539986" y="2932354"/>
                  <a:ext cx="734495"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Objective</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lens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nvGrpSpPr>
                <p:cNvPr id="43" name="群組 42">
                  <a:extLst>
                    <a:ext uri="{FF2B5EF4-FFF2-40B4-BE49-F238E27FC236}">
                      <a16:creationId xmlns:a16="http://schemas.microsoft.com/office/drawing/2014/main" id="{0E1CACEF-706B-4FF1-AFB1-5C41E64DCAFE}"/>
                    </a:ext>
                  </a:extLst>
                </p:cNvPr>
                <p:cNvGrpSpPr/>
                <p:nvPr/>
              </p:nvGrpSpPr>
              <p:grpSpPr>
                <a:xfrm>
                  <a:off x="1885540" y="1998012"/>
                  <a:ext cx="1874231" cy="1158238"/>
                  <a:chOff x="3025266" y="2896631"/>
                  <a:chExt cx="1874231" cy="1158238"/>
                </a:xfrm>
              </p:grpSpPr>
              <p:sp>
                <p:nvSpPr>
                  <p:cNvPr id="72" name="文字方塊 71">
                    <a:extLst>
                      <a:ext uri="{FF2B5EF4-FFF2-40B4-BE49-F238E27FC236}">
                        <a16:creationId xmlns:a16="http://schemas.microsoft.com/office/drawing/2014/main" id="{995DFE9B-AC9E-4CB7-A4FD-BC75E773BE89}"/>
                      </a:ext>
                    </a:extLst>
                  </p:cNvPr>
                  <p:cNvSpPr txBox="1"/>
                  <p:nvPr/>
                </p:nvSpPr>
                <p:spPr>
                  <a:xfrm>
                    <a:off x="3025266" y="2896631"/>
                    <a:ext cx="1874231"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Oven</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(with temperature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73" name="矩形 72">
                    <a:extLst>
                      <a:ext uri="{FF2B5EF4-FFF2-40B4-BE49-F238E27FC236}">
                        <a16:creationId xmlns:a16="http://schemas.microsoft.com/office/drawing/2014/main" id="{3746525F-2C9C-4CB9-A1C1-352223BE980C}"/>
                      </a:ext>
                    </a:extLst>
                  </p:cNvPr>
                  <p:cNvSpPr/>
                  <p:nvPr/>
                </p:nvSpPr>
                <p:spPr>
                  <a:xfrm>
                    <a:off x="3312266" y="3241984"/>
                    <a:ext cx="1229241" cy="81288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4" name="文字方塊 73">
                    <a:extLst>
                      <a:ext uri="{FF2B5EF4-FFF2-40B4-BE49-F238E27FC236}">
                        <a16:creationId xmlns:a16="http://schemas.microsoft.com/office/drawing/2014/main" id="{F1EA5AB8-52A9-48B0-81CE-B222FF3E8B45}"/>
                      </a:ext>
                    </a:extLst>
                  </p:cNvPr>
                  <p:cNvSpPr txBox="1"/>
                  <p:nvPr/>
                </p:nvSpPr>
                <p:spPr>
                  <a:xfrm>
                    <a:off x="3627853" y="3751942"/>
                    <a:ext cx="48603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Chip</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grpSp>
              <p:nvGrpSpPr>
                <p:cNvPr id="45" name="群組 44">
                  <a:extLst>
                    <a:ext uri="{FF2B5EF4-FFF2-40B4-BE49-F238E27FC236}">
                      <a16:creationId xmlns:a16="http://schemas.microsoft.com/office/drawing/2014/main" id="{C6A07C40-C96E-4F0B-A771-9A7D3F7C1C0E}"/>
                    </a:ext>
                  </a:extLst>
                </p:cNvPr>
                <p:cNvGrpSpPr/>
                <p:nvPr/>
              </p:nvGrpSpPr>
              <p:grpSpPr>
                <a:xfrm>
                  <a:off x="5388774" y="2655709"/>
                  <a:ext cx="720468" cy="538049"/>
                  <a:chOff x="6147164" y="2844054"/>
                  <a:chExt cx="720468" cy="538049"/>
                </a:xfrm>
              </p:grpSpPr>
              <p:sp>
                <p:nvSpPr>
                  <p:cNvPr id="70" name="矩形 69">
                    <a:extLst>
                      <a:ext uri="{FF2B5EF4-FFF2-40B4-BE49-F238E27FC236}">
                        <a16:creationId xmlns:a16="http://schemas.microsoft.com/office/drawing/2014/main" id="{50E233AF-7E1B-48F0-BBF5-EB5F90ED69CD}"/>
                      </a:ext>
                    </a:extLst>
                  </p:cNvPr>
                  <p:cNvSpPr/>
                  <p:nvPr/>
                </p:nvSpPr>
                <p:spPr>
                  <a:xfrm>
                    <a:off x="6147632" y="3205703"/>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1" name="矩形 70">
                    <a:extLst>
                      <a:ext uri="{FF2B5EF4-FFF2-40B4-BE49-F238E27FC236}">
                        <a16:creationId xmlns:a16="http://schemas.microsoft.com/office/drawing/2014/main" id="{19753CD5-4CDC-42E7-AD67-50C05C2B2342}"/>
                      </a:ext>
                    </a:extLst>
                  </p:cNvPr>
                  <p:cNvSpPr/>
                  <p:nvPr/>
                </p:nvSpPr>
                <p:spPr>
                  <a:xfrm rot="5400000">
                    <a:off x="6054665" y="2936553"/>
                    <a:ext cx="361400" cy="176402"/>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46" name="群組 45">
                  <a:extLst>
                    <a:ext uri="{FF2B5EF4-FFF2-40B4-BE49-F238E27FC236}">
                      <a16:creationId xmlns:a16="http://schemas.microsoft.com/office/drawing/2014/main" id="{0D1D6A53-F7BC-46CA-9F77-FF616B0C12AB}"/>
                    </a:ext>
                  </a:extLst>
                </p:cNvPr>
                <p:cNvGrpSpPr/>
                <p:nvPr/>
              </p:nvGrpSpPr>
              <p:grpSpPr>
                <a:xfrm>
                  <a:off x="4707602" y="3486658"/>
                  <a:ext cx="536400" cy="720000"/>
                  <a:chOff x="4468549" y="3036442"/>
                  <a:chExt cx="536400" cy="720000"/>
                </a:xfrm>
              </p:grpSpPr>
              <p:sp>
                <p:nvSpPr>
                  <p:cNvPr id="68" name="矩形 67">
                    <a:extLst>
                      <a:ext uri="{FF2B5EF4-FFF2-40B4-BE49-F238E27FC236}">
                        <a16:creationId xmlns:a16="http://schemas.microsoft.com/office/drawing/2014/main" id="{34E571D4-4E25-48AD-ABE1-0E63E2AE8295}"/>
                      </a:ext>
                    </a:extLst>
                  </p:cNvPr>
                  <p:cNvSpPr/>
                  <p:nvPr/>
                </p:nvSpPr>
                <p:spPr>
                  <a:xfrm rot="5400000">
                    <a:off x="4556749" y="3308242"/>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a:extLst>
                      <a:ext uri="{FF2B5EF4-FFF2-40B4-BE49-F238E27FC236}">
                        <a16:creationId xmlns:a16="http://schemas.microsoft.com/office/drawing/2014/main" id="{AD567B91-8363-46F8-8041-3348719FE865}"/>
                      </a:ext>
                    </a:extLst>
                  </p:cNvPr>
                  <p:cNvSpPr/>
                  <p:nvPr/>
                </p:nvSpPr>
                <p:spPr>
                  <a:xfrm>
                    <a:off x="4468549" y="3036442"/>
                    <a:ext cx="36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7" name="矩形 46">
                  <a:extLst>
                    <a:ext uri="{FF2B5EF4-FFF2-40B4-BE49-F238E27FC236}">
                      <a16:creationId xmlns:a16="http://schemas.microsoft.com/office/drawing/2014/main" id="{99FE531D-D99E-49F9-992D-DD135F8FC25D}"/>
                    </a:ext>
                  </a:extLst>
                </p:cNvPr>
                <p:cNvSpPr/>
                <p:nvPr/>
              </p:nvSpPr>
              <p:spPr>
                <a:xfrm rot="18900000">
                  <a:off x="5370169" y="2971405"/>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矩形 47">
                  <a:extLst>
                    <a:ext uri="{FF2B5EF4-FFF2-40B4-BE49-F238E27FC236}">
                      <a16:creationId xmlns:a16="http://schemas.microsoft.com/office/drawing/2014/main" id="{8AA69C35-4800-44D7-9E35-826394525F36}"/>
                    </a:ext>
                  </a:extLst>
                </p:cNvPr>
                <p:cNvSpPr/>
                <p:nvPr/>
              </p:nvSpPr>
              <p:spPr>
                <a:xfrm rot="18900000">
                  <a:off x="4698796" y="3414785"/>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997ECB2-4AC0-49E8-AD99-3A2FAFEA38E1}"/>
                    </a:ext>
                  </a:extLst>
                </p:cNvPr>
                <p:cNvSpPr/>
                <p:nvPr/>
              </p:nvSpPr>
              <p:spPr>
                <a:xfrm rot="18900000">
                  <a:off x="5542023" y="2465321"/>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8254EEF7-7AEB-48F0-A1A3-59E31033BB8B}"/>
                    </a:ext>
                  </a:extLst>
                </p:cNvPr>
                <p:cNvSpPr/>
                <p:nvPr/>
              </p:nvSpPr>
              <p:spPr>
                <a:xfrm rot="18900000">
                  <a:off x="5213477" y="3286803"/>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1" name="群組 50">
                  <a:extLst>
                    <a:ext uri="{FF2B5EF4-FFF2-40B4-BE49-F238E27FC236}">
                      <a16:creationId xmlns:a16="http://schemas.microsoft.com/office/drawing/2014/main" id="{AD972E11-E5C8-4096-A8B0-CDA0227E8759}"/>
                    </a:ext>
                  </a:extLst>
                </p:cNvPr>
                <p:cNvGrpSpPr/>
                <p:nvPr/>
              </p:nvGrpSpPr>
              <p:grpSpPr>
                <a:xfrm>
                  <a:off x="5155801" y="4126397"/>
                  <a:ext cx="1632275" cy="545148"/>
                  <a:chOff x="5013338" y="5088690"/>
                  <a:chExt cx="1416177" cy="561139"/>
                </a:xfrm>
                <a:effectLst/>
              </p:grpSpPr>
              <p:sp>
                <p:nvSpPr>
                  <p:cNvPr id="66" name="弧形 65">
                    <a:extLst>
                      <a:ext uri="{FF2B5EF4-FFF2-40B4-BE49-F238E27FC236}">
                        <a16:creationId xmlns:a16="http://schemas.microsoft.com/office/drawing/2014/main" id="{2B5A7E00-D3A3-446B-B47A-1D615499264E}"/>
                      </a:ext>
                    </a:extLst>
                  </p:cNvPr>
                  <p:cNvSpPr/>
                  <p:nvPr/>
                </p:nvSpPr>
                <p:spPr>
                  <a:xfrm rot="10554644">
                    <a:off x="5013338" y="5088690"/>
                    <a:ext cx="559335" cy="561139"/>
                  </a:xfrm>
                  <a:prstGeom prst="arc">
                    <a:avLst/>
                  </a:prstGeom>
                  <a:ln w="28575">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67" name="直線單箭頭接點 66">
                    <a:extLst>
                      <a:ext uri="{FF2B5EF4-FFF2-40B4-BE49-F238E27FC236}">
                        <a16:creationId xmlns:a16="http://schemas.microsoft.com/office/drawing/2014/main" id="{013BE1D5-45F3-47F2-9C30-6C8819C419D3}"/>
                      </a:ext>
                    </a:extLst>
                  </p:cNvPr>
                  <p:cNvCxnSpPr>
                    <a:cxnSpLocks/>
                    <a:endCxn id="13" idx="1"/>
                  </p:cNvCxnSpPr>
                  <p:nvPr/>
                </p:nvCxnSpPr>
                <p:spPr>
                  <a:xfrm flipV="1">
                    <a:off x="5263895" y="5648313"/>
                    <a:ext cx="1165620" cy="2"/>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群組 51">
                  <a:extLst>
                    <a:ext uri="{FF2B5EF4-FFF2-40B4-BE49-F238E27FC236}">
                      <a16:creationId xmlns:a16="http://schemas.microsoft.com/office/drawing/2014/main" id="{7D0C9B4B-1353-44B2-90D9-DA8C34138420}"/>
                    </a:ext>
                  </a:extLst>
                </p:cNvPr>
                <p:cNvGrpSpPr/>
                <p:nvPr/>
              </p:nvGrpSpPr>
              <p:grpSpPr>
                <a:xfrm rot="5400000">
                  <a:off x="5047051" y="4162090"/>
                  <a:ext cx="217501" cy="292099"/>
                  <a:chOff x="8991525" y="4409212"/>
                  <a:chExt cx="297255" cy="368068"/>
                </a:xfrm>
                <a:solidFill>
                  <a:schemeClr val="accent4"/>
                </a:solidFill>
              </p:grpSpPr>
              <p:sp>
                <p:nvSpPr>
                  <p:cNvPr id="64" name="矩形 63">
                    <a:extLst>
                      <a:ext uri="{FF2B5EF4-FFF2-40B4-BE49-F238E27FC236}">
                        <a16:creationId xmlns:a16="http://schemas.microsoft.com/office/drawing/2014/main" id="{B9E74CC3-D990-45D0-BE27-F56CF49A0F21}"/>
                      </a:ext>
                    </a:extLst>
                  </p:cNvPr>
                  <p:cNvSpPr/>
                  <p:nvPr/>
                </p:nvSpPr>
                <p:spPr>
                  <a:xfrm>
                    <a:off x="8991525"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流程圖: 延遲 64">
                    <a:extLst>
                      <a:ext uri="{FF2B5EF4-FFF2-40B4-BE49-F238E27FC236}">
                        <a16:creationId xmlns:a16="http://schemas.microsoft.com/office/drawing/2014/main" id="{A9AE7E7D-7839-4935-BA3B-1E6E0A066672}"/>
                      </a:ext>
                    </a:extLst>
                  </p:cNvPr>
                  <p:cNvSpPr/>
                  <p:nvPr/>
                </p:nvSpPr>
                <p:spPr>
                  <a:xfrm>
                    <a:off x="9105897"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3" name="直線單箭頭接點 52">
                  <a:extLst>
                    <a:ext uri="{FF2B5EF4-FFF2-40B4-BE49-F238E27FC236}">
                      <a16:creationId xmlns:a16="http://schemas.microsoft.com/office/drawing/2014/main" id="{84C51276-1CEE-4933-8036-47A490C6B791}"/>
                    </a:ext>
                  </a:extLst>
                </p:cNvPr>
                <p:cNvCxnSpPr>
                  <a:cxnSpLocks/>
                  <a:endCxn id="56" idx="1"/>
                </p:cNvCxnSpPr>
                <p:nvPr/>
              </p:nvCxnSpPr>
              <p:spPr>
                <a:xfrm>
                  <a:off x="6309196" y="3124873"/>
                  <a:ext cx="478881" cy="4034"/>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54" name="群組 53">
                  <a:extLst>
                    <a:ext uri="{FF2B5EF4-FFF2-40B4-BE49-F238E27FC236}">
                      <a16:creationId xmlns:a16="http://schemas.microsoft.com/office/drawing/2014/main" id="{7EB5392A-E635-42E7-9BCB-40481AE56060}"/>
                    </a:ext>
                  </a:extLst>
                </p:cNvPr>
                <p:cNvGrpSpPr/>
                <p:nvPr/>
              </p:nvGrpSpPr>
              <p:grpSpPr>
                <a:xfrm>
                  <a:off x="6093062" y="2965617"/>
                  <a:ext cx="217501" cy="292099"/>
                  <a:chOff x="8991525" y="4409212"/>
                  <a:chExt cx="297255" cy="368068"/>
                </a:xfrm>
                <a:solidFill>
                  <a:schemeClr val="accent4"/>
                </a:solidFill>
              </p:grpSpPr>
              <p:sp>
                <p:nvSpPr>
                  <p:cNvPr id="62" name="矩形 61">
                    <a:extLst>
                      <a:ext uri="{FF2B5EF4-FFF2-40B4-BE49-F238E27FC236}">
                        <a16:creationId xmlns:a16="http://schemas.microsoft.com/office/drawing/2014/main" id="{3E6F05A3-17B0-4FC3-B69D-51AD95BA0F45}"/>
                      </a:ext>
                    </a:extLst>
                  </p:cNvPr>
                  <p:cNvSpPr/>
                  <p:nvPr/>
                </p:nvSpPr>
                <p:spPr>
                  <a:xfrm>
                    <a:off x="8991525"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流程圖: 延遲 62">
                    <a:extLst>
                      <a:ext uri="{FF2B5EF4-FFF2-40B4-BE49-F238E27FC236}">
                        <a16:creationId xmlns:a16="http://schemas.microsoft.com/office/drawing/2014/main" id="{DC6ABEE3-F5B8-4ECB-BB5B-07CB30F49AD5}"/>
                      </a:ext>
                    </a:extLst>
                  </p:cNvPr>
                  <p:cNvSpPr/>
                  <p:nvPr/>
                </p:nvSpPr>
                <p:spPr>
                  <a:xfrm>
                    <a:off x="9105897"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5" name="群組 54">
                  <a:extLst>
                    <a:ext uri="{FF2B5EF4-FFF2-40B4-BE49-F238E27FC236}">
                      <a16:creationId xmlns:a16="http://schemas.microsoft.com/office/drawing/2014/main" id="{4366D043-D3F5-4E9C-8BF5-99AF7F28BFAE}"/>
                    </a:ext>
                  </a:extLst>
                </p:cNvPr>
                <p:cNvGrpSpPr/>
                <p:nvPr/>
              </p:nvGrpSpPr>
              <p:grpSpPr>
                <a:xfrm>
                  <a:off x="6400745" y="2615201"/>
                  <a:ext cx="2203580" cy="2054871"/>
                  <a:chOff x="6582144" y="2462904"/>
                  <a:chExt cx="2203580" cy="2054871"/>
                </a:xfrm>
              </p:grpSpPr>
              <p:sp>
                <p:nvSpPr>
                  <p:cNvPr id="56" name="流程圖: 延遲 55">
                    <a:extLst>
                      <a:ext uri="{FF2B5EF4-FFF2-40B4-BE49-F238E27FC236}">
                        <a16:creationId xmlns:a16="http://schemas.microsoft.com/office/drawing/2014/main" id="{6E1BC4A6-B799-47D4-AFE8-546005950F43}"/>
                      </a:ext>
                    </a:extLst>
                  </p:cNvPr>
                  <p:cNvSpPr/>
                  <p:nvPr/>
                </p:nvSpPr>
                <p:spPr>
                  <a:xfrm>
                    <a:off x="6969476" y="2830560"/>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57" name="群組 56">
                    <a:extLst>
                      <a:ext uri="{FF2B5EF4-FFF2-40B4-BE49-F238E27FC236}">
                        <a16:creationId xmlns:a16="http://schemas.microsoft.com/office/drawing/2014/main" id="{7EEB078F-FB76-4069-A8FB-1EB8D55F35F2}"/>
                      </a:ext>
                    </a:extLst>
                  </p:cNvPr>
                  <p:cNvGrpSpPr/>
                  <p:nvPr/>
                </p:nvGrpSpPr>
                <p:grpSpPr>
                  <a:xfrm>
                    <a:off x="6582144" y="2462904"/>
                    <a:ext cx="2203580" cy="2054871"/>
                    <a:chOff x="7096079" y="2432440"/>
                    <a:chExt cx="2203580" cy="2054871"/>
                  </a:xfrm>
                </p:grpSpPr>
                <p:cxnSp>
                  <p:nvCxnSpPr>
                    <p:cNvPr id="58" name="直線接點 57">
                      <a:extLst>
                        <a:ext uri="{FF2B5EF4-FFF2-40B4-BE49-F238E27FC236}">
                          <a16:creationId xmlns:a16="http://schemas.microsoft.com/office/drawing/2014/main" id="{02DA66C9-3B0F-4B37-9A72-3323D59DD142}"/>
                        </a:ext>
                      </a:extLst>
                    </p:cNvPr>
                    <p:cNvCxnSpPr>
                      <a:cxnSpLocks/>
                    </p:cNvCxnSpPr>
                    <p:nvPr/>
                  </p:nvCxnSpPr>
                  <p:spPr>
                    <a:xfrm>
                      <a:off x="8017510" y="3656146"/>
                      <a:ext cx="3187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357F11B9-7325-446A-803F-2519670F9D61}"/>
                        </a:ext>
                      </a:extLst>
                    </p:cNvPr>
                    <p:cNvSpPr/>
                    <p:nvPr/>
                  </p:nvSpPr>
                  <p:spPr>
                    <a:xfrm>
                      <a:off x="8343854" y="3388061"/>
                      <a:ext cx="955805" cy="533282"/>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Times New Roman" panose="02020603050405020304" pitchFamily="18" charset="0"/>
                        </a:rPr>
                        <a:t>Coincidence counter</a:t>
                      </a:r>
                      <a:endParaRPr lang="zh-TW" altLang="en-US" sz="900" b="1" dirty="0">
                        <a:solidFill>
                          <a:schemeClr val="tx1"/>
                        </a:solidFill>
                        <a:latin typeface="Montserrat" panose="02020500000000000000" charset="0"/>
                        <a:cs typeface="Times New Roman" panose="02020603050405020304" pitchFamily="18" charset="0"/>
                      </a:endParaRPr>
                    </a:p>
                  </p:txBody>
                </p:sp>
                <p:sp>
                  <p:nvSpPr>
                    <p:cNvPr id="60" name="文字方塊 59">
                      <a:extLst>
                        <a:ext uri="{FF2B5EF4-FFF2-40B4-BE49-F238E27FC236}">
                          <a16:creationId xmlns:a16="http://schemas.microsoft.com/office/drawing/2014/main" id="{E552A724-6C00-4DE1-B0D0-21235C725325}"/>
                        </a:ext>
                      </a:extLst>
                    </p:cNvPr>
                    <p:cNvSpPr txBox="1"/>
                    <p:nvPr/>
                  </p:nvSpPr>
                  <p:spPr>
                    <a:xfrm>
                      <a:off x="7096079" y="2432440"/>
                      <a:ext cx="1043876"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Single-photon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detector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61" name="右中括弧 60">
                      <a:extLst>
                        <a:ext uri="{FF2B5EF4-FFF2-40B4-BE49-F238E27FC236}">
                          <a16:creationId xmlns:a16="http://schemas.microsoft.com/office/drawing/2014/main" id="{7CC290F4-8D53-409A-8A54-4BDFECB47979}"/>
                        </a:ext>
                      </a:extLst>
                    </p:cNvPr>
                    <p:cNvSpPr/>
                    <p:nvPr/>
                  </p:nvSpPr>
                  <p:spPr>
                    <a:xfrm>
                      <a:off x="7751834" y="2937494"/>
                      <a:ext cx="255299" cy="1549817"/>
                    </a:xfrm>
                    <a:prstGeom prst="rightBracket">
                      <a:avLst>
                        <a:gd name="adj" fmla="val 88455"/>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grpSp>
          </p:grpSp>
          <p:sp>
            <p:nvSpPr>
              <p:cNvPr id="13" name="流程圖: 延遲 12">
                <a:extLst>
                  <a:ext uri="{FF2B5EF4-FFF2-40B4-BE49-F238E27FC236}">
                    <a16:creationId xmlns:a16="http://schemas.microsoft.com/office/drawing/2014/main" id="{76D79BB1-3E80-4355-AB37-7B56362E50B0}"/>
                  </a:ext>
                </a:extLst>
              </p:cNvPr>
              <p:cNvSpPr/>
              <p:nvPr/>
            </p:nvSpPr>
            <p:spPr>
              <a:xfrm>
                <a:off x="6658458" y="4521326"/>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14" name="群組 13">
                <a:extLst>
                  <a:ext uri="{FF2B5EF4-FFF2-40B4-BE49-F238E27FC236}">
                    <a16:creationId xmlns:a16="http://schemas.microsoft.com/office/drawing/2014/main" id="{8C77EEFD-1854-4081-B904-F57CA6DE3C46}"/>
                  </a:ext>
                </a:extLst>
              </p:cNvPr>
              <p:cNvGrpSpPr/>
              <p:nvPr/>
            </p:nvGrpSpPr>
            <p:grpSpPr>
              <a:xfrm>
                <a:off x="5428110" y="4542675"/>
                <a:ext cx="777614" cy="249399"/>
                <a:chOff x="3435647" y="4113835"/>
                <a:chExt cx="777614" cy="249399"/>
              </a:xfrm>
            </p:grpSpPr>
            <p:sp>
              <p:nvSpPr>
                <p:cNvPr id="23" name="矩形 22">
                  <a:extLst>
                    <a:ext uri="{FF2B5EF4-FFF2-40B4-BE49-F238E27FC236}">
                      <a16:creationId xmlns:a16="http://schemas.microsoft.com/office/drawing/2014/main" id="{775B3A90-732A-458D-AF53-E1B55761A7D4}"/>
                    </a:ext>
                  </a:extLst>
                </p:cNvPr>
                <p:cNvSpPr/>
                <p:nvPr/>
              </p:nvSpPr>
              <p:spPr>
                <a:xfrm>
                  <a:off x="3542528" y="4113835"/>
                  <a:ext cx="423817" cy="249399"/>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05960881-668D-4F8B-BFB6-CC22BE24C616}"/>
                    </a:ext>
                  </a:extLst>
                </p:cNvPr>
                <p:cNvSpPr/>
                <p:nvPr/>
              </p:nvSpPr>
              <p:spPr>
                <a:xfrm>
                  <a:off x="3435647" y="4191891"/>
                  <a:ext cx="98932" cy="93288"/>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916668A7-6021-4007-9646-CCF34843D6ED}"/>
                    </a:ext>
                  </a:extLst>
                </p:cNvPr>
                <p:cNvSpPr/>
                <p:nvPr/>
              </p:nvSpPr>
              <p:spPr>
                <a:xfrm>
                  <a:off x="3973756" y="4191891"/>
                  <a:ext cx="98932" cy="93288"/>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A4BC6630-CCA0-4024-8AC2-D04729814458}"/>
                    </a:ext>
                  </a:extLst>
                </p:cNvPr>
                <p:cNvSpPr/>
                <p:nvPr/>
              </p:nvSpPr>
              <p:spPr>
                <a:xfrm rot="5400000">
                  <a:off x="4070918" y="4220892"/>
                  <a:ext cx="45719" cy="238966"/>
                </a:xfrm>
                <a:prstGeom prst="rect">
                  <a:avLst/>
                </a:prstGeom>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a:extLst>
                  <a:ext uri="{FF2B5EF4-FFF2-40B4-BE49-F238E27FC236}">
                    <a16:creationId xmlns:a16="http://schemas.microsoft.com/office/drawing/2014/main" id="{6B9339F9-BC3C-4068-B6E7-F46F46CA026A}"/>
                  </a:ext>
                </a:extLst>
              </p:cNvPr>
              <p:cNvSpPr txBox="1"/>
              <p:nvPr/>
            </p:nvSpPr>
            <p:spPr>
              <a:xfrm>
                <a:off x="5282671" y="4164456"/>
                <a:ext cx="1039066"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Tunable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bandpass fiber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6" name="矩形 15">
                <a:extLst>
                  <a:ext uri="{FF2B5EF4-FFF2-40B4-BE49-F238E27FC236}">
                    <a16:creationId xmlns:a16="http://schemas.microsoft.com/office/drawing/2014/main" id="{47754BF8-AC24-4F6C-8A0E-F057ABC3BCAE}"/>
                  </a:ext>
                </a:extLst>
              </p:cNvPr>
              <p:cNvSpPr/>
              <p:nvPr/>
            </p:nvSpPr>
            <p:spPr>
              <a:xfrm>
                <a:off x="4206008" y="2495057"/>
                <a:ext cx="61050" cy="459475"/>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43B8FD99-3E39-43B7-94B8-36A487965C10}"/>
                  </a:ext>
                </a:extLst>
              </p:cNvPr>
              <p:cNvSpPr txBox="1"/>
              <p:nvPr/>
            </p:nvSpPr>
            <p:spPr>
              <a:xfrm>
                <a:off x="3961614" y="2130864"/>
                <a:ext cx="575799"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Pump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8" name="文字方塊 17">
                <a:extLst>
                  <a:ext uri="{FF2B5EF4-FFF2-40B4-BE49-F238E27FC236}">
                    <a16:creationId xmlns:a16="http://schemas.microsoft.com/office/drawing/2014/main" id="{73AB386C-3993-48DC-8E8A-5FB8D0ED8820}"/>
                  </a:ext>
                </a:extLst>
              </p:cNvPr>
              <p:cNvSpPr txBox="1"/>
              <p:nvPr/>
            </p:nvSpPr>
            <p:spPr>
              <a:xfrm>
                <a:off x="5296231" y="2364648"/>
                <a:ext cx="593432"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Mirrors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9" name="文字方塊 18">
                <a:extLst>
                  <a:ext uri="{FF2B5EF4-FFF2-40B4-BE49-F238E27FC236}">
                    <a16:creationId xmlns:a16="http://schemas.microsoft.com/office/drawing/2014/main" id="{E2E09872-8257-47FF-BF41-D713C9A095F6}"/>
                  </a:ext>
                </a:extLst>
              </p:cNvPr>
              <p:cNvSpPr txBox="1"/>
              <p:nvPr/>
            </p:nvSpPr>
            <p:spPr>
              <a:xfrm>
                <a:off x="4065629" y="4165443"/>
                <a:ext cx="872355"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Collimators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0" name="文字方塊 19">
                <a:extLst>
                  <a:ext uri="{FF2B5EF4-FFF2-40B4-BE49-F238E27FC236}">
                    <a16:creationId xmlns:a16="http://schemas.microsoft.com/office/drawing/2014/main" id="{531F59F9-5B89-4F70-B2AF-6D3188684B5C}"/>
                  </a:ext>
                </a:extLst>
              </p:cNvPr>
              <p:cNvSpPr txBox="1"/>
              <p:nvPr/>
            </p:nvSpPr>
            <p:spPr>
              <a:xfrm>
                <a:off x="3792028" y="3889619"/>
                <a:ext cx="1045479"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Bandpass 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sp>
          <p:nvSpPr>
            <p:cNvPr id="90" name="矩形 89">
              <a:extLst>
                <a:ext uri="{FF2B5EF4-FFF2-40B4-BE49-F238E27FC236}">
                  <a16:creationId xmlns:a16="http://schemas.microsoft.com/office/drawing/2014/main" id="{EDC41D0C-6327-477D-9B33-ED9E6E2C2B2E}"/>
                </a:ext>
              </a:extLst>
            </p:cNvPr>
            <p:cNvSpPr/>
            <p:nvPr/>
          </p:nvSpPr>
          <p:spPr>
            <a:xfrm rot="5400000">
              <a:off x="4984339" y="3814833"/>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2" name="矩形 91">
              <a:extLst>
                <a:ext uri="{FF2B5EF4-FFF2-40B4-BE49-F238E27FC236}">
                  <a16:creationId xmlns:a16="http://schemas.microsoft.com/office/drawing/2014/main" id="{4D0BE0DE-D0CC-4CF8-B172-751EB43DC54D}"/>
                </a:ext>
              </a:extLst>
            </p:cNvPr>
            <p:cNvSpPr/>
            <p:nvPr/>
          </p:nvSpPr>
          <p:spPr>
            <a:xfrm>
              <a:off x="5724847" y="2927060"/>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96" name="群組 95">
              <a:extLst>
                <a:ext uri="{FF2B5EF4-FFF2-40B4-BE49-F238E27FC236}">
                  <a16:creationId xmlns:a16="http://schemas.microsoft.com/office/drawing/2014/main" id="{C8619D4C-5EBC-4D27-83BF-F8019FF239A1}"/>
                </a:ext>
              </a:extLst>
            </p:cNvPr>
            <p:cNvGrpSpPr/>
            <p:nvPr/>
          </p:nvGrpSpPr>
          <p:grpSpPr>
            <a:xfrm>
              <a:off x="2091049" y="2532615"/>
              <a:ext cx="1125878" cy="1542272"/>
              <a:chOff x="2091049" y="2532615"/>
              <a:chExt cx="1125878" cy="1542272"/>
            </a:xfrm>
          </p:grpSpPr>
          <p:sp>
            <p:nvSpPr>
              <p:cNvPr id="2" name="手繪多邊形: 圖案 1">
                <a:extLst>
                  <a:ext uri="{FF2B5EF4-FFF2-40B4-BE49-F238E27FC236}">
                    <a16:creationId xmlns:a16="http://schemas.microsoft.com/office/drawing/2014/main" id="{CC932C66-E481-4D2D-869A-A8430B7AD21C}"/>
                  </a:ext>
                </a:extLst>
              </p:cNvPr>
              <p:cNvSpPr/>
              <p:nvPr/>
            </p:nvSpPr>
            <p:spPr>
              <a:xfrm>
                <a:off x="2114829" y="2532615"/>
                <a:ext cx="312141" cy="951347"/>
              </a:xfrm>
              <a:custGeom>
                <a:avLst/>
                <a:gdLst>
                  <a:gd name="connsiteX0" fmla="*/ 312141 w 312141"/>
                  <a:gd name="connsiteY0" fmla="*/ 1035 h 740175"/>
                  <a:gd name="connsiteX1" fmla="*/ 30201 w 312141"/>
                  <a:gd name="connsiteY1" fmla="*/ 35325 h 740175"/>
                  <a:gd name="connsiteX2" fmla="*/ 26391 w 312141"/>
                  <a:gd name="connsiteY2" fmla="*/ 233445 h 740175"/>
                  <a:gd name="connsiteX3" fmla="*/ 194031 w 312141"/>
                  <a:gd name="connsiteY3" fmla="*/ 401085 h 740175"/>
                  <a:gd name="connsiteX4" fmla="*/ 304521 w 312141"/>
                  <a:gd name="connsiteY4" fmla="*/ 740175 h 74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41" h="740175">
                    <a:moveTo>
                      <a:pt x="312141" y="1035"/>
                    </a:moveTo>
                    <a:cubicBezTo>
                      <a:pt x="194983" y="-1188"/>
                      <a:pt x="77826" y="-3410"/>
                      <a:pt x="30201" y="35325"/>
                    </a:cubicBezTo>
                    <a:cubicBezTo>
                      <a:pt x="-17424" y="74060"/>
                      <a:pt x="-914" y="172485"/>
                      <a:pt x="26391" y="233445"/>
                    </a:cubicBezTo>
                    <a:cubicBezTo>
                      <a:pt x="53696" y="294405"/>
                      <a:pt x="147676" y="316630"/>
                      <a:pt x="194031" y="401085"/>
                    </a:cubicBezTo>
                    <a:cubicBezTo>
                      <a:pt x="240386" y="485540"/>
                      <a:pt x="272453" y="612857"/>
                      <a:pt x="304521" y="740175"/>
                    </a:cubicBezTo>
                  </a:path>
                </a:pathLst>
              </a:custGeom>
              <a:noFill/>
              <a:ln>
                <a:solidFill>
                  <a:schemeClr val="tx1"/>
                </a:solidFill>
              </a:ln>
              <a:effectLst>
                <a:glow rad="63500">
                  <a:schemeClr val="accent6">
                    <a:lumMod val="5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手繪多邊形: 圖案 90">
                <a:extLst>
                  <a:ext uri="{FF2B5EF4-FFF2-40B4-BE49-F238E27FC236}">
                    <a16:creationId xmlns:a16="http://schemas.microsoft.com/office/drawing/2014/main" id="{425E4A22-30B0-4FBA-970A-1CEE751A2B66}"/>
                  </a:ext>
                </a:extLst>
              </p:cNvPr>
              <p:cNvSpPr/>
              <p:nvPr/>
            </p:nvSpPr>
            <p:spPr>
              <a:xfrm flipH="1">
                <a:off x="2894743" y="2534720"/>
                <a:ext cx="280721" cy="949242"/>
              </a:xfrm>
              <a:custGeom>
                <a:avLst/>
                <a:gdLst>
                  <a:gd name="connsiteX0" fmla="*/ 312141 w 312141"/>
                  <a:gd name="connsiteY0" fmla="*/ 1035 h 740175"/>
                  <a:gd name="connsiteX1" fmla="*/ 30201 w 312141"/>
                  <a:gd name="connsiteY1" fmla="*/ 35325 h 740175"/>
                  <a:gd name="connsiteX2" fmla="*/ 26391 w 312141"/>
                  <a:gd name="connsiteY2" fmla="*/ 233445 h 740175"/>
                  <a:gd name="connsiteX3" fmla="*/ 194031 w 312141"/>
                  <a:gd name="connsiteY3" fmla="*/ 401085 h 740175"/>
                  <a:gd name="connsiteX4" fmla="*/ 304521 w 312141"/>
                  <a:gd name="connsiteY4" fmla="*/ 740175 h 74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41" h="740175">
                    <a:moveTo>
                      <a:pt x="312141" y="1035"/>
                    </a:moveTo>
                    <a:cubicBezTo>
                      <a:pt x="194983" y="-1188"/>
                      <a:pt x="77826" y="-3410"/>
                      <a:pt x="30201" y="35325"/>
                    </a:cubicBezTo>
                    <a:cubicBezTo>
                      <a:pt x="-17424" y="74060"/>
                      <a:pt x="-914" y="172485"/>
                      <a:pt x="26391" y="233445"/>
                    </a:cubicBezTo>
                    <a:cubicBezTo>
                      <a:pt x="53696" y="294405"/>
                      <a:pt x="147676" y="316630"/>
                      <a:pt x="194031" y="401085"/>
                    </a:cubicBezTo>
                    <a:cubicBezTo>
                      <a:pt x="240386" y="485540"/>
                      <a:pt x="272453" y="612857"/>
                      <a:pt x="304521" y="740175"/>
                    </a:cubicBezTo>
                  </a:path>
                </a:pathLst>
              </a:custGeom>
              <a:noFill/>
              <a:ln>
                <a:solidFill>
                  <a:srgbClr val="E34A2B"/>
                </a:solidFill>
              </a:ln>
              <a:effectLst>
                <a:glow rad="63500">
                  <a:schemeClr val="tx2">
                    <a:lumMod val="40000"/>
                    <a:lumOff val="6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7" name="群組 86">
                <a:extLst>
                  <a:ext uri="{FF2B5EF4-FFF2-40B4-BE49-F238E27FC236}">
                    <a16:creationId xmlns:a16="http://schemas.microsoft.com/office/drawing/2014/main" id="{DC3E16E4-B31A-4BAC-9992-2AF76A8442FE}"/>
                  </a:ext>
                </a:extLst>
              </p:cNvPr>
              <p:cNvGrpSpPr/>
              <p:nvPr/>
            </p:nvGrpSpPr>
            <p:grpSpPr>
              <a:xfrm>
                <a:off x="2091049" y="3359324"/>
                <a:ext cx="1125878" cy="715563"/>
                <a:chOff x="2091049" y="3359324"/>
                <a:chExt cx="1125878" cy="715563"/>
              </a:xfrm>
            </p:grpSpPr>
            <p:sp>
              <p:nvSpPr>
                <p:cNvPr id="88" name="矩形 87">
                  <a:extLst>
                    <a:ext uri="{FF2B5EF4-FFF2-40B4-BE49-F238E27FC236}">
                      <a16:creationId xmlns:a16="http://schemas.microsoft.com/office/drawing/2014/main" id="{703A4D7F-5087-4B05-BC06-B34EDD3CA743}"/>
                    </a:ext>
                  </a:extLst>
                </p:cNvPr>
                <p:cNvSpPr/>
                <p:nvPr/>
              </p:nvSpPr>
              <p:spPr>
                <a:xfrm>
                  <a:off x="2091049" y="3444967"/>
                  <a:ext cx="1125878" cy="629920"/>
                </a:xfrm>
                <a:prstGeom prst="rect">
                  <a:avLst/>
                </a:prstGeom>
                <a:solidFill>
                  <a:schemeClr val="tx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tx1"/>
                      </a:solidFill>
                      <a:latin typeface="Montserrat" panose="02020500000000000000" charset="0"/>
                      <a:cs typeface="Times New Roman" panose="02020603050405020304" pitchFamily="18" charset="0"/>
                    </a:rPr>
                    <a:t>Power supply</a:t>
                  </a:r>
                  <a:endParaRPr lang="zh-TW" altLang="en-US" sz="1000" b="1" dirty="0">
                    <a:solidFill>
                      <a:schemeClr val="tx1"/>
                    </a:solidFill>
                    <a:latin typeface="Montserrat" panose="02020500000000000000" charset="0"/>
                    <a:cs typeface="Times New Roman" panose="02020603050405020304" pitchFamily="18" charset="0"/>
                  </a:endParaRPr>
                </a:p>
              </p:txBody>
            </p:sp>
            <p:sp>
              <p:nvSpPr>
                <p:cNvPr id="93" name="文字方塊 92">
                  <a:extLst>
                    <a:ext uri="{FF2B5EF4-FFF2-40B4-BE49-F238E27FC236}">
                      <a16:creationId xmlns:a16="http://schemas.microsoft.com/office/drawing/2014/main" id="{D2B2B5CB-5ABD-4505-979C-942D6DB10A69}"/>
                    </a:ext>
                  </a:extLst>
                </p:cNvPr>
                <p:cNvSpPr txBox="1"/>
                <p:nvPr/>
              </p:nvSpPr>
              <p:spPr>
                <a:xfrm>
                  <a:off x="2756270" y="3411973"/>
                  <a:ext cx="277640" cy="276999"/>
                </a:xfrm>
                <a:prstGeom prst="rect">
                  <a:avLst/>
                </a:prstGeom>
                <a:noFill/>
              </p:spPr>
              <p:txBody>
                <a:bodyPr wrap="none" rtlCol="0">
                  <a:spAutoFit/>
                </a:bodyPr>
                <a:lstStyle/>
                <a:p>
                  <a:r>
                    <a:rPr lang="en-US" altLang="zh-TW" sz="1200" b="1" dirty="0">
                      <a:latin typeface="Montserrat" panose="02020500000000000000" charset="0"/>
                    </a:rPr>
                    <a:t>+</a:t>
                  </a:r>
                  <a:endParaRPr lang="zh-TW" altLang="en-US" sz="1200" b="1" dirty="0">
                    <a:latin typeface="Montserrat" panose="02020500000000000000" charset="0"/>
                  </a:endParaRPr>
                </a:p>
              </p:txBody>
            </p:sp>
            <p:sp>
              <p:nvSpPr>
                <p:cNvPr id="95" name="文字方塊 94">
                  <a:extLst>
                    <a:ext uri="{FF2B5EF4-FFF2-40B4-BE49-F238E27FC236}">
                      <a16:creationId xmlns:a16="http://schemas.microsoft.com/office/drawing/2014/main" id="{C252C247-C5F1-4828-8566-A7BB4673F8E2}"/>
                    </a:ext>
                  </a:extLst>
                </p:cNvPr>
                <p:cNvSpPr txBox="1"/>
                <p:nvPr/>
              </p:nvSpPr>
              <p:spPr>
                <a:xfrm>
                  <a:off x="2310039" y="3359324"/>
                  <a:ext cx="263214" cy="338554"/>
                </a:xfrm>
                <a:prstGeom prst="rect">
                  <a:avLst/>
                </a:prstGeom>
                <a:noFill/>
              </p:spPr>
              <p:txBody>
                <a:bodyPr wrap="none" rtlCol="0">
                  <a:spAutoFit/>
                </a:bodyPr>
                <a:lstStyle/>
                <a:p>
                  <a:r>
                    <a:rPr lang="en-US" altLang="zh-TW" sz="1600" b="1" dirty="0">
                      <a:latin typeface="Montserrat" panose="02020500000000000000" charset="0"/>
                    </a:rPr>
                    <a:t>-</a:t>
                  </a:r>
                  <a:endParaRPr lang="zh-TW" altLang="en-US" sz="1600" b="1" dirty="0">
                    <a:latin typeface="Montserrat" panose="02020500000000000000" charset="0"/>
                  </a:endParaRPr>
                </a:p>
              </p:txBody>
            </p:sp>
          </p:grpSp>
        </p:grpSp>
        <p:sp>
          <p:nvSpPr>
            <p:cNvPr id="94" name="文字方塊 93">
              <a:extLst>
                <a:ext uri="{FF2B5EF4-FFF2-40B4-BE49-F238E27FC236}">
                  <a16:creationId xmlns:a16="http://schemas.microsoft.com/office/drawing/2014/main" id="{19888FD8-D7BD-4949-9346-3505764D0E12}"/>
                </a:ext>
              </a:extLst>
            </p:cNvPr>
            <p:cNvSpPr txBox="1"/>
            <p:nvPr/>
          </p:nvSpPr>
          <p:spPr>
            <a:xfrm>
              <a:off x="6626599" y="3025408"/>
              <a:ext cx="332142" cy="230832"/>
            </a:xfrm>
            <a:prstGeom prst="rect">
              <a:avLst/>
            </a:prstGeom>
            <a:noFill/>
          </p:spPr>
          <p:txBody>
            <a:bodyPr wrap="none" rtlCol="0">
              <a:spAutoFit/>
            </a:bodyPr>
            <a:lstStyle/>
            <a:p>
              <a:r>
                <a:rPr lang="en-US" altLang="zh-TW" sz="900" b="1" dirty="0">
                  <a:latin typeface="Montserrat" panose="02020500000000000000" charset="0"/>
                </a:rPr>
                <a:t>TE</a:t>
              </a:r>
              <a:endParaRPr lang="zh-TW" altLang="en-US" sz="900" b="1" dirty="0">
                <a:latin typeface="Montserrat" panose="02020500000000000000" charset="0"/>
              </a:endParaRPr>
            </a:p>
          </p:txBody>
        </p:sp>
        <p:sp>
          <p:nvSpPr>
            <p:cNvPr id="97" name="文字方塊 96">
              <a:extLst>
                <a:ext uri="{FF2B5EF4-FFF2-40B4-BE49-F238E27FC236}">
                  <a16:creationId xmlns:a16="http://schemas.microsoft.com/office/drawing/2014/main" id="{6C87C038-4DC6-4D85-BC7F-AB1787ECDEAA}"/>
                </a:ext>
              </a:extLst>
            </p:cNvPr>
            <p:cNvSpPr txBox="1"/>
            <p:nvPr/>
          </p:nvSpPr>
          <p:spPr>
            <a:xfrm>
              <a:off x="6609767" y="4561242"/>
              <a:ext cx="365806" cy="230832"/>
            </a:xfrm>
            <a:prstGeom prst="rect">
              <a:avLst/>
            </a:prstGeom>
            <a:noFill/>
          </p:spPr>
          <p:txBody>
            <a:bodyPr wrap="none" rtlCol="0">
              <a:spAutoFit/>
            </a:bodyPr>
            <a:lstStyle/>
            <a:p>
              <a:r>
                <a:rPr lang="en-US" altLang="zh-TW" sz="900" b="1" dirty="0">
                  <a:latin typeface="Montserrat" panose="02020500000000000000" charset="0"/>
                </a:rPr>
                <a:t>TM</a:t>
              </a:r>
              <a:endParaRPr lang="zh-TW" altLang="en-US" sz="900" b="1" dirty="0">
                <a:latin typeface="Montserrat" panose="02020500000000000000" charset="0"/>
              </a:endParaRPr>
            </a:p>
          </p:txBody>
        </p:sp>
      </p:grpSp>
      <p:sp>
        <p:nvSpPr>
          <p:cNvPr id="98" name="文字方塊 97">
            <a:extLst>
              <a:ext uri="{FF2B5EF4-FFF2-40B4-BE49-F238E27FC236}">
                <a16:creationId xmlns:a16="http://schemas.microsoft.com/office/drawing/2014/main" id="{130D91E6-4892-41D5-86C6-38F422BE3B39}"/>
              </a:ext>
            </a:extLst>
          </p:cNvPr>
          <p:cNvSpPr txBox="1"/>
          <p:nvPr/>
        </p:nvSpPr>
        <p:spPr>
          <a:xfrm>
            <a:off x="7127384" y="929059"/>
            <a:ext cx="1996059" cy="692177"/>
          </a:xfrm>
          <a:prstGeom prst="rect">
            <a:avLst/>
          </a:prstGeom>
          <a:noFill/>
        </p:spPr>
        <p:txBody>
          <a:bodyPr wrap="none" rtlCol="0">
            <a:spAutoFit/>
          </a:bodyPr>
          <a:lstStyle/>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VHG Laser : ≈3mW</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Oven temperature : 102 &amp; 106°C</a:t>
            </a:r>
          </a:p>
          <a:p>
            <a:pPr>
              <a:lnSpc>
                <a:spcPct val="150000"/>
              </a:lnSpc>
            </a:pPr>
            <a:r>
              <a:rPr lang="en-US" altLang="zh-TW" sz="900" dirty="0">
                <a:latin typeface="Montserrat" panose="02020500000000000000" charset="0"/>
                <a:ea typeface="標楷體" panose="03000509000000000000" pitchFamily="65" charset="-120"/>
                <a:cs typeface="Times New Roman" panose="02020603050405020304" pitchFamily="18" charset="0"/>
              </a:rPr>
              <a:t>Detector’s efficiency : 25%</a:t>
            </a:r>
          </a:p>
        </p:txBody>
      </p:sp>
    </p:spTree>
    <p:extLst>
      <p:ext uri="{BB962C8B-B14F-4D97-AF65-F5344CB8AC3E}">
        <p14:creationId xmlns:p14="http://schemas.microsoft.com/office/powerpoint/2010/main" val="16905509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11" name="圖片 10">
            <a:extLst>
              <a:ext uri="{FF2B5EF4-FFF2-40B4-BE49-F238E27FC236}">
                <a16:creationId xmlns:a16="http://schemas.microsoft.com/office/drawing/2014/main" id="{918175C8-4AC6-42CA-87B4-29A248C2EFC2}"/>
              </a:ext>
            </a:extLst>
          </p:cNvPr>
          <p:cNvPicPr>
            <a:picLocks noChangeAspect="1"/>
          </p:cNvPicPr>
          <p:nvPr/>
        </p:nvPicPr>
        <p:blipFill>
          <a:blip r:embed="rId3"/>
          <a:stretch>
            <a:fillRect/>
          </a:stretch>
        </p:blipFill>
        <p:spPr>
          <a:xfrm>
            <a:off x="842759" y="1499650"/>
            <a:ext cx="3597158" cy="2144198"/>
          </a:xfrm>
          <a:prstGeom prst="rect">
            <a:avLst/>
          </a:prstGeom>
        </p:spPr>
      </p:pic>
      <p:pic>
        <p:nvPicPr>
          <p:cNvPr id="20" name="圖片 19">
            <a:extLst>
              <a:ext uri="{FF2B5EF4-FFF2-40B4-BE49-F238E27FC236}">
                <a16:creationId xmlns:a16="http://schemas.microsoft.com/office/drawing/2014/main" id="{618223C0-7BEE-4410-9852-47B64DDBC887}"/>
              </a:ext>
            </a:extLst>
          </p:cNvPr>
          <p:cNvPicPr>
            <a:picLocks noChangeAspect="1"/>
          </p:cNvPicPr>
          <p:nvPr/>
        </p:nvPicPr>
        <p:blipFill>
          <a:blip r:embed="rId4"/>
          <a:stretch>
            <a:fillRect/>
          </a:stretch>
        </p:blipFill>
        <p:spPr>
          <a:xfrm>
            <a:off x="4705586" y="1243808"/>
            <a:ext cx="3595655" cy="2655883"/>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582930" y="294118"/>
            <a:ext cx="797814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Coincidence counts measurement with EO-PMC</a:t>
            </a:r>
          </a:p>
        </p:txBody>
      </p:sp>
      <p:grpSp>
        <p:nvGrpSpPr>
          <p:cNvPr id="3" name="群組 2">
            <a:extLst>
              <a:ext uri="{FF2B5EF4-FFF2-40B4-BE49-F238E27FC236}">
                <a16:creationId xmlns:a16="http://schemas.microsoft.com/office/drawing/2014/main" id="{AADD21B3-493E-4A1C-870D-8E9F748CCFAE}"/>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BA96D3E-C16A-41B9-BEFA-DEEFA3266BD2}"/>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C124FC27-1C94-4BDD-AD04-FDFEB8529BFD}"/>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7A01F88-DF2A-4954-BE26-C7F59D35B34B}"/>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8393AB7D-97D8-4416-B8BA-A7F46283660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EDBE20B8-6990-4013-A212-5E7CFD31816B}"/>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BAF782C-A943-4019-BE56-58C5D094A55F}"/>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3" name="矩形 12">
            <a:extLst>
              <a:ext uri="{FF2B5EF4-FFF2-40B4-BE49-F238E27FC236}">
                <a16:creationId xmlns:a16="http://schemas.microsoft.com/office/drawing/2014/main" id="{5F70B9AF-999F-4A8C-82FA-23F8183DDEEE}"/>
              </a:ext>
            </a:extLst>
          </p:cNvPr>
          <p:cNvSpPr/>
          <p:nvPr/>
        </p:nvSpPr>
        <p:spPr>
          <a:xfrm>
            <a:off x="1593988" y="3899691"/>
            <a:ext cx="2466063" cy="758797"/>
          </a:xfrm>
          <a:prstGeom prst="rect">
            <a:avLst/>
          </a:prstGeom>
        </p:spPr>
        <p:txBody>
          <a:bodyPr wrap="square">
            <a:spAutoFit/>
          </a:bodyPr>
          <a:lstStyle/>
          <a:p>
            <a:pPr>
              <a:lnSpc>
                <a:spcPct val="150000"/>
              </a:lnSpc>
            </a:pPr>
            <a:r>
              <a:rPr lang="en-US" altLang="zh-TW" sz="1000" dirty="0">
                <a:latin typeface="Montserrat" panose="02020500000000000000" charset="0"/>
              </a:rPr>
              <a:t>Temperature at </a:t>
            </a:r>
            <a:r>
              <a:rPr lang="en-US" altLang="zh-TW" sz="1000" b="1" dirty="0">
                <a:latin typeface="Montserrat" panose="02020500000000000000" charset="0"/>
              </a:rPr>
              <a:t>102°C</a:t>
            </a:r>
          </a:p>
          <a:p>
            <a:pPr>
              <a:lnSpc>
                <a:spcPct val="150000"/>
              </a:lnSpc>
            </a:pPr>
            <a:r>
              <a:rPr lang="en-US" altLang="zh-TW" sz="1000" dirty="0">
                <a:latin typeface="Montserrat" panose="02020500000000000000" charset="0"/>
              </a:rPr>
              <a:t>Wavelength of signal at </a:t>
            </a:r>
            <a:r>
              <a:rPr lang="en-US" altLang="zh-TW" sz="1000" b="1" dirty="0">
                <a:latin typeface="Montserrat" panose="02020500000000000000" charset="0"/>
              </a:rPr>
              <a:t>1565.7nm</a:t>
            </a:r>
          </a:p>
          <a:p>
            <a:pPr>
              <a:lnSpc>
                <a:spcPct val="150000"/>
              </a:lnSpc>
            </a:pPr>
            <a:r>
              <a:rPr lang="en-US" altLang="zh-TW" sz="1000" dirty="0">
                <a:latin typeface="Montserrat" panose="02020500000000000000" charset="0"/>
              </a:rPr>
              <a:t>Wavelength of idler at </a:t>
            </a:r>
            <a:r>
              <a:rPr lang="en-US" altLang="zh-TW" sz="1000" b="1" dirty="0">
                <a:latin typeface="Montserrat" panose="02020500000000000000" charset="0"/>
              </a:rPr>
              <a:t>1572.5nm</a:t>
            </a:r>
          </a:p>
        </p:txBody>
      </p:sp>
      <p:sp>
        <p:nvSpPr>
          <p:cNvPr id="16" name="文字方塊 15">
            <a:extLst>
              <a:ext uri="{FF2B5EF4-FFF2-40B4-BE49-F238E27FC236}">
                <a16:creationId xmlns:a16="http://schemas.microsoft.com/office/drawing/2014/main" id="{8E66DA7B-5BCC-45FC-88DC-496D01D85CF0}"/>
              </a:ext>
            </a:extLst>
          </p:cNvPr>
          <p:cNvSpPr txBox="1"/>
          <p:nvPr/>
        </p:nvSpPr>
        <p:spPr>
          <a:xfrm>
            <a:off x="8585770" y="4631694"/>
            <a:ext cx="348172" cy="261610"/>
          </a:xfrm>
          <a:prstGeom prst="rect">
            <a:avLst/>
          </a:prstGeom>
          <a:noFill/>
        </p:spPr>
        <p:txBody>
          <a:bodyPr wrap="none" rtlCol="0">
            <a:spAutoFit/>
          </a:bodyPr>
          <a:lstStyle/>
          <a:p>
            <a:r>
              <a:rPr lang="en-US" altLang="zh-TW" sz="1100" dirty="0">
                <a:latin typeface="Montserrat" panose="02020500000000000000" charset="0"/>
              </a:rPr>
              <a:t>72</a:t>
            </a:r>
            <a:endParaRPr lang="zh-TW" altLang="en-US" sz="1100" dirty="0">
              <a:latin typeface="Montserrat" panose="02020500000000000000" charset="0"/>
            </a:endParaRPr>
          </a:p>
        </p:txBody>
      </p:sp>
    </p:spTree>
    <p:extLst>
      <p:ext uri="{BB962C8B-B14F-4D97-AF65-F5344CB8AC3E}">
        <p14:creationId xmlns:p14="http://schemas.microsoft.com/office/powerpoint/2010/main" val="39510977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13" name="圖片 12">
            <a:extLst>
              <a:ext uri="{FF2B5EF4-FFF2-40B4-BE49-F238E27FC236}">
                <a16:creationId xmlns:a16="http://schemas.microsoft.com/office/drawing/2014/main" id="{090A6476-41A6-4A0B-8E2A-DAD7C4C45F03}"/>
              </a:ext>
            </a:extLst>
          </p:cNvPr>
          <p:cNvPicPr>
            <a:picLocks noChangeAspect="1"/>
          </p:cNvPicPr>
          <p:nvPr/>
        </p:nvPicPr>
        <p:blipFill>
          <a:blip r:embed="rId3"/>
          <a:stretch>
            <a:fillRect/>
          </a:stretch>
        </p:blipFill>
        <p:spPr>
          <a:xfrm>
            <a:off x="842759" y="1499650"/>
            <a:ext cx="3595654" cy="2144199"/>
          </a:xfrm>
          <a:prstGeom prst="rect">
            <a:avLst/>
          </a:prstGeom>
        </p:spPr>
      </p:pic>
      <p:pic>
        <p:nvPicPr>
          <p:cNvPr id="17" name="圖片 16">
            <a:extLst>
              <a:ext uri="{FF2B5EF4-FFF2-40B4-BE49-F238E27FC236}">
                <a16:creationId xmlns:a16="http://schemas.microsoft.com/office/drawing/2014/main" id="{06ED29DE-81B2-4247-9AD0-D239A7C1CE34}"/>
              </a:ext>
            </a:extLst>
          </p:cNvPr>
          <p:cNvPicPr>
            <a:picLocks noChangeAspect="1"/>
          </p:cNvPicPr>
          <p:nvPr/>
        </p:nvPicPr>
        <p:blipFill>
          <a:blip r:embed="rId4"/>
          <a:stretch>
            <a:fillRect/>
          </a:stretch>
        </p:blipFill>
        <p:spPr>
          <a:xfrm>
            <a:off x="842757" y="1499651"/>
            <a:ext cx="3595654" cy="2144198"/>
          </a:xfrm>
          <a:prstGeom prst="rect">
            <a:avLst/>
          </a:prstGeom>
        </p:spPr>
      </p:pic>
      <p:pic>
        <p:nvPicPr>
          <p:cNvPr id="12" name="圖片 11">
            <a:extLst>
              <a:ext uri="{FF2B5EF4-FFF2-40B4-BE49-F238E27FC236}">
                <a16:creationId xmlns:a16="http://schemas.microsoft.com/office/drawing/2014/main" id="{A33F4423-C138-4835-A321-1493A303D9FA}"/>
              </a:ext>
            </a:extLst>
          </p:cNvPr>
          <p:cNvPicPr>
            <a:picLocks noChangeAspect="1"/>
          </p:cNvPicPr>
          <p:nvPr/>
        </p:nvPicPr>
        <p:blipFill>
          <a:blip r:embed="rId5"/>
          <a:stretch>
            <a:fillRect/>
          </a:stretch>
        </p:blipFill>
        <p:spPr>
          <a:xfrm>
            <a:off x="4705588" y="1243809"/>
            <a:ext cx="3595655" cy="2655882"/>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582930" y="294118"/>
            <a:ext cx="797814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Coincidence counts measurement with EO-PMC</a:t>
            </a:r>
          </a:p>
        </p:txBody>
      </p:sp>
      <p:grpSp>
        <p:nvGrpSpPr>
          <p:cNvPr id="3" name="群組 2">
            <a:extLst>
              <a:ext uri="{FF2B5EF4-FFF2-40B4-BE49-F238E27FC236}">
                <a16:creationId xmlns:a16="http://schemas.microsoft.com/office/drawing/2014/main" id="{AADD21B3-493E-4A1C-870D-8E9F748CCFAE}"/>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BA96D3E-C16A-41B9-BEFA-DEEFA3266BD2}"/>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C124FC27-1C94-4BDD-AD04-FDFEB8529BFD}"/>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7A01F88-DF2A-4954-BE26-C7F59D35B34B}"/>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8393AB7D-97D8-4416-B8BA-A7F46283660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EDBE20B8-6990-4013-A212-5E7CFD31816B}"/>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BAF782C-A943-4019-BE56-58C5D094A55F}"/>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4" name="矩形 13">
            <a:extLst>
              <a:ext uri="{FF2B5EF4-FFF2-40B4-BE49-F238E27FC236}">
                <a16:creationId xmlns:a16="http://schemas.microsoft.com/office/drawing/2014/main" id="{FF68FA92-9266-4329-911D-4DAB89E56A11}"/>
              </a:ext>
            </a:extLst>
          </p:cNvPr>
          <p:cNvSpPr/>
          <p:nvPr/>
        </p:nvSpPr>
        <p:spPr>
          <a:xfrm>
            <a:off x="1593988" y="3899691"/>
            <a:ext cx="2466063" cy="758797"/>
          </a:xfrm>
          <a:prstGeom prst="rect">
            <a:avLst/>
          </a:prstGeom>
        </p:spPr>
        <p:txBody>
          <a:bodyPr wrap="square">
            <a:spAutoFit/>
          </a:bodyPr>
          <a:lstStyle/>
          <a:p>
            <a:pPr>
              <a:lnSpc>
                <a:spcPct val="150000"/>
              </a:lnSpc>
            </a:pPr>
            <a:r>
              <a:rPr lang="en-US" altLang="zh-TW" sz="1000" dirty="0">
                <a:latin typeface="Montserrat" panose="02020500000000000000" charset="0"/>
              </a:rPr>
              <a:t>Temperature at </a:t>
            </a:r>
            <a:r>
              <a:rPr lang="en-US" altLang="zh-TW" sz="1000" b="1" dirty="0">
                <a:latin typeface="Montserrat" panose="02020500000000000000" charset="0"/>
              </a:rPr>
              <a:t>106°C</a:t>
            </a:r>
          </a:p>
          <a:p>
            <a:pPr>
              <a:lnSpc>
                <a:spcPct val="150000"/>
              </a:lnSpc>
            </a:pPr>
            <a:r>
              <a:rPr lang="en-US" altLang="zh-TW" sz="1000" dirty="0">
                <a:latin typeface="Montserrat" panose="02020500000000000000" charset="0"/>
              </a:rPr>
              <a:t>Wavelength of signal at </a:t>
            </a:r>
            <a:r>
              <a:rPr lang="en-US" altLang="zh-TW" sz="1000" b="1" dirty="0">
                <a:latin typeface="Montserrat" panose="02020500000000000000" charset="0"/>
              </a:rPr>
              <a:t>1568.4nm</a:t>
            </a:r>
          </a:p>
          <a:p>
            <a:pPr>
              <a:lnSpc>
                <a:spcPct val="150000"/>
              </a:lnSpc>
            </a:pPr>
            <a:r>
              <a:rPr lang="en-US" altLang="zh-TW" sz="1000" dirty="0">
                <a:latin typeface="Montserrat" panose="02020500000000000000" charset="0"/>
              </a:rPr>
              <a:t>Wavelength of idler at </a:t>
            </a:r>
            <a:r>
              <a:rPr lang="en-US" altLang="zh-TW" sz="1000" b="1" dirty="0">
                <a:latin typeface="Montserrat" panose="02020500000000000000" charset="0"/>
              </a:rPr>
              <a:t>1570nm</a:t>
            </a:r>
          </a:p>
        </p:txBody>
      </p:sp>
      <p:sp>
        <p:nvSpPr>
          <p:cNvPr id="15" name="文字方塊 14">
            <a:extLst>
              <a:ext uri="{FF2B5EF4-FFF2-40B4-BE49-F238E27FC236}">
                <a16:creationId xmlns:a16="http://schemas.microsoft.com/office/drawing/2014/main" id="{013851B1-17B5-4CAB-9C47-B8993CD4BB50}"/>
              </a:ext>
            </a:extLst>
          </p:cNvPr>
          <p:cNvSpPr txBox="1"/>
          <p:nvPr/>
        </p:nvSpPr>
        <p:spPr>
          <a:xfrm>
            <a:off x="8585770" y="4631694"/>
            <a:ext cx="348172" cy="261610"/>
          </a:xfrm>
          <a:prstGeom prst="rect">
            <a:avLst/>
          </a:prstGeom>
          <a:noFill/>
        </p:spPr>
        <p:txBody>
          <a:bodyPr wrap="none" rtlCol="0">
            <a:spAutoFit/>
          </a:bodyPr>
          <a:lstStyle/>
          <a:p>
            <a:r>
              <a:rPr lang="en-US" altLang="zh-TW" sz="1100" dirty="0">
                <a:latin typeface="Montserrat" panose="02020500000000000000" charset="0"/>
              </a:rPr>
              <a:t>73</a:t>
            </a:r>
            <a:endParaRPr lang="zh-TW" altLang="en-US" sz="1100" dirty="0">
              <a:latin typeface="Montserrat" panose="02020500000000000000" charset="0"/>
            </a:endParaRPr>
          </a:p>
        </p:txBody>
      </p:sp>
    </p:spTree>
    <p:extLst>
      <p:ext uri="{BB962C8B-B14F-4D97-AF65-F5344CB8AC3E}">
        <p14:creationId xmlns:p14="http://schemas.microsoft.com/office/powerpoint/2010/main" val="2108376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19" name="矩形 18">
            <a:extLst>
              <a:ext uri="{FF2B5EF4-FFF2-40B4-BE49-F238E27FC236}">
                <a16:creationId xmlns:a16="http://schemas.microsoft.com/office/drawing/2014/main" id="{E70F51B0-041A-491F-884C-C15E561AAB05}"/>
              </a:ext>
            </a:extLst>
          </p:cNvPr>
          <p:cNvSpPr/>
          <p:nvPr/>
        </p:nvSpPr>
        <p:spPr>
          <a:xfrm>
            <a:off x="3875341" y="4464436"/>
            <a:ext cx="2831866" cy="285757"/>
          </a:xfrm>
          <a:prstGeom prst="rect">
            <a:avLst/>
          </a:prstGeom>
          <a:solidFill>
            <a:srgbClr val="FFFF00">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6" name="圖片 15">
            <a:extLst>
              <a:ext uri="{FF2B5EF4-FFF2-40B4-BE49-F238E27FC236}">
                <a16:creationId xmlns:a16="http://schemas.microsoft.com/office/drawing/2014/main" id="{349EF573-3255-4BCB-912A-4EDF22F697A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608267" y="4231963"/>
            <a:ext cx="4098940" cy="774558"/>
          </a:xfrm>
          <a:prstGeom prst="rect">
            <a:avLst/>
          </a:prstGeom>
        </p:spPr>
      </p:pic>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582930" y="294118"/>
            <a:ext cx="797814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Spectrum of SPDC measurement with EO-PMC</a:t>
            </a:r>
          </a:p>
        </p:txBody>
      </p:sp>
      <p:grpSp>
        <p:nvGrpSpPr>
          <p:cNvPr id="3" name="群組 2">
            <a:extLst>
              <a:ext uri="{FF2B5EF4-FFF2-40B4-BE49-F238E27FC236}">
                <a16:creationId xmlns:a16="http://schemas.microsoft.com/office/drawing/2014/main" id="{AADD21B3-493E-4A1C-870D-8E9F748CCFAE}"/>
              </a:ext>
            </a:extLst>
          </p:cNvPr>
          <p:cNvGrpSpPr/>
          <p:nvPr/>
        </p:nvGrpSpPr>
        <p:grpSpPr>
          <a:xfrm>
            <a:off x="189900" y="-911"/>
            <a:ext cx="8764200" cy="295831"/>
            <a:chOff x="189900" y="-911"/>
            <a:chExt cx="8764200" cy="295831"/>
          </a:xfrm>
        </p:grpSpPr>
        <p:sp>
          <p:nvSpPr>
            <p:cNvPr id="4" name="矩形 3">
              <a:extLst>
                <a:ext uri="{FF2B5EF4-FFF2-40B4-BE49-F238E27FC236}">
                  <a16:creationId xmlns:a16="http://schemas.microsoft.com/office/drawing/2014/main" id="{2BA96D3E-C16A-41B9-BEFA-DEEFA3266BD2}"/>
                </a:ext>
              </a:extLst>
            </p:cNvPr>
            <p:cNvSpPr/>
            <p:nvPr/>
          </p:nvSpPr>
          <p:spPr>
            <a:xfrm>
              <a:off x="5464140" y="-911"/>
              <a:ext cx="1544205"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Results and discussions</a:t>
              </a:r>
            </a:p>
          </p:txBody>
        </p:sp>
        <p:sp>
          <p:nvSpPr>
            <p:cNvPr id="5" name="矩形 4">
              <a:extLst>
                <a:ext uri="{FF2B5EF4-FFF2-40B4-BE49-F238E27FC236}">
                  <a16:creationId xmlns:a16="http://schemas.microsoft.com/office/drawing/2014/main" id="{C124FC27-1C94-4BDD-AD04-FDFEB8529BFD}"/>
                </a:ext>
              </a:extLst>
            </p:cNvPr>
            <p:cNvSpPr/>
            <p:nvPr/>
          </p:nvSpPr>
          <p:spPr>
            <a:xfrm>
              <a:off x="189900" y="0"/>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57A01F88-DF2A-4954-BE26-C7F59D35B34B}"/>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8393AB7D-97D8-4416-B8BA-A7F462836606}"/>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EDBE20B8-6990-4013-A212-5E7CFD31816B}"/>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0BAF782C-A943-4019-BE56-58C5D094A55F}"/>
                </a:ext>
              </a:extLst>
            </p:cNvPr>
            <p:cNvSpPr/>
            <p:nvPr/>
          </p:nvSpPr>
          <p:spPr>
            <a:xfrm>
              <a:off x="7254840" y="1230"/>
              <a:ext cx="1699260" cy="146769"/>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pic>
        <p:nvPicPr>
          <p:cNvPr id="15" name="圖片 14">
            <a:extLst>
              <a:ext uri="{FF2B5EF4-FFF2-40B4-BE49-F238E27FC236}">
                <a16:creationId xmlns:a16="http://schemas.microsoft.com/office/drawing/2014/main" id="{1FEAE9E9-9E72-4F6C-87FF-9BFA655A66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1588" y="783453"/>
            <a:ext cx="1766149" cy="1053209"/>
          </a:xfrm>
          <a:prstGeom prst="rect">
            <a:avLst/>
          </a:prstGeom>
        </p:spPr>
      </p:pic>
      <p:sp>
        <p:nvSpPr>
          <p:cNvPr id="14" name="文字方塊 13">
            <a:extLst>
              <a:ext uri="{FF2B5EF4-FFF2-40B4-BE49-F238E27FC236}">
                <a16:creationId xmlns:a16="http://schemas.microsoft.com/office/drawing/2014/main" id="{50785D71-89E0-4955-926E-38E14266918F}"/>
              </a:ext>
            </a:extLst>
          </p:cNvPr>
          <p:cNvSpPr txBox="1"/>
          <p:nvPr/>
        </p:nvSpPr>
        <p:spPr>
          <a:xfrm>
            <a:off x="8585770" y="4631694"/>
            <a:ext cx="360996" cy="261610"/>
          </a:xfrm>
          <a:prstGeom prst="rect">
            <a:avLst/>
          </a:prstGeom>
          <a:noFill/>
        </p:spPr>
        <p:txBody>
          <a:bodyPr wrap="none" rtlCol="0">
            <a:spAutoFit/>
          </a:bodyPr>
          <a:lstStyle/>
          <a:p>
            <a:r>
              <a:rPr lang="en-US" altLang="zh-TW" sz="1100" dirty="0">
                <a:latin typeface="Montserrat" panose="02020500000000000000" charset="0"/>
              </a:rPr>
              <a:t>74</a:t>
            </a:r>
            <a:endParaRPr lang="zh-TW" altLang="en-US" sz="1100" dirty="0">
              <a:latin typeface="Montserrat" panose="02020500000000000000" charset="0"/>
            </a:endParaRPr>
          </a:p>
        </p:txBody>
      </p:sp>
      <p:pic>
        <p:nvPicPr>
          <p:cNvPr id="11" name="圖片 10">
            <a:extLst>
              <a:ext uri="{FF2B5EF4-FFF2-40B4-BE49-F238E27FC236}">
                <a16:creationId xmlns:a16="http://schemas.microsoft.com/office/drawing/2014/main" id="{26BA4060-E790-4E44-9FE6-D6BA24EC07F5}"/>
              </a:ext>
            </a:extLst>
          </p:cNvPr>
          <p:cNvPicPr>
            <a:picLocks noChangeAspect="1"/>
          </p:cNvPicPr>
          <p:nvPr/>
        </p:nvPicPr>
        <p:blipFill>
          <a:blip r:embed="rId5"/>
          <a:stretch>
            <a:fillRect/>
          </a:stretch>
        </p:blipFill>
        <p:spPr>
          <a:xfrm>
            <a:off x="4657737" y="1086132"/>
            <a:ext cx="1985625" cy="367489"/>
          </a:xfrm>
          <a:prstGeom prst="rect">
            <a:avLst/>
          </a:prstGeom>
        </p:spPr>
      </p:pic>
      <p:sp>
        <p:nvSpPr>
          <p:cNvPr id="18" name="文字方塊 17">
            <a:extLst>
              <a:ext uri="{FF2B5EF4-FFF2-40B4-BE49-F238E27FC236}">
                <a16:creationId xmlns:a16="http://schemas.microsoft.com/office/drawing/2014/main" id="{AF55F74C-F7FC-47FB-907F-CB1697D4A65D}"/>
              </a:ext>
            </a:extLst>
          </p:cNvPr>
          <p:cNvSpPr txBox="1"/>
          <p:nvPr/>
        </p:nvSpPr>
        <p:spPr>
          <a:xfrm>
            <a:off x="7557283" y="4804946"/>
            <a:ext cx="1204176" cy="338554"/>
          </a:xfrm>
          <a:prstGeom prst="rect">
            <a:avLst/>
          </a:prstGeom>
          <a:noFill/>
        </p:spPr>
        <p:txBody>
          <a:bodyPr wrap="none" rtlCol="0">
            <a:spAutoFit/>
          </a:bodyPr>
          <a:lstStyle/>
          <a:p>
            <a:r>
              <a:rPr lang="en-US" altLang="zh-TW" sz="800" dirty="0">
                <a:solidFill>
                  <a:schemeClr val="tx1"/>
                </a:solidFill>
                <a:latin typeface="Montserrat" panose="02020500000000000000" charset="0"/>
              </a:rPr>
              <a:t>(Ming et al.)</a:t>
            </a:r>
          </a:p>
          <a:p>
            <a:r>
              <a:rPr lang="en-US" altLang="zh-TW" sz="800" dirty="0">
                <a:solidFill>
                  <a:schemeClr val="tx1"/>
                </a:solidFill>
                <a:latin typeface="Montserrat" panose="02020500000000000000" charset="0"/>
              </a:rPr>
              <a:t>(Herzog et al., 2008)</a:t>
            </a:r>
          </a:p>
        </p:txBody>
      </p:sp>
      <p:sp>
        <p:nvSpPr>
          <p:cNvPr id="20" name="文字方塊 19">
            <a:extLst>
              <a:ext uri="{FF2B5EF4-FFF2-40B4-BE49-F238E27FC236}">
                <a16:creationId xmlns:a16="http://schemas.microsoft.com/office/drawing/2014/main" id="{83D1C361-29D3-49B3-80D2-07A9D968B118}"/>
              </a:ext>
            </a:extLst>
          </p:cNvPr>
          <p:cNvSpPr txBox="1"/>
          <p:nvPr/>
        </p:nvSpPr>
        <p:spPr>
          <a:xfrm>
            <a:off x="7254840" y="1146423"/>
            <a:ext cx="425116" cy="246221"/>
          </a:xfrm>
          <a:prstGeom prst="rect">
            <a:avLst/>
          </a:prstGeom>
          <a:noFill/>
        </p:spPr>
        <p:txBody>
          <a:bodyPr wrap="none" rtlCol="0">
            <a:spAutoFit/>
          </a:bodyPr>
          <a:lstStyle/>
          <a:p>
            <a:r>
              <a:rPr lang="en-US" altLang="zh-TW" sz="1000" dirty="0">
                <a:latin typeface="Montserrat" panose="02020500000000000000" charset="0"/>
              </a:rPr>
              <a:t>(34)</a:t>
            </a:r>
            <a:endParaRPr lang="zh-TW" altLang="en-US" sz="1000" dirty="0">
              <a:latin typeface="Montserrat" panose="02020500000000000000" charset="0"/>
            </a:endParaRPr>
          </a:p>
        </p:txBody>
      </p:sp>
      <p:sp>
        <p:nvSpPr>
          <p:cNvPr id="21" name="文字方塊 20">
            <a:extLst>
              <a:ext uri="{FF2B5EF4-FFF2-40B4-BE49-F238E27FC236}">
                <a16:creationId xmlns:a16="http://schemas.microsoft.com/office/drawing/2014/main" id="{D44250E8-8111-4201-8904-8006850CF082}"/>
              </a:ext>
            </a:extLst>
          </p:cNvPr>
          <p:cNvSpPr txBox="1"/>
          <p:nvPr/>
        </p:nvSpPr>
        <p:spPr>
          <a:xfrm>
            <a:off x="6169400" y="4770193"/>
            <a:ext cx="412292" cy="246221"/>
          </a:xfrm>
          <a:prstGeom prst="rect">
            <a:avLst/>
          </a:prstGeom>
          <a:noFill/>
        </p:spPr>
        <p:txBody>
          <a:bodyPr wrap="none" rtlCol="0">
            <a:spAutoFit/>
          </a:bodyPr>
          <a:lstStyle/>
          <a:p>
            <a:r>
              <a:rPr lang="en-US" altLang="zh-TW" sz="1000" dirty="0">
                <a:latin typeface="Montserrat" panose="02020500000000000000" charset="0"/>
              </a:rPr>
              <a:t>(35)</a:t>
            </a:r>
            <a:endParaRPr lang="zh-TW" altLang="en-US" sz="1000" dirty="0">
              <a:latin typeface="Montserrat" panose="02020500000000000000" charset="0"/>
            </a:endParaRPr>
          </a:p>
        </p:txBody>
      </p:sp>
      <p:grpSp>
        <p:nvGrpSpPr>
          <p:cNvPr id="26" name="群組 25">
            <a:extLst>
              <a:ext uri="{FF2B5EF4-FFF2-40B4-BE49-F238E27FC236}">
                <a16:creationId xmlns:a16="http://schemas.microsoft.com/office/drawing/2014/main" id="{4AEE6521-FF64-48A6-A087-52CE4EAD4602}"/>
              </a:ext>
            </a:extLst>
          </p:cNvPr>
          <p:cNvGrpSpPr/>
          <p:nvPr/>
        </p:nvGrpSpPr>
        <p:grpSpPr>
          <a:xfrm>
            <a:off x="384220" y="1900079"/>
            <a:ext cx="6322986" cy="2331884"/>
            <a:chOff x="384220" y="1900079"/>
            <a:chExt cx="6322986" cy="2331884"/>
          </a:xfrm>
        </p:grpSpPr>
        <p:pic>
          <p:nvPicPr>
            <p:cNvPr id="23" name="圖片 22">
              <a:extLst>
                <a:ext uri="{FF2B5EF4-FFF2-40B4-BE49-F238E27FC236}">
                  <a16:creationId xmlns:a16="http://schemas.microsoft.com/office/drawing/2014/main" id="{B9F2791E-CCC6-48CC-9C58-58556CE19F22}"/>
                </a:ext>
              </a:extLst>
            </p:cNvPr>
            <p:cNvPicPr>
              <a:picLocks noChangeAspect="1"/>
            </p:cNvPicPr>
            <p:nvPr/>
          </p:nvPicPr>
          <p:blipFill>
            <a:blip r:embed="rId6"/>
            <a:stretch>
              <a:fillRect/>
            </a:stretch>
          </p:blipFill>
          <p:spPr>
            <a:xfrm>
              <a:off x="384220" y="1900081"/>
              <a:ext cx="3165978" cy="2331882"/>
            </a:xfrm>
            <a:prstGeom prst="rect">
              <a:avLst/>
            </a:prstGeom>
          </p:spPr>
        </p:pic>
        <p:pic>
          <p:nvPicPr>
            <p:cNvPr id="25" name="圖片 24">
              <a:extLst>
                <a:ext uri="{FF2B5EF4-FFF2-40B4-BE49-F238E27FC236}">
                  <a16:creationId xmlns:a16="http://schemas.microsoft.com/office/drawing/2014/main" id="{60016205-01B4-4D71-9B51-981A3FB7D0DA}"/>
                </a:ext>
              </a:extLst>
            </p:cNvPr>
            <p:cNvPicPr>
              <a:picLocks noChangeAspect="1"/>
            </p:cNvPicPr>
            <p:nvPr/>
          </p:nvPicPr>
          <p:blipFill>
            <a:blip r:embed="rId7"/>
            <a:stretch>
              <a:fillRect/>
            </a:stretch>
          </p:blipFill>
          <p:spPr>
            <a:xfrm>
              <a:off x="3550198" y="1900079"/>
              <a:ext cx="3157008" cy="2331882"/>
            </a:xfrm>
            <a:prstGeom prst="rect">
              <a:avLst/>
            </a:prstGeom>
          </p:spPr>
        </p:pic>
      </p:grpSp>
      <p:sp>
        <p:nvSpPr>
          <p:cNvPr id="2" name="矩形 1">
            <a:extLst>
              <a:ext uri="{FF2B5EF4-FFF2-40B4-BE49-F238E27FC236}">
                <a16:creationId xmlns:a16="http://schemas.microsoft.com/office/drawing/2014/main" id="{ECAC5D36-2B3A-4EA0-B584-5BB24FE00360}"/>
              </a:ext>
            </a:extLst>
          </p:cNvPr>
          <p:cNvSpPr/>
          <p:nvPr/>
        </p:nvSpPr>
        <p:spPr>
          <a:xfrm>
            <a:off x="6485661" y="2686622"/>
            <a:ext cx="2466063" cy="758797"/>
          </a:xfrm>
          <a:prstGeom prst="rect">
            <a:avLst/>
          </a:prstGeom>
        </p:spPr>
        <p:txBody>
          <a:bodyPr wrap="square">
            <a:spAutoFit/>
          </a:bodyPr>
          <a:lstStyle/>
          <a:p>
            <a:pPr>
              <a:lnSpc>
                <a:spcPct val="150000"/>
              </a:lnSpc>
            </a:pPr>
            <a:r>
              <a:rPr lang="en-US" altLang="zh-TW" sz="1000" dirty="0">
                <a:latin typeface="Montserrat" panose="02020500000000000000" charset="0"/>
              </a:rPr>
              <a:t>Temperature at </a:t>
            </a:r>
            <a:r>
              <a:rPr lang="en-US" altLang="zh-TW" sz="1000" b="1" dirty="0">
                <a:latin typeface="Montserrat" panose="02020500000000000000" charset="0"/>
              </a:rPr>
              <a:t>102°C</a:t>
            </a:r>
          </a:p>
          <a:p>
            <a:pPr>
              <a:lnSpc>
                <a:spcPct val="150000"/>
              </a:lnSpc>
            </a:pPr>
            <a:r>
              <a:rPr lang="en-US" altLang="zh-TW" sz="1000" dirty="0">
                <a:latin typeface="Montserrat" panose="02020500000000000000" charset="0"/>
              </a:rPr>
              <a:t>Wavelength of signal at </a:t>
            </a:r>
            <a:r>
              <a:rPr lang="en-US" altLang="zh-TW" sz="1000" b="1" dirty="0">
                <a:latin typeface="Montserrat" panose="02020500000000000000" charset="0"/>
              </a:rPr>
              <a:t>1565.7nm</a:t>
            </a:r>
          </a:p>
          <a:p>
            <a:pPr>
              <a:lnSpc>
                <a:spcPct val="150000"/>
              </a:lnSpc>
            </a:pPr>
            <a:r>
              <a:rPr lang="en-US" altLang="zh-TW" sz="1000" dirty="0">
                <a:latin typeface="Montserrat" panose="02020500000000000000" charset="0"/>
              </a:rPr>
              <a:t>Wavelength of idler at </a:t>
            </a:r>
            <a:r>
              <a:rPr lang="en-US" altLang="zh-TW" sz="1000" b="1" dirty="0">
                <a:latin typeface="Montserrat" panose="02020500000000000000" charset="0"/>
              </a:rPr>
              <a:t>1572.5nm</a:t>
            </a:r>
          </a:p>
        </p:txBody>
      </p:sp>
    </p:spTree>
    <p:extLst>
      <p:ext uri="{BB962C8B-B14F-4D97-AF65-F5344CB8AC3E}">
        <p14:creationId xmlns:p14="http://schemas.microsoft.com/office/powerpoint/2010/main" val="9886890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grpSp>
        <p:nvGrpSpPr>
          <p:cNvPr id="30" name="Google Shape;1410;p61">
            <a:extLst>
              <a:ext uri="{FF2B5EF4-FFF2-40B4-BE49-F238E27FC236}">
                <a16:creationId xmlns:a16="http://schemas.microsoft.com/office/drawing/2014/main" id="{F11C2F94-0A93-4425-A1F1-30570FBB7284}"/>
              </a:ext>
            </a:extLst>
          </p:cNvPr>
          <p:cNvGrpSpPr/>
          <p:nvPr/>
        </p:nvGrpSpPr>
        <p:grpSpPr>
          <a:xfrm>
            <a:off x="3840417" y="-63062"/>
            <a:ext cx="5320361" cy="5206562"/>
            <a:chOff x="3621875" y="0"/>
            <a:chExt cx="5522119" cy="5143498"/>
          </a:xfrm>
          <a:solidFill>
            <a:schemeClr val="bg1"/>
          </a:solidFill>
        </p:grpSpPr>
        <p:sp>
          <p:nvSpPr>
            <p:cNvPr id="136" name="Google Shape;1411;p61">
              <a:extLst>
                <a:ext uri="{FF2B5EF4-FFF2-40B4-BE49-F238E27FC236}">
                  <a16:creationId xmlns:a16="http://schemas.microsoft.com/office/drawing/2014/main" id="{5551A032-D63C-4136-A334-244A85A6DDDB}"/>
                </a:ext>
              </a:extLst>
            </p:cNvPr>
            <p:cNvSpPr/>
            <p:nvPr/>
          </p:nvSpPr>
          <p:spPr>
            <a:xfrm>
              <a:off x="3728747" y="0"/>
              <a:ext cx="5415247" cy="4605968"/>
            </a:xfrm>
            <a:custGeom>
              <a:avLst/>
              <a:gdLst/>
              <a:ahLst/>
              <a:cxnLst/>
              <a:rect l="l" t="t" r="r" b="b"/>
              <a:pathLst>
                <a:path w="229898" h="195541" extrusionOk="0">
                  <a:moveTo>
                    <a:pt x="48435" y="82059"/>
                  </a:moveTo>
                  <a:cubicBezTo>
                    <a:pt x="48702" y="82026"/>
                    <a:pt x="48968" y="81926"/>
                    <a:pt x="49269" y="81892"/>
                  </a:cubicBezTo>
                  <a:cubicBezTo>
                    <a:pt x="50636" y="81725"/>
                    <a:pt x="51404" y="82259"/>
                    <a:pt x="51770" y="83560"/>
                  </a:cubicBezTo>
                  <a:cubicBezTo>
                    <a:pt x="52204" y="85061"/>
                    <a:pt x="52805" y="85261"/>
                    <a:pt x="53972" y="85228"/>
                  </a:cubicBezTo>
                  <a:cubicBezTo>
                    <a:pt x="55907" y="85195"/>
                    <a:pt x="57775" y="84928"/>
                    <a:pt x="59609" y="84527"/>
                  </a:cubicBezTo>
                  <a:cubicBezTo>
                    <a:pt x="60543" y="84327"/>
                    <a:pt x="61244" y="83894"/>
                    <a:pt x="61611" y="82926"/>
                  </a:cubicBezTo>
                  <a:cubicBezTo>
                    <a:pt x="61811" y="82359"/>
                    <a:pt x="62245" y="81826"/>
                    <a:pt x="62545" y="81258"/>
                  </a:cubicBezTo>
                  <a:cubicBezTo>
                    <a:pt x="63112" y="80191"/>
                    <a:pt x="64079" y="79657"/>
                    <a:pt x="65213" y="79357"/>
                  </a:cubicBezTo>
                  <a:lnTo>
                    <a:pt x="65280" y="79357"/>
                  </a:lnTo>
                  <a:cubicBezTo>
                    <a:pt x="67582" y="79024"/>
                    <a:pt x="68883" y="77556"/>
                    <a:pt x="69416" y="75421"/>
                  </a:cubicBezTo>
                  <a:cubicBezTo>
                    <a:pt x="69717" y="74320"/>
                    <a:pt x="69917" y="73119"/>
                    <a:pt x="70117" y="72018"/>
                  </a:cubicBezTo>
                  <a:cubicBezTo>
                    <a:pt x="70284" y="71051"/>
                    <a:pt x="70717" y="70351"/>
                    <a:pt x="71551" y="69850"/>
                  </a:cubicBezTo>
                  <a:cubicBezTo>
                    <a:pt x="72385" y="69350"/>
                    <a:pt x="73219" y="68983"/>
                    <a:pt x="74153" y="68716"/>
                  </a:cubicBezTo>
                  <a:cubicBezTo>
                    <a:pt x="75221" y="68483"/>
                    <a:pt x="76221" y="67916"/>
                    <a:pt x="77255" y="67582"/>
                  </a:cubicBezTo>
                  <a:cubicBezTo>
                    <a:pt x="78223" y="67248"/>
                    <a:pt x="79057" y="66815"/>
                    <a:pt x="79757" y="66014"/>
                  </a:cubicBezTo>
                  <a:cubicBezTo>
                    <a:pt x="80424" y="65247"/>
                    <a:pt x="81292" y="65013"/>
                    <a:pt x="82292" y="65047"/>
                  </a:cubicBezTo>
                  <a:cubicBezTo>
                    <a:pt x="83093" y="65080"/>
                    <a:pt x="83827" y="64880"/>
                    <a:pt x="84427" y="64380"/>
                  </a:cubicBezTo>
                  <a:cubicBezTo>
                    <a:pt x="84994" y="63879"/>
                    <a:pt x="85094" y="63512"/>
                    <a:pt x="84761" y="62812"/>
                  </a:cubicBezTo>
                  <a:lnTo>
                    <a:pt x="84260" y="61811"/>
                  </a:lnTo>
                  <a:cubicBezTo>
                    <a:pt x="83993" y="61344"/>
                    <a:pt x="84094" y="60877"/>
                    <a:pt x="84394" y="60477"/>
                  </a:cubicBezTo>
                  <a:cubicBezTo>
                    <a:pt x="84594" y="60177"/>
                    <a:pt x="84794" y="59843"/>
                    <a:pt x="85061" y="59576"/>
                  </a:cubicBezTo>
                  <a:cubicBezTo>
                    <a:pt x="86495" y="58008"/>
                    <a:pt x="87429" y="56174"/>
                    <a:pt x="87830" y="54039"/>
                  </a:cubicBezTo>
                  <a:cubicBezTo>
                    <a:pt x="88096" y="52838"/>
                    <a:pt x="88563" y="51737"/>
                    <a:pt x="89130" y="50703"/>
                  </a:cubicBezTo>
                  <a:cubicBezTo>
                    <a:pt x="89631" y="49836"/>
                    <a:pt x="90331" y="49236"/>
                    <a:pt x="91332" y="49202"/>
                  </a:cubicBezTo>
                  <a:cubicBezTo>
                    <a:pt x="92266" y="49135"/>
                    <a:pt x="92800" y="48702"/>
                    <a:pt x="93133" y="47868"/>
                  </a:cubicBezTo>
                  <a:cubicBezTo>
                    <a:pt x="93333" y="47368"/>
                    <a:pt x="93667" y="46967"/>
                    <a:pt x="94001" y="46534"/>
                  </a:cubicBezTo>
                  <a:cubicBezTo>
                    <a:pt x="94501" y="45967"/>
                    <a:pt x="95135" y="45700"/>
                    <a:pt x="95969" y="45733"/>
                  </a:cubicBezTo>
                  <a:cubicBezTo>
                    <a:pt x="96636" y="45800"/>
                    <a:pt x="97303" y="45633"/>
                    <a:pt x="97937" y="45500"/>
                  </a:cubicBezTo>
                  <a:cubicBezTo>
                    <a:pt x="98437" y="45399"/>
                    <a:pt x="98904" y="45166"/>
                    <a:pt x="99404" y="45066"/>
                  </a:cubicBezTo>
                  <a:cubicBezTo>
                    <a:pt x="100405" y="44866"/>
                    <a:pt x="101306" y="44999"/>
                    <a:pt x="101940" y="45967"/>
                  </a:cubicBezTo>
                  <a:cubicBezTo>
                    <a:pt x="101973" y="46033"/>
                    <a:pt x="102073" y="46133"/>
                    <a:pt x="102140" y="46167"/>
                  </a:cubicBezTo>
                  <a:cubicBezTo>
                    <a:pt x="102173" y="46200"/>
                    <a:pt x="102273" y="46233"/>
                    <a:pt x="102340" y="46300"/>
                  </a:cubicBezTo>
                  <a:cubicBezTo>
                    <a:pt x="102840" y="46067"/>
                    <a:pt x="103341" y="45900"/>
                    <a:pt x="103841" y="45633"/>
                  </a:cubicBezTo>
                  <a:cubicBezTo>
                    <a:pt x="104074" y="45500"/>
                    <a:pt x="104241" y="45233"/>
                    <a:pt x="104275" y="44999"/>
                  </a:cubicBezTo>
                  <a:cubicBezTo>
                    <a:pt x="104341" y="44632"/>
                    <a:pt x="104408" y="44199"/>
                    <a:pt x="104408" y="43798"/>
                  </a:cubicBezTo>
                  <a:cubicBezTo>
                    <a:pt x="104408" y="42864"/>
                    <a:pt x="104908" y="42364"/>
                    <a:pt x="105676" y="42130"/>
                  </a:cubicBezTo>
                  <a:cubicBezTo>
                    <a:pt x="106143" y="41997"/>
                    <a:pt x="106576" y="41830"/>
                    <a:pt x="107010" y="41663"/>
                  </a:cubicBezTo>
                  <a:cubicBezTo>
                    <a:pt x="108077" y="41296"/>
                    <a:pt x="108845" y="41630"/>
                    <a:pt x="109312" y="42631"/>
                  </a:cubicBezTo>
                  <a:cubicBezTo>
                    <a:pt x="109412" y="42798"/>
                    <a:pt x="109445" y="42998"/>
                    <a:pt x="109478" y="43198"/>
                  </a:cubicBezTo>
                  <a:cubicBezTo>
                    <a:pt x="109645" y="43632"/>
                    <a:pt x="109945" y="43832"/>
                    <a:pt x="110412" y="43732"/>
                  </a:cubicBezTo>
                  <a:cubicBezTo>
                    <a:pt x="110846" y="43665"/>
                    <a:pt x="111346" y="43732"/>
                    <a:pt x="111513" y="43131"/>
                  </a:cubicBezTo>
                  <a:cubicBezTo>
                    <a:pt x="111647" y="42631"/>
                    <a:pt x="111780" y="42164"/>
                    <a:pt x="111847" y="41663"/>
                  </a:cubicBezTo>
                  <a:cubicBezTo>
                    <a:pt x="111947" y="41030"/>
                    <a:pt x="112247" y="40563"/>
                    <a:pt x="112781" y="40329"/>
                  </a:cubicBezTo>
                  <a:cubicBezTo>
                    <a:pt x="113748" y="39929"/>
                    <a:pt x="114082" y="39195"/>
                    <a:pt x="114082" y="38228"/>
                  </a:cubicBezTo>
                  <a:cubicBezTo>
                    <a:pt x="114082" y="37661"/>
                    <a:pt x="114282" y="37227"/>
                    <a:pt x="114615" y="36793"/>
                  </a:cubicBezTo>
                  <a:cubicBezTo>
                    <a:pt x="115449" y="35692"/>
                    <a:pt x="115349" y="34892"/>
                    <a:pt x="114248" y="34191"/>
                  </a:cubicBezTo>
                  <a:cubicBezTo>
                    <a:pt x="113348" y="33658"/>
                    <a:pt x="113248" y="33024"/>
                    <a:pt x="113581" y="32190"/>
                  </a:cubicBezTo>
                  <a:cubicBezTo>
                    <a:pt x="114082" y="30889"/>
                    <a:pt x="113781" y="29855"/>
                    <a:pt x="112781" y="28954"/>
                  </a:cubicBezTo>
                  <a:cubicBezTo>
                    <a:pt x="112280" y="28454"/>
                    <a:pt x="112180" y="27854"/>
                    <a:pt x="112414" y="27186"/>
                  </a:cubicBezTo>
                  <a:cubicBezTo>
                    <a:pt x="112514" y="26786"/>
                    <a:pt x="112747" y="26386"/>
                    <a:pt x="112847" y="25986"/>
                  </a:cubicBezTo>
                  <a:cubicBezTo>
                    <a:pt x="112947" y="25685"/>
                    <a:pt x="113114" y="25352"/>
                    <a:pt x="113014" y="25152"/>
                  </a:cubicBezTo>
                  <a:cubicBezTo>
                    <a:pt x="112681" y="24118"/>
                    <a:pt x="112347" y="22983"/>
                    <a:pt x="111313" y="22450"/>
                  </a:cubicBezTo>
                  <a:cubicBezTo>
                    <a:pt x="110612" y="22049"/>
                    <a:pt x="110279" y="21516"/>
                    <a:pt x="110279" y="20782"/>
                  </a:cubicBezTo>
                  <a:cubicBezTo>
                    <a:pt x="110279" y="20048"/>
                    <a:pt x="110312" y="19381"/>
                    <a:pt x="110412" y="18680"/>
                  </a:cubicBezTo>
                  <a:cubicBezTo>
                    <a:pt x="110479" y="17946"/>
                    <a:pt x="110746" y="17179"/>
                    <a:pt x="110779" y="16445"/>
                  </a:cubicBezTo>
                  <a:cubicBezTo>
                    <a:pt x="110813" y="15778"/>
                    <a:pt x="110646" y="15044"/>
                    <a:pt x="110512" y="14344"/>
                  </a:cubicBezTo>
                  <a:cubicBezTo>
                    <a:pt x="110346" y="13443"/>
                    <a:pt x="110112" y="12509"/>
                    <a:pt x="109979" y="11609"/>
                  </a:cubicBezTo>
                  <a:cubicBezTo>
                    <a:pt x="109912" y="10675"/>
                    <a:pt x="110346" y="10374"/>
                    <a:pt x="111246" y="10641"/>
                  </a:cubicBezTo>
                  <a:cubicBezTo>
                    <a:pt x="111780" y="10808"/>
                    <a:pt x="112247" y="11108"/>
                    <a:pt x="112814" y="11375"/>
                  </a:cubicBezTo>
                  <a:cubicBezTo>
                    <a:pt x="113014" y="11208"/>
                    <a:pt x="113314" y="11008"/>
                    <a:pt x="113515" y="10808"/>
                  </a:cubicBezTo>
                  <a:lnTo>
                    <a:pt x="115149" y="9174"/>
                  </a:lnTo>
                  <a:cubicBezTo>
                    <a:pt x="115649" y="8673"/>
                    <a:pt x="115916" y="6772"/>
                    <a:pt x="115483" y="6205"/>
                  </a:cubicBezTo>
                  <a:cubicBezTo>
                    <a:pt x="115316" y="6005"/>
                    <a:pt x="114916" y="5871"/>
                    <a:pt x="114615" y="5871"/>
                  </a:cubicBezTo>
                  <a:cubicBezTo>
                    <a:pt x="113948" y="5971"/>
                    <a:pt x="113348" y="6271"/>
                    <a:pt x="112981" y="6939"/>
                  </a:cubicBezTo>
                  <a:cubicBezTo>
                    <a:pt x="112814" y="7205"/>
                    <a:pt x="112681" y="7806"/>
                    <a:pt x="112247" y="7539"/>
                  </a:cubicBezTo>
                  <a:cubicBezTo>
                    <a:pt x="111680" y="7272"/>
                    <a:pt x="112180" y="6838"/>
                    <a:pt x="112414" y="6538"/>
                  </a:cubicBezTo>
                  <a:cubicBezTo>
                    <a:pt x="112681" y="6171"/>
                    <a:pt x="113014" y="5771"/>
                    <a:pt x="113448" y="5504"/>
                  </a:cubicBezTo>
                  <a:cubicBezTo>
                    <a:pt x="114348" y="4970"/>
                    <a:pt x="115282" y="4437"/>
                    <a:pt x="116250" y="4003"/>
                  </a:cubicBezTo>
                  <a:cubicBezTo>
                    <a:pt x="117284" y="3536"/>
                    <a:pt x="118251" y="3002"/>
                    <a:pt x="119119" y="2202"/>
                  </a:cubicBezTo>
                  <a:cubicBezTo>
                    <a:pt x="119986" y="1435"/>
                    <a:pt x="120953" y="801"/>
                    <a:pt x="122254" y="868"/>
                  </a:cubicBezTo>
                  <a:cubicBezTo>
                    <a:pt x="123588" y="968"/>
                    <a:pt x="124155" y="1668"/>
                    <a:pt x="123688" y="2969"/>
                  </a:cubicBezTo>
                  <a:cubicBezTo>
                    <a:pt x="123121" y="4604"/>
                    <a:pt x="122921" y="6271"/>
                    <a:pt x="122754" y="7939"/>
                  </a:cubicBezTo>
                  <a:cubicBezTo>
                    <a:pt x="122588" y="9307"/>
                    <a:pt x="123088" y="10007"/>
                    <a:pt x="124356" y="10541"/>
                  </a:cubicBezTo>
                  <a:cubicBezTo>
                    <a:pt x="124522" y="10641"/>
                    <a:pt x="124756" y="10708"/>
                    <a:pt x="124923" y="10808"/>
                  </a:cubicBezTo>
                  <a:cubicBezTo>
                    <a:pt x="125757" y="11175"/>
                    <a:pt x="125990" y="11609"/>
                    <a:pt x="125857" y="12342"/>
                  </a:cubicBezTo>
                  <a:cubicBezTo>
                    <a:pt x="125757" y="13176"/>
                    <a:pt x="125156" y="13777"/>
                    <a:pt x="124422" y="13877"/>
                  </a:cubicBezTo>
                  <a:cubicBezTo>
                    <a:pt x="122955" y="14110"/>
                    <a:pt x="122521" y="14444"/>
                    <a:pt x="122187" y="15878"/>
                  </a:cubicBezTo>
                  <a:cubicBezTo>
                    <a:pt x="122021" y="16512"/>
                    <a:pt x="121954" y="17213"/>
                    <a:pt x="121954" y="17846"/>
                  </a:cubicBezTo>
                  <a:cubicBezTo>
                    <a:pt x="121921" y="18614"/>
                    <a:pt x="121620" y="19147"/>
                    <a:pt x="120953" y="19281"/>
                  </a:cubicBezTo>
                  <a:cubicBezTo>
                    <a:pt x="119352" y="19548"/>
                    <a:pt x="118818" y="20615"/>
                    <a:pt x="118752" y="22049"/>
                  </a:cubicBezTo>
                  <a:cubicBezTo>
                    <a:pt x="118685" y="22450"/>
                    <a:pt x="118685" y="22883"/>
                    <a:pt x="118818" y="23217"/>
                  </a:cubicBezTo>
                  <a:cubicBezTo>
                    <a:pt x="119018" y="23817"/>
                    <a:pt x="118918" y="24284"/>
                    <a:pt x="118518" y="24685"/>
                  </a:cubicBezTo>
                  <a:cubicBezTo>
                    <a:pt x="118351" y="24851"/>
                    <a:pt x="118251" y="25018"/>
                    <a:pt x="118118" y="25218"/>
                  </a:cubicBezTo>
                  <a:cubicBezTo>
                    <a:pt x="117684" y="25952"/>
                    <a:pt x="117918" y="26586"/>
                    <a:pt x="118618" y="26986"/>
                  </a:cubicBezTo>
                  <a:cubicBezTo>
                    <a:pt x="118752" y="27020"/>
                    <a:pt x="118852" y="27053"/>
                    <a:pt x="118985" y="27153"/>
                  </a:cubicBezTo>
                  <a:cubicBezTo>
                    <a:pt x="119986" y="27553"/>
                    <a:pt x="120019" y="27620"/>
                    <a:pt x="119786" y="28687"/>
                  </a:cubicBezTo>
                  <a:cubicBezTo>
                    <a:pt x="119586" y="29488"/>
                    <a:pt x="119686" y="30222"/>
                    <a:pt x="120353" y="30789"/>
                  </a:cubicBezTo>
                  <a:cubicBezTo>
                    <a:pt x="120786" y="31123"/>
                    <a:pt x="121053" y="31523"/>
                    <a:pt x="121187" y="32123"/>
                  </a:cubicBezTo>
                  <a:cubicBezTo>
                    <a:pt x="121520" y="33491"/>
                    <a:pt x="122388" y="34058"/>
                    <a:pt x="123789" y="34158"/>
                  </a:cubicBezTo>
                  <a:cubicBezTo>
                    <a:pt x="124556" y="34191"/>
                    <a:pt x="125356" y="34392"/>
                    <a:pt x="126157" y="34525"/>
                  </a:cubicBezTo>
                  <a:cubicBezTo>
                    <a:pt x="126824" y="34658"/>
                    <a:pt x="127491" y="34692"/>
                    <a:pt x="128058" y="34291"/>
                  </a:cubicBezTo>
                  <a:cubicBezTo>
                    <a:pt x="128225" y="34191"/>
                    <a:pt x="128425" y="34125"/>
                    <a:pt x="128625" y="34025"/>
                  </a:cubicBezTo>
                  <a:cubicBezTo>
                    <a:pt x="128859" y="34492"/>
                    <a:pt x="128525" y="34658"/>
                    <a:pt x="128325" y="34859"/>
                  </a:cubicBezTo>
                  <a:cubicBezTo>
                    <a:pt x="127825" y="35392"/>
                    <a:pt x="127291" y="35893"/>
                    <a:pt x="126924" y="36493"/>
                  </a:cubicBezTo>
                  <a:cubicBezTo>
                    <a:pt x="126424" y="37294"/>
                    <a:pt x="126924" y="38228"/>
                    <a:pt x="127858" y="38394"/>
                  </a:cubicBezTo>
                  <a:cubicBezTo>
                    <a:pt x="128258" y="38494"/>
                    <a:pt x="128659" y="38528"/>
                    <a:pt x="129026" y="38561"/>
                  </a:cubicBezTo>
                  <a:cubicBezTo>
                    <a:pt x="130026" y="38728"/>
                    <a:pt x="130927" y="38494"/>
                    <a:pt x="131661" y="37861"/>
                  </a:cubicBezTo>
                  <a:cubicBezTo>
                    <a:pt x="132495" y="37194"/>
                    <a:pt x="133429" y="36860"/>
                    <a:pt x="134530" y="36960"/>
                  </a:cubicBezTo>
                  <a:cubicBezTo>
                    <a:pt x="135497" y="37027"/>
                    <a:pt x="136464" y="36827"/>
                    <a:pt x="137332" y="36293"/>
                  </a:cubicBezTo>
                  <a:cubicBezTo>
                    <a:pt x="137698" y="36059"/>
                    <a:pt x="138132" y="35893"/>
                    <a:pt x="138532" y="35826"/>
                  </a:cubicBezTo>
                  <a:cubicBezTo>
                    <a:pt x="139533" y="35559"/>
                    <a:pt x="140300" y="35125"/>
                    <a:pt x="140867" y="34291"/>
                  </a:cubicBezTo>
                  <a:cubicBezTo>
                    <a:pt x="141601" y="33324"/>
                    <a:pt x="142435" y="33324"/>
                    <a:pt x="143369" y="34291"/>
                  </a:cubicBezTo>
                  <a:cubicBezTo>
                    <a:pt x="143202" y="34558"/>
                    <a:pt x="143002" y="34892"/>
                    <a:pt x="142802" y="35225"/>
                  </a:cubicBezTo>
                  <a:cubicBezTo>
                    <a:pt x="142202" y="36293"/>
                    <a:pt x="142368" y="36960"/>
                    <a:pt x="143536" y="37360"/>
                  </a:cubicBezTo>
                  <a:cubicBezTo>
                    <a:pt x="144670" y="37794"/>
                    <a:pt x="145637" y="38361"/>
                    <a:pt x="146538" y="39128"/>
                  </a:cubicBezTo>
                  <a:cubicBezTo>
                    <a:pt x="147539" y="39895"/>
                    <a:pt x="149107" y="39962"/>
                    <a:pt x="150107" y="39195"/>
                  </a:cubicBezTo>
                  <a:cubicBezTo>
                    <a:pt x="151375" y="38294"/>
                    <a:pt x="152809" y="37727"/>
                    <a:pt x="154377" y="37394"/>
                  </a:cubicBezTo>
                  <a:cubicBezTo>
                    <a:pt x="156645" y="36960"/>
                    <a:pt x="158680" y="35993"/>
                    <a:pt x="160315" y="34325"/>
                  </a:cubicBezTo>
                  <a:cubicBezTo>
                    <a:pt x="161482" y="33157"/>
                    <a:pt x="163050" y="32557"/>
                    <a:pt x="164651" y="32190"/>
                  </a:cubicBezTo>
                  <a:cubicBezTo>
                    <a:pt x="165285" y="32023"/>
                    <a:pt x="165885" y="31790"/>
                    <a:pt x="166519" y="31556"/>
                  </a:cubicBezTo>
                  <a:cubicBezTo>
                    <a:pt x="167987" y="31056"/>
                    <a:pt x="169455" y="30489"/>
                    <a:pt x="170956" y="30022"/>
                  </a:cubicBezTo>
                  <a:cubicBezTo>
                    <a:pt x="171956" y="29722"/>
                    <a:pt x="172724" y="30189"/>
                    <a:pt x="173157" y="31189"/>
                  </a:cubicBezTo>
                  <a:cubicBezTo>
                    <a:pt x="173291" y="31523"/>
                    <a:pt x="173457" y="31856"/>
                    <a:pt x="173557" y="32190"/>
                  </a:cubicBezTo>
                  <a:cubicBezTo>
                    <a:pt x="173991" y="33524"/>
                    <a:pt x="175325" y="34558"/>
                    <a:pt x="176726" y="34692"/>
                  </a:cubicBezTo>
                  <a:cubicBezTo>
                    <a:pt x="177827" y="34825"/>
                    <a:pt x="178861" y="34525"/>
                    <a:pt x="179862" y="34158"/>
                  </a:cubicBezTo>
                  <a:cubicBezTo>
                    <a:pt x="180963" y="33691"/>
                    <a:pt x="181997" y="33124"/>
                    <a:pt x="183031" y="32490"/>
                  </a:cubicBezTo>
                  <a:cubicBezTo>
                    <a:pt x="183465" y="32223"/>
                    <a:pt x="183798" y="31823"/>
                    <a:pt x="184032" y="31389"/>
                  </a:cubicBezTo>
                  <a:cubicBezTo>
                    <a:pt x="184532" y="30622"/>
                    <a:pt x="184399" y="30055"/>
                    <a:pt x="183698" y="29355"/>
                  </a:cubicBezTo>
                  <a:cubicBezTo>
                    <a:pt x="183364" y="29021"/>
                    <a:pt x="183131" y="28654"/>
                    <a:pt x="182831" y="28321"/>
                  </a:cubicBezTo>
                  <a:cubicBezTo>
                    <a:pt x="183465" y="27487"/>
                    <a:pt x="183465" y="27520"/>
                    <a:pt x="184232" y="27720"/>
                  </a:cubicBezTo>
                  <a:cubicBezTo>
                    <a:pt x="185733" y="28120"/>
                    <a:pt x="187301" y="28387"/>
                    <a:pt x="188835" y="28654"/>
                  </a:cubicBezTo>
                  <a:cubicBezTo>
                    <a:pt x="189902" y="28821"/>
                    <a:pt x="190903" y="28120"/>
                    <a:pt x="191370" y="27053"/>
                  </a:cubicBezTo>
                  <a:cubicBezTo>
                    <a:pt x="191971" y="25685"/>
                    <a:pt x="191904" y="24284"/>
                    <a:pt x="191871" y="22817"/>
                  </a:cubicBezTo>
                  <a:cubicBezTo>
                    <a:pt x="191837" y="21649"/>
                    <a:pt x="191470" y="20615"/>
                    <a:pt x="190670" y="19714"/>
                  </a:cubicBezTo>
                  <a:cubicBezTo>
                    <a:pt x="190136" y="19147"/>
                    <a:pt x="190069" y="18313"/>
                    <a:pt x="190136" y="17546"/>
                  </a:cubicBezTo>
                  <a:cubicBezTo>
                    <a:pt x="190169" y="15945"/>
                    <a:pt x="190203" y="14311"/>
                    <a:pt x="190203" y="12643"/>
                  </a:cubicBezTo>
                  <a:cubicBezTo>
                    <a:pt x="190169" y="10841"/>
                    <a:pt x="190069" y="9040"/>
                    <a:pt x="189969" y="7272"/>
                  </a:cubicBezTo>
                  <a:cubicBezTo>
                    <a:pt x="189902" y="6371"/>
                    <a:pt x="190136" y="5704"/>
                    <a:pt x="190903" y="5271"/>
                  </a:cubicBezTo>
                  <a:cubicBezTo>
                    <a:pt x="191303" y="5004"/>
                    <a:pt x="191637" y="4637"/>
                    <a:pt x="191904" y="4303"/>
                  </a:cubicBezTo>
                  <a:cubicBezTo>
                    <a:pt x="192271" y="3836"/>
                    <a:pt x="192471" y="3336"/>
                    <a:pt x="192471" y="2769"/>
                  </a:cubicBezTo>
                  <a:cubicBezTo>
                    <a:pt x="192471" y="2002"/>
                    <a:pt x="192538" y="1201"/>
                    <a:pt x="192571" y="367"/>
                  </a:cubicBezTo>
                  <a:cubicBezTo>
                    <a:pt x="192871" y="334"/>
                    <a:pt x="193138" y="267"/>
                    <a:pt x="193372" y="267"/>
                  </a:cubicBezTo>
                  <a:cubicBezTo>
                    <a:pt x="195373" y="267"/>
                    <a:pt x="197374" y="267"/>
                    <a:pt x="199376" y="200"/>
                  </a:cubicBezTo>
                  <a:lnTo>
                    <a:pt x="199676" y="200"/>
                  </a:lnTo>
                  <a:cubicBezTo>
                    <a:pt x="200710" y="0"/>
                    <a:pt x="201244" y="601"/>
                    <a:pt x="201678" y="1468"/>
                  </a:cubicBezTo>
                  <a:cubicBezTo>
                    <a:pt x="201844" y="1835"/>
                    <a:pt x="202011" y="2168"/>
                    <a:pt x="202211" y="2535"/>
                  </a:cubicBezTo>
                  <a:cubicBezTo>
                    <a:pt x="202845" y="3836"/>
                    <a:pt x="203946" y="4637"/>
                    <a:pt x="205213" y="5171"/>
                  </a:cubicBezTo>
                  <a:cubicBezTo>
                    <a:pt x="205414" y="5271"/>
                    <a:pt x="205680" y="5337"/>
                    <a:pt x="205881" y="5304"/>
                  </a:cubicBezTo>
                  <a:cubicBezTo>
                    <a:pt x="207648" y="4804"/>
                    <a:pt x="209316" y="4103"/>
                    <a:pt x="209883" y="2102"/>
                  </a:cubicBezTo>
                  <a:cubicBezTo>
                    <a:pt x="210184" y="1101"/>
                    <a:pt x="210917" y="601"/>
                    <a:pt x="211918" y="434"/>
                  </a:cubicBezTo>
                  <a:cubicBezTo>
                    <a:pt x="212719" y="300"/>
                    <a:pt x="213519" y="167"/>
                    <a:pt x="214320" y="167"/>
                  </a:cubicBezTo>
                  <a:cubicBezTo>
                    <a:pt x="218990" y="134"/>
                    <a:pt x="223660" y="134"/>
                    <a:pt x="228330" y="100"/>
                  </a:cubicBezTo>
                  <a:cubicBezTo>
                    <a:pt x="228497" y="100"/>
                    <a:pt x="228663" y="100"/>
                    <a:pt x="228830" y="134"/>
                  </a:cubicBezTo>
                  <a:cubicBezTo>
                    <a:pt x="229531" y="200"/>
                    <a:pt x="229731" y="467"/>
                    <a:pt x="229731" y="1168"/>
                  </a:cubicBezTo>
                  <a:cubicBezTo>
                    <a:pt x="229764" y="3503"/>
                    <a:pt x="229764" y="5838"/>
                    <a:pt x="229764" y="8173"/>
                  </a:cubicBezTo>
                  <a:cubicBezTo>
                    <a:pt x="229764" y="15812"/>
                    <a:pt x="229831" y="23484"/>
                    <a:pt x="229831" y="31123"/>
                  </a:cubicBezTo>
                  <a:lnTo>
                    <a:pt x="229831" y="36993"/>
                  </a:lnTo>
                  <a:lnTo>
                    <a:pt x="229831" y="45500"/>
                  </a:lnTo>
                  <a:cubicBezTo>
                    <a:pt x="229864" y="53005"/>
                    <a:pt x="229898" y="60510"/>
                    <a:pt x="229898" y="68016"/>
                  </a:cubicBezTo>
                  <a:cubicBezTo>
                    <a:pt x="229898" y="70884"/>
                    <a:pt x="229831" y="73720"/>
                    <a:pt x="229831" y="76588"/>
                  </a:cubicBezTo>
                  <a:cubicBezTo>
                    <a:pt x="229764" y="81592"/>
                    <a:pt x="229831" y="86596"/>
                    <a:pt x="229764" y="91599"/>
                  </a:cubicBezTo>
                  <a:cubicBezTo>
                    <a:pt x="229764" y="99538"/>
                    <a:pt x="229731" y="107511"/>
                    <a:pt x="229731" y="115416"/>
                  </a:cubicBezTo>
                  <a:cubicBezTo>
                    <a:pt x="229731" y="119686"/>
                    <a:pt x="229731" y="123889"/>
                    <a:pt x="229698" y="128125"/>
                  </a:cubicBezTo>
                  <a:cubicBezTo>
                    <a:pt x="229664" y="133362"/>
                    <a:pt x="229597" y="138566"/>
                    <a:pt x="229564" y="143736"/>
                  </a:cubicBezTo>
                  <a:cubicBezTo>
                    <a:pt x="229531" y="149374"/>
                    <a:pt x="229531" y="154978"/>
                    <a:pt x="229497" y="160649"/>
                  </a:cubicBezTo>
                  <a:cubicBezTo>
                    <a:pt x="229431" y="167053"/>
                    <a:pt x="229397" y="173424"/>
                    <a:pt x="229331" y="179796"/>
                  </a:cubicBezTo>
                  <a:cubicBezTo>
                    <a:pt x="229331" y="180997"/>
                    <a:pt x="229264" y="182231"/>
                    <a:pt x="229231" y="183398"/>
                  </a:cubicBezTo>
                  <a:cubicBezTo>
                    <a:pt x="229231" y="183632"/>
                    <a:pt x="229164" y="183899"/>
                    <a:pt x="229097" y="184165"/>
                  </a:cubicBezTo>
                  <a:cubicBezTo>
                    <a:pt x="228030" y="184099"/>
                    <a:pt x="227529" y="183298"/>
                    <a:pt x="226996" y="182598"/>
                  </a:cubicBezTo>
                  <a:cubicBezTo>
                    <a:pt x="226529" y="181997"/>
                    <a:pt x="226095" y="181430"/>
                    <a:pt x="225428" y="180997"/>
                  </a:cubicBezTo>
                  <a:cubicBezTo>
                    <a:pt x="224260" y="180229"/>
                    <a:pt x="223593" y="178995"/>
                    <a:pt x="223193" y="177661"/>
                  </a:cubicBezTo>
                  <a:cubicBezTo>
                    <a:pt x="223026" y="177094"/>
                    <a:pt x="223193" y="176593"/>
                    <a:pt x="223526" y="176160"/>
                  </a:cubicBezTo>
                  <a:cubicBezTo>
                    <a:pt x="224427" y="174992"/>
                    <a:pt x="224394" y="173791"/>
                    <a:pt x="223693" y="172624"/>
                  </a:cubicBezTo>
                  <a:cubicBezTo>
                    <a:pt x="222993" y="171423"/>
                    <a:pt x="222926" y="170155"/>
                    <a:pt x="223059" y="168854"/>
                  </a:cubicBezTo>
                  <a:cubicBezTo>
                    <a:pt x="223160" y="168154"/>
                    <a:pt x="223026" y="167587"/>
                    <a:pt x="222359" y="167153"/>
                  </a:cubicBezTo>
                  <a:cubicBezTo>
                    <a:pt x="221759" y="166786"/>
                    <a:pt x="221692" y="166453"/>
                    <a:pt x="222025" y="165786"/>
                  </a:cubicBezTo>
                  <a:cubicBezTo>
                    <a:pt x="222426" y="164852"/>
                    <a:pt x="222759" y="163951"/>
                    <a:pt x="222559" y="162917"/>
                  </a:cubicBezTo>
                  <a:cubicBezTo>
                    <a:pt x="222526" y="162650"/>
                    <a:pt x="222726" y="162350"/>
                    <a:pt x="222826" y="162083"/>
                  </a:cubicBezTo>
                  <a:cubicBezTo>
                    <a:pt x="223026" y="161583"/>
                    <a:pt x="223326" y="161116"/>
                    <a:pt x="223493" y="160615"/>
                  </a:cubicBezTo>
                  <a:cubicBezTo>
                    <a:pt x="223727" y="159948"/>
                    <a:pt x="223526" y="159581"/>
                    <a:pt x="222826" y="159348"/>
                  </a:cubicBezTo>
                  <a:cubicBezTo>
                    <a:pt x="222526" y="159281"/>
                    <a:pt x="222226" y="159148"/>
                    <a:pt x="221925" y="159114"/>
                  </a:cubicBezTo>
                  <a:cubicBezTo>
                    <a:pt x="221325" y="159014"/>
                    <a:pt x="220791" y="158747"/>
                    <a:pt x="220358" y="158314"/>
                  </a:cubicBezTo>
                  <a:cubicBezTo>
                    <a:pt x="219023" y="157146"/>
                    <a:pt x="217556" y="156312"/>
                    <a:pt x="215821" y="155912"/>
                  </a:cubicBezTo>
                  <a:cubicBezTo>
                    <a:pt x="214754" y="155678"/>
                    <a:pt x="213886" y="155812"/>
                    <a:pt x="213219" y="156746"/>
                  </a:cubicBezTo>
                  <a:cubicBezTo>
                    <a:pt x="212752" y="157413"/>
                    <a:pt x="212252" y="157646"/>
                    <a:pt x="211418" y="157280"/>
                  </a:cubicBezTo>
                  <a:cubicBezTo>
                    <a:pt x="210684" y="156946"/>
                    <a:pt x="210017" y="157280"/>
                    <a:pt x="209483" y="157913"/>
                  </a:cubicBezTo>
                  <a:cubicBezTo>
                    <a:pt x="209350" y="158080"/>
                    <a:pt x="209216" y="158247"/>
                    <a:pt x="209150" y="158414"/>
                  </a:cubicBezTo>
                  <a:cubicBezTo>
                    <a:pt x="208849" y="158947"/>
                    <a:pt x="208349" y="159114"/>
                    <a:pt x="207749" y="158947"/>
                  </a:cubicBezTo>
                  <a:cubicBezTo>
                    <a:pt x="206915" y="158681"/>
                    <a:pt x="206247" y="158914"/>
                    <a:pt x="205547" y="159514"/>
                  </a:cubicBezTo>
                  <a:cubicBezTo>
                    <a:pt x="205814" y="160415"/>
                    <a:pt x="206214" y="161282"/>
                    <a:pt x="206815" y="162016"/>
                  </a:cubicBezTo>
                  <a:cubicBezTo>
                    <a:pt x="206915" y="162183"/>
                    <a:pt x="207081" y="162283"/>
                    <a:pt x="207215" y="162450"/>
                  </a:cubicBezTo>
                  <a:cubicBezTo>
                    <a:pt x="207715" y="163117"/>
                    <a:pt x="207548" y="163584"/>
                    <a:pt x="206714" y="163818"/>
                  </a:cubicBezTo>
                  <a:cubicBezTo>
                    <a:pt x="206581" y="163851"/>
                    <a:pt x="206481" y="163918"/>
                    <a:pt x="206314" y="163951"/>
                  </a:cubicBezTo>
                  <a:cubicBezTo>
                    <a:pt x="206314" y="164251"/>
                    <a:pt x="206348" y="164585"/>
                    <a:pt x="206247" y="164818"/>
                  </a:cubicBezTo>
                  <a:cubicBezTo>
                    <a:pt x="206181" y="165118"/>
                    <a:pt x="205981" y="165485"/>
                    <a:pt x="205747" y="165619"/>
                  </a:cubicBezTo>
                  <a:cubicBezTo>
                    <a:pt x="205580" y="165686"/>
                    <a:pt x="205180" y="165519"/>
                    <a:pt x="204980" y="165319"/>
                  </a:cubicBezTo>
                  <a:cubicBezTo>
                    <a:pt x="204680" y="165085"/>
                    <a:pt x="204379" y="164752"/>
                    <a:pt x="204213" y="164418"/>
                  </a:cubicBezTo>
                  <a:cubicBezTo>
                    <a:pt x="203579" y="163117"/>
                    <a:pt x="202478" y="162417"/>
                    <a:pt x="201244" y="161916"/>
                  </a:cubicBezTo>
                  <a:cubicBezTo>
                    <a:pt x="200243" y="161483"/>
                    <a:pt x="199576" y="161749"/>
                    <a:pt x="199409" y="162950"/>
                  </a:cubicBezTo>
                  <a:cubicBezTo>
                    <a:pt x="199376" y="163250"/>
                    <a:pt x="199409" y="163584"/>
                    <a:pt x="199476" y="163851"/>
                  </a:cubicBezTo>
                  <a:cubicBezTo>
                    <a:pt x="199643" y="164752"/>
                    <a:pt x="199810" y="165619"/>
                    <a:pt x="199976" y="166519"/>
                  </a:cubicBezTo>
                  <a:cubicBezTo>
                    <a:pt x="200143" y="167453"/>
                    <a:pt x="200577" y="168187"/>
                    <a:pt x="201344" y="168788"/>
                  </a:cubicBezTo>
                  <a:cubicBezTo>
                    <a:pt x="201577" y="168955"/>
                    <a:pt x="201811" y="169188"/>
                    <a:pt x="202044" y="169355"/>
                  </a:cubicBezTo>
                  <a:cubicBezTo>
                    <a:pt x="202678" y="169788"/>
                    <a:pt x="203045" y="170322"/>
                    <a:pt x="203012" y="171123"/>
                  </a:cubicBezTo>
                  <a:cubicBezTo>
                    <a:pt x="203012" y="172023"/>
                    <a:pt x="203679" y="172524"/>
                    <a:pt x="204246" y="173091"/>
                  </a:cubicBezTo>
                  <a:cubicBezTo>
                    <a:pt x="204546" y="173358"/>
                    <a:pt x="204880" y="173591"/>
                    <a:pt x="205180" y="173825"/>
                  </a:cubicBezTo>
                  <a:cubicBezTo>
                    <a:pt x="205514" y="174125"/>
                    <a:pt x="205714" y="174492"/>
                    <a:pt x="205680" y="174992"/>
                  </a:cubicBezTo>
                  <a:cubicBezTo>
                    <a:pt x="205580" y="175926"/>
                    <a:pt x="206047" y="176593"/>
                    <a:pt x="206748" y="177127"/>
                  </a:cubicBezTo>
                  <a:cubicBezTo>
                    <a:pt x="207015" y="177294"/>
                    <a:pt x="207248" y="177461"/>
                    <a:pt x="207482" y="177694"/>
                  </a:cubicBezTo>
                  <a:cubicBezTo>
                    <a:pt x="208049" y="178328"/>
                    <a:pt x="208015" y="178928"/>
                    <a:pt x="207348" y="179362"/>
                  </a:cubicBezTo>
                  <a:cubicBezTo>
                    <a:pt x="207215" y="179462"/>
                    <a:pt x="207048" y="179529"/>
                    <a:pt x="206915" y="179662"/>
                  </a:cubicBezTo>
                  <a:cubicBezTo>
                    <a:pt x="206514" y="179996"/>
                    <a:pt x="206348" y="180329"/>
                    <a:pt x="206648" y="180863"/>
                  </a:cubicBezTo>
                  <a:cubicBezTo>
                    <a:pt x="206881" y="181297"/>
                    <a:pt x="206981" y="181797"/>
                    <a:pt x="206748" y="182331"/>
                  </a:cubicBezTo>
                  <a:cubicBezTo>
                    <a:pt x="206147" y="182331"/>
                    <a:pt x="205747" y="181931"/>
                    <a:pt x="205380" y="181530"/>
                  </a:cubicBezTo>
                  <a:cubicBezTo>
                    <a:pt x="204746" y="180930"/>
                    <a:pt x="204046" y="180496"/>
                    <a:pt x="203179" y="180263"/>
                  </a:cubicBezTo>
                  <a:cubicBezTo>
                    <a:pt x="202545" y="180096"/>
                    <a:pt x="201911" y="179629"/>
                    <a:pt x="201411" y="179162"/>
                  </a:cubicBezTo>
                  <a:cubicBezTo>
                    <a:pt x="200710" y="178528"/>
                    <a:pt x="199976" y="178261"/>
                    <a:pt x="199009" y="178261"/>
                  </a:cubicBezTo>
                  <a:cubicBezTo>
                    <a:pt x="198042" y="178261"/>
                    <a:pt x="197074" y="177961"/>
                    <a:pt x="196174" y="177761"/>
                  </a:cubicBezTo>
                  <a:cubicBezTo>
                    <a:pt x="195473" y="177594"/>
                    <a:pt x="194806" y="177461"/>
                    <a:pt x="194139" y="177661"/>
                  </a:cubicBezTo>
                  <a:cubicBezTo>
                    <a:pt x="193505" y="177861"/>
                    <a:pt x="192871" y="177828"/>
                    <a:pt x="192338" y="177361"/>
                  </a:cubicBezTo>
                  <a:cubicBezTo>
                    <a:pt x="192137" y="177194"/>
                    <a:pt x="191804" y="177094"/>
                    <a:pt x="191504" y="177027"/>
                  </a:cubicBezTo>
                  <a:cubicBezTo>
                    <a:pt x="190803" y="176860"/>
                    <a:pt x="190069" y="176693"/>
                    <a:pt x="189536" y="176160"/>
                  </a:cubicBezTo>
                  <a:cubicBezTo>
                    <a:pt x="189369" y="175993"/>
                    <a:pt x="188902" y="175993"/>
                    <a:pt x="188635" y="176026"/>
                  </a:cubicBezTo>
                  <a:cubicBezTo>
                    <a:pt x="188335" y="176026"/>
                    <a:pt x="188034" y="176193"/>
                    <a:pt x="187668" y="176293"/>
                  </a:cubicBezTo>
                  <a:cubicBezTo>
                    <a:pt x="187567" y="175993"/>
                    <a:pt x="187501" y="175759"/>
                    <a:pt x="187501" y="175493"/>
                  </a:cubicBezTo>
                  <a:cubicBezTo>
                    <a:pt x="187501" y="175126"/>
                    <a:pt x="187567" y="174792"/>
                    <a:pt x="187634" y="174425"/>
                  </a:cubicBezTo>
                  <a:cubicBezTo>
                    <a:pt x="187834" y="173124"/>
                    <a:pt x="187467" y="172257"/>
                    <a:pt x="186300" y="171690"/>
                  </a:cubicBezTo>
                  <a:cubicBezTo>
                    <a:pt x="185833" y="171490"/>
                    <a:pt x="185533" y="171189"/>
                    <a:pt x="185399" y="170689"/>
                  </a:cubicBezTo>
                  <a:cubicBezTo>
                    <a:pt x="184866" y="168921"/>
                    <a:pt x="183831" y="167487"/>
                    <a:pt x="182364" y="166319"/>
                  </a:cubicBezTo>
                  <a:cubicBezTo>
                    <a:pt x="181830" y="165919"/>
                    <a:pt x="181697" y="165285"/>
                    <a:pt x="181530" y="164651"/>
                  </a:cubicBezTo>
                  <a:cubicBezTo>
                    <a:pt x="181396" y="164184"/>
                    <a:pt x="181296" y="163651"/>
                    <a:pt x="180996" y="163284"/>
                  </a:cubicBezTo>
                  <a:cubicBezTo>
                    <a:pt x="179829" y="161916"/>
                    <a:pt x="179562" y="160348"/>
                    <a:pt x="179995" y="158681"/>
                  </a:cubicBezTo>
                  <a:cubicBezTo>
                    <a:pt x="180229" y="157646"/>
                    <a:pt x="180229" y="156646"/>
                    <a:pt x="179995" y="155612"/>
                  </a:cubicBezTo>
                  <a:cubicBezTo>
                    <a:pt x="179795" y="154511"/>
                    <a:pt x="179962" y="153477"/>
                    <a:pt x="180329" y="152476"/>
                  </a:cubicBezTo>
                  <a:cubicBezTo>
                    <a:pt x="180562" y="151909"/>
                    <a:pt x="180729" y="151275"/>
                    <a:pt x="180863" y="150675"/>
                  </a:cubicBezTo>
                  <a:cubicBezTo>
                    <a:pt x="181029" y="149908"/>
                    <a:pt x="180196" y="148407"/>
                    <a:pt x="179295" y="147839"/>
                  </a:cubicBezTo>
                  <a:cubicBezTo>
                    <a:pt x="178995" y="147673"/>
                    <a:pt x="178628" y="147506"/>
                    <a:pt x="178294" y="147406"/>
                  </a:cubicBezTo>
                  <a:cubicBezTo>
                    <a:pt x="177193" y="147072"/>
                    <a:pt x="176293" y="146505"/>
                    <a:pt x="175459" y="145805"/>
                  </a:cubicBezTo>
                  <a:cubicBezTo>
                    <a:pt x="174992" y="145404"/>
                    <a:pt x="174391" y="145104"/>
                    <a:pt x="173891" y="144737"/>
                  </a:cubicBezTo>
                  <a:cubicBezTo>
                    <a:pt x="173357" y="144304"/>
                    <a:pt x="172824" y="143937"/>
                    <a:pt x="172390" y="143436"/>
                  </a:cubicBezTo>
                  <a:cubicBezTo>
                    <a:pt x="171890" y="142802"/>
                    <a:pt x="171356" y="142302"/>
                    <a:pt x="170555" y="142235"/>
                  </a:cubicBezTo>
                  <a:cubicBezTo>
                    <a:pt x="169621" y="142102"/>
                    <a:pt x="168821" y="141635"/>
                    <a:pt x="168054" y="141001"/>
                  </a:cubicBezTo>
                  <a:cubicBezTo>
                    <a:pt x="166719" y="139934"/>
                    <a:pt x="165318" y="138900"/>
                    <a:pt x="163951" y="137832"/>
                  </a:cubicBezTo>
                  <a:cubicBezTo>
                    <a:pt x="163684" y="137665"/>
                    <a:pt x="163450" y="137565"/>
                    <a:pt x="163183" y="137399"/>
                  </a:cubicBezTo>
                  <a:cubicBezTo>
                    <a:pt x="162783" y="137132"/>
                    <a:pt x="162316" y="136932"/>
                    <a:pt x="161949" y="136598"/>
                  </a:cubicBezTo>
                  <a:cubicBezTo>
                    <a:pt x="161215" y="135898"/>
                    <a:pt x="160381" y="135431"/>
                    <a:pt x="159447" y="135230"/>
                  </a:cubicBezTo>
                  <a:cubicBezTo>
                    <a:pt x="158713" y="135064"/>
                    <a:pt x="158180" y="134630"/>
                    <a:pt x="157679" y="134130"/>
                  </a:cubicBezTo>
                  <a:cubicBezTo>
                    <a:pt x="157212" y="133629"/>
                    <a:pt x="156779" y="133129"/>
                    <a:pt x="156278" y="132729"/>
                  </a:cubicBezTo>
                  <a:cubicBezTo>
                    <a:pt x="155878" y="132428"/>
                    <a:pt x="155444" y="132162"/>
                    <a:pt x="154977" y="131995"/>
                  </a:cubicBezTo>
                  <a:cubicBezTo>
                    <a:pt x="153777" y="131561"/>
                    <a:pt x="152809" y="130827"/>
                    <a:pt x="152209" y="129660"/>
                  </a:cubicBezTo>
                  <a:cubicBezTo>
                    <a:pt x="151708" y="128659"/>
                    <a:pt x="151308" y="127658"/>
                    <a:pt x="150774" y="126724"/>
                  </a:cubicBezTo>
                  <a:cubicBezTo>
                    <a:pt x="150541" y="126291"/>
                    <a:pt x="150174" y="125890"/>
                    <a:pt x="149807" y="125590"/>
                  </a:cubicBezTo>
                  <a:cubicBezTo>
                    <a:pt x="149007" y="124956"/>
                    <a:pt x="148306" y="124289"/>
                    <a:pt x="147806" y="123389"/>
                  </a:cubicBezTo>
                  <a:cubicBezTo>
                    <a:pt x="147305" y="122421"/>
                    <a:pt x="146538" y="121754"/>
                    <a:pt x="145304" y="121888"/>
                  </a:cubicBezTo>
                  <a:cubicBezTo>
                    <a:pt x="144270" y="121954"/>
                    <a:pt x="143503" y="121454"/>
                    <a:pt x="143036" y="120553"/>
                  </a:cubicBezTo>
                  <a:cubicBezTo>
                    <a:pt x="142802" y="119986"/>
                    <a:pt x="142502" y="119452"/>
                    <a:pt x="142268" y="118919"/>
                  </a:cubicBezTo>
                  <a:cubicBezTo>
                    <a:pt x="141368" y="117117"/>
                    <a:pt x="139667" y="116817"/>
                    <a:pt x="138132" y="117985"/>
                  </a:cubicBezTo>
                  <a:cubicBezTo>
                    <a:pt x="137665" y="118318"/>
                    <a:pt x="137031" y="118552"/>
                    <a:pt x="136498" y="118752"/>
                  </a:cubicBezTo>
                  <a:cubicBezTo>
                    <a:pt x="135497" y="119119"/>
                    <a:pt x="135430" y="119286"/>
                    <a:pt x="135430" y="120386"/>
                  </a:cubicBezTo>
                  <a:cubicBezTo>
                    <a:pt x="135430" y="121387"/>
                    <a:pt x="135630" y="122288"/>
                    <a:pt x="136364" y="123055"/>
                  </a:cubicBezTo>
                  <a:cubicBezTo>
                    <a:pt x="136598" y="123289"/>
                    <a:pt x="136764" y="123589"/>
                    <a:pt x="136931" y="123889"/>
                  </a:cubicBezTo>
                  <a:cubicBezTo>
                    <a:pt x="137332" y="124656"/>
                    <a:pt x="137332" y="124890"/>
                    <a:pt x="136631" y="125490"/>
                  </a:cubicBezTo>
                  <a:cubicBezTo>
                    <a:pt x="135330" y="126591"/>
                    <a:pt x="135030" y="128759"/>
                    <a:pt x="136364" y="129927"/>
                  </a:cubicBezTo>
                  <a:cubicBezTo>
                    <a:pt x="137131" y="130594"/>
                    <a:pt x="137799" y="131294"/>
                    <a:pt x="138599" y="131895"/>
                  </a:cubicBezTo>
                  <a:cubicBezTo>
                    <a:pt x="140033" y="132962"/>
                    <a:pt x="141301" y="134230"/>
                    <a:pt x="142435" y="135631"/>
                  </a:cubicBezTo>
                  <a:cubicBezTo>
                    <a:pt x="143136" y="136565"/>
                    <a:pt x="143603" y="137565"/>
                    <a:pt x="143836" y="138666"/>
                  </a:cubicBezTo>
                  <a:cubicBezTo>
                    <a:pt x="144337" y="140668"/>
                    <a:pt x="144837" y="142736"/>
                    <a:pt x="146171" y="144337"/>
                  </a:cubicBezTo>
                  <a:cubicBezTo>
                    <a:pt x="147038" y="145438"/>
                    <a:pt x="148139" y="146338"/>
                    <a:pt x="149107" y="147339"/>
                  </a:cubicBezTo>
                  <a:cubicBezTo>
                    <a:pt x="149207" y="147473"/>
                    <a:pt x="149440" y="147606"/>
                    <a:pt x="149540" y="147739"/>
                  </a:cubicBezTo>
                  <a:cubicBezTo>
                    <a:pt x="151008" y="149341"/>
                    <a:pt x="152976" y="149641"/>
                    <a:pt x="155011" y="149808"/>
                  </a:cubicBezTo>
                  <a:cubicBezTo>
                    <a:pt x="155444" y="149841"/>
                    <a:pt x="155811" y="149808"/>
                    <a:pt x="156212" y="149908"/>
                  </a:cubicBezTo>
                  <a:cubicBezTo>
                    <a:pt x="157012" y="150074"/>
                    <a:pt x="157813" y="150141"/>
                    <a:pt x="158613" y="149974"/>
                  </a:cubicBezTo>
                  <a:cubicBezTo>
                    <a:pt x="158880" y="149941"/>
                    <a:pt x="159447" y="150008"/>
                    <a:pt x="159481" y="150174"/>
                  </a:cubicBezTo>
                  <a:cubicBezTo>
                    <a:pt x="159614" y="150508"/>
                    <a:pt x="159514" y="150942"/>
                    <a:pt x="159481" y="151309"/>
                  </a:cubicBezTo>
                  <a:cubicBezTo>
                    <a:pt x="159447" y="151475"/>
                    <a:pt x="159214" y="151609"/>
                    <a:pt x="159147" y="151776"/>
                  </a:cubicBezTo>
                  <a:cubicBezTo>
                    <a:pt x="158780" y="152343"/>
                    <a:pt x="158847" y="152976"/>
                    <a:pt x="159381" y="153443"/>
                  </a:cubicBezTo>
                  <a:cubicBezTo>
                    <a:pt x="160815" y="154611"/>
                    <a:pt x="162283" y="155678"/>
                    <a:pt x="164017" y="156312"/>
                  </a:cubicBezTo>
                  <a:cubicBezTo>
                    <a:pt x="164184" y="156412"/>
                    <a:pt x="164384" y="156446"/>
                    <a:pt x="164551" y="156579"/>
                  </a:cubicBezTo>
                  <a:cubicBezTo>
                    <a:pt x="166286" y="157480"/>
                    <a:pt x="167953" y="158447"/>
                    <a:pt x="169621" y="159414"/>
                  </a:cubicBezTo>
                  <a:cubicBezTo>
                    <a:pt x="171356" y="160415"/>
                    <a:pt x="172190" y="161916"/>
                    <a:pt x="172156" y="163951"/>
                  </a:cubicBezTo>
                  <a:cubicBezTo>
                    <a:pt x="172156" y="164518"/>
                    <a:pt x="171956" y="164952"/>
                    <a:pt x="171389" y="165319"/>
                  </a:cubicBezTo>
                  <a:cubicBezTo>
                    <a:pt x="171289" y="165118"/>
                    <a:pt x="171122" y="164985"/>
                    <a:pt x="171022" y="164818"/>
                  </a:cubicBezTo>
                  <a:cubicBezTo>
                    <a:pt x="170489" y="163818"/>
                    <a:pt x="168220" y="161816"/>
                    <a:pt x="167186" y="161416"/>
                  </a:cubicBezTo>
                  <a:cubicBezTo>
                    <a:pt x="165852" y="160849"/>
                    <a:pt x="164718" y="161282"/>
                    <a:pt x="163684" y="162283"/>
                  </a:cubicBezTo>
                  <a:cubicBezTo>
                    <a:pt x="162349" y="163617"/>
                    <a:pt x="162049" y="165185"/>
                    <a:pt x="162049" y="166953"/>
                  </a:cubicBezTo>
                  <a:cubicBezTo>
                    <a:pt x="162049" y="167854"/>
                    <a:pt x="162449" y="168521"/>
                    <a:pt x="163117" y="169121"/>
                  </a:cubicBezTo>
                  <a:cubicBezTo>
                    <a:pt x="163183" y="169188"/>
                    <a:pt x="163317" y="169288"/>
                    <a:pt x="163383" y="169355"/>
                  </a:cubicBezTo>
                  <a:cubicBezTo>
                    <a:pt x="164017" y="169922"/>
                    <a:pt x="164818" y="170289"/>
                    <a:pt x="164818" y="171290"/>
                  </a:cubicBezTo>
                  <a:cubicBezTo>
                    <a:pt x="164784" y="172524"/>
                    <a:pt x="164451" y="173658"/>
                    <a:pt x="163517" y="174525"/>
                  </a:cubicBezTo>
                  <a:cubicBezTo>
                    <a:pt x="162550" y="175426"/>
                    <a:pt x="161949" y="176493"/>
                    <a:pt x="161549" y="177694"/>
                  </a:cubicBezTo>
                  <a:cubicBezTo>
                    <a:pt x="161149" y="179028"/>
                    <a:pt x="160682" y="179429"/>
                    <a:pt x="159281" y="179462"/>
                  </a:cubicBezTo>
                  <a:cubicBezTo>
                    <a:pt x="158980" y="179462"/>
                    <a:pt x="158680" y="179495"/>
                    <a:pt x="158347" y="179495"/>
                  </a:cubicBezTo>
                  <a:cubicBezTo>
                    <a:pt x="157880" y="179162"/>
                    <a:pt x="157813" y="178695"/>
                    <a:pt x="157846" y="178161"/>
                  </a:cubicBezTo>
                  <a:cubicBezTo>
                    <a:pt x="157946" y="177127"/>
                    <a:pt x="158180" y="176126"/>
                    <a:pt x="158713" y="175192"/>
                  </a:cubicBezTo>
                  <a:cubicBezTo>
                    <a:pt x="158947" y="174825"/>
                    <a:pt x="159114" y="174425"/>
                    <a:pt x="159347" y="174025"/>
                  </a:cubicBezTo>
                  <a:cubicBezTo>
                    <a:pt x="160281" y="172590"/>
                    <a:pt x="159781" y="170322"/>
                    <a:pt x="158380" y="169155"/>
                  </a:cubicBezTo>
                  <a:cubicBezTo>
                    <a:pt x="156612" y="167654"/>
                    <a:pt x="155111" y="165852"/>
                    <a:pt x="153810" y="163918"/>
                  </a:cubicBezTo>
                  <a:cubicBezTo>
                    <a:pt x="153210" y="163084"/>
                    <a:pt x="152376" y="162617"/>
                    <a:pt x="151608" y="162016"/>
                  </a:cubicBezTo>
                  <a:cubicBezTo>
                    <a:pt x="149707" y="160615"/>
                    <a:pt x="147706" y="159314"/>
                    <a:pt x="146271" y="157413"/>
                  </a:cubicBezTo>
                  <a:cubicBezTo>
                    <a:pt x="144870" y="155612"/>
                    <a:pt x="142969" y="154578"/>
                    <a:pt x="140834" y="153744"/>
                  </a:cubicBezTo>
                  <a:cubicBezTo>
                    <a:pt x="140100" y="153443"/>
                    <a:pt x="139333" y="153110"/>
                    <a:pt x="138766" y="152610"/>
                  </a:cubicBezTo>
                  <a:cubicBezTo>
                    <a:pt x="137198" y="151275"/>
                    <a:pt x="135697" y="149941"/>
                    <a:pt x="134296" y="148440"/>
                  </a:cubicBezTo>
                  <a:cubicBezTo>
                    <a:pt x="132995" y="147006"/>
                    <a:pt x="131361" y="146138"/>
                    <a:pt x="129793" y="145171"/>
                  </a:cubicBezTo>
                  <a:cubicBezTo>
                    <a:pt x="129026" y="144737"/>
                    <a:pt x="128325" y="144237"/>
                    <a:pt x="127958" y="143403"/>
                  </a:cubicBezTo>
                  <a:cubicBezTo>
                    <a:pt x="127424" y="142069"/>
                    <a:pt x="126457" y="141001"/>
                    <a:pt x="125356" y="140134"/>
                  </a:cubicBezTo>
                  <a:cubicBezTo>
                    <a:pt x="124022" y="139066"/>
                    <a:pt x="123622" y="137565"/>
                    <a:pt x="123622" y="135964"/>
                  </a:cubicBezTo>
                  <a:cubicBezTo>
                    <a:pt x="123622" y="134897"/>
                    <a:pt x="123488" y="133896"/>
                    <a:pt x="122955" y="132895"/>
                  </a:cubicBezTo>
                  <a:cubicBezTo>
                    <a:pt x="121820" y="130827"/>
                    <a:pt x="120419" y="129159"/>
                    <a:pt x="117918" y="128993"/>
                  </a:cubicBezTo>
                  <a:cubicBezTo>
                    <a:pt x="116483" y="128926"/>
                    <a:pt x="115082" y="128626"/>
                    <a:pt x="113615" y="128893"/>
                  </a:cubicBezTo>
                  <a:cubicBezTo>
                    <a:pt x="111847" y="129159"/>
                    <a:pt x="110612" y="129960"/>
                    <a:pt x="109779" y="131494"/>
                  </a:cubicBezTo>
                  <a:cubicBezTo>
                    <a:pt x="109412" y="132262"/>
                    <a:pt x="108911" y="132929"/>
                    <a:pt x="108444" y="133629"/>
                  </a:cubicBezTo>
                  <a:cubicBezTo>
                    <a:pt x="108177" y="134063"/>
                    <a:pt x="107777" y="134263"/>
                    <a:pt x="107277" y="134330"/>
                  </a:cubicBezTo>
                  <a:cubicBezTo>
                    <a:pt x="107177" y="134330"/>
                    <a:pt x="107077" y="134396"/>
                    <a:pt x="106977" y="134396"/>
                  </a:cubicBezTo>
                  <a:cubicBezTo>
                    <a:pt x="104275" y="134597"/>
                    <a:pt x="102073" y="135964"/>
                    <a:pt x="99938" y="137465"/>
                  </a:cubicBezTo>
                  <a:cubicBezTo>
                    <a:pt x="99471" y="137799"/>
                    <a:pt x="99071" y="138266"/>
                    <a:pt x="98737" y="138766"/>
                  </a:cubicBezTo>
                  <a:cubicBezTo>
                    <a:pt x="97770" y="140301"/>
                    <a:pt x="95902" y="140801"/>
                    <a:pt x="94267" y="139900"/>
                  </a:cubicBezTo>
                  <a:cubicBezTo>
                    <a:pt x="93834" y="139634"/>
                    <a:pt x="93467" y="139433"/>
                    <a:pt x="93067" y="139167"/>
                  </a:cubicBezTo>
                  <a:cubicBezTo>
                    <a:pt x="92399" y="138800"/>
                    <a:pt x="91732" y="138633"/>
                    <a:pt x="90965" y="138766"/>
                  </a:cubicBezTo>
                  <a:cubicBezTo>
                    <a:pt x="90064" y="138900"/>
                    <a:pt x="89297" y="138399"/>
                    <a:pt x="88563" y="137932"/>
                  </a:cubicBezTo>
                  <a:cubicBezTo>
                    <a:pt x="87663" y="137399"/>
                    <a:pt x="86762" y="136898"/>
                    <a:pt x="85828" y="136465"/>
                  </a:cubicBezTo>
                  <a:cubicBezTo>
                    <a:pt x="85428" y="136264"/>
                    <a:pt x="84827" y="136264"/>
                    <a:pt x="84394" y="136298"/>
                  </a:cubicBezTo>
                  <a:cubicBezTo>
                    <a:pt x="82959" y="136465"/>
                    <a:pt x="81625" y="136832"/>
                    <a:pt x="80591" y="137932"/>
                  </a:cubicBezTo>
                  <a:cubicBezTo>
                    <a:pt x="79991" y="138566"/>
                    <a:pt x="79257" y="139066"/>
                    <a:pt x="78656" y="139667"/>
                  </a:cubicBezTo>
                  <a:cubicBezTo>
                    <a:pt x="77722" y="140668"/>
                    <a:pt x="77656" y="141902"/>
                    <a:pt x="78223" y="143103"/>
                  </a:cubicBezTo>
                  <a:cubicBezTo>
                    <a:pt x="78389" y="143436"/>
                    <a:pt x="78556" y="143770"/>
                    <a:pt x="78656" y="144103"/>
                  </a:cubicBezTo>
                  <a:cubicBezTo>
                    <a:pt x="78823" y="144604"/>
                    <a:pt x="78923" y="145104"/>
                    <a:pt x="78723" y="145638"/>
                  </a:cubicBezTo>
                  <a:cubicBezTo>
                    <a:pt x="78389" y="146572"/>
                    <a:pt x="78323" y="147473"/>
                    <a:pt x="78656" y="148407"/>
                  </a:cubicBezTo>
                  <a:cubicBezTo>
                    <a:pt x="78756" y="148673"/>
                    <a:pt x="78823" y="148974"/>
                    <a:pt x="78823" y="149274"/>
                  </a:cubicBezTo>
                  <a:cubicBezTo>
                    <a:pt x="78890" y="150808"/>
                    <a:pt x="78590" y="151409"/>
                    <a:pt x="77089" y="151909"/>
                  </a:cubicBezTo>
                  <a:cubicBezTo>
                    <a:pt x="75321" y="152476"/>
                    <a:pt x="73953" y="153644"/>
                    <a:pt x="72485" y="154678"/>
                  </a:cubicBezTo>
                  <a:cubicBezTo>
                    <a:pt x="71551" y="155345"/>
                    <a:pt x="70584" y="155912"/>
                    <a:pt x="69483" y="156179"/>
                  </a:cubicBezTo>
                  <a:cubicBezTo>
                    <a:pt x="68149" y="156512"/>
                    <a:pt x="66881" y="156946"/>
                    <a:pt x="65714" y="157747"/>
                  </a:cubicBezTo>
                  <a:cubicBezTo>
                    <a:pt x="64546" y="158514"/>
                    <a:pt x="63579" y="159514"/>
                    <a:pt x="63045" y="160782"/>
                  </a:cubicBezTo>
                  <a:cubicBezTo>
                    <a:pt x="62278" y="162617"/>
                    <a:pt x="61110" y="164184"/>
                    <a:pt x="60043" y="165819"/>
                  </a:cubicBezTo>
                  <a:cubicBezTo>
                    <a:pt x="58876" y="167587"/>
                    <a:pt x="57942" y="169422"/>
                    <a:pt x="57775" y="171523"/>
                  </a:cubicBezTo>
                  <a:cubicBezTo>
                    <a:pt x="57741" y="171857"/>
                    <a:pt x="57775" y="172257"/>
                    <a:pt x="57875" y="172624"/>
                  </a:cubicBezTo>
                  <a:cubicBezTo>
                    <a:pt x="58075" y="173424"/>
                    <a:pt x="58375" y="174192"/>
                    <a:pt x="58542" y="174992"/>
                  </a:cubicBezTo>
                  <a:cubicBezTo>
                    <a:pt x="58775" y="176160"/>
                    <a:pt x="58442" y="176693"/>
                    <a:pt x="57374" y="177260"/>
                  </a:cubicBezTo>
                  <a:cubicBezTo>
                    <a:pt x="56541" y="177661"/>
                    <a:pt x="55707" y="178094"/>
                    <a:pt x="54906" y="178595"/>
                  </a:cubicBezTo>
                  <a:cubicBezTo>
                    <a:pt x="53805" y="179295"/>
                    <a:pt x="53272" y="180296"/>
                    <a:pt x="53405" y="181630"/>
                  </a:cubicBezTo>
                  <a:cubicBezTo>
                    <a:pt x="53438" y="182164"/>
                    <a:pt x="53405" y="182764"/>
                    <a:pt x="53305" y="183332"/>
                  </a:cubicBezTo>
                  <a:cubicBezTo>
                    <a:pt x="53205" y="184099"/>
                    <a:pt x="52738" y="184466"/>
                    <a:pt x="51971" y="184599"/>
                  </a:cubicBezTo>
                  <a:cubicBezTo>
                    <a:pt x="50269" y="184799"/>
                    <a:pt x="48968" y="185800"/>
                    <a:pt x="47801" y="186967"/>
                  </a:cubicBezTo>
                  <a:cubicBezTo>
                    <a:pt x="47367" y="187434"/>
                    <a:pt x="47134" y="188168"/>
                    <a:pt x="46867" y="188802"/>
                  </a:cubicBezTo>
                  <a:cubicBezTo>
                    <a:pt x="46033" y="190537"/>
                    <a:pt x="45933" y="190670"/>
                    <a:pt x="44065" y="190370"/>
                  </a:cubicBezTo>
                  <a:cubicBezTo>
                    <a:pt x="43098" y="190203"/>
                    <a:pt x="42197" y="190303"/>
                    <a:pt x="41296" y="190603"/>
                  </a:cubicBezTo>
                  <a:cubicBezTo>
                    <a:pt x="40763" y="190770"/>
                    <a:pt x="40262" y="190770"/>
                    <a:pt x="39729" y="190637"/>
                  </a:cubicBezTo>
                  <a:cubicBezTo>
                    <a:pt x="38428" y="190303"/>
                    <a:pt x="37093" y="190270"/>
                    <a:pt x="35759" y="190637"/>
                  </a:cubicBezTo>
                  <a:cubicBezTo>
                    <a:pt x="35292" y="190770"/>
                    <a:pt x="34758" y="190770"/>
                    <a:pt x="34258" y="190804"/>
                  </a:cubicBezTo>
                  <a:cubicBezTo>
                    <a:pt x="32957" y="190870"/>
                    <a:pt x="31756" y="191104"/>
                    <a:pt x="30856" y="192138"/>
                  </a:cubicBezTo>
                  <a:cubicBezTo>
                    <a:pt x="30555" y="192471"/>
                    <a:pt x="30055" y="192672"/>
                    <a:pt x="29621" y="192772"/>
                  </a:cubicBezTo>
                  <a:cubicBezTo>
                    <a:pt x="27920" y="193038"/>
                    <a:pt x="26552" y="193939"/>
                    <a:pt x="25185" y="194873"/>
                  </a:cubicBezTo>
                  <a:cubicBezTo>
                    <a:pt x="24217" y="195540"/>
                    <a:pt x="24217" y="195540"/>
                    <a:pt x="23250" y="194973"/>
                  </a:cubicBezTo>
                  <a:cubicBezTo>
                    <a:pt x="22917" y="194773"/>
                    <a:pt x="22583" y="194540"/>
                    <a:pt x="22216" y="194373"/>
                  </a:cubicBezTo>
                  <a:cubicBezTo>
                    <a:pt x="21382" y="194039"/>
                    <a:pt x="20882" y="193439"/>
                    <a:pt x="20548" y="192605"/>
                  </a:cubicBezTo>
                  <a:cubicBezTo>
                    <a:pt x="20215" y="191704"/>
                    <a:pt x="19681" y="191037"/>
                    <a:pt x="18880" y="190537"/>
                  </a:cubicBezTo>
                  <a:cubicBezTo>
                    <a:pt x="18513" y="190303"/>
                    <a:pt x="18180" y="190036"/>
                    <a:pt x="17880" y="189769"/>
                  </a:cubicBezTo>
                  <a:cubicBezTo>
                    <a:pt x="15912" y="187768"/>
                    <a:pt x="13543" y="187268"/>
                    <a:pt x="10875" y="187668"/>
                  </a:cubicBezTo>
                  <a:cubicBezTo>
                    <a:pt x="10107" y="187801"/>
                    <a:pt x="9407" y="188102"/>
                    <a:pt x="8606" y="188202"/>
                  </a:cubicBezTo>
                  <a:cubicBezTo>
                    <a:pt x="7839" y="188368"/>
                    <a:pt x="7005" y="188502"/>
                    <a:pt x="6171" y="188502"/>
                  </a:cubicBezTo>
                  <a:cubicBezTo>
                    <a:pt x="5771" y="188502"/>
                    <a:pt x="5371" y="188335"/>
                    <a:pt x="5070" y="188135"/>
                  </a:cubicBezTo>
                  <a:cubicBezTo>
                    <a:pt x="4403" y="187701"/>
                    <a:pt x="4270" y="187268"/>
                    <a:pt x="4704" y="186601"/>
                  </a:cubicBezTo>
                  <a:cubicBezTo>
                    <a:pt x="5271" y="185700"/>
                    <a:pt x="5204" y="184799"/>
                    <a:pt x="5004" y="183865"/>
                  </a:cubicBezTo>
                  <a:cubicBezTo>
                    <a:pt x="4737" y="182764"/>
                    <a:pt x="4670" y="181630"/>
                    <a:pt x="4704" y="180496"/>
                  </a:cubicBezTo>
                  <a:cubicBezTo>
                    <a:pt x="4737" y="179495"/>
                    <a:pt x="4704" y="178461"/>
                    <a:pt x="3770" y="177794"/>
                  </a:cubicBezTo>
                  <a:cubicBezTo>
                    <a:pt x="3369" y="177494"/>
                    <a:pt x="2869" y="177294"/>
                    <a:pt x="2369" y="177094"/>
                  </a:cubicBezTo>
                  <a:cubicBezTo>
                    <a:pt x="1868" y="176860"/>
                    <a:pt x="1334" y="176660"/>
                    <a:pt x="767" y="176460"/>
                  </a:cubicBezTo>
                  <a:cubicBezTo>
                    <a:pt x="167" y="176160"/>
                    <a:pt x="0" y="175960"/>
                    <a:pt x="200" y="175292"/>
                  </a:cubicBezTo>
                  <a:cubicBezTo>
                    <a:pt x="367" y="174692"/>
                    <a:pt x="601" y="174125"/>
                    <a:pt x="901" y="173524"/>
                  </a:cubicBezTo>
                  <a:cubicBezTo>
                    <a:pt x="1201" y="172991"/>
                    <a:pt x="1501" y="172490"/>
                    <a:pt x="1868" y="171990"/>
                  </a:cubicBezTo>
                  <a:cubicBezTo>
                    <a:pt x="3403" y="169822"/>
                    <a:pt x="3770" y="167287"/>
                    <a:pt x="4437" y="164785"/>
                  </a:cubicBezTo>
                  <a:cubicBezTo>
                    <a:pt x="4837" y="163317"/>
                    <a:pt x="5070" y="161783"/>
                    <a:pt x="5337" y="160282"/>
                  </a:cubicBezTo>
                  <a:cubicBezTo>
                    <a:pt x="5437" y="159648"/>
                    <a:pt x="5537" y="159014"/>
                    <a:pt x="5504" y="158414"/>
                  </a:cubicBezTo>
                  <a:cubicBezTo>
                    <a:pt x="5371" y="155845"/>
                    <a:pt x="5337" y="153277"/>
                    <a:pt x="4437" y="150808"/>
                  </a:cubicBezTo>
                  <a:cubicBezTo>
                    <a:pt x="4036" y="149641"/>
                    <a:pt x="3936" y="148340"/>
                    <a:pt x="3703" y="147106"/>
                  </a:cubicBezTo>
                  <a:cubicBezTo>
                    <a:pt x="3536" y="146405"/>
                    <a:pt x="3403" y="145638"/>
                    <a:pt x="3102" y="144971"/>
                  </a:cubicBezTo>
                  <a:cubicBezTo>
                    <a:pt x="2702" y="143970"/>
                    <a:pt x="2535" y="142936"/>
                    <a:pt x="2369" y="141902"/>
                  </a:cubicBezTo>
                  <a:cubicBezTo>
                    <a:pt x="2235" y="141068"/>
                    <a:pt x="2502" y="140434"/>
                    <a:pt x="3236" y="140067"/>
                  </a:cubicBezTo>
                  <a:cubicBezTo>
                    <a:pt x="3669" y="139834"/>
                    <a:pt x="4070" y="139634"/>
                    <a:pt x="4537" y="139567"/>
                  </a:cubicBezTo>
                  <a:cubicBezTo>
                    <a:pt x="5904" y="139333"/>
                    <a:pt x="7072" y="138766"/>
                    <a:pt x="8073" y="137832"/>
                  </a:cubicBezTo>
                  <a:cubicBezTo>
                    <a:pt x="8506" y="137465"/>
                    <a:pt x="8873" y="137065"/>
                    <a:pt x="9340" y="136731"/>
                  </a:cubicBezTo>
                  <a:cubicBezTo>
                    <a:pt x="9540" y="136565"/>
                    <a:pt x="9874" y="136431"/>
                    <a:pt x="10174" y="136398"/>
                  </a:cubicBezTo>
                  <a:cubicBezTo>
                    <a:pt x="11108" y="136264"/>
                    <a:pt x="12042" y="136398"/>
                    <a:pt x="12876" y="136832"/>
                  </a:cubicBezTo>
                  <a:cubicBezTo>
                    <a:pt x="13410" y="137132"/>
                    <a:pt x="14010" y="137165"/>
                    <a:pt x="14611" y="137098"/>
                  </a:cubicBezTo>
                  <a:cubicBezTo>
                    <a:pt x="15411" y="136998"/>
                    <a:pt x="16212" y="137065"/>
                    <a:pt x="17012" y="136998"/>
                  </a:cubicBezTo>
                  <a:cubicBezTo>
                    <a:pt x="17679" y="136965"/>
                    <a:pt x="18347" y="136965"/>
                    <a:pt x="19014" y="136898"/>
                  </a:cubicBezTo>
                  <a:cubicBezTo>
                    <a:pt x="19914" y="136765"/>
                    <a:pt x="20848" y="136598"/>
                    <a:pt x="21749" y="136398"/>
                  </a:cubicBezTo>
                  <a:cubicBezTo>
                    <a:pt x="23283" y="136064"/>
                    <a:pt x="24718" y="136565"/>
                    <a:pt x="26219" y="136798"/>
                  </a:cubicBezTo>
                  <a:cubicBezTo>
                    <a:pt x="27853" y="137065"/>
                    <a:pt x="29521" y="137365"/>
                    <a:pt x="31189" y="137465"/>
                  </a:cubicBezTo>
                  <a:cubicBezTo>
                    <a:pt x="32190" y="137565"/>
                    <a:pt x="33191" y="137399"/>
                    <a:pt x="34125" y="137265"/>
                  </a:cubicBezTo>
                  <a:cubicBezTo>
                    <a:pt x="35592" y="137065"/>
                    <a:pt x="37027" y="137098"/>
                    <a:pt x="38394" y="137599"/>
                  </a:cubicBezTo>
                  <a:cubicBezTo>
                    <a:pt x="39195" y="137899"/>
                    <a:pt x="40029" y="137899"/>
                    <a:pt x="40863" y="137699"/>
                  </a:cubicBezTo>
                  <a:cubicBezTo>
                    <a:pt x="41630" y="137465"/>
                    <a:pt x="42397" y="137432"/>
                    <a:pt x="43198" y="137732"/>
                  </a:cubicBezTo>
                  <a:cubicBezTo>
                    <a:pt x="43865" y="137966"/>
                    <a:pt x="44599" y="138132"/>
                    <a:pt x="45366" y="138199"/>
                  </a:cubicBezTo>
                  <a:cubicBezTo>
                    <a:pt x="47768" y="138266"/>
                    <a:pt x="50436" y="137198"/>
                    <a:pt x="50403" y="133729"/>
                  </a:cubicBezTo>
                  <a:cubicBezTo>
                    <a:pt x="50403" y="132262"/>
                    <a:pt x="50570" y="130861"/>
                    <a:pt x="51037" y="129526"/>
                  </a:cubicBezTo>
                  <a:cubicBezTo>
                    <a:pt x="51203" y="129026"/>
                    <a:pt x="51370" y="128459"/>
                    <a:pt x="51637" y="128059"/>
                  </a:cubicBezTo>
                  <a:cubicBezTo>
                    <a:pt x="52137" y="127258"/>
                    <a:pt x="52304" y="126391"/>
                    <a:pt x="52371" y="125457"/>
                  </a:cubicBezTo>
                  <a:cubicBezTo>
                    <a:pt x="52371" y="124589"/>
                    <a:pt x="52304" y="123722"/>
                    <a:pt x="52404" y="122888"/>
                  </a:cubicBezTo>
                  <a:cubicBezTo>
                    <a:pt x="52538" y="121921"/>
                    <a:pt x="52771" y="121020"/>
                    <a:pt x="53071" y="120053"/>
                  </a:cubicBezTo>
                  <a:cubicBezTo>
                    <a:pt x="53305" y="119219"/>
                    <a:pt x="53372" y="118452"/>
                    <a:pt x="52771" y="117751"/>
                  </a:cubicBezTo>
                  <a:cubicBezTo>
                    <a:pt x="52204" y="117051"/>
                    <a:pt x="52071" y="116183"/>
                    <a:pt x="52204" y="115283"/>
                  </a:cubicBezTo>
                  <a:cubicBezTo>
                    <a:pt x="52404" y="114015"/>
                    <a:pt x="51871" y="113048"/>
                    <a:pt x="50870" y="112247"/>
                  </a:cubicBezTo>
                  <a:cubicBezTo>
                    <a:pt x="50403" y="111880"/>
                    <a:pt x="50036" y="111413"/>
                    <a:pt x="49602" y="110946"/>
                  </a:cubicBezTo>
                  <a:cubicBezTo>
                    <a:pt x="49369" y="110713"/>
                    <a:pt x="49135" y="110413"/>
                    <a:pt x="48868" y="110179"/>
                  </a:cubicBezTo>
                  <a:cubicBezTo>
                    <a:pt x="47768" y="109245"/>
                    <a:pt x="46734" y="108344"/>
                    <a:pt x="46467" y="106843"/>
                  </a:cubicBezTo>
                  <a:cubicBezTo>
                    <a:pt x="46433" y="106610"/>
                    <a:pt x="46400" y="106410"/>
                    <a:pt x="46400" y="106243"/>
                  </a:cubicBezTo>
                  <a:cubicBezTo>
                    <a:pt x="46433" y="104842"/>
                    <a:pt x="45566" y="104075"/>
                    <a:pt x="44465" y="103408"/>
                  </a:cubicBezTo>
                  <a:cubicBezTo>
                    <a:pt x="43932" y="103074"/>
                    <a:pt x="43431" y="102707"/>
                    <a:pt x="42964" y="102273"/>
                  </a:cubicBezTo>
                  <a:cubicBezTo>
                    <a:pt x="42197" y="101573"/>
                    <a:pt x="41463" y="100772"/>
                    <a:pt x="40629" y="100072"/>
                  </a:cubicBezTo>
                  <a:cubicBezTo>
                    <a:pt x="40262" y="99738"/>
                    <a:pt x="39729" y="99538"/>
                    <a:pt x="39228" y="99405"/>
                  </a:cubicBezTo>
                  <a:cubicBezTo>
                    <a:pt x="37861" y="99071"/>
                    <a:pt x="36460" y="98838"/>
                    <a:pt x="35125" y="98537"/>
                  </a:cubicBezTo>
                  <a:cubicBezTo>
                    <a:pt x="34258" y="98337"/>
                    <a:pt x="33424" y="97937"/>
                    <a:pt x="32757" y="97337"/>
                  </a:cubicBezTo>
                  <a:cubicBezTo>
                    <a:pt x="32357" y="96936"/>
                    <a:pt x="32090" y="96536"/>
                    <a:pt x="32123" y="95902"/>
                  </a:cubicBezTo>
                  <a:cubicBezTo>
                    <a:pt x="32123" y="95202"/>
                    <a:pt x="32023" y="94535"/>
                    <a:pt x="31389" y="94034"/>
                  </a:cubicBezTo>
                  <a:cubicBezTo>
                    <a:pt x="30956" y="93701"/>
                    <a:pt x="30622" y="93334"/>
                    <a:pt x="30856" y="92733"/>
                  </a:cubicBezTo>
                  <a:cubicBezTo>
                    <a:pt x="31056" y="92166"/>
                    <a:pt x="31523" y="91733"/>
                    <a:pt x="32123" y="91599"/>
                  </a:cubicBezTo>
                  <a:cubicBezTo>
                    <a:pt x="32790" y="91499"/>
                    <a:pt x="33524" y="91366"/>
                    <a:pt x="34225" y="91266"/>
                  </a:cubicBezTo>
                  <a:cubicBezTo>
                    <a:pt x="35459" y="91099"/>
                    <a:pt x="36726" y="90899"/>
                    <a:pt x="37961" y="90732"/>
                  </a:cubicBezTo>
                  <a:lnTo>
                    <a:pt x="38961" y="90598"/>
                  </a:lnTo>
                  <a:cubicBezTo>
                    <a:pt x="39395" y="90565"/>
                    <a:pt x="39729" y="90665"/>
                    <a:pt x="40095" y="90932"/>
                  </a:cubicBezTo>
                  <a:cubicBezTo>
                    <a:pt x="40396" y="91199"/>
                    <a:pt x="40796" y="91332"/>
                    <a:pt x="41130" y="91499"/>
                  </a:cubicBezTo>
                  <a:cubicBezTo>
                    <a:pt x="42397" y="92100"/>
                    <a:pt x="43598" y="92166"/>
                    <a:pt x="44866" y="91432"/>
                  </a:cubicBezTo>
                  <a:cubicBezTo>
                    <a:pt x="45299" y="91199"/>
                    <a:pt x="45933" y="91232"/>
                    <a:pt x="46533" y="91199"/>
                  </a:cubicBezTo>
                  <a:cubicBezTo>
                    <a:pt x="47234" y="91166"/>
                    <a:pt x="47968" y="91199"/>
                    <a:pt x="48702" y="91099"/>
                  </a:cubicBezTo>
                  <a:cubicBezTo>
                    <a:pt x="49369" y="91032"/>
                    <a:pt x="49435" y="90865"/>
                    <a:pt x="49369" y="90198"/>
                  </a:cubicBezTo>
                  <a:cubicBezTo>
                    <a:pt x="49369" y="90098"/>
                    <a:pt x="49369" y="90065"/>
                    <a:pt x="49302" y="89998"/>
                  </a:cubicBezTo>
                  <a:cubicBezTo>
                    <a:pt x="48902" y="88764"/>
                    <a:pt x="48768" y="87530"/>
                    <a:pt x="48935" y="86229"/>
                  </a:cubicBezTo>
                  <a:cubicBezTo>
                    <a:pt x="49069" y="85195"/>
                    <a:pt x="48401" y="84261"/>
                    <a:pt x="47968" y="83327"/>
                  </a:cubicBezTo>
                  <a:cubicBezTo>
                    <a:pt x="48301" y="83193"/>
                    <a:pt x="48068" y="82693"/>
                    <a:pt x="48435" y="82059"/>
                  </a:cubicBezTo>
                  <a:close/>
                  <a:moveTo>
                    <a:pt x="90798" y="55807"/>
                  </a:moveTo>
                  <a:cubicBezTo>
                    <a:pt x="90865" y="55807"/>
                    <a:pt x="90998" y="55807"/>
                    <a:pt x="91099" y="55740"/>
                  </a:cubicBezTo>
                  <a:cubicBezTo>
                    <a:pt x="92433" y="55307"/>
                    <a:pt x="92933" y="54072"/>
                    <a:pt x="93500" y="53005"/>
                  </a:cubicBezTo>
                  <a:cubicBezTo>
                    <a:pt x="93767" y="52571"/>
                    <a:pt x="93267" y="51671"/>
                    <a:pt x="92800" y="51504"/>
                  </a:cubicBezTo>
                  <a:cubicBezTo>
                    <a:pt x="92666" y="51470"/>
                    <a:pt x="92466" y="51470"/>
                    <a:pt x="92333" y="51504"/>
                  </a:cubicBezTo>
                  <a:cubicBezTo>
                    <a:pt x="90832" y="52071"/>
                    <a:pt x="90098" y="54206"/>
                    <a:pt x="90798" y="5580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1412;p61">
              <a:extLst>
                <a:ext uri="{FF2B5EF4-FFF2-40B4-BE49-F238E27FC236}">
                  <a16:creationId xmlns:a16="http://schemas.microsoft.com/office/drawing/2014/main" id="{21B7ABC4-D722-4025-9063-8C2BFDB4FA20}"/>
                </a:ext>
              </a:extLst>
            </p:cNvPr>
            <p:cNvSpPr/>
            <p:nvPr/>
          </p:nvSpPr>
          <p:spPr>
            <a:xfrm>
              <a:off x="3899242" y="4393106"/>
              <a:ext cx="2862427" cy="750392"/>
            </a:xfrm>
            <a:custGeom>
              <a:avLst/>
              <a:gdLst/>
              <a:ahLst/>
              <a:cxnLst/>
              <a:rect l="l" t="t" r="r" b="b"/>
              <a:pathLst>
                <a:path w="121521" h="31857" extrusionOk="0">
                  <a:moveTo>
                    <a:pt x="1" y="31656"/>
                  </a:moveTo>
                  <a:cubicBezTo>
                    <a:pt x="701" y="30823"/>
                    <a:pt x="1502" y="30022"/>
                    <a:pt x="2703" y="29922"/>
                  </a:cubicBezTo>
                  <a:cubicBezTo>
                    <a:pt x="3470" y="29822"/>
                    <a:pt x="4137" y="29588"/>
                    <a:pt x="4704" y="29121"/>
                  </a:cubicBezTo>
                  <a:cubicBezTo>
                    <a:pt x="5238" y="28754"/>
                    <a:pt x="5838" y="28421"/>
                    <a:pt x="6405" y="28121"/>
                  </a:cubicBezTo>
                  <a:cubicBezTo>
                    <a:pt x="8140" y="27187"/>
                    <a:pt x="9674" y="26019"/>
                    <a:pt x="11109" y="24685"/>
                  </a:cubicBezTo>
                  <a:cubicBezTo>
                    <a:pt x="11676" y="24151"/>
                    <a:pt x="12109" y="23484"/>
                    <a:pt x="12376" y="22683"/>
                  </a:cubicBezTo>
                  <a:cubicBezTo>
                    <a:pt x="13110" y="20782"/>
                    <a:pt x="13944" y="18847"/>
                    <a:pt x="14644" y="16946"/>
                  </a:cubicBezTo>
                  <a:cubicBezTo>
                    <a:pt x="15011" y="15979"/>
                    <a:pt x="15212" y="14978"/>
                    <a:pt x="15478" y="13977"/>
                  </a:cubicBezTo>
                  <a:cubicBezTo>
                    <a:pt x="15712" y="12910"/>
                    <a:pt x="15712" y="12910"/>
                    <a:pt x="16846" y="12810"/>
                  </a:cubicBezTo>
                  <a:cubicBezTo>
                    <a:pt x="17346" y="12776"/>
                    <a:pt x="17880" y="12609"/>
                    <a:pt x="18380" y="12409"/>
                  </a:cubicBezTo>
                  <a:cubicBezTo>
                    <a:pt x="19348" y="12009"/>
                    <a:pt x="19815" y="12142"/>
                    <a:pt x="20315" y="12976"/>
                  </a:cubicBezTo>
                  <a:cubicBezTo>
                    <a:pt x="20482" y="13277"/>
                    <a:pt x="20549" y="13610"/>
                    <a:pt x="20682" y="13910"/>
                  </a:cubicBezTo>
                  <a:cubicBezTo>
                    <a:pt x="20816" y="14244"/>
                    <a:pt x="20916" y="14611"/>
                    <a:pt x="20982" y="14944"/>
                  </a:cubicBezTo>
                  <a:cubicBezTo>
                    <a:pt x="21182" y="16179"/>
                    <a:pt x="22116" y="16746"/>
                    <a:pt x="23151" y="17179"/>
                  </a:cubicBezTo>
                  <a:cubicBezTo>
                    <a:pt x="24051" y="17546"/>
                    <a:pt x="24985" y="17980"/>
                    <a:pt x="25886" y="18347"/>
                  </a:cubicBezTo>
                  <a:cubicBezTo>
                    <a:pt x="26319" y="18514"/>
                    <a:pt x="26753" y="18680"/>
                    <a:pt x="27187" y="18814"/>
                  </a:cubicBezTo>
                  <a:cubicBezTo>
                    <a:pt x="27787" y="18981"/>
                    <a:pt x="28254" y="18847"/>
                    <a:pt x="28821" y="18614"/>
                  </a:cubicBezTo>
                  <a:cubicBezTo>
                    <a:pt x="30289" y="17980"/>
                    <a:pt x="31757" y="17413"/>
                    <a:pt x="33224" y="16779"/>
                  </a:cubicBezTo>
                  <a:cubicBezTo>
                    <a:pt x="33858" y="16512"/>
                    <a:pt x="34492" y="16612"/>
                    <a:pt x="34926" y="16946"/>
                  </a:cubicBezTo>
                  <a:cubicBezTo>
                    <a:pt x="35893" y="17613"/>
                    <a:pt x="36894" y="17446"/>
                    <a:pt x="37928" y="17346"/>
                  </a:cubicBezTo>
                  <a:cubicBezTo>
                    <a:pt x="38728" y="17313"/>
                    <a:pt x="39529" y="17279"/>
                    <a:pt x="40329" y="17279"/>
                  </a:cubicBezTo>
                  <a:cubicBezTo>
                    <a:pt x="41730" y="17279"/>
                    <a:pt x="43031" y="16946"/>
                    <a:pt x="44332" y="16245"/>
                  </a:cubicBezTo>
                  <a:cubicBezTo>
                    <a:pt x="45667" y="15445"/>
                    <a:pt x="46867" y="14511"/>
                    <a:pt x="47935" y="13443"/>
                  </a:cubicBezTo>
                  <a:cubicBezTo>
                    <a:pt x="48735" y="12643"/>
                    <a:pt x="49770" y="12243"/>
                    <a:pt x="50904" y="12109"/>
                  </a:cubicBezTo>
                  <a:cubicBezTo>
                    <a:pt x="51437" y="12076"/>
                    <a:pt x="51938" y="11909"/>
                    <a:pt x="52505" y="11776"/>
                  </a:cubicBezTo>
                  <a:cubicBezTo>
                    <a:pt x="53606" y="11509"/>
                    <a:pt x="54406" y="10908"/>
                    <a:pt x="55173" y="9974"/>
                  </a:cubicBezTo>
                  <a:cubicBezTo>
                    <a:pt x="56908" y="7739"/>
                    <a:pt x="59343" y="6739"/>
                    <a:pt x="62112" y="6572"/>
                  </a:cubicBezTo>
                  <a:cubicBezTo>
                    <a:pt x="63079" y="6505"/>
                    <a:pt x="64046" y="6405"/>
                    <a:pt x="65014" y="6272"/>
                  </a:cubicBezTo>
                  <a:cubicBezTo>
                    <a:pt x="65914" y="6138"/>
                    <a:pt x="66882" y="6305"/>
                    <a:pt x="67749" y="5838"/>
                  </a:cubicBezTo>
                  <a:cubicBezTo>
                    <a:pt x="68716" y="5338"/>
                    <a:pt x="69684" y="4937"/>
                    <a:pt x="70584" y="4437"/>
                  </a:cubicBezTo>
                  <a:cubicBezTo>
                    <a:pt x="71885" y="3736"/>
                    <a:pt x="73186" y="3403"/>
                    <a:pt x="74587" y="3903"/>
                  </a:cubicBezTo>
                  <a:cubicBezTo>
                    <a:pt x="75421" y="4170"/>
                    <a:pt x="76255" y="4404"/>
                    <a:pt x="77089" y="4570"/>
                  </a:cubicBezTo>
                  <a:cubicBezTo>
                    <a:pt x="77723" y="4670"/>
                    <a:pt x="78357" y="4570"/>
                    <a:pt x="78957" y="4604"/>
                  </a:cubicBezTo>
                  <a:cubicBezTo>
                    <a:pt x="80558" y="4771"/>
                    <a:pt x="81959" y="4070"/>
                    <a:pt x="83460" y="3937"/>
                  </a:cubicBezTo>
                  <a:cubicBezTo>
                    <a:pt x="86963" y="3670"/>
                    <a:pt x="90432" y="2636"/>
                    <a:pt x="94034" y="3103"/>
                  </a:cubicBezTo>
                  <a:cubicBezTo>
                    <a:pt x="94735" y="3169"/>
                    <a:pt x="95536" y="3069"/>
                    <a:pt x="96203" y="2802"/>
                  </a:cubicBezTo>
                  <a:cubicBezTo>
                    <a:pt x="98071" y="2102"/>
                    <a:pt x="99939" y="2002"/>
                    <a:pt x="101873" y="2669"/>
                  </a:cubicBezTo>
                  <a:cubicBezTo>
                    <a:pt x="102407" y="2903"/>
                    <a:pt x="102874" y="2802"/>
                    <a:pt x="103408" y="2736"/>
                  </a:cubicBezTo>
                  <a:cubicBezTo>
                    <a:pt x="104575" y="2502"/>
                    <a:pt x="105776" y="2402"/>
                    <a:pt x="106977" y="2302"/>
                  </a:cubicBezTo>
                  <a:cubicBezTo>
                    <a:pt x="108278" y="2235"/>
                    <a:pt x="109445" y="1802"/>
                    <a:pt x="110546" y="1101"/>
                  </a:cubicBezTo>
                  <a:cubicBezTo>
                    <a:pt x="110713" y="968"/>
                    <a:pt x="110880" y="834"/>
                    <a:pt x="111047" y="768"/>
                  </a:cubicBezTo>
                  <a:cubicBezTo>
                    <a:pt x="112247" y="0"/>
                    <a:pt x="112714" y="67"/>
                    <a:pt x="113582" y="1135"/>
                  </a:cubicBezTo>
                  <a:cubicBezTo>
                    <a:pt x="114115" y="1768"/>
                    <a:pt x="114582" y="2469"/>
                    <a:pt x="115083" y="3136"/>
                  </a:cubicBezTo>
                  <a:cubicBezTo>
                    <a:pt x="115550" y="3837"/>
                    <a:pt x="115950" y="4070"/>
                    <a:pt x="116751" y="3837"/>
                  </a:cubicBezTo>
                  <a:cubicBezTo>
                    <a:pt x="117251" y="3736"/>
                    <a:pt x="117718" y="3436"/>
                    <a:pt x="118218" y="3169"/>
                  </a:cubicBezTo>
                  <a:cubicBezTo>
                    <a:pt x="118752" y="2936"/>
                    <a:pt x="119286" y="2636"/>
                    <a:pt x="119853" y="2469"/>
                  </a:cubicBezTo>
                  <a:cubicBezTo>
                    <a:pt x="120086" y="2402"/>
                    <a:pt x="120520" y="2502"/>
                    <a:pt x="120620" y="2669"/>
                  </a:cubicBezTo>
                  <a:cubicBezTo>
                    <a:pt x="120720" y="2836"/>
                    <a:pt x="120587" y="3269"/>
                    <a:pt x="120453" y="3470"/>
                  </a:cubicBezTo>
                  <a:cubicBezTo>
                    <a:pt x="119619" y="4504"/>
                    <a:pt x="118752" y="5504"/>
                    <a:pt x="117885" y="6505"/>
                  </a:cubicBezTo>
                  <a:cubicBezTo>
                    <a:pt x="117284" y="7172"/>
                    <a:pt x="117184" y="7773"/>
                    <a:pt x="117518" y="8640"/>
                  </a:cubicBezTo>
                  <a:cubicBezTo>
                    <a:pt x="118185" y="10341"/>
                    <a:pt x="119353" y="11642"/>
                    <a:pt x="120420" y="13010"/>
                  </a:cubicBezTo>
                  <a:cubicBezTo>
                    <a:pt x="121521" y="14444"/>
                    <a:pt x="121287" y="15912"/>
                    <a:pt x="120920" y="17413"/>
                  </a:cubicBezTo>
                  <a:cubicBezTo>
                    <a:pt x="120854" y="17746"/>
                    <a:pt x="120587" y="18080"/>
                    <a:pt x="120287" y="18280"/>
                  </a:cubicBezTo>
                  <a:cubicBezTo>
                    <a:pt x="119119" y="19348"/>
                    <a:pt x="117918" y="20415"/>
                    <a:pt x="116784" y="21516"/>
                  </a:cubicBezTo>
                  <a:cubicBezTo>
                    <a:pt x="116250" y="22083"/>
                    <a:pt x="115850" y="22783"/>
                    <a:pt x="115450" y="23484"/>
                  </a:cubicBezTo>
                  <a:cubicBezTo>
                    <a:pt x="115350" y="23751"/>
                    <a:pt x="115450" y="24184"/>
                    <a:pt x="115550" y="24518"/>
                  </a:cubicBezTo>
                  <a:cubicBezTo>
                    <a:pt x="115683" y="24985"/>
                    <a:pt x="115917" y="25452"/>
                    <a:pt x="116084" y="25952"/>
                  </a:cubicBezTo>
                  <a:cubicBezTo>
                    <a:pt x="117218" y="26353"/>
                    <a:pt x="118419" y="25519"/>
                    <a:pt x="119553" y="26086"/>
                  </a:cubicBezTo>
                  <a:cubicBezTo>
                    <a:pt x="119519" y="26619"/>
                    <a:pt x="119386" y="27120"/>
                    <a:pt x="119453" y="27587"/>
                  </a:cubicBezTo>
                  <a:cubicBezTo>
                    <a:pt x="119553" y="28154"/>
                    <a:pt x="120253" y="27954"/>
                    <a:pt x="120687" y="28187"/>
                  </a:cubicBezTo>
                  <a:cubicBezTo>
                    <a:pt x="120453" y="29088"/>
                    <a:pt x="119853" y="29989"/>
                    <a:pt x="120553" y="30823"/>
                  </a:cubicBezTo>
                  <a:cubicBezTo>
                    <a:pt x="120520" y="30923"/>
                    <a:pt x="120520" y="30956"/>
                    <a:pt x="120453" y="30989"/>
                  </a:cubicBezTo>
                  <a:cubicBezTo>
                    <a:pt x="120420" y="31023"/>
                    <a:pt x="120420" y="31023"/>
                    <a:pt x="120387" y="31023"/>
                  </a:cubicBezTo>
                  <a:cubicBezTo>
                    <a:pt x="120287" y="31023"/>
                    <a:pt x="120253" y="31089"/>
                    <a:pt x="120186" y="31089"/>
                  </a:cubicBezTo>
                  <a:cubicBezTo>
                    <a:pt x="118519" y="31123"/>
                    <a:pt x="116851" y="31123"/>
                    <a:pt x="115183" y="31156"/>
                  </a:cubicBezTo>
                  <a:cubicBezTo>
                    <a:pt x="76889" y="31423"/>
                    <a:pt x="38562" y="31656"/>
                    <a:pt x="301" y="31857"/>
                  </a:cubicBezTo>
                  <a:cubicBezTo>
                    <a:pt x="201" y="31857"/>
                    <a:pt x="167" y="31823"/>
                    <a:pt x="101" y="31823"/>
                  </a:cubicBezTo>
                  <a:cubicBezTo>
                    <a:pt x="101" y="31857"/>
                    <a:pt x="101" y="31823"/>
                    <a:pt x="1" y="31656"/>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413;p61">
              <a:extLst>
                <a:ext uri="{FF2B5EF4-FFF2-40B4-BE49-F238E27FC236}">
                  <a16:creationId xmlns:a16="http://schemas.microsoft.com/office/drawing/2014/main" id="{3CFCE1F9-F772-4E0D-A974-FBA9EAD1A08A}"/>
                </a:ext>
              </a:extLst>
            </p:cNvPr>
            <p:cNvSpPr/>
            <p:nvPr/>
          </p:nvSpPr>
          <p:spPr>
            <a:xfrm>
              <a:off x="4156187" y="38490"/>
              <a:ext cx="1200622" cy="1815054"/>
            </a:xfrm>
            <a:custGeom>
              <a:avLst/>
              <a:gdLst/>
              <a:ahLst/>
              <a:cxnLst/>
              <a:rect l="l" t="t" r="r" b="b"/>
              <a:pathLst>
                <a:path w="50971" h="77056" extrusionOk="0">
                  <a:moveTo>
                    <a:pt x="6605" y="75688"/>
                  </a:moveTo>
                  <a:cubicBezTo>
                    <a:pt x="8206" y="75188"/>
                    <a:pt x="8974" y="73954"/>
                    <a:pt x="9774" y="72719"/>
                  </a:cubicBezTo>
                  <a:cubicBezTo>
                    <a:pt x="10108" y="72119"/>
                    <a:pt x="10775" y="71752"/>
                    <a:pt x="11275" y="71252"/>
                  </a:cubicBezTo>
                  <a:cubicBezTo>
                    <a:pt x="11942" y="70618"/>
                    <a:pt x="12343" y="69884"/>
                    <a:pt x="12142" y="68950"/>
                  </a:cubicBezTo>
                  <a:cubicBezTo>
                    <a:pt x="12009" y="68516"/>
                    <a:pt x="12309" y="68283"/>
                    <a:pt x="12643" y="68250"/>
                  </a:cubicBezTo>
                  <a:cubicBezTo>
                    <a:pt x="13443" y="68083"/>
                    <a:pt x="14244" y="67883"/>
                    <a:pt x="14978" y="67849"/>
                  </a:cubicBezTo>
                  <a:cubicBezTo>
                    <a:pt x="16045" y="67783"/>
                    <a:pt x="16946" y="67616"/>
                    <a:pt x="17780" y="66949"/>
                  </a:cubicBezTo>
                  <a:cubicBezTo>
                    <a:pt x="18347" y="66448"/>
                    <a:pt x="19114" y="66348"/>
                    <a:pt x="19848" y="66415"/>
                  </a:cubicBezTo>
                  <a:cubicBezTo>
                    <a:pt x="21282" y="66548"/>
                    <a:pt x="22183" y="65748"/>
                    <a:pt x="23084" y="64881"/>
                  </a:cubicBezTo>
                  <a:cubicBezTo>
                    <a:pt x="23651" y="64347"/>
                    <a:pt x="23584" y="63613"/>
                    <a:pt x="22917" y="62612"/>
                  </a:cubicBezTo>
                  <a:cubicBezTo>
                    <a:pt x="22517" y="62846"/>
                    <a:pt x="22183" y="63046"/>
                    <a:pt x="21816" y="63246"/>
                  </a:cubicBezTo>
                  <a:cubicBezTo>
                    <a:pt x="20982" y="63780"/>
                    <a:pt x="20315" y="63746"/>
                    <a:pt x="19681" y="62946"/>
                  </a:cubicBezTo>
                  <a:cubicBezTo>
                    <a:pt x="19181" y="62345"/>
                    <a:pt x="18614" y="62079"/>
                    <a:pt x="17913" y="62079"/>
                  </a:cubicBezTo>
                  <a:cubicBezTo>
                    <a:pt x="16979" y="62079"/>
                    <a:pt x="16312" y="61712"/>
                    <a:pt x="15912" y="61011"/>
                  </a:cubicBezTo>
                  <a:cubicBezTo>
                    <a:pt x="15178" y="59744"/>
                    <a:pt x="14177" y="59543"/>
                    <a:pt x="12943" y="60010"/>
                  </a:cubicBezTo>
                  <a:cubicBezTo>
                    <a:pt x="12409" y="60211"/>
                    <a:pt x="11842" y="60444"/>
                    <a:pt x="11309" y="60744"/>
                  </a:cubicBezTo>
                  <a:cubicBezTo>
                    <a:pt x="10608" y="61178"/>
                    <a:pt x="10174" y="61078"/>
                    <a:pt x="9574" y="60244"/>
                  </a:cubicBezTo>
                  <a:cubicBezTo>
                    <a:pt x="9074" y="59610"/>
                    <a:pt x="9074" y="59176"/>
                    <a:pt x="9674" y="58709"/>
                  </a:cubicBezTo>
                  <a:cubicBezTo>
                    <a:pt x="10241" y="58276"/>
                    <a:pt x="10842" y="57942"/>
                    <a:pt x="11509" y="57709"/>
                  </a:cubicBezTo>
                  <a:cubicBezTo>
                    <a:pt x="12443" y="57375"/>
                    <a:pt x="13443" y="57175"/>
                    <a:pt x="14411" y="56908"/>
                  </a:cubicBezTo>
                  <a:cubicBezTo>
                    <a:pt x="14477" y="56908"/>
                    <a:pt x="14578" y="56908"/>
                    <a:pt x="14611" y="56875"/>
                  </a:cubicBezTo>
                  <a:cubicBezTo>
                    <a:pt x="15145" y="56341"/>
                    <a:pt x="15845" y="56341"/>
                    <a:pt x="16446" y="56241"/>
                  </a:cubicBezTo>
                  <a:cubicBezTo>
                    <a:pt x="16345" y="54607"/>
                    <a:pt x="16312" y="53072"/>
                    <a:pt x="16179" y="51571"/>
                  </a:cubicBezTo>
                  <a:cubicBezTo>
                    <a:pt x="16112" y="50871"/>
                    <a:pt x="15912" y="50103"/>
                    <a:pt x="15578" y="49503"/>
                  </a:cubicBezTo>
                  <a:cubicBezTo>
                    <a:pt x="15245" y="48869"/>
                    <a:pt x="14678" y="48335"/>
                    <a:pt x="13810" y="48369"/>
                  </a:cubicBezTo>
                  <a:cubicBezTo>
                    <a:pt x="13577" y="48369"/>
                    <a:pt x="13277" y="48202"/>
                    <a:pt x="12810" y="48035"/>
                  </a:cubicBezTo>
                  <a:cubicBezTo>
                    <a:pt x="13277" y="47568"/>
                    <a:pt x="13610" y="47201"/>
                    <a:pt x="13977" y="46834"/>
                  </a:cubicBezTo>
                  <a:cubicBezTo>
                    <a:pt x="15078" y="45834"/>
                    <a:pt x="15311" y="44766"/>
                    <a:pt x="14744" y="43399"/>
                  </a:cubicBezTo>
                  <a:cubicBezTo>
                    <a:pt x="14611" y="43098"/>
                    <a:pt x="14444" y="42765"/>
                    <a:pt x="14411" y="42498"/>
                  </a:cubicBezTo>
                  <a:cubicBezTo>
                    <a:pt x="14311" y="42098"/>
                    <a:pt x="14311" y="41697"/>
                    <a:pt x="14744" y="41531"/>
                  </a:cubicBezTo>
                  <a:cubicBezTo>
                    <a:pt x="15111" y="41397"/>
                    <a:pt x="15445" y="41564"/>
                    <a:pt x="15678" y="41864"/>
                  </a:cubicBezTo>
                  <a:cubicBezTo>
                    <a:pt x="16145" y="42364"/>
                    <a:pt x="16612" y="42865"/>
                    <a:pt x="17113" y="43365"/>
                  </a:cubicBezTo>
                  <a:cubicBezTo>
                    <a:pt x="17780" y="44032"/>
                    <a:pt x="18580" y="44232"/>
                    <a:pt x="19481" y="43999"/>
                  </a:cubicBezTo>
                  <a:cubicBezTo>
                    <a:pt x="19748" y="43899"/>
                    <a:pt x="20015" y="43899"/>
                    <a:pt x="20282" y="43866"/>
                  </a:cubicBezTo>
                  <a:cubicBezTo>
                    <a:pt x="21783" y="43665"/>
                    <a:pt x="22817" y="42164"/>
                    <a:pt x="22483" y="40663"/>
                  </a:cubicBezTo>
                  <a:cubicBezTo>
                    <a:pt x="22350" y="40163"/>
                    <a:pt x="22283" y="39696"/>
                    <a:pt x="22116" y="39195"/>
                  </a:cubicBezTo>
                  <a:cubicBezTo>
                    <a:pt x="21916" y="38428"/>
                    <a:pt x="21949" y="37728"/>
                    <a:pt x="22583" y="37194"/>
                  </a:cubicBezTo>
                  <a:cubicBezTo>
                    <a:pt x="22984" y="36827"/>
                    <a:pt x="23017" y="36327"/>
                    <a:pt x="22917" y="35826"/>
                  </a:cubicBezTo>
                  <a:cubicBezTo>
                    <a:pt x="22750" y="35093"/>
                    <a:pt x="22450" y="34892"/>
                    <a:pt x="21749" y="34992"/>
                  </a:cubicBezTo>
                  <a:cubicBezTo>
                    <a:pt x="20815" y="35059"/>
                    <a:pt x="20649" y="35026"/>
                    <a:pt x="20315" y="34159"/>
                  </a:cubicBezTo>
                  <a:cubicBezTo>
                    <a:pt x="20015" y="33391"/>
                    <a:pt x="19815" y="32657"/>
                    <a:pt x="19614" y="31857"/>
                  </a:cubicBezTo>
                  <a:cubicBezTo>
                    <a:pt x="19348" y="30890"/>
                    <a:pt x="19481" y="29922"/>
                    <a:pt x="20081" y="29088"/>
                  </a:cubicBezTo>
                  <a:cubicBezTo>
                    <a:pt x="20448" y="28555"/>
                    <a:pt x="20582" y="27921"/>
                    <a:pt x="20348" y="27187"/>
                  </a:cubicBezTo>
                  <a:cubicBezTo>
                    <a:pt x="19114" y="26920"/>
                    <a:pt x="17913" y="26720"/>
                    <a:pt x="16846" y="27754"/>
                  </a:cubicBezTo>
                  <a:cubicBezTo>
                    <a:pt x="16812" y="27821"/>
                    <a:pt x="16812" y="27821"/>
                    <a:pt x="16779" y="27821"/>
                  </a:cubicBezTo>
                  <a:cubicBezTo>
                    <a:pt x="16112" y="28588"/>
                    <a:pt x="15278" y="28655"/>
                    <a:pt x="14344" y="28321"/>
                  </a:cubicBezTo>
                  <a:cubicBezTo>
                    <a:pt x="13577" y="28021"/>
                    <a:pt x="13410" y="28154"/>
                    <a:pt x="13010" y="28888"/>
                  </a:cubicBezTo>
                  <a:cubicBezTo>
                    <a:pt x="12976" y="29022"/>
                    <a:pt x="12910" y="29155"/>
                    <a:pt x="12843" y="29255"/>
                  </a:cubicBezTo>
                  <a:cubicBezTo>
                    <a:pt x="12810" y="29355"/>
                    <a:pt x="12743" y="29388"/>
                    <a:pt x="12643" y="29489"/>
                  </a:cubicBezTo>
                  <a:cubicBezTo>
                    <a:pt x="10775" y="29222"/>
                    <a:pt x="9674" y="27220"/>
                    <a:pt x="10608" y="25519"/>
                  </a:cubicBezTo>
                  <a:cubicBezTo>
                    <a:pt x="10942" y="24885"/>
                    <a:pt x="11342" y="24352"/>
                    <a:pt x="11742" y="23751"/>
                  </a:cubicBezTo>
                  <a:cubicBezTo>
                    <a:pt x="11942" y="23418"/>
                    <a:pt x="12176" y="23084"/>
                    <a:pt x="12309" y="22717"/>
                  </a:cubicBezTo>
                  <a:cubicBezTo>
                    <a:pt x="12676" y="21750"/>
                    <a:pt x="12409" y="21149"/>
                    <a:pt x="11575" y="20649"/>
                  </a:cubicBezTo>
                  <a:cubicBezTo>
                    <a:pt x="10641" y="20082"/>
                    <a:pt x="9674" y="19648"/>
                    <a:pt x="9007" y="18748"/>
                  </a:cubicBezTo>
                  <a:cubicBezTo>
                    <a:pt x="8907" y="18581"/>
                    <a:pt x="8740" y="18514"/>
                    <a:pt x="8507" y="18381"/>
                  </a:cubicBezTo>
                  <a:cubicBezTo>
                    <a:pt x="7906" y="18647"/>
                    <a:pt x="7439" y="18981"/>
                    <a:pt x="7139" y="19581"/>
                  </a:cubicBezTo>
                  <a:cubicBezTo>
                    <a:pt x="6972" y="19915"/>
                    <a:pt x="6739" y="20215"/>
                    <a:pt x="6472" y="20515"/>
                  </a:cubicBezTo>
                  <a:cubicBezTo>
                    <a:pt x="5971" y="20182"/>
                    <a:pt x="6138" y="19848"/>
                    <a:pt x="6172" y="19515"/>
                  </a:cubicBezTo>
                  <a:cubicBezTo>
                    <a:pt x="6272" y="19081"/>
                    <a:pt x="6405" y="18681"/>
                    <a:pt x="6438" y="18247"/>
                  </a:cubicBezTo>
                  <a:cubicBezTo>
                    <a:pt x="6505" y="17680"/>
                    <a:pt x="6405" y="17146"/>
                    <a:pt x="6005" y="16679"/>
                  </a:cubicBezTo>
                  <a:cubicBezTo>
                    <a:pt x="5671" y="16312"/>
                    <a:pt x="5271" y="16246"/>
                    <a:pt x="4904" y="16646"/>
                  </a:cubicBezTo>
                  <a:cubicBezTo>
                    <a:pt x="4670" y="16813"/>
                    <a:pt x="4504" y="17046"/>
                    <a:pt x="4337" y="17213"/>
                  </a:cubicBezTo>
                  <a:cubicBezTo>
                    <a:pt x="4103" y="17413"/>
                    <a:pt x="3837" y="17680"/>
                    <a:pt x="3570" y="17814"/>
                  </a:cubicBezTo>
                  <a:cubicBezTo>
                    <a:pt x="3136" y="18047"/>
                    <a:pt x="2469" y="17914"/>
                    <a:pt x="2169" y="17580"/>
                  </a:cubicBezTo>
                  <a:cubicBezTo>
                    <a:pt x="1802" y="17180"/>
                    <a:pt x="2069" y="16746"/>
                    <a:pt x="2335" y="16413"/>
                  </a:cubicBezTo>
                  <a:cubicBezTo>
                    <a:pt x="2836" y="15745"/>
                    <a:pt x="3336" y="15078"/>
                    <a:pt x="3903" y="14478"/>
                  </a:cubicBezTo>
                  <a:cubicBezTo>
                    <a:pt x="4837" y="13477"/>
                    <a:pt x="4570" y="12310"/>
                    <a:pt x="4304" y="11175"/>
                  </a:cubicBezTo>
                  <a:cubicBezTo>
                    <a:pt x="4270" y="10875"/>
                    <a:pt x="3837" y="10642"/>
                    <a:pt x="3570" y="10408"/>
                  </a:cubicBezTo>
                  <a:cubicBezTo>
                    <a:pt x="3003" y="10008"/>
                    <a:pt x="2969" y="9708"/>
                    <a:pt x="3403" y="9174"/>
                  </a:cubicBezTo>
                  <a:cubicBezTo>
                    <a:pt x="3470" y="9041"/>
                    <a:pt x="3636" y="8907"/>
                    <a:pt x="3736" y="8807"/>
                  </a:cubicBezTo>
                  <a:cubicBezTo>
                    <a:pt x="4070" y="8340"/>
                    <a:pt x="4070" y="7906"/>
                    <a:pt x="3670" y="7473"/>
                  </a:cubicBezTo>
                  <a:cubicBezTo>
                    <a:pt x="3570" y="7306"/>
                    <a:pt x="3403" y="7173"/>
                    <a:pt x="3269" y="7006"/>
                  </a:cubicBezTo>
                  <a:cubicBezTo>
                    <a:pt x="2736" y="6372"/>
                    <a:pt x="2736" y="6339"/>
                    <a:pt x="3136" y="5638"/>
                  </a:cubicBezTo>
                  <a:cubicBezTo>
                    <a:pt x="3303" y="5338"/>
                    <a:pt x="3503" y="5038"/>
                    <a:pt x="3603" y="4737"/>
                  </a:cubicBezTo>
                  <a:cubicBezTo>
                    <a:pt x="3803" y="3503"/>
                    <a:pt x="3670" y="2536"/>
                    <a:pt x="1935" y="2236"/>
                  </a:cubicBezTo>
                  <a:cubicBezTo>
                    <a:pt x="934" y="2069"/>
                    <a:pt x="401" y="1569"/>
                    <a:pt x="67" y="701"/>
                  </a:cubicBezTo>
                  <a:cubicBezTo>
                    <a:pt x="0" y="635"/>
                    <a:pt x="67" y="501"/>
                    <a:pt x="67" y="301"/>
                  </a:cubicBezTo>
                  <a:cubicBezTo>
                    <a:pt x="9574" y="234"/>
                    <a:pt x="19081" y="1"/>
                    <a:pt x="28788" y="67"/>
                  </a:cubicBezTo>
                  <a:cubicBezTo>
                    <a:pt x="28487" y="635"/>
                    <a:pt x="28321" y="1001"/>
                    <a:pt x="28121" y="1368"/>
                  </a:cubicBezTo>
                  <a:cubicBezTo>
                    <a:pt x="27620" y="2169"/>
                    <a:pt x="27320" y="3036"/>
                    <a:pt x="27320" y="4004"/>
                  </a:cubicBezTo>
                  <a:cubicBezTo>
                    <a:pt x="27353" y="5204"/>
                    <a:pt x="26820" y="6139"/>
                    <a:pt x="25685" y="6639"/>
                  </a:cubicBezTo>
                  <a:cubicBezTo>
                    <a:pt x="25319" y="6806"/>
                    <a:pt x="24918" y="7006"/>
                    <a:pt x="24585" y="7239"/>
                  </a:cubicBezTo>
                  <a:cubicBezTo>
                    <a:pt x="23851" y="7740"/>
                    <a:pt x="23751" y="8240"/>
                    <a:pt x="24118" y="9074"/>
                  </a:cubicBezTo>
                  <a:cubicBezTo>
                    <a:pt x="24585" y="10075"/>
                    <a:pt x="24485" y="10241"/>
                    <a:pt x="23584" y="10875"/>
                  </a:cubicBezTo>
                  <a:cubicBezTo>
                    <a:pt x="23417" y="11009"/>
                    <a:pt x="23250" y="11142"/>
                    <a:pt x="23084" y="11175"/>
                  </a:cubicBezTo>
                  <a:cubicBezTo>
                    <a:pt x="21916" y="11576"/>
                    <a:pt x="21116" y="12376"/>
                    <a:pt x="20482" y="13410"/>
                  </a:cubicBezTo>
                  <a:cubicBezTo>
                    <a:pt x="19981" y="14311"/>
                    <a:pt x="19748" y="15212"/>
                    <a:pt x="19915" y="16212"/>
                  </a:cubicBezTo>
                  <a:cubicBezTo>
                    <a:pt x="20015" y="16913"/>
                    <a:pt x="20348" y="17213"/>
                    <a:pt x="21082" y="17146"/>
                  </a:cubicBezTo>
                  <a:cubicBezTo>
                    <a:pt x="21149" y="17146"/>
                    <a:pt x="21282" y="17146"/>
                    <a:pt x="21349" y="17080"/>
                  </a:cubicBezTo>
                  <a:cubicBezTo>
                    <a:pt x="22583" y="16413"/>
                    <a:pt x="23984" y="16646"/>
                    <a:pt x="25252" y="16312"/>
                  </a:cubicBezTo>
                  <a:cubicBezTo>
                    <a:pt x="26152" y="16079"/>
                    <a:pt x="26920" y="16346"/>
                    <a:pt x="27453" y="17046"/>
                  </a:cubicBezTo>
                  <a:cubicBezTo>
                    <a:pt x="28287" y="18147"/>
                    <a:pt x="29188" y="19148"/>
                    <a:pt x="29888" y="20315"/>
                  </a:cubicBezTo>
                  <a:cubicBezTo>
                    <a:pt x="30489" y="21416"/>
                    <a:pt x="30989" y="22684"/>
                    <a:pt x="31289" y="23918"/>
                  </a:cubicBezTo>
                  <a:cubicBezTo>
                    <a:pt x="31923" y="26753"/>
                    <a:pt x="33591" y="28655"/>
                    <a:pt x="36126" y="29889"/>
                  </a:cubicBezTo>
                  <a:cubicBezTo>
                    <a:pt x="37427" y="30523"/>
                    <a:pt x="38328" y="31423"/>
                    <a:pt x="38795" y="32858"/>
                  </a:cubicBezTo>
                  <a:cubicBezTo>
                    <a:pt x="39228" y="34192"/>
                    <a:pt x="39729" y="35493"/>
                    <a:pt x="40229" y="36760"/>
                  </a:cubicBezTo>
                  <a:cubicBezTo>
                    <a:pt x="40463" y="37394"/>
                    <a:pt x="40796" y="38028"/>
                    <a:pt x="41163" y="38662"/>
                  </a:cubicBezTo>
                  <a:cubicBezTo>
                    <a:pt x="41597" y="39362"/>
                    <a:pt x="41764" y="40096"/>
                    <a:pt x="41330" y="40830"/>
                  </a:cubicBezTo>
                  <a:cubicBezTo>
                    <a:pt x="40563" y="42231"/>
                    <a:pt x="40830" y="43432"/>
                    <a:pt x="41830" y="44566"/>
                  </a:cubicBezTo>
                  <a:cubicBezTo>
                    <a:pt x="42497" y="45333"/>
                    <a:pt x="42764" y="46100"/>
                    <a:pt x="42131" y="47034"/>
                  </a:cubicBezTo>
                  <a:cubicBezTo>
                    <a:pt x="41997" y="47235"/>
                    <a:pt x="41930" y="47535"/>
                    <a:pt x="41897" y="47768"/>
                  </a:cubicBezTo>
                  <a:cubicBezTo>
                    <a:pt x="41730" y="48602"/>
                    <a:pt x="41897" y="48869"/>
                    <a:pt x="42731" y="49203"/>
                  </a:cubicBezTo>
                  <a:cubicBezTo>
                    <a:pt x="43665" y="49570"/>
                    <a:pt x="44566" y="49403"/>
                    <a:pt x="45433" y="49103"/>
                  </a:cubicBezTo>
                  <a:cubicBezTo>
                    <a:pt x="46400" y="48836"/>
                    <a:pt x="47301" y="48435"/>
                    <a:pt x="48335" y="48536"/>
                  </a:cubicBezTo>
                  <a:cubicBezTo>
                    <a:pt x="49502" y="48602"/>
                    <a:pt x="50136" y="49036"/>
                    <a:pt x="50436" y="50170"/>
                  </a:cubicBezTo>
                  <a:cubicBezTo>
                    <a:pt x="50637" y="50871"/>
                    <a:pt x="50670" y="51671"/>
                    <a:pt x="50770" y="52405"/>
                  </a:cubicBezTo>
                  <a:cubicBezTo>
                    <a:pt x="50837" y="53105"/>
                    <a:pt x="50770" y="53873"/>
                    <a:pt x="50837" y="54573"/>
                  </a:cubicBezTo>
                  <a:cubicBezTo>
                    <a:pt x="50970" y="55574"/>
                    <a:pt x="50770" y="56408"/>
                    <a:pt x="50003" y="57108"/>
                  </a:cubicBezTo>
                  <a:cubicBezTo>
                    <a:pt x="49669" y="57409"/>
                    <a:pt x="49402" y="57742"/>
                    <a:pt x="49069" y="58009"/>
                  </a:cubicBezTo>
                  <a:cubicBezTo>
                    <a:pt x="48568" y="58443"/>
                    <a:pt x="48135" y="58943"/>
                    <a:pt x="48068" y="59677"/>
                  </a:cubicBezTo>
                  <a:cubicBezTo>
                    <a:pt x="47968" y="60177"/>
                    <a:pt x="47735" y="60511"/>
                    <a:pt x="47167" y="60611"/>
                  </a:cubicBezTo>
                  <a:cubicBezTo>
                    <a:pt x="46300" y="60844"/>
                    <a:pt x="45800" y="61545"/>
                    <a:pt x="45333" y="62245"/>
                  </a:cubicBezTo>
                  <a:cubicBezTo>
                    <a:pt x="44999" y="62779"/>
                    <a:pt x="45166" y="63179"/>
                    <a:pt x="45733" y="63513"/>
                  </a:cubicBezTo>
                  <a:cubicBezTo>
                    <a:pt x="46000" y="63680"/>
                    <a:pt x="46400" y="63746"/>
                    <a:pt x="46767" y="63880"/>
                  </a:cubicBezTo>
                  <a:cubicBezTo>
                    <a:pt x="47468" y="64080"/>
                    <a:pt x="48168" y="64247"/>
                    <a:pt x="48835" y="64547"/>
                  </a:cubicBezTo>
                  <a:cubicBezTo>
                    <a:pt x="49769" y="64947"/>
                    <a:pt x="49803" y="65414"/>
                    <a:pt x="49169" y="66181"/>
                  </a:cubicBezTo>
                  <a:cubicBezTo>
                    <a:pt x="49136" y="66215"/>
                    <a:pt x="49102" y="66282"/>
                    <a:pt x="49069" y="66348"/>
                  </a:cubicBezTo>
                  <a:cubicBezTo>
                    <a:pt x="47501" y="67549"/>
                    <a:pt x="45900" y="68683"/>
                    <a:pt x="43798" y="68717"/>
                  </a:cubicBezTo>
                  <a:cubicBezTo>
                    <a:pt x="43098" y="68717"/>
                    <a:pt x="42331" y="68883"/>
                    <a:pt x="41630" y="69084"/>
                  </a:cubicBezTo>
                  <a:cubicBezTo>
                    <a:pt x="39962" y="69584"/>
                    <a:pt x="38395" y="69851"/>
                    <a:pt x="36627" y="69350"/>
                  </a:cubicBezTo>
                  <a:cubicBezTo>
                    <a:pt x="35126" y="68883"/>
                    <a:pt x="33558" y="68883"/>
                    <a:pt x="32057" y="69617"/>
                  </a:cubicBezTo>
                  <a:cubicBezTo>
                    <a:pt x="31723" y="69784"/>
                    <a:pt x="31223" y="69717"/>
                    <a:pt x="30789" y="69584"/>
                  </a:cubicBezTo>
                  <a:cubicBezTo>
                    <a:pt x="30222" y="69417"/>
                    <a:pt x="29622" y="69417"/>
                    <a:pt x="29155" y="69851"/>
                  </a:cubicBezTo>
                  <a:cubicBezTo>
                    <a:pt x="28421" y="70518"/>
                    <a:pt x="27553" y="70551"/>
                    <a:pt x="26653" y="70585"/>
                  </a:cubicBezTo>
                  <a:cubicBezTo>
                    <a:pt x="26086" y="70585"/>
                    <a:pt x="25452" y="70551"/>
                    <a:pt x="24885" y="70384"/>
                  </a:cubicBezTo>
                  <a:cubicBezTo>
                    <a:pt x="24051" y="70184"/>
                    <a:pt x="23284" y="70284"/>
                    <a:pt x="22550" y="70618"/>
                  </a:cubicBezTo>
                  <a:cubicBezTo>
                    <a:pt x="21816" y="70952"/>
                    <a:pt x="21082" y="71285"/>
                    <a:pt x="20382" y="71619"/>
                  </a:cubicBezTo>
                  <a:cubicBezTo>
                    <a:pt x="19748" y="71919"/>
                    <a:pt x="19248" y="72386"/>
                    <a:pt x="18914" y="72920"/>
                  </a:cubicBezTo>
                  <a:cubicBezTo>
                    <a:pt x="18080" y="74254"/>
                    <a:pt x="17546" y="74454"/>
                    <a:pt x="16112" y="73787"/>
                  </a:cubicBezTo>
                  <a:cubicBezTo>
                    <a:pt x="14978" y="73253"/>
                    <a:pt x="13977" y="73420"/>
                    <a:pt x="12943" y="73854"/>
                  </a:cubicBezTo>
                  <a:cubicBezTo>
                    <a:pt x="12476" y="74020"/>
                    <a:pt x="12109" y="74354"/>
                    <a:pt x="11642" y="74621"/>
                  </a:cubicBezTo>
                  <a:cubicBezTo>
                    <a:pt x="10608" y="75255"/>
                    <a:pt x="9574" y="75955"/>
                    <a:pt x="8473" y="76556"/>
                  </a:cubicBezTo>
                  <a:cubicBezTo>
                    <a:pt x="7606" y="77056"/>
                    <a:pt x="7239" y="76889"/>
                    <a:pt x="6605" y="75688"/>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414;p61">
              <a:extLst>
                <a:ext uri="{FF2B5EF4-FFF2-40B4-BE49-F238E27FC236}">
                  <a16:creationId xmlns:a16="http://schemas.microsoft.com/office/drawing/2014/main" id="{E1629621-CEE6-4921-A07D-D475238DA274}"/>
                </a:ext>
              </a:extLst>
            </p:cNvPr>
            <p:cNvSpPr/>
            <p:nvPr/>
          </p:nvSpPr>
          <p:spPr>
            <a:xfrm>
              <a:off x="6888236" y="16489"/>
              <a:ext cx="665523" cy="533544"/>
            </a:xfrm>
            <a:custGeom>
              <a:avLst/>
              <a:gdLst/>
              <a:ahLst/>
              <a:cxnLst/>
              <a:rect l="l" t="t" r="r" b="b"/>
              <a:pathLst>
                <a:path w="28254" h="22651" extrusionOk="0">
                  <a:moveTo>
                    <a:pt x="28254" y="101"/>
                  </a:moveTo>
                  <a:cubicBezTo>
                    <a:pt x="27987" y="968"/>
                    <a:pt x="27687" y="1769"/>
                    <a:pt x="27386" y="2603"/>
                  </a:cubicBezTo>
                  <a:cubicBezTo>
                    <a:pt x="27220" y="3003"/>
                    <a:pt x="27186" y="3503"/>
                    <a:pt x="26986" y="3937"/>
                  </a:cubicBezTo>
                  <a:cubicBezTo>
                    <a:pt x="26753" y="4437"/>
                    <a:pt x="26553" y="5004"/>
                    <a:pt x="26152" y="5371"/>
                  </a:cubicBezTo>
                  <a:cubicBezTo>
                    <a:pt x="24651" y="6839"/>
                    <a:pt x="24251" y="8640"/>
                    <a:pt x="24218" y="10608"/>
                  </a:cubicBezTo>
                  <a:cubicBezTo>
                    <a:pt x="24218" y="11175"/>
                    <a:pt x="24151" y="11809"/>
                    <a:pt x="24051" y="12410"/>
                  </a:cubicBezTo>
                  <a:cubicBezTo>
                    <a:pt x="23917" y="13010"/>
                    <a:pt x="23484" y="13344"/>
                    <a:pt x="22850" y="13410"/>
                  </a:cubicBezTo>
                  <a:cubicBezTo>
                    <a:pt x="22716" y="13410"/>
                    <a:pt x="22583" y="13444"/>
                    <a:pt x="22416" y="13444"/>
                  </a:cubicBezTo>
                  <a:cubicBezTo>
                    <a:pt x="21215" y="13277"/>
                    <a:pt x="20215" y="13611"/>
                    <a:pt x="19247" y="14311"/>
                  </a:cubicBezTo>
                  <a:cubicBezTo>
                    <a:pt x="19047" y="14478"/>
                    <a:pt x="18647" y="14444"/>
                    <a:pt x="18313" y="14411"/>
                  </a:cubicBezTo>
                  <a:cubicBezTo>
                    <a:pt x="17646" y="14311"/>
                    <a:pt x="16979" y="14178"/>
                    <a:pt x="16345" y="14078"/>
                  </a:cubicBezTo>
                  <a:cubicBezTo>
                    <a:pt x="15478" y="13911"/>
                    <a:pt x="14677" y="14144"/>
                    <a:pt x="14177" y="14911"/>
                  </a:cubicBezTo>
                  <a:cubicBezTo>
                    <a:pt x="13643" y="15679"/>
                    <a:pt x="13176" y="16513"/>
                    <a:pt x="12743" y="17413"/>
                  </a:cubicBezTo>
                  <a:cubicBezTo>
                    <a:pt x="12676" y="17613"/>
                    <a:pt x="12876" y="18014"/>
                    <a:pt x="13010" y="18314"/>
                  </a:cubicBezTo>
                  <a:cubicBezTo>
                    <a:pt x="13310" y="19081"/>
                    <a:pt x="13677" y="19782"/>
                    <a:pt x="13843" y="20515"/>
                  </a:cubicBezTo>
                  <a:cubicBezTo>
                    <a:pt x="14077" y="21449"/>
                    <a:pt x="13310" y="22350"/>
                    <a:pt x="12476" y="22083"/>
                  </a:cubicBezTo>
                  <a:cubicBezTo>
                    <a:pt x="10875" y="21516"/>
                    <a:pt x="9474" y="21950"/>
                    <a:pt x="8006" y="22450"/>
                  </a:cubicBezTo>
                  <a:cubicBezTo>
                    <a:pt x="7639" y="22550"/>
                    <a:pt x="7205" y="22650"/>
                    <a:pt x="6838" y="22650"/>
                  </a:cubicBezTo>
                  <a:cubicBezTo>
                    <a:pt x="6305" y="22650"/>
                    <a:pt x="6038" y="22383"/>
                    <a:pt x="6205" y="21916"/>
                  </a:cubicBezTo>
                  <a:cubicBezTo>
                    <a:pt x="6738" y="20149"/>
                    <a:pt x="5971" y="18581"/>
                    <a:pt x="5638" y="16946"/>
                  </a:cubicBezTo>
                  <a:cubicBezTo>
                    <a:pt x="5538" y="16479"/>
                    <a:pt x="5071" y="16112"/>
                    <a:pt x="4804" y="15745"/>
                  </a:cubicBezTo>
                  <a:cubicBezTo>
                    <a:pt x="4670" y="15579"/>
                    <a:pt x="4470" y="15412"/>
                    <a:pt x="4337" y="15245"/>
                  </a:cubicBezTo>
                  <a:cubicBezTo>
                    <a:pt x="3870" y="14444"/>
                    <a:pt x="4036" y="13977"/>
                    <a:pt x="4870" y="13611"/>
                  </a:cubicBezTo>
                  <a:cubicBezTo>
                    <a:pt x="5004" y="13577"/>
                    <a:pt x="5137" y="13477"/>
                    <a:pt x="5337" y="13410"/>
                  </a:cubicBezTo>
                  <a:cubicBezTo>
                    <a:pt x="5304" y="13110"/>
                    <a:pt x="5304" y="12843"/>
                    <a:pt x="5237" y="12576"/>
                  </a:cubicBezTo>
                  <a:cubicBezTo>
                    <a:pt x="5204" y="12009"/>
                    <a:pt x="5137" y="11509"/>
                    <a:pt x="5538" y="11075"/>
                  </a:cubicBezTo>
                  <a:cubicBezTo>
                    <a:pt x="5838" y="10742"/>
                    <a:pt x="5804" y="10275"/>
                    <a:pt x="5571" y="9941"/>
                  </a:cubicBezTo>
                  <a:cubicBezTo>
                    <a:pt x="5204" y="9341"/>
                    <a:pt x="4837" y="8740"/>
                    <a:pt x="4337" y="8273"/>
                  </a:cubicBezTo>
                  <a:cubicBezTo>
                    <a:pt x="3703" y="7673"/>
                    <a:pt x="3303" y="7073"/>
                    <a:pt x="3069" y="6272"/>
                  </a:cubicBezTo>
                  <a:cubicBezTo>
                    <a:pt x="2702" y="4938"/>
                    <a:pt x="2068" y="3803"/>
                    <a:pt x="968" y="2970"/>
                  </a:cubicBezTo>
                  <a:cubicBezTo>
                    <a:pt x="134" y="2402"/>
                    <a:pt x="300" y="1435"/>
                    <a:pt x="0" y="501"/>
                  </a:cubicBezTo>
                  <a:cubicBezTo>
                    <a:pt x="501" y="468"/>
                    <a:pt x="901" y="334"/>
                    <a:pt x="1335" y="334"/>
                  </a:cubicBezTo>
                  <a:cubicBezTo>
                    <a:pt x="4237" y="301"/>
                    <a:pt x="7139" y="301"/>
                    <a:pt x="10041" y="268"/>
                  </a:cubicBezTo>
                  <a:lnTo>
                    <a:pt x="17546" y="134"/>
                  </a:lnTo>
                  <a:cubicBezTo>
                    <a:pt x="20982" y="101"/>
                    <a:pt x="24351" y="101"/>
                    <a:pt x="27753" y="101"/>
                  </a:cubicBezTo>
                  <a:cubicBezTo>
                    <a:pt x="27853" y="1"/>
                    <a:pt x="28020" y="67"/>
                    <a:pt x="28254" y="10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15;p61">
              <a:extLst>
                <a:ext uri="{FF2B5EF4-FFF2-40B4-BE49-F238E27FC236}">
                  <a16:creationId xmlns:a16="http://schemas.microsoft.com/office/drawing/2014/main" id="{841DBF7C-A026-48A3-992B-3249EDCA59E3}"/>
                </a:ext>
              </a:extLst>
            </p:cNvPr>
            <p:cNvSpPr/>
            <p:nvPr/>
          </p:nvSpPr>
          <p:spPr>
            <a:xfrm>
              <a:off x="4035959" y="43201"/>
              <a:ext cx="48735" cy="113182"/>
            </a:xfrm>
            <a:custGeom>
              <a:avLst/>
              <a:gdLst/>
              <a:ahLst/>
              <a:cxnLst/>
              <a:rect l="l" t="t" r="r" b="b"/>
              <a:pathLst>
                <a:path w="2069" h="4805" extrusionOk="0">
                  <a:moveTo>
                    <a:pt x="168" y="4804"/>
                  </a:moveTo>
                  <a:cubicBezTo>
                    <a:pt x="134" y="4304"/>
                    <a:pt x="1" y="3904"/>
                    <a:pt x="34" y="3603"/>
                  </a:cubicBezTo>
                  <a:cubicBezTo>
                    <a:pt x="168" y="2669"/>
                    <a:pt x="268" y="1735"/>
                    <a:pt x="501" y="835"/>
                  </a:cubicBezTo>
                  <a:cubicBezTo>
                    <a:pt x="701" y="68"/>
                    <a:pt x="935" y="1"/>
                    <a:pt x="2069" y="168"/>
                  </a:cubicBezTo>
                  <a:cubicBezTo>
                    <a:pt x="2069" y="1135"/>
                    <a:pt x="901" y="4070"/>
                    <a:pt x="168" y="4804"/>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6;p61">
              <a:extLst>
                <a:ext uri="{FF2B5EF4-FFF2-40B4-BE49-F238E27FC236}">
                  <a16:creationId xmlns:a16="http://schemas.microsoft.com/office/drawing/2014/main" id="{98511E54-51AE-4D32-B0BC-824727D14130}"/>
                </a:ext>
              </a:extLst>
            </p:cNvPr>
            <p:cNvSpPr/>
            <p:nvPr/>
          </p:nvSpPr>
          <p:spPr>
            <a:xfrm>
              <a:off x="7775340" y="16489"/>
              <a:ext cx="68380" cy="86470"/>
            </a:xfrm>
            <a:custGeom>
              <a:avLst/>
              <a:gdLst/>
              <a:ahLst/>
              <a:cxnLst/>
              <a:rect l="l" t="t" r="r" b="b"/>
              <a:pathLst>
                <a:path w="2903" h="3671" extrusionOk="0">
                  <a:moveTo>
                    <a:pt x="1" y="3670"/>
                  </a:moveTo>
                  <a:cubicBezTo>
                    <a:pt x="267" y="2369"/>
                    <a:pt x="534" y="1268"/>
                    <a:pt x="768" y="1"/>
                  </a:cubicBezTo>
                  <a:lnTo>
                    <a:pt x="2836" y="1"/>
                  </a:lnTo>
                  <a:cubicBezTo>
                    <a:pt x="2869" y="101"/>
                    <a:pt x="2903" y="168"/>
                    <a:pt x="2869" y="201"/>
                  </a:cubicBezTo>
                  <a:cubicBezTo>
                    <a:pt x="2402" y="968"/>
                    <a:pt x="1935" y="1769"/>
                    <a:pt x="1502" y="2503"/>
                  </a:cubicBezTo>
                  <a:cubicBezTo>
                    <a:pt x="1168" y="3070"/>
                    <a:pt x="768" y="3470"/>
                    <a:pt x="1" y="367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17;p61">
              <a:extLst>
                <a:ext uri="{FF2B5EF4-FFF2-40B4-BE49-F238E27FC236}">
                  <a16:creationId xmlns:a16="http://schemas.microsoft.com/office/drawing/2014/main" id="{8461E448-B6DF-4B28-8AD3-B05BA6D308F1}"/>
                </a:ext>
              </a:extLst>
            </p:cNvPr>
            <p:cNvSpPr/>
            <p:nvPr/>
          </p:nvSpPr>
          <p:spPr>
            <a:xfrm>
              <a:off x="3621875" y="604223"/>
              <a:ext cx="690680" cy="907551"/>
            </a:xfrm>
            <a:custGeom>
              <a:avLst/>
              <a:gdLst/>
              <a:ahLst/>
              <a:cxnLst/>
              <a:rect l="l" t="t" r="r" b="b"/>
              <a:pathLst>
                <a:path w="29322" h="38529" extrusionOk="0">
                  <a:moveTo>
                    <a:pt x="1" y="32191"/>
                  </a:moveTo>
                  <a:cubicBezTo>
                    <a:pt x="267" y="31991"/>
                    <a:pt x="468" y="31757"/>
                    <a:pt x="768" y="31557"/>
                  </a:cubicBezTo>
                  <a:cubicBezTo>
                    <a:pt x="1135" y="31323"/>
                    <a:pt x="1568" y="31057"/>
                    <a:pt x="1935" y="30756"/>
                  </a:cubicBezTo>
                  <a:cubicBezTo>
                    <a:pt x="2502" y="30356"/>
                    <a:pt x="2636" y="29856"/>
                    <a:pt x="2302" y="29222"/>
                  </a:cubicBezTo>
                  <a:cubicBezTo>
                    <a:pt x="2102" y="28822"/>
                    <a:pt x="2236" y="28521"/>
                    <a:pt x="2469" y="28221"/>
                  </a:cubicBezTo>
                  <a:cubicBezTo>
                    <a:pt x="2836" y="27788"/>
                    <a:pt x="3170" y="27421"/>
                    <a:pt x="3570" y="27054"/>
                  </a:cubicBezTo>
                  <a:cubicBezTo>
                    <a:pt x="4337" y="26353"/>
                    <a:pt x="4637" y="25419"/>
                    <a:pt x="4637" y="24452"/>
                  </a:cubicBezTo>
                  <a:cubicBezTo>
                    <a:pt x="4637" y="23518"/>
                    <a:pt x="5004" y="22851"/>
                    <a:pt x="5738" y="22217"/>
                  </a:cubicBezTo>
                  <a:cubicBezTo>
                    <a:pt x="6505" y="21516"/>
                    <a:pt x="6439" y="21183"/>
                    <a:pt x="5471" y="20716"/>
                  </a:cubicBezTo>
                  <a:cubicBezTo>
                    <a:pt x="4637" y="20349"/>
                    <a:pt x="3837" y="20015"/>
                    <a:pt x="3069" y="19548"/>
                  </a:cubicBezTo>
                  <a:cubicBezTo>
                    <a:pt x="2436" y="19215"/>
                    <a:pt x="2402" y="18881"/>
                    <a:pt x="2803" y="18347"/>
                  </a:cubicBezTo>
                  <a:cubicBezTo>
                    <a:pt x="3103" y="17947"/>
                    <a:pt x="3536" y="17614"/>
                    <a:pt x="3837" y="17247"/>
                  </a:cubicBezTo>
                  <a:cubicBezTo>
                    <a:pt x="4771" y="16346"/>
                    <a:pt x="4671" y="15512"/>
                    <a:pt x="3637" y="14745"/>
                  </a:cubicBezTo>
                  <a:cubicBezTo>
                    <a:pt x="3170" y="14411"/>
                    <a:pt x="2703" y="14178"/>
                    <a:pt x="2269" y="13777"/>
                  </a:cubicBezTo>
                  <a:cubicBezTo>
                    <a:pt x="1535" y="13177"/>
                    <a:pt x="1402" y="12110"/>
                    <a:pt x="2002" y="11576"/>
                  </a:cubicBezTo>
                  <a:cubicBezTo>
                    <a:pt x="2569" y="11142"/>
                    <a:pt x="3236" y="10709"/>
                    <a:pt x="3970" y="10742"/>
                  </a:cubicBezTo>
                  <a:cubicBezTo>
                    <a:pt x="4370" y="10742"/>
                    <a:pt x="4737" y="10775"/>
                    <a:pt x="5071" y="10875"/>
                  </a:cubicBezTo>
                  <a:cubicBezTo>
                    <a:pt x="7072" y="11543"/>
                    <a:pt x="8774" y="10875"/>
                    <a:pt x="10441" y="9808"/>
                  </a:cubicBezTo>
                  <a:cubicBezTo>
                    <a:pt x="10775" y="9574"/>
                    <a:pt x="11109" y="9374"/>
                    <a:pt x="11409" y="9074"/>
                  </a:cubicBezTo>
                  <a:cubicBezTo>
                    <a:pt x="11709" y="8774"/>
                    <a:pt x="11942" y="8440"/>
                    <a:pt x="12209" y="8073"/>
                  </a:cubicBezTo>
                  <a:cubicBezTo>
                    <a:pt x="12409" y="7740"/>
                    <a:pt x="12376" y="7406"/>
                    <a:pt x="12076" y="7206"/>
                  </a:cubicBezTo>
                  <a:cubicBezTo>
                    <a:pt x="11709" y="6906"/>
                    <a:pt x="11275" y="6639"/>
                    <a:pt x="10875" y="6372"/>
                  </a:cubicBezTo>
                  <a:cubicBezTo>
                    <a:pt x="10575" y="6205"/>
                    <a:pt x="10108" y="6205"/>
                    <a:pt x="10208" y="5805"/>
                  </a:cubicBezTo>
                  <a:cubicBezTo>
                    <a:pt x="10241" y="5538"/>
                    <a:pt x="10608" y="5338"/>
                    <a:pt x="10808" y="5105"/>
                  </a:cubicBezTo>
                  <a:cubicBezTo>
                    <a:pt x="10975" y="5005"/>
                    <a:pt x="11209" y="4971"/>
                    <a:pt x="11375" y="4871"/>
                  </a:cubicBezTo>
                  <a:cubicBezTo>
                    <a:pt x="11976" y="4571"/>
                    <a:pt x="12376" y="4204"/>
                    <a:pt x="12409" y="3437"/>
                  </a:cubicBezTo>
                  <a:cubicBezTo>
                    <a:pt x="12476" y="2336"/>
                    <a:pt x="12910" y="2002"/>
                    <a:pt x="13977" y="1702"/>
                  </a:cubicBezTo>
                  <a:cubicBezTo>
                    <a:pt x="15312" y="1402"/>
                    <a:pt x="16646" y="1168"/>
                    <a:pt x="17847" y="501"/>
                  </a:cubicBezTo>
                  <a:cubicBezTo>
                    <a:pt x="18180" y="335"/>
                    <a:pt x="18514" y="201"/>
                    <a:pt x="18914" y="101"/>
                  </a:cubicBezTo>
                  <a:cubicBezTo>
                    <a:pt x="19615" y="1"/>
                    <a:pt x="20282" y="34"/>
                    <a:pt x="20815" y="635"/>
                  </a:cubicBezTo>
                  <a:cubicBezTo>
                    <a:pt x="21783" y="1669"/>
                    <a:pt x="22250" y="1769"/>
                    <a:pt x="23517" y="1202"/>
                  </a:cubicBezTo>
                  <a:cubicBezTo>
                    <a:pt x="23818" y="1068"/>
                    <a:pt x="24051" y="902"/>
                    <a:pt x="24285" y="735"/>
                  </a:cubicBezTo>
                  <a:cubicBezTo>
                    <a:pt x="24952" y="335"/>
                    <a:pt x="25285" y="368"/>
                    <a:pt x="25852" y="902"/>
                  </a:cubicBezTo>
                  <a:cubicBezTo>
                    <a:pt x="26686" y="1736"/>
                    <a:pt x="27153" y="2736"/>
                    <a:pt x="27353" y="3904"/>
                  </a:cubicBezTo>
                  <a:cubicBezTo>
                    <a:pt x="27587" y="5171"/>
                    <a:pt x="27987" y="6305"/>
                    <a:pt x="28821" y="7239"/>
                  </a:cubicBezTo>
                  <a:cubicBezTo>
                    <a:pt x="28988" y="7473"/>
                    <a:pt x="29121" y="7773"/>
                    <a:pt x="29155" y="8040"/>
                  </a:cubicBezTo>
                  <a:cubicBezTo>
                    <a:pt x="29322" y="9107"/>
                    <a:pt x="28454" y="10842"/>
                    <a:pt x="27454" y="11276"/>
                  </a:cubicBezTo>
                  <a:cubicBezTo>
                    <a:pt x="26453" y="11743"/>
                    <a:pt x="25586" y="12210"/>
                    <a:pt x="24985" y="13210"/>
                  </a:cubicBezTo>
                  <a:cubicBezTo>
                    <a:pt x="24618" y="13844"/>
                    <a:pt x="24485" y="14445"/>
                    <a:pt x="24652" y="15112"/>
                  </a:cubicBezTo>
                  <a:cubicBezTo>
                    <a:pt x="25018" y="16379"/>
                    <a:pt x="25419" y="17580"/>
                    <a:pt x="26086" y="18748"/>
                  </a:cubicBezTo>
                  <a:cubicBezTo>
                    <a:pt x="26853" y="20082"/>
                    <a:pt x="27320" y="21616"/>
                    <a:pt x="26686" y="23251"/>
                  </a:cubicBezTo>
                  <a:cubicBezTo>
                    <a:pt x="26319" y="24218"/>
                    <a:pt x="25986" y="25186"/>
                    <a:pt x="25686" y="26186"/>
                  </a:cubicBezTo>
                  <a:cubicBezTo>
                    <a:pt x="25586" y="26687"/>
                    <a:pt x="25586" y="27220"/>
                    <a:pt x="25485" y="27754"/>
                  </a:cubicBezTo>
                  <a:cubicBezTo>
                    <a:pt x="25352" y="28421"/>
                    <a:pt x="25285" y="29088"/>
                    <a:pt x="25085" y="29722"/>
                  </a:cubicBezTo>
                  <a:cubicBezTo>
                    <a:pt x="24818" y="30456"/>
                    <a:pt x="24151" y="30756"/>
                    <a:pt x="23451" y="30890"/>
                  </a:cubicBezTo>
                  <a:cubicBezTo>
                    <a:pt x="22183" y="31090"/>
                    <a:pt x="20949" y="31357"/>
                    <a:pt x="19681" y="31423"/>
                  </a:cubicBezTo>
                  <a:cubicBezTo>
                    <a:pt x="17747" y="31557"/>
                    <a:pt x="16145" y="32391"/>
                    <a:pt x="14644" y="33592"/>
                  </a:cubicBezTo>
                  <a:cubicBezTo>
                    <a:pt x="13977" y="34125"/>
                    <a:pt x="13310" y="34726"/>
                    <a:pt x="12576" y="35126"/>
                  </a:cubicBezTo>
                  <a:cubicBezTo>
                    <a:pt x="10575" y="36260"/>
                    <a:pt x="8573" y="37461"/>
                    <a:pt x="6338" y="38128"/>
                  </a:cubicBezTo>
                  <a:cubicBezTo>
                    <a:pt x="5671" y="38362"/>
                    <a:pt x="4971" y="38428"/>
                    <a:pt x="4304" y="38495"/>
                  </a:cubicBezTo>
                  <a:cubicBezTo>
                    <a:pt x="3470" y="38529"/>
                    <a:pt x="3270" y="38295"/>
                    <a:pt x="2969" y="37561"/>
                  </a:cubicBezTo>
                  <a:cubicBezTo>
                    <a:pt x="2936" y="37394"/>
                    <a:pt x="2903" y="37228"/>
                    <a:pt x="2803" y="37094"/>
                  </a:cubicBezTo>
                  <a:cubicBezTo>
                    <a:pt x="2636" y="36727"/>
                    <a:pt x="2436" y="36494"/>
                    <a:pt x="2002" y="36494"/>
                  </a:cubicBezTo>
                  <a:cubicBezTo>
                    <a:pt x="1802" y="36494"/>
                    <a:pt x="1635" y="36427"/>
                    <a:pt x="1435" y="36360"/>
                  </a:cubicBezTo>
                  <a:cubicBezTo>
                    <a:pt x="501" y="36060"/>
                    <a:pt x="167" y="35360"/>
                    <a:pt x="634" y="34492"/>
                  </a:cubicBezTo>
                  <a:cubicBezTo>
                    <a:pt x="668" y="34426"/>
                    <a:pt x="734" y="34359"/>
                    <a:pt x="734" y="34326"/>
                  </a:cubicBezTo>
                  <a:cubicBezTo>
                    <a:pt x="1302" y="33225"/>
                    <a:pt x="1268" y="33158"/>
                    <a:pt x="301" y="32391"/>
                  </a:cubicBezTo>
                  <a:cubicBezTo>
                    <a:pt x="134" y="32424"/>
                    <a:pt x="101" y="32357"/>
                    <a:pt x="1" y="3219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18;p61">
              <a:extLst>
                <a:ext uri="{FF2B5EF4-FFF2-40B4-BE49-F238E27FC236}">
                  <a16:creationId xmlns:a16="http://schemas.microsoft.com/office/drawing/2014/main" id="{D8CD1689-F190-4CD9-AB3C-74B6EEBBFA7A}"/>
                </a:ext>
              </a:extLst>
            </p:cNvPr>
            <p:cNvSpPr/>
            <p:nvPr/>
          </p:nvSpPr>
          <p:spPr>
            <a:xfrm>
              <a:off x="6966794" y="4235967"/>
              <a:ext cx="417253" cy="249094"/>
            </a:xfrm>
            <a:custGeom>
              <a:avLst/>
              <a:gdLst/>
              <a:ahLst/>
              <a:cxnLst/>
              <a:rect l="l" t="t" r="r" b="b"/>
              <a:pathLst>
                <a:path w="17714" h="10575" extrusionOk="0">
                  <a:moveTo>
                    <a:pt x="34" y="2335"/>
                  </a:moveTo>
                  <a:cubicBezTo>
                    <a:pt x="1" y="1468"/>
                    <a:pt x="301" y="934"/>
                    <a:pt x="902" y="734"/>
                  </a:cubicBezTo>
                  <a:cubicBezTo>
                    <a:pt x="1469" y="567"/>
                    <a:pt x="2036" y="400"/>
                    <a:pt x="2569" y="434"/>
                  </a:cubicBezTo>
                  <a:cubicBezTo>
                    <a:pt x="3503" y="567"/>
                    <a:pt x="4471" y="734"/>
                    <a:pt x="5305" y="1101"/>
                  </a:cubicBezTo>
                  <a:cubicBezTo>
                    <a:pt x="6873" y="1768"/>
                    <a:pt x="8507" y="1935"/>
                    <a:pt x="10175" y="1935"/>
                  </a:cubicBezTo>
                  <a:cubicBezTo>
                    <a:pt x="10909" y="1935"/>
                    <a:pt x="11709" y="1901"/>
                    <a:pt x="12477" y="1835"/>
                  </a:cubicBezTo>
                  <a:cubicBezTo>
                    <a:pt x="13544" y="1768"/>
                    <a:pt x="14411" y="1168"/>
                    <a:pt x="15345" y="767"/>
                  </a:cubicBezTo>
                  <a:cubicBezTo>
                    <a:pt x="15846" y="567"/>
                    <a:pt x="16313" y="300"/>
                    <a:pt x="16846" y="167"/>
                  </a:cubicBezTo>
                  <a:cubicBezTo>
                    <a:pt x="17413" y="0"/>
                    <a:pt x="17714" y="334"/>
                    <a:pt x="17480" y="901"/>
                  </a:cubicBezTo>
                  <a:cubicBezTo>
                    <a:pt x="17313" y="1268"/>
                    <a:pt x="17013" y="1635"/>
                    <a:pt x="16680" y="1901"/>
                  </a:cubicBezTo>
                  <a:cubicBezTo>
                    <a:pt x="15145" y="3069"/>
                    <a:pt x="14711" y="4670"/>
                    <a:pt x="15579" y="6438"/>
                  </a:cubicBezTo>
                  <a:cubicBezTo>
                    <a:pt x="15746" y="6772"/>
                    <a:pt x="15912" y="7105"/>
                    <a:pt x="16046" y="7439"/>
                  </a:cubicBezTo>
                  <a:cubicBezTo>
                    <a:pt x="16379" y="8406"/>
                    <a:pt x="16046" y="9340"/>
                    <a:pt x="15178" y="9974"/>
                  </a:cubicBezTo>
                  <a:cubicBezTo>
                    <a:pt x="14378" y="10508"/>
                    <a:pt x="13411" y="10574"/>
                    <a:pt x="12677" y="9840"/>
                  </a:cubicBezTo>
                  <a:cubicBezTo>
                    <a:pt x="10909" y="8239"/>
                    <a:pt x="8707" y="7505"/>
                    <a:pt x="6672" y="6571"/>
                  </a:cubicBezTo>
                  <a:cubicBezTo>
                    <a:pt x="6506" y="6471"/>
                    <a:pt x="6372" y="6438"/>
                    <a:pt x="6205" y="6405"/>
                  </a:cubicBezTo>
                  <a:cubicBezTo>
                    <a:pt x="3970" y="6138"/>
                    <a:pt x="2336" y="4670"/>
                    <a:pt x="568" y="3469"/>
                  </a:cubicBezTo>
                  <a:cubicBezTo>
                    <a:pt x="134" y="3136"/>
                    <a:pt x="68" y="2635"/>
                    <a:pt x="34" y="2335"/>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19;p61">
              <a:extLst>
                <a:ext uri="{FF2B5EF4-FFF2-40B4-BE49-F238E27FC236}">
                  <a16:creationId xmlns:a16="http://schemas.microsoft.com/office/drawing/2014/main" id="{D3A3C992-5AD9-4CDA-B9CB-297CDF2D8167}"/>
                </a:ext>
              </a:extLst>
            </p:cNvPr>
            <p:cNvSpPr/>
            <p:nvPr/>
          </p:nvSpPr>
          <p:spPr>
            <a:xfrm>
              <a:off x="6326412" y="3684367"/>
              <a:ext cx="232606" cy="398386"/>
            </a:xfrm>
            <a:custGeom>
              <a:avLst/>
              <a:gdLst/>
              <a:ahLst/>
              <a:cxnLst/>
              <a:rect l="l" t="t" r="r" b="b"/>
              <a:pathLst>
                <a:path w="9875" h="16913" extrusionOk="0">
                  <a:moveTo>
                    <a:pt x="6739" y="14744"/>
                  </a:moveTo>
                  <a:cubicBezTo>
                    <a:pt x="6239" y="14577"/>
                    <a:pt x="5872" y="14878"/>
                    <a:pt x="5538" y="15311"/>
                  </a:cubicBezTo>
                  <a:cubicBezTo>
                    <a:pt x="5305" y="15645"/>
                    <a:pt x="5038" y="16012"/>
                    <a:pt x="4738" y="16312"/>
                  </a:cubicBezTo>
                  <a:cubicBezTo>
                    <a:pt x="4537" y="16512"/>
                    <a:pt x="4204" y="16712"/>
                    <a:pt x="3904" y="16746"/>
                  </a:cubicBezTo>
                  <a:cubicBezTo>
                    <a:pt x="2803" y="16912"/>
                    <a:pt x="2136" y="16045"/>
                    <a:pt x="2336" y="14711"/>
                  </a:cubicBezTo>
                  <a:cubicBezTo>
                    <a:pt x="2403" y="14344"/>
                    <a:pt x="2536" y="13910"/>
                    <a:pt x="2669" y="13543"/>
                  </a:cubicBezTo>
                  <a:cubicBezTo>
                    <a:pt x="3070" y="12509"/>
                    <a:pt x="3036" y="11475"/>
                    <a:pt x="2636" y="10474"/>
                  </a:cubicBezTo>
                  <a:cubicBezTo>
                    <a:pt x="2202" y="9407"/>
                    <a:pt x="2069" y="8340"/>
                    <a:pt x="2169" y="7239"/>
                  </a:cubicBezTo>
                  <a:cubicBezTo>
                    <a:pt x="2303" y="6071"/>
                    <a:pt x="2002" y="5004"/>
                    <a:pt x="1035" y="4203"/>
                  </a:cubicBezTo>
                  <a:cubicBezTo>
                    <a:pt x="701" y="3903"/>
                    <a:pt x="468" y="3503"/>
                    <a:pt x="234" y="3069"/>
                  </a:cubicBezTo>
                  <a:cubicBezTo>
                    <a:pt x="1" y="2535"/>
                    <a:pt x="68" y="2235"/>
                    <a:pt x="635" y="2035"/>
                  </a:cubicBezTo>
                  <a:cubicBezTo>
                    <a:pt x="1068" y="1868"/>
                    <a:pt x="1569" y="1668"/>
                    <a:pt x="2069" y="1701"/>
                  </a:cubicBezTo>
                  <a:cubicBezTo>
                    <a:pt x="3470" y="1835"/>
                    <a:pt x="4537" y="1234"/>
                    <a:pt x="5638" y="567"/>
                  </a:cubicBezTo>
                  <a:cubicBezTo>
                    <a:pt x="5838" y="467"/>
                    <a:pt x="6005" y="300"/>
                    <a:pt x="6205" y="200"/>
                  </a:cubicBezTo>
                  <a:cubicBezTo>
                    <a:pt x="6672" y="0"/>
                    <a:pt x="7206" y="167"/>
                    <a:pt x="7406" y="567"/>
                  </a:cubicBezTo>
                  <a:cubicBezTo>
                    <a:pt x="8040" y="1635"/>
                    <a:pt x="8607" y="2635"/>
                    <a:pt x="9207" y="3670"/>
                  </a:cubicBezTo>
                  <a:cubicBezTo>
                    <a:pt x="9875" y="4870"/>
                    <a:pt x="9841" y="5337"/>
                    <a:pt x="8907" y="6338"/>
                  </a:cubicBezTo>
                  <a:cubicBezTo>
                    <a:pt x="7540" y="7839"/>
                    <a:pt x="7506" y="8006"/>
                    <a:pt x="8507" y="9874"/>
                  </a:cubicBezTo>
                  <a:cubicBezTo>
                    <a:pt x="8807" y="10474"/>
                    <a:pt x="8874" y="11008"/>
                    <a:pt x="8674" y="11575"/>
                  </a:cubicBezTo>
                  <a:cubicBezTo>
                    <a:pt x="8407" y="12309"/>
                    <a:pt x="8207" y="13043"/>
                    <a:pt x="8040" y="13810"/>
                  </a:cubicBezTo>
                  <a:cubicBezTo>
                    <a:pt x="7740" y="14811"/>
                    <a:pt x="7740" y="14811"/>
                    <a:pt x="6739" y="14744"/>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20;p61">
              <a:extLst>
                <a:ext uri="{FF2B5EF4-FFF2-40B4-BE49-F238E27FC236}">
                  <a16:creationId xmlns:a16="http://schemas.microsoft.com/office/drawing/2014/main" id="{378FD3D5-4828-4503-98FC-98BC1AFF983D}"/>
                </a:ext>
              </a:extLst>
            </p:cNvPr>
            <p:cNvSpPr/>
            <p:nvPr/>
          </p:nvSpPr>
          <p:spPr>
            <a:xfrm>
              <a:off x="8247583" y="4257167"/>
              <a:ext cx="271094" cy="236539"/>
            </a:xfrm>
            <a:custGeom>
              <a:avLst/>
              <a:gdLst/>
              <a:ahLst/>
              <a:cxnLst/>
              <a:rect l="l" t="t" r="r" b="b"/>
              <a:pathLst>
                <a:path w="11509" h="10042" extrusionOk="0">
                  <a:moveTo>
                    <a:pt x="3836" y="9207"/>
                  </a:moveTo>
                  <a:cubicBezTo>
                    <a:pt x="3102" y="8774"/>
                    <a:pt x="2802" y="8173"/>
                    <a:pt x="2802" y="7439"/>
                  </a:cubicBezTo>
                  <a:cubicBezTo>
                    <a:pt x="2869" y="5271"/>
                    <a:pt x="1835" y="3603"/>
                    <a:pt x="534" y="2035"/>
                  </a:cubicBezTo>
                  <a:cubicBezTo>
                    <a:pt x="200" y="1602"/>
                    <a:pt x="0" y="1202"/>
                    <a:pt x="300" y="668"/>
                  </a:cubicBezTo>
                  <a:cubicBezTo>
                    <a:pt x="567" y="101"/>
                    <a:pt x="1068" y="1"/>
                    <a:pt x="1668" y="67"/>
                  </a:cubicBezTo>
                  <a:cubicBezTo>
                    <a:pt x="2168" y="101"/>
                    <a:pt x="2669" y="234"/>
                    <a:pt x="3169" y="268"/>
                  </a:cubicBezTo>
                  <a:cubicBezTo>
                    <a:pt x="3836" y="334"/>
                    <a:pt x="4503" y="268"/>
                    <a:pt x="5171" y="368"/>
                  </a:cubicBezTo>
                  <a:cubicBezTo>
                    <a:pt x="5871" y="434"/>
                    <a:pt x="6605" y="534"/>
                    <a:pt x="7272" y="701"/>
                  </a:cubicBezTo>
                  <a:cubicBezTo>
                    <a:pt x="8006" y="901"/>
                    <a:pt x="8706" y="1235"/>
                    <a:pt x="9574" y="1602"/>
                  </a:cubicBezTo>
                  <a:cubicBezTo>
                    <a:pt x="10041" y="2436"/>
                    <a:pt x="10674" y="3537"/>
                    <a:pt x="11242" y="4571"/>
                  </a:cubicBezTo>
                  <a:cubicBezTo>
                    <a:pt x="11508" y="5038"/>
                    <a:pt x="11375" y="5271"/>
                    <a:pt x="10875" y="5538"/>
                  </a:cubicBezTo>
                  <a:cubicBezTo>
                    <a:pt x="10508" y="5738"/>
                    <a:pt x="10074" y="5872"/>
                    <a:pt x="9707" y="6105"/>
                  </a:cubicBezTo>
                  <a:cubicBezTo>
                    <a:pt x="9173" y="6505"/>
                    <a:pt x="9173" y="6672"/>
                    <a:pt x="9407" y="7273"/>
                  </a:cubicBezTo>
                  <a:cubicBezTo>
                    <a:pt x="9674" y="7940"/>
                    <a:pt x="9941" y="8573"/>
                    <a:pt x="10074" y="9241"/>
                  </a:cubicBezTo>
                  <a:cubicBezTo>
                    <a:pt x="10207" y="9841"/>
                    <a:pt x="9907" y="10041"/>
                    <a:pt x="9374" y="10008"/>
                  </a:cubicBezTo>
                  <a:cubicBezTo>
                    <a:pt x="8740" y="9908"/>
                    <a:pt x="8239" y="9674"/>
                    <a:pt x="7806" y="9207"/>
                  </a:cubicBezTo>
                  <a:cubicBezTo>
                    <a:pt x="7339" y="8740"/>
                    <a:pt x="6838" y="8273"/>
                    <a:pt x="6238" y="7940"/>
                  </a:cubicBezTo>
                  <a:cubicBezTo>
                    <a:pt x="5337" y="7373"/>
                    <a:pt x="4937" y="7506"/>
                    <a:pt x="4403" y="8407"/>
                  </a:cubicBezTo>
                  <a:cubicBezTo>
                    <a:pt x="4337" y="8573"/>
                    <a:pt x="4203" y="8740"/>
                    <a:pt x="4103" y="8907"/>
                  </a:cubicBezTo>
                  <a:cubicBezTo>
                    <a:pt x="4070" y="9040"/>
                    <a:pt x="3970" y="9074"/>
                    <a:pt x="3836" y="920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21;p61">
              <a:extLst>
                <a:ext uri="{FF2B5EF4-FFF2-40B4-BE49-F238E27FC236}">
                  <a16:creationId xmlns:a16="http://schemas.microsoft.com/office/drawing/2014/main" id="{D8C43E01-0555-44D2-991A-8EE75576169E}"/>
                </a:ext>
              </a:extLst>
            </p:cNvPr>
            <p:cNvSpPr/>
            <p:nvPr/>
          </p:nvSpPr>
          <p:spPr>
            <a:xfrm>
              <a:off x="6372769" y="3344131"/>
              <a:ext cx="146182" cy="278185"/>
            </a:xfrm>
            <a:custGeom>
              <a:avLst/>
              <a:gdLst/>
              <a:ahLst/>
              <a:cxnLst/>
              <a:rect l="l" t="t" r="r" b="b"/>
              <a:pathLst>
                <a:path w="6206" h="11810" extrusionOk="0">
                  <a:moveTo>
                    <a:pt x="1" y="5638"/>
                  </a:moveTo>
                  <a:cubicBezTo>
                    <a:pt x="68" y="4337"/>
                    <a:pt x="401" y="3436"/>
                    <a:pt x="1402" y="2936"/>
                  </a:cubicBezTo>
                  <a:cubicBezTo>
                    <a:pt x="2436" y="2402"/>
                    <a:pt x="3337" y="1602"/>
                    <a:pt x="4071" y="668"/>
                  </a:cubicBezTo>
                  <a:cubicBezTo>
                    <a:pt x="4337" y="401"/>
                    <a:pt x="4771" y="1"/>
                    <a:pt x="5071" y="1"/>
                  </a:cubicBezTo>
                  <a:cubicBezTo>
                    <a:pt x="5605" y="67"/>
                    <a:pt x="5405" y="734"/>
                    <a:pt x="5472" y="1101"/>
                  </a:cubicBezTo>
                  <a:cubicBezTo>
                    <a:pt x="5638" y="1768"/>
                    <a:pt x="5772" y="2469"/>
                    <a:pt x="5972" y="3103"/>
                  </a:cubicBezTo>
                  <a:cubicBezTo>
                    <a:pt x="6139" y="3603"/>
                    <a:pt x="6205" y="4070"/>
                    <a:pt x="5939" y="4571"/>
                  </a:cubicBezTo>
                  <a:cubicBezTo>
                    <a:pt x="5872" y="4737"/>
                    <a:pt x="5772" y="4937"/>
                    <a:pt x="5705" y="5104"/>
                  </a:cubicBezTo>
                  <a:cubicBezTo>
                    <a:pt x="4938" y="6472"/>
                    <a:pt x="4704" y="7973"/>
                    <a:pt x="4538" y="9507"/>
                  </a:cubicBezTo>
                  <a:cubicBezTo>
                    <a:pt x="4471" y="10008"/>
                    <a:pt x="4304" y="10575"/>
                    <a:pt x="4104" y="11075"/>
                  </a:cubicBezTo>
                  <a:cubicBezTo>
                    <a:pt x="3804" y="11676"/>
                    <a:pt x="3237" y="11809"/>
                    <a:pt x="2736" y="11309"/>
                  </a:cubicBezTo>
                  <a:cubicBezTo>
                    <a:pt x="2436" y="11075"/>
                    <a:pt x="2236" y="10675"/>
                    <a:pt x="2069" y="10308"/>
                  </a:cubicBezTo>
                  <a:cubicBezTo>
                    <a:pt x="1535" y="9174"/>
                    <a:pt x="968" y="8006"/>
                    <a:pt x="468" y="6906"/>
                  </a:cubicBezTo>
                  <a:cubicBezTo>
                    <a:pt x="268" y="6439"/>
                    <a:pt x="101" y="5938"/>
                    <a:pt x="1" y="5638"/>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22;p61">
              <a:extLst>
                <a:ext uri="{FF2B5EF4-FFF2-40B4-BE49-F238E27FC236}">
                  <a16:creationId xmlns:a16="http://schemas.microsoft.com/office/drawing/2014/main" id="{948A6061-802A-4C63-A82F-A0F54559FD14}"/>
                </a:ext>
              </a:extLst>
            </p:cNvPr>
            <p:cNvSpPr/>
            <p:nvPr/>
          </p:nvSpPr>
          <p:spPr>
            <a:xfrm>
              <a:off x="8601954" y="4709763"/>
              <a:ext cx="266383" cy="92736"/>
            </a:xfrm>
            <a:custGeom>
              <a:avLst/>
              <a:gdLst/>
              <a:ahLst/>
              <a:cxnLst/>
              <a:rect l="l" t="t" r="r" b="b"/>
              <a:pathLst>
                <a:path w="11309" h="3937" extrusionOk="0">
                  <a:moveTo>
                    <a:pt x="0" y="401"/>
                  </a:moveTo>
                  <a:cubicBezTo>
                    <a:pt x="467" y="0"/>
                    <a:pt x="934" y="0"/>
                    <a:pt x="1368" y="67"/>
                  </a:cubicBezTo>
                  <a:cubicBezTo>
                    <a:pt x="2302" y="301"/>
                    <a:pt x="3169" y="534"/>
                    <a:pt x="4036" y="834"/>
                  </a:cubicBezTo>
                  <a:cubicBezTo>
                    <a:pt x="4737" y="1034"/>
                    <a:pt x="5404" y="1335"/>
                    <a:pt x="6138" y="1501"/>
                  </a:cubicBezTo>
                  <a:cubicBezTo>
                    <a:pt x="6538" y="1568"/>
                    <a:pt x="7005" y="1568"/>
                    <a:pt x="7372" y="1468"/>
                  </a:cubicBezTo>
                  <a:cubicBezTo>
                    <a:pt x="8640" y="1135"/>
                    <a:pt x="9741" y="1501"/>
                    <a:pt x="10841" y="2069"/>
                  </a:cubicBezTo>
                  <a:cubicBezTo>
                    <a:pt x="11041" y="2202"/>
                    <a:pt x="11308" y="2569"/>
                    <a:pt x="11242" y="2802"/>
                  </a:cubicBezTo>
                  <a:cubicBezTo>
                    <a:pt x="11175" y="3069"/>
                    <a:pt x="10875" y="3470"/>
                    <a:pt x="10574" y="3570"/>
                  </a:cubicBezTo>
                  <a:cubicBezTo>
                    <a:pt x="9707" y="3903"/>
                    <a:pt x="8807" y="3937"/>
                    <a:pt x="7839" y="3736"/>
                  </a:cubicBezTo>
                  <a:cubicBezTo>
                    <a:pt x="6972" y="3536"/>
                    <a:pt x="6071" y="3470"/>
                    <a:pt x="5204" y="3203"/>
                  </a:cubicBezTo>
                  <a:cubicBezTo>
                    <a:pt x="4704" y="3069"/>
                    <a:pt x="4203" y="2836"/>
                    <a:pt x="3736" y="2569"/>
                  </a:cubicBezTo>
                  <a:cubicBezTo>
                    <a:pt x="3036" y="2169"/>
                    <a:pt x="2335" y="1702"/>
                    <a:pt x="1501" y="1602"/>
                  </a:cubicBezTo>
                  <a:cubicBezTo>
                    <a:pt x="834" y="1535"/>
                    <a:pt x="367" y="1068"/>
                    <a:pt x="0" y="40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23;p61">
              <a:extLst>
                <a:ext uri="{FF2B5EF4-FFF2-40B4-BE49-F238E27FC236}">
                  <a16:creationId xmlns:a16="http://schemas.microsoft.com/office/drawing/2014/main" id="{7B5ECC77-290E-4688-8A64-C3EFE7E51787}"/>
                </a:ext>
              </a:extLst>
            </p:cNvPr>
            <p:cNvSpPr/>
            <p:nvPr/>
          </p:nvSpPr>
          <p:spPr>
            <a:xfrm>
              <a:off x="5504533" y="3920865"/>
              <a:ext cx="122604" cy="100603"/>
            </a:xfrm>
            <a:custGeom>
              <a:avLst/>
              <a:gdLst/>
              <a:ahLst/>
              <a:cxnLst/>
              <a:rect l="l" t="t" r="r" b="b"/>
              <a:pathLst>
                <a:path w="5205" h="4271" extrusionOk="0">
                  <a:moveTo>
                    <a:pt x="0" y="2302"/>
                  </a:moveTo>
                  <a:cubicBezTo>
                    <a:pt x="200" y="2202"/>
                    <a:pt x="401" y="2136"/>
                    <a:pt x="601" y="1969"/>
                  </a:cubicBezTo>
                  <a:cubicBezTo>
                    <a:pt x="1268" y="1435"/>
                    <a:pt x="1935" y="935"/>
                    <a:pt x="2602" y="334"/>
                  </a:cubicBezTo>
                  <a:cubicBezTo>
                    <a:pt x="3002" y="1"/>
                    <a:pt x="3369" y="34"/>
                    <a:pt x="3770" y="268"/>
                  </a:cubicBezTo>
                  <a:cubicBezTo>
                    <a:pt x="4937" y="768"/>
                    <a:pt x="5204" y="1302"/>
                    <a:pt x="4704" y="2436"/>
                  </a:cubicBezTo>
                  <a:cubicBezTo>
                    <a:pt x="4604" y="2636"/>
                    <a:pt x="4570" y="2869"/>
                    <a:pt x="4504" y="3103"/>
                  </a:cubicBezTo>
                  <a:cubicBezTo>
                    <a:pt x="4170" y="3970"/>
                    <a:pt x="3403" y="4270"/>
                    <a:pt x="2535" y="3870"/>
                  </a:cubicBezTo>
                  <a:cubicBezTo>
                    <a:pt x="2335" y="3803"/>
                    <a:pt x="2102" y="3670"/>
                    <a:pt x="1935" y="3503"/>
                  </a:cubicBezTo>
                  <a:cubicBezTo>
                    <a:pt x="1034" y="2703"/>
                    <a:pt x="1034" y="2703"/>
                    <a:pt x="0" y="2302"/>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24;p61">
              <a:extLst>
                <a:ext uri="{FF2B5EF4-FFF2-40B4-BE49-F238E27FC236}">
                  <a16:creationId xmlns:a16="http://schemas.microsoft.com/office/drawing/2014/main" id="{7A20584A-2622-4FDA-93F0-D3BEF3A28D93}"/>
                </a:ext>
              </a:extLst>
            </p:cNvPr>
            <p:cNvSpPr/>
            <p:nvPr/>
          </p:nvSpPr>
          <p:spPr>
            <a:xfrm>
              <a:off x="5678962" y="3886309"/>
              <a:ext cx="77802" cy="33024"/>
            </a:xfrm>
            <a:custGeom>
              <a:avLst/>
              <a:gdLst/>
              <a:ahLst/>
              <a:cxnLst/>
              <a:rect l="l" t="t" r="r" b="b"/>
              <a:pathLst>
                <a:path w="3303" h="1402" extrusionOk="0">
                  <a:moveTo>
                    <a:pt x="3303" y="634"/>
                  </a:moveTo>
                  <a:cubicBezTo>
                    <a:pt x="3270" y="1134"/>
                    <a:pt x="3036" y="1401"/>
                    <a:pt x="2669" y="1334"/>
                  </a:cubicBezTo>
                  <a:cubicBezTo>
                    <a:pt x="1969" y="1301"/>
                    <a:pt x="1302" y="1268"/>
                    <a:pt x="634" y="1134"/>
                  </a:cubicBezTo>
                  <a:cubicBezTo>
                    <a:pt x="301" y="1101"/>
                    <a:pt x="1" y="834"/>
                    <a:pt x="34" y="434"/>
                  </a:cubicBezTo>
                  <a:cubicBezTo>
                    <a:pt x="67" y="0"/>
                    <a:pt x="468" y="0"/>
                    <a:pt x="734" y="67"/>
                  </a:cubicBezTo>
                  <a:cubicBezTo>
                    <a:pt x="1335" y="67"/>
                    <a:pt x="1969" y="100"/>
                    <a:pt x="2502" y="234"/>
                  </a:cubicBezTo>
                  <a:cubicBezTo>
                    <a:pt x="2803" y="267"/>
                    <a:pt x="3036" y="500"/>
                    <a:pt x="3303" y="634"/>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425;p61">
              <a:extLst>
                <a:ext uri="{FF2B5EF4-FFF2-40B4-BE49-F238E27FC236}">
                  <a16:creationId xmlns:a16="http://schemas.microsoft.com/office/drawing/2014/main" id="{7C110E1C-8943-450C-BAE4-E8411EA4EA89}"/>
                </a:ext>
              </a:extLst>
            </p:cNvPr>
            <p:cNvSpPr/>
            <p:nvPr/>
          </p:nvSpPr>
          <p:spPr>
            <a:xfrm>
              <a:off x="4429620" y="825032"/>
              <a:ext cx="61314" cy="67603"/>
            </a:xfrm>
            <a:custGeom>
              <a:avLst/>
              <a:gdLst/>
              <a:ahLst/>
              <a:cxnLst/>
              <a:rect l="l" t="t" r="r" b="b"/>
              <a:pathLst>
                <a:path w="2603" h="2870" extrusionOk="0">
                  <a:moveTo>
                    <a:pt x="1" y="2636"/>
                  </a:moveTo>
                  <a:cubicBezTo>
                    <a:pt x="168" y="1201"/>
                    <a:pt x="1302" y="0"/>
                    <a:pt x="2369" y="100"/>
                  </a:cubicBezTo>
                  <a:cubicBezTo>
                    <a:pt x="2603" y="1201"/>
                    <a:pt x="1669" y="1702"/>
                    <a:pt x="1135" y="2369"/>
                  </a:cubicBezTo>
                  <a:cubicBezTo>
                    <a:pt x="868" y="2669"/>
                    <a:pt x="468" y="2869"/>
                    <a:pt x="1" y="2636"/>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426;p61">
              <a:extLst>
                <a:ext uri="{FF2B5EF4-FFF2-40B4-BE49-F238E27FC236}">
                  <a16:creationId xmlns:a16="http://schemas.microsoft.com/office/drawing/2014/main" id="{5F8380F7-1FD6-4C9F-95DD-2D35E6E44F70}"/>
                </a:ext>
              </a:extLst>
            </p:cNvPr>
            <p:cNvSpPr/>
            <p:nvPr/>
          </p:nvSpPr>
          <p:spPr>
            <a:xfrm>
              <a:off x="8808607" y="4402528"/>
              <a:ext cx="47934" cy="66025"/>
            </a:xfrm>
            <a:custGeom>
              <a:avLst/>
              <a:gdLst/>
              <a:ahLst/>
              <a:cxnLst/>
              <a:rect l="l" t="t" r="r" b="b"/>
              <a:pathLst>
                <a:path w="2035" h="2803" extrusionOk="0">
                  <a:moveTo>
                    <a:pt x="2035" y="768"/>
                  </a:moveTo>
                  <a:cubicBezTo>
                    <a:pt x="2035" y="1569"/>
                    <a:pt x="1568" y="2169"/>
                    <a:pt x="1068" y="2669"/>
                  </a:cubicBezTo>
                  <a:cubicBezTo>
                    <a:pt x="934" y="2769"/>
                    <a:pt x="534" y="2803"/>
                    <a:pt x="367" y="2703"/>
                  </a:cubicBezTo>
                  <a:cubicBezTo>
                    <a:pt x="167" y="2569"/>
                    <a:pt x="0" y="2236"/>
                    <a:pt x="0" y="2002"/>
                  </a:cubicBezTo>
                  <a:cubicBezTo>
                    <a:pt x="0" y="1435"/>
                    <a:pt x="934" y="234"/>
                    <a:pt x="1435" y="67"/>
                  </a:cubicBezTo>
                  <a:cubicBezTo>
                    <a:pt x="1768" y="1"/>
                    <a:pt x="2035" y="234"/>
                    <a:pt x="2035" y="768"/>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427;p61">
              <a:extLst>
                <a:ext uri="{FF2B5EF4-FFF2-40B4-BE49-F238E27FC236}">
                  <a16:creationId xmlns:a16="http://schemas.microsoft.com/office/drawing/2014/main" id="{BF79FDBA-A80D-4707-9C3D-9EC2873CC552}"/>
                </a:ext>
              </a:extLst>
            </p:cNvPr>
            <p:cNvSpPr/>
            <p:nvPr/>
          </p:nvSpPr>
          <p:spPr>
            <a:xfrm>
              <a:off x="5317525" y="4072515"/>
              <a:ext cx="47157" cy="44825"/>
            </a:xfrm>
            <a:custGeom>
              <a:avLst/>
              <a:gdLst/>
              <a:ahLst/>
              <a:cxnLst/>
              <a:rect l="l" t="t" r="r" b="b"/>
              <a:pathLst>
                <a:path w="2002" h="1903" extrusionOk="0">
                  <a:moveTo>
                    <a:pt x="267" y="1902"/>
                  </a:moveTo>
                  <a:cubicBezTo>
                    <a:pt x="200" y="1769"/>
                    <a:pt x="0" y="1502"/>
                    <a:pt x="100" y="1402"/>
                  </a:cubicBezTo>
                  <a:cubicBezTo>
                    <a:pt x="501" y="935"/>
                    <a:pt x="934" y="501"/>
                    <a:pt x="1435" y="167"/>
                  </a:cubicBezTo>
                  <a:cubicBezTo>
                    <a:pt x="1668" y="1"/>
                    <a:pt x="2002" y="401"/>
                    <a:pt x="1902" y="768"/>
                  </a:cubicBezTo>
                  <a:cubicBezTo>
                    <a:pt x="1768" y="1235"/>
                    <a:pt x="868" y="1902"/>
                    <a:pt x="267" y="1902"/>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428;p61">
              <a:extLst>
                <a:ext uri="{FF2B5EF4-FFF2-40B4-BE49-F238E27FC236}">
                  <a16:creationId xmlns:a16="http://schemas.microsoft.com/office/drawing/2014/main" id="{27D07DDA-64BC-40EA-9F1F-F9F765226D05}"/>
                </a:ext>
              </a:extLst>
            </p:cNvPr>
            <p:cNvSpPr/>
            <p:nvPr/>
          </p:nvSpPr>
          <p:spPr>
            <a:xfrm>
              <a:off x="8689957" y="4290169"/>
              <a:ext cx="56579" cy="47181"/>
            </a:xfrm>
            <a:custGeom>
              <a:avLst/>
              <a:gdLst/>
              <a:ahLst/>
              <a:cxnLst/>
              <a:rect l="l" t="t" r="r" b="b"/>
              <a:pathLst>
                <a:path w="2402" h="2003" extrusionOk="0">
                  <a:moveTo>
                    <a:pt x="2402" y="1802"/>
                  </a:moveTo>
                  <a:cubicBezTo>
                    <a:pt x="1601" y="2002"/>
                    <a:pt x="968" y="1869"/>
                    <a:pt x="467" y="1202"/>
                  </a:cubicBezTo>
                  <a:cubicBezTo>
                    <a:pt x="167" y="801"/>
                    <a:pt x="0" y="368"/>
                    <a:pt x="467" y="1"/>
                  </a:cubicBezTo>
                  <a:cubicBezTo>
                    <a:pt x="1301" y="268"/>
                    <a:pt x="2135" y="1001"/>
                    <a:pt x="2402" y="1802"/>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429;p61">
              <a:extLst>
                <a:ext uri="{FF2B5EF4-FFF2-40B4-BE49-F238E27FC236}">
                  <a16:creationId xmlns:a16="http://schemas.microsoft.com/office/drawing/2014/main" id="{931D08E9-A36D-49F9-AD31-79BB43EBA095}"/>
                </a:ext>
              </a:extLst>
            </p:cNvPr>
            <p:cNvSpPr/>
            <p:nvPr/>
          </p:nvSpPr>
          <p:spPr>
            <a:xfrm>
              <a:off x="6757008" y="376370"/>
              <a:ext cx="187027" cy="275028"/>
            </a:xfrm>
            <a:custGeom>
              <a:avLst/>
              <a:gdLst/>
              <a:ahLst/>
              <a:cxnLst/>
              <a:rect l="l" t="t" r="r" b="b"/>
              <a:pathLst>
                <a:path w="7940" h="11676" extrusionOk="0">
                  <a:moveTo>
                    <a:pt x="7940" y="3003"/>
                  </a:moveTo>
                  <a:cubicBezTo>
                    <a:pt x="7773" y="3503"/>
                    <a:pt x="7639" y="3970"/>
                    <a:pt x="7439" y="4337"/>
                  </a:cubicBezTo>
                  <a:cubicBezTo>
                    <a:pt x="7139" y="4837"/>
                    <a:pt x="6805" y="5304"/>
                    <a:pt x="6472" y="5738"/>
                  </a:cubicBezTo>
                  <a:cubicBezTo>
                    <a:pt x="6105" y="6238"/>
                    <a:pt x="5938" y="6739"/>
                    <a:pt x="6405" y="7306"/>
                  </a:cubicBezTo>
                  <a:cubicBezTo>
                    <a:pt x="6739" y="7673"/>
                    <a:pt x="6772" y="8073"/>
                    <a:pt x="6472" y="8506"/>
                  </a:cubicBezTo>
                  <a:cubicBezTo>
                    <a:pt x="6072" y="9140"/>
                    <a:pt x="5972" y="9807"/>
                    <a:pt x="6038" y="10508"/>
                  </a:cubicBezTo>
                  <a:cubicBezTo>
                    <a:pt x="6038" y="10908"/>
                    <a:pt x="6038" y="11342"/>
                    <a:pt x="5571" y="11509"/>
                  </a:cubicBezTo>
                  <a:cubicBezTo>
                    <a:pt x="5138" y="11675"/>
                    <a:pt x="4771" y="11442"/>
                    <a:pt x="4470" y="11175"/>
                  </a:cubicBezTo>
                  <a:cubicBezTo>
                    <a:pt x="4270" y="11008"/>
                    <a:pt x="4104" y="10808"/>
                    <a:pt x="3970" y="10541"/>
                  </a:cubicBezTo>
                  <a:cubicBezTo>
                    <a:pt x="3503" y="9507"/>
                    <a:pt x="2636" y="8873"/>
                    <a:pt x="1668" y="8373"/>
                  </a:cubicBezTo>
                  <a:cubicBezTo>
                    <a:pt x="935" y="7939"/>
                    <a:pt x="501" y="7439"/>
                    <a:pt x="434" y="6605"/>
                  </a:cubicBezTo>
                  <a:cubicBezTo>
                    <a:pt x="401" y="6205"/>
                    <a:pt x="334" y="5838"/>
                    <a:pt x="267" y="5438"/>
                  </a:cubicBezTo>
                  <a:cubicBezTo>
                    <a:pt x="1" y="4537"/>
                    <a:pt x="401" y="3903"/>
                    <a:pt x="1068" y="3369"/>
                  </a:cubicBezTo>
                  <a:cubicBezTo>
                    <a:pt x="1668" y="2869"/>
                    <a:pt x="2269" y="2369"/>
                    <a:pt x="3203" y="2502"/>
                  </a:cubicBezTo>
                  <a:cubicBezTo>
                    <a:pt x="3670" y="2569"/>
                    <a:pt x="4070" y="2269"/>
                    <a:pt x="4270" y="1768"/>
                  </a:cubicBezTo>
                  <a:cubicBezTo>
                    <a:pt x="4404" y="1501"/>
                    <a:pt x="4571" y="1235"/>
                    <a:pt x="4704" y="1001"/>
                  </a:cubicBezTo>
                  <a:cubicBezTo>
                    <a:pt x="5238" y="100"/>
                    <a:pt x="5605" y="0"/>
                    <a:pt x="6605" y="334"/>
                  </a:cubicBezTo>
                  <a:cubicBezTo>
                    <a:pt x="6739" y="367"/>
                    <a:pt x="6906" y="401"/>
                    <a:pt x="6939" y="534"/>
                  </a:cubicBezTo>
                  <a:cubicBezTo>
                    <a:pt x="7272" y="1335"/>
                    <a:pt x="7606" y="2169"/>
                    <a:pt x="7940" y="3003"/>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430;p61">
              <a:extLst>
                <a:ext uri="{FF2B5EF4-FFF2-40B4-BE49-F238E27FC236}">
                  <a16:creationId xmlns:a16="http://schemas.microsoft.com/office/drawing/2014/main" id="{C71F90D2-61B8-45BB-9291-301E9B321FD0}"/>
                </a:ext>
              </a:extLst>
            </p:cNvPr>
            <p:cNvSpPr/>
            <p:nvPr/>
          </p:nvSpPr>
          <p:spPr>
            <a:xfrm>
              <a:off x="7533330" y="48713"/>
              <a:ext cx="96670" cy="244383"/>
            </a:xfrm>
            <a:custGeom>
              <a:avLst/>
              <a:gdLst/>
              <a:ahLst/>
              <a:cxnLst/>
              <a:rect l="l" t="t" r="r" b="b"/>
              <a:pathLst>
                <a:path w="4104" h="10375" extrusionOk="0">
                  <a:moveTo>
                    <a:pt x="3770" y="0"/>
                  </a:moveTo>
                  <a:cubicBezTo>
                    <a:pt x="4103" y="234"/>
                    <a:pt x="4037" y="501"/>
                    <a:pt x="3970" y="801"/>
                  </a:cubicBezTo>
                  <a:cubicBezTo>
                    <a:pt x="3436" y="2802"/>
                    <a:pt x="3203" y="4937"/>
                    <a:pt x="1969" y="6739"/>
                  </a:cubicBezTo>
                  <a:cubicBezTo>
                    <a:pt x="1635" y="7206"/>
                    <a:pt x="1502" y="7739"/>
                    <a:pt x="1468" y="8306"/>
                  </a:cubicBezTo>
                  <a:cubicBezTo>
                    <a:pt x="1435" y="8907"/>
                    <a:pt x="1168" y="9474"/>
                    <a:pt x="968" y="10041"/>
                  </a:cubicBezTo>
                  <a:cubicBezTo>
                    <a:pt x="934" y="10208"/>
                    <a:pt x="634" y="10241"/>
                    <a:pt x="434" y="10375"/>
                  </a:cubicBezTo>
                  <a:cubicBezTo>
                    <a:pt x="334" y="10208"/>
                    <a:pt x="167" y="10041"/>
                    <a:pt x="167" y="9874"/>
                  </a:cubicBezTo>
                  <a:cubicBezTo>
                    <a:pt x="0" y="8540"/>
                    <a:pt x="101" y="7239"/>
                    <a:pt x="934" y="6038"/>
                  </a:cubicBezTo>
                  <a:cubicBezTo>
                    <a:pt x="1535" y="5104"/>
                    <a:pt x="2102" y="4203"/>
                    <a:pt x="2135" y="3036"/>
                  </a:cubicBezTo>
                  <a:cubicBezTo>
                    <a:pt x="2135" y="2302"/>
                    <a:pt x="3303" y="434"/>
                    <a:pt x="37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431;p61">
              <a:extLst>
                <a:ext uri="{FF2B5EF4-FFF2-40B4-BE49-F238E27FC236}">
                  <a16:creationId xmlns:a16="http://schemas.microsoft.com/office/drawing/2014/main" id="{BDD908FB-4056-4034-8E60-C4B3264656DD}"/>
                </a:ext>
              </a:extLst>
            </p:cNvPr>
            <p:cNvSpPr/>
            <p:nvPr/>
          </p:nvSpPr>
          <p:spPr>
            <a:xfrm>
              <a:off x="6743652" y="686738"/>
              <a:ext cx="176027" cy="66802"/>
            </a:xfrm>
            <a:custGeom>
              <a:avLst/>
              <a:gdLst/>
              <a:ahLst/>
              <a:cxnLst/>
              <a:rect l="l" t="t" r="r" b="b"/>
              <a:pathLst>
                <a:path w="7473" h="2836" extrusionOk="0">
                  <a:moveTo>
                    <a:pt x="267" y="201"/>
                  </a:moveTo>
                  <a:cubicBezTo>
                    <a:pt x="1468" y="668"/>
                    <a:pt x="2702" y="201"/>
                    <a:pt x="3937" y="734"/>
                  </a:cubicBezTo>
                  <a:cubicBezTo>
                    <a:pt x="4337" y="901"/>
                    <a:pt x="4971" y="701"/>
                    <a:pt x="5471" y="534"/>
                  </a:cubicBezTo>
                  <a:cubicBezTo>
                    <a:pt x="6038" y="367"/>
                    <a:pt x="6605" y="0"/>
                    <a:pt x="7272" y="34"/>
                  </a:cubicBezTo>
                  <a:cubicBezTo>
                    <a:pt x="7473" y="634"/>
                    <a:pt x="7139" y="968"/>
                    <a:pt x="6839" y="1301"/>
                  </a:cubicBezTo>
                  <a:cubicBezTo>
                    <a:pt x="6472" y="1702"/>
                    <a:pt x="6038" y="2069"/>
                    <a:pt x="5605" y="2402"/>
                  </a:cubicBezTo>
                  <a:cubicBezTo>
                    <a:pt x="5271" y="2636"/>
                    <a:pt x="4837" y="2836"/>
                    <a:pt x="4470" y="2802"/>
                  </a:cubicBezTo>
                  <a:cubicBezTo>
                    <a:pt x="3370" y="2669"/>
                    <a:pt x="2302" y="2469"/>
                    <a:pt x="1268" y="2135"/>
                  </a:cubicBezTo>
                  <a:cubicBezTo>
                    <a:pt x="201" y="1835"/>
                    <a:pt x="1" y="1335"/>
                    <a:pt x="267" y="20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432;p61">
              <a:extLst>
                <a:ext uri="{FF2B5EF4-FFF2-40B4-BE49-F238E27FC236}">
                  <a16:creationId xmlns:a16="http://schemas.microsoft.com/office/drawing/2014/main" id="{0D5E22C7-143B-4261-B846-BEFC5AF8DDC2}"/>
                </a:ext>
              </a:extLst>
            </p:cNvPr>
            <p:cNvSpPr/>
            <p:nvPr/>
          </p:nvSpPr>
          <p:spPr>
            <a:xfrm>
              <a:off x="6584157" y="513864"/>
              <a:ext cx="99803" cy="135182"/>
            </a:xfrm>
            <a:custGeom>
              <a:avLst/>
              <a:gdLst/>
              <a:ahLst/>
              <a:cxnLst/>
              <a:rect l="l" t="t" r="r" b="b"/>
              <a:pathLst>
                <a:path w="4237" h="5739" extrusionOk="0">
                  <a:moveTo>
                    <a:pt x="4203" y="3136"/>
                  </a:moveTo>
                  <a:cubicBezTo>
                    <a:pt x="4203" y="3637"/>
                    <a:pt x="4236" y="4137"/>
                    <a:pt x="4203" y="4638"/>
                  </a:cubicBezTo>
                  <a:cubicBezTo>
                    <a:pt x="4136" y="5071"/>
                    <a:pt x="4036" y="5505"/>
                    <a:pt x="3503" y="5638"/>
                  </a:cubicBezTo>
                  <a:cubicBezTo>
                    <a:pt x="3036" y="5738"/>
                    <a:pt x="2735" y="5405"/>
                    <a:pt x="2435" y="5071"/>
                  </a:cubicBezTo>
                  <a:cubicBezTo>
                    <a:pt x="2302" y="4971"/>
                    <a:pt x="2268" y="4804"/>
                    <a:pt x="2168" y="4671"/>
                  </a:cubicBezTo>
                  <a:cubicBezTo>
                    <a:pt x="1835" y="3904"/>
                    <a:pt x="1401" y="3203"/>
                    <a:pt x="767" y="2669"/>
                  </a:cubicBezTo>
                  <a:cubicBezTo>
                    <a:pt x="334" y="2303"/>
                    <a:pt x="0" y="1836"/>
                    <a:pt x="100" y="1202"/>
                  </a:cubicBezTo>
                  <a:cubicBezTo>
                    <a:pt x="167" y="401"/>
                    <a:pt x="767" y="1"/>
                    <a:pt x="1501" y="68"/>
                  </a:cubicBezTo>
                  <a:cubicBezTo>
                    <a:pt x="1935" y="134"/>
                    <a:pt x="2335" y="134"/>
                    <a:pt x="2769" y="68"/>
                  </a:cubicBezTo>
                  <a:cubicBezTo>
                    <a:pt x="3436" y="1"/>
                    <a:pt x="3603" y="34"/>
                    <a:pt x="3836" y="635"/>
                  </a:cubicBezTo>
                  <a:cubicBezTo>
                    <a:pt x="4003" y="1002"/>
                    <a:pt x="4103" y="1469"/>
                    <a:pt x="4136" y="1869"/>
                  </a:cubicBezTo>
                  <a:cubicBezTo>
                    <a:pt x="4170" y="2303"/>
                    <a:pt x="4136" y="2736"/>
                    <a:pt x="4136" y="3170"/>
                  </a:cubicBezTo>
                  <a:cubicBezTo>
                    <a:pt x="4136" y="3136"/>
                    <a:pt x="4136" y="3136"/>
                    <a:pt x="4203" y="3136"/>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433;p61">
              <a:extLst>
                <a:ext uri="{FF2B5EF4-FFF2-40B4-BE49-F238E27FC236}">
                  <a16:creationId xmlns:a16="http://schemas.microsoft.com/office/drawing/2014/main" id="{B250D25F-0C86-4D17-979C-F4D777A59A56}"/>
                </a:ext>
              </a:extLst>
            </p:cNvPr>
            <p:cNvSpPr/>
            <p:nvPr/>
          </p:nvSpPr>
          <p:spPr>
            <a:xfrm>
              <a:off x="7263030" y="586156"/>
              <a:ext cx="72314" cy="49536"/>
            </a:xfrm>
            <a:custGeom>
              <a:avLst/>
              <a:gdLst/>
              <a:ahLst/>
              <a:cxnLst/>
              <a:rect l="l" t="t" r="r" b="b"/>
              <a:pathLst>
                <a:path w="3070" h="2103" extrusionOk="0">
                  <a:moveTo>
                    <a:pt x="1168" y="67"/>
                  </a:moveTo>
                  <a:cubicBezTo>
                    <a:pt x="1668" y="268"/>
                    <a:pt x="2402" y="468"/>
                    <a:pt x="2769" y="1168"/>
                  </a:cubicBezTo>
                  <a:cubicBezTo>
                    <a:pt x="3069" y="1769"/>
                    <a:pt x="2836" y="2102"/>
                    <a:pt x="2236" y="2102"/>
                  </a:cubicBezTo>
                  <a:cubicBezTo>
                    <a:pt x="1802" y="2102"/>
                    <a:pt x="1335" y="2002"/>
                    <a:pt x="935" y="1935"/>
                  </a:cubicBezTo>
                  <a:cubicBezTo>
                    <a:pt x="468" y="1835"/>
                    <a:pt x="1" y="1001"/>
                    <a:pt x="134" y="568"/>
                  </a:cubicBezTo>
                  <a:cubicBezTo>
                    <a:pt x="267" y="134"/>
                    <a:pt x="601" y="1"/>
                    <a:pt x="1168" y="6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 name="Google Shape;1504;p61">
            <a:extLst>
              <a:ext uri="{FF2B5EF4-FFF2-40B4-BE49-F238E27FC236}">
                <a16:creationId xmlns:a16="http://schemas.microsoft.com/office/drawing/2014/main" id="{B9659E76-9C0E-45FC-B5E3-0AF0320F1BBB}"/>
              </a:ext>
            </a:extLst>
          </p:cNvPr>
          <p:cNvSpPr/>
          <p:nvPr/>
        </p:nvSpPr>
        <p:spPr>
          <a:xfrm>
            <a:off x="6463459" y="4294836"/>
            <a:ext cx="74278" cy="13592"/>
          </a:xfrm>
          <a:custGeom>
            <a:avLst/>
            <a:gdLst/>
            <a:ahLst/>
            <a:cxnLst/>
            <a:rect l="l" t="t" r="r" b="b"/>
            <a:pathLst>
              <a:path w="3104" h="568" extrusionOk="0">
                <a:moveTo>
                  <a:pt x="268" y="34"/>
                </a:moveTo>
                <a:cubicBezTo>
                  <a:pt x="168" y="34"/>
                  <a:pt x="1" y="201"/>
                  <a:pt x="1" y="268"/>
                </a:cubicBezTo>
                <a:cubicBezTo>
                  <a:pt x="1" y="368"/>
                  <a:pt x="168" y="501"/>
                  <a:pt x="268" y="568"/>
                </a:cubicBezTo>
                <a:lnTo>
                  <a:pt x="401" y="568"/>
                </a:lnTo>
                <a:cubicBezTo>
                  <a:pt x="968" y="568"/>
                  <a:pt x="1569" y="568"/>
                  <a:pt x="2102" y="535"/>
                </a:cubicBezTo>
                <a:cubicBezTo>
                  <a:pt x="2336" y="535"/>
                  <a:pt x="2569" y="501"/>
                  <a:pt x="2803" y="435"/>
                </a:cubicBezTo>
                <a:cubicBezTo>
                  <a:pt x="3103" y="401"/>
                  <a:pt x="3070" y="234"/>
                  <a:pt x="2936" y="1"/>
                </a:cubicBezTo>
                <a:cubicBezTo>
                  <a:pt x="2069" y="1"/>
                  <a:pt x="1135" y="1"/>
                  <a:pt x="268" y="3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1505;p61">
            <a:extLst>
              <a:ext uri="{FF2B5EF4-FFF2-40B4-BE49-F238E27FC236}">
                <a16:creationId xmlns:a16="http://schemas.microsoft.com/office/drawing/2014/main" id="{A012FF63-6A62-4ACF-B1D2-89DACF5715FB}"/>
              </a:ext>
            </a:extLst>
          </p:cNvPr>
          <p:cNvSpPr/>
          <p:nvPr/>
        </p:nvSpPr>
        <p:spPr>
          <a:xfrm>
            <a:off x="5532720" y="3714532"/>
            <a:ext cx="27949" cy="63078"/>
          </a:xfrm>
          <a:custGeom>
            <a:avLst/>
            <a:gdLst/>
            <a:ahLst/>
            <a:cxnLst/>
            <a:rect l="l" t="t" r="r" b="b"/>
            <a:pathLst>
              <a:path w="1168" h="2636" extrusionOk="0">
                <a:moveTo>
                  <a:pt x="534" y="300"/>
                </a:moveTo>
                <a:cubicBezTo>
                  <a:pt x="534" y="234"/>
                  <a:pt x="467" y="100"/>
                  <a:pt x="367" y="67"/>
                </a:cubicBezTo>
                <a:cubicBezTo>
                  <a:pt x="301" y="0"/>
                  <a:pt x="167" y="67"/>
                  <a:pt x="34" y="67"/>
                </a:cubicBezTo>
                <a:cubicBezTo>
                  <a:pt x="34" y="200"/>
                  <a:pt x="0" y="334"/>
                  <a:pt x="0" y="467"/>
                </a:cubicBezTo>
                <a:cubicBezTo>
                  <a:pt x="167" y="1101"/>
                  <a:pt x="367" y="1735"/>
                  <a:pt x="601" y="2302"/>
                </a:cubicBezTo>
                <a:cubicBezTo>
                  <a:pt x="634" y="2435"/>
                  <a:pt x="701" y="2502"/>
                  <a:pt x="801" y="2602"/>
                </a:cubicBezTo>
                <a:cubicBezTo>
                  <a:pt x="834" y="2635"/>
                  <a:pt x="968" y="2635"/>
                  <a:pt x="1034" y="2635"/>
                </a:cubicBezTo>
                <a:cubicBezTo>
                  <a:pt x="1101" y="2602"/>
                  <a:pt x="1135" y="2502"/>
                  <a:pt x="1168" y="2435"/>
                </a:cubicBezTo>
                <a:cubicBezTo>
                  <a:pt x="1168" y="2369"/>
                  <a:pt x="1168" y="2302"/>
                  <a:pt x="1135" y="2268"/>
                </a:cubicBezTo>
                <a:cubicBezTo>
                  <a:pt x="934" y="1601"/>
                  <a:pt x="534" y="1001"/>
                  <a:pt x="534" y="30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1506;p61">
            <a:extLst>
              <a:ext uri="{FF2B5EF4-FFF2-40B4-BE49-F238E27FC236}">
                <a16:creationId xmlns:a16="http://schemas.microsoft.com/office/drawing/2014/main" id="{72F088EC-ECC0-493F-88F1-82962119245E}"/>
              </a:ext>
            </a:extLst>
          </p:cNvPr>
          <p:cNvSpPr/>
          <p:nvPr/>
        </p:nvSpPr>
        <p:spPr>
          <a:xfrm>
            <a:off x="5899115" y="4172721"/>
            <a:ext cx="63868" cy="36732"/>
          </a:xfrm>
          <a:custGeom>
            <a:avLst/>
            <a:gdLst/>
            <a:ahLst/>
            <a:cxnLst/>
            <a:rect l="l" t="t" r="r" b="b"/>
            <a:pathLst>
              <a:path w="2669" h="1535" extrusionOk="0">
                <a:moveTo>
                  <a:pt x="2169" y="867"/>
                </a:moveTo>
                <a:cubicBezTo>
                  <a:pt x="1535" y="601"/>
                  <a:pt x="901" y="300"/>
                  <a:pt x="234" y="0"/>
                </a:cubicBezTo>
                <a:cubicBezTo>
                  <a:pt x="34" y="334"/>
                  <a:pt x="0" y="467"/>
                  <a:pt x="367" y="634"/>
                </a:cubicBezTo>
                <a:cubicBezTo>
                  <a:pt x="1001" y="968"/>
                  <a:pt x="1668" y="1268"/>
                  <a:pt x="2302" y="1501"/>
                </a:cubicBezTo>
                <a:cubicBezTo>
                  <a:pt x="2369" y="1535"/>
                  <a:pt x="2535" y="1435"/>
                  <a:pt x="2669" y="1368"/>
                </a:cubicBezTo>
                <a:cubicBezTo>
                  <a:pt x="2636" y="1268"/>
                  <a:pt x="2569" y="1134"/>
                  <a:pt x="2502" y="1101"/>
                </a:cubicBezTo>
                <a:cubicBezTo>
                  <a:pt x="2402" y="1001"/>
                  <a:pt x="2302" y="968"/>
                  <a:pt x="2169" y="86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1508;p61">
            <a:extLst>
              <a:ext uri="{FF2B5EF4-FFF2-40B4-BE49-F238E27FC236}">
                <a16:creationId xmlns:a16="http://schemas.microsoft.com/office/drawing/2014/main" id="{735C5847-09A2-41F9-BD21-9C9AE49F2468}"/>
              </a:ext>
            </a:extLst>
          </p:cNvPr>
          <p:cNvSpPr/>
          <p:nvPr/>
        </p:nvSpPr>
        <p:spPr>
          <a:xfrm>
            <a:off x="5560647" y="3801542"/>
            <a:ext cx="31969" cy="60685"/>
          </a:xfrm>
          <a:custGeom>
            <a:avLst/>
            <a:gdLst/>
            <a:ahLst/>
            <a:cxnLst/>
            <a:rect l="l" t="t" r="r" b="b"/>
            <a:pathLst>
              <a:path w="1336" h="2536" extrusionOk="0">
                <a:moveTo>
                  <a:pt x="501" y="167"/>
                </a:moveTo>
                <a:cubicBezTo>
                  <a:pt x="468" y="100"/>
                  <a:pt x="301" y="33"/>
                  <a:pt x="201" y="0"/>
                </a:cubicBezTo>
                <a:cubicBezTo>
                  <a:pt x="168" y="134"/>
                  <a:pt x="1" y="300"/>
                  <a:pt x="34" y="367"/>
                </a:cubicBezTo>
                <a:cubicBezTo>
                  <a:pt x="301" y="1034"/>
                  <a:pt x="601" y="1701"/>
                  <a:pt x="868" y="2335"/>
                </a:cubicBezTo>
                <a:cubicBezTo>
                  <a:pt x="935" y="2402"/>
                  <a:pt x="1102" y="2469"/>
                  <a:pt x="1268" y="2535"/>
                </a:cubicBezTo>
                <a:cubicBezTo>
                  <a:pt x="1302" y="2368"/>
                  <a:pt x="1335" y="2335"/>
                  <a:pt x="1302" y="2302"/>
                </a:cubicBezTo>
                <a:cubicBezTo>
                  <a:pt x="1002" y="1601"/>
                  <a:pt x="768" y="867"/>
                  <a:pt x="501" y="16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1509;p61">
            <a:extLst>
              <a:ext uri="{FF2B5EF4-FFF2-40B4-BE49-F238E27FC236}">
                <a16:creationId xmlns:a16="http://schemas.microsoft.com/office/drawing/2014/main" id="{AA816D5E-B2A3-49F3-A3BB-4024C71C6F44}"/>
              </a:ext>
            </a:extLst>
          </p:cNvPr>
          <p:cNvSpPr/>
          <p:nvPr/>
        </p:nvSpPr>
        <p:spPr>
          <a:xfrm>
            <a:off x="6359698" y="4296439"/>
            <a:ext cx="60685" cy="14382"/>
          </a:xfrm>
          <a:custGeom>
            <a:avLst/>
            <a:gdLst/>
            <a:ahLst/>
            <a:cxnLst/>
            <a:rect l="l" t="t" r="r" b="b"/>
            <a:pathLst>
              <a:path w="2536" h="601" extrusionOk="0">
                <a:moveTo>
                  <a:pt x="334" y="1"/>
                </a:moveTo>
                <a:cubicBezTo>
                  <a:pt x="267" y="1"/>
                  <a:pt x="167" y="34"/>
                  <a:pt x="100" y="101"/>
                </a:cubicBezTo>
                <a:cubicBezTo>
                  <a:pt x="34" y="167"/>
                  <a:pt x="0" y="301"/>
                  <a:pt x="34" y="334"/>
                </a:cubicBezTo>
                <a:cubicBezTo>
                  <a:pt x="100" y="434"/>
                  <a:pt x="167" y="534"/>
                  <a:pt x="267" y="534"/>
                </a:cubicBezTo>
                <a:cubicBezTo>
                  <a:pt x="934" y="534"/>
                  <a:pt x="1602" y="601"/>
                  <a:pt x="2269" y="534"/>
                </a:cubicBezTo>
                <a:cubicBezTo>
                  <a:pt x="2335" y="534"/>
                  <a:pt x="2469" y="368"/>
                  <a:pt x="2536" y="301"/>
                </a:cubicBezTo>
                <a:cubicBezTo>
                  <a:pt x="2435" y="201"/>
                  <a:pt x="2335" y="101"/>
                  <a:pt x="2202" y="101"/>
                </a:cubicBezTo>
                <a:cubicBezTo>
                  <a:pt x="1602" y="1"/>
                  <a:pt x="968"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1510;p61">
            <a:extLst>
              <a:ext uri="{FF2B5EF4-FFF2-40B4-BE49-F238E27FC236}">
                <a16:creationId xmlns:a16="http://schemas.microsoft.com/office/drawing/2014/main" id="{9B9BA6CE-06AF-49D3-A13E-625AC44F5BE1}"/>
              </a:ext>
            </a:extLst>
          </p:cNvPr>
          <p:cNvSpPr/>
          <p:nvPr/>
        </p:nvSpPr>
        <p:spPr>
          <a:xfrm>
            <a:off x="5830459" y="4124813"/>
            <a:ext cx="54296" cy="32760"/>
          </a:xfrm>
          <a:custGeom>
            <a:avLst/>
            <a:gdLst/>
            <a:ahLst/>
            <a:cxnLst/>
            <a:rect l="l" t="t" r="r" b="b"/>
            <a:pathLst>
              <a:path w="2269" h="1369" extrusionOk="0">
                <a:moveTo>
                  <a:pt x="1935" y="968"/>
                </a:moveTo>
                <a:cubicBezTo>
                  <a:pt x="1769" y="835"/>
                  <a:pt x="1568" y="768"/>
                  <a:pt x="1368" y="635"/>
                </a:cubicBezTo>
                <a:cubicBezTo>
                  <a:pt x="1035" y="434"/>
                  <a:pt x="701" y="201"/>
                  <a:pt x="368" y="34"/>
                </a:cubicBezTo>
                <a:cubicBezTo>
                  <a:pt x="234" y="1"/>
                  <a:pt x="101" y="34"/>
                  <a:pt x="1" y="1"/>
                </a:cubicBezTo>
                <a:lnTo>
                  <a:pt x="1" y="434"/>
                </a:lnTo>
                <a:cubicBezTo>
                  <a:pt x="601" y="768"/>
                  <a:pt x="1168" y="1035"/>
                  <a:pt x="1735" y="1335"/>
                </a:cubicBezTo>
                <a:cubicBezTo>
                  <a:pt x="1869" y="1368"/>
                  <a:pt x="2069" y="1368"/>
                  <a:pt x="2102" y="1302"/>
                </a:cubicBezTo>
                <a:cubicBezTo>
                  <a:pt x="2269" y="1202"/>
                  <a:pt x="2102" y="1102"/>
                  <a:pt x="1935" y="96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1511;p61">
            <a:extLst>
              <a:ext uri="{FF2B5EF4-FFF2-40B4-BE49-F238E27FC236}">
                <a16:creationId xmlns:a16="http://schemas.microsoft.com/office/drawing/2014/main" id="{C7A59606-A77D-442A-B438-DAF5942FC6F2}"/>
              </a:ext>
            </a:extLst>
          </p:cNvPr>
          <p:cNvSpPr/>
          <p:nvPr/>
        </p:nvSpPr>
        <p:spPr>
          <a:xfrm>
            <a:off x="6257516" y="4281268"/>
            <a:ext cx="61499" cy="21585"/>
          </a:xfrm>
          <a:custGeom>
            <a:avLst/>
            <a:gdLst/>
            <a:ahLst/>
            <a:cxnLst/>
            <a:rect l="l" t="t" r="r" b="b"/>
            <a:pathLst>
              <a:path w="2570" h="902" extrusionOk="0">
                <a:moveTo>
                  <a:pt x="2269" y="434"/>
                </a:moveTo>
                <a:cubicBezTo>
                  <a:pt x="1669" y="301"/>
                  <a:pt x="1035" y="168"/>
                  <a:pt x="368" y="68"/>
                </a:cubicBezTo>
                <a:cubicBezTo>
                  <a:pt x="167" y="1"/>
                  <a:pt x="1" y="101"/>
                  <a:pt x="1" y="301"/>
                </a:cubicBezTo>
                <a:cubicBezTo>
                  <a:pt x="1" y="401"/>
                  <a:pt x="167" y="568"/>
                  <a:pt x="234" y="601"/>
                </a:cubicBezTo>
                <a:cubicBezTo>
                  <a:pt x="768" y="668"/>
                  <a:pt x="1268" y="768"/>
                  <a:pt x="1835" y="835"/>
                </a:cubicBezTo>
                <a:cubicBezTo>
                  <a:pt x="2035" y="901"/>
                  <a:pt x="2236" y="901"/>
                  <a:pt x="2436" y="901"/>
                </a:cubicBezTo>
                <a:cubicBezTo>
                  <a:pt x="2569" y="601"/>
                  <a:pt x="2536" y="468"/>
                  <a:pt x="2269" y="43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1512;p61">
            <a:extLst>
              <a:ext uri="{FF2B5EF4-FFF2-40B4-BE49-F238E27FC236}">
                <a16:creationId xmlns:a16="http://schemas.microsoft.com/office/drawing/2014/main" id="{4DA21DA0-E8E4-4D5F-97A2-D78D3CB19A25}"/>
              </a:ext>
            </a:extLst>
          </p:cNvPr>
          <p:cNvSpPr/>
          <p:nvPr/>
        </p:nvSpPr>
        <p:spPr>
          <a:xfrm>
            <a:off x="5686782" y="4017845"/>
            <a:ext cx="48721" cy="43935"/>
          </a:xfrm>
          <a:custGeom>
            <a:avLst/>
            <a:gdLst/>
            <a:ahLst/>
            <a:cxnLst/>
            <a:rect l="l" t="t" r="r" b="b"/>
            <a:pathLst>
              <a:path w="2036" h="1836" extrusionOk="0">
                <a:moveTo>
                  <a:pt x="1601" y="1135"/>
                </a:moveTo>
                <a:cubicBezTo>
                  <a:pt x="1235" y="801"/>
                  <a:pt x="901" y="501"/>
                  <a:pt x="534" y="234"/>
                </a:cubicBezTo>
                <a:cubicBezTo>
                  <a:pt x="434" y="134"/>
                  <a:pt x="334" y="101"/>
                  <a:pt x="234" y="1"/>
                </a:cubicBezTo>
                <a:cubicBezTo>
                  <a:pt x="0" y="168"/>
                  <a:pt x="0" y="401"/>
                  <a:pt x="167" y="501"/>
                </a:cubicBezTo>
                <a:cubicBezTo>
                  <a:pt x="667" y="968"/>
                  <a:pt x="1168" y="1402"/>
                  <a:pt x="1702" y="1802"/>
                </a:cubicBezTo>
                <a:cubicBezTo>
                  <a:pt x="1735" y="1836"/>
                  <a:pt x="1902" y="1836"/>
                  <a:pt x="1935" y="1802"/>
                </a:cubicBezTo>
                <a:cubicBezTo>
                  <a:pt x="2002" y="1735"/>
                  <a:pt x="2035" y="1602"/>
                  <a:pt x="2002" y="1502"/>
                </a:cubicBezTo>
                <a:cubicBezTo>
                  <a:pt x="1868" y="1335"/>
                  <a:pt x="1735" y="1235"/>
                  <a:pt x="1601" y="113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1513;p61">
            <a:extLst>
              <a:ext uri="{FF2B5EF4-FFF2-40B4-BE49-F238E27FC236}">
                <a16:creationId xmlns:a16="http://schemas.microsoft.com/office/drawing/2014/main" id="{59D40D96-5494-495A-8513-CB13C242B6BF}"/>
              </a:ext>
            </a:extLst>
          </p:cNvPr>
          <p:cNvSpPr/>
          <p:nvPr/>
        </p:nvSpPr>
        <p:spPr>
          <a:xfrm>
            <a:off x="5632509" y="3950003"/>
            <a:ext cx="39915" cy="49510"/>
          </a:xfrm>
          <a:custGeom>
            <a:avLst/>
            <a:gdLst/>
            <a:ahLst/>
            <a:cxnLst/>
            <a:rect l="l" t="t" r="r" b="b"/>
            <a:pathLst>
              <a:path w="1668" h="2069" extrusionOk="0">
                <a:moveTo>
                  <a:pt x="1635" y="1668"/>
                </a:moveTo>
                <a:cubicBezTo>
                  <a:pt x="1368" y="1335"/>
                  <a:pt x="1101" y="1001"/>
                  <a:pt x="801" y="668"/>
                </a:cubicBezTo>
                <a:cubicBezTo>
                  <a:pt x="634" y="468"/>
                  <a:pt x="500" y="234"/>
                  <a:pt x="334" y="1"/>
                </a:cubicBezTo>
                <a:cubicBezTo>
                  <a:pt x="0" y="234"/>
                  <a:pt x="100" y="501"/>
                  <a:pt x="200" y="668"/>
                </a:cubicBezTo>
                <a:cubicBezTo>
                  <a:pt x="534" y="1135"/>
                  <a:pt x="967" y="1602"/>
                  <a:pt x="1334" y="2002"/>
                </a:cubicBezTo>
                <a:cubicBezTo>
                  <a:pt x="1368" y="2069"/>
                  <a:pt x="1534" y="2069"/>
                  <a:pt x="1668" y="2069"/>
                </a:cubicBezTo>
                <a:cubicBezTo>
                  <a:pt x="1635" y="1935"/>
                  <a:pt x="1668" y="1768"/>
                  <a:pt x="1635" y="166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1514;p61">
            <a:extLst>
              <a:ext uri="{FF2B5EF4-FFF2-40B4-BE49-F238E27FC236}">
                <a16:creationId xmlns:a16="http://schemas.microsoft.com/office/drawing/2014/main" id="{0C741726-4621-4FE2-8F53-8BCE81CA0347}"/>
              </a:ext>
            </a:extLst>
          </p:cNvPr>
          <p:cNvSpPr/>
          <p:nvPr/>
        </p:nvSpPr>
        <p:spPr>
          <a:xfrm>
            <a:off x="6079524" y="4240563"/>
            <a:ext cx="55086" cy="26371"/>
          </a:xfrm>
          <a:custGeom>
            <a:avLst/>
            <a:gdLst/>
            <a:ahLst/>
            <a:cxnLst/>
            <a:rect l="l" t="t" r="r" b="b"/>
            <a:pathLst>
              <a:path w="2302" h="1102" extrusionOk="0">
                <a:moveTo>
                  <a:pt x="1968" y="601"/>
                </a:moveTo>
                <a:cubicBezTo>
                  <a:pt x="1434" y="368"/>
                  <a:pt x="867" y="201"/>
                  <a:pt x="334" y="34"/>
                </a:cubicBezTo>
                <a:cubicBezTo>
                  <a:pt x="267" y="1"/>
                  <a:pt x="100" y="134"/>
                  <a:pt x="33" y="201"/>
                </a:cubicBezTo>
                <a:cubicBezTo>
                  <a:pt x="0" y="267"/>
                  <a:pt x="100" y="401"/>
                  <a:pt x="100" y="468"/>
                </a:cubicBezTo>
                <a:cubicBezTo>
                  <a:pt x="167" y="501"/>
                  <a:pt x="200" y="534"/>
                  <a:pt x="300" y="601"/>
                </a:cubicBezTo>
                <a:cubicBezTo>
                  <a:pt x="801" y="734"/>
                  <a:pt x="1301" y="935"/>
                  <a:pt x="1835" y="1035"/>
                </a:cubicBezTo>
                <a:cubicBezTo>
                  <a:pt x="1968" y="1101"/>
                  <a:pt x="2168" y="1035"/>
                  <a:pt x="2202" y="968"/>
                </a:cubicBezTo>
                <a:cubicBezTo>
                  <a:pt x="2302" y="768"/>
                  <a:pt x="2135" y="634"/>
                  <a:pt x="1968" y="60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1515;p61">
            <a:extLst>
              <a:ext uri="{FF2B5EF4-FFF2-40B4-BE49-F238E27FC236}">
                <a16:creationId xmlns:a16="http://schemas.microsoft.com/office/drawing/2014/main" id="{554A0C1D-590D-43B9-BDB6-E069B1658160}"/>
              </a:ext>
            </a:extLst>
          </p:cNvPr>
          <p:cNvSpPr/>
          <p:nvPr/>
        </p:nvSpPr>
        <p:spPr>
          <a:xfrm>
            <a:off x="5758621" y="4073723"/>
            <a:ext cx="46327" cy="39938"/>
          </a:xfrm>
          <a:custGeom>
            <a:avLst/>
            <a:gdLst/>
            <a:ahLst/>
            <a:cxnLst/>
            <a:rect l="l" t="t" r="r" b="b"/>
            <a:pathLst>
              <a:path w="1936" h="1669" extrusionOk="0">
                <a:moveTo>
                  <a:pt x="234" y="1"/>
                </a:moveTo>
                <a:cubicBezTo>
                  <a:pt x="0" y="268"/>
                  <a:pt x="34" y="468"/>
                  <a:pt x="201" y="601"/>
                </a:cubicBezTo>
                <a:cubicBezTo>
                  <a:pt x="668" y="968"/>
                  <a:pt x="1101" y="1302"/>
                  <a:pt x="1602" y="1635"/>
                </a:cubicBezTo>
                <a:cubicBezTo>
                  <a:pt x="1702" y="1669"/>
                  <a:pt x="1868" y="1635"/>
                  <a:pt x="1935" y="1602"/>
                </a:cubicBezTo>
                <a:cubicBezTo>
                  <a:pt x="1902" y="1469"/>
                  <a:pt x="1935" y="1302"/>
                  <a:pt x="1868" y="126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1516;p61">
            <a:extLst>
              <a:ext uri="{FF2B5EF4-FFF2-40B4-BE49-F238E27FC236}">
                <a16:creationId xmlns:a16="http://schemas.microsoft.com/office/drawing/2014/main" id="{0ABBDAE3-0029-42A4-B22C-6FAB8B7DF2B3}"/>
              </a:ext>
            </a:extLst>
          </p:cNvPr>
          <p:cNvSpPr/>
          <p:nvPr/>
        </p:nvSpPr>
        <p:spPr>
          <a:xfrm>
            <a:off x="5594987" y="3884555"/>
            <a:ext cx="36732" cy="51903"/>
          </a:xfrm>
          <a:custGeom>
            <a:avLst/>
            <a:gdLst/>
            <a:ahLst/>
            <a:cxnLst/>
            <a:rect l="l" t="t" r="r" b="b"/>
            <a:pathLst>
              <a:path w="1535" h="2169" extrusionOk="0">
                <a:moveTo>
                  <a:pt x="534" y="334"/>
                </a:moveTo>
                <a:cubicBezTo>
                  <a:pt x="434" y="167"/>
                  <a:pt x="367" y="0"/>
                  <a:pt x="167" y="67"/>
                </a:cubicBezTo>
                <a:cubicBezTo>
                  <a:pt x="67" y="134"/>
                  <a:pt x="0" y="401"/>
                  <a:pt x="67" y="501"/>
                </a:cubicBezTo>
                <a:cubicBezTo>
                  <a:pt x="334" y="1001"/>
                  <a:pt x="667" y="1468"/>
                  <a:pt x="934" y="1902"/>
                </a:cubicBezTo>
                <a:cubicBezTo>
                  <a:pt x="1034" y="2035"/>
                  <a:pt x="1168" y="2068"/>
                  <a:pt x="1335" y="2168"/>
                </a:cubicBezTo>
                <a:cubicBezTo>
                  <a:pt x="1535" y="1835"/>
                  <a:pt x="1368" y="1701"/>
                  <a:pt x="1234" y="1501"/>
                </a:cubicBezTo>
                <a:cubicBezTo>
                  <a:pt x="1001" y="1168"/>
                  <a:pt x="734" y="734"/>
                  <a:pt x="534" y="33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1517;p61">
            <a:extLst>
              <a:ext uri="{FF2B5EF4-FFF2-40B4-BE49-F238E27FC236}">
                <a16:creationId xmlns:a16="http://schemas.microsoft.com/office/drawing/2014/main" id="{C004C114-BA1D-4B75-A9F3-0262E114DA61}"/>
              </a:ext>
            </a:extLst>
          </p:cNvPr>
          <p:cNvSpPr/>
          <p:nvPr/>
        </p:nvSpPr>
        <p:spPr>
          <a:xfrm>
            <a:off x="5996487" y="4217422"/>
            <a:ext cx="51927" cy="27949"/>
          </a:xfrm>
          <a:custGeom>
            <a:avLst/>
            <a:gdLst/>
            <a:ahLst/>
            <a:cxnLst/>
            <a:rect l="l" t="t" r="r" b="b"/>
            <a:pathLst>
              <a:path w="2170" h="1168" extrusionOk="0">
                <a:moveTo>
                  <a:pt x="1902" y="667"/>
                </a:moveTo>
                <a:cubicBezTo>
                  <a:pt x="1402" y="434"/>
                  <a:pt x="935" y="234"/>
                  <a:pt x="435" y="67"/>
                </a:cubicBezTo>
                <a:cubicBezTo>
                  <a:pt x="334" y="0"/>
                  <a:pt x="134" y="100"/>
                  <a:pt x="68" y="167"/>
                </a:cubicBezTo>
                <a:cubicBezTo>
                  <a:pt x="1" y="234"/>
                  <a:pt x="101" y="467"/>
                  <a:pt x="134" y="501"/>
                </a:cubicBezTo>
                <a:cubicBezTo>
                  <a:pt x="768" y="834"/>
                  <a:pt x="1402" y="1101"/>
                  <a:pt x="2069" y="1168"/>
                </a:cubicBezTo>
                <a:cubicBezTo>
                  <a:pt x="2102" y="1134"/>
                  <a:pt x="2136" y="1068"/>
                  <a:pt x="2169" y="1001"/>
                </a:cubicBezTo>
                <a:cubicBezTo>
                  <a:pt x="2102" y="901"/>
                  <a:pt x="2002" y="767"/>
                  <a:pt x="1902" y="66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1518;p61">
            <a:extLst>
              <a:ext uri="{FF2B5EF4-FFF2-40B4-BE49-F238E27FC236}">
                <a16:creationId xmlns:a16="http://schemas.microsoft.com/office/drawing/2014/main" id="{4A73D9E6-102E-427E-9A0D-6EE41300C423}"/>
              </a:ext>
            </a:extLst>
          </p:cNvPr>
          <p:cNvSpPr/>
          <p:nvPr/>
        </p:nvSpPr>
        <p:spPr>
          <a:xfrm>
            <a:off x="6170506" y="4266909"/>
            <a:ext cx="55899" cy="20771"/>
          </a:xfrm>
          <a:custGeom>
            <a:avLst/>
            <a:gdLst/>
            <a:ahLst/>
            <a:cxnLst/>
            <a:rect l="l" t="t" r="r" b="b"/>
            <a:pathLst>
              <a:path w="2336" h="868" extrusionOk="0">
                <a:moveTo>
                  <a:pt x="201" y="67"/>
                </a:moveTo>
                <a:cubicBezTo>
                  <a:pt x="134" y="100"/>
                  <a:pt x="1" y="234"/>
                  <a:pt x="1" y="334"/>
                </a:cubicBezTo>
                <a:cubicBezTo>
                  <a:pt x="1" y="401"/>
                  <a:pt x="134" y="534"/>
                  <a:pt x="234" y="567"/>
                </a:cubicBezTo>
                <a:cubicBezTo>
                  <a:pt x="801" y="701"/>
                  <a:pt x="1302" y="768"/>
                  <a:pt x="1835" y="868"/>
                </a:cubicBezTo>
                <a:cubicBezTo>
                  <a:pt x="1969" y="868"/>
                  <a:pt x="2069" y="768"/>
                  <a:pt x="2336" y="734"/>
                </a:cubicBezTo>
                <a:cubicBezTo>
                  <a:pt x="1902" y="401"/>
                  <a:pt x="501" y="0"/>
                  <a:pt x="201" y="6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1519;p61">
            <a:extLst>
              <a:ext uri="{FF2B5EF4-FFF2-40B4-BE49-F238E27FC236}">
                <a16:creationId xmlns:a16="http://schemas.microsoft.com/office/drawing/2014/main" id="{EC303F88-E01C-4027-96E9-5FBAA7BFD021}"/>
              </a:ext>
            </a:extLst>
          </p:cNvPr>
          <p:cNvSpPr/>
          <p:nvPr/>
        </p:nvSpPr>
        <p:spPr>
          <a:xfrm>
            <a:off x="6592777" y="4012270"/>
            <a:ext cx="563565" cy="407903"/>
          </a:xfrm>
          <a:custGeom>
            <a:avLst/>
            <a:gdLst/>
            <a:ahLst/>
            <a:cxnLst/>
            <a:rect l="l" t="t" r="r" b="b"/>
            <a:pathLst>
              <a:path w="23551" h="17046" extrusionOk="0">
                <a:moveTo>
                  <a:pt x="23251" y="2369"/>
                </a:moveTo>
                <a:cubicBezTo>
                  <a:pt x="23050" y="2002"/>
                  <a:pt x="22617" y="1702"/>
                  <a:pt x="22250" y="1635"/>
                </a:cubicBezTo>
                <a:cubicBezTo>
                  <a:pt x="22050" y="1568"/>
                  <a:pt x="21783" y="1535"/>
                  <a:pt x="21583" y="1635"/>
                </a:cubicBezTo>
                <a:cubicBezTo>
                  <a:pt x="20515" y="1902"/>
                  <a:pt x="19448" y="2235"/>
                  <a:pt x="18380" y="2569"/>
                </a:cubicBezTo>
                <a:cubicBezTo>
                  <a:pt x="17580" y="2869"/>
                  <a:pt x="16779" y="3203"/>
                  <a:pt x="16045" y="3536"/>
                </a:cubicBezTo>
                <a:cubicBezTo>
                  <a:pt x="15745" y="3670"/>
                  <a:pt x="15512" y="3703"/>
                  <a:pt x="15212" y="3536"/>
                </a:cubicBezTo>
                <a:cubicBezTo>
                  <a:pt x="14211" y="3036"/>
                  <a:pt x="13177" y="2536"/>
                  <a:pt x="12176" y="2069"/>
                </a:cubicBezTo>
                <a:cubicBezTo>
                  <a:pt x="10275" y="1168"/>
                  <a:pt x="8340" y="668"/>
                  <a:pt x="6372" y="134"/>
                </a:cubicBezTo>
                <a:cubicBezTo>
                  <a:pt x="5938" y="0"/>
                  <a:pt x="5571" y="467"/>
                  <a:pt x="5771" y="868"/>
                </a:cubicBezTo>
                <a:cubicBezTo>
                  <a:pt x="6005" y="1235"/>
                  <a:pt x="6238" y="1635"/>
                  <a:pt x="6539" y="1902"/>
                </a:cubicBezTo>
                <a:cubicBezTo>
                  <a:pt x="7740" y="3169"/>
                  <a:pt x="9007" y="4370"/>
                  <a:pt x="10241" y="5638"/>
                </a:cubicBezTo>
                <a:cubicBezTo>
                  <a:pt x="10375" y="5738"/>
                  <a:pt x="10441" y="5871"/>
                  <a:pt x="10575" y="6071"/>
                </a:cubicBezTo>
                <a:cubicBezTo>
                  <a:pt x="10208" y="6305"/>
                  <a:pt x="9874" y="6472"/>
                  <a:pt x="9574" y="6638"/>
                </a:cubicBezTo>
                <a:cubicBezTo>
                  <a:pt x="9274" y="6739"/>
                  <a:pt x="8940" y="6839"/>
                  <a:pt x="8674" y="6972"/>
                </a:cubicBezTo>
                <a:cubicBezTo>
                  <a:pt x="7206" y="7572"/>
                  <a:pt x="5705" y="8240"/>
                  <a:pt x="4237" y="8907"/>
                </a:cubicBezTo>
                <a:cubicBezTo>
                  <a:pt x="3770" y="9140"/>
                  <a:pt x="3403" y="9074"/>
                  <a:pt x="2936" y="8840"/>
                </a:cubicBezTo>
                <a:cubicBezTo>
                  <a:pt x="2369" y="8507"/>
                  <a:pt x="1735" y="8306"/>
                  <a:pt x="1101" y="8073"/>
                </a:cubicBezTo>
                <a:cubicBezTo>
                  <a:pt x="835" y="8006"/>
                  <a:pt x="401" y="8006"/>
                  <a:pt x="234" y="8206"/>
                </a:cubicBezTo>
                <a:cubicBezTo>
                  <a:pt x="1" y="8507"/>
                  <a:pt x="167" y="9007"/>
                  <a:pt x="334" y="9374"/>
                </a:cubicBezTo>
                <a:cubicBezTo>
                  <a:pt x="368" y="9507"/>
                  <a:pt x="434" y="9574"/>
                  <a:pt x="534" y="9674"/>
                </a:cubicBezTo>
                <a:cubicBezTo>
                  <a:pt x="1101" y="10375"/>
                  <a:pt x="1669" y="11075"/>
                  <a:pt x="2236" y="11742"/>
                </a:cubicBezTo>
                <a:cubicBezTo>
                  <a:pt x="2369" y="12643"/>
                  <a:pt x="2502" y="13543"/>
                  <a:pt x="2603" y="14411"/>
                </a:cubicBezTo>
                <a:cubicBezTo>
                  <a:pt x="2603" y="14544"/>
                  <a:pt x="2669" y="14678"/>
                  <a:pt x="2703" y="14744"/>
                </a:cubicBezTo>
                <a:cubicBezTo>
                  <a:pt x="2869" y="15178"/>
                  <a:pt x="3103" y="15578"/>
                  <a:pt x="3503" y="15645"/>
                </a:cubicBezTo>
                <a:cubicBezTo>
                  <a:pt x="3737" y="15645"/>
                  <a:pt x="4037" y="15345"/>
                  <a:pt x="4170" y="15078"/>
                </a:cubicBezTo>
                <a:cubicBezTo>
                  <a:pt x="4437" y="14511"/>
                  <a:pt x="4704" y="13877"/>
                  <a:pt x="4871" y="13243"/>
                </a:cubicBezTo>
                <a:cubicBezTo>
                  <a:pt x="5004" y="12710"/>
                  <a:pt x="5238" y="12409"/>
                  <a:pt x="5705" y="12209"/>
                </a:cubicBezTo>
                <a:cubicBezTo>
                  <a:pt x="7206" y="11575"/>
                  <a:pt x="8674" y="10975"/>
                  <a:pt x="10108" y="10308"/>
                </a:cubicBezTo>
                <a:cubicBezTo>
                  <a:pt x="10408" y="10174"/>
                  <a:pt x="10708" y="9974"/>
                  <a:pt x="11009" y="9841"/>
                </a:cubicBezTo>
                <a:cubicBezTo>
                  <a:pt x="11342" y="9707"/>
                  <a:pt x="11676" y="9574"/>
                  <a:pt x="12076" y="9474"/>
                </a:cubicBezTo>
                <a:cubicBezTo>
                  <a:pt x="12109" y="9707"/>
                  <a:pt x="12176" y="9874"/>
                  <a:pt x="12176" y="10041"/>
                </a:cubicBezTo>
                <a:cubicBezTo>
                  <a:pt x="12243" y="11809"/>
                  <a:pt x="12276" y="13543"/>
                  <a:pt x="12376" y="15245"/>
                </a:cubicBezTo>
                <a:cubicBezTo>
                  <a:pt x="12376" y="15678"/>
                  <a:pt x="12510" y="16145"/>
                  <a:pt x="12610" y="16546"/>
                </a:cubicBezTo>
                <a:cubicBezTo>
                  <a:pt x="12776" y="17013"/>
                  <a:pt x="13377" y="17046"/>
                  <a:pt x="13577" y="16646"/>
                </a:cubicBezTo>
                <a:cubicBezTo>
                  <a:pt x="14544" y="14844"/>
                  <a:pt x="15445" y="13043"/>
                  <a:pt x="16079" y="11042"/>
                </a:cubicBezTo>
                <a:cubicBezTo>
                  <a:pt x="16412" y="9974"/>
                  <a:pt x="16746" y="8873"/>
                  <a:pt x="17080" y="7839"/>
                </a:cubicBezTo>
                <a:cubicBezTo>
                  <a:pt x="17180" y="7506"/>
                  <a:pt x="17380" y="7339"/>
                  <a:pt x="17680" y="7206"/>
                </a:cubicBezTo>
                <a:cubicBezTo>
                  <a:pt x="18447" y="6872"/>
                  <a:pt x="19214" y="6538"/>
                  <a:pt x="19948" y="6171"/>
                </a:cubicBezTo>
                <a:cubicBezTo>
                  <a:pt x="20949" y="5638"/>
                  <a:pt x="21783" y="5037"/>
                  <a:pt x="22750" y="4470"/>
                </a:cubicBezTo>
                <a:cubicBezTo>
                  <a:pt x="22950" y="4337"/>
                  <a:pt x="23184" y="4170"/>
                  <a:pt x="23351" y="3970"/>
                </a:cubicBezTo>
                <a:cubicBezTo>
                  <a:pt x="23551" y="3570"/>
                  <a:pt x="23551" y="2836"/>
                  <a:pt x="23251" y="236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478;p61">
            <a:extLst>
              <a:ext uri="{FF2B5EF4-FFF2-40B4-BE49-F238E27FC236}">
                <a16:creationId xmlns:a16="http://schemas.microsoft.com/office/drawing/2014/main" id="{D7F74EDC-17FE-4100-9D2D-DEBBE3EC7CF4}"/>
              </a:ext>
            </a:extLst>
          </p:cNvPr>
          <p:cNvSpPr/>
          <p:nvPr/>
        </p:nvSpPr>
        <p:spPr>
          <a:xfrm>
            <a:off x="6574423" y="2231394"/>
            <a:ext cx="36732" cy="69467"/>
          </a:xfrm>
          <a:custGeom>
            <a:avLst/>
            <a:gdLst/>
            <a:ahLst/>
            <a:cxnLst/>
            <a:rect l="l" t="t" r="r" b="b"/>
            <a:pathLst>
              <a:path w="1535" h="2903" extrusionOk="0">
                <a:moveTo>
                  <a:pt x="1468" y="2903"/>
                </a:moveTo>
                <a:cubicBezTo>
                  <a:pt x="1502" y="2736"/>
                  <a:pt x="1535" y="2669"/>
                  <a:pt x="1502" y="2602"/>
                </a:cubicBezTo>
                <a:cubicBezTo>
                  <a:pt x="1168" y="1835"/>
                  <a:pt x="868" y="1035"/>
                  <a:pt x="501" y="267"/>
                </a:cubicBezTo>
                <a:cubicBezTo>
                  <a:pt x="434" y="67"/>
                  <a:pt x="201" y="0"/>
                  <a:pt x="0" y="201"/>
                </a:cubicBezTo>
                <a:cubicBezTo>
                  <a:pt x="134" y="1101"/>
                  <a:pt x="834" y="2502"/>
                  <a:pt x="1468" y="290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479;p61">
            <a:extLst>
              <a:ext uri="{FF2B5EF4-FFF2-40B4-BE49-F238E27FC236}">
                <a16:creationId xmlns:a16="http://schemas.microsoft.com/office/drawing/2014/main" id="{A17055D3-9EDE-4D79-AA27-623D0A2A9FAE}"/>
              </a:ext>
            </a:extLst>
          </p:cNvPr>
          <p:cNvSpPr/>
          <p:nvPr/>
        </p:nvSpPr>
        <p:spPr>
          <a:xfrm>
            <a:off x="6259910" y="1617541"/>
            <a:ext cx="35943" cy="63892"/>
          </a:xfrm>
          <a:custGeom>
            <a:avLst/>
            <a:gdLst/>
            <a:ahLst/>
            <a:cxnLst/>
            <a:rect l="l" t="t" r="r" b="b"/>
            <a:pathLst>
              <a:path w="1502" h="2670" extrusionOk="0">
                <a:moveTo>
                  <a:pt x="501" y="134"/>
                </a:moveTo>
                <a:cubicBezTo>
                  <a:pt x="468" y="34"/>
                  <a:pt x="268" y="34"/>
                  <a:pt x="134" y="1"/>
                </a:cubicBezTo>
                <a:cubicBezTo>
                  <a:pt x="101" y="134"/>
                  <a:pt x="1" y="268"/>
                  <a:pt x="67" y="401"/>
                </a:cubicBezTo>
                <a:cubicBezTo>
                  <a:pt x="334" y="1068"/>
                  <a:pt x="668" y="1735"/>
                  <a:pt x="1001" y="2369"/>
                </a:cubicBezTo>
                <a:cubicBezTo>
                  <a:pt x="1068" y="2436"/>
                  <a:pt x="1235" y="2536"/>
                  <a:pt x="1435" y="2669"/>
                </a:cubicBezTo>
                <a:cubicBezTo>
                  <a:pt x="1468" y="2402"/>
                  <a:pt x="1502" y="2236"/>
                  <a:pt x="1468" y="2169"/>
                </a:cubicBezTo>
                <a:cubicBezTo>
                  <a:pt x="1135" y="1502"/>
                  <a:pt x="835" y="801"/>
                  <a:pt x="501" y="13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480;p61">
            <a:extLst>
              <a:ext uri="{FF2B5EF4-FFF2-40B4-BE49-F238E27FC236}">
                <a16:creationId xmlns:a16="http://schemas.microsoft.com/office/drawing/2014/main" id="{6DBC9792-BED2-4BE5-BCF3-FF384464F9AB}"/>
              </a:ext>
            </a:extLst>
          </p:cNvPr>
          <p:cNvSpPr/>
          <p:nvPr/>
        </p:nvSpPr>
        <p:spPr>
          <a:xfrm>
            <a:off x="6469059" y="2037417"/>
            <a:ext cx="31946" cy="59895"/>
          </a:xfrm>
          <a:custGeom>
            <a:avLst/>
            <a:gdLst/>
            <a:ahLst/>
            <a:cxnLst/>
            <a:rect l="l" t="t" r="r" b="b"/>
            <a:pathLst>
              <a:path w="1335" h="2503" extrusionOk="0">
                <a:moveTo>
                  <a:pt x="534" y="268"/>
                </a:moveTo>
                <a:cubicBezTo>
                  <a:pt x="434" y="34"/>
                  <a:pt x="200" y="1"/>
                  <a:pt x="0" y="301"/>
                </a:cubicBezTo>
                <a:cubicBezTo>
                  <a:pt x="234" y="1101"/>
                  <a:pt x="567" y="1802"/>
                  <a:pt x="1201" y="2502"/>
                </a:cubicBezTo>
                <a:cubicBezTo>
                  <a:pt x="1268" y="2302"/>
                  <a:pt x="1335" y="2169"/>
                  <a:pt x="1335" y="2102"/>
                </a:cubicBezTo>
                <a:cubicBezTo>
                  <a:pt x="1068" y="1502"/>
                  <a:pt x="834" y="868"/>
                  <a:pt x="534" y="26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1481;p61">
            <a:extLst>
              <a:ext uri="{FF2B5EF4-FFF2-40B4-BE49-F238E27FC236}">
                <a16:creationId xmlns:a16="http://schemas.microsoft.com/office/drawing/2014/main" id="{25F8528D-51BB-466B-A607-92B56FB73C99}"/>
              </a:ext>
            </a:extLst>
          </p:cNvPr>
          <p:cNvSpPr/>
          <p:nvPr/>
        </p:nvSpPr>
        <p:spPr>
          <a:xfrm>
            <a:off x="6433929" y="1958401"/>
            <a:ext cx="29553" cy="57503"/>
          </a:xfrm>
          <a:custGeom>
            <a:avLst/>
            <a:gdLst/>
            <a:ahLst/>
            <a:cxnLst/>
            <a:rect l="l" t="t" r="r" b="b"/>
            <a:pathLst>
              <a:path w="1235" h="2403" extrusionOk="0">
                <a:moveTo>
                  <a:pt x="167" y="67"/>
                </a:moveTo>
                <a:cubicBezTo>
                  <a:pt x="67" y="134"/>
                  <a:pt x="1" y="334"/>
                  <a:pt x="34" y="434"/>
                </a:cubicBezTo>
                <a:cubicBezTo>
                  <a:pt x="234" y="1001"/>
                  <a:pt x="501" y="1601"/>
                  <a:pt x="801" y="2169"/>
                </a:cubicBezTo>
                <a:cubicBezTo>
                  <a:pt x="835" y="2269"/>
                  <a:pt x="935" y="2302"/>
                  <a:pt x="1035" y="2402"/>
                </a:cubicBezTo>
                <a:cubicBezTo>
                  <a:pt x="1135" y="2335"/>
                  <a:pt x="1168" y="2335"/>
                  <a:pt x="1168" y="2302"/>
                </a:cubicBezTo>
                <a:cubicBezTo>
                  <a:pt x="1235" y="1501"/>
                  <a:pt x="801" y="901"/>
                  <a:pt x="534" y="167"/>
                </a:cubicBezTo>
                <a:cubicBezTo>
                  <a:pt x="434" y="100"/>
                  <a:pt x="201" y="0"/>
                  <a:pt x="167" y="6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1482;p61">
            <a:extLst>
              <a:ext uri="{FF2B5EF4-FFF2-40B4-BE49-F238E27FC236}">
                <a16:creationId xmlns:a16="http://schemas.microsoft.com/office/drawing/2014/main" id="{15E809D5-AAF0-49DF-90BA-1267E67920C7}"/>
              </a:ext>
            </a:extLst>
          </p:cNvPr>
          <p:cNvSpPr/>
          <p:nvPr/>
        </p:nvSpPr>
        <p:spPr>
          <a:xfrm>
            <a:off x="6351705" y="1793953"/>
            <a:ext cx="32760" cy="55110"/>
          </a:xfrm>
          <a:custGeom>
            <a:avLst/>
            <a:gdLst/>
            <a:ahLst/>
            <a:cxnLst/>
            <a:rect l="l" t="t" r="r" b="b"/>
            <a:pathLst>
              <a:path w="1369" h="2303" extrusionOk="0">
                <a:moveTo>
                  <a:pt x="134" y="1"/>
                </a:moveTo>
                <a:cubicBezTo>
                  <a:pt x="101" y="134"/>
                  <a:pt x="1" y="301"/>
                  <a:pt x="68" y="434"/>
                </a:cubicBezTo>
                <a:cubicBezTo>
                  <a:pt x="301" y="968"/>
                  <a:pt x="601" y="1502"/>
                  <a:pt x="901" y="2002"/>
                </a:cubicBezTo>
                <a:cubicBezTo>
                  <a:pt x="968" y="2136"/>
                  <a:pt x="1135" y="2169"/>
                  <a:pt x="1368" y="2302"/>
                </a:cubicBezTo>
                <a:cubicBezTo>
                  <a:pt x="1035" y="1468"/>
                  <a:pt x="801" y="801"/>
                  <a:pt x="535" y="168"/>
                </a:cubicBezTo>
                <a:cubicBezTo>
                  <a:pt x="468" y="34"/>
                  <a:pt x="268" y="34"/>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1483;p61">
            <a:extLst>
              <a:ext uri="{FF2B5EF4-FFF2-40B4-BE49-F238E27FC236}">
                <a16:creationId xmlns:a16="http://schemas.microsoft.com/office/drawing/2014/main" id="{CA6950B8-0F6F-410E-978D-9CE13E132766}"/>
              </a:ext>
            </a:extLst>
          </p:cNvPr>
          <p:cNvSpPr/>
          <p:nvPr/>
        </p:nvSpPr>
        <p:spPr>
          <a:xfrm>
            <a:off x="6520939" y="2136392"/>
            <a:ext cx="32760" cy="59895"/>
          </a:xfrm>
          <a:custGeom>
            <a:avLst/>
            <a:gdLst/>
            <a:ahLst/>
            <a:cxnLst/>
            <a:rect l="l" t="t" r="r" b="b"/>
            <a:pathLst>
              <a:path w="1369" h="2503" extrusionOk="0">
                <a:moveTo>
                  <a:pt x="1235" y="2503"/>
                </a:moveTo>
                <a:lnTo>
                  <a:pt x="1368" y="2369"/>
                </a:lnTo>
                <a:cubicBezTo>
                  <a:pt x="1068" y="1602"/>
                  <a:pt x="834" y="868"/>
                  <a:pt x="501" y="168"/>
                </a:cubicBezTo>
                <a:cubicBezTo>
                  <a:pt x="434" y="68"/>
                  <a:pt x="267" y="34"/>
                  <a:pt x="134" y="1"/>
                </a:cubicBezTo>
                <a:cubicBezTo>
                  <a:pt x="101" y="168"/>
                  <a:pt x="1" y="335"/>
                  <a:pt x="34" y="435"/>
                </a:cubicBezTo>
                <a:cubicBezTo>
                  <a:pt x="267" y="1035"/>
                  <a:pt x="568" y="1602"/>
                  <a:pt x="868" y="2203"/>
                </a:cubicBezTo>
                <a:cubicBezTo>
                  <a:pt x="935" y="2336"/>
                  <a:pt x="1101" y="2403"/>
                  <a:pt x="1235" y="250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1484;p61">
            <a:extLst>
              <a:ext uri="{FF2B5EF4-FFF2-40B4-BE49-F238E27FC236}">
                <a16:creationId xmlns:a16="http://schemas.microsoft.com/office/drawing/2014/main" id="{439AF8D1-D028-4F2C-B587-800F57F8F07E}"/>
              </a:ext>
            </a:extLst>
          </p:cNvPr>
          <p:cNvSpPr/>
          <p:nvPr/>
        </p:nvSpPr>
        <p:spPr>
          <a:xfrm>
            <a:off x="6303821" y="1707757"/>
            <a:ext cx="35943" cy="52693"/>
          </a:xfrm>
          <a:custGeom>
            <a:avLst/>
            <a:gdLst/>
            <a:ahLst/>
            <a:cxnLst/>
            <a:rect l="l" t="t" r="r" b="b"/>
            <a:pathLst>
              <a:path w="1502" h="2202" extrusionOk="0">
                <a:moveTo>
                  <a:pt x="100" y="67"/>
                </a:moveTo>
                <a:cubicBezTo>
                  <a:pt x="34" y="200"/>
                  <a:pt x="0" y="367"/>
                  <a:pt x="34" y="467"/>
                </a:cubicBezTo>
                <a:cubicBezTo>
                  <a:pt x="301" y="967"/>
                  <a:pt x="601" y="1468"/>
                  <a:pt x="934" y="1935"/>
                </a:cubicBezTo>
                <a:cubicBezTo>
                  <a:pt x="1001" y="2068"/>
                  <a:pt x="1168" y="2102"/>
                  <a:pt x="1335" y="2202"/>
                </a:cubicBezTo>
                <a:lnTo>
                  <a:pt x="1501" y="2035"/>
                </a:lnTo>
                <a:cubicBezTo>
                  <a:pt x="1335" y="1268"/>
                  <a:pt x="801" y="701"/>
                  <a:pt x="434" y="0"/>
                </a:cubicBezTo>
                <a:cubicBezTo>
                  <a:pt x="434" y="0"/>
                  <a:pt x="134" y="0"/>
                  <a:pt x="100" y="6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1485;p61">
            <a:extLst>
              <a:ext uri="{FF2B5EF4-FFF2-40B4-BE49-F238E27FC236}">
                <a16:creationId xmlns:a16="http://schemas.microsoft.com/office/drawing/2014/main" id="{1223F39A-9FFA-475D-A10B-377E2166BD1A}"/>
              </a:ext>
            </a:extLst>
          </p:cNvPr>
          <p:cNvSpPr/>
          <p:nvPr/>
        </p:nvSpPr>
        <p:spPr>
          <a:xfrm>
            <a:off x="6394014" y="1880173"/>
            <a:ext cx="31969" cy="48721"/>
          </a:xfrm>
          <a:custGeom>
            <a:avLst/>
            <a:gdLst/>
            <a:ahLst/>
            <a:cxnLst/>
            <a:rect l="l" t="t" r="r" b="b"/>
            <a:pathLst>
              <a:path w="1336" h="2036" extrusionOk="0">
                <a:moveTo>
                  <a:pt x="168" y="34"/>
                </a:moveTo>
                <a:cubicBezTo>
                  <a:pt x="67" y="100"/>
                  <a:pt x="1" y="334"/>
                  <a:pt x="34" y="401"/>
                </a:cubicBezTo>
                <a:cubicBezTo>
                  <a:pt x="301" y="901"/>
                  <a:pt x="568" y="1401"/>
                  <a:pt x="868" y="1868"/>
                </a:cubicBezTo>
                <a:cubicBezTo>
                  <a:pt x="901" y="1935"/>
                  <a:pt x="1068" y="2002"/>
                  <a:pt x="1168" y="2035"/>
                </a:cubicBezTo>
                <a:cubicBezTo>
                  <a:pt x="1202" y="2002"/>
                  <a:pt x="1268" y="1935"/>
                  <a:pt x="1335" y="1902"/>
                </a:cubicBezTo>
                <a:cubicBezTo>
                  <a:pt x="1035" y="1268"/>
                  <a:pt x="735" y="701"/>
                  <a:pt x="434" y="67"/>
                </a:cubicBezTo>
                <a:cubicBezTo>
                  <a:pt x="434" y="34"/>
                  <a:pt x="201" y="0"/>
                  <a:pt x="168" y="3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1486;p61">
            <a:extLst>
              <a:ext uri="{FF2B5EF4-FFF2-40B4-BE49-F238E27FC236}">
                <a16:creationId xmlns:a16="http://schemas.microsoft.com/office/drawing/2014/main" id="{96800F39-74A1-4719-98D4-1E54FD20065D}"/>
              </a:ext>
            </a:extLst>
          </p:cNvPr>
          <p:cNvSpPr/>
          <p:nvPr/>
        </p:nvSpPr>
        <p:spPr>
          <a:xfrm>
            <a:off x="6218414" y="1548096"/>
            <a:ext cx="24767" cy="34363"/>
          </a:xfrm>
          <a:custGeom>
            <a:avLst/>
            <a:gdLst/>
            <a:ahLst/>
            <a:cxnLst/>
            <a:rect l="l" t="t" r="r" b="b"/>
            <a:pathLst>
              <a:path w="1035" h="1436" extrusionOk="0">
                <a:moveTo>
                  <a:pt x="200" y="1"/>
                </a:moveTo>
                <a:cubicBezTo>
                  <a:pt x="134" y="67"/>
                  <a:pt x="0" y="234"/>
                  <a:pt x="0" y="268"/>
                </a:cubicBezTo>
                <a:cubicBezTo>
                  <a:pt x="167" y="668"/>
                  <a:pt x="267" y="1235"/>
                  <a:pt x="1034" y="1435"/>
                </a:cubicBezTo>
                <a:cubicBezTo>
                  <a:pt x="834" y="901"/>
                  <a:pt x="701" y="534"/>
                  <a:pt x="501" y="134"/>
                </a:cubicBezTo>
                <a:cubicBezTo>
                  <a:pt x="501" y="67"/>
                  <a:pt x="334" y="1"/>
                  <a:pt x="2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1487;p61">
            <a:extLst>
              <a:ext uri="{FF2B5EF4-FFF2-40B4-BE49-F238E27FC236}">
                <a16:creationId xmlns:a16="http://schemas.microsoft.com/office/drawing/2014/main" id="{A975BAA3-81C7-406D-9DC8-A8CC64C8E127}"/>
              </a:ext>
            </a:extLst>
          </p:cNvPr>
          <p:cNvSpPr/>
          <p:nvPr/>
        </p:nvSpPr>
        <p:spPr>
          <a:xfrm>
            <a:off x="6532115" y="2316012"/>
            <a:ext cx="388760" cy="524463"/>
          </a:xfrm>
          <a:custGeom>
            <a:avLst/>
            <a:gdLst/>
            <a:ahLst/>
            <a:cxnLst/>
            <a:rect l="l" t="t" r="r" b="b"/>
            <a:pathLst>
              <a:path w="16246" h="21917" extrusionOk="0">
                <a:moveTo>
                  <a:pt x="14277" y="11242"/>
                </a:moveTo>
                <a:cubicBezTo>
                  <a:pt x="15145" y="9474"/>
                  <a:pt x="15612" y="7639"/>
                  <a:pt x="16112" y="5804"/>
                </a:cubicBezTo>
                <a:cubicBezTo>
                  <a:pt x="16245" y="5371"/>
                  <a:pt x="15778" y="5037"/>
                  <a:pt x="15345" y="5304"/>
                </a:cubicBezTo>
                <a:cubicBezTo>
                  <a:pt x="14978" y="5504"/>
                  <a:pt x="14644" y="5738"/>
                  <a:pt x="14377" y="6038"/>
                </a:cubicBezTo>
                <a:cubicBezTo>
                  <a:pt x="13177" y="7205"/>
                  <a:pt x="12009" y="8406"/>
                  <a:pt x="10875" y="9574"/>
                </a:cubicBezTo>
                <a:cubicBezTo>
                  <a:pt x="10775" y="9674"/>
                  <a:pt x="10641" y="9741"/>
                  <a:pt x="10441" y="9907"/>
                </a:cubicBezTo>
                <a:cubicBezTo>
                  <a:pt x="10241" y="9574"/>
                  <a:pt x="10074" y="9307"/>
                  <a:pt x="9941" y="8973"/>
                </a:cubicBezTo>
                <a:cubicBezTo>
                  <a:pt x="9808" y="8673"/>
                  <a:pt x="9741" y="8373"/>
                  <a:pt x="9607" y="8073"/>
                </a:cubicBezTo>
                <a:cubicBezTo>
                  <a:pt x="8974" y="6705"/>
                  <a:pt x="8373" y="5337"/>
                  <a:pt x="7739" y="4003"/>
                </a:cubicBezTo>
                <a:cubicBezTo>
                  <a:pt x="7539" y="3570"/>
                  <a:pt x="7573" y="3203"/>
                  <a:pt x="7806" y="2802"/>
                </a:cubicBezTo>
                <a:cubicBezTo>
                  <a:pt x="8106" y="2235"/>
                  <a:pt x="8306" y="1668"/>
                  <a:pt x="8540" y="1068"/>
                </a:cubicBezTo>
                <a:cubicBezTo>
                  <a:pt x="8607" y="834"/>
                  <a:pt x="8607" y="401"/>
                  <a:pt x="8407" y="234"/>
                </a:cubicBezTo>
                <a:cubicBezTo>
                  <a:pt x="8106" y="0"/>
                  <a:pt x="7639" y="167"/>
                  <a:pt x="7272" y="367"/>
                </a:cubicBezTo>
                <a:cubicBezTo>
                  <a:pt x="7206" y="401"/>
                  <a:pt x="7072" y="501"/>
                  <a:pt x="6972" y="567"/>
                </a:cubicBezTo>
                <a:lnTo>
                  <a:pt x="4971" y="2202"/>
                </a:lnTo>
                <a:cubicBezTo>
                  <a:pt x="4137" y="2335"/>
                  <a:pt x="3270" y="2502"/>
                  <a:pt x="2436" y="2636"/>
                </a:cubicBezTo>
                <a:cubicBezTo>
                  <a:pt x="2302" y="2636"/>
                  <a:pt x="2235" y="2669"/>
                  <a:pt x="2102" y="2702"/>
                </a:cubicBezTo>
                <a:cubicBezTo>
                  <a:pt x="1735" y="2869"/>
                  <a:pt x="1301" y="3069"/>
                  <a:pt x="1301" y="3469"/>
                </a:cubicBezTo>
                <a:cubicBezTo>
                  <a:pt x="1301" y="3670"/>
                  <a:pt x="1602" y="3970"/>
                  <a:pt x="1835" y="4070"/>
                </a:cubicBezTo>
                <a:cubicBezTo>
                  <a:pt x="2402" y="4337"/>
                  <a:pt x="2969" y="4537"/>
                  <a:pt x="3603" y="4704"/>
                </a:cubicBezTo>
                <a:cubicBezTo>
                  <a:pt x="4103" y="4837"/>
                  <a:pt x="4404" y="5037"/>
                  <a:pt x="4570" y="5471"/>
                </a:cubicBezTo>
                <a:cubicBezTo>
                  <a:pt x="5138" y="6839"/>
                  <a:pt x="5771" y="8206"/>
                  <a:pt x="6405" y="9574"/>
                </a:cubicBezTo>
                <a:cubicBezTo>
                  <a:pt x="6505" y="9874"/>
                  <a:pt x="6672" y="10141"/>
                  <a:pt x="6805" y="10408"/>
                </a:cubicBezTo>
                <a:cubicBezTo>
                  <a:pt x="6939" y="10708"/>
                  <a:pt x="7072" y="11042"/>
                  <a:pt x="7172" y="11409"/>
                </a:cubicBezTo>
                <a:cubicBezTo>
                  <a:pt x="6939" y="11475"/>
                  <a:pt x="6805" y="11509"/>
                  <a:pt x="6639" y="11509"/>
                </a:cubicBezTo>
                <a:cubicBezTo>
                  <a:pt x="4971" y="11575"/>
                  <a:pt x="3303" y="11675"/>
                  <a:pt x="1668" y="11809"/>
                </a:cubicBezTo>
                <a:cubicBezTo>
                  <a:pt x="1268" y="11842"/>
                  <a:pt x="834" y="11909"/>
                  <a:pt x="468" y="12042"/>
                </a:cubicBezTo>
                <a:cubicBezTo>
                  <a:pt x="67" y="12209"/>
                  <a:pt x="1" y="12743"/>
                  <a:pt x="401" y="12910"/>
                </a:cubicBezTo>
                <a:cubicBezTo>
                  <a:pt x="2102" y="13744"/>
                  <a:pt x="3803" y="14577"/>
                  <a:pt x="5738" y="15145"/>
                </a:cubicBezTo>
                <a:cubicBezTo>
                  <a:pt x="6772" y="15411"/>
                  <a:pt x="7773" y="15712"/>
                  <a:pt x="8807" y="15978"/>
                </a:cubicBezTo>
                <a:cubicBezTo>
                  <a:pt x="9107" y="16045"/>
                  <a:pt x="9307" y="16212"/>
                  <a:pt x="9407" y="16512"/>
                </a:cubicBezTo>
                <a:cubicBezTo>
                  <a:pt x="9741" y="17213"/>
                  <a:pt x="10008" y="17980"/>
                  <a:pt x="10408" y="18647"/>
                </a:cubicBezTo>
                <a:cubicBezTo>
                  <a:pt x="10908" y="19548"/>
                  <a:pt x="11475" y="20348"/>
                  <a:pt x="12009" y="21216"/>
                </a:cubicBezTo>
                <a:cubicBezTo>
                  <a:pt x="12143" y="21382"/>
                  <a:pt x="12309" y="21649"/>
                  <a:pt x="12476" y="21716"/>
                </a:cubicBezTo>
                <a:cubicBezTo>
                  <a:pt x="12843" y="21916"/>
                  <a:pt x="13577" y="21916"/>
                  <a:pt x="14011" y="21649"/>
                </a:cubicBezTo>
                <a:cubicBezTo>
                  <a:pt x="14411" y="21416"/>
                  <a:pt x="14644" y="21049"/>
                  <a:pt x="14744" y="20682"/>
                </a:cubicBezTo>
                <a:cubicBezTo>
                  <a:pt x="14778" y="20482"/>
                  <a:pt x="14778" y="20215"/>
                  <a:pt x="14744" y="20048"/>
                </a:cubicBezTo>
                <a:cubicBezTo>
                  <a:pt x="14444" y="19047"/>
                  <a:pt x="14144" y="18047"/>
                  <a:pt x="13777" y="17079"/>
                </a:cubicBezTo>
                <a:cubicBezTo>
                  <a:pt x="13510" y="16345"/>
                  <a:pt x="13143" y="15645"/>
                  <a:pt x="12843" y="14911"/>
                </a:cubicBezTo>
                <a:cubicBezTo>
                  <a:pt x="12743" y="14678"/>
                  <a:pt x="12743" y="14411"/>
                  <a:pt x="12843" y="14144"/>
                </a:cubicBezTo>
                <a:cubicBezTo>
                  <a:pt x="13377" y="13176"/>
                  <a:pt x="13777" y="12209"/>
                  <a:pt x="14277" y="1124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文字方塊 51">
            <a:extLst>
              <a:ext uri="{FF2B5EF4-FFF2-40B4-BE49-F238E27FC236}">
                <a16:creationId xmlns:a16="http://schemas.microsoft.com/office/drawing/2014/main" id="{E8E4C889-C490-4143-A75D-448522EA667E}"/>
              </a:ext>
            </a:extLst>
          </p:cNvPr>
          <p:cNvSpPr txBox="1"/>
          <p:nvPr/>
        </p:nvSpPr>
        <p:spPr>
          <a:xfrm>
            <a:off x="8585770" y="4631694"/>
            <a:ext cx="348172" cy="261610"/>
          </a:xfrm>
          <a:prstGeom prst="rect">
            <a:avLst/>
          </a:prstGeom>
          <a:noFill/>
        </p:spPr>
        <p:txBody>
          <a:bodyPr wrap="none" rtlCol="0">
            <a:spAutoFit/>
          </a:bodyPr>
          <a:lstStyle/>
          <a:p>
            <a:r>
              <a:rPr lang="en-US" altLang="zh-TW" sz="1100" dirty="0">
                <a:latin typeface="Montserrat" panose="02020500000000000000" charset="0"/>
              </a:rPr>
              <a:t>75</a:t>
            </a:r>
            <a:endParaRPr lang="zh-TW" altLang="en-US" sz="1100" dirty="0">
              <a:latin typeface="Montserrat" panose="02020500000000000000" charset="0"/>
            </a:endParaRPr>
          </a:p>
        </p:txBody>
      </p:sp>
      <p:sp>
        <p:nvSpPr>
          <p:cNvPr id="564" name="Google Shape;564;p39"/>
          <p:cNvSpPr txBox="1">
            <a:spLocks noGrp="1"/>
          </p:cNvSpPr>
          <p:nvPr>
            <p:ph type="title"/>
          </p:nvPr>
        </p:nvSpPr>
        <p:spPr>
          <a:xfrm>
            <a:off x="1579454" y="1667815"/>
            <a:ext cx="5989789" cy="841800"/>
          </a:xfrm>
          <a:prstGeom prst="rect">
            <a:avLst/>
          </a:prstGeom>
        </p:spPr>
        <p:txBody>
          <a:bodyPr spcFirstLastPara="1" wrap="square" lIns="91425" tIns="91425" rIns="91425" bIns="91425" anchor="ctr" anchorCtr="0">
            <a:noAutofit/>
          </a:bodyPr>
          <a:lstStyle/>
          <a:p>
            <a:pPr lvl="0"/>
            <a:r>
              <a:rPr lang="en-US" altLang="zh-TW" dirty="0">
                <a:solidFill>
                  <a:schemeClr val="tx1"/>
                </a:solidFill>
                <a:latin typeface="Montserrat"/>
                <a:sym typeface="Montserrat"/>
              </a:rPr>
              <a:t>Conclusion and future work</a:t>
            </a:r>
          </a:p>
        </p:txBody>
      </p:sp>
    </p:spTree>
    <p:extLst>
      <p:ext uri="{BB962C8B-B14F-4D97-AF65-F5344CB8AC3E}">
        <p14:creationId xmlns:p14="http://schemas.microsoft.com/office/powerpoint/2010/main" val="36916229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Conclusion</a:t>
            </a:r>
          </a:p>
        </p:txBody>
      </p:sp>
      <p:grpSp>
        <p:nvGrpSpPr>
          <p:cNvPr id="2" name="群組 1">
            <a:extLst>
              <a:ext uri="{FF2B5EF4-FFF2-40B4-BE49-F238E27FC236}">
                <a16:creationId xmlns:a16="http://schemas.microsoft.com/office/drawing/2014/main" id="{01D72C7E-8EE0-42E3-96A4-B973CE7D97C9}"/>
              </a:ext>
            </a:extLst>
          </p:cNvPr>
          <p:cNvGrpSpPr/>
          <p:nvPr/>
        </p:nvGrpSpPr>
        <p:grpSpPr>
          <a:xfrm>
            <a:off x="189900" y="-910"/>
            <a:ext cx="8764200" cy="295831"/>
            <a:chOff x="189900" y="-910"/>
            <a:chExt cx="8764200" cy="295831"/>
          </a:xfrm>
        </p:grpSpPr>
        <p:sp>
          <p:nvSpPr>
            <p:cNvPr id="3" name="矩形 2">
              <a:extLst>
                <a:ext uri="{FF2B5EF4-FFF2-40B4-BE49-F238E27FC236}">
                  <a16:creationId xmlns:a16="http://schemas.microsoft.com/office/drawing/2014/main" id="{4F31F67E-6E78-4C53-85B8-4433605A5AF6}"/>
                </a:ext>
              </a:extLst>
            </p:cNvPr>
            <p:cNvSpPr/>
            <p:nvPr/>
          </p:nvSpPr>
          <p:spPr>
            <a:xfrm>
              <a:off x="7254840" y="-910"/>
              <a:ext cx="16992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Conclusion and future work</a:t>
              </a:r>
            </a:p>
          </p:txBody>
        </p:sp>
        <p:sp>
          <p:nvSpPr>
            <p:cNvPr id="4" name="矩形 3">
              <a:extLst>
                <a:ext uri="{FF2B5EF4-FFF2-40B4-BE49-F238E27FC236}">
                  <a16:creationId xmlns:a16="http://schemas.microsoft.com/office/drawing/2014/main" id="{9686B23A-2785-416B-BB26-B36894D04F82}"/>
                </a:ext>
              </a:extLst>
            </p:cNvPr>
            <p:cNvSpPr/>
            <p:nvPr/>
          </p:nvSpPr>
          <p:spPr>
            <a:xfrm>
              <a:off x="189900" y="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9A19BE8C-BDB9-4F62-9A3F-91FB3023F044}"/>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7C93B73D-D968-454E-A8B9-8CBB45A8535A}"/>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872CCF72-1B1F-4AB7-86DF-1D8129C2665F}"/>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F73DF485-D0B7-43A7-8AC3-3BEB5C3E5778}"/>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6" name="文字方塊 5">
            <a:extLst>
              <a:ext uri="{FF2B5EF4-FFF2-40B4-BE49-F238E27FC236}">
                <a16:creationId xmlns:a16="http://schemas.microsoft.com/office/drawing/2014/main" id="{2AF0AAA6-304D-4809-BBA6-775A0F994A32}"/>
              </a:ext>
            </a:extLst>
          </p:cNvPr>
          <p:cNvSpPr txBox="1"/>
          <p:nvPr/>
        </p:nvSpPr>
        <p:spPr>
          <a:xfrm>
            <a:off x="1283753" y="933440"/>
            <a:ext cx="6576493" cy="2094997"/>
          </a:xfrm>
          <a:prstGeom prst="rect">
            <a:avLst/>
          </a:prstGeom>
          <a:noFill/>
        </p:spPr>
        <p:txBody>
          <a:bodyPr wrap="square" rtlCol="0">
            <a:spAutoFit/>
          </a:bodyPr>
          <a:lstStyle/>
          <a:p>
            <a:pPr marL="342900" indent="-342900">
              <a:lnSpc>
                <a:spcPct val="150000"/>
              </a:lnSpc>
              <a:buAutoNum type="arabicPeriod"/>
            </a:pPr>
            <a:r>
              <a:rPr lang="en-US" altLang="zh-TW" sz="1100" dirty="0">
                <a:latin typeface="Montserrat" panose="02020500000000000000" charset="0"/>
              </a:rPr>
              <a:t>Use Genetic algorithm to simulate and design the an </a:t>
            </a:r>
            <a:r>
              <a:rPr lang="en-US" altLang="zh-TW" sz="1100" dirty="0" err="1">
                <a:latin typeface="Montserrat" panose="02020500000000000000" charset="0"/>
              </a:rPr>
              <a:t>aperiodically</a:t>
            </a:r>
            <a:r>
              <a:rPr lang="en-US" altLang="zh-TW" sz="1100" dirty="0">
                <a:latin typeface="Montserrat" panose="02020500000000000000" charset="0"/>
              </a:rPr>
              <a:t> poled lithium </a:t>
            </a:r>
            <a:r>
              <a:rPr lang="en-US" altLang="zh-TW" sz="1100" dirty="0" err="1">
                <a:latin typeface="Montserrat" panose="02020500000000000000" charset="0"/>
              </a:rPr>
              <a:t>niobate</a:t>
            </a:r>
            <a:r>
              <a:rPr lang="en-US" altLang="zh-TW" sz="1100" dirty="0">
                <a:latin typeface="Montserrat" panose="02020500000000000000" charset="0"/>
              </a:rPr>
              <a:t> structure, which include SPDC and EO-PMC two different nonlinear process.</a:t>
            </a:r>
          </a:p>
          <a:p>
            <a:pPr marL="342900" indent="-342900">
              <a:lnSpc>
                <a:spcPct val="150000"/>
              </a:lnSpc>
              <a:buAutoNum type="arabicPeriod"/>
            </a:pPr>
            <a:r>
              <a:rPr lang="en-US" altLang="zh-TW" sz="1100" dirty="0">
                <a:latin typeface="Montserrat" panose="02020500000000000000" charset="0"/>
              </a:rPr>
              <a:t>The EO-PMC can achieved high conversion efficiency that can reach more than </a:t>
            </a:r>
            <a:r>
              <a:rPr lang="en-US" altLang="zh-TW" sz="1100" b="1" dirty="0">
                <a:solidFill>
                  <a:schemeClr val="tx2"/>
                </a:solidFill>
                <a:latin typeface="Montserrat" panose="02020500000000000000" charset="0"/>
              </a:rPr>
              <a:t>90%</a:t>
            </a:r>
            <a:r>
              <a:rPr lang="en-US" altLang="zh-TW" sz="1100" dirty="0">
                <a:latin typeface="Montserrat" panose="02020500000000000000" charset="0"/>
              </a:rPr>
              <a:t> with a bandwidth of </a:t>
            </a:r>
            <a:r>
              <a:rPr lang="en-US" altLang="zh-TW" sz="1100" b="1" dirty="0">
                <a:solidFill>
                  <a:schemeClr val="tx2"/>
                </a:solidFill>
                <a:latin typeface="Montserrat" panose="02020500000000000000" charset="0"/>
              </a:rPr>
              <a:t>7.5nm</a:t>
            </a:r>
            <a:r>
              <a:rPr lang="en-US" altLang="zh-TW" sz="1100" dirty="0">
                <a:solidFill>
                  <a:schemeClr val="tx1"/>
                </a:solidFill>
                <a:latin typeface="Montserrat" panose="02020500000000000000" charset="0"/>
              </a:rPr>
              <a:t>, which the voltage is applied 60V</a:t>
            </a:r>
            <a:r>
              <a:rPr lang="en-US" altLang="zh-TW" sz="1100" dirty="0">
                <a:latin typeface="Montserrat" panose="02020500000000000000" charset="0"/>
              </a:rPr>
              <a:t>.</a:t>
            </a:r>
          </a:p>
          <a:p>
            <a:pPr marL="342900" indent="-342900">
              <a:lnSpc>
                <a:spcPct val="150000"/>
              </a:lnSpc>
              <a:buAutoNum type="arabicPeriod"/>
            </a:pPr>
            <a:r>
              <a:rPr lang="en-US" altLang="zh-TW" sz="1100" dirty="0">
                <a:latin typeface="Montserrat" panose="02020500000000000000" charset="0"/>
              </a:rPr>
              <a:t>When temperature at 107°C, SPDC spectra of signal and idler overlapped wavelength at 1569nm, and the visibility of HOM is </a:t>
            </a:r>
            <a:r>
              <a:rPr lang="en-US" altLang="zh-TW" sz="1100" b="1" dirty="0">
                <a:solidFill>
                  <a:schemeClr val="tx2"/>
                </a:solidFill>
                <a:latin typeface="Montserrat" panose="02020500000000000000" charset="0"/>
              </a:rPr>
              <a:t>82.3%±1.7%</a:t>
            </a:r>
            <a:r>
              <a:rPr lang="en-US" altLang="zh-TW" sz="1100" dirty="0">
                <a:solidFill>
                  <a:schemeClr val="tx1"/>
                </a:solidFill>
                <a:latin typeface="Montserrat" panose="02020500000000000000" charset="0"/>
              </a:rPr>
              <a:t>.</a:t>
            </a:r>
          </a:p>
          <a:p>
            <a:pPr marL="342900" indent="-342900">
              <a:lnSpc>
                <a:spcPct val="150000"/>
              </a:lnSpc>
              <a:buAutoNum type="arabicPeriod"/>
            </a:pPr>
            <a:r>
              <a:rPr lang="en-US" altLang="zh-TW" sz="1100" dirty="0">
                <a:solidFill>
                  <a:schemeClr val="tx1"/>
                </a:solidFill>
                <a:latin typeface="Montserrat" panose="02020500000000000000" charset="0"/>
              </a:rPr>
              <a:t>We successfully use the electro-optical to control the polarization-correlated photon-pair on single chip.</a:t>
            </a:r>
          </a:p>
        </p:txBody>
      </p:sp>
      <p:sp>
        <p:nvSpPr>
          <p:cNvPr id="12" name="文字方塊 11">
            <a:extLst>
              <a:ext uri="{FF2B5EF4-FFF2-40B4-BE49-F238E27FC236}">
                <a16:creationId xmlns:a16="http://schemas.microsoft.com/office/drawing/2014/main" id="{CBE5FF4D-1C64-4402-B156-4DBF2D0779E0}"/>
              </a:ext>
            </a:extLst>
          </p:cNvPr>
          <p:cNvSpPr txBox="1"/>
          <p:nvPr/>
        </p:nvSpPr>
        <p:spPr>
          <a:xfrm>
            <a:off x="8585770" y="4631694"/>
            <a:ext cx="354584" cy="261610"/>
          </a:xfrm>
          <a:prstGeom prst="rect">
            <a:avLst/>
          </a:prstGeom>
          <a:noFill/>
        </p:spPr>
        <p:txBody>
          <a:bodyPr wrap="none" rtlCol="0">
            <a:spAutoFit/>
          </a:bodyPr>
          <a:lstStyle/>
          <a:p>
            <a:r>
              <a:rPr lang="en-US" altLang="zh-TW" sz="1100" dirty="0">
                <a:latin typeface="Montserrat" panose="02020500000000000000" charset="0"/>
              </a:rPr>
              <a:t>76</a:t>
            </a:r>
            <a:endParaRPr lang="zh-TW" altLang="en-US" sz="1100" dirty="0">
              <a:latin typeface="Montserrat" panose="02020500000000000000" charset="0"/>
            </a:endParaRPr>
          </a:p>
        </p:txBody>
      </p:sp>
    </p:spTree>
    <p:extLst>
      <p:ext uri="{BB962C8B-B14F-4D97-AF65-F5344CB8AC3E}">
        <p14:creationId xmlns:p14="http://schemas.microsoft.com/office/powerpoint/2010/main" val="3984383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9" name="Google Shape;212;p36">
            <a:extLst>
              <a:ext uri="{FF2B5EF4-FFF2-40B4-BE49-F238E27FC236}">
                <a16:creationId xmlns:a16="http://schemas.microsoft.com/office/drawing/2014/main" id="{1968C3AC-B78F-491B-B3E6-13E56F6570C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Future work</a:t>
            </a:r>
          </a:p>
        </p:txBody>
      </p:sp>
      <p:grpSp>
        <p:nvGrpSpPr>
          <p:cNvPr id="3" name="群組 2">
            <a:extLst>
              <a:ext uri="{FF2B5EF4-FFF2-40B4-BE49-F238E27FC236}">
                <a16:creationId xmlns:a16="http://schemas.microsoft.com/office/drawing/2014/main" id="{0E35ABBD-A007-441E-BF73-86B0D369777F}"/>
              </a:ext>
            </a:extLst>
          </p:cNvPr>
          <p:cNvGrpSpPr/>
          <p:nvPr/>
        </p:nvGrpSpPr>
        <p:grpSpPr>
          <a:xfrm>
            <a:off x="189900" y="-910"/>
            <a:ext cx="8764200" cy="295831"/>
            <a:chOff x="189900" y="-910"/>
            <a:chExt cx="8764200" cy="295831"/>
          </a:xfrm>
        </p:grpSpPr>
        <p:sp>
          <p:nvSpPr>
            <p:cNvPr id="4" name="矩形 3">
              <a:extLst>
                <a:ext uri="{FF2B5EF4-FFF2-40B4-BE49-F238E27FC236}">
                  <a16:creationId xmlns:a16="http://schemas.microsoft.com/office/drawing/2014/main" id="{FAD6D243-642D-4D4D-956D-999983FA9B63}"/>
                </a:ext>
              </a:extLst>
            </p:cNvPr>
            <p:cNvSpPr/>
            <p:nvPr/>
          </p:nvSpPr>
          <p:spPr>
            <a:xfrm>
              <a:off x="7254840" y="-910"/>
              <a:ext cx="16992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Conclusion and future work</a:t>
              </a:r>
            </a:p>
          </p:txBody>
        </p:sp>
        <p:sp>
          <p:nvSpPr>
            <p:cNvPr id="5" name="矩形 4">
              <a:extLst>
                <a:ext uri="{FF2B5EF4-FFF2-40B4-BE49-F238E27FC236}">
                  <a16:creationId xmlns:a16="http://schemas.microsoft.com/office/drawing/2014/main" id="{622028DD-C802-4794-A570-EBFA14B8A88A}"/>
                </a:ext>
              </a:extLst>
            </p:cNvPr>
            <p:cNvSpPr/>
            <p:nvPr/>
          </p:nvSpPr>
          <p:spPr>
            <a:xfrm>
              <a:off x="189900" y="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6" name="矩形 5">
              <a:extLst>
                <a:ext uri="{FF2B5EF4-FFF2-40B4-BE49-F238E27FC236}">
                  <a16:creationId xmlns:a16="http://schemas.microsoft.com/office/drawing/2014/main" id="{65AFD6AE-AA17-465D-A6E0-E020B9434FD1}"/>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7" name="矩形 6">
              <a:extLst>
                <a:ext uri="{FF2B5EF4-FFF2-40B4-BE49-F238E27FC236}">
                  <a16:creationId xmlns:a16="http://schemas.microsoft.com/office/drawing/2014/main" id="{4B1811ED-1959-4663-92CC-DB6FFBC2BFCE}"/>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20BC758A-DAFD-4DFE-8811-77900F759BB8}"/>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219899D5-498F-40A0-86A1-26A6F64B394A}"/>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6" name="矩形 15">
            <a:extLst>
              <a:ext uri="{FF2B5EF4-FFF2-40B4-BE49-F238E27FC236}">
                <a16:creationId xmlns:a16="http://schemas.microsoft.com/office/drawing/2014/main" id="{CB366561-F963-46EE-A1C6-CDA73A11C0A5}"/>
              </a:ext>
            </a:extLst>
          </p:cNvPr>
          <p:cNvSpPr/>
          <p:nvPr/>
        </p:nvSpPr>
        <p:spPr>
          <a:xfrm>
            <a:off x="814625" y="1083932"/>
            <a:ext cx="3417923" cy="230832"/>
          </a:xfrm>
          <a:prstGeom prst="rect">
            <a:avLst/>
          </a:prstGeom>
        </p:spPr>
        <p:txBody>
          <a:bodyPr wrap="none">
            <a:spAutoFit/>
          </a:bodyPr>
          <a:lstStyle/>
          <a:p>
            <a:r>
              <a:rPr lang="en-US" altLang="zh-TW" sz="900" b="1" dirty="0">
                <a:latin typeface="Montserrat" panose="02020500000000000000" charset="0"/>
              </a:rPr>
              <a:t>Change of waveguide linewidth at same temperature</a:t>
            </a:r>
            <a:endParaRPr lang="zh-TW" altLang="en-US" sz="900" b="1" dirty="0">
              <a:latin typeface="Montserrat" panose="02020500000000000000" charset="0"/>
            </a:endParaRPr>
          </a:p>
        </p:txBody>
      </p:sp>
      <p:sp>
        <p:nvSpPr>
          <p:cNvPr id="21" name="文字方塊 20">
            <a:extLst>
              <a:ext uri="{FF2B5EF4-FFF2-40B4-BE49-F238E27FC236}">
                <a16:creationId xmlns:a16="http://schemas.microsoft.com/office/drawing/2014/main" id="{ADD5F1DA-3E92-46C6-A076-88745362CEB5}"/>
              </a:ext>
            </a:extLst>
          </p:cNvPr>
          <p:cNvSpPr txBox="1"/>
          <p:nvPr/>
        </p:nvSpPr>
        <p:spPr>
          <a:xfrm>
            <a:off x="8585770" y="4631694"/>
            <a:ext cx="351378" cy="261610"/>
          </a:xfrm>
          <a:prstGeom prst="rect">
            <a:avLst/>
          </a:prstGeom>
          <a:noFill/>
        </p:spPr>
        <p:txBody>
          <a:bodyPr wrap="none" rtlCol="0">
            <a:spAutoFit/>
          </a:bodyPr>
          <a:lstStyle/>
          <a:p>
            <a:r>
              <a:rPr lang="en-US" altLang="zh-TW" sz="1100" dirty="0">
                <a:latin typeface="Montserrat" panose="02020500000000000000" charset="0"/>
              </a:rPr>
              <a:t>77</a:t>
            </a:r>
            <a:endParaRPr lang="zh-TW" altLang="en-US" sz="1100" dirty="0">
              <a:latin typeface="Montserrat" panose="02020500000000000000" charset="0"/>
            </a:endParaRPr>
          </a:p>
        </p:txBody>
      </p:sp>
      <p:grpSp>
        <p:nvGrpSpPr>
          <p:cNvPr id="30" name="群組 29">
            <a:extLst>
              <a:ext uri="{FF2B5EF4-FFF2-40B4-BE49-F238E27FC236}">
                <a16:creationId xmlns:a16="http://schemas.microsoft.com/office/drawing/2014/main" id="{6F061FBA-640B-4D66-836A-3E96D46D2203}"/>
              </a:ext>
            </a:extLst>
          </p:cNvPr>
          <p:cNvGrpSpPr/>
          <p:nvPr/>
        </p:nvGrpSpPr>
        <p:grpSpPr>
          <a:xfrm>
            <a:off x="656497" y="1511557"/>
            <a:ext cx="7831006" cy="2428536"/>
            <a:chOff x="542427" y="1619505"/>
            <a:chExt cx="7831006" cy="2428536"/>
          </a:xfrm>
        </p:grpSpPr>
        <p:grpSp>
          <p:nvGrpSpPr>
            <p:cNvPr id="11" name="群組 10">
              <a:extLst>
                <a:ext uri="{FF2B5EF4-FFF2-40B4-BE49-F238E27FC236}">
                  <a16:creationId xmlns:a16="http://schemas.microsoft.com/office/drawing/2014/main" id="{A945026B-A769-474E-9E14-4F685A1A084A}"/>
                </a:ext>
              </a:extLst>
            </p:cNvPr>
            <p:cNvGrpSpPr/>
            <p:nvPr/>
          </p:nvGrpSpPr>
          <p:grpSpPr>
            <a:xfrm>
              <a:off x="542427" y="1620253"/>
              <a:ext cx="2730176" cy="2427788"/>
              <a:chOff x="641235" y="1816732"/>
              <a:chExt cx="2730176" cy="2427788"/>
            </a:xfrm>
          </p:grpSpPr>
          <p:pic>
            <p:nvPicPr>
              <p:cNvPr id="15" name="圖片 14">
                <a:extLst>
                  <a:ext uri="{FF2B5EF4-FFF2-40B4-BE49-F238E27FC236}">
                    <a16:creationId xmlns:a16="http://schemas.microsoft.com/office/drawing/2014/main" id="{DB939A93-9DBF-4765-A247-F1C497A42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235" y="1816732"/>
                <a:ext cx="2730176" cy="2039274"/>
              </a:xfrm>
              <a:prstGeom prst="rect">
                <a:avLst/>
              </a:prstGeom>
            </p:spPr>
          </p:pic>
          <p:sp>
            <p:nvSpPr>
              <p:cNvPr id="17" name="矩形 16">
                <a:extLst>
                  <a:ext uri="{FF2B5EF4-FFF2-40B4-BE49-F238E27FC236}">
                    <a16:creationId xmlns:a16="http://schemas.microsoft.com/office/drawing/2014/main" id="{FE1AF8B3-B50A-45EA-A34F-64E3C20BB082}"/>
                  </a:ext>
                </a:extLst>
              </p:cNvPr>
              <p:cNvSpPr/>
              <p:nvPr/>
            </p:nvSpPr>
            <p:spPr>
              <a:xfrm>
                <a:off x="1679487" y="4013688"/>
                <a:ext cx="566181" cy="230832"/>
              </a:xfrm>
              <a:prstGeom prst="rect">
                <a:avLst/>
              </a:prstGeom>
            </p:spPr>
            <p:txBody>
              <a:bodyPr wrap="none">
                <a:spAutoFit/>
              </a:bodyPr>
              <a:lstStyle/>
              <a:p>
                <a:r>
                  <a:rPr lang="en-US" altLang="zh-TW" sz="900" dirty="0">
                    <a:latin typeface="Montserrat" panose="02020500000000000000" charset="0"/>
                  </a:rPr>
                  <a:t>6.8um</a:t>
                </a:r>
                <a:endParaRPr lang="zh-TW" altLang="en-US" sz="900" dirty="0">
                  <a:latin typeface="Montserrat" panose="02020500000000000000" charset="0"/>
                </a:endParaRPr>
              </a:p>
            </p:txBody>
          </p:sp>
        </p:grpSp>
        <p:grpSp>
          <p:nvGrpSpPr>
            <p:cNvPr id="12" name="群組 11">
              <a:extLst>
                <a:ext uri="{FF2B5EF4-FFF2-40B4-BE49-F238E27FC236}">
                  <a16:creationId xmlns:a16="http://schemas.microsoft.com/office/drawing/2014/main" id="{0A4AC90F-831E-4174-8C89-BE8CEC6C24EA}"/>
                </a:ext>
              </a:extLst>
            </p:cNvPr>
            <p:cNvGrpSpPr/>
            <p:nvPr/>
          </p:nvGrpSpPr>
          <p:grpSpPr>
            <a:xfrm>
              <a:off x="5643257" y="1620253"/>
              <a:ext cx="2730176" cy="2427788"/>
              <a:chOff x="3371411" y="1816732"/>
              <a:chExt cx="2730176" cy="2427788"/>
            </a:xfrm>
          </p:grpSpPr>
          <p:pic>
            <p:nvPicPr>
              <p:cNvPr id="13" name="圖片 12">
                <a:extLst>
                  <a:ext uri="{FF2B5EF4-FFF2-40B4-BE49-F238E27FC236}">
                    <a16:creationId xmlns:a16="http://schemas.microsoft.com/office/drawing/2014/main" id="{69ACBF8F-37B1-4783-B72B-56ACBCE2C9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1411" y="1816732"/>
                <a:ext cx="2730176" cy="2039274"/>
              </a:xfrm>
              <a:prstGeom prst="rect">
                <a:avLst/>
              </a:prstGeom>
            </p:spPr>
          </p:pic>
          <p:sp>
            <p:nvSpPr>
              <p:cNvPr id="18" name="矩形 17">
                <a:extLst>
                  <a:ext uri="{FF2B5EF4-FFF2-40B4-BE49-F238E27FC236}">
                    <a16:creationId xmlns:a16="http://schemas.microsoft.com/office/drawing/2014/main" id="{BDAD58A1-A869-4A17-93CC-EBEA4268A34F}"/>
                  </a:ext>
                </a:extLst>
              </p:cNvPr>
              <p:cNvSpPr/>
              <p:nvPr/>
            </p:nvSpPr>
            <p:spPr>
              <a:xfrm>
                <a:off x="4459019" y="4013688"/>
                <a:ext cx="554960" cy="230832"/>
              </a:xfrm>
              <a:prstGeom prst="rect">
                <a:avLst/>
              </a:prstGeom>
            </p:spPr>
            <p:txBody>
              <a:bodyPr wrap="none">
                <a:spAutoFit/>
              </a:bodyPr>
              <a:lstStyle/>
              <a:p>
                <a:r>
                  <a:rPr lang="en-US" altLang="zh-TW" sz="900" dirty="0">
                    <a:latin typeface="Montserrat" panose="02020500000000000000" charset="0"/>
                  </a:rPr>
                  <a:t>7.2um</a:t>
                </a:r>
                <a:endParaRPr lang="zh-TW" altLang="en-US" sz="900" dirty="0">
                  <a:latin typeface="Montserrat" panose="02020500000000000000" charset="0"/>
                </a:endParaRPr>
              </a:p>
            </p:txBody>
          </p:sp>
        </p:grpSp>
        <p:grpSp>
          <p:nvGrpSpPr>
            <p:cNvPr id="22" name="群組 21">
              <a:extLst>
                <a:ext uri="{FF2B5EF4-FFF2-40B4-BE49-F238E27FC236}">
                  <a16:creationId xmlns:a16="http://schemas.microsoft.com/office/drawing/2014/main" id="{D1E62932-DAA7-43A1-BE08-6A26C59715AE}"/>
                </a:ext>
              </a:extLst>
            </p:cNvPr>
            <p:cNvGrpSpPr/>
            <p:nvPr/>
          </p:nvGrpSpPr>
          <p:grpSpPr>
            <a:xfrm>
              <a:off x="3092842" y="1619505"/>
              <a:ext cx="2730177" cy="2428536"/>
              <a:chOff x="3092842" y="1619505"/>
              <a:chExt cx="2730177" cy="2428536"/>
            </a:xfrm>
          </p:grpSpPr>
          <p:pic>
            <p:nvPicPr>
              <p:cNvPr id="26" name="圖片 25">
                <a:extLst>
                  <a:ext uri="{FF2B5EF4-FFF2-40B4-BE49-F238E27FC236}">
                    <a16:creationId xmlns:a16="http://schemas.microsoft.com/office/drawing/2014/main" id="{F56B7F3A-7435-416E-88D1-FC8E35745FFE}"/>
                  </a:ext>
                </a:extLst>
              </p:cNvPr>
              <p:cNvPicPr>
                <a:picLocks noChangeAspect="1"/>
              </p:cNvPicPr>
              <p:nvPr/>
            </p:nvPicPr>
            <p:blipFill rotWithShape="1">
              <a:blip r:embed="rId5">
                <a:extLst>
                  <a:ext uri="{28A0092B-C50C-407E-A947-70E740481C1C}">
                    <a14:useLocalDpi xmlns:a14="http://schemas.microsoft.com/office/drawing/2010/main" val="0"/>
                  </a:ext>
                </a:extLst>
              </a:blip>
              <a:srcRect t="-460"/>
              <a:stretch/>
            </p:blipFill>
            <p:spPr>
              <a:xfrm>
                <a:off x="3092842" y="1619505"/>
                <a:ext cx="2730177" cy="2039274"/>
              </a:xfrm>
              <a:prstGeom prst="rect">
                <a:avLst/>
              </a:prstGeom>
            </p:spPr>
          </p:pic>
          <p:sp>
            <p:nvSpPr>
              <p:cNvPr id="27" name="矩形 26">
                <a:extLst>
                  <a:ext uri="{FF2B5EF4-FFF2-40B4-BE49-F238E27FC236}">
                    <a16:creationId xmlns:a16="http://schemas.microsoft.com/office/drawing/2014/main" id="{A2111C1F-B5AE-4498-81B5-E91EEDC5EEE2}"/>
                  </a:ext>
                </a:extLst>
              </p:cNvPr>
              <p:cNvSpPr/>
              <p:nvPr/>
            </p:nvSpPr>
            <p:spPr>
              <a:xfrm>
                <a:off x="4232548" y="3817209"/>
                <a:ext cx="450764" cy="230832"/>
              </a:xfrm>
              <a:prstGeom prst="rect">
                <a:avLst/>
              </a:prstGeom>
            </p:spPr>
            <p:txBody>
              <a:bodyPr wrap="none">
                <a:spAutoFit/>
              </a:bodyPr>
              <a:lstStyle/>
              <a:p>
                <a:r>
                  <a:rPr lang="en-US" altLang="zh-TW" sz="900" dirty="0">
                    <a:latin typeface="Montserrat" panose="02020500000000000000" charset="0"/>
                  </a:rPr>
                  <a:t>7um</a:t>
                </a:r>
                <a:endParaRPr lang="zh-TW" altLang="en-US" sz="900" dirty="0">
                  <a:latin typeface="Montserrat" panose="02020500000000000000" charset="0"/>
                </a:endParaRPr>
              </a:p>
            </p:txBody>
          </p:sp>
        </p:grpSp>
      </p:grpSp>
      <p:graphicFrame>
        <p:nvGraphicFramePr>
          <p:cNvPr id="29" name="表格 28">
            <a:extLst>
              <a:ext uri="{FF2B5EF4-FFF2-40B4-BE49-F238E27FC236}">
                <a16:creationId xmlns:a16="http://schemas.microsoft.com/office/drawing/2014/main" id="{783B6119-CAAB-42E4-8A35-C588FFE5414A}"/>
              </a:ext>
            </a:extLst>
          </p:cNvPr>
          <p:cNvGraphicFramePr>
            <a:graphicFrameLocks noGrp="1"/>
          </p:cNvGraphicFramePr>
          <p:nvPr>
            <p:extLst>
              <p:ext uri="{D42A27DB-BD31-4B8C-83A1-F6EECF244321}">
                <p14:modId xmlns:p14="http://schemas.microsoft.com/office/powerpoint/2010/main" val="4069820592"/>
              </p:ext>
            </p:extLst>
          </p:nvPr>
        </p:nvGraphicFramePr>
        <p:xfrm>
          <a:off x="1146510" y="4027642"/>
          <a:ext cx="6850980" cy="709365"/>
        </p:xfrm>
        <a:graphic>
          <a:graphicData uri="http://schemas.openxmlformats.org/drawingml/2006/table">
            <a:tbl>
              <a:tblPr firstRow="1" firstCol="1" bandRow="1">
                <a:tableStyleId>{98252408-292B-446D-B347-1ABCC8AC41D4}</a:tableStyleId>
              </a:tblPr>
              <a:tblGrid>
                <a:gridCol w="1543351">
                  <a:extLst>
                    <a:ext uri="{9D8B030D-6E8A-4147-A177-3AD203B41FA5}">
                      <a16:colId xmlns:a16="http://schemas.microsoft.com/office/drawing/2014/main" val="2488836331"/>
                    </a:ext>
                  </a:extLst>
                </a:gridCol>
                <a:gridCol w="1744980">
                  <a:extLst>
                    <a:ext uri="{9D8B030D-6E8A-4147-A177-3AD203B41FA5}">
                      <a16:colId xmlns:a16="http://schemas.microsoft.com/office/drawing/2014/main" val="1720333333"/>
                    </a:ext>
                  </a:extLst>
                </a:gridCol>
                <a:gridCol w="1783080">
                  <a:extLst>
                    <a:ext uri="{9D8B030D-6E8A-4147-A177-3AD203B41FA5}">
                      <a16:colId xmlns:a16="http://schemas.microsoft.com/office/drawing/2014/main" val="2142107292"/>
                    </a:ext>
                  </a:extLst>
                </a:gridCol>
                <a:gridCol w="1779569">
                  <a:extLst>
                    <a:ext uri="{9D8B030D-6E8A-4147-A177-3AD203B41FA5}">
                      <a16:colId xmlns:a16="http://schemas.microsoft.com/office/drawing/2014/main" val="3661198308"/>
                    </a:ext>
                  </a:extLst>
                </a:gridCol>
              </a:tblGrid>
              <a:tr h="236455">
                <a:tc>
                  <a:txBody>
                    <a:bodyPr/>
                    <a:lstStyle/>
                    <a:p>
                      <a:pPr algn="ctr">
                        <a:lnSpc>
                          <a:spcPct val="150000"/>
                        </a:lnSpc>
                        <a:spcAft>
                          <a:spcPts val="0"/>
                        </a:spcAft>
                      </a:pPr>
                      <a:r>
                        <a:rPr lang="en-US" sz="900" kern="100" dirty="0">
                          <a:effectLst/>
                          <a:latin typeface="Montserrat" panose="02020500000000000000" charset="0"/>
                        </a:rPr>
                        <a:t>Center wavelength (nm)</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b="1" kern="100" dirty="0">
                          <a:effectLst/>
                          <a:latin typeface="Montserrat" panose="02020500000000000000" charset="0"/>
                          <a:ea typeface="Times New Roman" panose="02020603050405020304" pitchFamily="18" charset="0"/>
                          <a:cs typeface="Times New Roman" panose="02020603050405020304" pitchFamily="18" charset="0"/>
                        </a:rPr>
                        <a:t>6.8um</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b="1" kern="100" dirty="0">
                          <a:effectLst/>
                          <a:latin typeface="Montserrat" panose="02020500000000000000" charset="0"/>
                          <a:ea typeface="Times New Roman" panose="02020603050405020304" pitchFamily="18" charset="0"/>
                          <a:cs typeface="Times New Roman" panose="02020603050405020304" pitchFamily="18" charset="0"/>
                        </a:rPr>
                        <a:t>7um</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b="1" kern="100" dirty="0">
                          <a:effectLst/>
                          <a:latin typeface="Montserrat" panose="02020500000000000000" charset="0"/>
                          <a:ea typeface="Times New Roman" panose="02020603050405020304" pitchFamily="18" charset="0"/>
                          <a:cs typeface="Times New Roman" panose="02020603050405020304" pitchFamily="18" charset="0"/>
                        </a:rPr>
                        <a:t>7.2um</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9055456"/>
                  </a:ext>
                </a:extLst>
              </a:tr>
              <a:tr h="236455">
                <a:tc>
                  <a:txBody>
                    <a:bodyPr/>
                    <a:lstStyle/>
                    <a:p>
                      <a:pPr algn="ctr">
                        <a:lnSpc>
                          <a:spcPct val="150000"/>
                        </a:lnSpc>
                        <a:spcAft>
                          <a:spcPts val="0"/>
                        </a:spcAft>
                      </a:pPr>
                      <a:r>
                        <a:rPr lang="en-US" altLang="zh-TW" sz="900" b="1" kern="100" dirty="0">
                          <a:effectLst/>
                          <a:latin typeface="Montserrat" panose="02020500000000000000" charset="0"/>
                        </a:rPr>
                        <a:t>SHG</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1573.9</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1570</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1573.4</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5024638"/>
                  </a:ext>
                </a:extLst>
              </a:tr>
              <a:tr h="236455">
                <a:tc>
                  <a:txBody>
                    <a:bodyPr/>
                    <a:lstStyle/>
                    <a:p>
                      <a:pPr algn="ctr">
                        <a:lnSpc>
                          <a:spcPct val="150000"/>
                        </a:lnSpc>
                        <a:spcAft>
                          <a:spcPts val="0"/>
                        </a:spcAft>
                      </a:pPr>
                      <a:r>
                        <a:rPr lang="en-US" altLang="zh-TW" sz="900" b="1" kern="100" dirty="0">
                          <a:effectLst/>
                          <a:latin typeface="Montserrat" panose="02020500000000000000" charset="0"/>
                        </a:rPr>
                        <a:t>EO-PMC</a:t>
                      </a:r>
                      <a:endParaRPr lang="zh-TW" sz="900" b="1"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1568.5</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1570</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altLang="zh-TW" sz="900" kern="100" dirty="0">
                          <a:effectLst/>
                          <a:latin typeface="Montserrat" panose="02020500000000000000" charset="0"/>
                          <a:ea typeface="Times New Roman" panose="02020603050405020304" pitchFamily="18" charset="0"/>
                          <a:cs typeface="Times New Roman" panose="02020603050405020304" pitchFamily="18" charset="0"/>
                        </a:rPr>
                        <a:t>1565.5</a:t>
                      </a:r>
                      <a:endParaRPr lang="zh-TW" sz="900" kern="100" dirty="0">
                        <a:effectLst/>
                        <a:latin typeface="Montserrat" panose="02020500000000000000"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7157521"/>
                  </a:ext>
                </a:extLst>
              </a:tr>
            </a:tbl>
          </a:graphicData>
        </a:graphic>
      </p:graphicFrame>
      <p:grpSp>
        <p:nvGrpSpPr>
          <p:cNvPr id="23" name="群組 22">
            <a:extLst>
              <a:ext uri="{FF2B5EF4-FFF2-40B4-BE49-F238E27FC236}">
                <a16:creationId xmlns:a16="http://schemas.microsoft.com/office/drawing/2014/main" id="{B5B7BAC2-9704-4407-BB10-A871E6BA2EBD}"/>
              </a:ext>
            </a:extLst>
          </p:cNvPr>
          <p:cNvGrpSpPr/>
          <p:nvPr/>
        </p:nvGrpSpPr>
        <p:grpSpPr>
          <a:xfrm>
            <a:off x="6037695" y="704533"/>
            <a:ext cx="2730176" cy="758797"/>
            <a:chOff x="6101587" y="2391543"/>
            <a:chExt cx="2730176" cy="758797"/>
          </a:xfrm>
        </p:grpSpPr>
        <p:sp>
          <p:nvSpPr>
            <p:cNvPr id="24" name="箭號: 向下 23">
              <a:extLst>
                <a:ext uri="{FF2B5EF4-FFF2-40B4-BE49-F238E27FC236}">
                  <a16:creationId xmlns:a16="http://schemas.microsoft.com/office/drawing/2014/main" id="{E8154997-0FE3-44DC-9A9E-1E826AA95156}"/>
                </a:ext>
              </a:extLst>
            </p:cNvPr>
            <p:cNvSpPr/>
            <p:nvPr/>
          </p:nvSpPr>
          <p:spPr>
            <a:xfrm rot="16200000">
              <a:off x="6418277" y="2391048"/>
              <a:ext cx="126409" cy="759789"/>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矩形 24">
              <a:extLst>
                <a:ext uri="{FF2B5EF4-FFF2-40B4-BE49-F238E27FC236}">
                  <a16:creationId xmlns:a16="http://schemas.microsoft.com/office/drawing/2014/main" id="{A27B2DD8-D63E-467E-BF09-C8A6ABFE6A4F}"/>
                </a:ext>
              </a:extLst>
            </p:cNvPr>
            <p:cNvSpPr/>
            <p:nvPr/>
          </p:nvSpPr>
          <p:spPr>
            <a:xfrm>
              <a:off x="6143889" y="2476905"/>
              <a:ext cx="675185" cy="230832"/>
            </a:xfrm>
            <a:prstGeom prst="rect">
              <a:avLst/>
            </a:prstGeom>
          </p:spPr>
          <p:txBody>
            <a:bodyPr wrap="none">
              <a:spAutoFit/>
            </a:bodyPr>
            <a:lstStyle/>
            <a:p>
              <a:r>
                <a:rPr lang="en-US" altLang="zh-TW" sz="900" b="1" dirty="0">
                  <a:latin typeface="Montserrat" panose="02020500000000000000" charset="0"/>
                </a:rPr>
                <a:t>solution</a:t>
              </a:r>
              <a:endParaRPr lang="zh-TW" altLang="en-US" sz="900" b="1" dirty="0">
                <a:latin typeface="Montserrat" panose="02020500000000000000" charset="0"/>
              </a:endParaRPr>
            </a:p>
          </p:txBody>
        </p:sp>
        <p:sp>
          <p:nvSpPr>
            <p:cNvPr id="28" name="矩形 27">
              <a:extLst>
                <a:ext uri="{FF2B5EF4-FFF2-40B4-BE49-F238E27FC236}">
                  <a16:creationId xmlns:a16="http://schemas.microsoft.com/office/drawing/2014/main" id="{EEAEBDD2-F666-4D08-BDE2-6411AC190AA2}"/>
                </a:ext>
              </a:extLst>
            </p:cNvPr>
            <p:cNvSpPr/>
            <p:nvPr/>
          </p:nvSpPr>
          <p:spPr>
            <a:xfrm>
              <a:off x="7058993" y="2391543"/>
              <a:ext cx="1772770" cy="758797"/>
            </a:xfrm>
            <a:prstGeom prst="rect">
              <a:avLst/>
            </a:prstGeom>
          </p:spPr>
          <p:txBody>
            <a:bodyPr wrap="square">
              <a:spAutoFit/>
            </a:bodyPr>
            <a:lstStyle/>
            <a:p>
              <a:pPr>
                <a:lnSpc>
                  <a:spcPct val="150000"/>
                </a:lnSpc>
              </a:pPr>
              <a:r>
                <a:rPr lang="en-US" altLang="zh-TW" sz="1000" dirty="0">
                  <a:latin typeface="Montserrat" panose="02020500000000000000" charset="0"/>
                </a:rPr>
                <a:t>Redesign the waveguide mask to increase its  fabrication tolerant.</a:t>
              </a:r>
            </a:p>
          </p:txBody>
        </p:sp>
      </p:grpSp>
    </p:spTree>
    <p:extLst>
      <p:ext uri="{BB962C8B-B14F-4D97-AF65-F5344CB8AC3E}">
        <p14:creationId xmlns:p14="http://schemas.microsoft.com/office/powerpoint/2010/main" val="19986338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2;p36">
            <a:extLst>
              <a:ext uri="{FF2B5EF4-FFF2-40B4-BE49-F238E27FC236}">
                <a16:creationId xmlns:a16="http://schemas.microsoft.com/office/drawing/2014/main" id="{5183AC5B-3CA3-4389-A5E5-A8D0B13A94F2}"/>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Future work</a:t>
            </a:r>
          </a:p>
        </p:txBody>
      </p:sp>
      <p:grpSp>
        <p:nvGrpSpPr>
          <p:cNvPr id="5" name="群組 4">
            <a:extLst>
              <a:ext uri="{FF2B5EF4-FFF2-40B4-BE49-F238E27FC236}">
                <a16:creationId xmlns:a16="http://schemas.microsoft.com/office/drawing/2014/main" id="{372F90CC-CFE4-49D7-A5BC-E787FDF155C0}"/>
              </a:ext>
            </a:extLst>
          </p:cNvPr>
          <p:cNvGrpSpPr/>
          <p:nvPr/>
        </p:nvGrpSpPr>
        <p:grpSpPr>
          <a:xfrm>
            <a:off x="189900" y="-910"/>
            <a:ext cx="8764200" cy="295831"/>
            <a:chOff x="189900" y="-910"/>
            <a:chExt cx="8764200" cy="295831"/>
          </a:xfrm>
        </p:grpSpPr>
        <p:sp>
          <p:nvSpPr>
            <p:cNvPr id="6" name="矩形 5">
              <a:extLst>
                <a:ext uri="{FF2B5EF4-FFF2-40B4-BE49-F238E27FC236}">
                  <a16:creationId xmlns:a16="http://schemas.microsoft.com/office/drawing/2014/main" id="{DB3992D4-8BDC-4B8A-8376-086257FC6452}"/>
                </a:ext>
              </a:extLst>
            </p:cNvPr>
            <p:cNvSpPr/>
            <p:nvPr/>
          </p:nvSpPr>
          <p:spPr>
            <a:xfrm>
              <a:off x="7254840" y="-910"/>
              <a:ext cx="1699260" cy="295831"/>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800" b="1" dirty="0">
                  <a:solidFill>
                    <a:schemeClr val="accent3">
                      <a:lumMod val="50000"/>
                      <a:lumOff val="50000"/>
                    </a:schemeClr>
                  </a:solidFill>
                  <a:latin typeface="Montserrat"/>
                  <a:sym typeface="Montserrat"/>
                </a:rPr>
                <a:t>Conclusion and future work</a:t>
              </a:r>
            </a:p>
          </p:txBody>
        </p:sp>
        <p:sp>
          <p:nvSpPr>
            <p:cNvPr id="7" name="矩形 6">
              <a:extLst>
                <a:ext uri="{FF2B5EF4-FFF2-40B4-BE49-F238E27FC236}">
                  <a16:creationId xmlns:a16="http://schemas.microsoft.com/office/drawing/2014/main" id="{94604C0E-59BD-4ED8-A75C-E4CE300616FC}"/>
                </a:ext>
              </a:extLst>
            </p:cNvPr>
            <p:cNvSpPr/>
            <p:nvPr/>
          </p:nvSpPr>
          <p:spPr>
            <a:xfrm>
              <a:off x="189900" y="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8" name="矩形 7">
              <a:extLst>
                <a:ext uri="{FF2B5EF4-FFF2-40B4-BE49-F238E27FC236}">
                  <a16:creationId xmlns:a16="http://schemas.microsoft.com/office/drawing/2014/main" id="{DEB912CB-5CD8-4B89-AD76-816FC6617578}"/>
                </a:ext>
              </a:extLst>
            </p:cNvPr>
            <p:cNvSpPr/>
            <p:nvPr/>
          </p:nvSpPr>
          <p:spPr>
            <a:xfrm>
              <a:off x="1341848" y="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9" name="矩形 8">
              <a:extLst>
                <a:ext uri="{FF2B5EF4-FFF2-40B4-BE49-F238E27FC236}">
                  <a16:creationId xmlns:a16="http://schemas.microsoft.com/office/drawing/2014/main" id="{282DFC76-CC3F-47B0-970C-6FC91440FFBF}"/>
                </a:ext>
              </a:extLst>
            </p:cNvPr>
            <p:cNvSpPr/>
            <p:nvPr/>
          </p:nvSpPr>
          <p:spPr>
            <a:xfrm>
              <a:off x="2827020" y="1231"/>
              <a:ext cx="902670" cy="147005"/>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0" name="矩形 9">
              <a:extLst>
                <a:ext uri="{FF2B5EF4-FFF2-40B4-BE49-F238E27FC236}">
                  <a16:creationId xmlns:a16="http://schemas.microsoft.com/office/drawing/2014/main" id="{BCC73906-AEE7-45CB-8115-3F15820E10A1}"/>
                </a:ext>
              </a:extLst>
            </p:cNvPr>
            <p:cNvSpPr/>
            <p:nvPr/>
          </p:nvSpPr>
          <p:spPr>
            <a:xfrm>
              <a:off x="3976185" y="1230"/>
              <a:ext cx="1241460"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dirty="0">
                <a:solidFill>
                  <a:schemeClr val="accent3">
                    <a:lumMod val="50000"/>
                    <a:lumOff val="50000"/>
                  </a:schemeClr>
                </a:solidFill>
              </a:endParaRPr>
            </a:p>
          </p:txBody>
        </p:sp>
        <p:sp>
          <p:nvSpPr>
            <p:cNvPr id="11" name="矩形 10">
              <a:extLst>
                <a:ext uri="{FF2B5EF4-FFF2-40B4-BE49-F238E27FC236}">
                  <a16:creationId xmlns:a16="http://schemas.microsoft.com/office/drawing/2014/main" id="{3A200417-2C98-4F2D-9A20-3A26E08874F0}"/>
                </a:ext>
              </a:extLst>
            </p:cNvPr>
            <p:cNvSpPr/>
            <p:nvPr/>
          </p:nvSpPr>
          <p:spPr>
            <a:xfrm>
              <a:off x="5464140" y="1230"/>
              <a:ext cx="1544205" cy="14700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800" b="1" dirty="0">
                <a:solidFill>
                  <a:schemeClr val="accent3">
                    <a:lumMod val="50000"/>
                    <a:lumOff val="50000"/>
                  </a:schemeClr>
                </a:solidFill>
                <a:latin typeface="Montserrat"/>
                <a:sym typeface="Montserrat"/>
              </a:endParaRPr>
            </a:p>
          </p:txBody>
        </p:sp>
      </p:grpSp>
      <p:sp>
        <p:nvSpPr>
          <p:cNvPr id="12" name="文字方塊 11">
            <a:extLst>
              <a:ext uri="{FF2B5EF4-FFF2-40B4-BE49-F238E27FC236}">
                <a16:creationId xmlns:a16="http://schemas.microsoft.com/office/drawing/2014/main" id="{D432070E-7BC4-471C-A6D6-B910446E7235}"/>
              </a:ext>
            </a:extLst>
          </p:cNvPr>
          <p:cNvSpPr txBox="1"/>
          <p:nvPr/>
        </p:nvSpPr>
        <p:spPr>
          <a:xfrm>
            <a:off x="8585770" y="4631694"/>
            <a:ext cx="357790" cy="261610"/>
          </a:xfrm>
          <a:prstGeom prst="rect">
            <a:avLst/>
          </a:prstGeom>
          <a:noFill/>
        </p:spPr>
        <p:txBody>
          <a:bodyPr wrap="none" rtlCol="0">
            <a:spAutoFit/>
          </a:bodyPr>
          <a:lstStyle/>
          <a:p>
            <a:r>
              <a:rPr lang="en-US" altLang="zh-TW" sz="1100" dirty="0">
                <a:latin typeface="Montserrat" panose="02020500000000000000" charset="0"/>
              </a:rPr>
              <a:t>78</a:t>
            </a:r>
            <a:endParaRPr lang="zh-TW" altLang="en-US" sz="1100" dirty="0">
              <a:latin typeface="Montserrat" panose="02020500000000000000" charset="0"/>
            </a:endParaRPr>
          </a:p>
        </p:txBody>
      </p:sp>
      <p:grpSp>
        <p:nvGrpSpPr>
          <p:cNvPr id="3" name="群組 2">
            <a:extLst>
              <a:ext uri="{FF2B5EF4-FFF2-40B4-BE49-F238E27FC236}">
                <a16:creationId xmlns:a16="http://schemas.microsoft.com/office/drawing/2014/main" id="{9672819E-230D-B686-161D-DDB84F846FFB}"/>
              </a:ext>
            </a:extLst>
          </p:cNvPr>
          <p:cNvGrpSpPr/>
          <p:nvPr/>
        </p:nvGrpSpPr>
        <p:grpSpPr>
          <a:xfrm>
            <a:off x="513693" y="1215442"/>
            <a:ext cx="8125955" cy="3416252"/>
            <a:chOff x="513693" y="1215442"/>
            <a:chExt cx="8125955" cy="3416252"/>
          </a:xfrm>
        </p:grpSpPr>
        <p:grpSp>
          <p:nvGrpSpPr>
            <p:cNvPr id="174" name="群組 173">
              <a:extLst>
                <a:ext uri="{FF2B5EF4-FFF2-40B4-BE49-F238E27FC236}">
                  <a16:creationId xmlns:a16="http://schemas.microsoft.com/office/drawing/2014/main" id="{E78820AE-40D4-4AAE-87BC-E1762845BBCE}"/>
                </a:ext>
              </a:extLst>
            </p:cNvPr>
            <p:cNvGrpSpPr/>
            <p:nvPr/>
          </p:nvGrpSpPr>
          <p:grpSpPr>
            <a:xfrm>
              <a:off x="5309535" y="2892888"/>
              <a:ext cx="402740" cy="451048"/>
              <a:chOff x="4711814" y="2913062"/>
              <a:chExt cx="402740" cy="451048"/>
            </a:xfrm>
          </p:grpSpPr>
          <p:sp>
            <p:nvSpPr>
              <p:cNvPr id="242" name="矩形 241">
                <a:extLst>
                  <a:ext uri="{FF2B5EF4-FFF2-40B4-BE49-F238E27FC236}">
                    <a16:creationId xmlns:a16="http://schemas.microsoft.com/office/drawing/2014/main" id="{036CE815-D5EC-4D2D-8EEF-1FE139B282DD}"/>
                  </a:ext>
                </a:extLst>
              </p:cNvPr>
              <p:cNvSpPr/>
              <p:nvPr/>
            </p:nvSpPr>
            <p:spPr>
              <a:xfrm>
                <a:off x="4711814" y="2913062"/>
                <a:ext cx="360000" cy="360000"/>
              </a:xfrm>
              <a:prstGeom prst="rect">
                <a:avLst/>
              </a:prstGeom>
              <a:solidFill>
                <a:schemeClr val="accent4">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3" name="矩形 242">
                <a:extLst>
                  <a:ext uri="{FF2B5EF4-FFF2-40B4-BE49-F238E27FC236}">
                    <a16:creationId xmlns:a16="http://schemas.microsoft.com/office/drawing/2014/main" id="{62C4F589-C307-4255-8FBB-2BE6A68CCE25}"/>
                  </a:ext>
                </a:extLst>
              </p:cNvPr>
              <p:cNvSpPr/>
              <p:nvPr/>
            </p:nvSpPr>
            <p:spPr>
              <a:xfrm>
                <a:off x="4756479" y="3277335"/>
                <a:ext cx="51058" cy="86238"/>
              </a:xfrm>
              <a:prstGeom prst="rect">
                <a:avLst/>
              </a:prstGeom>
              <a:solidFill>
                <a:schemeClr val="accent4">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44" name="圖片 243">
                <a:extLst>
                  <a:ext uri="{FF2B5EF4-FFF2-40B4-BE49-F238E27FC236}">
                    <a16:creationId xmlns:a16="http://schemas.microsoft.com/office/drawing/2014/main" id="{A8A858C7-B18A-4D4B-A4A6-438B0E059035}"/>
                  </a:ext>
                </a:extLst>
              </p:cNvPr>
              <p:cNvPicPr>
                <a:picLocks noChangeAspect="1"/>
              </p:cNvPicPr>
              <p:nvPr/>
            </p:nvPicPr>
            <p:blipFill>
              <a:blip r:embed="rId3"/>
              <a:stretch>
                <a:fillRect/>
              </a:stretch>
            </p:blipFill>
            <p:spPr>
              <a:xfrm>
                <a:off x="4811442" y="3309492"/>
                <a:ext cx="303112" cy="54618"/>
              </a:xfrm>
              <a:prstGeom prst="rect">
                <a:avLst/>
              </a:prstGeom>
              <a:ln w="12700">
                <a:solidFill>
                  <a:schemeClr val="tx1"/>
                </a:solidFill>
              </a:ln>
            </p:spPr>
          </p:pic>
        </p:grpSp>
        <p:cxnSp>
          <p:nvCxnSpPr>
            <p:cNvPr id="180" name="直線單箭頭接點 179">
              <a:extLst>
                <a:ext uri="{FF2B5EF4-FFF2-40B4-BE49-F238E27FC236}">
                  <a16:creationId xmlns:a16="http://schemas.microsoft.com/office/drawing/2014/main" id="{89E3FBBC-4D04-46AE-B01A-72FD93478E7B}"/>
                </a:ext>
              </a:extLst>
            </p:cNvPr>
            <p:cNvCxnSpPr>
              <a:cxnSpLocks/>
            </p:cNvCxnSpPr>
            <p:nvPr/>
          </p:nvCxnSpPr>
          <p:spPr>
            <a:xfrm>
              <a:off x="2847550" y="1557243"/>
              <a:ext cx="3381504"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sp>
          <p:nvSpPr>
            <p:cNvPr id="181" name="文字方塊 180">
              <a:extLst>
                <a:ext uri="{FF2B5EF4-FFF2-40B4-BE49-F238E27FC236}">
                  <a16:creationId xmlns:a16="http://schemas.microsoft.com/office/drawing/2014/main" id="{E2B3CBF7-3EDE-4E1A-8BA9-82044739D865}"/>
                </a:ext>
              </a:extLst>
            </p:cNvPr>
            <p:cNvSpPr txBox="1"/>
            <p:nvPr/>
          </p:nvSpPr>
          <p:spPr>
            <a:xfrm>
              <a:off x="4145581" y="1624702"/>
              <a:ext cx="1475084" cy="230832"/>
            </a:xfrm>
            <a:prstGeom prst="rect">
              <a:avLst/>
            </a:prstGeom>
            <a:noFill/>
          </p:spPr>
          <p:txBody>
            <a:bodyPr wrap="none" rtlCol="0">
              <a:spAutoFit/>
            </a:bodyPr>
            <a:lstStyle/>
            <a:p>
              <a:r>
                <a:rPr lang="en-US" altLang="zh-TW" sz="900" dirty="0">
                  <a:latin typeface="Montserrat" panose="02020500000000000000" charset="0"/>
                  <a:ea typeface="標楷體" panose="03000509000000000000" pitchFamily="65" charset="-120"/>
                  <a:cs typeface="Times New Roman" panose="02020603050405020304" pitchFamily="18" charset="0"/>
                </a:rPr>
                <a:t>Polarization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82" name="矩形 181">
              <a:extLst>
                <a:ext uri="{FF2B5EF4-FFF2-40B4-BE49-F238E27FC236}">
                  <a16:creationId xmlns:a16="http://schemas.microsoft.com/office/drawing/2014/main" id="{7866B02A-F0FA-41A5-BACC-EA4FD47C3B8F}"/>
                </a:ext>
              </a:extLst>
            </p:cNvPr>
            <p:cNvSpPr/>
            <p:nvPr/>
          </p:nvSpPr>
          <p:spPr>
            <a:xfrm>
              <a:off x="1164819" y="1252452"/>
              <a:ext cx="2100200" cy="549103"/>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Mongolian Baiti" panose="03000500000000000000" pitchFamily="66" charset="0"/>
                </a:rPr>
                <a:t>784.5 nm</a:t>
              </a:r>
            </a:p>
            <a:p>
              <a:pPr algn="ctr"/>
              <a:r>
                <a:rPr lang="en-US" altLang="zh-TW" sz="900" b="1" dirty="0">
                  <a:solidFill>
                    <a:schemeClr val="tx1"/>
                  </a:solidFill>
                  <a:latin typeface="Montserrat" panose="02020500000000000000" charset="0"/>
                  <a:cs typeface="Mongolian Baiti" panose="03000500000000000000" pitchFamily="66" charset="0"/>
                </a:rPr>
                <a:t>Volume-Holographic-Grating- (VHG) Stabilized SF Lasers</a:t>
              </a:r>
            </a:p>
          </p:txBody>
        </p:sp>
        <p:cxnSp>
          <p:nvCxnSpPr>
            <p:cNvPr id="183" name="直線單箭頭接點 182">
              <a:extLst>
                <a:ext uri="{FF2B5EF4-FFF2-40B4-BE49-F238E27FC236}">
                  <a16:creationId xmlns:a16="http://schemas.microsoft.com/office/drawing/2014/main" id="{442BD6C5-024F-4060-BE4B-0F79240A7343}"/>
                </a:ext>
              </a:extLst>
            </p:cNvPr>
            <p:cNvCxnSpPr>
              <a:cxnSpLocks/>
            </p:cNvCxnSpPr>
            <p:nvPr/>
          </p:nvCxnSpPr>
          <p:spPr>
            <a:xfrm flipH="1">
              <a:off x="3850498" y="2128983"/>
              <a:ext cx="2409958"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84" name="直線接點 183">
              <a:extLst>
                <a:ext uri="{FF2B5EF4-FFF2-40B4-BE49-F238E27FC236}">
                  <a16:creationId xmlns:a16="http://schemas.microsoft.com/office/drawing/2014/main" id="{9799A10A-8A9D-42F8-8947-06CCFD71789A}"/>
                </a:ext>
              </a:extLst>
            </p:cNvPr>
            <p:cNvCxnSpPr>
              <a:cxnSpLocks/>
            </p:cNvCxnSpPr>
            <p:nvPr/>
          </p:nvCxnSpPr>
          <p:spPr>
            <a:xfrm>
              <a:off x="653625" y="2130880"/>
              <a:ext cx="3264070" cy="5"/>
            </a:xfrm>
            <a:prstGeom prst="line">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cxnSp>
        <p:sp>
          <p:nvSpPr>
            <p:cNvPr id="185" name="右中括弧 184">
              <a:extLst>
                <a:ext uri="{FF2B5EF4-FFF2-40B4-BE49-F238E27FC236}">
                  <a16:creationId xmlns:a16="http://schemas.microsoft.com/office/drawing/2014/main" id="{876E3845-D49B-43AA-8070-F625798E2E74}"/>
                </a:ext>
              </a:extLst>
            </p:cNvPr>
            <p:cNvSpPr/>
            <p:nvPr/>
          </p:nvSpPr>
          <p:spPr>
            <a:xfrm>
              <a:off x="6221434" y="1557243"/>
              <a:ext cx="211846" cy="56983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86" name="右中括弧 185">
              <a:extLst>
                <a:ext uri="{FF2B5EF4-FFF2-40B4-BE49-F238E27FC236}">
                  <a16:creationId xmlns:a16="http://schemas.microsoft.com/office/drawing/2014/main" id="{1A40DBEE-051F-4B2A-9842-97760B84D8FD}"/>
                </a:ext>
              </a:extLst>
            </p:cNvPr>
            <p:cNvSpPr/>
            <p:nvPr/>
          </p:nvSpPr>
          <p:spPr>
            <a:xfrm rot="10800000">
              <a:off x="513693" y="2127080"/>
              <a:ext cx="161944" cy="577439"/>
            </a:xfrm>
            <a:prstGeom prst="rightBracket">
              <a:avLst>
                <a:gd name="adj" fmla="val 88455"/>
              </a:avLst>
            </a:prstGeom>
            <a:ln w="28575">
              <a:solidFill>
                <a:schemeClr val="bg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87" name="直線單箭頭接點 186">
              <a:extLst>
                <a:ext uri="{FF2B5EF4-FFF2-40B4-BE49-F238E27FC236}">
                  <a16:creationId xmlns:a16="http://schemas.microsoft.com/office/drawing/2014/main" id="{F151F9A6-0C19-4FBF-B14B-29961FCBF4A1}"/>
                </a:ext>
              </a:extLst>
            </p:cNvPr>
            <p:cNvCxnSpPr>
              <a:cxnSpLocks/>
            </p:cNvCxnSpPr>
            <p:nvPr/>
          </p:nvCxnSpPr>
          <p:spPr>
            <a:xfrm>
              <a:off x="675700" y="2704521"/>
              <a:ext cx="239291" cy="0"/>
            </a:xfrm>
            <a:prstGeom prst="straightConnector1">
              <a:avLst/>
            </a:prstGeom>
            <a:ln w="28575">
              <a:solidFill>
                <a:schemeClr val="bg2"/>
              </a:solidFill>
              <a:tailEnd type="triangle"/>
            </a:ln>
            <a:effectLst/>
          </p:spPr>
          <p:style>
            <a:lnRef idx="1">
              <a:schemeClr val="accent1"/>
            </a:lnRef>
            <a:fillRef idx="0">
              <a:schemeClr val="accent1"/>
            </a:fillRef>
            <a:effectRef idx="0">
              <a:schemeClr val="accent1"/>
            </a:effectRef>
            <a:fontRef idx="minor">
              <a:schemeClr val="tx1"/>
            </a:fontRef>
          </p:style>
        </p:cxnSp>
        <p:sp>
          <p:nvSpPr>
            <p:cNvPr id="205" name="矩形 204">
              <a:extLst>
                <a:ext uri="{FF2B5EF4-FFF2-40B4-BE49-F238E27FC236}">
                  <a16:creationId xmlns:a16="http://schemas.microsoft.com/office/drawing/2014/main" id="{2A3612AE-6F2C-49BC-8723-DF00CA680E36}"/>
                </a:ext>
              </a:extLst>
            </p:cNvPr>
            <p:cNvSpPr/>
            <p:nvPr/>
          </p:nvSpPr>
          <p:spPr>
            <a:xfrm rot="5400000">
              <a:off x="3727637" y="2944436"/>
              <a:ext cx="826137"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06" name="圖片 205">
              <a:extLst>
                <a:ext uri="{FF2B5EF4-FFF2-40B4-BE49-F238E27FC236}">
                  <a16:creationId xmlns:a16="http://schemas.microsoft.com/office/drawing/2014/main" id="{32426EB9-4FFC-4884-AE06-C576DFC80283}"/>
                </a:ext>
              </a:extLst>
            </p:cNvPr>
            <p:cNvPicPr>
              <a:picLocks noChangeAspect="1"/>
            </p:cNvPicPr>
            <p:nvPr/>
          </p:nvPicPr>
          <p:blipFill>
            <a:blip r:embed="rId4"/>
            <a:stretch>
              <a:fillRect/>
            </a:stretch>
          </p:blipFill>
          <p:spPr>
            <a:xfrm>
              <a:off x="1082629" y="2328886"/>
              <a:ext cx="857305" cy="755649"/>
            </a:xfrm>
            <a:prstGeom prst="rect">
              <a:avLst/>
            </a:prstGeom>
          </p:spPr>
        </p:pic>
        <p:sp>
          <p:nvSpPr>
            <p:cNvPr id="207" name="矩形 206">
              <a:extLst>
                <a:ext uri="{FF2B5EF4-FFF2-40B4-BE49-F238E27FC236}">
                  <a16:creationId xmlns:a16="http://schemas.microsoft.com/office/drawing/2014/main" id="{849CD94E-D489-4702-9E2E-FC107AD7D22D}"/>
                </a:ext>
              </a:extLst>
            </p:cNvPr>
            <p:cNvSpPr/>
            <p:nvPr/>
          </p:nvSpPr>
          <p:spPr>
            <a:xfrm>
              <a:off x="2119277" y="2611946"/>
              <a:ext cx="2559484"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8" name="流程圖: 換頁接點 207">
              <a:extLst>
                <a:ext uri="{FF2B5EF4-FFF2-40B4-BE49-F238E27FC236}">
                  <a16:creationId xmlns:a16="http://schemas.microsoft.com/office/drawing/2014/main" id="{86A2F46A-ABCB-4C51-BBC1-0D0F92B43054}"/>
                </a:ext>
              </a:extLst>
            </p:cNvPr>
            <p:cNvSpPr/>
            <p:nvPr/>
          </p:nvSpPr>
          <p:spPr>
            <a:xfrm rot="16200000">
              <a:off x="2474563" y="2489125"/>
              <a:ext cx="345220" cy="419095"/>
            </a:xfrm>
            <a:prstGeom prst="flowChartOffpageConnector">
              <a:avLst/>
            </a:prstGeom>
            <a:solidFill>
              <a:schemeClr val="tx1">
                <a:lumMod val="65000"/>
                <a:lumOff val="3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9" name="矩形 208">
              <a:extLst>
                <a:ext uri="{FF2B5EF4-FFF2-40B4-BE49-F238E27FC236}">
                  <a16:creationId xmlns:a16="http://schemas.microsoft.com/office/drawing/2014/main" id="{1095D787-4A1C-445A-B4AE-E139FFE29874}"/>
                </a:ext>
              </a:extLst>
            </p:cNvPr>
            <p:cNvSpPr/>
            <p:nvPr/>
          </p:nvSpPr>
          <p:spPr>
            <a:xfrm>
              <a:off x="3926391" y="2464765"/>
              <a:ext cx="460800" cy="460800"/>
            </a:xfrm>
            <a:prstGeom prst="rect">
              <a:avLst/>
            </a:prstGeom>
            <a:solidFill>
              <a:schemeClr val="accent2">
                <a:lumMod val="20000"/>
                <a:lumOff val="80000"/>
                <a:alpha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10" name="直線接點 209">
              <a:extLst>
                <a:ext uri="{FF2B5EF4-FFF2-40B4-BE49-F238E27FC236}">
                  <a16:creationId xmlns:a16="http://schemas.microsoft.com/office/drawing/2014/main" id="{4BADE6B6-4579-4E60-89ED-C89899C13D44}"/>
                </a:ext>
              </a:extLst>
            </p:cNvPr>
            <p:cNvCxnSpPr>
              <a:cxnSpLocks/>
            </p:cNvCxnSpPr>
            <p:nvPr/>
          </p:nvCxnSpPr>
          <p:spPr>
            <a:xfrm>
              <a:off x="3930112" y="2462482"/>
              <a:ext cx="460800" cy="45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1" name="文字方塊 210">
              <a:extLst>
                <a:ext uri="{FF2B5EF4-FFF2-40B4-BE49-F238E27FC236}">
                  <a16:creationId xmlns:a16="http://schemas.microsoft.com/office/drawing/2014/main" id="{FA1EACB1-4870-4995-85A0-85409B9AC508}"/>
                </a:ext>
              </a:extLst>
            </p:cNvPr>
            <p:cNvSpPr txBox="1"/>
            <p:nvPr/>
          </p:nvSpPr>
          <p:spPr>
            <a:xfrm>
              <a:off x="3979079" y="2244170"/>
              <a:ext cx="346570" cy="230832"/>
            </a:xfrm>
            <a:prstGeom prst="rect">
              <a:avLst/>
            </a:prstGeom>
            <a:noFill/>
          </p:spPr>
          <p:txBody>
            <a:bodyPr wrap="none" rtlCol="0">
              <a:spAutoFit/>
            </a:bodyPr>
            <a:lstStyle/>
            <a:p>
              <a:r>
                <a:rPr lang="en-US" altLang="zh-TW" sz="900" b="1" dirty="0">
                  <a:solidFill>
                    <a:schemeClr val="tx2"/>
                  </a:solidFill>
                  <a:latin typeface="Montserrat" panose="02020500000000000000" charset="0"/>
                  <a:ea typeface="標楷體" panose="03000509000000000000" pitchFamily="65" charset="-120"/>
                  <a:cs typeface="Times New Roman" panose="02020603050405020304" pitchFamily="18" charset="0"/>
                </a:rPr>
                <a:t>BS</a:t>
              </a:r>
              <a:endParaRPr lang="zh-TW" altLang="en-US" sz="900" b="1" dirty="0">
                <a:solidFill>
                  <a:schemeClr val="tx2"/>
                </a:solidFill>
                <a:latin typeface="Montserrat" panose="02020500000000000000" charset="0"/>
                <a:ea typeface="標楷體" panose="03000509000000000000" pitchFamily="65" charset="-120"/>
                <a:cs typeface="Times New Roman" panose="02020603050405020304" pitchFamily="18" charset="0"/>
              </a:endParaRPr>
            </a:p>
          </p:txBody>
        </p:sp>
        <p:sp>
          <p:nvSpPr>
            <p:cNvPr id="212" name="文字方塊 211">
              <a:extLst>
                <a:ext uri="{FF2B5EF4-FFF2-40B4-BE49-F238E27FC236}">
                  <a16:creationId xmlns:a16="http://schemas.microsoft.com/office/drawing/2014/main" id="{985871EB-0F4F-439B-9388-7655A9E4D567}"/>
                </a:ext>
              </a:extLst>
            </p:cNvPr>
            <p:cNvSpPr txBox="1"/>
            <p:nvPr/>
          </p:nvSpPr>
          <p:spPr>
            <a:xfrm>
              <a:off x="2185261" y="2881884"/>
              <a:ext cx="734495"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Objective</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lens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grpSp>
          <p:nvGrpSpPr>
            <p:cNvPr id="213" name="群組 212">
              <a:extLst>
                <a:ext uri="{FF2B5EF4-FFF2-40B4-BE49-F238E27FC236}">
                  <a16:creationId xmlns:a16="http://schemas.microsoft.com/office/drawing/2014/main" id="{FE521727-85C7-4F4F-9E25-7043393D01B1}"/>
                </a:ext>
              </a:extLst>
            </p:cNvPr>
            <p:cNvGrpSpPr/>
            <p:nvPr/>
          </p:nvGrpSpPr>
          <p:grpSpPr>
            <a:xfrm>
              <a:off x="575448" y="1942412"/>
              <a:ext cx="1874231" cy="1172885"/>
              <a:chOff x="2995442" y="2881984"/>
              <a:chExt cx="1874231" cy="1172885"/>
            </a:xfrm>
          </p:grpSpPr>
          <p:sp>
            <p:nvSpPr>
              <p:cNvPr id="239" name="文字方塊 238">
                <a:extLst>
                  <a:ext uri="{FF2B5EF4-FFF2-40B4-BE49-F238E27FC236}">
                    <a16:creationId xmlns:a16="http://schemas.microsoft.com/office/drawing/2014/main" id="{4AAD7901-A094-4253-8496-E9D419E8FC0D}"/>
                  </a:ext>
                </a:extLst>
              </p:cNvPr>
              <p:cNvSpPr txBox="1"/>
              <p:nvPr/>
            </p:nvSpPr>
            <p:spPr>
              <a:xfrm>
                <a:off x="2995442" y="2881984"/>
                <a:ext cx="1874231"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Oven</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(with temperature controller)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40" name="矩形 239">
                <a:extLst>
                  <a:ext uri="{FF2B5EF4-FFF2-40B4-BE49-F238E27FC236}">
                    <a16:creationId xmlns:a16="http://schemas.microsoft.com/office/drawing/2014/main" id="{C6779EB2-F6DA-4305-BDA4-A974D667F8B6}"/>
                  </a:ext>
                </a:extLst>
              </p:cNvPr>
              <p:cNvSpPr/>
              <p:nvPr/>
            </p:nvSpPr>
            <p:spPr>
              <a:xfrm>
                <a:off x="3312266" y="3241984"/>
                <a:ext cx="1229241" cy="81288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1" name="文字方塊 240">
                <a:extLst>
                  <a:ext uri="{FF2B5EF4-FFF2-40B4-BE49-F238E27FC236}">
                    <a16:creationId xmlns:a16="http://schemas.microsoft.com/office/drawing/2014/main" id="{B3704EDB-9E78-4231-9356-60C2ADB4AFCF}"/>
                  </a:ext>
                </a:extLst>
              </p:cNvPr>
              <p:cNvSpPr txBox="1"/>
              <p:nvPr/>
            </p:nvSpPr>
            <p:spPr>
              <a:xfrm>
                <a:off x="3627853" y="3751942"/>
                <a:ext cx="486030" cy="246221"/>
              </a:xfrm>
              <a:prstGeom prst="rect">
                <a:avLst/>
              </a:prstGeom>
              <a:noFill/>
            </p:spPr>
            <p:txBody>
              <a:bodyPr wrap="none" rtlCol="0">
                <a:spAutoFit/>
              </a:bodyPr>
              <a:lstStyle/>
              <a:p>
                <a:r>
                  <a:rPr lang="en-US" altLang="zh-TW" sz="1000" dirty="0">
                    <a:latin typeface="Montserrat" panose="02020500000000000000" charset="0"/>
                    <a:ea typeface="標楷體" panose="03000509000000000000" pitchFamily="65" charset="-120"/>
                    <a:cs typeface="Times New Roman" panose="02020603050405020304" pitchFamily="18" charset="0"/>
                  </a:rPr>
                  <a:t>Chip</a:t>
                </a:r>
                <a:endParaRPr lang="zh-TW" altLang="en-US" sz="1000" dirty="0">
                  <a:latin typeface="Montserrat" panose="02020500000000000000" charset="0"/>
                  <a:ea typeface="標楷體" panose="03000509000000000000" pitchFamily="65" charset="-120"/>
                  <a:cs typeface="Times New Roman" panose="02020603050405020304" pitchFamily="18" charset="0"/>
                </a:endParaRPr>
              </a:p>
            </p:txBody>
          </p:sp>
        </p:grpSp>
        <p:grpSp>
          <p:nvGrpSpPr>
            <p:cNvPr id="214" name="群組 213">
              <a:extLst>
                <a:ext uri="{FF2B5EF4-FFF2-40B4-BE49-F238E27FC236}">
                  <a16:creationId xmlns:a16="http://schemas.microsoft.com/office/drawing/2014/main" id="{F3372E6F-5C8F-41F9-9966-6B1FC661A76B}"/>
                </a:ext>
              </a:extLst>
            </p:cNvPr>
            <p:cNvGrpSpPr/>
            <p:nvPr/>
          </p:nvGrpSpPr>
          <p:grpSpPr>
            <a:xfrm>
              <a:off x="4679028" y="2607136"/>
              <a:ext cx="720468" cy="538049"/>
              <a:chOff x="6147164" y="2836434"/>
              <a:chExt cx="720468" cy="538049"/>
            </a:xfrm>
          </p:grpSpPr>
          <p:sp>
            <p:nvSpPr>
              <p:cNvPr id="237" name="矩形 236">
                <a:extLst>
                  <a:ext uri="{FF2B5EF4-FFF2-40B4-BE49-F238E27FC236}">
                    <a16:creationId xmlns:a16="http://schemas.microsoft.com/office/drawing/2014/main" id="{B68C6223-AAF9-41ED-913E-6B6B3F768400}"/>
                  </a:ext>
                </a:extLst>
              </p:cNvPr>
              <p:cNvSpPr/>
              <p:nvPr/>
            </p:nvSpPr>
            <p:spPr>
              <a:xfrm>
                <a:off x="6147632" y="3198083"/>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69701C56-9601-4D55-81E5-6AD5E1C3F527}"/>
                  </a:ext>
                </a:extLst>
              </p:cNvPr>
              <p:cNvSpPr/>
              <p:nvPr/>
            </p:nvSpPr>
            <p:spPr>
              <a:xfrm rot="5400000">
                <a:off x="6054665" y="2928933"/>
                <a:ext cx="361400" cy="176402"/>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215" name="群組 214">
              <a:extLst>
                <a:ext uri="{FF2B5EF4-FFF2-40B4-BE49-F238E27FC236}">
                  <a16:creationId xmlns:a16="http://schemas.microsoft.com/office/drawing/2014/main" id="{0A58FCFC-585A-48C1-B15C-E748BF019EB0}"/>
                </a:ext>
              </a:extLst>
            </p:cNvPr>
            <p:cNvGrpSpPr/>
            <p:nvPr/>
          </p:nvGrpSpPr>
          <p:grpSpPr>
            <a:xfrm>
              <a:off x="4052505" y="3445705"/>
              <a:ext cx="536400" cy="720000"/>
              <a:chOff x="4468549" y="3036442"/>
              <a:chExt cx="536400" cy="720000"/>
            </a:xfrm>
          </p:grpSpPr>
          <p:sp>
            <p:nvSpPr>
              <p:cNvPr id="235" name="矩形 234">
                <a:extLst>
                  <a:ext uri="{FF2B5EF4-FFF2-40B4-BE49-F238E27FC236}">
                    <a16:creationId xmlns:a16="http://schemas.microsoft.com/office/drawing/2014/main" id="{03A57707-EA2D-4D8C-954C-7A106E2E8BD9}"/>
                  </a:ext>
                </a:extLst>
              </p:cNvPr>
              <p:cNvSpPr/>
              <p:nvPr/>
            </p:nvSpPr>
            <p:spPr>
              <a:xfrm rot="5400000">
                <a:off x="4556749" y="3308242"/>
                <a:ext cx="72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6" name="矩形 235">
                <a:extLst>
                  <a:ext uri="{FF2B5EF4-FFF2-40B4-BE49-F238E27FC236}">
                    <a16:creationId xmlns:a16="http://schemas.microsoft.com/office/drawing/2014/main" id="{D18C3FC7-8EBC-4C0A-93E1-3F9A7F18E9EB}"/>
                  </a:ext>
                </a:extLst>
              </p:cNvPr>
              <p:cNvSpPr/>
              <p:nvPr/>
            </p:nvSpPr>
            <p:spPr>
              <a:xfrm>
                <a:off x="4468549" y="3036442"/>
                <a:ext cx="360000" cy="176400"/>
              </a:xfrm>
              <a:prstGeom prst="rect">
                <a:avLst/>
              </a:prstGeom>
              <a:solidFill>
                <a:srgbClr val="9999FF"/>
              </a:solidFill>
              <a:ln w="9525">
                <a:solidFill>
                  <a:srgbClr val="000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16" name="矩形 215">
              <a:extLst>
                <a:ext uri="{FF2B5EF4-FFF2-40B4-BE49-F238E27FC236}">
                  <a16:creationId xmlns:a16="http://schemas.microsoft.com/office/drawing/2014/main" id="{7515E3F7-50F5-4462-8F01-C53EABBA52F3}"/>
                </a:ext>
              </a:extLst>
            </p:cNvPr>
            <p:cNvSpPr/>
            <p:nvPr/>
          </p:nvSpPr>
          <p:spPr>
            <a:xfrm rot="18900000">
              <a:off x="4660423" y="2930452"/>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7" name="矩形 216">
              <a:extLst>
                <a:ext uri="{FF2B5EF4-FFF2-40B4-BE49-F238E27FC236}">
                  <a16:creationId xmlns:a16="http://schemas.microsoft.com/office/drawing/2014/main" id="{430D2EEB-7BA5-41ED-A7AD-ED4CFD76912D}"/>
                </a:ext>
              </a:extLst>
            </p:cNvPr>
            <p:cNvSpPr/>
            <p:nvPr/>
          </p:nvSpPr>
          <p:spPr>
            <a:xfrm rot="18900000">
              <a:off x="4043699" y="3373832"/>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8" name="矩形 217">
              <a:extLst>
                <a:ext uri="{FF2B5EF4-FFF2-40B4-BE49-F238E27FC236}">
                  <a16:creationId xmlns:a16="http://schemas.microsoft.com/office/drawing/2014/main" id="{A3B1FFFD-B02E-4E4D-AAAF-5E6368F86A79}"/>
                </a:ext>
              </a:extLst>
            </p:cNvPr>
            <p:cNvSpPr/>
            <p:nvPr/>
          </p:nvSpPr>
          <p:spPr>
            <a:xfrm rot="18900000">
              <a:off x="4832277" y="2424368"/>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9" name="矩形 218">
              <a:extLst>
                <a:ext uri="{FF2B5EF4-FFF2-40B4-BE49-F238E27FC236}">
                  <a16:creationId xmlns:a16="http://schemas.microsoft.com/office/drawing/2014/main" id="{B70F34EF-404C-420A-AC5A-5267857C9CF1}"/>
                </a:ext>
              </a:extLst>
            </p:cNvPr>
            <p:cNvSpPr/>
            <p:nvPr/>
          </p:nvSpPr>
          <p:spPr>
            <a:xfrm rot="18900000">
              <a:off x="4558380" y="3245850"/>
              <a:ext cx="61050" cy="459475"/>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20" name="群組 219">
              <a:extLst>
                <a:ext uri="{FF2B5EF4-FFF2-40B4-BE49-F238E27FC236}">
                  <a16:creationId xmlns:a16="http://schemas.microsoft.com/office/drawing/2014/main" id="{FE857DCE-796C-4F8B-BFB1-C08DF588AE3E}"/>
                </a:ext>
              </a:extLst>
            </p:cNvPr>
            <p:cNvGrpSpPr/>
            <p:nvPr/>
          </p:nvGrpSpPr>
          <p:grpSpPr>
            <a:xfrm>
              <a:off x="4491372" y="4085443"/>
              <a:ext cx="863477" cy="545148"/>
              <a:chOff x="5013338" y="5088690"/>
              <a:chExt cx="773212" cy="561139"/>
            </a:xfrm>
            <a:effectLst/>
          </p:grpSpPr>
          <p:sp>
            <p:nvSpPr>
              <p:cNvPr id="233" name="弧形 232">
                <a:extLst>
                  <a:ext uri="{FF2B5EF4-FFF2-40B4-BE49-F238E27FC236}">
                    <a16:creationId xmlns:a16="http://schemas.microsoft.com/office/drawing/2014/main" id="{6E07C83F-4B5B-485A-9AB7-8A8C59DBF681}"/>
                  </a:ext>
                </a:extLst>
              </p:cNvPr>
              <p:cNvSpPr/>
              <p:nvPr/>
            </p:nvSpPr>
            <p:spPr>
              <a:xfrm rot="10554644">
                <a:off x="5013338" y="5088690"/>
                <a:ext cx="559335" cy="561139"/>
              </a:xfrm>
              <a:prstGeom prst="arc">
                <a:avLst/>
              </a:prstGeom>
              <a:ln w="28575">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234" name="直線單箭頭接點 233">
                <a:extLst>
                  <a:ext uri="{FF2B5EF4-FFF2-40B4-BE49-F238E27FC236}">
                    <a16:creationId xmlns:a16="http://schemas.microsoft.com/office/drawing/2014/main" id="{DD396761-48CC-489D-8E6D-CE31BF6EFCF9}"/>
                  </a:ext>
                </a:extLst>
              </p:cNvPr>
              <p:cNvCxnSpPr>
                <a:cxnSpLocks/>
                <a:stCxn id="233" idx="0"/>
              </p:cNvCxnSpPr>
              <p:nvPr/>
            </p:nvCxnSpPr>
            <p:spPr>
              <a:xfrm>
                <a:off x="5310411" y="5649116"/>
                <a:ext cx="476139" cy="0"/>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1" name="群組 220">
              <a:extLst>
                <a:ext uri="{FF2B5EF4-FFF2-40B4-BE49-F238E27FC236}">
                  <a16:creationId xmlns:a16="http://schemas.microsoft.com/office/drawing/2014/main" id="{B5C8037A-FEB0-48EF-AE6B-CE138FD4D5EE}"/>
                </a:ext>
              </a:extLst>
            </p:cNvPr>
            <p:cNvGrpSpPr/>
            <p:nvPr/>
          </p:nvGrpSpPr>
          <p:grpSpPr>
            <a:xfrm rot="5400000">
              <a:off x="4391954" y="4121137"/>
              <a:ext cx="217501" cy="292099"/>
              <a:chOff x="8991525" y="4409212"/>
              <a:chExt cx="297255" cy="368068"/>
            </a:xfrm>
            <a:solidFill>
              <a:schemeClr val="accent4"/>
            </a:solidFill>
          </p:grpSpPr>
          <p:sp>
            <p:nvSpPr>
              <p:cNvPr id="231" name="矩形 230">
                <a:extLst>
                  <a:ext uri="{FF2B5EF4-FFF2-40B4-BE49-F238E27FC236}">
                    <a16:creationId xmlns:a16="http://schemas.microsoft.com/office/drawing/2014/main" id="{0D73227E-E8D4-480E-BB1F-D3755D701CEB}"/>
                  </a:ext>
                </a:extLst>
              </p:cNvPr>
              <p:cNvSpPr/>
              <p:nvPr/>
            </p:nvSpPr>
            <p:spPr>
              <a:xfrm>
                <a:off x="8991525"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2" name="流程圖: 延遲 231">
                <a:extLst>
                  <a:ext uri="{FF2B5EF4-FFF2-40B4-BE49-F238E27FC236}">
                    <a16:creationId xmlns:a16="http://schemas.microsoft.com/office/drawing/2014/main" id="{C3A30A05-B8C1-4724-B3DE-C55A5CF8EAB6}"/>
                  </a:ext>
                </a:extLst>
              </p:cNvPr>
              <p:cNvSpPr/>
              <p:nvPr/>
            </p:nvSpPr>
            <p:spPr>
              <a:xfrm>
                <a:off x="9105897"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23" name="矩形 222">
              <a:extLst>
                <a:ext uri="{FF2B5EF4-FFF2-40B4-BE49-F238E27FC236}">
                  <a16:creationId xmlns:a16="http://schemas.microsoft.com/office/drawing/2014/main" id="{F0ED6780-7545-4A76-98F7-5C1DCE343FC4}"/>
                </a:ext>
              </a:extLst>
            </p:cNvPr>
            <p:cNvSpPr/>
            <p:nvPr/>
          </p:nvSpPr>
          <p:spPr>
            <a:xfrm>
              <a:off x="3055358" y="2456800"/>
              <a:ext cx="61050" cy="459475"/>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4" name="文字方塊 223">
              <a:extLst>
                <a:ext uri="{FF2B5EF4-FFF2-40B4-BE49-F238E27FC236}">
                  <a16:creationId xmlns:a16="http://schemas.microsoft.com/office/drawing/2014/main" id="{E26512AB-5048-4924-89C5-ACF856D7152B}"/>
                </a:ext>
              </a:extLst>
            </p:cNvPr>
            <p:cNvSpPr txBox="1"/>
            <p:nvPr/>
          </p:nvSpPr>
          <p:spPr>
            <a:xfrm>
              <a:off x="2811809" y="2886047"/>
              <a:ext cx="575799"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Pump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25" name="文字方塊 224">
              <a:extLst>
                <a:ext uri="{FF2B5EF4-FFF2-40B4-BE49-F238E27FC236}">
                  <a16:creationId xmlns:a16="http://schemas.microsoft.com/office/drawing/2014/main" id="{FD9F5F60-8E86-4BB3-9A7C-2533B9129F87}"/>
                </a:ext>
              </a:extLst>
            </p:cNvPr>
            <p:cNvSpPr txBox="1"/>
            <p:nvPr/>
          </p:nvSpPr>
          <p:spPr>
            <a:xfrm>
              <a:off x="4538435" y="3293465"/>
              <a:ext cx="593432"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Mirrors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26" name="文字方塊 225">
              <a:extLst>
                <a:ext uri="{FF2B5EF4-FFF2-40B4-BE49-F238E27FC236}">
                  <a16:creationId xmlns:a16="http://schemas.microsoft.com/office/drawing/2014/main" id="{D9D2666D-A3BC-4800-8249-A9FB0D9B08E3}"/>
                </a:ext>
              </a:extLst>
            </p:cNvPr>
            <p:cNvSpPr txBox="1"/>
            <p:nvPr/>
          </p:nvSpPr>
          <p:spPr>
            <a:xfrm>
              <a:off x="3583431" y="4127186"/>
              <a:ext cx="785792"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Collimator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27" name="文字方塊 226">
              <a:extLst>
                <a:ext uri="{FF2B5EF4-FFF2-40B4-BE49-F238E27FC236}">
                  <a16:creationId xmlns:a16="http://schemas.microsoft.com/office/drawing/2014/main" id="{CAFCD14C-E8F6-4C09-8845-0C3BD7C06477}"/>
                </a:ext>
              </a:extLst>
            </p:cNvPr>
            <p:cNvSpPr txBox="1"/>
            <p:nvPr/>
          </p:nvSpPr>
          <p:spPr>
            <a:xfrm>
              <a:off x="3266549" y="3851362"/>
              <a:ext cx="1045479"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Bandpass filter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28" name="矩形 227">
              <a:extLst>
                <a:ext uri="{FF2B5EF4-FFF2-40B4-BE49-F238E27FC236}">
                  <a16:creationId xmlns:a16="http://schemas.microsoft.com/office/drawing/2014/main" id="{E3C12047-97C5-4678-8501-1367F6FD6582}"/>
                </a:ext>
              </a:extLst>
            </p:cNvPr>
            <p:cNvSpPr/>
            <p:nvPr/>
          </p:nvSpPr>
          <p:spPr>
            <a:xfrm rot="5400000">
              <a:off x="4457447" y="3782434"/>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1" name="手繪多邊形: 圖案 190">
              <a:extLst>
                <a:ext uri="{FF2B5EF4-FFF2-40B4-BE49-F238E27FC236}">
                  <a16:creationId xmlns:a16="http://schemas.microsoft.com/office/drawing/2014/main" id="{1AB2E729-C4E8-4A7F-AEAB-F519E9A5DDEB}"/>
                </a:ext>
              </a:extLst>
            </p:cNvPr>
            <p:cNvSpPr/>
            <p:nvPr/>
          </p:nvSpPr>
          <p:spPr>
            <a:xfrm rot="307793">
              <a:off x="5594669" y="3118413"/>
              <a:ext cx="1249084" cy="319230"/>
            </a:xfrm>
            <a:custGeom>
              <a:avLst/>
              <a:gdLst>
                <a:gd name="connsiteX0" fmla="*/ 0 w 584200"/>
                <a:gd name="connsiteY0" fmla="*/ 11814 h 373553"/>
                <a:gd name="connsiteX1" fmla="*/ 198120 w 584200"/>
                <a:gd name="connsiteY1" fmla="*/ 37214 h 373553"/>
                <a:gd name="connsiteX2" fmla="*/ 396240 w 584200"/>
                <a:gd name="connsiteY2" fmla="*/ 321694 h 373553"/>
                <a:gd name="connsiteX3" fmla="*/ 584200 w 584200"/>
                <a:gd name="connsiteY3" fmla="*/ 372494 h 373553"/>
              </a:gdLst>
              <a:ahLst/>
              <a:cxnLst>
                <a:cxn ang="0">
                  <a:pos x="connsiteX0" y="connsiteY0"/>
                </a:cxn>
                <a:cxn ang="0">
                  <a:pos x="connsiteX1" y="connsiteY1"/>
                </a:cxn>
                <a:cxn ang="0">
                  <a:pos x="connsiteX2" y="connsiteY2"/>
                </a:cxn>
                <a:cxn ang="0">
                  <a:pos x="connsiteX3" y="connsiteY3"/>
                </a:cxn>
              </a:cxnLst>
              <a:rect l="l" t="t" r="r" b="b"/>
              <a:pathLst>
                <a:path w="584200" h="373553">
                  <a:moveTo>
                    <a:pt x="0" y="11814"/>
                  </a:moveTo>
                  <a:cubicBezTo>
                    <a:pt x="66040" y="-1310"/>
                    <a:pt x="132080" y="-14433"/>
                    <a:pt x="198120" y="37214"/>
                  </a:cubicBezTo>
                  <a:cubicBezTo>
                    <a:pt x="264160" y="88861"/>
                    <a:pt x="331893" y="265814"/>
                    <a:pt x="396240" y="321694"/>
                  </a:cubicBezTo>
                  <a:cubicBezTo>
                    <a:pt x="460587" y="377574"/>
                    <a:pt x="522393" y="375034"/>
                    <a:pt x="584200" y="372494"/>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0" name="手繪多邊形: 圖案 189">
              <a:extLst>
                <a:ext uri="{FF2B5EF4-FFF2-40B4-BE49-F238E27FC236}">
                  <a16:creationId xmlns:a16="http://schemas.microsoft.com/office/drawing/2014/main" id="{2B9A632D-0E85-45E3-BF95-A5FCAE5E898A}"/>
                </a:ext>
              </a:extLst>
            </p:cNvPr>
            <p:cNvSpPr/>
            <p:nvPr/>
          </p:nvSpPr>
          <p:spPr>
            <a:xfrm>
              <a:off x="5322265" y="3520496"/>
              <a:ext cx="1783995" cy="1111198"/>
            </a:xfrm>
            <a:custGeom>
              <a:avLst/>
              <a:gdLst>
                <a:gd name="connsiteX0" fmla="*/ 0 w 1346200"/>
                <a:gd name="connsiteY0" fmla="*/ 1168400 h 1168400"/>
                <a:gd name="connsiteX1" fmla="*/ 304800 w 1346200"/>
                <a:gd name="connsiteY1" fmla="*/ 1066800 h 1168400"/>
                <a:gd name="connsiteX2" fmla="*/ 528320 w 1346200"/>
                <a:gd name="connsiteY2" fmla="*/ 782320 h 1168400"/>
                <a:gd name="connsiteX3" fmla="*/ 701040 w 1346200"/>
                <a:gd name="connsiteY3" fmla="*/ 325120 h 1168400"/>
                <a:gd name="connsiteX4" fmla="*/ 970280 w 1346200"/>
                <a:gd name="connsiteY4" fmla="*/ 60960 h 1168400"/>
                <a:gd name="connsiteX5" fmla="*/ 1346200 w 1346200"/>
                <a:gd name="connsiteY5" fmla="*/ 0 h 116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6200" h="1168400">
                  <a:moveTo>
                    <a:pt x="0" y="1168400"/>
                  </a:moveTo>
                  <a:cubicBezTo>
                    <a:pt x="108373" y="1149773"/>
                    <a:pt x="216747" y="1131147"/>
                    <a:pt x="304800" y="1066800"/>
                  </a:cubicBezTo>
                  <a:cubicBezTo>
                    <a:pt x="392853" y="1002453"/>
                    <a:pt x="462280" y="905933"/>
                    <a:pt x="528320" y="782320"/>
                  </a:cubicBezTo>
                  <a:cubicBezTo>
                    <a:pt x="594360" y="658707"/>
                    <a:pt x="627380" y="445347"/>
                    <a:pt x="701040" y="325120"/>
                  </a:cubicBezTo>
                  <a:cubicBezTo>
                    <a:pt x="774700" y="204893"/>
                    <a:pt x="862753" y="115147"/>
                    <a:pt x="970280" y="60960"/>
                  </a:cubicBezTo>
                  <a:cubicBezTo>
                    <a:pt x="1077807" y="6773"/>
                    <a:pt x="1212003" y="3386"/>
                    <a:pt x="1346200" y="0"/>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2" name="手繪多邊形: 圖案 191">
              <a:extLst>
                <a:ext uri="{FF2B5EF4-FFF2-40B4-BE49-F238E27FC236}">
                  <a16:creationId xmlns:a16="http://schemas.microsoft.com/office/drawing/2014/main" id="{555DC01F-B39E-4E74-9BEB-09FEC22ADE1B}"/>
                </a:ext>
              </a:extLst>
            </p:cNvPr>
            <p:cNvSpPr/>
            <p:nvPr/>
          </p:nvSpPr>
          <p:spPr>
            <a:xfrm>
              <a:off x="6837967" y="2816864"/>
              <a:ext cx="573085" cy="670560"/>
            </a:xfrm>
            <a:custGeom>
              <a:avLst/>
              <a:gdLst>
                <a:gd name="connsiteX0" fmla="*/ 406138 w 573085"/>
                <a:gd name="connsiteY0" fmla="*/ 670560 h 670560"/>
                <a:gd name="connsiteX1" fmla="*/ 524248 w 573085"/>
                <a:gd name="connsiteY1" fmla="*/ 632460 h 670560"/>
                <a:gd name="connsiteX2" fmla="*/ 569968 w 573085"/>
                <a:gd name="connsiteY2" fmla="*/ 567690 h 670560"/>
                <a:gd name="connsiteX3" fmla="*/ 554728 w 573085"/>
                <a:gd name="connsiteY3" fmla="*/ 476250 h 670560"/>
                <a:gd name="connsiteX4" fmla="*/ 440428 w 573085"/>
                <a:gd name="connsiteY4" fmla="*/ 392430 h 670560"/>
                <a:gd name="connsiteX5" fmla="*/ 208018 w 573085"/>
                <a:gd name="connsiteY5" fmla="*/ 419100 h 670560"/>
                <a:gd name="connsiteX6" fmla="*/ 86098 w 573085"/>
                <a:gd name="connsiteY6" fmla="*/ 369570 h 670560"/>
                <a:gd name="connsiteX7" fmla="*/ 6088 w 573085"/>
                <a:gd name="connsiteY7" fmla="*/ 228600 h 670560"/>
                <a:gd name="connsiteX8" fmla="*/ 13708 w 573085"/>
                <a:gd name="connsiteY8" fmla="*/ 106680 h 670560"/>
                <a:gd name="connsiteX9" fmla="*/ 78478 w 573085"/>
                <a:gd name="connsiteY9" fmla="*/ 19050 h 670560"/>
                <a:gd name="connsiteX10" fmla="*/ 219448 w 573085"/>
                <a:gd name="connsiteY10" fmla="*/ 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3085" h="670560">
                  <a:moveTo>
                    <a:pt x="406138" y="670560"/>
                  </a:moveTo>
                  <a:cubicBezTo>
                    <a:pt x="451540" y="660082"/>
                    <a:pt x="496943" y="649605"/>
                    <a:pt x="524248" y="632460"/>
                  </a:cubicBezTo>
                  <a:cubicBezTo>
                    <a:pt x="551553" y="615315"/>
                    <a:pt x="564888" y="593725"/>
                    <a:pt x="569968" y="567690"/>
                  </a:cubicBezTo>
                  <a:cubicBezTo>
                    <a:pt x="575048" y="541655"/>
                    <a:pt x="576318" y="505460"/>
                    <a:pt x="554728" y="476250"/>
                  </a:cubicBezTo>
                  <a:cubicBezTo>
                    <a:pt x="533138" y="447040"/>
                    <a:pt x="498213" y="401955"/>
                    <a:pt x="440428" y="392430"/>
                  </a:cubicBezTo>
                  <a:cubicBezTo>
                    <a:pt x="382643" y="382905"/>
                    <a:pt x="267073" y="422910"/>
                    <a:pt x="208018" y="419100"/>
                  </a:cubicBezTo>
                  <a:cubicBezTo>
                    <a:pt x="148963" y="415290"/>
                    <a:pt x="119753" y="401320"/>
                    <a:pt x="86098" y="369570"/>
                  </a:cubicBezTo>
                  <a:cubicBezTo>
                    <a:pt x="52443" y="337820"/>
                    <a:pt x="18153" y="272415"/>
                    <a:pt x="6088" y="228600"/>
                  </a:cubicBezTo>
                  <a:cubicBezTo>
                    <a:pt x="-5977" y="184785"/>
                    <a:pt x="1643" y="141605"/>
                    <a:pt x="13708" y="106680"/>
                  </a:cubicBezTo>
                  <a:cubicBezTo>
                    <a:pt x="25773" y="71755"/>
                    <a:pt x="44188" y="36830"/>
                    <a:pt x="78478" y="19050"/>
                  </a:cubicBezTo>
                  <a:cubicBezTo>
                    <a:pt x="112768" y="1270"/>
                    <a:pt x="166108" y="635"/>
                    <a:pt x="219448" y="0"/>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3" name="手繪多邊形: 圖案 192">
              <a:extLst>
                <a:ext uri="{FF2B5EF4-FFF2-40B4-BE49-F238E27FC236}">
                  <a16:creationId xmlns:a16="http://schemas.microsoft.com/office/drawing/2014/main" id="{3AABC5FF-C8F3-41EA-B9E2-FE5BFCAEF90C}"/>
                </a:ext>
              </a:extLst>
            </p:cNvPr>
            <p:cNvSpPr/>
            <p:nvPr/>
          </p:nvSpPr>
          <p:spPr>
            <a:xfrm flipH="1">
              <a:off x="6918325" y="3525001"/>
              <a:ext cx="530457" cy="832836"/>
            </a:xfrm>
            <a:custGeom>
              <a:avLst/>
              <a:gdLst>
                <a:gd name="connsiteX0" fmla="*/ 406138 w 573085"/>
                <a:gd name="connsiteY0" fmla="*/ 670560 h 670560"/>
                <a:gd name="connsiteX1" fmla="*/ 524248 w 573085"/>
                <a:gd name="connsiteY1" fmla="*/ 632460 h 670560"/>
                <a:gd name="connsiteX2" fmla="*/ 569968 w 573085"/>
                <a:gd name="connsiteY2" fmla="*/ 567690 h 670560"/>
                <a:gd name="connsiteX3" fmla="*/ 554728 w 573085"/>
                <a:gd name="connsiteY3" fmla="*/ 476250 h 670560"/>
                <a:gd name="connsiteX4" fmla="*/ 440428 w 573085"/>
                <a:gd name="connsiteY4" fmla="*/ 392430 h 670560"/>
                <a:gd name="connsiteX5" fmla="*/ 208018 w 573085"/>
                <a:gd name="connsiteY5" fmla="*/ 419100 h 670560"/>
                <a:gd name="connsiteX6" fmla="*/ 86098 w 573085"/>
                <a:gd name="connsiteY6" fmla="*/ 369570 h 670560"/>
                <a:gd name="connsiteX7" fmla="*/ 6088 w 573085"/>
                <a:gd name="connsiteY7" fmla="*/ 228600 h 670560"/>
                <a:gd name="connsiteX8" fmla="*/ 13708 w 573085"/>
                <a:gd name="connsiteY8" fmla="*/ 106680 h 670560"/>
                <a:gd name="connsiteX9" fmla="*/ 78478 w 573085"/>
                <a:gd name="connsiteY9" fmla="*/ 19050 h 670560"/>
                <a:gd name="connsiteX10" fmla="*/ 219448 w 573085"/>
                <a:gd name="connsiteY10" fmla="*/ 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3085" h="670560">
                  <a:moveTo>
                    <a:pt x="406138" y="670560"/>
                  </a:moveTo>
                  <a:cubicBezTo>
                    <a:pt x="451540" y="660082"/>
                    <a:pt x="496943" y="649605"/>
                    <a:pt x="524248" y="632460"/>
                  </a:cubicBezTo>
                  <a:cubicBezTo>
                    <a:pt x="551553" y="615315"/>
                    <a:pt x="564888" y="593725"/>
                    <a:pt x="569968" y="567690"/>
                  </a:cubicBezTo>
                  <a:cubicBezTo>
                    <a:pt x="575048" y="541655"/>
                    <a:pt x="576318" y="505460"/>
                    <a:pt x="554728" y="476250"/>
                  </a:cubicBezTo>
                  <a:cubicBezTo>
                    <a:pt x="533138" y="447040"/>
                    <a:pt x="498213" y="401955"/>
                    <a:pt x="440428" y="392430"/>
                  </a:cubicBezTo>
                  <a:cubicBezTo>
                    <a:pt x="382643" y="382905"/>
                    <a:pt x="267073" y="422910"/>
                    <a:pt x="208018" y="419100"/>
                  </a:cubicBezTo>
                  <a:cubicBezTo>
                    <a:pt x="148963" y="415290"/>
                    <a:pt x="119753" y="401320"/>
                    <a:pt x="86098" y="369570"/>
                  </a:cubicBezTo>
                  <a:cubicBezTo>
                    <a:pt x="52443" y="337820"/>
                    <a:pt x="18153" y="272415"/>
                    <a:pt x="6088" y="228600"/>
                  </a:cubicBezTo>
                  <a:cubicBezTo>
                    <a:pt x="-5977" y="184785"/>
                    <a:pt x="1643" y="141605"/>
                    <a:pt x="13708" y="106680"/>
                  </a:cubicBezTo>
                  <a:cubicBezTo>
                    <a:pt x="25773" y="71755"/>
                    <a:pt x="44188" y="36830"/>
                    <a:pt x="78478" y="19050"/>
                  </a:cubicBezTo>
                  <a:cubicBezTo>
                    <a:pt x="112768" y="1270"/>
                    <a:pt x="166108" y="635"/>
                    <a:pt x="219448" y="0"/>
                  </a:cubicBezTo>
                </a:path>
              </a:pathLst>
            </a:cu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矩形 193">
              <a:extLst>
                <a:ext uri="{FF2B5EF4-FFF2-40B4-BE49-F238E27FC236}">
                  <a16:creationId xmlns:a16="http://schemas.microsoft.com/office/drawing/2014/main" id="{302D7014-1F60-440D-991C-498A1F821A97}"/>
                </a:ext>
              </a:extLst>
            </p:cNvPr>
            <p:cNvSpPr/>
            <p:nvPr/>
          </p:nvSpPr>
          <p:spPr>
            <a:xfrm rot="5400000">
              <a:off x="6967208" y="3276933"/>
              <a:ext cx="86517" cy="459475"/>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95" name="群組 194">
              <a:extLst>
                <a:ext uri="{FF2B5EF4-FFF2-40B4-BE49-F238E27FC236}">
                  <a16:creationId xmlns:a16="http://schemas.microsoft.com/office/drawing/2014/main" id="{0178D485-3DE2-442B-8366-380758ED1E11}"/>
                </a:ext>
              </a:extLst>
            </p:cNvPr>
            <p:cNvGrpSpPr/>
            <p:nvPr/>
          </p:nvGrpSpPr>
          <p:grpSpPr>
            <a:xfrm>
              <a:off x="6707486" y="2293872"/>
              <a:ext cx="1932162" cy="2207303"/>
              <a:chOff x="5771091" y="2522302"/>
              <a:chExt cx="1932162" cy="2207303"/>
            </a:xfrm>
          </p:grpSpPr>
          <p:grpSp>
            <p:nvGrpSpPr>
              <p:cNvPr id="197" name="群組 196">
                <a:extLst>
                  <a:ext uri="{FF2B5EF4-FFF2-40B4-BE49-F238E27FC236}">
                    <a16:creationId xmlns:a16="http://schemas.microsoft.com/office/drawing/2014/main" id="{E8A7CB47-73DD-457F-B530-90064E0130CD}"/>
                  </a:ext>
                </a:extLst>
              </p:cNvPr>
              <p:cNvGrpSpPr/>
              <p:nvPr/>
            </p:nvGrpSpPr>
            <p:grpSpPr>
              <a:xfrm>
                <a:off x="5771091" y="2522302"/>
                <a:ext cx="1932162" cy="2061254"/>
                <a:chOff x="6611331" y="2456521"/>
                <a:chExt cx="1932162" cy="2061254"/>
              </a:xfrm>
            </p:grpSpPr>
            <p:sp>
              <p:nvSpPr>
                <p:cNvPr id="199" name="流程圖: 延遲 198">
                  <a:extLst>
                    <a:ext uri="{FF2B5EF4-FFF2-40B4-BE49-F238E27FC236}">
                      <a16:creationId xmlns:a16="http://schemas.microsoft.com/office/drawing/2014/main" id="{5506C604-E292-4AB2-B4EB-9E586FAD7476}"/>
                    </a:ext>
                  </a:extLst>
                </p:cNvPr>
                <p:cNvSpPr/>
                <p:nvPr/>
              </p:nvSpPr>
              <p:spPr>
                <a:xfrm>
                  <a:off x="6969476" y="2830560"/>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200" name="群組 199">
                  <a:extLst>
                    <a:ext uri="{FF2B5EF4-FFF2-40B4-BE49-F238E27FC236}">
                      <a16:creationId xmlns:a16="http://schemas.microsoft.com/office/drawing/2014/main" id="{450BC333-E97B-49FD-A52E-7C580EFBC80E}"/>
                    </a:ext>
                  </a:extLst>
                </p:cNvPr>
                <p:cNvGrpSpPr/>
                <p:nvPr/>
              </p:nvGrpSpPr>
              <p:grpSpPr>
                <a:xfrm>
                  <a:off x="6611331" y="2456521"/>
                  <a:ext cx="1932162" cy="2061254"/>
                  <a:chOff x="7125266" y="2426057"/>
                  <a:chExt cx="1932162" cy="2061254"/>
                </a:xfrm>
              </p:grpSpPr>
              <p:cxnSp>
                <p:nvCxnSpPr>
                  <p:cNvPr id="201" name="直線接點 200">
                    <a:extLst>
                      <a:ext uri="{FF2B5EF4-FFF2-40B4-BE49-F238E27FC236}">
                        <a16:creationId xmlns:a16="http://schemas.microsoft.com/office/drawing/2014/main" id="{CBE901C6-260F-44A0-A75F-4591EC9398EE}"/>
                      </a:ext>
                    </a:extLst>
                  </p:cNvPr>
                  <p:cNvCxnSpPr>
                    <a:cxnSpLocks/>
                  </p:cNvCxnSpPr>
                  <p:nvPr/>
                </p:nvCxnSpPr>
                <p:spPr>
                  <a:xfrm>
                    <a:off x="8017510" y="3656146"/>
                    <a:ext cx="8411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2" name="矩形 201">
                    <a:extLst>
                      <a:ext uri="{FF2B5EF4-FFF2-40B4-BE49-F238E27FC236}">
                        <a16:creationId xmlns:a16="http://schemas.microsoft.com/office/drawing/2014/main" id="{4CD76131-84E1-406A-913E-D933C069923F}"/>
                      </a:ext>
                    </a:extLst>
                  </p:cNvPr>
                  <p:cNvSpPr/>
                  <p:nvPr/>
                </p:nvSpPr>
                <p:spPr>
                  <a:xfrm>
                    <a:off x="8101623" y="3376048"/>
                    <a:ext cx="955805" cy="533282"/>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tx1"/>
                        </a:solidFill>
                        <a:latin typeface="Montserrat" panose="02020500000000000000" charset="0"/>
                        <a:cs typeface="Times New Roman" panose="02020603050405020304" pitchFamily="18" charset="0"/>
                      </a:rPr>
                      <a:t>Coincidence counter</a:t>
                    </a:r>
                    <a:endParaRPr lang="zh-TW" altLang="en-US" sz="900" b="1" dirty="0">
                      <a:solidFill>
                        <a:schemeClr val="tx1"/>
                      </a:solidFill>
                      <a:latin typeface="Montserrat" panose="02020500000000000000" charset="0"/>
                      <a:cs typeface="Times New Roman" panose="02020603050405020304" pitchFamily="18" charset="0"/>
                    </a:endParaRPr>
                  </a:p>
                </p:txBody>
              </p:sp>
              <p:sp>
                <p:nvSpPr>
                  <p:cNvPr id="203" name="文字方塊 202">
                    <a:extLst>
                      <a:ext uri="{FF2B5EF4-FFF2-40B4-BE49-F238E27FC236}">
                        <a16:creationId xmlns:a16="http://schemas.microsoft.com/office/drawing/2014/main" id="{408C5232-B94D-460D-A65F-E7AFAA229EFA}"/>
                      </a:ext>
                    </a:extLst>
                  </p:cNvPr>
                  <p:cNvSpPr txBox="1"/>
                  <p:nvPr/>
                </p:nvSpPr>
                <p:spPr>
                  <a:xfrm>
                    <a:off x="7125266" y="2426057"/>
                    <a:ext cx="1043876"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Single-photon </a:t>
                    </a: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detector</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04" name="右中括弧 203">
                    <a:extLst>
                      <a:ext uri="{FF2B5EF4-FFF2-40B4-BE49-F238E27FC236}">
                        <a16:creationId xmlns:a16="http://schemas.microsoft.com/office/drawing/2014/main" id="{30F55CF7-CD1C-400B-A80B-8B7CC1924676}"/>
                      </a:ext>
                    </a:extLst>
                  </p:cNvPr>
                  <p:cNvSpPr/>
                  <p:nvPr/>
                </p:nvSpPr>
                <p:spPr>
                  <a:xfrm>
                    <a:off x="7751834" y="2937494"/>
                    <a:ext cx="255299" cy="1549817"/>
                  </a:xfrm>
                  <a:prstGeom prst="rightBracket">
                    <a:avLst>
                      <a:gd name="adj" fmla="val 88455"/>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grpSp>
          <p:sp>
            <p:nvSpPr>
              <p:cNvPr id="198" name="流程圖: 延遲 197">
                <a:extLst>
                  <a:ext uri="{FF2B5EF4-FFF2-40B4-BE49-F238E27FC236}">
                    <a16:creationId xmlns:a16="http://schemas.microsoft.com/office/drawing/2014/main" id="{ED7249D5-8D27-42E8-B9B2-046CC734EC6D}"/>
                  </a:ext>
                </a:extLst>
              </p:cNvPr>
              <p:cNvSpPr/>
              <p:nvPr/>
            </p:nvSpPr>
            <p:spPr>
              <a:xfrm>
                <a:off x="6129235" y="4437506"/>
                <a:ext cx="269215" cy="292099"/>
              </a:xfrm>
              <a:prstGeom prst="flowChartDelay">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76" name="文字方塊 175">
              <a:extLst>
                <a:ext uri="{FF2B5EF4-FFF2-40B4-BE49-F238E27FC236}">
                  <a16:creationId xmlns:a16="http://schemas.microsoft.com/office/drawing/2014/main" id="{DE5991C8-1679-4E73-9ECD-5CC0F97B1EC0}"/>
                </a:ext>
              </a:extLst>
            </p:cNvPr>
            <p:cNvSpPr txBox="1"/>
            <p:nvPr/>
          </p:nvSpPr>
          <p:spPr>
            <a:xfrm>
              <a:off x="6616251" y="3549929"/>
              <a:ext cx="670376" cy="2308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Fiber BS</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177" name="矩形 176">
              <a:extLst>
                <a:ext uri="{FF2B5EF4-FFF2-40B4-BE49-F238E27FC236}">
                  <a16:creationId xmlns:a16="http://schemas.microsoft.com/office/drawing/2014/main" id="{90002074-E22B-4932-B682-E36B4B22303D}"/>
                </a:ext>
              </a:extLst>
            </p:cNvPr>
            <p:cNvSpPr/>
            <p:nvPr/>
          </p:nvSpPr>
          <p:spPr>
            <a:xfrm>
              <a:off x="5096642" y="2878361"/>
              <a:ext cx="83688" cy="374527"/>
            </a:xfrm>
            <a:prstGeom prst="rect">
              <a:avLst/>
            </a:prstGeom>
            <a:solidFill>
              <a:schemeClr val="accent6">
                <a:lumMod val="85000"/>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78" name="圖片 177">
              <a:extLst>
                <a:ext uri="{FF2B5EF4-FFF2-40B4-BE49-F238E27FC236}">
                  <a16:creationId xmlns:a16="http://schemas.microsoft.com/office/drawing/2014/main" id="{51C5F782-6105-4707-B6D4-41E489FB3E7B}"/>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282406" y="1215442"/>
              <a:ext cx="1128223" cy="435904"/>
            </a:xfrm>
            <a:prstGeom prst="rect">
              <a:avLst/>
            </a:prstGeom>
          </p:spPr>
        </p:pic>
        <p:grpSp>
          <p:nvGrpSpPr>
            <p:cNvPr id="2" name="群組 1">
              <a:extLst>
                <a:ext uri="{FF2B5EF4-FFF2-40B4-BE49-F238E27FC236}">
                  <a16:creationId xmlns:a16="http://schemas.microsoft.com/office/drawing/2014/main" id="{EA0A9C89-52AC-473A-8EB7-5DD057BD66F6}"/>
                </a:ext>
              </a:extLst>
            </p:cNvPr>
            <p:cNvGrpSpPr/>
            <p:nvPr/>
          </p:nvGrpSpPr>
          <p:grpSpPr>
            <a:xfrm>
              <a:off x="945307" y="2500212"/>
              <a:ext cx="1125878" cy="1542272"/>
              <a:chOff x="2091049" y="2532615"/>
              <a:chExt cx="1125878" cy="1542272"/>
            </a:xfrm>
          </p:grpSpPr>
          <p:sp>
            <p:nvSpPr>
              <p:cNvPr id="250" name="手繪多邊形: 圖案 249">
                <a:extLst>
                  <a:ext uri="{FF2B5EF4-FFF2-40B4-BE49-F238E27FC236}">
                    <a16:creationId xmlns:a16="http://schemas.microsoft.com/office/drawing/2014/main" id="{BAFB2FF5-678B-4EEF-8ECF-4BB9FF155DF3}"/>
                  </a:ext>
                </a:extLst>
              </p:cNvPr>
              <p:cNvSpPr/>
              <p:nvPr/>
            </p:nvSpPr>
            <p:spPr>
              <a:xfrm>
                <a:off x="2114829" y="2532615"/>
                <a:ext cx="312141" cy="951347"/>
              </a:xfrm>
              <a:custGeom>
                <a:avLst/>
                <a:gdLst>
                  <a:gd name="connsiteX0" fmla="*/ 312141 w 312141"/>
                  <a:gd name="connsiteY0" fmla="*/ 1035 h 740175"/>
                  <a:gd name="connsiteX1" fmla="*/ 30201 w 312141"/>
                  <a:gd name="connsiteY1" fmla="*/ 35325 h 740175"/>
                  <a:gd name="connsiteX2" fmla="*/ 26391 w 312141"/>
                  <a:gd name="connsiteY2" fmla="*/ 233445 h 740175"/>
                  <a:gd name="connsiteX3" fmla="*/ 194031 w 312141"/>
                  <a:gd name="connsiteY3" fmla="*/ 401085 h 740175"/>
                  <a:gd name="connsiteX4" fmla="*/ 304521 w 312141"/>
                  <a:gd name="connsiteY4" fmla="*/ 740175 h 74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41" h="740175">
                    <a:moveTo>
                      <a:pt x="312141" y="1035"/>
                    </a:moveTo>
                    <a:cubicBezTo>
                      <a:pt x="194983" y="-1188"/>
                      <a:pt x="77826" y="-3410"/>
                      <a:pt x="30201" y="35325"/>
                    </a:cubicBezTo>
                    <a:cubicBezTo>
                      <a:pt x="-17424" y="74060"/>
                      <a:pt x="-914" y="172485"/>
                      <a:pt x="26391" y="233445"/>
                    </a:cubicBezTo>
                    <a:cubicBezTo>
                      <a:pt x="53696" y="294405"/>
                      <a:pt x="147676" y="316630"/>
                      <a:pt x="194031" y="401085"/>
                    </a:cubicBezTo>
                    <a:cubicBezTo>
                      <a:pt x="240386" y="485540"/>
                      <a:pt x="272453" y="612857"/>
                      <a:pt x="304521" y="740175"/>
                    </a:cubicBezTo>
                  </a:path>
                </a:pathLst>
              </a:custGeom>
              <a:noFill/>
              <a:ln>
                <a:solidFill>
                  <a:schemeClr val="tx1"/>
                </a:solidFill>
              </a:ln>
              <a:effectLst>
                <a:glow rad="63500">
                  <a:schemeClr val="accent6">
                    <a:lumMod val="5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1" name="手繪多邊形: 圖案 250">
                <a:extLst>
                  <a:ext uri="{FF2B5EF4-FFF2-40B4-BE49-F238E27FC236}">
                    <a16:creationId xmlns:a16="http://schemas.microsoft.com/office/drawing/2014/main" id="{63992F9E-4B4A-4B44-9BBD-543C050EBE20}"/>
                  </a:ext>
                </a:extLst>
              </p:cNvPr>
              <p:cNvSpPr/>
              <p:nvPr/>
            </p:nvSpPr>
            <p:spPr>
              <a:xfrm flipH="1">
                <a:off x="2894743" y="2534720"/>
                <a:ext cx="280721" cy="949242"/>
              </a:xfrm>
              <a:custGeom>
                <a:avLst/>
                <a:gdLst>
                  <a:gd name="connsiteX0" fmla="*/ 312141 w 312141"/>
                  <a:gd name="connsiteY0" fmla="*/ 1035 h 740175"/>
                  <a:gd name="connsiteX1" fmla="*/ 30201 w 312141"/>
                  <a:gd name="connsiteY1" fmla="*/ 35325 h 740175"/>
                  <a:gd name="connsiteX2" fmla="*/ 26391 w 312141"/>
                  <a:gd name="connsiteY2" fmla="*/ 233445 h 740175"/>
                  <a:gd name="connsiteX3" fmla="*/ 194031 w 312141"/>
                  <a:gd name="connsiteY3" fmla="*/ 401085 h 740175"/>
                  <a:gd name="connsiteX4" fmla="*/ 304521 w 312141"/>
                  <a:gd name="connsiteY4" fmla="*/ 740175 h 74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41" h="740175">
                    <a:moveTo>
                      <a:pt x="312141" y="1035"/>
                    </a:moveTo>
                    <a:cubicBezTo>
                      <a:pt x="194983" y="-1188"/>
                      <a:pt x="77826" y="-3410"/>
                      <a:pt x="30201" y="35325"/>
                    </a:cubicBezTo>
                    <a:cubicBezTo>
                      <a:pt x="-17424" y="74060"/>
                      <a:pt x="-914" y="172485"/>
                      <a:pt x="26391" y="233445"/>
                    </a:cubicBezTo>
                    <a:cubicBezTo>
                      <a:pt x="53696" y="294405"/>
                      <a:pt x="147676" y="316630"/>
                      <a:pt x="194031" y="401085"/>
                    </a:cubicBezTo>
                    <a:cubicBezTo>
                      <a:pt x="240386" y="485540"/>
                      <a:pt x="272453" y="612857"/>
                      <a:pt x="304521" y="740175"/>
                    </a:cubicBezTo>
                  </a:path>
                </a:pathLst>
              </a:custGeom>
              <a:noFill/>
              <a:ln>
                <a:solidFill>
                  <a:srgbClr val="E34A2B"/>
                </a:solidFill>
              </a:ln>
              <a:effectLst>
                <a:glow rad="63500">
                  <a:schemeClr val="tx2">
                    <a:lumMod val="40000"/>
                    <a:lumOff val="6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2" name="矩形 251">
                <a:extLst>
                  <a:ext uri="{FF2B5EF4-FFF2-40B4-BE49-F238E27FC236}">
                    <a16:creationId xmlns:a16="http://schemas.microsoft.com/office/drawing/2014/main" id="{86EB252F-2253-42ED-A303-6E0E10DD624B}"/>
                  </a:ext>
                </a:extLst>
              </p:cNvPr>
              <p:cNvSpPr/>
              <p:nvPr/>
            </p:nvSpPr>
            <p:spPr>
              <a:xfrm>
                <a:off x="2091049" y="3444967"/>
                <a:ext cx="1125878" cy="629920"/>
              </a:xfrm>
              <a:prstGeom prst="rect">
                <a:avLst/>
              </a:prstGeom>
              <a:solidFill>
                <a:schemeClr val="tx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tx1"/>
                    </a:solidFill>
                    <a:latin typeface="Montserrat" panose="02020500000000000000" charset="0"/>
                    <a:cs typeface="Times New Roman" panose="02020603050405020304" pitchFamily="18" charset="0"/>
                  </a:rPr>
                  <a:t>Power supply</a:t>
                </a:r>
                <a:endParaRPr lang="zh-TW" altLang="en-US" sz="1000" b="1" dirty="0">
                  <a:solidFill>
                    <a:schemeClr val="tx1"/>
                  </a:solidFill>
                  <a:latin typeface="Montserrat" panose="02020500000000000000" charset="0"/>
                  <a:cs typeface="Times New Roman" panose="02020603050405020304" pitchFamily="18" charset="0"/>
                </a:endParaRPr>
              </a:p>
            </p:txBody>
          </p:sp>
          <p:sp>
            <p:nvSpPr>
              <p:cNvPr id="253" name="文字方塊 252">
                <a:extLst>
                  <a:ext uri="{FF2B5EF4-FFF2-40B4-BE49-F238E27FC236}">
                    <a16:creationId xmlns:a16="http://schemas.microsoft.com/office/drawing/2014/main" id="{7288BFA6-6EE1-4454-84C0-06AC4B9EC058}"/>
                  </a:ext>
                </a:extLst>
              </p:cNvPr>
              <p:cNvSpPr txBox="1"/>
              <p:nvPr/>
            </p:nvSpPr>
            <p:spPr>
              <a:xfrm>
                <a:off x="2756270" y="3411973"/>
                <a:ext cx="277640" cy="276999"/>
              </a:xfrm>
              <a:prstGeom prst="rect">
                <a:avLst/>
              </a:prstGeom>
              <a:noFill/>
            </p:spPr>
            <p:txBody>
              <a:bodyPr wrap="none" rtlCol="0">
                <a:spAutoFit/>
              </a:bodyPr>
              <a:lstStyle/>
              <a:p>
                <a:r>
                  <a:rPr lang="en-US" altLang="zh-TW" sz="1200" b="1" dirty="0">
                    <a:latin typeface="Montserrat" panose="02020500000000000000" charset="0"/>
                  </a:rPr>
                  <a:t>+</a:t>
                </a:r>
                <a:endParaRPr lang="zh-TW" altLang="en-US" sz="1200" b="1" dirty="0">
                  <a:latin typeface="Montserrat" panose="02020500000000000000" charset="0"/>
                </a:endParaRPr>
              </a:p>
            </p:txBody>
          </p:sp>
          <p:sp>
            <p:nvSpPr>
              <p:cNvPr id="254" name="文字方塊 253">
                <a:extLst>
                  <a:ext uri="{FF2B5EF4-FFF2-40B4-BE49-F238E27FC236}">
                    <a16:creationId xmlns:a16="http://schemas.microsoft.com/office/drawing/2014/main" id="{8F5CF98F-8562-4986-9249-A0405071E332}"/>
                  </a:ext>
                </a:extLst>
              </p:cNvPr>
              <p:cNvSpPr txBox="1"/>
              <p:nvPr/>
            </p:nvSpPr>
            <p:spPr>
              <a:xfrm>
                <a:off x="2310039" y="3359324"/>
                <a:ext cx="263214" cy="338554"/>
              </a:xfrm>
              <a:prstGeom prst="rect">
                <a:avLst/>
              </a:prstGeom>
              <a:noFill/>
            </p:spPr>
            <p:txBody>
              <a:bodyPr wrap="none" rtlCol="0">
                <a:spAutoFit/>
              </a:bodyPr>
              <a:lstStyle/>
              <a:p>
                <a:r>
                  <a:rPr lang="en-US" altLang="zh-TW" sz="1600" b="1" dirty="0">
                    <a:latin typeface="Montserrat" panose="02020500000000000000" charset="0"/>
                  </a:rPr>
                  <a:t>-</a:t>
                </a:r>
                <a:endParaRPr lang="zh-TW" altLang="en-US" sz="1600" b="1" dirty="0">
                  <a:latin typeface="Montserrat" panose="02020500000000000000" charset="0"/>
                </a:endParaRPr>
              </a:p>
            </p:txBody>
          </p:sp>
        </p:grpSp>
        <p:grpSp>
          <p:nvGrpSpPr>
            <p:cNvPr id="222" name="群組 221">
              <a:extLst>
                <a:ext uri="{FF2B5EF4-FFF2-40B4-BE49-F238E27FC236}">
                  <a16:creationId xmlns:a16="http://schemas.microsoft.com/office/drawing/2014/main" id="{38F15684-DA75-4834-8BAE-1A707612BC32}"/>
                </a:ext>
              </a:extLst>
            </p:cNvPr>
            <p:cNvGrpSpPr/>
            <p:nvPr/>
          </p:nvGrpSpPr>
          <p:grpSpPr>
            <a:xfrm>
              <a:off x="5383319" y="2924664"/>
              <a:ext cx="217492" cy="292099"/>
              <a:chOff x="8991538" y="4409212"/>
              <a:chExt cx="297243" cy="368068"/>
            </a:xfrm>
            <a:solidFill>
              <a:schemeClr val="accent4"/>
            </a:solidFill>
          </p:grpSpPr>
          <p:sp>
            <p:nvSpPr>
              <p:cNvPr id="229" name="矩形 228">
                <a:extLst>
                  <a:ext uri="{FF2B5EF4-FFF2-40B4-BE49-F238E27FC236}">
                    <a16:creationId xmlns:a16="http://schemas.microsoft.com/office/drawing/2014/main" id="{CEABEAAA-C445-49DA-9CF7-FD1636FF94B5}"/>
                  </a:ext>
                </a:extLst>
              </p:cNvPr>
              <p:cNvSpPr/>
              <p:nvPr/>
            </p:nvSpPr>
            <p:spPr>
              <a:xfrm>
                <a:off x="8991538" y="4409212"/>
                <a:ext cx="114372" cy="368068"/>
              </a:xfrm>
              <a:prstGeom prst="rect">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0" name="流程圖: 延遲 229">
                <a:extLst>
                  <a:ext uri="{FF2B5EF4-FFF2-40B4-BE49-F238E27FC236}">
                    <a16:creationId xmlns:a16="http://schemas.microsoft.com/office/drawing/2014/main" id="{CB39437C-6228-4EBD-ADAB-E0BBCFDDD9E7}"/>
                  </a:ext>
                </a:extLst>
              </p:cNvPr>
              <p:cNvSpPr/>
              <p:nvPr/>
            </p:nvSpPr>
            <p:spPr>
              <a:xfrm>
                <a:off x="9105898" y="4485282"/>
                <a:ext cx="182883" cy="215927"/>
              </a:xfrm>
              <a:prstGeom prst="flowChartDelay">
                <a:avLst/>
              </a:prstGeom>
              <a:grpFill/>
              <a:ln w="19050">
                <a:solidFill>
                  <a:schemeClr val="accent3">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257" name="文字方塊 256">
              <a:extLst>
                <a:ext uri="{FF2B5EF4-FFF2-40B4-BE49-F238E27FC236}">
                  <a16:creationId xmlns:a16="http://schemas.microsoft.com/office/drawing/2014/main" id="{616979A0-838B-4961-B401-F08193A21ED6}"/>
                </a:ext>
              </a:extLst>
            </p:cNvPr>
            <p:cNvSpPr txBox="1"/>
            <p:nvPr/>
          </p:nvSpPr>
          <p:spPr>
            <a:xfrm>
              <a:off x="5138231" y="3341885"/>
              <a:ext cx="816249" cy="369332"/>
            </a:xfrm>
            <a:prstGeom prst="rect">
              <a:avLst/>
            </a:prstGeom>
            <a:noFill/>
          </p:spPr>
          <p:txBody>
            <a:bodyPr wrap="none" rtlCol="0">
              <a:spAutoFit/>
            </a:bodyPr>
            <a:lstStyle/>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Collimator</a:t>
              </a:r>
              <a:r>
                <a:rPr lang="zh-TW" altLang="en-US" sz="900" dirty="0">
                  <a:latin typeface="Montserrat" panose="02020500000000000000" charset="0"/>
                  <a:ea typeface="標楷體" panose="03000509000000000000" pitchFamily="65" charset="-120"/>
                  <a:cs typeface="Times New Roman" panose="02020603050405020304" pitchFamily="18" charset="0"/>
                </a:rPr>
                <a:t> </a:t>
              </a:r>
              <a:endParaRPr lang="en-US" altLang="zh-TW" sz="900" dirty="0">
                <a:latin typeface="Montserrat" panose="02020500000000000000" charset="0"/>
                <a:ea typeface="標楷體" panose="03000509000000000000" pitchFamily="65" charset="-120"/>
                <a:cs typeface="Times New Roman" panose="02020603050405020304" pitchFamily="18" charset="0"/>
              </a:endParaRPr>
            </a:p>
            <a:p>
              <a:pPr algn="ctr"/>
              <a:r>
                <a:rPr lang="en-US" altLang="zh-TW" sz="900" dirty="0">
                  <a:latin typeface="Montserrat" panose="02020500000000000000" charset="0"/>
                  <a:ea typeface="標楷體" panose="03000509000000000000" pitchFamily="65" charset="-120"/>
                  <a:cs typeface="Times New Roman" panose="02020603050405020304" pitchFamily="18" charset="0"/>
                </a:rPr>
                <a:t>on stage</a:t>
              </a:r>
              <a:endParaRPr lang="zh-TW" altLang="en-US" sz="900" dirty="0">
                <a:latin typeface="Montserrat" panose="02020500000000000000" charset="0"/>
                <a:ea typeface="標楷體" panose="03000509000000000000" pitchFamily="65" charset="-120"/>
                <a:cs typeface="Times New Roman" panose="02020603050405020304" pitchFamily="18" charset="0"/>
              </a:endParaRPr>
            </a:p>
          </p:txBody>
        </p:sp>
        <p:sp>
          <p:nvSpPr>
            <p:cNvPr id="260" name="矩形 259">
              <a:extLst>
                <a:ext uri="{FF2B5EF4-FFF2-40B4-BE49-F238E27FC236}">
                  <a16:creationId xmlns:a16="http://schemas.microsoft.com/office/drawing/2014/main" id="{C029CA5E-27FC-4218-AC96-A7E48DF1D95C}"/>
                </a:ext>
              </a:extLst>
            </p:cNvPr>
            <p:cNvSpPr/>
            <p:nvPr/>
          </p:nvSpPr>
          <p:spPr>
            <a:xfrm>
              <a:off x="3526612" y="2459949"/>
              <a:ext cx="93641" cy="456326"/>
            </a:xfrm>
            <a:prstGeom prst="rect">
              <a:avLst/>
            </a:prstGeom>
            <a:solidFill>
              <a:srgbClr val="00FF99">
                <a:alpha val="70000"/>
              </a:srgb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1" name="文字方塊 260">
              <a:extLst>
                <a:ext uri="{FF2B5EF4-FFF2-40B4-BE49-F238E27FC236}">
                  <a16:creationId xmlns:a16="http://schemas.microsoft.com/office/drawing/2014/main" id="{CBFC559C-2BCF-4C65-AB16-7FFE419B333A}"/>
                </a:ext>
              </a:extLst>
            </p:cNvPr>
            <p:cNvSpPr txBox="1"/>
            <p:nvPr/>
          </p:nvSpPr>
          <p:spPr>
            <a:xfrm>
              <a:off x="3179483" y="2242627"/>
              <a:ext cx="780984" cy="230832"/>
            </a:xfrm>
            <a:prstGeom prst="rect">
              <a:avLst/>
            </a:prstGeom>
            <a:noFill/>
          </p:spPr>
          <p:txBody>
            <a:bodyPr wrap="none" rtlCol="0">
              <a:spAutoFit/>
            </a:bodyPr>
            <a:lstStyle/>
            <a:p>
              <a:pPr algn="ctr"/>
              <a:r>
                <a:rPr lang="en-US" altLang="zh-TW" sz="900" b="1" dirty="0">
                  <a:solidFill>
                    <a:schemeClr val="tx2"/>
                  </a:solidFill>
                  <a:latin typeface="Montserrat" panose="02020500000000000000" charset="0"/>
                  <a:ea typeface="標楷體" panose="03000509000000000000" pitchFamily="65" charset="-120"/>
                  <a:cs typeface="Times New Roman" panose="02020603050405020304" pitchFamily="18" charset="0"/>
                </a:rPr>
                <a:t>Polarizers</a:t>
              </a:r>
              <a:endParaRPr lang="zh-TW" altLang="en-US" sz="900" b="1" dirty="0">
                <a:solidFill>
                  <a:schemeClr val="tx2"/>
                </a:solidFill>
                <a:latin typeface="Montserrat" panose="02020500000000000000" charset="0"/>
                <a:ea typeface="標楷體" panose="03000509000000000000" pitchFamily="65" charset="-120"/>
                <a:cs typeface="Times New Roman" panose="02020603050405020304" pitchFamily="18" charset="0"/>
              </a:endParaRPr>
            </a:p>
          </p:txBody>
        </p:sp>
      </p:grpSp>
      <p:sp>
        <p:nvSpPr>
          <p:cNvPr id="263" name="矩形 262">
            <a:extLst>
              <a:ext uri="{FF2B5EF4-FFF2-40B4-BE49-F238E27FC236}">
                <a16:creationId xmlns:a16="http://schemas.microsoft.com/office/drawing/2014/main" id="{0BA181CF-17F0-4D02-94D8-11B775CEE875}"/>
              </a:ext>
            </a:extLst>
          </p:cNvPr>
          <p:cNvSpPr/>
          <p:nvPr/>
        </p:nvSpPr>
        <p:spPr>
          <a:xfrm>
            <a:off x="3293445" y="756516"/>
            <a:ext cx="2557110" cy="230832"/>
          </a:xfrm>
          <a:prstGeom prst="rect">
            <a:avLst/>
          </a:prstGeom>
        </p:spPr>
        <p:txBody>
          <a:bodyPr wrap="none">
            <a:spAutoFit/>
          </a:bodyPr>
          <a:lstStyle/>
          <a:p>
            <a:r>
              <a:rPr lang="en-US" altLang="zh-TW" sz="900" b="1" dirty="0">
                <a:latin typeface="Montserrat" panose="02020500000000000000" charset="0"/>
              </a:rPr>
              <a:t>HOM experiment with EO-PMC process</a:t>
            </a:r>
            <a:endParaRPr lang="zh-TW" altLang="en-US" sz="900" b="1" dirty="0">
              <a:latin typeface="Montserrat" panose="02020500000000000000" charset="0"/>
            </a:endParaRPr>
          </a:p>
        </p:txBody>
      </p:sp>
    </p:spTree>
    <p:extLst>
      <p:ext uri="{BB962C8B-B14F-4D97-AF65-F5344CB8AC3E}">
        <p14:creationId xmlns:p14="http://schemas.microsoft.com/office/powerpoint/2010/main" val="4156123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t="-17000" b="-17000"/>
          </a:stretch>
        </a:blip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21CCB4E-2657-4686-B628-62469D02E007}"/>
              </a:ext>
            </a:extLst>
          </p:cNvPr>
          <p:cNvSpPr/>
          <p:nvPr/>
        </p:nvSpPr>
        <p:spPr>
          <a:xfrm>
            <a:off x="863292" y="1925419"/>
            <a:ext cx="7417416" cy="646331"/>
          </a:xfrm>
          <a:prstGeom prst="rect">
            <a:avLst/>
          </a:prstGeom>
          <a:noFill/>
        </p:spPr>
        <p:txBody>
          <a:bodyPr wrap="none" lIns="91440" tIns="45720" rIns="91440" bIns="45720">
            <a:spAutoFit/>
          </a:bodyPr>
          <a:lstStyle/>
          <a:p>
            <a:pPr algn="ctr"/>
            <a:r>
              <a:rPr lang="en-US" altLang="zh-TW" sz="3600" b="1" cap="none" spc="0" dirty="0">
                <a:ln w="9525" cap="flat" cmpd="sng">
                  <a:solidFill>
                    <a:schemeClr val="tx1"/>
                  </a:solidFill>
                  <a:prstDash val="solid"/>
                  <a:round/>
                </a:ln>
                <a:solidFill>
                  <a:schemeClr val="tx2"/>
                </a:solidFill>
                <a:effectLst/>
                <a:latin typeface="Montserrat"/>
                <a:sym typeface="Montserrat"/>
              </a:rPr>
              <a:t>Thank you for your attention!</a:t>
            </a:r>
            <a:endParaRPr lang="zh-TW" altLang="en-US" sz="3600" b="1" cap="none" spc="0" dirty="0">
              <a:ln w="9525" cap="flat" cmpd="sng">
                <a:solidFill>
                  <a:schemeClr val="tx1"/>
                </a:solidFill>
                <a:prstDash val="solid"/>
                <a:round/>
              </a:ln>
              <a:solidFill>
                <a:schemeClr val="tx2"/>
              </a:solidFill>
              <a:effectLst/>
            </a:endParaRPr>
          </a:p>
        </p:txBody>
      </p:sp>
      <p:sp>
        <p:nvSpPr>
          <p:cNvPr id="8" name="文字方塊 7">
            <a:extLst>
              <a:ext uri="{FF2B5EF4-FFF2-40B4-BE49-F238E27FC236}">
                <a16:creationId xmlns:a16="http://schemas.microsoft.com/office/drawing/2014/main" id="{0A3B7429-D7DB-483C-A13E-C6C311C4B8E6}"/>
              </a:ext>
            </a:extLst>
          </p:cNvPr>
          <p:cNvSpPr txBox="1"/>
          <p:nvPr/>
        </p:nvSpPr>
        <p:spPr>
          <a:xfrm>
            <a:off x="8585770" y="4631694"/>
            <a:ext cx="354584" cy="261610"/>
          </a:xfrm>
          <a:prstGeom prst="rect">
            <a:avLst/>
          </a:prstGeom>
          <a:noFill/>
        </p:spPr>
        <p:txBody>
          <a:bodyPr wrap="none" rtlCol="0">
            <a:spAutoFit/>
          </a:bodyPr>
          <a:lstStyle/>
          <a:p>
            <a:r>
              <a:rPr lang="en-US" altLang="zh-TW" sz="1100" dirty="0">
                <a:latin typeface="Montserrat" panose="02020500000000000000" charset="0"/>
              </a:rPr>
              <a:t>79</a:t>
            </a:r>
            <a:endParaRPr lang="zh-TW" altLang="en-US" sz="1100" dirty="0">
              <a:latin typeface="Montserrat" panose="02020500000000000000" charset="0"/>
            </a:endParaRPr>
          </a:p>
        </p:txBody>
      </p:sp>
    </p:spTree>
    <p:extLst>
      <p:ext uri="{BB962C8B-B14F-4D97-AF65-F5344CB8AC3E}">
        <p14:creationId xmlns:p14="http://schemas.microsoft.com/office/powerpoint/2010/main" val="3694069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2;p36">
            <a:extLst>
              <a:ext uri="{FF2B5EF4-FFF2-40B4-BE49-F238E27FC236}">
                <a16:creationId xmlns:a16="http://schemas.microsoft.com/office/drawing/2014/main" id="{85C8AE6F-28DD-4179-8EBA-4FFEBEE12E25}"/>
              </a:ext>
            </a:extLst>
          </p:cNvPr>
          <p:cNvSpPr txBox="1">
            <a:spLocks/>
          </p:cNvSpPr>
          <p:nvPr/>
        </p:nvSpPr>
        <p:spPr>
          <a:xfrm>
            <a:off x="1886250" y="301738"/>
            <a:ext cx="5371500" cy="478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swald"/>
              <a:buNone/>
              <a:defRPr sz="1800" b="1" i="0" u="none" strike="noStrike" cap="none">
                <a:solidFill>
                  <a:schemeClr val="dk1"/>
                </a:solidFill>
                <a:latin typeface="Open Sans"/>
                <a:ea typeface="Open Sans"/>
                <a:cs typeface="Open Sans"/>
                <a:sym typeface="Open Sans"/>
              </a:defRPr>
            </a:lvl1pPr>
            <a:lvl2pPr marR="0" lvl="1"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2pPr>
            <a:lvl3pPr marR="0" lvl="2"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3pPr>
            <a:lvl4pPr marR="0" lvl="3"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4pPr>
            <a:lvl5pPr marR="0" lvl="4"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5pPr>
            <a:lvl6pPr marR="0" lvl="5"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6pPr>
            <a:lvl7pPr marR="0" lvl="6"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7pPr>
            <a:lvl8pPr marR="0" lvl="7"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8pPr>
            <a:lvl9pPr marR="0" lvl="8" algn="ctr" rtl="0">
              <a:lnSpc>
                <a:spcPct val="100000"/>
              </a:lnSpc>
              <a:spcBef>
                <a:spcPts val="0"/>
              </a:spcBef>
              <a:spcAft>
                <a:spcPts val="0"/>
              </a:spcAft>
              <a:buClr>
                <a:schemeClr val="dk1"/>
              </a:buClr>
              <a:buSzPts val="2800"/>
              <a:buFont typeface="Poppins"/>
              <a:buNone/>
              <a:defRPr sz="1800" b="1" i="0" u="none" strike="noStrike" cap="none">
                <a:solidFill>
                  <a:schemeClr val="dk1"/>
                </a:solidFill>
                <a:latin typeface="Open Sans"/>
                <a:ea typeface="Open Sans"/>
                <a:cs typeface="Open Sans"/>
                <a:sym typeface="Open Sans"/>
              </a:defRPr>
            </a:lvl9pPr>
          </a:lstStyle>
          <a:p>
            <a:r>
              <a:rPr lang="en-US" altLang="zh-TW" sz="2000">
                <a:latin typeface="Montserrat" panose="02020500000000000000" charset="0"/>
              </a:rPr>
              <a:t>Appendix</a:t>
            </a:r>
            <a:r>
              <a:rPr lang="zh-TW" altLang="en-US" sz="2000">
                <a:latin typeface="Montserrat" panose="02020500000000000000" charset="0"/>
              </a:rPr>
              <a:t> </a:t>
            </a:r>
            <a:r>
              <a:rPr lang="en-US" altLang="zh-TW" sz="2000">
                <a:latin typeface="Montserrat" panose="02020500000000000000" charset="0"/>
              </a:rPr>
              <a:t>A</a:t>
            </a:r>
            <a:endParaRPr lang="en-US" altLang="zh-TW" sz="2000" dirty="0">
              <a:latin typeface="Montserrat" panose="02020500000000000000" charset="0"/>
            </a:endParaRPr>
          </a:p>
        </p:txBody>
      </p:sp>
      <p:sp>
        <p:nvSpPr>
          <p:cNvPr id="5" name="文字方塊 4">
            <a:extLst>
              <a:ext uri="{FF2B5EF4-FFF2-40B4-BE49-F238E27FC236}">
                <a16:creationId xmlns:a16="http://schemas.microsoft.com/office/drawing/2014/main" id="{429CDFAB-8C59-4E74-8089-836AA8352B8A}"/>
              </a:ext>
            </a:extLst>
          </p:cNvPr>
          <p:cNvSpPr txBox="1"/>
          <p:nvPr/>
        </p:nvSpPr>
        <p:spPr>
          <a:xfrm>
            <a:off x="8585770" y="4631694"/>
            <a:ext cx="367408" cy="261610"/>
          </a:xfrm>
          <a:prstGeom prst="rect">
            <a:avLst/>
          </a:prstGeom>
          <a:noFill/>
        </p:spPr>
        <p:txBody>
          <a:bodyPr wrap="none" rtlCol="0">
            <a:spAutoFit/>
          </a:bodyPr>
          <a:lstStyle/>
          <a:p>
            <a:r>
              <a:rPr lang="en-US" altLang="zh-TW" sz="1100" dirty="0">
                <a:latin typeface="Montserrat" panose="02020500000000000000" charset="0"/>
              </a:rPr>
              <a:t>80</a:t>
            </a:r>
            <a:endParaRPr lang="zh-TW" altLang="en-US" sz="1100" dirty="0">
              <a:latin typeface="Montserrat" panose="02020500000000000000" charset="0"/>
            </a:endParaRPr>
          </a:p>
        </p:txBody>
      </p:sp>
      <p:sp>
        <p:nvSpPr>
          <p:cNvPr id="20" name="矩形 19">
            <a:extLst>
              <a:ext uri="{FF2B5EF4-FFF2-40B4-BE49-F238E27FC236}">
                <a16:creationId xmlns:a16="http://schemas.microsoft.com/office/drawing/2014/main" id="{DDB52C9B-6AFB-48C4-A160-859DAF578506}"/>
              </a:ext>
            </a:extLst>
          </p:cNvPr>
          <p:cNvSpPr/>
          <p:nvPr/>
        </p:nvSpPr>
        <p:spPr>
          <a:xfrm>
            <a:off x="839800" y="1033981"/>
            <a:ext cx="2321469" cy="246221"/>
          </a:xfrm>
          <a:prstGeom prst="rect">
            <a:avLst/>
          </a:prstGeom>
        </p:spPr>
        <p:txBody>
          <a:bodyPr wrap="none">
            <a:spAutoFit/>
          </a:bodyPr>
          <a:lstStyle/>
          <a:p>
            <a:r>
              <a:rPr lang="en-US" altLang="zh-TW" sz="1000" b="1" dirty="0">
                <a:latin typeface="Montserrat" panose="02020500000000000000" charset="0"/>
              </a:rPr>
              <a:t>Add EO-PMC process into SPDC</a:t>
            </a:r>
          </a:p>
        </p:txBody>
      </p:sp>
      <p:grpSp>
        <p:nvGrpSpPr>
          <p:cNvPr id="44" name="群組 43">
            <a:extLst>
              <a:ext uri="{FF2B5EF4-FFF2-40B4-BE49-F238E27FC236}">
                <a16:creationId xmlns:a16="http://schemas.microsoft.com/office/drawing/2014/main" id="{466439D3-6F5C-4A75-9375-2A7E0B3C4658}"/>
              </a:ext>
            </a:extLst>
          </p:cNvPr>
          <p:cNvGrpSpPr/>
          <p:nvPr/>
        </p:nvGrpSpPr>
        <p:grpSpPr>
          <a:xfrm>
            <a:off x="1005444" y="1689355"/>
            <a:ext cx="7133112" cy="2677372"/>
            <a:chOff x="1090597" y="1567435"/>
            <a:chExt cx="7133112" cy="2677372"/>
          </a:xfrm>
        </p:grpSpPr>
        <p:sp>
          <p:nvSpPr>
            <p:cNvPr id="10" name="箭號: 向下 9">
              <a:extLst>
                <a:ext uri="{FF2B5EF4-FFF2-40B4-BE49-F238E27FC236}">
                  <a16:creationId xmlns:a16="http://schemas.microsoft.com/office/drawing/2014/main" id="{FB7C2040-AF8C-4E8F-8739-EE1536B26CC4}"/>
                </a:ext>
              </a:extLst>
            </p:cNvPr>
            <p:cNvSpPr/>
            <p:nvPr/>
          </p:nvSpPr>
          <p:spPr>
            <a:xfrm rot="16200000">
              <a:off x="1183414" y="2054411"/>
              <a:ext cx="127749" cy="3133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43" name="群組 42">
              <a:extLst>
                <a:ext uri="{FF2B5EF4-FFF2-40B4-BE49-F238E27FC236}">
                  <a16:creationId xmlns:a16="http://schemas.microsoft.com/office/drawing/2014/main" id="{A577D0E4-5C40-4AD9-96AA-13C5694018C1}"/>
                </a:ext>
              </a:extLst>
            </p:cNvPr>
            <p:cNvGrpSpPr/>
            <p:nvPr/>
          </p:nvGrpSpPr>
          <p:grpSpPr>
            <a:xfrm>
              <a:off x="1562744" y="1567435"/>
              <a:ext cx="6660965" cy="2677372"/>
              <a:chOff x="1578509" y="906179"/>
              <a:chExt cx="6660965" cy="2677372"/>
            </a:xfrm>
          </p:grpSpPr>
          <p:pic>
            <p:nvPicPr>
              <p:cNvPr id="16" name="圖片 15">
                <a:extLst>
                  <a:ext uri="{FF2B5EF4-FFF2-40B4-BE49-F238E27FC236}">
                    <a16:creationId xmlns:a16="http://schemas.microsoft.com/office/drawing/2014/main" id="{FDC1C403-B4D3-4C8C-9B8D-77F3E1747E34}"/>
                  </a:ext>
                </a:extLst>
              </p:cNvPr>
              <p:cNvPicPr>
                <a:picLocks noChangeAspect="1"/>
              </p:cNvPicPr>
              <p:nvPr/>
            </p:nvPicPr>
            <p:blipFill rotWithShape="1">
              <a:blip r:embed="rId3">
                <a:clrChange>
                  <a:clrFrom>
                    <a:srgbClr val="FFFFFF"/>
                  </a:clrFrom>
                  <a:clrTo>
                    <a:srgbClr val="FFFFFF">
                      <a:alpha val="0"/>
                    </a:srgbClr>
                  </a:clrTo>
                </a:clrChange>
              </a:blip>
              <a:srcRect l="-1" t="-2" r="14" b="41"/>
              <a:stretch/>
            </p:blipFill>
            <p:spPr>
              <a:xfrm>
                <a:off x="1578509" y="1396207"/>
                <a:ext cx="6660965" cy="1258367"/>
              </a:xfrm>
              <a:prstGeom prst="rect">
                <a:avLst/>
              </a:prstGeom>
            </p:spPr>
          </p:pic>
          <p:cxnSp>
            <p:nvCxnSpPr>
              <p:cNvPr id="22" name="直線接點 21">
                <a:extLst>
                  <a:ext uri="{FF2B5EF4-FFF2-40B4-BE49-F238E27FC236}">
                    <a16:creationId xmlns:a16="http://schemas.microsoft.com/office/drawing/2014/main" id="{DBB971CC-D2D0-41C1-9C1B-69EBAB260D88}"/>
                  </a:ext>
                </a:extLst>
              </p:cNvPr>
              <p:cNvCxnSpPr>
                <a:cxnSpLocks/>
              </p:cNvCxnSpPr>
              <p:nvPr/>
            </p:nvCxnSpPr>
            <p:spPr>
              <a:xfrm>
                <a:off x="3669065" y="2202180"/>
                <a:ext cx="2190715"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94A11FFB-7C14-4148-AE3E-33C086F63419}"/>
                  </a:ext>
                </a:extLst>
              </p:cNvPr>
              <p:cNvCxnSpPr>
                <a:cxnSpLocks/>
              </p:cNvCxnSpPr>
              <p:nvPr/>
            </p:nvCxnSpPr>
            <p:spPr>
              <a:xfrm>
                <a:off x="6057799" y="2202180"/>
                <a:ext cx="21816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3C34514-477D-4EDC-812A-490EFD88DC37}"/>
                  </a:ext>
                </a:extLst>
              </p:cNvPr>
              <p:cNvCxnSpPr>
                <a:cxnSpLocks/>
              </p:cNvCxnSpPr>
              <p:nvPr/>
            </p:nvCxnSpPr>
            <p:spPr>
              <a:xfrm>
                <a:off x="2859457" y="2674368"/>
                <a:ext cx="1619215" cy="588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3C7547D6-404F-40D2-9B3A-C0E0421BC155}"/>
                  </a:ext>
                </a:extLst>
              </p:cNvPr>
              <p:cNvCxnSpPr>
                <a:cxnSpLocks/>
              </p:cNvCxnSpPr>
              <p:nvPr/>
            </p:nvCxnSpPr>
            <p:spPr>
              <a:xfrm>
                <a:off x="4652045" y="2674368"/>
                <a:ext cx="1619215"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B5E9415A-038C-478A-B4E6-5DD5EE4BEA1E}"/>
                      </a:ext>
                    </a:extLst>
                  </p:cNvPr>
                  <p:cNvSpPr txBox="1"/>
                  <p:nvPr/>
                </p:nvSpPr>
                <p:spPr>
                  <a:xfrm>
                    <a:off x="4602711" y="1595899"/>
                    <a:ext cx="323422"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sz="1000" b="1" i="1" smtClean="0">
                                  <a:solidFill>
                                    <a:schemeClr val="tx2"/>
                                  </a:solidFill>
                                  <a:latin typeface="Cambria Math" panose="02040503050406030204" pitchFamily="18" charset="0"/>
                                </a:rPr>
                              </m:ctrlPr>
                            </m:dPr>
                            <m:e>
                              <m:r>
                                <a:rPr lang="en-US" altLang="zh-TW" sz="1000" b="1" i="1">
                                  <a:solidFill>
                                    <a:schemeClr val="tx2"/>
                                  </a:solidFill>
                                  <a:latin typeface="Cambria Math" panose="02040503050406030204" pitchFamily="18" charset="0"/>
                                </a:rPr>
                                <m:t>|</m:t>
                              </m:r>
                              <m:r>
                                <a:rPr lang="en-US" altLang="zh-TW" sz="1000" b="1" i="1">
                                  <a:solidFill>
                                    <a:schemeClr val="tx2"/>
                                  </a:solidFill>
                                  <a:latin typeface="Cambria Math" panose="02040503050406030204" pitchFamily="18" charset="0"/>
                                </a:rPr>
                                <m:t>𝑯𝑯</m:t>
                              </m:r>
                            </m:e>
                          </m:d>
                        </m:oMath>
                      </m:oMathPara>
                    </a14:m>
                    <a:endParaRPr lang="zh-TW" altLang="en-US" b="1" dirty="0"/>
                  </a:p>
                </p:txBody>
              </p:sp>
            </mc:Choice>
            <mc:Fallback xmlns="">
              <p:sp>
                <p:nvSpPr>
                  <p:cNvPr id="27" name="文字方塊 26">
                    <a:extLst>
                      <a:ext uri="{FF2B5EF4-FFF2-40B4-BE49-F238E27FC236}">
                        <a16:creationId xmlns:a16="http://schemas.microsoft.com/office/drawing/2014/main" id="{B5E9415A-038C-478A-B4E6-5DD5EE4BEA1E}"/>
                      </a:ext>
                    </a:extLst>
                  </p:cNvPr>
                  <p:cNvSpPr txBox="1">
                    <a:spLocks noRot="1" noChangeAspect="1" noMove="1" noResize="1" noEditPoints="1" noAdjustHandles="1" noChangeArrowheads="1" noChangeShapeType="1" noTextEdit="1"/>
                  </p:cNvSpPr>
                  <p:nvPr/>
                </p:nvSpPr>
                <p:spPr>
                  <a:xfrm>
                    <a:off x="4602711" y="1595899"/>
                    <a:ext cx="323422" cy="153888"/>
                  </a:xfrm>
                  <a:prstGeom prst="rect">
                    <a:avLst/>
                  </a:prstGeom>
                  <a:blipFill>
                    <a:blip r:embed="rId4"/>
                    <a:stretch>
                      <a:fillRect l="-12963" t="-161538" r="-96296" b="-2538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699BC5B1-18FD-449E-A306-5961B2984D14}"/>
                      </a:ext>
                    </a:extLst>
                  </p:cNvPr>
                  <p:cNvSpPr txBox="1"/>
                  <p:nvPr/>
                </p:nvSpPr>
                <p:spPr>
                  <a:xfrm>
                    <a:off x="7004558" y="1595899"/>
                    <a:ext cx="288156"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sz="1000" b="1" i="1" smtClean="0">
                                  <a:solidFill>
                                    <a:schemeClr val="accent1"/>
                                  </a:solidFill>
                                  <a:latin typeface="Cambria Math" panose="02040503050406030204" pitchFamily="18" charset="0"/>
                                </a:rPr>
                              </m:ctrlPr>
                            </m:dPr>
                            <m:e>
                              <m:r>
                                <a:rPr lang="en-US" altLang="zh-TW" sz="1000" b="1" i="1">
                                  <a:solidFill>
                                    <a:schemeClr val="accent1"/>
                                  </a:solidFill>
                                  <a:latin typeface="Cambria Math" panose="02040503050406030204" pitchFamily="18" charset="0"/>
                                </a:rPr>
                                <m:t>|</m:t>
                              </m:r>
                              <m:r>
                                <a:rPr lang="en-US" altLang="zh-TW" sz="1000" b="1" i="1" smtClean="0">
                                  <a:solidFill>
                                    <a:schemeClr val="accent1"/>
                                  </a:solidFill>
                                  <a:latin typeface="Cambria Math" panose="02040503050406030204" pitchFamily="18" charset="0"/>
                                </a:rPr>
                                <m:t>𝑽𝑽</m:t>
                              </m:r>
                            </m:e>
                          </m:d>
                        </m:oMath>
                      </m:oMathPara>
                    </a14:m>
                    <a:endParaRPr lang="zh-TW" altLang="en-US" b="1" dirty="0"/>
                  </a:p>
                </p:txBody>
              </p:sp>
            </mc:Choice>
            <mc:Fallback xmlns="">
              <p:sp>
                <p:nvSpPr>
                  <p:cNvPr id="28" name="文字方塊 27">
                    <a:extLst>
                      <a:ext uri="{FF2B5EF4-FFF2-40B4-BE49-F238E27FC236}">
                        <a16:creationId xmlns:a16="http://schemas.microsoft.com/office/drawing/2014/main" id="{699BC5B1-18FD-449E-A306-5961B2984D14}"/>
                      </a:ext>
                    </a:extLst>
                  </p:cNvPr>
                  <p:cNvSpPr txBox="1">
                    <a:spLocks noRot="1" noChangeAspect="1" noMove="1" noResize="1" noEditPoints="1" noAdjustHandles="1" noChangeArrowheads="1" noChangeShapeType="1" noTextEdit="1"/>
                  </p:cNvSpPr>
                  <p:nvPr/>
                </p:nvSpPr>
                <p:spPr>
                  <a:xfrm>
                    <a:off x="7004558" y="1595899"/>
                    <a:ext cx="288156" cy="153888"/>
                  </a:xfrm>
                  <a:prstGeom prst="rect">
                    <a:avLst/>
                  </a:prstGeom>
                  <a:blipFill>
                    <a:blip r:embed="rId5"/>
                    <a:stretch>
                      <a:fillRect l="-14583" t="-161538" r="-110417" b="-2538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3A56CD60-00BF-4809-BF7C-BFC356F92E24}"/>
                      </a:ext>
                    </a:extLst>
                  </p:cNvPr>
                  <p:cNvSpPr txBox="1"/>
                  <p:nvPr/>
                </p:nvSpPr>
                <p:spPr>
                  <a:xfrm>
                    <a:off x="3516169" y="2771301"/>
                    <a:ext cx="305789"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sz="1000" b="1" i="1" smtClean="0">
                                  <a:solidFill>
                                    <a:srgbClr val="00B0F0"/>
                                  </a:solidFill>
                                  <a:latin typeface="Cambria Math" panose="02040503050406030204" pitchFamily="18" charset="0"/>
                                </a:rPr>
                              </m:ctrlPr>
                            </m:dPr>
                            <m:e>
                              <m:r>
                                <a:rPr lang="en-US" altLang="zh-TW" sz="1000" b="1" i="1">
                                  <a:solidFill>
                                    <a:srgbClr val="00B0F0"/>
                                  </a:solidFill>
                                  <a:latin typeface="Cambria Math" panose="02040503050406030204" pitchFamily="18" charset="0"/>
                                </a:rPr>
                                <m:t>|</m:t>
                              </m:r>
                              <m:r>
                                <a:rPr lang="en-US" altLang="zh-TW" sz="1000" b="1" i="1">
                                  <a:solidFill>
                                    <a:srgbClr val="00B0F0"/>
                                  </a:solidFill>
                                  <a:latin typeface="Cambria Math" panose="02040503050406030204" pitchFamily="18" charset="0"/>
                                </a:rPr>
                                <m:t>𝑯𝑽</m:t>
                              </m:r>
                            </m:e>
                          </m:d>
                        </m:oMath>
                      </m:oMathPara>
                    </a14:m>
                    <a:endParaRPr lang="zh-TW" altLang="en-US" b="1" dirty="0">
                      <a:solidFill>
                        <a:srgbClr val="00B0F0"/>
                      </a:solidFill>
                    </a:endParaRPr>
                  </a:p>
                </p:txBody>
              </p:sp>
            </mc:Choice>
            <mc:Fallback xmlns="">
              <p:sp>
                <p:nvSpPr>
                  <p:cNvPr id="29" name="文字方塊 28">
                    <a:extLst>
                      <a:ext uri="{FF2B5EF4-FFF2-40B4-BE49-F238E27FC236}">
                        <a16:creationId xmlns:a16="http://schemas.microsoft.com/office/drawing/2014/main" id="{3A56CD60-00BF-4809-BF7C-BFC356F92E24}"/>
                      </a:ext>
                    </a:extLst>
                  </p:cNvPr>
                  <p:cNvSpPr txBox="1">
                    <a:spLocks noRot="1" noChangeAspect="1" noMove="1" noResize="1" noEditPoints="1" noAdjustHandles="1" noChangeArrowheads="1" noChangeShapeType="1" noTextEdit="1"/>
                  </p:cNvSpPr>
                  <p:nvPr/>
                </p:nvSpPr>
                <p:spPr>
                  <a:xfrm>
                    <a:off x="3516169" y="2771301"/>
                    <a:ext cx="305789" cy="153888"/>
                  </a:xfrm>
                  <a:prstGeom prst="rect">
                    <a:avLst/>
                  </a:prstGeom>
                  <a:blipFill>
                    <a:blip r:embed="rId6"/>
                    <a:stretch>
                      <a:fillRect l="-14000" t="-168000" r="-106000" b="-268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3B4C916C-0DBA-451C-BE65-2D4817633FBC}"/>
                      </a:ext>
                    </a:extLst>
                  </p:cNvPr>
                  <p:cNvSpPr txBox="1"/>
                  <p:nvPr/>
                </p:nvSpPr>
                <p:spPr>
                  <a:xfrm>
                    <a:off x="5308757" y="2771301"/>
                    <a:ext cx="305789"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sz="1000" b="1" i="1" smtClean="0">
                                  <a:solidFill>
                                    <a:schemeClr val="bg2"/>
                                  </a:solidFill>
                                  <a:latin typeface="Cambria Math" panose="02040503050406030204" pitchFamily="18" charset="0"/>
                                </a:rPr>
                              </m:ctrlPr>
                            </m:dPr>
                            <m:e>
                              <m:r>
                                <a:rPr lang="en-US" altLang="zh-TW" sz="1000" b="1" i="1">
                                  <a:solidFill>
                                    <a:schemeClr val="bg2"/>
                                  </a:solidFill>
                                  <a:latin typeface="Cambria Math" panose="02040503050406030204" pitchFamily="18" charset="0"/>
                                </a:rPr>
                                <m:t>|</m:t>
                              </m:r>
                              <m:r>
                                <a:rPr lang="en-US" altLang="zh-TW" sz="1000" b="1" i="1" smtClean="0">
                                  <a:solidFill>
                                    <a:schemeClr val="bg2"/>
                                  </a:solidFill>
                                  <a:latin typeface="Cambria Math" panose="02040503050406030204" pitchFamily="18" charset="0"/>
                                </a:rPr>
                                <m:t>𝑽𝑯</m:t>
                              </m:r>
                            </m:e>
                          </m:d>
                        </m:oMath>
                      </m:oMathPara>
                    </a14:m>
                    <a:endParaRPr lang="zh-TW" altLang="en-US" b="1" dirty="0">
                      <a:solidFill>
                        <a:schemeClr val="bg2"/>
                      </a:solidFill>
                    </a:endParaRPr>
                  </a:p>
                </p:txBody>
              </p:sp>
            </mc:Choice>
            <mc:Fallback xmlns="">
              <p:sp>
                <p:nvSpPr>
                  <p:cNvPr id="30" name="文字方塊 29">
                    <a:extLst>
                      <a:ext uri="{FF2B5EF4-FFF2-40B4-BE49-F238E27FC236}">
                        <a16:creationId xmlns:a16="http://schemas.microsoft.com/office/drawing/2014/main" id="{3B4C916C-0DBA-451C-BE65-2D4817633FBC}"/>
                      </a:ext>
                    </a:extLst>
                  </p:cNvPr>
                  <p:cNvSpPr txBox="1">
                    <a:spLocks noRot="1" noChangeAspect="1" noMove="1" noResize="1" noEditPoints="1" noAdjustHandles="1" noChangeArrowheads="1" noChangeShapeType="1" noTextEdit="1"/>
                  </p:cNvSpPr>
                  <p:nvPr/>
                </p:nvSpPr>
                <p:spPr>
                  <a:xfrm>
                    <a:off x="5308757" y="2771301"/>
                    <a:ext cx="305789" cy="153888"/>
                  </a:xfrm>
                  <a:prstGeom prst="rect">
                    <a:avLst/>
                  </a:prstGeom>
                  <a:blipFill>
                    <a:blip r:embed="rId7"/>
                    <a:stretch>
                      <a:fillRect l="-14000" t="-168000" r="-106000" b="-268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74AA5CFF-EEF7-454D-A4C3-2CC42AD51A18}"/>
                      </a:ext>
                    </a:extLst>
                  </p:cNvPr>
                  <p:cNvSpPr txBox="1"/>
                  <p:nvPr/>
                </p:nvSpPr>
                <p:spPr>
                  <a:xfrm>
                    <a:off x="4042311" y="1011364"/>
                    <a:ext cx="1468543" cy="43915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en-US" altLang="zh-TW" sz="1000" i="1" smtClean="0">
                                  <a:latin typeface="Cambria Math" panose="02040503050406030204" pitchFamily="18" charset="0"/>
                                  <a:ea typeface="Cambria Math" panose="02040503050406030204" pitchFamily="18" charset="0"/>
                                </a:rPr>
                                <m:t>∆</m:t>
                              </m:r>
                              <m:r>
                                <a:rPr lang="en-US" altLang="zh-TW" sz="1000" b="0" i="1" smtClean="0">
                                  <a:latin typeface="Cambria Math" panose="02040503050406030204" pitchFamily="18" charset="0"/>
                                  <a:ea typeface="Cambria Math" panose="02040503050406030204" pitchFamily="18" charset="0"/>
                                </a:rPr>
                                <m:t>𝑘</m:t>
                              </m:r>
                            </m:e>
                            <m:sub>
                              <m:r>
                                <a:rPr lang="en-US" altLang="zh-TW" sz="1000" b="0" i="1" smtClean="0">
                                  <a:latin typeface="Cambria Math" panose="02040503050406030204" pitchFamily="18" charset="0"/>
                                </a:rPr>
                                <m:t>1</m:t>
                              </m:r>
                            </m:sub>
                          </m:sSub>
                          <m:r>
                            <a:rPr lang="en-US" altLang="zh-TW" sz="1000" i="1">
                              <a:latin typeface="Cambria Math" panose="02040503050406030204" pitchFamily="18" charset="0"/>
                              <a:ea typeface="Cambria Math" panose="02040503050406030204" pitchFamily="18" charset="0"/>
                            </a:rPr>
                            <m:t>~</m:t>
                          </m:r>
                          <m:sSub>
                            <m:sSubPr>
                              <m:ctrlPr>
                                <a:rPr lang="en-US" altLang="zh-TW" sz="1000" b="0" i="1" smtClean="0">
                                  <a:latin typeface="Cambria Math" panose="02040503050406030204" pitchFamily="18" charset="0"/>
                                </a:rPr>
                              </m:ctrlPr>
                            </m:sSubPr>
                            <m:e>
                              <m:d>
                                <m:dPr>
                                  <m:begChr m:val=""/>
                                  <m:endChr m:val="|"/>
                                  <m:ctrlPr>
                                    <a:rPr lang="en-US" altLang="zh-TW" sz="1000" b="0" i="1" smtClean="0">
                                      <a:latin typeface="Cambria Math" panose="02040503050406030204" pitchFamily="18" charset="0"/>
                                    </a:rPr>
                                  </m:ctrlPr>
                                </m:dPr>
                                <m:e>
                                  <m:f>
                                    <m:fPr>
                                      <m:ctrlPr>
                                        <a:rPr lang="en-US" altLang="zh-TW" sz="1000" i="1">
                                          <a:latin typeface="Cambria Math" panose="02040503050406030204" pitchFamily="18" charset="0"/>
                                        </a:rPr>
                                      </m:ctrlPr>
                                    </m:fPr>
                                    <m:num>
                                      <m:r>
                                        <m:rPr>
                                          <m:sty m:val="p"/>
                                        </m:rPr>
                                        <a:rPr lang="el-GR" altLang="zh-TW" sz="1000" i="1" smtClean="0">
                                          <a:latin typeface="Cambria Math" panose="02040503050406030204" pitchFamily="18" charset="0"/>
                                          <a:ea typeface="Cambria Math" panose="02040503050406030204" pitchFamily="18" charset="0"/>
                                        </a:rPr>
                                        <m:t>Φ</m:t>
                                      </m:r>
                                    </m:num>
                                    <m:den>
                                      <m:r>
                                        <a:rPr lang="en-US" altLang="zh-TW" sz="1000" i="1">
                                          <a:latin typeface="Cambria Math" panose="02040503050406030204" pitchFamily="18" charset="0"/>
                                        </a:rPr>
                                        <m:t>𝑙</m:t>
                                      </m:r>
                                    </m:den>
                                  </m:f>
                                  <m:r>
                                    <a:rPr lang="en-US" altLang="zh-TW" sz="1000" i="1">
                                      <a:latin typeface="Cambria Math" panose="02040503050406030204" pitchFamily="18" charset="0"/>
                                    </a:rPr>
                                    <m:t>−</m:t>
                                  </m:r>
                                  <m:f>
                                    <m:fPr>
                                      <m:ctrlPr>
                                        <a:rPr lang="en-US" altLang="zh-TW" sz="1000" i="1">
                                          <a:latin typeface="Cambria Math" panose="02040503050406030204" pitchFamily="18" charset="0"/>
                                        </a:rPr>
                                      </m:ctrlPr>
                                    </m:fPr>
                                    <m:num>
                                      <m:sSup>
                                        <m:sSupPr>
                                          <m:ctrlPr>
                                            <a:rPr lang="en-US" altLang="zh-TW" sz="1000" i="1">
                                              <a:latin typeface="Cambria Math" panose="02040503050406030204" pitchFamily="18" charset="0"/>
                                            </a:rPr>
                                          </m:ctrlPr>
                                        </m:sSupPr>
                                        <m:e>
                                          <m:r>
                                            <a:rPr lang="en-US" altLang="zh-TW" sz="1000" i="1">
                                              <a:latin typeface="Cambria Math" panose="02040503050406030204" pitchFamily="18" charset="0"/>
                                            </a:rPr>
                                            <m:t>2</m:t>
                                          </m:r>
                                          <m:r>
                                            <m:rPr>
                                              <m:sty m:val="p"/>
                                            </m:rPr>
                                            <a:rPr lang="el-GR" altLang="zh-TW" sz="1000" i="1">
                                              <a:latin typeface="Cambria Math" panose="02040503050406030204" pitchFamily="18" charset="0"/>
                                              <a:ea typeface="Cambria Math" panose="02040503050406030204" pitchFamily="18" charset="0"/>
                                            </a:rPr>
                                            <m:t>Ω</m:t>
                                          </m:r>
                                        </m:e>
                                        <m:sup>
                                          <m:r>
                                            <a:rPr lang="en-US" altLang="zh-TW" sz="1000" i="1">
                                              <a:latin typeface="Cambria Math" panose="02040503050406030204" pitchFamily="18" charset="0"/>
                                            </a:rPr>
                                            <m:t>2</m:t>
                                          </m:r>
                                        </m:sup>
                                      </m:sSup>
                                    </m:num>
                                    <m:den>
                                      <m:r>
                                        <a:rPr lang="en-US" altLang="zh-TW" sz="1000" i="1">
                                          <a:latin typeface="Cambria Math" panose="02040503050406030204" pitchFamily="18" charset="0"/>
                                        </a:rPr>
                                        <m:t>𝑐</m:t>
                                      </m:r>
                                    </m:den>
                                  </m:f>
                                  <m:f>
                                    <m:fPr>
                                      <m:ctrlPr>
                                        <a:rPr lang="en-US" altLang="zh-TW" sz="1000" i="1">
                                          <a:latin typeface="Cambria Math" panose="02040503050406030204" pitchFamily="18" charset="0"/>
                                        </a:rPr>
                                      </m:ctrlPr>
                                    </m:fPr>
                                    <m:num>
                                      <m:r>
                                        <a:rPr lang="zh-TW" altLang="en-US" sz="1000" i="1">
                                          <a:latin typeface="Cambria Math" panose="02040503050406030204" pitchFamily="18" charset="0"/>
                                        </a:rPr>
                                        <m:t>𝜕</m:t>
                                      </m:r>
                                    </m:num>
                                    <m:den>
                                      <m:r>
                                        <a:rPr lang="zh-TW" altLang="en-US" sz="1000" i="1">
                                          <a:latin typeface="Cambria Math" panose="02040503050406030204" pitchFamily="18" charset="0"/>
                                        </a:rPr>
                                        <m:t>𝜕𝜔</m:t>
                                      </m:r>
                                    </m:den>
                                  </m:f>
                                  <m:sSub>
                                    <m:sSubPr>
                                      <m:ctrlPr>
                                        <a:rPr lang="en-US" altLang="zh-TW" sz="1000" i="1">
                                          <a:latin typeface="Cambria Math" panose="02040503050406030204" pitchFamily="18" charset="0"/>
                                        </a:rPr>
                                      </m:ctrlPr>
                                    </m:sSubPr>
                                    <m:e>
                                      <m:r>
                                        <a:rPr lang="en-US" altLang="zh-TW" sz="1000" i="1">
                                          <a:latin typeface="Cambria Math" panose="02040503050406030204" pitchFamily="18" charset="0"/>
                                        </a:rPr>
                                        <m:t>𝑛</m:t>
                                      </m:r>
                                    </m:e>
                                    <m:sub>
                                      <m:r>
                                        <a:rPr lang="en-US" altLang="zh-TW" sz="1000" i="1">
                                          <a:latin typeface="Cambria Math" panose="02040503050406030204" pitchFamily="18" charset="0"/>
                                        </a:rPr>
                                        <m:t>𝑠</m:t>
                                      </m:r>
                                    </m:sub>
                                  </m:sSub>
                                </m:e>
                              </m:d>
                            </m:e>
                            <m:sub>
                              <m:r>
                                <a:rPr lang="zh-TW" altLang="en-US" sz="1000" b="0" i="1" smtClean="0">
                                  <a:latin typeface="Cambria Math" panose="02040503050406030204" pitchFamily="18" charset="0"/>
                                </a:rPr>
                                <m:t>𝜔</m:t>
                              </m:r>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zh-TW" altLang="en-US" sz="1000" b="0" i="1" smtClean="0">
                                      <a:latin typeface="Cambria Math" panose="02040503050406030204" pitchFamily="18" charset="0"/>
                                    </a:rPr>
                                    <m:t>𝜔</m:t>
                                  </m:r>
                                </m:e>
                                <m:sub>
                                  <m:r>
                                    <a:rPr lang="en-US" altLang="zh-TW" sz="1000" b="0" i="1" smtClean="0">
                                      <a:latin typeface="Cambria Math" panose="02040503050406030204" pitchFamily="18" charset="0"/>
                                    </a:rPr>
                                    <m:t>𝑠</m:t>
                                  </m:r>
                                </m:sub>
                              </m:sSub>
                            </m:sub>
                          </m:sSub>
                        </m:oMath>
                      </m:oMathPara>
                    </a14:m>
                    <a:endParaRPr lang="zh-TW" altLang="en-US" dirty="0"/>
                  </a:p>
                </p:txBody>
              </p:sp>
            </mc:Choice>
            <mc:Fallback xmlns="">
              <p:sp>
                <p:nvSpPr>
                  <p:cNvPr id="31" name="文字方塊 30">
                    <a:extLst>
                      <a:ext uri="{FF2B5EF4-FFF2-40B4-BE49-F238E27FC236}">
                        <a16:creationId xmlns:a16="http://schemas.microsoft.com/office/drawing/2014/main" id="{74AA5CFF-EEF7-454D-A4C3-2CC42AD51A18}"/>
                      </a:ext>
                    </a:extLst>
                  </p:cNvPr>
                  <p:cNvSpPr txBox="1">
                    <a:spLocks noRot="1" noChangeAspect="1" noMove="1" noResize="1" noEditPoints="1" noAdjustHandles="1" noChangeArrowheads="1" noChangeShapeType="1" noTextEdit="1"/>
                  </p:cNvSpPr>
                  <p:nvPr/>
                </p:nvSpPr>
                <p:spPr>
                  <a:xfrm>
                    <a:off x="4042311" y="1011364"/>
                    <a:ext cx="1468543" cy="439159"/>
                  </a:xfrm>
                  <a:prstGeom prst="rect">
                    <a:avLst/>
                  </a:prstGeom>
                  <a:blipFill>
                    <a:blip r:embed="rId8"/>
                    <a:stretch>
                      <a:fillRect l="-1667" t="-211111" r="-34167" b="-293056"/>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F0A72AA0-4802-41E5-A1C2-99B009B71190}"/>
                      </a:ext>
                    </a:extLst>
                  </p:cNvPr>
                  <p:cNvSpPr txBox="1"/>
                  <p:nvPr/>
                </p:nvSpPr>
                <p:spPr>
                  <a:xfrm>
                    <a:off x="6310329" y="1008800"/>
                    <a:ext cx="1599733" cy="4400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a:rPr lang="en-US" altLang="zh-TW" sz="1000" i="1" smtClean="0">
                                  <a:latin typeface="Cambria Math" panose="02040503050406030204" pitchFamily="18" charset="0"/>
                                  <a:ea typeface="Cambria Math" panose="02040503050406030204" pitchFamily="18" charset="0"/>
                                </a:rPr>
                                <m:t>∆</m:t>
                              </m:r>
                              <m:r>
                                <a:rPr lang="en-US" altLang="zh-TW" sz="1000" b="0" i="1" smtClean="0">
                                  <a:latin typeface="Cambria Math" panose="02040503050406030204" pitchFamily="18" charset="0"/>
                                  <a:ea typeface="Cambria Math" panose="02040503050406030204" pitchFamily="18" charset="0"/>
                                </a:rPr>
                                <m:t>𝑘</m:t>
                              </m:r>
                            </m:e>
                            <m:sub>
                              <m:r>
                                <a:rPr lang="en-US" altLang="zh-TW" sz="1000" b="0" i="1" smtClean="0">
                                  <a:latin typeface="Cambria Math" panose="02040503050406030204" pitchFamily="18" charset="0"/>
                                </a:rPr>
                                <m:t>2</m:t>
                              </m:r>
                            </m:sub>
                          </m:sSub>
                          <m:r>
                            <a:rPr lang="en-US" altLang="zh-TW" sz="1000" i="1">
                              <a:latin typeface="Cambria Math" panose="02040503050406030204" pitchFamily="18" charset="0"/>
                              <a:ea typeface="Cambria Math" panose="02040503050406030204" pitchFamily="18" charset="0"/>
                            </a:rPr>
                            <m:t>~</m:t>
                          </m:r>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d>
                                <m:dPr>
                                  <m:begChr m:val=""/>
                                  <m:endChr m:val="|"/>
                                  <m:ctrlPr>
                                    <a:rPr lang="en-US" altLang="zh-TW" sz="1000" b="0" i="1" smtClean="0">
                                      <a:latin typeface="Cambria Math" panose="02040503050406030204" pitchFamily="18" charset="0"/>
                                    </a:rPr>
                                  </m:ctrlPr>
                                </m:dPr>
                                <m:e>
                                  <m:f>
                                    <m:fPr>
                                      <m:ctrlPr>
                                        <a:rPr lang="en-US" altLang="zh-TW" sz="1000" i="1">
                                          <a:latin typeface="Cambria Math" panose="02040503050406030204" pitchFamily="18" charset="0"/>
                                        </a:rPr>
                                      </m:ctrlPr>
                                    </m:fPr>
                                    <m:num>
                                      <m:r>
                                        <m:rPr>
                                          <m:sty m:val="p"/>
                                        </m:rPr>
                                        <a:rPr lang="el-GR" altLang="zh-TW" sz="1000" i="1" smtClean="0">
                                          <a:latin typeface="Cambria Math" panose="02040503050406030204" pitchFamily="18" charset="0"/>
                                          <a:ea typeface="Cambria Math" panose="02040503050406030204" pitchFamily="18" charset="0"/>
                                        </a:rPr>
                                        <m:t>Φ</m:t>
                                      </m:r>
                                    </m:num>
                                    <m:den>
                                      <m:r>
                                        <a:rPr lang="en-US" altLang="zh-TW" sz="1000" i="1">
                                          <a:latin typeface="Cambria Math" panose="02040503050406030204" pitchFamily="18" charset="0"/>
                                        </a:rPr>
                                        <m:t>𝑙</m:t>
                                      </m:r>
                                    </m:den>
                                  </m:f>
                                  <m:r>
                                    <a:rPr lang="en-US" altLang="zh-TW" sz="1000" i="1">
                                      <a:latin typeface="Cambria Math" panose="02040503050406030204" pitchFamily="18" charset="0"/>
                                    </a:rPr>
                                    <m:t>−</m:t>
                                  </m:r>
                                  <m:f>
                                    <m:fPr>
                                      <m:ctrlPr>
                                        <a:rPr lang="en-US" altLang="zh-TW" sz="1000" i="1">
                                          <a:latin typeface="Cambria Math" panose="02040503050406030204" pitchFamily="18" charset="0"/>
                                        </a:rPr>
                                      </m:ctrlPr>
                                    </m:fPr>
                                    <m:num>
                                      <m:sSup>
                                        <m:sSupPr>
                                          <m:ctrlPr>
                                            <a:rPr lang="en-US" altLang="zh-TW" sz="1000" i="1">
                                              <a:latin typeface="Cambria Math" panose="02040503050406030204" pitchFamily="18" charset="0"/>
                                            </a:rPr>
                                          </m:ctrlPr>
                                        </m:sSupPr>
                                        <m:e>
                                          <m:r>
                                            <a:rPr lang="en-US" altLang="zh-TW" sz="1000" i="1">
                                              <a:latin typeface="Cambria Math" panose="02040503050406030204" pitchFamily="18" charset="0"/>
                                            </a:rPr>
                                            <m:t>2</m:t>
                                          </m:r>
                                          <m:r>
                                            <m:rPr>
                                              <m:sty m:val="p"/>
                                            </m:rPr>
                                            <a:rPr lang="el-GR" altLang="zh-TW" sz="1000" i="1">
                                              <a:latin typeface="Cambria Math" panose="02040503050406030204" pitchFamily="18" charset="0"/>
                                              <a:ea typeface="Cambria Math" panose="02040503050406030204" pitchFamily="18" charset="0"/>
                                            </a:rPr>
                                            <m:t>Ω</m:t>
                                          </m:r>
                                        </m:e>
                                        <m:sup>
                                          <m:r>
                                            <a:rPr lang="en-US" altLang="zh-TW" sz="1000" i="1">
                                              <a:latin typeface="Cambria Math" panose="02040503050406030204" pitchFamily="18" charset="0"/>
                                            </a:rPr>
                                            <m:t>2</m:t>
                                          </m:r>
                                        </m:sup>
                                      </m:sSup>
                                    </m:num>
                                    <m:den>
                                      <m:r>
                                        <a:rPr lang="en-US" altLang="zh-TW" sz="1000" i="1">
                                          <a:latin typeface="Cambria Math" panose="02040503050406030204" pitchFamily="18" charset="0"/>
                                        </a:rPr>
                                        <m:t>𝑐</m:t>
                                      </m:r>
                                    </m:den>
                                  </m:f>
                                  <m:f>
                                    <m:fPr>
                                      <m:ctrlPr>
                                        <a:rPr lang="en-US" altLang="zh-TW" sz="1000" i="1">
                                          <a:latin typeface="Cambria Math" panose="02040503050406030204" pitchFamily="18" charset="0"/>
                                        </a:rPr>
                                      </m:ctrlPr>
                                    </m:fPr>
                                    <m:num>
                                      <m:r>
                                        <a:rPr lang="zh-TW" altLang="en-US" sz="1000" i="1">
                                          <a:latin typeface="Cambria Math" panose="02040503050406030204" pitchFamily="18" charset="0"/>
                                        </a:rPr>
                                        <m:t>𝜕</m:t>
                                      </m:r>
                                    </m:num>
                                    <m:den>
                                      <m:r>
                                        <a:rPr lang="zh-TW" altLang="en-US" sz="1000" i="1">
                                          <a:latin typeface="Cambria Math" panose="02040503050406030204" pitchFamily="18" charset="0"/>
                                        </a:rPr>
                                        <m:t>𝜕𝜔</m:t>
                                      </m:r>
                                    </m:den>
                                  </m:f>
                                  <m:sSub>
                                    <m:sSubPr>
                                      <m:ctrlPr>
                                        <a:rPr lang="en-US" altLang="zh-TW" sz="1000" i="1">
                                          <a:latin typeface="Cambria Math" panose="02040503050406030204" pitchFamily="18" charset="0"/>
                                        </a:rPr>
                                      </m:ctrlPr>
                                    </m:sSubPr>
                                    <m:e>
                                      <m:r>
                                        <a:rPr lang="en-US" altLang="zh-TW" sz="1000" i="1">
                                          <a:latin typeface="Cambria Math" panose="02040503050406030204" pitchFamily="18" charset="0"/>
                                        </a:rPr>
                                        <m:t>𝑛</m:t>
                                      </m:r>
                                    </m:e>
                                    <m:sub>
                                      <m:r>
                                        <a:rPr lang="en-US" altLang="zh-TW" sz="1000" b="0" i="1" smtClean="0">
                                          <a:latin typeface="Cambria Math" panose="02040503050406030204" pitchFamily="18" charset="0"/>
                                        </a:rPr>
                                        <m:t>𝑖</m:t>
                                      </m:r>
                                    </m:sub>
                                  </m:sSub>
                                </m:e>
                              </m:d>
                            </m:e>
                            <m:sub>
                              <m:r>
                                <a:rPr lang="zh-TW" altLang="en-US" sz="1000" b="0" i="1" smtClean="0">
                                  <a:latin typeface="Cambria Math" panose="02040503050406030204" pitchFamily="18" charset="0"/>
                                </a:rPr>
                                <m:t>𝜔</m:t>
                              </m:r>
                              <m:r>
                                <a:rPr lang="en-US" altLang="zh-TW" sz="1000" b="0" i="1" smtClean="0">
                                  <a:latin typeface="Cambria Math" panose="02040503050406030204" pitchFamily="18" charset="0"/>
                                </a:rPr>
                                <m:t>=</m:t>
                              </m:r>
                              <m:sSub>
                                <m:sSubPr>
                                  <m:ctrlPr>
                                    <a:rPr lang="en-US" altLang="zh-TW" sz="1000" b="0" i="1" smtClean="0">
                                      <a:latin typeface="Cambria Math" panose="02040503050406030204" pitchFamily="18" charset="0"/>
                                    </a:rPr>
                                  </m:ctrlPr>
                                </m:sSubPr>
                                <m:e>
                                  <m:r>
                                    <a:rPr lang="zh-TW" altLang="en-US" sz="1000" b="0" i="1" smtClean="0">
                                      <a:latin typeface="Cambria Math" panose="02040503050406030204" pitchFamily="18" charset="0"/>
                                    </a:rPr>
                                    <m:t>𝜔</m:t>
                                  </m:r>
                                </m:e>
                                <m:sub>
                                  <m:r>
                                    <a:rPr lang="en-US" altLang="zh-TW" sz="1000" b="0" i="1" smtClean="0">
                                      <a:latin typeface="Cambria Math" panose="02040503050406030204" pitchFamily="18" charset="0"/>
                                    </a:rPr>
                                    <m:t>𝑖</m:t>
                                  </m:r>
                                </m:sub>
                              </m:sSub>
                            </m:sub>
                          </m:sSub>
                        </m:oMath>
                      </m:oMathPara>
                    </a14:m>
                    <a:endParaRPr lang="zh-TW" altLang="en-US" dirty="0"/>
                  </a:p>
                </p:txBody>
              </p:sp>
            </mc:Choice>
            <mc:Fallback xmlns="">
              <p:sp>
                <p:nvSpPr>
                  <p:cNvPr id="32" name="文字方塊 31">
                    <a:extLst>
                      <a:ext uri="{FF2B5EF4-FFF2-40B4-BE49-F238E27FC236}">
                        <a16:creationId xmlns:a16="http://schemas.microsoft.com/office/drawing/2014/main" id="{F0A72AA0-4802-41E5-A1C2-99B009B71190}"/>
                      </a:ext>
                    </a:extLst>
                  </p:cNvPr>
                  <p:cNvSpPr txBox="1">
                    <a:spLocks noRot="1" noChangeAspect="1" noMove="1" noResize="1" noEditPoints="1" noAdjustHandles="1" noChangeArrowheads="1" noChangeShapeType="1" noTextEdit="1"/>
                  </p:cNvSpPr>
                  <p:nvPr/>
                </p:nvSpPr>
                <p:spPr>
                  <a:xfrm>
                    <a:off x="6310329" y="1008800"/>
                    <a:ext cx="1599733" cy="440057"/>
                  </a:xfrm>
                  <a:prstGeom prst="rect">
                    <a:avLst/>
                  </a:prstGeom>
                  <a:blipFill>
                    <a:blip r:embed="rId9"/>
                    <a:stretch>
                      <a:fillRect l="-1145" t="-212500" r="-31298" b="-29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49B2F4B7-1F3C-4E9F-8D20-D19F6BC6F8BF}"/>
                      </a:ext>
                    </a:extLst>
                  </p:cNvPr>
                  <p:cNvSpPr txBox="1"/>
                  <p:nvPr/>
                </p:nvSpPr>
                <p:spPr>
                  <a:xfrm>
                    <a:off x="3381092" y="3117049"/>
                    <a:ext cx="560986"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m:rPr>
                                  <m:sty m:val="p"/>
                                </m:rPr>
                                <a:rPr lang="el-GR" altLang="zh-TW" sz="1000" i="1" smtClean="0">
                                  <a:latin typeface="Cambria Math" panose="02040503050406030204" pitchFamily="18" charset="0"/>
                                  <a:ea typeface="Cambria Math" panose="02040503050406030204" pitchFamily="18" charset="0"/>
                                </a:rPr>
                                <m:t>Δ</m:t>
                              </m:r>
                              <m:r>
                                <a:rPr lang="en-US" altLang="zh-TW" sz="1000" b="0" i="1" smtClean="0">
                                  <a:latin typeface="Cambria Math" panose="02040503050406030204" pitchFamily="18" charset="0"/>
                                  <a:ea typeface="Cambria Math" panose="02040503050406030204" pitchFamily="18" charset="0"/>
                                </a:rPr>
                                <m:t>𝑘</m:t>
                              </m:r>
                            </m:e>
                            <m:sub>
                              <m:r>
                                <a:rPr lang="en-US" altLang="zh-TW" sz="1000" b="0" i="1" smtClean="0">
                                  <a:latin typeface="Cambria Math" panose="02040503050406030204" pitchFamily="18" charset="0"/>
                                </a:rPr>
                                <m:t>3</m:t>
                              </m:r>
                            </m:sub>
                          </m:sSub>
                          <m:r>
                            <a:rPr lang="en-US" altLang="zh-TW" sz="1000" i="1">
                              <a:latin typeface="Cambria Math" panose="02040503050406030204" pitchFamily="18" charset="0"/>
                              <a:ea typeface="Cambria Math" panose="02040503050406030204" pitchFamily="18" charset="0"/>
                            </a:rPr>
                            <m:t>~</m:t>
                          </m:r>
                          <m:f>
                            <m:fPr>
                              <m:ctrlPr>
                                <a:rPr lang="en-US" altLang="zh-TW" sz="1000" i="1" smtClean="0">
                                  <a:latin typeface="Cambria Math" panose="02040503050406030204" pitchFamily="18" charset="0"/>
                                  <a:ea typeface="Cambria Math" panose="02040503050406030204" pitchFamily="18" charset="0"/>
                                </a:rPr>
                              </m:ctrlPr>
                            </m:fPr>
                            <m:num>
                              <m:r>
                                <m:rPr>
                                  <m:sty m:val="p"/>
                                </m:rPr>
                                <a:rPr lang="el-GR" altLang="zh-TW" sz="1000" i="1" smtClean="0">
                                  <a:latin typeface="Cambria Math" panose="02040503050406030204" pitchFamily="18" charset="0"/>
                                  <a:ea typeface="Cambria Math" panose="02040503050406030204" pitchFamily="18" charset="0"/>
                                </a:rPr>
                                <m:t>Ω</m:t>
                              </m:r>
                              <m:sSub>
                                <m:sSubPr>
                                  <m:ctrlPr>
                                    <a:rPr lang="el-GR" altLang="zh-TW" sz="1000" i="1" smtClean="0">
                                      <a:latin typeface="Cambria Math" panose="02040503050406030204" pitchFamily="18" charset="0"/>
                                      <a:ea typeface="Cambria Math" panose="02040503050406030204" pitchFamily="18" charset="0"/>
                                    </a:rPr>
                                  </m:ctrlPr>
                                </m:sSubPr>
                                <m:e>
                                  <m:r>
                                    <a:rPr lang="zh-TW" altLang="el-GR" sz="1000" i="1" smtClean="0">
                                      <a:latin typeface="Cambria Math" panose="02040503050406030204" pitchFamily="18" charset="0"/>
                                      <a:ea typeface="Cambria Math" panose="02040503050406030204" pitchFamily="18" charset="0"/>
                                    </a:rPr>
                                    <m:t>𝜏</m:t>
                                  </m:r>
                                </m:e>
                                <m:sub>
                                  <m:r>
                                    <a:rPr lang="en-US" altLang="zh-TW" sz="1000" b="0" i="1" smtClean="0">
                                      <a:latin typeface="Cambria Math" panose="02040503050406030204" pitchFamily="18" charset="0"/>
                                      <a:ea typeface="Cambria Math" panose="02040503050406030204" pitchFamily="18" charset="0"/>
                                    </a:rPr>
                                    <m:t>0</m:t>
                                  </m:r>
                                </m:sub>
                              </m:sSub>
                            </m:num>
                            <m:den>
                              <m:r>
                                <a:rPr lang="en-US" altLang="zh-TW" sz="1000" b="0" i="1" smtClean="0">
                                  <a:latin typeface="Cambria Math" panose="02040503050406030204" pitchFamily="18" charset="0"/>
                                  <a:ea typeface="Cambria Math" panose="02040503050406030204" pitchFamily="18" charset="0"/>
                                </a:rPr>
                                <m:t>𝑙</m:t>
                              </m:r>
                            </m:den>
                          </m:f>
                        </m:oMath>
                      </m:oMathPara>
                    </a14:m>
                    <a:endParaRPr lang="zh-TW" altLang="en-US" dirty="0"/>
                  </a:p>
                </p:txBody>
              </p:sp>
            </mc:Choice>
            <mc:Fallback xmlns="">
              <p:sp>
                <p:nvSpPr>
                  <p:cNvPr id="33" name="文字方塊 32">
                    <a:extLst>
                      <a:ext uri="{FF2B5EF4-FFF2-40B4-BE49-F238E27FC236}">
                        <a16:creationId xmlns:a16="http://schemas.microsoft.com/office/drawing/2014/main" id="{49B2F4B7-1F3C-4E9F-8D20-D19F6BC6F8BF}"/>
                      </a:ext>
                    </a:extLst>
                  </p:cNvPr>
                  <p:cNvSpPr txBox="1">
                    <a:spLocks noRot="1" noChangeAspect="1" noMove="1" noResize="1" noEditPoints="1" noAdjustHandles="1" noChangeArrowheads="1" noChangeShapeType="1" noTextEdit="1"/>
                  </p:cNvSpPr>
                  <p:nvPr/>
                </p:nvSpPr>
                <p:spPr>
                  <a:xfrm>
                    <a:off x="3381092" y="3117049"/>
                    <a:ext cx="560986" cy="289182"/>
                  </a:xfrm>
                  <a:prstGeom prst="rect">
                    <a:avLst/>
                  </a:prstGeom>
                  <a:blipFill>
                    <a:blip r:embed="rId10"/>
                    <a:stretch>
                      <a:fillRect l="-4348" t="-2128" r="-1087" b="-170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B2919462-CAE5-4E96-8264-02F1863247C3}"/>
                      </a:ext>
                    </a:extLst>
                  </p:cNvPr>
                  <p:cNvSpPr txBox="1"/>
                  <p:nvPr/>
                </p:nvSpPr>
                <p:spPr>
                  <a:xfrm>
                    <a:off x="5115274" y="3117049"/>
                    <a:ext cx="692754"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000" i="1" smtClean="0">
                                  <a:latin typeface="Cambria Math" panose="02040503050406030204" pitchFamily="18" charset="0"/>
                                </a:rPr>
                              </m:ctrlPr>
                            </m:sSubPr>
                            <m:e>
                              <m:r>
                                <m:rPr>
                                  <m:sty m:val="p"/>
                                </m:rPr>
                                <a:rPr lang="el-GR" altLang="zh-TW" sz="1000" i="1" smtClean="0">
                                  <a:latin typeface="Cambria Math" panose="02040503050406030204" pitchFamily="18" charset="0"/>
                                  <a:ea typeface="Cambria Math" panose="02040503050406030204" pitchFamily="18" charset="0"/>
                                </a:rPr>
                                <m:t>Δ</m:t>
                              </m:r>
                              <m:r>
                                <a:rPr lang="en-US" altLang="zh-TW" sz="1000" b="0" i="1" smtClean="0">
                                  <a:latin typeface="Cambria Math" panose="02040503050406030204" pitchFamily="18" charset="0"/>
                                  <a:ea typeface="Cambria Math" panose="02040503050406030204" pitchFamily="18" charset="0"/>
                                </a:rPr>
                                <m:t>𝑘</m:t>
                              </m:r>
                            </m:e>
                            <m:sub>
                              <m:r>
                                <a:rPr lang="en-US" altLang="zh-TW" sz="1000" b="0" i="1" smtClean="0">
                                  <a:latin typeface="Cambria Math" panose="02040503050406030204" pitchFamily="18" charset="0"/>
                                </a:rPr>
                                <m:t>4</m:t>
                              </m:r>
                            </m:sub>
                          </m:sSub>
                          <m:r>
                            <a:rPr lang="en-US" altLang="zh-TW" sz="1000" i="1">
                              <a:latin typeface="Cambria Math" panose="02040503050406030204" pitchFamily="18" charset="0"/>
                              <a:ea typeface="Cambria Math" panose="02040503050406030204" pitchFamily="18" charset="0"/>
                            </a:rPr>
                            <m:t>~</m:t>
                          </m:r>
                          <m:r>
                            <a:rPr lang="en-US" altLang="zh-TW" sz="1000" b="0" i="1" smtClean="0">
                              <a:latin typeface="Cambria Math" panose="02040503050406030204" pitchFamily="18" charset="0"/>
                              <a:ea typeface="Cambria Math" panose="02040503050406030204" pitchFamily="18" charset="0"/>
                            </a:rPr>
                            <m:t>−</m:t>
                          </m:r>
                          <m:f>
                            <m:fPr>
                              <m:ctrlPr>
                                <a:rPr lang="en-US" altLang="zh-TW" sz="1000" i="1" smtClean="0">
                                  <a:latin typeface="Cambria Math" panose="02040503050406030204" pitchFamily="18" charset="0"/>
                                  <a:ea typeface="Cambria Math" panose="02040503050406030204" pitchFamily="18" charset="0"/>
                                </a:rPr>
                              </m:ctrlPr>
                            </m:fPr>
                            <m:num>
                              <m:r>
                                <m:rPr>
                                  <m:sty m:val="p"/>
                                </m:rPr>
                                <a:rPr lang="el-GR" altLang="zh-TW" sz="1000" i="1" smtClean="0">
                                  <a:latin typeface="Cambria Math" panose="02040503050406030204" pitchFamily="18" charset="0"/>
                                  <a:ea typeface="Cambria Math" panose="02040503050406030204" pitchFamily="18" charset="0"/>
                                </a:rPr>
                                <m:t>Ω</m:t>
                              </m:r>
                              <m:sSub>
                                <m:sSubPr>
                                  <m:ctrlPr>
                                    <a:rPr lang="el-GR" altLang="zh-TW" sz="1000" i="1" smtClean="0">
                                      <a:latin typeface="Cambria Math" panose="02040503050406030204" pitchFamily="18" charset="0"/>
                                      <a:ea typeface="Cambria Math" panose="02040503050406030204" pitchFamily="18" charset="0"/>
                                    </a:rPr>
                                  </m:ctrlPr>
                                </m:sSubPr>
                                <m:e>
                                  <m:r>
                                    <a:rPr lang="zh-TW" altLang="el-GR" sz="1000" i="1" smtClean="0">
                                      <a:latin typeface="Cambria Math" panose="02040503050406030204" pitchFamily="18" charset="0"/>
                                      <a:ea typeface="Cambria Math" panose="02040503050406030204" pitchFamily="18" charset="0"/>
                                    </a:rPr>
                                    <m:t>𝜏</m:t>
                                  </m:r>
                                </m:e>
                                <m:sub>
                                  <m:r>
                                    <a:rPr lang="en-US" altLang="zh-TW" sz="1000" b="0" i="1" smtClean="0">
                                      <a:latin typeface="Cambria Math" panose="02040503050406030204" pitchFamily="18" charset="0"/>
                                      <a:ea typeface="Cambria Math" panose="02040503050406030204" pitchFamily="18" charset="0"/>
                                    </a:rPr>
                                    <m:t>0</m:t>
                                  </m:r>
                                </m:sub>
                              </m:sSub>
                            </m:num>
                            <m:den>
                              <m:r>
                                <a:rPr lang="en-US" altLang="zh-TW" sz="1000" b="0" i="1" smtClean="0">
                                  <a:latin typeface="Cambria Math" panose="02040503050406030204" pitchFamily="18" charset="0"/>
                                  <a:ea typeface="Cambria Math" panose="02040503050406030204" pitchFamily="18" charset="0"/>
                                </a:rPr>
                                <m:t>𝑙</m:t>
                              </m:r>
                            </m:den>
                          </m:f>
                        </m:oMath>
                      </m:oMathPara>
                    </a14:m>
                    <a:endParaRPr lang="zh-TW" altLang="en-US" dirty="0"/>
                  </a:p>
                </p:txBody>
              </p:sp>
            </mc:Choice>
            <mc:Fallback xmlns="">
              <p:sp>
                <p:nvSpPr>
                  <p:cNvPr id="34" name="文字方塊 33">
                    <a:extLst>
                      <a:ext uri="{FF2B5EF4-FFF2-40B4-BE49-F238E27FC236}">
                        <a16:creationId xmlns:a16="http://schemas.microsoft.com/office/drawing/2014/main" id="{B2919462-CAE5-4E96-8264-02F1863247C3}"/>
                      </a:ext>
                    </a:extLst>
                  </p:cNvPr>
                  <p:cNvSpPr txBox="1">
                    <a:spLocks noRot="1" noChangeAspect="1" noMove="1" noResize="1" noEditPoints="1" noAdjustHandles="1" noChangeArrowheads="1" noChangeShapeType="1" noTextEdit="1"/>
                  </p:cNvSpPr>
                  <p:nvPr/>
                </p:nvSpPr>
                <p:spPr>
                  <a:xfrm>
                    <a:off x="5115274" y="3117049"/>
                    <a:ext cx="692754" cy="289182"/>
                  </a:xfrm>
                  <a:prstGeom prst="rect">
                    <a:avLst/>
                  </a:prstGeom>
                  <a:blipFill>
                    <a:blip r:embed="rId11"/>
                    <a:stretch>
                      <a:fillRect l="-4425" t="-2128" r="-1770" b="-17021"/>
                    </a:stretch>
                  </a:blipFill>
                </p:spPr>
                <p:txBody>
                  <a:bodyPr/>
                  <a:lstStyle/>
                  <a:p>
                    <a:r>
                      <a:rPr lang="zh-TW" altLang="en-US">
                        <a:noFill/>
                      </a:rPr>
                      <a:t> </a:t>
                    </a:r>
                  </a:p>
                </p:txBody>
              </p:sp>
            </mc:Fallback>
          </mc:AlternateContent>
          <p:sp>
            <p:nvSpPr>
              <p:cNvPr id="39" name="矩形 38">
                <a:extLst>
                  <a:ext uri="{FF2B5EF4-FFF2-40B4-BE49-F238E27FC236}">
                    <a16:creationId xmlns:a16="http://schemas.microsoft.com/office/drawing/2014/main" id="{BAA26718-2382-40B7-A674-0E79C3273157}"/>
                  </a:ext>
                </a:extLst>
              </p:cNvPr>
              <p:cNvSpPr/>
              <p:nvPr/>
            </p:nvSpPr>
            <p:spPr>
              <a:xfrm>
                <a:off x="3942078" y="906179"/>
                <a:ext cx="1672468" cy="625416"/>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a:extLst>
                  <a:ext uri="{FF2B5EF4-FFF2-40B4-BE49-F238E27FC236}">
                    <a16:creationId xmlns:a16="http://schemas.microsoft.com/office/drawing/2014/main" id="{D75E39FA-BEFC-407E-B2F8-8E8674874E8B}"/>
                  </a:ext>
                </a:extLst>
              </p:cNvPr>
              <p:cNvSpPr/>
              <p:nvPr/>
            </p:nvSpPr>
            <p:spPr>
              <a:xfrm>
                <a:off x="6314474" y="906179"/>
                <a:ext cx="1672468" cy="62541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矩形 40">
                <a:extLst>
                  <a:ext uri="{FF2B5EF4-FFF2-40B4-BE49-F238E27FC236}">
                    <a16:creationId xmlns:a16="http://schemas.microsoft.com/office/drawing/2014/main" id="{2996F3C0-EB6E-4F45-8964-670635C03E92}"/>
                  </a:ext>
                </a:extLst>
              </p:cNvPr>
              <p:cNvSpPr/>
              <p:nvPr/>
            </p:nvSpPr>
            <p:spPr>
              <a:xfrm>
                <a:off x="3262187" y="2958135"/>
                <a:ext cx="780124" cy="625416"/>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2A77A242-C728-44A4-8312-53BCDC0133D7}"/>
                  </a:ext>
                </a:extLst>
              </p:cNvPr>
              <p:cNvSpPr/>
              <p:nvPr/>
            </p:nvSpPr>
            <p:spPr>
              <a:xfrm>
                <a:off x="5071589" y="2958135"/>
                <a:ext cx="780124" cy="625416"/>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422E7E7A-78C0-4CCC-9631-54E374FD811A}"/>
                  </a:ext>
                </a:extLst>
              </p:cNvPr>
              <p:cNvSpPr/>
              <p:nvPr/>
            </p:nvSpPr>
            <p:spPr>
              <a:xfrm>
                <a:off x="6561988" y="3462537"/>
                <a:ext cx="2023782" cy="1107676"/>
              </a:xfrm>
              <a:prstGeom prst="rect">
                <a:avLst/>
              </a:prstGeom>
            </p:spPr>
            <p:txBody>
              <a:bodyPr wrap="square">
                <a:spAutoFit/>
              </a:bodyPr>
              <a:lstStyle/>
              <a:p>
                <a:pPr>
                  <a:lnSpc>
                    <a:spcPct val="150000"/>
                  </a:lnSpc>
                </a:pPr>
                <a14:m>
                  <m:oMath xmlns:m="http://schemas.openxmlformats.org/officeDocument/2006/math">
                    <m:sSub>
                      <m:sSubPr>
                        <m:ctrlPr>
                          <a:rPr lang="el-GR" altLang="zh-TW" sz="900" i="1" smtClean="0">
                            <a:latin typeface="Cambria Math" panose="02040503050406030204" pitchFamily="18" charset="0"/>
                            <a:ea typeface="Cambria Math" panose="02040503050406030204" pitchFamily="18" charset="0"/>
                          </a:rPr>
                        </m:ctrlPr>
                      </m:sSubPr>
                      <m:e>
                        <m:r>
                          <a:rPr lang="zh-TW" altLang="el-GR" sz="900" i="1">
                            <a:latin typeface="Cambria Math" panose="02040503050406030204" pitchFamily="18" charset="0"/>
                            <a:ea typeface="Cambria Math" panose="02040503050406030204" pitchFamily="18" charset="0"/>
                          </a:rPr>
                          <m:t>𝜏</m:t>
                        </m:r>
                      </m:e>
                      <m:sub>
                        <m:r>
                          <a:rPr lang="en-US" altLang="zh-TW" sz="900" i="1">
                            <a:latin typeface="Cambria Math" panose="02040503050406030204" pitchFamily="18" charset="0"/>
                            <a:ea typeface="Cambria Math" panose="02040503050406030204" pitchFamily="18" charset="0"/>
                          </a:rPr>
                          <m:t>0</m:t>
                        </m:r>
                      </m:sub>
                    </m:sSub>
                  </m:oMath>
                </a14:m>
                <a:r>
                  <a:rPr lang="zh-TW" altLang="en-US" sz="900" dirty="0">
                    <a:latin typeface="Montserrat" panose="02020500000000000000" charset="0"/>
                    <a:cs typeface="Times New Roman" pitchFamily="18" charset="0"/>
                  </a:rPr>
                  <a:t>：</a:t>
                </a:r>
                <a:r>
                  <a:rPr lang="en-US" altLang="zh-TW" sz="900" dirty="0">
                    <a:latin typeface="Montserrat" panose="02020500000000000000" charset="0"/>
                    <a:cs typeface="Times New Roman" pitchFamily="18" charset="0"/>
                  </a:rPr>
                  <a:t>time constant</a:t>
                </a:r>
              </a:p>
              <a:p>
                <a:pPr>
                  <a:lnSpc>
                    <a:spcPct val="150000"/>
                  </a:lnSpc>
                </a:pPr>
                <a14:m>
                  <m:oMath xmlns:m="http://schemas.openxmlformats.org/officeDocument/2006/math">
                    <m:r>
                      <m:rPr>
                        <m:sty m:val="p"/>
                      </m:rPr>
                      <a:rPr lang="el-GR" altLang="zh-TW" sz="900" i="1">
                        <a:latin typeface="Cambria Math" panose="02040503050406030204" pitchFamily="18" charset="0"/>
                        <a:ea typeface="Cambria Math" panose="02040503050406030204" pitchFamily="18" charset="0"/>
                      </a:rPr>
                      <m:t>Φ</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frequency function</a:t>
                </a:r>
              </a:p>
              <a:p>
                <a:pPr>
                  <a:lnSpc>
                    <a:spcPct val="150000"/>
                  </a:lnSpc>
                </a:pPr>
                <a14:m>
                  <m:oMath xmlns:m="http://schemas.openxmlformats.org/officeDocument/2006/math">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𝑛</m:t>
                        </m:r>
                      </m:e>
                      <m:sub>
                        <m:r>
                          <a:rPr lang="en-US" altLang="zh-TW" sz="900" i="1">
                            <a:latin typeface="Cambria Math" panose="02040503050406030204" pitchFamily="18" charset="0"/>
                          </a:rPr>
                          <m:t>𝑠</m:t>
                        </m:r>
                      </m:sub>
                    </m:sSub>
                    <m:r>
                      <a:rPr lang="en-US" altLang="zh-TW" sz="900" b="0" i="1" smtClean="0">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panose="02040503050406030204" pitchFamily="18" charset="0"/>
                          </a:rPr>
                          <m:t>𝑛</m:t>
                        </m:r>
                      </m:e>
                      <m:sub>
                        <m:r>
                          <a:rPr lang="en-US" altLang="zh-TW" sz="900" i="1">
                            <a:latin typeface="Cambria Math" panose="02040503050406030204" pitchFamily="18" charset="0"/>
                          </a:rPr>
                          <m:t>𝑖</m:t>
                        </m:r>
                      </m:sub>
                    </m:sSub>
                    <m:r>
                      <a:rPr lang="zh-TW" altLang="en-US" sz="900" i="1" smtClean="0">
                        <a:latin typeface="Cambria Math" panose="02040503050406030204" pitchFamily="18" charset="0"/>
                      </a:rPr>
                      <m:t>：</m:t>
                    </m:r>
                  </m:oMath>
                </a14:m>
                <a:r>
                  <a:rPr lang="en-US" altLang="zh-TW" sz="900" dirty="0">
                    <a:latin typeface="Montserrat" panose="02020500000000000000" charset="0"/>
                    <a:cs typeface="Times New Roman" pitchFamily="18" charset="0"/>
                  </a:rPr>
                  <a:t>Refractive index</a:t>
                </a:r>
              </a:p>
              <a:p>
                <a:pPr>
                  <a:lnSpc>
                    <a:spcPct val="150000"/>
                  </a:lnSpc>
                </a:pPr>
                <a14:m>
                  <m:oMath xmlns:m="http://schemas.openxmlformats.org/officeDocument/2006/math">
                    <m:r>
                      <m:rPr>
                        <m:sty m:val="p"/>
                      </m:rPr>
                      <a:rPr lang="el-GR" altLang="zh-TW" sz="900" i="1">
                        <a:latin typeface="Cambria Math" panose="02040503050406030204" pitchFamily="18" charset="0"/>
                        <a:ea typeface="Cambria Math" panose="02040503050406030204" pitchFamily="18" charset="0"/>
                      </a:rPr>
                      <m:t>Ω</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Frequency difference</a:t>
                </a:r>
              </a:p>
              <a:p>
                <a:pPr>
                  <a:lnSpc>
                    <a:spcPct val="150000"/>
                  </a:lnSpc>
                </a:pPr>
                <a14:m>
                  <m:oMath xmlns:m="http://schemas.openxmlformats.org/officeDocument/2006/math">
                    <m:r>
                      <a:rPr lang="zh-TW" altLang="en-US" sz="900">
                        <a:latin typeface="Cambria Math" panose="02040503050406030204" pitchFamily="18" charset="0"/>
                      </a:rPr>
                      <m:t>∆</m:t>
                    </m:r>
                    <m:r>
                      <a:rPr lang="zh-TW" altLang="en-US" sz="900" i="1">
                        <a:latin typeface="Cambria Math" panose="02040503050406030204" pitchFamily="18" charset="0"/>
                      </a:rPr>
                      <m:t>𝑘</m:t>
                    </m:r>
                    <m:r>
                      <a:rPr lang="zh-TW" altLang="en-US" sz="900" i="1">
                        <a:latin typeface="Cambria Math" panose="02040503050406030204" pitchFamily="18" charset="0"/>
                      </a:rPr>
                      <m:t>：</m:t>
                    </m:r>
                  </m:oMath>
                </a14:m>
                <a:r>
                  <a:rPr lang="en-US" altLang="zh-TW" sz="900" dirty="0">
                    <a:latin typeface="Montserrat" panose="02020500000000000000" charset="0"/>
                    <a:cs typeface="Times New Roman" pitchFamily="18" charset="0"/>
                  </a:rPr>
                  <a:t>phase matching condition</a:t>
                </a:r>
              </a:p>
            </p:txBody>
          </p:sp>
        </mc:Choice>
        <mc:Fallback xmlns="">
          <p:sp>
            <p:nvSpPr>
              <p:cNvPr id="45" name="矩形 44">
                <a:extLst>
                  <a:ext uri="{FF2B5EF4-FFF2-40B4-BE49-F238E27FC236}">
                    <a16:creationId xmlns:a16="http://schemas.microsoft.com/office/drawing/2014/main" id="{422E7E7A-78C0-4CCC-9631-54E374FD811A}"/>
                  </a:ext>
                </a:extLst>
              </p:cNvPr>
              <p:cNvSpPr>
                <a:spLocks noRot="1" noChangeAspect="1" noMove="1" noResize="1" noEditPoints="1" noAdjustHandles="1" noChangeArrowheads="1" noChangeShapeType="1" noTextEdit="1"/>
              </p:cNvSpPr>
              <p:nvPr/>
            </p:nvSpPr>
            <p:spPr>
              <a:xfrm>
                <a:off x="6561988" y="3462537"/>
                <a:ext cx="2023782" cy="1107676"/>
              </a:xfrm>
              <a:prstGeom prst="rect">
                <a:avLst/>
              </a:prstGeom>
              <a:blipFill>
                <a:blip r:embed="rId12"/>
                <a:stretch>
                  <a:fillRect b="-16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8A0C9E2F-A71C-4E52-89D5-C8D8F4545ED3}"/>
                  </a:ext>
                </a:extLst>
              </p:cNvPr>
              <p:cNvSpPr/>
              <p:nvPr/>
            </p:nvSpPr>
            <p:spPr>
              <a:xfrm>
                <a:off x="1067372" y="3929400"/>
                <a:ext cx="2129237" cy="230832"/>
              </a:xfrm>
              <a:prstGeom prst="rect">
                <a:avLst/>
              </a:prstGeom>
            </p:spPr>
            <p:txBody>
              <a:bodyPr wrap="none">
                <a:spAutoFit/>
              </a:bodyPr>
              <a:lstStyle/>
              <a:p>
                <a:r>
                  <a:rPr lang="en-US" altLang="zh-TW" sz="900" dirty="0">
                    <a:latin typeface="Montserrat" panose="02020500000000000000" charset="0"/>
                  </a:rPr>
                  <a:t>If </a:t>
                </a:r>
                <a14:m>
                  <m:oMath xmlns:m="http://schemas.openxmlformats.org/officeDocument/2006/math">
                    <m:sSub>
                      <m:sSubPr>
                        <m:ctrlPr>
                          <a:rPr lang="en-US" altLang="zh-TW" sz="900" i="1">
                            <a:latin typeface="Cambria Math" panose="02040503050406030204" pitchFamily="18" charset="0"/>
                          </a:rPr>
                        </m:ctrlPr>
                      </m:sSubPr>
                      <m:e>
                        <m:r>
                          <a:rPr lang="zh-TW" altLang="en-US" sz="900" b="0" i="1">
                            <a:latin typeface="Cambria Math" panose="02040503050406030204" pitchFamily="18" charset="0"/>
                          </a:rPr>
                          <m:t>𝜔</m:t>
                        </m:r>
                      </m:e>
                      <m:sub>
                        <m:r>
                          <a:rPr lang="en-US" altLang="zh-TW" sz="900" b="0" i="1">
                            <a:latin typeface="Cambria Math" panose="02040503050406030204" pitchFamily="18" charset="0"/>
                          </a:rPr>
                          <m:t>𝑠</m:t>
                        </m:r>
                      </m:sub>
                    </m:sSub>
                  </m:oMath>
                </a14:m>
                <a:r>
                  <a:rPr lang="en-US" altLang="zh-TW" sz="900" dirty="0">
                    <a:latin typeface="Montserrat" panose="02020500000000000000" charset="0"/>
                  </a:rPr>
                  <a:t>=</a:t>
                </a:r>
                <a:r>
                  <a:rPr lang="en-US" altLang="zh-TW" sz="900" dirty="0"/>
                  <a:t> </a:t>
                </a:r>
                <a14:m>
                  <m:oMath xmlns:m="http://schemas.openxmlformats.org/officeDocument/2006/math">
                    <m:sSub>
                      <m:sSubPr>
                        <m:ctrlPr>
                          <a:rPr lang="en-US" altLang="zh-TW" sz="900" i="1">
                            <a:latin typeface="Cambria Math" panose="02040503050406030204" pitchFamily="18" charset="0"/>
                          </a:rPr>
                        </m:ctrlPr>
                      </m:sSubPr>
                      <m:e>
                        <m:r>
                          <a:rPr lang="zh-TW" altLang="en-US" sz="900" b="0" i="1">
                            <a:latin typeface="Cambria Math" panose="02040503050406030204" pitchFamily="18" charset="0"/>
                          </a:rPr>
                          <m:t>𝜔</m:t>
                        </m:r>
                      </m:e>
                      <m:sub>
                        <m:r>
                          <a:rPr lang="en-US" altLang="zh-TW" sz="900" b="0" i="1">
                            <a:latin typeface="Cambria Math" panose="02040503050406030204" pitchFamily="18" charset="0"/>
                          </a:rPr>
                          <m:t>𝑖</m:t>
                        </m:r>
                      </m:sub>
                    </m:sSub>
                  </m:oMath>
                </a14:m>
                <a:r>
                  <a:rPr lang="en-US" altLang="zh-TW" sz="900" dirty="0">
                    <a:latin typeface="Montserrat" panose="02020500000000000000" charset="0"/>
                  </a:rPr>
                  <a:t>, first order approximation</a:t>
                </a:r>
              </a:p>
            </p:txBody>
          </p:sp>
        </mc:Choice>
        <mc:Fallback xmlns="">
          <p:sp>
            <p:nvSpPr>
              <p:cNvPr id="46" name="矩形 45">
                <a:extLst>
                  <a:ext uri="{FF2B5EF4-FFF2-40B4-BE49-F238E27FC236}">
                    <a16:creationId xmlns:a16="http://schemas.microsoft.com/office/drawing/2014/main" id="{8A0C9E2F-A71C-4E52-89D5-C8D8F4545ED3}"/>
                  </a:ext>
                </a:extLst>
              </p:cNvPr>
              <p:cNvSpPr>
                <a:spLocks noRot="1" noChangeAspect="1" noMove="1" noResize="1" noEditPoints="1" noAdjustHandles="1" noChangeArrowheads="1" noChangeShapeType="1" noTextEdit="1"/>
              </p:cNvSpPr>
              <p:nvPr/>
            </p:nvSpPr>
            <p:spPr>
              <a:xfrm>
                <a:off x="1067372" y="3929400"/>
                <a:ext cx="2129237" cy="230832"/>
              </a:xfrm>
              <a:prstGeom prst="rect">
                <a:avLst/>
              </a:prstGeom>
              <a:blipFill>
                <a:blip r:embed="rId13"/>
                <a:stretch>
                  <a:fillRect b="-13514"/>
                </a:stretch>
              </a:blipFill>
            </p:spPr>
            <p:txBody>
              <a:bodyPr/>
              <a:lstStyle/>
              <a:p>
                <a:r>
                  <a:rPr lang="zh-TW" altLang="en-US">
                    <a:noFill/>
                  </a:rPr>
                  <a:t> </a:t>
                </a:r>
              </a:p>
            </p:txBody>
          </p:sp>
        </mc:Fallback>
      </mc:AlternateContent>
      <p:sp>
        <p:nvSpPr>
          <p:cNvPr id="47" name="矩形 46">
            <a:extLst>
              <a:ext uri="{FF2B5EF4-FFF2-40B4-BE49-F238E27FC236}">
                <a16:creationId xmlns:a16="http://schemas.microsoft.com/office/drawing/2014/main" id="{D7E5DE25-1227-43BF-AB47-0FA0831E152C}"/>
              </a:ext>
            </a:extLst>
          </p:cNvPr>
          <p:cNvSpPr/>
          <p:nvPr/>
        </p:nvSpPr>
        <p:spPr>
          <a:xfrm>
            <a:off x="3728908" y="1405589"/>
            <a:ext cx="2957861" cy="230832"/>
          </a:xfrm>
          <a:prstGeom prst="rect">
            <a:avLst/>
          </a:prstGeom>
        </p:spPr>
        <p:txBody>
          <a:bodyPr wrap="none">
            <a:spAutoFit/>
          </a:bodyPr>
          <a:lstStyle/>
          <a:p>
            <a:r>
              <a:rPr lang="en-US" altLang="zh-TW" sz="900" dirty="0">
                <a:latin typeface="Montserrat" panose="02020500000000000000" charset="0"/>
              </a:rPr>
              <a:t>Taylor expansion second order, the first order=0 </a:t>
            </a:r>
            <a:endParaRPr lang="zh-TW" altLang="en-US" sz="900" dirty="0">
              <a:latin typeface="Montserrat" panose="02020500000000000000" charset="0"/>
            </a:endParaRPr>
          </a:p>
        </p:txBody>
      </p:sp>
      <p:sp>
        <p:nvSpPr>
          <p:cNvPr id="48" name="文字方塊 47">
            <a:extLst>
              <a:ext uri="{FF2B5EF4-FFF2-40B4-BE49-F238E27FC236}">
                <a16:creationId xmlns:a16="http://schemas.microsoft.com/office/drawing/2014/main" id="{995B0952-FBEB-42F1-8C58-3DC1A2CD63E3}"/>
              </a:ext>
            </a:extLst>
          </p:cNvPr>
          <p:cNvSpPr txBox="1"/>
          <p:nvPr/>
        </p:nvSpPr>
        <p:spPr>
          <a:xfrm>
            <a:off x="7557283" y="4804946"/>
            <a:ext cx="1204176" cy="338554"/>
          </a:xfrm>
          <a:prstGeom prst="rect">
            <a:avLst/>
          </a:prstGeom>
          <a:noFill/>
        </p:spPr>
        <p:txBody>
          <a:bodyPr wrap="none" rtlCol="0">
            <a:spAutoFit/>
          </a:bodyPr>
          <a:lstStyle/>
          <a:p>
            <a:r>
              <a:rPr lang="en-US" altLang="zh-TW" sz="800" dirty="0">
                <a:solidFill>
                  <a:schemeClr val="tx1"/>
                </a:solidFill>
                <a:latin typeface="Montserrat" panose="02020500000000000000" charset="0"/>
              </a:rPr>
              <a:t>(Ming et al.)</a:t>
            </a:r>
          </a:p>
          <a:p>
            <a:r>
              <a:rPr lang="en-US" altLang="zh-TW" sz="800" dirty="0">
                <a:solidFill>
                  <a:schemeClr val="tx1"/>
                </a:solidFill>
                <a:latin typeface="Montserrat" panose="02020500000000000000" charset="0"/>
              </a:rPr>
              <a:t>(Herzog et al., 2008)</a:t>
            </a:r>
          </a:p>
        </p:txBody>
      </p:sp>
    </p:spTree>
    <p:extLst>
      <p:ext uri="{BB962C8B-B14F-4D97-AF65-F5344CB8AC3E}">
        <p14:creationId xmlns:p14="http://schemas.microsoft.com/office/powerpoint/2010/main" val="38086328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42AF0E7E-C1EC-4B77-8ED4-B2DBA80E7B2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50428" y="1378614"/>
            <a:ext cx="2761998" cy="2007900"/>
          </a:xfrm>
          <a:prstGeom prst="rect">
            <a:avLst/>
          </a:prstGeom>
        </p:spPr>
      </p:pic>
      <p:sp>
        <p:nvSpPr>
          <p:cNvPr id="10" name="Google Shape;212;p36">
            <a:extLst>
              <a:ext uri="{FF2B5EF4-FFF2-40B4-BE49-F238E27FC236}">
                <a16:creationId xmlns:a16="http://schemas.microsoft.com/office/drawing/2014/main" id="{BF5D7FCE-1A1A-459D-9E2E-551E33366518}"/>
              </a:ext>
            </a:extLst>
          </p:cNvPr>
          <p:cNvSpPr txBox="1">
            <a:spLocks noGrp="1"/>
          </p:cNvSpPr>
          <p:nvPr>
            <p:ph type="title"/>
          </p:nvPr>
        </p:nvSpPr>
        <p:spPr>
          <a:xfrm>
            <a:off x="1886250" y="301738"/>
            <a:ext cx="5371500" cy="478200"/>
          </a:xfrm>
          <a:prstGeom prst="rect">
            <a:avLst/>
          </a:prstGeom>
        </p:spPr>
        <p:txBody>
          <a:bodyPr spcFirstLastPara="1" wrap="square" lIns="91425" tIns="91425" rIns="91425" bIns="91425" anchor="ctr" anchorCtr="0">
            <a:noAutofit/>
          </a:bodyPr>
          <a:lstStyle/>
          <a:p>
            <a:pPr lvl="0"/>
            <a:r>
              <a:rPr lang="en-US" altLang="zh-TW" sz="2000" dirty="0">
                <a:latin typeface="Montserrat" panose="02020500000000000000" charset="0"/>
              </a:rPr>
              <a:t>Appendix</a:t>
            </a:r>
            <a:r>
              <a:rPr lang="zh-TW" altLang="en-US" sz="2000" dirty="0">
                <a:latin typeface="Montserrat" panose="02020500000000000000" charset="0"/>
              </a:rPr>
              <a:t> </a:t>
            </a:r>
            <a:r>
              <a:rPr lang="en-US" altLang="zh-TW" sz="2000" dirty="0">
                <a:latin typeface="Montserrat" panose="02020500000000000000" charset="0"/>
              </a:rPr>
              <a:t>B</a:t>
            </a:r>
          </a:p>
        </p:txBody>
      </p:sp>
      <p:sp>
        <p:nvSpPr>
          <p:cNvPr id="12" name="文字方塊 11">
            <a:extLst>
              <a:ext uri="{FF2B5EF4-FFF2-40B4-BE49-F238E27FC236}">
                <a16:creationId xmlns:a16="http://schemas.microsoft.com/office/drawing/2014/main" id="{BD10BB28-B9D5-40E5-9C19-0414185A90DA}"/>
              </a:ext>
            </a:extLst>
          </p:cNvPr>
          <p:cNvSpPr txBox="1"/>
          <p:nvPr/>
        </p:nvSpPr>
        <p:spPr>
          <a:xfrm>
            <a:off x="8585770" y="4631694"/>
            <a:ext cx="325730" cy="261610"/>
          </a:xfrm>
          <a:prstGeom prst="rect">
            <a:avLst/>
          </a:prstGeom>
          <a:noFill/>
        </p:spPr>
        <p:txBody>
          <a:bodyPr wrap="none" rtlCol="0">
            <a:spAutoFit/>
          </a:bodyPr>
          <a:lstStyle/>
          <a:p>
            <a:r>
              <a:rPr lang="en-US" altLang="zh-TW" sz="1100" dirty="0">
                <a:latin typeface="Montserrat" panose="02020500000000000000" charset="0"/>
              </a:rPr>
              <a:t>81</a:t>
            </a:r>
            <a:endParaRPr lang="zh-TW" altLang="en-US" sz="1100" dirty="0">
              <a:latin typeface="Montserrat" panose="02020500000000000000" charset="0"/>
            </a:endParaRPr>
          </a:p>
        </p:txBody>
      </p:sp>
      <p:sp>
        <p:nvSpPr>
          <p:cNvPr id="13" name="文字方塊 12">
            <a:extLst>
              <a:ext uri="{FF2B5EF4-FFF2-40B4-BE49-F238E27FC236}">
                <a16:creationId xmlns:a16="http://schemas.microsoft.com/office/drawing/2014/main" id="{D52F0EA7-CF7C-4FE0-B468-E720B42D1575}"/>
              </a:ext>
            </a:extLst>
          </p:cNvPr>
          <p:cNvSpPr txBox="1"/>
          <p:nvPr/>
        </p:nvSpPr>
        <p:spPr>
          <a:xfrm>
            <a:off x="1450428" y="956165"/>
            <a:ext cx="1903085" cy="246221"/>
          </a:xfrm>
          <a:prstGeom prst="rect">
            <a:avLst/>
          </a:prstGeom>
          <a:noFill/>
        </p:spPr>
        <p:txBody>
          <a:bodyPr wrap="none" rtlCol="0">
            <a:spAutoFit/>
          </a:bodyPr>
          <a:lstStyle/>
          <a:p>
            <a:r>
              <a:rPr lang="en-US" altLang="zh-TW" sz="1000" b="1" dirty="0">
                <a:latin typeface="Montserrat" panose="02020500000000000000" charset="0"/>
              </a:rPr>
              <a:t>EO-PMC electrode design</a:t>
            </a:r>
            <a:endParaRPr lang="zh-TW" altLang="en-US" sz="1000" b="1" dirty="0">
              <a:latin typeface="Montserrat" panose="02020500000000000000" charset="0"/>
            </a:endParaRPr>
          </a:p>
        </p:txBody>
      </p:sp>
      <p:sp>
        <p:nvSpPr>
          <p:cNvPr id="14" name="文字方塊 13">
            <a:extLst>
              <a:ext uri="{FF2B5EF4-FFF2-40B4-BE49-F238E27FC236}">
                <a16:creationId xmlns:a16="http://schemas.microsoft.com/office/drawing/2014/main" id="{529351C5-47AD-4028-B69A-8F3FD7088D69}"/>
              </a:ext>
            </a:extLst>
          </p:cNvPr>
          <p:cNvSpPr txBox="1"/>
          <p:nvPr/>
        </p:nvSpPr>
        <p:spPr>
          <a:xfrm>
            <a:off x="1450428" y="3562742"/>
            <a:ext cx="2125903" cy="989117"/>
          </a:xfrm>
          <a:prstGeom prst="rect">
            <a:avLst/>
          </a:prstGeom>
          <a:noFill/>
        </p:spPr>
        <p:txBody>
          <a:bodyPr wrap="none" rtlCol="0">
            <a:spAutoFit/>
          </a:bodyPr>
          <a:lstStyle/>
          <a:p>
            <a:pPr>
              <a:lnSpc>
                <a:spcPct val="150000"/>
              </a:lnSpc>
            </a:pPr>
            <a:r>
              <a:rPr lang="en-US" altLang="zh-TW" sz="1000" dirty="0">
                <a:latin typeface="Montserrat" panose="02020500000000000000" charset="0"/>
              </a:rPr>
              <a:t>Electrode gap: 14um</a:t>
            </a:r>
          </a:p>
          <a:p>
            <a:pPr>
              <a:lnSpc>
                <a:spcPct val="150000"/>
              </a:lnSpc>
            </a:pPr>
            <a:r>
              <a:rPr lang="en-US" altLang="zh-TW" sz="1000" dirty="0">
                <a:latin typeface="Montserrat" panose="02020500000000000000" charset="0"/>
              </a:rPr>
              <a:t>Coating material: SiO</a:t>
            </a:r>
            <a:r>
              <a:rPr lang="en-US" altLang="zh-TW" sz="1000" baseline="-25000" dirty="0">
                <a:latin typeface="Montserrat" panose="02020500000000000000" charset="0"/>
              </a:rPr>
              <a:t>2</a:t>
            </a:r>
            <a:r>
              <a:rPr lang="en-US" altLang="zh-TW" sz="1000" dirty="0">
                <a:latin typeface="Montserrat" panose="02020500000000000000" charset="0"/>
              </a:rPr>
              <a:t>, Ni, Au</a:t>
            </a:r>
          </a:p>
          <a:p>
            <a:pPr>
              <a:lnSpc>
                <a:spcPct val="150000"/>
              </a:lnSpc>
            </a:pPr>
            <a:r>
              <a:rPr lang="en-US" altLang="zh-TW" sz="1000" dirty="0">
                <a:latin typeface="Montserrat" panose="02020500000000000000" charset="0"/>
              </a:rPr>
              <a:t>Simulate of voltage = </a:t>
            </a:r>
            <a:r>
              <a:rPr lang="en-US" altLang="zh-TW" sz="1000" b="1" dirty="0">
                <a:latin typeface="Montserrat" panose="02020500000000000000" charset="0"/>
              </a:rPr>
              <a:t>30V</a:t>
            </a:r>
          </a:p>
          <a:p>
            <a:pPr>
              <a:lnSpc>
                <a:spcPct val="150000"/>
              </a:lnSpc>
            </a:pPr>
            <a:r>
              <a:rPr lang="en-US" altLang="zh-TW" sz="1000" dirty="0">
                <a:latin typeface="Montserrat" panose="02020500000000000000" charset="0"/>
              </a:rPr>
              <a:t>(Electric field </a:t>
            </a:r>
            <a:r>
              <a:rPr lang="en-US" altLang="zh-TW" sz="1000" dirty="0">
                <a:latin typeface="Arial" panose="020B0604020202020204" pitchFamily="34" charset="0"/>
                <a:cs typeface="Arial" panose="020B0604020202020204" pitchFamily="34" charset="0"/>
              </a:rPr>
              <a:t>≈</a:t>
            </a:r>
            <a:r>
              <a:rPr lang="en-US" altLang="zh-TW" sz="1000" dirty="0">
                <a:latin typeface="Montserrat" panose="02020500000000000000" charset="0"/>
              </a:rPr>
              <a:t> </a:t>
            </a:r>
            <a:r>
              <a:rPr lang="en-US" altLang="zh-TW" sz="1000" b="1" dirty="0">
                <a:latin typeface="Montserrat" panose="02020500000000000000" charset="0"/>
              </a:rPr>
              <a:t>2142.86</a:t>
            </a:r>
            <a:r>
              <a:rPr lang="zh-TW" altLang="en-US" sz="1000" b="1" dirty="0">
                <a:latin typeface="Montserrat" panose="02020500000000000000" charset="0"/>
              </a:rPr>
              <a:t> </a:t>
            </a:r>
            <a:r>
              <a:rPr lang="en-US" altLang="zh-TW" sz="1000" b="1" dirty="0">
                <a:latin typeface="Montserrat" panose="02020500000000000000" charset="0"/>
              </a:rPr>
              <a:t>kV/m</a:t>
            </a:r>
            <a:r>
              <a:rPr lang="en-US" altLang="zh-TW" sz="1000" dirty="0">
                <a:latin typeface="Montserrat" panose="02020500000000000000" charset="0"/>
              </a:rPr>
              <a:t>)</a:t>
            </a:r>
            <a:endParaRPr lang="zh-TW" altLang="en-US" sz="1000" dirty="0">
              <a:latin typeface="Montserrat" panose="02020500000000000000" charset="0"/>
            </a:endParaRPr>
          </a:p>
        </p:txBody>
      </p:sp>
      <p:sp>
        <p:nvSpPr>
          <p:cNvPr id="15" name="文字方塊 14">
            <a:extLst>
              <a:ext uri="{FF2B5EF4-FFF2-40B4-BE49-F238E27FC236}">
                <a16:creationId xmlns:a16="http://schemas.microsoft.com/office/drawing/2014/main" id="{6F0A41D0-21E3-4682-BB48-DE68623CCA0B}"/>
              </a:ext>
            </a:extLst>
          </p:cNvPr>
          <p:cNvSpPr txBox="1"/>
          <p:nvPr/>
        </p:nvSpPr>
        <p:spPr>
          <a:xfrm>
            <a:off x="5240167" y="2945606"/>
            <a:ext cx="1843774" cy="246221"/>
          </a:xfrm>
          <a:prstGeom prst="rect">
            <a:avLst/>
          </a:prstGeom>
          <a:noFill/>
        </p:spPr>
        <p:txBody>
          <a:bodyPr wrap="none" rtlCol="0">
            <a:spAutoFit/>
          </a:bodyPr>
          <a:lstStyle/>
          <a:p>
            <a:r>
              <a:rPr lang="en-US" altLang="zh-TW" sz="1000" b="1" dirty="0">
                <a:latin typeface="Montserrat" panose="02020500000000000000" charset="0"/>
              </a:rPr>
              <a:t>Electric field distribution</a:t>
            </a:r>
            <a:endParaRPr lang="zh-TW" altLang="en-US" sz="1000" b="1" dirty="0">
              <a:latin typeface="Montserrat" panose="02020500000000000000" charset="0"/>
            </a:endParaRPr>
          </a:p>
        </p:txBody>
      </p:sp>
      <p:grpSp>
        <p:nvGrpSpPr>
          <p:cNvPr id="21" name="群組 20">
            <a:extLst>
              <a:ext uri="{FF2B5EF4-FFF2-40B4-BE49-F238E27FC236}">
                <a16:creationId xmlns:a16="http://schemas.microsoft.com/office/drawing/2014/main" id="{BBBFEFE5-2A15-45F9-B3F8-B724D11BE978}"/>
              </a:ext>
            </a:extLst>
          </p:cNvPr>
          <p:cNvGrpSpPr/>
          <p:nvPr/>
        </p:nvGrpSpPr>
        <p:grpSpPr>
          <a:xfrm>
            <a:off x="5240167" y="1340064"/>
            <a:ext cx="2349060" cy="1519405"/>
            <a:chOff x="5240167" y="1455419"/>
            <a:chExt cx="2349060" cy="1519405"/>
          </a:xfrm>
        </p:grpSpPr>
        <p:pic>
          <p:nvPicPr>
            <p:cNvPr id="9" name="圖片 8">
              <a:extLst>
                <a:ext uri="{FF2B5EF4-FFF2-40B4-BE49-F238E27FC236}">
                  <a16:creationId xmlns:a16="http://schemas.microsoft.com/office/drawing/2014/main" id="{EC61D31A-8381-400D-86CA-AA35A0BFB7FE}"/>
                </a:ext>
              </a:extLst>
            </p:cNvPr>
            <p:cNvPicPr>
              <a:picLocks noChangeAspect="1"/>
            </p:cNvPicPr>
            <p:nvPr/>
          </p:nvPicPr>
          <p:blipFill rotWithShape="1">
            <a:blip r:embed="rId4">
              <a:clrChange>
                <a:clrFrom>
                  <a:srgbClr val="FFFFFF"/>
                </a:clrFrom>
                <a:clrTo>
                  <a:srgbClr val="FFFFFF">
                    <a:alpha val="0"/>
                  </a:srgbClr>
                </a:clrTo>
              </a:clrChange>
            </a:blip>
            <a:srcRect t="16175" r="5787"/>
            <a:stretch/>
          </p:blipFill>
          <p:spPr>
            <a:xfrm>
              <a:off x="5240167" y="1455419"/>
              <a:ext cx="2349060" cy="1519405"/>
            </a:xfrm>
            <a:prstGeom prst="rect">
              <a:avLst/>
            </a:prstGeom>
          </p:spPr>
        </p:pic>
        <p:sp>
          <p:nvSpPr>
            <p:cNvPr id="16" name="局部圓 15">
              <a:extLst>
                <a:ext uri="{FF2B5EF4-FFF2-40B4-BE49-F238E27FC236}">
                  <a16:creationId xmlns:a16="http://schemas.microsoft.com/office/drawing/2014/main" id="{784C4466-FD0D-495E-8250-D4F7CCA24A90}"/>
                </a:ext>
              </a:extLst>
            </p:cNvPr>
            <p:cNvSpPr/>
            <p:nvPr/>
          </p:nvSpPr>
          <p:spPr>
            <a:xfrm rot="16200000">
              <a:off x="6155295" y="1859760"/>
              <a:ext cx="233329" cy="189479"/>
            </a:xfrm>
            <a:prstGeom prst="pie">
              <a:avLst>
                <a:gd name="adj1" fmla="val 5399984"/>
                <a:gd name="adj2" fmla="val 16200000"/>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grpSp>
        <p:nvGrpSpPr>
          <p:cNvPr id="19" name="群組 18">
            <a:extLst>
              <a:ext uri="{FF2B5EF4-FFF2-40B4-BE49-F238E27FC236}">
                <a16:creationId xmlns:a16="http://schemas.microsoft.com/office/drawing/2014/main" id="{03203533-1183-4A3E-8BA9-883A6E07A6F0}"/>
              </a:ext>
            </a:extLst>
          </p:cNvPr>
          <p:cNvGrpSpPr/>
          <p:nvPr/>
        </p:nvGrpSpPr>
        <p:grpSpPr>
          <a:xfrm>
            <a:off x="5240167" y="3214150"/>
            <a:ext cx="2120087" cy="1627612"/>
            <a:chOff x="5285887" y="3134887"/>
            <a:chExt cx="2120087" cy="1627612"/>
          </a:xfrm>
        </p:grpSpPr>
        <p:pic>
          <p:nvPicPr>
            <p:cNvPr id="7" name="圖片 6">
              <a:extLst>
                <a:ext uri="{FF2B5EF4-FFF2-40B4-BE49-F238E27FC236}">
                  <a16:creationId xmlns:a16="http://schemas.microsoft.com/office/drawing/2014/main" id="{F11900ED-F3CC-4D3E-951D-BEF7024ADEA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285887" y="3134887"/>
              <a:ext cx="2120087" cy="1627612"/>
            </a:xfrm>
            <a:prstGeom prst="rect">
              <a:avLst/>
            </a:prstGeom>
          </p:spPr>
        </p:pic>
        <p:sp>
          <p:nvSpPr>
            <p:cNvPr id="17" name="局部圓 16">
              <a:extLst>
                <a:ext uri="{FF2B5EF4-FFF2-40B4-BE49-F238E27FC236}">
                  <a16:creationId xmlns:a16="http://schemas.microsoft.com/office/drawing/2014/main" id="{349740DD-98B0-4482-B6D8-8C172018BDB8}"/>
                </a:ext>
              </a:extLst>
            </p:cNvPr>
            <p:cNvSpPr/>
            <p:nvPr/>
          </p:nvSpPr>
          <p:spPr>
            <a:xfrm rot="16200000">
              <a:off x="6134526" y="3565617"/>
              <a:ext cx="233329" cy="189479"/>
            </a:xfrm>
            <a:prstGeom prst="pie">
              <a:avLst>
                <a:gd name="adj1" fmla="val 5399984"/>
                <a:gd name="adj2" fmla="val 16200000"/>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
        <p:nvSpPr>
          <p:cNvPr id="20" name="文字方塊 19">
            <a:extLst>
              <a:ext uri="{FF2B5EF4-FFF2-40B4-BE49-F238E27FC236}">
                <a16:creationId xmlns:a16="http://schemas.microsoft.com/office/drawing/2014/main" id="{529FA3AC-9CF4-422B-81AA-8468E79B82A4}"/>
              </a:ext>
            </a:extLst>
          </p:cNvPr>
          <p:cNvSpPr txBox="1"/>
          <p:nvPr/>
        </p:nvSpPr>
        <p:spPr>
          <a:xfrm>
            <a:off x="5240167" y="956164"/>
            <a:ext cx="1625766" cy="246221"/>
          </a:xfrm>
          <a:prstGeom prst="rect">
            <a:avLst/>
          </a:prstGeom>
          <a:noFill/>
        </p:spPr>
        <p:txBody>
          <a:bodyPr wrap="none" rtlCol="0">
            <a:spAutoFit/>
          </a:bodyPr>
          <a:lstStyle/>
          <a:p>
            <a:r>
              <a:rPr lang="en-US" altLang="zh-TW" sz="1000" b="1" dirty="0">
                <a:latin typeface="Montserrat" panose="02020500000000000000" charset="0"/>
              </a:rPr>
              <a:t>Electric potential 56V</a:t>
            </a:r>
            <a:endParaRPr lang="zh-TW" altLang="en-US" sz="1000" b="1" dirty="0">
              <a:latin typeface="Montserrat" panose="02020500000000000000" charset="0"/>
            </a:endParaRPr>
          </a:p>
        </p:txBody>
      </p:sp>
      <p:grpSp>
        <p:nvGrpSpPr>
          <p:cNvPr id="24" name="群組 23">
            <a:extLst>
              <a:ext uri="{FF2B5EF4-FFF2-40B4-BE49-F238E27FC236}">
                <a16:creationId xmlns:a16="http://schemas.microsoft.com/office/drawing/2014/main" id="{F5984D8F-D4DC-4292-819A-940963C959D6}"/>
              </a:ext>
            </a:extLst>
          </p:cNvPr>
          <p:cNvGrpSpPr/>
          <p:nvPr/>
        </p:nvGrpSpPr>
        <p:grpSpPr>
          <a:xfrm>
            <a:off x="6989201" y="546609"/>
            <a:ext cx="1555559" cy="278567"/>
            <a:chOff x="6989201" y="546609"/>
            <a:chExt cx="1555559" cy="278567"/>
          </a:xfrm>
        </p:grpSpPr>
        <p:sp>
          <p:nvSpPr>
            <p:cNvPr id="22" name="局部圓 21">
              <a:extLst>
                <a:ext uri="{FF2B5EF4-FFF2-40B4-BE49-F238E27FC236}">
                  <a16:creationId xmlns:a16="http://schemas.microsoft.com/office/drawing/2014/main" id="{003DF362-CB3B-4FEE-82D4-CA78A40CF681}"/>
                </a:ext>
              </a:extLst>
            </p:cNvPr>
            <p:cNvSpPr/>
            <p:nvPr/>
          </p:nvSpPr>
          <p:spPr>
            <a:xfrm rot="16200000">
              <a:off x="6967276" y="568534"/>
              <a:ext cx="233329" cy="189479"/>
            </a:xfrm>
            <a:prstGeom prst="pie">
              <a:avLst>
                <a:gd name="adj1" fmla="val 5399984"/>
                <a:gd name="adj2" fmla="val 16200000"/>
              </a:avLst>
            </a:prstGeom>
            <a:solidFill>
              <a:schemeClr val="bg1"/>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3" name="文字方塊 22">
              <a:extLst>
                <a:ext uri="{FF2B5EF4-FFF2-40B4-BE49-F238E27FC236}">
                  <a16:creationId xmlns:a16="http://schemas.microsoft.com/office/drawing/2014/main" id="{9D30FF98-EEA5-4D83-87B4-3E8CB72C88C1}"/>
                </a:ext>
              </a:extLst>
            </p:cNvPr>
            <p:cNvSpPr txBox="1"/>
            <p:nvPr/>
          </p:nvSpPr>
          <p:spPr>
            <a:xfrm>
              <a:off x="7178680" y="548882"/>
              <a:ext cx="1366080" cy="276294"/>
            </a:xfrm>
            <a:prstGeom prst="rect">
              <a:avLst/>
            </a:prstGeom>
            <a:noFill/>
          </p:spPr>
          <p:txBody>
            <a:bodyPr wrap="none" rtlCol="0">
              <a:spAutoFit/>
            </a:bodyPr>
            <a:lstStyle/>
            <a:p>
              <a:pPr>
                <a:lnSpc>
                  <a:spcPct val="150000"/>
                </a:lnSpc>
              </a:pPr>
              <a:r>
                <a:rPr lang="zh-TW" altLang="en-US" sz="900" dirty="0">
                  <a:latin typeface="Montserrat" panose="02020500000000000000" charset="0"/>
                </a:rPr>
                <a:t>：</a:t>
              </a:r>
              <a:r>
                <a:rPr lang="en-US" altLang="zh-TW" sz="900" dirty="0">
                  <a:latin typeface="Montserrat" panose="02020500000000000000" charset="0"/>
                </a:rPr>
                <a:t>Waveguide region</a:t>
              </a:r>
            </a:p>
          </p:txBody>
        </p:sp>
      </p:grpSp>
    </p:spTree>
    <p:extLst>
      <p:ext uri="{BB962C8B-B14F-4D97-AF65-F5344CB8AC3E}">
        <p14:creationId xmlns:p14="http://schemas.microsoft.com/office/powerpoint/2010/main" val="2274768026"/>
      </p:ext>
    </p:extLst>
  </p:cSld>
  <p:clrMapOvr>
    <a:masterClrMapping/>
  </p:clrMapOvr>
</p:sld>
</file>

<file path=ppt/theme/theme1.xml><?xml version="1.0" encoding="utf-8"?>
<a:theme xmlns:a="http://schemas.openxmlformats.org/drawingml/2006/main" name="Travel Guide: Barcelona by Slidesgo">
  <a:themeElements>
    <a:clrScheme name="Simple Light">
      <a:dk1>
        <a:srgbClr val="000000"/>
      </a:dk1>
      <a:lt1>
        <a:srgbClr val="F5F0E3"/>
      </a:lt1>
      <a:dk2>
        <a:srgbClr val="F8C765"/>
      </a:dk2>
      <a:lt2>
        <a:srgbClr val="E34A2B"/>
      </a:lt2>
      <a:accent1>
        <a:srgbClr val="275A53"/>
      </a:accent1>
      <a:accent2>
        <a:srgbClr val="85B9CC"/>
      </a:accent2>
      <a:accent3>
        <a:srgbClr val="000000"/>
      </a:accent3>
      <a:accent4>
        <a:srgbClr val="FFFFFF"/>
      </a:accent4>
      <a:accent5>
        <a:srgbClr val="000000"/>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5383</TotalTime>
  <Words>9147</Words>
  <Application>Microsoft Office PowerPoint</Application>
  <PresentationFormat>如螢幕大小 (16:9)</PresentationFormat>
  <Paragraphs>1161</Paragraphs>
  <Slides>81</Slides>
  <Notes>81</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81</vt:i4>
      </vt:variant>
    </vt:vector>
  </HeadingPairs>
  <TitlesOfParts>
    <vt:vector size="93" baseType="lpstr">
      <vt:lpstr>Times New Roman</vt:lpstr>
      <vt:lpstr>標楷體</vt:lpstr>
      <vt:lpstr>Merriweather</vt:lpstr>
      <vt:lpstr>Cambria Math</vt:lpstr>
      <vt:lpstr>Cambria</vt:lpstr>
      <vt:lpstr>Arial</vt:lpstr>
      <vt:lpstr>Poppins</vt:lpstr>
      <vt:lpstr>Arial</vt:lpstr>
      <vt:lpstr>Open Sans</vt:lpstr>
      <vt:lpstr>Montserrat</vt:lpstr>
      <vt:lpstr>Oswald</vt:lpstr>
      <vt:lpstr>Travel Guide: Barcelona by Slidesgo</vt:lpstr>
      <vt:lpstr>積體非週期晶疇極化反轉鈮酸鋰波導晶片作為電光調制自發參量下轉換偏振相依光子對之研究</vt:lpstr>
      <vt:lpstr>Outline</vt:lpstr>
      <vt:lpstr>Introduction</vt:lpstr>
      <vt:lpstr>Applications</vt:lpstr>
      <vt:lpstr>Applications</vt:lpstr>
      <vt:lpstr>Applications</vt:lpstr>
      <vt:lpstr>Previous work</vt:lpstr>
      <vt:lpstr>Objective</vt:lpstr>
      <vt:lpstr>Motivation</vt:lpstr>
      <vt:lpstr>Motivation</vt:lpstr>
      <vt:lpstr>Objective</vt:lpstr>
      <vt:lpstr>Objective</vt:lpstr>
      <vt:lpstr>Objective</vt:lpstr>
      <vt:lpstr>Objective</vt:lpstr>
      <vt:lpstr>Objective</vt:lpstr>
      <vt:lpstr>Objective</vt:lpstr>
      <vt:lpstr>Objective</vt:lpstr>
      <vt:lpstr>Objective</vt:lpstr>
      <vt:lpstr>Objective</vt:lpstr>
      <vt:lpstr>Working principles</vt:lpstr>
      <vt:lpstr>Working principles</vt:lpstr>
      <vt:lpstr>SHG/SPDC</vt:lpstr>
      <vt:lpstr>Quasi-phase-matching(QPM)</vt:lpstr>
      <vt:lpstr>Working principles</vt:lpstr>
      <vt:lpstr>PowerPoint 簡報</vt:lpstr>
      <vt:lpstr>PowerPoint 簡報</vt:lpstr>
      <vt:lpstr>PowerPoint 簡報</vt:lpstr>
      <vt:lpstr>Working principles</vt:lpstr>
      <vt:lpstr>Hong–Ou–Mandel effect</vt:lpstr>
      <vt:lpstr>HOM dip</vt:lpstr>
      <vt:lpstr>Working principles</vt:lpstr>
      <vt:lpstr>Spectrum of SPDC with EO-PMC</vt:lpstr>
      <vt:lpstr>Spectrum of SPDC with EO-PMC</vt:lpstr>
      <vt:lpstr>Simulation</vt:lpstr>
      <vt:lpstr>Algorithm comparison</vt:lpstr>
      <vt:lpstr>Genetic algorithm</vt:lpstr>
      <vt:lpstr>Genetic algorithm</vt:lpstr>
      <vt:lpstr>Genetic algorithm</vt:lpstr>
      <vt:lpstr>Genetic algorithm</vt:lpstr>
      <vt:lpstr>Simulation result</vt:lpstr>
      <vt:lpstr>Simulation result</vt:lpstr>
      <vt:lpstr>Device fabrication</vt:lpstr>
      <vt:lpstr>Fabrication process</vt:lpstr>
      <vt:lpstr>Fabrication of Ti-diffused waveguide</vt:lpstr>
      <vt:lpstr>Fabrication of Ti-diffused waveguide</vt:lpstr>
      <vt:lpstr>Fabrication of poling</vt:lpstr>
      <vt:lpstr>Fabrication of poling</vt:lpstr>
      <vt:lpstr>Fabrication of electrode</vt:lpstr>
      <vt:lpstr>Fabrication of electrode</vt:lpstr>
      <vt:lpstr>Results and discussions</vt:lpstr>
      <vt:lpstr>Results and discussions</vt:lpstr>
      <vt:lpstr>Experimental setup for SHG measurement</vt:lpstr>
      <vt:lpstr>Experimental setup for SHG measurement</vt:lpstr>
      <vt:lpstr>Tuning curves of SHG</vt:lpstr>
      <vt:lpstr>Tuning curves of SHG</vt:lpstr>
      <vt:lpstr>Results and discussions</vt:lpstr>
      <vt:lpstr>PowerPoint 簡報</vt:lpstr>
      <vt:lpstr>PowerPoint 簡報</vt:lpstr>
      <vt:lpstr>EO-PMC measurement result</vt:lpstr>
      <vt:lpstr>EO-PMC measurement result</vt:lpstr>
      <vt:lpstr>Combined SHG with EO-PMC</vt:lpstr>
      <vt:lpstr>Results and discussions</vt:lpstr>
      <vt:lpstr>Setup for spectrum of SPDC measurement</vt:lpstr>
      <vt:lpstr>Spectrum of SPDC</vt:lpstr>
      <vt:lpstr>Spectrum of SPDC</vt:lpstr>
      <vt:lpstr>Results and discussions</vt:lpstr>
      <vt:lpstr>Setup for Hong-Ou-Mandel interference</vt:lpstr>
      <vt:lpstr>Setup for Hong-Ou-Mandel interference</vt:lpstr>
      <vt:lpstr>Hong-Ou-Mandel interference</vt:lpstr>
      <vt:lpstr>Results and discussions</vt:lpstr>
      <vt:lpstr>Coincidence counts measurement with EO-PMC</vt:lpstr>
      <vt:lpstr>Coincidence counts measurement with EO-PMC</vt:lpstr>
      <vt:lpstr>Coincidence counts measurement with EO-PMC</vt:lpstr>
      <vt:lpstr>Spectrum of SPDC measurement with EO-PMC</vt:lpstr>
      <vt:lpstr>Conclusion and future work</vt:lpstr>
      <vt:lpstr>Conclusion</vt:lpstr>
      <vt:lpstr>Future work</vt:lpstr>
      <vt:lpstr>Future work</vt:lpstr>
      <vt:lpstr>PowerPoint 簡報</vt:lpstr>
      <vt:lpstr>PowerPoint 簡報</vt:lpstr>
      <vt:lpstr>Appendix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積體非週期晶疇極化反轉鈮酸鋰波導晶片作為電光調制自發參量下轉換偏振相依光子對之研究</dc:title>
  <cp:lastModifiedBy>志睿 張</cp:lastModifiedBy>
  <cp:revision>315</cp:revision>
  <dcterms:modified xsi:type="dcterms:W3CDTF">2022-11-17T03:12:19Z</dcterms:modified>
</cp:coreProperties>
</file>