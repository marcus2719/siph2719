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Lst>
  <p:sldSz cy="13716000" cx="24377650"/>
  <p:notesSz cx="6858000" cy="9144000"/>
  <p:embeddedFontLst>
    <p:embeddedFont>
      <p:font typeface="Montserrat"/>
      <p:regular r:id="rId73"/>
      <p:bold r:id="rId74"/>
      <p:italic r:id="rId75"/>
      <p:boldItalic r:id="rId76"/>
    </p:embeddedFont>
    <p:embeddedFont>
      <p:font typeface="Tahoma"/>
      <p:regular r:id="rId77"/>
      <p:bold r:id="rId78"/>
    </p:embeddedFont>
    <p:embeddedFont>
      <p:font typeface="Montserrat Thin"/>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14230">
          <p15:clr>
            <a:srgbClr val="A4A3A4"/>
          </p15:clr>
        </p15:guide>
        <p15:guide id="3" pos="1126">
          <p15:clr>
            <a:srgbClr val="A4A3A4"/>
          </p15:clr>
        </p15:guide>
        <p15:guide id="4" pos="7678">
          <p15:clr>
            <a:srgbClr val="A4A3A4"/>
          </p15:clr>
        </p15:guide>
      </p15:sldGuideLst>
    </p:ext>
    <p:ext uri="http://customooxmlschemas.google.com/">
      <go:slidesCustomData xmlns:go="http://customooxmlschemas.google.com/" r:id="rId83" roundtripDataSignature="AMtx7mjdHfXziD++tYx8CmHPkw5HwQOL0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D5A7AE6-9B3A-4105-8E20-78A74F81C108}">
  <a:tblStyle styleId="{2D5A7AE6-9B3A-4105-8E20-78A74F81C108}" styleName="Table_0">
    <a:wholeTbl>
      <a:tcTxStyle b="off" i="off">
        <a:font>
          <a:latin typeface="Tahoma"/>
          <a:ea typeface="Tahoma"/>
          <a:cs typeface="Tahoma"/>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14230"/>
        <p:guide pos="1126"/>
        <p:guide pos="767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3" Type="http://customschemas.google.com/relationships/presentationmetadata" Target="meta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MontserratThin-bold.fntdata"/><Relationship Id="rId82" Type="http://schemas.openxmlformats.org/officeDocument/2006/relationships/font" Target="fonts/MontserratThin-boldItalic.fntdata"/><Relationship Id="rId81" Type="http://schemas.openxmlformats.org/officeDocument/2006/relationships/font" Target="fonts/MontserratThin-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Montserrat-regular.fntdata"/><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Montserrat-italic.fntdata"/><Relationship Id="rId30" Type="http://schemas.openxmlformats.org/officeDocument/2006/relationships/slide" Target="slides/slide24.xml"/><Relationship Id="rId74" Type="http://schemas.openxmlformats.org/officeDocument/2006/relationships/font" Target="fonts/Montserrat-bold.fntdata"/><Relationship Id="rId33" Type="http://schemas.openxmlformats.org/officeDocument/2006/relationships/slide" Target="slides/slide27.xml"/><Relationship Id="rId77" Type="http://schemas.openxmlformats.org/officeDocument/2006/relationships/font" Target="fonts/Tahoma-regular.fntdata"/><Relationship Id="rId32" Type="http://schemas.openxmlformats.org/officeDocument/2006/relationships/slide" Target="slides/slide26.xml"/><Relationship Id="rId76" Type="http://schemas.openxmlformats.org/officeDocument/2006/relationships/font" Target="fonts/Montserrat-boldItalic.fntdata"/><Relationship Id="rId35" Type="http://schemas.openxmlformats.org/officeDocument/2006/relationships/slide" Target="slides/slide29.xml"/><Relationship Id="rId79" Type="http://schemas.openxmlformats.org/officeDocument/2006/relationships/font" Target="fonts/MontserratThin-regular.fntdata"/><Relationship Id="rId34" Type="http://schemas.openxmlformats.org/officeDocument/2006/relationships/slide" Target="slides/slide28.xml"/><Relationship Id="rId78" Type="http://schemas.openxmlformats.org/officeDocument/2006/relationships/font" Target="fonts/Tahoma-bold.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1pPr>
            <a:lvl2pPr lvl="1"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1pPr>
            <a:lvl2pPr lvl="1"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2400" u="none" cap="none" strike="noStrike">
                <a:solidFill>
                  <a:schemeClr val="dk1"/>
                </a:solidFill>
                <a:latin typeface="Montserrat"/>
                <a:ea typeface="Montserrat"/>
                <a:cs typeface="Montserrat"/>
                <a:sym typeface="Montserrat"/>
              </a:defRPr>
            </a:lvl1pPr>
            <a:lvl2pPr indent="-228600" lvl="1" marL="914400" marR="0" rtl="0" algn="l">
              <a:spcBef>
                <a:spcPts val="0"/>
              </a:spcBef>
              <a:spcAft>
                <a:spcPts val="0"/>
              </a:spcAft>
              <a:buSzPts val="1400"/>
              <a:buNone/>
              <a:defRPr b="0" i="0" sz="2400" u="none" cap="none" strike="noStrike">
                <a:solidFill>
                  <a:schemeClr val="dk1"/>
                </a:solidFill>
                <a:latin typeface="Montserrat"/>
                <a:ea typeface="Montserrat"/>
                <a:cs typeface="Montserrat"/>
                <a:sym typeface="Montserrat"/>
              </a:defRPr>
            </a:lvl2pPr>
            <a:lvl3pPr indent="-228600" lvl="2" marL="1371600" marR="0" rtl="0" algn="l">
              <a:spcBef>
                <a:spcPts val="0"/>
              </a:spcBef>
              <a:spcAft>
                <a:spcPts val="0"/>
              </a:spcAft>
              <a:buSzPts val="1400"/>
              <a:buNone/>
              <a:defRPr b="0" i="0" sz="2400" u="none" cap="none" strike="noStrike">
                <a:solidFill>
                  <a:schemeClr val="dk1"/>
                </a:solidFill>
                <a:latin typeface="Montserrat"/>
                <a:ea typeface="Montserrat"/>
                <a:cs typeface="Montserrat"/>
                <a:sym typeface="Montserrat"/>
              </a:defRPr>
            </a:lvl3pPr>
            <a:lvl4pPr indent="-228600" lvl="3" marL="1828800" marR="0" rtl="0" algn="l">
              <a:spcBef>
                <a:spcPts val="0"/>
              </a:spcBef>
              <a:spcAft>
                <a:spcPts val="0"/>
              </a:spcAft>
              <a:buSzPts val="1400"/>
              <a:buNone/>
              <a:defRPr b="0" i="0" sz="2400" u="none" cap="none" strike="noStrike">
                <a:solidFill>
                  <a:schemeClr val="dk1"/>
                </a:solidFill>
                <a:latin typeface="Montserrat"/>
                <a:ea typeface="Montserrat"/>
                <a:cs typeface="Montserrat"/>
                <a:sym typeface="Montserrat"/>
              </a:defRPr>
            </a:lvl4pPr>
            <a:lvl5pPr indent="-228600" lvl="4" marL="2286000" marR="0" rtl="0" algn="l">
              <a:spcBef>
                <a:spcPts val="0"/>
              </a:spcBef>
              <a:spcAft>
                <a:spcPts val="0"/>
              </a:spcAft>
              <a:buSzPts val="1400"/>
              <a:buNone/>
              <a:defRPr b="0" i="0" sz="2400" u="none" cap="none" strike="noStrike">
                <a:solidFill>
                  <a:schemeClr val="dk1"/>
                </a:solidFill>
                <a:latin typeface="Montserrat"/>
                <a:ea typeface="Montserrat"/>
                <a:cs typeface="Montserrat"/>
                <a:sym typeface="Montserrat"/>
              </a:defRPr>
            </a:lvl5pPr>
            <a:lvl6pPr indent="-228600" lvl="5" marL="27432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1pPr>
            <a:lvl2pPr lvl="1"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Montserrat"/>
                <a:ea typeface="Montserrat"/>
                <a:cs typeface="Montserrat"/>
                <a:sym typeface="Montserrat"/>
              </a:rPr>
              <a:t>‹#›</a:t>
            </a:fld>
            <a:endParaRPr b="0" i="0" sz="1200" u="none" cap="none" strike="noStrike">
              <a:solidFill>
                <a:schemeClr val="dk1"/>
              </a:solidFill>
              <a:latin typeface="Montserrat"/>
              <a:ea typeface="Montserrat"/>
              <a:cs typeface="Montserrat"/>
              <a:sym typeface="Montserrat"/>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9" name="Google Shape;24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a:solidFill>
                  <a:schemeClr val="dk1"/>
                </a:solidFill>
                <a:latin typeface="Montserrat"/>
                <a:ea typeface="Montserrat"/>
                <a:cs typeface="Montserrat"/>
                <a:sym typeface="Montserrat"/>
              </a:rPr>
              <a:t>‹#›</a:t>
            </a:fld>
            <a:endParaRPr b="0" i="0" sz="1200">
              <a:solidFill>
                <a:schemeClr val="dk1"/>
              </a:solidFill>
              <a:latin typeface="Montserrat"/>
              <a:ea typeface="Montserrat"/>
              <a:cs typeface="Montserrat"/>
              <a:sym typeface="Montserra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38" name="Google Shape;63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a:solidFill>
                  <a:schemeClr val="dk1"/>
                </a:solidFill>
                <a:latin typeface="Montserrat"/>
                <a:ea typeface="Montserrat"/>
                <a:cs typeface="Montserrat"/>
                <a:sym typeface="Montserrat"/>
              </a:rPr>
              <a:t>‹#›</a:t>
            </a:fld>
            <a:endParaRPr b="0" i="0" sz="1200">
              <a:solidFill>
                <a:schemeClr val="dk1"/>
              </a:solidFill>
              <a:latin typeface="Montserrat"/>
              <a:ea typeface="Montserrat"/>
              <a:cs typeface="Montserrat"/>
              <a:sym typeface="Montserra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1" name="Google Shape;73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6" name="Google Shape;79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4" name="Google Shape;824;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 name="Google Shape;89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8" name="Google Shape;91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5" name="Google Shape;95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9" name="Google Shape;97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5" name="Google Shape;100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43" name="Google Shape;104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4" name="Google Shape;1044;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a:solidFill>
                  <a:schemeClr val="dk1"/>
                </a:solidFill>
                <a:latin typeface="Montserrat"/>
                <a:ea typeface="Montserrat"/>
                <a:cs typeface="Montserrat"/>
                <a:sym typeface="Montserrat"/>
              </a:rPr>
              <a:t>‹#›</a:t>
            </a:fld>
            <a:endParaRPr b="0" i="0" sz="1200">
              <a:solidFill>
                <a:schemeClr val="dk1"/>
              </a:solidFill>
              <a:latin typeface="Montserrat"/>
              <a:ea typeface="Montserrat"/>
              <a:cs typeface="Montserrat"/>
              <a:sym typeface="Montserrat"/>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4" name="Google Shape;105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6" name="Google Shape;111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8" name="Google Shape;117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5" name="Google Shape;1205;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2" name="Google Shape;1232;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8" name="Google Shape;125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1" name="Google Shape;128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8" name="Google Shape;1308;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2" name="Google Shape;1382;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6" name="Google Shape;145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8" name="Google Shape;1478;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0" name="Google Shape;150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7" name="Google Shape;152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50" name="Google Shape;1550;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1" name="Google Shape;1551;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a:solidFill>
                  <a:schemeClr val="dk1"/>
                </a:solidFill>
                <a:latin typeface="Montserrat"/>
                <a:ea typeface="Montserrat"/>
                <a:cs typeface="Montserrat"/>
                <a:sym typeface="Montserrat"/>
              </a:rPr>
              <a:t>‹#›</a:t>
            </a:fld>
            <a:endParaRPr b="0" i="0" sz="1200">
              <a:solidFill>
                <a:schemeClr val="dk1"/>
              </a:solidFill>
              <a:latin typeface="Montserrat"/>
              <a:ea typeface="Montserrat"/>
              <a:cs typeface="Montserrat"/>
              <a:sym typeface="Montserrat"/>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1" name="Google Shape;1561;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2" name="Google Shape;1662;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9" name="Shape 1729"/>
        <p:cNvGrpSpPr/>
        <p:nvPr/>
      </p:nvGrpSpPr>
      <p:grpSpPr>
        <a:xfrm>
          <a:off x="0" y="0"/>
          <a:ext cx="0" cy="0"/>
          <a:chOff x="0" y="0"/>
          <a:chExt cx="0" cy="0"/>
        </a:xfrm>
      </p:grpSpPr>
      <p:sp>
        <p:nvSpPr>
          <p:cNvPr id="1730" name="Google Shape;1730;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1" name="Google Shape;1731;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6" name="Google Shape;1886;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08" name="Google Shape;1908;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9" name="Google Shape;1909;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a:solidFill>
                  <a:schemeClr val="dk1"/>
                </a:solidFill>
                <a:latin typeface="Montserrat"/>
                <a:ea typeface="Montserrat"/>
                <a:cs typeface="Montserrat"/>
                <a:sym typeface="Montserrat"/>
              </a:rPr>
              <a:t>‹#›</a:t>
            </a:fld>
            <a:endParaRPr b="0" i="0" sz="1200">
              <a:solidFill>
                <a:schemeClr val="dk1"/>
              </a:solidFill>
              <a:latin typeface="Montserrat"/>
              <a:ea typeface="Montserrat"/>
              <a:cs typeface="Montserrat"/>
              <a:sym typeface="Montserrat"/>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7" name="Shape 1917"/>
        <p:cNvGrpSpPr/>
        <p:nvPr/>
      </p:nvGrpSpPr>
      <p:grpSpPr>
        <a:xfrm>
          <a:off x="0" y="0"/>
          <a:ext cx="0" cy="0"/>
          <a:chOff x="0" y="0"/>
          <a:chExt cx="0" cy="0"/>
        </a:xfrm>
      </p:grpSpPr>
      <p:sp>
        <p:nvSpPr>
          <p:cNvPr id="1918" name="Google Shape;1918;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9" name="Google Shape;1919;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2" name="Shape 1992"/>
        <p:cNvGrpSpPr/>
        <p:nvPr/>
      </p:nvGrpSpPr>
      <p:grpSpPr>
        <a:xfrm>
          <a:off x="0" y="0"/>
          <a:ext cx="0" cy="0"/>
          <a:chOff x="0" y="0"/>
          <a:chExt cx="0" cy="0"/>
        </a:xfrm>
      </p:grpSpPr>
      <p:sp>
        <p:nvSpPr>
          <p:cNvPr id="1993" name="Google Shape;1993;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4" name="Google Shape;1994;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9" name="Shape 2009"/>
        <p:cNvGrpSpPr/>
        <p:nvPr/>
      </p:nvGrpSpPr>
      <p:grpSpPr>
        <a:xfrm>
          <a:off x="0" y="0"/>
          <a:ext cx="0" cy="0"/>
          <a:chOff x="0" y="0"/>
          <a:chExt cx="0" cy="0"/>
        </a:xfrm>
      </p:grpSpPr>
      <p:sp>
        <p:nvSpPr>
          <p:cNvPr id="2010" name="Google Shape;2010;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1" name="Google Shape;2011;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4" name="Shape 2034"/>
        <p:cNvGrpSpPr/>
        <p:nvPr/>
      </p:nvGrpSpPr>
      <p:grpSpPr>
        <a:xfrm>
          <a:off x="0" y="0"/>
          <a:ext cx="0" cy="0"/>
          <a:chOff x="0" y="0"/>
          <a:chExt cx="0" cy="0"/>
        </a:xfrm>
      </p:grpSpPr>
      <p:sp>
        <p:nvSpPr>
          <p:cNvPr id="2035" name="Google Shape;2035;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6" name="Google Shape;2036;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1" name="Shape 2051"/>
        <p:cNvGrpSpPr/>
        <p:nvPr/>
      </p:nvGrpSpPr>
      <p:grpSpPr>
        <a:xfrm>
          <a:off x="0" y="0"/>
          <a:ext cx="0" cy="0"/>
          <a:chOff x="0" y="0"/>
          <a:chExt cx="0" cy="0"/>
        </a:xfrm>
      </p:grpSpPr>
      <p:sp>
        <p:nvSpPr>
          <p:cNvPr id="2052" name="Google Shape;2052;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3" name="Google Shape;2053;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9" name="Shape 2129"/>
        <p:cNvGrpSpPr/>
        <p:nvPr/>
      </p:nvGrpSpPr>
      <p:grpSpPr>
        <a:xfrm>
          <a:off x="0" y="0"/>
          <a:ext cx="0" cy="0"/>
          <a:chOff x="0" y="0"/>
          <a:chExt cx="0" cy="0"/>
        </a:xfrm>
      </p:grpSpPr>
      <p:sp>
        <p:nvSpPr>
          <p:cNvPr id="2130" name="Google Shape;2130;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1" name="Google Shape;2131;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9" name="Google Shape;2149;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5" name="Shape 2165"/>
        <p:cNvGrpSpPr/>
        <p:nvPr/>
      </p:nvGrpSpPr>
      <p:grpSpPr>
        <a:xfrm>
          <a:off x="0" y="0"/>
          <a:ext cx="0" cy="0"/>
          <a:chOff x="0" y="0"/>
          <a:chExt cx="0" cy="0"/>
        </a:xfrm>
      </p:grpSpPr>
      <p:sp>
        <p:nvSpPr>
          <p:cNvPr id="2166" name="Google Shape;2166;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7" name="Google Shape;2167;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2" name="Shape 2182"/>
        <p:cNvGrpSpPr/>
        <p:nvPr/>
      </p:nvGrpSpPr>
      <p:grpSpPr>
        <a:xfrm>
          <a:off x="0" y="0"/>
          <a:ext cx="0" cy="0"/>
          <a:chOff x="0" y="0"/>
          <a:chExt cx="0" cy="0"/>
        </a:xfrm>
      </p:grpSpPr>
      <p:sp>
        <p:nvSpPr>
          <p:cNvPr id="2183" name="Google Shape;2183;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4" name="Google Shape;2184;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6" name="Shape 2276"/>
        <p:cNvGrpSpPr/>
        <p:nvPr/>
      </p:nvGrpSpPr>
      <p:grpSpPr>
        <a:xfrm>
          <a:off x="0" y="0"/>
          <a:ext cx="0" cy="0"/>
          <a:chOff x="0" y="0"/>
          <a:chExt cx="0" cy="0"/>
        </a:xfrm>
      </p:grpSpPr>
      <p:sp>
        <p:nvSpPr>
          <p:cNvPr id="2277" name="Google Shape;2277;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8" name="Google Shape;2278;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2" name="Shape 2292"/>
        <p:cNvGrpSpPr/>
        <p:nvPr/>
      </p:nvGrpSpPr>
      <p:grpSpPr>
        <a:xfrm>
          <a:off x="0" y="0"/>
          <a:ext cx="0" cy="0"/>
          <a:chOff x="0" y="0"/>
          <a:chExt cx="0" cy="0"/>
        </a:xfrm>
      </p:grpSpPr>
      <p:sp>
        <p:nvSpPr>
          <p:cNvPr id="2293" name="Google Shape;2293;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4" name="Google Shape;2294;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5" name="Shape 2325"/>
        <p:cNvGrpSpPr/>
        <p:nvPr/>
      </p:nvGrpSpPr>
      <p:grpSpPr>
        <a:xfrm>
          <a:off x="0" y="0"/>
          <a:ext cx="0" cy="0"/>
          <a:chOff x="0" y="0"/>
          <a:chExt cx="0" cy="0"/>
        </a:xfrm>
      </p:grpSpPr>
      <p:sp>
        <p:nvSpPr>
          <p:cNvPr id="2326" name="Google Shape;2326;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7" name="Google Shape;2327;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1" name="Shape 2441"/>
        <p:cNvGrpSpPr/>
        <p:nvPr/>
      </p:nvGrpSpPr>
      <p:grpSpPr>
        <a:xfrm>
          <a:off x="0" y="0"/>
          <a:ext cx="0" cy="0"/>
          <a:chOff x="0" y="0"/>
          <a:chExt cx="0" cy="0"/>
        </a:xfrm>
      </p:grpSpPr>
      <p:sp>
        <p:nvSpPr>
          <p:cNvPr id="2442" name="Google Shape;2442;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3" name="Google Shape;2443;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0" name="Shape 2470"/>
        <p:cNvGrpSpPr/>
        <p:nvPr/>
      </p:nvGrpSpPr>
      <p:grpSpPr>
        <a:xfrm>
          <a:off x="0" y="0"/>
          <a:ext cx="0" cy="0"/>
          <a:chOff x="0" y="0"/>
          <a:chExt cx="0" cy="0"/>
        </a:xfrm>
      </p:grpSpPr>
      <p:sp>
        <p:nvSpPr>
          <p:cNvPr id="2471" name="Google Shape;2471;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2" name="Google Shape;2472;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4" name="Shape 2494"/>
        <p:cNvGrpSpPr/>
        <p:nvPr/>
      </p:nvGrpSpPr>
      <p:grpSpPr>
        <a:xfrm>
          <a:off x="0" y="0"/>
          <a:ext cx="0" cy="0"/>
          <a:chOff x="0" y="0"/>
          <a:chExt cx="0" cy="0"/>
        </a:xfrm>
      </p:grpSpPr>
      <p:sp>
        <p:nvSpPr>
          <p:cNvPr id="2495" name="Google Shape;2495;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6" name="Google Shape;2496;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3" name="Shape 2523"/>
        <p:cNvGrpSpPr/>
        <p:nvPr/>
      </p:nvGrpSpPr>
      <p:grpSpPr>
        <a:xfrm>
          <a:off x="0" y="0"/>
          <a:ext cx="0" cy="0"/>
          <a:chOff x="0" y="0"/>
          <a:chExt cx="0" cy="0"/>
        </a:xfrm>
      </p:grpSpPr>
      <p:sp>
        <p:nvSpPr>
          <p:cNvPr id="2524" name="Google Shape;2524;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5" name="Google Shape;2525;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7" name="Shape 2547"/>
        <p:cNvGrpSpPr/>
        <p:nvPr/>
      </p:nvGrpSpPr>
      <p:grpSpPr>
        <a:xfrm>
          <a:off x="0" y="0"/>
          <a:ext cx="0" cy="0"/>
          <a:chOff x="0" y="0"/>
          <a:chExt cx="0" cy="0"/>
        </a:xfrm>
      </p:grpSpPr>
      <p:sp>
        <p:nvSpPr>
          <p:cNvPr id="2548" name="Google Shape;2548;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49" name="Google Shape;2549;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0" name="Google Shape;2550;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a:solidFill>
                  <a:schemeClr val="dk1"/>
                </a:solidFill>
                <a:latin typeface="Montserrat"/>
                <a:ea typeface="Montserrat"/>
                <a:cs typeface="Montserrat"/>
                <a:sym typeface="Montserrat"/>
              </a:rPr>
              <a:t>‹#›</a:t>
            </a:fld>
            <a:endParaRPr b="0" i="0" sz="1200">
              <a:solidFill>
                <a:schemeClr val="dk1"/>
              </a:solidFill>
              <a:latin typeface="Montserrat"/>
              <a:ea typeface="Montserrat"/>
              <a:cs typeface="Montserrat"/>
              <a:sym typeface="Montserrat"/>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8" name="Shape 2558"/>
        <p:cNvGrpSpPr/>
        <p:nvPr/>
      </p:nvGrpSpPr>
      <p:grpSpPr>
        <a:xfrm>
          <a:off x="0" y="0"/>
          <a:ext cx="0" cy="0"/>
          <a:chOff x="0" y="0"/>
          <a:chExt cx="0" cy="0"/>
        </a:xfrm>
      </p:grpSpPr>
      <p:sp>
        <p:nvSpPr>
          <p:cNvPr id="2559" name="Google Shape;2559;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0" name="Google Shape;2560;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5" name="Shape 2575"/>
        <p:cNvGrpSpPr/>
        <p:nvPr/>
      </p:nvGrpSpPr>
      <p:grpSpPr>
        <a:xfrm>
          <a:off x="0" y="0"/>
          <a:ext cx="0" cy="0"/>
          <a:chOff x="0" y="0"/>
          <a:chExt cx="0" cy="0"/>
        </a:xfrm>
      </p:grpSpPr>
      <p:sp>
        <p:nvSpPr>
          <p:cNvPr id="2576" name="Google Shape;2576;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7" name="Google Shape;2577;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1" name="Shape 2641"/>
        <p:cNvGrpSpPr/>
        <p:nvPr/>
      </p:nvGrpSpPr>
      <p:grpSpPr>
        <a:xfrm>
          <a:off x="0" y="0"/>
          <a:ext cx="0" cy="0"/>
          <a:chOff x="0" y="0"/>
          <a:chExt cx="0" cy="0"/>
        </a:xfrm>
      </p:grpSpPr>
      <p:sp>
        <p:nvSpPr>
          <p:cNvPr id="2642" name="Google Shape;2642;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3" name="Google Shape;2643;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2" name="Shape 2662"/>
        <p:cNvGrpSpPr/>
        <p:nvPr/>
      </p:nvGrpSpPr>
      <p:grpSpPr>
        <a:xfrm>
          <a:off x="0" y="0"/>
          <a:ext cx="0" cy="0"/>
          <a:chOff x="0" y="0"/>
          <a:chExt cx="0" cy="0"/>
        </a:xfrm>
      </p:grpSpPr>
      <p:sp>
        <p:nvSpPr>
          <p:cNvPr id="2663" name="Google Shape;2663;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64" name="Google Shape;2664;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5" name="Google Shape;2665;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a:solidFill>
                  <a:schemeClr val="dk1"/>
                </a:solidFill>
                <a:latin typeface="Montserrat"/>
                <a:ea typeface="Montserrat"/>
                <a:cs typeface="Montserrat"/>
                <a:sym typeface="Montserrat"/>
              </a:rPr>
              <a:t>‹#›</a:t>
            </a:fld>
            <a:endParaRPr b="0" i="0" sz="1200">
              <a:solidFill>
                <a:schemeClr val="dk1"/>
              </a:solidFill>
              <a:latin typeface="Montserrat"/>
              <a:ea typeface="Montserrat"/>
              <a:cs typeface="Montserrat"/>
              <a:sym typeface="Montserra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68"/>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5" name="Shape 15"/>
        <p:cNvGrpSpPr/>
        <p:nvPr/>
      </p:nvGrpSpPr>
      <p:grpSpPr>
        <a:xfrm>
          <a:off x="0" y="0"/>
          <a:ext cx="0" cy="0"/>
          <a:chOff x="0" y="0"/>
          <a:chExt cx="0" cy="0"/>
        </a:xfrm>
      </p:grpSpPr>
      <p:sp>
        <p:nvSpPr>
          <p:cNvPr id="16" name="Google Shape;16;p69"/>
          <p:cNvSpPr/>
          <p:nvPr>
            <p:ph idx="2" type="pic"/>
          </p:nvPr>
        </p:nvSpPr>
        <p:spPr>
          <a:xfrm>
            <a:off x="0" y="0"/>
            <a:ext cx="24377650" cy="13715999"/>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Layout">
  <p:cSld name="ImageLayout">
    <p:spTree>
      <p:nvGrpSpPr>
        <p:cNvPr id="17" name="Shape 17"/>
        <p:cNvGrpSpPr/>
        <p:nvPr/>
      </p:nvGrpSpPr>
      <p:grpSpPr>
        <a:xfrm>
          <a:off x="0" y="0"/>
          <a:ext cx="0" cy="0"/>
          <a:chOff x="0" y="0"/>
          <a:chExt cx="0" cy="0"/>
        </a:xfrm>
      </p:grpSpPr>
      <p:sp>
        <p:nvSpPr>
          <p:cNvPr id="18" name="Google Shape;18;p70"/>
          <p:cNvSpPr/>
          <p:nvPr>
            <p:ph idx="2" type="pic"/>
          </p:nvPr>
        </p:nvSpPr>
        <p:spPr>
          <a:xfrm>
            <a:off x="0" y="8102600"/>
            <a:ext cx="24377650" cy="5613400"/>
          </a:xfrm>
          <a:prstGeom prst="rect">
            <a:avLst/>
          </a:prstGeom>
          <a:solidFill>
            <a:srgbClr val="F3F3F5"/>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Placeholder">
  <p:cSld name="Image-Placeholder">
    <p:spTree>
      <p:nvGrpSpPr>
        <p:cNvPr id="19" name="Shape 19"/>
        <p:cNvGrpSpPr/>
        <p:nvPr/>
      </p:nvGrpSpPr>
      <p:grpSpPr>
        <a:xfrm>
          <a:off x="0" y="0"/>
          <a:ext cx="0" cy="0"/>
          <a:chOff x="0" y="0"/>
          <a:chExt cx="0" cy="0"/>
        </a:xfrm>
      </p:grpSpPr>
      <p:sp>
        <p:nvSpPr>
          <p:cNvPr id="20" name="Google Shape;20;p71"/>
          <p:cNvSpPr/>
          <p:nvPr>
            <p:ph idx="2" type="pic"/>
          </p:nvPr>
        </p:nvSpPr>
        <p:spPr>
          <a:xfrm>
            <a:off x="17900073" y="0"/>
            <a:ext cx="6477577" cy="13716000"/>
          </a:xfrm>
          <a:prstGeom prst="rect">
            <a:avLst/>
          </a:prstGeom>
          <a:solidFill>
            <a:srgbClr val="F3F3F5"/>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Placeholder">
  <p:cSld name="1_Image-Placeholder">
    <p:spTree>
      <p:nvGrpSpPr>
        <p:cNvPr id="21" name="Shape 21"/>
        <p:cNvGrpSpPr/>
        <p:nvPr/>
      </p:nvGrpSpPr>
      <p:grpSpPr>
        <a:xfrm>
          <a:off x="0" y="0"/>
          <a:ext cx="0" cy="0"/>
          <a:chOff x="0" y="0"/>
          <a:chExt cx="0" cy="0"/>
        </a:xfrm>
      </p:grpSpPr>
      <p:sp>
        <p:nvSpPr>
          <p:cNvPr id="22" name="Google Shape;22;p72"/>
          <p:cNvSpPr/>
          <p:nvPr>
            <p:ph idx="2" type="pic"/>
          </p:nvPr>
        </p:nvSpPr>
        <p:spPr>
          <a:xfrm>
            <a:off x="-1" y="0"/>
            <a:ext cx="6477577" cy="13716000"/>
          </a:xfrm>
          <a:prstGeom prst="rect">
            <a:avLst/>
          </a:prstGeom>
          <a:solidFill>
            <a:srgbClr val="F3F3F5"/>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Placeholder">
  <p:cSld name="2_Image-Placeholder">
    <p:spTree>
      <p:nvGrpSpPr>
        <p:cNvPr id="23" name="Shape 23"/>
        <p:cNvGrpSpPr/>
        <p:nvPr/>
      </p:nvGrpSpPr>
      <p:grpSpPr>
        <a:xfrm>
          <a:off x="0" y="0"/>
          <a:ext cx="0" cy="0"/>
          <a:chOff x="0" y="0"/>
          <a:chExt cx="0" cy="0"/>
        </a:xfrm>
      </p:grpSpPr>
      <p:sp>
        <p:nvSpPr>
          <p:cNvPr id="24" name="Google Shape;24;p73"/>
          <p:cNvSpPr/>
          <p:nvPr>
            <p:ph idx="2" type="pic"/>
          </p:nvPr>
        </p:nvSpPr>
        <p:spPr>
          <a:xfrm>
            <a:off x="14808055" y="2671150"/>
            <a:ext cx="5696672" cy="8429116"/>
          </a:xfrm>
          <a:prstGeom prst="rect">
            <a:avLst/>
          </a:prstGeom>
          <a:solidFill>
            <a:srgbClr val="F3F3F5"/>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Placeholder">
  <p:cSld name="3_Image-Placeholder">
    <p:spTree>
      <p:nvGrpSpPr>
        <p:cNvPr id="25" name="Shape 25"/>
        <p:cNvGrpSpPr/>
        <p:nvPr/>
      </p:nvGrpSpPr>
      <p:grpSpPr>
        <a:xfrm>
          <a:off x="0" y="0"/>
          <a:ext cx="0" cy="0"/>
          <a:chOff x="0" y="0"/>
          <a:chExt cx="0" cy="0"/>
        </a:xfrm>
      </p:grpSpPr>
      <p:sp>
        <p:nvSpPr>
          <p:cNvPr id="26" name="Google Shape;26;p74"/>
          <p:cNvSpPr/>
          <p:nvPr>
            <p:ph idx="2" type="pic"/>
          </p:nvPr>
        </p:nvSpPr>
        <p:spPr>
          <a:xfrm>
            <a:off x="12891945" y="3822878"/>
            <a:ext cx="8360930" cy="6070244"/>
          </a:xfrm>
          <a:prstGeom prst="rect">
            <a:avLst/>
          </a:prstGeom>
          <a:solidFill>
            <a:srgbClr val="F3F3F5"/>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Image-Placeholder">
  <p:cSld name="4_Image-Placeholder">
    <p:spTree>
      <p:nvGrpSpPr>
        <p:cNvPr id="27" name="Shape 27"/>
        <p:cNvGrpSpPr/>
        <p:nvPr/>
      </p:nvGrpSpPr>
      <p:grpSpPr>
        <a:xfrm>
          <a:off x="0" y="0"/>
          <a:ext cx="0" cy="0"/>
          <a:chOff x="0" y="0"/>
          <a:chExt cx="0" cy="0"/>
        </a:xfrm>
      </p:grpSpPr>
      <p:sp>
        <p:nvSpPr>
          <p:cNvPr id="28" name="Google Shape;28;p75"/>
          <p:cNvSpPr/>
          <p:nvPr>
            <p:ph idx="2" type="pic"/>
          </p:nvPr>
        </p:nvSpPr>
        <p:spPr>
          <a:xfrm>
            <a:off x="0" y="1"/>
            <a:ext cx="12226925" cy="6857999"/>
          </a:xfrm>
          <a:prstGeom prst="rect">
            <a:avLst/>
          </a:prstGeom>
          <a:solidFill>
            <a:srgbClr val="F3F3F5"/>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Image-Placeholder">
  <p:cSld name="5_Image-Placeholder">
    <p:spTree>
      <p:nvGrpSpPr>
        <p:cNvPr id="29" name="Shape 29"/>
        <p:cNvGrpSpPr/>
        <p:nvPr/>
      </p:nvGrpSpPr>
      <p:grpSpPr>
        <a:xfrm>
          <a:off x="0" y="0"/>
          <a:ext cx="0" cy="0"/>
          <a:chOff x="0" y="0"/>
          <a:chExt cx="0" cy="0"/>
        </a:xfrm>
      </p:grpSpPr>
      <p:sp>
        <p:nvSpPr>
          <p:cNvPr id="30" name="Google Shape;30;p76"/>
          <p:cNvSpPr/>
          <p:nvPr>
            <p:ph idx="2" type="pic"/>
          </p:nvPr>
        </p:nvSpPr>
        <p:spPr>
          <a:xfrm>
            <a:off x="12226925" y="2244436"/>
            <a:ext cx="9961190" cy="9212690"/>
          </a:xfrm>
          <a:prstGeom prst="rect">
            <a:avLst/>
          </a:prstGeom>
          <a:solidFill>
            <a:srgbClr val="F3F3F5"/>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Placeholder">
  <p:cSld name="6_Image-Placeholder">
    <p:spTree>
      <p:nvGrpSpPr>
        <p:cNvPr id="31" name="Shape 31"/>
        <p:cNvGrpSpPr/>
        <p:nvPr/>
      </p:nvGrpSpPr>
      <p:grpSpPr>
        <a:xfrm>
          <a:off x="0" y="0"/>
          <a:ext cx="0" cy="0"/>
          <a:chOff x="0" y="0"/>
          <a:chExt cx="0" cy="0"/>
        </a:xfrm>
      </p:grpSpPr>
      <p:sp>
        <p:nvSpPr>
          <p:cNvPr id="32" name="Google Shape;32;p77"/>
          <p:cNvSpPr/>
          <p:nvPr>
            <p:ph idx="2" type="pic"/>
          </p:nvPr>
        </p:nvSpPr>
        <p:spPr>
          <a:xfrm>
            <a:off x="2106085" y="2244436"/>
            <a:ext cx="9961190" cy="9212690"/>
          </a:xfrm>
          <a:prstGeom prst="rect">
            <a:avLst/>
          </a:prstGeom>
          <a:solidFill>
            <a:srgbClr val="F3F3F5"/>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Layout">
  <p:cSld name="1_ImageLayout">
    <p:spTree>
      <p:nvGrpSpPr>
        <p:cNvPr id="33" name="Shape 33"/>
        <p:cNvGrpSpPr/>
        <p:nvPr/>
      </p:nvGrpSpPr>
      <p:grpSpPr>
        <a:xfrm>
          <a:off x="0" y="0"/>
          <a:ext cx="0" cy="0"/>
          <a:chOff x="0" y="0"/>
          <a:chExt cx="0" cy="0"/>
        </a:xfrm>
      </p:grpSpPr>
      <p:sp>
        <p:nvSpPr>
          <p:cNvPr id="34" name="Google Shape;34;p78"/>
          <p:cNvSpPr/>
          <p:nvPr>
            <p:ph idx="2" type="pic"/>
          </p:nvPr>
        </p:nvSpPr>
        <p:spPr>
          <a:xfrm>
            <a:off x="17246600" y="0"/>
            <a:ext cx="7131050" cy="13716000"/>
          </a:xfrm>
          <a:prstGeom prst="rect">
            <a:avLst/>
          </a:prstGeom>
          <a:solidFill>
            <a:srgbClr val="F3F3F5"/>
          </a:solid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Layout">
  <p:cSld name="2_ImageLayout">
    <p:spTree>
      <p:nvGrpSpPr>
        <p:cNvPr id="35" name="Shape 35"/>
        <p:cNvGrpSpPr/>
        <p:nvPr/>
      </p:nvGrpSpPr>
      <p:grpSpPr>
        <a:xfrm>
          <a:off x="0" y="0"/>
          <a:ext cx="0" cy="0"/>
          <a:chOff x="0" y="0"/>
          <a:chExt cx="0" cy="0"/>
        </a:xfrm>
      </p:grpSpPr>
      <p:sp>
        <p:nvSpPr>
          <p:cNvPr id="36" name="Google Shape;36;p79"/>
          <p:cNvSpPr/>
          <p:nvPr>
            <p:ph idx="2" type="pic"/>
          </p:nvPr>
        </p:nvSpPr>
        <p:spPr>
          <a:xfrm>
            <a:off x="1053884" y="1081898"/>
            <a:ext cx="8741044" cy="10848814"/>
          </a:xfrm>
          <a:prstGeom prst="rect">
            <a:avLst/>
          </a:prstGeom>
          <a:solidFill>
            <a:srgbClr val="F3F3F5"/>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Layout">
  <p:cSld name="3_ImageLayout">
    <p:spTree>
      <p:nvGrpSpPr>
        <p:cNvPr id="37" name="Shape 37"/>
        <p:cNvGrpSpPr/>
        <p:nvPr/>
      </p:nvGrpSpPr>
      <p:grpSpPr>
        <a:xfrm>
          <a:off x="0" y="0"/>
          <a:ext cx="0" cy="0"/>
          <a:chOff x="0" y="0"/>
          <a:chExt cx="0" cy="0"/>
        </a:xfrm>
      </p:grpSpPr>
      <p:sp>
        <p:nvSpPr>
          <p:cNvPr id="38" name="Google Shape;38;p80"/>
          <p:cNvSpPr/>
          <p:nvPr>
            <p:ph idx="2" type="pic"/>
          </p:nvPr>
        </p:nvSpPr>
        <p:spPr>
          <a:xfrm>
            <a:off x="0" y="0"/>
            <a:ext cx="16149234" cy="13716000"/>
          </a:xfrm>
          <a:prstGeom prst="rect">
            <a:avLst/>
          </a:prstGeom>
          <a:solidFill>
            <a:srgbClr val="F3F3F5"/>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ImageLayout">
  <p:cSld name="4_ImageLayout">
    <p:spTree>
      <p:nvGrpSpPr>
        <p:cNvPr id="39" name="Shape 39"/>
        <p:cNvGrpSpPr/>
        <p:nvPr/>
      </p:nvGrpSpPr>
      <p:grpSpPr>
        <a:xfrm>
          <a:off x="0" y="0"/>
          <a:ext cx="0" cy="0"/>
          <a:chOff x="0" y="0"/>
          <a:chExt cx="0" cy="0"/>
        </a:xfrm>
      </p:grpSpPr>
      <p:sp>
        <p:nvSpPr>
          <p:cNvPr id="40" name="Google Shape;40;p81"/>
          <p:cNvSpPr/>
          <p:nvPr>
            <p:ph idx="2" type="pic"/>
          </p:nvPr>
        </p:nvSpPr>
        <p:spPr>
          <a:xfrm>
            <a:off x="8228416" y="0"/>
            <a:ext cx="16149234" cy="13716000"/>
          </a:xfrm>
          <a:prstGeom prst="rect">
            <a:avLst/>
          </a:prstGeom>
          <a:solidFill>
            <a:srgbClr val="F3F3F5"/>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ImageLayout">
  <p:cSld name="5_ImageLayout">
    <p:spTree>
      <p:nvGrpSpPr>
        <p:cNvPr id="41" name="Shape 41"/>
        <p:cNvGrpSpPr/>
        <p:nvPr/>
      </p:nvGrpSpPr>
      <p:grpSpPr>
        <a:xfrm>
          <a:off x="0" y="0"/>
          <a:ext cx="0" cy="0"/>
          <a:chOff x="0" y="0"/>
          <a:chExt cx="0" cy="0"/>
        </a:xfrm>
      </p:grpSpPr>
      <p:sp>
        <p:nvSpPr>
          <p:cNvPr id="42" name="Google Shape;42;p82"/>
          <p:cNvSpPr/>
          <p:nvPr>
            <p:ph idx="2" type="pic"/>
          </p:nvPr>
        </p:nvSpPr>
        <p:spPr>
          <a:xfrm>
            <a:off x="7321766" y="0"/>
            <a:ext cx="9734120" cy="13716000"/>
          </a:xfrm>
          <a:prstGeom prst="rect">
            <a:avLst/>
          </a:prstGeom>
          <a:solidFill>
            <a:srgbClr val="F3F3F5"/>
          </a:solid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Layout">
  <p:cSld name="6_ImageLayout">
    <p:spTree>
      <p:nvGrpSpPr>
        <p:cNvPr id="43" name="Shape 43"/>
        <p:cNvGrpSpPr/>
        <p:nvPr/>
      </p:nvGrpSpPr>
      <p:grpSpPr>
        <a:xfrm>
          <a:off x="0" y="0"/>
          <a:ext cx="0" cy="0"/>
          <a:chOff x="0" y="0"/>
          <a:chExt cx="0" cy="0"/>
        </a:xfrm>
      </p:grpSpPr>
      <p:sp>
        <p:nvSpPr>
          <p:cNvPr id="44" name="Google Shape;44;p83"/>
          <p:cNvSpPr/>
          <p:nvPr>
            <p:ph idx="2" type="pic"/>
          </p:nvPr>
        </p:nvSpPr>
        <p:spPr>
          <a:xfrm>
            <a:off x="1" y="0"/>
            <a:ext cx="19729340" cy="5790698"/>
          </a:xfrm>
          <a:prstGeom prst="rect">
            <a:avLst/>
          </a:prstGeom>
          <a:solidFill>
            <a:srgbClr val="F3F3F5"/>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Layout">
  <p:cSld name="7_ImageLayout">
    <p:spTree>
      <p:nvGrpSpPr>
        <p:cNvPr id="45" name="Shape 45"/>
        <p:cNvGrpSpPr/>
        <p:nvPr/>
      </p:nvGrpSpPr>
      <p:grpSpPr>
        <a:xfrm>
          <a:off x="0" y="0"/>
          <a:ext cx="0" cy="0"/>
          <a:chOff x="0" y="0"/>
          <a:chExt cx="0" cy="0"/>
        </a:xfrm>
      </p:grpSpPr>
      <p:sp>
        <p:nvSpPr>
          <p:cNvPr id="46" name="Google Shape;46;p84"/>
          <p:cNvSpPr/>
          <p:nvPr>
            <p:ph idx="2" type="pic"/>
          </p:nvPr>
        </p:nvSpPr>
        <p:spPr>
          <a:xfrm>
            <a:off x="4641959" y="7925302"/>
            <a:ext cx="19729340" cy="5790698"/>
          </a:xfrm>
          <a:prstGeom prst="rect">
            <a:avLst/>
          </a:prstGeom>
          <a:solidFill>
            <a:srgbClr val="F3F3F5"/>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ImageLayout">
  <p:cSld name="8_ImageLayout">
    <p:spTree>
      <p:nvGrpSpPr>
        <p:cNvPr id="47" name="Shape 47"/>
        <p:cNvGrpSpPr/>
        <p:nvPr/>
      </p:nvGrpSpPr>
      <p:grpSpPr>
        <a:xfrm>
          <a:off x="0" y="0"/>
          <a:ext cx="0" cy="0"/>
          <a:chOff x="0" y="0"/>
          <a:chExt cx="0" cy="0"/>
        </a:xfrm>
      </p:grpSpPr>
      <p:sp>
        <p:nvSpPr>
          <p:cNvPr id="48" name="Google Shape;48;p85"/>
          <p:cNvSpPr/>
          <p:nvPr>
            <p:ph idx="2" type="pic"/>
          </p:nvPr>
        </p:nvSpPr>
        <p:spPr>
          <a:xfrm>
            <a:off x="3261595" y="4729112"/>
            <a:ext cx="4904510" cy="4904510"/>
          </a:xfrm>
          <a:prstGeom prst="rect">
            <a:avLst/>
          </a:prstGeom>
          <a:solidFill>
            <a:srgbClr val="F3F3F5"/>
          </a:solidFill>
          <a:ln>
            <a:noFill/>
          </a:ln>
        </p:spPr>
      </p:sp>
      <p:sp>
        <p:nvSpPr>
          <p:cNvPr id="49" name="Google Shape;49;p85"/>
          <p:cNvSpPr/>
          <p:nvPr>
            <p:ph idx="3" type="pic"/>
          </p:nvPr>
        </p:nvSpPr>
        <p:spPr>
          <a:xfrm>
            <a:off x="9745521" y="4729112"/>
            <a:ext cx="4904510" cy="4904510"/>
          </a:xfrm>
          <a:prstGeom prst="rect">
            <a:avLst/>
          </a:prstGeom>
          <a:solidFill>
            <a:srgbClr val="F3F3F5"/>
          </a:solidFill>
          <a:ln>
            <a:noFill/>
          </a:ln>
        </p:spPr>
      </p:sp>
      <p:sp>
        <p:nvSpPr>
          <p:cNvPr id="50" name="Google Shape;50;p85"/>
          <p:cNvSpPr/>
          <p:nvPr>
            <p:ph idx="4" type="pic"/>
          </p:nvPr>
        </p:nvSpPr>
        <p:spPr>
          <a:xfrm>
            <a:off x="16229448" y="4729112"/>
            <a:ext cx="4904510" cy="4904510"/>
          </a:xfrm>
          <a:prstGeom prst="rect">
            <a:avLst/>
          </a:prstGeom>
          <a:solidFill>
            <a:srgbClr val="F3F3F5"/>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ImageLayout">
  <p:cSld name="9_ImageLayout">
    <p:spTree>
      <p:nvGrpSpPr>
        <p:cNvPr id="51" name="Shape 51"/>
        <p:cNvGrpSpPr/>
        <p:nvPr/>
      </p:nvGrpSpPr>
      <p:grpSpPr>
        <a:xfrm>
          <a:off x="0" y="0"/>
          <a:ext cx="0" cy="0"/>
          <a:chOff x="0" y="0"/>
          <a:chExt cx="0" cy="0"/>
        </a:xfrm>
      </p:grpSpPr>
      <p:sp>
        <p:nvSpPr>
          <p:cNvPr id="52" name="Google Shape;52;p86"/>
          <p:cNvSpPr/>
          <p:nvPr>
            <p:ph idx="2" type="pic"/>
          </p:nvPr>
        </p:nvSpPr>
        <p:spPr>
          <a:xfrm>
            <a:off x="15304756" y="4645943"/>
            <a:ext cx="4424114" cy="4424114"/>
          </a:xfrm>
          <a:prstGeom prst="rect">
            <a:avLst/>
          </a:prstGeom>
          <a:solidFill>
            <a:srgbClr val="F3F3F5"/>
          </a:solidFill>
          <a:ln>
            <a:noFill/>
          </a:ln>
        </p:spPr>
      </p:sp>
      <p:sp>
        <p:nvSpPr>
          <p:cNvPr id="53" name="Google Shape;53;p86"/>
          <p:cNvSpPr/>
          <p:nvPr>
            <p:ph idx="3" type="pic"/>
          </p:nvPr>
        </p:nvSpPr>
        <p:spPr>
          <a:xfrm>
            <a:off x="19953536" y="4645943"/>
            <a:ext cx="4424114" cy="4424114"/>
          </a:xfrm>
          <a:prstGeom prst="rect">
            <a:avLst/>
          </a:prstGeom>
          <a:solidFill>
            <a:srgbClr val="F3F3F5"/>
          </a:solidFill>
          <a:ln>
            <a:noFill/>
          </a:ln>
        </p:spPr>
      </p:sp>
      <p:sp>
        <p:nvSpPr>
          <p:cNvPr id="54" name="Google Shape;54;p86"/>
          <p:cNvSpPr/>
          <p:nvPr>
            <p:ph idx="4" type="pic"/>
          </p:nvPr>
        </p:nvSpPr>
        <p:spPr>
          <a:xfrm>
            <a:off x="19953536" y="0"/>
            <a:ext cx="4424114" cy="4424114"/>
          </a:xfrm>
          <a:prstGeom prst="rect">
            <a:avLst/>
          </a:prstGeom>
          <a:solidFill>
            <a:srgbClr val="F3F3F5"/>
          </a:solidFill>
          <a:ln>
            <a:noFill/>
          </a:ln>
        </p:spPr>
      </p:sp>
      <p:sp>
        <p:nvSpPr>
          <p:cNvPr id="55" name="Google Shape;55;p86"/>
          <p:cNvSpPr/>
          <p:nvPr>
            <p:ph idx="5" type="pic"/>
          </p:nvPr>
        </p:nvSpPr>
        <p:spPr>
          <a:xfrm>
            <a:off x="19953536" y="9291886"/>
            <a:ext cx="4424114" cy="4424114"/>
          </a:xfrm>
          <a:prstGeom prst="rect">
            <a:avLst/>
          </a:prstGeom>
          <a:solidFill>
            <a:srgbClr val="F3F3F5"/>
          </a:solidFill>
          <a:ln>
            <a:noFill/>
          </a:ln>
        </p:spPr>
      </p:sp>
      <p:sp>
        <p:nvSpPr>
          <p:cNvPr id="56" name="Google Shape;56;p86"/>
          <p:cNvSpPr/>
          <p:nvPr>
            <p:ph idx="6" type="pic"/>
          </p:nvPr>
        </p:nvSpPr>
        <p:spPr>
          <a:xfrm>
            <a:off x="10655975" y="9291886"/>
            <a:ext cx="4424114" cy="4424114"/>
          </a:xfrm>
          <a:prstGeom prst="rect">
            <a:avLst/>
          </a:prstGeom>
          <a:solidFill>
            <a:srgbClr val="F3F3F5"/>
          </a:solidFill>
          <a:ln>
            <a:noFill/>
          </a:ln>
        </p:spPr>
      </p:sp>
      <p:sp>
        <p:nvSpPr>
          <p:cNvPr id="57" name="Google Shape;57;p86"/>
          <p:cNvSpPr/>
          <p:nvPr>
            <p:ph idx="7" type="pic"/>
          </p:nvPr>
        </p:nvSpPr>
        <p:spPr>
          <a:xfrm>
            <a:off x="15304755" y="9291886"/>
            <a:ext cx="4424114" cy="4424114"/>
          </a:xfrm>
          <a:prstGeom prst="rect">
            <a:avLst/>
          </a:prstGeom>
          <a:solidFill>
            <a:srgbClr val="F3F3F5"/>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ImageLayout">
  <p:cSld name="10_ImageLayout">
    <p:spTree>
      <p:nvGrpSpPr>
        <p:cNvPr id="58" name="Shape 58"/>
        <p:cNvGrpSpPr/>
        <p:nvPr/>
      </p:nvGrpSpPr>
      <p:grpSpPr>
        <a:xfrm>
          <a:off x="0" y="0"/>
          <a:ext cx="0" cy="0"/>
          <a:chOff x="0" y="0"/>
          <a:chExt cx="0" cy="0"/>
        </a:xfrm>
      </p:grpSpPr>
      <p:sp>
        <p:nvSpPr>
          <p:cNvPr id="59" name="Google Shape;59;p87"/>
          <p:cNvSpPr/>
          <p:nvPr>
            <p:ph idx="2" type="pic"/>
          </p:nvPr>
        </p:nvSpPr>
        <p:spPr>
          <a:xfrm>
            <a:off x="803564" y="5874326"/>
            <a:ext cx="3990108" cy="5167745"/>
          </a:xfrm>
          <a:prstGeom prst="rect">
            <a:avLst/>
          </a:prstGeom>
          <a:solidFill>
            <a:srgbClr val="F3F3F5"/>
          </a:solidFill>
          <a:ln>
            <a:noFill/>
          </a:ln>
        </p:spPr>
      </p:sp>
      <p:sp>
        <p:nvSpPr>
          <p:cNvPr id="60" name="Google Shape;60;p87"/>
          <p:cNvSpPr/>
          <p:nvPr>
            <p:ph idx="3" type="pic"/>
          </p:nvPr>
        </p:nvSpPr>
        <p:spPr>
          <a:xfrm>
            <a:off x="5486401" y="1077191"/>
            <a:ext cx="4849090" cy="6858000"/>
          </a:xfrm>
          <a:prstGeom prst="rect">
            <a:avLst/>
          </a:prstGeom>
          <a:solidFill>
            <a:srgbClr val="F3F3F5"/>
          </a:solidFill>
          <a:ln>
            <a:noFill/>
          </a:ln>
        </p:spPr>
      </p:sp>
      <p:sp>
        <p:nvSpPr>
          <p:cNvPr id="61" name="Google Shape;61;p87"/>
          <p:cNvSpPr/>
          <p:nvPr>
            <p:ph idx="4" type="pic"/>
          </p:nvPr>
        </p:nvSpPr>
        <p:spPr>
          <a:xfrm>
            <a:off x="11028220" y="333102"/>
            <a:ext cx="9116290" cy="13049794"/>
          </a:xfrm>
          <a:prstGeom prst="rect">
            <a:avLst/>
          </a:prstGeom>
          <a:solidFill>
            <a:srgbClr val="F3F3F5"/>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ImageLayout">
  <p:cSld name="11_ImageLayout">
    <p:spTree>
      <p:nvGrpSpPr>
        <p:cNvPr id="62" name="Shape 62"/>
        <p:cNvGrpSpPr/>
        <p:nvPr/>
      </p:nvGrpSpPr>
      <p:grpSpPr>
        <a:xfrm>
          <a:off x="0" y="0"/>
          <a:ext cx="0" cy="0"/>
          <a:chOff x="0" y="0"/>
          <a:chExt cx="0" cy="0"/>
        </a:xfrm>
      </p:grpSpPr>
      <p:sp>
        <p:nvSpPr>
          <p:cNvPr id="63" name="Google Shape;63;p88"/>
          <p:cNvSpPr/>
          <p:nvPr>
            <p:ph idx="2" type="pic"/>
          </p:nvPr>
        </p:nvSpPr>
        <p:spPr>
          <a:xfrm>
            <a:off x="0" y="6122477"/>
            <a:ext cx="16335214" cy="6292312"/>
          </a:xfrm>
          <a:prstGeom prst="rect">
            <a:avLst/>
          </a:prstGeom>
          <a:solidFill>
            <a:srgbClr val="F3F3F5"/>
          </a:solidFill>
          <a:ln>
            <a:noFill/>
          </a:ln>
        </p:spPr>
      </p:sp>
      <p:sp>
        <p:nvSpPr>
          <p:cNvPr id="64" name="Google Shape;64;p88"/>
          <p:cNvSpPr/>
          <p:nvPr>
            <p:ph idx="3" type="pic"/>
          </p:nvPr>
        </p:nvSpPr>
        <p:spPr>
          <a:xfrm>
            <a:off x="8198604" y="1394847"/>
            <a:ext cx="15126346" cy="6292312"/>
          </a:xfrm>
          <a:prstGeom prst="rect">
            <a:avLst/>
          </a:prstGeom>
          <a:solidFill>
            <a:srgbClr val="F3F3F5"/>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ImageLayout">
  <p:cSld name="12_ImageLayout">
    <p:spTree>
      <p:nvGrpSpPr>
        <p:cNvPr id="65" name="Shape 65"/>
        <p:cNvGrpSpPr/>
        <p:nvPr/>
      </p:nvGrpSpPr>
      <p:grpSpPr>
        <a:xfrm>
          <a:off x="0" y="0"/>
          <a:ext cx="0" cy="0"/>
          <a:chOff x="0" y="0"/>
          <a:chExt cx="0" cy="0"/>
        </a:xfrm>
      </p:grpSpPr>
      <p:sp>
        <p:nvSpPr>
          <p:cNvPr id="66" name="Google Shape;66;p89"/>
          <p:cNvSpPr/>
          <p:nvPr>
            <p:ph idx="2" type="pic"/>
          </p:nvPr>
        </p:nvSpPr>
        <p:spPr>
          <a:xfrm>
            <a:off x="1210380" y="0"/>
            <a:ext cx="7734464" cy="13716000"/>
          </a:xfrm>
          <a:prstGeom prst="rect">
            <a:avLst/>
          </a:prstGeom>
          <a:solidFill>
            <a:srgbClr val="F3F3F5"/>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ImageLayout">
  <p:cSld name="13_ImageLayout">
    <p:spTree>
      <p:nvGrpSpPr>
        <p:cNvPr id="67" name="Shape 67"/>
        <p:cNvGrpSpPr/>
        <p:nvPr/>
      </p:nvGrpSpPr>
      <p:grpSpPr>
        <a:xfrm>
          <a:off x="0" y="0"/>
          <a:ext cx="0" cy="0"/>
          <a:chOff x="0" y="0"/>
          <a:chExt cx="0" cy="0"/>
        </a:xfrm>
      </p:grpSpPr>
      <p:sp>
        <p:nvSpPr>
          <p:cNvPr id="68" name="Google Shape;68;p90"/>
          <p:cNvSpPr/>
          <p:nvPr>
            <p:ph idx="2" type="pic"/>
          </p:nvPr>
        </p:nvSpPr>
        <p:spPr>
          <a:xfrm>
            <a:off x="15820534" y="0"/>
            <a:ext cx="7734464" cy="13716000"/>
          </a:xfrm>
          <a:prstGeom prst="rect">
            <a:avLst/>
          </a:prstGeom>
          <a:solidFill>
            <a:srgbClr val="F3F3F5"/>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ImageLayout">
  <p:cSld name="14_ImageLayout">
    <p:spTree>
      <p:nvGrpSpPr>
        <p:cNvPr id="69" name="Shape 69"/>
        <p:cNvGrpSpPr/>
        <p:nvPr/>
      </p:nvGrpSpPr>
      <p:grpSpPr>
        <a:xfrm>
          <a:off x="0" y="0"/>
          <a:ext cx="0" cy="0"/>
          <a:chOff x="0" y="0"/>
          <a:chExt cx="0" cy="0"/>
        </a:xfrm>
      </p:grpSpPr>
      <p:sp>
        <p:nvSpPr>
          <p:cNvPr id="70" name="Google Shape;70;p91"/>
          <p:cNvSpPr/>
          <p:nvPr>
            <p:ph idx="2" type="pic"/>
          </p:nvPr>
        </p:nvSpPr>
        <p:spPr>
          <a:xfrm>
            <a:off x="0" y="0"/>
            <a:ext cx="6092838" cy="13716000"/>
          </a:xfrm>
          <a:prstGeom prst="rect">
            <a:avLst/>
          </a:prstGeom>
          <a:solidFill>
            <a:srgbClr val="F3F3F5"/>
          </a:solidFill>
          <a:ln>
            <a:noFill/>
          </a:ln>
        </p:spPr>
      </p:sp>
      <p:sp>
        <p:nvSpPr>
          <p:cNvPr id="71" name="Google Shape;71;p91"/>
          <p:cNvSpPr/>
          <p:nvPr>
            <p:ph idx="3" type="pic"/>
          </p:nvPr>
        </p:nvSpPr>
        <p:spPr>
          <a:xfrm>
            <a:off x="6095200" y="0"/>
            <a:ext cx="6092838" cy="13716000"/>
          </a:xfrm>
          <a:prstGeom prst="rect">
            <a:avLst/>
          </a:prstGeom>
          <a:solidFill>
            <a:srgbClr val="F3F3F5"/>
          </a:solidFill>
          <a:ln>
            <a:noFill/>
          </a:ln>
        </p:spPr>
      </p:sp>
      <p:sp>
        <p:nvSpPr>
          <p:cNvPr id="72" name="Google Shape;72;p91"/>
          <p:cNvSpPr/>
          <p:nvPr>
            <p:ph idx="4" type="pic"/>
          </p:nvPr>
        </p:nvSpPr>
        <p:spPr>
          <a:xfrm>
            <a:off x="12190795" y="0"/>
            <a:ext cx="6092838" cy="13716000"/>
          </a:xfrm>
          <a:prstGeom prst="rect">
            <a:avLst/>
          </a:prstGeom>
          <a:solidFill>
            <a:srgbClr val="F3F3F5"/>
          </a:solidFill>
          <a:ln>
            <a:noFill/>
          </a:ln>
        </p:spPr>
      </p:sp>
      <p:sp>
        <p:nvSpPr>
          <p:cNvPr id="73" name="Google Shape;73;p91"/>
          <p:cNvSpPr/>
          <p:nvPr>
            <p:ph idx="5" type="pic"/>
          </p:nvPr>
        </p:nvSpPr>
        <p:spPr>
          <a:xfrm>
            <a:off x="18285995" y="0"/>
            <a:ext cx="6092838" cy="13716000"/>
          </a:xfrm>
          <a:prstGeom prst="rect">
            <a:avLst/>
          </a:prstGeom>
          <a:solidFill>
            <a:srgbClr val="F3F3F5"/>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laceholder-minus">
  <p:cSld name="1_Placeholder-minus">
    <p:spTree>
      <p:nvGrpSpPr>
        <p:cNvPr id="74" name="Shape 74"/>
        <p:cNvGrpSpPr/>
        <p:nvPr/>
      </p:nvGrpSpPr>
      <p:grpSpPr>
        <a:xfrm>
          <a:off x="0" y="0"/>
          <a:ext cx="0" cy="0"/>
          <a:chOff x="0" y="0"/>
          <a:chExt cx="0" cy="0"/>
        </a:xfrm>
      </p:grpSpPr>
      <p:sp>
        <p:nvSpPr>
          <p:cNvPr id="75" name="Google Shape;75;p92"/>
          <p:cNvSpPr/>
          <p:nvPr>
            <p:ph idx="2" type="pic"/>
          </p:nvPr>
        </p:nvSpPr>
        <p:spPr>
          <a:xfrm>
            <a:off x="17040127" y="6905371"/>
            <a:ext cx="4345051" cy="4297680"/>
          </a:xfrm>
          <a:prstGeom prst="rect">
            <a:avLst/>
          </a:prstGeom>
          <a:solidFill>
            <a:srgbClr val="F2F2F2"/>
          </a:solidFill>
          <a:ln>
            <a:noFill/>
          </a:ln>
        </p:spPr>
      </p:sp>
      <p:sp>
        <p:nvSpPr>
          <p:cNvPr id="76" name="Google Shape;76;p92"/>
          <p:cNvSpPr/>
          <p:nvPr>
            <p:ph idx="3" type="pic"/>
          </p:nvPr>
        </p:nvSpPr>
        <p:spPr>
          <a:xfrm>
            <a:off x="12150724" y="6905371"/>
            <a:ext cx="4345051" cy="4297680"/>
          </a:xfrm>
          <a:prstGeom prst="rect">
            <a:avLst/>
          </a:prstGeom>
          <a:solidFill>
            <a:srgbClr val="F2F2F2"/>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Blank">
  <p:cSld name="11_Blank">
    <p:spTree>
      <p:nvGrpSpPr>
        <p:cNvPr id="77" name="Shape 77"/>
        <p:cNvGrpSpPr/>
        <p:nvPr/>
      </p:nvGrpSpPr>
      <p:grpSpPr>
        <a:xfrm>
          <a:off x="0" y="0"/>
          <a:ext cx="0" cy="0"/>
          <a:chOff x="0" y="0"/>
          <a:chExt cx="0" cy="0"/>
        </a:xfrm>
      </p:grpSpPr>
      <p:sp>
        <p:nvSpPr>
          <p:cNvPr id="78" name="Google Shape;78;p93"/>
          <p:cNvSpPr/>
          <p:nvPr>
            <p:ph idx="2" type="pic"/>
          </p:nvPr>
        </p:nvSpPr>
        <p:spPr>
          <a:xfrm>
            <a:off x="12426664" y="0"/>
            <a:ext cx="5669280" cy="8513787"/>
          </a:xfrm>
          <a:prstGeom prst="rect">
            <a:avLst/>
          </a:prstGeom>
          <a:solidFill>
            <a:srgbClr val="F2F2F2"/>
          </a:solidFill>
          <a:ln>
            <a:noFill/>
          </a:ln>
        </p:spPr>
      </p:sp>
      <p:sp>
        <p:nvSpPr>
          <p:cNvPr id="79" name="Google Shape;79;p93"/>
          <p:cNvSpPr/>
          <p:nvPr>
            <p:ph idx="3" type="pic"/>
          </p:nvPr>
        </p:nvSpPr>
        <p:spPr>
          <a:xfrm>
            <a:off x="18708370" y="2066309"/>
            <a:ext cx="5743745" cy="8513787"/>
          </a:xfrm>
          <a:prstGeom prst="rect">
            <a:avLst/>
          </a:prstGeom>
          <a:solidFill>
            <a:srgbClr val="F2F2F2"/>
          </a:solidFill>
          <a:ln>
            <a:noFill/>
          </a:ln>
        </p:spPr>
      </p:sp>
      <p:sp>
        <p:nvSpPr>
          <p:cNvPr id="80" name="Google Shape;80;p93"/>
          <p:cNvSpPr/>
          <p:nvPr>
            <p:ph idx="4" type="pic"/>
          </p:nvPr>
        </p:nvSpPr>
        <p:spPr>
          <a:xfrm>
            <a:off x="9556745" y="9108147"/>
            <a:ext cx="8613664" cy="3025471"/>
          </a:xfrm>
          <a:prstGeom prst="rect">
            <a:avLst/>
          </a:prstGeom>
          <a:solidFill>
            <a:srgbClr val="F2F2F2"/>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Blank">
  <p:cSld name="8_Blank">
    <p:spTree>
      <p:nvGrpSpPr>
        <p:cNvPr id="81" name="Shape 81"/>
        <p:cNvGrpSpPr/>
        <p:nvPr/>
      </p:nvGrpSpPr>
      <p:grpSpPr>
        <a:xfrm>
          <a:off x="0" y="0"/>
          <a:ext cx="0" cy="0"/>
          <a:chOff x="0" y="0"/>
          <a:chExt cx="0" cy="0"/>
        </a:xfrm>
      </p:grpSpPr>
      <p:sp>
        <p:nvSpPr>
          <p:cNvPr id="82" name="Google Shape;82;p94"/>
          <p:cNvSpPr/>
          <p:nvPr>
            <p:ph idx="2" type="pic"/>
          </p:nvPr>
        </p:nvSpPr>
        <p:spPr>
          <a:xfrm>
            <a:off x="437322" y="3776870"/>
            <a:ext cx="8786191" cy="8786191"/>
          </a:xfrm>
          <a:prstGeom prst="rect">
            <a:avLst/>
          </a:prstGeom>
          <a:solidFill>
            <a:srgbClr val="F3F3F5"/>
          </a:solidFill>
          <a:ln>
            <a:noFill/>
          </a:ln>
        </p:spPr>
      </p:sp>
      <p:sp>
        <p:nvSpPr>
          <p:cNvPr id="83" name="Google Shape;83;p94"/>
          <p:cNvSpPr/>
          <p:nvPr>
            <p:ph idx="3" type="pic"/>
          </p:nvPr>
        </p:nvSpPr>
        <p:spPr>
          <a:xfrm>
            <a:off x="9667185" y="-92214"/>
            <a:ext cx="7587145" cy="6453258"/>
          </a:xfrm>
          <a:prstGeom prst="rect">
            <a:avLst/>
          </a:prstGeom>
          <a:solidFill>
            <a:srgbClr val="F3F3F5"/>
          </a:solidFill>
          <a:ln>
            <a:noFill/>
          </a:ln>
        </p:spPr>
      </p:sp>
      <p:sp>
        <p:nvSpPr>
          <p:cNvPr id="84" name="Google Shape;84;p94"/>
          <p:cNvSpPr/>
          <p:nvPr>
            <p:ph idx="4" type="pic"/>
          </p:nvPr>
        </p:nvSpPr>
        <p:spPr>
          <a:xfrm>
            <a:off x="15117279" y="7342256"/>
            <a:ext cx="7587145" cy="6373744"/>
          </a:xfrm>
          <a:prstGeom prst="rect">
            <a:avLst/>
          </a:prstGeom>
          <a:solidFill>
            <a:srgbClr val="F3F3F5"/>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Placeholder">
  <p:cSld name="11_Placeholder">
    <p:spTree>
      <p:nvGrpSpPr>
        <p:cNvPr id="85" name="Shape 85"/>
        <p:cNvGrpSpPr/>
        <p:nvPr/>
      </p:nvGrpSpPr>
      <p:grpSpPr>
        <a:xfrm>
          <a:off x="0" y="0"/>
          <a:ext cx="0" cy="0"/>
          <a:chOff x="0" y="0"/>
          <a:chExt cx="0" cy="0"/>
        </a:xfrm>
      </p:grpSpPr>
      <p:sp>
        <p:nvSpPr>
          <p:cNvPr id="86" name="Google Shape;86;p95"/>
          <p:cNvSpPr/>
          <p:nvPr>
            <p:ph idx="2" type="pic"/>
          </p:nvPr>
        </p:nvSpPr>
        <p:spPr>
          <a:xfrm>
            <a:off x="9404480" y="0"/>
            <a:ext cx="6748642" cy="6721618"/>
          </a:xfrm>
          <a:prstGeom prst="rect">
            <a:avLst/>
          </a:prstGeom>
          <a:solidFill>
            <a:srgbClr val="F3F3F5"/>
          </a:solidFill>
          <a:ln>
            <a:noFill/>
          </a:ln>
        </p:spPr>
      </p:sp>
      <p:sp>
        <p:nvSpPr>
          <p:cNvPr id="87" name="Google Shape;87;p95"/>
          <p:cNvSpPr/>
          <p:nvPr>
            <p:ph idx="3" type="pic"/>
          </p:nvPr>
        </p:nvSpPr>
        <p:spPr>
          <a:xfrm>
            <a:off x="16379533" y="0"/>
            <a:ext cx="6742357" cy="6721618"/>
          </a:xfrm>
          <a:prstGeom prst="rect">
            <a:avLst/>
          </a:prstGeom>
          <a:solidFill>
            <a:srgbClr val="F3F3F5"/>
          </a:solidFill>
          <a:ln>
            <a:noFill/>
          </a:ln>
        </p:spPr>
      </p:sp>
      <p:sp>
        <p:nvSpPr>
          <p:cNvPr id="88" name="Google Shape;88;p95"/>
          <p:cNvSpPr/>
          <p:nvPr>
            <p:ph idx="4" type="pic"/>
          </p:nvPr>
        </p:nvSpPr>
        <p:spPr>
          <a:xfrm>
            <a:off x="9404480" y="6994380"/>
            <a:ext cx="6748642" cy="6721618"/>
          </a:xfrm>
          <a:prstGeom prst="rect">
            <a:avLst/>
          </a:prstGeom>
          <a:solidFill>
            <a:srgbClr val="F3F3F5"/>
          </a:solidFill>
          <a:ln>
            <a:noFill/>
          </a:ln>
        </p:spPr>
      </p:sp>
      <p:sp>
        <p:nvSpPr>
          <p:cNvPr id="89" name="Google Shape;89;p95"/>
          <p:cNvSpPr/>
          <p:nvPr>
            <p:ph idx="5" type="pic"/>
          </p:nvPr>
        </p:nvSpPr>
        <p:spPr>
          <a:xfrm>
            <a:off x="16379533" y="6994380"/>
            <a:ext cx="6742357" cy="6721618"/>
          </a:xfrm>
          <a:prstGeom prst="rect">
            <a:avLst/>
          </a:prstGeom>
          <a:solidFill>
            <a:srgbClr val="F3F3F5"/>
          </a:solid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_Placeholder">
  <p:cSld name="51_Placeholder">
    <p:spTree>
      <p:nvGrpSpPr>
        <p:cNvPr id="90" name="Shape 90"/>
        <p:cNvGrpSpPr/>
        <p:nvPr/>
      </p:nvGrpSpPr>
      <p:grpSpPr>
        <a:xfrm>
          <a:off x="0" y="0"/>
          <a:ext cx="0" cy="0"/>
          <a:chOff x="0" y="0"/>
          <a:chExt cx="0" cy="0"/>
        </a:xfrm>
      </p:grpSpPr>
      <p:sp>
        <p:nvSpPr>
          <p:cNvPr id="91" name="Google Shape;91;p96"/>
          <p:cNvSpPr/>
          <p:nvPr>
            <p:ph idx="2" type="pic"/>
          </p:nvPr>
        </p:nvSpPr>
        <p:spPr>
          <a:xfrm>
            <a:off x="0" y="0"/>
            <a:ext cx="11874826" cy="13746480"/>
          </a:xfrm>
          <a:prstGeom prst="rect">
            <a:avLst/>
          </a:prstGeom>
          <a:solidFill>
            <a:srgbClr val="F2F2F2"/>
          </a:solidFill>
          <a:ln>
            <a:noFill/>
          </a:ln>
        </p:spPr>
      </p:sp>
      <p:sp>
        <p:nvSpPr>
          <p:cNvPr id="92" name="Google Shape;92;p96"/>
          <p:cNvSpPr/>
          <p:nvPr>
            <p:ph idx="3" type="pic"/>
          </p:nvPr>
        </p:nvSpPr>
        <p:spPr>
          <a:xfrm>
            <a:off x="12502824" y="15240"/>
            <a:ext cx="11874826" cy="13700760"/>
          </a:xfrm>
          <a:prstGeom prst="rect">
            <a:avLst/>
          </a:prstGeom>
          <a:solidFill>
            <a:srgbClr val="F2F2F2"/>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Big Image Placeholder">
  <p:cSld name="11_Big Image Placeholder">
    <p:spTree>
      <p:nvGrpSpPr>
        <p:cNvPr id="93" name="Shape 93"/>
        <p:cNvGrpSpPr/>
        <p:nvPr/>
      </p:nvGrpSpPr>
      <p:grpSpPr>
        <a:xfrm>
          <a:off x="0" y="0"/>
          <a:ext cx="0" cy="0"/>
          <a:chOff x="0" y="0"/>
          <a:chExt cx="0" cy="0"/>
        </a:xfrm>
      </p:grpSpPr>
      <p:sp>
        <p:nvSpPr>
          <p:cNvPr id="94" name="Google Shape;94;p97"/>
          <p:cNvSpPr/>
          <p:nvPr>
            <p:ph idx="2" type="pic"/>
          </p:nvPr>
        </p:nvSpPr>
        <p:spPr>
          <a:xfrm>
            <a:off x="2423885" y="3976913"/>
            <a:ext cx="6216748" cy="9739087"/>
          </a:xfrm>
          <a:prstGeom prst="rect">
            <a:avLst/>
          </a:prstGeom>
          <a:solidFill>
            <a:srgbClr val="F2F2F2"/>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Big Image Placeholder">
  <p:cSld name="12_Big Image Placeholder">
    <p:spTree>
      <p:nvGrpSpPr>
        <p:cNvPr id="95" name="Shape 95"/>
        <p:cNvGrpSpPr/>
        <p:nvPr/>
      </p:nvGrpSpPr>
      <p:grpSpPr>
        <a:xfrm>
          <a:off x="0" y="0"/>
          <a:ext cx="0" cy="0"/>
          <a:chOff x="0" y="0"/>
          <a:chExt cx="0" cy="0"/>
        </a:xfrm>
      </p:grpSpPr>
      <p:sp>
        <p:nvSpPr>
          <p:cNvPr id="96" name="Google Shape;96;p98"/>
          <p:cNvSpPr/>
          <p:nvPr>
            <p:ph idx="2" type="pic"/>
          </p:nvPr>
        </p:nvSpPr>
        <p:spPr>
          <a:xfrm>
            <a:off x="3886200" y="2704239"/>
            <a:ext cx="5018087" cy="8905874"/>
          </a:xfrm>
          <a:prstGeom prst="rect">
            <a:avLst/>
          </a:prstGeom>
          <a:solidFill>
            <a:srgbClr val="F2F2F2"/>
          </a:solid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Big Image Placeholder">
  <p:cSld name="13_Big Image Placeholder">
    <p:spTree>
      <p:nvGrpSpPr>
        <p:cNvPr id="97" name="Shape 97"/>
        <p:cNvGrpSpPr/>
        <p:nvPr/>
      </p:nvGrpSpPr>
      <p:grpSpPr>
        <a:xfrm>
          <a:off x="0" y="0"/>
          <a:ext cx="0" cy="0"/>
          <a:chOff x="0" y="0"/>
          <a:chExt cx="0" cy="0"/>
        </a:xfrm>
      </p:grpSpPr>
      <p:sp>
        <p:nvSpPr>
          <p:cNvPr id="98" name="Google Shape;98;p99"/>
          <p:cNvSpPr/>
          <p:nvPr>
            <p:ph idx="2" type="pic"/>
          </p:nvPr>
        </p:nvSpPr>
        <p:spPr>
          <a:xfrm>
            <a:off x="9862457" y="-2002971"/>
            <a:ext cx="3997834" cy="7184572"/>
          </a:xfrm>
          <a:prstGeom prst="rect">
            <a:avLst/>
          </a:prstGeom>
          <a:solidFill>
            <a:srgbClr val="F2F2F2"/>
          </a:solidFill>
          <a:ln>
            <a:noFill/>
          </a:ln>
        </p:spPr>
      </p:sp>
      <p:sp>
        <p:nvSpPr>
          <p:cNvPr id="99" name="Google Shape;99;p99"/>
          <p:cNvSpPr/>
          <p:nvPr>
            <p:ph idx="3" type="pic"/>
          </p:nvPr>
        </p:nvSpPr>
        <p:spPr>
          <a:xfrm>
            <a:off x="15218229" y="2367146"/>
            <a:ext cx="3997834" cy="7184572"/>
          </a:xfrm>
          <a:prstGeom prst="rect">
            <a:avLst/>
          </a:prstGeom>
          <a:solidFill>
            <a:srgbClr val="F2F2F2"/>
          </a:solidFill>
          <a:ln>
            <a:noFill/>
          </a:ln>
        </p:spPr>
      </p:sp>
      <p:sp>
        <p:nvSpPr>
          <p:cNvPr id="100" name="Google Shape;100;p99"/>
          <p:cNvSpPr/>
          <p:nvPr>
            <p:ph idx="4" type="pic"/>
          </p:nvPr>
        </p:nvSpPr>
        <p:spPr>
          <a:xfrm>
            <a:off x="20574001" y="-2002972"/>
            <a:ext cx="3997834" cy="7184572"/>
          </a:xfrm>
          <a:prstGeom prst="rect">
            <a:avLst/>
          </a:prstGeom>
          <a:solidFill>
            <a:srgbClr val="F2F2F2"/>
          </a:solid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Big Image Placeholder">
  <p:cSld name="20_Big Image Placeholder">
    <p:spTree>
      <p:nvGrpSpPr>
        <p:cNvPr id="101" name="Shape 101"/>
        <p:cNvGrpSpPr/>
        <p:nvPr/>
      </p:nvGrpSpPr>
      <p:grpSpPr>
        <a:xfrm>
          <a:off x="0" y="0"/>
          <a:ext cx="0" cy="0"/>
          <a:chOff x="0" y="0"/>
          <a:chExt cx="0" cy="0"/>
        </a:xfrm>
      </p:grpSpPr>
      <p:sp>
        <p:nvSpPr>
          <p:cNvPr id="102" name="Google Shape;102;p100"/>
          <p:cNvSpPr/>
          <p:nvPr>
            <p:ph idx="2" type="pic"/>
          </p:nvPr>
        </p:nvSpPr>
        <p:spPr>
          <a:xfrm>
            <a:off x="15900543" y="4568177"/>
            <a:ext cx="3840481" cy="4825708"/>
          </a:xfrm>
          <a:prstGeom prst="rect">
            <a:avLst/>
          </a:prstGeom>
          <a:solidFill>
            <a:srgbClr val="F2F2F2"/>
          </a:solid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Big Image Placeholder">
  <p:cSld name="18_Big Image Placeholder">
    <p:spTree>
      <p:nvGrpSpPr>
        <p:cNvPr id="103" name="Shape 103"/>
        <p:cNvGrpSpPr/>
        <p:nvPr/>
      </p:nvGrpSpPr>
      <p:grpSpPr>
        <a:xfrm>
          <a:off x="0" y="0"/>
          <a:ext cx="0" cy="0"/>
          <a:chOff x="0" y="0"/>
          <a:chExt cx="0" cy="0"/>
        </a:xfrm>
      </p:grpSpPr>
      <p:sp>
        <p:nvSpPr>
          <p:cNvPr id="104" name="Google Shape;104;p101"/>
          <p:cNvSpPr/>
          <p:nvPr>
            <p:ph idx="2" type="pic"/>
          </p:nvPr>
        </p:nvSpPr>
        <p:spPr>
          <a:xfrm>
            <a:off x="14276256" y="2740780"/>
            <a:ext cx="10183944" cy="8026708"/>
          </a:xfrm>
          <a:prstGeom prst="rect">
            <a:avLst/>
          </a:prstGeom>
          <a:solidFill>
            <a:srgbClr val="F2F2F2"/>
          </a:solid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Big Image Placeholder">
  <p:cSld name="17_Big Image Placeholder">
    <p:spTree>
      <p:nvGrpSpPr>
        <p:cNvPr id="105" name="Shape 105"/>
        <p:cNvGrpSpPr/>
        <p:nvPr/>
      </p:nvGrpSpPr>
      <p:grpSpPr>
        <a:xfrm>
          <a:off x="0" y="0"/>
          <a:ext cx="0" cy="0"/>
          <a:chOff x="0" y="0"/>
          <a:chExt cx="0" cy="0"/>
        </a:xfrm>
      </p:grpSpPr>
      <p:sp>
        <p:nvSpPr>
          <p:cNvPr id="106" name="Google Shape;106;p102"/>
          <p:cNvSpPr/>
          <p:nvPr>
            <p:ph idx="2" type="pic"/>
          </p:nvPr>
        </p:nvSpPr>
        <p:spPr>
          <a:xfrm>
            <a:off x="8538693" y="4640542"/>
            <a:ext cx="7230540" cy="4108361"/>
          </a:xfrm>
          <a:prstGeom prst="rect">
            <a:avLst/>
          </a:prstGeom>
          <a:solidFill>
            <a:srgbClr val="F2F2F2"/>
          </a:solidFill>
          <a:ln>
            <a:noFill/>
          </a:ln>
        </p:spPr>
      </p:sp>
      <p:sp>
        <p:nvSpPr>
          <p:cNvPr id="107" name="Google Shape;107;p102"/>
          <p:cNvSpPr/>
          <p:nvPr>
            <p:ph idx="3" type="pic"/>
          </p:nvPr>
        </p:nvSpPr>
        <p:spPr>
          <a:xfrm>
            <a:off x="3204769" y="5439035"/>
            <a:ext cx="5333924" cy="3006222"/>
          </a:xfrm>
          <a:prstGeom prst="rect">
            <a:avLst/>
          </a:prstGeom>
          <a:solidFill>
            <a:srgbClr val="F2F2F2"/>
          </a:solidFill>
          <a:ln>
            <a:noFill/>
          </a:ln>
        </p:spPr>
      </p:sp>
      <p:sp>
        <p:nvSpPr>
          <p:cNvPr id="108" name="Google Shape;108;p102"/>
          <p:cNvSpPr/>
          <p:nvPr>
            <p:ph idx="4" type="pic"/>
          </p:nvPr>
        </p:nvSpPr>
        <p:spPr>
          <a:xfrm>
            <a:off x="15769233" y="5439035"/>
            <a:ext cx="5392826" cy="3006222"/>
          </a:xfrm>
          <a:prstGeom prst="rect">
            <a:avLst/>
          </a:prstGeom>
          <a:solidFill>
            <a:srgbClr val="F2F2F2"/>
          </a:solid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Big Image Placeholder">
  <p:cSld name="16_Big Image Placeholder">
    <p:spTree>
      <p:nvGrpSpPr>
        <p:cNvPr id="109" name="Shape 109"/>
        <p:cNvGrpSpPr/>
        <p:nvPr/>
      </p:nvGrpSpPr>
      <p:grpSpPr>
        <a:xfrm>
          <a:off x="0" y="0"/>
          <a:ext cx="0" cy="0"/>
          <a:chOff x="0" y="0"/>
          <a:chExt cx="0" cy="0"/>
        </a:xfrm>
      </p:grpSpPr>
      <p:sp>
        <p:nvSpPr>
          <p:cNvPr id="110" name="Google Shape;110;p103"/>
          <p:cNvSpPr/>
          <p:nvPr>
            <p:ph idx="2" type="pic"/>
          </p:nvPr>
        </p:nvSpPr>
        <p:spPr>
          <a:xfrm>
            <a:off x="1770135" y="3888613"/>
            <a:ext cx="9105900" cy="5138928"/>
          </a:xfrm>
          <a:prstGeom prst="rect">
            <a:avLst/>
          </a:prstGeom>
          <a:solidFill>
            <a:srgbClr val="F2F2F2"/>
          </a:solid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Big Image Placeholder">
  <p:cSld name="19_Big Image Placeholder">
    <p:spTree>
      <p:nvGrpSpPr>
        <p:cNvPr id="111" name="Shape 111"/>
        <p:cNvGrpSpPr/>
        <p:nvPr/>
      </p:nvGrpSpPr>
      <p:grpSpPr>
        <a:xfrm>
          <a:off x="0" y="0"/>
          <a:ext cx="0" cy="0"/>
          <a:chOff x="0" y="0"/>
          <a:chExt cx="0" cy="0"/>
        </a:xfrm>
      </p:grpSpPr>
      <p:sp>
        <p:nvSpPr>
          <p:cNvPr id="112" name="Google Shape;112;p104"/>
          <p:cNvSpPr/>
          <p:nvPr>
            <p:ph idx="2" type="pic"/>
          </p:nvPr>
        </p:nvSpPr>
        <p:spPr>
          <a:xfrm>
            <a:off x="14320158" y="7119938"/>
            <a:ext cx="7106756" cy="4501833"/>
          </a:xfrm>
          <a:prstGeom prst="rect">
            <a:avLst/>
          </a:prstGeom>
          <a:solidFill>
            <a:srgbClr val="F2F2F2"/>
          </a:solidFill>
          <a:ln>
            <a:noFill/>
          </a:ln>
        </p:spPr>
      </p:sp>
      <p:sp>
        <p:nvSpPr>
          <p:cNvPr id="113" name="Google Shape;113;p104"/>
          <p:cNvSpPr/>
          <p:nvPr>
            <p:ph idx="3" type="pic"/>
          </p:nvPr>
        </p:nvSpPr>
        <p:spPr>
          <a:xfrm>
            <a:off x="2960496" y="7119938"/>
            <a:ext cx="7106756" cy="4501833"/>
          </a:xfrm>
          <a:prstGeom prst="rect">
            <a:avLst/>
          </a:prstGeom>
          <a:solidFill>
            <a:srgbClr val="F2F2F2"/>
          </a:solid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Big Image Placeholder">
  <p:cSld name="22_Big Image Placeholder">
    <p:spTree>
      <p:nvGrpSpPr>
        <p:cNvPr id="114" name="Shape 114"/>
        <p:cNvGrpSpPr/>
        <p:nvPr/>
      </p:nvGrpSpPr>
      <p:grpSpPr>
        <a:xfrm>
          <a:off x="0" y="0"/>
          <a:ext cx="0" cy="0"/>
          <a:chOff x="0" y="0"/>
          <a:chExt cx="0" cy="0"/>
        </a:xfrm>
      </p:grpSpPr>
      <p:sp>
        <p:nvSpPr>
          <p:cNvPr id="115" name="Google Shape;115;p105"/>
          <p:cNvSpPr/>
          <p:nvPr>
            <p:ph idx="2" type="pic"/>
          </p:nvPr>
        </p:nvSpPr>
        <p:spPr>
          <a:xfrm>
            <a:off x="14320158" y="2085341"/>
            <a:ext cx="7106756" cy="4501833"/>
          </a:xfrm>
          <a:prstGeom prst="rect">
            <a:avLst/>
          </a:prstGeom>
          <a:solidFill>
            <a:srgbClr val="F2F2F2"/>
          </a:solidFill>
          <a:ln>
            <a:noFill/>
          </a:ln>
        </p:spPr>
      </p:sp>
      <p:sp>
        <p:nvSpPr>
          <p:cNvPr id="116" name="Google Shape;116;p105"/>
          <p:cNvSpPr/>
          <p:nvPr>
            <p:ph idx="3" type="pic"/>
          </p:nvPr>
        </p:nvSpPr>
        <p:spPr>
          <a:xfrm>
            <a:off x="2960496" y="2085341"/>
            <a:ext cx="7106756" cy="4501833"/>
          </a:xfrm>
          <a:prstGeom prst="rect">
            <a:avLst/>
          </a:prstGeom>
          <a:solidFill>
            <a:srgbClr val="F2F2F2"/>
          </a:solid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with Placeholder">
  <p:cSld name="1_Slide with Placeholder">
    <p:spTree>
      <p:nvGrpSpPr>
        <p:cNvPr id="117" name="Shape 117"/>
        <p:cNvGrpSpPr/>
        <p:nvPr/>
      </p:nvGrpSpPr>
      <p:grpSpPr>
        <a:xfrm>
          <a:off x="0" y="0"/>
          <a:ext cx="0" cy="0"/>
          <a:chOff x="0" y="0"/>
          <a:chExt cx="0" cy="0"/>
        </a:xfrm>
      </p:grpSpPr>
      <p:sp>
        <p:nvSpPr>
          <p:cNvPr id="118" name="Google Shape;118;p106"/>
          <p:cNvSpPr/>
          <p:nvPr>
            <p:ph idx="2" type="pic"/>
          </p:nvPr>
        </p:nvSpPr>
        <p:spPr>
          <a:xfrm>
            <a:off x="0" y="0"/>
            <a:ext cx="12024360" cy="13716000"/>
          </a:xfrm>
          <a:prstGeom prst="rect">
            <a:avLst/>
          </a:prstGeom>
          <a:solidFill>
            <a:srgbClr val="F2F2F2"/>
          </a:solidFill>
          <a:ln>
            <a:noFill/>
          </a:ln>
        </p:spPr>
      </p:sp>
      <p:sp>
        <p:nvSpPr>
          <p:cNvPr id="119" name="Google Shape;119;p106"/>
          <p:cNvSpPr/>
          <p:nvPr>
            <p:ph idx="3" type="pic"/>
          </p:nvPr>
        </p:nvSpPr>
        <p:spPr>
          <a:xfrm>
            <a:off x="12353290" y="0"/>
            <a:ext cx="12024360" cy="13716000"/>
          </a:xfrm>
          <a:prstGeom prst="rect">
            <a:avLst/>
          </a:prstGeom>
          <a:solidFill>
            <a:srgbClr val="F2F2F2"/>
          </a:solid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with Placeholder">
  <p:cSld name="2_Slide with Placeholder">
    <p:spTree>
      <p:nvGrpSpPr>
        <p:cNvPr id="120" name="Shape 120"/>
        <p:cNvGrpSpPr/>
        <p:nvPr/>
      </p:nvGrpSpPr>
      <p:grpSpPr>
        <a:xfrm>
          <a:off x="0" y="0"/>
          <a:ext cx="0" cy="0"/>
          <a:chOff x="0" y="0"/>
          <a:chExt cx="0" cy="0"/>
        </a:xfrm>
      </p:grpSpPr>
      <p:sp>
        <p:nvSpPr>
          <p:cNvPr id="121" name="Google Shape;121;p107"/>
          <p:cNvSpPr/>
          <p:nvPr>
            <p:ph idx="2" type="pic"/>
          </p:nvPr>
        </p:nvSpPr>
        <p:spPr>
          <a:xfrm>
            <a:off x="0" y="0"/>
            <a:ext cx="24377650" cy="6702552"/>
          </a:xfrm>
          <a:prstGeom prst="rect">
            <a:avLst/>
          </a:prstGeom>
          <a:solidFill>
            <a:srgbClr val="F2F2F2"/>
          </a:solidFill>
          <a:ln>
            <a:noFill/>
          </a:ln>
        </p:spPr>
      </p:sp>
      <p:sp>
        <p:nvSpPr>
          <p:cNvPr id="122" name="Google Shape;122;p107"/>
          <p:cNvSpPr/>
          <p:nvPr>
            <p:ph idx="3" type="pic"/>
          </p:nvPr>
        </p:nvSpPr>
        <p:spPr>
          <a:xfrm>
            <a:off x="0" y="7013448"/>
            <a:ext cx="24377650" cy="6702552"/>
          </a:xfrm>
          <a:prstGeom prst="rect">
            <a:avLst/>
          </a:prstGeom>
          <a:solidFill>
            <a:srgbClr val="F2F2F2"/>
          </a:solid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lide with Placeholder">
  <p:cSld name="3_Slide with Placeholder">
    <p:spTree>
      <p:nvGrpSpPr>
        <p:cNvPr id="123" name="Shape 123"/>
        <p:cNvGrpSpPr/>
        <p:nvPr/>
      </p:nvGrpSpPr>
      <p:grpSpPr>
        <a:xfrm>
          <a:off x="0" y="0"/>
          <a:ext cx="0" cy="0"/>
          <a:chOff x="0" y="0"/>
          <a:chExt cx="0" cy="0"/>
        </a:xfrm>
      </p:grpSpPr>
      <p:sp>
        <p:nvSpPr>
          <p:cNvPr id="124" name="Google Shape;124;p108"/>
          <p:cNvSpPr/>
          <p:nvPr>
            <p:ph idx="2" type="pic"/>
          </p:nvPr>
        </p:nvSpPr>
        <p:spPr>
          <a:xfrm>
            <a:off x="0" y="0"/>
            <a:ext cx="12015788" cy="6702552"/>
          </a:xfrm>
          <a:prstGeom prst="rect">
            <a:avLst/>
          </a:prstGeom>
          <a:solidFill>
            <a:srgbClr val="F2F2F2"/>
          </a:solidFill>
          <a:ln>
            <a:noFill/>
          </a:ln>
        </p:spPr>
      </p:sp>
      <p:sp>
        <p:nvSpPr>
          <p:cNvPr id="125" name="Google Shape;125;p108"/>
          <p:cNvSpPr/>
          <p:nvPr>
            <p:ph idx="3" type="pic"/>
          </p:nvPr>
        </p:nvSpPr>
        <p:spPr>
          <a:xfrm>
            <a:off x="12361862" y="0"/>
            <a:ext cx="12015788" cy="6702552"/>
          </a:xfrm>
          <a:prstGeom prst="rect">
            <a:avLst/>
          </a:prstGeom>
          <a:solidFill>
            <a:srgbClr val="F2F2F2"/>
          </a:solidFill>
          <a:ln>
            <a:noFill/>
          </a:ln>
        </p:spPr>
      </p:sp>
      <p:sp>
        <p:nvSpPr>
          <p:cNvPr id="126" name="Google Shape;126;p108"/>
          <p:cNvSpPr/>
          <p:nvPr>
            <p:ph idx="4" type="pic"/>
          </p:nvPr>
        </p:nvSpPr>
        <p:spPr>
          <a:xfrm>
            <a:off x="0" y="7013448"/>
            <a:ext cx="12015788" cy="6702552"/>
          </a:xfrm>
          <a:prstGeom prst="rect">
            <a:avLst/>
          </a:prstGeom>
          <a:solidFill>
            <a:srgbClr val="F2F2F2"/>
          </a:solidFill>
          <a:ln>
            <a:noFill/>
          </a:ln>
        </p:spPr>
      </p:sp>
      <p:sp>
        <p:nvSpPr>
          <p:cNvPr id="127" name="Google Shape;127;p108"/>
          <p:cNvSpPr/>
          <p:nvPr>
            <p:ph idx="5" type="pic"/>
          </p:nvPr>
        </p:nvSpPr>
        <p:spPr>
          <a:xfrm>
            <a:off x="12361862" y="7013448"/>
            <a:ext cx="12015788" cy="6702552"/>
          </a:xfrm>
          <a:prstGeom prst="rect">
            <a:avLst/>
          </a:prstGeom>
          <a:solidFill>
            <a:srgbClr val="F2F2F2"/>
          </a:solid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3_Placeholder">
  <p:cSld name="83_Placeholder">
    <p:spTree>
      <p:nvGrpSpPr>
        <p:cNvPr id="128" name="Shape 128"/>
        <p:cNvGrpSpPr/>
        <p:nvPr/>
      </p:nvGrpSpPr>
      <p:grpSpPr>
        <a:xfrm>
          <a:off x="0" y="0"/>
          <a:ext cx="0" cy="0"/>
          <a:chOff x="0" y="0"/>
          <a:chExt cx="0" cy="0"/>
        </a:xfrm>
      </p:grpSpPr>
      <p:sp>
        <p:nvSpPr>
          <p:cNvPr id="129" name="Google Shape;129;p109"/>
          <p:cNvSpPr/>
          <p:nvPr>
            <p:ph idx="2" type="pic"/>
          </p:nvPr>
        </p:nvSpPr>
        <p:spPr>
          <a:xfrm>
            <a:off x="16213349" y="5162205"/>
            <a:ext cx="2734056" cy="3336003"/>
          </a:xfrm>
          <a:prstGeom prst="rect">
            <a:avLst/>
          </a:prstGeom>
          <a:solidFill>
            <a:srgbClr val="F2F2F2"/>
          </a:solidFill>
          <a:ln>
            <a:noFill/>
          </a:ln>
        </p:spPr>
      </p:sp>
      <p:sp>
        <p:nvSpPr>
          <p:cNvPr id="130" name="Google Shape;130;p109"/>
          <p:cNvSpPr/>
          <p:nvPr>
            <p:ph idx="3" type="pic"/>
          </p:nvPr>
        </p:nvSpPr>
        <p:spPr>
          <a:xfrm>
            <a:off x="10693597" y="5162205"/>
            <a:ext cx="2734056" cy="3336003"/>
          </a:xfrm>
          <a:prstGeom prst="rect">
            <a:avLst/>
          </a:prstGeom>
          <a:solidFill>
            <a:srgbClr val="F2F2F2"/>
          </a:solidFill>
          <a:ln>
            <a:noFill/>
          </a:ln>
        </p:spPr>
      </p:sp>
      <p:sp>
        <p:nvSpPr>
          <p:cNvPr id="131" name="Google Shape;131;p109"/>
          <p:cNvSpPr/>
          <p:nvPr>
            <p:ph idx="4" type="pic"/>
          </p:nvPr>
        </p:nvSpPr>
        <p:spPr>
          <a:xfrm>
            <a:off x="5207153" y="5162205"/>
            <a:ext cx="2734056" cy="3336003"/>
          </a:xfrm>
          <a:prstGeom prst="rect">
            <a:avLst/>
          </a:prstGeom>
          <a:solidFill>
            <a:srgbClr val="F2F2F2"/>
          </a:solid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Placeholder">
  <p:cSld name="8_Placeholder">
    <p:spTree>
      <p:nvGrpSpPr>
        <p:cNvPr id="132" name="Shape 132"/>
        <p:cNvGrpSpPr/>
        <p:nvPr/>
      </p:nvGrpSpPr>
      <p:grpSpPr>
        <a:xfrm>
          <a:off x="0" y="0"/>
          <a:ext cx="0" cy="0"/>
          <a:chOff x="0" y="0"/>
          <a:chExt cx="0" cy="0"/>
        </a:xfrm>
      </p:grpSpPr>
      <p:sp>
        <p:nvSpPr>
          <p:cNvPr id="133" name="Google Shape;133;p110"/>
          <p:cNvSpPr/>
          <p:nvPr>
            <p:ph idx="2" type="pic"/>
          </p:nvPr>
        </p:nvSpPr>
        <p:spPr>
          <a:xfrm>
            <a:off x="0" y="4571999"/>
            <a:ext cx="8125278" cy="4572001"/>
          </a:xfrm>
          <a:prstGeom prst="rect">
            <a:avLst/>
          </a:prstGeom>
          <a:solidFill>
            <a:srgbClr val="F2F2F2"/>
          </a:solidFill>
          <a:ln>
            <a:noFill/>
          </a:ln>
        </p:spPr>
      </p:sp>
      <p:sp>
        <p:nvSpPr>
          <p:cNvPr id="134" name="Google Shape;134;p110"/>
          <p:cNvSpPr/>
          <p:nvPr>
            <p:ph idx="3" type="pic"/>
          </p:nvPr>
        </p:nvSpPr>
        <p:spPr>
          <a:xfrm>
            <a:off x="8126488" y="-3"/>
            <a:ext cx="8125278" cy="4572001"/>
          </a:xfrm>
          <a:prstGeom prst="rect">
            <a:avLst/>
          </a:prstGeom>
          <a:solidFill>
            <a:srgbClr val="F2F2F2"/>
          </a:solidFill>
          <a:ln>
            <a:noFill/>
          </a:ln>
        </p:spPr>
      </p:sp>
      <p:sp>
        <p:nvSpPr>
          <p:cNvPr id="135" name="Google Shape;135;p110"/>
          <p:cNvSpPr/>
          <p:nvPr>
            <p:ph idx="4" type="pic"/>
          </p:nvPr>
        </p:nvSpPr>
        <p:spPr>
          <a:xfrm>
            <a:off x="8126488" y="9144000"/>
            <a:ext cx="8125278" cy="4572001"/>
          </a:xfrm>
          <a:prstGeom prst="rect">
            <a:avLst/>
          </a:prstGeom>
          <a:solidFill>
            <a:srgbClr val="F2F2F2"/>
          </a:solidFill>
          <a:ln>
            <a:noFill/>
          </a:ln>
        </p:spPr>
      </p:sp>
      <p:sp>
        <p:nvSpPr>
          <p:cNvPr id="136" name="Google Shape;136;p110"/>
          <p:cNvSpPr/>
          <p:nvPr>
            <p:ph idx="5" type="pic"/>
          </p:nvPr>
        </p:nvSpPr>
        <p:spPr>
          <a:xfrm>
            <a:off x="16250556" y="4571999"/>
            <a:ext cx="8125278" cy="4572001"/>
          </a:xfrm>
          <a:prstGeom prst="rect">
            <a:avLst/>
          </a:prstGeom>
          <a:solidFill>
            <a:srgbClr val="F2F2F2"/>
          </a:solid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Portfolio Three">
  <p:cSld name="12_Portfolio Three">
    <p:spTree>
      <p:nvGrpSpPr>
        <p:cNvPr id="137" name="Shape 137"/>
        <p:cNvGrpSpPr/>
        <p:nvPr/>
      </p:nvGrpSpPr>
      <p:grpSpPr>
        <a:xfrm>
          <a:off x="0" y="0"/>
          <a:ext cx="0" cy="0"/>
          <a:chOff x="0" y="0"/>
          <a:chExt cx="0" cy="0"/>
        </a:xfrm>
      </p:grpSpPr>
      <p:sp>
        <p:nvSpPr>
          <p:cNvPr id="138" name="Google Shape;138;p111"/>
          <p:cNvSpPr/>
          <p:nvPr>
            <p:ph idx="2" type="pic"/>
          </p:nvPr>
        </p:nvSpPr>
        <p:spPr>
          <a:xfrm>
            <a:off x="0" y="0"/>
            <a:ext cx="10937875" cy="13716000"/>
          </a:xfrm>
          <a:prstGeom prst="rect">
            <a:avLst/>
          </a:prstGeom>
          <a:solidFill>
            <a:srgbClr val="F2F2F2"/>
          </a:solidFill>
          <a:ln>
            <a:noFill/>
          </a:ln>
        </p:spPr>
      </p:sp>
      <p:sp>
        <p:nvSpPr>
          <p:cNvPr id="139" name="Google Shape;139;p111"/>
          <p:cNvSpPr/>
          <p:nvPr>
            <p:ph idx="3" type="pic"/>
          </p:nvPr>
        </p:nvSpPr>
        <p:spPr>
          <a:xfrm>
            <a:off x="10937874" y="0"/>
            <a:ext cx="13439776" cy="6858000"/>
          </a:xfrm>
          <a:prstGeom prst="rect">
            <a:avLst/>
          </a:prstGeom>
          <a:solidFill>
            <a:srgbClr val="F2F2F2"/>
          </a:solid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Portfolio Three">
  <p:cSld name="13_Portfolio Three">
    <p:spTree>
      <p:nvGrpSpPr>
        <p:cNvPr id="140" name="Shape 140"/>
        <p:cNvGrpSpPr/>
        <p:nvPr/>
      </p:nvGrpSpPr>
      <p:grpSpPr>
        <a:xfrm>
          <a:off x="0" y="0"/>
          <a:ext cx="0" cy="0"/>
          <a:chOff x="0" y="0"/>
          <a:chExt cx="0" cy="0"/>
        </a:xfrm>
      </p:grpSpPr>
      <p:sp>
        <p:nvSpPr>
          <p:cNvPr id="141" name="Google Shape;141;p112"/>
          <p:cNvSpPr/>
          <p:nvPr>
            <p:ph idx="2" type="pic"/>
          </p:nvPr>
        </p:nvSpPr>
        <p:spPr>
          <a:xfrm>
            <a:off x="0" y="0"/>
            <a:ext cx="12168188" cy="6858000"/>
          </a:xfrm>
          <a:prstGeom prst="rect">
            <a:avLst/>
          </a:prstGeom>
          <a:solidFill>
            <a:srgbClr val="F2F2F2"/>
          </a:solidFill>
          <a:ln>
            <a:noFill/>
          </a:ln>
        </p:spPr>
      </p:sp>
      <p:sp>
        <p:nvSpPr>
          <p:cNvPr id="142" name="Google Shape;142;p112"/>
          <p:cNvSpPr/>
          <p:nvPr>
            <p:ph idx="3" type="pic"/>
          </p:nvPr>
        </p:nvSpPr>
        <p:spPr>
          <a:xfrm>
            <a:off x="0" y="6858000"/>
            <a:ext cx="12168188" cy="6858000"/>
          </a:xfrm>
          <a:prstGeom prst="rect">
            <a:avLst/>
          </a:prstGeom>
          <a:solidFill>
            <a:srgbClr val="F2F2F2"/>
          </a:solidFill>
          <a:ln>
            <a:noFill/>
          </a:ln>
        </p:spPr>
      </p:sp>
      <p:sp>
        <p:nvSpPr>
          <p:cNvPr id="143" name="Google Shape;143;p112"/>
          <p:cNvSpPr/>
          <p:nvPr>
            <p:ph idx="4" type="pic"/>
          </p:nvPr>
        </p:nvSpPr>
        <p:spPr>
          <a:xfrm>
            <a:off x="12209462" y="6858000"/>
            <a:ext cx="12168188" cy="6858000"/>
          </a:xfrm>
          <a:prstGeom prst="rect">
            <a:avLst/>
          </a:prstGeom>
          <a:solidFill>
            <a:srgbClr val="F2F2F2"/>
          </a:solid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Portfolio Three">
  <p:cSld name="14_Portfolio Three">
    <p:spTree>
      <p:nvGrpSpPr>
        <p:cNvPr id="144" name="Shape 144"/>
        <p:cNvGrpSpPr/>
        <p:nvPr/>
      </p:nvGrpSpPr>
      <p:grpSpPr>
        <a:xfrm>
          <a:off x="0" y="0"/>
          <a:ext cx="0" cy="0"/>
          <a:chOff x="0" y="0"/>
          <a:chExt cx="0" cy="0"/>
        </a:xfrm>
      </p:grpSpPr>
      <p:sp>
        <p:nvSpPr>
          <p:cNvPr id="145" name="Google Shape;145;p113"/>
          <p:cNvSpPr/>
          <p:nvPr>
            <p:ph idx="2" type="pic"/>
          </p:nvPr>
        </p:nvSpPr>
        <p:spPr>
          <a:xfrm>
            <a:off x="12168188" y="0"/>
            <a:ext cx="12168188" cy="6858000"/>
          </a:xfrm>
          <a:prstGeom prst="rect">
            <a:avLst/>
          </a:prstGeom>
          <a:solidFill>
            <a:srgbClr val="F2F2F2"/>
          </a:solidFill>
          <a:ln>
            <a:noFill/>
          </a:ln>
        </p:spPr>
      </p:sp>
      <p:sp>
        <p:nvSpPr>
          <p:cNvPr id="146" name="Google Shape;146;p113"/>
          <p:cNvSpPr/>
          <p:nvPr>
            <p:ph idx="3" type="pic"/>
          </p:nvPr>
        </p:nvSpPr>
        <p:spPr>
          <a:xfrm>
            <a:off x="0" y="6858000"/>
            <a:ext cx="12168188" cy="6858000"/>
          </a:xfrm>
          <a:prstGeom prst="rect">
            <a:avLst/>
          </a:prstGeom>
          <a:solidFill>
            <a:srgbClr val="F2F2F2"/>
          </a:solidFill>
          <a:ln>
            <a:noFill/>
          </a:ln>
        </p:spPr>
      </p:sp>
      <p:sp>
        <p:nvSpPr>
          <p:cNvPr id="147" name="Google Shape;147;p113"/>
          <p:cNvSpPr/>
          <p:nvPr>
            <p:ph idx="4" type="pic"/>
          </p:nvPr>
        </p:nvSpPr>
        <p:spPr>
          <a:xfrm>
            <a:off x="12209462" y="6858000"/>
            <a:ext cx="12168188" cy="6858000"/>
          </a:xfrm>
          <a:prstGeom prst="rect">
            <a:avLst/>
          </a:prstGeom>
          <a:solidFill>
            <a:srgbClr val="F2F2F2"/>
          </a:solid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Portfolio Three">
  <p:cSld name="15_Portfolio Three">
    <p:spTree>
      <p:nvGrpSpPr>
        <p:cNvPr id="148" name="Shape 148"/>
        <p:cNvGrpSpPr/>
        <p:nvPr/>
      </p:nvGrpSpPr>
      <p:grpSpPr>
        <a:xfrm>
          <a:off x="0" y="0"/>
          <a:ext cx="0" cy="0"/>
          <a:chOff x="0" y="0"/>
          <a:chExt cx="0" cy="0"/>
        </a:xfrm>
      </p:grpSpPr>
      <p:sp>
        <p:nvSpPr>
          <p:cNvPr id="149" name="Google Shape;149;p114"/>
          <p:cNvSpPr/>
          <p:nvPr>
            <p:ph idx="2" type="pic"/>
          </p:nvPr>
        </p:nvSpPr>
        <p:spPr>
          <a:xfrm>
            <a:off x="12168188" y="0"/>
            <a:ext cx="12168188" cy="6858000"/>
          </a:xfrm>
          <a:prstGeom prst="rect">
            <a:avLst/>
          </a:prstGeom>
          <a:solidFill>
            <a:srgbClr val="F2F2F2"/>
          </a:solidFill>
          <a:ln>
            <a:noFill/>
          </a:ln>
        </p:spPr>
      </p:sp>
      <p:sp>
        <p:nvSpPr>
          <p:cNvPr id="150" name="Google Shape;150;p114"/>
          <p:cNvSpPr/>
          <p:nvPr>
            <p:ph idx="3" type="pic"/>
          </p:nvPr>
        </p:nvSpPr>
        <p:spPr>
          <a:xfrm>
            <a:off x="0" y="0"/>
            <a:ext cx="12168188" cy="6858000"/>
          </a:xfrm>
          <a:prstGeom prst="rect">
            <a:avLst/>
          </a:prstGeom>
          <a:solidFill>
            <a:srgbClr val="F2F2F2"/>
          </a:solidFill>
          <a:ln>
            <a:noFill/>
          </a:ln>
        </p:spPr>
      </p:sp>
      <p:sp>
        <p:nvSpPr>
          <p:cNvPr id="151" name="Google Shape;151;p114"/>
          <p:cNvSpPr/>
          <p:nvPr>
            <p:ph idx="4" type="pic"/>
          </p:nvPr>
        </p:nvSpPr>
        <p:spPr>
          <a:xfrm>
            <a:off x="12209462" y="6858000"/>
            <a:ext cx="12168188" cy="6858000"/>
          </a:xfrm>
          <a:prstGeom prst="rect">
            <a:avLst/>
          </a:prstGeom>
          <a:solidFill>
            <a:srgbClr val="F2F2F2"/>
          </a:solid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Portfolio Three">
  <p:cSld name="16_Portfolio Three">
    <p:spTree>
      <p:nvGrpSpPr>
        <p:cNvPr id="152" name="Shape 152"/>
        <p:cNvGrpSpPr/>
        <p:nvPr/>
      </p:nvGrpSpPr>
      <p:grpSpPr>
        <a:xfrm>
          <a:off x="0" y="0"/>
          <a:ext cx="0" cy="0"/>
          <a:chOff x="0" y="0"/>
          <a:chExt cx="0" cy="0"/>
        </a:xfrm>
      </p:grpSpPr>
      <p:sp>
        <p:nvSpPr>
          <p:cNvPr id="153" name="Google Shape;153;p115"/>
          <p:cNvSpPr/>
          <p:nvPr>
            <p:ph idx="2" type="pic"/>
          </p:nvPr>
        </p:nvSpPr>
        <p:spPr>
          <a:xfrm>
            <a:off x="12168188" y="0"/>
            <a:ext cx="12168188" cy="6858000"/>
          </a:xfrm>
          <a:prstGeom prst="rect">
            <a:avLst/>
          </a:prstGeom>
          <a:solidFill>
            <a:srgbClr val="F2F2F2"/>
          </a:solidFill>
          <a:ln>
            <a:noFill/>
          </a:ln>
        </p:spPr>
      </p:sp>
      <p:sp>
        <p:nvSpPr>
          <p:cNvPr id="154" name="Google Shape;154;p115"/>
          <p:cNvSpPr/>
          <p:nvPr>
            <p:ph idx="3" type="pic"/>
          </p:nvPr>
        </p:nvSpPr>
        <p:spPr>
          <a:xfrm>
            <a:off x="0" y="0"/>
            <a:ext cx="12168188" cy="6858000"/>
          </a:xfrm>
          <a:prstGeom prst="rect">
            <a:avLst/>
          </a:prstGeom>
          <a:solidFill>
            <a:srgbClr val="F2F2F2"/>
          </a:solidFill>
          <a:ln>
            <a:noFill/>
          </a:ln>
        </p:spPr>
      </p:sp>
      <p:sp>
        <p:nvSpPr>
          <p:cNvPr id="155" name="Google Shape;155;p115"/>
          <p:cNvSpPr/>
          <p:nvPr>
            <p:ph idx="4" type="pic"/>
          </p:nvPr>
        </p:nvSpPr>
        <p:spPr>
          <a:xfrm>
            <a:off x="0" y="6858000"/>
            <a:ext cx="12168188" cy="6858000"/>
          </a:xfrm>
          <a:prstGeom prst="rect">
            <a:avLst/>
          </a:prstGeom>
          <a:solidFill>
            <a:srgbClr val="F2F2F2"/>
          </a:solid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Portfolio Three">
  <p:cSld name="19_Portfolio Three">
    <p:spTree>
      <p:nvGrpSpPr>
        <p:cNvPr id="156" name="Shape 156"/>
        <p:cNvGrpSpPr/>
        <p:nvPr/>
      </p:nvGrpSpPr>
      <p:grpSpPr>
        <a:xfrm>
          <a:off x="0" y="0"/>
          <a:ext cx="0" cy="0"/>
          <a:chOff x="0" y="0"/>
          <a:chExt cx="0" cy="0"/>
        </a:xfrm>
      </p:grpSpPr>
      <p:sp>
        <p:nvSpPr>
          <p:cNvPr id="157" name="Google Shape;157;p116"/>
          <p:cNvSpPr/>
          <p:nvPr>
            <p:ph idx="2" type="pic"/>
          </p:nvPr>
        </p:nvSpPr>
        <p:spPr>
          <a:xfrm>
            <a:off x="12168188" y="0"/>
            <a:ext cx="12168188" cy="6858000"/>
          </a:xfrm>
          <a:prstGeom prst="rect">
            <a:avLst/>
          </a:prstGeom>
          <a:solidFill>
            <a:srgbClr val="F2F2F2"/>
          </a:solidFill>
          <a:ln>
            <a:noFill/>
          </a:ln>
        </p:spPr>
      </p:sp>
      <p:sp>
        <p:nvSpPr>
          <p:cNvPr id="158" name="Google Shape;158;p116"/>
          <p:cNvSpPr/>
          <p:nvPr>
            <p:ph idx="3" type="pic"/>
          </p:nvPr>
        </p:nvSpPr>
        <p:spPr>
          <a:xfrm>
            <a:off x="0" y="0"/>
            <a:ext cx="12168188" cy="6858000"/>
          </a:xfrm>
          <a:prstGeom prst="rect">
            <a:avLst/>
          </a:prstGeom>
          <a:solidFill>
            <a:srgbClr val="F2F2F2"/>
          </a:solidFill>
          <a:ln>
            <a:noFill/>
          </a:ln>
        </p:spPr>
      </p:sp>
      <p:sp>
        <p:nvSpPr>
          <p:cNvPr id="159" name="Google Shape;159;p116"/>
          <p:cNvSpPr/>
          <p:nvPr>
            <p:ph idx="4" type="pic"/>
          </p:nvPr>
        </p:nvSpPr>
        <p:spPr>
          <a:xfrm>
            <a:off x="0" y="6858000"/>
            <a:ext cx="12168188" cy="6858000"/>
          </a:xfrm>
          <a:prstGeom prst="rect">
            <a:avLst/>
          </a:prstGeom>
          <a:solidFill>
            <a:srgbClr val="F2F2F2"/>
          </a:solidFill>
          <a:ln>
            <a:noFill/>
          </a:ln>
        </p:spPr>
      </p:sp>
      <p:sp>
        <p:nvSpPr>
          <p:cNvPr id="160" name="Google Shape;160;p116"/>
          <p:cNvSpPr/>
          <p:nvPr>
            <p:ph idx="5" type="pic"/>
          </p:nvPr>
        </p:nvSpPr>
        <p:spPr>
          <a:xfrm>
            <a:off x="12168188" y="6858000"/>
            <a:ext cx="12168188" cy="6858000"/>
          </a:xfrm>
          <a:prstGeom prst="rect">
            <a:avLst/>
          </a:prstGeom>
          <a:solidFill>
            <a:srgbClr val="F2F2F2"/>
          </a:solid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8_Placeholder">
  <p:cSld name="88_Placeholder">
    <p:spTree>
      <p:nvGrpSpPr>
        <p:cNvPr id="161" name="Shape 161"/>
        <p:cNvGrpSpPr/>
        <p:nvPr/>
      </p:nvGrpSpPr>
      <p:grpSpPr>
        <a:xfrm>
          <a:off x="0" y="0"/>
          <a:ext cx="0" cy="0"/>
          <a:chOff x="0" y="0"/>
          <a:chExt cx="0" cy="0"/>
        </a:xfrm>
      </p:grpSpPr>
      <p:sp>
        <p:nvSpPr>
          <p:cNvPr id="162" name="Google Shape;162;p117"/>
          <p:cNvSpPr/>
          <p:nvPr/>
        </p:nvSpPr>
        <p:spPr>
          <a:xfrm>
            <a:off x="2447567" y="5857605"/>
            <a:ext cx="6362459" cy="785839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63" name="Google Shape;163;p117"/>
          <p:cNvSpPr/>
          <p:nvPr>
            <p:ph idx="2" type="pic"/>
          </p:nvPr>
        </p:nvSpPr>
        <p:spPr>
          <a:xfrm>
            <a:off x="2447567" y="5857604"/>
            <a:ext cx="6362459" cy="7858395"/>
          </a:xfrm>
          <a:prstGeom prst="rect">
            <a:avLst/>
          </a:prstGeom>
          <a:solidFill>
            <a:srgbClr val="F2F2F2"/>
          </a:solid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1_Placeholder">
  <p:cSld name="81_Placeholder">
    <p:spTree>
      <p:nvGrpSpPr>
        <p:cNvPr id="164" name="Shape 164"/>
        <p:cNvGrpSpPr/>
        <p:nvPr/>
      </p:nvGrpSpPr>
      <p:grpSpPr>
        <a:xfrm>
          <a:off x="0" y="0"/>
          <a:ext cx="0" cy="0"/>
          <a:chOff x="0" y="0"/>
          <a:chExt cx="0" cy="0"/>
        </a:xfrm>
      </p:grpSpPr>
      <p:sp>
        <p:nvSpPr>
          <p:cNvPr id="165" name="Google Shape;165;p118"/>
          <p:cNvSpPr/>
          <p:nvPr>
            <p:ph idx="2" type="pic"/>
          </p:nvPr>
        </p:nvSpPr>
        <p:spPr>
          <a:xfrm>
            <a:off x="11158312" y="-1"/>
            <a:ext cx="13219338" cy="13715999"/>
          </a:xfrm>
          <a:prstGeom prst="rect">
            <a:avLst/>
          </a:prstGeom>
          <a:solidFill>
            <a:srgbClr val="F2F2F2"/>
          </a:solid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4_Placeholder">
  <p:cSld name="84_Placeholder">
    <p:spTree>
      <p:nvGrpSpPr>
        <p:cNvPr id="166" name="Shape 166"/>
        <p:cNvGrpSpPr/>
        <p:nvPr/>
      </p:nvGrpSpPr>
      <p:grpSpPr>
        <a:xfrm>
          <a:off x="0" y="0"/>
          <a:ext cx="0" cy="0"/>
          <a:chOff x="0" y="0"/>
          <a:chExt cx="0" cy="0"/>
        </a:xfrm>
      </p:grpSpPr>
      <p:sp>
        <p:nvSpPr>
          <p:cNvPr id="167" name="Google Shape;167;p119"/>
          <p:cNvSpPr/>
          <p:nvPr>
            <p:ph idx="2" type="pic"/>
          </p:nvPr>
        </p:nvSpPr>
        <p:spPr>
          <a:xfrm>
            <a:off x="-3116382" y="2291275"/>
            <a:ext cx="14069995" cy="8700168"/>
          </a:xfrm>
          <a:prstGeom prst="rect">
            <a:avLst/>
          </a:prstGeom>
          <a:solidFill>
            <a:srgbClr val="F2F2F2"/>
          </a:solid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9_Placeholder">
  <p:cSld name="59_Placeholder">
    <p:spTree>
      <p:nvGrpSpPr>
        <p:cNvPr id="168" name="Shape 168"/>
        <p:cNvGrpSpPr/>
        <p:nvPr/>
      </p:nvGrpSpPr>
      <p:grpSpPr>
        <a:xfrm>
          <a:off x="0" y="0"/>
          <a:ext cx="0" cy="0"/>
          <a:chOff x="0" y="0"/>
          <a:chExt cx="0" cy="0"/>
        </a:xfrm>
      </p:grpSpPr>
      <p:sp>
        <p:nvSpPr>
          <p:cNvPr id="169" name="Google Shape;169;p120"/>
          <p:cNvSpPr/>
          <p:nvPr>
            <p:ph idx="2" type="pic"/>
          </p:nvPr>
        </p:nvSpPr>
        <p:spPr>
          <a:xfrm>
            <a:off x="1345813" y="1953396"/>
            <a:ext cx="4748848" cy="3550702"/>
          </a:xfrm>
          <a:prstGeom prst="rect">
            <a:avLst/>
          </a:prstGeom>
          <a:solidFill>
            <a:srgbClr val="F2F2F2"/>
          </a:solidFill>
          <a:ln>
            <a:noFill/>
          </a:ln>
        </p:spPr>
      </p:sp>
      <p:sp>
        <p:nvSpPr>
          <p:cNvPr id="170" name="Google Shape;170;p120"/>
          <p:cNvSpPr/>
          <p:nvPr>
            <p:ph idx="3" type="pic"/>
          </p:nvPr>
        </p:nvSpPr>
        <p:spPr>
          <a:xfrm>
            <a:off x="1345813" y="7195846"/>
            <a:ext cx="4748848" cy="3550702"/>
          </a:xfrm>
          <a:prstGeom prst="rect">
            <a:avLst/>
          </a:prstGeom>
          <a:solidFill>
            <a:srgbClr val="F2F2F2"/>
          </a:solidFill>
          <a:ln>
            <a:noFill/>
          </a:ln>
        </p:spPr>
      </p:sp>
      <p:sp>
        <p:nvSpPr>
          <p:cNvPr id="171" name="Google Shape;171;p120"/>
          <p:cNvSpPr/>
          <p:nvPr>
            <p:ph idx="4" type="pic"/>
          </p:nvPr>
        </p:nvSpPr>
        <p:spPr>
          <a:xfrm>
            <a:off x="6976593" y="1953396"/>
            <a:ext cx="4748848" cy="3550702"/>
          </a:xfrm>
          <a:prstGeom prst="rect">
            <a:avLst/>
          </a:prstGeom>
          <a:solidFill>
            <a:srgbClr val="F2F2F2"/>
          </a:solidFill>
          <a:ln>
            <a:noFill/>
          </a:ln>
        </p:spPr>
      </p:sp>
      <p:sp>
        <p:nvSpPr>
          <p:cNvPr id="172" name="Google Shape;172;p120"/>
          <p:cNvSpPr/>
          <p:nvPr>
            <p:ph idx="5" type="pic"/>
          </p:nvPr>
        </p:nvSpPr>
        <p:spPr>
          <a:xfrm>
            <a:off x="6976593" y="7195846"/>
            <a:ext cx="4748848" cy="3550702"/>
          </a:xfrm>
          <a:prstGeom prst="rect">
            <a:avLst/>
          </a:prstGeom>
          <a:solidFill>
            <a:srgbClr val="F2F2F2"/>
          </a:solidFill>
          <a:ln>
            <a:noFill/>
          </a:ln>
        </p:spPr>
      </p:sp>
      <p:sp>
        <p:nvSpPr>
          <p:cNvPr id="173" name="Google Shape;173;p120"/>
          <p:cNvSpPr/>
          <p:nvPr>
            <p:ph idx="6" type="pic"/>
          </p:nvPr>
        </p:nvSpPr>
        <p:spPr>
          <a:xfrm>
            <a:off x="12607373" y="1953396"/>
            <a:ext cx="4748848" cy="3550702"/>
          </a:xfrm>
          <a:prstGeom prst="rect">
            <a:avLst/>
          </a:prstGeom>
          <a:solidFill>
            <a:srgbClr val="F2F2F2"/>
          </a:solidFill>
          <a:ln>
            <a:noFill/>
          </a:ln>
        </p:spPr>
      </p:sp>
      <p:sp>
        <p:nvSpPr>
          <p:cNvPr id="174" name="Google Shape;174;p120"/>
          <p:cNvSpPr/>
          <p:nvPr>
            <p:ph idx="7" type="pic"/>
          </p:nvPr>
        </p:nvSpPr>
        <p:spPr>
          <a:xfrm>
            <a:off x="12607373" y="7195846"/>
            <a:ext cx="4748848" cy="3550702"/>
          </a:xfrm>
          <a:prstGeom prst="rect">
            <a:avLst/>
          </a:prstGeom>
          <a:solidFill>
            <a:srgbClr val="F2F2F2"/>
          </a:solidFill>
          <a:ln>
            <a:noFill/>
          </a:ln>
        </p:spPr>
      </p:sp>
      <p:sp>
        <p:nvSpPr>
          <p:cNvPr id="175" name="Google Shape;175;p120"/>
          <p:cNvSpPr/>
          <p:nvPr>
            <p:ph idx="8" type="pic"/>
          </p:nvPr>
        </p:nvSpPr>
        <p:spPr>
          <a:xfrm>
            <a:off x="18238153" y="1953396"/>
            <a:ext cx="4748848" cy="3550702"/>
          </a:xfrm>
          <a:prstGeom prst="rect">
            <a:avLst/>
          </a:prstGeom>
          <a:solidFill>
            <a:srgbClr val="F2F2F2"/>
          </a:solidFill>
          <a:ln>
            <a:noFill/>
          </a:ln>
        </p:spPr>
      </p:sp>
      <p:sp>
        <p:nvSpPr>
          <p:cNvPr id="176" name="Google Shape;176;p120"/>
          <p:cNvSpPr/>
          <p:nvPr>
            <p:ph idx="9" type="pic"/>
          </p:nvPr>
        </p:nvSpPr>
        <p:spPr>
          <a:xfrm>
            <a:off x="18238153" y="7195846"/>
            <a:ext cx="4748848" cy="3550702"/>
          </a:xfrm>
          <a:prstGeom prst="rect">
            <a:avLst/>
          </a:prstGeom>
          <a:solidFill>
            <a:srgbClr val="F2F2F2"/>
          </a:solid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 with Placeholder">
  <p:cSld name="10_Slide with Placeholder">
    <p:spTree>
      <p:nvGrpSpPr>
        <p:cNvPr id="177" name="Shape 177"/>
        <p:cNvGrpSpPr/>
        <p:nvPr/>
      </p:nvGrpSpPr>
      <p:grpSpPr>
        <a:xfrm>
          <a:off x="0" y="0"/>
          <a:ext cx="0" cy="0"/>
          <a:chOff x="0" y="0"/>
          <a:chExt cx="0" cy="0"/>
        </a:xfrm>
      </p:grpSpPr>
      <p:sp>
        <p:nvSpPr>
          <p:cNvPr id="178" name="Google Shape;178;p121"/>
          <p:cNvSpPr/>
          <p:nvPr>
            <p:ph idx="2" type="pic"/>
          </p:nvPr>
        </p:nvSpPr>
        <p:spPr>
          <a:xfrm>
            <a:off x="1" y="0"/>
            <a:ext cx="11446795" cy="13716000"/>
          </a:xfrm>
          <a:prstGeom prst="rect">
            <a:avLst/>
          </a:prstGeom>
          <a:solidFill>
            <a:srgbClr val="F2F2F2"/>
          </a:solid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 with Placeholder">
  <p:cSld name="11_Slide with Placeholder">
    <p:spTree>
      <p:nvGrpSpPr>
        <p:cNvPr id="179" name="Shape 179"/>
        <p:cNvGrpSpPr/>
        <p:nvPr/>
      </p:nvGrpSpPr>
      <p:grpSpPr>
        <a:xfrm>
          <a:off x="0" y="0"/>
          <a:ext cx="0" cy="0"/>
          <a:chOff x="0" y="0"/>
          <a:chExt cx="0" cy="0"/>
        </a:xfrm>
      </p:grpSpPr>
      <p:sp>
        <p:nvSpPr>
          <p:cNvPr id="180" name="Google Shape;180;p122"/>
          <p:cNvSpPr/>
          <p:nvPr>
            <p:ph idx="2" type="pic"/>
          </p:nvPr>
        </p:nvSpPr>
        <p:spPr>
          <a:xfrm>
            <a:off x="12930855" y="0"/>
            <a:ext cx="11446795" cy="13716000"/>
          </a:xfrm>
          <a:prstGeom prst="rect">
            <a:avLst/>
          </a:prstGeom>
          <a:solidFill>
            <a:srgbClr val="F2F2F2"/>
          </a:solid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Slide with Placeholder">
  <p:cSld name="7_Slide with Placeholder">
    <p:spTree>
      <p:nvGrpSpPr>
        <p:cNvPr id="181" name="Shape 181"/>
        <p:cNvGrpSpPr/>
        <p:nvPr/>
      </p:nvGrpSpPr>
      <p:grpSpPr>
        <a:xfrm>
          <a:off x="0" y="0"/>
          <a:ext cx="0" cy="0"/>
          <a:chOff x="0" y="0"/>
          <a:chExt cx="0" cy="0"/>
        </a:xfrm>
      </p:grpSpPr>
      <p:sp>
        <p:nvSpPr>
          <p:cNvPr id="182" name="Google Shape;182;p123"/>
          <p:cNvSpPr/>
          <p:nvPr>
            <p:ph idx="2" type="pic"/>
          </p:nvPr>
        </p:nvSpPr>
        <p:spPr>
          <a:xfrm>
            <a:off x="13042222" y="2324100"/>
            <a:ext cx="9140012" cy="2768854"/>
          </a:xfrm>
          <a:prstGeom prst="rect">
            <a:avLst/>
          </a:prstGeom>
          <a:solidFill>
            <a:srgbClr val="F2F2F2"/>
          </a:solidFill>
          <a:ln>
            <a:noFill/>
          </a:ln>
        </p:spPr>
      </p:sp>
      <p:sp>
        <p:nvSpPr>
          <p:cNvPr id="183" name="Google Shape;183;p123"/>
          <p:cNvSpPr/>
          <p:nvPr>
            <p:ph idx="3" type="pic"/>
          </p:nvPr>
        </p:nvSpPr>
        <p:spPr>
          <a:xfrm>
            <a:off x="13042221" y="5491351"/>
            <a:ext cx="9140012" cy="2768854"/>
          </a:xfrm>
          <a:prstGeom prst="rect">
            <a:avLst/>
          </a:prstGeom>
          <a:solidFill>
            <a:srgbClr val="F2F2F2"/>
          </a:solidFill>
          <a:ln>
            <a:noFill/>
          </a:ln>
        </p:spPr>
      </p:sp>
      <p:sp>
        <p:nvSpPr>
          <p:cNvPr id="184" name="Google Shape;184;p123"/>
          <p:cNvSpPr/>
          <p:nvPr>
            <p:ph idx="4" type="pic"/>
          </p:nvPr>
        </p:nvSpPr>
        <p:spPr>
          <a:xfrm>
            <a:off x="13042221" y="8658602"/>
            <a:ext cx="9140012" cy="2768854"/>
          </a:xfrm>
          <a:prstGeom prst="rect">
            <a:avLst/>
          </a:prstGeom>
          <a:solidFill>
            <a:srgbClr val="F2F2F2"/>
          </a:solid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Slide with Placeholder">
  <p:cSld name="8_Slide with Placeholder">
    <p:spTree>
      <p:nvGrpSpPr>
        <p:cNvPr id="185" name="Shape 185"/>
        <p:cNvGrpSpPr/>
        <p:nvPr/>
      </p:nvGrpSpPr>
      <p:grpSpPr>
        <a:xfrm>
          <a:off x="0" y="0"/>
          <a:ext cx="0" cy="0"/>
          <a:chOff x="0" y="0"/>
          <a:chExt cx="0" cy="0"/>
        </a:xfrm>
      </p:grpSpPr>
      <p:sp>
        <p:nvSpPr>
          <p:cNvPr id="186" name="Google Shape;186;p124"/>
          <p:cNvSpPr/>
          <p:nvPr>
            <p:ph idx="2" type="pic"/>
          </p:nvPr>
        </p:nvSpPr>
        <p:spPr>
          <a:xfrm>
            <a:off x="5537648" y="5491351"/>
            <a:ext cx="5934456" cy="5934456"/>
          </a:xfrm>
          <a:prstGeom prst="rect">
            <a:avLst/>
          </a:prstGeom>
          <a:solidFill>
            <a:srgbClr val="F2F2F2"/>
          </a:solidFill>
          <a:ln>
            <a:noFill/>
          </a:ln>
        </p:spPr>
      </p:sp>
      <p:sp>
        <p:nvSpPr>
          <p:cNvPr id="187" name="Google Shape;187;p124"/>
          <p:cNvSpPr/>
          <p:nvPr>
            <p:ph idx="3" type="pic"/>
          </p:nvPr>
        </p:nvSpPr>
        <p:spPr>
          <a:xfrm>
            <a:off x="1856283" y="2255535"/>
            <a:ext cx="5934456" cy="5934456"/>
          </a:xfrm>
          <a:prstGeom prst="rect">
            <a:avLst/>
          </a:prstGeom>
          <a:solidFill>
            <a:srgbClr val="F2F2F2"/>
          </a:solidFill>
          <a:ln>
            <a:no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Slide with Placeholder">
  <p:cSld name="9_Slide with Placeholder">
    <p:spTree>
      <p:nvGrpSpPr>
        <p:cNvPr id="188" name="Shape 188"/>
        <p:cNvGrpSpPr/>
        <p:nvPr/>
      </p:nvGrpSpPr>
      <p:grpSpPr>
        <a:xfrm>
          <a:off x="0" y="0"/>
          <a:ext cx="0" cy="0"/>
          <a:chOff x="0" y="0"/>
          <a:chExt cx="0" cy="0"/>
        </a:xfrm>
      </p:grpSpPr>
      <p:sp>
        <p:nvSpPr>
          <p:cNvPr id="189" name="Google Shape;189;p125"/>
          <p:cNvSpPr/>
          <p:nvPr>
            <p:ph idx="2" type="pic"/>
          </p:nvPr>
        </p:nvSpPr>
        <p:spPr>
          <a:xfrm>
            <a:off x="13332873" y="5429525"/>
            <a:ext cx="5934456" cy="6228715"/>
          </a:xfrm>
          <a:prstGeom prst="rect">
            <a:avLst/>
          </a:prstGeom>
          <a:solidFill>
            <a:srgbClr val="F2F2F2"/>
          </a:solidFill>
          <a:ln>
            <a:noFill/>
          </a:ln>
        </p:spPr>
      </p:sp>
      <p:sp>
        <p:nvSpPr>
          <p:cNvPr id="190" name="Google Shape;190;p125"/>
          <p:cNvSpPr/>
          <p:nvPr>
            <p:ph idx="3" type="pic"/>
          </p:nvPr>
        </p:nvSpPr>
        <p:spPr>
          <a:xfrm>
            <a:off x="17082215" y="2315167"/>
            <a:ext cx="6228715" cy="6228716"/>
          </a:xfrm>
          <a:prstGeom prst="rect">
            <a:avLst/>
          </a:prstGeom>
          <a:solidFill>
            <a:srgbClr val="F2F2F2"/>
          </a:solid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lide with Placeholder">
  <p:cSld name="5_Slide with Placeholder">
    <p:spTree>
      <p:nvGrpSpPr>
        <p:cNvPr id="191" name="Shape 191"/>
        <p:cNvGrpSpPr/>
        <p:nvPr/>
      </p:nvGrpSpPr>
      <p:grpSpPr>
        <a:xfrm>
          <a:off x="0" y="0"/>
          <a:ext cx="0" cy="0"/>
          <a:chOff x="0" y="0"/>
          <a:chExt cx="0" cy="0"/>
        </a:xfrm>
      </p:grpSpPr>
      <p:sp>
        <p:nvSpPr>
          <p:cNvPr id="192" name="Google Shape;192;p126"/>
          <p:cNvSpPr/>
          <p:nvPr>
            <p:ph idx="2" type="pic"/>
          </p:nvPr>
        </p:nvSpPr>
        <p:spPr>
          <a:xfrm>
            <a:off x="6753226" y="1237928"/>
            <a:ext cx="6124574" cy="11468751"/>
          </a:xfrm>
          <a:prstGeom prst="rect">
            <a:avLst/>
          </a:prstGeom>
          <a:solidFill>
            <a:srgbClr val="F2F2F2"/>
          </a:solidFill>
          <a:ln>
            <a:noFill/>
          </a:ln>
        </p:spPr>
      </p:sp>
      <p:sp>
        <p:nvSpPr>
          <p:cNvPr id="193" name="Google Shape;193;p126"/>
          <p:cNvSpPr/>
          <p:nvPr>
            <p:ph idx="3" type="pic"/>
          </p:nvPr>
        </p:nvSpPr>
        <p:spPr>
          <a:xfrm>
            <a:off x="628652" y="1237928"/>
            <a:ext cx="6124575" cy="11468751"/>
          </a:xfrm>
          <a:prstGeom prst="rect">
            <a:avLst/>
          </a:prstGeom>
          <a:solidFill>
            <a:srgbClr val="F2F2F2"/>
          </a:solid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Slide with Placeholder">
  <p:cSld name="6_Slide with Placeholder">
    <p:spTree>
      <p:nvGrpSpPr>
        <p:cNvPr id="194" name="Shape 194"/>
        <p:cNvGrpSpPr/>
        <p:nvPr/>
      </p:nvGrpSpPr>
      <p:grpSpPr>
        <a:xfrm>
          <a:off x="0" y="0"/>
          <a:ext cx="0" cy="0"/>
          <a:chOff x="0" y="0"/>
          <a:chExt cx="0" cy="0"/>
        </a:xfrm>
      </p:grpSpPr>
      <p:sp>
        <p:nvSpPr>
          <p:cNvPr id="195" name="Google Shape;195;p127"/>
          <p:cNvSpPr/>
          <p:nvPr>
            <p:ph idx="2" type="pic"/>
          </p:nvPr>
        </p:nvSpPr>
        <p:spPr>
          <a:xfrm>
            <a:off x="17164472" y="1237928"/>
            <a:ext cx="6124574" cy="11468751"/>
          </a:xfrm>
          <a:prstGeom prst="rect">
            <a:avLst/>
          </a:prstGeom>
          <a:solidFill>
            <a:srgbClr val="F2F2F2"/>
          </a:solidFill>
          <a:ln>
            <a:noFill/>
          </a:ln>
        </p:spPr>
      </p:sp>
      <p:sp>
        <p:nvSpPr>
          <p:cNvPr id="196" name="Google Shape;196;p127"/>
          <p:cNvSpPr/>
          <p:nvPr>
            <p:ph idx="3" type="pic"/>
          </p:nvPr>
        </p:nvSpPr>
        <p:spPr>
          <a:xfrm>
            <a:off x="11039898" y="1237928"/>
            <a:ext cx="6124575" cy="11468751"/>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1" Type="http://schemas.openxmlformats.org/officeDocument/2006/relationships/theme" Target="../theme/theme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67"/>
          <p:cNvSpPr txBox="1"/>
          <p:nvPr>
            <p:ph idx="1" type="body"/>
          </p:nvPr>
        </p:nvSpPr>
        <p:spPr>
          <a:xfrm>
            <a:off x="1675964" y="3651250"/>
            <a:ext cx="21025723" cy="8702676"/>
          </a:xfrm>
          <a:prstGeom prst="rect">
            <a:avLst/>
          </a:prstGeom>
          <a:noFill/>
          <a:ln>
            <a:noFill/>
          </a:ln>
        </p:spPr>
        <p:txBody>
          <a:bodyPr anchorCtr="0" anchor="t" bIns="91400" lIns="182825" spcFirstLastPara="1" rIns="182825" wrap="square" tIns="91400">
            <a:normAutofit/>
          </a:bodyPr>
          <a:lstStyle>
            <a:lvl1pPr indent="-228600" lvl="0" marL="457200" marR="0" rtl="0" algn="l">
              <a:lnSpc>
                <a:spcPct val="90000"/>
              </a:lnSpc>
              <a:spcBef>
                <a:spcPts val="2000"/>
              </a:spcBef>
              <a:spcAft>
                <a:spcPts val="0"/>
              </a:spcAft>
              <a:buClr>
                <a:schemeClr val="dk1"/>
              </a:buClr>
              <a:buSzPts val="4800"/>
              <a:buFont typeface="Arial"/>
              <a:buNone/>
              <a:defRPr b="0" i="0" sz="4800" u="none" cap="none" strike="noStrike">
                <a:solidFill>
                  <a:schemeClr val="dk1"/>
                </a:solidFill>
                <a:latin typeface="Montserrat Thin"/>
                <a:ea typeface="Montserrat Thin"/>
                <a:cs typeface="Montserrat Thin"/>
                <a:sym typeface="Montserrat Thin"/>
              </a:defRPr>
            </a:lvl1pPr>
            <a:lvl2pPr indent="-228600" lvl="1" marL="914400" marR="0" rtl="0" algn="l">
              <a:lnSpc>
                <a:spcPct val="90000"/>
              </a:lnSpc>
              <a:spcBef>
                <a:spcPts val="1000"/>
              </a:spcBef>
              <a:spcAft>
                <a:spcPts val="0"/>
              </a:spcAft>
              <a:buClr>
                <a:schemeClr val="dk1"/>
              </a:buClr>
              <a:buSzPts val="4000"/>
              <a:buFont typeface="Arial"/>
              <a:buNone/>
              <a:defRPr b="0" i="0" sz="4000" u="none" cap="none" strike="noStrike">
                <a:solidFill>
                  <a:schemeClr val="dk1"/>
                </a:solidFill>
                <a:latin typeface="Montserrat Thin"/>
                <a:ea typeface="Montserrat Thin"/>
                <a:cs typeface="Montserrat Thin"/>
                <a:sym typeface="Montserrat Thin"/>
              </a:defRPr>
            </a:lvl2pPr>
            <a:lvl3pPr indent="-228600" lvl="2" marL="1371600" marR="0" rtl="0" algn="l">
              <a:lnSpc>
                <a:spcPct val="90000"/>
              </a:lnSpc>
              <a:spcBef>
                <a:spcPts val="1000"/>
              </a:spcBef>
              <a:spcAft>
                <a:spcPts val="0"/>
              </a:spcAft>
              <a:buClr>
                <a:schemeClr val="dk1"/>
              </a:buClr>
              <a:buSzPts val="3600"/>
              <a:buFont typeface="Arial"/>
              <a:buNone/>
              <a:defRPr b="0" i="0" sz="3600" u="none" cap="none" strike="noStrike">
                <a:solidFill>
                  <a:schemeClr val="dk1"/>
                </a:solidFill>
                <a:latin typeface="Montserrat Thin"/>
                <a:ea typeface="Montserrat Thin"/>
                <a:cs typeface="Montserrat Thin"/>
                <a:sym typeface="Montserrat Thin"/>
              </a:defRPr>
            </a:lvl3pPr>
            <a:lvl4pPr indent="-228600" lvl="3" marL="182880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Montserrat Thin"/>
                <a:ea typeface="Montserrat Thin"/>
                <a:cs typeface="Montserrat Thin"/>
                <a:sym typeface="Montserrat Thin"/>
              </a:defRPr>
            </a:lvl4pPr>
            <a:lvl5pPr indent="-228600" lvl="4" marL="228600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Montserrat Thin"/>
                <a:ea typeface="Montserrat Thin"/>
                <a:cs typeface="Montserrat Thin"/>
                <a:sym typeface="Montserrat Thin"/>
              </a:defRPr>
            </a:lvl5pPr>
            <a:lvl6pPr indent="-457200" lvl="5" marL="27432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Tahoma"/>
                <a:ea typeface="Tahoma"/>
                <a:cs typeface="Tahoma"/>
                <a:sym typeface="Tahoma"/>
              </a:defRPr>
            </a:lvl6pPr>
            <a:lvl7pPr indent="-457200" lvl="6" marL="32004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Tahoma"/>
                <a:ea typeface="Tahoma"/>
                <a:cs typeface="Tahoma"/>
                <a:sym typeface="Tahoma"/>
              </a:defRPr>
            </a:lvl7pPr>
            <a:lvl8pPr indent="-457200" lvl="7" marL="36576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Tahoma"/>
                <a:ea typeface="Tahoma"/>
                <a:cs typeface="Tahoma"/>
                <a:sym typeface="Tahoma"/>
              </a:defRPr>
            </a:lvl8pPr>
            <a:lvl9pPr indent="-457200" lvl="8" marL="4114800" marR="0" rtl="0" algn="l">
              <a:lnSpc>
                <a:spcPct val="90000"/>
              </a:lnSpc>
              <a:spcBef>
                <a:spcPts val="1000"/>
              </a:spcBef>
              <a:spcAft>
                <a:spcPts val="0"/>
              </a:spcAft>
              <a:buClr>
                <a:schemeClr val="dk1"/>
              </a:buClr>
              <a:buSzPts val="3600"/>
              <a:buFont typeface="Arial"/>
              <a:buChar char="•"/>
              <a:defRPr b="0" i="0" sz="3600" u="none" cap="none" strike="noStrike">
                <a:solidFill>
                  <a:schemeClr val="dk1"/>
                </a:solidFill>
                <a:latin typeface="Tahoma"/>
                <a:ea typeface="Tahoma"/>
                <a:cs typeface="Tahoma"/>
                <a:sym typeface="Tahoma"/>
              </a:defRPr>
            </a:lvl9pPr>
          </a:lstStyle>
          <a:p/>
        </p:txBody>
      </p:sp>
      <p:sp>
        <p:nvSpPr>
          <p:cNvPr id="11" name="Google Shape;11;p67"/>
          <p:cNvSpPr txBox="1"/>
          <p:nvPr>
            <p:ph type="title"/>
          </p:nvPr>
        </p:nvSpPr>
        <p:spPr>
          <a:xfrm>
            <a:off x="1676400" y="730250"/>
            <a:ext cx="21024850" cy="265112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Montserrat"/>
              <a:buNone/>
              <a:defRPr b="0" i="0" sz="4000" u="none" cap="none" strike="noStrike">
                <a:solidFill>
                  <a:schemeClr val="dk1"/>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67"/>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800" u="none" cap="none" strike="noStrike">
                <a:solidFill>
                  <a:schemeClr val="dk2"/>
                </a:solidFill>
                <a:latin typeface="Tahoma"/>
                <a:ea typeface="Tahoma"/>
                <a:cs typeface="Tahoma"/>
                <a:sym typeface="Tahoma"/>
              </a:defRPr>
            </a:lvl1pPr>
            <a:lvl2pPr indent="0" lvl="1" marL="0" marR="0" rtl="0" algn="r">
              <a:spcBef>
                <a:spcPts val="0"/>
              </a:spcBef>
              <a:buNone/>
              <a:defRPr b="0" i="0" sz="2800" u="none" cap="none" strike="noStrike">
                <a:solidFill>
                  <a:schemeClr val="dk2"/>
                </a:solidFill>
                <a:latin typeface="Tahoma"/>
                <a:ea typeface="Tahoma"/>
                <a:cs typeface="Tahoma"/>
                <a:sym typeface="Tahoma"/>
              </a:defRPr>
            </a:lvl2pPr>
            <a:lvl3pPr indent="0" lvl="2" marL="0" marR="0" rtl="0" algn="r">
              <a:spcBef>
                <a:spcPts val="0"/>
              </a:spcBef>
              <a:buNone/>
              <a:defRPr b="0" i="0" sz="2800" u="none" cap="none" strike="noStrike">
                <a:solidFill>
                  <a:schemeClr val="dk2"/>
                </a:solidFill>
                <a:latin typeface="Tahoma"/>
                <a:ea typeface="Tahoma"/>
                <a:cs typeface="Tahoma"/>
                <a:sym typeface="Tahoma"/>
              </a:defRPr>
            </a:lvl3pPr>
            <a:lvl4pPr indent="0" lvl="3" marL="0" marR="0" rtl="0" algn="r">
              <a:spcBef>
                <a:spcPts val="0"/>
              </a:spcBef>
              <a:buNone/>
              <a:defRPr b="0" i="0" sz="2800" u="none" cap="none" strike="noStrike">
                <a:solidFill>
                  <a:schemeClr val="dk2"/>
                </a:solidFill>
                <a:latin typeface="Tahoma"/>
                <a:ea typeface="Tahoma"/>
                <a:cs typeface="Tahoma"/>
                <a:sym typeface="Tahoma"/>
              </a:defRPr>
            </a:lvl4pPr>
            <a:lvl5pPr indent="0" lvl="4" marL="0" marR="0" rtl="0" algn="r">
              <a:spcBef>
                <a:spcPts val="0"/>
              </a:spcBef>
              <a:buNone/>
              <a:defRPr b="0" i="0" sz="2800" u="none" cap="none" strike="noStrike">
                <a:solidFill>
                  <a:schemeClr val="dk2"/>
                </a:solidFill>
                <a:latin typeface="Tahoma"/>
                <a:ea typeface="Tahoma"/>
                <a:cs typeface="Tahoma"/>
                <a:sym typeface="Tahoma"/>
              </a:defRPr>
            </a:lvl5pPr>
            <a:lvl6pPr indent="0" lvl="5" marL="0" marR="0" rtl="0" algn="r">
              <a:spcBef>
                <a:spcPts val="0"/>
              </a:spcBef>
              <a:buNone/>
              <a:defRPr b="0" i="0" sz="2800" u="none" cap="none" strike="noStrike">
                <a:solidFill>
                  <a:schemeClr val="dk2"/>
                </a:solidFill>
                <a:latin typeface="Tahoma"/>
                <a:ea typeface="Tahoma"/>
                <a:cs typeface="Tahoma"/>
                <a:sym typeface="Tahoma"/>
              </a:defRPr>
            </a:lvl6pPr>
            <a:lvl7pPr indent="0" lvl="6" marL="0" marR="0" rtl="0" algn="r">
              <a:spcBef>
                <a:spcPts val="0"/>
              </a:spcBef>
              <a:buNone/>
              <a:defRPr b="0" i="0" sz="2800" u="none" cap="none" strike="noStrike">
                <a:solidFill>
                  <a:schemeClr val="dk2"/>
                </a:solidFill>
                <a:latin typeface="Tahoma"/>
                <a:ea typeface="Tahoma"/>
                <a:cs typeface="Tahoma"/>
                <a:sym typeface="Tahoma"/>
              </a:defRPr>
            </a:lvl7pPr>
            <a:lvl8pPr indent="0" lvl="7" marL="0" marR="0" rtl="0" algn="r">
              <a:spcBef>
                <a:spcPts val="0"/>
              </a:spcBef>
              <a:buNone/>
              <a:defRPr b="0" i="0" sz="2800" u="none" cap="none" strike="noStrike">
                <a:solidFill>
                  <a:schemeClr val="dk2"/>
                </a:solidFill>
                <a:latin typeface="Tahoma"/>
                <a:ea typeface="Tahoma"/>
                <a:cs typeface="Tahoma"/>
                <a:sym typeface="Tahoma"/>
              </a:defRPr>
            </a:lvl8pPr>
            <a:lvl9pPr indent="0" lvl="8" marL="0" marR="0" rtl="0" algn="r">
              <a:spcBef>
                <a:spcPts val="0"/>
              </a:spcBef>
              <a:buNone/>
              <a:defRPr b="0" i="0" sz="2800" u="none" cap="none" strike="noStrike">
                <a:solidFill>
                  <a:schemeClr val="dk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2.png"/><Relationship Id="rId7" Type="http://schemas.openxmlformats.org/officeDocument/2006/relationships/image" Target="../media/image1.png"/><Relationship Id="rId8"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1.jpg"/><Relationship Id="rId5" Type="http://schemas.openxmlformats.org/officeDocument/2006/relationships/image" Target="../media/image9.jp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22.jpg"/><Relationship Id="rId7"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30.jpg"/><Relationship Id="rId7"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6.png"/><Relationship Id="rId6" Type="http://schemas.openxmlformats.org/officeDocument/2006/relationships/image" Target="../media/image27.png"/><Relationship Id="rId7"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26.png"/><Relationship Id="rId9" Type="http://schemas.openxmlformats.org/officeDocument/2006/relationships/image" Target="../media/image17.png"/><Relationship Id="rId5" Type="http://schemas.openxmlformats.org/officeDocument/2006/relationships/image" Target="../media/image23.png"/><Relationship Id="rId6" Type="http://schemas.openxmlformats.org/officeDocument/2006/relationships/image" Target="../media/image25.png"/><Relationship Id="rId7" Type="http://schemas.openxmlformats.org/officeDocument/2006/relationships/image" Target="../media/image28.png"/><Relationship Id="rId8" Type="http://schemas.openxmlformats.org/officeDocument/2006/relationships/image" Target="../media/image19.png"/><Relationship Id="rId10"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29.png"/><Relationship Id="rId9" Type="http://schemas.openxmlformats.org/officeDocument/2006/relationships/image" Target="../media/image32.png"/><Relationship Id="rId5" Type="http://schemas.openxmlformats.org/officeDocument/2006/relationships/image" Target="../media/image24.png"/><Relationship Id="rId6" Type="http://schemas.openxmlformats.org/officeDocument/2006/relationships/image" Target="../media/image45.png"/><Relationship Id="rId7" Type="http://schemas.openxmlformats.org/officeDocument/2006/relationships/image" Target="../media/image31.png"/><Relationship Id="rId8" Type="http://schemas.openxmlformats.org/officeDocument/2006/relationships/image" Target="../media/image35.png"/><Relationship Id="rId11" Type="http://schemas.openxmlformats.org/officeDocument/2006/relationships/image" Target="../media/image33.png"/><Relationship Id="rId10"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9.png"/><Relationship Id="rId4" Type="http://schemas.openxmlformats.org/officeDocument/2006/relationships/image" Target="../media/image46.png"/><Relationship Id="rId9" Type="http://schemas.openxmlformats.org/officeDocument/2006/relationships/image" Target="../media/image40.png"/><Relationship Id="rId5" Type="http://schemas.openxmlformats.org/officeDocument/2006/relationships/image" Target="../media/image48.png"/><Relationship Id="rId6" Type="http://schemas.openxmlformats.org/officeDocument/2006/relationships/image" Target="../media/image38.png"/><Relationship Id="rId7" Type="http://schemas.openxmlformats.org/officeDocument/2006/relationships/image" Target="../media/image44.png"/><Relationship Id="rId8"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7.jpg"/><Relationship Id="rId4" Type="http://schemas.openxmlformats.org/officeDocument/2006/relationships/image" Target="../media/image42.jpg"/><Relationship Id="rId5" Type="http://schemas.openxmlformats.org/officeDocument/2006/relationships/image" Target="../media/image53.jpg"/><Relationship Id="rId6" Type="http://schemas.openxmlformats.org/officeDocument/2006/relationships/image" Target="../media/image4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1.jpg"/><Relationship Id="rId4" Type="http://schemas.openxmlformats.org/officeDocument/2006/relationships/image" Target="../media/image50.png"/><Relationship Id="rId9" Type="http://schemas.openxmlformats.org/officeDocument/2006/relationships/image" Target="../media/image54.png"/><Relationship Id="rId5" Type="http://schemas.openxmlformats.org/officeDocument/2006/relationships/image" Target="../media/image49.png"/><Relationship Id="rId6" Type="http://schemas.openxmlformats.org/officeDocument/2006/relationships/image" Target="../media/image47.png"/><Relationship Id="rId7" Type="http://schemas.openxmlformats.org/officeDocument/2006/relationships/image" Target="../media/image52.png"/><Relationship Id="rId8" Type="http://schemas.openxmlformats.org/officeDocument/2006/relationships/image" Target="../media/image51.png"/><Relationship Id="rId11" Type="http://schemas.openxmlformats.org/officeDocument/2006/relationships/image" Target="../media/image62.png"/><Relationship Id="rId10" Type="http://schemas.openxmlformats.org/officeDocument/2006/relationships/image" Target="../media/image55.png"/><Relationship Id="rId12" Type="http://schemas.openxmlformats.org/officeDocument/2006/relationships/image" Target="../media/image5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0.jpg"/><Relationship Id="rId4" Type="http://schemas.openxmlformats.org/officeDocument/2006/relationships/image" Target="../media/image59.png"/><Relationship Id="rId9" Type="http://schemas.openxmlformats.org/officeDocument/2006/relationships/image" Target="../media/image72.png"/><Relationship Id="rId5" Type="http://schemas.openxmlformats.org/officeDocument/2006/relationships/image" Target="../media/image57.png"/><Relationship Id="rId6" Type="http://schemas.openxmlformats.org/officeDocument/2006/relationships/image" Target="../media/image67.png"/><Relationship Id="rId7" Type="http://schemas.openxmlformats.org/officeDocument/2006/relationships/image" Target="../media/image65.png"/><Relationship Id="rId8" Type="http://schemas.openxmlformats.org/officeDocument/2006/relationships/image" Target="../media/image56.png"/><Relationship Id="rId11" Type="http://schemas.openxmlformats.org/officeDocument/2006/relationships/image" Target="../media/image69.png"/><Relationship Id="rId10" Type="http://schemas.openxmlformats.org/officeDocument/2006/relationships/image" Target="../media/image6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6.png"/><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3.png"/><Relationship Id="rId4" Type="http://schemas.openxmlformats.org/officeDocument/2006/relationships/image" Target="../media/image61.png"/><Relationship Id="rId9" Type="http://schemas.openxmlformats.org/officeDocument/2006/relationships/image" Target="../media/image74.png"/><Relationship Id="rId5" Type="http://schemas.openxmlformats.org/officeDocument/2006/relationships/image" Target="../media/image63.png"/><Relationship Id="rId6" Type="http://schemas.openxmlformats.org/officeDocument/2006/relationships/image" Target="../media/image68.png"/><Relationship Id="rId7" Type="http://schemas.openxmlformats.org/officeDocument/2006/relationships/image" Target="../media/image71.png"/><Relationship Id="rId8" Type="http://schemas.openxmlformats.org/officeDocument/2006/relationships/image" Target="../media/image81.png"/><Relationship Id="rId11" Type="http://schemas.openxmlformats.org/officeDocument/2006/relationships/image" Target="../media/image77.png"/><Relationship Id="rId10" Type="http://schemas.openxmlformats.org/officeDocument/2006/relationships/image" Target="../media/image76.png"/><Relationship Id="rId13" Type="http://schemas.openxmlformats.org/officeDocument/2006/relationships/image" Target="../media/image75.png"/><Relationship Id="rId12" Type="http://schemas.openxmlformats.org/officeDocument/2006/relationships/image" Target="../media/image7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4.jpg"/><Relationship Id="rId4" Type="http://schemas.openxmlformats.org/officeDocument/2006/relationships/image" Target="../media/image93.png"/><Relationship Id="rId5" Type="http://schemas.openxmlformats.org/officeDocument/2006/relationships/image" Target="../media/image7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6.jpg"/><Relationship Id="rId4" Type="http://schemas.openxmlformats.org/officeDocument/2006/relationships/image" Target="../media/image85.jpg"/><Relationship Id="rId5" Type="http://schemas.openxmlformats.org/officeDocument/2006/relationships/image" Target="../media/image80.png"/><Relationship Id="rId6" Type="http://schemas.openxmlformats.org/officeDocument/2006/relationships/image" Target="../media/image1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92.png"/><Relationship Id="rId5" Type="http://schemas.openxmlformats.org/officeDocument/2006/relationships/image" Target="../media/image88.png"/><Relationship Id="rId6" Type="http://schemas.openxmlformats.org/officeDocument/2006/relationships/image" Target="../media/image87.png"/><Relationship Id="rId7" Type="http://schemas.openxmlformats.org/officeDocument/2006/relationships/image" Target="../media/image89.png"/><Relationship Id="rId8" Type="http://schemas.openxmlformats.org/officeDocument/2006/relationships/image" Target="../media/image94.png"/><Relationship Id="rId11" Type="http://schemas.openxmlformats.org/officeDocument/2006/relationships/image" Target="../media/image91.png"/><Relationship Id="rId10" Type="http://schemas.openxmlformats.org/officeDocument/2006/relationships/image" Target="../media/image9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103.png"/><Relationship Id="rId5" Type="http://schemas.openxmlformats.org/officeDocument/2006/relationships/image" Target="../media/image97.png"/><Relationship Id="rId6" Type="http://schemas.openxmlformats.org/officeDocument/2006/relationships/image" Target="../media/image106.png"/><Relationship Id="rId7" Type="http://schemas.openxmlformats.org/officeDocument/2006/relationships/image" Target="../media/image99.png"/><Relationship Id="rId8" Type="http://schemas.openxmlformats.org/officeDocument/2006/relationships/image" Target="../media/image100.png"/><Relationship Id="rId20" Type="http://schemas.openxmlformats.org/officeDocument/2006/relationships/image" Target="../media/image110.png"/><Relationship Id="rId22" Type="http://schemas.openxmlformats.org/officeDocument/2006/relationships/image" Target="../media/image124.png"/><Relationship Id="rId21" Type="http://schemas.openxmlformats.org/officeDocument/2006/relationships/image" Target="../media/image112.png"/><Relationship Id="rId24" Type="http://schemas.openxmlformats.org/officeDocument/2006/relationships/image" Target="../media/image115.png"/><Relationship Id="rId23" Type="http://schemas.openxmlformats.org/officeDocument/2006/relationships/image" Target="../media/image113.png"/><Relationship Id="rId26" Type="http://schemas.openxmlformats.org/officeDocument/2006/relationships/image" Target="../media/image123.png"/><Relationship Id="rId25" Type="http://schemas.openxmlformats.org/officeDocument/2006/relationships/image" Target="../media/image114.png"/><Relationship Id="rId11" Type="http://schemas.openxmlformats.org/officeDocument/2006/relationships/image" Target="../media/image105.png"/><Relationship Id="rId10" Type="http://schemas.openxmlformats.org/officeDocument/2006/relationships/image" Target="../media/image104.png"/><Relationship Id="rId13" Type="http://schemas.openxmlformats.org/officeDocument/2006/relationships/image" Target="../media/image102.png"/><Relationship Id="rId12" Type="http://schemas.openxmlformats.org/officeDocument/2006/relationships/image" Target="../media/image101.png"/><Relationship Id="rId15" Type="http://schemas.openxmlformats.org/officeDocument/2006/relationships/image" Target="../media/image111.png"/><Relationship Id="rId14" Type="http://schemas.openxmlformats.org/officeDocument/2006/relationships/image" Target="../media/image98.png"/><Relationship Id="rId17" Type="http://schemas.openxmlformats.org/officeDocument/2006/relationships/image" Target="../media/image108.png"/><Relationship Id="rId16" Type="http://schemas.openxmlformats.org/officeDocument/2006/relationships/image" Target="../media/image107.png"/><Relationship Id="rId19" Type="http://schemas.openxmlformats.org/officeDocument/2006/relationships/image" Target="../media/image109.png"/><Relationship Id="rId18" Type="http://schemas.openxmlformats.org/officeDocument/2006/relationships/image" Target="../media/image1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00.png"/><Relationship Id="rId4" Type="http://schemas.openxmlformats.org/officeDocument/2006/relationships/image" Target="../media/image122.png"/><Relationship Id="rId9" Type="http://schemas.openxmlformats.org/officeDocument/2006/relationships/image" Target="../media/image120.png"/><Relationship Id="rId5" Type="http://schemas.openxmlformats.org/officeDocument/2006/relationships/image" Target="../media/image99.png"/><Relationship Id="rId6" Type="http://schemas.openxmlformats.org/officeDocument/2006/relationships/image" Target="../media/image128.png"/><Relationship Id="rId7" Type="http://schemas.openxmlformats.org/officeDocument/2006/relationships/image" Target="../media/image116.png"/><Relationship Id="rId8" Type="http://schemas.openxmlformats.org/officeDocument/2006/relationships/image" Target="../media/image119.png"/><Relationship Id="rId20" Type="http://schemas.openxmlformats.org/officeDocument/2006/relationships/image" Target="../media/image132.png"/><Relationship Id="rId22" Type="http://schemas.openxmlformats.org/officeDocument/2006/relationships/image" Target="../media/image140.png"/><Relationship Id="rId21" Type="http://schemas.openxmlformats.org/officeDocument/2006/relationships/image" Target="../media/image129.png"/><Relationship Id="rId11" Type="http://schemas.openxmlformats.org/officeDocument/2006/relationships/image" Target="../media/image125.png"/><Relationship Id="rId10" Type="http://schemas.openxmlformats.org/officeDocument/2006/relationships/image" Target="../media/image121.png"/><Relationship Id="rId13" Type="http://schemas.openxmlformats.org/officeDocument/2006/relationships/image" Target="../media/image133.png"/><Relationship Id="rId12" Type="http://schemas.openxmlformats.org/officeDocument/2006/relationships/image" Target="../media/image126.png"/><Relationship Id="rId15" Type="http://schemas.openxmlformats.org/officeDocument/2006/relationships/image" Target="../media/image127.png"/><Relationship Id="rId14" Type="http://schemas.openxmlformats.org/officeDocument/2006/relationships/image" Target="../media/image131.png"/><Relationship Id="rId17" Type="http://schemas.openxmlformats.org/officeDocument/2006/relationships/image" Target="../media/image134.png"/><Relationship Id="rId16" Type="http://schemas.openxmlformats.org/officeDocument/2006/relationships/image" Target="../media/image142.png"/><Relationship Id="rId19" Type="http://schemas.openxmlformats.org/officeDocument/2006/relationships/image" Target="../media/image135.png"/><Relationship Id="rId18" Type="http://schemas.openxmlformats.org/officeDocument/2006/relationships/image" Target="../media/image1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8.png"/><Relationship Id="rId4" Type="http://schemas.openxmlformats.org/officeDocument/2006/relationships/image" Target="../media/image136.png"/><Relationship Id="rId5" Type="http://schemas.openxmlformats.org/officeDocument/2006/relationships/image" Target="../media/image139.png"/><Relationship Id="rId6" Type="http://schemas.openxmlformats.org/officeDocument/2006/relationships/image" Target="../media/image141.png"/><Relationship Id="rId7" Type="http://schemas.openxmlformats.org/officeDocument/2006/relationships/image" Target="../media/image143.png"/><Relationship Id="rId8" Type="http://schemas.openxmlformats.org/officeDocument/2006/relationships/image" Target="../media/image1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47.png"/><Relationship Id="rId4" Type="http://schemas.openxmlformats.org/officeDocument/2006/relationships/image" Target="../media/image150.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8.png"/><Relationship Id="rId8" Type="http://schemas.openxmlformats.org/officeDocument/2006/relationships/image" Target="../media/image15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44.png"/><Relationship Id="rId4" Type="http://schemas.openxmlformats.org/officeDocument/2006/relationships/image" Target="../media/image149.png"/><Relationship Id="rId9" Type="http://schemas.openxmlformats.org/officeDocument/2006/relationships/image" Target="../media/image155.png"/><Relationship Id="rId5" Type="http://schemas.openxmlformats.org/officeDocument/2006/relationships/image" Target="../media/image154.png"/><Relationship Id="rId6" Type="http://schemas.openxmlformats.org/officeDocument/2006/relationships/image" Target="../media/image158.png"/><Relationship Id="rId7" Type="http://schemas.openxmlformats.org/officeDocument/2006/relationships/image" Target="../media/image159.png"/><Relationship Id="rId8" Type="http://schemas.openxmlformats.org/officeDocument/2006/relationships/image" Target="../media/image162.png"/><Relationship Id="rId11" Type="http://schemas.openxmlformats.org/officeDocument/2006/relationships/image" Target="../media/image156.png"/><Relationship Id="rId10" Type="http://schemas.openxmlformats.org/officeDocument/2006/relationships/image" Target="../media/image151.png"/><Relationship Id="rId13" Type="http://schemas.openxmlformats.org/officeDocument/2006/relationships/image" Target="../media/image160.png"/><Relationship Id="rId12" Type="http://schemas.openxmlformats.org/officeDocument/2006/relationships/image" Target="../media/image157.png"/><Relationship Id="rId14" Type="http://schemas.openxmlformats.org/officeDocument/2006/relationships/image" Target="../media/image1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61.png"/><Relationship Id="rId4" Type="http://schemas.openxmlformats.org/officeDocument/2006/relationships/image" Target="../media/image178.png"/><Relationship Id="rId9" Type="http://schemas.openxmlformats.org/officeDocument/2006/relationships/image" Target="../media/image165.png"/><Relationship Id="rId5" Type="http://schemas.openxmlformats.org/officeDocument/2006/relationships/image" Target="../media/image168.png"/><Relationship Id="rId6" Type="http://schemas.openxmlformats.org/officeDocument/2006/relationships/image" Target="../media/image166.png"/><Relationship Id="rId7" Type="http://schemas.openxmlformats.org/officeDocument/2006/relationships/image" Target="../media/image163.png"/><Relationship Id="rId8" Type="http://schemas.openxmlformats.org/officeDocument/2006/relationships/image" Target="../media/image173.png"/><Relationship Id="rId10" Type="http://schemas.openxmlformats.org/officeDocument/2006/relationships/image" Target="../media/image16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67.png"/><Relationship Id="rId4" Type="http://schemas.openxmlformats.org/officeDocument/2006/relationships/image" Target="../media/image169.png"/><Relationship Id="rId9" Type="http://schemas.openxmlformats.org/officeDocument/2006/relationships/image" Target="../media/image179.png"/><Relationship Id="rId5" Type="http://schemas.openxmlformats.org/officeDocument/2006/relationships/image" Target="../media/image175.png"/><Relationship Id="rId6" Type="http://schemas.openxmlformats.org/officeDocument/2006/relationships/image" Target="../media/image172.png"/><Relationship Id="rId7" Type="http://schemas.openxmlformats.org/officeDocument/2006/relationships/image" Target="../media/image171.png"/><Relationship Id="rId8" Type="http://schemas.openxmlformats.org/officeDocument/2006/relationships/image" Target="../media/image170.png"/><Relationship Id="rId11" Type="http://schemas.openxmlformats.org/officeDocument/2006/relationships/image" Target="../media/image174.png"/><Relationship Id="rId10" Type="http://schemas.openxmlformats.org/officeDocument/2006/relationships/image" Target="../media/image184.png"/><Relationship Id="rId13" Type="http://schemas.openxmlformats.org/officeDocument/2006/relationships/image" Target="../media/image177.png"/><Relationship Id="rId12" Type="http://schemas.openxmlformats.org/officeDocument/2006/relationships/image" Target="../media/image176.png"/><Relationship Id="rId14" Type="http://schemas.openxmlformats.org/officeDocument/2006/relationships/image" Target="../media/image18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1.png"/><Relationship Id="rId4" Type="http://schemas.openxmlformats.org/officeDocument/2006/relationships/image" Target="../media/image190.png"/><Relationship Id="rId9" Type="http://schemas.openxmlformats.org/officeDocument/2006/relationships/image" Target="../media/image185.png"/><Relationship Id="rId5" Type="http://schemas.openxmlformats.org/officeDocument/2006/relationships/image" Target="../media/image180.png"/><Relationship Id="rId6" Type="http://schemas.openxmlformats.org/officeDocument/2006/relationships/image" Target="../media/image192.png"/><Relationship Id="rId7" Type="http://schemas.openxmlformats.org/officeDocument/2006/relationships/image" Target="../media/image188.png"/><Relationship Id="rId8" Type="http://schemas.openxmlformats.org/officeDocument/2006/relationships/image" Target="../media/image187.png"/><Relationship Id="rId20" Type="http://schemas.openxmlformats.org/officeDocument/2006/relationships/image" Target="../media/image197.png"/><Relationship Id="rId22" Type="http://schemas.openxmlformats.org/officeDocument/2006/relationships/image" Target="../media/image195.png"/><Relationship Id="rId21" Type="http://schemas.openxmlformats.org/officeDocument/2006/relationships/image" Target="../media/image196.png"/><Relationship Id="rId24" Type="http://schemas.openxmlformats.org/officeDocument/2006/relationships/image" Target="../media/image210.png"/><Relationship Id="rId23" Type="http://schemas.openxmlformats.org/officeDocument/2006/relationships/image" Target="../media/image211.png"/><Relationship Id="rId11" Type="http://schemas.openxmlformats.org/officeDocument/2006/relationships/image" Target="../media/image189.png"/><Relationship Id="rId10" Type="http://schemas.openxmlformats.org/officeDocument/2006/relationships/image" Target="../media/image182.png"/><Relationship Id="rId13" Type="http://schemas.openxmlformats.org/officeDocument/2006/relationships/image" Target="../media/image186.png"/><Relationship Id="rId12" Type="http://schemas.openxmlformats.org/officeDocument/2006/relationships/image" Target="../media/image194.png"/><Relationship Id="rId15" Type="http://schemas.openxmlformats.org/officeDocument/2006/relationships/image" Target="../media/image193.png"/><Relationship Id="rId14" Type="http://schemas.openxmlformats.org/officeDocument/2006/relationships/image" Target="../media/image191.png"/><Relationship Id="rId17" Type="http://schemas.openxmlformats.org/officeDocument/2006/relationships/image" Target="../media/image204.png"/><Relationship Id="rId16" Type="http://schemas.openxmlformats.org/officeDocument/2006/relationships/image" Target="../media/image202.png"/><Relationship Id="rId19" Type="http://schemas.openxmlformats.org/officeDocument/2006/relationships/image" Target="../media/image200.png"/><Relationship Id="rId18" Type="http://schemas.openxmlformats.org/officeDocument/2006/relationships/image" Target="../media/image1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01.png"/><Relationship Id="rId4" Type="http://schemas.openxmlformats.org/officeDocument/2006/relationships/image" Target="../media/image198.png"/><Relationship Id="rId9" Type="http://schemas.openxmlformats.org/officeDocument/2006/relationships/image" Target="../media/image213.png"/><Relationship Id="rId5" Type="http://schemas.openxmlformats.org/officeDocument/2006/relationships/image" Target="../media/image206.png"/><Relationship Id="rId6" Type="http://schemas.openxmlformats.org/officeDocument/2006/relationships/image" Target="../media/image207.png"/><Relationship Id="rId7" Type="http://schemas.openxmlformats.org/officeDocument/2006/relationships/image" Target="../media/image199.png"/><Relationship Id="rId8" Type="http://schemas.openxmlformats.org/officeDocument/2006/relationships/image" Target="../media/image203.png"/><Relationship Id="rId20" Type="http://schemas.openxmlformats.org/officeDocument/2006/relationships/image" Target="../media/image215.png"/><Relationship Id="rId11" Type="http://schemas.openxmlformats.org/officeDocument/2006/relationships/image" Target="../media/image209.png"/><Relationship Id="rId10" Type="http://schemas.openxmlformats.org/officeDocument/2006/relationships/image" Target="../media/image205.png"/><Relationship Id="rId13" Type="http://schemas.openxmlformats.org/officeDocument/2006/relationships/image" Target="../media/image127.png"/><Relationship Id="rId12" Type="http://schemas.openxmlformats.org/officeDocument/2006/relationships/image" Target="../media/image208.png"/><Relationship Id="rId15" Type="http://schemas.openxmlformats.org/officeDocument/2006/relationships/image" Target="../media/image214.png"/><Relationship Id="rId14" Type="http://schemas.openxmlformats.org/officeDocument/2006/relationships/image" Target="../media/image212.png"/><Relationship Id="rId17" Type="http://schemas.openxmlformats.org/officeDocument/2006/relationships/image" Target="../media/image218.png"/><Relationship Id="rId16" Type="http://schemas.openxmlformats.org/officeDocument/2006/relationships/image" Target="../media/image219.png"/><Relationship Id="rId19" Type="http://schemas.openxmlformats.org/officeDocument/2006/relationships/image" Target="../media/image232.png"/><Relationship Id="rId18" Type="http://schemas.openxmlformats.org/officeDocument/2006/relationships/image" Target="../media/image2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21.png"/><Relationship Id="rId4" Type="http://schemas.openxmlformats.org/officeDocument/2006/relationships/image" Target="../media/image224.png"/><Relationship Id="rId5" Type="http://schemas.openxmlformats.org/officeDocument/2006/relationships/image" Target="../media/image229.png"/><Relationship Id="rId6" Type="http://schemas.openxmlformats.org/officeDocument/2006/relationships/image" Target="../media/image2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27.png"/><Relationship Id="rId4" Type="http://schemas.openxmlformats.org/officeDocument/2006/relationships/image" Target="../media/image217.png"/><Relationship Id="rId5" Type="http://schemas.openxmlformats.org/officeDocument/2006/relationships/image" Target="../media/image220.png"/><Relationship Id="rId6" Type="http://schemas.openxmlformats.org/officeDocument/2006/relationships/image" Target="../media/image2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26.png"/><Relationship Id="rId4" Type="http://schemas.openxmlformats.org/officeDocument/2006/relationships/image" Target="../media/image228.png"/><Relationship Id="rId9" Type="http://schemas.openxmlformats.org/officeDocument/2006/relationships/image" Target="../media/image239.png"/><Relationship Id="rId5" Type="http://schemas.openxmlformats.org/officeDocument/2006/relationships/image" Target="../media/image225.png"/><Relationship Id="rId6" Type="http://schemas.openxmlformats.org/officeDocument/2006/relationships/image" Target="../media/image231.png"/><Relationship Id="rId7" Type="http://schemas.openxmlformats.org/officeDocument/2006/relationships/image" Target="../media/image230.png"/><Relationship Id="rId8" Type="http://schemas.openxmlformats.org/officeDocument/2006/relationships/image" Target="../media/image233.png"/><Relationship Id="rId11" Type="http://schemas.openxmlformats.org/officeDocument/2006/relationships/image" Target="../media/image250.png"/><Relationship Id="rId10" Type="http://schemas.openxmlformats.org/officeDocument/2006/relationships/image" Target="../media/image236.png"/><Relationship Id="rId13" Type="http://schemas.openxmlformats.org/officeDocument/2006/relationships/image" Target="../media/image237.png"/><Relationship Id="rId12" Type="http://schemas.openxmlformats.org/officeDocument/2006/relationships/image" Target="../media/image244.png"/><Relationship Id="rId14" Type="http://schemas.openxmlformats.org/officeDocument/2006/relationships/image" Target="../media/image2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34.png"/><Relationship Id="rId4" Type="http://schemas.openxmlformats.org/officeDocument/2006/relationships/image" Target="../media/image243.png"/><Relationship Id="rId9" Type="http://schemas.openxmlformats.org/officeDocument/2006/relationships/image" Target="../media/image246.png"/><Relationship Id="rId5" Type="http://schemas.openxmlformats.org/officeDocument/2006/relationships/image" Target="../media/image238.png"/><Relationship Id="rId6" Type="http://schemas.openxmlformats.org/officeDocument/2006/relationships/image" Target="../media/image240.png"/><Relationship Id="rId7" Type="http://schemas.openxmlformats.org/officeDocument/2006/relationships/image" Target="../media/image245.png"/><Relationship Id="rId8" Type="http://schemas.openxmlformats.org/officeDocument/2006/relationships/image" Target="../media/image242.png"/><Relationship Id="rId10" Type="http://schemas.openxmlformats.org/officeDocument/2006/relationships/image" Target="../media/image2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41.png"/><Relationship Id="rId4" Type="http://schemas.openxmlformats.org/officeDocument/2006/relationships/image" Target="../media/image249.png"/><Relationship Id="rId9" Type="http://schemas.openxmlformats.org/officeDocument/2006/relationships/image" Target="../media/image257.png"/><Relationship Id="rId5" Type="http://schemas.openxmlformats.org/officeDocument/2006/relationships/image" Target="../media/image251.png"/><Relationship Id="rId6" Type="http://schemas.openxmlformats.org/officeDocument/2006/relationships/image" Target="../media/image248.png"/><Relationship Id="rId7" Type="http://schemas.openxmlformats.org/officeDocument/2006/relationships/image" Target="../media/image258.png"/><Relationship Id="rId8" Type="http://schemas.openxmlformats.org/officeDocument/2006/relationships/image" Target="../media/image252.png"/><Relationship Id="rId11" Type="http://schemas.openxmlformats.org/officeDocument/2006/relationships/image" Target="../media/image256.png"/><Relationship Id="rId10" Type="http://schemas.openxmlformats.org/officeDocument/2006/relationships/image" Target="../media/image2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63.png"/><Relationship Id="rId4" Type="http://schemas.openxmlformats.org/officeDocument/2006/relationships/image" Target="../media/image262.png"/><Relationship Id="rId9" Type="http://schemas.openxmlformats.org/officeDocument/2006/relationships/image" Target="../media/image269.png"/><Relationship Id="rId5" Type="http://schemas.openxmlformats.org/officeDocument/2006/relationships/image" Target="../media/image254.png"/><Relationship Id="rId6" Type="http://schemas.openxmlformats.org/officeDocument/2006/relationships/image" Target="../media/image259.png"/><Relationship Id="rId7" Type="http://schemas.openxmlformats.org/officeDocument/2006/relationships/image" Target="../media/image261.png"/><Relationship Id="rId8" Type="http://schemas.openxmlformats.org/officeDocument/2006/relationships/image" Target="../media/image255.png"/><Relationship Id="rId11" Type="http://schemas.openxmlformats.org/officeDocument/2006/relationships/image" Target="../media/image264.png"/><Relationship Id="rId10" Type="http://schemas.openxmlformats.org/officeDocument/2006/relationships/image" Target="../media/image260.png"/><Relationship Id="rId13" Type="http://schemas.openxmlformats.org/officeDocument/2006/relationships/image" Target="../media/image270.png"/><Relationship Id="rId12" Type="http://schemas.openxmlformats.org/officeDocument/2006/relationships/image" Target="../media/image267.png"/><Relationship Id="rId14" Type="http://schemas.openxmlformats.org/officeDocument/2006/relationships/image" Target="../media/image26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65.png"/><Relationship Id="rId4" Type="http://schemas.openxmlformats.org/officeDocument/2006/relationships/image" Target="../media/image268.png"/><Relationship Id="rId9" Type="http://schemas.openxmlformats.org/officeDocument/2006/relationships/image" Target="../media/image281.png"/><Relationship Id="rId5" Type="http://schemas.openxmlformats.org/officeDocument/2006/relationships/image" Target="../media/image278.png"/><Relationship Id="rId6" Type="http://schemas.openxmlformats.org/officeDocument/2006/relationships/image" Target="../media/image275.png"/><Relationship Id="rId7" Type="http://schemas.openxmlformats.org/officeDocument/2006/relationships/image" Target="../media/image271.png"/><Relationship Id="rId8" Type="http://schemas.openxmlformats.org/officeDocument/2006/relationships/image" Target="../media/image276.png"/><Relationship Id="rId20" Type="http://schemas.openxmlformats.org/officeDocument/2006/relationships/image" Target="../media/image284.jpg"/><Relationship Id="rId22" Type="http://schemas.openxmlformats.org/officeDocument/2006/relationships/image" Target="../media/image291.png"/><Relationship Id="rId21" Type="http://schemas.openxmlformats.org/officeDocument/2006/relationships/image" Target="../media/image286.png"/><Relationship Id="rId24" Type="http://schemas.openxmlformats.org/officeDocument/2006/relationships/image" Target="../media/image289.png"/><Relationship Id="rId23" Type="http://schemas.openxmlformats.org/officeDocument/2006/relationships/image" Target="../media/image283.png"/><Relationship Id="rId25" Type="http://schemas.openxmlformats.org/officeDocument/2006/relationships/image" Target="../media/image293.png"/><Relationship Id="rId11" Type="http://schemas.openxmlformats.org/officeDocument/2006/relationships/image" Target="../media/image273.png"/><Relationship Id="rId10" Type="http://schemas.openxmlformats.org/officeDocument/2006/relationships/image" Target="../media/image280.jpg"/><Relationship Id="rId13" Type="http://schemas.openxmlformats.org/officeDocument/2006/relationships/image" Target="../media/image285.png"/><Relationship Id="rId12" Type="http://schemas.openxmlformats.org/officeDocument/2006/relationships/image" Target="../media/image277.png"/><Relationship Id="rId15" Type="http://schemas.openxmlformats.org/officeDocument/2006/relationships/image" Target="../media/image282.png"/><Relationship Id="rId14" Type="http://schemas.openxmlformats.org/officeDocument/2006/relationships/image" Target="../media/image272.png"/><Relationship Id="rId17" Type="http://schemas.openxmlformats.org/officeDocument/2006/relationships/image" Target="../media/image274.png"/><Relationship Id="rId16" Type="http://schemas.openxmlformats.org/officeDocument/2006/relationships/image" Target="../media/image279.png"/><Relationship Id="rId19" Type="http://schemas.openxmlformats.org/officeDocument/2006/relationships/image" Target="../media/image290.png"/><Relationship Id="rId18" Type="http://schemas.openxmlformats.org/officeDocument/2006/relationships/image" Target="../media/image28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88.jpg"/><Relationship Id="rId4" Type="http://schemas.openxmlformats.org/officeDocument/2006/relationships/image" Target="../media/image300.jpg"/><Relationship Id="rId5" Type="http://schemas.openxmlformats.org/officeDocument/2006/relationships/image" Target="../media/image292.jpg"/><Relationship Id="rId6" Type="http://schemas.openxmlformats.org/officeDocument/2006/relationships/image" Target="../media/image29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96.png"/><Relationship Id="rId4" Type="http://schemas.openxmlformats.org/officeDocument/2006/relationships/image" Target="../media/image29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02.png"/><Relationship Id="rId4" Type="http://schemas.openxmlformats.org/officeDocument/2006/relationships/image" Target="../media/image305.png"/><Relationship Id="rId5" Type="http://schemas.openxmlformats.org/officeDocument/2006/relationships/image" Target="../media/image297.png"/><Relationship Id="rId6" Type="http://schemas.openxmlformats.org/officeDocument/2006/relationships/image" Target="../media/image301.png"/><Relationship Id="rId7" Type="http://schemas.openxmlformats.org/officeDocument/2006/relationships/image" Target="../media/image306.png"/><Relationship Id="rId8" Type="http://schemas.openxmlformats.org/officeDocument/2006/relationships/image" Target="../media/image29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04.png"/><Relationship Id="rId4" Type="http://schemas.openxmlformats.org/officeDocument/2006/relationships/image" Target="../media/image30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03.png"/><Relationship Id="rId4" Type="http://schemas.openxmlformats.org/officeDocument/2006/relationships/image" Target="../media/image29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08.png"/><Relationship Id="rId4" Type="http://schemas.openxmlformats.org/officeDocument/2006/relationships/image" Target="../media/image30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22.png"/><Relationship Id="rId4" Type="http://schemas.openxmlformats.org/officeDocument/2006/relationships/image" Target="../media/image31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12.png"/><Relationship Id="rId4" Type="http://schemas.openxmlformats.org/officeDocument/2006/relationships/image" Target="../media/image31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3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310.png"/><Relationship Id="rId4" Type="http://schemas.openxmlformats.org/officeDocument/2006/relationships/image" Target="../media/image318.png"/><Relationship Id="rId9" Type="http://schemas.openxmlformats.org/officeDocument/2006/relationships/image" Target="../media/image315.png"/><Relationship Id="rId5" Type="http://schemas.openxmlformats.org/officeDocument/2006/relationships/image" Target="../media/image319.png"/><Relationship Id="rId6" Type="http://schemas.openxmlformats.org/officeDocument/2006/relationships/image" Target="../media/image316.png"/><Relationship Id="rId7" Type="http://schemas.openxmlformats.org/officeDocument/2006/relationships/image" Target="../media/image326.png"/><Relationship Id="rId8" Type="http://schemas.openxmlformats.org/officeDocument/2006/relationships/image" Target="../media/image329.png"/><Relationship Id="rId11" Type="http://schemas.openxmlformats.org/officeDocument/2006/relationships/image" Target="../media/image323.png"/><Relationship Id="rId10" Type="http://schemas.openxmlformats.org/officeDocument/2006/relationships/image" Target="../media/image320.png"/><Relationship Id="rId13" Type="http://schemas.openxmlformats.org/officeDocument/2006/relationships/image" Target="../media/image324.png"/><Relationship Id="rId12" Type="http://schemas.openxmlformats.org/officeDocument/2006/relationships/image" Target="../media/image317.png"/><Relationship Id="rId15" Type="http://schemas.openxmlformats.org/officeDocument/2006/relationships/image" Target="../media/image338.png"/><Relationship Id="rId14" Type="http://schemas.openxmlformats.org/officeDocument/2006/relationships/image" Target="../media/image321.png"/><Relationship Id="rId17" Type="http://schemas.openxmlformats.org/officeDocument/2006/relationships/image" Target="../media/image331.png"/><Relationship Id="rId16" Type="http://schemas.openxmlformats.org/officeDocument/2006/relationships/image" Target="../media/image32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25.png"/><Relationship Id="rId4" Type="http://schemas.openxmlformats.org/officeDocument/2006/relationships/image" Target="../media/image333.png"/><Relationship Id="rId9" Type="http://schemas.openxmlformats.org/officeDocument/2006/relationships/image" Target="../media/image341.png"/><Relationship Id="rId5" Type="http://schemas.openxmlformats.org/officeDocument/2006/relationships/image" Target="../media/image330.png"/><Relationship Id="rId6" Type="http://schemas.openxmlformats.org/officeDocument/2006/relationships/image" Target="../media/image332.png"/><Relationship Id="rId7" Type="http://schemas.openxmlformats.org/officeDocument/2006/relationships/image" Target="../media/image342.png"/><Relationship Id="rId8" Type="http://schemas.openxmlformats.org/officeDocument/2006/relationships/image" Target="../media/image335.png"/><Relationship Id="rId11" Type="http://schemas.openxmlformats.org/officeDocument/2006/relationships/image" Target="../media/image327.png"/><Relationship Id="rId10" Type="http://schemas.openxmlformats.org/officeDocument/2006/relationships/image" Target="../media/image334.png"/><Relationship Id="rId13" Type="http://schemas.openxmlformats.org/officeDocument/2006/relationships/image" Target="../media/image337.png"/><Relationship Id="rId12" Type="http://schemas.openxmlformats.org/officeDocument/2006/relationships/image" Target="../media/image34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36.png"/><Relationship Id="rId4" Type="http://schemas.openxmlformats.org/officeDocument/2006/relationships/image" Target="../media/image339.png"/><Relationship Id="rId5" Type="http://schemas.openxmlformats.org/officeDocument/2006/relationships/image" Target="../media/image344.png"/><Relationship Id="rId6" Type="http://schemas.openxmlformats.org/officeDocument/2006/relationships/image" Target="../media/image343.png"/><Relationship Id="rId7" Type="http://schemas.openxmlformats.org/officeDocument/2006/relationships/image" Target="../media/image345.png"/><Relationship Id="rId8" Type="http://schemas.openxmlformats.org/officeDocument/2006/relationships/image" Target="../media/image34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25.png"/><Relationship Id="rId4" Type="http://schemas.openxmlformats.org/officeDocument/2006/relationships/image" Target="../media/image333.png"/><Relationship Id="rId9" Type="http://schemas.openxmlformats.org/officeDocument/2006/relationships/image" Target="../media/image341.png"/><Relationship Id="rId5" Type="http://schemas.openxmlformats.org/officeDocument/2006/relationships/image" Target="../media/image330.png"/><Relationship Id="rId6" Type="http://schemas.openxmlformats.org/officeDocument/2006/relationships/image" Target="../media/image332.png"/><Relationship Id="rId7" Type="http://schemas.openxmlformats.org/officeDocument/2006/relationships/image" Target="../media/image342.png"/><Relationship Id="rId8" Type="http://schemas.openxmlformats.org/officeDocument/2006/relationships/image" Target="../media/image335.png"/><Relationship Id="rId11" Type="http://schemas.openxmlformats.org/officeDocument/2006/relationships/image" Target="../media/image327.png"/><Relationship Id="rId10" Type="http://schemas.openxmlformats.org/officeDocument/2006/relationships/image" Target="../media/image334.png"/><Relationship Id="rId13" Type="http://schemas.openxmlformats.org/officeDocument/2006/relationships/image" Target="../media/image337.png"/><Relationship Id="rId12" Type="http://schemas.openxmlformats.org/officeDocument/2006/relationships/image" Target="../media/image34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347.png"/><Relationship Id="rId4" Type="http://schemas.openxmlformats.org/officeDocument/2006/relationships/image" Target="../media/image349.png"/><Relationship Id="rId5" Type="http://schemas.openxmlformats.org/officeDocument/2006/relationships/image" Target="../media/image325.png"/><Relationship Id="rId6" Type="http://schemas.openxmlformats.org/officeDocument/2006/relationships/image" Target="../media/image356.png"/><Relationship Id="rId7" Type="http://schemas.openxmlformats.org/officeDocument/2006/relationships/image" Target="../media/image36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28.png"/><Relationship Id="rId4" Type="http://schemas.openxmlformats.org/officeDocument/2006/relationships/image" Target="../media/image116.png"/><Relationship Id="rId9" Type="http://schemas.openxmlformats.org/officeDocument/2006/relationships/image" Target="../media/image131.png"/><Relationship Id="rId5" Type="http://schemas.openxmlformats.org/officeDocument/2006/relationships/image" Target="../media/image119.png"/><Relationship Id="rId6" Type="http://schemas.openxmlformats.org/officeDocument/2006/relationships/image" Target="../media/image120.png"/><Relationship Id="rId7" Type="http://schemas.openxmlformats.org/officeDocument/2006/relationships/image" Target="../media/image121.png"/><Relationship Id="rId8" Type="http://schemas.openxmlformats.org/officeDocument/2006/relationships/image" Target="../media/image359.png"/><Relationship Id="rId11" Type="http://schemas.openxmlformats.org/officeDocument/2006/relationships/image" Target="../media/image133.png"/><Relationship Id="rId10" Type="http://schemas.openxmlformats.org/officeDocument/2006/relationships/image" Target="../media/image361.png"/><Relationship Id="rId13" Type="http://schemas.openxmlformats.org/officeDocument/2006/relationships/image" Target="../media/image268.png"/><Relationship Id="rId12" Type="http://schemas.openxmlformats.org/officeDocument/2006/relationships/image" Target="../media/image265.png"/><Relationship Id="rId15" Type="http://schemas.openxmlformats.org/officeDocument/2006/relationships/image" Target="../media/image358.png"/><Relationship Id="rId14" Type="http://schemas.openxmlformats.org/officeDocument/2006/relationships/image" Target="../media/image352.png"/><Relationship Id="rId17" Type="http://schemas.openxmlformats.org/officeDocument/2006/relationships/image" Target="../media/image350.png"/><Relationship Id="rId16" Type="http://schemas.openxmlformats.org/officeDocument/2006/relationships/image" Target="../media/image357.png"/><Relationship Id="rId18" Type="http://schemas.openxmlformats.org/officeDocument/2006/relationships/image" Target="../media/image35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351.png"/><Relationship Id="rId4" Type="http://schemas.openxmlformats.org/officeDocument/2006/relationships/image" Target="../media/image354.png"/><Relationship Id="rId5" Type="http://schemas.openxmlformats.org/officeDocument/2006/relationships/image" Target="../media/image353.png"/><Relationship Id="rId6" Type="http://schemas.openxmlformats.org/officeDocument/2006/relationships/image" Target="../media/image34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
          <p:cNvSpPr txBox="1"/>
          <p:nvPr/>
        </p:nvSpPr>
        <p:spPr>
          <a:xfrm>
            <a:off x="5424944" y="4929579"/>
            <a:ext cx="13527761" cy="286232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6000" u="none" cap="none" strike="noStrike">
                <a:solidFill>
                  <a:schemeClr val="dk2"/>
                </a:solidFill>
                <a:latin typeface="Montserrat"/>
                <a:ea typeface="Montserrat"/>
                <a:cs typeface="Montserrat"/>
                <a:sym typeface="Montserrat"/>
              </a:rPr>
              <a:t>An integrated heralded single photon source based on STIRAP </a:t>
            </a:r>
            <a:endParaRPr/>
          </a:p>
          <a:p>
            <a:pPr indent="0" lvl="0" marL="0" marR="0" rtl="0" algn="ctr">
              <a:spcBef>
                <a:spcPts val="0"/>
              </a:spcBef>
              <a:spcAft>
                <a:spcPts val="0"/>
              </a:spcAft>
              <a:buNone/>
            </a:pPr>
            <a:r>
              <a:rPr b="1" i="0" lang="en-US" sz="6000" u="none" cap="none" strike="noStrike">
                <a:solidFill>
                  <a:schemeClr val="dk2"/>
                </a:solidFill>
                <a:latin typeface="Montserrat"/>
                <a:ea typeface="Montserrat"/>
                <a:cs typeface="Montserrat"/>
                <a:sym typeface="Montserrat"/>
              </a:rPr>
              <a:t>and Ti-PPLN waveguides</a:t>
            </a:r>
            <a:endParaRPr/>
          </a:p>
        </p:txBody>
      </p:sp>
      <p:sp>
        <p:nvSpPr>
          <p:cNvPr id="203" name="Google Shape;203;p1"/>
          <p:cNvSpPr txBox="1"/>
          <p:nvPr/>
        </p:nvSpPr>
        <p:spPr>
          <a:xfrm>
            <a:off x="7145632" y="9825427"/>
            <a:ext cx="465544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2"/>
                </a:solidFill>
                <a:latin typeface="Montserrat"/>
                <a:ea typeface="Montserrat"/>
                <a:cs typeface="Montserrat"/>
                <a:sym typeface="Montserrat"/>
              </a:rPr>
              <a:t>Supervisor: Yen-Hung Chen</a:t>
            </a:r>
            <a:endParaRPr/>
          </a:p>
        </p:txBody>
      </p:sp>
      <p:sp>
        <p:nvSpPr>
          <p:cNvPr id="204" name="Google Shape;204;p1"/>
          <p:cNvSpPr txBox="1"/>
          <p:nvPr/>
        </p:nvSpPr>
        <p:spPr>
          <a:xfrm>
            <a:off x="13013900" y="9825427"/>
            <a:ext cx="380495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2"/>
                </a:solidFill>
                <a:latin typeface="Montserrat"/>
                <a:ea typeface="Montserrat"/>
                <a:cs typeface="Montserrat"/>
                <a:sym typeface="Montserrat"/>
              </a:rPr>
              <a:t>Student: Yang-Teng Li</a:t>
            </a:r>
            <a:endParaRPr/>
          </a:p>
        </p:txBody>
      </p:sp>
      <p:sp>
        <p:nvSpPr>
          <p:cNvPr id="205" name="Google Shape;205;p1"/>
          <p:cNvSpPr/>
          <p:nvPr/>
        </p:nvSpPr>
        <p:spPr>
          <a:xfrm>
            <a:off x="10479086" y="2551251"/>
            <a:ext cx="3419475" cy="109538"/>
          </a:xfrm>
          <a:prstGeom prst="rect">
            <a:avLst/>
          </a:prstGeom>
          <a:solidFill>
            <a:srgbClr val="E5D8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600" u="none" cap="none" strike="noStrike">
              <a:solidFill>
                <a:schemeClr val="lt1"/>
              </a:solidFill>
              <a:latin typeface="Montserrat"/>
              <a:ea typeface="Montserrat"/>
              <a:cs typeface="Montserrat"/>
              <a:sym typeface="Montserrat"/>
            </a:endParaRPr>
          </a:p>
        </p:txBody>
      </p:sp>
      <p:sp>
        <p:nvSpPr>
          <p:cNvPr id="206" name="Google Shape;206;p1"/>
          <p:cNvSpPr/>
          <p:nvPr/>
        </p:nvSpPr>
        <p:spPr>
          <a:xfrm>
            <a:off x="10479086" y="11569608"/>
            <a:ext cx="3419475" cy="111125"/>
          </a:xfrm>
          <a:prstGeom prst="rect">
            <a:avLst/>
          </a:prstGeom>
          <a:solidFill>
            <a:srgbClr val="E5D8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600" u="none" cap="none" strike="noStrike">
              <a:solidFill>
                <a:schemeClr val="lt1"/>
              </a:solidFill>
              <a:latin typeface="Montserrat"/>
              <a:ea typeface="Montserrat"/>
              <a:cs typeface="Montserrat"/>
              <a:sym typeface="Montserrat"/>
            </a:endParaRPr>
          </a:p>
        </p:txBody>
      </p:sp>
      <p:sp>
        <p:nvSpPr>
          <p:cNvPr id="207" name="Google Shape;207;p1"/>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8" name="Google Shape;208;p1"/>
          <p:cNvSpPr txBox="1"/>
          <p:nvPr/>
        </p:nvSpPr>
        <p:spPr>
          <a:xfrm>
            <a:off x="6573588" y="2948103"/>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accent1"/>
                </a:solidFill>
                <a:latin typeface="Montserrat"/>
                <a:ea typeface="Montserrat"/>
                <a:cs typeface="Montserrat"/>
                <a:sym typeface="Montserrat"/>
              </a:rPr>
              <a:t>Final defense</a:t>
            </a:r>
            <a:endParaRPr b="1" i="0" sz="2000" u="none" cap="none" strike="noStrike">
              <a:solidFill>
                <a:schemeClr val="accent1"/>
              </a:solidFill>
              <a:latin typeface="Montserrat"/>
              <a:ea typeface="Montserrat"/>
              <a:cs typeface="Montserrat"/>
              <a:sym typeface="Montserrat"/>
            </a:endParaRPr>
          </a:p>
        </p:txBody>
      </p:sp>
      <p:sp>
        <p:nvSpPr>
          <p:cNvPr id="209" name="Google Shape;209;p1"/>
          <p:cNvSpPr/>
          <p:nvPr/>
        </p:nvSpPr>
        <p:spPr>
          <a:xfrm flipH="1">
            <a:off x="19337650" y="1047600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600" u="none" cap="none" strike="noStrike">
              <a:solidFill>
                <a:schemeClr val="lt1"/>
              </a:solidFill>
              <a:latin typeface="Tahoma"/>
              <a:ea typeface="Tahoma"/>
              <a:cs typeface="Tahoma"/>
              <a:sym typeface="Tahoma"/>
            </a:endParaRPr>
          </a:p>
        </p:txBody>
      </p:sp>
      <p:sp>
        <p:nvSpPr>
          <p:cNvPr id="210" name="Google Shape;210;p1"/>
          <p:cNvSpPr/>
          <p:nvPr/>
        </p:nvSpPr>
        <p:spPr>
          <a:xfrm flipH="1" rot="10800000">
            <a:off x="0" y="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600" u="none" cap="none" strike="noStrike">
              <a:solidFill>
                <a:schemeClr val="lt1"/>
              </a:solidFill>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
          <p:cNvSpPr/>
          <p:nvPr/>
        </p:nvSpPr>
        <p:spPr>
          <a:xfrm>
            <a:off x="-1" y="-7257"/>
            <a:ext cx="24377651" cy="1372325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600" u="none" cap="none" strike="noStrike">
              <a:solidFill>
                <a:schemeClr val="lt1"/>
              </a:solidFill>
              <a:latin typeface="Montserrat"/>
              <a:ea typeface="Montserrat"/>
              <a:cs typeface="Montserrat"/>
              <a:sym typeface="Montserrat"/>
            </a:endParaRPr>
          </a:p>
        </p:txBody>
      </p:sp>
      <p:cxnSp>
        <p:nvCxnSpPr>
          <p:cNvPr id="217" name="Google Shape;217;p2"/>
          <p:cNvCxnSpPr/>
          <p:nvPr/>
        </p:nvCxnSpPr>
        <p:spPr>
          <a:xfrm>
            <a:off x="12188825" y="3768165"/>
            <a:ext cx="1864185" cy="0"/>
          </a:xfrm>
          <a:prstGeom prst="straightConnector1">
            <a:avLst/>
          </a:prstGeom>
          <a:noFill/>
          <a:ln cap="flat" cmpd="sng" w="38100">
            <a:solidFill>
              <a:srgbClr val="D8D8D8"/>
            </a:solidFill>
            <a:prstDash val="solid"/>
            <a:miter lim="800000"/>
            <a:headEnd len="sm" w="sm" type="none"/>
            <a:tailEnd len="sm" w="sm" type="none"/>
          </a:ln>
        </p:spPr>
      </p:cxnSp>
      <p:cxnSp>
        <p:nvCxnSpPr>
          <p:cNvPr id="218" name="Google Shape;218;p2"/>
          <p:cNvCxnSpPr/>
          <p:nvPr/>
        </p:nvCxnSpPr>
        <p:spPr>
          <a:xfrm>
            <a:off x="14053010" y="3747844"/>
            <a:ext cx="0" cy="6081956"/>
          </a:xfrm>
          <a:prstGeom prst="straightConnector1">
            <a:avLst/>
          </a:prstGeom>
          <a:noFill/>
          <a:ln cap="flat" cmpd="sng" w="38100">
            <a:solidFill>
              <a:srgbClr val="D8D8D8"/>
            </a:solidFill>
            <a:prstDash val="solid"/>
            <a:miter lim="800000"/>
            <a:headEnd len="sm" w="sm" type="none"/>
            <a:tailEnd len="sm" w="sm" type="none"/>
          </a:ln>
        </p:spPr>
      </p:cxnSp>
      <p:cxnSp>
        <p:nvCxnSpPr>
          <p:cNvPr id="219" name="Google Shape;219;p2"/>
          <p:cNvCxnSpPr/>
          <p:nvPr/>
        </p:nvCxnSpPr>
        <p:spPr>
          <a:xfrm>
            <a:off x="5140419" y="4414520"/>
            <a:ext cx="0" cy="9846229"/>
          </a:xfrm>
          <a:prstGeom prst="straightConnector1">
            <a:avLst/>
          </a:prstGeom>
          <a:noFill/>
          <a:ln cap="flat" cmpd="sng" w="38100">
            <a:solidFill>
              <a:srgbClr val="D8D8D8"/>
            </a:solidFill>
            <a:prstDash val="solid"/>
            <a:miter lim="800000"/>
            <a:headEnd len="sm" w="sm" type="none"/>
            <a:tailEnd len="sm" w="sm" type="none"/>
          </a:ln>
        </p:spPr>
      </p:cxnSp>
      <p:sp>
        <p:nvSpPr>
          <p:cNvPr id="220" name="Google Shape;220;p2"/>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5400" u="none" cap="none" strike="noStrike">
                <a:solidFill>
                  <a:schemeClr val="dk2"/>
                </a:solidFill>
                <a:latin typeface="Montserrat"/>
                <a:ea typeface="Montserrat"/>
                <a:cs typeface="Montserrat"/>
                <a:sym typeface="Montserrat"/>
              </a:rPr>
              <a:t>Outline</a:t>
            </a:r>
            <a:endParaRPr/>
          </a:p>
        </p:txBody>
      </p:sp>
      <p:sp>
        <p:nvSpPr>
          <p:cNvPr id="221" name="Google Shape;221;p2"/>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2" name="Google Shape;222;p2"/>
          <p:cNvSpPr/>
          <p:nvPr/>
        </p:nvSpPr>
        <p:spPr>
          <a:xfrm flipH="1" rot="10800000">
            <a:off x="4762266" y="4225885"/>
            <a:ext cx="720000" cy="7200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600" u="none" cap="none" strike="noStrike">
              <a:solidFill>
                <a:schemeClr val="lt1"/>
              </a:solidFill>
              <a:latin typeface="Montserrat"/>
              <a:ea typeface="Montserrat"/>
              <a:cs typeface="Montserrat"/>
              <a:sym typeface="Montserrat"/>
            </a:endParaRPr>
          </a:p>
        </p:txBody>
      </p:sp>
      <p:sp>
        <p:nvSpPr>
          <p:cNvPr id="223" name="Google Shape;223;p2"/>
          <p:cNvSpPr txBox="1"/>
          <p:nvPr/>
        </p:nvSpPr>
        <p:spPr>
          <a:xfrm>
            <a:off x="6050632" y="4274516"/>
            <a:ext cx="323280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chemeClr val="dk2"/>
                </a:solidFill>
                <a:latin typeface="Montserrat"/>
                <a:ea typeface="Montserrat"/>
                <a:cs typeface="Montserrat"/>
                <a:sym typeface="Montserrat"/>
              </a:rPr>
              <a:t>Introduction</a:t>
            </a:r>
            <a:endParaRPr/>
          </a:p>
        </p:txBody>
      </p:sp>
      <p:sp>
        <p:nvSpPr>
          <p:cNvPr id="224" name="Google Shape;224;p2"/>
          <p:cNvSpPr txBox="1"/>
          <p:nvPr/>
        </p:nvSpPr>
        <p:spPr>
          <a:xfrm>
            <a:off x="6050632" y="4944336"/>
            <a:ext cx="5557391" cy="169706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Integrated heralded single photon sources</a:t>
            </a:r>
            <a:endParaRPr sz="2400">
              <a:solidFill>
                <a:schemeClr val="dk2"/>
              </a:solidFill>
              <a:latin typeface="Montserrat"/>
              <a:ea typeface="Montserrat"/>
              <a:cs typeface="Montserrat"/>
              <a:sym typeface="Montserrat"/>
            </a:endParaRPr>
          </a:p>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Integrated PBSs </a:t>
            </a:r>
            <a:endParaRPr/>
          </a:p>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Integrated spectral filters</a:t>
            </a:r>
            <a:endParaRPr/>
          </a:p>
        </p:txBody>
      </p:sp>
      <p:sp>
        <p:nvSpPr>
          <p:cNvPr id="225" name="Google Shape;225;p2"/>
          <p:cNvSpPr txBox="1"/>
          <p:nvPr/>
        </p:nvSpPr>
        <p:spPr>
          <a:xfrm>
            <a:off x="6050632" y="10990903"/>
            <a:ext cx="5796349" cy="11430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Polarization beam splitters based on STIRAP</a:t>
            </a:r>
            <a:endParaRPr/>
          </a:p>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High-pass filters based on STIRAP</a:t>
            </a:r>
            <a:endParaRPr/>
          </a:p>
        </p:txBody>
      </p:sp>
      <p:sp>
        <p:nvSpPr>
          <p:cNvPr id="226" name="Google Shape;226;p2"/>
          <p:cNvSpPr txBox="1"/>
          <p:nvPr/>
        </p:nvSpPr>
        <p:spPr>
          <a:xfrm>
            <a:off x="6050631" y="7668882"/>
            <a:ext cx="5796348" cy="225106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Sum frequency generation/SPDC</a:t>
            </a:r>
            <a:endParaRPr/>
          </a:p>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Quasi-phase-matching</a:t>
            </a:r>
            <a:endParaRPr/>
          </a:p>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Electric field poling</a:t>
            </a:r>
            <a:endParaRPr/>
          </a:p>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Stimulated Raman adiabatic passage (STIRAP)</a:t>
            </a:r>
            <a:endParaRPr sz="2400">
              <a:solidFill>
                <a:schemeClr val="dk2"/>
              </a:solidFill>
              <a:latin typeface="Montserrat"/>
              <a:ea typeface="Montserrat"/>
              <a:cs typeface="Montserrat"/>
              <a:sym typeface="Montserrat"/>
            </a:endParaRPr>
          </a:p>
        </p:txBody>
      </p:sp>
      <p:sp>
        <p:nvSpPr>
          <p:cNvPr id="227" name="Google Shape;227;p2"/>
          <p:cNvSpPr txBox="1"/>
          <p:nvPr/>
        </p:nvSpPr>
        <p:spPr>
          <a:xfrm>
            <a:off x="4932789" y="4272594"/>
            <a:ext cx="470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Montserrat"/>
                <a:ea typeface="Montserrat"/>
                <a:cs typeface="Montserrat"/>
                <a:sym typeface="Montserrat"/>
              </a:rPr>
              <a:t>1</a:t>
            </a:r>
            <a:endParaRPr/>
          </a:p>
        </p:txBody>
      </p:sp>
      <p:sp>
        <p:nvSpPr>
          <p:cNvPr id="228" name="Google Shape;228;p2"/>
          <p:cNvSpPr/>
          <p:nvPr/>
        </p:nvSpPr>
        <p:spPr>
          <a:xfrm flipH="1" rot="10800000">
            <a:off x="4762266" y="6948882"/>
            <a:ext cx="720000" cy="7200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29" name="Google Shape;229;p2"/>
          <p:cNvSpPr txBox="1"/>
          <p:nvPr/>
        </p:nvSpPr>
        <p:spPr>
          <a:xfrm>
            <a:off x="6050632" y="6997513"/>
            <a:ext cx="183915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2"/>
                </a:solidFill>
                <a:latin typeface="Montserrat"/>
                <a:ea typeface="Montserrat"/>
                <a:cs typeface="Montserrat"/>
                <a:sym typeface="Montserrat"/>
              </a:rPr>
              <a:t>Theory</a:t>
            </a:r>
            <a:endParaRPr/>
          </a:p>
        </p:txBody>
      </p:sp>
      <p:sp>
        <p:nvSpPr>
          <p:cNvPr id="230" name="Google Shape;230;p2"/>
          <p:cNvSpPr txBox="1"/>
          <p:nvPr/>
        </p:nvSpPr>
        <p:spPr>
          <a:xfrm>
            <a:off x="4932789" y="7004057"/>
            <a:ext cx="470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Montserrat"/>
                <a:ea typeface="Montserrat"/>
                <a:cs typeface="Montserrat"/>
                <a:sym typeface="Montserrat"/>
              </a:rPr>
              <a:t>2</a:t>
            </a:r>
            <a:endParaRPr/>
          </a:p>
        </p:txBody>
      </p:sp>
      <p:sp>
        <p:nvSpPr>
          <p:cNvPr id="231" name="Google Shape;231;p2"/>
          <p:cNvSpPr/>
          <p:nvPr/>
        </p:nvSpPr>
        <p:spPr>
          <a:xfrm flipH="1" rot="10800000">
            <a:off x="4782622" y="10357497"/>
            <a:ext cx="720000" cy="7200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32" name="Google Shape;232;p2"/>
          <p:cNvSpPr txBox="1"/>
          <p:nvPr/>
        </p:nvSpPr>
        <p:spPr>
          <a:xfrm>
            <a:off x="6050634" y="10406128"/>
            <a:ext cx="278576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2"/>
                </a:solidFill>
                <a:latin typeface="Montserrat"/>
                <a:ea typeface="Montserrat"/>
                <a:cs typeface="Montserrat"/>
                <a:sym typeface="Montserrat"/>
              </a:rPr>
              <a:t>Simulation</a:t>
            </a:r>
            <a:endParaRPr/>
          </a:p>
        </p:txBody>
      </p:sp>
      <p:sp>
        <p:nvSpPr>
          <p:cNvPr id="233" name="Google Shape;233;p2"/>
          <p:cNvSpPr txBox="1"/>
          <p:nvPr/>
        </p:nvSpPr>
        <p:spPr>
          <a:xfrm>
            <a:off x="4968544" y="10421138"/>
            <a:ext cx="470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Montserrat"/>
                <a:ea typeface="Montserrat"/>
                <a:cs typeface="Montserrat"/>
                <a:sym typeface="Montserrat"/>
              </a:rPr>
              <a:t>3</a:t>
            </a:r>
            <a:endParaRPr/>
          </a:p>
        </p:txBody>
      </p:sp>
      <p:sp>
        <p:nvSpPr>
          <p:cNvPr id="234" name="Google Shape;234;p2"/>
          <p:cNvSpPr/>
          <p:nvPr/>
        </p:nvSpPr>
        <p:spPr>
          <a:xfrm flipH="1" rot="10800000">
            <a:off x="13690931" y="4227051"/>
            <a:ext cx="720000" cy="7200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35" name="Google Shape;235;p2"/>
          <p:cNvSpPr txBox="1"/>
          <p:nvPr/>
        </p:nvSpPr>
        <p:spPr>
          <a:xfrm>
            <a:off x="14979295" y="4952160"/>
            <a:ext cx="5557391" cy="114307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Titanium in-diffusion</a:t>
            </a:r>
            <a:endParaRPr/>
          </a:p>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Electric field poling</a:t>
            </a:r>
            <a:endParaRPr/>
          </a:p>
        </p:txBody>
      </p:sp>
      <p:sp>
        <p:nvSpPr>
          <p:cNvPr id="236" name="Google Shape;236;p2"/>
          <p:cNvSpPr txBox="1"/>
          <p:nvPr/>
        </p:nvSpPr>
        <p:spPr>
          <a:xfrm>
            <a:off x="14979296" y="7204904"/>
            <a:ext cx="5557391" cy="169706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Tuning curve of SFG</a:t>
            </a:r>
            <a:endParaRPr/>
          </a:p>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PER spectrum</a:t>
            </a:r>
            <a:endParaRPr/>
          </a:p>
          <a:p>
            <a:pPr indent="0" lvl="0" marL="0" marR="0" rtl="0" algn="l">
              <a:lnSpc>
                <a:spcPct val="150000"/>
              </a:lnSpc>
              <a:spcBef>
                <a:spcPts val="0"/>
              </a:spcBef>
              <a:spcAft>
                <a:spcPts val="0"/>
              </a:spcAft>
              <a:buNone/>
            </a:pPr>
            <a:r>
              <a:rPr lang="en-US" sz="2400">
                <a:solidFill>
                  <a:schemeClr val="dk2"/>
                </a:solidFill>
                <a:latin typeface="Montserrat"/>
                <a:ea typeface="Montserrat"/>
                <a:cs typeface="Montserrat"/>
                <a:sym typeface="Montserrat"/>
              </a:rPr>
              <a:t>Coincidence counting</a:t>
            </a:r>
            <a:endParaRPr/>
          </a:p>
        </p:txBody>
      </p:sp>
      <p:sp>
        <p:nvSpPr>
          <p:cNvPr id="237" name="Google Shape;237;p2"/>
          <p:cNvSpPr txBox="1"/>
          <p:nvPr/>
        </p:nvSpPr>
        <p:spPr>
          <a:xfrm>
            <a:off x="13848755" y="4294927"/>
            <a:ext cx="470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Montserrat"/>
                <a:ea typeface="Montserrat"/>
                <a:cs typeface="Montserrat"/>
                <a:sym typeface="Montserrat"/>
              </a:rPr>
              <a:t>4</a:t>
            </a:r>
            <a:endParaRPr/>
          </a:p>
        </p:txBody>
      </p:sp>
      <p:sp>
        <p:nvSpPr>
          <p:cNvPr id="238" name="Google Shape;238;p2"/>
          <p:cNvSpPr/>
          <p:nvPr/>
        </p:nvSpPr>
        <p:spPr>
          <a:xfrm flipH="1" rot="10800000">
            <a:off x="13690931" y="9414874"/>
            <a:ext cx="720000" cy="7200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39" name="Google Shape;239;p2"/>
          <p:cNvSpPr txBox="1"/>
          <p:nvPr/>
        </p:nvSpPr>
        <p:spPr>
          <a:xfrm>
            <a:off x="14979297" y="6620129"/>
            <a:ext cx="591097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2"/>
                </a:solidFill>
                <a:latin typeface="Montserrat"/>
                <a:ea typeface="Montserrat"/>
                <a:cs typeface="Montserrat"/>
                <a:sym typeface="Montserrat"/>
              </a:rPr>
              <a:t>Results and discussions</a:t>
            </a:r>
            <a:endParaRPr/>
          </a:p>
        </p:txBody>
      </p:sp>
      <p:sp>
        <p:nvSpPr>
          <p:cNvPr id="240" name="Google Shape;240;p2"/>
          <p:cNvSpPr txBox="1"/>
          <p:nvPr/>
        </p:nvSpPr>
        <p:spPr>
          <a:xfrm>
            <a:off x="13853835" y="9467510"/>
            <a:ext cx="470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Montserrat"/>
                <a:ea typeface="Montserrat"/>
                <a:cs typeface="Montserrat"/>
                <a:sym typeface="Montserrat"/>
              </a:rPr>
              <a:t>6</a:t>
            </a:r>
            <a:endParaRPr b="1" sz="3200">
              <a:solidFill>
                <a:schemeClr val="lt1"/>
              </a:solidFill>
              <a:latin typeface="Montserrat"/>
              <a:ea typeface="Montserrat"/>
              <a:cs typeface="Montserrat"/>
              <a:sym typeface="Montserrat"/>
            </a:endParaRPr>
          </a:p>
        </p:txBody>
      </p:sp>
      <p:sp>
        <p:nvSpPr>
          <p:cNvPr id="241" name="Google Shape;241;p2"/>
          <p:cNvSpPr txBox="1"/>
          <p:nvPr/>
        </p:nvSpPr>
        <p:spPr>
          <a:xfrm>
            <a:off x="14979297" y="9467510"/>
            <a:ext cx="588494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2"/>
                </a:solidFill>
                <a:latin typeface="Montserrat"/>
                <a:ea typeface="Montserrat"/>
                <a:cs typeface="Montserrat"/>
                <a:sym typeface="Montserrat"/>
              </a:rPr>
              <a:t>Conclusion and outlook</a:t>
            </a:r>
            <a:endParaRPr/>
          </a:p>
        </p:txBody>
      </p:sp>
      <p:cxnSp>
        <p:nvCxnSpPr>
          <p:cNvPr id="242" name="Google Shape;242;p2"/>
          <p:cNvCxnSpPr/>
          <p:nvPr/>
        </p:nvCxnSpPr>
        <p:spPr>
          <a:xfrm>
            <a:off x="12188825" y="3747845"/>
            <a:ext cx="0" cy="10803602"/>
          </a:xfrm>
          <a:prstGeom prst="straightConnector1">
            <a:avLst/>
          </a:prstGeom>
          <a:noFill/>
          <a:ln cap="flat" cmpd="sng" w="38100">
            <a:solidFill>
              <a:srgbClr val="D8D8D8"/>
            </a:solidFill>
            <a:prstDash val="solid"/>
            <a:miter lim="800000"/>
            <a:headEnd len="sm" w="sm" type="none"/>
            <a:tailEnd len="sm" w="sm" type="none"/>
          </a:ln>
        </p:spPr>
      </p:cxnSp>
      <p:sp>
        <p:nvSpPr>
          <p:cNvPr id="243" name="Google Shape;243;p2"/>
          <p:cNvSpPr/>
          <p:nvPr/>
        </p:nvSpPr>
        <p:spPr>
          <a:xfrm flipH="1" rot="10800000">
            <a:off x="13690930" y="6552253"/>
            <a:ext cx="720000" cy="7200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44" name="Google Shape;244;p2"/>
          <p:cNvSpPr txBox="1"/>
          <p:nvPr/>
        </p:nvSpPr>
        <p:spPr>
          <a:xfrm>
            <a:off x="14983784" y="4291684"/>
            <a:ext cx="492474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2"/>
                </a:solidFill>
                <a:latin typeface="Montserrat"/>
                <a:ea typeface="Montserrat"/>
                <a:cs typeface="Montserrat"/>
                <a:sym typeface="Montserrat"/>
              </a:rPr>
              <a:t>Fabrication process</a:t>
            </a:r>
            <a:endParaRPr b="1" sz="3200">
              <a:solidFill>
                <a:schemeClr val="dk2"/>
              </a:solidFill>
              <a:latin typeface="Montserrat"/>
              <a:ea typeface="Montserrat"/>
              <a:cs typeface="Montserrat"/>
              <a:sym typeface="Montserrat"/>
            </a:endParaRPr>
          </a:p>
        </p:txBody>
      </p:sp>
      <p:sp>
        <p:nvSpPr>
          <p:cNvPr id="245" name="Google Shape;245;p2"/>
          <p:cNvSpPr txBox="1"/>
          <p:nvPr/>
        </p:nvSpPr>
        <p:spPr>
          <a:xfrm>
            <a:off x="13863994" y="6620129"/>
            <a:ext cx="470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Montserrat"/>
                <a:ea typeface="Montserrat"/>
                <a:cs typeface="Montserrat"/>
                <a:sym typeface="Montserrat"/>
              </a:rPr>
              <a:t>5</a:t>
            </a:r>
            <a:endParaRPr b="1" sz="3200">
              <a:solidFill>
                <a:schemeClr val="lt1"/>
              </a:solidFill>
              <a:latin typeface="Montserrat"/>
              <a:ea typeface="Montserrat"/>
              <a:cs typeface="Montserrat"/>
              <a:sym typeface="Montserrat"/>
            </a:endParaRPr>
          </a:p>
        </p:txBody>
      </p:sp>
      <p:sp>
        <p:nvSpPr>
          <p:cNvPr id="246" name="Google Shape;246;p2"/>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
          <p:cNvSpPr txBox="1"/>
          <p:nvPr/>
        </p:nvSpPr>
        <p:spPr>
          <a:xfrm>
            <a:off x="5955030" y="5460254"/>
            <a:ext cx="12467590"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0">
                <a:solidFill>
                  <a:schemeClr val="dk2"/>
                </a:solidFill>
                <a:latin typeface="Montserrat"/>
                <a:ea typeface="Montserrat"/>
                <a:cs typeface="Montserrat"/>
                <a:sym typeface="Montserrat"/>
              </a:rPr>
              <a:t>Introduction</a:t>
            </a:r>
            <a:endParaRPr/>
          </a:p>
        </p:txBody>
      </p:sp>
      <p:sp>
        <p:nvSpPr>
          <p:cNvPr id="253" name="Google Shape;253;p3"/>
          <p:cNvSpPr txBox="1"/>
          <p:nvPr/>
        </p:nvSpPr>
        <p:spPr>
          <a:xfrm>
            <a:off x="6572250" y="7734635"/>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54" name="Google Shape;254;p3"/>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5" name="Google Shape;255;p3"/>
          <p:cNvSpPr/>
          <p:nvPr/>
        </p:nvSpPr>
        <p:spPr>
          <a:xfrm flipH="1">
            <a:off x="19337650" y="1047600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256" name="Google Shape;256;p3"/>
          <p:cNvSpPr/>
          <p:nvPr/>
        </p:nvSpPr>
        <p:spPr>
          <a:xfrm flipH="1" rot="10800000">
            <a:off x="0" y="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257" name="Google Shape;257;p3"/>
          <p:cNvSpPr/>
          <p:nvPr/>
        </p:nvSpPr>
        <p:spPr>
          <a:xfrm flipH="1" rot="10800000">
            <a:off x="7640888" y="7375745"/>
            <a:ext cx="9095874" cy="10081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Montserrat"/>
              <a:buNone/>
            </a:pPr>
            <a:r>
              <a:rPr b="1" i="0" lang="en-US" sz="5400" u="none" cap="none" strike="noStrike">
                <a:solidFill>
                  <a:srgbClr val="000000"/>
                </a:solidFill>
                <a:latin typeface="Montserrat"/>
                <a:ea typeface="Montserrat"/>
                <a:cs typeface="Montserrat"/>
                <a:sym typeface="Montserrat"/>
              </a:rPr>
              <a:t>Classical vs. quantum system</a:t>
            </a:r>
            <a:endParaRPr/>
          </a:p>
        </p:txBody>
      </p:sp>
      <p:sp>
        <p:nvSpPr>
          <p:cNvPr id="263" name="Google Shape;263;p4"/>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9F63"/>
              </a:buClr>
              <a:buSzPts val="2000"/>
              <a:buFont typeface="Montserrat"/>
              <a:buNone/>
            </a:pPr>
            <a:r>
              <a:rPr b="0" i="0" lang="en-US" sz="2000" u="none" cap="none" strike="noStrike">
                <a:solidFill>
                  <a:srgbClr val="C09F63"/>
                </a:solidFill>
                <a:latin typeface="Montserrat"/>
                <a:ea typeface="Montserrat"/>
                <a:cs typeface="Montserrat"/>
                <a:sym typeface="Montserrat"/>
              </a:rPr>
              <a:t>Final defense</a:t>
            </a:r>
            <a:endParaRPr b="1" i="0" sz="2000" u="none" cap="none" strike="noStrike">
              <a:solidFill>
                <a:srgbClr val="C09F63"/>
              </a:solidFill>
              <a:latin typeface="Montserrat"/>
              <a:ea typeface="Montserrat"/>
              <a:cs typeface="Montserrat"/>
              <a:sym typeface="Montserrat"/>
            </a:endParaRPr>
          </a:p>
        </p:txBody>
      </p:sp>
      <p:sp>
        <p:nvSpPr>
          <p:cNvPr id="264" name="Google Shape;264;p4"/>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800"/>
              <a:buFont typeface="Tahoma"/>
              <a:buNone/>
            </a:pPr>
            <a:fld id="{00000000-1234-1234-1234-123412341234}" type="slidenum">
              <a:rPr b="0" i="0" lang="en-US" sz="2800" u="none" cap="none" strike="noStrike">
                <a:solidFill>
                  <a:srgbClr val="000000"/>
                </a:solidFill>
                <a:latin typeface="Tahoma"/>
                <a:ea typeface="Tahoma"/>
                <a:cs typeface="Tahoma"/>
                <a:sym typeface="Tahoma"/>
              </a:rPr>
              <a:t>‹#›</a:t>
            </a:fld>
            <a:endParaRPr b="0" i="0" sz="2800" u="none" cap="none" strike="noStrike">
              <a:solidFill>
                <a:srgbClr val="000000"/>
              </a:solidFill>
              <a:latin typeface="Tahoma"/>
              <a:ea typeface="Tahoma"/>
              <a:cs typeface="Tahoma"/>
              <a:sym typeface="Tahoma"/>
            </a:endParaRPr>
          </a:p>
        </p:txBody>
      </p:sp>
      <p:sp>
        <p:nvSpPr>
          <p:cNvPr id="265" name="Google Shape;265;p4"/>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t/>
            </a:r>
            <a:endParaRPr b="0" i="0" sz="3600" u="none" cap="none" strike="noStrike">
              <a:solidFill>
                <a:srgbClr val="FFFFFF"/>
              </a:solidFill>
              <a:latin typeface="Montserrat"/>
              <a:ea typeface="Montserrat"/>
              <a:cs typeface="Montserrat"/>
              <a:sym typeface="Montserrat"/>
            </a:endParaRPr>
          </a:p>
        </p:txBody>
      </p:sp>
      <p:sp>
        <p:nvSpPr>
          <p:cNvPr id="266" name="Google Shape;266;p4"/>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Montserrat"/>
              <a:buNone/>
            </a:pPr>
            <a:r>
              <a:rPr b="1" i="0" lang="en-US" sz="1500" u="none" cap="none" strike="noStrike">
                <a:solidFill>
                  <a:srgbClr val="000000"/>
                </a:solidFill>
                <a:latin typeface="Montserrat"/>
                <a:ea typeface="Montserrat"/>
                <a:cs typeface="Montserrat"/>
                <a:sym typeface="Montserrat"/>
              </a:rPr>
              <a:t>Introduction</a:t>
            </a:r>
            <a:endParaRPr/>
          </a:p>
        </p:txBody>
      </p:sp>
      <p:sp>
        <p:nvSpPr>
          <p:cNvPr id="267" name="Google Shape;267;p4"/>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2B2B2"/>
              </a:buClr>
              <a:buSzPts val="1500"/>
              <a:buFont typeface="Montserrat"/>
              <a:buNone/>
            </a:pPr>
            <a:r>
              <a:rPr b="1" i="0" lang="en-US" sz="1500" u="none" cap="none" strike="noStrike">
                <a:solidFill>
                  <a:srgbClr val="B2B2B2"/>
                </a:solidFill>
                <a:latin typeface="Montserrat"/>
                <a:ea typeface="Montserrat"/>
                <a:cs typeface="Montserrat"/>
                <a:sym typeface="Montserrat"/>
              </a:rPr>
              <a:t>Theory</a:t>
            </a:r>
            <a:endParaRPr/>
          </a:p>
        </p:txBody>
      </p:sp>
      <p:sp>
        <p:nvSpPr>
          <p:cNvPr id="268" name="Google Shape;268;p4"/>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2B2B2"/>
              </a:buClr>
              <a:buSzPts val="1500"/>
              <a:buFont typeface="Montserrat"/>
              <a:buNone/>
            </a:pPr>
            <a:r>
              <a:rPr b="1" i="0" lang="en-US" sz="1500" u="none" cap="none" strike="noStrike">
                <a:solidFill>
                  <a:srgbClr val="B2B2B2"/>
                </a:solidFill>
                <a:latin typeface="Montserrat"/>
                <a:ea typeface="Montserrat"/>
                <a:cs typeface="Montserrat"/>
                <a:sym typeface="Montserrat"/>
              </a:rPr>
              <a:t>Simulation</a:t>
            </a:r>
            <a:endParaRPr/>
          </a:p>
        </p:txBody>
      </p:sp>
      <p:sp>
        <p:nvSpPr>
          <p:cNvPr id="269" name="Google Shape;269;p4"/>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2B2B2"/>
              </a:buClr>
              <a:buSzPts val="1500"/>
              <a:buFont typeface="Montserrat"/>
              <a:buNone/>
            </a:pPr>
            <a:r>
              <a:rPr b="1" i="0" lang="en-US" sz="1500" u="none" cap="none" strike="noStrike">
                <a:solidFill>
                  <a:srgbClr val="B2B2B2"/>
                </a:solidFill>
                <a:latin typeface="Montserrat"/>
                <a:ea typeface="Montserrat"/>
                <a:cs typeface="Montserrat"/>
                <a:sym typeface="Montserrat"/>
              </a:rPr>
              <a:t>Results and discussions</a:t>
            </a:r>
            <a:endParaRPr/>
          </a:p>
        </p:txBody>
      </p:sp>
      <p:sp>
        <p:nvSpPr>
          <p:cNvPr id="270" name="Google Shape;270;p4"/>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2B2B2"/>
              </a:buClr>
              <a:buSzPts val="1500"/>
              <a:buFont typeface="Montserrat"/>
              <a:buNone/>
            </a:pPr>
            <a:r>
              <a:rPr b="1" i="0" lang="en-US" sz="1500" u="none" cap="none" strike="noStrike">
                <a:solidFill>
                  <a:srgbClr val="B2B2B2"/>
                </a:solidFill>
                <a:latin typeface="Montserrat"/>
                <a:ea typeface="Montserrat"/>
                <a:cs typeface="Montserrat"/>
                <a:sym typeface="Montserrat"/>
              </a:rPr>
              <a:t>Conclusion and outlook</a:t>
            </a:r>
            <a:endParaRPr/>
          </a:p>
        </p:txBody>
      </p:sp>
      <p:sp>
        <p:nvSpPr>
          <p:cNvPr id="271" name="Google Shape;271;p4"/>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2B2B2"/>
              </a:buClr>
              <a:buSzPts val="1500"/>
              <a:buFont typeface="Montserrat"/>
              <a:buNone/>
            </a:pPr>
            <a:r>
              <a:rPr b="1" i="0" lang="en-US" sz="1500" u="none" cap="none" strike="noStrike">
                <a:solidFill>
                  <a:srgbClr val="B2B2B2"/>
                </a:solidFill>
                <a:latin typeface="Montserrat"/>
                <a:ea typeface="Montserrat"/>
                <a:cs typeface="Montserrat"/>
                <a:sym typeface="Montserrat"/>
              </a:rPr>
              <a:t>Fabrication process</a:t>
            </a:r>
            <a:endParaRPr b="1" i="0" sz="1500" u="none" cap="none" strike="noStrike">
              <a:solidFill>
                <a:srgbClr val="B2B2B2"/>
              </a:solidFill>
              <a:latin typeface="Montserrat"/>
              <a:ea typeface="Montserrat"/>
              <a:cs typeface="Montserrat"/>
              <a:sym typeface="Montserrat"/>
            </a:endParaRPr>
          </a:p>
        </p:txBody>
      </p:sp>
      <p:sp>
        <p:nvSpPr>
          <p:cNvPr id="272" name="Google Shape;272;p4"/>
          <p:cNvSpPr txBox="1"/>
          <p:nvPr/>
        </p:nvSpPr>
        <p:spPr>
          <a:xfrm>
            <a:off x="4992516" y="7739409"/>
            <a:ext cx="5579636"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Montserrat"/>
              <a:buNone/>
            </a:pPr>
            <a:r>
              <a:rPr b="1" i="0" lang="en-US" sz="6000" u="none" cap="none" strike="noStrike">
                <a:solidFill>
                  <a:srgbClr val="000000"/>
                </a:solidFill>
                <a:latin typeface="Montserrat"/>
                <a:ea typeface="Montserrat"/>
                <a:cs typeface="Montserrat"/>
                <a:sym typeface="Montserrat"/>
              </a:rPr>
              <a:t>Classical</a:t>
            </a:r>
            <a:endParaRPr/>
          </a:p>
        </p:txBody>
      </p:sp>
      <p:sp>
        <p:nvSpPr>
          <p:cNvPr id="273" name="Google Shape;273;p4"/>
          <p:cNvSpPr/>
          <p:nvPr/>
        </p:nvSpPr>
        <p:spPr>
          <a:xfrm>
            <a:off x="6548838" y="4492286"/>
            <a:ext cx="2466992" cy="2466989"/>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t/>
            </a:r>
            <a:endParaRPr b="0" i="0" sz="3600" u="none" cap="none" strike="noStrike">
              <a:solidFill>
                <a:srgbClr val="FFFFFF"/>
              </a:solidFill>
              <a:latin typeface="Montserrat"/>
              <a:ea typeface="Montserrat"/>
              <a:cs typeface="Montserrat"/>
              <a:sym typeface="Montserrat"/>
            </a:endParaRPr>
          </a:p>
        </p:txBody>
      </p:sp>
      <p:sp>
        <p:nvSpPr>
          <p:cNvPr id="274" name="Google Shape;274;p4"/>
          <p:cNvSpPr txBox="1"/>
          <p:nvPr/>
        </p:nvSpPr>
        <p:spPr>
          <a:xfrm>
            <a:off x="4459199" y="9318220"/>
            <a:ext cx="6519556" cy="1830758"/>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600"/>
              <a:buFont typeface="Montserrat"/>
              <a:buNone/>
            </a:pPr>
            <a:r>
              <a:rPr b="0" i="0" lang="en-US" sz="2600" u="none" cap="none" strike="noStrike">
                <a:solidFill>
                  <a:srgbClr val="000000"/>
                </a:solidFill>
                <a:latin typeface="Montserrat"/>
                <a:ea typeface="Montserrat"/>
                <a:cs typeface="Montserrat"/>
                <a:sym typeface="Montserrat"/>
              </a:rPr>
              <a:t>Bits (binary)</a:t>
            </a:r>
            <a:endParaRPr/>
          </a:p>
          <a:p>
            <a:pPr indent="0" lvl="0" marL="0" marR="0" rtl="0" algn="ctr">
              <a:lnSpc>
                <a:spcPct val="150000"/>
              </a:lnSpc>
              <a:spcBef>
                <a:spcPts val="0"/>
              </a:spcBef>
              <a:spcAft>
                <a:spcPts val="0"/>
              </a:spcAft>
              <a:buClr>
                <a:srgbClr val="000000"/>
              </a:buClr>
              <a:buSzPts val="2600"/>
              <a:buFont typeface="Montserrat"/>
              <a:buNone/>
            </a:pPr>
            <a:r>
              <a:rPr b="0" i="0" lang="en-US" sz="2600" u="none" cap="none" strike="noStrike">
                <a:solidFill>
                  <a:srgbClr val="000000"/>
                </a:solidFill>
                <a:latin typeface="Montserrat"/>
                <a:ea typeface="Montserrat"/>
                <a:cs typeface="Montserrat"/>
                <a:sym typeface="Montserrat"/>
              </a:rPr>
              <a:t>Locality</a:t>
            </a:r>
            <a:endParaRPr/>
          </a:p>
          <a:p>
            <a:pPr indent="0" lvl="0" marL="0" marR="0" rtl="0" algn="ctr">
              <a:lnSpc>
                <a:spcPct val="150000"/>
              </a:lnSpc>
              <a:spcBef>
                <a:spcPts val="0"/>
              </a:spcBef>
              <a:spcAft>
                <a:spcPts val="0"/>
              </a:spcAft>
              <a:buClr>
                <a:srgbClr val="000000"/>
              </a:buClr>
              <a:buSzPts val="2600"/>
              <a:buFont typeface="Montserrat"/>
              <a:buNone/>
            </a:pPr>
            <a:r>
              <a:rPr b="0" i="0" lang="en-US" sz="2600" u="none" cap="none" strike="noStrike">
                <a:solidFill>
                  <a:srgbClr val="000000"/>
                </a:solidFill>
                <a:latin typeface="Montserrat"/>
                <a:ea typeface="Montserrat"/>
                <a:cs typeface="Montserrat"/>
                <a:sym typeface="Montserrat"/>
              </a:rPr>
              <a:t>Data encryption based on computation power</a:t>
            </a:r>
            <a:endParaRPr/>
          </a:p>
        </p:txBody>
      </p:sp>
      <p:sp>
        <p:nvSpPr>
          <p:cNvPr id="275" name="Google Shape;275;p4"/>
          <p:cNvSpPr txBox="1"/>
          <p:nvPr/>
        </p:nvSpPr>
        <p:spPr>
          <a:xfrm>
            <a:off x="13920762" y="7739409"/>
            <a:ext cx="5579636"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Montserrat"/>
              <a:buNone/>
            </a:pPr>
            <a:r>
              <a:rPr b="1" i="0" lang="en-US" sz="6000" u="none" cap="none" strike="noStrike">
                <a:solidFill>
                  <a:srgbClr val="000000"/>
                </a:solidFill>
                <a:latin typeface="Montserrat"/>
                <a:ea typeface="Montserrat"/>
                <a:cs typeface="Montserrat"/>
                <a:sym typeface="Montserrat"/>
              </a:rPr>
              <a:t>Quantum</a:t>
            </a:r>
            <a:endParaRPr/>
          </a:p>
        </p:txBody>
      </p:sp>
      <p:sp>
        <p:nvSpPr>
          <p:cNvPr id="276" name="Google Shape;276;p4"/>
          <p:cNvSpPr/>
          <p:nvPr/>
        </p:nvSpPr>
        <p:spPr>
          <a:xfrm>
            <a:off x="15477084" y="4492286"/>
            <a:ext cx="2466992" cy="246698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t/>
            </a:r>
            <a:endParaRPr b="0" i="0" sz="3600" u="none" cap="none" strike="noStrike">
              <a:solidFill>
                <a:srgbClr val="FFFFFF"/>
              </a:solidFill>
              <a:latin typeface="Montserrat"/>
              <a:ea typeface="Montserrat"/>
              <a:cs typeface="Montserrat"/>
              <a:sym typeface="Montserrat"/>
            </a:endParaRPr>
          </a:p>
        </p:txBody>
      </p:sp>
      <p:sp>
        <p:nvSpPr>
          <p:cNvPr id="277" name="Google Shape;277;p4"/>
          <p:cNvSpPr txBox="1"/>
          <p:nvPr/>
        </p:nvSpPr>
        <p:spPr>
          <a:xfrm>
            <a:off x="13318372" y="9318220"/>
            <a:ext cx="6977007" cy="1830758"/>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600"/>
              <a:buFont typeface="Montserrat"/>
              <a:buNone/>
            </a:pPr>
            <a:r>
              <a:rPr b="0" i="0" lang="en-US" sz="2600" u="none" cap="none" strike="noStrike">
                <a:solidFill>
                  <a:srgbClr val="000000"/>
                </a:solidFill>
                <a:latin typeface="Montserrat"/>
                <a:ea typeface="Montserrat"/>
                <a:cs typeface="Montserrat"/>
                <a:sym typeface="Montserrat"/>
              </a:rPr>
              <a:t>Qbits (Superposition)</a:t>
            </a:r>
            <a:endParaRPr/>
          </a:p>
          <a:p>
            <a:pPr indent="0" lvl="0" marL="0" marR="0" rtl="0" algn="ctr">
              <a:lnSpc>
                <a:spcPct val="150000"/>
              </a:lnSpc>
              <a:spcBef>
                <a:spcPts val="0"/>
              </a:spcBef>
              <a:spcAft>
                <a:spcPts val="0"/>
              </a:spcAft>
              <a:buClr>
                <a:srgbClr val="000000"/>
              </a:buClr>
              <a:buSzPts val="2600"/>
              <a:buFont typeface="Montserrat"/>
              <a:buNone/>
            </a:pPr>
            <a:r>
              <a:rPr b="0" i="0" lang="en-US" sz="2600" u="none" cap="none" strike="noStrike">
                <a:solidFill>
                  <a:srgbClr val="000000"/>
                </a:solidFill>
                <a:latin typeface="Montserrat"/>
                <a:ea typeface="Montserrat"/>
                <a:cs typeface="Montserrat"/>
                <a:sym typeface="Montserrat"/>
              </a:rPr>
              <a:t>Entanglement</a:t>
            </a:r>
            <a:endParaRPr/>
          </a:p>
          <a:p>
            <a:pPr indent="0" lvl="0" marL="0" marR="0" rtl="0" algn="ctr">
              <a:lnSpc>
                <a:spcPct val="150000"/>
              </a:lnSpc>
              <a:spcBef>
                <a:spcPts val="0"/>
              </a:spcBef>
              <a:spcAft>
                <a:spcPts val="0"/>
              </a:spcAft>
              <a:buClr>
                <a:srgbClr val="000000"/>
              </a:buClr>
              <a:buSzPts val="2600"/>
              <a:buFont typeface="Montserrat"/>
              <a:buNone/>
            </a:pPr>
            <a:r>
              <a:rPr b="0" i="0" lang="en-US" sz="2600" u="none" cap="none" strike="noStrike">
                <a:solidFill>
                  <a:srgbClr val="000000"/>
                </a:solidFill>
                <a:latin typeface="Montserrat"/>
                <a:ea typeface="Montserrat"/>
                <a:cs typeface="Montserrat"/>
                <a:sym typeface="Montserrat"/>
              </a:rPr>
              <a:t>Data encryption based on  Non-cloning theorem</a:t>
            </a:r>
            <a:endParaRPr/>
          </a:p>
        </p:txBody>
      </p:sp>
      <p:sp>
        <p:nvSpPr>
          <p:cNvPr id="278" name="Google Shape;278;p4"/>
          <p:cNvSpPr/>
          <p:nvPr/>
        </p:nvSpPr>
        <p:spPr>
          <a:xfrm>
            <a:off x="7204076" y="5220616"/>
            <a:ext cx="1156516" cy="1156516"/>
          </a:xfrm>
          <a:custGeom>
            <a:rect b="b" l="l" r="r" t="t"/>
            <a:pathLst>
              <a:path extrusionOk="0" h="21600" w="21600">
                <a:moveTo>
                  <a:pt x="20618" y="14727"/>
                </a:moveTo>
                <a:lnTo>
                  <a:pt x="982" y="14727"/>
                </a:lnTo>
                <a:lnTo>
                  <a:pt x="982" y="1964"/>
                </a:lnTo>
                <a:cubicBezTo>
                  <a:pt x="982" y="1422"/>
                  <a:pt x="1422" y="982"/>
                  <a:pt x="1964" y="982"/>
                </a:cubicBezTo>
                <a:lnTo>
                  <a:pt x="19636" y="982"/>
                </a:lnTo>
                <a:cubicBezTo>
                  <a:pt x="20178" y="982"/>
                  <a:pt x="20618" y="1422"/>
                  <a:pt x="20618" y="1964"/>
                </a:cubicBezTo>
                <a:cubicBezTo>
                  <a:pt x="20618" y="1964"/>
                  <a:pt x="20618" y="14727"/>
                  <a:pt x="20618" y="14727"/>
                </a:cubicBezTo>
                <a:close/>
                <a:moveTo>
                  <a:pt x="20618" y="16691"/>
                </a:moveTo>
                <a:cubicBezTo>
                  <a:pt x="20618" y="17233"/>
                  <a:pt x="20178" y="17673"/>
                  <a:pt x="19636" y="17673"/>
                </a:cubicBezTo>
                <a:lnTo>
                  <a:pt x="1964" y="17673"/>
                </a:lnTo>
                <a:cubicBezTo>
                  <a:pt x="1422" y="17673"/>
                  <a:pt x="982" y="17233"/>
                  <a:pt x="982" y="16691"/>
                </a:cubicBezTo>
                <a:lnTo>
                  <a:pt x="982" y="15709"/>
                </a:lnTo>
                <a:lnTo>
                  <a:pt x="20618" y="15709"/>
                </a:lnTo>
                <a:cubicBezTo>
                  <a:pt x="20618" y="15709"/>
                  <a:pt x="20618" y="16691"/>
                  <a:pt x="20618" y="16691"/>
                </a:cubicBezTo>
                <a:close/>
                <a:moveTo>
                  <a:pt x="11782" y="20618"/>
                </a:moveTo>
                <a:lnTo>
                  <a:pt x="9818" y="20618"/>
                </a:lnTo>
                <a:lnTo>
                  <a:pt x="9818" y="18655"/>
                </a:lnTo>
                <a:lnTo>
                  <a:pt x="11782" y="18655"/>
                </a:lnTo>
                <a:cubicBezTo>
                  <a:pt x="11782" y="18655"/>
                  <a:pt x="11782" y="20618"/>
                  <a:pt x="11782" y="20618"/>
                </a:cubicBezTo>
                <a:close/>
                <a:moveTo>
                  <a:pt x="19636" y="0"/>
                </a:moveTo>
                <a:lnTo>
                  <a:pt x="1964" y="0"/>
                </a:lnTo>
                <a:cubicBezTo>
                  <a:pt x="879" y="0"/>
                  <a:pt x="0" y="879"/>
                  <a:pt x="0" y="1964"/>
                </a:cubicBezTo>
                <a:lnTo>
                  <a:pt x="0" y="16691"/>
                </a:lnTo>
                <a:cubicBezTo>
                  <a:pt x="0" y="17775"/>
                  <a:pt x="879" y="18655"/>
                  <a:pt x="1964" y="18655"/>
                </a:cubicBezTo>
                <a:lnTo>
                  <a:pt x="8836" y="18655"/>
                </a:lnTo>
                <a:lnTo>
                  <a:pt x="8836" y="20618"/>
                </a:lnTo>
                <a:lnTo>
                  <a:pt x="7364" y="20618"/>
                </a:lnTo>
                <a:cubicBezTo>
                  <a:pt x="7092" y="20618"/>
                  <a:pt x="6873" y="20839"/>
                  <a:pt x="6873" y="21109"/>
                </a:cubicBezTo>
                <a:cubicBezTo>
                  <a:pt x="6873" y="21380"/>
                  <a:pt x="7092" y="21600"/>
                  <a:pt x="7364" y="21600"/>
                </a:cubicBezTo>
                <a:lnTo>
                  <a:pt x="14236" y="21600"/>
                </a:lnTo>
                <a:cubicBezTo>
                  <a:pt x="14508" y="21600"/>
                  <a:pt x="14727" y="21380"/>
                  <a:pt x="14727" y="21109"/>
                </a:cubicBezTo>
                <a:cubicBezTo>
                  <a:pt x="14727" y="20839"/>
                  <a:pt x="14508" y="20618"/>
                  <a:pt x="14236" y="20618"/>
                </a:cubicBezTo>
                <a:lnTo>
                  <a:pt x="12764" y="20618"/>
                </a:lnTo>
                <a:lnTo>
                  <a:pt x="12764" y="18655"/>
                </a:lnTo>
                <a:lnTo>
                  <a:pt x="19636" y="18655"/>
                </a:lnTo>
                <a:cubicBezTo>
                  <a:pt x="20721" y="18655"/>
                  <a:pt x="21600" y="17775"/>
                  <a:pt x="21600" y="16691"/>
                </a:cubicBezTo>
                <a:lnTo>
                  <a:pt x="21600" y="1964"/>
                </a:lnTo>
                <a:cubicBezTo>
                  <a:pt x="21600" y="879"/>
                  <a:pt x="20721" y="0"/>
                  <a:pt x="19636" y="0"/>
                </a:cubicBezTo>
              </a:path>
            </a:pathLst>
          </a:custGeom>
          <a:solidFill>
            <a:schemeClr val="lt2"/>
          </a:solidFill>
          <a:ln>
            <a:noFill/>
          </a:ln>
        </p:spPr>
        <p:txBody>
          <a:bodyPr anchorCtr="0" anchor="ctr" bIns="76175" lIns="76175" spcFirstLastPara="1" rIns="76175" wrap="square" tIns="76175">
            <a:noAutofit/>
          </a:bodyPr>
          <a:lstStyle/>
          <a:p>
            <a:pPr indent="0" lvl="0" marL="0" marR="0" rtl="0" algn="l">
              <a:lnSpc>
                <a:spcPct val="100000"/>
              </a:lnSpc>
              <a:spcBef>
                <a:spcPts val="0"/>
              </a:spcBef>
              <a:spcAft>
                <a:spcPts val="0"/>
              </a:spcAft>
              <a:buClr>
                <a:schemeClr val="dk1"/>
              </a:buClr>
              <a:buSzPts val="7198"/>
              <a:buFont typeface="Tahoma"/>
              <a:buNone/>
            </a:pPr>
            <a:r>
              <a:t/>
            </a:r>
            <a:endParaRPr b="0" i="0" sz="7198" u="none" cap="none" strike="noStrike">
              <a:solidFill>
                <a:srgbClr val="000000"/>
              </a:solidFill>
              <a:latin typeface="Tahoma"/>
              <a:ea typeface="Tahoma"/>
              <a:cs typeface="Tahoma"/>
              <a:sym typeface="Tahoma"/>
            </a:endParaRPr>
          </a:p>
        </p:txBody>
      </p:sp>
      <p:pic>
        <p:nvPicPr>
          <p:cNvPr id="279" name="Google Shape;279;p4"/>
          <p:cNvPicPr preferRelativeResize="0"/>
          <p:nvPr/>
        </p:nvPicPr>
        <p:blipFill rotWithShape="1">
          <a:blip r:embed="rId3">
            <a:alphaModFix/>
          </a:blip>
          <a:srcRect b="15967" l="0" r="0" t="0"/>
          <a:stretch/>
        </p:blipFill>
        <p:spPr>
          <a:xfrm>
            <a:off x="15498222" y="4683115"/>
            <a:ext cx="2424716" cy="2037529"/>
          </a:xfrm>
          <a:prstGeom prst="rect">
            <a:avLst/>
          </a:prstGeom>
          <a:noFill/>
          <a:ln>
            <a:noFill/>
          </a:ln>
        </p:spPr>
      </p:pic>
      <p:sp>
        <p:nvSpPr>
          <p:cNvPr id="280" name="Google Shape;280;p4"/>
          <p:cNvSpPr/>
          <p:nvPr/>
        </p:nvSpPr>
        <p:spPr>
          <a:xfrm>
            <a:off x="12172404" y="7918493"/>
            <a:ext cx="976298" cy="836579"/>
          </a:xfrm>
          <a:prstGeom prst="rightArrow">
            <a:avLst>
              <a:gd fmla="val 50000" name="adj1"/>
              <a:gd fmla="val 50000" name="adj2"/>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t/>
            </a:r>
            <a:endParaRPr b="0" i="0" sz="3600" u="none" cap="none" strike="noStrike">
              <a:solidFill>
                <a:srgbClr val="FFFFFF"/>
              </a:solidFill>
              <a:latin typeface="Tahoma"/>
              <a:ea typeface="Tahoma"/>
              <a:cs typeface="Tahoma"/>
              <a:sym typeface="Tahoma"/>
            </a:endParaRPr>
          </a:p>
        </p:txBody>
      </p:sp>
      <p:sp>
        <p:nvSpPr>
          <p:cNvPr id="281" name="Google Shape;281;p4"/>
          <p:cNvSpPr/>
          <p:nvPr/>
        </p:nvSpPr>
        <p:spPr>
          <a:xfrm flipH="1">
            <a:off x="11344212" y="7918493"/>
            <a:ext cx="976298" cy="836579"/>
          </a:xfrm>
          <a:prstGeom prst="rightArrow">
            <a:avLst>
              <a:gd fmla="val 50000" name="adj1"/>
              <a:gd fmla="val 50000" name="adj2"/>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t/>
            </a:r>
            <a:endParaRPr b="0" i="0" sz="3600" u="none" cap="none" strike="noStrike">
              <a:solidFill>
                <a:srgbClr val="FFFFFF"/>
              </a:solidFill>
              <a:latin typeface="Tahoma"/>
              <a:ea typeface="Tahoma"/>
              <a:cs typeface="Tahoma"/>
              <a:sym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Montserrat"/>
              <a:buNone/>
            </a:pPr>
            <a:r>
              <a:rPr b="1" i="0" lang="en-US" sz="5400" u="none" cap="none" strike="noStrike">
                <a:solidFill>
                  <a:srgbClr val="000000"/>
                </a:solidFill>
                <a:latin typeface="Montserrat"/>
                <a:ea typeface="Montserrat"/>
                <a:cs typeface="Montserrat"/>
                <a:sym typeface="Montserrat"/>
              </a:rPr>
              <a:t>Atom vs. single photon</a:t>
            </a:r>
            <a:endParaRPr/>
          </a:p>
        </p:txBody>
      </p:sp>
      <p:sp>
        <p:nvSpPr>
          <p:cNvPr id="287" name="Google Shape;287;p5"/>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9F63"/>
              </a:buClr>
              <a:buSzPts val="2000"/>
              <a:buFont typeface="Montserrat"/>
              <a:buNone/>
            </a:pPr>
            <a:r>
              <a:rPr b="0" i="0" lang="en-US" sz="2000" u="none" cap="none" strike="noStrike">
                <a:solidFill>
                  <a:srgbClr val="C09F63"/>
                </a:solidFill>
                <a:latin typeface="Montserrat"/>
                <a:ea typeface="Montserrat"/>
                <a:cs typeface="Montserrat"/>
                <a:sym typeface="Montserrat"/>
              </a:rPr>
              <a:t>Final defense</a:t>
            </a:r>
            <a:endParaRPr b="1" i="0" sz="2000" u="none" cap="none" strike="noStrike">
              <a:solidFill>
                <a:srgbClr val="C09F63"/>
              </a:solidFill>
              <a:latin typeface="Montserrat"/>
              <a:ea typeface="Montserrat"/>
              <a:cs typeface="Montserrat"/>
              <a:sym typeface="Montserrat"/>
            </a:endParaRPr>
          </a:p>
        </p:txBody>
      </p:sp>
      <p:sp>
        <p:nvSpPr>
          <p:cNvPr id="288" name="Google Shape;288;p5"/>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800"/>
              <a:buFont typeface="Tahoma"/>
              <a:buNone/>
            </a:pPr>
            <a:fld id="{00000000-1234-1234-1234-123412341234}" type="slidenum">
              <a:rPr b="0" i="0" lang="en-US" sz="2800" u="none" cap="none" strike="noStrike">
                <a:solidFill>
                  <a:srgbClr val="000000"/>
                </a:solidFill>
                <a:latin typeface="Tahoma"/>
                <a:ea typeface="Tahoma"/>
                <a:cs typeface="Tahoma"/>
                <a:sym typeface="Tahoma"/>
              </a:rPr>
              <a:t>‹#›</a:t>
            </a:fld>
            <a:endParaRPr b="0" i="0" sz="2800" u="none" cap="none" strike="noStrike">
              <a:solidFill>
                <a:srgbClr val="000000"/>
              </a:solidFill>
              <a:latin typeface="Tahoma"/>
              <a:ea typeface="Tahoma"/>
              <a:cs typeface="Tahoma"/>
              <a:sym typeface="Tahoma"/>
            </a:endParaRPr>
          </a:p>
        </p:txBody>
      </p:sp>
      <p:sp>
        <p:nvSpPr>
          <p:cNvPr id="289" name="Google Shape;289;p5"/>
          <p:cNvSpPr txBox="1"/>
          <p:nvPr/>
        </p:nvSpPr>
        <p:spPr>
          <a:xfrm>
            <a:off x="4992516" y="7739409"/>
            <a:ext cx="5579636"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Montserrat"/>
              <a:buNone/>
            </a:pPr>
            <a:r>
              <a:rPr b="1" i="0" lang="en-US" sz="6000" u="none" cap="none" strike="noStrike">
                <a:solidFill>
                  <a:srgbClr val="000000"/>
                </a:solidFill>
                <a:latin typeface="Montserrat"/>
                <a:ea typeface="Montserrat"/>
                <a:cs typeface="Montserrat"/>
                <a:sym typeface="Montserrat"/>
              </a:rPr>
              <a:t>Atom</a:t>
            </a:r>
            <a:endParaRPr/>
          </a:p>
        </p:txBody>
      </p:sp>
      <p:sp>
        <p:nvSpPr>
          <p:cNvPr id="290" name="Google Shape;290;p5"/>
          <p:cNvSpPr/>
          <p:nvPr/>
        </p:nvSpPr>
        <p:spPr>
          <a:xfrm>
            <a:off x="6548838" y="4492286"/>
            <a:ext cx="2466992" cy="2466989"/>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t/>
            </a:r>
            <a:endParaRPr b="0" i="0" sz="3600" u="none" cap="none" strike="noStrike">
              <a:solidFill>
                <a:srgbClr val="FFFFFF"/>
              </a:solidFill>
              <a:latin typeface="Montserrat"/>
              <a:ea typeface="Montserrat"/>
              <a:cs typeface="Montserrat"/>
              <a:sym typeface="Montserrat"/>
            </a:endParaRPr>
          </a:p>
        </p:txBody>
      </p:sp>
      <p:sp>
        <p:nvSpPr>
          <p:cNvPr id="291" name="Google Shape;291;p5"/>
          <p:cNvSpPr txBox="1"/>
          <p:nvPr/>
        </p:nvSpPr>
        <p:spPr>
          <a:xfrm>
            <a:off x="5099764" y="9318220"/>
            <a:ext cx="6037351" cy="183075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600"/>
              <a:buFont typeface="Montserrat"/>
              <a:buNone/>
            </a:pPr>
            <a:r>
              <a:rPr b="0" i="0" lang="en-US" sz="2600" u="none" cap="none" strike="noStrike">
                <a:solidFill>
                  <a:srgbClr val="000000"/>
                </a:solidFill>
                <a:latin typeface="Montserrat"/>
                <a:ea typeface="Montserrat"/>
                <a:cs typeface="Montserrat"/>
                <a:sym typeface="Montserrat"/>
              </a:rPr>
              <a:t>The highest fidelity</a:t>
            </a:r>
            <a:endParaRPr/>
          </a:p>
          <a:p>
            <a:pPr indent="0" lvl="0" marL="0" marR="0" rtl="0" algn="l">
              <a:lnSpc>
                <a:spcPct val="150000"/>
              </a:lnSpc>
              <a:spcBef>
                <a:spcPts val="0"/>
              </a:spcBef>
              <a:spcAft>
                <a:spcPts val="0"/>
              </a:spcAft>
              <a:buClr>
                <a:srgbClr val="000000"/>
              </a:buClr>
              <a:buSzPts val="2600"/>
              <a:buFont typeface="Montserrat"/>
              <a:buNone/>
            </a:pPr>
            <a:r>
              <a:rPr b="0" i="0" lang="en-US" sz="2600" u="none" cap="none" strike="noStrike">
                <a:solidFill>
                  <a:srgbClr val="000000"/>
                </a:solidFill>
                <a:latin typeface="Montserrat"/>
                <a:ea typeface="Montserrat"/>
                <a:cs typeface="Montserrat"/>
                <a:sym typeface="Montserrat"/>
              </a:rPr>
              <a:t>Operated at cryogenic temperature</a:t>
            </a:r>
            <a:endParaRPr/>
          </a:p>
          <a:p>
            <a:pPr indent="0" lvl="0" marL="0" marR="0" rtl="0" algn="l">
              <a:lnSpc>
                <a:spcPct val="150000"/>
              </a:lnSpc>
              <a:spcBef>
                <a:spcPts val="0"/>
              </a:spcBef>
              <a:spcAft>
                <a:spcPts val="0"/>
              </a:spcAft>
              <a:buClr>
                <a:srgbClr val="000000"/>
              </a:buClr>
              <a:buSzPts val="2600"/>
              <a:buFont typeface="Montserrat"/>
              <a:buNone/>
            </a:pPr>
            <a:r>
              <a:rPr b="0" i="0" lang="en-US" sz="2600" u="none" cap="none" strike="noStrike">
                <a:solidFill>
                  <a:srgbClr val="000000"/>
                </a:solidFill>
                <a:latin typeface="Montserrat"/>
                <a:ea typeface="Montserrat"/>
                <a:cs typeface="Montserrat"/>
                <a:sym typeface="Montserrat"/>
              </a:rPr>
              <a:t>Superconducting technologies are required</a:t>
            </a:r>
            <a:endParaRPr/>
          </a:p>
        </p:txBody>
      </p:sp>
      <p:sp>
        <p:nvSpPr>
          <p:cNvPr id="292" name="Google Shape;292;p5"/>
          <p:cNvSpPr txBox="1"/>
          <p:nvPr/>
        </p:nvSpPr>
        <p:spPr>
          <a:xfrm>
            <a:off x="13920762" y="7739409"/>
            <a:ext cx="5579636"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Montserrat"/>
              <a:buNone/>
            </a:pPr>
            <a:r>
              <a:rPr b="1" i="0" lang="en-US" sz="6000" u="none" cap="none" strike="noStrike">
                <a:solidFill>
                  <a:srgbClr val="000000"/>
                </a:solidFill>
                <a:latin typeface="Montserrat"/>
                <a:ea typeface="Montserrat"/>
                <a:cs typeface="Montserrat"/>
                <a:sym typeface="Montserrat"/>
              </a:rPr>
              <a:t>Photon</a:t>
            </a:r>
            <a:endParaRPr/>
          </a:p>
        </p:txBody>
      </p:sp>
      <p:sp>
        <p:nvSpPr>
          <p:cNvPr id="293" name="Google Shape;293;p5"/>
          <p:cNvSpPr/>
          <p:nvPr/>
        </p:nvSpPr>
        <p:spPr>
          <a:xfrm>
            <a:off x="15477084" y="4492286"/>
            <a:ext cx="2466992" cy="246698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t/>
            </a:r>
            <a:endParaRPr b="0" i="0" sz="3600" u="none" cap="none" strike="noStrike">
              <a:solidFill>
                <a:srgbClr val="FFFFFF"/>
              </a:solidFill>
              <a:latin typeface="Montserrat"/>
              <a:ea typeface="Montserrat"/>
              <a:cs typeface="Montserrat"/>
              <a:sym typeface="Montserrat"/>
            </a:endParaRPr>
          </a:p>
        </p:txBody>
      </p:sp>
      <p:sp>
        <p:nvSpPr>
          <p:cNvPr id="294" name="Google Shape;294;p5"/>
          <p:cNvSpPr txBox="1"/>
          <p:nvPr/>
        </p:nvSpPr>
        <p:spPr>
          <a:xfrm>
            <a:off x="14618064" y="9318220"/>
            <a:ext cx="5934828" cy="183075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600"/>
              <a:buFont typeface="Montserrat"/>
              <a:buNone/>
            </a:pPr>
            <a:r>
              <a:rPr b="0" i="0" lang="en-US" sz="2600" u="none" cap="none" strike="noStrike">
                <a:solidFill>
                  <a:srgbClr val="000000"/>
                </a:solidFill>
                <a:latin typeface="Montserrat"/>
                <a:ea typeface="Montserrat"/>
                <a:cs typeface="Montserrat"/>
                <a:sym typeface="Montserrat"/>
              </a:rPr>
              <a:t>Relatively lower fidelity</a:t>
            </a:r>
            <a:endParaRPr/>
          </a:p>
          <a:p>
            <a:pPr indent="0" lvl="0" marL="0" marR="0" rtl="0" algn="l">
              <a:lnSpc>
                <a:spcPct val="150000"/>
              </a:lnSpc>
              <a:spcBef>
                <a:spcPts val="0"/>
              </a:spcBef>
              <a:spcAft>
                <a:spcPts val="0"/>
              </a:spcAft>
              <a:buClr>
                <a:srgbClr val="000000"/>
              </a:buClr>
              <a:buSzPts val="2600"/>
              <a:buFont typeface="Montserrat"/>
              <a:buNone/>
            </a:pPr>
            <a:r>
              <a:rPr b="0" i="0" lang="en-US" sz="2600" u="none" cap="none" strike="noStrike">
                <a:solidFill>
                  <a:srgbClr val="000000"/>
                </a:solidFill>
                <a:latin typeface="Montserrat"/>
                <a:ea typeface="Montserrat"/>
                <a:cs typeface="Montserrat"/>
                <a:sym typeface="Montserrat"/>
              </a:rPr>
              <a:t>Operated at room temperature</a:t>
            </a:r>
            <a:endParaRPr/>
          </a:p>
          <a:p>
            <a:pPr indent="0" lvl="0" marL="0" marR="0" rtl="0" algn="l">
              <a:lnSpc>
                <a:spcPct val="150000"/>
              </a:lnSpc>
              <a:spcBef>
                <a:spcPts val="0"/>
              </a:spcBef>
              <a:spcAft>
                <a:spcPts val="0"/>
              </a:spcAft>
              <a:buClr>
                <a:srgbClr val="000000"/>
              </a:buClr>
              <a:buSzPts val="2600"/>
              <a:buFont typeface="Montserrat"/>
              <a:buNone/>
            </a:pPr>
            <a:r>
              <a:rPr b="0" i="0" lang="en-US" sz="2600" u="none" cap="none" strike="noStrike">
                <a:solidFill>
                  <a:srgbClr val="000000"/>
                </a:solidFill>
                <a:latin typeface="Montserrat"/>
                <a:ea typeface="Montserrat"/>
                <a:cs typeface="Montserrat"/>
                <a:sym typeface="Montserrat"/>
              </a:rPr>
              <a:t>Compatible with  all fiber network devices</a:t>
            </a:r>
            <a:endParaRPr/>
          </a:p>
        </p:txBody>
      </p:sp>
      <p:sp>
        <p:nvSpPr>
          <p:cNvPr id="295" name="Google Shape;295;p5"/>
          <p:cNvSpPr/>
          <p:nvPr/>
        </p:nvSpPr>
        <p:spPr>
          <a:xfrm>
            <a:off x="7599155" y="5500192"/>
            <a:ext cx="404135" cy="404134"/>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t/>
            </a:r>
            <a:endParaRPr b="0" i="0" sz="3600" u="none" cap="none" strike="noStrike">
              <a:solidFill>
                <a:srgbClr val="FFFFFF"/>
              </a:solidFill>
              <a:latin typeface="Montserrat"/>
              <a:ea typeface="Montserrat"/>
              <a:cs typeface="Montserrat"/>
              <a:sym typeface="Montserrat"/>
            </a:endParaRPr>
          </a:p>
        </p:txBody>
      </p:sp>
      <p:sp>
        <p:nvSpPr>
          <p:cNvPr id="296" name="Google Shape;296;p5"/>
          <p:cNvSpPr/>
          <p:nvPr/>
        </p:nvSpPr>
        <p:spPr>
          <a:xfrm>
            <a:off x="7135223" y="5036260"/>
            <a:ext cx="1332000" cy="1331998"/>
          </a:xfrm>
          <a:custGeom>
            <a:rect b="b" l="l" r="r" t="t"/>
            <a:pathLst>
              <a:path extrusionOk="0" h="1331998" w="1332000">
                <a:moveTo>
                  <a:pt x="665999" y="17998"/>
                </a:moveTo>
                <a:cubicBezTo>
                  <a:pt x="308118" y="17998"/>
                  <a:pt x="17999" y="308117"/>
                  <a:pt x="17999" y="665998"/>
                </a:cubicBezTo>
                <a:cubicBezTo>
                  <a:pt x="17999" y="1023879"/>
                  <a:pt x="308118" y="1313998"/>
                  <a:pt x="665999" y="1313998"/>
                </a:cubicBezTo>
                <a:cubicBezTo>
                  <a:pt x="1023880" y="1313998"/>
                  <a:pt x="1313999" y="1023879"/>
                  <a:pt x="1313999" y="665998"/>
                </a:cubicBezTo>
                <a:cubicBezTo>
                  <a:pt x="1313999" y="308117"/>
                  <a:pt x="1023880" y="17998"/>
                  <a:pt x="665999" y="17998"/>
                </a:cubicBezTo>
                <a:close/>
                <a:moveTo>
                  <a:pt x="666000" y="0"/>
                </a:moveTo>
                <a:cubicBezTo>
                  <a:pt x="1033822" y="0"/>
                  <a:pt x="1332000" y="298178"/>
                  <a:pt x="1332000" y="665999"/>
                </a:cubicBezTo>
                <a:cubicBezTo>
                  <a:pt x="1332000" y="1033820"/>
                  <a:pt x="1033822" y="1331998"/>
                  <a:pt x="666000" y="1331998"/>
                </a:cubicBezTo>
                <a:cubicBezTo>
                  <a:pt x="298178" y="1331998"/>
                  <a:pt x="0" y="1033820"/>
                  <a:pt x="0" y="665999"/>
                </a:cubicBezTo>
                <a:cubicBezTo>
                  <a:pt x="0" y="298178"/>
                  <a:pt x="298178" y="0"/>
                  <a:pt x="666000"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t/>
            </a:r>
            <a:endParaRPr b="0" i="0" sz="3600" u="none" cap="none" strike="noStrike">
              <a:solidFill>
                <a:srgbClr val="FFFFFF"/>
              </a:solidFill>
              <a:latin typeface="Montserrat"/>
              <a:ea typeface="Montserrat"/>
              <a:cs typeface="Montserrat"/>
              <a:sym typeface="Montserrat"/>
            </a:endParaRPr>
          </a:p>
        </p:txBody>
      </p:sp>
      <p:sp>
        <p:nvSpPr>
          <p:cNvPr id="297" name="Google Shape;297;p5"/>
          <p:cNvSpPr/>
          <p:nvPr/>
        </p:nvSpPr>
        <p:spPr>
          <a:xfrm>
            <a:off x="8140304" y="5085265"/>
            <a:ext cx="180000" cy="18000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t/>
            </a:r>
            <a:endParaRPr b="0" i="0" sz="3600" u="none" cap="none" strike="noStrike">
              <a:solidFill>
                <a:srgbClr val="FFFFFF"/>
              </a:solidFill>
              <a:latin typeface="Montserrat"/>
              <a:ea typeface="Montserrat"/>
              <a:cs typeface="Montserrat"/>
              <a:sym typeface="Montserrat"/>
            </a:endParaRPr>
          </a:p>
        </p:txBody>
      </p:sp>
      <p:sp>
        <p:nvSpPr>
          <p:cNvPr id="298" name="Google Shape;298;p5"/>
          <p:cNvSpPr/>
          <p:nvPr/>
        </p:nvSpPr>
        <p:spPr>
          <a:xfrm flipH="1" rot="10800000">
            <a:off x="16273320" y="5288521"/>
            <a:ext cx="874520" cy="874518"/>
          </a:xfrm>
          <a:custGeom>
            <a:rect b="b" l="l" r="r" t="t"/>
            <a:pathLst>
              <a:path extrusionOk="0" h="874518" w="874520">
                <a:moveTo>
                  <a:pt x="437260" y="0"/>
                </a:moveTo>
                <a:cubicBezTo>
                  <a:pt x="678752" y="0"/>
                  <a:pt x="874520" y="195768"/>
                  <a:pt x="874520" y="437259"/>
                </a:cubicBezTo>
                <a:cubicBezTo>
                  <a:pt x="874520" y="678750"/>
                  <a:pt x="678752" y="874518"/>
                  <a:pt x="437260" y="874518"/>
                </a:cubicBezTo>
                <a:cubicBezTo>
                  <a:pt x="195768" y="874518"/>
                  <a:pt x="0" y="678750"/>
                  <a:pt x="0" y="437259"/>
                </a:cubicBezTo>
                <a:cubicBezTo>
                  <a:pt x="0" y="195768"/>
                  <a:pt x="195768" y="0"/>
                  <a:pt x="437260" y="0"/>
                </a:cubicBezTo>
                <a:close/>
                <a:moveTo>
                  <a:pt x="437260" y="140259"/>
                </a:moveTo>
                <a:cubicBezTo>
                  <a:pt x="273231" y="140259"/>
                  <a:pt x="140260" y="273230"/>
                  <a:pt x="140260" y="437259"/>
                </a:cubicBezTo>
                <a:cubicBezTo>
                  <a:pt x="140260" y="601288"/>
                  <a:pt x="273231" y="734259"/>
                  <a:pt x="437260" y="734259"/>
                </a:cubicBezTo>
                <a:cubicBezTo>
                  <a:pt x="601288" y="734259"/>
                  <a:pt x="734260" y="601288"/>
                  <a:pt x="734260" y="437259"/>
                </a:cubicBezTo>
                <a:cubicBezTo>
                  <a:pt x="734260" y="273230"/>
                  <a:pt x="601288" y="140259"/>
                  <a:pt x="437260" y="14025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t/>
            </a:r>
            <a:endParaRPr b="0" i="0" sz="3600" u="none" cap="none" strike="noStrike">
              <a:solidFill>
                <a:srgbClr val="FFFFFF"/>
              </a:solidFill>
              <a:latin typeface="Montserrat"/>
              <a:ea typeface="Montserrat"/>
              <a:cs typeface="Montserrat"/>
              <a:sym typeface="Montserrat"/>
            </a:endParaRPr>
          </a:p>
        </p:txBody>
      </p:sp>
      <p:pic>
        <p:nvPicPr>
          <p:cNvPr id="299" name="Google Shape;299;p5"/>
          <p:cNvPicPr preferRelativeResize="0"/>
          <p:nvPr/>
        </p:nvPicPr>
        <p:blipFill rotWithShape="1">
          <a:blip r:embed="rId3">
            <a:alphaModFix/>
          </a:blip>
          <a:srcRect b="0" l="0" r="0" t="0"/>
          <a:stretch/>
        </p:blipFill>
        <p:spPr>
          <a:xfrm>
            <a:off x="4274467" y="10064725"/>
            <a:ext cx="445584" cy="445584"/>
          </a:xfrm>
          <a:prstGeom prst="rect">
            <a:avLst/>
          </a:prstGeom>
          <a:noFill/>
          <a:ln>
            <a:noFill/>
          </a:ln>
        </p:spPr>
      </p:pic>
      <p:pic>
        <p:nvPicPr>
          <p:cNvPr id="300" name="Google Shape;300;p5"/>
          <p:cNvPicPr preferRelativeResize="0"/>
          <p:nvPr/>
        </p:nvPicPr>
        <p:blipFill rotWithShape="1">
          <a:blip r:embed="rId4">
            <a:alphaModFix/>
          </a:blip>
          <a:srcRect b="0" l="0" r="0" t="0"/>
          <a:stretch/>
        </p:blipFill>
        <p:spPr>
          <a:xfrm>
            <a:off x="4274467" y="10666589"/>
            <a:ext cx="445584" cy="445584"/>
          </a:xfrm>
          <a:prstGeom prst="rect">
            <a:avLst/>
          </a:prstGeom>
          <a:noFill/>
          <a:ln>
            <a:noFill/>
          </a:ln>
        </p:spPr>
      </p:pic>
      <p:pic>
        <p:nvPicPr>
          <p:cNvPr id="301" name="Google Shape;301;p5"/>
          <p:cNvPicPr preferRelativeResize="0"/>
          <p:nvPr/>
        </p:nvPicPr>
        <p:blipFill rotWithShape="1">
          <a:blip r:embed="rId5">
            <a:alphaModFix/>
          </a:blip>
          <a:srcRect b="0" l="0" r="0" t="0"/>
          <a:stretch/>
        </p:blipFill>
        <p:spPr>
          <a:xfrm>
            <a:off x="4274467" y="9462861"/>
            <a:ext cx="445584" cy="445584"/>
          </a:xfrm>
          <a:prstGeom prst="rect">
            <a:avLst/>
          </a:prstGeom>
          <a:noFill/>
          <a:ln>
            <a:noFill/>
          </a:ln>
        </p:spPr>
      </p:pic>
      <p:pic>
        <p:nvPicPr>
          <p:cNvPr id="302" name="Google Shape;302;p5"/>
          <p:cNvPicPr preferRelativeResize="0"/>
          <p:nvPr/>
        </p:nvPicPr>
        <p:blipFill rotWithShape="1">
          <a:blip r:embed="rId6">
            <a:alphaModFix/>
          </a:blip>
          <a:srcRect b="0" l="0" r="0" t="0"/>
          <a:stretch/>
        </p:blipFill>
        <p:spPr>
          <a:xfrm>
            <a:off x="13684339" y="9462861"/>
            <a:ext cx="445584" cy="445584"/>
          </a:xfrm>
          <a:prstGeom prst="rect">
            <a:avLst/>
          </a:prstGeom>
          <a:noFill/>
          <a:ln>
            <a:noFill/>
          </a:ln>
        </p:spPr>
      </p:pic>
      <p:pic>
        <p:nvPicPr>
          <p:cNvPr id="303" name="Google Shape;303;p5"/>
          <p:cNvPicPr preferRelativeResize="0"/>
          <p:nvPr/>
        </p:nvPicPr>
        <p:blipFill rotWithShape="1">
          <a:blip r:embed="rId7">
            <a:alphaModFix/>
          </a:blip>
          <a:srcRect b="0" l="0" r="0" t="0"/>
          <a:stretch/>
        </p:blipFill>
        <p:spPr>
          <a:xfrm>
            <a:off x="13684339" y="10666589"/>
            <a:ext cx="445584" cy="445584"/>
          </a:xfrm>
          <a:prstGeom prst="rect">
            <a:avLst/>
          </a:prstGeom>
          <a:noFill/>
          <a:ln>
            <a:noFill/>
          </a:ln>
        </p:spPr>
      </p:pic>
      <p:pic>
        <p:nvPicPr>
          <p:cNvPr id="304" name="Google Shape;304;p5"/>
          <p:cNvPicPr preferRelativeResize="0"/>
          <p:nvPr/>
        </p:nvPicPr>
        <p:blipFill rotWithShape="1">
          <a:blip r:embed="rId8">
            <a:alphaModFix/>
          </a:blip>
          <a:srcRect b="0" l="0" r="0" t="0"/>
          <a:stretch/>
        </p:blipFill>
        <p:spPr>
          <a:xfrm>
            <a:off x="13684117" y="10064725"/>
            <a:ext cx="445584" cy="445584"/>
          </a:xfrm>
          <a:prstGeom prst="rect">
            <a:avLst/>
          </a:prstGeom>
          <a:noFill/>
          <a:ln>
            <a:noFill/>
          </a:ln>
        </p:spPr>
      </p:pic>
      <p:sp>
        <p:nvSpPr>
          <p:cNvPr id="305" name="Google Shape;305;p5"/>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Tahoma"/>
              <a:buNone/>
            </a:pPr>
            <a:r>
              <a:t/>
            </a:r>
            <a:endParaRPr b="0" i="0" sz="3600" u="none" cap="none" strike="noStrike">
              <a:solidFill>
                <a:srgbClr val="FFFFFF"/>
              </a:solidFill>
              <a:latin typeface="Montserrat"/>
              <a:ea typeface="Montserrat"/>
              <a:cs typeface="Montserrat"/>
              <a:sym typeface="Montserrat"/>
            </a:endParaRPr>
          </a:p>
        </p:txBody>
      </p:sp>
      <p:sp>
        <p:nvSpPr>
          <p:cNvPr id="306" name="Google Shape;306;p5"/>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Montserrat"/>
              <a:buNone/>
            </a:pPr>
            <a:r>
              <a:rPr b="1" i="0" lang="en-US" sz="1500" u="none" cap="none" strike="noStrike">
                <a:solidFill>
                  <a:srgbClr val="000000"/>
                </a:solidFill>
                <a:latin typeface="Montserrat"/>
                <a:ea typeface="Montserrat"/>
                <a:cs typeface="Montserrat"/>
                <a:sym typeface="Montserrat"/>
              </a:rPr>
              <a:t>Introduction</a:t>
            </a:r>
            <a:endParaRPr/>
          </a:p>
        </p:txBody>
      </p:sp>
      <p:sp>
        <p:nvSpPr>
          <p:cNvPr id="307" name="Google Shape;307;p5"/>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2B2B2"/>
              </a:buClr>
              <a:buSzPts val="1500"/>
              <a:buFont typeface="Montserrat"/>
              <a:buNone/>
            </a:pPr>
            <a:r>
              <a:rPr b="1" i="0" lang="en-US" sz="1500" u="none" cap="none" strike="noStrike">
                <a:solidFill>
                  <a:srgbClr val="B2B2B2"/>
                </a:solidFill>
                <a:latin typeface="Montserrat"/>
                <a:ea typeface="Montserrat"/>
                <a:cs typeface="Montserrat"/>
                <a:sym typeface="Montserrat"/>
              </a:rPr>
              <a:t>Theory</a:t>
            </a:r>
            <a:endParaRPr/>
          </a:p>
        </p:txBody>
      </p:sp>
      <p:sp>
        <p:nvSpPr>
          <p:cNvPr id="308" name="Google Shape;308;p5"/>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2B2B2"/>
              </a:buClr>
              <a:buSzPts val="1500"/>
              <a:buFont typeface="Montserrat"/>
              <a:buNone/>
            </a:pPr>
            <a:r>
              <a:rPr b="1" i="0" lang="en-US" sz="1500" u="none" cap="none" strike="noStrike">
                <a:solidFill>
                  <a:srgbClr val="B2B2B2"/>
                </a:solidFill>
                <a:latin typeface="Montserrat"/>
                <a:ea typeface="Montserrat"/>
                <a:cs typeface="Montserrat"/>
                <a:sym typeface="Montserrat"/>
              </a:rPr>
              <a:t>Simulation</a:t>
            </a:r>
            <a:endParaRPr/>
          </a:p>
        </p:txBody>
      </p:sp>
      <p:sp>
        <p:nvSpPr>
          <p:cNvPr id="309" name="Google Shape;309;p5"/>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2B2B2"/>
              </a:buClr>
              <a:buSzPts val="1500"/>
              <a:buFont typeface="Montserrat"/>
              <a:buNone/>
            </a:pPr>
            <a:r>
              <a:rPr b="1" i="0" lang="en-US" sz="1500" u="none" cap="none" strike="noStrike">
                <a:solidFill>
                  <a:srgbClr val="B2B2B2"/>
                </a:solidFill>
                <a:latin typeface="Montserrat"/>
                <a:ea typeface="Montserrat"/>
                <a:cs typeface="Montserrat"/>
                <a:sym typeface="Montserrat"/>
              </a:rPr>
              <a:t>Results and discussions</a:t>
            </a:r>
            <a:endParaRPr/>
          </a:p>
        </p:txBody>
      </p:sp>
      <p:sp>
        <p:nvSpPr>
          <p:cNvPr id="310" name="Google Shape;310;p5"/>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2B2B2"/>
              </a:buClr>
              <a:buSzPts val="1500"/>
              <a:buFont typeface="Montserrat"/>
              <a:buNone/>
            </a:pPr>
            <a:r>
              <a:rPr b="1" i="0" lang="en-US" sz="1500" u="none" cap="none" strike="noStrike">
                <a:solidFill>
                  <a:srgbClr val="B2B2B2"/>
                </a:solidFill>
                <a:latin typeface="Montserrat"/>
                <a:ea typeface="Montserrat"/>
                <a:cs typeface="Montserrat"/>
                <a:sym typeface="Montserrat"/>
              </a:rPr>
              <a:t>Conclusion and outlook</a:t>
            </a:r>
            <a:endParaRPr/>
          </a:p>
        </p:txBody>
      </p:sp>
      <p:sp>
        <p:nvSpPr>
          <p:cNvPr id="311" name="Google Shape;311;p5"/>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2B2B2"/>
              </a:buClr>
              <a:buSzPts val="1500"/>
              <a:buFont typeface="Montserrat"/>
              <a:buNone/>
            </a:pPr>
            <a:r>
              <a:rPr b="1" i="0" lang="en-US" sz="1500" u="none" cap="none" strike="noStrike">
                <a:solidFill>
                  <a:srgbClr val="B2B2B2"/>
                </a:solidFill>
                <a:latin typeface="Montserrat"/>
                <a:ea typeface="Montserrat"/>
                <a:cs typeface="Montserrat"/>
                <a:sym typeface="Montserrat"/>
              </a:rPr>
              <a:t>Fabrication process</a:t>
            </a:r>
            <a:endParaRPr b="1" i="0" sz="1500" u="none" cap="none" strike="noStrike">
              <a:solidFill>
                <a:srgbClr val="B2B2B2"/>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6"/>
          <p:cNvPicPr preferRelativeResize="0"/>
          <p:nvPr/>
        </p:nvPicPr>
        <p:blipFill rotWithShape="1">
          <a:blip r:embed="rId3">
            <a:alphaModFix/>
          </a:blip>
          <a:srcRect b="0" l="0" r="0" t="0"/>
          <a:stretch/>
        </p:blipFill>
        <p:spPr>
          <a:xfrm>
            <a:off x="13814082" y="9921273"/>
            <a:ext cx="445584" cy="445584"/>
          </a:xfrm>
          <a:prstGeom prst="rect">
            <a:avLst/>
          </a:prstGeom>
          <a:noFill/>
          <a:ln>
            <a:noFill/>
          </a:ln>
        </p:spPr>
      </p:pic>
      <p:pic>
        <p:nvPicPr>
          <p:cNvPr id="317" name="Google Shape;317;p6"/>
          <p:cNvPicPr preferRelativeResize="0"/>
          <p:nvPr/>
        </p:nvPicPr>
        <p:blipFill rotWithShape="1">
          <a:blip r:embed="rId3">
            <a:alphaModFix/>
          </a:blip>
          <a:srcRect b="0" l="0" r="0" t="0"/>
          <a:stretch/>
        </p:blipFill>
        <p:spPr>
          <a:xfrm>
            <a:off x="13808947" y="10523137"/>
            <a:ext cx="445584" cy="445584"/>
          </a:xfrm>
          <a:prstGeom prst="rect">
            <a:avLst/>
          </a:prstGeom>
          <a:noFill/>
          <a:ln>
            <a:noFill/>
          </a:ln>
        </p:spPr>
      </p:pic>
      <p:sp>
        <p:nvSpPr>
          <p:cNvPr id="318" name="Google Shape;318;p6"/>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Deterministic vs. probabilistic</a:t>
            </a:r>
            <a:endParaRPr b="1" sz="5400">
              <a:solidFill>
                <a:schemeClr val="dk2"/>
              </a:solidFill>
              <a:latin typeface="Montserrat"/>
              <a:ea typeface="Montserrat"/>
              <a:cs typeface="Montserrat"/>
              <a:sym typeface="Montserrat"/>
            </a:endParaRPr>
          </a:p>
        </p:txBody>
      </p:sp>
      <p:sp>
        <p:nvSpPr>
          <p:cNvPr id="319" name="Google Shape;319;p6"/>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320" name="Google Shape;320;p6"/>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1" name="Google Shape;321;p6"/>
          <p:cNvSpPr txBox="1"/>
          <p:nvPr/>
        </p:nvSpPr>
        <p:spPr>
          <a:xfrm>
            <a:off x="3441433" y="7529429"/>
            <a:ext cx="7332927"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6000">
                <a:solidFill>
                  <a:schemeClr val="dk2"/>
                </a:solidFill>
                <a:latin typeface="Montserrat"/>
                <a:ea typeface="Montserrat"/>
                <a:cs typeface="Montserrat"/>
                <a:sym typeface="Montserrat"/>
              </a:rPr>
              <a:t>Deterministic</a:t>
            </a:r>
            <a:endParaRPr b="1" sz="6000">
              <a:solidFill>
                <a:schemeClr val="dk2"/>
              </a:solidFill>
              <a:latin typeface="Montserrat"/>
              <a:ea typeface="Montserrat"/>
              <a:cs typeface="Montserrat"/>
              <a:sym typeface="Montserrat"/>
            </a:endParaRPr>
          </a:p>
        </p:txBody>
      </p:sp>
      <p:sp>
        <p:nvSpPr>
          <p:cNvPr id="322" name="Google Shape;322;p6"/>
          <p:cNvSpPr txBox="1"/>
          <p:nvPr/>
        </p:nvSpPr>
        <p:spPr>
          <a:xfrm>
            <a:off x="3931479" y="9161984"/>
            <a:ext cx="7565772" cy="243092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Emitting single photons on-demand</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Operated at cryogenic temperature</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Magneto-optical trap and optical cavity are required</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Unavoidable emission/extraction loss</a:t>
            </a:r>
            <a:endParaRPr/>
          </a:p>
        </p:txBody>
      </p:sp>
      <p:sp>
        <p:nvSpPr>
          <p:cNvPr id="323" name="Google Shape;323;p6"/>
          <p:cNvSpPr txBox="1"/>
          <p:nvPr/>
        </p:nvSpPr>
        <p:spPr>
          <a:xfrm>
            <a:off x="14363909" y="7529429"/>
            <a:ext cx="6650528"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6000">
                <a:solidFill>
                  <a:schemeClr val="dk2"/>
                </a:solidFill>
                <a:latin typeface="Montserrat"/>
                <a:ea typeface="Montserrat"/>
                <a:cs typeface="Montserrat"/>
                <a:sym typeface="Montserrat"/>
              </a:rPr>
              <a:t>Probabilistic</a:t>
            </a:r>
            <a:endParaRPr b="1" sz="6000">
              <a:solidFill>
                <a:schemeClr val="dk2"/>
              </a:solidFill>
              <a:latin typeface="Montserrat"/>
              <a:ea typeface="Montserrat"/>
              <a:cs typeface="Montserrat"/>
              <a:sym typeface="Montserrat"/>
            </a:endParaRPr>
          </a:p>
        </p:txBody>
      </p:sp>
      <p:sp>
        <p:nvSpPr>
          <p:cNvPr id="324" name="Google Shape;324;p6"/>
          <p:cNvSpPr txBox="1"/>
          <p:nvPr/>
        </p:nvSpPr>
        <p:spPr>
          <a:xfrm>
            <a:off x="14694980" y="9108240"/>
            <a:ext cx="6554688" cy="243092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Emitting photons with a probability distribution </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Operated at room temperature</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On chip integration of all functionalities </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Fully engineerable nonlinearity</a:t>
            </a:r>
            <a:endParaRPr/>
          </a:p>
        </p:txBody>
      </p:sp>
      <p:sp>
        <p:nvSpPr>
          <p:cNvPr id="325" name="Google Shape;325;p6"/>
          <p:cNvSpPr/>
          <p:nvPr/>
        </p:nvSpPr>
        <p:spPr>
          <a:xfrm>
            <a:off x="6839149" y="5010636"/>
            <a:ext cx="1156516" cy="1156516"/>
          </a:xfrm>
          <a:custGeom>
            <a:rect b="b" l="l" r="r" t="t"/>
            <a:pathLst>
              <a:path extrusionOk="0" h="21600" w="21600">
                <a:moveTo>
                  <a:pt x="20618" y="14727"/>
                </a:moveTo>
                <a:lnTo>
                  <a:pt x="982" y="14727"/>
                </a:lnTo>
                <a:lnTo>
                  <a:pt x="982" y="1964"/>
                </a:lnTo>
                <a:cubicBezTo>
                  <a:pt x="982" y="1422"/>
                  <a:pt x="1422" y="982"/>
                  <a:pt x="1964" y="982"/>
                </a:cubicBezTo>
                <a:lnTo>
                  <a:pt x="19636" y="982"/>
                </a:lnTo>
                <a:cubicBezTo>
                  <a:pt x="20178" y="982"/>
                  <a:pt x="20618" y="1422"/>
                  <a:pt x="20618" y="1964"/>
                </a:cubicBezTo>
                <a:cubicBezTo>
                  <a:pt x="20618" y="1964"/>
                  <a:pt x="20618" y="14727"/>
                  <a:pt x="20618" y="14727"/>
                </a:cubicBezTo>
                <a:close/>
                <a:moveTo>
                  <a:pt x="20618" y="16691"/>
                </a:moveTo>
                <a:cubicBezTo>
                  <a:pt x="20618" y="17233"/>
                  <a:pt x="20178" y="17673"/>
                  <a:pt x="19636" y="17673"/>
                </a:cubicBezTo>
                <a:lnTo>
                  <a:pt x="1964" y="17673"/>
                </a:lnTo>
                <a:cubicBezTo>
                  <a:pt x="1422" y="17673"/>
                  <a:pt x="982" y="17233"/>
                  <a:pt x="982" y="16691"/>
                </a:cubicBezTo>
                <a:lnTo>
                  <a:pt x="982" y="15709"/>
                </a:lnTo>
                <a:lnTo>
                  <a:pt x="20618" y="15709"/>
                </a:lnTo>
                <a:cubicBezTo>
                  <a:pt x="20618" y="15709"/>
                  <a:pt x="20618" y="16691"/>
                  <a:pt x="20618" y="16691"/>
                </a:cubicBezTo>
                <a:close/>
                <a:moveTo>
                  <a:pt x="11782" y="20618"/>
                </a:moveTo>
                <a:lnTo>
                  <a:pt x="9818" y="20618"/>
                </a:lnTo>
                <a:lnTo>
                  <a:pt x="9818" y="18655"/>
                </a:lnTo>
                <a:lnTo>
                  <a:pt x="11782" y="18655"/>
                </a:lnTo>
                <a:cubicBezTo>
                  <a:pt x="11782" y="18655"/>
                  <a:pt x="11782" y="20618"/>
                  <a:pt x="11782" y="20618"/>
                </a:cubicBezTo>
                <a:close/>
                <a:moveTo>
                  <a:pt x="19636" y="0"/>
                </a:moveTo>
                <a:lnTo>
                  <a:pt x="1964" y="0"/>
                </a:lnTo>
                <a:cubicBezTo>
                  <a:pt x="879" y="0"/>
                  <a:pt x="0" y="879"/>
                  <a:pt x="0" y="1964"/>
                </a:cubicBezTo>
                <a:lnTo>
                  <a:pt x="0" y="16691"/>
                </a:lnTo>
                <a:cubicBezTo>
                  <a:pt x="0" y="17775"/>
                  <a:pt x="879" y="18655"/>
                  <a:pt x="1964" y="18655"/>
                </a:cubicBezTo>
                <a:lnTo>
                  <a:pt x="8836" y="18655"/>
                </a:lnTo>
                <a:lnTo>
                  <a:pt x="8836" y="20618"/>
                </a:lnTo>
                <a:lnTo>
                  <a:pt x="7364" y="20618"/>
                </a:lnTo>
                <a:cubicBezTo>
                  <a:pt x="7092" y="20618"/>
                  <a:pt x="6873" y="20839"/>
                  <a:pt x="6873" y="21109"/>
                </a:cubicBezTo>
                <a:cubicBezTo>
                  <a:pt x="6873" y="21380"/>
                  <a:pt x="7092" y="21600"/>
                  <a:pt x="7364" y="21600"/>
                </a:cubicBezTo>
                <a:lnTo>
                  <a:pt x="14236" y="21600"/>
                </a:lnTo>
                <a:cubicBezTo>
                  <a:pt x="14508" y="21600"/>
                  <a:pt x="14727" y="21380"/>
                  <a:pt x="14727" y="21109"/>
                </a:cubicBezTo>
                <a:cubicBezTo>
                  <a:pt x="14727" y="20839"/>
                  <a:pt x="14508" y="20618"/>
                  <a:pt x="14236" y="20618"/>
                </a:cubicBezTo>
                <a:lnTo>
                  <a:pt x="12764" y="20618"/>
                </a:lnTo>
                <a:lnTo>
                  <a:pt x="12764" y="18655"/>
                </a:lnTo>
                <a:lnTo>
                  <a:pt x="19636" y="18655"/>
                </a:lnTo>
                <a:cubicBezTo>
                  <a:pt x="20721" y="18655"/>
                  <a:pt x="21600" y="17775"/>
                  <a:pt x="21600" y="16691"/>
                </a:cubicBezTo>
                <a:lnTo>
                  <a:pt x="21600" y="1964"/>
                </a:lnTo>
                <a:cubicBezTo>
                  <a:pt x="21600" y="879"/>
                  <a:pt x="20721" y="0"/>
                  <a:pt x="19636" y="0"/>
                </a:cubicBezTo>
              </a:path>
            </a:pathLst>
          </a:custGeom>
          <a:solidFill>
            <a:schemeClr val="lt2"/>
          </a:solidFill>
          <a:ln>
            <a:noFill/>
          </a:ln>
        </p:spPr>
        <p:txBody>
          <a:bodyPr anchorCtr="0" anchor="ctr" bIns="76175" lIns="76175" spcFirstLastPara="1" rIns="76175" wrap="square" tIns="76175">
            <a:noAutofit/>
          </a:bodyPr>
          <a:lstStyle/>
          <a:p>
            <a:pPr indent="0" lvl="0" marL="0" marR="0" rtl="0" algn="l">
              <a:spcBef>
                <a:spcPts val="0"/>
              </a:spcBef>
              <a:spcAft>
                <a:spcPts val="0"/>
              </a:spcAft>
              <a:buNone/>
            </a:pPr>
            <a:r>
              <a:t/>
            </a:r>
            <a:endParaRPr sz="7198">
              <a:solidFill>
                <a:srgbClr val="000000"/>
              </a:solidFill>
              <a:latin typeface="Tahoma"/>
              <a:ea typeface="Tahoma"/>
              <a:cs typeface="Tahoma"/>
              <a:sym typeface="Tahoma"/>
            </a:endParaRPr>
          </a:p>
        </p:txBody>
      </p:sp>
      <p:sp>
        <p:nvSpPr>
          <p:cNvPr id="326" name="Google Shape;326;p6"/>
          <p:cNvSpPr/>
          <p:nvPr/>
        </p:nvSpPr>
        <p:spPr>
          <a:xfrm>
            <a:off x="12325443" y="7708513"/>
            <a:ext cx="976298" cy="836579"/>
          </a:xfrm>
          <a:prstGeom prst="rightArrow">
            <a:avLst>
              <a:gd fmla="val 50000" name="adj1"/>
              <a:gd fmla="val 50000" name="adj2"/>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327" name="Google Shape;327;p6"/>
          <p:cNvSpPr/>
          <p:nvPr/>
        </p:nvSpPr>
        <p:spPr>
          <a:xfrm flipH="1">
            <a:off x="11497251" y="7708513"/>
            <a:ext cx="976298" cy="836579"/>
          </a:xfrm>
          <a:prstGeom prst="rightArrow">
            <a:avLst>
              <a:gd fmla="val 50000" name="adj1"/>
              <a:gd fmla="val 50000" name="adj2"/>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pic>
        <p:nvPicPr>
          <p:cNvPr id="328" name="Google Shape;328;p6"/>
          <p:cNvPicPr preferRelativeResize="0"/>
          <p:nvPr/>
        </p:nvPicPr>
        <p:blipFill rotWithShape="1">
          <a:blip r:embed="rId4">
            <a:alphaModFix/>
          </a:blip>
          <a:srcRect b="0" l="0" r="0" t="0"/>
          <a:stretch/>
        </p:blipFill>
        <p:spPr>
          <a:xfrm>
            <a:off x="3894681" y="4389923"/>
            <a:ext cx="6774378" cy="2142397"/>
          </a:xfrm>
          <a:prstGeom prst="rect">
            <a:avLst/>
          </a:prstGeom>
          <a:noFill/>
          <a:ln>
            <a:noFill/>
          </a:ln>
        </p:spPr>
      </p:pic>
      <p:grpSp>
        <p:nvGrpSpPr>
          <p:cNvPr id="329" name="Google Shape;329;p6"/>
          <p:cNvGrpSpPr/>
          <p:nvPr/>
        </p:nvGrpSpPr>
        <p:grpSpPr>
          <a:xfrm>
            <a:off x="13119601" y="4354849"/>
            <a:ext cx="7907274" cy="2394446"/>
            <a:chOff x="13119601" y="4027328"/>
            <a:chExt cx="7907274" cy="2394446"/>
          </a:xfrm>
        </p:grpSpPr>
        <p:pic>
          <p:nvPicPr>
            <p:cNvPr id="330" name="Google Shape;330;p6"/>
            <p:cNvPicPr preferRelativeResize="0"/>
            <p:nvPr/>
          </p:nvPicPr>
          <p:blipFill rotWithShape="1">
            <a:blip r:embed="rId5">
              <a:alphaModFix/>
            </a:blip>
            <a:srcRect b="0" l="0" r="0" t="0"/>
            <a:stretch/>
          </p:blipFill>
          <p:spPr>
            <a:xfrm>
              <a:off x="13406875" y="4354849"/>
              <a:ext cx="7620000" cy="2066925"/>
            </a:xfrm>
            <a:prstGeom prst="rect">
              <a:avLst/>
            </a:prstGeom>
            <a:noFill/>
            <a:ln>
              <a:noFill/>
            </a:ln>
          </p:spPr>
        </p:pic>
        <p:sp>
          <p:nvSpPr>
            <p:cNvPr id="331" name="Google Shape;331;p6"/>
            <p:cNvSpPr/>
            <p:nvPr/>
          </p:nvSpPr>
          <p:spPr>
            <a:xfrm>
              <a:off x="13119601" y="4056460"/>
              <a:ext cx="694481" cy="73844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332" name="Google Shape;332;p6"/>
            <p:cNvSpPr/>
            <p:nvPr/>
          </p:nvSpPr>
          <p:spPr>
            <a:xfrm>
              <a:off x="17959505" y="4027328"/>
              <a:ext cx="694481" cy="73844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grpSp>
      <p:pic>
        <p:nvPicPr>
          <p:cNvPr id="333" name="Google Shape;333;p6"/>
          <p:cNvPicPr preferRelativeResize="0"/>
          <p:nvPr/>
        </p:nvPicPr>
        <p:blipFill rotWithShape="1">
          <a:blip r:embed="rId6">
            <a:alphaModFix/>
          </a:blip>
          <a:srcRect b="0" l="0" r="0" t="0"/>
          <a:stretch/>
        </p:blipFill>
        <p:spPr>
          <a:xfrm>
            <a:off x="3218641" y="9921273"/>
            <a:ext cx="445584" cy="445584"/>
          </a:xfrm>
          <a:prstGeom prst="rect">
            <a:avLst/>
          </a:prstGeom>
          <a:noFill/>
          <a:ln>
            <a:noFill/>
          </a:ln>
        </p:spPr>
      </p:pic>
      <p:pic>
        <p:nvPicPr>
          <p:cNvPr id="334" name="Google Shape;334;p6"/>
          <p:cNvPicPr preferRelativeResize="0"/>
          <p:nvPr/>
        </p:nvPicPr>
        <p:blipFill rotWithShape="1">
          <a:blip r:embed="rId6">
            <a:alphaModFix/>
          </a:blip>
          <a:srcRect b="0" l="0" r="0" t="0"/>
          <a:stretch/>
        </p:blipFill>
        <p:spPr>
          <a:xfrm>
            <a:off x="3218641" y="10523137"/>
            <a:ext cx="445584" cy="445584"/>
          </a:xfrm>
          <a:prstGeom prst="rect">
            <a:avLst/>
          </a:prstGeom>
          <a:noFill/>
          <a:ln>
            <a:noFill/>
          </a:ln>
        </p:spPr>
      </p:pic>
      <p:pic>
        <p:nvPicPr>
          <p:cNvPr id="335" name="Google Shape;335;p6"/>
          <p:cNvPicPr preferRelativeResize="0"/>
          <p:nvPr/>
        </p:nvPicPr>
        <p:blipFill rotWithShape="1">
          <a:blip r:embed="rId3">
            <a:alphaModFix/>
          </a:blip>
          <a:srcRect b="0" l="0" r="0" t="0"/>
          <a:stretch/>
        </p:blipFill>
        <p:spPr>
          <a:xfrm>
            <a:off x="3218641" y="9319409"/>
            <a:ext cx="445584" cy="445584"/>
          </a:xfrm>
          <a:prstGeom prst="rect">
            <a:avLst/>
          </a:prstGeom>
          <a:noFill/>
          <a:ln>
            <a:noFill/>
          </a:ln>
        </p:spPr>
      </p:pic>
      <p:pic>
        <p:nvPicPr>
          <p:cNvPr id="336" name="Google Shape;336;p6"/>
          <p:cNvPicPr preferRelativeResize="0"/>
          <p:nvPr/>
        </p:nvPicPr>
        <p:blipFill rotWithShape="1">
          <a:blip r:embed="rId6">
            <a:alphaModFix/>
          </a:blip>
          <a:srcRect b="0" l="0" r="0" t="0"/>
          <a:stretch/>
        </p:blipFill>
        <p:spPr>
          <a:xfrm>
            <a:off x="3218641" y="11125001"/>
            <a:ext cx="445584" cy="445584"/>
          </a:xfrm>
          <a:prstGeom prst="rect">
            <a:avLst/>
          </a:prstGeom>
          <a:noFill/>
          <a:ln>
            <a:noFill/>
          </a:ln>
        </p:spPr>
      </p:pic>
      <p:pic>
        <p:nvPicPr>
          <p:cNvPr id="337" name="Google Shape;337;p6"/>
          <p:cNvPicPr preferRelativeResize="0"/>
          <p:nvPr/>
        </p:nvPicPr>
        <p:blipFill rotWithShape="1">
          <a:blip r:embed="rId6">
            <a:alphaModFix/>
          </a:blip>
          <a:srcRect b="0" l="0" r="0" t="0"/>
          <a:stretch/>
        </p:blipFill>
        <p:spPr>
          <a:xfrm>
            <a:off x="13808947" y="9319409"/>
            <a:ext cx="445584" cy="445584"/>
          </a:xfrm>
          <a:prstGeom prst="rect">
            <a:avLst/>
          </a:prstGeom>
          <a:noFill/>
          <a:ln>
            <a:noFill/>
          </a:ln>
        </p:spPr>
      </p:pic>
      <p:pic>
        <p:nvPicPr>
          <p:cNvPr id="338" name="Google Shape;338;p6"/>
          <p:cNvPicPr preferRelativeResize="0"/>
          <p:nvPr/>
        </p:nvPicPr>
        <p:blipFill rotWithShape="1">
          <a:blip r:embed="rId3">
            <a:alphaModFix/>
          </a:blip>
          <a:srcRect b="0" l="0" r="0" t="0"/>
          <a:stretch/>
        </p:blipFill>
        <p:spPr>
          <a:xfrm>
            <a:off x="13806380" y="11125001"/>
            <a:ext cx="445584" cy="445584"/>
          </a:xfrm>
          <a:prstGeom prst="rect">
            <a:avLst/>
          </a:prstGeom>
          <a:noFill/>
          <a:ln>
            <a:noFill/>
          </a:ln>
        </p:spPr>
      </p:pic>
      <p:sp>
        <p:nvSpPr>
          <p:cNvPr id="339" name="Google Shape;339;p6"/>
          <p:cNvSpPr txBox="1"/>
          <p:nvPr/>
        </p:nvSpPr>
        <p:spPr>
          <a:xfrm>
            <a:off x="900456" y="12998939"/>
            <a:ext cx="7098034" cy="299313"/>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1000">
                <a:solidFill>
                  <a:schemeClr val="dk2"/>
                </a:solidFill>
                <a:latin typeface="Montserrat"/>
                <a:ea typeface="Montserrat"/>
                <a:cs typeface="Montserrat"/>
                <a:sym typeface="Montserrat"/>
              </a:rPr>
              <a:t>Invited review article: Single-photon sources and detectors. Review of scientific instruments, 82(7):071101, 2011.</a:t>
            </a:r>
            <a:endParaRPr sz="1000">
              <a:solidFill>
                <a:schemeClr val="dk2"/>
              </a:solidFill>
              <a:latin typeface="Montserrat"/>
              <a:ea typeface="Montserrat"/>
              <a:cs typeface="Montserrat"/>
              <a:sym typeface="Montserrat"/>
            </a:endParaRPr>
          </a:p>
        </p:txBody>
      </p:sp>
      <p:sp>
        <p:nvSpPr>
          <p:cNvPr id="340" name="Google Shape;340;p6"/>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341" name="Google Shape;341;p6"/>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Introduction</a:t>
            </a:r>
            <a:endParaRPr/>
          </a:p>
        </p:txBody>
      </p:sp>
      <p:sp>
        <p:nvSpPr>
          <p:cNvPr id="342" name="Google Shape;342;p6"/>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343" name="Google Shape;343;p6"/>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344" name="Google Shape;344;p6"/>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345" name="Google Shape;345;p6"/>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346" name="Google Shape;346;p6"/>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7"/>
          <p:cNvSpPr txBox="1"/>
          <p:nvPr/>
        </p:nvSpPr>
        <p:spPr>
          <a:xfrm>
            <a:off x="3931094" y="1483499"/>
            <a:ext cx="16515459"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Schematic of heralded single photon sources</a:t>
            </a:r>
            <a:endParaRPr b="1" sz="5400">
              <a:solidFill>
                <a:schemeClr val="dk2"/>
              </a:solidFill>
              <a:latin typeface="Montserrat"/>
              <a:ea typeface="Montserrat"/>
              <a:cs typeface="Montserrat"/>
              <a:sym typeface="Montserrat"/>
            </a:endParaRPr>
          </a:p>
        </p:txBody>
      </p:sp>
      <p:sp>
        <p:nvSpPr>
          <p:cNvPr id="352" name="Google Shape;352;p7"/>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353" name="Google Shape;353;p7"/>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354" name="Google Shape;354;p7"/>
          <p:cNvCxnSpPr/>
          <p:nvPr/>
        </p:nvCxnSpPr>
        <p:spPr>
          <a:xfrm flipH="1" rot="10800000">
            <a:off x="13853379" y="6069728"/>
            <a:ext cx="1083048" cy="1052236"/>
          </a:xfrm>
          <a:prstGeom prst="straightConnector1">
            <a:avLst/>
          </a:prstGeom>
          <a:noFill/>
          <a:ln cap="flat" cmpd="sng" w="76200">
            <a:solidFill>
              <a:srgbClr val="5B9BD5"/>
            </a:solidFill>
            <a:prstDash val="solid"/>
            <a:miter lim="800000"/>
            <a:headEnd len="sm" w="sm" type="none"/>
            <a:tailEnd len="sm" w="sm" type="none"/>
          </a:ln>
        </p:spPr>
      </p:cxnSp>
      <p:sp>
        <p:nvSpPr>
          <p:cNvPr id="355" name="Google Shape;355;p7"/>
          <p:cNvSpPr/>
          <p:nvPr/>
        </p:nvSpPr>
        <p:spPr>
          <a:xfrm>
            <a:off x="5124719" y="6230626"/>
            <a:ext cx="2235667" cy="730434"/>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356" name="Google Shape;356;p7"/>
          <p:cNvSpPr txBox="1"/>
          <p:nvPr/>
        </p:nvSpPr>
        <p:spPr>
          <a:xfrm>
            <a:off x="5209377" y="6350744"/>
            <a:ext cx="243622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SPDC source</a:t>
            </a:r>
            <a:endParaRPr b="1" sz="2400">
              <a:solidFill>
                <a:srgbClr val="000000"/>
              </a:solidFill>
              <a:latin typeface="Arial"/>
              <a:ea typeface="Arial"/>
              <a:cs typeface="Arial"/>
              <a:sym typeface="Arial"/>
            </a:endParaRPr>
          </a:p>
        </p:txBody>
      </p:sp>
      <p:sp>
        <p:nvSpPr>
          <p:cNvPr id="357" name="Google Shape;357;p7"/>
          <p:cNvSpPr/>
          <p:nvPr/>
        </p:nvSpPr>
        <p:spPr>
          <a:xfrm>
            <a:off x="10962496" y="6064108"/>
            <a:ext cx="166172" cy="1084361"/>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358" name="Google Shape;358;p7"/>
          <p:cNvSpPr txBox="1"/>
          <p:nvPr/>
        </p:nvSpPr>
        <p:spPr>
          <a:xfrm>
            <a:off x="10146328" y="5374621"/>
            <a:ext cx="179850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Pump filter</a:t>
            </a:r>
            <a:endParaRPr b="1" sz="2400">
              <a:solidFill>
                <a:srgbClr val="000000"/>
              </a:solidFill>
              <a:latin typeface="Arial"/>
              <a:ea typeface="Arial"/>
              <a:cs typeface="Arial"/>
              <a:sym typeface="Arial"/>
            </a:endParaRPr>
          </a:p>
        </p:txBody>
      </p:sp>
      <p:cxnSp>
        <p:nvCxnSpPr>
          <p:cNvPr id="359" name="Google Shape;359;p7"/>
          <p:cNvCxnSpPr>
            <a:endCxn id="357" idx="1"/>
          </p:cNvCxnSpPr>
          <p:nvPr/>
        </p:nvCxnSpPr>
        <p:spPr>
          <a:xfrm>
            <a:off x="7360396" y="6606288"/>
            <a:ext cx="3602100" cy="0"/>
          </a:xfrm>
          <a:prstGeom prst="straightConnector1">
            <a:avLst/>
          </a:prstGeom>
          <a:noFill/>
          <a:ln cap="flat" cmpd="sng" w="76200">
            <a:solidFill>
              <a:srgbClr val="000000"/>
            </a:solidFill>
            <a:prstDash val="solid"/>
            <a:miter lim="800000"/>
            <a:headEnd len="sm" w="sm" type="none"/>
            <a:tailEnd len="med" w="med" type="triangle"/>
          </a:ln>
        </p:spPr>
      </p:cxnSp>
      <p:cxnSp>
        <p:nvCxnSpPr>
          <p:cNvPr id="360" name="Google Shape;360;p7"/>
          <p:cNvCxnSpPr>
            <a:stCxn id="357" idx="3"/>
            <a:endCxn id="361" idx="1"/>
          </p:cNvCxnSpPr>
          <p:nvPr/>
        </p:nvCxnSpPr>
        <p:spPr>
          <a:xfrm>
            <a:off x="11128668" y="6606288"/>
            <a:ext cx="6846000" cy="0"/>
          </a:xfrm>
          <a:prstGeom prst="straightConnector1">
            <a:avLst/>
          </a:prstGeom>
          <a:noFill/>
          <a:ln cap="flat" cmpd="sng" w="76200">
            <a:solidFill>
              <a:srgbClr val="000000"/>
            </a:solidFill>
            <a:prstDash val="solid"/>
            <a:miter lim="800000"/>
            <a:headEnd len="sm" w="sm" type="none"/>
            <a:tailEnd len="med" w="med" type="triangle"/>
          </a:ln>
        </p:spPr>
      </p:cxnSp>
      <p:sp>
        <p:nvSpPr>
          <p:cNvPr id="362" name="Google Shape;362;p7"/>
          <p:cNvSpPr/>
          <p:nvPr/>
        </p:nvSpPr>
        <p:spPr>
          <a:xfrm>
            <a:off x="13844948" y="6064108"/>
            <a:ext cx="1083048" cy="1084361"/>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363" name="Google Shape;363;p7"/>
          <p:cNvSpPr txBox="1"/>
          <p:nvPr/>
        </p:nvSpPr>
        <p:spPr>
          <a:xfrm>
            <a:off x="13954930" y="5374621"/>
            <a:ext cx="122212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PBS</a:t>
            </a:r>
            <a:endParaRPr b="1" sz="2400">
              <a:solidFill>
                <a:srgbClr val="000000"/>
              </a:solidFill>
              <a:latin typeface="Arial"/>
              <a:ea typeface="Arial"/>
              <a:cs typeface="Arial"/>
              <a:sym typeface="Arial"/>
            </a:endParaRPr>
          </a:p>
        </p:txBody>
      </p:sp>
      <p:sp>
        <p:nvSpPr>
          <p:cNvPr id="364" name="Google Shape;364;p7"/>
          <p:cNvSpPr txBox="1"/>
          <p:nvPr/>
        </p:nvSpPr>
        <p:spPr>
          <a:xfrm>
            <a:off x="15338170" y="6684246"/>
            <a:ext cx="246062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Signal photons</a:t>
            </a:r>
            <a:endParaRPr b="1" sz="2400">
              <a:solidFill>
                <a:srgbClr val="000000"/>
              </a:solidFill>
              <a:latin typeface="Arial"/>
              <a:ea typeface="Arial"/>
              <a:cs typeface="Arial"/>
              <a:sym typeface="Arial"/>
            </a:endParaRPr>
          </a:p>
        </p:txBody>
      </p:sp>
      <p:cxnSp>
        <p:nvCxnSpPr>
          <p:cNvPr id="365" name="Google Shape;365;p7"/>
          <p:cNvCxnSpPr/>
          <p:nvPr/>
        </p:nvCxnSpPr>
        <p:spPr>
          <a:xfrm>
            <a:off x="14386470" y="6574163"/>
            <a:ext cx="0" cy="3052966"/>
          </a:xfrm>
          <a:prstGeom prst="straightConnector1">
            <a:avLst/>
          </a:prstGeom>
          <a:noFill/>
          <a:ln cap="flat" cmpd="sng" w="76200">
            <a:solidFill>
              <a:srgbClr val="000000"/>
            </a:solidFill>
            <a:prstDash val="solid"/>
            <a:miter lim="800000"/>
            <a:headEnd len="sm" w="sm" type="none"/>
            <a:tailEnd len="sm" w="sm" type="none"/>
          </a:ln>
        </p:spPr>
      </p:cxnSp>
      <p:cxnSp>
        <p:nvCxnSpPr>
          <p:cNvPr id="366" name="Google Shape;366;p7"/>
          <p:cNvCxnSpPr/>
          <p:nvPr/>
        </p:nvCxnSpPr>
        <p:spPr>
          <a:xfrm>
            <a:off x="14386470" y="9593417"/>
            <a:ext cx="2562223" cy="0"/>
          </a:xfrm>
          <a:prstGeom prst="straightConnector1">
            <a:avLst/>
          </a:prstGeom>
          <a:noFill/>
          <a:ln cap="flat" cmpd="sng" w="76200">
            <a:solidFill>
              <a:srgbClr val="000000"/>
            </a:solidFill>
            <a:prstDash val="solid"/>
            <a:miter lim="800000"/>
            <a:headEnd len="sm" w="sm" type="none"/>
            <a:tailEnd len="sm" w="sm" type="none"/>
          </a:ln>
        </p:spPr>
      </p:cxnSp>
      <p:sp>
        <p:nvSpPr>
          <p:cNvPr id="361" name="Google Shape;361;p7"/>
          <p:cNvSpPr/>
          <p:nvPr/>
        </p:nvSpPr>
        <p:spPr>
          <a:xfrm>
            <a:off x="17974642" y="6283227"/>
            <a:ext cx="674250" cy="646121"/>
          </a:xfrm>
          <a:prstGeom prst="flowChartDelay">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367" name="Google Shape;367;p7"/>
          <p:cNvSpPr/>
          <p:nvPr/>
        </p:nvSpPr>
        <p:spPr>
          <a:xfrm>
            <a:off x="19053565" y="9270355"/>
            <a:ext cx="674250" cy="646121"/>
          </a:xfrm>
          <a:prstGeom prst="flowChartDelay">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cxnSp>
        <p:nvCxnSpPr>
          <p:cNvPr id="368" name="Google Shape;368;p7"/>
          <p:cNvCxnSpPr>
            <a:endCxn id="367" idx="1"/>
          </p:cNvCxnSpPr>
          <p:nvPr/>
        </p:nvCxnSpPr>
        <p:spPr>
          <a:xfrm>
            <a:off x="16386265" y="9593416"/>
            <a:ext cx="2667300" cy="0"/>
          </a:xfrm>
          <a:prstGeom prst="straightConnector1">
            <a:avLst/>
          </a:prstGeom>
          <a:noFill/>
          <a:ln cap="flat" cmpd="sng" w="76200">
            <a:solidFill>
              <a:srgbClr val="000000"/>
            </a:solidFill>
            <a:prstDash val="solid"/>
            <a:miter lim="800000"/>
            <a:headEnd len="sm" w="sm" type="none"/>
            <a:tailEnd len="med" w="med" type="triangle"/>
          </a:ln>
        </p:spPr>
      </p:cxnSp>
      <p:sp>
        <p:nvSpPr>
          <p:cNvPr id="369" name="Google Shape;369;p7"/>
          <p:cNvSpPr txBox="1"/>
          <p:nvPr/>
        </p:nvSpPr>
        <p:spPr>
          <a:xfrm>
            <a:off x="15344075" y="9007309"/>
            <a:ext cx="245471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Idler photons</a:t>
            </a:r>
            <a:endParaRPr b="1" sz="2400">
              <a:solidFill>
                <a:srgbClr val="000000"/>
              </a:solidFill>
              <a:latin typeface="Arial"/>
              <a:ea typeface="Arial"/>
              <a:cs typeface="Arial"/>
              <a:sym typeface="Arial"/>
            </a:endParaRPr>
          </a:p>
        </p:txBody>
      </p:sp>
      <p:sp>
        <p:nvSpPr>
          <p:cNvPr id="370" name="Google Shape;370;p7"/>
          <p:cNvSpPr txBox="1"/>
          <p:nvPr/>
        </p:nvSpPr>
        <p:spPr>
          <a:xfrm>
            <a:off x="17798792" y="5667394"/>
            <a:ext cx="102594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SPD</a:t>
            </a:r>
            <a:endParaRPr b="1" sz="2400">
              <a:solidFill>
                <a:srgbClr val="000000"/>
              </a:solidFill>
              <a:latin typeface="Arial"/>
              <a:ea typeface="Arial"/>
              <a:cs typeface="Arial"/>
              <a:sym typeface="Arial"/>
            </a:endParaRPr>
          </a:p>
        </p:txBody>
      </p:sp>
      <p:sp>
        <p:nvSpPr>
          <p:cNvPr id="371" name="Google Shape;371;p7"/>
          <p:cNvSpPr txBox="1"/>
          <p:nvPr/>
        </p:nvSpPr>
        <p:spPr>
          <a:xfrm>
            <a:off x="18311765" y="10012383"/>
            <a:ext cx="237469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Triggered SPD</a:t>
            </a:r>
            <a:endParaRPr b="1" sz="2400">
              <a:solidFill>
                <a:srgbClr val="000000"/>
              </a:solidFill>
              <a:latin typeface="Arial"/>
              <a:ea typeface="Arial"/>
              <a:cs typeface="Arial"/>
              <a:sym typeface="Arial"/>
            </a:endParaRPr>
          </a:p>
        </p:txBody>
      </p:sp>
      <p:cxnSp>
        <p:nvCxnSpPr>
          <p:cNvPr id="372" name="Google Shape;372;p7"/>
          <p:cNvCxnSpPr/>
          <p:nvPr/>
        </p:nvCxnSpPr>
        <p:spPr>
          <a:xfrm>
            <a:off x="20795657" y="6606288"/>
            <a:ext cx="0" cy="2987129"/>
          </a:xfrm>
          <a:prstGeom prst="straightConnector1">
            <a:avLst/>
          </a:prstGeom>
          <a:noFill/>
          <a:ln cap="flat" cmpd="sng" w="76200">
            <a:solidFill>
              <a:srgbClr val="000000"/>
            </a:solidFill>
            <a:prstDash val="solid"/>
            <a:miter lim="800000"/>
            <a:headEnd len="sm" w="sm" type="none"/>
            <a:tailEnd len="sm" w="sm" type="none"/>
          </a:ln>
        </p:spPr>
      </p:cxnSp>
      <p:cxnSp>
        <p:nvCxnSpPr>
          <p:cNvPr id="373" name="Google Shape;373;p7"/>
          <p:cNvCxnSpPr>
            <a:stCxn id="361" idx="3"/>
          </p:cNvCxnSpPr>
          <p:nvPr/>
        </p:nvCxnSpPr>
        <p:spPr>
          <a:xfrm>
            <a:off x="18648892" y="6606288"/>
            <a:ext cx="2180400" cy="0"/>
          </a:xfrm>
          <a:prstGeom prst="straightConnector1">
            <a:avLst/>
          </a:prstGeom>
          <a:noFill/>
          <a:ln cap="flat" cmpd="sng" w="76200">
            <a:solidFill>
              <a:srgbClr val="000000"/>
            </a:solidFill>
            <a:prstDash val="solid"/>
            <a:miter lim="800000"/>
            <a:headEnd len="sm" w="sm" type="none"/>
            <a:tailEnd len="sm" w="sm" type="none"/>
          </a:ln>
        </p:spPr>
      </p:cxnSp>
      <p:cxnSp>
        <p:nvCxnSpPr>
          <p:cNvPr id="374" name="Google Shape;374;p7"/>
          <p:cNvCxnSpPr/>
          <p:nvPr/>
        </p:nvCxnSpPr>
        <p:spPr>
          <a:xfrm rot="10800000">
            <a:off x="19781532" y="9593417"/>
            <a:ext cx="1047843" cy="0"/>
          </a:xfrm>
          <a:prstGeom prst="straightConnector1">
            <a:avLst/>
          </a:prstGeom>
          <a:noFill/>
          <a:ln cap="flat" cmpd="sng" w="76200">
            <a:solidFill>
              <a:srgbClr val="000000"/>
            </a:solidFill>
            <a:prstDash val="solid"/>
            <a:miter lim="800000"/>
            <a:headEnd len="sm" w="sm" type="none"/>
            <a:tailEnd len="med" w="med" type="triangle"/>
          </a:ln>
        </p:spPr>
      </p:cxnSp>
      <p:sp>
        <p:nvSpPr>
          <p:cNvPr id="375" name="Google Shape;375;p7"/>
          <p:cNvSpPr txBox="1"/>
          <p:nvPr/>
        </p:nvSpPr>
        <p:spPr>
          <a:xfrm>
            <a:off x="18757558" y="6044709"/>
            <a:ext cx="334314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Triggering signals</a:t>
            </a:r>
            <a:endParaRPr b="1" sz="2400">
              <a:solidFill>
                <a:srgbClr val="000000"/>
              </a:solidFill>
              <a:latin typeface="Arial"/>
              <a:ea typeface="Arial"/>
              <a:cs typeface="Arial"/>
              <a:sym typeface="Arial"/>
            </a:endParaRPr>
          </a:p>
        </p:txBody>
      </p:sp>
      <p:sp>
        <p:nvSpPr>
          <p:cNvPr id="376" name="Google Shape;376;p7"/>
          <p:cNvSpPr/>
          <p:nvPr/>
        </p:nvSpPr>
        <p:spPr>
          <a:xfrm>
            <a:off x="3316302" y="6361948"/>
            <a:ext cx="1417226" cy="490201"/>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377" name="Google Shape;377;p7"/>
          <p:cNvSpPr txBox="1"/>
          <p:nvPr/>
        </p:nvSpPr>
        <p:spPr>
          <a:xfrm>
            <a:off x="3480407" y="5825912"/>
            <a:ext cx="10890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Pump</a:t>
            </a:r>
            <a:endParaRPr b="1" sz="2400">
              <a:solidFill>
                <a:srgbClr val="000000"/>
              </a:solidFill>
              <a:latin typeface="Arial"/>
              <a:ea typeface="Arial"/>
              <a:cs typeface="Arial"/>
              <a:sym typeface="Arial"/>
            </a:endParaRPr>
          </a:p>
        </p:txBody>
      </p:sp>
      <p:sp>
        <p:nvSpPr>
          <p:cNvPr id="378" name="Google Shape;378;p7"/>
          <p:cNvSpPr/>
          <p:nvPr/>
        </p:nvSpPr>
        <p:spPr>
          <a:xfrm>
            <a:off x="4863384" y="4879096"/>
            <a:ext cx="2744253" cy="2535629"/>
          </a:xfrm>
          <a:prstGeom prst="rect">
            <a:avLst/>
          </a:prstGeom>
          <a:noFill/>
          <a:ln cap="flat" cmpd="sng" w="76200">
            <a:solidFill>
              <a:srgbClr val="00B05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379" name="Google Shape;379;p7"/>
          <p:cNvSpPr txBox="1"/>
          <p:nvPr/>
        </p:nvSpPr>
        <p:spPr>
          <a:xfrm>
            <a:off x="5684053" y="4302414"/>
            <a:ext cx="145630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B050"/>
                </a:solidFill>
                <a:latin typeface="Arial"/>
                <a:ea typeface="Arial"/>
                <a:cs typeface="Arial"/>
                <a:sym typeface="Arial"/>
              </a:rPr>
              <a:t>Stage 1</a:t>
            </a:r>
            <a:endParaRPr b="1" sz="2400">
              <a:solidFill>
                <a:srgbClr val="00B050"/>
              </a:solidFill>
              <a:latin typeface="Arial"/>
              <a:ea typeface="Arial"/>
              <a:cs typeface="Arial"/>
              <a:sym typeface="Arial"/>
            </a:endParaRPr>
          </a:p>
        </p:txBody>
      </p:sp>
      <p:sp>
        <p:nvSpPr>
          <p:cNvPr id="380" name="Google Shape;380;p7"/>
          <p:cNvSpPr/>
          <p:nvPr/>
        </p:nvSpPr>
        <p:spPr>
          <a:xfrm>
            <a:off x="9978609" y="4879096"/>
            <a:ext cx="2012520" cy="2535629"/>
          </a:xfrm>
          <a:prstGeom prst="rect">
            <a:avLst/>
          </a:prstGeom>
          <a:noFill/>
          <a:ln cap="flat" cmpd="sng" w="76200">
            <a:solidFill>
              <a:srgbClr val="00B05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381" name="Google Shape;381;p7"/>
          <p:cNvSpPr txBox="1"/>
          <p:nvPr/>
        </p:nvSpPr>
        <p:spPr>
          <a:xfrm>
            <a:off x="10317425" y="4302414"/>
            <a:ext cx="145630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B050"/>
                </a:solidFill>
                <a:latin typeface="Arial"/>
                <a:ea typeface="Arial"/>
                <a:cs typeface="Arial"/>
                <a:sym typeface="Arial"/>
              </a:rPr>
              <a:t>Stage 2</a:t>
            </a:r>
            <a:endParaRPr b="1" sz="2400">
              <a:solidFill>
                <a:srgbClr val="00B050"/>
              </a:solidFill>
              <a:latin typeface="Arial"/>
              <a:ea typeface="Arial"/>
              <a:cs typeface="Arial"/>
              <a:sym typeface="Arial"/>
            </a:endParaRPr>
          </a:p>
        </p:txBody>
      </p:sp>
      <p:sp>
        <p:nvSpPr>
          <p:cNvPr id="382" name="Google Shape;382;p7"/>
          <p:cNvSpPr/>
          <p:nvPr/>
        </p:nvSpPr>
        <p:spPr>
          <a:xfrm>
            <a:off x="13559731" y="4879096"/>
            <a:ext cx="1669773" cy="2535629"/>
          </a:xfrm>
          <a:prstGeom prst="rect">
            <a:avLst/>
          </a:prstGeom>
          <a:noFill/>
          <a:ln cap="flat" cmpd="sng" w="76200">
            <a:solidFill>
              <a:srgbClr val="00B05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383" name="Google Shape;383;p7"/>
          <p:cNvSpPr txBox="1"/>
          <p:nvPr/>
        </p:nvSpPr>
        <p:spPr>
          <a:xfrm>
            <a:off x="13695036" y="4302414"/>
            <a:ext cx="145630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B050"/>
                </a:solidFill>
                <a:latin typeface="Arial"/>
                <a:ea typeface="Arial"/>
                <a:cs typeface="Arial"/>
                <a:sym typeface="Arial"/>
              </a:rPr>
              <a:t>Stage 3</a:t>
            </a:r>
            <a:endParaRPr b="1" sz="2400">
              <a:solidFill>
                <a:srgbClr val="00B050"/>
              </a:solidFill>
              <a:latin typeface="Arial"/>
              <a:ea typeface="Arial"/>
              <a:cs typeface="Arial"/>
              <a:sym typeface="Arial"/>
            </a:endParaRPr>
          </a:p>
        </p:txBody>
      </p:sp>
      <p:sp>
        <p:nvSpPr>
          <p:cNvPr id="384" name="Google Shape;384;p7"/>
          <p:cNvSpPr txBox="1"/>
          <p:nvPr/>
        </p:nvSpPr>
        <p:spPr>
          <a:xfrm>
            <a:off x="5124719" y="9848585"/>
            <a:ext cx="246062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Pump photons</a:t>
            </a:r>
            <a:endParaRPr b="1" sz="2400">
              <a:solidFill>
                <a:srgbClr val="000000"/>
              </a:solidFill>
              <a:latin typeface="Arial"/>
              <a:ea typeface="Arial"/>
              <a:cs typeface="Arial"/>
              <a:sym typeface="Arial"/>
            </a:endParaRPr>
          </a:p>
        </p:txBody>
      </p:sp>
      <p:sp>
        <p:nvSpPr>
          <p:cNvPr id="385" name="Google Shape;385;p7"/>
          <p:cNvSpPr txBox="1"/>
          <p:nvPr/>
        </p:nvSpPr>
        <p:spPr>
          <a:xfrm>
            <a:off x="4298840" y="8055376"/>
            <a:ext cx="3887423"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0000"/>
                </a:solidFill>
                <a:latin typeface="Arial"/>
                <a:ea typeface="Arial"/>
                <a:cs typeface="Arial"/>
                <a:sym typeface="Arial"/>
              </a:rPr>
              <a:t>Photon pairs</a:t>
            </a:r>
            <a:endParaRPr/>
          </a:p>
          <a:p>
            <a:pPr indent="0" lvl="0" marL="0" marR="0" rtl="0" algn="ctr">
              <a:spcBef>
                <a:spcPts val="0"/>
              </a:spcBef>
              <a:spcAft>
                <a:spcPts val="0"/>
              </a:spcAft>
              <a:buNone/>
            </a:pPr>
            <a:r>
              <a:rPr b="1" lang="en-US" sz="2400">
                <a:solidFill>
                  <a:srgbClr val="000000"/>
                </a:solidFill>
                <a:latin typeface="Arial"/>
                <a:ea typeface="Arial"/>
                <a:cs typeface="Arial"/>
                <a:sym typeface="Arial"/>
              </a:rPr>
              <a:t>(single  + idler photons)</a:t>
            </a:r>
            <a:endParaRPr b="1" sz="2400">
              <a:solidFill>
                <a:srgbClr val="000000"/>
              </a:solidFill>
              <a:latin typeface="Arial"/>
              <a:ea typeface="Arial"/>
              <a:cs typeface="Arial"/>
              <a:sym typeface="Arial"/>
            </a:endParaRPr>
          </a:p>
        </p:txBody>
      </p:sp>
      <p:sp>
        <p:nvSpPr>
          <p:cNvPr id="386" name="Google Shape;386;p7"/>
          <p:cNvSpPr txBox="1"/>
          <p:nvPr/>
        </p:nvSpPr>
        <p:spPr>
          <a:xfrm>
            <a:off x="5891114" y="9235668"/>
            <a:ext cx="877426"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0000"/>
                </a:solidFill>
                <a:latin typeface="Arial"/>
                <a:ea typeface="Arial"/>
                <a:cs typeface="Arial"/>
                <a:sym typeface="Arial"/>
              </a:rPr>
              <a:t>+</a:t>
            </a:r>
            <a:endParaRPr b="1" sz="2400">
              <a:solidFill>
                <a:srgbClr val="000000"/>
              </a:solidFill>
              <a:latin typeface="Arial"/>
              <a:ea typeface="Arial"/>
              <a:cs typeface="Arial"/>
              <a:sym typeface="Arial"/>
            </a:endParaRPr>
          </a:p>
        </p:txBody>
      </p:sp>
      <p:sp>
        <p:nvSpPr>
          <p:cNvPr id="387" name="Google Shape;387;p7"/>
          <p:cNvSpPr txBox="1"/>
          <p:nvPr/>
        </p:nvSpPr>
        <p:spPr>
          <a:xfrm>
            <a:off x="9101867" y="8055376"/>
            <a:ext cx="3887423"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0000"/>
                </a:solidFill>
                <a:latin typeface="Arial"/>
                <a:ea typeface="Arial"/>
                <a:cs typeface="Arial"/>
                <a:sym typeface="Arial"/>
              </a:rPr>
              <a:t>Photon pairs</a:t>
            </a:r>
            <a:endParaRPr/>
          </a:p>
          <a:p>
            <a:pPr indent="0" lvl="0" marL="0" marR="0" rtl="0" algn="ctr">
              <a:spcBef>
                <a:spcPts val="0"/>
              </a:spcBef>
              <a:spcAft>
                <a:spcPts val="0"/>
              </a:spcAft>
              <a:buNone/>
            </a:pPr>
            <a:r>
              <a:rPr b="1" lang="en-US" sz="2400">
                <a:solidFill>
                  <a:srgbClr val="000000"/>
                </a:solidFill>
                <a:latin typeface="Arial"/>
                <a:ea typeface="Arial"/>
                <a:cs typeface="Arial"/>
                <a:sym typeface="Arial"/>
              </a:rPr>
              <a:t>(single + idler photons)</a:t>
            </a:r>
            <a:endParaRPr b="1" sz="2400">
              <a:solidFill>
                <a:srgbClr val="000000"/>
              </a:solidFill>
              <a:latin typeface="Arial"/>
              <a:ea typeface="Arial"/>
              <a:cs typeface="Arial"/>
              <a:sym typeface="Arial"/>
            </a:endParaRPr>
          </a:p>
        </p:txBody>
      </p:sp>
      <p:sp>
        <p:nvSpPr>
          <p:cNvPr id="388" name="Google Shape;388;p7"/>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389" name="Google Shape;389;p7"/>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Introduction</a:t>
            </a:r>
            <a:endParaRPr/>
          </a:p>
        </p:txBody>
      </p:sp>
      <p:sp>
        <p:nvSpPr>
          <p:cNvPr id="390" name="Google Shape;390;p7"/>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391" name="Google Shape;391;p7"/>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392" name="Google Shape;392;p7"/>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393" name="Google Shape;393;p7"/>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394" name="Google Shape;394;p7"/>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8"/>
          <p:cNvSpPr/>
          <p:nvPr/>
        </p:nvSpPr>
        <p:spPr>
          <a:xfrm>
            <a:off x="3496437" y="3810060"/>
            <a:ext cx="17287113" cy="4324290"/>
          </a:xfrm>
          <a:prstGeom prst="rect">
            <a:avLst/>
          </a:prstGeom>
          <a:noFill/>
          <a:ln cap="flat" cmpd="sng" w="762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400" name="Google Shape;400;p8"/>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Integrated heralded single photon sources</a:t>
            </a:r>
            <a:endParaRPr b="1" sz="5400">
              <a:solidFill>
                <a:schemeClr val="dk2"/>
              </a:solidFill>
              <a:latin typeface="Montserrat"/>
              <a:ea typeface="Montserrat"/>
              <a:cs typeface="Montserrat"/>
              <a:sym typeface="Montserrat"/>
            </a:endParaRPr>
          </a:p>
        </p:txBody>
      </p:sp>
      <p:sp>
        <p:nvSpPr>
          <p:cNvPr id="401" name="Google Shape;401;p8"/>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402" name="Google Shape;402;p8"/>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403" name="Google Shape;403;p8"/>
          <p:cNvCxnSpPr/>
          <p:nvPr/>
        </p:nvCxnSpPr>
        <p:spPr>
          <a:xfrm flipH="1" rot="10800000">
            <a:off x="18166645" y="6069728"/>
            <a:ext cx="1083048" cy="1052236"/>
          </a:xfrm>
          <a:prstGeom prst="straightConnector1">
            <a:avLst/>
          </a:prstGeom>
          <a:noFill/>
          <a:ln cap="flat" cmpd="sng" w="76200">
            <a:solidFill>
              <a:srgbClr val="5B9BD5"/>
            </a:solidFill>
            <a:prstDash val="solid"/>
            <a:miter lim="800000"/>
            <a:headEnd len="sm" w="sm" type="none"/>
            <a:tailEnd len="sm" w="sm" type="none"/>
          </a:ln>
        </p:spPr>
      </p:cxnSp>
      <p:sp>
        <p:nvSpPr>
          <p:cNvPr id="404" name="Google Shape;404;p8"/>
          <p:cNvSpPr/>
          <p:nvPr/>
        </p:nvSpPr>
        <p:spPr>
          <a:xfrm>
            <a:off x="4686002" y="6230626"/>
            <a:ext cx="2235667" cy="730434"/>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405" name="Google Shape;405;p8"/>
          <p:cNvSpPr txBox="1"/>
          <p:nvPr/>
        </p:nvSpPr>
        <p:spPr>
          <a:xfrm>
            <a:off x="4770660" y="6350744"/>
            <a:ext cx="243622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SPDC source</a:t>
            </a:r>
            <a:endParaRPr b="1" sz="2400">
              <a:solidFill>
                <a:srgbClr val="000000"/>
              </a:solidFill>
              <a:latin typeface="Arial"/>
              <a:ea typeface="Arial"/>
              <a:cs typeface="Arial"/>
              <a:sym typeface="Arial"/>
            </a:endParaRPr>
          </a:p>
        </p:txBody>
      </p:sp>
      <p:sp>
        <p:nvSpPr>
          <p:cNvPr id="406" name="Google Shape;406;p8"/>
          <p:cNvSpPr/>
          <p:nvPr/>
        </p:nvSpPr>
        <p:spPr>
          <a:xfrm>
            <a:off x="12183629" y="6064108"/>
            <a:ext cx="166172" cy="1084361"/>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407" name="Google Shape;407;p8"/>
          <p:cNvSpPr txBox="1"/>
          <p:nvPr/>
        </p:nvSpPr>
        <p:spPr>
          <a:xfrm>
            <a:off x="11367461" y="5374621"/>
            <a:ext cx="179850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Pump filter</a:t>
            </a:r>
            <a:endParaRPr b="1" sz="2400">
              <a:solidFill>
                <a:srgbClr val="000000"/>
              </a:solidFill>
              <a:latin typeface="Arial"/>
              <a:ea typeface="Arial"/>
              <a:cs typeface="Arial"/>
              <a:sym typeface="Arial"/>
            </a:endParaRPr>
          </a:p>
        </p:txBody>
      </p:sp>
      <p:sp>
        <p:nvSpPr>
          <p:cNvPr id="408" name="Google Shape;408;p8"/>
          <p:cNvSpPr/>
          <p:nvPr/>
        </p:nvSpPr>
        <p:spPr>
          <a:xfrm>
            <a:off x="18158214" y="6064108"/>
            <a:ext cx="1083048" cy="1084361"/>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409" name="Google Shape;409;p8"/>
          <p:cNvSpPr txBox="1"/>
          <p:nvPr/>
        </p:nvSpPr>
        <p:spPr>
          <a:xfrm>
            <a:off x="18268196" y="5374621"/>
            <a:ext cx="122212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PBS</a:t>
            </a:r>
            <a:endParaRPr b="1" sz="2400">
              <a:solidFill>
                <a:srgbClr val="000000"/>
              </a:solidFill>
              <a:latin typeface="Arial"/>
              <a:ea typeface="Arial"/>
              <a:cs typeface="Arial"/>
              <a:sym typeface="Arial"/>
            </a:endParaRPr>
          </a:p>
        </p:txBody>
      </p:sp>
      <p:sp>
        <p:nvSpPr>
          <p:cNvPr id="410" name="Google Shape;410;p8"/>
          <p:cNvSpPr/>
          <p:nvPr/>
        </p:nvSpPr>
        <p:spPr>
          <a:xfrm>
            <a:off x="4424667" y="4879096"/>
            <a:ext cx="2744253" cy="2535629"/>
          </a:xfrm>
          <a:prstGeom prst="rect">
            <a:avLst/>
          </a:prstGeom>
          <a:noFill/>
          <a:ln cap="flat" cmpd="sng" w="76200">
            <a:solidFill>
              <a:srgbClr val="00B05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411" name="Google Shape;411;p8"/>
          <p:cNvSpPr txBox="1"/>
          <p:nvPr/>
        </p:nvSpPr>
        <p:spPr>
          <a:xfrm>
            <a:off x="5245336" y="4302414"/>
            <a:ext cx="145630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B050"/>
                </a:solidFill>
                <a:latin typeface="Arial"/>
                <a:ea typeface="Arial"/>
                <a:cs typeface="Arial"/>
                <a:sym typeface="Arial"/>
              </a:rPr>
              <a:t>Stage 1</a:t>
            </a:r>
            <a:endParaRPr b="1" sz="2400">
              <a:solidFill>
                <a:srgbClr val="00B050"/>
              </a:solidFill>
              <a:latin typeface="Arial"/>
              <a:ea typeface="Arial"/>
              <a:cs typeface="Arial"/>
              <a:sym typeface="Arial"/>
            </a:endParaRPr>
          </a:p>
        </p:txBody>
      </p:sp>
      <p:sp>
        <p:nvSpPr>
          <p:cNvPr id="412" name="Google Shape;412;p8"/>
          <p:cNvSpPr/>
          <p:nvPr/>
        </p:nvSpPr>
        <p:spPr>
          <a:xfrm>
            <a:off x="11199742" y="4879096"/>
            <a:ext cx="2012520" cy="2535629"/>
          </a:xfrm>
          <a:prstGeom prst="rect">
            <a:avLst/>
          </a:prstGeom>
          <a:noFill/>
          <a:ln cap="flat" cmpd="sng" w="76200">
            <a:solidFill>
              <a:srgbClr val="00B05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413" name="Google Shape;413;p8"/>
          <p:cNvSpPr txBox="1"/>
          <p:nvPr/>
        </p:nvSpPr>
        <p:spPr>
          <a:xfrm>
            <a:off x="11538558" y="4302414"/>
            <a:ext cx="145630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B050"/>
                </a:solidFill>
                <a:latin typeface="Arial"/>
                <a:ea typeface="Arial"/>
                <a:cs typeface="Arial"/>
                <a:sym typeface="Arial"/>
              </a:rPr>
              <a:t>Stage 2</a:t>
            </a:r>
            <a:endParaRPr b="1" sz="2400">
              <a:solidFill>
                <a:srgbClr val="00B050"/>
              </a:solidFill>
              <a:latin typeface="Arial"/>
              <a:ea typeface="Arial"/>
              <a:cs typeface="Arial"/>
              <a:sym typeface="Arial"/>
            </a:endParaRPr>
          </a:p>
        </p:txBody>
      </p:sp>
      <p:sp>
        <p:nvSpPr>
          <p:cNvPr id="414" name="Google Shape;414;p8"/>
          <p:cNvSpPr/>
          <p:nvPr/>
        </p:nvSpPr>
        <p:spPr>
          <a:xfrm>
            <a:off x="17872997" y="4879096"/>
            <a:ext cx="1669773" cy="2535629"/>
          </a:xfrm>
          <a:prstGeom prst="rect">
            <a:avLst/>
          </a:prstGeom>
          <a:noFill/>
          <a:ln cap="flat" cmpd="sng" w="76200">
            <a:solidFill>
              <a:srgbClr val="00B05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415" name="Google Shape;415;p8"/>
          <p:cNvSpPr txBox="1"/>
          <p:nvPr/>
        </p:nvSpPr>
        <p:spPr>
          <a:xfrm>
            <a:off x="18008302" y="4302414"/>
            <a:ext cx="145630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B050"/>
                </a:solidFill>
                <a:latin typeface="Arial"/>
                <a:ea typeface="Arial"/>
                <a:cs typeface="Arial"/>
                <a:sym typeface="Arial"/>
              </a:rPr>
              <a:t>Stage 3</a:t>
            </a:r>
            <a:endParaRPr b="1" sz="2400">
              <a:solidFill>
                <a:srgbClr val="00B050"/>
              </a:solidFill>
              <a:latin typeface="Arial"/>
              <a:ea typeface="Arial"/>
              <a:cs typeface="Arial"/>
              <a:sym typeface="Arial"/>
            </a:endParaRPr>
          </a:p>
        </p:txBody>
      </p:sp>
      <p:sp>
        <p:nvSpPr>
          <p:cNvPr id="416" name="Google Shape;416;p8"/>
          <p:cNvSpPr txBox="1"/>
          <p:nvPr/>
        </p:nvSpPr>
        <p:spPr>
          <a:xfrm>
            <a:off x="2798144" y="8307884"/>
            <a:ext cx="5748254" cy="243092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600">
                <a:solidFill>
                  <a:schemeClr val="dk2"/>
                </a:solidFill>
                <a:latin typeface="Montserrat"/>
                <a:ea typeface="Montserrat"/>
                <a:cs typeface="Montserrat"/>
                <a:sym typeface="Montserrat"/>
              </a:rPr>
              <a:t>Requirements </a:t>
            </a:r>
            <a:endParaRPr/>
          </a:p>
          <a:p>
            <a:pPr indent="0" lvl="0" marL="0" marR="0" rtl="0" algn="ctr">
              <a:lnSpc>
                <a:spcPct val="150000"/>
              </a:lnSpc>
              <a:spcBef>
                <a:spcPts val="0"/>
              </a:spcBef>
              <a:spcAft>
                <a:spcPts val="0"/>
              </a:spcAft>
              <a:buNone/>
            </a:pPr>
            <a:r>
              <a:rPr lang="en-US" sz="2600">
                <a:solidFill>
                  <a:schemeClr val="dk2"/>
                </a:solidFill>
                <a:latin typeface="Montserrat"/>
                <a:ea typeface="Montserrat"/>
                <a:cs typeface="Montserrat"/>
                <a:sym typeface="Montserrat"/>
              </a:rPr>
              <a:t>Efficient nonlinear frequency conversion</a:t>
            </a:r>
            <a:endParaRPr/>
          </a:p>
          <a:p>
            <a:pPr indent="0" lvl="0" marL="0" marR="0" rtl="0" algn="ctr">
              <a:lnSpc>
                <a:spcPct val="150000"/>
              </a:lnSpc>
              <a:spcBef>
                <a:spcPts val="0"/>
              </a:spcBef>
              <a:spcAft>
                <a:spcPts val="0"/>
              </a:spcAft>
              <a:buNone/>
            </a:pPr>
            <a:r>
              <a:rPr lang="en-US" sz="2600">
                <a:solidFill>
                  <a:schemeClr val="dk2"/>
                </a:solidFill>
                <a:latin typeface="Montserrat"/>
                <a:ea typeface="Montserrat"/>
                <a:cs typeface="Montserrat"/>
                <a:sym typeface="Montserrat"/>
              </a:rPr>
              <a:t>Post temperature tuning</a:t>
            </a:r>
            <a:endParaRPr/>
          </a:p>
          <a:p>
            <a:pPr indent="0" lvl="0" marL="0" marR="0" rtl="0" algn="ctr">
              <a:lnSpc>
                <a:spcPct val="150000"/>
              </a:lnSpc>
              <a:spcBef>
                <a:spcPts val="0"/>
              </a:spcBef>
              <a:spcAft>
                <a:spcPts val="0"/>
              </a:spcAft>
              <a:buNone/>
            </a:pPr>
            <a:r>
              <a:rPr lang="en-US" sz="2600">
                <a:solidFill>
                  <a:schemeClr val="dk2"/>
                </a:solidFill>
                <a:latin typeface="Montserrat"/>
                <a:ea typeface="Montserrat"/>
                <a:cs typeface="Montserrat"/>
                <a:sym typeface="Montserrat"/>
              </a:rPr>
              <a:t>Post wavelength tuning</a:t>
            </a:r>
            <a:endParaRPr/>
          </a:p>
        </p:txBody>
      </p:sp>
      <p:sp>
        <p:nvSpPr>
          <p:cNvPr id="417" name="Google Shape;417;p8"/>
          <p:cNvSpPr txBox="1"/>
          <p:nvPr/>
        </p:nvSpPr>
        <p:spPr>
          <a:xfrm>
            <a:off x="8716499" y="5668169"/>
            <a:ext cx="877426"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0">
                <a:solidFill>
                  <a:srgbClr val="000000"/>
                </a:solidFill>
                <a:latin typeface="Arial"/>
                <a:ea typeface="Arial"/>
                <a:cs typeface="Arial"/>
                <a:sym typeface="Arial"/>
              </a:rPr>
              <a:t>+</a:t>
            </a:r>
            <a:endParaRPr b="1" sz="10000">
              <a:solidFill>
                <a:srgbClr val="000000"/>
              </a:solidFill>
              <a:latin typeface="Arial"/>
              <a:ea typeface="Arial"/>
              <a:cs typeface="Arial"/>
              <a:sym typeface="Arial"/>
            </a:endParaRPr>
          </a:p>
        </p:txBody>
      </p:sp>
      <p:sp>
        <p:nvSpPr>
          <p:cNvPr id="418" name="Google Shape;418;p8"/>
          <p:cNvSpPr txBox="1"/>
          <p:nvPr/>
        </p:nvSpPr>
        <p:spPr>
          <a:xfrm>
            <a:off x="9624320" y="8307884"/>
            <a:ext cx="5104866" cy="1830758"/>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600">
                <a:solidFill>
                  <a:schemeClr val="dk2"/>
                </a:solidFill>
                <a:latin typeface="Montserrat"/>
                <a:ea typeface="Montserrat"/>
                <a:cs typeface="Montserrat"/>
                <a:sym typeface="Montserrat"/>
              </a:rPr>
              <a:t>Requirements</a:t>
            </a:r>
            <a:endParaRPr sz="2600">
              <a:solidFill>
                <a:schemeClr val="dk2"/>
              </a:solidFill>
              <a:latin typeface="Montserrat"/>
              <a:ea typeface="Montserrat"/>
              <a:cs typeface="Montserrat"/>
              <a:sym typeface="Montserrat"/>
            </a:endParaRPr>
          </a:p>
          <a:p>
            <a:pPr indent="0" lvl="0" marL="0" marR="0" rtl="0" algn="ctr">
              <a:lnSpc>
                <a:spcPct val="150000"/>
              </a:lnSpc>
              <a:spcBef>
                <a:spcPts val="0"/>
              </a:spcBef>
              <a:spcAft>
                <a:spcPts val="0"/>
              </a:spcAft>
              <a:buNone/>
            </a:pPr>
            <a:r>
              <a:rPr lang="en-US" sz="2600">
                <a:solidFill>
                  <a:schemeClr val="dk2"/>
                </a:solidFill>
                <a:latin typeface="Montserrat"/>
                <a:ea typeface="Montserrat"/>
                <a:cs typeface="Montserrat"/>
                <a:sym typeface="Montserrat"/>
              </a:rPr>
              <a:t>High fabrication tolerance</a:t>
            </a:r>
            <a:endParaRPr/>
          </a:p>
          <a:p>
            <a:pPr indent="0" lvl="0" marL="0" marR="0" rtl="0" algn="ctr">
              <a:lnSpc>
                <a:spcPct val="150000"/>
              </a:lnSpc>
              <a:spcBef>
                <a:spcPts val="0"/>
              </a:spcBef>
              <a:spcAft>
                <a:spcPts val="0"/>
              </a:spcAft>
              <a:buNone/>
            </a:pPr>
            <a:r>
              <a:rPr lang="en-US" sz="2600">
                <a:solidFill>
                  <a:schemeClr val="dk2"/>
                </a:solidFill>
                <a:latin typeface="Montserrat"/>
                <a:ea typeface="Montserrat"/>
                <a:cs typeface="Montserrat"/>
                <a:sym typeface="Montserrat"/>
              </a:rPr>
              <a:t>Broadband operation of ER &gt; 20 dB</a:t>
            </a:r>
            <a:endParaRPr/>
          </a:p>
        </p:txBody>
      </p:sp>
      <p:sp>
        <p:nvSpPr>
          <p:cNvPr id="419" name="Google Shape;419;p8"/>
          <p:cNvSpPr txBox="1"/>
          <p:nvPr/>
        </p:nvSpPr>
        <p:spPr>
          <a:xfrm>
            <a:off x="16155425" y="8307884"/>
            <a:ext cx="5226135" cy="1830758"/>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600">
                <a:solidFill>
                  <a:schemeClr val="dk2"/>
                </a:solidFill>
                <a:latin typeface="Montserrat"/>
                <a:ea typeface="Montserrat"/>
                <a:cs typeface="Montserrat"/>
                <a:sym typeface="Montserrat"/>
              </a:rPr>
              <a:t>Requirements</a:t>
            </a:r>
            <a:endParaRPr sz="2600">
              <a:solidFill>
                <a:schemeClr val="dk2"/>
              </a:solidFill>
              <a:latin typeface="Montserrat"/>
              <a:ea typeface="Montserrat"/>
              <a:cs typeface="Montserrat"/>
              <a:sym typeface="Montserrat"/>
            </a:endParaRPr>
          </a:p>
          <a:p>
            <a:pPr indent="0" lvl="0" marL="0" marR="0" rtl="0" algn="ctr">
              <a:lnSpc>
                <a:spcPct val="150000"/>
              </a:lnSpc>
              <a:spcBef>
                <a:spcPts val="0"/>
              </a:spcBef>
              <a:spcAft>
                <a:spcPts val="0"/>
              </a:spcAft>
              <a:buNone/>
            </a:pPr>
            <a:r>
              <a:rPr lang="en-US" sz="2600">
                <a:solidFill>
                  <a:schemeClr val="dk2"/>
                </a:solidFill>
                <a:latin typeface="Montserrat"/>
                <a:ea typeface="Montserrat"/>
                <a:cs typeface="Montserrat"/>
                <a:sym typeface="Montserrat"/>
              </a:rPr>
              <a:t>High fabrication tolerance</a:t>
            </a:r>
            <a:endParaRPr/>
          </a:p>
          <a:p>
            <a:pPr indent="0" lvl="0" marL="0" marR="0" rtl="0" algn="ctr">
              <a:lnSpc>
                <a:spcPct val="150000"/>
              </a:lnSpc>
              <a:spcBef>
                <a:spcPts val="0"/>
              </a:spcBef>
              <a:spcAft>
                <a:spcPts val="0"/>
              </a:spcAft>
              <a:buNone/>
            </a:pPr>
            <a:r>
              <a:rPr lang="en-US" sz="2600">
                <a:solidFill>
                  <a:schemeClr val="dk2"/>
                </a:solidFill>
                <a:latin typeface="Montserrat"/>
                <a:ea typeface="Montserrat"/>
                <a:cs typeface="Montserrat"/>
                <a:sym typeface="Montserrat"/>
              </a:rPr>
              <a:t>Broadband operation of PER &gt; 20 dB</a:t>
            </a:r>
            <a:endParaRPr/>
          </a:p>
        </p:txBody>
      </p:sp>
      <p:sp>
        <p:nvSpPr>
          <p:cNvPr id="420" name="Google Shape;420;p8"/>
          <p:cNvSpPr txBox="1"/>
          <p:nvPr/>
        </p:nvSpPr>
        <p:spPr>
          <a:xfrm>
            <a:off x="15103916" y="5668169"/>
            <a:ext cx="877426"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0">
                <a:solidFill>
                  <a:srgbClr val="000000"/>
                </a:solidFill>
                <a:latin typeface="Arial"/>
                <a:ea typeface="Arial"/>
                <a:cs typeface="Arial"/>
                <a:sym typeface="Arial"/>
              </a:rPr>
              <a:t>+</a:t>
            </a:r>
            <a:endParaRPr b="1" sz="10000">
              <a:solidFill>
                <a:srgbClr val="000000"/>
              </a:solidFill>
              <a:latin typeface="Arial"/>
              <a:ea typeface="Arial"/>
              <a:cs typeface="Arial"/>
              <a:sym typeface="Arial"/>
            </a:endParaRPr>
          </a:p>
        </p:txBody>
      </p:sp>
      <p:sp>
        <p:nvSpPr>
          <p:cNvPr id="421" name="Google Shape;421;p8"/>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422" name="Google Shape;422;p8"/>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Introduction</a:t>
            </a:r>
            <a:endParaRPr/>
          </a:p>
        </p:txBody>
      </p:sp>
      <p:sp>
        <p:nvSpPr>
          <p:cNvPr id="423" name="Google Shape;423;p8"/>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424" name="Google Shape;424;p8"/>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425" name="Google Shape;425;p8"/>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426" name="Google Shape;426;p8"/>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427" name="Google Shape;427;p8"/>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9"/>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The most commonly used PBS design</a:t>
            </a:r>
            <a:endParaRPr b="1" sz="5400">
              <a:solidFill>
                <a:schemeClr val="dk2"/>
              </a:solidFill>
              <a:latin typeface="Montserrat"/>
              <a:ea typeface="Montserrat"/>
              <a:cs typeface="Montserrat"/>
              <a:sym typeface="Montserrat"/>
            </a:endParaRPr>
          </a:p>
        </p:txBody>
      </p:sp>
      <p:sp>
        <p:nvSpPr>
          <p:cNvPr id="433" name="Google Shape;433;p9"/>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434" name="Google Shape;434;p9"/>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5" name="Google Shape;435;p9"/>
          <p:cNvSpPr/>
          <p:nvPr/>
        </p:nvSpPr>
        <p:spPr>
          <a:xfrm>
            <a:off x="5019482" y="7371121"/>
            <a:ext cx="14338685" cy="1155383"/>
          </a:xfrm>
          <a:prstGeom prst="leftRightArrow">
            <a:avLst>
              <a:gd fmla="val 50000" name="adj1"/>
              <a:gd fmla="val 50000" name="adj2"/>
            </a:avLst>
          </a:prstGeom>
          <a:gradFill>
            <a:gsLst>
              <a:gs pos="0">
                <a:srgbClr val="E1E1E1"/>
              </a:gs>
              <a:gs pos="40000">
                <a:srgbClr val="A7A7A7"/>
              </a:gs>
              <a:gs pos="100000">
                <a:srgbClr val="51515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436" name="Google Shape;436;p9"/>
          <p:cNvSpPr/>
          <p:nvPr/>
        </p:nvSpPr>
        <p:spPr>
          <a:xfrm>
            <a:off x="3615119" y="3962321"/>
            <a:ext cx="3803218" cy="2562403"/>
          </a:xfrm>
          <a:custGeom>
            <a:rect b="b" l="l" r="r" t="t"/>
            <a:pathLst>
              <a:path extrusionOk="0" h="4603389" w="7501016">
                <a:moveTo>
                  <a:pt x="169613" y="0"/>
                </a:moveTo>
                <a:lnTo>
                  <a:pt x="3901039" y="0"/>
                </a:lnTo>
                <a:lnTo>
                  <a:pt x="3901040" y="0"/>
                </a:lnTo>
                <a:lnTo>
                  <a:pt x="7331403" y="0"/>
                </a:lnTo>
                <a:cubicBezTo>
                  <a:pt x="7425077" y="0"/>
                  <a:pt x="7501016" y="32330"/>
                  <a:pt x="7501016" y="72210"/>
                </a:cubicBezTo>
                <a:lnTo>
                  <a:pt x="7501016" y="78309"/>
                </a:lnTo>
                <a:lnTo>
                  <a:pt x="7501016" y="135542"/>
                </a:lnTo>
                <a:lnTo>
                  <a:pt x="7501016" y="139836"/>
                </a:lnTo>
                <a:lnTo>
                  <a:pt x="7501016" y="140631"/>
                </a:lnTo>
                <a:lnTo>
                  <a:pt x="7501016" y="240616"/>
                </a:lnTo>
                <a:lnTo>
                  <a:pt x="7501016" y="335217"/>
                </a:lnTo>
                <a:lnTo>
                  <a:pt x="7501016" y="382700"/>
                </a:lnTo>
                <a:lnTo>
                  <a:pt x="7501016" y="1681293"/>
                </a:lnTo>
                <a:lnTo>
                  <a:pt x="7501016" y="3790407"/>
                </a:lnTo>
                <a:lnTo>
                  <a:pt x="7501016" y="4285030"/>
                </a:lnTo>
                <a:lnTo>
                  <a:pt x="7501016" y="4440789"/>
                </a:lnTo>
                <a:cubicBezTo>
                  <a:pt x="7501016" y="4530590"/>
                  <a:pt x="7425077" y="4603389"/>
                  <a:pt x="7331403" y="4603389"/>
                </a:cubicBezTo>
                <a:lnTo>
                  <a:pt x="3901039" y="4603389"/>
                </a:lnTo>
                <a:lnTo>
                  <a:pt x="3599978" y="4603389"/>
                </a:lnTo>
                <a:lnTo>
                  <a:pt x="169613" y="4603389"/>
                </a:lnTo>
                <a:cubicBezTo>
                  <a:pt x="75939" y="4603389"/>
                  <a:pt x="0" y="4530590"/>
                  <a:pt x="0" y="4440789"/>
                </a:cubicBezTo>
                <a:lnTo>
                  <a:pt x="0" y="4285030"/>
                </a:lnTo>
                <a:lnTo>
                  <a:pt x="0" y="3790407"/>
                </a:lnTo>
                <a:lnTo>
                  <a:pt x="0" y="1681293"/>
                </a:lnTo>
                <a:lnTo>
                  <a:pt x="0" y="382700"/>
                </a:lnTo>
                <a:lnTo>
                  <a:pt x="0" y="335217"/>
                </a:lnTo>
                <a:lnTo>
                  <a:pt x="0" y="240616"/>
                </a:lnTo>
                <a:lnTo>
                  <a:pt x="0" y="140631"/>
                </a:lnTo>
                <a:lnTo>
                  <a:pt x="0" y="139836"/>
                </a:lnTo>
                <a:lnTo>
                  <a:pt x="0" y="135542"/>
                </a:lnTo>
                <a:lnTo>
                  <a:pt x="0" y="78309"/>
                </a:lnTo>
                <a:lnTo>
                  <a:pt x="0" y="72210"/>
                </a:lnTo>
                <a:cubicBezTo>
                  <a:pt x="0" y="32330"/>
                  <a:pt x="75939" y="0"/>
                  <a:pt x="169613" y="0"/>
                </a:cubicBezTo>
                <a:close/>
              </a:path>
            </a:pathLst>
          </a:custGeom>
          <a:solidFill>
            <a:schemeClr val="lt1"/>
          </a:solidFill>
          <a:ln>
            <a:noFill/>
          </a:ln>
          <a:effectLst>
            <a:outerShdw blurRad="50800" rotWithShape="0" algn="t" dir="5400000" dist="38100">
              <a:srgbClr val="000000">
                <a:alpha val="40000"/>
              </a:srgbClr>
            </a:outerShdw>
            <a:reflection blurRad="0" dir="0" dist="0" endA="0" endPos="17000" kx="0" rotWithShape="0" algn="bl" stA="23000" stPos="0" sy="-100000" ky="0"/>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37" name="Google Shape;437;p9"/>
          <p:cNvSpPr/>
          <p:nvPr/>
        </p:nvSpPr>
        <p:spPr>
          <a:xfrm>
            <a:off x="3615119" y="3873746"/>
            <a:ext cx="1501734" cy="88576"/>
          </a:xfrm>
          <a:custGeom>
            <a:rect b="b" l="l" r="r" t="t"/>
            <a:pathLst>
              <a:path extrusionOk="0" h="240616" w="2760006">
                <a:moveTo>
                  <a:pt x="120002" y="0"/>
                </a:moveTo>
                <a:lnTo>
                  <a:pt x="2759998" y="0"/>
                </a:lnTo>
                <a:lnTo>
                  <a:pt x="2760006" y="1"/>
                </a:lnTo>
                <a:lnTo>
                  <a:pt x="957673" y="1"/>
                </a:lnTo>
                <a:lnTo>
                  <a:pt x="957673" y="240616"/>
                </a:lnTo>
                <a:lnTo>
                  <a:pt x="0" y="240616"/>
                </a:lnTo>
                <a:lnTo>
                  <a:pt x="0" y="140631"/>
                </a:lnTo>
                <a:lnTo>
                  <a:pt x="0" y="135542"/>
                </a:lnTo>
                <a:lnTo>
                  <a:pt x="0" y="72210"/>
                </a:lnTo>
                <a:cubicBezTo>
                  <a:pt x="0" y="32330"/>
                  <a:pt x="53727" y="0"/>
                  <a:pt x="120002" y="0"/>
                </a:cubicBezTo>
                <a:close/>
              </a:path>
            </a:pathLst>
          </a:cu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38" name="Google Shape;438;p9"/>
          <p:cNvSpPr/>
          <p:nvPr/>
        </p:nvSpPr>
        <p:spPr>
          <a:xfrm>
            <a:off x="4109417" y="3873500"/>
            <a:ext cx="2555934" cy="88822"/>
          </a:xfrm>
          <a:prstGeom prst="rect">
            <a:avLst/>
          </a:pr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39" name="Google Shape;439;p9"/>
          <p:cNvSpPr/>
          <p:nvPr/>
        </p:nvSpPr>
        <p:spPr>
          <a:xfrm>
            <a:off x="6372389" y="3873499"/>
            <a:ext cx="1045948" cy="88823"/>
          </a:xfrm>
          <a:custGeom>
            <a:rect b="b" l="l" r="r" t="t"/>
            <a:pathLst>
              <a:path extrusionOk="0" h="240615" w="1922327">
                <a:moveTo>
                  <a:pt x="0" y="0"/>
                </a:moveTo>
                <a:lnTo>
                  <a:pt x="1802333" y="0"/>
                </a:lnTo>
                <a:lnTo>
                  <a:pt x="1849035" y="5674"/>
                </a:lnTo>
                <a:cubicBezTo>
                  <a:pt x="1892106" y="16636"/>
                  <a:pt x="1922327" y="42299"/>
                  <a:pt x="1922327" y="72209"/>
                </a:cubicBezTo>
                <a:lnTo>
                  <a:pt x="1922327" y="135541"/>
                </a:lnTo>
                <a:lnTo>
                  <a:pt x="1922327" y="140630"/>
                </a:lnTo>
                <a:lnTo>
                  <a:pt x="1922327" y="240615"/>
                </a:lnTo>
                <a:lnTo>
                  <a:pt x="0" y="240615"/>
                </a:lnTo>
                <a:lnTo>
                  <a:pt x="0" y="0"/>
                </a:lnTo>
                <a:close/>
              </a:path>
            </a:pathLst>
          </a:cu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40" name="Google Shape;440;p9"/>
          <p:cNvSpPr txBox="1"/>
          <p:nvPr/>
        </p:nvSpPr>
        <p:spPr>
          <a:xfrm>
            <a:off x="4109416" y="3926515"/>
            <a:ext cx="2777363" cy="58907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400">
                <a:solidFill>
                  <a:schemeClr val="dk2"/>
                </a:solidFill>
                <a:latin typeface="Montserrat"/>
                <a:ea typeface="Montserrat"/>
                <a:cs typeface="Montserrat"/>
                <a:sym typeface="Montserrat"/>
              </a:rPr>
              <a:t>DC</a:t>
            </a:r>
            <a:endParaRPr sz="2400">
              <a:solidFill>
                <a:schemeClr val="dk2"/>
              </a:solidFill>
              <a:latin typeface="Montserrat"/>
              <a:ea typeface="Montserrat"/>
              <a:cs typeface="Montserrat"/>
              <a:sym typeface="Montserrat"/>
            </a:endParaRPr>
          </a:p>
        </p:txBody>
      </p:sp>
      <p:pic>
        <p:nvPicPr>
          <p:cNvPr descr="OSA Image" id="441" name="Google Shape;441;p9"/>
          <p:cNvPicPr preferRelativeResize="0"/>
          <p:nvPr/>
        </p:nvPicPr>
        <p:blipFill rotWithShape="1">
          <a:blip r:embed="rId3">
            <a:alphaModFix/>
          </a:blip>
          <a:srcRect b="0" l="0" r="0" t="0"/>
          <a:stretch/>
        </p:blipFill>
        <p:spPr>
          <a:xfrm>
            <a:off x="4037265" y="4629777"/>
            <a:ext cx="2921666" cy="1475649"/>
          </a:xfrm>
          <a:prstGeom prst="rect">
            <a:avLst/>
          </a:prstGeom>
          <a:noFill/>
          <a:ln>
            <a:noFill/>
          </a:ln>
        </p:spPr>
      </p:pic>
      <p:sp>
        <p:nvSpPr>
          <p:cNvPr id="442" name="Google Shape;442;p9"/>
          <p:cNvSpPr txBox="1"/>
          <p:nvPr/>
        </p:nvSpPr>
        <p:spPr>
          <a:xfrm>
            <a:off x="4529172" y="8980675"/>
            <a:ext cx="3553528" cy="243092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The smallest footprint</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High ER for the TE mode</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Limited PER bandwidths</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Fabrication tolerant </a:t>
            </a:r>
            <a:endParaRPr/>
          </a:p>
        </p:txBody>
      </p:sp>
      <p:pic>
        <p:nvPicPr>
          <p:cNvPr id="443" name="Google Shape;443;p9"/>
          <p:cNvPicPr preferRelativeResize="0"/>
          <p:nvPr/>
        </p:nvPicPr>
        <p:blipFill rotWithShape="1">
          <a:blip r:embed="rId4">
            <a:alphaModFix/>
          </a:blip>
          <a:srcRect b="0" l="0" r="0" t="0"/>
          <a:stretch/>
        </p:blipFill>
        <p:spPr>
          <a:xfrm>
            <a:off x="3762154" y="10343312"/>
            <a:ext cx="445584" cy="445584"/>
          </a:xfrm>
          <a:prstGeom prst="rect">
            <a:avLst/>
          </a:prstGeom>
          <a:noFill/>
          <a:ln>
            <a:noFill/>
          </a:ln>
        </p:spPr>
      </p:pic>
      <p:pic>
        <p:nvPicPr>
          <p:cNvPr id="444" name="Google Shape;444;p9"/>
          <p:cNvPicPr preferRelativeResize="0"/>
          <p:nvPr/>
        </p:nvPicPr>
        <p:blipFill rotWithShape="1">
          <a:blip r:embed="rId5">
            <a:alphaModFix/>
          </a:blip>
          <a:srcRect b="0" l="0" r="0" t="0"/>
          <a:stretch/>
        </p:blipFill>
        <p:spPr>
          <a:xfrm>
            <a:off x="3764821" y="9148408"/>
            <a:ext cx="445584" cy="445584"/>
          </a:xfrm>
          <a:prstGeom prst="rect">
            <a:avLst/>
          </a:prstGeom>
          <a:noFill/>
          <a:ln>
            <a:noFill/>
          </a:ln>
        </p:spPr>
      </p:pic>
      <p:pic>
        <p:nvPicPr>
          <p:cNvPr id="445" name="Google Shape;445;p9"/>
          <p:cNvPicPr preferRelativeResize="0"/>
          <p:nvPr/>
        </p:nvPicPr>
        <p:blipFill rotWithShape="1">
          <a:blip r:embed="rId5">
            <a:alphaModFix/>
          </a:blip>
          <a:srcRect b="0" l="0" r="0" t="0"/>
          <a:stretch/>
        </p:blipFill>
        <p:spPr>
          <a:xfrm>
            <a:off x="3762154" y="10939600"/>
            <a:ext cx="445584" cy="445584"/>
          </a:xfrm>
          <a:prstGeom prst="rect">
            <a:avLst/>
          </a:prstGeom>
          <a:noFill/>
          <a:ln>
            <a:noFill/>
          </a:ln>
        </p:spPr>
      </p:pic>
      <p:pic>
        <p:nvPicPr>
          <p:cNvPr id="446" name="Google Shape;446;p9"/>
          <p:cNvPicPr preferRelativeResize="0"/>
          <p:nvPr/>
        </p:nvPicPr>
        <p:blipFill rotWithShape="1">
          <a:blip r:embed="rId5">
            <a:alphaModFix/>
          </a:blip>
          <a:srcRect b="0" l="0" r="0" t="0"/>
          <a:stretch/>
        </p:blipFill>
        <p:spPr>
          <a:xfrm>
            <a:off x="3762154" y="9744696"/>
            <a:ext cx="445584" cy="445584"/>
          </a:xfrm>
          <a:prstGeom prst="rect">
            <a:avLst/>
          </a:prstGeom>
          <a:noFill/>
          <a:ln>
            <a:noFill/>
          </a:ln>
        </p:spPr>
      </p:pic>
      <p:sp>
        <p:nvSpPr>
          <p:cNvPr id="447" name="Google Shape;447;p9"/>
          <p:cNvSpPr/>
          <p:nvPr/>
        </p:nvSpPr>
        <p:spPr>
          <a:xfrm>
            <a:off x="17125694" y="3962321"/>
            <a:ext cx="3803218" cy="2562403"/>
          </a:xfrm>
          <a:custGeom>
            <a:rect b="b" l="l" r="r" t="t"/>
            <a:pathLst>
              <a:path extrusionOk="0" h="4603389" w="7501016">
                <a:moveTo>
                  <a:pt x="169613" y="0"/>
                </a:moveTo>
                <a:lnTo>
                  <a:pt x="3901039" y="0"/>
                </a:lnTo>
                <a:lnTo>
                  <a:pt x="3901040" y="0"/>
                </a:lnTo>
                <a:lnTo>
                  <a:pt x="7331403" y="0"/>
                </a:lnTo>
                <a:cubicBezTo>
                  <a:pt x="7425077" y="0"/>
                  <a:pt x="7501016" y="32330"/>
                  <a:pt x="7501016" y="72210"/>
                </a:cubicBezTo>
                <a:lnTo>
                  <a:pt x="7501016" y="78309"/>
                </a:lnTo>
                <a:lnTo>
                  <a:pt x="7501016" y="135542"/>
                </a:lnTo>
                <a:lnTo>
                  <a:pt x="7501016" y="139836"/>
                </a:lnTo>
                <a:lnTo>
                  <a:pt x="7501016" y="140631"/>
                </a:lnTo>
                <a:lnTo>
                  <a:pt x="7501016" y="240616"/>
                </a:lnTo>
                <a:lnTo>
                  <a:pt x="7501016" y="335217"/>
                </a:lnTo>
                <a:lnTo>
                  <a:pt x="7501016" y="382700"/>
                </a:lnTo>
                <a:lnTo>
                  <a:pt x="7501016" y="1681293"/>
                </a:lnTo>
                <a:lnTo>
                  <a:pt x="7501016" y="3790407"/>
                </a:lnTo>
                <a:lnTo>
                  <a:pt x="7501016" y="4285030"/>
                </a:lnTo>
                <a:lnTo>
                  <a:pt x="7501016" y="4440789"/>
                </a:lnTo>
                <a:cubicBezTo>
                  <a:pt x="7501016" y="4530590"/>
                  <a:pt x="7425077" y="4603389"/>
                  <a:pt x="7331403" y="4603389"/>
                </a:cubicBezTo>
                <a:lnTo>
                  <a:pt x="3901039" y="4603389"/>
                </a:lnTo>
                <a:lnTo>
                  <a:pt x="3599978" y="4603389"/>
                </a:lnTo>
                <a:lnTo>
                  <a:pt x="169613" y="4603389"/>
                </a:lnTo>
                <a:cubicBezTo>
                  <a:pt x="75939" y="4603389"/>
                  <a:pt x="0" y="4530590"/>
                  <a:pt x="0" y="4440789"/>
                </a:cubicBezTo>
                <a:lnTo>
                  <a:pt x="0" y="4285030"/>
                </a:lnTo>
                <a:lnTo>
                  <a:pt x="0" y="3790407"/>
                </a:lnTo>
                <a:lnTo>
                  <a:pt x="0" y="1681293"/>
                </a:lnTo>
                <a:lnTo>
                  <a:pt x="0" y="382700"/>
                </a:lnTo>
                <a:lnTo>
                  <a:pt x="0" y="335217"/>
                </a:lnTo>
                <a:lnTo>
                  <a:pt x="0" y="240616"/>
                </a:lnTo>
                <a:lnTo>
                  <a:pt x="0" y="140631"/>
                </a:lnTo>
                <a:lnTo>
                  <a:pt x="0" y="139836"/>
                </a:lnTo>
                <a:lnTo>
                  <a:pt x="0" y="135542"/>
                </a:lnTo>
                <a:lnTo>
                  <a:pt x="0" y="78309"/>
                </a:lnTo>
                <a:lnTo>
                  <a:pt x="0" y="72210"/>
                </a:lnTo>
                <a:cubicBezTo>
                  <a:pt x="0" y="32330"/>
                  <a:pt x="75939" y="0"/>
                  <a:pt x="169613" y="0"/>
                </a:cubicBezTo>
                <a:close/>
              </a:path>
            </a:pathLst>
          </a:custGeom>
          <a:solidFill>
            <a:schemeClr val="lt1"/>
          </a:solidFill>
          <a:ln>
            <a:noFill/>
          </a:ln>
          <a:effectLst>
            <a:outerShdw blurRad="50800" rotWithShape="0" algn="t" dir="5400000" dist="38100">
              <a:srgbClr val="000000">
                <a:alpha val="40000"/>
              </a:srgbClr>
            </a:outerShdw>
            <a:reflection blurRad="0" dir="0" dist="0" endA="0" endPos="17000" kx="0" rotWithShape="0" algn="bl" stA="23000" stPos="0" sy="-100000" ky="0"/>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48" name="Google Shape;448;p9"/>
          <p:cNvSpPr/>
          <p:nvPr/>
        </p:nvSpPr>
        <p:spPr>
          <a:xfrm>
            <a:off x="17125694" y="3873746"/>
            <a:ext cx="1501734" cy="88576"/>
          </a:xfrm>
          <a:custGeom>
            <a:rect b="b" l="l" r="r" t="t"/>
            <a:pathLst>
              <a:path extrusionOk="0" h="240616" w="2760006">
                <a:moveTo>
                  <a:pt x="120002" y="0"/>
                </a:moveTo>
                <a:lnTo>
                  <a:pt x="2759998" y="0"/>
                </a:lnTo>
                <a:lnTo>
                  <a:pt x="2760006" y="1"/>
                </a:lnTo>
                <a:lnTo>
                  <a:pt x="957673" y="1"/>
                </a:lnTo>
                <a:lnTo>
                  <a:pt x="957673" y="240616"/>
                </a:lnTo>
                <a:lnTo>
                  <a:pt x="0" y="240616"/>
                </a:lnTo>
                <a:lnTo>
                  <a:pt x="0" y="140631"/>
                </a:lnTo>
                <a:lnTo>
                  <a:pt x="0" y="135542"/>
                </a:lnTo>
                <a:lnTo>
                  <a:pt x="0" y="72210"/>
                </a:lnTo>
                <a:cubicBezTo>
                  <a:pt x="0" y="32330"/>
                  <a:pt x="53727" y="0"/>
                  <a:pt x="120002" y="0"/>
                </a:cubicBezTo>
                <a:close/>
              </a:path>
            </a:pathLst>
          </a:cu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49" name="Google Shape;449;p9"/>
          <p:cNvSpPr/>
          <p:nvPr/>
        </p:nvSpPr>
        <p:spPr>
          <a:xfrm>
            <a:off x="17619992" y="3873500"/>
            <a:ext cx="2555934" cy="88822"/>
          </a:xfrm>
          <a:prstGeom prst="rect">
            <a:avLst/>
          </a:pr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50" name="Google Shape;450;p9"/>
          <p:cNvSpPr/>
          <p:nvPr/>
        </p:nvSpPr>
        <p:spPr>
          <a:xfrm>
            <a:off x="19882964" y="3873499"/>
            <a:ext cx="1045948" cy="88823"/>
          </a:xfrm>
          <a:custGeom>
            <a:rect b="b" l="l" r="r" t="t"/>
            <a:pathLst>
              <a:path extrusionOk="0" h="240615" w="1922327">
                <a:moveTo>
                  <a:pt x="0" y="0"/>
                </a:moveTo>
                <a:lnTo>
                  <a:pt x="1802333" y="0"/>
                </a:lnTo>
                <a:lnTo>
                  <a:pt x="1849035" y="5674"/>
                </a:lnTo>
                <a:cubicBezTo>
                  <a:pt x="1892106" y="16636"/>
                  <a:pt x="1922327" y="42299"/>
                  <a:pt x="1922327" y="72209"/>
                </a:cubicBezTo>
                <a:lnTo>
                  <a:pt x="1922327" y="135541"/>
                </a:lnTo>
                <a:lnTo>
                  <a:pt x="1922327" y="140630"/>
                </a:lnTo>
                <a:lnTo>
                  <a:pt x="1922327" y="240615"/>
                </a:lnTo>
                <a:lnTo>
                  <a:pt x="0" y="240615"/>
                </a:lnTo>
                <a:lnTo>
                  <a:pt x="0" y="0"/>
                </a:lnTo>
                <a:close/>
              </a:path>
            </a:pathLst>
          </a:cu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51" name="Google Shape;451;p9"/>
          <p:cNvSpPr txBox="1"/>
          <p:nvPr/>
        </p:nvSpPr>
        <p:spPr>
          <a:xfrm>
            <a:off x="17372842" y="3926515"/>
            <a:ext cx="3308921" cy="58907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400">
                <a:solidFill>
                  <a:schemeClr val="dk2"/>
                </a:solidFill>
                <a:latin typeface="Montserrat"/>
                <a:ea typeface="Montserrat"/>
                <a:cs typeface="Montserrat"/>
                <a:sym typeface="Montserrat"/>
              </a:rPr>
              <a:t>Adiabatic coupler</a:t>
            </a:r>
            <a:endParaRPr sz="2400">
              <a:solidFill>
                <a:schemeClr val="dk2"/>
              </a:solidFill>
              <a:latin typeface="Montserrat"/>
              <a:ea typeface="Montserrat"/>
              <a:cs typeface="Montserrat"/>
              <a:sym typeface="Montserrat"/>
            </a:endParaRPr>
          </a:p>
        </p:txBody>
      </p:sp>
      <p:pic>
        <p:nvPicPr>
          <p:cNvPr descr="OSA Image" id="452" name="Google Shape;452;p9"/>
          <p:cNvPicPr preferRelativeResize="0"/>
          <p:nvPr/>
        </p:nvPicPr>
        <p:blipFill rotWithShape="1">
          <a:blip r:embed="rId6">
            <a:alphaModFix/>
          </a:blip>
          <a:srcRect b="0" l="0" r="0" t="0"/>
          <a:stretch/>
        </p:blipFill>
        <p:spPr>
          <a:xfrm>
            <a:off x="17420676" y="4649636"/>
            <a:ext cx="3218860" cy="1652348"/>
          </a:xfrm>
          <a:prstGeom prst="rect">
            <a:avLst/>
          </a:prstGeom>
          <a:noFill/>
          <a:ln>
            <a:noFill/>
          </a:ln>
        </p:spPr>
      </p:pic>
      <p:sp>
        <p:nvSpPr>
          <p:cNvPr id="453" name="Google Shape;453;p9"/>
          <p:cNvSpPr/>
          <p:nvPr/>
        </p:nvSpPr>
        <p:spPr>
          <a:xfrm>
            <a:off x="10175607" y="3962321"/>
            <a:ext cx="4181718" cy="2562403"/>
          </a:xfrm>
          <a:custGeom>
            <a:rect b="b" l="l" r="r" t="t"/>
            <a:pathLst>
              <a:path extrusionOk="0" h="4603389" w="7501016">
                <a:moveTo>
                  <a:pt x="169613" y="0"/>
                </a:moveTo>
                <a:lnTo>
                  <a:pt x="3901039" y="0"/>
                </a:lnTo>
                <a:lnTo>
                  <a:pt x="3901040" y="0"/>
                </a:lnTo>
                <a:lnTo>
                  <a:pt x="7331403" y="0"/>
                </a:lnTo>
                <a:cubicBezTo>
                  <a:pt x="7425077" y="0"/>
                  <a:pt x="7501016" y="32330"/>
                  <a:pt x="7501016" y="72210"/>
                </a:cubicBezTo>
                <a:lnTo>
                  <a:pt x="7501016" y="78309"/>
                </a:lnTo>
                <a:lnTo>
                  <a:pt x="7501016" y="135542"/>
                </a:lnTo>
                <a:lnTo>
                  <a:pt x="7501016" y="139836"/>
                </a:lnTo>
                <a:lnTo>
                  <a:pt x="7501016" y="140631"/>
                </a:lnTo>
                <a:lnTo>
                  <a:pt x="7501016" y="240616"/>
                </a:lnTo>
                <a:lnTo>
                  <a:pt x="7501016" y="335217"/>
                </a:lnTo>
                <a:lnTo>
                  <a:pt x="7501016" y="382700"/>
                </a:lnTo>
                <a:lnTo>
                  <a:pt x="7501016" y="1681293"/>
                </a:lnTo>
                <a:lnTo>
                  <a:pt x="7501016" y="3790407"/>
                </a:lnTo>
                <a:lnTo>
                  <a:pt x="7501016" y="4285030"/>
                </a:lnTo>
                <a:lnTo>
                  <a:pt x="7501016" y="4440789"/>
                </a:lnTo>
                <a:cubicBezTo>
                  <a:pt x="7501016" y="4530590"/>
                  <a:pt x="7425077" y="4603389"/>
                  <a:pt x="7331403" y="4603389"/>
                </a:cubicBezTo>
                <a:lnTo>
                  <a:pt x="3901039" y="4603389"/>
                </a:lnTo>
                <a:lnTo>
                  <a:pt x="3599978" y="4603389"/>
                </a:lnTo>
                <a:lnTo>
                  <a:pt x="169613" y="4603389"/>
                </a:lnTo>
                <a:cubicBezTo>
                  <a:pt x="75939" y="4603389"/>
                  <a:pt x="0" y="4530590"/>
                  <a:pt x="0" y="4440789"/>
                </a:cubicBezTo>
                <a:lnTo>
                  <a:pt x="0" y="4285030"/>
                </a:lnTo>
                <a:lnTo>
                  <a:pt x="0" y="3790407"/>
                </a:lnTo>
                <a:lnTo>
                  <a:pt x="0" y="1681293"/>
                </a:lnTo>
                <a:lnTo>
                  <a:pt x="0" y="382700"/>
                </a:lnTo>
                <a:lnTo>
                  <a:pt x="0" y="335217"/>
                </a:lnTo>
                <a:lnTo>
                  <a:pt x="0" y="240616"/>
                </a:lnTo>
                <a:lnTo>
                  <a:pt x="0" y="140631"/>
                </a:lnTo>
                <a:lnTo>
                  <a:pt x="0" y="139836"/>
                </a:lnTo>
                <a:lnTo>
                  <a:pt x="0" y="135542"/>
                </a:lnTo>
                <a:lnTo>
                  <a:pt x="0" y="78309"/>
                </a:lnTo>
                <a:lnTo>
                  <a:pt x="0" y="72210"/>
                </a:lnTo>
                <a:cubicBezTo>
                  <a:pt x="0" y="32330"/>
                  <a:pt x="75939" y="0"/>
                  <a:pt x="169613" y="0"/>
                </a:cubicBezTo>
                <a:close/>
              </a:path>
            </a:pathLst>
          </a:custGeom>
          <a:solidFill>
            <a:schemeClr val="lt1"/>
          </a:solidFill>
          <a:ln>
            <a:noFill/>
          </a:ln>
          <a:effectLst>
            <a:outerShdw blurRad="50800" rotWithShape="0" algn="t" dir="5400000" dist="38100">
              <a:srgbClr val="000000">
                <a:alpha val="40000"/>
              </a:srgbClr>
            </a:outerShdw>
            <a:reflection blurRad="0" dir="0" dist="0" endA="0" endPos="17000" kx="0" rotWithShape="0" algn="bl" stA="23000" stPos="0" sy="-100000" ky="0"/>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54" name="Google Shape;454;p9"/>
          <p:cNvSpPr/>
          <p:nvPr/>
        </p:nvSpPr>
        <p:spPr>
          <a:xfrm>
            <a:off x="10175607" y="3873746"/>
            <a:ext cx="1501734" cy="88576"/>
          </a:xfrm>
          <a:custGeom>
            <a:rect b="b" l="l" r="r" t="t"/>
            <a:pathLst>
              <a:path extrusionOk="0" h="240616" w="2760006">
                <a:moveTo>
                  <a:pt x="120002" y="0"/>
                </a:moveTo>
                <a:lnTo>
                  <a:pt x="2759998" y="0"/>
                </a:lnTo>
                <a:lnTo>
                  <a:pt x="2760006" y="1"/>
                </a:lnTo>
                <a:lnTo>
                  <a:pt x="957673" y="1"/>
                </a:lnTo>
                <a:lnTo>
                  <a:pt x="957673" y="240616"/>
                </a:lnTo>
                <a:lnTo>
                  <a:pt x="0" y="240616"/>
                </a:lnTo>
                <a:lnTo>
                  <a:pt x="0" y="140631"/>
                </a:lnTo>
                <a:lnTo>
                  <a:pt x="0" y="135542"/>
                </a:lnTo>
                <a:lnTo>
                  <a:pt x="0" y="72210"/>
                </a:lnTo>
                <a:cubicBezTo>
                  <a:pt x="0" y="32330"/>
                  <a:pt x="53727" y="0"/>
                  <a:pt x="120002" y="0"/>
                </a:cubicBezTo>
                <a:close/>
              </a:path>
            </a:pathLst>
          </a:cu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55" name="Google Shape;455;p9"/>
          <p:cNvSpPr/>
          <p:nvPr/>
        </p:nvSpPr>
        <p:spPr>
          <a:xfrm>
            <a:off x="10669904" y="3873500"/>
            <a:ext cx="2789737" cy="88822"/>
          </a:xfrm>
          <a:prstGeom prst="rect">
            <a:avLst/>
          </a:pr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56" name="Google Shape;456;p9"/>
          <p:cNvSpPr/>
          <p:nvPr/>
        </p:nvSpPr>
        <p:spPr>
          <a:xfrm>
            <a:off x="13311377" y="3873499"/>
            <a:ext cx="1045948" cy="88823"/>
          </a:xfrm>
          <a:custGeom>
            <a:rect b="b" l="l" r="r" t="t"/>
            <a:pathLst>
              <a:path extrusionOk="0" h="240615" w="1922327">
                <a:moveTo>
                  <a:pt x="0" y="0"/>
                </a:moveTo>
                <a:lnTo>
                  <a:pt x="1802333" y="0"/>
                </a:lnTo>
                <a:lnTo>
                  <a:pt x="1849035" y="5674"/>
                </a:lnTo>
                <a:cubicBezTo>
                  <a:pt x="1892106" y="16636"/>
                  <a:pt x="1922327" y="42299"/>
                  <a:pt x="1922327" y="72209"/>
                </a:cubicBezTo>
                <a:lnTo>
                  <a:pt x="1922327" y="135541"/>
                </a:lnTo>
                <a:lnTo>
                  <a:pt x="1922327" y="140630"/>
                </a:lnTo>
                <a:lnTo>
                  <a:pt x="1922327" y="240615"/>
                </a:lnTo>
                <a:lnTo>
                  <a:pt x="0" y="240615"/>
                </a:lnTo>
                <a:lnTo>
                  <a:pt x="0" y="0"/>
                </a:lnTo>
                <a:close/>
              </a:path>
            </a:pathLst>
          </a:cu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57" name="Google Shape;457;p9"/>
          <p:cNvSpPr txBox="1"/>
          <p:nvPr/>
        </p:nvSpPr>
        <p:spPr>
          <a:xfrm>
            <a:off x="10341965" y="3926515"/>
            <a:ext cx="3851052" cy="58907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400">
                <a:solidFill>
                  <a:schemeClr val="dk2"/>
                </a:solidFill>
                <a:latin typeface="Montserrat"/>
                <a:ea typeface="Montserrat"/>
                <a:cs typeface="Montserrat"/>
                <a:sym typeface="Montserrat"/>
              </a:rPr>
              <a:t>The proposed design</a:t>
            </a:r>
            <a:endParaRPr sz="2400">
              <a:solidFill>
                <a:schemeClr val="dk2"/>
              </a:solidFill>
              <a:latin typeface="Montserrat"/>
              <a:ea typeface="Montserrat"/>
              <a:cs typeface="Montserrat"/>
              <a:sym typeface="Montserrat"/>
            </a:endParaRPr>
          </a:p>
        </p:txBody>
      </p:sp>
      <p:cxnSp>
        <p:nvCxnSpPr>
          <p:cNvPr id="458" name="Google Shape;458;p9"/>
          <p:cNvCxnSpPr/>
          <p:nvPr/>
        </p:nvCxnSpPr>
        <p:spPr>
          <a:xfrm>
            <a:off x="6372389" y="6524724"/>
            <a:ext cx="0" cy="1136985"/>
          </a:xfrm>
          <a:prstGeom prst="straightConnector1">
            <a:avLst/>
          </a:prstGeom>
          <a:noFill/>
          <a:ln cap="flat" cmpd="sng" w="38100">
            <a:solidFill>
              <a:srgbClr val="A5A5A5"/>
            </a:solidFill>
            <a:prstDash val="solid"/>
            <a:miter lim="800000"/>
            <a:headEnd len="sm" w="sm" type="none"/>
            <a:tailEnd len="sm" w="sm" type="none"/>
          </a:ln>
        </p:spPr>
      </p:cxnSp>
      <p:cxnSp>
        <p:nvCxnSpPr>
          <p:cNvPr id="459" name="Google Shape;459;p9"/>
          <p:cNvCxnSpPr/>
          <p:nvPr/>
        </p:nvCxnSpPr>
        <p:spPr>
          <a:xfrm>
            <a:off x="12323156" y="6524724"/>
            <a:ext cx="0" cy="1136985"/>
          </a:xfrm>
          <a:prstGeom prst="straightConnector1">
            <a:avLst/>
          </a:prstGeom>
          <a:noFill/>
          <a:ln cap="flat" cmpd="sng" w="38100">
            <a:solidFill>
              <a:srgbClr val="A5A5A5"/>
            </a:solidFill>
            <a:prstDash val="solid"/>
            <a:miter lim="800000"/>
            <a:headEnd len="sm" w="sm" type="none"/>
            <a:tailEnd len="sm" w="sm" type="none"/>
          </a:ln>
        </p:spPr>
      </p:cxnSp>
      <p:pic>
        <p:nvPicPr>
          <p:cNvPr id="460" name="Google Shape;460;p9"/>
          <p:cNvPicPr preferRelativeResize="0"/>
          <p:nvPr/>
        </p:nvPicPr>
        <p:blipFill rotWithShape="1">
          <a:blip r:embed="rId7">
            <a:alphaModFix/>
          </a:blip>
          <a:srcRect b="0" l="0" r="0" t="0"/>
          <a:stretch/>
        </p:blipFill>
        <p:spPr>
          <a:xfrm>
            <a:off x="11397121" y="4657271"/>
            <a:ext cx="1738689" cy="1725768"/>
          </a:xfrm>
          <a:prstGeom prst="rect">
            <a:avLst/>
          </a:prstGeom>
          <a:noFill/>
          <a:ln>
            <a:noFill/>
          </a:ln>
        </p:spPr>
      </p:pic>
      <p:cxnSp>
        <p:nvCxnSpPr>
          <p:cNvPr id="461" name="Google Shape;461;p9"/>
          <p:cNvCxnSpPr/>
          <p:nvPr/>
        </p:nvCxnSpPr>
        <p:spPr>
          <a:xfrm>
            <a:off x="18255980" y="6524724"/>
            <a:ext cx="0" cy="1136985"/>
          </a:xfrm>
          <a:prstGeom prst="straightConnector1">
            <a:avLst/>
          </a:prstGeom>
          <a:noFill/>
          <a:ln cap="flat" cmpd="sng" w="38100">
            <a:solidFill>
              <a:srgbClr val="A5A5A5"/>
            </a:solidFill>
            <a:prstDash val="solid"/>
            <a:miter lim="800000"/>
            <a:headEnd len="sm" w="sm" type="none"/>
            <a:tailEnd len="sm" w="sm" type="none"/>
          </a:ln>
        </p:spPr>
      </p:cxnSp>
      <p:sp>
        <p:nvSpPr>
          <p:cNvPr id="462" name="Google Shape;462;p9"/>
          <p:cNvSpPr txBox="1"/>
          <p:nvPr/>
        </p:nvSpPr>
        <p:spPr>
          <a:xfrm>
            <a:off x="10484608" y="8980675"/>
            <a:ext cx="4736460" cy="243092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A moderate device length</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Broadband operation of high PER</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Fabrication tolerant </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Limited transmission bandwidths </a:t>
            </a:r>
            <a:endParaRPr/>
          </a:p>
        </p:txBody>
      </p:sp>
      <p:pic>
        <p:nvPicPr>
          <p:cNvPr id="463" name="Google Shape;463;p9"/>
          <p:cNvPicPr preferRelativeResize="0"/>
          <p:nvPr/>
        </p:nvPicPr>
        <p:blipFill rotWithShape="1">
          <a:blip r:embed="rId5">
            <a:alphaModFix/>
          </a:blip>
          <a:srcRect b="0" l="0" r="0" t="0"/>
          <a:stretch/>
        </p:blipFill>
        <p:spPr>
          <a:xfrm>
            <a:off x="9720258" y="9148408"/>
            <a:ext cx="445584" cy="445584"/>
          </a:xfrm>
          <a:prstGeom prst="rect">
            <a:avLst/>
          </a:prstGeom>
          <a:noFill/>
          <a:ln>
            <a:noFill/>
          </a:ln>
        </p:spPr>
      </p:pic>
      <p:pic>
        <p:nvPicPr>
          <p:cNvPr id="464" name="Google Shape;464;p9"/>
          <p:cNvPicPr preferRelativeResize="0"/>
          <p:nvPr/>
        </p:nvPicPr>
        <p:blipFill rotWithShape="1">
          <a:blip r:embed="rId5">
            <a:alphaModFix/>
          </a:blip>
          <a:srcRect b="0" l="0" r="0" t="0"/>
          <a:stretch/>
        </p:blipFill>
        <p:spPr>
          <a:xfrm>
            <a:off x="9717591" y="9744696"/>
            <a:ext cx="445584" cy="445584"/>
          </a:xfrm>
          <a:prstGeom prst="rect">
            <a:avLst/>
          </a:prstGeom>
          <a:noFill/>
          <a:ln>
            <a:noFill/>
          </a:ln>
        </p:spPr>
      </p:pic>
      <p:pic>
        <p:nvPicPr>
          <p:cNvPr id="465" name="Google Shape;465;p9"/>
          <p:cNvPicPr preferRelativeResize="0"/>
          <p:nvPr/>
        </p:nvPicPr>
        <p:blipFill rotWithShape="1">
          <a:blip r:embed="rId5">
            <a:alphaModFix/>
          </a:blip>
          <a:srcRect b="0" l="0" r="0" t="0"/>
          <a:stretch/>
        </p:blipFill>
        <p:spPr>
          <a:xfrm>
            <a:off x="16439412" y="9738840"/>
            <a:ext cx="445584" cy="445584"/>
          </a:xfrm>
          <a:prstGeom prst="rect">
            <a:avLst/>
          </a:prstGeom>
          <a:noFill/>
          <a:ln>
            <a:noFill/>
          </a:ln>
        </p:spPr>
      </p:pic>
      <p:sp>
        <p:nvSpPr>
          <p:cNvPr id="466" name="Google Shape;466;p9"/>
          <p:cNvSpPr txBox="1"/>
          <p:nvPr/>
        </p:nvSpPr>
        <p:spPr>
          <a:xfrm>
            <a:off x="17388142" y="8974819"/>
            <a:ext cx="4736460" cy="183075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The longest device length</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Broadband operation of high PER</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Fabrication tolerant </a:t>
            </a:r>
            <a:endParaRPr/>
          </a:p>
        </p:txBody>
      </p:sp>
      <p:pic>
        <p:nvPicPr>
          <p:cNvPr id="467" name="Google Shape;467;p9"/>
          <p:cNvPicPr preferRelativeResize="0"/>
          <p:nvPr/>
        </p:nvPicPr>
        <p:blipFill rotWithShape="1">
          <a:blip r:embed="rId4">
            <a:alphaModFix/>
          </a:blip>
          <a:srcRect b="0" l="0" r="0" t="0"/>
          <a:stretch/>
        </p:blipFill>
        <p:spPr>
          <a:xfrm>
            <a:off x="16439412" y="9136976"/>
            <a:ext cx="445584" cy="445584"/>
          </a:xfrm>
          <a:prstGeom prst="rect">
            <a:avLst/>
          </a:prstGeom>
          <a:noFill/>
          <a:ln>
            <a:noFill/>
          </a:ln>
        </p:spPr>
      </p:pic>
      <p:pic>
        <p:nvPicPr>
          <p:cNvPr id="468" name="Google Shape;468;p9"/>
          <p:cNvPicPr preferRelativeResize="0"/>
          <p:nvPr/>
        </p:nvPicPr>
        <p:blipFill rotWithShape="1">
          <a:blip r:embed="rId5">
            <a:alphaModFix/>
          </a:blip>
          <a:srcRect b="0" l="0" r="0" t="0"/>
          <a:stretch/>
        </p:blipFill>
        <p:spPr>
          <a:xfrm>
            <a:off x="16439412" y="10337984"/>
            <a:ext cx="445584" cy="445584"/>
          </a:xfrm>
          <a:prstGeom prst="rect">
            <a:avLst/>
          </a:prstGeom>
          <a:noFill/>
          <a:ln>
            <a:noFill/>
          </a:ln>
        </p:spPr>
      </p:pic>
      <p:pic>
        <p:nvPicPr>
          <p:cNvPr id="469" name="Google Shape;469;p9"/>
          <p:cNvPicPr preferRelativeResize="0"/>
          <p:nvPr/>
        </p:nvPicPr>
        <p:blipFill rotWithShape="1">
          <a:blip r:embed="rId5">
            <a:alphaModFix/>
          </a:blip>
          <a:srcRect b="0" l="0" r="0" t="0"/>
          <a:stretch/>
        </p:blipFill>
        <p:spPr>
          <a:xfrm>
            <a:off x="9717591" y="10337984"/>
            <a:ext cx="445584" cy="445584"/>
          </a:xfrm>
          <a:prstGeom prst="rect">
            <a:avLst/>
          </a:prstGeom>
          <a:noFill/>
          <a:ln>
            <a:noFill/>
          </a:ln>
        </p:spPr>
      </p:pic>
      <p:pic>
        <p:nvPicPr>
          <p:cNvPr id="470" name="Google Shape;470;p9"/>
          <p:cNvPicPr preferRelativeResize="0"/>
          <p:nvPr/>
        </p:nvPicPr>
        <p:blipFill rotWithShape="1">
          <a:blip r:embed="rId4">
            <a:alphaModFix/>
          </a:blip>
          <a:srcRect b="0" l="0" r="0" t="0"/>
          <a:stretch/>
        </p:blipFill>
        <p:spPr>
          <a:xfrm>
            <a:off x="9720258" y="10953836"/>
            <a:ext cx="445584" cy="445584"/>
          </a:xfrm>
          <a:prstGeom prst="rect">
            <a:avLst/>
          </a:prstGeom>
          <a:noFill/>
          <a:ln>
            <a:noFill/>
          </a:ln>
        </p:spPr>
      </p:pic>
      <p:sp>
        <p:nvSpPr>
          <p:cNvPr id="471" name="Google Shape;471;p9"/>
          <p:cNvSpPr/>
          <p:nvPr/>
        </p:nvSpPr>
        <p:spPr>
          <a:xfrm>
            <a:off x="9276534" y="3253226"/>
            <a:ext cx="5676680" cy="4408483"/>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472" name="Google Shape;472;p9"/>
          <p:cNvSpPr/>
          <p:nvPr/>
        </p:nvSpPr>
        <p:spPr>
          <a:xfrm>
            <a:off x="9428934" y="8625902"/>
            <a:ext cx="5792134" cy="3575563"/>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473" name="Google Shape;473;p9"/>
          <p:cNvSpPr txBox="1"/>
          <p:nvPr/>
        </p:nvSpPr>
        <p:spPr>
          <a:xfrm>
            <a:off x="900456" y="12998939"/>
            <a:ext cx="8053044"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Novel ultra-short and ultrabroadband polarization beam splitter based on a bent directionalcoupler. Optics express, 19(19):18614–18620, 2011.</a:t>
            </a:r>
            <a:endParaRPr sz="1000">
              <a:solidFill>
                <a:schemeClr val="dk2"/>
              </a:solidFill>
              <a:latin typeface="Montserrat"/>
              <a:ea typeface="Montserrat"/>
              <a:cs typeface="Montserrat"/>
              <a:sym typeface="Montserrat"/>
            </a:endParaRPr>
          </a:p>
        </p:txBody>
      </p:sp>
      <p:sp>
        <p:nvSpPr>
          <p:cNvPr id="474" name="Google Shape;474;p9"/>
          <p:cNvSpPr txBox="1"/>
          <p:nvPr/>
        </p:nvSpPr>
        <p:spPr>
          <a:xfrm>
            <a:off x="900456" y="13301490"/>
            <a:ext cx="7811744"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Broadband on-chip polarization mode splitters in lithium niobate integrated adiabatic couplers. Optics express, 27(2):1632–1645, 2019.</a:t>
            </a:r>
            <a:endParaRPr sz="1000">
              <a:solidFill>
                <a:schemeClr val="dk2"/>
              </a:solidFill>
              <a:latin typeface="Montserrat"/>
              <a:ea typeface="Montserrat"/>
              <a:cs typeface="Montserrat"/>
              <a:sym typeface="Montserrat"/>
            </a:endParaRPr>
          </a:p>
        </p:txBody>
      </p:sp>
      <p:sp>
        <p:nvSpPr>
          <p:cNvPr id="475" name="Google Shape;475;p9"/>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476" name="Google Shape;476;p9"/>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Introduction</a:t>
            </a:r>
            <a:endParaRPr/>
          </a:p>
        </p:txBody>
      </p:sp>
      <p:sp>
        <p:nvSpPr>
          <p:cNvPr id="477" name="Google Shape;477;p9"/>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478" name="Google Shape;478;p9"/>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479" name="Google Shape;479;p9"/>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480" name="Google Shape;480;p9"/>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481" name="Google Shape;481;p9"/>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10"/>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The proposed design</a:t>
            </a:r>
            <a:endParaRPr b="1" sz="5400">
              <a:solidFill>
                <a:schemeClr val="dk2"/>
              </a:solidFill>
              <a:latin typeface="Montserrat"/>
              <a:ea typeface="Montserrat"/>
              <a:cs typeface="Montserrat"/>
              <a:sym typeface="Montserrat"/>
            </a:endParaRPr>
          </a:p>
        </p:txBody>
      </p:sp>
      <p:sp>
        <p:nvSpPr>
          <p:cNvPr id="487" name="Google Shape;487;p10"/>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488" name="Google Shape;488;p10"/>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9" name="Google Shape;489;p10"/>
          <p:cNvSpPr/>
          <p:nvPr/>
        </p:nvSpPr>
        <p:spPr>
          <a:xfrm>
            <a:off x="5019482" y="7371121"/>
            <a:ext cx="14338685" cy="1155383"/>
          </a:xfrm>
          <a:prstGeom prst="leftRightArrow">
            <a:avLst>
              <a:gd fmla="val 50000" name="adj1"/>
              <a:gd fmla="val 50000" name="adj2"/>
            </a:avLst>
          </a:prstGeom>
          <a:gradFill>
            <a:gsLst>
              <a:gs pos="0">
                <a:srgbClr val="E1E1E1"/>
              </a:gs>
              <a:gs pos="40000">
                <a:srgbClr val="A7A7A7"/>
              </a:gs>
              <a:gs pos="100000">
                <a:srgbClr val="51515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490" name="Google Shape;490;p10"/>
          <p:cNvSpPr/>
          <p:nvPr/>
        </p:nvSpPr>
        <p:spPr>
          <a:xfrm>
            <a:off x="3615119" y="3962321"/>
            <a:ext cx="3803218" cy="2562403"/>
          </a:xfrm>
          <a:custGeom>
            <a:rect b="b" l="l" r="r" t="t"/>
            <a:pathLst>
              <a:path extrusionOk="0" h="4603389" w="7501016">
                <a:moveTo>
                  <a:pt x="169613" y="0"/>
                </a:moveTo>
                <a:lnTo>
                  <a:pt x="3901039" y="0"/>
                </a:lnTo>
                <a:lnTo>
                  <a:pt x="3901040" y="0"/>
                </a:lnTo>
                <a:lnTo>
                  <a:pt x="7331403" y="0"/>
                </a:lnTo>
                <a:cubicBezTo>
                  <a:pt x="7425077" y="0"/>
                  <a:pt x="7501016" y="32330"/>
                  <a:pt x="7501016" y="72210"/>
                </a:cubicBezTo>
                <a:lnTo>
                  <a:pt x="7501016" y="78309"/>
                </a:lnTo>
                <a:lnTo>
                  <a:pt x="7501016" y="135542"/>
                </a:lnTo>
                <a:lnTo>
                  <a:pt x="7501016" y="139836"/>
                </a:lnTo>
                <a:lnTo>
                  <a:pt x="7501016" y="140631"/>
                </a:lnTo>
                <a:lnTo>
                  <a:pt x="7501016" y="240616"/>
                </a:lnTo>
                <a:lnTo>
                  <a:pt x="7501016" y="335217"/>
                </a:lnTo>
                <a:lnTo>
                  <a:pt x="7501016" y="382700"/>
                </a:lnTo>
                <a:lnTo>
                  <a:pt x="7501016" y="1681293"/>
                </a:lnTo>
                <a:lnTo>
                  <a:pt x="7501016" y="3790407"/>
                </a:lnTo>
                <a:lnTo>
                  <a:pt x="7501016" y="4285030"/>
                </a:lnTo>
                <a:lnTo>
                  <a:pt x="7501016" y="4440789"/>
                </a:lnTo>
                <a:cubicBezTo>
                  <a:pt x="7501016" y="4530590"/>
                  <a:pt x="7425077" y="4603389"/>
                  <a:pt x="7331403" y="4603389"/>
                </a:cubicBezTo>
                <a:lnTo>
                  <a:pt x="3901039" y="4603389"/>
                </a:lnTo>
                <a:lnTo>
                  <a:pt x="3599978" y="4603389"/>
                </a:lnTo>
                <a:lnTo>
                  <a:pt x="169613" y="4603389"/>
                </a:lnTo>
                <a:cubicBezTo>
                  <a:pt x="75939" y="4603389"/>
                  <a:pt x="0" y="4530590"/>
                  <a:pt x="0" y="4440789"/>
                </a:cubicBezTo>
                <a:lnTo>
                  <a:pt x="0" y="4285030"/>
                </a:lnTo>
                <a:lnTo>
                  <a:pt x="0" y="3790407"/>
                </a:lnTo>
                <a:lnTo>
                  <a:pt x="0" y="1681293"/>
                </a:lnTo>
                <a:lnTo>
                  <a:pt x="0" y="382700"/>
                </a:lnTo>
                <a:lnTo>
                  <a:pt x="0" y="335217"/>
                </a:lnTo>
                <a:lnTo>
                  <a:pt x="0" y="240616"/>
                </a:lnTo>
                <a:lnTo>
                  <a:pt x="0" y="140631"/>
                </a:lnTo>
                <a:lnTo>
                  <a:pt x="0" y="139836"/>
                </a:lnTo>
                <a:lnTo>
                  <a:pt x="0" y="135542"/>
                </a:lnTo>
                <a:lnTo>
                  <a:pt x="0" y="78309"/>
                </a:lnTo>
                <a:lnTo>
                  <a:pt x="0" y="72210"/>
                </a:lnTo>
                <a:cubicBezTo>
                  <a:pt x="0" y="32330"/>
                  <a:pt x="75939" y="0"/>
                  <a:pt x="169613" y="0"/>
                </a:cubicBezTo>
                <a:close/>
              </a:path>
            </a:pathLst>
          </a:custGeom>
          <a:solidFill>
            <a:schemeClr val="lt1"/>
          </a:solidFill>
          <a:ln>
            <a:noFill/>
          </a:ln>
          <a:effectLst>
            <a:outerShdw blurRad="50800" rotWithShape="0" algn="t" dir="5400000" dist="38100">
              <a:srgbClr val="000000">
                <a:alpha val="40000"/>
              </a:srgbClr>
            </a:outerShdw>
            <a:reflection blurRad="0" dir="0" dist="0" endA="0" endPos="17000" kx="0" rotWithShape="0" algn="bl" stA="23000" stPos="0" sy="-100000" ky="0"/>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91" name="Google Shape;491;p10"/>
          <p:cNvSpPr/>
          <p:nvPr/>
        </p:nvSpPr>
        <p:spPr>
          <a:xfrm>
            <a:off x="3615119" y="3873746"/>
            <a:ext cx="1501734" cy="88576"/>
          </a:xfrm>
          <a:custGeom>
            <a:rect b="b" l="l" r="r" t="t"/>
            <a:pathLst>
              <a:path extrusionOk="0" h="240616" w="2760006">
                <a:moveTo>
                  <a:pt x="120002" y="0"/>
                </a:moveTo>
                <a:lnTo>
                  <a:pt x="2759998" y="0"/>
                </a:lnTo>
                <a:lnTo>
                  <a:pt x="2760006" y="1"/>
                </a:lnTo>
                <a:lnTo>
                  <a:pt x="957673" y="1"/>
                </a:lnTo>
                <a:lnTo>
                  <a:pt x="957673" y="240616"/>
                </a:lnTo>
                <a:lnTo>
                  <a:pt x="0" y="240616"/>
                </a:lnTo>
                <a:lnTo>
                  <a:pt x="0" y="140631"/>
                </a:lnTo>
                <a:lnTo>
                  <a:pt x="0" y="135542"/>
                </a:lnTo>
                <a:lnTo>
                  <a:pt x="0" y="72210"/>
                </a:lnTo>
                <a:cubicBezTo>
                  <a:pt x="0" y="32330"/>
                  <a:pt x="53727" y="0"/>
                  <a:pt x="120002" y="0"/>
                </a:cubicBezTo>
                <a:close/>
              </a:path>
            </a:pathLst>
          </a:cu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92" name="Google Shape;492;p10"/>
          <p:cNvSpPr/>
          <p:nvPr/>
        </p:nvSpPr>
        <p:spPr>
          <a:xfrm>
            <a:off x="4109417" y="3873500"/>
            <a:ext cx="2555934" cy="88822"/>
          </a:xfrm>
          <a:prstGeom prst="rect">
            <a:avLst/>
          </a:pr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93" name="Google Shape;493;p10"/>
          <p:cNvSpPr/>
          <p:nvPr/>
        </p:nvSpPr>
        <p:spPr>
          <a:xfrm>
            <a:off x="6372389" y="3873499"/>
            <a:ext cx="1045948" cy="88823"/>
          </a:xfrm>
          <a:custGeom>
            <a:rect b="b" l="l" r="r" t="t"/>
            <a:pathLst>
              <a:path extrusionOk="0" h="240615" w="1922327">
                <a:moveTo>
                  <a:pt x="0" y="0"/>
                </a:moveTo>
                <a:lnTo>
                  <a:pt x="1802333" y="0"/>
                </a:lnTo>
                <a:lnTo>
                  <a:pt x="1849035" y="5674"/>
                </a:lnTo>
                <a:cubicBezTo>
                  <a:pt x="1892106" y="16636"/>
                  <a:pt x="1922327" y="42299"/>
                  <a:pt x="1922327" y="72209"/>
                </a:cubicBezTo>
                <a:lnTo>
                  <a:pt x="1922327" y="135541"/>
                </a:lnTo>
                <a:lnTo>
                  <a:pt x="1922327" y="140630"/>
                </a:lnTo>
                <a:lnTo>
                  <a:pt x="1922327" y="240615"/>
                </a:lnTo>
                <a:lnTo>
                  <a:pt x="0" y="240615"/>
                </a:lnTo>
                <a:lnTo>
                  <a:pt x="0" y="0"/>
                </a:lnTo>
                <a:close/>
              </a:path>
            </a:pathLst>
          </a:cu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494" name="Google Shape;494;p10"/>
          <p:cNvSpPr txBox="1"/>
          <p:nvPr/>
        </p:nvSpPr>
        <p:spPr>
          <a:xfrm>
            <a:off x="4109416" y="3926515"/>
            <a:ext cx="2777363" cy="58907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400">
                <a:solidFill>
                  <a:schemeClr val="dk2"/>
                </a:solidFill>
                <a:latin typeface="Montserrat"/>
                <a:ea typeface="Montserrat"/>
                <a:cs typeface="Montserrat"/>
                <a:sym typeface="Montserrat"/>
              </a:rPr>
              <a:t>DC</a:t>
            </a:r>
            <a:endParaRPr sz="2400">
              <a:solidFill>
                <a:schemeClr val="dk2"/>
              </a:solidFill>
              <a:latin typeface="Montserrat"/>
              <a:ea typeface="Montserrat"/>
              <a:cs typeface="Montserrat"/>
              <a:sym typeface="Montserrat"/>
            </a:endParaRPr>
          </a:p>
        </p:txBody>
      </p:sp>
      <p:pic>
        <p:nvPicPr>
          <p:cNvPr descr="OSA Image" id="495" name="Google Shape;495;p10"/>
          <p:cNvPicPr preferRelativeResize="0"/>
          <p:nvPr/>
        </p:nvPicPr>
        <p:blipFill rotWithShape="1">
          <a:blip r:embed="rId3">
            <a:alphaModFix/>
          </a:blip>
          <a:srcRect b="0" l="0" r="0" t="0"/>
          <a:stretch/>
        </p:blipFill>
        <p:spPr>
          <a:xfrm>
            <a:off x="4037265" y="4629777"/>
            <a:ext cx="2921666" cy="1475649"/>
          </a:xfrm>
          <a:prstGeom prst="rect">
            <a:avLst/>
          </a:prstGeom>
          <a:noFill/>
          <a:ln>
            <a:noFill/>
          </a:ln>
        </p:spPr>
      </p:pic>
      <p:pic>
        <p:nvPicPr>
          <p:cNvPr id="496" name="Google Shape;496;p10"/>
          <p:cNvPicPr preferRelativeResize="0"/>
          <p:nvPr/>
        </p:nvPicPr>
        <p:blipFill rotWithShape="1">
          <a:blip r:embed="rId4">
            <a:alphaModFix/>
          </a:blip>
          <a:srcRect b="0" l="0" r="0" t="0"/>
          <a:stretch/>
        </p:blipFill>
        <p:spPr>
          <a:xfrm>
            <a:off x="3762154" y="10343312"/>
            <a:ext cx="445584" cy="445584"/>
          </a:xfrm>
          <a:prstGeom prst="rect">
            <a:avLst/>
          </a:prstGeom>
          <a:noFill/>
          <a:ln>
            <a:noFill/>
          </a:ln>
        </p:spPr>
      </p:pic>
      <p:pic>
        <p:nvPicPr>
          <p:cNvPr id="497" name="Google Shape;497;p10"/>
          <p:cNvPicPr preferRelativeResize="0"/>
          <p:nvPr/>
        </p:nvPicPr>
        <p:blipFill rotWithShape="1">
          <a:blip r:embed="rId5">
            <a:alphaModFix/>
          </a:blip>
          <a:srcRect b="0" l="0" r="0" t="0"/>
          <a:stretch/>
        </p:blipFill>
        <p:spPr>
          <a:xfrm>
            <a:off x="3764821" y="9148408"/>
            <a:ext cx="445584" cy="445584"/>
          </a:xfrm>
          <a:prstGeom prst="rect">
            <a:avLst/>
          </a:prstGeom>
          <a:noFill/>
          <a:ln>
            <a:noFill/>
          </a:ln>
        </p:spPr>
      </p:pic>
      <p:pic>
        <p:nvPicPr>
          <p:cNvPr id="498" name="Google Shape;498;p10"/>
          <p:cNvPicPr preferRelativeResize="0"/>
          <p:nvPr/>
        </p:nvPicPr>
        <p:blipFill rotWithShape="1">
          <a:blip r:embed="rId5">
            <a:alphaModFix/>
          </a:blip>
          <a:srcRect b="0" l="0" r="0" t="0"/>
          <a:stretch/>
        </p:blipFill>
        <p:spPr>
          <a:xfrm>
            <a:off x="3762154" y="10939600"/>
            <a:ext cx="445584" cy="445584"/>
          </a:xfrm>
          <a:prstGeom prst="rect">
            <a:avLst/>
          </a:prstGeom>
          <a:noFill/>
          <a:ln>
            <a:noFill/>
          </a:ln>
        </p:spPr>
      </p:pic>
      <p:pic>
        <p:nvPicPr>
          <p:cNvPr id="499" name="Google Shape;499;p10"/>
          <p:cNvPicPr preferRelativeResize="0"/>
          <p:nvPr/>
        </p:nvPicPr>
        <p:blipFill rotWithShape="1">
          <a:blip r:embed="rId5">
            <a:alphaModFix/>
          </a:blip>
          <a:srcRect b="0" l="0" r="0" t="0"/>
          <a:stretch/>
        </p:blipFill>
        <p:spPr>
          <a:xfrm>
            <a:off x="3762154" y="9744696"/>
            <a:ext cx="445584" cy="445584"/>
          </a:xfrm>
          <a:prstGeom prst="rect">
            <a:avLst/>
          </a:prstGeom>
          <a:noFill/>
          <a:ln>
            <a:noFill/>
          </a:ln>
        </p:spPr>
      </p:pic>
      <p:sp>
        <p:nvSpPr>
          <p:cNvPr id="500" name="Google Shape;500;p10"/>
          <p:cNvSpPr/>
          <p:nvPr/>
        </p:nvSpPr>
        <p:spPr>
          <a:xfrm>
            <a:off x="17125694" y="3962321"/>
            <a:ext cx="3803218" cy="2562403"/>
          </a:xfrm>
          <a:custGeom>
            <a:rect b="b" l="l" r="r" t="t"/>
            <a:pathLst>
              <a:path extrusionOk="0" h="4603389" w="7501016">
                <a:moveTo>
                  <a:pt x="169613" y="0"/>
                </a:moveTo>
                <a:lnTo>
                  <a:pt x="3901039" y="0"/>
                </a:lnTo>
                <a:lnTo>
                  <a:pt x="3901040" y="0"/>
                </a:lnTo>
                <a:lnTo>
                  <a:pt x="7331403" y="0"/>
                </a:lnTo>
                <a:cubicBezTo>
                  <a:pt x="7425077" y="0"/>
                  <a:pt x="7501016" y="32330"/>
                  <a:pt x="7501016" y="72210"/>
                </a:cubicBezTo>
                <a:lnTo>
                  <a:pt x="7501016" y="78309"/>
                </a:lnTo>
                <a:lnTo>
                  <a:pt x="7501016" y="135542"/>
                </a:lnTo>
                <a:lnTo>
                  <a:pt x="7501016" y="139836"/>
                </a:lnTo>
                <a:lnTo>
                  <a:pt x="7501016" y="140631"/>
                </a:lnTo>
                <a:lnTo>
                  <a:pt x="7501016" y="240616"/>
                </a:lnTo>
                <a:lnTo>
                  <a:pt x="7501016" y="335217"/>
                </a:lnTo>
                <a:lnTo>
                  <a:pt x="7501016" y="382700"/>
                </a:lnTo>
                <a:lnTo>
                  <a:pt x="7501016" y="1681293"/>
                </a:lnTo>
                <a:lnTo>
                  <a:pt x="7501016" y="3790407"/>
                </a:lnTo>
                <a:lnTo>
                  <a:pt x="7501016" y="4285030"/>
                </a:lnTo>
                <a:lnTo>
                  <a:pt x="7501016" y="4440789"/>
                </a:lnTo>
                <a:cubicBezTo>
                  <a:pt x="7501016" y="4530590"/>
                  <a:pt x="7425077" y="4603389"/>
                  <a:pt x="7331403" y="4603389"/>
                </a:cubicBezTo>
                <a:lnTo>
                  <a:pt x="3901039" y="4603389"/>
                </a:lnTo>
                <a:lnTo>
                  <a:pt x="3599978" y="4603389"/>
                </a:lnTo>
                <a:lnTo>
                  <a:pt x="169613" y="4603389"/>
                </a:lnTo>
                <a:cubicBezTo>
                  <a:pt x="75939" y="4603389"/>
                  <a:pt x="0" y="4530590"/>
                  <a:pt x="0" y="4440789"/>
                </a:cubicBezTo>
                <a:lnTo>
                  <a:pt x="0" y="4285030"/>
                </a:lnTo>
                <a:lnTo>
                  <a:pt x="0" y="3790407"/>
                </a:lnTo>
                <a:lnTo>
                  <a:pt x="0" y="1681293"/>
                </a:lnTo>
                <a:lnTo>
                  <a:pt x="0" y="382700"/>
                </a:lnTo>
                <a:lnTo>
                  <a:pt x="0" y="335217"/>
                </a:lnTo>
                <a:lnTo>
                  <a:pt x="0" y="240616"/>
                </a:lnTo>
                <a:lnTo>
                  <a:pt x="0" y="140631"/>
                </a:lnTo>
                <a:lnTo>
                  <a:pt x="0" y="139836"/>
                </a:lnTo>
                <a:lnTo>
                  <a:pt x="0" y="135542"/>
                </a:lnTo>
                <a:lnTo>
                  <a:pt x="0" y="78309"/>
                </a:lnTo>
                <a:lnTo>
                  <a:pt x="0" y="72210"/>
                </a:lnTo>
                <a:cubicBezTo>
                  <a:pt x="0" y="32330"/>
                  <a:pt x="75939" y="0"/>
                  <a:pt x="169613" y="0"/>
                </a:cubicBezTo>
                <a:close/>
              </a:path>
            </a:pathLst>
          </a:custGeom>
          <a:solidFill>
            <a:schemeClr val="lt1"/>
          </a:solidFill>
          <a:ln>
            <a:noFill/>
          </a:ln>
          <a:effectLst>
            <a:outerShdw blurRad="50800" rotWithShape="0" algn="t" dir="5400000" dist="38100">
              <a:srgbClr val="000000">
                <a:alpha val="40000"/>
              </a:srgbClr>
            </a:outerShdw>
            <a:reflection blurRad="0" dir="0" dist="0" endA="0" endPos="17000" kx="0" rotWithShape="0" algn="bl" stA="23000" stPos="0" sy="-100000" ky="0"/>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501" name="Google Shape;501;p10"/>
          <p:cNvSpPr/>
          <p:nvPr/>
        </p:nvSpPr>
        <p:spPr>
          <a:xfrm>
            <a:off x="17125694" y="3873746"/>
            <a:ext cx="1501734" cy="88576"/>
          </a:xfrm>
          <a:custGeom>
            <a:rect b="b" l="l" r="r" t="t"/>
            <a:pathLst>
              <a:path extrusionOk="0" h="240616" w="2760006">
                <a:moveTo>
                  <a:pt x="120002" y="0"/>
                </a:moveTo>
                <a:lnTo>
                  <a:pt x="2759998" y="0"/>
                </a:lnTo>
                <a:lnTo>
                  <a:pt x="2760006" y="1"/>
                </a:lnTo>
                <a:lnTo>
                  <a:pt x="957673" y="1"/>
                </a:lnTo>
                <a:lnTo>
                  <a:pt x="957673" y="240616"/>
                </a:lnTo>
                <a:lnTo>
                  <a:pt x="0" y="240616"/>
                </a:lnTo>
                <a:lnTo>
                  <a:pt x="0" y="140631"/>
                </a:lnTo>
                <a:lnTo>
                  <a:pt x="0" y="135542"/>
                </a:lnTo>
                <a:lnTo>
                  <a:pt x="0" y="72210"/>
                </a:lnTo>
                <a:cubicBezTo>
                  <a:pt x="0" y="32330"/>
                  <a:pt x="53727" y="0"/>
                  <a:pt x="120002" y="0"/>
                </a:cubicBezTo>
                <a:close/>
              </a:path>
            </a:pathLst>
          </a:cu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502" name="Google Shape;502;p10"/>
          <p:cNvSpPr/>
          <p:nvPr/>
        </p:nvSpPr>
        <p:spPr>
          <a:xfrm>
            <a:off x="17619992" y="3873500"/>
            <a:ext cx="2555934" cy="88822"/>
          </a:xfrm>
          <a:prstGeom prst="rect">
            <a:avLst/>
          </a:pr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503" name="Google Shape;503;p10"/>
          <p:cNvSpPr/>
          <p:nvPr/>
        </p:nvSpPr>
        <p:spPr>
          <a:xfrm>
            <a:off x="19882964" y="3873499"/>
            <a:ext cx="1045948" cy="88823"/>
          </a:xfrm>
          <a:custGeom>
            <a:rect b="b" l="l" r="r" t="t"/>
            <a:pathLst>
              <a:path extrusionOk="0" h="240615" w="1922327">
                <a:moveTo>
                  <a:pt x="0" y="0"/>
                </a:moveTo>
                <a:lnTo>
                  <a:pt x="1802333" y="0"/>
                </a:lnTo>
                <a:lnTo>
                  <a:pt x="1849035" y="5674"/>
                </a:lnTo>
                <a:cubicBezTo>
                  <a:pt x="1892106" y="16636"/>
                  <a:pt x="1922327" y="42299"/>
                  <a:pt x="1922327" y="72209"/>
                </a:cubicBezTo>
                <a:lnTo>
                  <a:pt x="1922327" y="135541"/>
                </a:lnTo>
                <a:lnTo>
                  <a:pt x="1922327" y="140630"/>
                </a:lnTo>
                <a:lnTo>
                  <a:pt x="1922327" y="240615"/>
                </a:lnTo>
                <a:lnTo>
                  <a:pt x="0" y="240615"/>
                </a:lnTo>
                <a:lnTo>
                  <a:pt x="0" y="0"/>
                </a:lnTo>
                <a:close/>
              </a:path>
            </a:pathLst>
          </a:cu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504" name="Google Shape;504;p10"/>
          <p:cNvSpPr txBox="1"/>
          <p:nvPr/>
        </p:nvSpPr>
        <p:spPr>
          <a:xfrm>
            <a:off x="17372842" y="3926515"/>
            <a:ext cx="3308921" cy="58907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400">
                <a:solidFill>
                  <a:schemeClr val="dk2"/>
                </a:solidFill>
                <a:latin typeface="Montserrat"/>
                <a:ea typeface="Montserrat"/>
                <a:cs typeface="Montserrat"/>
                <a:sym typeface="Montserrat"/>
              </a:rPr>
              <a:t>Adiabatic coupler</a:t>
            </a:r>
            <a:endParaRPr sz="2400">
              <a:solidFill>
                <a:schemeClr val="dk2"/>
              </a:solidFill>
              <a:latin typeface="Montserrat"/>
              <a:ea typeface="Montserrat"/>
              <a:cs typeface="Montserrat"/>
              <a:sym typeface="Montserrat"/>
            </a:endParaRPr>
          </a:p>
        </p:txBody>
      </p:sp>
      <p:pic>
        <p:nvPicPr>
          <p:cNvPr descr="OSA Image" id="505" name="Google Shape;505;p10"/>
          <p:cNvPicPr preferRelativeResize="0"/>
          <p:nvPr/>
        </p:nvPicPr>
        <p:blipFill rotWithShape="1">
          <a:blip r:embed="rId6">
            <a:alphaModFix/>
          </a:blip>
          <a:srcRect b="0" l="0" r="0" t="0"/>
          <a:stretch/>
        </p:blipFill>
        <p:spPr>
          <a:xfrm>
            <a:off x="17420676" y="4649636"/>
            <a:ext cx="3218860" cy="1652348"/>
          </a:xfrm>
          <a:prstGeom prst="rect">
            <a:avLst/>
          </a:prstGeom>
          <a:noFill/>
          <a:ln>
            <a:noFill/>
          </a:ln>
        </p:spPr>
      </p:pic>
      <p:sp>
        <p:nvSpPr>
          <p:cNvPr id="506" name="Google Shape;506;p10"/>
          <p:cNvSpPr/>
          <p:nvPr/>
        </p:nvSpPr>
        <p:spPr>
          <a:xfrm>
            <a:off x="10175607" y="3962321"/>
            <a:ext cx="4181718" cy="2562403"/>
          </a:xfrm>
          <a:custGeom>
            <a:rect b="b" l="l" r="r" t="t"/>
            <a:pathLst>
              <a:path extrusionOk="0" h="4603389" w="7501016">
                <a:moveTo>
                  <a:pt x="169613" y="0"/>
                </a:moveTo>
                <a:lnTo>
                  <a:pt x="3901039" y="0"/>
                </a:lnTo>
                <a:lnTo>
                  <a:pt x="3901040" y="0"/>
                </a:lnTo>
                <a:lnTo>
                  <a:pt x="7331403" y="0"/>
                </a:lnTo>
                <a:cubicBezTo>
                  <a:pt x="7425077" y="0"/>
                  <a:pt x="7501016" y="32330"/>
                  <a:pt x="7501016" y="72210"/>
                </a:cubicBezTo>
                <a:lnTo>
                  <a:pt x="7501016" y="78309"/>
                </a:lnTo>
                <a:lnTo>
                  <a:pt x="7501016" y="135542"/>
                </a:lnTo>
                <a:lnTo>
                  <a:pt x="7501016" y="139836"/>
                </a:lnTo>
                <a:lnTo>
                  <a:pt x="7501016" y="140631"/>
                </a:lnTo>
                <a:lnTo>
                  <a:pt x="7501016" y="240616"/>
                </a:lnTo>
                <a:lnTo>
                  <a:pt x="7501016" y="335217"/>
                </a:lnTo>
                <a:lnTo>
                  <a:pt x="7501016" y="382700"/>
                </a:lnTo>
                <a:lnTo>
                  <a:pt x="7501016" y="1681293"/>
                </a:lnTo>
                <a:lnTo>
                  <a:pt x="7501016" y="3790407"/>
                </a:lnTo>
                <a:lnTo>
                  <a:pt x="7501016" y="4285030"/>
                </a:lnTo>
                <a:lnTo>
                  <a:pt x="7501016" y="4440789"/>
                </a:lnTo>
                <a:cubicBezTo>
                  <a:pt x="7501016" y="4530590"/>
                  <a:pt x="7425077" y="4603389"/>
                  <a:pt x="7331403" y="4603389"/>
                </a:cubicBezTo>
                <a:lnTo>
                  <a:pt x="3901039" y="4603389"/>
                </a:lnTo>
                <a:lnTo>
                  <a:pt x="3599978" y="4603389"/>
                </a:lnTo>
                <a:lnTo>
                  <a:pt x="169613" y="4603389"/>
                </a:lnTo>
                <a:cubicBezTo>
                  <a:pt x="75939" y="4603389"/>
                  <a:pt x="0" y="4530590"/>
                  <a:pt x="0" y="4440789"/>
                </a:cubicBezTo>
                <a:lnTo>
                  <a:pt x="0" y="4285030"/>
                </a:lnTo>
                <a:lnTo>
                  <a:pt x="0" y="3790407"/>
                </a:lnTo>
                <a:lnTo>
                  <a:pt x="0" y="1681293"/>
                </a:lnTo>
                <a:lnTo>
                  <a:pt x="0" y="382700"/>
                </a:lnTo>
                <a:lnTo>
                  <a:pt x="0" y="335217"/>
                </a:lnTo>
                <a:lnTo>
                  <a:pt x="0" y="240616"/>
                </a:lnTo>
                <a:lnTo>
                  <a:pt x="0" y="140631"/>
                </a:lnTo>
                <a:lnTo>
                  <a:pt x="0" y="139836"/>
                </a:lnTo>
                <a:lnTo>
                  <a:pt x="0" y="135542"/>
                </a:lnTo>
                <a:lnTo>
                  <a:pt x="0" y="78309"/>
                </a:lnTo>
                <a:lnTo>
                  <a:pt x="0" y="72210"/>
                </a:lnTo>
                <a:cubicBezTo>
                  <a:pt x="0" y="32330"/>
                  <a:pt x="75939" y="0"/>
                  <a:pt x="169613" y="0"/>
                </a:cubicBezTo>
                <a:close/>
              </a:path>
            </a:pathLst>
          </a:custGeom>
          <a:solidFill>
            <a:schemeClr val="lt1"/>
          </a:solidFill>
          <a:ln>
            <a:noFill/>
          </a:ln>
          <a:effectLst>
            <a:outerShdw blurRad="50800" rotWithShape="0" algn="t" dir="5400000" dist="38100">
              <a:srgbClr val="000000">
                <a:alpha val="40000"/>
              </a:srgbClr>
            </a:outerShdw>
            <a:reflection blurRad="0" dir="0" dist="0" endA="0" endPos="17000" kx="0" rotWithShape="0" algn="bl" stA="23000" stPos="0" sy="-100000" ky="0"/>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507" name="Google Shape;507;p10"/>
          <p:cNvSpPr/>
          <p:nvPr/>
        </p:nvSpPr>
        <p:spPr>
          <a:xfrm>
            <a:off x="10175607" y="3873746"/>
            <a:ext cx="1501734" cy="88576"/>
          </a:xfrm>
          <a:custGeom>
            <a:rect b="b" l="l" r="r" t="t"/>
            <a:pathLst>
              <a:path extrusionOk="0" h="240616" w="2760006">
                <a:moveTo>
                  <a:pt x="120002" y="0"/>
                </a:moveTo>
                <a:lnTo>
                  <a:pt x="2759998" y="0"/>
                </a:lnTo>
                <a:lnTo>
                  <a:pt x="2760006" y="1"/>
                </a:lnTo>
                <a:lnTo>
                  <a:pt x="957673" y="1"/>
                </a:lnTo>
                <a:lnTo>
                  <a:pt x="957673" y="240616"/>
                </a:lnTo>
                <a:lnTo>
                  <a:pt x="0" y="240616"/>
                </a:lnTo>
                <a:lnTo>
                  <a:pt x="0" y="140631"/>
                </a:lnTo>
                <a:lnTo>
                  <a:pt x="0" y="135542"/>
                </a:lnTo>
                <a:lnTo>
                  <a:pt x="0" y="72210"/>
                </a:lnTo>
                <a:cubicBezTo>
                  <a:pt x="0" y="32330"/>
                  <a:pt x="53727" y="0"/>
                  <a:pt x="120002" y="0"/>
                </a:cubicBezTo>
                <a:close/>
              </a:path>
            </a:pathLst>
          </a:cu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508" name="Google Shape;508;p10"/>
          <p:cNvSpPr/>
          <p:nvPr/>
        </p:nvSpPr>
        <p:spPr>
          <a:xfrm>
            <a:off x="10669904" y="3873500"/>
            <a:ext cx="2789737" cy="88822"/>
          </a:xfrm>
          <a:prstGeom prst="rect">
            <a:avLst/>
          </a:pr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509" name="Google Shape;509;p10"/>
          <p:cNvSpPr/>
          <p:nvPr/>
        </p:nvSpPr>
        <p:spPr>
          <a:xfrm>
            <a:off x="13311377" y="3873499"/>
            <a:ext cx="1045948" cy="88823"/>
          </a:xfrm>
          <a:custGeom>
            <a:rect b="b" l="l" r="r" t="t"/>
            <a:pathLst>
              <a:path extrusionOk="0" h="240615" w="1922327">
                <a:moveTo>
                  <a:pt x="0" y="0"/>
                </a:moveTo>
                <a:lnTo>
                  <a:pt x="1802333" y="0"/>
                </a:lnTo>
                <a:lnTo>
                  <a:pt x="1849035" y="5674"/>
                </a:lnTo>
                <a:cubicBezTo>
                  <a:pt x="1892106" y="16636"/>
                  <a:pt x="1922327" y="42299"/>
                  <a:pt x="1922327" y="72209"/>
                </a:cubicBezTo>
                <a:lnTo>
                  <a:pt x="1922327" y="135541"/>
                </a:lnTo>
                <a:lnTo>
                  <a:pt x="1922327" y="140630"/>
                </a:lnTo>
                <a:lnTo>
                  <a:pt x="1922327" y="240615"/>
                </a:lnTo>
                <a:lnTo>
                  <a:pt x="0" y="240615"/>
                </a:lnTo>
                <a:lnTo>
                  <a:pt x="0" y="0"/>
                </a:lnTo>
                <a:close/>
              </a:path>
            </a:pathLst>
          </a:custGeom>
          <a:solidFill>
            <a:srgbClr val="AFAB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599">
              <a:solidFill>
                <a:srgbClr val="FFFFFF"/>
              </a:solidFill>
              <a:latin typeface="Calibri"/>
              <a:ea typeface="Calibri"/>
              <a:cs typeface="Calibri"/>
              <a:sym typeface="Calibri"/>
            </a:endParaRPr>
          </a:p>
        </p:txBody>
      </p:sp>
      <p:sp>
        <p:nvSpPr>
          <p:cNvPr id="510" name="Google Shape;510;p10"/>
          <p:cNvSpPr txBox="1"/>
          <p:nvPr/>
        </p:nvSpPr>
        <p:spPr>
          <a:xfrm>
            <a:off x="10341965" y="3926515"/>
            <a:ext cx="3851052" cy="58907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400">
                <a:solidFill>
                  <a:schemeClr val="dk2"/>
                </a:solidFill>
                <a:latin typeface="Montserrat"/>
                <a:ea typeface="Montserrat"/>
                <a:cs typeface="Montserrat"/>
                <a:sym typeface="Montserrat"/>
              </a:rPr>
              <a:t>The proposed design</a:t>
            </a:r>
            <a:endParaRPr sz="2400">
              <a:solidFill>
                <a:schemeClr val="dk2"/>
              </a:solidFill>
              <a:latin typeface="Montserrat"/>
              <a:ea typeface="Montserrat"/>
              <a:cs typeface="Montserrat"/>
              <a:sym typeface="Montserrat"/>
            </a:endParaRPr>
          </a:p>
        </p:txBody>
      </p:sp>
      <p:cxnSp>
        <p:nvCxnSpPr>
          <p:cNvPr id="511" name="Google Shape;511;p10"/>
          <p:cNvCxnSpPr/>
          <p:nvPr/>
        </p:nvCxnSpPr>
        <p:spPr>
          <a:xfrm>
            <a:off x="6372389" y="6524724"/>
            <a:ext cx="0" cy="1136985"/>
          </a:xfrm>
          <a:prstGeom prst="straightConnector1">
            <a:avLst/>
          </a:prstGeom>
          <a:noFill/>
          <a:ln cap="flat" cmpd="sng" w="38100">
            <a:solidFill>
              <a:srgbClr val="A5A5A5"/>
            </a:solidFill>
            <a:prstDash val="solid"/>
            <a:miter lim="800000"/>
            <a:headEnd len="sm" w="sm" type="none"/>
            <a:tailEnd len="sm" w="sm" type="none"/>
          </a:ln>
        </p:spPr>
      </p:cxnSp>
      <p:cxnSp>
        <p:nvCxnSpPr>
          <p:cNvPr id="512" name="Google Shape;512;p10"/>
          <p:cNvCxnSpPr/>
          <p:nvPr/>
        </p:nvCxnSpPr>
        <p:spPr>
          <a:xfrm>
            <a:off x="12323156" y="6524724"/>
            <a:ext cx="0" cy="1136985"/>
          </a:xfrm>
          <a:prstGeom prst="straightConnector1">
            <a:avLst/>
          </a:prstGeom>
          <a:noFill/>
          <a:ln cap="flat" cmpd="sng" w="38100">
            <a:solidFill>
              <a:srgbClr val="A5A5A5"/>
            </a:solidFill>
            <a:prstDash val="solid"/>
            <a:miter lim="800000"/>
            <a:headEnd len="sm" w="sm" type="none"/>
            <a:tailEnd len="sm" w="sm" type="none"/>
          </a:ln>
        </p:spPr>
      </p:cxnSp>
      <p:pic>
        <p:nvPicPr>
          <p:cNvPr id="513" name="Google Shape;513;p10"/>
          <p:cNvPicPr preferRelativeResize="0"/>
          <p:nvPr/>
        </p:nvPicPr>
        <p:blipFill rotWithShape="1">
          <a:blip r:embed="rId7">
            <a:alphaModFix/>
          </a:blip>
          <a:srcRect b="0" l="0" r="0" t="0"/>
          <a:stretch/>
        </p:blipFill>
        <p:spPr>
          <a:xfrm>
            <a:off x="11397121" y="4657271"/>
            <a:ext cx="1738689" cy="1725768"/>
          </a:xfrm>
          <a:prstGeom prst="rect">
            <a:avLst/>
          </a:prstGeom>
          <a:noFill/>
          <a:ln>
            <a:noFill/>
          </a:ln>
        </p:spPr>
      </p:pic>
      <p:cxnSp>
        <p:nvCxnSpPr>
          <p:cNvPr id="514" name="Google Shape;514;p10"/>
          <p:cNvCxnSpPr/>
          <p:nvPr/>
        </p:nvCxnSpPr>
        <p:spPr>
          <a:xfrm>
            <a:off x="18255980" y="6524724"/>
            <a:ext cx="0" cy="1136985"/>
          </a:xfrm>
          <a:prstGeom prst="straightConnector1">
            <a:avLst/>
          </a:prstGeom>
          <a:noFill/>
          <a:ln cap="flat" cmpd="sng" w="38100">
            <a:solidFill>
              <a:srgbClr val="A5A5A5"/>
            </a:solidFill>
            <a:prstDash val="solid"/>
            <a:miter lim="800000"/>
            <a:headEnd len="sm" w="sm" type="none"/>
            <a:tailEnd len="sm" w="sm" type="none"/>
          </a:ln>
        </p:spPr>
      </p:cxnSp>
      <p:sp>
        <p:nvSpPr>
          <p:cNvPr id="515" name="Google Shape;515;p10"/>
          <p:cNvSpPr txBox="1"/>
          <p:nvPr/>
        </p:nvSpPr>
        <p:spPr>
          <a:xfrm>
            <a:off x="10484608" y="8980675"/>
            <a:ext cx="4736460" cy="243092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A moderate device length</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Broadband operation of high PER</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Fabrication tolerant </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Limited transmission bandwidths </a:t>
            </a:r>
            <a:endParaRPr/>
          </a:p>
        </p:txBody>
      </p:sp>
      <p:pic>
        <p:nvPicPr>
          <p:cNvPr id="516" name="Google Shape;516;p10"/>
          <p:cNvPicPr preferRelativeResize="0"/>
          <p:nvPr/>
        </p:nvPicPr>
        <p:blipFill rotWithShape="1">
          <a:blip r:embed="rId5">
            <a:alphaModFix/>
          </a:blip>
          <a:srcRect b="0" l="0" r="0" t="0"/>
          <a:stretch/>
        </p:blipFill>
        <p:spPr>
          <a:xfrm>
            <a:off x="9720258" y="9148408"/>
            <a:ext cx="445584" cy="445584"/>
          </a:xfrm>
          <a:prstGeom prst="rect">
            <a:avLst/>
          </a:prstGeom>
          <a:noFill/>
          <a:ln>
            <a:noFill/>
          </a:ln>
        </p:spPr>
      </p:pic>
      <p:pic>
        <p:nvPicPr>
          <p:cNvPr id="517" name="Google Shape;517;p10"/>
          <p:cNvPicPr preferRelativeResize="0"/>
          <p:nvPr/>
        </p:nvPicPr>
        <p:blipFill rotWithShape="1">
          <a:blip r:embed="rId5">
            <a:alphaModFix/>
          </a:blip>
          <a:srcRect b="0" l="0" r="0" t="0"/>
          <a:stretch/>
        </p:blipFill>
        <p:spPr>
          <a:xfrm>
            <a:off x="9717591" y="9744696"/>
            <a:ext cx="445584" cy="445584"/>
          </a:xfrm>
          <a:prstGeom prst="rect">
            <a:avLst/>
          </a:prstGeom>
          <a:noFill/>
          <a:ln>
            <a:noFill/>
          </a:ln>
        </p:spPr>
      </p:pic>
      <p:pic>
        <p:nvPicPr>
          <p:cNvPr id="518" name="Google Shape;518;p10"/>
          <p:cNvPicPr preferRelativeResize="0"/>
          <p:nvPr/>
        </p:nvPicPr>
        <p:blipFill rotWithShape="1">
          <a:blip r:embed="rId5">
            <a:alphaModFix/>
          </a:blip>
          <a:srcRect b="0" l="0" r="0" t="0"/>
          <a:stretch/>
        </p:blipFill>
        <p:spPr>
          <a:xfrm>
            <a:off x="16439412" y="9738840"/>
            <a:ext cx="445584" cy="445584"/>
          </a:xfrm>
          <a:prstGeom prst="rect">
            <a:avLst/>
          </a:prstGeom>
          <a:noFill/>
          <a:ln>
            <a:noFill/>
          </a:ln>
        </p:spPr>
      </p:pic>
      <p:sp>
        <p:nvSpPr>
          <p:cNvPr id="519" name="Google Shape;519;p10"/>
          <p:cNvSpPr txBox="1"/>
          <p:nvPr/>
        </p:nvSpPr>
        <p:spPr>
          <a:xfrm>
            <a:off x="17388142" y="8974819"/>
            <a:ext cx="4736460" cy="183075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The longest device length</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Broadband operation of high PER</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Fabrication tolerant </a:t>
            </a:r>
            <a:endParaRPr/>
          </a:p>
        </p:txBody>
      </p:sp>
      <p:pic>
        <p:nvPicPr>
          <p:cNvPr id="520" name="Google Shape;520;p10"/>
          <p:cNvPicPr preferRelativeResize="0"/>
          <p:nvPr/>
        </p:nvPicPr>
        <p:blipFill rotWithShape="1">
          <a:blip r:embed="rId4">
            <a:alphaModFix/>
          </a:blip>
          <a:srcRect b="0" l="0" r="0" t="0"/>
          <a:stretch/>
        </p:blipFill>
        <p:spPr>
          <a:xfrm>
            <a:off x="16439412" y="9136976"/>
            <a:ext cx="445584" cy="445584"/>
          </a:xfrm>
          <a:prstGeom prst="rect">
            <a:avLst/>
          </a:prstGeom>
          <a:noFill/>
          <a:ln>
            <a:noFill/>
          </a:ln>
        </p:spPr>
      </p:pic>
      <p:pic>
        <p:nvPicPr>
          <p:cNvPr id="521" name="Google Shape;521;p10"/>
          <p:cNvPicPr preferRelativeResize="0"/>
          <p:nvPr/>
        </p:nvPicPr>
        <p:blipFill rotWithShape="1">
          <a:blip r:embed="rId5">
            <a:alphaModFix/>
          </a:blip>
          <a:srcRect b="0" l="0" r="0" t="0"/>
          <a:stretch/>
        </p:blipFill>
        <p:spPr>
          <a:xfrm>
            <a:off x="16439412" y="10337984"/>
            <a:ext cx="445584" cy="445584"/>
          </a:xfrm>
          <a:prstGeom prst="rect">
            <a:avLst/>
          </a:prstGeom>
          <a:noFill/>
          <a:ln>
            <a:noFill/>
          </a:ln>
        </p:spPr>
      </p:pic>
      <p:pic>
        <p:nvPicPr>
          <p:cNvPr id="522" name="Google Shape;522;p10"/>
          <p:cNvPicPr preferRelativeResize="0"/>
          <p:nvPr/>
        </p:nvPicPr>
        <p:blipFill rotWithShape="1">
          <a:blip r:embed="rId5">
            <a:alphaModFix/>
          </a:blip>
          <a:srcRect b="0" l="0" r="0" t="0"/>
          <a:stretch/>
        </p:blipFill>
        <p:spPr>
          <a:xfrm>
            <a:off x="9717591" y="10337984"/>
            <a:ext cx="445584" cy="445584"/>
          </a:xfrm>
          <a:prstGeom prst="rect">
            <a:avLst/>
          </a:prstGeom>
          <a:noFill/>
          <a:ln>
            <a:noFill/>
          </a:ln>
        </p:spPr>
      </p:pic>
      <p:pic>
        <p:nvPicPr>
          <p:cNvPr id="523" name="Google Shape;523;p10"/>
          <p:cNvPicPr preferRelativeResize="0"/>
          <p:nvPr/>
        </p:nvPicPr>
        <p:blipFill rotWithShape="1">
          <a:blip r:embed="rId4">
            <a:alphaModFix/>
          </a:blip>
          <a:srcRect b="0" l="0" r="0" t="0"/>
          <a:stretch/>
        </p:blipFill>
        <p:spPr>
          <a:xfrm>
            <a:off x="9720258" y="10953836"/>
            <a:ext cx="445584" cy="445584"/>
          </a:xfrm>
          <a:prstGeom prst="rect">
            <a:avLst/>
          </a:prstGeom>
          <a:noFill/>
          <a:ln>
            <a:noFill/>
          </a:ln>
        </p:spPr>
      </p:pic>
      <p:sp>
        <p:nvSpPr>
          <p:cNvPr id="524" name="Google Shape;524;p10"/>
          <p:cNvSpPr/>
          <p:nvPr/>
        </p:nvSpPr>
        <p:spPr>
          <a:xfrm>
            <a:off x="5608144" y="3253226"/>
            <a:ext cx="2555935" cy="4408483"/>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525" name="Google Shape;525;p10"/>
          <p:cNvSpPr/>
          <p:nvPr/>
        </p:nvSpPr>
        <p:spPr>
          <a:xfrm>
            <a:off x="15287324" y="3265005"/>
            <a:ext cx="3443433" cy="4408483"/>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526" name="Google Shape;526;p10"/>
          <p:cNvSpPr/>
          <p:nvPr/>
        </p:nvSpPr>
        <p:spPr>
          <a:xfrm>
            <a:off x="18730757" y="3253227"/>
            <a:ext cx="3443433" cy="3374272"/>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527" name="Google Shape;527;p10"/>
          <p:cNvSpPr/>
          <p:nvPr/>
        </p:nvSpPr>
        <p:spPr>
          <a:xfrm>
            <a:off x="2674983" y="3265005"/>
            <a:ext cx="2939652" cy="3588872"/>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528" name="Google Shape;528;p10"/>
          <p:cNvSpPr/>
          <p:nvPr/>
        </p:nvSpPr>
        <p:spPr>
          <a:xfrm>
            <a:off x="16131236" y="8625902"/>
            <a:ext cx="6347764" cy="3575563"/>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529" name="Google Shape;529;p10"/>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530" name="Google Shape;530;p10"/>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Introduction</a:t>
            </a:r>
            <a:endParaRPr/>
          </a:p>
        </p:txBody>
      </p:sp>
      <p:sp>
        <p:nvSpPr>
          <p:cNvPr id="531" name="Google Shape;531;p10"/>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532" name="Google Shape;532;p10"/>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533" name="Google Shape;533;p10"/>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534" name="Google Shape;534;p10"/>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535" name="Google Shape;535;p10"/>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536" name="Google Shape;536;p10"/>
          <p:cNvSpPr txBox="1"/>
          <p:nvPr/>
        </p:nvSpPr>
        <p:spPr>
          <a:xfrm>
            <a:off x="4529172" y="8980675"/>
            <a:ext cx="3553528" cy="243092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The smallest footprint</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High ER for the TE mode</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Limited PER bandwidths</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Fabrication tolerant </a:t>
            </a:r>
            <a:endParaRPr/>
          </a:p>
        </p:txBody>
      </p:sp>
      <p:sp>
        <p:nvSpPr>
          <p:cNvPr id="537" name="Google Shape;537;p10"/>
          <p:cNvSpPr/>
          <p:nvPr/>
        </p:nvSpPr>
        <p:spPr>
          <a:xfrm>
            <a:off x="3418767" y="8625902"/>
            <a:ext cx="5792134" cy="3575563"/>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11"/>
          <p:cNvSpPr txBox="1"/>
          <p:nvPr/>
        </p:nvSpPr>
        <p:spPr>
          <a:xfrm>
            <a:off x="2573902" y="1483499"/>
            <a:ext cx="19229843"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The most commonly used designs of pump filters</a:t>
            </a:r>
            <a:endParaRPr/>
          </a:p>
        </p:txBody>
      </p:sp>
      <p:sp>
        <p:nvSpPr>
          <p:cNvPr id="543" name="Google Shape;543;p11"/>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544" name="Google Shape;544;p11"/>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45" name="Google Shape;545;p11"/>
          <p:cNvSpPr txBox="1"/>
          <p:nvPr/>
        </p:nvSpPr>
        <p:spPr>
          <a:xfrm>
            <a:off x="3831121" y="3666676"/>
            <a:ext cx="6683311" cy="75469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3200">
                <a:solidFill>
                  <a:schemeClr val="dk2"/>
                </a:solidFill>
                <a:latin typeface="Montserrat"/>
                <a:ea typeface="Montserrat"/>
                <a:cs typeface="Montserrat"/>
                <a:sym typeface="Montserrat"/>
              </a:rPr>
              <a:t>FBGs/ring resonators</a:t>
            </a:r>
            <a:endParaRPr sz="3200">
              <a:solidFill>
                <a:schemeClr val="dk2"/>
              </a:solidFill>
              <a:latin typeface="Montserrat"/>
              <a:ea typeface="Montserrat"/>
              <a:cs typeface="Montserrat"/>
              <a:sym typeface="Montserrat"/>
            </a:endParaRPr>
          </a:p>
        </p:txBody>
      </p:sp>
      <p:sp>
        <p:nvSpPr>
          <p:cNvPr id="546" name="Google Shape;546;p11"/>
          <p:cNvSpPr txBox="1"/>
          <p:nvPr/>
        </p:nvSpPr>
        <p:spPr>
          <a:xfrm>
            <a:off x="13457014" y="3663896"/>
            <a:ext cx="6683311" cy="75469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3200">
                <a:solidFill>
                  <a:schemeClr val="dk2"/>
                </a:solidFill>
                <a:latin typeface="Montserrat"/>
                <a:ea typeface="Montserrat"/>
                <a:cs typeface="Montserrat"/>
                <a:sym typeface="Montserrat"/>
              </a:rPr>
              <a:t>Adiabatic coupler</a:t>
            </a:r>
            <a:endParaRPr sz="3200">
              <a:solidFill>
                <a:schemeClr val="dk2"/>
              </a:solidFill>
              <a:latin typeface="Montserrat"/>
              <a:ea typeface="Montserrat"/>
              <a:cs typeface="Montserrat"/>
              <a:sym typeface="Montserrat"/>
            </a:endParaRPr>
          </a:p>
        </p:txBody>
      </p:sp>
      <p:sp>
        <p:nvSpPr>
          <p:cNvPr id="547" name="Google Shape;547;p11"/>
          <p:cNvSpPr txBox="1"/>
          <p:nvPr/>
        </p:nvSpPr>
        <p:spPr>
          <a:xfrm>
            <a:off x="5400777" y="8980675"/>
            <a:ext cx="6101814" cy="243092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The highest pump isolation</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Strict technology steps</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Critical alignments</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Narrowband operation</a:t>
            </a:r>
            <a:endParaRPr/>
          </a:p>
        </p:txBody>
      </p:sp>
      <p:pic>
        <p:nvPicPr>
          <p:cNvPr id="548" name="Google Shape;548;p11"/>
          <p:cNvPicPr preferRelativeResize="0"/>
          <p:nvPr/>
        </p:nvPicPr>
        <p:blipFill rotWithShape="1">
          <a:blip r:embed="rId3">
            <a:alphaModFix/>
          </a:blip>
          <a:srcRect b="0" l="0" r="0" t="0"/>
          <a:stretch/>
        </p:blipFill>
        <p:spPr>
          <a:xfrm>
            <a:off x="4636426" y="10343312"/>
            <a:ext cx="445584" cy="445584"/>
          </a:xfrm>
          <a:prstGeom prst="rect">
            <a:avLst/>
          </a:prstGeom>
          <a:noFill/>
          <a:ln>
            <a:noFill/>
          </a:ln>
        </p:spPr>
      </p:pic>
      <p:pic>
        <p:nvPicPr>
          <p:cNvPr id="549" name="Google Shape;549;p11"/>
          <p:cNvPicPr preferRelativeResize="0"/>
          <p:nvPr/>
        </p:nvPicPr>
        <p:blipFill rotWithShape="1">
          <a:blip r:embed="rId4">
            <a:alphaModFix/>
          </a:blip>
          <a:srcRect b="0" l="0" r="0" t="0"/>
          <a:stretch/>
        </p:blipFill>
        <p:spPr>
          <a:xfrm>
            <a:off x="13765607" y="9744696"/>
            <a:ext cx="445584" cy="445584"/>
          </a:xfrm>
          <a:prstGeom prst="rect">
            <a:avLst/>
          </a:prstGeom>
          <a:noFill/>
          <a:ln>
            <a:noFill/>
          </a:ln>
        </p:spPr>
      </p:pic>
      <p:sp>
        <p:nvSpPr>
          <p:cNvPr id="550" name="Google Shape;550;p11"/>
          <p:cNvSpPr txBox="1"/>
          <p:nvPr/>
        </p:nvSpPr>
        <p:spPr>
          <a:xfrm>
            <a:off x="14714336" y="8980675"/>
            <a:ext cx="4912541" cy="183075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Relatively smaller isolation</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Fabrication tolerant </a:t>
            </a:r>
            <a:endParaRPr/>
          </a:p>
          <a:p>
            <a:pPr indent="0" lvl="0" marL="0" marR="0" rtl="0" algn="l">
              <a:lnSpc>
                <a:spcPct val="150000"/>
              </a:lnSpc>
              <a:spcBef>
                <a:spcPts val="0"/>
              </a:spcBef>
              <a:spcAft>
                <a:spcPts val="0"/>
              </a:spcAft>
              <a:buNone/>
            </a:pPr>
            <a:r>
              <a:rPr lang="en-US" sz="2600">
                <a:solidFill>
                  <a:schemeClr val="dk2"/>
                </a:solidFill>
                <a:latin typeface="Montserrat"/>
                <a:ea typeface="Montserrat"/>
                <a:cs typeface="Montserrat"/>
                <a:sym typeface="Montserrat"/>
              </a:rPr>
              <a:t>Naturally high-pass and broadband</a:t>
            </a:r>
            <a:endParaRPr/>
          </a:p>
        </p:txBody>
      </p:sp>
      <p:pic>
        <p:nvPicPr>
          <p:cNvPr id="551" name="Google Shape;551;p11"/>
          <p:cNvPicPr preferRelativeResize="0"/>
          <p:nvPr/>
        </p:nvPicPr>
        <p:blipFill rotWithShape="1">
          <a:blip r:embed="rId3">
            <a:alphaModFix/>
          </a:blip>
          <a:srcRect b="0" l="0" r="0" t="0"/>
          <a:stretch/>
        </p:blipFill>
        <p:spPr>
          <a:xfrm>
            <a:off x="13765607" y="9142832"/>
            <a:ext cx="445584" cy="445584"/>
          </a:xfrm>
          <a:prstGeom prst="rect">
            <a:avLst/>
          </a:prstGeom>
          <a:noFill/>
          <a:ln>
            <a:noFill/>
          </a:ln>
        </p:spPr>
      </p:pic>
      <p:pic>
        <p:nvPicPr>
          <p:cNvPr id="552" name="Google Shape;552;p11"/>
          <p:cNvPicPr preferRelativeResize="0"/>
          <p:nvPr/>
        </p:nvPicPr>
        <p:blipFill rotWithShape="1">
          <a:blip r:embed="rId4">
            <a:alphaModFix/>
          </a:blip>
          <a:srcRect b="0" l="0" r="0" t="0"/>
          <a:stretch/>
        </p:blipFill>
        <p:spPr>
          <a:xfrm>
            <a:off x="4636426" y="9148408"/>
            <a:ext cx="445584" cy="445584"/>
          </a:xfrm>
          <a:prstGeom prst="rect">
            <a:avLst/>
          </a:prstGeom>
          <a:noFill/>
          <a:ln>
            <a:noFill/>
          </a:ln>
        </p:spPr>
      </p:pic>
      <p:pic>
        <p:nvPicPr>
          <p:cNvPr id="553" name="Google Shape;553;p11"/>
          <p:cNvPicPr preferRelativeResize="0"/>
          <p:nvPr/>
        </p:nvPicPr>
        <p:blipFill rotWithShape="1">
          <a:blip r:embed="rId4">
            <a:alphaModFix/>
          </a:blip>
          <a:srcRect b="0" l="0" r="0" t="0"/>
          <a:stretch/>
        </p:blipFill>
        <p:spPr>
          <a:xfrm>
            <a:off x="13765607" y="10343840"/>
            <a:ext cx="445584" cy="445584"/>
          </a:xfrm>
          <a:prstGeom prst="rect">
            <a:avLst/>
          </a:prstGeom>
          <a:noFill/>
          <a:ln>
            <a:noFill/>
          </a:ln>
        </p:spPr>
      </p:pic>
      <p:pic>
        <p:nvPicPr>
          <p:cNvPr id="554" name="Google Shape;554;p11"/>
          <p:cNvPicPr preferRelativeResize="0"/>
          <p:nvPr/>
        </p:nvPicPr>
        <p:blipFill rotWithShape="1">
          <a:blip r:embed="rId5">
            <a:alphaModFix/>
          </a:blip>
          <a:srcRect b="0" l="0" r="0" t="0"/>
          <a:stretch/>
        </p:blipFill>
        <p:spPr>
          <a:xfrm>
            <a:off x="3511814" y="4747177"/>
            <a:ext cx="7321926" cy="2857647"/>
          </a:xfrm>
          <a:prstGeom prst="rect">
            <a:avLst/>
          </a:prstGeom>
          <a:noFill/>
          <a:ln>
            <a:noFill/>
          </a:ln>
        </p:spPr>
      </p:pic>
      <p:pic>
        <p:nvPicPr>
          <p:cNvPr id="555" name="Google Shape;555;p11"/>
          <p:cNvPicPr preferRelativeResize="0"/>
          <p:nvPr/>
        </p:nvPicPr>
        <p:blipFill rotWithShape="1">
          <a:blip r:embed="rId3">
            <a:alphaModFix/>
          </a:blip>
          <a:srcRect b="0" l="0" r="0" t="0"/>
          <a:stretch/>
        </p:blipFill>
        <p:spPr>
          <a:xfrm>
            <a:off x="4636426" y="9744696"/>
            <a:ext cx="445584" cy="445584"/>
          </a:xfrm>
          <a:prstGeom prst="rect">
            <a:avLst/>
          </a:prstGeom>
          <a:noFill/>
          <a:ln>
            <a:noFill/>
          </a:ln>
        </p:spPr>
      </p:pic>
      <p:pic>
        <p:nvPicPr>
          <p:cNvPr id="556" name="Google Shape;556;p11"/>
          <p:cNvPicPr preferRelativeResize="0"/>
          <p:nvPr/>
        </p:nvPicPr>
        <p:blipFill rotWithShape="1">
          <a:blip r:embed="rId3">
            <a:alphaModFix/>
          </a:blip>
          <a:srcRect b="0" l="0" r="0" t="0"/>
          <a:stretch/>
        </p:blipFill>
        <p:spPr>
          <a:xfrm>
            <a:off x="4636426" y="10939600"/>
            <a:ext cx="445584" cy="445584"/>
          </a:xfrm>
          <a:prstGeom prst="rect">
            <a:avLst/>
          </a:prstGeom>
          <a:noFill/>
          <a:ln>
            <a:noFill/>
          </a:ln>
        </p:spPr>
      </p:pic>
      <p:pic>
        <p:nvPicPr>
          <p:cNvPr id="557" name="Google Shape;557;p11"/>
          <p:cNvPicPr preferRelativeResize="0"/>
          <p:nvPr/>
        </p:nvPicPr>
        <p:blipFill rotWithShape="1">
          <a:blip r:embed="rId6">
            <a:alphaModFix/>
          </a:blip>
          <a:srcRect b="0" l="0" r="0" t="0"/>
          <a:stretch/>
        </p:blipFill>
        <p:spPr>
          <a:xfrm>
            <a:off x="13044905" y="4654958"/>
            <a:ext cx="3601364" cy="3096411"/>
          </a:xfrm>
          <a:prstGeom prst="rect">
            <a:avLst/>
          </a:prstGeom>
          <a:noFill/>
          <a:ln>
            <a:noFill/>
          </a:ln>
        </p:spPr>
      </p:pic>
      <p:pic>
        <p:nvPicPr>
          <p:cNvPr id="558" name="Google Shape;558;p11"/>
          <p:cNvPicPr preferRelativeResize="0"/>
          <p:nvPr/>
        </p:nvPicPr>
        <p:blipFill rotWithShape="1">
          <a:blip r:embed="rId7">
            <a:alphaModFix/>
          </a:blip>
          <a:srcRect b="0" l="0" r="0" t="0"/>
          <a:stretch/>
        </p:blipFill>
        <p:spPr>
          <a:xfrm>
            <a:off x="17542121" y="4920962"/>
            <a:ext cx="1485182" cy="2829663"/>
          </a:xfrm>
          <a:prstGeom prst="rect">
            <a:avLst/>
          </a:prstGeom>
          <a:noFill/>
          <a:ln>
            <a:noFill/>
          </a:ln>
        </p:spPr>
      </p:pic>
      <p:sp>
        <p:nvSpPr>
          <p:cNvPr id="559" name="Google Shape;559;p11"/>
          <p:cNvSpPr txBox="1"/>
          <p:nvPr/>
        </p:nvSpPr>
        <p:spPr>
          <a:xfrm>
            <a:off x="900456" y="12998939"/>
            <a:ext cx="8053044"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Novel ultra-short and ultrabroadband polarization beam splitter based on a bent directionalcoupler. Optics express, 19(19):18614–18620, 2011.</a:t>
            </a:r>
            <a:endParaRPr sz="1000">
              <a:solidFill>
                <a:schemeClr val="dk2"/>
              </a:solidFill>
              <a:latin typeface="Montserrat"/>
              <a:ea typeface="Montserrat"/>
              <a:cs typeface="Montserrat"/>
              <a:sym typeface="Montserrat"/>
            </a:endParaRPr>
          </a:p>
        </p:txBody>
      </p:sp>
      <p:sp>
        <p:nvSpPr>
          <p:cNvPr id="560" name="Google Shape;560;p11"/>
          <p:cNvSpPr txBox="1"/>
          <p:nvPr/>
        </p:nvSpPr>
        <p:spPr>
          <a:xfrm>
            <a:off x="900456" y="13301490"/>
            <a:ext cx="7811744"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Broadband on-chip polarization mode splitters in lithium niobate integrated adiabatic couplers. Optics express, 27(2):1632–1645, 2019.</a:t>
            </a:r>
            <a:endParaRPr sz="1000">
              <a:solidFill>
                <a:schemeClr val="dk2"/>
              </a:solidFill>
              <a:latin typeface="Montserrat"/>
              <a:ea typeface="Montserrat"/>
              <a:cs typeface="Montserrat"/>
              <a:sym typeface="Montserrat"/>
            </a:endParaRPr>
          </a:p>
        </p:txBody>
      </p:sp>
      <p:sp>
        <p:nvSpPr>
          <p:cNvPr id="561" name="Google Shape;561;p11"/>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562" name="Google Shape;562;p11"/>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Introduction</a:t>
            </a:r>
            <a:endParaRPr/>
          </a:p>
        </p:txBody>
      </p:sp>
      <p:sp>
        <p:nvSpPr>
          <p:cNvPr id="563" name="Google Shape;563;p11"/>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564" name="Google Shape;564;p11"/>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565" name="Google Shape;565;p11"/>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566" name="Google Shape;566;p11"/>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567" name="Google Shape;567;p11"/>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12"/>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The proposed design</a:t>
            </a:r>
            <a:endParaRPr/>
          </a:p>
        </p:txBody>
      </p:sp>
      <p:sp>
        <p:nvSpPr>
          <p:cNvPr id="573" name="Google Shape;573;p12"/>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574" name="Google Shape;574;p12"/>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75" name="Google Shape;575;p12"/>
          <p:cNvPicPr preferRelativeResize="0"/>
          <p:nvPr/>
        </p:nvPicPr>
        <p:blipFill rotWithShape="1">
          <a:blip r:embed="rId3">
            <a:alphaModFix/>
          </a:blip>
          <a:srcRect b="0" l="0" r="0" t="0"/>
          <a:stretch/>
        </p:blipFill>
        <p:spPr>
          <a:xfrm>
            <a:off x="4992323" y="7077922"/>
            <a:ext cx="1971042" cy="666377"/>
          </a:xfrm>
          <a:prstGeom prst="rect">
            <a:avLst/>
          </a:prstGeom>
          <a:noFill/>
          <a:ln>
            <a:noFill/>
          </a:ln>
        </p:spPr>
      </p:pic>
      <p:sp>
        <p:nvSpPr>
          <p:cNvPr id="576" name="Google Shape;576;p12"/>
          <p:cNvSpPr/>
          <p:nvPr/>
        </p:nvSpPr>
        <p:spPr>
          <a:xfrm>
            <a:off x="5559855" y="7930763"/>
            <a:ext cx="939477" cy="383074"/>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577" name="Google Shape;577;p12"/>
          <p:cNvPicPr preferRelativeResize="0"/>
          <p:nvPr/>
        </p:nvPicPr>
        <p:blipFill rotWithShape="1">
          <a:blip r:embed="rId4">
            <a:alphaModFix/>
          </a:blip>
          <a:srcRect b="0" l="0" r="0" t="0"/>
          <a:stretch/>
        </p:blipFill>
        <p:spPr>
          <a:xfrm>
            <a:off x="17187607" y="6695311"/>
            <a:ext cx="1479667" cy="532469"/>
          </a:xfrm>
          <a:prstGeom prst="rect">
            <a:avLst/>
          </a:prstGeom>
          <a:noFill/>
          <a:ln>
            <a:noFill/>
          </a:ln>
        </p:spPr>
      </p:pic>
      <p:sp>
        <p:nvSpPr>
          <p:cNvPr id="578" name="Google Shape;578;p12"/>
          <p:cNvSpPr/>
          <p:nvPr/>
        </p:nvSpPr>
        <p:spPr>
          <a:xfrm>
            <a:off x="17093650" y="8025830"/>
            <a:ext cx="838526" cy="266588"/>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579" name="Google Shape;579;p12"/>
          <p:cNvPicPr preferRelativeResize="0"/>
          <p:nvPr/>
        </p:nvPicPr>
        <p:blipFill rotWithShape="1">
          <a:blip r:embed="rId5">
            <a:alphaModFix/>
          </a:blip>
          <a:srcRect b="0" l="0" r="0" t="0"/>
          <a:stretch/>
        </p:blipFill>
        <p:spPr>
          <a:xfrm>
            <a:off x="17093650" y="8329786"/>
            <a:ext cx="657578" cy="224351"/>
          </a:xfrm>
          <a:prstGeom prst="rect">
            <a:avLst/>
          </a:prstGeom>
          <a:noFill/>
          <a:ln>
            <a:noFill/>
          </a:ln>
        </p:spPr>
      </p:pic>
      <p:cxnSp>
        <p:nvCxnSpPr>
          <p:cNvPr id="580" name="Google Shape;580;p12"/>
          <p:cNvCxnSpPr/>
          <p:nvPr/>
        </p:nvCxnSpPr>
        <p:spPr>
          <a:xfrm rot="10800000">
            <a:off x="7427396" y="5663057"/>
            <a:ext cx="3110305" cy="0"/>
          </a:xfrm>
          <a:prstGeom prst="straightConnector1">
            <a:avLst/>
          </a:prstGeom>
          <a:noFill/>
          <a:ln cap="flat" cmpd="sng" w="38100">
            <a:solidFill>
              <a:srgbClr val="000000"/>
            </a:solidFill>
            <a:prstDash val="solid"/>
            <a:miter lim="800000"/>
            <a:headEnd len="med" w="med" type="triangle"/>
            <a:tailEnd len="med" w="med" type="triangle"/>
          </a:ln>
        </p:spPr>
      </p:cxnSp>
      <p:pic>
        <p:nvPicPr>
          <p:cNvPr id="581" name="Google Shape;581;p12"/>
          <p:cNvPicPr preferRelativeResize="0"/>
          <p:nvPr/>
        </p:nvPicPr>
        <p:blipFill rotWithShape="1">
          <a:blip r:embed="rId6">
            <a:alphaModFix/>
          </a:blip>
          <a:srcRect b="0" l="0" r="0" t="0"/>
          <a:stretch/>
        </p:blipFill>
        <p:spPr>
          <a:xfrm>
            <a:off x="7168838" y="4346004"/>
            <a:ext cx="3187334" cy="657205"/>
          </a:xfrm>
          <a:prstGeom prst="rect">
            <a:avLst/>
          </a:prstGeom>
          <a:noFill/>
          <a:ln>
            <a:noFill/>
          </a:ln>
        </p:spPr>
      </p:pic>
      <p:cxnSp>
        <p:nvCxnSpPr>
          <p:cNvPr id="582" name="Google Shape;582;p12"/>
          <p:cNvCxnSpPr/>
          <p:nvPr/>
        </p:nvCxnSpPr>
        <p:spPr>
          <a:xfrm rot="10800000">
            <a:off x="10561366" y="5667330"/>
            <a:ext cx="3110305" cy="0"/>
          </a:xfrm>
          <a:prstGeom prst="straightConnector1">
            <a:avLst/>
          </a:prstGeom>
          <a:noFill/>
          <a:ln cap="flat" cmpd="sng" w="38100">
            <a:solidFill>
              <a:srgbClr val="000000"/>
            </a:solidFill>
            <a:prstDash val="solid"/>
            <a:miter lim="800000"/>
            <a:headEnd len="med" w="med" type="triangle"/>
            <a:tailEnd len="med" w="med" type="triangle"/>
          </a:ln>
        </p:spPr>
      </p:cxnSp>
      <p:pic>
        <p:nvPicPr>
          <p:cNvPr id="583" name="Google Shape;583;p12"/>
          <p:cNvPicPr preferRelativeResize="0"/>
          <p:nvPr/>
        </p:nvPicPr>
        <p:blipFill rotWithShape="1">
          <a:blip r:embed="rId7">
            <a:alphaModFix/>
          </a:blip>
          <a:srcRect b="0" l="0" r="0" t="0"/>
          <a:stretch/>
        </p:blipFill>
        <p:spPr>
          <a:xfrm>
            <a:off x="11771299" y="4346004"/>
            <a:ext cx="770293" cy="649641"/>
          </a:xfrm>
          <a:prstGeom prst="rect">
            <a:avLst/>
          </a:prstGeom>
          <a:noFill/>
          <a:ln>
            <a:noFill/>
          </a:ln>
        </p:spPr>
      </p:pic>
      <p:cxnSp>
        <p:nvCxnSpPr>
          <p:cNvPr id="584" name="Google Shape;584;p12"/>
          <p:cNvCxnSpPr/>
          <p:nvPr/>
        </p:nvCxnSpPr>
        <p:spPr>
          <a:xfrm rot="10800000">
            <a:off x="13690606" y="5663057"/>
            <a:ext cx="3110305" cy="0"/>
          </a:xfrm>
          <a:prstGeom prst="straightConnector1">
            <a:avLst/>
          </a:prstGeom>
          <a:noFill/>
          <a:ln cap="flat" cmpd="sng" w="38100">
            <a:solidFill>
              <a:srgbClr val="000000"/>
            </a:solidFill>
            <a:prstDash val="solid"/>
            <a:miter lim="800000"/>
            <a:headEnd len="med" w="med" type="triangle"/>
            <a:tailEnd len="med" w="med" type="triangle"/>
          </a:ln>
        </p:spPr>
      </p:cxnSp>
      <p:pic>
        <p:nvPicPr>
          <p:cNvPr id="585" name="Google Shape;585;p12"/>
          <p:cNvPicPr preferRelativeResize="0"/>
          <p:nvPr/>
        </p:nvPicPr>
        <p:blipFill rotWithShape="1">
          <a:blip r:embed="rId8">
            <a:alphaModFix/>
          </a:blip>
          <a:srcRect b="0" l="0" r="0" t="0"/>
          <a:stretch/>
        </p:blipFill>
        <p:spPr>
          <a:xfrm>
            <a:off x="14344180" y="4342221"/>
            <a:ext cx="1982963" cy="657205"/>
          </a:xfrm>
          <a:prstGeom prst="rect">
            <a:avLst/>
          </a:prstGeom>
          <a:noFill/>
          <a:ln>
            <a:noFill/>
          </a:ln>
        </p:spPr>
      </p:pic>
      <p:grpSp>
        <p:nvGrpSpPr>
          <p:cNvPr id="586" name="Google Shape;586;p12"/>
          <p:cNvGrpSpPr/>
          <p:nvPr/>
        </p:nvGrpSpPr>
        <p:grpSpPr>
          <a:xfrm>
            <a:off x="7286240" y="6311557"/>
            <a:ext cx="9649591" cy="4708713"/>
            <a:chOff x="2812834" y="2300145"/>
            <a:chExt cx="6471662" cy="3157978"/>
          </a:xfrm>
        </p:grpSpPr>
        <p:sp>
          <p:nvSpPr>
            <p:cNvPr id="587" name="Google Shape;587;p12"/>
            <p:cNvSpPr/>
            <p:nvPr/>
          </p:nvSpPr>
          <p:spPr>
            <a:xfrm rot="5400000">
              <a:off x="4517011" y="690638"/>
              <a:ext cx="3157978" cy="6376992"/>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nvGrpSpPr>
            <p:cNvPr id="588" name="Google Shape;588;p12"/>
            <p:cNvGrpSpPr/>
            <p:nvPr/>
          </p:nvGrpSpPr>
          <p:grpSpPr>
            <a:xfrm>
              <a:off x="2907506" y="3008488"/>
              <a:ext cx="6376988" cy="1877615"/>
              <a:chOff x="3160385" y="2239519"/>
              <a:chExt cx="6376988" cy="2673534"/>
            </a:xfrm>
          </p:grpSpPr>
          <p:sp>
            <p:nvSpPr>
              <p:cNvPr id="589" name="Google Shape;589;p12"/>
              <p:cNvSpPr/>
              <p:nvPr/>
            </p:nvSpPr>
            <p:spPr>
              <a:xfrm rot="5400000">
                <a:off x="4108122" y="1946456"/>
                <a:ext cx="206376" cy="2101850"/>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590" name="Google Shape;590;p12"/>
              <p:cNvSpPr/>
              <p:nvPr/>
            </p:nvSpPr>
            <p:spPr>
              <a:xfrm rot="5400000">
                <a:off x="6138536" y="2427470"/>
                <a:ext cx="317501"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591" name="Google Shape;591;p12"/>
              <p:cNvSpPr/>
              <p:nvPr/>
            </p:nvSpPr>
            <p:spPr>
              <a:xfrm rot="5400000">
                <a:off x="8178473" y="2076631"/>
                <a:ext cx="206376" cy="1841500"/>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592" name="Google Shape;592;p12"/>
              <p:cNvSpPr/>
              <p:nvPr/>
            </p:nvSpPr>
            <p:spPr>
              <a:xfrm flipH="1" rot="-5400000">
                <a:off x="8178473" y="1421957"/>
                <a:ext cx="206376" cy="1841500"/>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593" name="Google Shape;593;p12"/>
              <p:cNvSpPr/>
              <p:nvPr/>
            </p:nvSpPr>
            <p:spPr>
              <a:xfrm rot="5400000">
                <a:off x="8113385" y="1744845"/>
                <a:ext cx="342901" cy="1841500"/>
              </a:xfrm>
              <a:custGeom>
                <a:rect b="b" l="l" r="r" t="t"/>
                <a:pathLst>
                  <a:path extrusionOk="0" h="1851025" w="342900">
                    <a:moveTo>
                      <a:pt x="136525" y="0"/>
                    </a:moveTo>
                    <a:lnTo>
                      <a:pt x="342900" y="0"/>
                    </a:lnTo>
                    <a:lnTo>
                      <a:pt x="203200" y="1851025"/>
                    </a:lnTo>
                    <a:lnTo>
                      <a:pt x="0" y="1851025"/>
                    </a:lnTo>
                    <a:lnTo>
                      <a:pt x="13652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594" name="Google Shape;594;p12"/>
              <p:cNvSpPr/>
              <p:nvPr/>
            </p:nvSpPr>
            <p:spPr>
              <a:xfrm rot="5400000">
                <a:off x="6209972" y="1946457"/>
                <a:ext cx="206376" cy="2101850"/>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595" name="Google Shape;595;p12"/>
              <p:cNvSpPr/>
              <p:nvPr/>
            </p:nvSpPr>
            <p:spPr>
              <a:xfrm rot="5400000">
                <a:off x="7278360" y="2654040"/>
                <a:ext cx="206376" cy="4311650"/>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596" name="Google Shape;596;p12"/>
              <p:cNvSpPr/>
              <p:nvPr/>
            </p:nvSpPr>
            <p:spPr>
              <a:xfrm rot="5400000">
                <a:off x="9266704" y="2175226"/>
                <a:ext cx="206376" cy="334963"/>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597" name="Google Shape;597;p12"/>
              <p:cNvSpPr/>
              <p:nvPr/>
            </p:nvSpPr>
            <p:spPr>
              <a:xfrm rot="5400000">
                <a:off x="9296707" y="2827786"/>
                <a:ext cx="146370" cy="334963"/>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598" name="Google Shape;598;p12"/>
              <p:cNvSpPr/>
              <p:nvPr/>
            </p:nvSpPr>
            <p:spPr>
              <a:xfrm rot="5400000">
                <a:off x="6761262" y="2856931"/>
                <a:ext cx="317501"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599" name="Google Shape;599;p12"/>
              <p:cNvSpPr/>
              <p:nvPr/>
            </p:nvSpPr>
            <p:spPr>
              <a:xfrm rot="5400000">
                <a:off x="7372976" y="3277920"/>
                <a:ext cx="317501"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pic>
          <p:nvPicPr>
            <p:cNvPr id="600" name="Google Shape;600;p12"/>
            <p:cNvPicPr preferRelativeResize="0"/>
            <p:nvPr/>
          </p:nvPicPr>
          <p:blipFill rotWithShape="1">
            <a:blip r:embed="rId9">
              <a:alphaModFix/>
            </a:blip>
            <a:srcRect b="0" l="0" r="0" t="0"/>
            <a:stretch/>
          </p:blipFill>
          <p:spPr>
            <a:xfrm>
              <a:off x="3717195" y="3115186"/>
              <a:ext cx="511701" cy="143341"/>
            </a:xfrm>
            <a:prstGeom prst="rect">
              <a:avLst/>
            </a:prstGeom>
            <a:noFill/>
            <a:ln>
              <a:noFill/>
            </a:ln>
          </p:spPr>
        </p:pic>
        <p:grpSp>
          <p:nvGrpSpPr>
            <p:cNvPr id="601" name="Google Shape;601;p12"/>
            <p:cNvGrpSpPr/>
            <p:nvPr/>
          </p:nvGrpSpPr>
          <p:grpSpPr>
            <a:xfrm>
              <a:off x="2933723" y="3412017"/>
              <a:ext cx="2046723" cy="254459"/>
              <a:chOff x="927552" y="3301771"/>
              <a:chExt cx="2046723" cy="254459"/>
            </a:xfrm>
          </p:grpSpPr>
          <p:sp>
            <p:nvSpPr>
              <p:cNvPr id="602" name="Google Shape;602;p12"/>
              <p:cNvSpPr/>
              <p:nvPr/>
            </p:nvSpPr>
            <p:spPr>
              <a:xfrm flipH="1">
                <a:off x="927552" y="3301775"/>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03" name="Google Shape;603;p12"/>
              <p:cNvSpPr/>
              <p:nvPr/>
            </p:nvSpPr>
            <p:spPr>
              <a:xfrm flipH="1">
                <a:off x="1018990" y="3301774"/>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04" name="Google Shape;604;p12"/>
              <p:cNvSpPr/>
              <p:nvPr/>
            </p:nvSpPr>
            <p:spPr>
              <a:xfrm flipH="1">
                <a:off x="1114755" y="3301774"/>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05" name="Google Shape;605;p12"/>
              <p:cNvSpPr/>
              <p:nvPr/>
            </p:nvSpPr>
            <p:spPr>
              <a:xfrm flipH="1">
                <a:off x="1206193" y="3301772"/>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06" name="Google Shape;606;p12"/>
              <p:cNvSpPr/>
              <p:nvPr/>
            </p:nvSpPr>
            <p:spPr>
              <a:xfrm flipH="1">
                <a:off x="1292043" y="3301772"/>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07" name="Google Shape;607;p12"/>
              <p:cNvSpPr/>
              <p:nvPr/>
            </p:nvSpPr>
            <p:spPr>
              <a:xfrm flipH="1">
                <a:off x="1383481" y="3301771"/>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08" name="Google Shape;608;p12"/>
              <p:cNvSpPr/>
              <p:nvPr/>
            </p:nvSpPr>
            <p:spPr>
              <a:xfrm flipH="1">
                <a:off x="1474919" y="3301775"/>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09" name="Google Shape;609;p12"/>
              <p:cNvSpPr/>
              <p:nvPr/>
            </p:nvSpPr>
            <p:spPr>
              <a:xfrm flipH="1">
                <a:off x="1566357" y="3301774"/>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10" name="Google Shape;610;p12"/>
              <p:cNvSpPr/>
              <p:nvPr/>
            </p:nvSpPr>
            <p:spPr>
              <a:xfrm flipH="1">
                <a:off x="1662122" y="3301774"/>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11" name="Google Shape;611;p12"/>
              <p:cNvSpPr/>
              <p:nvPr/>
            </p:nvSpPr>
            <p:spPr>
              <a:xfrm flipH="1">
                <a:off x="1753560" y="3301772"/>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12" name="Google Shape;612;p12"/>
              <p:cNvSpPr/>
              <p:nvPr/>
            </p:nvSpPr>
            <p:spPr>
              <a:xfrm flipH="1">
                <a:off x="1839410" y="3301772"/>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13" name="Google Shape;613;p12"/>
              <p:cNvSpPr/>
              <p:nvPr/>
            </p:nvSpPr>
            <p:spPr>
              <a:xfrm flipH="1">
                <a:off x="1930848" y="3301771"/>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14" name="Google Shape;614;p12"/>
              <p:cNvSpPr/>
              <p:nvPr/>
            </p:nvSpPr>
            <p:spPr>
              <a:xfrm flipH="1">
                <a:off x="2016698" y="3301775"/>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15" name="Google Shape;615;p12"/>
              <p:cNvSpPr/>
              <p:nvPr/>
            </p:nvSpPr>
            <p:spPr>
              <a:xfrm flipH="1">
                <a:off x="2108136" y="3301774"/>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16" name="Google Shape;616;p12"/>
              <p:cNvSpPr/>
              <p:nvPr/>
            </p:nvSpPr>
            <p:spPr>
              <a:xfrm flipH="1">
                <a:off x="2203901" y="3301774"/>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17" name="Google Shape;617;p12"/>
              <p:cNvSpPr/>
              <p:nvPr/>
            </p:nvSpPr>
            <p:spPr>
              <a:xfrm flipH="1">
                <a:off x="2295339" y="3301772"/>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18" name="Google Shape;618;p12"/>
              <p:cNvSpPr/>
              <p:nvPr/>
            </p:nvSpPr>
            <p:spPr>
              <a:xfrm flipH="1">
                <a:off x="2381189" y="3301772"/>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19" name="Google Shape;619;p12"/>
              <p:cNvSpPr/>
              <p:nvPr/>
            </p:nvSpPr>
            <p:spPr>
              <a:xfrm flipH="1">
                <a:off x="2472627" y="3301771"/>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20" name="Google Shape;620;p12"/>
              <p:cNvSpPr/>
              <p:nvPr/>
            </p:nvSpPr>
            <p:spPr>
              <a:xfrm flipH="1">
                <a:off x="2564065" y="3301775"/>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21" name="Google Shape;621;p12"/>
              <p:cNvSpPr/>
              <p:nvPr/>
            </p:nvSpPr>
            <p:spPr>
              <a:xfrm flipH="1">
                <a:off x="2655503" y="3301774"/>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22" name="Google Shape;622;p12"/>
              <p:cNvSpPr/>
              <p:nvPr/>
            </p:nvSpPr>
            <p:spPr>
              <a:xfrm flipH="1">
                <a:off x="2751268" y="3301773"/>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23" name="Google Shape;623;p12"/>
              <p:cNvSpPr/>
              <p:nvPr/>
            </p:nvSpPr>
            <p:spPr>
              <a:xfrm flipH="1">
                <a:off x="2842706" y="3301771"/>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24" name="Google Shape;624;p12"/>
              <p:cNvSpPr/>
              <p:nvPr/>
            </p:nvSpPr>
            <p:spPr>
              <a:xfrm flipH="1">
                <a:off x="2928556" y="3301771"/>
                <a:ext cx="45719" cy="254455"/>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sp>
          <p:nvSpPr>
            <p:cNvPr id="625" name="Google Shape;625;p12"/>
            <p:cNvSpPr/>
            <p:nvPr/>
          </p:nvSpPr>
          <p:spPr>
            <a:xfrm flipH="1">
              <a:off x="2812834" y="3839097"/>
              <a:ext cx="45719" cy="25445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sp>
        <p:nvSpPr>
          <p:cNvPr id="626" name="Google Shape;626;p12"/>
          <p:cNvSpPr/>
          <p:nvPr/>
        </p:nvSpPr>
        <p:spPr>
          <a:xfrm>
            <a:off x="17093650" y="7342494"/>
            <a:ext cx="838526" cy="266588"/>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627" name="Google Shape;627;p12"/>
          <p:cNvPicPr preferRelativeResize="0"/>
          <p:nvPr/>
        </p:nvPicPr>
        <p:blipFill rotWithShape="1">
          <a:blip r:embed="rId10">
            <a:alphaModFix/>
          </a:blip>
          <a:srcRect b="0" l="0" r="0" t="0"/>
          <a:stretch/>
        </p:blipFill>
        <p:spPr>
          <a:xfrm>
            <a:off x="17084182" y="9196495"/>
            <a:ext cx="1432372" cy="529493"/>
          </a:xfrm>
          <a:prstGeom prst="rect">
            <a:avLst/>
          </a:prstGeom>
          <a:noFill/>
          <a:ln>
            <a:noFill/>
          </a:ln>
        </p:spPr>
      </p:pic>
      <p:sp>
        <p:nvSpPr>
          <p:cNvPr id="628" name="Google Shape;628;p12"/>
          <p:cNvSpPr/>
          <p:nvPr/>
        </p:nvSpPr>
        <p:spPr>
          <a:xfrm>
            <a:off x="17084183" y="9926009"/>
            <a:ext cx="838526" cy="266588"/>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629" name="Google Shape;629;p12"/>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630" name="Google Shape;630;p12"/>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Introduction</a:t>
            </a:r>
            <a:endParaRPr/>
          </a:p>
        </p:txBody>
      </p:sp>
      <p:sp>
        <p:nvSpPr>
          <p:cNvPr id="631" name="Google Shape;631;p12"/>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632" name="Google Shape;632;p12"/>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633" name="Google Shape;633;p12"/>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634" name="Google Shape;634;p12"/>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635" name="Google Shape;635;p12"/>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13"/>
          <p:cNvSpPr txBox="1"/>
          <p:nvPr/>
        </p:nvSpPr>
        <p:spPr>
          <a:xfrm>
            <a:off x="5955030" y="5460254"/>
            <a:ext cx="12467590"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0">
                <a:solidFill>
                  <a:schemeClr val="dk2"/>
                </a:solidFill>
                <a:latin typeface="Montserrat"/>
                <a:ea typeface="Montserrat"/>
                <a:cs typeface="Montserrat"/>
                <a:sym typeface="Montserrat"/>
              </a:rPr>
              <a:t>Theory</a:t>
            </a:r>
            <a:endParaRPr/>
          </a:p>
        </p:txBody>
      </p:sp>
      <p:sp>
        <p:nvSpPr>
          <p:cNvPr id="642" name="Google Shape;642;p13"/>
          <p:cNvSpPr txBox="1"/>
          <p:nvPr/>
        </p:nvSpPr>
        <p:spPr>
          <a:xfrm>
            <a:off x="6572250" y="7734635"/>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643" name="Google Shape;643;p13"/>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44" name="Google Shape;644;p13"/>
          <p:cNvSpPr/>
          <p:nvPr/>
        </p:nvSpPr>
        <p:spPr>
          <a:xfrm flipH="1">
            <a:off x="19337650" y="1047600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645" name="Google Shape;645;p13"/>
          <p:cNvSpPr/>
          <p:nvPr/>
        </p:nvSpPr>
        <p:spPr>
          <a:xfrm flipH="1" rot="10800000">
            <a:off x="0" y="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646" name="Google Shape;646;p13"/>
          <p:cNvSpPr/>
          <p:nvPr/>
        </p:nvSpPr>
        <p:spPr>
          <a:xfrm flipH="1" rot="10800000">
            <a:off x="7640888" y="7375745"/>
            <a:ext cx="9095874" cy="10081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4"/>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Sum frequency generation/SPDC</a:t>
            </a:r>
            <a:endParaRPr b="1" sz="5400">
              <a:solidFill>
                <a:schemeClr val="dk2"/>
              </a:solidFill>
              <a:latin typeface="Montserrat"/>
              <a:ea typeface="Montserrat"/>
              <a:cs typeface="Montserrat"/>
              <a:sym typeface="Montserrat"/>
            </a:endParaRPr>
          </a:p>
        </p:txBody>
      </p:sp>
      <p:sp>
        <p:nvSpPr>
          <p:cNvPr id="652" name="Google Shape;652;p14"/>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653" name="Google Shape;653;p14"/>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654" name="Google Shape;654;p14"/>
          <p:cNvCxnSpPr/>
          <p:nvPr/>
        </p:nvCxnSpPr>
        <p:spPr>
          <a:xfrm>
            <a:off x="2777042" y="6441272"/>
            <a:ext cx="1421012" cy="0"/>
          </a:xfrm>
          <a:prstGeom prst="straightConnector1">
            <a:avLst/>
          </a:prstGeom>
          <a:noFill/>
          <a:ln cap="flat" cmpd="sng" w="76200">
            <a:solidFill>
              <a:srgbClr val="FF0000"/>
            </a:solidFill>
            <a:prstDash val="solid"/>
            <a:miter lim="800000"/>
            <a:headEnd len="sm" w="sm" type="none"/>
            <a:tailEnd len="med" w="med" type="triangle"/>
          </a:ln>
        </p:spPr>
      </p:cxnSp>
      <p:cxnSp>
        <p:nvCxnSpPr>
          <p:cNvPr id="655" name="Google Shape;655;p14"/>
          <p:cNvCxnSpPr/>
          <p:nvPr/>
        </p:nvCxnSpPr>
        <p:spPr>
          <a:xfrm>
            <a:off x="2777042" y="5644547"/>
            <a:ext cx="1421012" cy="0"/>
          </a:xfrm>
          <a:prstGeom prst="straightConnector1">
            <a:avLst/>
          </a:prstGeom>
          <a:noFill/>
          <a:ln cap="flat" cmpd="sng" w="76200">
            <a:solidFill>
              <a:srgbClr val="00B0F0"/>
            </a:solidFill>
            <a:prstDash val="solid"/>
            <a:miter lim="800000"/>
            <a:headEnd len="sm" w="sm" type="none"/>
            <a:tailEnd len="med" w="med" type="triangle"/>
          </a:ln>
        </p:spPr>
      </p:cxnSp>
      <p:sp>
        <p:nvSpPr>
          <p:cNvPr id="656" name="Google Shape;656;p14"/>
          <p:cNvSpPr/>
          <p:nvPr/>
        </p:nvSpPr>
        <p:spPr>
          <a:xfrm>
            <a:off x="4319612" y="5291642"/>
            <a:ext cx="2962589" cy="1554105"/>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657" name="Google Shape;657;p14"/>
          <p:cNvCxnSpPr/>
          <p:nvPr/>
        </p:nvCxnSpPr>
        <p:spPr>
          <a:xfrm>
            <a:off x="7390051" y="6086526"/>
            <a:ext cx="1542863" cy="0"/>
          </a:xfrm>
          <a:prstGeom prst="straightConnector1">
            <a:avLst/>
          </a:prstGeom>
          <a:noFill/>
          <a:ln cap="flat" cmpd="sng" w="76200">
            <a:solidFill>
              <a:srgbClr val="00B050"/>
            </a:solidFill>
            <a:prstDash val="solid"/>
            <a:miter lim="800000"/>
            <a:headEnd len="sm" w="sm" type="none"/>
            <a:tailEnd len="med" w="med" type="triangle"/>
          </a:ln>
        </p:spPr>
      </p:cxnSp>
      <p:sp>
        <p:nvSpPr>
          <p:cNvPr id="658" name="Google Shape;658;p14"/>
          <p:cNvSpPr txBox="1"/>
          <p:nvPr/>
        </p:nvSpPr>
        <p:spPr>
          <a:xfrm>
            <a:off x="4647808" y="5836601"/>
            <a:ext cx="2391666"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0000"/>
                </a:solidFill>
                <a:latin typeface="Calibri"/>
                <a:ea typeface="Calibri"/>
                <a:cs typeface="Calibri"/>
                <a:sym typeface="Calibri"/>
              </a:rPr>
              <a:t>SFG (classical)</a:t>
            </a:r>
            <a:endParaRPr/>
          </a:p>
        </p:txBody>
      </p:sp>
      <p:cxnSp>
        <p:nvCxnSpPr>
          <p:cNvPr id="659" name="Google Shape;659;p14"/>
          <p:cNvCxnSpPr/>
          <p:nvPr/>
        </p:nvCxnSpPr>
        <p:spPr>
          <a:xfrm>
            <a:off x="7402592" y="10520152"/>
            <a:ext cx="1421012" cy="0"/>
          </a:xfrm>
          <a:prstGeom prst="straightConnector1">
            <a:avLst/>
          </a:prstGeom>
          <a:noFill/>
          <a:ln cap="flat" cmpd="sng" w="76200">
            <a:solidFill>
              <a:srgbClr val="FF0000"/>
            </a:solidFill>
            <a:prstDash val="solid"/>
            <a:miter lim="800000"/>
            <a:headEnd len="sm" w="sm" type="none"/>
            <a:tailEnd len="med" w="med" type="triangle"/>
          </a:ln>
        </p:spPr>
      </p:cxnSp>
      <p:cxnSp>
        <p:nvCxnSpPr>
          <p:cNvPr id="660" name="Google Shape;660;p14"/>
          <p:cNvCxnSpPr/>
          <p:nvPr/>
        </p:nvCxnSpPr>
        <p:spPr>
          <a:xfrm>
            <a:off x="7402592" y="9723427"/>
            <a:ext cx="1421012" cy="0"/>
          </a:xfrm>
          <a:prstGeom prst="straightConnector1">
            <a:avLst/>
          </a:prstGeom>
          <a:noFill/>
          <a:ln cap="flat" cmpd="sng" w="76200">
            <a:solidFill>
              <a:srgbClr val="00B0F0"/>
            </a:solidFill>
            <a:prstDash val="solid"/>
            <a:miter lim="800000"/>
            <a:headEnd len="sm" w="sm" type="none"/>
            <a:tailEnd len="med" w="med" type="triangle"/>
          </a:ln>
        </p:spPr>
      </p:cxnSp>
      <p:sp>
        <p:nvSpPr>
          <p:cNvPr id="661" name="Google Shape;661;p14"/>
          <p:cNvSpPr/>
          <p:nvPr/>
        </p:nvSpPr>
        <p:spPr>
          <a:xfrm>
            <a:off x="4362348" y="9305166"/>
            <a:ext cx="2962589" cy="1554105"/>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662" name="Google Shape;662;p14"/>
          <p:cNvCxnSpPr/>
          <p:nvPr/>
        </p:nvCxnSpPr>
        <p:spPr>
          <a:xfrm>
            <a:off x="2685326" y="10081155"/>
            <a:ext cx="1542863" cy="0"/>
          </a:xfrm>
          <a:prstGeom prst="straightConnector1">
            <a:avLst/>
          </a:prstGeom>
          <a:noFill/>
          <a:ln cap="flat" cmpd="sng" w="76200">
            <a:solidFill>
              <a:srgbClr val="00B050"/>
            </a:solidFill>
            <a:prstDash val="solid"/>
            <a:miter lim="800000"/>
            <a:headEnd len="sm" w="sm" type="none"/>
            <a:tailEnd len="med" w="med" type="triangle"/>
          </a:ln>
        </p:spPr>
      </p:cxnSp>
      <p:sp>
        <p:nvSpPr>
          <p:cNvPr id="663" name="Google Shape;663;p14"/>
          <p:cNvSpPr txBox="1"/>
          <p:nvPr/>
        </p:nvSpPr>
        <p:spPr>
          <a:xfrm>
            <a:off x="4408165" y="9788071"/>
            <a:ext cx="281190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0000"/>
                </a:solidFill>
                <a:latin typeface="Calibri"/>
                <a:ea typeface="Calibri"/>
                <a:cs typeface="Calibri"/>
                <a:sym typeface="Calibri"/>
              </a:rPr>
              <a:t>SPDC (quantum)</a:t>
            </a:r>
            <a:endParaRPr/>
          </a:p>
        </p:txBody>
      </p:sp>
      <p:sp>
        <p:nvSpPr>
          <p:cNvPr id="664" name="Google Shape;664;p14"/>
          <p:cNvSpPr/>
          <p:nvPr/>
        </p:nvSpPr>
        <p:spPr>
          <a:xfrm>
            <a:off x="5631819" y="7458662"/>
            <a:ext cx="423641" cy="1233589"/>
          </a:xfrm>
          <a:prstGeom prst="upDown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665" name="Google Shape;665;p14"/>
          <p:cNvCxnSpPr/>
          <p:nvPr/>
        </p:nvCxnSpPr>
        <p:spPr>
          <a:xfrm>
            <a:off x="11481547" y="4966941"/>
            <a:ext cx="2348075" cy="0"/>
          </a:xfrm>
          <a:prstGeom prst="straightConnector1">
            <a:avLst/>
          </a:prstGeom>
          <a:noFill/>
          <a:ln cap="flat" cmpd="sng" w="76200">
            <a:solidFill>
              <a:srgbClr val="000000"/>
            </a:solidFill>
            <a:prstDash val="dash"/>
            <a:miter lim="800000"/>
            <a:headEnd len="sm" w="sm" type="none"/>
            <a:tailEnd len="sm" w="sm" type="none"/>
          </a:ln>
        </p:spPr>
      </p:cxnSp>
      <p:cxnSp>
        <p:nvCxnSpPr>
          <p:cNvPr id="666" name="Google Shape;666;p14"/>
          <p:cNvCxnSpPr/>
          <p:nvPr/>
        </p:nvCxnSpPr>
        <p:spPr>
          <a:xfrm>
            <a:off x="11481547" y="7353264"/>
            <a:ext cx="2348075" cy="0"/>
          </a:xfrm>
          <a:prstGeom prst="straightConnector1">
            <a:avLst/>
          </a:prstGeom>
          <a:noFill/>
          <a:ln cap="flat" cmpd="sng" w="76200">
            <a:solidFill>
              <a:srgbClr val="000000"/>
            </a:solidFill>
            <a:prstDash val="solid"/>
            <a:miter lim="800000"/>
            <a:headEnd len="sm" w="sm" type="none"/>
            <a:tailEnd len="sm" w="sm" type="none"/>
          </a:ln>
        </p:spPr>
      </p:cxnSp>
      <p:cxnSp>
        <p:nvCxnSpPr>
          <p:cNvPr id="667" name="Google Shape;667;p14"/>
          <p:cNvCxnSpPr/>
          <p:nvPr/>
        </p:nvCxnSpPr>
        <p:spPr>
          <a:xfrm>
            <a:off x="11481547" y="6162210"/>
            <a:ext cx="1481637" cy="0"/>
          </a:xfrm>
          <a:prstGeom prst="straightConnector1">
            <a:avLst/>
          </a:prstGeom>
          <a:noFill/>
          <a:ln cap="flat" cmpd="sng" w="76200">
            <a:solidFill>
              <a:srgbClr val="000000"/>
            </a:solidFill>
            <a:prstDash val="dash"/>
            <a:miter lim="800000"/>
            <a:headEnd len="sm" w="sm" type="none"/>
            <a:tailEnd len="sm" w="sm" type="none"/>
          </a:ln>
        </p:spPr>
      </p:cxnSp>
      <p:cxnSp>
        <p:nvCxnSpPr>
          <p:cNvPr id="668" name="Google Shape;668;p14"/>
          <p:cNvCxnSpPr/>
          <p:nvPr/>
        </p:nvCxnSpPr>
        <p:spPr>
          <a:xfrm rot="10800000">
            <a:off x="12067173" y="5002885"/>
            <a:ext cx="0" cy="1149989"/>
          </a:xfrm>
          <a:prstGeom prst="straightConnector1">
            <a:avLst/>
          </a:prstGeom>
          <a:noFill/>
          <a:ln cap="flat" cmpd="sng" w="76200">
            <a:solidFill>
              <a:srgbClr val="FF0000"/>
            </a:solidFill>
            <a:prstDash val="solid"/>
            <a:miter lim="800000"/>
            <a:headEnd len="sm" w="sm" type="none"/>
            <a:tailEnd len="med" w="med" type="triangle"/>
          </a:ln>
        </p:spPr>
      </p:cxnSp>
      <p:cxnSp>
        <p:nvCxnSpPr>
          <p:cNvPr id="669" name="Google Shape;669;p14"/>
          <p:cNvCxnSpPr/>
          <p:nvPr/>
        </p:nvCxnSpPr>
        <p:spPr>
          <a:xfrm rot="10800000">
            <a:off x="12067173" y="6175322"/>
            <a:ext cx="0" cy="1165490"/>
          </a:xfrm>
          <a:prstGeom prst="straightConnector1">
            <a:avLst/>
          </a:prstGeom>
          <a:noFill/>
          <a:ln cap="flat" cmpd="sng" w="76200">
            <a:solidFill>
              <a:srgbClr val="00B0F0"/>
            </a:solidFill>
            <a:prstDash val="solid"/>
            <a:miter lim="800000"/>
            <a:headEnd len="sm" w="sm" type="none"/>
            <a:tailEnd len="med" w="med" type="triangle"/>
          </a:ln>
        </p:spPr>
      </p:cxnSp>
      <p:cxnSp>
        <p:nvCxnSpPr>
          <p:cNvPr id="670" name="Google Shape;670;p14"/>
          <p:cNvCxnSpPr/>
          <p:nvPr/>
        </p:nvCxnSpPr>
        <p:spPr>
          <a:xfrm>
            <a:off x="13280342" y="4979393"/>
            <a:ext cx="0" cy="2361423"/>
          </a:xfrm>
          <a:prstGeom prst="straightConnector1">
            <a:avLst/>
          </a:prstGeom>
          <a:noFill/>
          <a:ln cap="flat" cmpd="sng" w="76200">
            <a:solidFill>
              <a:srgbClr val="00B050"/>
            </a:solidFill>
            <a:prstDash val="solid"/>
            <a:miter lim="800000"/>
            <a:headEnd len="sm" w="sm" type="none"/>
            <a:tailEnd len="med" w="med" type="triangle"/>
          </a:ln>
        </p:spPr>
      </p:cxnSp>
      <p:cxnSp>
        <p:nvCxnSpPr>
          <p:cNvPr id="671" name="Google Shape;671;p14"/>
          <p:cNvCxnSpPr/>
          <p:nvPr/>
        </p:nvCxnSpPr>
        <p:spPr>
          <a:xfrm>
            <a:off x="11474039" y="8822701"/>
            <a:ext cx="2348075" cy="0"/>
          </a:xfrm>
          <a:prstGeom prst="straightConnector1">
            <a:avLst/>
          </a:prstGeom>
          <a:noFill/>
          <a:ln cap="flat" cmpd="sng" w="76200">
            <a:solidFill>
              <a:srgbClr val="000000"/>
            </a:solidFill>
            <a:prstDash val="dash"/>
            <a:miter lim="800000"/>
            <a:headEnd len="sm" w="sm" type="none"/>
            <a:tailEnd len="sm" w="sm" type="none"/>
          </a:ln>
        </p:spPr>
      </p:cxnSp>
      <p:cxnSp>
        <p:nvCxnSpPr>
          <p:cNvPr id="672" name="Google Shape;672;p14"/>
          <p:cNvCxnSpPr/>
          <p:nvPr/>
        </p:nvCxnSpPr>
        <p:spPr>
          <a:xfrm>
            <a:off x="11474039" y="11209024"/>
            <a:ext cx="2348075" cy="0"/>
          </a:xfrm>
          <a:prstGeom prst="straightConnector1">
            <a:avLst/>
          </a:prstGeom>
          <a:noFill/>
          <a:ln cap="flat" cmpd="sng" w="76200">
            <a:solidFill>
              <a:srgbClr val="000000"/>
            </a:solidFill>
            <a:prstDash val="solid"/>
            <a:miter lim="800000"/>
            <a:headEnd len="sm" w="sm" type="none"/>
            <a:tailEnd len="sm" w="sm" type="none"/>
          </a:ln>
        </p:spPr>
      </p:cxnSp>
      <p:cxnSp>
        <p:nvCxnSpPr>
          <p:cNvPr id="673" name="Google Shape;673;p14"/>
          <p:cNvCxnSpPr/>
          <p:nvPr/>
        </p:nvCxnSpPr>
        <p:spPr>
          <a:xfrm>
            <a:off x="12264046" y="10017970"/>
            <a:ext cx="1481637" cy="0"/>
          </a:xfrm>
          <a:prstGeom prst="straightConnector1">
            <a:avLst/>
          </a:prstGeom>
          <a:noFill/>
          <a:ln cap="flat" cmpd="sng" w="76200">
            <a:solidFill>
              <a:srgbClr val="000000"/>
            </a:solidFill>
            <a:prstDash val="dash"/>
            <a:miter lim="800000"/>
            <a:headEnd len="sm" w="sm" type="none"/>
            <a:tailEnd len="sm" w="sm" type="none"/>
          </a:ln>
        </p:spPr>
      </p:cxnSp>
      <p:cxnSp>
        <p:nvCxnSpPr>
          <p:cNvPr id="674" name="Google Shape;674;p14"/>
          <p:cNvCxnSpPr/>
          <p:nvPr/>
        </p:nvCxnSpPr>
        <p:spPr>
          <a:xfrm>
            <a:off x="13200109" y="8836856"/>
            <a:ext cx="0" cy="1149989"/>
          </a:xfrm>
          <a:prstGeom prst="straightConnector1">
            <a:avLst/>
          </a:prstGeom>
          <a:noFill/>
          <a:ln cap="flat" cmpd="sng" w="76200">
            <a:solidFill>
              <a:srgbClr val="FF0000"/>
            </a:solidFill>
            <a:prstDash val="solid"/>
            <a:miter lim="800000"/>
            <a:headEnd len="sm" w="sm" type="none"/>
            <a:tailEnd len="med" w="med" type="triangle"/>
          </a:ln>
        </p:spPr>
      </p:cxnSp>
      <p:cxnSp>
        <p:nvCxnSpPr>
          <p:cNvPr id="675" name="Google Shape;675;p14"/>
          <p:cNvCxnSpPr/>
          <p:nvPr/>
        </p:nvCxnSpPr>
        <p:spPr>
          <a:xfrm>
            <a:off x="13203632" y="10031083"/>
            <a:ext cx="0" cy="1165490"/>
          </a:xfrm>
          <a:prstGeom prst="straightConnector1">
            <a:avLst/>
          </a:prstGeom>
          <a:noFill/>
          <a:ln cap="flat" cmpd="sng" w="76200">
            <a:solidFill>
              <a:srgbClr val="00B0F0"/>
            </a:solidFill>
            <a:prstDash val="solid"/>
            <a:miter lim="800000"/>
            <a:headEnd len="sm" w="sm" type="none"/>
            <a:tailEnd len="med" w="med" type="triangle"/>
          </a:ln>
        </p:spPr>
      </p:cxnSp>
      <p:cxnSp>
        <p:nvCxnSpPr>
          <p:cNvPr id="676" name="Google Shape;676;p14"/>
          <p:cNvCxnSpPr/>
          <p:nvPr/>
        </p:nvCxnSpPr>
        <p:spPr>
          <a:xfrm rot="10800000">
            <a:off x="11829997" y="8835154"/>
            <a:ext cx="0" cy="2361423"/>
          </a:xfrm>
          <a:prstGeom prst="straightConnector1">
            <a:avLst/>
          </a:prstGeom>
          <a:noFill/>
          <a:ln cap="flat" cmpd="sng" w="76200">
            <a:solidFill>
              <a:srgbClr val="00B050"/>
            </a:solidFill>
            <a:prstDash val="solid"/>
            <a:miter lim="800000"/>
            <a:headEnd len="sm" w="sm" type="none"/>
            <a:tailEnd len="med" w="med" type="triangle"/>
          </a:ln>
        </p:spPr>
      </p:cxnSp>
      <p:pic>
        <p:nvPicPr>
          <p:cNvPr id="677" name="Google Shape;677;p14"/>
          <p:cNvPicPr preferRelativeResize="0"/>
          <p:nvPr/>
        </p:nvPicPr>
        <p:blipFill rotWithShape="1">
          <a:blip r:embed="rId3">
            <a:alphaModFix/>
          </a:blip>
          <a:srcRect b="0" l="0" r="0" t="0"/>
          <a:stretch/>
        </p:blipFill>
        <p:spPr>
          <a:xfrm>
            <a:off x="3312855" y="5207893"/>
            <a:ext cx="266318" cy="184839"/>
          </a:xfrm>
          <a:prstGeom prst="rect">
            <a:avLst/>
          </a:prstGeom>
          <a:noFill/>
          <a:ln>
            <a:noFill/>
          </a:ln>
        </p:spPr>
      </p:pic>
      <p:pic>
        <p:nvPicPr>
          <p:cNvPr id="678" name="Google Shape;678;p14"/>
          <p:cNvPicPr preferRelativeResize="0"/>
          <p:nvPr/>
        </p:nvPicPr>
        <p:blipFill rotWithShape="1">
          <a:blip r:embed="rId4">
            <a:alphaModFix/>
          </a:blip>
          <a:srcRect b="0" l="0" r="0" t="0"/>
          <a:stretch/>
        </p:blipFill>
        <p:spPr>
          <a:xfrm>
            <a:off x="3314526" y="6098618"/>
            <a:ext cx="242570" cy="184839"/>
          </a:xfrm>
          <a:prstGeom prst="rect">
            <a:avLst/>
          </a:prstGeom>
          <a:noFill/>
          <a:ln>
            <a:noFill/>
          </a:ln>
        </p:spPr>
      </p:pic>
      <p:pic>
        <p:nvPicPr>
          <p:cNvPr id="679" name="Google Shape;679;p14"/>
          <p:cNvPicPr preferRelativeResize="0"/>
          <p:nvPr/>
        </p:nvPicPr>
        <p:blipFill rotWithShape="1">
          <a:blip r:embed="rId5">
            <a:alphaModFix/>
          </a:blip>
          <a:srcRect b="0" l="0" r="0" t="0"/>
          <a:stretch/>
        </p:blipFill>
        <p:spPr>
          <a:xfrm>
            <a:off x="7903076" y="5659431"/>
            <a:ext cx="283281" cy="225914"/>
          </a:xfrm>
          <a:prstGeom prst="rect">
            <a:avLst/>
          </a:prstGeom>
          <a:noFill/>
          <a:ln>
            <a:noFill/>
          </a:ln>
        </p:spPr>
      </p:pic>
      <p:pic>
        <p:nvPicPr>
          <p:cNvPr id="680" name="Google Shape;680;p14"/>
          <p:cNvPicPr preferRelativeResize="0"/>
          <p:nvPr/>
        </p:nvPicPr>
        <p:blipFill rotWithShape="1">
          <a:blip r:embed="rId6">
            <a:alphaModFix/>
          </a:blip>
          <a:srcRect b="0" l="0" r="0" t="0"/>
          <a:stretch/>
        </p:blipFill>
        <p:spPr>
          <a:xfrm>
            <a:off x="3215132" y="9675114"/>
            <a:ext cx="283281" cy="225914"/>
          </a:xfrm>
          <a:prstGeom prst="rect">
            <a:avLst/>
          </a:prstGeom>
          <a:noFill/>
          <a:ln>
            <a:noFill/>
          </a:ln>
        </p:spPr>
      </p:pic>
      <p:pic>
        <p:nvPicPr>
          <p:cNvPr id="681" name="Google Shape;681;p14"/>
          <p:cNvPicPr preferRelativeResize="0"/>
          <p:nvPr/>
        </p:nvPicPr>
        <p:blipFill rotWithShape="1">
          <a:blip r:embed="rId7">
            <a:alphaModFix/>
          </a:blip>
          <a:srcRect b="0" l="0" r="0" t="0"/>
          <a:stretch/>
        </p:blipFill>
        <p:spPr>
          <a:xfrm>
            <a:off x="7961277" y="9243970"/>
            <a:ext cx="266318" cy="184839"/>
          </a:xfrm>
          <a:prstGeom prst="rect">
            <a:avLst/>
          </a:prstGeom>
          <a:noFill/>
          <a:ln>
            <a:noFill/>
          </a:ln>
        </p:spPr>
      </p:pic>
      <p:pic>
        <p:nvPicPr>
          <p:cNvPr id="682" name="Google Shape;682;p14"/>
          <p:cNvPicPr preferRelativeResize="0"/>
          <p:nvPr/>
        </p:nvPicPr>
        <p:blipFill rotWithShape="1">
          <a:blip r:embed="rId8">
            <a:alphaModFix/>
          </a:blip>
          <a:srcRect b="0" l="0" r="0" t="0"/>
          <a:stretch/>
        </p:blipFill>
        <p:spPr>
          <a:xfrm>
            <a:off x="7962948" y="10134695"/>
            <a:ext cx="242570" cy="184839"/>
          </a:xfrm>
          <a:prstGeom prst="rect">
            <a:avLst/>
          </a:prstGeom>
          <a:noFill/>
          <a:ln>
            <a:noFill/>
          </a:ln>
        </p:spPr>
      </p:pic>
      <p:pic>
        <p:nvPicPr>
          <p:cNvPr id="683" name="Google Shape;683;p14"/>
          <p:cNvPicPr preferRelativeResize="0"/>
          <p:nvPr/>
        </p:nvPicPr>
        <p:blipFill rotWithShape="1">
          <a:blip r:embed="rId6">
            <a:alphaModFix/>
          </a:blip>
          <a:srcRect b="0" l="0" r="0" t="0"/>
          <a:stretch/>
        </p:blipFill>
        <p:spPr>
          <a:xfrm>
            <a:off x="13612887" y="6039917"/>
            <a:ext cx="283281" cy="225914"/>
          </a:xfrm>
          <a:prstGeom prst="rect">
            <a:avLst/>
          </a:prstGeom>
          <a:noFill/>
          <a:ln>
            <a:noFill/>
          </a:ln>
        </p:spPr>
      </p:pic>
      <p:pic>
        <p:nvPicPr>
          <p:cNvPr id="684" name="Google Shape;684;p14"/>
          <p:cNvPicPr preferRelativeResize="0"/>
          <p:nvPr/>
        </p:nvPicPr>
        <p:blipFill rotWithShape="1">
          <a:blip r:embed="rId7">
            <a:alphaModFix/>
          </a:blip>
          <a:srcRect b="0" l="0" r="0" t="0"/>
          <a:stretch/>
        </p:blipFill>
        <p:spPr>
          <a:xfrm>
            <a:off x="11528826" y="6624708"/>
            <a:ext cx="266318" cy="184839"/>
          </a:xfrm>
          <a:prstGeom prst="rect">
            <a:avLst/>
          </a:prstGeom>
          <a:noFill/>
          <a:ln>
            <a:noFill/>
          </a:ln>
        </p:spPr>
      </p:pic>
      <p:pic>
        <p:nvPicPr>
          <p:cNvPr id="685" name="Google Shape;685;p14"/>
          <p:cNvPicPr preferRelativeResize="0"/>
          <p:nvPr/>
        </p:nvPicPr>
        <p:blipFill rotWithShape="1">
          <a:blip r:embed="rId8">
            <a:alphaModFix/>
          </a:blip>
          <a:srcRect b="0" l="0" r="0" t="0"/>
          <a:stretch/>
        </p:blipFill>
        <p:spPr>
          <a:xfrm>
            <a:off x="11544739" y="5609240"/>
            <a:ext cx="242570" cy="184839"/>
          </a:xfrm>
          <a:prstGeom prst="rect">
            <a:avLst/>
          </a:prstGeom>
          <a:noFill/>
          <a:ln>
            <a:noFill/>
          </a:ln>
        </p:spPr>
      </p:pic>
      <p:pic>
        <p:nvPicPr>
          <p:cNvPr id="686" name="Google Shape;686;p14"/>
          <p:cNvPicPr preferRelativeResize="0"/>
          <p:nvPr/>
        </p:nvPicPr>
        <p:blipFill rotWithShape="1">
          <a:blip r:embed="rId7">
            <a:alphaModFix/>
          </a:blip>
          <a:srcRect b="0" l="0" r="0" t="0"/>
          <a:stretch/>
        </p:blipFill>
        <p:spPr>
          <a:xfrm>
            <a:off x="13511957" y="10440498"/>
            <a:ext cx="266318" cy="184839"/>
          </a:xfrm>
          <a:prstGeom prst="rect">
            <a:avLst/>
          </a:prstGeom>
          <a:noFill/>
          <a:ln>
            <a:noFill/>
          </a:ln>
        </p:spPr>
      </p:pic>
      <p:pic>
        <p:nvPicPr>
          <p:cNvPr id="687" name="Google Shape;687;p14"/>
          <p:cNvPicPr preferRelativeResize="0"/>
          <p:nvPr/>
        </p:nvPicPr>
        <p:blipFill rotWithShape="1">
          <a:blip r:embed="rId8">
            <a:alphaModFix/>
          </a:blip>
          <a:srcRect b="0" l="0" r="0" t="0"/>
          <a:stretch/>
        </p:blipFill>
        <p:spPr>
          <a:xfrm>
            <a:off x="13511957" y="9406389"/>
            <a:ext cx="242570" cy="184839"/>
          </a:xfrm>
          <a:prstGeom prst="rect">
            <a:avLst/>
          </a:prstGeom>
          <a:noFill/>
          <a:ln>
            <a:noFill/>
          </a:ln>
        </p:spPr>
      </p:pic>
      <p:sp>
        <p:nvSpPr>
          <p:cNvPr id="688" name="Google Shape;688;p14"/>
          <p:cNvSpPr txBox="1"/>
          <p:nvPr/>
        </p:nvSpPr>
        <p:spPr>
          <a:xfrm>
            <a:off x="10833740" y="3853632"/>
            <a:ext cx="3572432"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Energy conservation</a:t>
            </a:r>
            <a:endParaRPr/>
          </a:p>
        </p:txBody>
      </p:sp>
      <p:sp>
        <p:nvSpPr>
          <p:cNvPr id="689" name="Google Shape;689;p14"/>
          <p:cNvSpPr txBox="1"/>
          <p:nvPr/>
        </p:nvSpPr>
        <p:spPr>
          <a:xfrm>
            <a:off x="16386123" y="3853632"/>
            <a:ext cx="4270213"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Phase matching condition</a:t>
            </a:r>
            <a:endParaRPr/>
          </a:p>
        </p:txBody>
      </p:sp>
      <p:sp>
        <p:nvSpPr>
          <p:cNvPr id="690" name="Google Shape;690;p14"/>
          <p:cNvSpPr txBox="1"/>
          <p:nvPr/>
        </p:nvSpPr>
        <p:spPr>
          <a:xfrm>
            <a:off x="3347528" y="3853632"/>
            <a:ext cx="4936548"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Nonlinear frequency conversion</a:t>
            </a:r>
            <a:endParaRPr/>
          </a:p>
        </p:txBody>
      </p:sp>
      <p:cxnSp>
        <p:nvCxnSpPr>
          <p:cNvPr id="691" name="Google Shape;691;p14"/>
          <p:cNvCxnSpPr/>
          <p:nvPr/>
        </p:nvCxnSpPr>
        <p:spPr>
          <a:xfrm>
            <a:off x="17203692" y="8258672"/>
            <a:ext cx="1421012" cy="0"/>
          </a:xfrm>
          <a:prstGeom prst="straightConnector1">
            <a:avLst/>
          </a:prstGeom>
          <a:noFill/>
          <a:ln cap="flat" cmpd="sng" w="76200">
            <a:solidFill>
              <a:srgbClr val="00B0F0"/>
            </a:solidFill>
            <a:prstDash val="solid"/>
            <a:miter lim="800000"/>
            <a:headEnd len="sm" w="sm" type="none"/>
            <a:tailEnd len="med" w="med" type="triangle"/>
          </a:ln>
        </p:spPr>
      </p:cxnSp>
      <p:cxnSp>
        <p:nvCxnSpPr>
          <p:cNvPr id="692" name="Google Shape;692;p14"/>
          <p:cNvCxnSpPr/>
          <p:nvPr/>
        </p:nvCxnSpPr>
        <p:spPr>
          <a:xfrm>
            <a:off x="17203692" y="7512571"/>
            <a:ext cx="2842024" cy="0"/>
          </a:xfrm>
          <a:prstGeom prst="straightConnector1">
            <a:avLst/>
          </a:prstGeom>
          <a:noFill/>
          <a:ln cap="flat" cmpd="sng" w="76200">
            <a:solidFill>
              <a:srgbClr val="00B050"/>
            </a:solidFill>
            <a:prstDash val="solid"/>
            <a:miter lim="800000"/>
            <a:headEnd len="sm" w="sm" type="none"/>
            <a:tailEnd len="med" w="med" type="triangle"/>
          </a:ln>
        </p:spPr>
      </p:cxnSp>
      <p:pic>
        <p:nvPicPr>
          <p:cNvPr id="693" name="Google Shape;693;p14"/>
          <p:cNvPicPr preferRelativeResize="0"/>
          <p:nvPr/>
        </p:nvPicPr>
        <p:blipFill rotWithShape="1">
          <a:blip r:embed="rId9">
            <a:alphaModFix/>
          </a:blip>
          <a:srcRect b="0" l="0" r="0" t="0"/>
          <a:stretch/>
        </p:blipFill>
        <p:spPr>
          <a:xfrm>
            <a:off x="17814116" y="7785853"/>
            <a:ext cx="200163" cy="263256"/>
          </a:xfrm>
          <a:prstGeom prst="rect">
            <a:avLst/>
          </a:prstGeom>
          <a:noFill/>
          <a:ln>
            <a:noFill/>
          </a:ln>
        </p:spPr>
      </p:pic>
      <p:cxnSp>
        <p:nvCxnSpPr>
          <p:cNvPr id="694" name="Google Shape;694;p14"/>
          <p:cNvCxnSpPr/>
          <p:nvPr/>
        </p:nvCxnSpPr>
        <p:spPr>
          <a:xfrm>
            <a:off x="18624704" y="8258672"/>
            <a:ext cx="1421012" cy="0"/>
          </a:xfrm>
          <a:prstGeom prst="straightConnector1">
            <a:avLst/>
          </a:prstGeom>
          <a:noFill/>
          <a:ln cap="flat" cmpd="sng" w="76200">
            <a:solidFill>
              <a:srgbClr val="FF0000"/>
            </a:solidFill>
            <a:prstDash val="solid"/>
            <a:miter lim="800000"/>
            <a:headEnd len="sm" w="sm" type="none"/>
            <a:tailEnd len="med" w="med" type="triangle"/>
          </a:ln>
        </p:spPr>
      </p:cxnSp>
      <p:pic>
        <p:nvPicPr>
          <p:cNvPr id="695" name="Google Shape;695;p14"/>
          <p:cNvPicPr preferRelativeResize="0"/>
          <p:nvPr/>
        </p:nvPicPr>
        <p:blipFill rotWithShape="1">
          <a:blip r:embed="rId10">
            <a:alphaModFix/>
          </a:blip>
          <a:srcRect b="0" l="0" r="0" t="0"/>
          <a:stretch/>
        </p:blipFill>
        <p:spPr>
          <a:xfrm>
            <a:off x="19135048" y="7769734"/>
            <a:ext cx="223911" cy="263256"/>
          </a:xfrm>
          <a:prstGeom prst="rect">
            <a:avLst/>
          </a:prstGeom>
          <a:noFill/>
          <a:ln>
            <a:noFill/>
          </a:ln>
        </p:spPr>
      </p:pic>
      <p:pic>
        <p:nvPicPr>
          <p:cNvPr id="696" name="Google Shape;696;p14"/>
          <p:cNvPicPr preferRelativeResize="0"/>
          <p:nvPr/>
        </p:nvPicPr>
        <p:blipFill rotWithShape="1">
          <a:blip r:embed="rId11">
            <a:alphaModFix/>
          </a:blip>
          <a:srcRect b="0" l="0" r="0" t="0"/>
          <a:stretch/>
        </p:blipFill>
        <p:spPr>
          <a:xfrm>
            <a:off x="18400793" y="6851174"/>
            <a:ext cx="240874" cy="304331"/>
          </a:xfrm>
          <a:prstGeom prst="rect">
            <a:avLst/>
          </a:prstGeom>
          <a:noFill/>
          <a:ln>
            <a:noFill/>
          </a:ln>
        </p:spPr>
      </p:pic>
      <p:sp>
        <p:nvSpPr>
          <p:cNvPr id="697" name="Google Shape;697;p14"/>
          <p:cNvSpPr txBox="1"/>
          <p:nvPr/>
        </p:nvSpPr>
        <p:spPr>
          <a:xfrm>
            <a:off x="16759512" y="8592391"/>
            <a:ext cx="373038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Perfect phase matching</a:t>
            </a:r>
            <a:endParaRPr/>
          </a:p>
        </p:txBody>
      </p:sp>
      <p:sp>
        <p:nvSpPr>
          <p:cNvPr id="698" name="Google Shape;698;p14"/>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699" name="Google Shape;699;p14"/>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700" name="Google Shape;700;p14"/>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accent2"/>
                </a:solidFill>
                <a:latin typeface="Montserrat"/>
                <a:ea typeface="Montserrat"/>
                <a:cs typeface="Montserrat"/>
                <a:sym typeface="Montserrat"/>
              </a:rPr>
              <a:t>Theory</a:t>
            </a:r>
            <a:endParaRPr/>
          </a:p>
        </p:txBody>
      </p:sp>
      <p:sp>
        <p:nvSpPr>
          <p:cNvPr id="701" name="Google Shape;701;p14"/>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702" name="Google Shape;702;p14"/>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703" name="Google Shape;703;p14"/>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704" name="Google Shape;704;p14"/>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15"/>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Phase matching condition</a:t>
            </a:r>
            <a:endParaRPr/>
          </a:p>
        </p:txBody>
      </p:sp>
      <p:sp>
        <p:nvSpPr>
          <p:cNvPr id="710" name="Google Shape;710;p15"/>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711" name="Google Shape;711;p15"/>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12" name="Google Shape;712;p15"/>
          <p:cNvSpPr/>
          <p:nvPr/>
        </p:nvSpPr>
        <p:spPr>
          <a:xfrm>
            <a:off x="6270557" y="12016945"/>
            <a:ext cx="3733117" cy="1641598"/>
          </a:xfrm>
          <a:custGeom>
            <a:rect b="b" l="l" r="r" t="t"/>
            <a:pathLst>
              <a:path extrusionOk="0" h="1641598" w="3733117">
                <a:moveTo>
                  <a:pt x="0" y="0"/>
                </a:moveTo>
                <a:lnTo>
                  <a:pt x="3733117" y="0"/>
                </a:lnTo>
                <a:lnTo>
                  <a:pt x="978191" y="1641598"/>
                </a:lnTo>
                <a:lnTo>
                  <a:pt x="0" y="0"/>
                </a:lnTo>
                <a:close/>
              </a:path>
            </a:pathLst>
          </a:cu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713" name="Google Shape;713;p15"/>
          <p:cNvSpPr txBox="1"/>
          <p:nvPr/>
        </p:nvSpPr>
        <p:spPr>
          <a:xfrm>
            <a:off x="900456" y="12998939"/>
            <a:ext cx="8053044"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Robert W. Boyd. Nonlinear Optics, Third Edition. Academic Press,Inc., USA, 3rd edition, 2008.</a:t>
            </a:r>
            <a:endParaRPr sz="1000">
              <a:solidFill>
                <a:schemeClr val="dk2"/>
              </a:solidFill>
              <a:latin typeface="Montserrat"/>
              <a:ea typeface="Montserrat"/>
              <a:cs typeface="Montserrat"/>
              <a:sym typeface="Montserrat"/>
            </a:endParaRPr>
          </a:p>
        </p:txBody>
      </p:sp>
      <p:pic>
        <p:nvPicPr>
          <p:cNvPr id="714" name="Google Shape;714;p15"/>
          <p:cNvPicPr preferRelativeResize="0"/>
          <p:nvPr/>
        </p:nvPicPr>
        <p:blipFill rotWithShape="1">
          <a:blip r:embed="rId3">
            <a:alphaModFix/>
          </a:blip>
          <a:srcRect b="0" l="0" r="0" t="0"/>
          <a:stretch/>
        </p:blipFill>
        <p:spPr>
          <a:xfrm>
            <a:off x="2288044" y="5079424"/>
            <a:ext cx="9900780" cy="7061930"/>
          </a:xfrm>
          <a:prstGeom prst="rect">
            <a:avLst/>
          </a:prstGeom>
          <a:noFill/>
          <a:ln>
            <a:noFill/>
          </a:ln>
        </p:spPr>
      </p:pic>
      <p:pic>
        <p:nvPicPr>
          <p:cNvPr id="715" name="Google Shape;715;p15"/>
          <p:cNvPicPr preferRelativeResize="0"/>
          <p:nvPr/>
        </p:nvPicPr>
        <p:blipFill rotWithShape="1">
          <a:blip r:embed="rId4">
            <a:alphaModFix/>
          </a:blip>
          <a:srcRect b="0" l="0" r="0" t="0"/>
          <a:stretch/>
        </p:blipFill>
        <p:spPr>
          <a:xfrm>
            <a:off x="2894387" y="4198743"/>
            <a:ext cx="9196078" cy="903777"/>
          </a:xfrm>
          <a:prstGeom prst="rect">
            <a:avLst/>
          </a:prstGeom>
          <a:noFill/>
          <a:ln>
            <a:noFill/>
          </a:ln>
        </p:spPr>
      </p:pic>
      <p:pic>
        <p:nvPicPr>
          <p:cNvPr id="716" name="Google Shape;716;p15"/>
          <p:cNvPicPr preferRelativeResize="0"/>
          <p:nvPr/>
        </p:nvPicPr>
        <p:blipFill rotWithShape="1">
          <a:blip r:embed="rId5">
            <a:alphaModFix/>
          </a:blip>
          <a:srcRect b="0" l="0" r="0" t="0"/>
          <a:stretch/>
        </p:blipFill>
        <p:spPr>
          <a:xfrm>
            <a:off x="14066256" y="6606269"/>
            <a:ext cx="5523616" cy="360000"/>
          </a:xfrm>
          <a:prstGeom prst="rect">
            <a:avLst/>
          </a:prstGeom>
          <a:noFill/>
          <a:ln>
            <a:noFill/>
          </a:ln>
        </p:spPr>
      </p:pic>
      <p:pic>
        <p:nvPicPr>
          <p:cNvPr id="717" name="Google Shape;717;p15"/>
          <p:cNvPicPr preferRelativeResize="0"/>
          <p:nvPr/>
        </p:nvPicPr>
        <p:blipFill rotWithShape="1">
          <a:blip r:embed="rId6">
            <a:alphaModFix/>
          </a:blip>
          <a:srcRect b="0" l="0" r="0" t="0"/>
          <a:stretch/>
        </p:blipFill>
        <p:spPr>
          <a:xfrm>
            <a:off x="14048007" y="7498585"/>
            <a:ext cx="5702783" cy="360000"/>
          </a:xfrm>
          <a:prstGeom prst="rect">
            <a:avLst/>
          </a:prstGeom>
          <a:noFill/>
          <a:ln>
            <a:noFill/>
          </a:ln>
        </p:spPr>
      </p:pic>
      <p:pic>
        <p:nvPicPr>
          <p:cNvPr id="718" name="Google Shape;718;p15"/>
          <p:cNvPicPr preferRelativeResize="0"/>
          <p:nvPr/>
        </p:nvPicPr>
        <p:blipFill rotWithShape="1">
          <a:blip r:embed="rId7">
            <a:alphaModFix/>
          </a:blip>
          <a:srcRect b="0" l="0" r="0" t="0"/>
          <a:stretch/>
        </p:blipFill>
        <p:spPr>
          <a:xfrm>
            <a:off x="14048006" y="8390901"/>
            <a:ext cx="5664636" cy="360000"/>
          </a:xfrm>
          <a:prstGeom prst="rect">
            <a:avLst/>
          </a:prstGeom>
          <a:noFill/>
          <a:ln>
            <a:noFill/>
          </a:ln>
        </p:spPr>
      </p:pic>
      <p:pic>
        <p:nvPicPr>
          <p:cNvPr id="719" name="Google Shape;719;p15"/>
          <p:cNvPicPr preferRelativeResize="0"/>
          <p:nvPr/>
        </p:nvPicPr>
        <p:blipFill rotWithShape="1">
          <a:blip r:embed="rId8">
            <a:alphaModFix/>
          </a:blip>
          <a:srcRect b="0" l="0" r="0" t="0"/>
          <a:stretch/>
        </p:blipFill>
        <p:spPr>
          <a:xfrm>
            <a:off x="14048004" y="9283217"/>
            <a:ext cx="3011126" cy="360000"/>
          </a:xfrm>
          <a:prstGeom prst="rect">
            <a:avLst/>
          </a:prstGeom>
          <a:noFill/>
          <a:ln>
            <a:noFill/>
          </a:ln>
        </p:spPr>
      </p:pic>
      <p:pic>
        <p:nvPicPr>
          <p:cNvPr id="720" name="Google Shape;720;p15"/>
          <p:cNvPicPr preferRelativeResize="0"/>
          <p:nvPr/>
        </p:nvPicPr>
        <p:blipFill rotWithShape="1">
          <a:blip r:embed="rId9">
            <a:alphaModFix/>
          </a:blip>
          <a:srcRect b="0" l="0" r="0" t="0"/>
          <a:stretch/>
        </p:blipFill>
        <p:spPr>
          <a:xfrm>
            <a:off x="14066256" y="10175534"/>
            <a:ext cx="3929644" cy="312820"/>
          </a:xfrm>
          <a:prstGeom prst="rect">
            <a:avLst/>
          </a:prstGeom>
          <a:noFill/>
          <a:ln>
            <a:noFill/>
          </a:ln>
        </p:spPr>
      </p:pic>
      <p:sp>
        <p:nvSpPr>
          <p:cNvPr id="721" name="Google Shape;721;p15"/>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722" name="Google Shape;722;p15"/>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723" name="Google Shape;723;p15"/>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accent2"/>
                </a:solidFill>
                <a:latin typeface="Montserrat"/>
                <a:ea typeface="Montserrat"/>
                <a:cs typeface="Montserrat"/>
                <a:sym typeface="Montserrat"/>
              </a:rPr>
              <a:t>Theory</a:t>
            </a:r>
            <a:endParaRPr/>
          </a:p>
        </p:txBody>
      </p:sp>
      <p:sp>
        <p:nvSpPr>
          <p:cNvPr id="724" name="Google Shape;724;p15"/>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725" name="Google Shape;725;p15"/>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726" name="Google Shape;726;p15"/>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727" name="Google Shape;727;p15"/>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728" name="Google Shape;728;p15"/>
          <p:cNvSpPr txBox="1"/>
          <p:nvPr/>
        </p:nvSpPr>
        <p:spPr>
          <a:xfrm>
            <a:off x="14048004" y="4127231"/>
            <a:ext cx="8471495"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Under low conversion approximation, the output SFG power increases linearly with signal and idler power, quadratically with  nonlinear coefficient and crystal length</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16"/>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Quasi phase matching</a:t>
            </a:r>
            <a:endParaRPr/>
          </a:p>
        </p:txBody>
      </p:sp>
      <p:sp>
        <p:nvSpPr>
          <p:cNvPr id="734" name="Google Shape;734;p16"/>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735" name="Google Shape;735;p16"/>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36" name="Google Shape;736;p16"/>
          <p:cNvSpPr txBox="1"/>
          <p:nvPr/>
        </p:nvSpPr>
        <p:spPr>
          <a:xfrm>
            <a:off x="10032581" y="5322297"/>
            <a:ext cx="4312483"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Phase compensation</a:t>
            </a:r>
            <a:endParaRPr/>
          </a:p>
        </p:txBody>
      </p:sp>
      <p:sp>
        <p:nvSpPr>
          <p:cNvPr id="737" name="Google Shape;737;p16"/>
          <p:cNvSpPr/>
          <p:nvPr/>
        </p:nvSpPr>
        <p:spPr>
          <a:xfrm>
            <a:off x="11408279" y="6344938"/>
            <a:ext cx="1745265" cy="1607380"/>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738" name="Google Shape;738;p16"/>
          <p:cNvSpPr txBox="1"/>
          <p:nvPr/>
        </p:nvSpPr>
        <p:spPr>
          <a:xfrm>
            <a:off x="11616597" y="6717741"/>
            <a:ext cx="1144453"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000">
                <a:solidFill>
                  <a:srgbClr val="000000"/>
                </a:solidFill>
                <a:latin typeface="Calibri"/>
                <a:ea typeface="Calibri"/>
                <a:cs typeface="Calibri"/>
                <a:sym typeface="Calibri"/>
              </a:rPr>
              <a:t>-π</a:t>
            </a:r>
            <a:endParaRPr b="1" sz="5000">
              <a:solidFill>
                <a:srgbClr val="000000"/>
              </a:solidFill>
              <a:latin typeface="Calibri"/>
              <a:ea typeface="Calibri"/>
              <a:cs typeface="Calibri"/>
              <a:sym typeface="Calibri"/>
            </a:endParaRPr>
          </a:p>
        </p:txBody>
      </p:sp>
      <p:sp>
        <p:nvSpPr>
          <p:cNvPr id="739" name="Google Shape;739;p16"/>
          <p:cNvSpPr/>
          <p:nvPr/>
        </p:nvSpPr>
        <p:spPr>
          <a:xfrm>
            <a:off x="4326625" y="5191578"/>
            <a:ext cx="3240000" cy="3224788"/>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740" name="Google Shape;740;p16"/>
          <p:cNvSpPr txBox="1"/>
          <p:nvPr/>
        </p:nvSpPr>
        <p:spPr>
          <a:xfrm>
            <a:off x="2040613" y="5786857"/>
            <a:ext cx="1951060"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In phase</a:t>
            </a:r>
            <a:endParaRPr/>
          </a:p>
        </p:txBody>
      </p:sp>
      <p:sp>
        <p:nvSpPr>
          <p:cNvPr id="741" name="Google Shape;741;p16"/>
          <p:cNvSpPr txBox="1"/>
          <p:nvPr/>
        </p:nvSpPr>
        <p:spPr>
          <a:xfrm>
            <a:off x="6858199" y="5786856"/>
            <a:ext cx="4312483"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Out of phase (π)</a:t>
            </a:r>
            <a:endParaRPr/>
          </a:p>
        </p:txBody>
      </p:sp>
      <p:sp>
        <p:nvSpPr>
          <p:cNvPr id="742" name="Google Shape;742;p16"/>
          <p:cNvSpPr/>
          <p:nvPr/>
        </p:nvSpPr>
        <p:spPr>
          <a:xfrm>
            <a:off x="2238180" y="6515100"/>
            <a:ext cx="1695450" cy="685800"/>
          </a:xfrm>
          <a:prstGeom prst="rightArrow">
            <a:avLst>
              <a:gd fmla="val 50000" name="adj1"/>
              <a:gd fmla="val 50000" name="adj2"/>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743" name="Google Shape;743;p16"/>
          <p:cNvSpPr/>
          <p:nvPr/>
        </p:nvSpPr>
        <p:spPr>
          <a:xfrm>
            <a:off x="8097616" y="6520551"/>
            <a:ext cx="1695450" cy="685800"/>
          </a:xfrm>
          <a:prstGeom prst="rightArrow">
            <a:avLst>
              <a:gd fmla="val 50000" name="adj1"/>
              <a:gd fmla="val 50000" name="adj2"/>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cxnSp>
        <p:nvCxnSpPr>
          <p:cNvPr id="744" name="Google Shape;744;p16"/>
          <p:cNvCxnSpPr/>
          <p:nvPr/>
        </p:nvCxnSpPr>
        <p:spPr>
          <a:xfrm flipH="1">
            <a:off x="4326626" y="9143315"/>
            <a:ext cx="3239999" cy="1"/>
          </a:xfrm>
          <a:prstGeom prst="straightConnector1">
            <a:avLst/>
          </a:prstGeom>
          <a:noFill/>
          <a:ln cap="flat" cmpd="sng" w="76200">
            <a:solidFill>
              <a:schemeClr val="dk2"/>
            </a:solidFill>
            <a:prstDash val="solid"/>
            <a:miter lim="800000"/>
            <a:headEnd len="med" w="med" type="triangle"/>
            <a:tailEnd len="med" w="med" type="triangle"/>
          </a:ln>
        </p:spPr>
      </p:cxnSp>
      <p:sp>
        <p:nvSpPr>
          <p:cNvPr id="745" name="Google Shape;745;p16"/>
          <p:cNvSpPr txBox="1"/>
          <p:nvPr/>
        </p:nvSpPr>
        <p:spPr>
          <a:xfrm>
            <a:off x="3790383" y="9681339"/>
            <a:ext cx="4312483"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Coherence length</a:t>
            </a:r>
            <a:endParaRPr/>
          </a:p>
        </p:txBody>
      </p:sp>
      <p:sp>
        <p:nvSpPr>
          <p:cNvPr id="746" name="Google Shape;746;p16"/>
          <p:cNvSpPr txBox="1"/>
          <p:nvPr/>
        </p:nvSpPr>
        <p:spPr>
          <a:xfrm>
            <a:off x="4463521" y="6557750"/>
            <a:ext cx="3059060"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Nonlinear crystal</a:t>
            </a:r>
            <a:endParaRPr/>
          </a:p>
        </p:txBody>
      </p:sp>
      <p:sp>
        <p:nvSpPr>
          <p:cNvPr id="747" name="Google Shape;747;p16"/>
          <p:cNvSpPr/>
          <p:nvPr/>
        </p:nvSpPr>
        <p:spPr>
          <a:xfrm>
            <a:off x="16864607" y="5191578"/>
            <a:ext cx="3240000" cy="3224788"/>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748" name="Google Shape;748;p16"/>
          <p:cNvSpPr txBox="1"/>
          <p:nvPr/>
        </p:nvSpPr>
        <p:spPr>
          <a:xfrm>
            <a:off x="14578595" y="5786857"/>
            <a:ext cx="1951060"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In phase</a:t>
            </a:r>
            <a:endParaRPr/>
          </a:p>
        </p:txBody>
      </p:sp>
      <p:sp>
        <p:nvSpPr>
          <p:cNvPr id="749" name="Google Shape;749;p16"/>
          <p:cNvSpPr txBox="1"/>
          <p:nvPr/>
        </p:nvSpPr>
        <p:spPr>
          <a:xfrm>
            <a:off x="19396181" y="5786856"/>
            <a:ext cx="4312483"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Out of phase (π)</a:t>
            </a:r>
            <a:endParaRPr/>
          </a:p>
        </p:txBody>
      </p:sp>
      <p:sp>
        <p:nvSpPr>
          <p:cNvPr id="750" name="Google Shape;750;p16"/>
          <p:cNvSpPr/>
          <p:nvPr/>
        </p:nvSpPr>
        <p:spPr>
          <a:xfrm>
            <a:off x="14776162" y="6515100"/>
            <a:ext cx="1695450" cy="685800"/>
          </a:xfrm>
          <a:prstGeom prst="rightArrow">
            <a:avLst>
              <a:gd fmla="val 50000" name="adj1"/>
              <a:gd fmla="val 50000" name="adj2"/>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751" name="Google Shape;751;p16"/>
          <p:cNvSpPr/>
          <p:nvPr/>
        </p:nvSpPr>
        <p:spPr>
          <a:xfrm>
            <a:off x="20635598" y="6520551"/>
            <a:ext cx="1695450" cy="685800"/>
          </a:xfrm>
          <a:prstGeom prst="rightArrow">
            <a:avLst>
              <a:gd fmla="val 50000" name="adj1"/>
              <a:gd fmla="val 50000" name="adj2"/>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cxnSp>
        <p:nvCxnSpPr>
          <p:cNvPr id="752" name="Google Shape;752;p16"/>
          <p:cNvCxnSpPr/>
          <p:nvPr/>
        </p:nvCxnSpPr>
        <p:spPr>
          <a:xfrm flipH="1">
            <a:off x="16864608" y="9143315"/>
            <a:ext cx="3239999" cy="1"/>
          </a:xfrm>
          <a:prstGeom prst="straightConnector1">
            <a:avLst/>
          </a:prstGeom>
          <a:noFill/>
          <a:ln cap="flat" cmpd="sng" w="76200">
            <a:solidFill>
              <a:schemeClr val="dk2"/>
            </a:solidFill>
            <a:prstDash val="solid"/>
            <a:miter lim="800000"/>
            <a:headEnd len="med" w="med" type="triangle"/>
            <a:tailEnd len="med" w="med" type="triangle"/>
          </a:ln>
        </p:spPr>
      </p:cxnSp>
      <p:sp>
        <p:nvSpPr>
          <p:cNvPr id="753" name="Google Shape;753;p16"/>
          <p:cNvSpPr txBox="1"/>
          <p:nvPr/>
        </p:nvSpPr>
        <p:spPr>
          <a:xfrm>
            <a:off x="16328365" y="9681339"/>
            <a:ext cx="4312483"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Coherence length</a:t>
            </a:r>
            <a:endParaRPr/>
          </a:p>
        </p:txBody>
      </p:sp>
      <p:sp>
        <p:nvSpPr>
          <p:cNvPr id="754" name="Google Shape;754;p16"/>
          <p:cNvSpPr txBox="1"/>
          <p:nvPr/>
        </p:nvSpPr>
        <p:spPr>
          <a:xfrm>
            <a:off x="17001503" y="6557750"/>
            <a:ext cx="3059060"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Nonlinear crystal</a:t>
            </a:r>
            <a:endParaRPr/>
          </a:p>
        </p:txBody>
      </p:sp>
      <p:sp>
        <p:nvSpPr>
          <p:cNvPr id="755" name="Google Shape;755;p16"/>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756" name="Google Shape;756;p16"/>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757" name="Google Shape;757;p16"/>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accent2"/>
                </a:solidFill>
                <a:latin typeface="Montserrat"/>
                <a:ea typeface="Montserrat"/>
                <a:cs typeface="Montserrat"/>
                <a:sym typeface="Montserrat"/>
              </a:rPr>
              <a:t>Theory</a:t>
            </a:r>
            <a:endParaRPr/>
          </a:p>
        </p:txBody>
      </p:sp>
      <p:sp>
        <p:nvSpPr>
          <p:cNvPr id="758" name="Google Shape;758;p16"/>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759" name="Google Shape;759;p16"/>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760" name="Google Shape;760;p16"/>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761" name="Google Shape;761;p16"/>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7"/>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Quasi phase matching</a:t>
            </a:r>
            <a:endParaRPr/>
          </a:p>
        </p:txBody>
      </p:sp>
      <p:sp>
        <p:nvSpPr>
          <p:cNvPr id="767" name="Google Shape;767;p17"/>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768" name="Google Shape;768;p17"/>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69" name="Google Shape;769;p17"/>
          <p:cNvSpPr/>
          <p:nvPr/>
        </p:nvSpPr>
        <p:spPr>
          <a:xfrm>
            <a:off x="4703841" y="6365922"/>
            <a:ext cx="5760000" cy="3224788"/>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770" name="Google Shape;770;p17"/>
          <p:cNvSpPr txBox="1"/>
          <p:nvPr/>
        </p:nvSpPr>
        <p:spPr>
          <a:xfrm>
            <a:off x="4425972" y="6600499"/>
            <a:ext cx="1951060"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In phase</a:t>
            </a:r>
            <a:endParaRPr/>
          </a:p>
        </p:txBody>
      </p:sp>
      <p:sp>
        <p:nvSpPr>
          <p:cNvPr id="771" name="Google Shape;771;p17"/>
          <p:cNvSpPr txBox="1"/>
          <p:nvPr/>
        </p:nvSpPr>
        <p:spPr>
          <a:xfrm>
            <a:off x="7786529" y="6600498"/>
            <a:ext cx="2744785"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Out of phase (π)</a:t>
            </a:r>
            <a:endParaRPr/>
          </a:p>
        </p:txBody>
      </p:sp>
      <p:sp>
        <p:nvSpPr>
          <p:cNvPr id="772" name="Google Shape;772;p17"/>
          <p:cNvSpPr/>
          <p:nvPr/>
        </p:nvSpPr>
        <p:spPr>
          <a:xfrm>
            <a:off x="4722891" y="7084089"/>
            <a:ext cx="1695450" cy="360000"/>
          </a:xfrm>
          <a:prstGeom prst="rightArrow">
            <a:avLst>
              <a:gd fmla="val 50000" name="adj1"/>
              <a:gd fmla="val 50000" name="adj2"/>
            </a:avLst>
          </a:prstGeom>
          <a:solidFill>
            <a:srgbClr val="B2B2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773" name="Google Shape;773;p17"/>
          <p:cNvSpPr/>
          <p:nvPr/>
        </p:nvSpPr>
        <p:spPr>
          <a:xfrm>
            <a:off x="8768391" y="7089540"/>
            <a:ext cx="1695450" cy="360000"/>
          </a:xfrm>
          <a:prstGeom prst="rightArrow">
            <a:avLst>
              <a:gd fmla="val 50000" name="adj1"/>
              <a:gd fmla="val 50000" name="adj2"/>
            </a:avLst>
          </a:prstGeom>
          <a:solidFill>
            <a:srgbClr val="B2B2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cxnSp>
        <p:nvCxnSpPr>
          <p:cNvPr id="774" name="Google Shape;774;p17"/>
          <p:cNvCxnSpPr/>
          <p:nvPr/>
        </p:nvCxnSpPr>
        <p:spPr>
          <a:xfrm rot="10800000">
            <a:off x="4703843" y="10317660"/>
            <a:ext cx="5759998" cy="0"/>
          </a:xfrm>
          <a:prstGeom prst="straightConnector1">
            <a:avLst/>
          </a:prstGeom>
          <a:noFill/>
          <a:ln cap="flat" cmpd="sng" w="76200">
            <a:solidFill>
              <a:schemeClr val="dk2"/>
            </a:solidFill>
            <a:prstDash val="solid"/>
            <a:miter lim="800000"/>
            <a:headEnd len="med" w="med" type="triangle"/>
            <a:tailEnd len="med" w="med" type="triangle"/>
          </a:ln>
        </p:spPr>
      </p:cxnSp>
      <p:sp>
        <p:nvSpPr>
          <p:cNvPr id="775" name="Google Shape;775;p17"/>
          <p:cNvSpPr txBox="1"/>
          <p:nvPr/>
        </p:nvSpPr>
        <p:spPr>
          <a:xfrm>
            <a:off x="5336946" y="10855683"/>
            <a:ext cx="4312483"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Coherence length</a:t>
            </a:r>
            <a:endParaRPr/>
          </a:p>
        </p:txBody>
      </p:sp>
      <p:sp>
        <p:nvSpPr>
          <p:cNvPr id="776" name="Google Shape;776;p17"/>
          <p:cNvSpPr/>
          <p:nvPr/>
        </p:nvSpPr>
        <p:spPr>
          <a:xfrm>
            <a:off x="13576350" y="6365922"/>
            <a:ext cx="5760000" cy="3224788"/>
          </a:xfrm>
          <a:prstGeom prst="rect">
            <a:avLst/>
          </a:prstGeom>
          <a:solidFill>
            <a:srgbClr val="00B0F0"/>
          </a:solid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777" name="Google Shape;777;p17"/>
          <p:cNvSpPr txBox="1"/>
          <p:nvPr/>
        </p:nvSpPr>
        <p:spPr>
          <a:xfrm>
            <a:off x="13298481" y="6600499"/>
            <a:ext cx="1951060"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In phase</a:t>
            </a:r>
            <a:endParaRPr/>
          </a:p>
        </p:txBody>
      </p:sp>
      <p:sp>
        <p:nvSpPr>
          <p:cNvPr id="778" name="Google Shape;778;p17"/>
          <p:cNvSpPr txBox="1"/>
          <p:nvPr/>
        </p:nvSpPr>
        <p:spPr>
          <a:xfrm>
            <a:off x="16659038" y="6600498"/>
            <a:ext cx="2744785"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Out of phase (π)</a:t>
            </a:r>
            <a:endParaRPr/>
          </a:p>
        </p:txBody>
      </p:sp>
      <p:sp>
        <p:nvSpPr>
          <p:cNvPr id="779" name="Google Shape;779;p17"/>
          <p:cNvSpPr/>
          <p:nvPr/>
        </p:nvSpPr>
        <p:spPr>
          <a:xfrm>
            <a:off x="13597517" y="7084089"/>
            <a:ext cx="1695450" cy="360000"/>
          </a:xfrm>
          <a:prstGeom prst="rightArrow">
            <a:avLst>
              <a:gd fmla="val 50000" name="adj1"/>
              <a:gd fmla="val 50000" name="adj2"/>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780" name="Google Shape;780;p17"/>
          <p:cNvSpPr/>
          <p:nvPr/>
        </p:nvSpPr>
        <p:spPr>
          <a:xfrm>
            <a:off x="17640900" y="7089540"/>
            <a:ext cx="1695450" cy="360000"/>
          </a:xfrm>
          <a:prstGeom prst="rightArrow">
            <a:avLst>
              <a:gd fmla="val 50000" name="adj1"/>
              <a:gd fmla="val 50000" name="adj2"/>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781" name="Google Shape;781;p17"/>
          <p:cNvSpPr txBox="1"/>
          <p:nvPr/>
        </p:nvSpPr>
        <p:spPr>
          <a:xfrm>
            <a:off x="7374656" y="4376151"/>
            <a:ext cx="9628336"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Since the sign of nonlinear coefficients depends on the crystalline axis, reversing the axis will result in additional minus sign (π phase shift), thus compensates the accumulated phase mismatch </a:t>
            </a:r>
            <a:endParaRPr/>
          </a:p>
        </p:txBody>
      </p:sp>
      <p:sp>
        <p:nvSpPr>
          <p:cNvPr id="782" name="Google Shape;782;p17"/>
          <p:cNvSpPr/>
          <p:nvPr/>
        </p:nvSpPr>
        <p:spPr>
          <a:xfrm>
            <a:off x="15845038" y="7864366"/>
            <a:ext cx="1440000" cy="1440000"/>
          </a:xfrm>
          <a:prstGeom prst="downArrow">
            <a:avLst>
              <a:gd fmla="val 50000" name="adj1"/>
              <a:gd fmla="val 50000" name="adj2"/>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783" name="Google Shape;783;p17"/>
          <p:cNvSpPr/>
          <p:nvPr/>
        </p:nvSpPr>
        <p:spPr>
          <a:xfrm rot="10800000">
            <a:off x="6863841" y="7852061"/>
            <a:ext cx="1440000" cy="1440000"/>
          </a:xfrm>
          <a:prstGeom prst="downArrow">
            <a:avLst>
              <a:gd fmla="val 50000" name="adj1"/>
              <a:gd fmla="val 50000" name="adj2"/>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784" name="Google Shape;784;p17"/>
          <p:cNvCxnSpPr/>
          <p:nvPr/>
        </p:nvCxnSpPr>
        <p:spPr>
          <a:xfrm rot="10800000">
            <a:off x="13597517" y="10317660"/>
            <a:ext cx="5759998" cy="0"/>
          </a:xfrm>
          <a:prstGeom prst="straightConnector1">
            <a:avLst/>
          </a:prstGeom>
          <a:noFill/>
          <a:ln cap="flat" cmpd="sng" w="76200">
            <a:solidFill>
              <a:schemeClr val="dk2"/>
            </a:solidFill>
            <a:prstDash val="solid"/>
            <a:miter lim="800000"/>
            <a:headEnd len="med" w="med" type="triangle"/>
            <a:tailEnd len="med" w="med" type="triangle"/>
          </a:ln>
        </p:spPr>
      </p:cxnSp>
      <p:sp>
        <p:nvSpPr>
          <p:cNvPr id="785" name="Google Shape;785;p17"/>
          <p:cNvSpPr txBox="1"/>
          <p:nvPr/>
        </p:nvSpPr>
        <p:spPr>
          <a:xfrm>
            <a:off x="14408797" y="10855683"/>
            <a:ext cx="4312483"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Coherence length</a:t>
            </a:r>
            <a:endParaRPr/>
          </a:p>
        </p:txBody>
      </p:sp>
      <p:sp>
        <p:nvSpPr>
          <p:cNvPr id="786" name="Google Shape;786;p17"/>
          <p:cNvSpPr txBox="1"/>
          <p:nvPr/>
        </p:nvSpPr>
        <p:spPr>
          <a:xfrm>
            <a:off x="15192646" y="7326344"/>
            <a:ext cx="2744785"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Flip</a:t>
            </a:r>
            <a:endParaRPr/>
          </a:p>
        </p:txBody>
      </p:sp>
      <p:sp>
        <p:nvSpPr>
          <p:cNvPr id="787" name="Google Shape;787;p17"/>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788" name="Google Shape;788;p17"/>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789" name="Google Shape;789;p17"/>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accent2"/>
                </a:solidFill>
                <a:latin typeface="Montserrat"/>
                <a:ea typeface="Montserrat"/>
                <a:cs typeface="Montserrat"/>
                <a:sym typeface="Montserrat"/>
              </a:rPr>
              <a:t>Theory</a:t>
            </a:r>
            <a:endParaRPr/>
          </a:p>
        </p:txBody>
      </p:sp>
      <p:sp>
        <p:nvSpPr>
          <p:cNvPr id="790" name="Google Shape;790;p17"/>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791" name="Google Shape;791;p17"/>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792" name="Google Shape;792;p17"/>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793" name="Google Shape;793;p17"/>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8"/>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Electric field poling</a:t>
            </a:r>
            <a:endParaRPr b="1" sz="5400">
              <a:solidFill>
                <a:schemeClr val="dk2"/>
              </a:solidFill>
              <a:latin typeface="Montserrat"/>
              <a:ea typeface="Montserrat"/>
              <a:cs typeface="Montserrat"/>
              <a:sym typeface="Montserrat"/>
            </a:endParaRPr>
          </a:p>
        </p:txBody>
      </p:sp>
      <p:sp>
        <p:nvSpPr>
          <p:cNvPr id="799" name="Google Shape;799;p18"/>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800" name="Google Shape;800;p18"/>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01" name="Google Shape;801;p18"/>
          <p:cNvSpPr/>
          <p:nvPr/>
        </p:nvSpPr>
        <p:spPr>
          <a:xfrm>
            <a:off x="6876374" y="4882487"/>
            <a:ext cx="2880000" cy="2880000"/>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802" name="Google Shape;802;p18"/>
          <p:cNvSpPr/>
          <p:nvPr/>
        </p:nvSpPr>
        <p:spPr>
          <a:xfrm>
            <a:off x="14657381" y="4882487"/>
            <a:ext cx="2880000" cy="2880000"/>
          </a:xfrm>
          <a:prstGeom prst="rect">
            <a:avLst/>
          </a:prstGeom>
          <a:solidFill>
            <a:srgbClr val="00B0F0"/>
          </a:solid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803" name="Google Shape;803;p18"/>
          <p:cNvSpPr txBox="1"/>
          <p:nvPr/>
        </p:nvSpPr>
        <p:spPr>
          <a:xfrm>
            <a:off x="7441531" y="3559686"/>
            <a:ext cx="9628336"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Domain reversal occurs when applying a voltage exceeds a certain value on a ferroelectric material (21 kV/mm for lithium niobite)</a:t>
            </a:r>
            <a:endParaRPr/>
          </a:p>
        </p:txBody>
      </p:sp>
      <p:sp>
        <p:nvSpPr>
          <p:cNvPr id="804" name="Google Shape;804;p18"/>
          <p:cNvSpPr/>
          <p:nvPr/>
        </p:nvSpPr>
        <p:spPr>
          <a:xfrm>
            <a:off x="15341277" y="5602488"/>
            <a:ext cx="1440000" cy="1440000"/>
          </a:xfrm>
          <a:prstGeom prst="downArrow">
            <a:avLst>
              <a:gd fmla="val 50000" name="adj1"/>
              <a:gd fmla="val 50000" name="adj2"/>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805" name="Google Shape;805;p18"/>
          <p:cNvSpPr/>
          <p:nvPr/>
        </p:nvSpPr>
        <p:spPr>
          <a:xfrm rot="10800000">
            <a:off x="7662745" y="5602487"/>
            <a:ext cx="1440000" cy="1440000"/>
          </a:xfrm>
          <a:prstGeom prst="downArrow">
            <a:avLst>
              <a:gd fmla="val 50000" name="adj1"/>
              <a:gd fmla="val 50000" name="adj2"/>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806" name="Google Shape;806;p18"/>
          <p:cNvPicPr preferRelativeResize="0"/>
          <p:nvPr/>
        </p:nvPicPr>
        <p:blipFill rotWithShape="1">
          <a:blip r:embed="rId3">
            <a:alphaModFix/>
          </a:blip>
          <a:srcRect b="0" l="0" r="0" t="22549"/>
          <a:stretch/>
        </p:blipFill>
        <p:spPr>
          <a:xfrm>
            <a:off x="6604082" y="8456480"/>
            <a:ext cx="3557324" cy="3563330"/>
          </a:xfrm>
          <a:prstGeom prst="rect">
            <a:avLst/>
          </a:prstGeom>
          <a:noFill/>
          <a:ln>
            <a:noFill/>
          </a:ln>
        </p:spPr>
      </p:pic>
      <p:pic>
        <p:nvPicPr>
          <p:cNvPr id="807" name="Google Shape;807;p18"/>
          <p:cNvPicPr preferRelativeResize="0"/>
          <p:nvPr/>
        </p:nvPicPr>
        <p:blipFill rotWithShape="1">
          <a:blip r:embed="rId4">
            <a:alphaModFix/>
          </a:blip>
          <a:srcRect b="80600" l="25167" r="25922" t="0"/>
          <a:stretch/>
        </p:blipFill>
        <p:spPr>
          <a:xfrm>
            <a:off x="4831475" y="8650611"/>
            <a:ext cx="1739900" cy="892552"/>
          </a:xfrm>
          <a:prstGeom prst="rect">
            <a:avLst/>
          </a:prstGeom>
          <a:noFill/>
          <a:ln>
            <a:noFill/>
          </a:ln>
        </p:spPr>
      </p:pic>
      <p:sp>
        <p:nvSpPr>
          <p:cNvPr id="808" name="Google Shape;808;p18"/>
          <p:cNvSpPr txBox="1"/>
          <p:nvPr/>
        </p:nvSpPr>
        <p:spPr>
          <a:xfrm>
            <a:off x="10032582" y="5342097"/>
            <a:ext cx="4312483" cy="8925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Applying high voltage</a:t>
            </a:r>
            <a:endParaRPr/>
          </a:p>
          <a:p>
            <a:pPr indent="0" lvl="0" marL="0" marR="0" rtl="0" algn="ctr">
              <a:spcBef>
                <a:spcPts val="0"/>
              </a:spcBef>
              <a:spcAft>
                <a:spcPts val="0"/>
              </a:spcAft>
              <a:buNone/>
            </a:pPr>
            <a:r>
              <a:rPr lang="en-US" sz="2600">
                <a:solidFill>
                  <a:srgbClr val="000000"/>
                </a:solidFill>
                <a:latin typeface="Calibri"/>
                <a:ea typeface="Calibri"/>
                <a:cs typeface="Calibri"/>
                <a:sym typeface="Calibri"/>
              </a:rPr>
              <a:t>(21 kV/mm)</a:t>
            </a:r>
            <a:endParaRPr/>
          </a:p>
        </p:txBody>
      </p:sp>
      <p:sp>
        <p:nvSpPr>
          <p:cNvPr id="809" name="Google Shape;809;p18"/>
          <p:cNvSpPr/>
          <p:nvPr/>
        </p:nvSpPr>
        <p:spPr>
          <a:xfrm>
            <a:off x="11407974" y="6324105"/>
            <a:ext cx="1695450" cy="685800"/>
          </a:xfrm>
          <a:prstGeom prst="rightArrow">
            <a:avLst>
              <a:gd fmla="val 50000" name="adj1"/>
              <a:gd fmla="val 50000" name="adj2"/>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pic>
        <p:nvPicPr>
          <p:cNvPr id="810" name="Google Shape;810;p18"/>
          <p:cNvPicPr preferRelativeResize="0"/>
          <p:nvPr/>
        </p:nvPicPr>
        <p:blipFill rotWithShape="1">
          <a:blip r:embed="rId5">
            <a:alphaModFix/>
          </a:blip>
          <a:srcRect b="0" l="0" r="0" t="22549"/>
          <a:stretch/>
        </p:blipFill>
        <p:spPr>
          <a:xfrm>
            <a:off x="14318719" y="8456480"/>
            <a:ext cx="3557324" cy="3563330"/>
          </a:xfrm>
          <a:prstGeom prst="rect">
            <a:avLst/>
          </a:prstGeom>
          <a:noFill/>
          <a:ln>
            <a:noFill/>
          </a:ln>
        </p:spPr>
      </p:pic>
      <p:sp>
        <p:nvSpPr>
          <p:cNvPr id="811" name="Google Shape;811;p18"/>
          <p:cNvSpPr/>
          <p:nvPr/>
        </p:nvSpPr>
        <p:spPr>
          <a:xfrm>
            <a:off x="8316374" y="8456480"/>
            <a:ext cx="1877739" cy="1462220"/>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812" name="Google Shape;812;p18"/>
          <p:cNvSpPr/>
          <p:nvPr/>
        </p:nvSpPr>
        <p:spPr>
          <a:xfrm>
            <a:off x="14183538" y="8365067"/>
            <a:ext cx="1877739" cy="1553633"/>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pic>
        <p:nvPicPr>
          <p:cNvPr id="813" name="Google Shape;813;p18"/>
          <p:cNvPicPr preferRelativeResize="0"/>
          <p:nvPr/>
        </p:nvPicPr>
        <p:blipFill rotWithShape="1">
          <a:blip r:embed="rId6">
            <a:alphaModFix/>
          </a:blip>
          <a:srcRect b="80600" l="25167" r="25922" t="0"/>
          <a:stretch/>
        </p:blipFill>
        <p:spPr>
          <a:xfrm>
            <a:off x="18011224" y="8650611"/>
            <a:ext cx="1739900" cy="892552"/>
          </a:xfrm>
          <a:prstGeom prst="rect">
            <a:avLst/>
          </a:prstGeom>
          <a:noFill/>
          <a:ln>
            <a:noFill/>
          </a:ln>
        </p:spPr>
      </p:pic>
      <p:sp>
        <p:nvSpPr>
          <p:cNvPr id="814" name="Google Shape;814;p18"/>
          <p:cNvSpPr txBox="1"/>
          <p:nvPr/>
        </p:nvSpPr>
        <p:spPr>
          <a:xfrm>
            <a:off x="900455" y="12998939"/>
            <a:ext cx="11359277"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L. E. Myers, R. C. Eckardt, M. M. Fejer, R. L. Byer, W. R. Bosenberg, and J. W. Pierce, "Quasi-phase-matched optical parametric oscillators in bulk periodically poled LiNbO3," J. Opt. Soc. Am. B 12, 2102-2116 (1995)</a:t>
            </a:r>
            <a:endParaRPr sz="1000">
              <a:solidFill>
                <a:schemeClr val="dk2"/>
              </a:solidFill>
              <a:latin typeface="Montserrat"/>
              <a:ea typeface="Montserrat"/>
              <a:cs typeface="Montserrat"/>
              <a:sym typeface="Montserrat"/>
            </a:endParaRPr>
          </a:p>
        </p:txBody>
      </p:sp>
      <p:sp>
        <p:nvSpPr>
          <p:cNvPr id="815" name="Google Shape;815;p18"/>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816" name="Google Shape;816;p18"/>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817" name="Google Shape;817;p18"/>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accent2"/>
                </a:solidFill>
                <a:latin typeface="Montserrat"/>
                <a:ea typeface="Montserrat"/>
                <a:cs typeface="Montserrat"/>
                <a:sym typeface="Montserrat"/>
              </a:rPr>
              <a:t>Theory</a:t>
            </a:r>
            <a:endParaRPr/>
          </a:p>
        </p:txBody>
      </p:sp>
      <p:sp>
        <p:nvSpPr>
          <p:cNvPr id="818" name="Google Shape;818;p18"/>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819" name="Google Shape;819;p18"/>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820" name="Google Shape;820;p18"/>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821" name="Google Shape;821;p18"/>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9"/>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Rabi oscillations (intuitive ordering)</a:t>
            </a:r>
            <a:endParaRPr b="1" sz="5400">
              <a:solidFill>
                <a:schemeClr val="dk2"/>
              </a:solidFill>
              <a:latin typeface="Montserrat"/>
              <a:ea typeface="Montserrat"/>
              <a:cs typeface="Montserrat"/>
              <a:sym typeface="Montserrat"/>
            </a:endParaRPr>
          </a:p>
        </p:txBody>
      </p:sp>
      <p:sp>
        <p:nvSpPr>
          <p:cNvPr id="827" name="Google Shape;827;p19"/>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828" name="Google Shape;828;p19"/>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29" name="Google Shape;829;p19"/>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830" name="Google Shape;830;p19"/>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831" name="Google Shape;831;p19"/>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accent2"/>
                </a:solidFill>
                <a:latin typeface="Montserrat"/>
                <a:ea typeface="Montserrat"/>
                <a:cs typeface="Montserrat"/>
                <a:sym typeface="Montserrat"/>
              </a:rPr>
              <a:t>Theory</a:t>
            </a:r>
            <a:endParaRPr/>
          </a:p>
        </p:txBody>
      </p:sp>
      <p:sp>
        <p:nvSpPr>
          <p:cNvPr id="832" name="Google Shape;832;p19"/>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833" name="Google Shape;833;p19"/>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834" name="Google Shape;834;p19"/>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835" name="Google Shape;835;p19"/>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pic>
        <p:nvPicPr>
          <p:cNvPr descr="OSA Image" id="836" name="Google Shape;836;p19"/>
          <p:cNvPicPr preferRelativeResize="0"/>
          <p:nvPr/>
        </p:nvPicPr>
        <p:blipFill rotWithShape="1">
          <a:blip r:embed="rId3">
            <a:alphaModFix/>
          </a:blip>
          <a:srcRect b="0" l="0" r="46436" t="0"/>
          <a:stretch/>
        </p:blipFill>
        <p:spPr>
          <a:xfrm>
            <a:off x="12400373" y="4421611"/>
            <a:ext cx="7095817" cy="5505000"/>
          </a:xfrm>
          <a:prstGeom prst="rect">
            <a:avLst/>
          </a:prstGeom>
          <a:noFill/>
          <a:ln>
            <a:noFill/>
          </a:ln>
        </p:spPr>
      </p:pic>
      <p:grpSp>
        <p:nvGrpSpPr>
          <p:cNvPr id="837" name="Google Shape;837;p19"/>
          <p:cNvGrpSpPr/>
          <p:nvPr/>
        </p:nvGrpSpPr>
        <p:grpSpPr>
          <a:xfrm>
            <a:off x="4023037" y="5794759"/>
            <a:ext cx="5926601" cy="5602898"/>
            <a:chOff x="2790552" y="5721258"/>
            <a:chExt cx="6365806" cy="6018115"/>
          </a:xfrm>
        </p:grpSpPr>
        <p:cxnSp>
          <p:nvCxnSpPr>
            <p:cNvPr id="838" name="Google Shape;838;p19"/>
            <p:cNvCxnSpPr/>
            <p:nvPr/>
          </p:nvCxnSpPr>
          <p:spPr>
            <a:xfrm>
              <a:off x="3814505" y="11355002"/>
              <a:ext cx="1289065" cy="0"/>
            </a:xfrm>
            <a:prstGeom prst="straightConnector1">
              <a:avLst/>
            </a:prstGeom>
            <a:noFill/>
            <a:ln cap="flat" cmpd="sng" w="76200">
              <a:solidFill>
                <a:srgbClr val="000000"/>
              </a:solidFill>
              <a:prstDash val="solid"/>
              <a:miter lim="800000"/>
              <a:headEnd len="sm" w="sm" type="none"/>
              <a:tailEnd len="sm" w="sm" type="none"/>
            </a:ln>
          </p:spPr>
        </p:cxnSp>
        <p:cxnSp>
          <p:nvCxnSpPr>
            <p:cNvPr id="839" name="Google Shape;839;p19"/>
            <p:cNvCxnSpPr/>
            <p:nvPr/>
          </p:nvCxnSpPr>
          <p:spPr>
            <a:xfrm rot="10800000">
              <a:off x="6171368" y="6695476"/>
              <a:ext cx="1552415" cy="3245962"/>
            </a:xfrm>
            <a:prstGeom prst="straightConnector1">
              <a:avLst/>
            </a:prstGeom>
            <a:noFill/>
            <a:ln cap="flat" cmpd="sng" w="76200">
              <a:solidFill>
                <a:srgbClr val="FF0000"/>
              </a:solidFill>
              <a:prstDash val="solid"/>
              <a:miter lim="800000"/>
              <a:headEnd len="med" w="med" type="triangle"/>
              <a:tailEnd len="med" w="med" type="triangle"/>
            </a:ln>
          </p:spPr>
        </p:cxnSp>
        <p:cxnSp>
          <p:nvCxnSpPr>
            <p:cNvPr id="840" name="Google Shape;840;p19"/>
            <p:cNvCxnSpPr/>
            <p:nvPr/>
          </p:nvCxnSpPr>
          <p:spPr>
            <a:xfrm flipH="1" rot="10800000">
              <a:off x="4301853" y="6680151"/>
              <a:ext cx="1603432" cy="4509064"/>
            </a:xfrm>
            <a:prstGeom prst="straightConnector1">
              <a:avLst/>
            </a:prstGeom>
            <a:noFill/>
            <a:ln cap="flat" cmpd="sng" w="76200">
              <a:solidFill>
                <a:srgbClr val="00B0F0"/>
              </a:solidFill>
              <a:prstDash val="solid"/>
              <a:miter lim="800000"/>
              <a:headEnd len="med" w="med" type="triangle"/>
              <a:tailEnd len="med" w="med" type="triangle"/>
            </a:ln>
          </p:spPr>
        </p:cxnSp>
        <p:cxnSp>
          <p:nvCxnSpPr>
            <p:cNvPr id="841" name="Google Shape;841;p19"/>
            <p:cNvCxnSpPr/>
            <p:nvPr/>
          </p:nvCxnSpPr>
          <p:spPr>
            <a:xfrm>
              <a:off x="5391619" y="6444788"/>
              <a:ext cx="1289065" cy="0"/>
            </a:xfrm>
            <a:prstGeom prst="straightConnector1">
              <a:avLst/>
            </a:prstGeom>
            <a:noFill/>
            <a:ln cap="flat" cmpd="sng" w="76200">
              <a:solidFill>
                <a:srgbClr val="000000"/>
              </a:solidFill>
              <a:prstDash val="solid"/>
              <a:miter lim="800000"/>
              <a:headEnd len="sm" w="sm" type="none"/>
              <a:tailEnd len="sm" w="sm" type="none"/>
            </a:ln>
          </p:spPr>
        </p:cxnSp>
        <p:cxnSp>
          <p:nvCxnSpPr>
            <p:cNvPr id="842" name="Google Shape;842;p19"/>
            <p:cNvCxnSpPr/>
            <p:nvPr/>
          </p:nvCxnSpPr>
          <p:spPr>
            <a:xfrm>
              <a:off x="7079250" y="10144842"/>
              <a:ext cx="1289065" cy="0"/>
            </a:xfrm>
            <a:prstGeom prst="straightConnector1">
              <a:avLst/>
            </a:prstGeom>
            <a:noFill/>
            <a:ln cap="flat" cmpd="sng" w="76200">
              <a:solidFill>
                <a:srgbClr val="000000"/>
              </a:solidFill>
              <a:prstDash val="solid"/>
              <a:miter lim="800000"/>
              <a:headEnd len="sm" w="sm" type="none"/>
              <a:tailEnd len="sm" w="sm" type="none"/>
            </a:ln>
          </p:spPr>
        </p:cxnSp>
        <p:cxnSp>
          <p:nvCxnSpPr>
            <p:cNvPr id="843" name="Google Shape;843;p19"/>
            <p:cNvCxnSpPr/>
            <p:nvPr/>
          </p:nvCxnSpPr>
          <p:spPr>
            <a:xfrm>
              <a:off x="5391619" y="6649445"/>
              <a:ext cx="1289065" cy="0"/>
            </a:xfrm>
            <a:prstGeom prst="straightConnector1">
              <a:avLst/>
            </a:prstGeom>
            <a:noFill/>
            <a:ln cap="flat" cmpd="sng" w="76200">
              <a:solidFill>
                <a:srgbClr val="000000"/>
              </a:solidFill>
              <a:prstDash val="solid"/>
              <a:miter lim="800000"/>
              <a:headEnd len="sm" w="sm" type="none"/>
              <a:tailEnd len="sm" w="sm" type="none"/>
            </a:ln>
          </p:spPr>
        </p:cxnSp>
        <p:pic>
          <p:nvPicPr>
            <p:cNvPr id="844" name="Google Shape;844;p19"/>
            <p:cNvPicPr preferRelativeResize="0"/>
            <p:nvPr/>
          </p:nvPicPr>
          <p:blipFill rotWithShape="1">
            <a:blip r:embed="rId4">
              <a:alphaModFix/>
            </a:blip>
            <a:srcRect b="0" l="0" r="0" t="0"/>
            <a:stretch/>
          </p:blipFill>
          <p:spPr>
            <a:xfrm>
              <a:off x="3238241" y="9273010"/>
              <a:ext cx="1152525" cy="549275"/>
            </a:xfrm>
            <a:prstGeom prst="rect">
              <a:avLst/>
            </a:prstGeom>
            <a:noFill/>
            <a:ln>
              <a:noFill/>
            </a:ln>
          </p:spPr>
        </p:pic>
        <p:pic>
          <p:nvPicPr>
            <p:cNvPr id="845" name="Google Shape;845;p19"/>
            <p:cNvPicPr preferRelativeResize="0"/>
            <p:nvPr/>
          </p:nvPicPr>
          <p:blipFill rotWithShape="1">
            <a:blip r:embed="rId5">
              <a:alphaModFix/>
            </a:blip>
            <a:srcRect b="0" l="0" r="0" t="0"/>
            <a:stretch/>
          </p:blipFill>
          <p:spPr>
            <a:xfrm>
              <a:off x="7801578" y="8521466"/>
              <a:ext cx="1133475" cy="530225"/>
            </a:xfrm>
            <a:prstGeom prst="rect">
              <a:avLst/>
            </a:prstGeom>
            <a:noFill/>
            <a:ln>
              <a:noFill/>
            </a:ln>
          </p:spPr>
        </p:pic>
        <p:pic>
          <p:nvPicPr>
            <p:cNvPr id="846" name="Google Shape;846;p19"/>
            <p:cNvPicPr preferRelativeResize="0"/>
            <p:nvPr/>
          </p:nvPicPr>
          <p:blipFill rotWithShape="1">
            <a:blip r:embed="rId6">
              <a:alphaModFix/>
            </a:blip>
            <a:srcRect b="0" l="0" r="0" t="0"/>
            <a:stretch/>
          </p:blipFill>
          <p:spPr>
            <a:xfrm>
              <a:off x="2790552" y="8623225"/>
              <a:ext cx="1889126" cy="326708"/>
            </a:xfrm>
            <a:prstGeom prst="rect">
              <a:avLst/>
            </a:prstGeom>
            <a:noFill/>
            <a:ln>
              <a:noFill/>
            </a:ln>
          </p:spPr>
        </p:pic>
        <p:pic>
          <p:nvPicPr>
            <p:cNvPr id="847" name="Google Shape;847;p19"/>
            <p:cNvPicPr preferRelativeResize="0"/>
            <p:nvPr/>
          </p:nvPicPr>
          <p:blipFill rotWithShape="1">
            <a:blip r:embed="rId7">
              <a:alphaModFix/>
            </a:blip>
            <a:srcRect b="0" l="0" r="0" t="0"/>
            <a:stretch/>
          </p:blipFill>
          <p:spPr>
            <a:xfrm>
              <a:off x="7335339" y="7938010"/>
              <a:ext cx="1793557" cy="331152"/>
            </a:xfrm>
            <a:prstGeom prst="rect">
              <a:avLst/>
            </a:prstGeom>
            <a:noFill/>
            <a:ln>
              <a:noFill/>
            </a:ln>
          </p:spPr>
        </p:pic>
        <p:pic>
          <p:nvPicPr>
            <p:cNvPr id="848" name="Google Shape;848;p19"/>
            <p:cNvPicPr preferRelativeResize="0"/>
            <p:nvPr/>
          </p:nvPicPr>
          <p:blipFill rotWithShape="1">
            <a:blip r:embed="rId8">
              <a:alphaModFix/>
            </a:blip>
            <a:srcRect b="0" l="0" r="0" t="0"/>
            <a:stretch/>
          </p:blipFill>
          <p:spPr>
            <a:xfrm>
              <a:off x="3031205" y="11189215"/>
              <a:ext cx="517217" cy="550158"/>
            </a:xfrm>
            <a:prstGeom prst="rect">
              <a:avLst/>
            </a:prstGeom>
            <a:noFill/>
            <a:ln>
              <a:noFill/>
            </a:ln>
          </p:spPr>
        </p:pic>
        <p:pic>
          <p:nvPicPr>
            <p:cNvPr id="849" name="Google Shape;849;p19"/>
            <p:cNvPicPr preferRelativeResize="0"/>
            <p:nvPr/>
          </p:nvPicPr>
          <p:blipFill rotWithShape="1">
            <a:blip r:embed="rId9">
              <a:alphaModFix/>
            </a:blip>
            <a:srcRect b="0" l="0" r="0" t="0"/>
            <a:stretch/>
          </p:blipFill>
          <p:spPr>
            <a:xfrm>
              <a:off x="8639141" y="9941440"/>
              <a:ext cx="517217" cy="550158"/>
            </a:xfrm>
            <a:prstGeom prst="rect">
              <a:avLst/>
            </a:prstGeom>
            <a:noFill/>
            <a:ln>
              <a:noFill/>
            </a:ln>
          </p:spPr>
        </p:pic>
        <p:pic>
          <p:nvPicPr>
            <p:cNvPr id="850" name="Google Shape;850;p19"/>
            <p:cNvPicPr preferRelativeResize="0"/>
            <p:nvPr/>
          </p:nvPicPr>
          <p:blipFill rotWithShape="1">
            <a:blip r:embed="rId10">
              <a:alphaModFix/>
            </a:blip>
            <a:srcRect b="0" l="0" r="0" t="0"/>
            <a:stretch/>
          </p:blipFill>
          <p:spPr>
            <a:xfrm>
              <a:off x="5777544" y="5721258"/>
              <a:ext cx="517217" cy="550158"/>
            </a:xfrm>
            <a:prstGeom prst="rect">
              <a:avLst/>
            </a:prstGeom>
            <a:noFill/>
            <a:ln>
              <a:noFill/>
            </a:ln>
          </p:spPr>
        </p:pic>
        <p:pic>
          <p:nvPicPr>
            <p:cNvPr id="851" name="Google Shape;851;p19"/>
            <p:cNvPicPr preferRelativeResize="0"/>
            <p:nvPr/>
          </p:nvPicPr>
          <p:blipFill rotWithShape="1">
            <a:blip r:embed="rId11">
              <a:alphaModFix/>
            </a:blip>
            <a:srcRect b="0" l="0" r="0" t="0"/>
            <a:stretch/>
          </p:blipFill>
          <p:spPr>
            <a:xfrm>
              <a:off x="6838850" y="6404862"/>
              <a:ext cx="393699" cy="377824"/>
            </a:xfrm>
            <a:prstGeom prst="rect">
              <a:avLst/>
            </a:prstGeom>
            <a:noFill/>
            <a:ln>
              <a:noFill/>
            </a:ln>
          </p:spPr>
        </p:pic>
      </p:grpSp>
      <p:sp>
        <p:nvSpPr>
          <p:cNvPr id="852" name="Google Shape;852;p19"/>
          <p:cNvSpPr txBox="1"/>
          <p:nvPr/>
        </p:nvSpPr>
        <p:spPr>
          <a:xfrm>
            <a:off x="3155921" y="3919994"/>
            <a:ext cx="7550180"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The pump pulse is first sent to transfer the population from state |1⟩ to intermediate state |3⟩, then a Stoke pulse sent after transfers the population to |2⟩</a:t>
            </a:r>
            <a:endParaRPr sz="2600">
              <a:solidFill>
                <a:srgbClr val="000000"/>
              </a:solidFill>
              <a:latin typeface="Calibri"/>
              <a:ea typeface="Calibri"/>
              <a:cs typeface="Calibri"/>
              <a:sym typeface="Calibri"/>
            </a:endParaRPr>
          </a:p>
        </p:txBody>
      </p:sp>
      <p:pic>
        <p:nvPicPr>
          <p:cNvPr id="853" name="Google Shape;853;p19"/>
          <p:cNvPicPr preferRelativeResize="0"/>
          <p:nvPr/>
        </p:nvPicPr>
        <p:blipFill rotWithShape="1">
          <a:blip r:embed="rId12">
            <a:alphaModFix/>
          </a:blip>
          <a:srcRect b="0" l="0" r="0" t="0"/>
          <a:stretch/>
        </p:blipFill>
        <p:spPr>
          <a:xfrm>
            <a:off x="13640305" y="3755671"/>
            <a:ext cx="5302857" cy="354743"/>
          </a:xfrm>
          <a:prstGeom prst="rect">
            <a:avLst/>
          </a:prstGeom>
          <a:noFill/>
          <a:ln>
            <a:noFill/>
          </a:ln>
        </p:spPr>
      </p:pic>
      <p:sp>
        <p:nvSpPr>
          <p:cNvPr id="854" name="Google Shape;854;p19"/>
          <p:cNvSpPr txBox="1"/>
          <p:nvPr/>
        </p:nvSpPr>
        <p:spPr>
          <a:xfrm>
            <a:off x="11845429" y="11215866"/>
            <a:ext cx="9662156"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Because when undergoing each process, these states are strongly coupled, thus a series of population inversion occurs (Rabi oscillation)</a:t>
            </a:r>
            <a:endParaRPr sz="2600">
              <a:solidFill>
                <a:srgbClr val="000000"/>
              </a:solidFill>
              <a:latin typeface="Calibri"/>
              <a:ea typeface="Calibri"/>
              <a:cs typeface="Calibri"/>
              <a:sym typeface="Calibri"/>
            </a:endParaRPr>
          </a:p>
        </p:txBody>
      </p:sp>
      <p:sp>
        <p:nvSpPr>
          <p:cNvPr id="855" name="Google Shape;855;p19"/>
          <p:cNvSpPr/>
          <p:nvPr/>
        </p:nvSpPr>
        <p:spPr>
          <a:xfrm>
            <a:off x="14298216" y="7060427"/>
            <a:ext cx="1587796" cy="2639780"/>
          </a:xfrm>
          <a:prstGeom prst="rect">
            <a:avLst/>
          </a:prstGeom>
          <a:noFill/>
          <a:ln cap="flat" cmpd="sng" w="57150">
            <a:solidFill>
              <a:srgbClr val="B2B2B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856" name="Google Shape;856;p19"/>
          <p:cNvSpPr/>
          <p:nvPr/>
        </p:nvSpPr>
        <p:spPr>
          <a:xfrm>
            <a:off x="16643763" y="7077211"/>
            <a:ext cx="1756482" cy="2628000"/>
          </a:xfrm>
          <a:prstGeom prst="rect">
            <a:avLst/>
          </a:prstGeom>
          <a:noFill/>
          <a:ln cap="flat" cmpd="sng" w="57150">
            <a:solidFill>
              <a:srgbClr val="B2B2B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cxnSp>
        <p:nvCxnSpPr>
          <p:cNvPr id="857" name="Google Shape;857;p19"/>
          <p:cNvCxnSpPr/>
          <p:nvPr/>
        </p:nvCxnSpPr>
        <p:spPr>
          <a:xfrm>
            <a:off x="16370210" y="10365658"/>
            <a:ext cx="0" cy="634644"/>
          </a:xfrm>
          <a:prstGeom prst="straightConnector1">
            <a:avLst/>
          </a:prstGeom>
          <a:noFill/>
          <a:ln cap="flat" cmpd="sng" w="57150">
            <a:solidFill>
              <a:srgbClr val="000000"/>
            </a:solidFill>
            <a:prstDash val="solid"/>
            <a:miter lim="800000"/>
            <a:headEnd len="sm" w="sm" type="none"/>
            <a:tailEnd len="med" w="med" type="triangle"/>
          </a:ln>
        </p:spPr>
      </p:cxnSp>
      <p:cxnSp>
        <p:nvCxnSpPr>
          <p:cNvPr id="858" name="Google Shape;858;p19"/>
          <p:cNvCxnSpPr/>
          <p:nvPr/>
        </p:nvCxnSpPr>
        <p:spPr>
          <a:xfrm>
            <a:off x="15069856" y="9695339"/>
            <a:ext cx="0" cy="720000"/>
          </a:xfrm>
          <a:prstGeom prst="straightConnector1">
            <a:avLst/>
          </a:prstGeom>
          <a:noFill/>
          <a:ln cap="flat" cmpd="sng" w="57150">
            <a:solidFill>
              <a:srgbClr val="000000"/>
            </a:solidFill>
            <a:prstDash val="solid"/>
            <a:miter lim="800000"/>
            <a:headEnd len="sm" w="sm" type="none"/>
            <a:tailEnd len="sm" w="sm" type="none"/>
          </a:ln>
        </p:spPr>
      </p:cxnSp>
      <p:cxnSp>
        <p:nvCxnSpPr>
          <p:cNvPr id="859" name="Google Shape;859;p19"/>
          <p:cNvCxnSpPr/>
          <p:nvPr/>
        </p:nvCxnSpPr>
        <p:spPr>
          <a:xfrm>
            <a:off x="17721816" y="9690259"/>
            <a:ext cx="0" cy="720000"/>
          </a:xfrm>
          <a:prstGeom prst="straightConnector1">
            <a:avLst/>
          </a:prstGeom>
          <a:noFill/>
          <a:ln cap="flat" cmpd="sng" w="57150">
            <a:solidFill>
              <a:srgbClr val="000000"/>
            </a:solidFill>
            <a:prstDash val="solid"/>
            <a:miter lim="800000"/>
            <a:headEnd len="sm" w="sm" type="none"/>
            <a:tailEnd len="sm" w="sm" type="none"/>
          </a:ln>
        </p:spPr>
      </p:cxnSp>
      <p:cxnSp>
        <p:nvCxnSpPr>
          <p:cNvPr id="860" name="Google Shape;860;p19"/>
          <p:cNvCxnSpPr/>
          <p:nvPr/>
        </p:nvCxnSpPr>
        <p:spPr>
          <a:xfrm>
            <a:off x="15078964" y="10387317"/>
            <a:ext cx="2670966" cy="0"/>
          </a:xfrm>
          <a:prstGeom prst="straightConnector1">
            <a:avLst/>
          </a:prstGeom>
          <a:noFill/>
          <a:ln cap="flat" cmpd="sng" w="57150">
            <a:solidFill>
              <a:srgbClr val="000000"/>
            </a:solidFill>
            <a:prstDash val="solid"/>
            <a:miter lim="800000"/>
            <a:headEnd len="sm" w="sm" type="none"/>
            <a:tailEnd len="sm" w="sm" type="none"/>
          </a:ln>
        </p:spPr>
      </p:cxnSp>
      <p:sp>
        <p:nvSpPr>
          <p:cNvPr id="861" name="Google Shape;861;p19"/>
          <p:cNvSpPr txBox="1"/>
          <p:nvPr/>
        </p:nvSpPr>
        <p:spPr>
          <a:xfrm>
            <a:off x="900455" y="12998939"/>
            <a:ext cx="11359277"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[1] Picturing stimulated Raman adiabatic passage: a STIRAP tutorial," Adv. Opt. Photon. 9, 563-719 (2017)</a:t>
            </a:r>
            <a:endParaRPr sz="1000">
              <a:solidFill>
                <a:schemeClr val="dk2"/>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grpSp>
        <p:nvGrpSpPr>
          <p:cNvPr id="866" name="Google Shape;866;p20"/>
          <p:cNvGrpSpPr/>
          <p:nvPr/>
        </p:nvGrpSpPr>
        <p:grpSpPr>
          <a:xfrm>
            <a:off x="11761201" y="5851482"/>
            <a:ext cx="8128819" cy="5675574"/>
            <a:chOff x="3488244" y="1712001"/>
            <a:chExt cx="4521600" cy="3156999"/>
          </a:xfrm>
        </p:grpSpPr>
        <p:pic>
          <p:nvPicPr>
            <p:cNvPr descr="OSA Image" id="867" name="Google Shape;867;p20"/>
            <p:cNvPicPr preferRelativeResize="0"/>
            <p:nvPr/>
          </p:nvPicPr>
          <p:blipFill rotWithShape="1">
            <a:blip r:embed="rId3">
              <a:alphaModFix/>
            </a:blip>
            <a:srcRect b="0" l="0" r="0" t="0"/>
            <a:stretch/>
          </p:blipFill>
          <p:spPr>
            <a:xfrm>
              <a:off x="3488244" y="1989000"/>
              <a:ext cx="4521600" cy="2880000"/>
            </a:xfrm>
            <a:prstGeom prst="rect">
              <a:avLst/>
            </a:prstGeom>
            <a:noFill/>
            <a:ln>
              <a:noFill/>
            </a:ln>
          </p:spPr>
        </p:pic>
        <p:sp>
          <p:nvSpPr>
            <p:cNvPr id="868" name="Google Shape;868;p20"/>
            <p:cNvSpPr txBox="1"/>
            <p:nvPr/>
          </p:nvSpPr>
          <p:spPr>
            <a:xfrm>
              <a:off x="5065184" y="1712001"/>
              <a:ext cx="1898664" cy="2567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imes New Roman"/>
                  <a:ea typeface="Times New Roman"/>
                  <a:cs typeface="Times New Roman"/>
                  <a:sym typeface="Times New Roman"/>
                </a:rPr>
                <a:t>Counter-intuitive ordering</a:t>
              </a:r>
              <a:endParaRPr sz="2400">
                <a:solidFill>
                  <a:srgbClr val="000000"/>
                </a:solidFill>
                <a:latin typeface="Times New Roman"/>
                <a:ea typeface="Times New Roman"/>
                <a:cs typeface="Times New Roman"/>
                <a:sym typeface="Times New Roman"/>
              </a:endParaRPr>
            </a:p>
          </p:txBody>
        </p:sp>
      </p:grpSp>
      <p:sp>
        <p:nvSpPr>
          <p:cNvPr id="869" name="Google Shape;869;p20"/>
          <p:cNvSpPr txBox="1"/>
          <p:nvPr/>
        </p:nvSpPr>
        <p:spPr>
          <a:xfrm>
            <a:off x="3068182" y="1483499"/>
            <a:ext cx="18241284"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Adiabatic passage (counter-intuitive ordering)</a:t>
            </a:r>
            <a:endParaRPr b="1" sz="5400">
              <a:solidFill>
                <a:schemeClr val="dk2"/>
              </a:solidFill>
              <a:latin typeface="Montserrat"/>
              <a:ea typeface="Montserrat"/>
              <a:cs typeface="Montserrat"/>
              <a:sym typeface="Montserrat"/>
            </a:endParaRPr>
          </a:p>
        </p:txBody>
      </p:sp>
      <p:sp>
        <p:nvSpPr>
          <p:cNvPr id="870" name="Google Shape;870;p20"/>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871" name="Google Shape;871;p20"/>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72" name="Google Shape;872;p20"/>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873" name="Google Shape;873;p20"/>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874" name="Google Shape;874;p20"/>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accent2"/>
                </a:solidFill>
                <a:latin typeface="Montserrat"/>
                <a:ea typeface="Montserrat"/>
                <a:cs typeface="Montserrat"/>
                <a:sym typeface="Montserrat"/>
              </a:rPr>
              <a:t>Theory</a:t>
            </a:r>
            <a:endParaRPr/>
          </a:p>
        </p:txBody>
      </p:sp>
      <p:sp>
        <p:nvSpPr>
          <p:cNvPr id="875" name="Google Shape;875;p20"/>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876" name="Google Shape;876;p20"/>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877" name="Google Shape;877;p20"/>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878" name="Google Shape;878;p20"/>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grpSp>
        <p:nvGrpSpPr>
          <p:cNvPr id="879" name="Google Shape;879;p20"/>
          <p:cNvGrpSpPr/>
          <p:nvPr/>
        </p:nvGrpSpPr>
        <p:grpSpPr>
          <a:xfrm>
            <a:off x="4023037" y="5794759"/>
            <a:ext cx="5926601" cy="5602898"/>
            <a:chOff x="2790552" y="5721258"/>
            <a:chExt cx="6365806" cy="6018115"/>
          </a:xfrm>
        </p:grpSpPr>
        <p:cxnSp>
          <p:nvCxnSpPr>
            <p:cNvPr id="880" name="Google Shape;880;p20"/>
            <p:cNvCxnSpPr/>
            <p:nvPr/>
          </p:nvCxnSpPr>
          <p:spPr>
            <a:xfrm>
              <a:off x="3814505" y="11355002"/>
              <a:ext cx="1289065" cy="0"/>
            </a:xfrm>
            <a:prstGeom prst="straightConnector1">
              <a:avLst/>
            </a:prstGeom>
            <a:noFill/>
            <a:ln cap="flat" cmpd="sng" w="76200">
              <a:solidFill>
                <a:srgbClr val="000000"/>
              </a:solidFill>
              <a:prstDash val="solid"/>
              <a:miter lim="800000"/>
              <a:headEnd len="sm" w="sm" type="none"/>
              <a:tailEnd len="sm" w="sm" type="none"/>
            </a:ln>
          </p:spPr>
        </p:cxnSp>
        <p:cxnSp>
          <p:nvCxnSpPr>
            <p:cNvPr id="881" name="Google Shape;881;p20"/>
            <p:cNvCxnSpPr/>
            <p:nvPr/>
          </p:nvCxnSpPr>
          <p:spPr>
            <a:xfrm rot="10800000">
              <a:off x="6171368" y="6695476"/>
              <a:ext cx="1552415" cy="3245962"/>
            </a:xfrm>
            <a:prstGeom prst="straightConnector1">
              <a:avLst/>
            </a:prstGeom>
            <a:noFill/>
            <a:ln cap="flat" cmpd="sng" w="76200">
              <a:solidFill>
                <a:srgbClr val="FF0000"/>
              </a:solidFill>
              <a:prstDash val="solid"/>
              <a:miter lim="800000"/>
              <a:headEnd len="med" w="med" type="triangle"/>
              <a:tailEnd len="med" w="med" type="triangle"/>
            </a:ln>
          </p:spPr>
        </p:cxnSp>
        <p:cxnSp>
          <p:nvCxnSpPr>
            <p:cNvPr id="882" name="Google Shape;882;p20"/>
            <p:cNvCxnSpPr/>
            <p:nvPr/>
          </p:nvCxnSpPr>
          <p:spPr>
            <a:xfrm flipH="1" rot="10800000">
              <a:off x="4301853" y="6680151"/>
              <a:ext cx="1603432" cy="4509064"/>
            </a:xfrm>
            <a:prstGeom prst="straightConnector1">
              <a:avLst/>
            </a:prstGeom>
            <a:noFill/>
            <a:ln cap="flat" cmpd="sng" w="76200">
              <a:solidFill>
                <a:srgbClr val="00B0F0"/>
              </a:solidFill>
              <a:prstDash val="solid"/>
              <a:miter lim="800000"/>
              <a:headEnd len="med" w="med" type="triangle"/>
              <a:tailEnd len="med" w="med" type="triangle"/>
            </a:ln>
          </p:spPr>
        </p:cxnSp>
        <p:cxnSp>
          <p:nvCxnSpPr>
            <p:cNvPr id="883" name="Google Shape;883;p20"/>
            <p:cNvCxnSpPr/>
            <p:nvPr/>
          </p:nvCxnSpPr>
          <p:spPr>
            <a:xfrm>
              <a:off x="5391619" y="6444788"/>
              <a:ext cx="1289065" cy="0"/>
            </a:xfrm>
            <a:prstGeom prst="straightConnector1">
              <a:avLst/>
            </a:prstGeom>
            <a:noFill/>
            <a:ln cap="flat" cmpd="sng" w="76200">
              <a:solidFill>
                <a:srgbClr val="000000"/>
              </a:solidFill>
              <a:prstDash val="solid"/>
              <a:miter lim="800000"/>
              <a:headEnd len="sm" w="sm" type="none"/>
              <a:tailEnd len="sm" w="sm" type="none"/>
            </a:ln>
          </p:spPr>
        </p:cxnSp>
        <p:cxnSp>
          <p:nvCxnSpPr>
            <p:cNvPr id="884" name="Google Shape;884;p20"/>
            <p:cNvCxnSpPr/>
            <p:nvPr/>
          </p:nvCxnSpPr>
          <p:spPr>
            <a:xfrm>
              <a:off x="7079250" y="10144842"/>
              <a:ext cx="1289065" cy="0"/>
            </a:xfrm>
            <a:prstGeom prst="straightConnector1">
              <a:avLst/>
            </a:prstGeom>
            <a:noFill/>
            <a:ln cap="flat" cmpd="sng" w="76200">
              <a:solidFill>
                <a:srgbClr val="000000"/>
              </a:solidFill>
              <a:prstDash val="solid"/>
              <a:miter lim="800000"/>
              <a:headEnd len="sm" w="sm" type="none"/>
              <a:tailEnd len="sm" w="sm" type="none"/>
            </a:ln>
          </p:spPr>
        </p:cxnSp>
        <p:cxnSp>
          <p:nvCxnSpPr>
            <p:cNvPr id="885" name="Google Shape;885;p20"/>
            <p:cNvCxnSpPr/>
            <p:nvPr/>
          </p:nvCxnSpPr>
          <p:spPr>
            <a:xfrm>
              <a:off x="5391619" y="6649445"/>
              <a:ext cx="1289065" cy="0"/>
            </a:xfrm>
            <a:prstGeom prst="straightConnector1">
              <a:avLst/>
            </a:prstGeom>
            <a:noFill/>
            <a:ln cap="flat" cmpd="sng" w="76200">
              <a:solidFill>
                <a:srgbClr val="000000"/>
              </a:solidFill>
              <a:prstDash val="solid"/>
              <a:miter lim="800000"/>
              <a:headEnd len="sm" w="sm" type="none"/>
              <a:tailEnd len="sm" w="sm" type="none"/>
            </a:ln>
          </p:spPr>
        </p:cxnSp>
        <p:pic>
          <p:nvPicPr>
            <p:cNvPr id="886" name="Google Shape;886;p20"/>
            <p:cNvPicPr preferRelativeResize="0"/>
            <p:nvPr/>
          </p:nvPicPr>
          <p:blipFill rotWithShape="1">
            <a:blip r:embed="rId4">
              <a:alphaModFix/>
            </a:blip>
            <a:srcRect b="0" l="0" r="0" t="0"/>
            <a:stretch/>
          </p:blipFill>
          <p:spPr>
            <a:xfrm>
              <a:off x="3238241" y="9273010"/>
              <a:ext cx="1152525" cy="549275"/>
            </a:xfrm>
            <a:prstGeom prst="rect">
              <a:avLst/>
            </a:prstGeom>
            <a:noFill/>
            <a:ln>
              <a:noFill/>
            </a:ln>
          </p:spPr>
        </p:pic>
        <p:pic>
          <p:nvPicPr>
            <p:cNvPr id="887" name="Google Shape;887;p20"/>
            <p:cNvPicPr preferRelativeResize="0"/>
            <p:nvPr/>
          </p:nvPicPr>
          <p:blipFill rotWithShape="1">
            <a:blip r:embed="rId5">
              <a:alphaModFix/>
            </a:blip>
            <a:srcRect b="0" l="0" r="0" t="0"/>
            <a:stretch/>
          </p:blipFill>
          <p:spPr>
            <a:xfrm>
              <a:off x="7801578" y="8521466"/>
              <a:ext cx="1133475" cy="530225"/>
            </a:xfrm>
            <a:prstGeom prst="rect">
              <a:avLst/>
            </a:prstGeom>
            <a:noFill/>
            <a:ln>
              <a:noFill/>
            </a:ln>
          </p:spPr>
        </p:pic>
        <p:pic>
          <p:nvPicPr>
            <p:cNvPr id="888" name="Google Shape;888;p20"/>
            <p:cNvPicPr preferRelativeResize="0"/>
            <p:nvPr/>
          </p:nvPicPr>
          <p:blipFill rotWithShape="1">
            <a:blip r:embed="rId6">
              <a:alphaModFix/>
            </a:blip>
            <a:srcRect b="0" l="0" r="0" t="0"/>
            <a:stretch/>
          </p:blipFill>
          <p:spPr>
            <a:xfrm>
              <a:off x="2790552" y="8623225"/>
              <a:ext cx="1889126" cy="326708"/>
            </a:xfrm>
            <a:prstGeom prst="rect">
              <a:avLst/>
            </a:prstGeom>
            <a:noFill/>
            <a:ln>
              <a:noFill/>
            </a:ln>
          </p:spPr>
        </p:pic>
        <p:pic>
          <p:nvPicPr>
            <p:cNvPr id="889" name="Google Shape;889;p20"/>
            <p:cNvPicPr preferRelativeResize="0"/>
            <p:nvPr/>
          </p:nvPicPr>
          <p:blipFill rotWithShape="1">
            <a:blip r:embed="rId7">
              <a:alphaModFix/>
            </a:blip>
            <a:srcRect b="0" l="0" r="0" t="0"/>
            <a:stretch/>
          </p:blipFill>
          <p:spPr>
            <a:xfrm>
              <a:off x="7335339" y="7938010"/>
              <a:ext cx="1793557" cy="331152"/>
            </a:xfrm>
            <a:prstGeom prst="rect">
              <a:avLst/>
            </a:prstGeom>
            <a:noFill/>
            <a:ln>
              <a:noFill/>
            </a:ln>
          </p:spPr>
        </p:pic>
        <p:pic>
          <p:nvPicPr>
            <p:cNvPr id="890" name="Google Shape;890;p20"/>
            <p:cNvPicPr preferRelativeResize="0"/>
            <p:nvPr/>
          </p:nvPicPr>
          <p:blipFill rotWithShape="1">
            <a:blip r:embed="rId8">
              <a:alphaModFix/>
            </a:blip>
            <a:srcRect b="0" l="0" r="0" t="0"/>
            <a:stretch/>
          </p:blipFill>
          <p:spPr>
            <a:xfrm>
              <a:off x="3031205" y="11189215"/>
              <a:ext cx="517217" cy="550158"/>
            </a:xfrm>
            <a:prstGeom prst="rect">
              <a:avLst/>
            </a:prstGeom>
            <a:noFill/>
            <a:ln>
              <a:noFill/>
            </a:ln>
          </p:spPr>
        </p:pic>
        <p:pic>
          <p:nvPicPr>
            <p:cNvPr id="891" name="Google Shape;891;p20"/>
            <p:cNvPicPr preferRelativeResize="0"/>
            <p:nvPr/>
          </p:nvPicPr>
          <p:blipFill rotWithShape="1">
            <a:blip r:embed="rId9">
              <a:alphaModFix/>
            </a:blip>
            <a:srcRect b="0" l="0" r="0" t="0"/>
            <a:stretch/>
          </p:blipFill>
          <p:spPr>
            <a:xfrm>
              <a:off x="8639141" y="9941440"/>
              <a:ext cx="517217" cy="550158"/>
            </a:xfrm>
            <a:prstGeom prst="rect">
              <a:avLst/>
            </a:prstGeom>
            <a:noFill/>
            <a:ln>
              <a:noFill/>
            </a:ln>
          </p:spPr>
        </p:pic>
        <p:pic>
          <p:nvPicPr>
            <p:cNvPr id="892" name="Google Shape;892;p20"/>
            <p:cNvPicPr preferRelativeResize="0"/>
            <p:nvPr/>
          </p:nvPicPr>
          <p:blipFill rotWithShape="1">
            <a:blip r:embed="rId10">
              <a:alphaModFix/>
            </a:blip>
            <a:srcRect b="0" l="0" r="0" t="0"/>
            <a:stretch/>
          </p:blipFill>
          <p:spPr>
            <a:xfrm>
              <a:off x="5777544" y="5721258"/>
              <a:ext cx="517217" cy="550158"/>
            </a:xfrm>
            <a:prstGeom prst="rect">
              <a:avLst/>
            </a:prstGeom>
            <a:noFill/>
            <a:ln>
              <a:noFill/>
            </a:ln>
          </p:spPr>
        </p:pic>
        <p:pic>
          <p:nvPicPr>
            <p:cNvPr id="893" name="Google Shape;893;p20"/>
            <p:cNvPicPr preferRelativeResize="0"/>
            <p:nvPr/>
          </p:nvPicPr>
          <p:blipFill rotWithShape="1">
            <a:blip r:embed="rId11">
              <a:alphaModFix/>
            </a:blip>
            <a:srcRect b="0" l="0" r="0" t="0"/>
            <a:stretch/>
          </p:blipFill>
          <p:spPr>
            <a:xfrm>
              <a:off x="6838850" y="6404862"/>
              <a:ext cx="393699" cy="377824"/>
            </a:xfrm>
            <a:prstGeom prst="rect">
              <a:avLst/>
            </a:prstGeom>
            <a:noFill/>
            <a:ln>
              <a:noFill/>
            </a:ln>
          </p:spPr>
        </p:pic>
      </p:grpSp>
      <p:sp>
        <p:nvSpPr>
          <p:cNvPr id="894" name="Google Shape;894;p20"/>
          <p:cNvSpPr txBox="1"/>
          <p:nvPr/>
        </p:nvSpPr>
        <p:spPr>
          <a:xfrm>
            <a:off x="6021455" y="3559686"/>
            <a:ext cx="12334738"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If the pulse ordering is reversed and the evolution of pulse intensity is sufficiently slow, the population will be completely transferred to ∣3〉without exciting intermediate level. Unlike the intuitive case, such scheme is robust against experimental variations.</a:t>
            </a:r>
            <a:endParaRPr/>
          </a:p>
        </p:txBody>
      </p:sp>
      <p:sp>
        <p:nvSpPr>
          <p:cNvPr id="895" name="Google Shape;895;p20"/>
          <p:cNvSpPr txBox="1"/>
          <p:nvPr/>
        </p:nvSpPr>
        <p:spPr>
          <a:xfrm>
            <a:off x="900455" y="12998939"/>
            <a:ext cx="11359277"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[1] Picturing stimulated Raman adiabatic passage: a STIRAP tutorial," Adv. Opt. Photon. 9, 563-719 (2017)</a:t>
            </a:r>
            <a:endParaRPr sz="1000">
              <a:solidFill>
                <a:schemeClr val="dk2"/>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21"/>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The previous design</a:t>
            </a:r>
            <a:endParaRPr/>
          </a:p>
        </p:txBody>
      </p:sp>
      <p:sp>
        <p:nvSpPr>
          <p:cNvPr id="901" name="Google Shape;901;p21"/>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902" name="Google Shape;902;p21"/>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03" name="Google Shape;903;p21"/>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904" name="Google Shape;904;p21"/>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905" name="Google Shape;905;p21"/>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accent2"/>
                </a:solidFill>
                <a:latin typeface="Montserrat"/>
                <a:ea typeface="Montserrat"/>
                <a:cs typeface="Montserrat"/>
                <a:sym typeface="Montserrat"/>
              </a:rPr>
              <a:t>Theory</a:t>
            </a:r>
            <a:endParaRPr/>
          </a:p>
        </p:txBody>
      </p:sp>
      <p:sp>
        <p:nvSpPr>
          <p:cNvPr id="906" name="Google Shape;906;p21"/>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907" name="Google Shape;907;p21"/>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908" name="Google Shape;908;p21"/>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909" name="Google Shape;909;p21"/>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pic>
        <p:nvPicPr>
          <p:cNvPr id="910" name="Google Shape;910;p21"/>
          <p:cNvPicPr preferRelativeResize="0"/>
          <p:nvPr/>
        </p:nvPicPr>
        <p:blipFill rotWithShape="1">
          <a:blip r:embed="rId3">
            <a:alphaModFix/>
          </a:blip>
          <a:srcRect b="0" l="0" r="0" t="0"/>
          <a:stretch/>
        </p:blipFill>
        <p:spPr>
          <a:xfrm>
            <a:off x="14111386" y="5744165"/>
            <a:ext cx="7743172" cy="5400000"/>
          </a:xfrm>
          <a:prstGeom prst="rect">
            <a:avLst/>
          </a:prstGeom>
          <a:noFill/>
          <a:ln>
            <a:noFill/>
          </a:ln>
        </p:spPr>
      </p:pic>
      <p:pic>
        <p:nvPicPr>
          <p:cNvPr id="911" name="Google Shape;911;p21"/>
          <p:cNvPicPr preferRelativeResize="0"/>
          <p:nvPr/>
        </p:nvPicPr>
        <p:blipFill rotWithShape="1">
          <a:blip r:embed="rId4">
            <a:alphaModFix/>
          </a:blip>
          <a:srcRect b="0" l="0" r="0" t="0"/>
          <a:stretch/>
        </p:blipFill>
        <p:spPr>
          <a:xfrm>
            <a:off x="2165559" y="5744165"/>
            <a:ext cx="7743172" cy="5400000"/>
          </a:xfrm>
          <a:prstGeom prst="rect">
            <a:avLst/>
          </a:prstGeom>
          <a:noFill/>
          <a:ln>
            <a:noFill/>
          </a:ln>
        </p:spPr>
      </p:pic>
      <p:sp>
        <p:nvSpPr>
          <p:cNvPr id="912" name="Google Shape;912;p21"/>
          <p:cNvSpPr txBox="1"/>
          <p:nvPr/>
        </p:nvSpPr>
        <p:spPr>
          <a:xfrm>
            <a:off x="2636752" y="4194123"/>
            <a:ext cx="6800786"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Since Ti-diffused waveguides only provide small birefringence, the number of intermediate states is chosen as 3 to further increase the PER</a:t>
            </a:r>
            <a:endParaRPr sz="2600">
              <a:solidFill>
                <a:srgbClr val="000000"/>
              </a:solidFill>
              <a:latin typeface="Calibri"/>
              <a:ea typeface="Calibri"/>
              <a:cs typeface="Calibri"/>
              <a:sym typeface="Calibri"/>
            </a:endParaRPr>
          </a:p>
        </p:txBody>
      </p:sp>
      <p:sp>
        <p:nvSpPr>
          <p:cNvPr id="913" name="Google Shape;913;p21"/>
          <p:cNvSpPr txBox="1"/>
          <p:nvPr/>
        </p:nvSpPr>
        <p:spPr>
          <a:xfrm>
            <a:off x="13998748" y="4194123"/>
            <a:ext cx="7968448"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However, if the coupling length is directly shortened, the adiabaticity of the system would be greatly reduced, making the conversion incomplete</a:t>
            </a:r>
            <a:endParaRPr sz="2600">
              <a:solidFill>
                <a:srgbClr val="000000"/>
              </a:solidFill>
              <a:latin typeface="Calibri"/>
              <a:ea typeface="Calibri"/>
              <a:cs typeface="Calibri"/>
              <a:sym typeface="Calibri"/>
            </a:endParaRPr>
          </a:p>
        </p:txBody>
      </p:sp>
      <p:sp>
        <p:nvSpPr>
          <p:cNvPr id="914" name="Google Shape;914;p21"/>
          <p:cNvSpPr/>
          <p:nvPr/>
        </p:nvSpPr>
        <p:spPr>
          <a:xfrm>
            <a:off x="11437981" y="7950468"/>
            <a:ext cx="1635435" cy="723301"/>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915" name="Google Shape;915;p21"/>
          <p:cNvSpPr txBox="1"/>
          <p:nvPr/>
        </p:nvSpPr>
        <p:spPr>
          <a:xfrm>
            <a:off x="900456" y="13301490"/>
            <a:ext cx="7811744"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Broadband on-chip polarization mode splitters in lithium niobate integrated adiabatic couplers. Optics express, 27(2):1632–1645, 2019.</a:t>
            </a:r>
            <a:endParaRPr sz="1000">
              <a:solidFill>
                <a:schemeClr val="dk2"/>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22"/>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The proposed design</a:t>
            </a:r>
            <a:endParaRPr/>
          </a:p>
        </p:txBody>
      </p:sp>
      <p:sp>
        <p:nvSpPr>
          <p:cNvPr id="921" name="Google Shape;921;p22"/>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922" name="Google Shape;922;p22"/>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23" name="Google Shape;923;p22"/>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924" name="Google Shape;924;p22"/>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925" name="Google Shape;925;p22"/>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accent2"/>
                </a:solidFill>
                <a:latin typeface="Montserrat"/>
                <a:ea typeface="Montserrat"/>
                <a:cs typeface="Montserrat"/>
                <a:sym typeface="Montserrat"/>
              </a:rPr>
              <a:t>Theory</a:t>
            </a:r>
            <a:endParaRPr/>
          </a:p>
        </p:txBody>
      </p:sp>
      <p:sp>
        <p:nvSpPr>
          <p:cNvPr id="926" name="Google Shape;926;p22"/>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927" name="Google Shape;927;p22"/>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928" name="Google Shape;928;p22"/>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929" name="Google Shape;929;p22"/>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930" name="Google Shape;930;p22"/>
          <p:cNvSpPr txBox="1"/>
          <p:nvPr/>
        </p:nvSpPr>
        <p:spPr>
          <a:xfrm>
            <a:off x="12997314" y="7029708"/>
            <a:ext cx="6683311"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However, decreasing the coupling length inevitably reduces “adiabaticity”</a:t>
            </a:r>
            <a:endParaRPr sz="2600">
              <a:solidFill>
                <a:srgbClr val="000000"/>
              </a:solidFill>
              <a:latin typeface="Calibri"/>
              <a:ea typeface="Calibri"/>
              <a:cs typeface="Calibri"/>
              <a:sym typeface="Calibri"/>
            </a:endParaRPr>
          </a:p>
        </p:txBody>
      </p:sp>
      <p:sp>
        <p:nvSpPr>
          <p:cNvPr id="931" name="Google Shape;931;p22"/>
          <p:cNvSpPr txBox="1"/>
          <p:nvPr/>
        </p:nvSpPr>
        <p:spPr>
          <a:xfrm>
            <a:off x="12997314" y="5225600"/>
            <a:ext cx="6683311"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To reduce the coupling length, the duration of pulses is shortened from 3 cm to 1.7 cm</a:t>
            </a:r>
            <a:endParaRPr sz="2600">
              <a:solidFill>
                <a:srgbClr val="000000"/>
              </a:solidFill>
              <a:latin typeface="Calibri"/>
              <a:ea typeface="Calibri"/>
              <a:cs typeface="Calibri"/>
              <a:sym typeface="Calibri"/>
            </a:endParaRPr>
          </a:p>
        </p:txBody>
      </p:sp>
      <p:pic>
        <p:nvPicPr>
          <p:cNvPr id="932" name="Google Shape;932;p22"/>
          <p:cNvPicPr preferRelativeResize="0"/>
          <p:nvPr/>
        </p:nvPicPr>
        <p:blipFill rotWithShape="1">
          <a:blip r:embed="rId3">
            <a:alphaModFix/>
          </a:blip>
          <a:srcRect b="0" l="0" r="0" t="16872"/>
          <a:stretch/>
        </p:blipFill>
        <p:spPr>
          <a:xfrm rot="5400000">
            <a:off x="5776702" y="3152368"/>
            <a:ext cx="2770398" cy="5122839"/>
          </a:xfrm>
          <a:prstGeom prst="rect">
            <a:avLst/>
          </a:prstGeom>
          <a:noFill/>
          <a:ln>
            <a:noFill/>
          </a:ln>
        </p:spPr>
      </p:pic>
      <p:pic>
        <p:nvPicPr>
          <p:cNvPr id="933" name="Google Shape;933;p22"/>
          <p:cNvPicPr preferRelativeResize="0"/>
          <p:nvPr/>
        </p:nvPicPr>
        <p:blipFill rotWithShape="1">
          <a:blip r:embed="rId4">
            <a:alphaModFix/>
          </a:blip>
          <a:srcRect b="0" l="0" r="0" t="0"/>
          <a:stretch/>
        </p:blipFill>
        <p:spPr>
          <a:xfrm>
            <a:off x="10007564" y="4942056"/>
            <a:ext cx="164209" cy="117463"/>
          </a:xfrm>
          <a:prstGeom prst="rect">
            <a:avLst/>
          </a:prstGeom>
          <a:noFill/>
          <a:ln>
            <a:noFill/>
          </a:ln>
        </p:spPr>
      </p:pic>
      <p:pic>
        <p:nvPicPr>
          <p:cNvPr id="934" name="Google Shape;934;p22"/>
          <p:cNvPicPr preferRelativeResize="0"/>
          <p:nvPr/>
        </p:nvPicPr>
        <p:blipFill rotWithShape="1">
          <a:blip r:embed="rId5">
            <a:alphaModFix/>
          </a:blip>
          <a:srcRect b="0" l="0" r="0" t="0"/>
          <a:stretch/>
        </p:blipFill>
        <p:spPr>
          <a:xfrm>
            <a:off x="10011378" y="5345455"/>
            <a:ext cx="169003" cy="117463"/>
          </a:xfrm>
          <a:prstGeom prst="rect">
            <a:avLst/>
          </a:prstGeom>
          <a:noFill/>
          <a:ln>
            <a:noFill/>
          </a:ln>
        </p:spPr>
      </p:pic>
      <p:pic>
        <p:nvPicPr>
          <p:cNvPr id="935" name="Google Shape;935;p22"/>
          <p:cNvPicPr preferRelativeResize="0"/>
          <p:nvPr/>
        </p:nvPicPr>
        <p:blipFill rotWithShape="1">
          <a:blip r:embed="rId6">
            <a:alphaModFix/>
          </a:blip>
          <a:srcRect b="0" l="0" r="0" t="0"/>
          <a:stretch/>
        </p:blipFill>
        <p:spPr>
          <a:xfrm>
            <a:off x="10002769" y="5686598"/>
            <a:ext cx="170202" cy="119651"/>
          </a:xfrm>
          <a:prstGeom prst="rect">
            <a:avLst/>
          </a:prstGeom>
          <a:noFill/>
          <a:ln>
            <a:noFill/>
          </a:ln>
        </p:spPr>
      </p:pic>
      <p:pic>
        <p:nvPicPr>
          <p:cNvPr id="936" name="Google Shape;936;p22"/>
          <p:cNvPicPr preferRelativeResize="0"/>
          <p:nvPr/>
        </p:nvPicPr>
        <p:blipFill rotWithShape="1">
          <a:blip r:embed="rId7">
            <a:alphaModFix/>
          </a:blip>
          <a:srcRect b="0" l="0" r="0" t="0"/>
          <a:stretch/>
        </p:blipFill>
        <p:spPr>
          <a:xfrm>
            <a:off x="10001569" y="6025226"/>
            <a:ext cx="172598" cy="117463"/>
          </a:xfrm>
          <a:prstGeom prst="rect">
            <a:avLst/>
          </a:prstGeom>
          <a:noFill/>
          <a:ln>
            <a:noFill/>
          </a:ln>
        </p:spPr>
      </p:pic>
      <p:pic>
        <p:nvPicPr>
          <p:cNvPr id="937" name="Google Shape;937;p22"/>
          <p:cNvPicPr preferRelativeResize="0"/>
          <p:nvPr/>
        </p:nvPicPr>
        <p:blipFill rotWithShape="1">
          <a:blip r:embed="rId8">
            <a:alphaModFix/>
          </a:blip>
          <a:srcRect b="0" l="0" r="0" t="0"/>
          <a:stretch/>
        </p:blipFill>
        <p:spPr>
          <a:xfrm>
            <a:off x="9999173" y="6496499"/>
            <a:ext cx="169003" cy="119860"/>
          </a:xfrm>
          <a:prstGeom prst="rect">
            <a:avLst/>
          </a:prstGeom>
          <a:noFill/>
          <a:ln>
            <a:noFill/>
          </a:ln>
        </p:spPr>
      </p:pic>
      <p:pic>
        <p:nvPicPr>
          <p:cNvPr id="938" name="Google Shape;938;p22"/>
          <p:cNvPicPr preferRelativeResize="0"/>
          <p:nvPr/>
        </p:nvPicPr>
        <p:blipFill rotWithShape="1">
          <a:blip r:embed="rId9">
            <a:alphaModFix/>
          </a:blip>
          <a:srcRect b="0" l="0" r="0" t="0"/>
          <a:stretch/>
        </p:blipFill>
        <p:spPr>
          <a:xfrm>
            <a:off x="4040288" y="7451957"/>
            <a:ext cx="6043387" cy="4532541"/>
          </a:xfrm>
          <a:prstGeom prst="rect">
            <a:avLst/>
          </a:prstGeom>
          <a:noFill/>
          <a:ln>
            <a:noFill/>
          </a:ln>
        </p:spPr>
      </p:pic>
      <p:pic>
        <p:nvPicPr>
          <p:cNvPr id="939" name="Google Shape;939;p22"/>
          <p:cNvPicPr preferRelativeResize="0"/>
          <p:nvPr/>
        </p:nvPicPr>
        <p:blipFill rotWithShape="1">
          <a:blip r:embed="rId10">
            <a:alphaModFix/>
          </a:blip>
          <a:srcRect b="68122" l="76177" r="11181" t="9584"/>
          <a:stretch/>
        </p:blipFill>
        <p:spPr>
          <a:xfrm>
            <a:off x="9723321" y="8262068"/>
            <a:ext cx="1462562" cy="1934492"/>
          </a:xfrm>
          <a:prstGeom prst="rect">
            <a:avLst/>
          </a:prstGeom>
          <a:noFill/>
          <a:ln>
            <a:noFill/>
          </a:ln>
        </p:spPr>
      </p:pic>
      <p:sp>
        <p:nvSpPr>
          <p:cNvPr id="940" name="Google Shape;940;p22"/>
          <p:cNvSpPr txBox="1"/>
          <p:nvPr/>
        </p:nvSpPr>
        <p:spPr>
          <a:xfrm>
            <a:off x="3786979" y="3432448"/>
            <a:ext cx="6683311" cy="75469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3200">
                <a:solidFill>
                  <a:schemeClr val="dk2"/>
                </a:solidFill>
                <a:latin typeface="Montserrat"/>
                <a:ea typeface="Montserrat"/>
                <a:cs typeface="Montserrat"/>
                <a:sym typeface="Montserrat"/>
              </a:rPr>
              <a:t>The proposed design</a:t>
            </a:r>
            <a:endParaRPr sz="3200">
              <a:solidFill>
                <a:schemeClr val="dk2"/>
              </a:solidFill>
              <a:latin typeface="Montserrat"/>
              <a:ea typeface="Montserrat"/>
              <a:cs typeface="Montserrat"/>
              <a:sym typeface="Montserrat"/>
            </a:endParaRPr>
          </a:p>
        </p:txBody>
      </p:sp>
      <p:pic>
        <p:nvPicPr>
          <p:cNvPr id="941" name="Google Shape;941;p22"/>
          <p:cNvPicPr preferRelativeResize="0"/>
          <p:nvPr/>
        </p:nvPicPr>
        <p:blipFill rotWithShape="1">
          <a:blip r:embed="rId11">
            <a:alphaModFix/>
          </a:blip>
          <a:srcRect b="0" l="0" r="0" t="0"/>
          <a:stretch/>
        </p:blipFill>
        <p:spPr>
          <a:xfrm>
            <a:off x="3036359" y="4573020"/>
            <a:ext cx="1587034" cy="257316"/>
          </a:xfrm>
          <a:prstGeom prst="rect">
            <a:avLst/>
          </a:prstGeom>
          <a:noFill/>
          <a:ln>
            <a:noFill/>
          </a:ln>
        </p:spPr>
      </p:pic>
      <p:sp>
        <p:nvSpPr>
          <p:cNvPr id="942" name="Google Shape;942;p22"/>
          <p:cNvSpPr/>
          <p:nvPr/>
        </p:nvSpPr>
        <p:spPr>
          <a:xfrm>
            <a:off x="3569079" y="4860099"/>
            <a:ext cx="735928" cy="272367"/>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943" name="Google Shape;943;p22"/>
          <p:cNvPicPr preferRelativeResize="0"/>
          <p:nvPr/>
        </p:nvPicPr>
        <p:blipFill rotWithShape="1">
          <a:blip r:embed="rId12">
            <a:alphaModFix/>
          </a:blip>
          <a:srcRect b="0" l="0" r="0" t="0"/>
          <a:stretch/>
        </p:blipFill>
        <p:spPr>
          <a:xfrm>
            <a:off x="10660983" y="4567301"/>
            <a:ext cx="402151" cy="174112"/>
          </a:xfrm>
          <a:prstGeom prst="rect">
            <a:avLst/>
          </a:prstGeom>
          <a:noFill/>
          <a:ln>
            <a:noFill/>
          </a:ln>
        </p:spPr>
      </p:pic>
      <p:sp>
        <p:nvSpPr>
          <p:cNvPr id="944" name="Google Shape;944;p22"/>
          <p:cNvSpPr/>
          <p:nvPr/>
        </p:nvSpPr>
        <p:spPr>
          <a:xfrm>
            <a:off x="10494095" y="4854379"/>
            <a:ext cx="735928" cy="272367"/>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945" name="Google Shape;945;p22"/>
          <p:cNvPicPr preferRelativeResize="0"/>
          <p:nvPr/>
        </p:nvPicPr>
        <p:blipFill rotWithShape="1">
          <a:blip r:embed="rId13">
            <a:alphaModFix/>
          </a:blip>
          <a:srcRect b="0" l="0" r="0" t="0"/>
          <a:stretch/>
        </p:blipFill>
        <p:spPr>
          <a:xfrm>
            <a:off x="10660983" y="6151356"/>
            <a:ext cx="345141" cy="174112"/>
          </a:xfrm>
          <a:prstGeom prst="rect">
            <a:avLst/>
          </a:prstGeom>
          <a:noFill/>
          <a:ln>
            <a:noFill/>
          </a:ln>
        </p:spPr>
      </p:pic>
      <p:sp>
        <p:nvSpPr>
          <p:cNvPr id="946" name="Google Shape;946;p22"/>
          <p:cNvSpPr/>
          <p:nvPr/>
        </p:nvSpPr>
        <p:spPr>
          <a:xfrm>
            <a:off x="10494095" y="6438434"/>
            <a:ext cx="735928" cy="272367"/>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947" name="Google Shape;947;p22"/>
          <p:cNvSpPr/>
          <p:nvPr/>
        </p:nvSpPr>
        <p:spPr>
          <a:xfrm>
            <a:off x="4697025" y="5235114"/>
            <a:ext cx="3246374" cy="381269"/>
          </a:xfrm>
          <a:prstGeom prst="rect">
            <a:avLst/>
          </a:prstGeom>
          <a:noFill/>
          <a:ln cap="flat" cmpd="sng" w="571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948" name="Google Shape;948;p22"/>
          <p:cNvSpPr txBox="1"/>
          <p:nvPr/>
        </p:nvSpPr>
        <p:spPr>
          <a:xfrm>
            <a:off x="12997314" y="8617930"/>
            <a:ext cx="6683311"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By introducing a 1/3 delay between each pulses, the overall interaction is still “adiabatic”, while the effective coupling length remains 1.7 cm </a:t>
            </a:r>
            <a:endParaRPr sz="2600">
              <a:solidFill>
                <a:srgbClr val="000000"/>
              </a:solidFill>
              <a:latin typeface="Calibri"/>
              <a:ea typeface="Calibri"/>
              <a:cs typeface="Calibri"/>
              <a:sym typeface="Calibri"/>
            </a:endParaRPr>
          </a:p>
        </p:txBody>
      </p:sp>
      <p:cxnSp>
        <p:nvCxnSpPr>
          <p:cNvPr id="949" name="Google Shape;949;p22"/>
          <p:cNvCxnSpPr/>
          <p:nvPr/>
        </p:nvCxnSpPr>
        <p:spPr>
          <a:xfrm>
            <a:off x="4762185" y="6258150"/>
            <a:ext cx="802640" cy="0"/>
          </a:xfrm>
          <a:prstGeom prst="straightConnector1">
            <a:avLst/>
          </a:prstGeom>
          <a:noFill/>
          <a:ln cap="flat" cmpd="sng" w="57150">
            <a:solidFill>
              <a:schemeClr val="dk2"/>
            </a:solidFill>
            <a:prstDash val="solid"/>
            <a:miter lim="800000"/>
            <a:headEnd len="med" w="med" type="triangle"/>
            <a:tailEnd len="med" w="med" type="triangle"/>
          </a:ln>
        </p:spPr>
      </p:cxnSp>
      <p:cxnSp>
        <p:nvCxnSpPr>
          <p:cNvPr id="950" name="Google Shape;950;p22"/>
          <p:cNvCxnSpPr/>
          <p:nvPr/>
        </p:nvCxnSpPr>
        <p:spPr>
          <a:xfrm>
            <a:off x="5645136" y="6258150"/>
            <a:ext cx="802640" cy="0"/>
          </a:xfrm>
          <a:prstGeom prst="straightConnector1">
            <a:avLst/>
          </a:prstGeom>
          <a:noFill/>
          <a:ln cap="flat" cmpd="sng" w="57150">
            <a:solidFill>
              <a:schemeClr val="dk2"/>
            </a:solidFill>
            <a:prstDash val="solid"/>
            <a:miter lim="800000"/>
            <a:headEnd len="med" w="med" type="triangle"/>
            <a:tailEnd len="med" w="med" type="triangle"/>
          </a:ln>
        </p:spPr>
      </p:cxnSp>
      <p:cxnSp>
        <p:nvCxnSpPr>
          <p:cNvPr id="951" name="Google Shape;951;p22"/>
          <p:cNvCxnSpPr/>
          <p:nvPr/>
        </p:nvCxnSpPr>
        <p:spPr>
          <a:xfrm>
            <a:off x="7943399" y="5522185"/>
            <a:ext cx="4761948" cy="0"/>
          </a:xfrm>
          <a:prstGeom prst="straightConnector1">
            <a:avLst/>
          </a:prstGeom>
          <a:noFill/>
          <a:ln cap="flat" cmpd="sng" w="57150">
            <a:solidFill>
              <a:schemeClr val="dk2"/>
            </a:solidFill>
            <a:prstDash val="solid"/>
            <a:miter lim="800000"/>
            <a:headEnd len="sm" w="sm" type="none"/>
            <a:tailEnd len="med" w="med" type="triangle"/>
          </a:ln>
        </p:spPr>
      </p:cxnSp>
      <p:sp>
        <p:nvSpPr>
          <p:cNvPr id="952" name="Google Shape;952;p22"/>
          <p:cNvSpPr txBox="1"/>
          <p:nvPr/>
        </p:nvSpPr>
        <p:spPr>
          <a:xfrm>
            <a:off x="4857650" y="6723014"/>
            <a:ext cx="1462562"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rgbClr val="000000"/>
                </a:solidFill>
                <a:latin typeface="Calibri"/>
                <a:ea typeface="Calibri"/>
                <a:cs typeface="Calibri"/>
                <a:sym typeface="Calibri"/>
              </a:rPr>
              <a:t>1/3 delay</a:t>
            </a:r>
            <a:endParaRPr sz="2600">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23"/>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High-pass filters based on STIRAP</a:t>
            </a:r>
            <a:endParaRPr/>
          </a:p>
        </p:txBody>
      </p:sp>
      <p:sp>
        <p:nvSpPr>
          <p:cNvPr id="958" name="Google Shape;958;p23"/>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959" name="Google Shape;959;p23"/>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60" name="Google Shape;960;p23"/>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961" name="Google Shape;961;p23"/>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962" name="Google Shape;962;p23"/>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accent2"/>
                </a:solidFill>
                <a:latin typeface="Montserrat"/>
                <a:ea typeface="Montserrat"/>
                <a:cs typeface="Montserrat"/>
                <a:sym typeface="Montserrat"/>
              </a:rPr>
              <a:t>Theory</a:t>
            </a:r>
            <a:endParaRPr/>
          </a:p>
        </p:txBody>
      </p:sp>
      <p:sp>
        <p:nvSpPr>
          <p:cNvPr id="963" name="Google Shape;963;p23"/>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964" name="Google Shape;964;p23"/>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965" name="Google Shape;965;p23"/>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966" name="Google Shape;966;p23"/>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grpSp>
        <p:nvGrpSpPr>
          <p:cNvPr id="967" name="Google Shape;967;p23"/>
          <p:cNvGrpSpPr/>
          <p:nvPr/>
        </p:nvGrpSpPr>
        <p:grpSpPr>
          <a:xfrm>
            <a:off x="5445001" y="4094412"/>
            <a:ext cx="5214792" cy="7674398"/>
            <a:chOff x="4734847" y="4411870"/>
            <a:chExt cx="4542795" cy="6685447"/>
          </a:xfrm>
        </p:grpSpPr>
        <p:pic>
          <p:nvPicPr>
            <p:cNvPr descr="OSA Image" id="968" name="Google Shape;968;p23"/>
            <p:cNvPicPr preferRelativeResize="0"/>
            <p:nvPr/>
          </p:nvPicPr>
          <p:blipFill rotWithShape="1">
            <a:blip r:embed="rId3">
              <a:alphaModFix/>
            </a:blip>
            <a:srcRect b="0" l="0" r="49943" t="0"/>
            <a:stretch/>
          </p:blipFill>
          <p:spPr>
            <a:xfrm>
              <a:off x="4734847" y="4511436"/>
              <a:ext cx="4542795" cy="6585881"/>
            </a:xfrm>
            <a:prstGeom prst="rect">
              <a:avLst/>
            </a:prstGeom>
            <a:noFill/>
            <a:ln>
              <a:noFill/>
            </a:ln>
          </p:spPr>
        </p:pic>
        <p:sp>
          <p:nvSpPr>
            <p:cNvPr id="969" name="Google Shape;969;p23"/>
            <p:cNvSpPr/>
            <p:nvPr/>
          </p:nvSpPr>
          <p:spPr>
            <a:xfrm>
              <a:off x="6175726" y="4429474"/>
              <a:ext cx="1784738" cy="3867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970" name="Google Shape;970;p23"/>
            <p:cNvPicPr preferRelativeResize="0"/>
            <p:nvPr/>
          </p:nvPicPr>
          <p:blipFill rotWithShape="1">
            <a:blip r:embed="rId4">
              <a:alphaModFix/>
            </a:blip>
            <a:srcRect b="0" l="0" r="0" t="0"/>
            <a:stretch/>
          </p:blipFill>
          <p:spPr>
            <a:xfrm>
              <a:off x="5992478" y="4411870"/>
              <a:ext cx="2027530" cy="199132"/>
            </a:xfrm>
            <a:prstGeom prst="rect">
              <a:avLst/>
            </a:prstGeom>
            <a:noFill/>
            <a:ln>
              <a:noFill/>
            </a:ln>
          </p:spPr>
        </p:pic>
      </p:grpSp>
      <p:pic>
        <p:nvPicPr>
          <p:cNvPr id="971" name="Google Shape;971;p23"/>
          <p:cNvPicPr preferRelativeResize="0"/>
          <p:nvPr/>
        </p:nvPicPr>
        <p:blipFill rotWithShape="1">
          <a:blip r:embed="rId5">
            <a:alphaModFix/>
          </a:blip>
          <a:srcRect b="0" l="0" r="0" t="0"/>
          <a:stretch/>
        </p:blipFill>
        <p:spPr>
          <a:xfrm>
            <a:off x="12914736" y="4879572"/>
            <a:ext cx="4791501" cy="1298286"/>
          </a:xfrm>
          <a:prstGeom prst="rect">
            <a:avLst/>
          </a:prstGeom>
          <a:noFill/>
          <a:ln>
            <a:noFill/>
          </a:ln>
        </p:spPr>
      </p:pic>
      <p:sp>
        <p:nvSpPr>
          <p:cNvPr id="972" name="Google Shape;972;p23"/>
          <p:cNvSpPr txBox="1"/>
          <p:nvPr/>
        </p:nvSpPr>
        <p:spPr>
          <a:xfrm>
            <a:off x="12105099" y="10376060"/>
            <a:ext cx="7338175" cy="8925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Overall device length</a:t>
            </a:r>
            <a:r>
              <a:rPr lang="en-US" sz="2600">
                <a:solidFill>
                  <a:srgbClr val="000000"/>
                </a:solidFill>
                <a:latin typeface="Calibri"/>
                <a:ea typeface="Calibri"/>
                <a:cs typeface="Calibri"/>
                <a:sym typeface="Calibri"/>
              </a:rPr>
              <a:t>: </a:t>
            </a:r>
            <a:endParaRPr sz="2600">
              <a:solidFill>
                <a:srgbClr val="000000"/>
              </a:solidFill>
              <a:latin typeface="Calibri"/>
              <a:ea typeface="Calibri"/>
              <a:cs typeface="Calibri"/>
              <a:sym typeface="Calibri"/>
            </a:endParaRPr>
          </a:p>
          <a:p>
            <a:pPr indent="0" lvl="0" marL="0" marR="0" rtl="0" algn="ctr">
              <a:spcBef>
                <a:spcPts val="0"/>
              </a:spcBef>
              <a:spcAft>
                <a:spcPts val="0"/>
              </a:spcAft>
              <a:buNone/>
            </a:pPr>
            <a:r>
              <a:rPr lang="en-US" sz="2600">
                <a:solidFill>
                  <a:srgbClr val="000000"/>
                </a:solidFill>
                <a:latin typeface="Calibri"/>
                <a:ea typeface="Calibri"/>
                <a:cs typeface="Calibri"/>
                <a:sym typeface="Calibri"/>
              </a:rPr>
              <a:t>pulse duration + pulse delay</a:t>
            </a:r>
            <a:endParaRPr sz="2600">
              <a:solidFill>
                <a:srgbClr val="000000"/>
              </a:solidFill>
              <a:latin typeface="Calibri"/>
              <a:ea typeface="Calibri"/>
              <a:cs typeface="Calibri"/>
              <a:sym typeface="Calibri"/>
            </a:endParaRPr>
          </a:p>
        </p:txBody>
      </p:sp>
      <p:sp>
        <p:nvSpPr>
          <p:cNvPr id="973" name="Google Shape;973;p23"/>
          <p:cNvSpPr txBox="1"/>
          <p:nvPr/>
        </p:nvSpPr>
        <p:spPr>
          <a:xfrm>
            <a:off x="11651757" y="8354647"/>
            <a:ext cx="8244855" cy="12926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Adiabatic following</a:t>
            </a:r>
            <a:r>
              <a:rPr lang="en-US" sz="2600">
                <a:solidFill>
                  <a:srgbClr val="000000"/>
                </a:solidFill>
                <a:latin typeface="Calibri"/>
                <a:ea typeface="Calibri"/>
                <a:cs typeface="Calibri"/>
                <a:sym typeface="Calibri"/>
              </a:rPr>
              <a:t>: </a:t>
            </a:r>
            <a:endParaRPr/>
          </a:p>
          <a:p>
            <a:pPr indent="0" lvl="0" marL="0" marR="0" rtl="0" algn="ctr">
              <a:spcBef>
                <a:spcPts val="0"/>
              </a:spcBef>
              <a:spcAft>
                <a:spcPts val="0"/>
              </a:spcAft>
              <a:buNone/>
            </a:pPr>
            <a:r>
              <a:rPr lang="en-US" sz="2600">
                <a:solidFill>
                  <a:srgbClr val="000000"/>
                </a:solidFill>
                <a:latin typeface="Calibri"/>
                <a:ea typeface="Calibri"/>
                <a:cs typeface="Calibri"/>
                <a:sym typeface="Calibri"/>
              </a:rPr>
              <a:t>By spatially varying the pulse overlap, the state vector will stay in the same eigenvector throughout the interaction</a:t>
            </a:r>
            <a:endParaRPr sz="2600">
              <a:solidFill>
                <a:srgbClr val="000000"/>
              </a:solidFill>
              <a:latin typeface="Calibri"/>
              <a:ea typeface="Calibri"/>
              <a:cs typeface="Calibri"/>
              <a:sym typeface="Calibri"/>
            </a:endParaRPr>
          </a:p>
        </p:txBody>
      </p:sp>
      <p:sp>
        <p:nvSpPr>
          <p:cNvPr id="974" name="Google Shape;974;p23"/>
          <p:cNvSpPr txBox="1"/>
          <p:nvPr/>
        </p:nvSpPr>
        <p:spPr>
          <a:xfrm>
            <a:off x="12811825" y="4068441"/>
            <a:ext cx="5924721"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In resonance (without phase mismatch)</a:t>
            </a:r>
            <a:endParaRPr b="1" sz="2600">
              <a:solidFill>
                <a:srgbClr val="000000"/>
              </a:solidFill>
              <a:latin typeface="Calibri"/>
              <a:ea typeface="Calibri"/>
              <a:cs typeface="Calibri"/>
              <a:sym typeface="Calibri"/>
            </a:endParaRPr>
          </a:p>
        </p:txBody>
      </p:sp>
      <p:sp>
        <p:nvSpPr>
          <p:cNvPr id="975" name="Google Shape;975;p23"/>
          <p:cNvSpPr txBox="1"/>
          <p:nvPr/>
        </p:nvSpPr>
        <p:spPr>
          <a:xfrm>
            <a:off x="11671307" y="6840811"/>
            <a:ext cx="8244855" cy="8925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Pulse sequence</a:t>
            </a:r>
            <a:r>
              <a:rPr lang="en-US" sz="2600">
                <a:solidFill>
                  <a:srgbClr val="000000"/>
                </a:solidFill>
                <a:latin typeface="Calibri"/>
                <a:ea typeface="Calibri"/>
                <a:cs typeface="Calibri"/>
                <a:sym typeface="Calibri"/>
              </a:rPr>
              <a:t>: </a:t>
            </a:r>
            <a:endParaRPr/>
          </a:p>
          <a:p>
            <a:pPr indent="0" lvl="0" marL="0" marR="0" rtl="0" algn="ctr">
              <a:spcBef>
                <a:spcPts val="0"/>
              </a:spcBef>
              <a:spcAft>
                <a:spcPts val="0"/>
              </a:spcAft>
              <a:buNone/>
            </a:pPr>
            <a:r>
              <a:rPr lang="en-US" sz="2600">
                <a:solidFill>
                  <a:srgbClr val="000000"/>
                </a:solidFill>
                <a:latin typeface="Calibri"/>
                <a:ea typeface="Calibri"/>
                <a:cs typeface="Calibri"/>
                <a:sym typeface="Calibri"/>
              </a:rPr>
              <a:t>counter-intuitive</a:t>
            </a:r>
            <a:endParaRPr sz="2600">
              <a:solidFill>
                <a:srgbClr val="000000"/>
              </a:solidFill>
              <a:latin typeface="Calibri"/>
              <a:ea typeface="Calibri"/>
              <a:cs typeface="Calibri"/>
              <a:sym typeface="Calibri"/>
            </a:endParaRPr>
          </a:p>
        </p:txBody>
      </p:sp>
      <p:sp>
        <p:nvSpPr>
          <p:cNvPr id="976" name="Google Shape;976;p23"/>
          <p:cNvSpPr txBox="1"/>
          <p:nvPr/>
        </p:nvSpPr>
        <p:spPr>
          <a:xfrm>
            <a:off x="900455" y="12998939"/>
            <a:ext cx="11359277"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[1] Picturing stimulated Raman adiabatic passage: a STIRAP tutorial," Adv. Opt. Photon. 9, 563-719 (2017)</a:t>
            </a:r>
            <a:endParaRPr sz="1000">
              <a:solidFill>
                <a:schemeClr val="dk2"/>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grpSp>
        <p:nvGrpSpPr>
          <p:cNvPr id="981" name="Google Shape;981;p24"/>
          <p:cNvGrpSpPr/>
          <p:nvPr/>
        </p:nvGrpSpPr>
        <p:grpSpPr>
          <a:xfrm>
            <a:off x="5009072" y="4068441"/>
            <a:ext cx="5591346" cy="7755110"/>
            <a:chOff x="78059" y="4677553"/>
            <a:chExt cx="4752078" cy="6591059"/>
          </a:xfrm>
        </p:grpSpPr>
        <p:pic>
          <p:nvPicPr>
            <p:cNvPr descr="OSA Image" id="982" name="Google Shape;982;p24"/>
            <p:cNvPicPr preferRelativeResize="0"/>
            <p:nvPr/>
          </p:nvPicPr>
          <p:blipFill rotWithShape="1">
            <a:blip r:embed="rId3">
              <a:alphaModFix/>
            </a:blip>
            <a:srcRect b="0" l="0" r="48534" t="0"/>
            <a:stretch/>
          </p:blipFill>
          <p:spPr>
            <a:xfrm>
              <a:off x="78059" y="4682731"/>
              <a:ext cx="4752078" cy="6585881"/>
            </a:xfrm>
            <a:prstGeom prst="rect">
              <a:avLst/>
            </a:prstGeom>
            <a:noFill/>
            <a:ln>
              <a:noFill/>
            </a:ln>
          </p:spPr>
        </p:pic>
        <p:sp>
          <p:nvSpPr>
            <p:cNvPr id="983" name="Google Shape;983;p24"/>
            <p:cNvSpPr/>
            <p:nvPr/>
          </p:nvSpPr>
          <p:spPr>
            <a:xfrm>
              <a:off x="1445512" y="4682731"/>
              <a:ext cx="2243060" cy="3867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984" name="Google Shape;984;p24"/>
            <p:cNvSpPr/>
            <p:nvPr/>
          </p:nvSpPr>
          <p:spPr>
            <a:xfrm>
              <a:off x="4069740" y="9342607"/>
              <a:ext cx="391575" cy="3867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descr="OSA Image" id="985" name="Google Shape;985;p24"/>
            <p:cNvPicPr preferRelativeResize="0"/>
            <p:nvPr/>
          </p:nvPicPr>
          <p:blipFill rotWithShape="1">
            <a:blip r:embed="rId4">
              <a:alphaModFix/>
            </a:blip>
            <a:srcRect b="23123" l="42208" r="53747" t="72840"/>
            <a:stretch/>
          </p:blipFill>
          <p:spPr>
            <a:xfrm>
              <a:off x="4096179" y="9403078"/>
              <a:ext cx="367101" cy="265821"/>
            </a:xfrm>
            <a:prstGeom prst="rect">
              <a:avLst/>
            </a:prstGeom>
            <a:noFill/>
            <a:ln>
              <a:noFill/>
            </a:ln>
          </p:spPr>
        </p:pic>
        <p:pic>
          <p:nvPicPr>
            <p:cNvPr id="986" name="Google Shape;986;p24"/>
            <p:cNvPicPr preferRelativeResize="0"/>
            <p:nvPr/>
          </p:nvPicPr>
          <p:blipFill rotWithShape="1">
            <a:blip r:embed="rId5">
              <a:alphaModFix/>
            </a:blip>
            <a:srcRect b="0" l="0" r="0" t="0"/>
            <a:stretch/>
          </p:blipFill>
          <p:spPr>
            <a:xfrm>
              <a:off x="1389526" y="4677553"/>
              <a:ext cx="2355029" cy="241921"/>
            </a:xfrm>
            <a:prstGeom prst="rect">
              <a:avLst/>
            </a:prstGeom>
            <a:noFill/>
            <a:ln>
              <a:noFill/>
            </a:ln>
          </p:spPr>
        </p:pic>
      </p:grpSp>
      <p:sp>
        <p:nvSpPr>
          <p:cNvPr id="987" name="Google Shape;987;p24"/>
          <p:cNvSpPr txBox="1"/>
          <p:nvPr/>
        </p:nvSpPr>
        <p:spPr>
          <a:xfrm>
            <a:off x="2783454" y="1483499"/>
            <a:ext cx="18810743"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High-pass filters based on frequency swept STIRAP</a:t>
            </a:r>
            <a:endParaRPr/>
          </a:p>
        </p:txBody>
      </p:sp>
      <p:sp>
        <p:nvSpPr>
          <p:cNvPr id="988" name="Google Shape;988;p24"/>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989" name="Google Shape;989;p24"/>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90" name="Google Shape;990;p24"/>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991" name="Google Shape;991;p24"/>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992" name="Google Shape;992;p24"/>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accent2"/>
                </a:solidFill>
                <a:latin typeface="Montserrat"/>
                <a:ea typeface="Montserrat"/>
                <a:cs typeface="Montserrat"/>
                <a:sym typeface="Montserrat"/>
              </a:rPr>
              <a:t>Theory</a:t>
            </a:r>
            <a:endParaRPr/>
          </a:p>
        </p:txBody>
      </p:sp>
      <p:sp>
        <p:nvSpPr>
          <p:cNvPr id="993" name="Google Shape;993;p24"/>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994" name="Google Shape;994;p24"/>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995" name="Google Shape;995;p24"/>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996" name="Google Shape;996;p24"/>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997" name="Google Shape;997;p24"/>
          <p:cNvSpPr txBox="1"/>
          <p:nvPr/>
        </p:nvSpPr>
        <p:spPr>
          <a:xfrm>
            <a:off x="12162745" y="10376060"/>
            <a:ext cx="7338175" cy="8925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Overall device length</a:t>
            </a:r>
            <a:r>
              <a:rPr lang="en-US" sz="2600">
                <a:solidFill>
                  <a:srgbClr val="000000"/>
                </a:solidFill>
                <a:latin typeface="Calibri"/>
                <a:ea typeface="Calibri"/>
                <a:cs typeface="Calibri"/>
                <a:sym typeface="Calibri"/>
              </a:rPr>
              <a:t>: </a:t>
            </a:r>
            <a:endParaRPr sz="2600">
              <a:solidFill>
                <a:srgbClr val="000000"/>
              </a:solidFill>
              <a:latin typeface="Calibri"/>
              <a:ea typeface="Calibri"/>
              <a:cs typeface="Calibri"/>
              <a:sym typeface="Calibri"/>
            </a:endParaRPr>
          </a:p>
          <a:p>
            <a:pPr indent="0" lvl="0" marL="0" marR="0" rtl="0" algn="ctr">
              <a:spcBef>
                <a:spcPts val="0"/>
              </a:spcBef>
              <a:spcAft>
                <a:spcPts val="0"/>
              </a:spcAft>
              <a:buNone/>
            </a:pPr>
            <a:r>
              <a:rPr lang="en-US" sz="2600">
                <a:solidFill>
                  <a:srgbClr val="000000"/>
                </a:solidFill>
                <a:latin typeface="Calibri"/>
                <a:ea typeface="Calibri"/>
                <a:cs typeface="Calibri"/>
                <a:sym typeface="Calibri"/>
              </a:rPr>
              <a:t>pulse duration</a:t>
            </a:r>
            <a:endParaRPr sz="2600">
              <a:solidFill>
                <a:srgbClr val="000000"/>
              </a:solidFill>
              <a:latin typeface="Calibri"/>
              <a:ea typeface="Calibri"/>
              <a:cs typeface="Calibri"/>
              <a:sym typeface="Calibri"/>
            </a:endParaRPr>
          </a:p>
        </p:txBody>
      </p:sp>
      <p:sp>
        <p:nvSpPr>
          <p:cNvPr id="998" name="Google Shape;998;p24"/>
          <p:cNvSpPr txBox="1"/>
          <p:nvPr/>
        </p:nvSpPr>
        <p:spPr>
          <a:xfrm>
            <a:off x="11180212" y="8354647"/>
            <a:ext cx="9303243" cy="12926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Adiabatic following</a:t>
            </a:r>
            <a:r>
              <a:rPr lang="en-US" sz="2600">
                <a:solidFill>
                  <a:srgbClr val="000000"/>
                </a:solidFill>
                <a:latin typeface="Calibri"/>
                <a:ea typeface="Calibri"/>
                <a:cs typeface="Calibri"/>
                <a:sym typeface="Calibri"/>
              </a:rPr>
              <a:t>: </a:t>
            </a:r>
            <a:endParaRPr/>
          </a:p>
          <a:p>
            <a:pPr indent="0" lvl="0" marL="0" marR="0" rtl="0" algn="ctr">
              <a:spcBef>
                <a:spcPts val="0"/>
              </a:spcBef>
              <a:spcAft>
                <a:spcPts val="0"/>
              </a:spcAft>
              <a:buNone/>
            </a:pPr>
            <a:r>
              <a:rPr lang="en-US" sz="2600">
                <a:solidFill>
                  <a:srgbClr val="000000"/>
                </a:solidFill>
                <a:latin typeface="Calibri"/>
                <a:ea typeface="Calibri"/>
                <a:cs typeface="Calibri"/>
                <a:sym typeface="Calibri"/>
              </a:rPr>
              <a:t>By spatially varying the phase mismatch, the state vector will come across different eigenstates (from ground state to target state) </a:t>
            </a:r>
            <a:endParaRPr sz="2600">
              <a:solidFill>
                <a:srgbClr val="000000"/>
              </a:solidFill>
              <a:latin typeface="Calibri"/>
              <a:ea typeface="Calibri"/>
              <a:cs typeface="Calibri"/>
              <a:sym typeface="Calibri"/>
            </a:endParaRPr>
          </a:p>
        </p:txBody>
      </p:sp>
      <p:sp>
        <p:nvSpPr>
          <p:cNvPr id="999" name="Google Shape;999;p24"/>
          <p:cNvSpPr txBox="1"/>
          <p:nvPr/>
        </p:nvSpPr>
        <p:spPr>
          <a:xfrm>
            <a:off x="12849925" y="4068441"/>
            <a:ext cx="5924721"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Off resonance (with phase mismatch)</a:t>
            </a:r>
            <a:endParaRPr b="1" sz="2600">
              <a:solidFill>
                <a:srgbClr val="000000"/>
              </a:solidFill>
              <a:latin typeface="Calibri"/>
              <a:ea typeface="Calibri"/>
              <a:cs typeface="Calibri"/>
              <a:sym typeface="Calibri"/>
            </a:endParaRPr>
          </a:p>
        </p:txBody>
      </p:sp>
      <p:sp>
        <p:nvSpPr>
          <p:cNvPr id="1000" name="Google Shape;1000;p24"/>
          <p:cNvSpPr txBox="1"/>
          <p:nvPr/>
        </p:nvSpPr>
        <p:spPr>
          <a:xfrm>
            <a:off x="11709407" y="6840811"/>
            <a:ext cx="8244855" cy="8925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Pulse sequence</a:t>
            </a:r>
            <a:r>
              <a:rPr lang="en-US" sz="2600">
                <a:solidFill>
                  <a:srgbClr val="000000"/>
                </a:solidFill>
                <a:latin typeface="Calibri"/>
                <a:ea typeface="Calibri"/>
                <a:cs typeface="Calibri"/>
                <a:sym typeface="Calibri"/>
              </a:rPr>
              <a:t>: </a:t>
            </a:r>
            <a:endParaRPr/>
          </a:p>
          <a:p>
            <a:pPr indent="0" lvl="0" marL="0" marR="0" rtl="0" algn="ctr">
              <a:spcBef>
                <a:spcPts val="0"/>
              </a:spcBef>
              <a:spcAft>
                <a:spcPts val="0"/>
              </a:spcAft>
              <a:buNone/>
            </a:pPr>
            <a:r>
              <a:rPr lang="en-US" sz="2600">
                <a:solidFill>
                  <a:srgbClr val="000000"/>
                </a:solidFill>
                <a:latin typeface="Calibri"/>
                <a:ea typeface="Calibri"/>
                <a:cs typeface="Calibri"/>
                <a:sym typeface="Calibri"/>
              </a:rPr>
              <a:t>Simultaneous</a:t>
            </a:r>
            <a:endParaRPr sz="2600">
              <a:solidFill>
                <a:srgbClr val="000000"/>
              </a:solidFill>
              <a:latin typeface="Calibri"/>
              <a:ea typeface="Calibri"/>
              <a:cs typeface="Calibri"/>
              <a:sym typeface="Calibri"/>
            </a:endParaRPr>
          </a:p>
        </p:txBody>
      </p:sp>
      <p:pic>
        <p:nvPicPr>
          <p:cNvPr id="1001" name="Google Shape;1001;p24"/>
          <p:cNvPicPr preferRelativeResize="0"/>
          <p:nvPr/>
        </p:nvPicPr>
        <p:blipFill rotWithShape="1">
          <a:blip r:embed="rId6">
            <a:alphaModFix/>
          </a:blip>
          <a:srcRect b="0" l="0" r="0" t="0"/>
          <a:stretch/>
        </p:blipFill>
        <p:spPr>
          <a:xfrm>
            <a:off x="13195993" y="4877715"/>
            <a:ext cx="4305186" cy="1298286"/>
          </a:xfrm>
          <a:prstGeom prst="rect">
            <a:avLst/>
          </a:prstGeom>
          <a:noFill/>
          <a:ln>
            <a:noFill/>
          </a:ln>
        </p:spPr>
      </p:pic>
      <p:sp>
        <p:nvSpPr>
          <p:cNvPr id="1002" name="Google Shape;1002;p24"/>
          <p:cNvSpPr txBox="1"/>
          <p:nvPr/>
        </p:nvSpPr>
        <p:spPr>
          <a:xfrm>
            <a:off x="900455" y="12998939"/>
            <a:ext cx="11359277"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[1] Picturing stimulated Raman adiabatic passage: a STIRAP tutorial," Adv. Opt. Photon. 9, 563-719 (2017)</a:t>
            </a:r>
            <a:endParaRPr sz="1000">
              <a:solidFill>
                <a:schemeClr val="dk2"/>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25"/>
          <p:cNvSpPr txBox="1"/>
          <p:nvPr/>
        </p:nvSpPr>
        <p:spPr>
          <a:xfrm>
            <a:off x="2733699" y="1483499"/>
            <a:ext cx="18910249"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High-pass filters based on frequency swept STIRAP</a:t>
            </a:r>
            <a:endParaRPr/>
          </a:p>
        </p:txBody>
      </p:sp>
      <p:sp>
        <p:nvSpPr>
          <p:cNvPr id="1008" name="Google Shape;1008;p25"/>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009" name="Google Shape;1009;p25"/>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10" name="Google Shape;1010;p25"/>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011" name="Google Shape;1011;p25"/>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012" name="Google Shape;1012;p25"/>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accent2"/>
                </a:solidFill>
                <a:latin typeface="Montserrat"/>
                <a:ea typeface="Montserrat"/>
                <a:cs typeface="Montserrat"/>
                <a:sym typeface="Montserrat"/>
              </a:rPr>
              <a:t>Theory</a:t>
            </a:r>
            <a:endParaRPr/>
          </a:p>
        </p:txBody>
      </p:sp>
      <p:sp>
        <p:nvSpPr>
          <p:cNvPr id="1013" name="Google Shape;1013;p25"/>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1014" name="Google Shape;1014;p25"/>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015" name="Google Shape;1015;p25"/>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016" name="Google Shape;1016;p25"/>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1017" name="Google Shape;1017;p25"/>
          <p:cNvSpPr txBox="1"/>
          <p:nvPr/>
        </p:nvSpPr>
        <p:spPr>
          <a:xfrm>
            <a:off x="900455" y="13301490"/>
            <a:ext cx="17158945"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Hung-Pin Chung, Kuang-Hsu Huang, Kai Wang, Sung-Lin Yang, Shih-Yuan Yang, Chun-I Sung, Alexander S Solntsev, Andrey A Sukhorukov, Dragomir N Neshev, and Yen-Hung Chen. Asymmetric adiabatic couplers for fully-integrated broadband quantumpolarization state preparation. Scientific Reports, 7(1):1–7, 2017.</a:t>
            </a:r>
            <a:endParaRPr sz="1000">
              <a:solidFill>
                <a:schemeClr val="dk2"/>
              </a:solidFill>
              <a:latin typeface="Montserrat"/>
              <a:ea typeface="Montserrat"/>
              <a:cs typeface="Montserrat"/>
              <a:sym typeface="Montserrat"/>
            </a:endParaRPr>
          </a:p>
        </p:txBody>
      </p:sp>
      <p:sp>
        <p:nvSpPr>
          <p:cNvPr id="1018" name="Google Shape;1018;p25"/>
          <p:cNvSpPr txBox="1"/>
          <p:nvPr/>
        </p:nvSpPr>
        <p:spPr>
          <a:xfrm>
            <a:off x="14625017" y="6746164"/>
            <a:ext cx="6774478" cy="16927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The adiabatic following is achieved by spatially varying the coupling strengths between adjacent waveguides and the widths of outer waveguides (introducing phase mismatches)</a:t>
            </a:r>
            <a:endParaRPr sz="2600">
              <a:solidFill>
                <a:srgbClr val="000000"/>
              </a:solidFill>
              <a:latin typeface="Calibri"/>
              <a:ea typeface="Calibri"/>
              <a:cs typeface="Calibri"/>
              <a:sym typeface="Calibri"/>
            </a:endParaRPr>
          </a:p>
        </p:txBody>
      </p:sp>
      <p:sp>
        <p:nvSpPr>
          <p:cNvPr id="1019" name="Google Shape;1019;p25"/>
          <p:cNvSpPr txBox="1"/>
          <p:nvPr/>
        </p:nvSpPr>
        <p:spPr>
          <a:xfrm>
            <a:off x="14625017" y="4604481"/>
            <a:ext cx="6683311"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Due to the weak coupling strength at shorter wavelength, adiabatic passage only occurs at 1500 ~ 1600 nm (high pass)</a:t>
            </a:r>
            <a:endParaRPr sz="2600">
              <a:solidFill>
                <a:srgbClr val="000000"/>
              </a:solidFill>
              <a:latin typeface="Calibri"/>
              <a:ea typeface="Calibri"/>
              <a:cs typeface="Calibri"/>
              <a:sym typeface="Calibri"/>
            </a:endParaRPr>
          </a:p>
        </p:txBody>
      </p:sp>
      <p:sp>
        <p:nvSpPr>
          <p:cNvPr id="1020" name="Google Shape;1020;p25"/>
          <p:cNvSpPr txBox="1"/>
          <p:nvPr/>
        </p:nvSpPr>
        <p:spPr>
          <a:xfrm>
            <a:off x="4002353" y="3432448"/>
            <a:ext cx="6683311" cy="75469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3200">
                <a:solidFill>
                  <a:schemeClr val="dk2"/>
                </a:solidFill>
                <a:latin typeface="Montserrat"/>
                <a:ea typeface="Montserrat"/>
                <a:cs typeface="Montserrat"/>
                <a:sym typeface="Montserrat"/>
              </a:rPr>
              <a:t>The proposed design</a:t>
            </a:r>
            <a:endParaRPr sz="3200">
              <a:solidFill>
                <a:schemeClr val="dk2"/>
              </a:solidFill>
              <a:latin typeface="Montserrat"/>
              <a:ea typeface="Montserrat"/>
              <a:cs typeface="Montserrat"/>
              <a:sym typeface="Montserrat"/>
            </a:endParaRPr>
          </a:p>
        </p:txBody>
      </p:sp>
      <p:pic>
        <p:nvPicPr>
          <p:cNvPr id="1021" name="Google Shape;1021;p25"/>
          <p:cNvPicPr preferRelativeResize="0"/>
          <p:nvPr/>
        </p:nvPicPr>
        <p:blipFill rotWithShape="1">
          <a:blip r:embed="rId3">
            <a:alphaModFix/>
          </a:blip>
          <a:srcRect b="0" l="0" r="0" t="0"/>
          <a:stretch/>
        </p:blipFill>
        <p:spPr>
          <a:xfrm>
            <a:off x="2355561" y="4878384"/>
            <a:ext cx="1620933" cy="563938"/>
          </a:xfrm>
          <a:prstGeom prst="rect">
            <a:avLst/>
          </a:prstGeom>
          <a:noFill/>
          <a:ln>
            <a:noFill/>
          </a:ln>
        </p:spPr>
      </p:pic>
      <p:sp>
        <p:nvSpPr>
          <p:cNvPr id="1022" name="Google Shape;1022;p25"/>
          <p:cNvSpPr/>
          <p:nvPr/>
        </p:nvSpPr>
        <p:spPr>
          <a:xfrm>
            <a:off x="3092829" y="5624776"/>
            <a:ext cx="735928" cy="272367"/>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023" name="Google Shape;1023;p25"/>
          <p:cNvSpPr/>
          <p:nvPr/>
        </p:nvSpPr>
        <p:spPr>
          <a:xfrm>
            <a:off x="11385650" y="4867943"/>
            <a:ext cx="735928" cy="272367"/>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024" name="Google Shape;1024;p25"/>
          <p:cNvSpPr/>
          <p:nvPr/>
        </p:nvSpPr>
        <p:spPr>
          <a:xfrm>
            <a:off x="11385650" y="5638951"/>
            <a:ext cx="735928" cy="272367"/>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025" name="Google Shape;1025;p25"/>
          <p:cNvSpPr txBox="1"/>
          <p:nvPr/>
        </p:nvSpPr>
        <p:spPr>
          <a:xfrm>
            <a:off x="14625017" y="9380898"/>
            <a:ext cx="6683311"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Based on frequency-swept STIRAP, the spectral filter can be as short as 1.5 cm </a:t>
            </a:r>
            <a:endParaRPr sz="2600">
              <a:solidFill>
                <a:srgbClr val="000000"/>
              </a:solidFill>
              <a:latin typeface="Calibri"/>
              <a:ea typeface="Calibri"/>
              <a:cs typeface="Calibri"/>
              <a:sym typeface="Calibri"/>
            </a:endParaRPr>
          </a:p>
        </p:txBody>
      </p:sp>
      <p:pic>
        <p:nvPicPr>
          <p:cNvPr id="1026" name="Google Shape;1026;p25"/>
          <p:cNvPicPr preferRelativeResize="0"/>
          <p:nvPr/>
        </p:nvPicPr>
        <p:blipFill rotWithShape="1">
          <a:blip r:embed="rId4">
            <a:alphaModFix/>
          </a:blip>
          <a:srcRect b="0" l="0" r="0" t="0"/>
          <a:stretch/>
        </p:blipFill>
        <p:spPr>
          <a:xfrm>
            <a:off x="11385650" y="4442584"/>
            <a:ext cx="1620933" cy="257316"/>
          </a:xfrm>
          <a:prstGeom prst="rect">
            <a:avLst/>
          </a:prstGeom>
          <a:noFill/>
          <a:ln>
            <a:noFill/>
          </a:ln>
        </p:spPr>
      </p:pic>
      <p:pic>
        <p:nvPicPr>
          <p:cNvPr id="1027" name="Google Shape;1027;p25"/>
          <p:cNvPicPr preferRelativeResize="0"/>
          <p:nvPr/>
        </p:nvPicPr>
        <p:blipFill rotWithShape="1">
          <a:blip r:embed="rId5">
            <a:alphaModFix/>
          </a:blip>
          <a:srcRect b="0" l="0" r="0" t="0"/>
          <a:stretch/>
        </p:blipFill>
        <p:spPr>
          <a:xfrm>
            <a:off x="11385650" y="6061808"/>
            <a:ext cx="1432954" cy="257316"/>
          </a:xfrm>
          <a:prstGeom prst="rect">
            <a:avLst/>
          </a:prstGeom>
          <a:noFill/>
          <a:ln>
            <a:noFill/>
          </a:ln>
        </p:spPr>
      </p:pic>
      <p:grpSp>
        <p:nvGrpSpPr>
          <p:cNvPr id="1028" name="Google Shape;1028;p25"/>
          <p:cNvGrpSpPr/>
          <p:nvPr/>
        </p:nvGrpSpPr>
        <p:grpSpPr>
          <a:xfrm>
            <a:off x="3721151" y="4677645"/>
            <a:ext cx="8179650" cy="7190238"/>
            <a:chOff x="4145700" y="5930092"/>
            <a:chExt cx="6945759" cy="6105599"/>
          </a:xfrm>
        </p:grpSpPr>
        <p:pic>
          <p:nvPicPr>
            <p:cNvPr id="1029" name="Google Shape;1029;p25"/>
            <p:cNvPicPr preferRelativeResize="0"/>
            <p:nvPr/>
          </p:nvPicPr>
          <p:blipFill rotWithShape="1">
            <a:blip r:embed="rId6">
              <a:alphaModFix/>
            </a:blip>
            <a:srcRect b="0" l="0" r="0" t="0"/>
            <a:stretch/>
          </p:blipFill>
          <p:spPr>
            <a:xfrm>
              <a:off x="9944453" y="6804332"/>
              <a:ext cx="159572" cy="114145"/>
            </a:xfrm>
            <a:prstGeom prst="rect">
              <a:avLst/>
            </a:prstGeom>
            <a:noFill/>
            <a:ln>
              <a:noFill/>
            </a:ln>
          </p:spPr>
        </p:pic>
        <p:pic>
          <p:nvPicPr>
            <p:cNvPr id="1030" name="Google Shape;1030;p25"/>
            <p:cNvPicPr preferRelativeResize="0"/>
            <p:nvPr/>
          </p:nvPicPr>
          <p:blipFill rotWithShape="1">
            <a:blip r:embed="rId7">
              <a:alphaModFix/>
            </a:blip>
            <a:srcRect b="0" l="0" r="0" t="0"/>
            <a:stretch/>
          </p:blipFill>
          <p:spPr>
            <a:xfrm>
              <a:off x="9948160" y="6553931"/>
              <a:ext cx="164230" cy="114145"/>
            </a:xfrm>
            <a:prstGeom prst="rect">
              <a:avLst/>
            </a:prstGeom>
            <a:noFill/>
            <a:ln>
              <a:noFill/>
            </a:ln>
          </p:spPr>
        </p:pic>
        <p:pic>
          <p:nvPicPr>
            <p:cNvPr id="1031" name="Google Shape;1031;p25"/>
            <p:cNvPicPr preferRelativeResize="0"/>
            <p:nvPr/>
          </p:nvPicPr>
          <p:blipFill rotWithShape="1">
            <a:blip r:embed="rId8">
              <a:alphaModFix/>
            </a:blip>
            <a:srcRect b="0" l="0" r="0" t="0"/>
            <a:stretch/>
          </p:blipFill>
          <p:spPr>
            <a:xfrm>
              <a:off x="9939793" y="6168050"/>
              <a:ext cx="165396" cy="116272"/>
            </a:xfrm>
            <a:prstGeom prst="rect">
              <a:avLst/>
            </a:prstGeom>
            <a:noFill/>
            <a:ln>
              <a:noFill/>
            </a:ln>
          </p:spPr>
        </p:pic>
        <p:pic>
          <p:nvPicPr>
            <p:cNvPr id="1032" name="Google Shape;1032;p25"/>
            <p:cNvPicPr preferRelativeResize="0"/>
            <p:nvPr/>
          </p:nvPicPr>
          <p:blipFill rotWithShape="1">
            <a:blip r:embed="rId9">
              <a:alphaModFix/>
            </a:blip>
            <a:srcRect b="3212" l="0" r="0" t="9144"/>
            <a:stretch/>
          </p:blipFill>
          <p:spPr>
            <a:xfrm rot="5400000">
              <a:off x="6553976" y="4009961"/>
              <a:ext cx="1262348" cy="5102610"/>
            </a:xfrm>
            <a:prstGeom prst="rect">
              <a:avLst/>
            </a:prstGeom>
            <a:noFill/>
            <a:ln>
              <a:noFill/>
            </a:ln>
          </p:spPr>
        </p:pic>
        <p:pic>
          <p:nvPicPr>
            <p:cNvPr id="1033" name="Google Shape;1033;p25"/>
            <p:cNvPicPr preferRelativeResize="0"/>
            <p:nvPr/>
          </p:nvPicPr>
          <p:blipFill rotWithShape="1">
            <a:blip r:embed="rId10">
              <a:alphaModFix/>
            </a:blip>
            <a:srcRect b="0" l="0" r="0" t="0"/>
            <a:stretch/>
          </p:blipFill>
          <p:spPr>
            <a:xfrm>
              <a:off x="4145700" y="7535386"/>
              <a:ext cx="5871895" cy="4500305"/>
            </a:xfrm>
            <a:prstGeom prst="rect">
              <a:avLst/>
            </a:prstGeom>
            <a:noFill/>
            <a:ln>
              <a:noFill/>
            </a:ln>
          </p:spPr>
        </p:pic>
        <p:pic>
          <p:nvPicPr>
            <p:cNvPr id="1034" name="Google Shape;1034;p25"/>
            <p:cNvPicPr preferRelativeResize="0"/>
            <p:nvPr/>
          </p:nvPicPr>
          <p:blipFill rotWithShape="1">
            <a:blip r:embed="rId11">
              <a:alphaModFix/>
            </a:blip>
            <a:srcRect b="63802" l="73209" r="14319" t="10180"/>
            <a:stretch/>
          </p:blipFill>
          <p:spPr>
            <a:xfrm>
              <a:off x="9668237" y="8685409"/>
              <a:ext cx="1423222" cy="2226863"/>
            </a:xfrm>
            <a:prstGeom prst="rect">
              <a:avLst/>
            </a:prstGeom>
            <a:noFill/>
            <a:ln>
              <a:noFill/>
            </a:ln>
          </p:spPr>
        </p:pic>
      </p:grpSp>
      <p:sp>
        <p:nvSpPr>
          <p:cNvPr id="1035" name="Google Shape;1035;p25"/>
          <p:cNvSpPr/>
          <p:nvPr/>
        </p:nvSpPr>
        <p:spPr>
          <a:xfrm>
            <a:off x="10395181" y="4832348"/>
            <a:ext cx="435379" cy="381269"/>
          </a:xfrm>
          <a:prstGeom prst="rect">
            <a:avLst/>
          </a:prstGeom>
          <a:noFill/>
          <a:ln cap="flat" cmpd="sng" w="571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cxnSp>
        <p:nvCxnSpPr>
          <p:cNvPr id="1036" name="Google Shape;1036;p25"/>
          <p:cNvCxnSpPr/>
          <p:nvPr/>
        </p:nvCxnSpPr>
        <p:spPr>
          <a:xfrm>
            <a:off x="11052144" y="7257253"/>
            <a:ext cx="3290389" cy="0"/>
          </a:xfrm>
          <a:prstGeom prst="straightConnector1">
            <a:avLst/>
          </a:prstGeom>
          <a:noFill/>
          <a:ln cap="flat" cmpd="sng" w="57150">
            <a:solidFill>
              <a:schemeClr val="dk2"/>
            </a:solidFill>
            <a:prstDash val="solid"/>
            <a:miter lim="800000"/>
            <a:headEnd len="sm" w="sm" type="none"/>
            <a:tailEnd len="med" w="med" type="triangle"/>
          </a:ln>
        </p:spPr>
      </p:cxnSp>
      <p:sp>
        <p:nvSpPr>
          <p:cNvPr id="1037" name="Google Shape;1037;p25"/>
          <p:cNvSpPr/>
          <p:nvPr/>
        </p:nvSpPr>
        <p:spPr>
          <a:xfrm>
            <a:off x="10402305" y="5636215"/>
            <a:ext cx="435379" cy="381269"/>
          </a:xfrm>
          <a:prstGeom prst="rect">
            <a:avLst/>
          </a:prstGeom>
          <a:noFill/>
          <a:ln cap="flat" cmpd="sng" w="571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cxnSp>
        <p:nvCxnSpPr>
          <p:cNvPr id="1038" name="Google Shape;1038;p25"/>
          <p:cNvCxnSpPr/>
          <p:nvPr/>
        </p:nvCxnSpPr>
        <p:spPr>
          <a:xfrm>
            <a:off x="10837684" y="5092311"/>
            <a:ext cx="269446" cy="0"/>
          </a:xfrm>
          <a:prstGeom prst="straightConnector1">
            <a:avLst/>
          </a:prstGeom>
          <a:noFill/>
          <a:ln cap="flat" cmpd="sng" w="57150">
            <a:solidFill>
              <a:schemeClr val="dk2"/>
            </a:solidFill>
            <a:prstDash val="solid"/>
            <a:miter lim="800000"/>
            <a:headEnd len="sm" w="sm" type="none"/>
            <a:tailEnd len="sm" w="sm" type="none"/>
          </a:ln>
        </p:spPr>
      </p:cxnSp>
      <p:cxnSp>
        <p:nvCxnSpPr>
          <p:cNvPr id="1039" name="Google Shape;1039;p25"/>
          <p:cNvCxnSpPr/>
          <p:nvPr/>
        </p:nvCxnSpPr>
        <p:spPr>
          <a:xfrm>
            <a:off x="11079534" y="5094802"/>
            <a:ext cx="0" cy="2189918"/>
          </a:xfrm>
          <a:prstGeom prst="straightConnector1">
            <a:avLst/>
          </a:prstGeom>
          <a:noFill/>
          <a:ln cap="flat" cmpd="sng" w="57150">
            <a:solidFill>
              <a:schemeClr val="dk2"/>
            </a:solidFill>
            <a:prstDash val="solid"/>
            <a:miter lim="800000"/>
            <a:headEnd len="sm" w="sm" type="none"/>
            <a:tailEnd len="sm" w="sm" type="none"/>
          </a:ln>
        </p:spPr>
      </p:cxnSp>
      <p:cxnSp>
        <p:nvCxnSpPr>
          <p:cNvPr id="1040" name="Google Shape;1040;p25"/>
          <p:cNvCxnSpPr/>
          <p:nvPr/>
        </p:nvCxnSpPr>
        <p:spPr>
          <a:xfrm>
            <a:off x="10837684" y="5853924"/>
            <a:ext cx="269446" cy="0"/>
          </a:xfrm>
          <a:prstGeom prst="straightConnector1">
            <a:avLst/>
          </a:prstGeom>
          <a:noFill/>
          <a:ln cap="flat" cmpd="sng" w="57150">
            <a:solidFill>
              <a:schemeClr val="dk2"/>
            </a:solidFill>
            <a:prstDash val="solid"/>
            <a:miter lim="800000"/>
            <a:headEnd len="sm" w="sm" type="none"/>
            <a:tailEnd len="sm" w="sm"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26"/>
          <p:cNvSpPr txBox="1"/>
          <p:nvPr/>
        </p:nvSpPr>
        <p:spPr>
          <a:xfrm>
            <a:off x="5955030" y="5460254"/>
            <a:ext cx="12467590"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0">
                <a:solidFill>
                  <a:schemeClr val="dk2"/>
                </a:solidFill>
                <a:latin typeface="Montserrat"/>
                <a:ea typeface="Montserrat"/>
                <a:cs typeface="Montserrat"/>
                <a:sym typeface="Montserrat"/>
              </a:rPr>
              <a:t>Simulation</a:t>
            </a:r>
            <a:endParaRPr/>
          </a:p>
        </p:txBody>
      </p:sp>
      <p:sp>
        <p:nvSpPr>
          <p:cNvPr id="1047" name="Google Shape;1047;p26"/>
          <p:cNvSpPr txBox="1"/>
          <p:nvPr/>
        </p:nvSpPr>
        <p:spPr>
          <a:xfrm>
            <a:off x="6572250" y="7734635"/>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048" name="Google Shape;1048;p26"/>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49" name="Google Shape;1049;p26"/>
          <p:cNvSpPr/>
          <p:nvPr/>
        </p:nvSpPr>
        <p:spPr>
          <a:xfrm flipH="1">
            <a:off x="19337650" y="1047600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1050" name="Google Shape;1050;p26"/>
          <p:cNvSpPr/>
          <p:nvPr/>
        </p:nvSpPr>
        <p:spPr>
          <a:xfrm flipH="1" rot="10800000">
            <a:off x="0" y="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1051" name="Google Shape;1051;p26"/>
          <p:cNvSpPr/>
          <p:nvPr/>
        </p:nvSpPr>
        <p:spPr>
          <a:xfrm flipH="1" rot="10800000">
            <a:off x="7640888" y="7375745"/>
            <a:ext cx="9095874" cy="10081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27"/>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The schematic of the proposed PBS</a:t>
            </a:r>
            <a:endParaRPr/>
          </a:p>
        </p:txBody>
      </p:sp>
      <p:sp>
        <p:nvSpPr>
          <p:cNvPr id="1057" name="Google Shape;1057;p27"/>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058" name="Google Shape;1058;p27"/>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59" name="Google Shape;1059;p27"/>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060" name="Google Shape;1060;p27"/>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061" name="Google Shape;1061;p27"/>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062" name="Google Shape;1062;p27"/>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063" name="Google Shape;1063;p27"/>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064" name="Google Shape;1064;p27"/>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065" name="Google Shape;1065;p27"/>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1066" name="Google Shape;1066;p27"/>
          <p:cNvSpPr/>
          <p:nvPr/>
        </p:nvSpPr>
        <p:spPr>
          <a:xfrm rot="10800000">
            <a:off x="4668869" y="5834459"/>
            <a:ext cx="9718260" cy="6398042"/>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067" name="Google Shape;1067;p27"/>
          <p:cNvSpPr/>
          <p:nvPr/>
        </p:nvSpPr>
        <p:spPr>
          <a:xfrm rot="5400000">
            <a:off x="7090808" y="6486552"/>
            <a:ext cx="677466" cy="4484831"/>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068" name="Google Shape;1068;p27"/>
          <p:cNvSpPr/>
          <p:nvPr/>
        </p:nvSpPr>
        <p:spPr>
          <a:xfrm rot="5400000">
            <a:off x="9307842" y="6710879"/>
            <a:ext cx="440354" cy="9718223"/>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069" name="Google Shape;1069;p27"/>
          <p:cNvSpPr/>
          <p:nvPr/>
        </p:nvSpPr>
        <p:spPr>
          <a:xfrm rot="5400000">
            <a:off x="8463590" y="7402916"/>
            <a:ext cx="677466" cy="4484831"/>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070" name="Google Shape;1070;p27"/>
          <p:cNvSpPr/>
          <p:nvPr/>
        </p:nvSpPr>
        <p:spPr>
          <a:xfrm rot="5400000">
            <a:off x="9768836" y="8280880"/>
            <a:ext cx="677466" cy="4484831"/>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071" name="Google Shape;1071;p27"/>
          <p:cNvPicPr preferRelativeResize="0"/>
          <p:nvPr/>
        </p:nvPicPr>
        <p:blipFill rotWithShape="1">
          <a:blip r:embed="rId3">
            <a:alphaModFix/>
          </a:blip>
          <a:srcRect b="0" l="0" r="0" t="0"/>
          <a:stretch/>
        </p:blipFill>
        <p:spPr>
          <a:xfrm>
            <a:off x="5437616" y="8144539"/>
            <a:ext cx="246012" cy="258056"/>
          </a:xfrm>
          <a:prstGeom prst="rect">
            <a:avLst/>
          </a:prstGeom>
          <a:noFill/>
          <a:ln>
            <a:noFill/>
          </a:ln>
        </p:spPr>
      </p:pic>
      <p:sp>
        <p:nvSpPr>
          <p:cNvPr id="1072" name="Google Shape;1072;p27"/>
          <p:cNvSpPr/>
          <p:nvPr/>
        </p:nvSpPr>
        <p:spPr>
          <a:xfrm>
            <a:off x="3079501" y="7529378"/>
            <a:ext cx="880347" cy="358964"/>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073" name="Google Shape;1073;p27"/>
          <p:cNvPicPr preferRelativeResize="0"/>
          <p:nvPr/>
        </p:nvPicPr>
        <p:blipFill rotWithShape="1">
          <a:blip r:embed="rId4">
            <a:alphaModFix/>
          </a:blip>
          <a:srcRect b="0" l="0" r="0" t="0"/>
          <a:stretch/>
        </p:blipFill>
        <p:spPr>
          <a:xfrm>
            <a:off x="1418858" y="6544659"/>
            <a:ext cx="2785057" cy="637896"/>
          </a:xfrm>
          <a:prstGeom prst="rect">
            <a:avLst/>
          </a:prstGeom>
          <a:noFill/>
          <a:ln>
            <a:noFill/>
          </a:ln>
        </p:spPr>
      </p:pic>
      <p:cxnSp>
        <p:nvCxnSpPr>
          <p:cNvPr id="1074" name="Google Shape;1074;p27"/>
          <p:cNvCxnSpPr/>
          <p:nvPr/>
        </p:nvCxnSpPr>
        <p:spPr>
          <a:xfrm rot="-5400000">
            <a:off x="4843123" y="8273569"/>
            <a:ext cx="688017" cy="0"/>
          </a:xfrm>
          <a:prstGeom prst="straightConnector1">
            <a:avLst/>
          </a:prstGeom>
          <a:noFill/>
          <a:ln cap="flat" cmpd="sng" w="12700">
            <a:solidFill>
              <a:srgbClr val="000000"/>
            </a:solidFill>
            <a:prstDash val="solid"/>
            <a:miter lim="800000"/>
            <a:headEnd len="med" w="med" type="triangle"/>
            <a:tailEnd len="med" w="med" type="triangle"/>
          </a:ln>
        </p:spPr>
      </p:cxnSp>
      <p:sp>
        <p:nvSpPr>
          <p:cNvPr id="1075" name="Google Shape;1075;p27"/>
          <p:cNvSpPr/>
          <p:nvPr/>
        </p:nvSpPr>
        <p:spPr>
          <a:xfrm rot="5400000">
            <a:off x="9307824" y="2843477"/>
            <a:ext cx="440354" cy="9718257"/>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1076" name="Google Shape;1076;p27"/>
          <p:cNvCxnSpPr/>
          <p:nvPr/>
        </p:nvCxnSpPr>
        <p:spPr>
          <a:xfrm rot="-5400000">
            <a:off x="6271927" y="9267749"/>
            <a:ext cx="535586" cy="0"/>
          </a:xfrm>
          <a:prstGeom prst="straightConnector1">
            <a:avLst/>
          </a:prstGeom>
          <a:noFill/>
          <a:ln cap="flat" cmpd="sng" w="12700">
            <a:solidFill>
              <a:srgbClr val="000000"/>
            </a:solidFill>
            <a:prstDash val="solid"/>
            <a:miter lim="800000"/>
            <a:headEnd len="med" w="med" type="triangle"/>
            <a:tailEnd len="med" w="med" type="triangle"/>
          </a:ln>
        </p:spPr>
      </p:cxnSp>
      <p:cxnSp>
        <p:nvCxnSpPr>
          <p:cNvPr id="1077" name="Google Shape;1077;p27"/>
          <p:cNvCxnSpPr/>
          <p:nvPr/>
        </p:nvCxnSpPr>
        <p:spPr>
          <a:xfrm rot="-5400000">
            <a:off x="7572382" y="10178368"/>
            <a:ext cx="482535" cy="0"/>
          </a:xfrm>
          <a:prstGeom prst="straightConnector1">
            <a:avLst/>
          </a:prstGeom>
          <a:noFill/>
          <a:ln cap="flat" cmpd="sng" w="12700">
            <a:solidFill>
              <a:srgbClr val="000000"/>
            </a:solidFill>
            <a:prstDash val="solid"/>
            <a:miter lim="800000"/>
            <a:headEnd len="med" w="med" type="triangle"/>
            <a:tailEnd len="med" w="med" type="triangle"/>
          </a:ln>
        </p:spPr>
      </p:cxnSp>
      <p:cxnSp>
        <p:nvCxnSpPr>
          <p:cNvPr id="1078" name="Google Shape;1078;p27"/>
          <p:cNvCxnSpPr/>
          <p:nvPr/>
        </p:nvCxnSpPr>
        <p:spPr>
          <a:xfrm rot="-5400000">
            <a:off x="7579923" y="11102525"/>
            <a:ext cx="467455" cy="0"/>
          </a:xfrm>
          <a:prstGeom prst="straightConnector1">
            <a:avLst/>
          </a:prstGeom>
          <a:noFill/>
          <a:ln cap="flat" cmpd="sng" w="12700">
            <a:solidFill>
              <a:srgbClr val="000000"/>
            </a:solidFill>
            <a:prstDash val="solid"/>
            <a:miter lim="800000"/>
            <a:headEnd len="med" w="med" type="triangle"/>
            <a:tailEnd len="med" w="med" type="triangle"/>
          </a:ln>
        </p:spPr>
      </p:cxnSp>
      <p:cxnSp>
        <p:nvCxnSpPr>
          <p:cNvPr id="1079" name="Google Shape;1079;p27"/>
          <p:cNvCxnSpPr/>
          <p:nvPr/>
        </p:nvCxnSpPr>
        <p:spPr>
          <a:xfrm rot="-5400000">
            <a:off x="12090107" y="10981238"/>
            <a:ext cx="662526" cy="0"/>
          </a:xfrm>
          <a:prstGeom prst="straightConnector1">
            <a:avLst/>
          </a:prstGeom>
          <a:noFill/>
          <a:ln cap="flat" cmpd="sng" w="12700">
            <a:solidFill>
              <a:srgbClr val="000000"/>
            </a:solidFill>
            <a:prstDash val="solid"/>
            <a:miter lim="800000"/>
            <a:headEnd len="med" w="med" type="triangle"/>
            <a:tailEnd len="med" w="med" type="triangle"/>
          </a:ln>
        </p:spPr>
      </p:cxnSp>
      <p:cxnSp>
        <p:nvCxnSpPr>
          <p:cNvPr id="1080" name="Google Shape;1080;p27"/>
          <p:cNvCxnSpPr/>
          <p:nvPr/>
        </p:nvCxnSpPr>
        <p:spPr>
          <a:xfrm>
            <a:off x="7429542" y="5007249"/>
            <a:ext cx="0" cy="4484831"/>
          </a:xfrm>
          <a:prstGeom prst="straightConnector1">
            <a:avLst/>
          </a:prstGeom>
          <a:noFill/>
          <a:ln cap="flat" cmpd="sng" w="12700">
            <a:solidFill>
              <a:srgbClr val="000000"/>
            </a:solidFill>
            <a:prstDash val="solid"/>
            <a:miter lim="800000"/>
            <a:headEnd len="med" w="med" type="triangle"/>
            <a:tailEnd len="med" w="med" type="triangle"/>
          </a:ln>
        </p:spPr>
      </p:cxnSp>
      <p:pic>
        <p:nvPicPr>
          <p:cNvPr id="1081" name="Google Shape;1081;p27"/>
          <p:cNvPicPr preferRelativeResize="0"/>
          <p:nvPr/>
        </p:nvPicPr>
        <p:blipFill rotWithShape="1">
          <a:blip r:embed="rId5">
            <a:alphaModFix/>
          </a:blip>
          <a:srcRect b="0" l="0" r="0" t="0"/>
          <a:stretch/>
        </p:blipFill>
        <p:spPr>
          <a:xfrm>
            <a:off x="6115035" y="9158594"/>
            <a:ext cx="265823" cy="259874"/>
          </a:xfrm>
          <a:prstGeom prst="rect">
            <a:avLst/>
          </a:prstGeom>
          <a:noFill/>
          <a:ln>
            <a:noFill/>
          </a:ln>
        </p:spPr>
      </p:pic>
      <p:pic>
        <p:nvPicPr>
          <p:cNvPr id="1082" name="Google Shape;1082;p27"/>
          <p:cNvPicPr preferRelativeResize="0"/>
          <p:nvPr/>
        </p:nvPicPr>
        <p:blipFill rotWithShape="1">
          <a:blip r:embed="rId6">
            <a:alphaModFix/>
          </a:blip>
          <a:srcRect b="0" l="0" r="0" t="0"/>
          <a:stretch/>
        </p:blipFill>
        <p:spPr>
          <a:xfrm>
            <a:off x="7365248" y="10046918"/>
            <a:ext cx="265823" cy="259874"/>
          </a:xfrm>
          <a:prstGeom prst="rect">
            <a:avLst/>
          </a:prstGeom>
          <a:noFill/>
          <a:ln>
            <a:noFill/>
          </a:ln>
        </p:spPr>
      </p:pic>
      <p:pic>
        <p:nvPicPr>
          <p:cNvPr id="1083" name="Google Shape;1083;p27"/>
          <p:cNvPicPr preferRelativeResize="0"/>
          <p:nvPr/>
        </p:nvPicPr>
        <p:blipFill rotWithShape="1">
          <a:blip r:embed="rId7">
            <a:alphaModFix/>
          </a:blip>
          <a:srcRect b="0" l="0" r="0" t="0"/>
          <a:stretch/>
        </p:blipFill>
        <p:spPr>
          <a:xfrm>
            <a:off x="7365248" y="10964383"/>
            <a:ext cx="265823" cy="259874"/>
          </a:xfrm>
          <a:prstGeom prst="rect">
            <a:avLst/>
          </a:prstGeom>
          <a:noFill/>
          <a:ln>
            <a:noFill/>
          </a:ln>
        </p:spPr>
      </p:pic>
      <p:pic>
        <p:nvPicPr>
          <p:cNvPr id="1084" name="Google Shape;1084;p27"/>
          <p:cNvPicPr preferRelativeResize="0"/>
          <p:nvPr/>
        </p:nvPicPr>
        <p:blipFill rotWithShape="1">
          <a:blip r:embed="rId8">
            <a:alphaModFix/>
          </a:blip>
          <a:srcRect b="0" l="0" r="0" t="0"/>
          <a:stretch/>
        </p:blipFill>
        <p:spPr>
          <a:xfrm>
            <a:off x="12605730" y="10856007"/>
            <a:ext cx="246012" cy="258056"/>
          </a:xfrm>
          <a:prstGeom prst="rect">
            <a:avLst/>
          </a:prstGeom>
          <a:noFill/>
          <a:ln>
            <a:noFill/>
          </a:ln>
        </p:spPr>
      </p:pic>
      <p:pic>
        <p:nvPicPr>
          <p:cNvPr id="1085" name="Google Shape;1085;p27"/>
          <p:cNvPicPr preferRelativeResize="0"/>
          <p:nvPr/>
        </p:nvPicPr>
        <p:blipFill rotWithShape="1">
          <a:blip r:embed="rId9">
            <a:alphaModFix/>
          </a:blip>
          <a:srcRect b="0" l="0" r="0" t="0"/>
          <a:stretch/>
        </p:blipFill>
        <p:spPr>
          <a:xfrm>
            <a:off x="4340326" y="7574748"/>
            <a:ext cx="130182" cy="255709"/>
          </a:xfrm>
          <a:prstGeom prst="rect">
            <a:avLst/>
          </a:prstGeom>
          <a:noFill/>
          <a:ln>
            <a:noFill/>
          </a:ln>
        </p:spPr>
      </p:pic>
      <p:pic>
        <p:nvPicPr>
          <p:cNvPr id="1086" name="Google Shape;1086;p27"/>
          <p:cNvPicPr preferRelativeResize="0"/>
          <p:nvPr/>
        </p:nvPicPr>
        <p:blipFill rotWithShape="1">
          <a:blip r:embed="rId10">
            <a:alphaModFix/>
          </a:blip>
          <a:srcRect b="0" l="0" r="0" t="0"/>
          <a:stretch/>
        </p:blipFill>
        <p:spPr>
          <a:xfrm>
            <a:off x="4327541" y="8729491"/>
            <a:ext cx="155754" cy="255709"/>
          </a:xfrm>
          <a:prstGeom prst="rect">
            <a:avLst/>
          </a:prstGeom>
          <a:noFill/>
          <a:ln>
            <a:noFill/>
          </a:ln>
        </p:spPr>
      </p:pic>
      <p:pic>
        <p:nvPicPr>
          <p:cNvPr id="1087" name="Google Shape;1087;p27"/>
          <p:cNvPicPr preferRelativeResize="0"/>
          <p:nvPr/>
        </p:nvPicPr>
        <p:blipFill rotWithShape="1">
          <a:blip r:embed="rId11">
            <a:alphaModFix/>
          </a:blip>
          <a:srcRect b="0" l="0" r="0" t="0"/>
          <a:stretch/>
        </p:blipFill>
        <p:spPr>
          <a:xfrm>
            <a:off x="4319404" y="9663009"/>
            <a:ext cx="162729" cy="265008"/>
          </a:xfrm>
          <a:prstGeom prst="rect">
            <a:avLst/>
          </a:prstGeom>
          <a:noFill/>
          <a:ln>
            <a:noFill/>
          </a:ln>
        </p:spPr>
      </p:pic>
      <p:pic>
        <p:nvPicPr>
          <p:cNvPr id="1088" name="Google Shape;1088;p27"/>
          <p:cNvPicPr preferRelativeResize="0"/>
          <p:nvPr/>
        </p:nvPicPr>
        <p:blipFill rotWithShape="1">
          <a:blip r:embed="rId12">
            <a:alphaModFix/>
          </a:blip>
          <a:srcRect b="0" l="0" r="0" t="0"/>
          <a:stretch/>
        </p:blipFill>
        <p:spPr>
          <a:xfrm>
            <a:off x="4315917" y="10606973"/>
            <a:ext cx="174351" cy="260359"/>
          </a:xfrm>
          <a:prstGeom prst="rect">
            <a:avLst/>
          </a:prstGeom>
          <a:noFill/>
          <a:ln>
            <a:noFill/>
          </a:ln>
        </p:spPr>
      </p:pic>
      <p:pic>
        <p:nvPicPr>
          <p:cNvPr id="1089" name="Google Shape;1089;p27"/>
          <p:cNvPicPr preferRelativeResize="0"/>
          <p:nvPr/>
        </p:nvPicPr>
        <p:blipFill rotWithShape="1">
          <a:blip r:embed="rId13">
            <a:alphaModFix/>
          </a:blip>
          <a:srcRect b="0" l="0" r="0" t="0"/>
          <a:stretch/>
        </p:blipFill>
        <p:spPr>
          <a:xfrm>
            <a:off x="4321727" y="11427024"/>
            <a:ext cx="155754" cy="267331"/>
          </a:xfrm>
          <a:prstGeom prst="rect">
            <a:avLst/>
          </a:prstGeom>
          <a:noFill/>
          <a:ln>
            <a:noFill/>
          </a:ln>
        </p:spPr>
      </p:pic>
      <p:pic>
        <p:nvPicPr>
          <p:cNvPr id="1090" name="Google Shape;1090;p27"/>
          <p:cNvPicPr preferRelativeResize="0"/>
          <p:nvPr/>
        </p:nvPicPr>
        <p:blipFill rotWithShape="1">
          <a:blip r:embed="rId14">
            <a:alphaModFix/>
          </a:blip>
          <a:srcRect b="0" l="0" r="0" t="0"/>
          <a:stretch/>
        </p:blipFill>
        <p:spPr>
          <a:xfrm>
            <a:off x="7199563" y="6909683"/>
            <a:ext cx="602643" cy="254422"/>
          </a:xfrm>
          <a:prstGeom prst="rect">
            <a:avLst/>
          </a:prstGeom>
          <a:noFill/>
          <a:ln>
            <a:noFill/>
          </a:ln>
        </p:spPr>
      </p:pic>
      <p:cxnSp>
        <p:nvCxnSpPr>
          <p:cNvPr id="1091" name="Google Shape;1091;p27"/>
          <p:cNvCxnSpPr/>
          <p:nvPr/>
        </p:nvCxnSpPr>
        <p:spPr>
          <a:xfrm>
            <a:off x="5880289" y="5838912"/>
            <a:ext cx="0" cy="1318860"/>
          </a:xfrm>
          <a:prstGeom prst="straightConnector1">
            <a:avLst/>
          </a:prstGeom>
          <a:noFill/>
          <a:ln cap="flat" cmpd="sng" w="12700">
            <a:solidFill>
              <a:srgbClr val="000000"/>
            </a:solidFill>
            <a:prstDash val="solid"/>
            <a:miter lim="800000"/>
            <a:headEnd len="med" w="med" type="triangle"/>
            <a:tailEnd len="med" w="med" type="triangle"/>
          </a:ln>
        </p:spPr>
      </p:cxnSp>
      <p:cxnSp>
        <p:nvCxnSpPr>
          <p:cNvPr id="1092" name="Google Shape;1092;p27"/>
          <p:cNvCxnSpPr/>
          <p:nvPr/>
        </p:nvCxnSpPr>
        <p:spPr>
          <a:xfrm>
            <a:off x="7199150" y="5838912"/>
            <a:ext cx="0" cy="1318860"/>
          </a:xfrm>
          <a:prstGeom prst="straightConnector1">
            <a:avLst/>
          </a:prstGeom>
          <a:noFill/>
          <a:ln cap="flat" cmpd="sng" w="12700">
            <a:solidFill>
              <a:srgbClr val="000000"/>
            </a:solidFill>
            <a:prstDash val="solid"/>
            <a:miter lim="800000"/>
            <a:headEnd len="med" w="med" type="triangle"/>
            <a:tailEnd len="med" w="med" type="triangle"/>
          </a:ln>
        </p:spPr>
      </p:cxnSp>
      <p:pic>
        <p:nvPicPr>
          <p:cNvPr id="1093" name="Google Shape;1093;p27"/>
          <p:cNvPicPr preferRelativeResize="0"/>
          <p:nvPr/>
        </p:nvPicPr>
        <p:blipFill rotWithShape="1">
          <a:blip r:embed="rId15">
            <a:alphaModFix/>
          </a:blip>
          <a:srcRect b="0" l="0" r="0" t="0"/>
          <a:stretch/>
        </p:blipFill>
        <p:spPr>
          <a:xfrm>
            <a:off x="7055508" y="6067454"/>
            <a:ext cx="287287" cy="252605"/>
          </a:xfrm>
          <a:prstGeom prst="rect">
            <a:avLst/>
          </a:prstGeom>
          <a:noFill/>
          <a:ln>
            <a:noFill/>
          </a:ln>
        </p:spPr>
      </p:pic>
      <p:pic>
        <p:nvPicPr>
          <p:cNvPr id="1094" name="Google Shape;1094;p27"/>
          <p:cNvPicPr preferRelativeResize="0"/>
          <p:nvPr/>
        </p:nvPicPr>
        <p:blipFill rotWithShape="1">
          <a:blip r:embed="rId16">
            <a:alphaModFix/>
          </a:blip>
          <a:srcRect b="0" l="0" r="0" t="0"/>
          <a:stretch/>
        </p:blipFill>
        <p:spPr>
          <a:xfrm>
            <a:off x="5736648" y="6067454"/>
            <a:ext cx="287287" cy="252605"/>
          </a:xfrm>
          <a:prstGeom prst="rect">
            <a:avLst/>
          </a:prstGeom>
          <a:noFill/>
          <a:ln>
            <a:noFill/>
          </a:ln>
        </p:spPr>
      </p:pic>
      <p:cxnSp>
        <p:nvCxnSpPr>
          <p:cNvPr id="1095" name="Google Shape;1095;p27"/>
          <p:cNvCxnSpPr/>
          <p:nvPr/>
        </p:nvCxnSpPr>
        <p:spPr>
          <a:xfrm rot="-5400000">
            <a:off x="9930337" y="8566462"/>
            <a:ext cx="301041" cy="0"/>
          </a:xfrm>
          <a:prstGeom prst="straightConnector1">
            <a:avLst/>
          </a:prstGeom>
          <a:noFill/>
          <a:ln cap="flat" cmpd="sng" w="12700">
            <a:solidFill>
              <a:srgbClr val="000000"/>
            </a:solidFill>
            <a:prstDash val="solid"/>
            <a:miter lim="800000"/>
            <a:headEnd len="sm" w="sm" type="none"/>
            <a:tailEnd len="med" w="med" type="triangle"/>
          </a:ln>
        </p:spPr>
      </p:cxnSp>
      <p:cxnSp>
        <p:nvCxnSpPr>
          <p:cNvPr id="1096" name="Google Shape;1096;p27"/>
          <p:cNvCxnSpPr/>
          <p:nvPr/>
        </p:nvCxnSpPr>
        <p:spPr>
          <a:xfrm rot="-5400000">
            <a:off x="9906879" y="7714043"/>
            <a:ext cx="348593" cy="0"/>
          </a:xfrm>
          <a:prstGeom prst="straightConnector1">
            <a:avLst/>
          </a:prstGeom>
          <a:noFill/>
          <a:ln cap="flat" cmpd="sng" w="12700">
            <a:solidFill>
              <a:srgbClr val="000000"/>
            </a:solidFill>
            <a:prstDash val="solid"/>
            <a:miter lim="800000"/>
            <a:headEnd len="med" w="med" type="triangle"/>
            <a:tailEnd len="sm" w="sm" type="none"/>
          </a:ln>
        </p:spPr>
      </p:cxnSp>
      <p:cxnSp>
        <p:nvCxnSpPr>
          <p:cNvPr id="1097" name="Google Shape;1097;p27"/>
          <p:cNvCxnSpPr/>
          <p:nvPr/>
        </p:nvCxnSpPr>
        <p:spPr>
          <a:xfrm>
            <a:off x="10670559" y="7035582"/>
            <a:ext cx="0" cy="1766864"/>
          </a:xfrm>
          <a:prstGeom prst="straightConnector1">
            <a:avLst/>
          </a:prstGeom>
          <a:noFill/>
          <a:ln cap="flat" cmpd="sng" w="9525">
            <a:solidFill>
              <a:srgbClr val="000000"/>
            </a:solidFill>
            <a:prstDash val="dash"/>
            <a:miter lim="800000"/>
            <a:headEnd len="sm" w="sm" type="none"/>
            <a:tailEnd len="sm" w="sm" type="none"/>
          </a:ln>
        </p:spPr>
      </p:cxnSp>
      <p:cxnSp>
        <p:nvCxnSpPr>
          <p:cNvPr id="1098" name="Google Shape;1098;p27"/>
          <p:cNvCxnSpPr/>
          <p:nvPr/>
        </p:nvCxnSpPr>
        <p:spPr>
          <a:xfrm>
            <a:off x="10005610" y="8049417"/>
            <a:ext cx="0" cy="667303"/>
          </a:xfrm>
          <a:prstGeom prst="straightConnector1">
            <a:avLst/>
          </a:prstGeom>
          <a:noFill/>
          <a:ln cap="flat" cmpd="sng" w="9525">
            <a:solidFill>
              <a:srgbClr val="000000"/>
            </a:solidFill>
            <a:prstDash val="dash"/>
            <a:miter lim="800000"/>
            <a:headEnd len="sm" w="sm" type="none"/>
            <a:tailEnd len="sm" w="sm" type="none"/>
          </a:ln>
        </p:spPr>
      </p:cxnSp>
      <p:pic>
        <p:nvPicPr>
          <p:cNvPr id="1099" name="Google Shape;1099;p27"/>
          <p:cNvPicPr preferRelativeResize="0"/>
          <p:nvPr/>
        </p:nvPicPr>
        <p:blipFill rotWithShape="1">
          <a:blip r:embed="rId7">
            <a:alphaModFix/>
          </a:blip>
          <a:srcRect b="0" l="0" r="0" t="0"/>
          <a:stretch/>
        </p:blipFill>
        <p:spPr>
          <a:xfrm>
            <a:off x="9948263" y="8033646"/>
            <a:ext cx="265823" cy="259874"/>
          </a:xfrm>
          <a:prstGeom prst="rect">
            <a:avLst/>
          </a:prstGeom>
          <a:noFill/>
          <a:ln>
            <a:noFill/>
          </a:ln>
        </p:spPr>
      </p:pic>
      <p:sp>
        <p:nvSpPr>
          <p:cNvPr id="1100" name="Google Shape;1100;p27"/>
          <p:cNvSpPr/>
          <p:nvPr/>
        </p:nvSpPr>
        <p:spPr>
          <a:xfrm>
            <a:off x="14551397" y="7529378"/>
            <a:ext cx="880347" cy="358964"/>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101" name="Google Shape;1101;p27"/>
          <p:cNvSpPr/>
          <p:nvPr/>
        </p:nvSpPr>
        <p:spPr>
          <a:xfrm>
            <a:off x="14557943" y="11390238"/>
            <a:ext cx="880347" cy="358964"/>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102" name="Google Shape;1102;p27"/>
          <p:cNvPicPr preferRelativeResize="0"/>
          <p:nvPr/>
        </p:nvPicPr>
        <p:blipFill rotWithShape="1">
          <a:blip r:embed="rId17">
            <a:alphaModFix/>
          </a:blip>
          <a:srcRect b="0" l="0" r="0" t="0"/>
          <a:stretch/>
        </p:blipFill>
        <p:spPr>
          <a:xfrm>
            <a:off x="14551397" y="11094320"/>
            <a:ext cx="1078606" cy="207317"/>
          </a:xfrm>
          <a:prstGeom prst="rect">
            <a:avLst/>
          </a:prstGeom>
          <a:noFill/>
          <a:ln>
            <a:noFill/>
          </a:ln>
        </p:spPr>
      </p:pic>
      <p:pic>
        <p:nvPicPr>
          <p:cNvPr id="1103" name="Google Shape;1103;p27"/>
          <p:cNvPicPr preferRelativeResize="0"/>
          <p:nvPr/>
        </p:nvPicPr>
        <p:blipFill rotWithShape="1">
          <a:blip r:embed="rId18">
            <a:alphaModFix/>
          </a:blip>
          <a:srcRect b="0" l="0" r="0" t="0"/>
          <a:stretch/>
        </p:blipFill>
        <p:spPr>
          <a:xfrm>
            <a:off x="14551397" y="7087759"/>
            <a:ext cx="1143001" cy="207317"/>
          </a:xfrm>
          <a:prstGeom prst="rect">
            <a:avLst/>
          </a:prstGeom>
          <a:noFill/>
          <a:ln>
            <a:noFill/>
          </a:ln>
        </p:spPr>
      </p:pic>
      <p:pic>
        <p:nvPicPr>
          <p:cNvPr id="1104" name="Google Shape;1104;p27"/>
          <p:cNvPicPr preferRelativeResize="0"/>
          <p:nvPr/>
        </p:nvPicPr>
        <p:blipFill rotWithShape="1">
          <a:blip r:embed="rId19">
            <a:alphaModFix/>
          </a:blip>
          <a:srcRect b="0" l="0" r="0" t="0"/>
          <a:stretch/>
        </p:blipFill>
        <p:spPr>
          <a:xfrm>
            <a:off x="17236222" y="6326090"/>
            <a:ext cx="3597216" cy="288000"/>
          </a:xfrm>
          <a:prstGeom prst="rect">
            <a:avLst/>
          </a:prstGeom>
          <a:noFill/>
          <a:ln>
            <a:noFill/>
          </a:ln>
        </p:spPr>
      </p:pic>
      <p:pic>
        <p:nvPicPr>
          <p:cNvPr id="1105" name="Google Shape;1105;p27"/>
          <p:cNvPicPr preferRelativeResize="0"/>
          <p:nvPr/>
        </p:nvPicPr>
        <p:blipFill rotWithShape="1">
          <a:blip r:embed="rId20">
            <a:alphaModFix/>
          </a:blip>
          <a:srcRect b="0" l="0" r="0" t="0"/>
          <a:stretch/>
        </p:blipFill>
        <p:spPr>
          <a:xfrm>
            <a:off x="17236224" y="7241378"/>
            <a:ext cx="3606505" cy="288000"/>
          </a:xfrm>
          <a:prstGeom prst="rect">
            <a:avLst/>
          </a:prstGeom>
          <a:noFill/>
          <a:ln>
            <a:noFill/>
          </a:ln>
        </p:spPr>
      </p:pic>
      <p:pic>
        <p:nvPicPr>
          <p:cNvPr id="1106" name="Google Shape;1106;p27"/>
          <p:cNvPicPr preferRelativeResize="0"/>
          <p:nvPr/>
        </p:nvPicPr>
        <p:blipFill rotWithShape="1">
          <a:blip r:embed="rId21">
            <a:alphaModFix/>
          </a:blip>
          <a:srcRect b="0" l="0" r="0" t="0"/>
          <a:stretch/>
        </p:blipFill>
        <p:spPr>
          <a:xfrm>
            <a:off x="17236226" y="8156666"/>
            <a:ext cx="2264915" cy="288000"/>
          </a:xfrm>
          <a:prstGeom prst="rect">
            <a:avLst/>
          </a:prstGeom>
          <a:noFill/>
          <a:ln>
            <a:noFill/>
          </a:ln>
        </p:spPr>
      </p:pic>
      <p:pic>
        <p:nvPicPr>
          <p:cNvPr id="1107" name="Google Shape;1107;p27"/>
          <p:cNvPicPr preferRelativeResize="0"/>
          <p:nvPr/>
        </p:nvPicPr>
        <p:blipFill rotWithShape="1">
          <a:blip r:embed="rId22">
            <a:alphaModFix/>
          </a:blip>
          <a:srcRect b="0" l="0" r="0" t="0"/>
          <a:stretch/>
        </p:blipFill>
        <p:spPr>
          <a:xfrm>
            <a:off x="17236226" y="9071954"/>
            <a:ext cx="2023730" cy="288000"/>
          </a:xfrm>
          <a:prstGeom prst="rect">
            <a:avLst/>
          </a:prstGeom>
          <a:noFill/>
          <a:ln>
            <a:noFill/>
          </a:ln>
        </p:spPr>
      </p:pic>
      <p:pic>
        <p:nvPicPr>
          <p:cNvPr id="1108" name="Google Shape;1108;p27"/>
          <p:cNvPicPr preferRelativeResize="0"/>
          <p:nvPr/>
        </p:nvPicPr>
        <p:blipFill rotWithShape="1">
          <a:blip r:embed="rId23">
            <a:alphaModFix/>
          </a:blip>
          <a:srcRect b="0" l="0" r="0" t="0"/>
          <a:stretch/>
        </p:blipFill>
        <p:spPr>
          <a:xfrm>
            <a:off x="17236226" y="9987242"/>
            <a:ext cx="3501776" cy="288000"/>
          </a:xfrm>
          <a:prstGeom prst="rect">
            <a:avLst/>
          </a:prstGeom>
          <a:noFill/>
          <a:ln>
            <a:noFill/>
          </a:ln>
        </p:spPr>
      </p:pic>
      <p:pic>
        <p:nvPicPr>
          <p:cNvPr id="1109" name="Google Shape;1109;p27"/>
          <p:cNvPicPr preferRelativeResize="0"/>
          <p:nvPr/>
        </p:nvPicPr>
        <p:blipFill rotWithShape="1">
          <a:blip r:embed="rId24">
            <a:alphaModFix/>
          </a:blip>
          <a:srcRect b="0" l="0" r="0" t="0"/>
          <a:stretch/>
        </p:blipFill>
        <p:spPr>
          <a:xfrm>
            <a:off x="17236226" y="10902530"/>
            <a:ext cx="3702040" cy="288000"/>
          </a:xfrm>
          <a:prstGeom prst="rect">
            <a:avLst/>
          </a:prstGeom>
          <a:noFill/>
          <a:ln>
            <a:noFill/>
          </a:ln>
        </p:spPr>
      </p:pic>
      <p:pic>
        <p:nvPicPr>
          <p:cNvPr id="1110" name="Google Shape;1110;p27"/>
          <p:cNvPicPr preferRelativeResize="0"/>
          <p:nvPr/>
        </p:nvPicPr>
        <p:blipFill rotWithShape="1">
          <a:blip r:embed="rId25">
            <a:alphaModFix/>
          </a:blip>
          <a:srcRect b="0" l="0" r="0" t="0"/>
          <a:stretch/>
        </p:blipFill>
        <p:spPr>
          <a:xfrm>
            <a:off x="17236222" y="11817821"/>
            <a:ext cx="1169166" cy="284186"/>
          </a:xfrm>
          <a:prstGeom prst="rect">
            <a:avLst/>
          </a:prstGeom>
          <a:noFill/>
          <a:ln>
            <a:noFill/>
          </a:ln>
        </p:spPr>
      </p:pic>
      <p:pic>
        <p:nvPicPr>
          <p:cNvPr id="1111" name="Google Shape;1111;p27"/>
          <p:cNvPicPr preferRelativeResize="0"/>
          <p:nvPr/>
        </p:nvPicPr>
        <p:blipFill rotWithShape="1">
          <a:blip r:embed="rId26">
            <a:alphaModFix/>
          </a:blip>
          <a:srcRect b="0" l="0" r="0" t="0"/>
          <a:stretch/>
        </p:blipFill>
        <p:spPr>
          <a:xfrm>
            <a:off x="6115035" y="3753927"/>
            <a:ext cx="6709475" cy="1605369"/>
          </a:xfrm>
          <a:prstGeom prst="rect">
            <a:avLst/>
          </a:prstGeom>
          <a:noFill/>
          <a:ln>
            <a:noFill/>
          </a:ln>
        </p:spPr>
      </p:pic>
      <p:sp>
        <p:nvSpPr>
          <p:cNvPr id="1112" name="Google Shape;1112;p27"/>
          <p:cNvSpPr txBox="1"/>
          <p:nvPr/>
        </p:nvSpPr>
        <p:spPr>
          <a:xfrm>
            <a:off x="17326263" y="5257751"/>
            <a:ext cx="3321702" cy="75469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3200">
                <a:solidFill>
                  <a:schemeClr val="dk2"/>
                </a:solidFill>
                <a:latin typeface="Montserrat"/>
                <a:ea typeface="Montserrat"/>
                <a:cs typeface="Montserrat"/>
                <a:sym typeface="Montserrat"/>
              </a:rPr>
              <a:t>Parameters</a:t>
            </a:r>
            <a:endParaRPr sz="3200">
              <a:solidFill>
                <a:schemeClr val="dk2"/>
              </a:solidFill>
              <a:latin typeface="Montserrat"/>
              <a:ea typeface="Montserrat"/>
              <a:cs typeface="Montserrat"/>
              <a:sym typeface="Montserrat"/>
            </a:endParaRPr>
          </a:p>
        </p:txBody>
      </p:sp>
      <p:sp>
        <p:nvSpPr>
          <p:cNvPr id="1113" name="Google Shape;1113;p27"/>
          <p:cNvSpPr/>
          <p:nvPr/>
        </p:nvSpPr>
        <p:spPr>
          <a:xfrm>
            <a:off x="4982086" y="3557765"/>
            <a:ext cx="8223775" cy="2017048"/>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28"/>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The schematic of the proposed PBS</a:t>
            </a:r>
            <a:endParaRPr/>
          </a:p>
        </p:txBody>
      </p:sp>
      <p:sp>
        <p:nvSpPr>
          <p:cNvPr id="1119" name="Google Shape;1119;p28"/>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120" name="Google Shape;1120;p28"/>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21" name="Google Shape;1121;p28"/>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122" name="Google Shape;1122;p28"/>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123" name="Google Shape;1123;p28"/>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124" name="Google Shape;1124;p28"/>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125" name="Google Shape;1125;p28"/>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126" name="Google Shape;1126;p28"/>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127" name="Google Shape;1127;p28"/>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1128" name="Google Shape;1128;p28"/>
          <p:cNvSpPr/>
          <p:nvPr/>
        </p:nvSpPr>
        <p:spPr>
          <a:xfrm rot="10800000">
            <a:off x="4668869" y="5834459"/>
            <a:ext cx="9718260" cy="6398042"/>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129" name="Google Shape;1129;p28"/>
          <p:cNvSpPr/>
          <p:nvPr/>
        </p:nvSpPr>
        <p:spPr>
          <a:xfrm rot="5400000">
            <a:off x="7090808" y="6486552"/>
            <a:ext cx="677466" cy="4484831"/>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130" name="Google Shape;1130;p28"/>
          <p:cNvSpPr/>
          <p:nvPr/>
        </p:nvSpPr>
        <p:spPr>
          <a:xfrm rot="5400000">
            <a:off x="9307842" y="6710879"/>
            <a:ext cx="440354" cy="9718223"/>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131" name="Google Shape;1131;p28"/>
          <p:cNvSpPr/>
          <p:nvPr/>
        </p:nvSpPr>
        <p:spPr>
          <a:xfrm rot="5400000">
            <a:off x="8463590" y="7402916"/>
            <a:ext cx="677466" cy="4484831"/>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132" name="Google Shape;1132;p28"/>
          <p:cNvSpPr/>
          <p:nvPr/>
        </p:nvSpPr>
        <p:spPr>
          <a:xfrm rot="5400000">
            <a:off x="9768836" y="8280880"/>
            <a:ext cx="677466" cy="4484831"/>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133" name="Google Shape;1133;p28"/>
          <p:cNvPicPr preferRelativeResize="0"/>
          <p:nvPr/>
        </p:nvPicPr>
        <p:blipFill rotWithShape="1">
          <a:blip r:embed="rId3">
            <a:alphaModFix/>
          </a:blip>
          <a:srcRect b="0" l="0" r="0" t="0"/>
          <a:stretch/>
        </p:blipFill>
        <p:spPr>
          <a:xfrm>
            <a:off x="5437616" y="8144539"/>
            <a:ext cx="246012" cy="258056"/>
          </a:xfrm>
          <a:prstGeom prst="rect">
            <a:avLst/>
          </a:prstGeom>
          <a:noFill/>
          <a:ln>
            <a:noFill/>
          </a:ln>
        </p:spPr>
      </p:pic>
      <p:sp>
        <p:nvSpPr>
          <p:cNvPr id="1134" name="Google Shape;1134;p28"/>
          <p:cNvSpPr/>
          <p:nvPr/>
        </p:nvSpPr>
        <p:spPr>
          <a:xfrm>
            <a:off x="3079501" y="7529378"/>
            <a:ext cx="880347" cy="358964"/>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135" name="Google Shape;1135;p28"/>
          <p:cNvPicPr preferRelativeResize="0"/>
          <p:nvPr/>
        </p:nvPicPr>
        <p:blipFill rotWithShape="1">
          <a:blip r:embed="rId4">
            <a:alphaModFix/>
          </a:blip>
          <a:srcRect b="0" l="0" r="0" t="0"/>
          <a:stretch/>
        </p:blipFill>
        <p:spPr>
          <a:xfrm>
            <a:off x="1418858" y="6544659"/>
            <a:ext cx="2785057" cy="637896"/>
          </a:xfrm>
          <a:prstGeom prst="rect">
            <a:avLst/>
          </a:prstGeom>
          <a:noFill/>
          <a:ln>
            <a:noFill/>
          </a:ln>
        </p:spPr>
      </p:pic>
      <p:cxnSp>
        <p:nvCxnSpPr>
          <p:cNvPr id="1136" name="Google Shape;1136;p28"/>
          <p:cNvCxnSpPr/>
          <p:nvPr/>
        </p:nvCxnSpPr>
        <p:spPr>
          <a:xfrm rot="-5400000">
            <a:off x="4843123" y="8273569"/>
            <a:ext cx="688017" cy="0"/>
          </a:xfrm>
          <a:prstGeom prst="straightConnector1">
            <a:avLst/>
          </a:prstGeom>
          <a:noFill/>
          <a:ln cap="flat" cmpd="sng" w="12700">
            <a:solidFill>
              <a:srgbClr val="000000"/>
            </a:solidFill>
            <a:prstDash val="solid"/>
            <a:miter lim="800000"/>
            <a:headEnd len="med" w="med" type="triangle"/>
            <a:tailEnd len="med" w="med" type="triangle"/>
          </a:ln>
        </p:spPr>
      </p:cxnSp>
      <p:sp>
        <p:nvSpPr>
          <p:cNvPr id="1137" name="Google Shape;1137;p28"/>
          <p:cNvSpPr/>
          <p:nvPr/>
        </p:nvSpPr>
        <p:spPr>
          <a:xfrm rot="5400000">
            <a:off x="9307824" y="2843477"/>
            <a:ext cx="440354" cy="9718257"/>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1138" name="Google Shape;1138;p28"/>
          <p:cNvCxnSpPr/>
          <p:nvPr/>
        </p:nvCxnSpPr>
        <p:spPr>
          <a:xfrm rot="-5400000">
            <a:off x="6271927" y="9267749"/>
            <a:ext cx="535586" cy="0"/>
          </a:xfrm>
          <a:prstGeom prst="straightConnector1">
            <a:avLst/>
          </a:prstGeom>
          <a:noFill/>
          <a:ln cap="flat" cmpd="sng" w="12700">
            <a:solidFill>
              <a:srgbClr val="000000"/>
            </a:solidFill>
            <a:prstDash val="solid"/>
            <a:miter lim="800000"/>
            <a:headEnd len="med" w="med" type="triangle"/>
            <a:tailEnd len="med" w="med" type="triangle"/>
          </a:ln>
        </p:spPr>
      </p:cxnSp>
      <p:cxnSp>
        <p:nvCxnSpPr>
          <p:cNvPr id="1139" name="Google Shape;1139;p28"/>
          <p:cNvCxnSpPr/>
          <p:nvPr/>
        </p:nvCxnSpPr>
        <p:spPr>
          <a:xfrm rot="-5400000">
            <a:off x="7572382" y="10178368"/>
            <a:ext cx="482535" cy="0"/>
          </a:xfrm>
          <a:prstGeom prst="straightConnector1">
            <a:avLst/>
          </a:prstGeom>
          <a:noFill/>
          <a:ln cap="flat" cmpd="sng" w="12700">
            <a:solidFill>
              <a:srgbClr val="000000"/>
            </a:solidFill>
            <a:prstDash val="solid"/>
            <a:miter lim="800000"/>
            <a:headEnd len="med" w="med" type="triangle"/>
            <a:tailEnd len="med" w="med" type="triangle"/>
          </a:ln>
        </p:spPr>
      </p:cxnSp>
      <p:cxnSp>
        <p:nvCxnSpPr>
          <p:cNvPr id="1140" name="Google Shape;1140;p28"/>
          <p:cNvCxnSpPr/>
          <p:nvPr/>
        </p:nvCxnSpPr>
        <p:spPr>
          <a:xfrm rot="-5400000">
            <a:off x="7579923" y="11102525"/>
            <a:ext cx="467455" cy="0"/>
          </a:xfrm>
          <a:prstGeom prst="straightConnector1">
            <a:avLst/>
          </a:prstGeom>
          <a:noFill/>
          <a:ln cap="flat" cmpd="sng" w="12700">
            <a:solidFill>
              <a:srgbClr val="000000"/>
            </a:solidFill>
            <a:prstDash val="solid"/>
            <a:miter lim="800000"/>
            <a:headEnd len="med" w="med" type="triangle"/>
            <a:tailEnd len="med" w="med" type="triangle"/>
          </a:ln>
        </p:spPr>
      </p:cxnSp>
      <p:cxnSp>
        <p:nvCxnSpPr>
          <p:cNvPr id="1141" name="Google Shape;1141;p28"/>
          <p:cNvCxnSpPr/>
          <p:nvPr/>
        </p:nvCxnSpPr>
        <p:spPr>
          <a:xfrm rot="-5400000">
            <a:off x="12090107" y="10981238"/>
            <a:ext cx="662526" cy="0"/>
          </a:xfrm>
          <a:prstGeom prst="straightConnector1">
            <a:avLst/>
          </a:prstGeom>
          <a:noFill/>
          <a:ln cap="flat" cmpd="sng" w="12700">
            <a:solidFill>
              <a:srgbClr val="000000"/>
            </a:solidFill>
            <a:prstDash val="solid"/>
            <a:miter lim="800000"/>
            <a:headEnd len="med" w="med" type="triangle"/>
            <a:tailEnd len="med" w="med" type="triangle"/>
          </a:ln>
        </p:spPr>
      </p:cxnSp>
      <p:cxnSp>
        <p:nvCxnSpPr>
          <p:cNvPr id="1142" name="Google Shape;1142;p28"/>
          <p:cNvCxnSpPr/>
          <p:nvPr/>
        </p:nvCxnSpPr>
        <p:spPr>
          <a:xfrm>
            <a:off x="7429542" y="5007249"/>
            <a:ext cx="0" cy="4484831"/>
          </a:xfrm>
          <a:prstGeom prst="straightConnector1">
            <a:avLst/>
          </a:prstGeom>
          <a:noFill/>
          <a:ln cap="flat" cmpd="sng" w="12700">
            <a:solidFill>
              <a:srgbClr val="000000"/>
            </a:solidFill>
            <a:prstDash val="solid"/>
            <a:miter lim="800000"/>
            <a:headEnd len="med" w="med" type="triangle"/>
            <a:tailEnd len="med" w="med" type="triangle"/>
          </a:ln>
        </p:spPr>
      </p:cxnSp>
      <p:pic>
        <p:nvPicPr>
          <p:cNvPr id="1143" name="Google Shape;1143;p28"/>
          <p:cNvPicPr preferRelativeResize="0"/>
          <p:nvPr/>
        </p:nvPicPr>
        <p:blipFill rotWithShape="1">
          <a:blip r:embed="rId5">
            <a:alphaModFix/>
          </a:blip>
          <a:srcRect b="0" l="0" r="0" t="0"/>
          <a:stretch/>
        </p:blipFill>
        <p:spPr>
          <a:xfrm>
            <a:off x="6115035" y="9158594"/>
            <a:ext cx="265823" cy="259874"/>
          </a:xfrm>
          <a:prstGeom prst="rect">
            <a:avLst/>
          </a:prstGeom>
          <a:noFill/>
          <a:ln>
            <a:noFill/>
          </a:ln>
        </p:spPr>
      </p:pic>
      <p:pic>
        <p:nvPicPr>
          <p:cNvPr id="1144" name="Google Shape;1144;p28"/>
          <p:cNvPicPr preferRelativeResize="0"/>
          <p:nvPr/>
        </p:nvPicPr>
        <p:blipFill rotWithShape="1">
          <a:blip r:embed="rId5">
            <a:alphaModFix/>
          </a:blip>
          <a:srcRect b="0" l="0" r="0" t="0"/>
          <a:stretch/>
        </p:blipFill>
        <p:spPr>
          <a:xfrm>
            <a:off x="7365248" y="10046918"/>
            <a:ext cx="265823" cy="259874"/>
          </a:xfrm>
          <a:prstGeom prst="rect">
            <a:avLst/>
          </a:prstGeom>
          <a:noFill/>
          <a:ln>
            <a:noFill/>
          </a:ln>
        </p:spPr>
      </p:pic>
      <p:pic>
        <p:nvPicPr>
          <p:cNvPr id="1145" name="Google Shape;1145;p28"/>
          <p:cNvPicPr preferRelativeResize="0"/>
          <p:nvPr/>
        </p:nvPicPr>
        <p:blipFill rotWithShape="1">
          <a:blip r:embed="rId5">
            <a:alphaModFix/>
          </a:blip>
          <a:srcRect b="0" l="0" r="0" t="0"/>
          <a:stretch/>
        </p:blipFill>
        <p:spPr>
          <a:xfrm>
            <a:off x="7365248" y="10964383"/>
            <a:ext cx="265823" cy="259874"/>
          </a:xfrm>
          <a:prstGeom prst="rect">
            <a:avLst/>
          </a:prstGeom>
          <a:noFill/>
          <a:ln>
            <a:noFill/>
          </a:ln>
        </p:spPr>
      </p:pic>
      <p:pic>
        <p:nvPicPr>
          <p:cNvPr id="1146" name="Google Shape;1146;p28"/>
          <p:cNvPicPr preferRelativeResize="0"/>
          <p:nvPr/>
        </p:nvPicPr>
        <p:blipFill rotWithShape="1">
          <a:blip r:embed="rId3">
            <a:alphaModFix/>
          </a:blip>
          <a:srcRect b="0" l="0" r="0" t="0"/>
          <a:stretch/>
        </p:blipFill>
        <p:spPr>
          <a:xfrm>
            <a:off x="12605730" y="10856007"/>
            <a:ext cx="246012" cy="258056"/>
          </a:xfrm>
          <a:prstGeom prst="rect">
            <a:avLst/>
          </a:prstGeom>
          <a:noFill/>
          <a:ln>
            <a:noFill/>
          </a:ln>
        </p:spPr>
      </p:pic>
      <p:pic>
        <p:nvPicPr>
          <p:cNvPr id="1147" name="Google Shape;1147;p28"/>
          <p:cNvPicPr preferRelativeResize="0"/>
          <p:nvPr/>
        </p:nvPicPr>
        <p:blipFill rotWithShape="1">
          <a:blip r:embed="rId6">
            <a:alphaModFix/>
          </a:blip>
          <a:srcRect b="0" l="0" r="0" t="0"/>
          <a:stretch/>
        </p:blipFill>
        <p:spPr>
          <a:xfrm>
            <a:off x="4340326" y="7574748"/>
            <a:ext cx="130182" cy="255709"/>
          </a:xfrm>
          <a:prstGeom prst="rect">
            <a:avLst/>
          </a:prstGeom>
          <a:noFill/>
          <a:ln>
            <a:noFill/>
          </a:ln>
        </p:spPr>
      </p:pic>
      <p:pic>
        <p:nvPicPr>
          <p:cNvPr id="1148" name="Google Shape;1148;p28"/>
          <p:cNvPicPr preferRelativeResize="0"/>
          <p:nvPr/>
        </p:nvPicPr>
        <p:blipFill rotWithShape="1">
          <a:blip r:embed="rId7">
            <a:alphaModFix/>
          </a:blip>
          <a:srcRect b="0" l="0" r="0" t="0"/>
          <a:stretch/>
        </p:blipFill>
        <p:spPr>
          <a:xfrm>
            <a:off x="4327541" y="8729491"/>
            <a:ext cx="155754" cy="255709"/>
          </a:xfrm>
          <a:prstGeom prst="rect">
            <a:avLst/>
          </a:prstGeom>
          <a:noFill/>
          <a:ln>
            <a:noFill/>
          </a:ln>
        </p:spPr>
      </p:pic>
      <p:pic>
        <p:nvPicPr>
          <p:cNvPr id="1149" name="Google Shape;1149;p28"/>
          <p:cNvPicPr preferRelativeResize="0"/>
          <p:nvPr/>
        </p:nvPicPr>
        <p:blipFill rotWithShape="1">
          <a:blip r:embed="rId8">
            <a:alphaModFix/>
          </a:blip>
          <a:srcRect b="0" l="0" r="0" t="0"/>
          <a:stretch/>
        </p:blipFill>
        <p:spPr>
          <a:xfrm>
            <a:off x="4319404" y="9663009"/>
            <a:ext cx="162729" cy="265008"/>
          </a:xfrm>
          <a:prstGeom prst="rect">
            <a:avLst/>
          </a:prstGeom>
          <a:noFill/>
          <a:ln>
            <a:noFill/>
          </a:ln>
        </p:spPr>
      </p:pic>
      <p:pic>
        <p:nvPicPr>
          <p:cNvPr id="1150" name="Google Shape;1150;p28"/>
          <p:cNvPicPr preferRelativeResize="0"/>
          <p:nvPr/>
        </p:nvPicPr>
        <p:blipFill rotWithShape="1">
          <a:blip r:embed="rId9">
            <a:alphaModFix/>
          </a:blip>
          <a:srcRect b="0" l="0" r="0" t="0"/>
          <a:stretch/>
        </p:blipFill>
        <p:spPr>
          <a:xfrm>
            <a:off x="4315917" y="10606973"/>
            <a:ext cx="174351" cy="260359"/>
          </a:xfrm>
          <a:prstGeom prst="rect">
            <a:avLst/>
          </a:prstGeom>
          <a:noFill/>
          <a:ln>
            <a:noFill/>
          </a:ln>
        </p:spPr>
      </p:pic>
      <p:pic>
        <p:nvPicPr>
          <p:cNvPr id="1151" name="Google Shape;1151;p28"/>
          <p:cNvPicPr preferRelativeResize="0"/>
          <p:nvPr/>
        </p:nvPicPr>
        <p:blipFill rotWithShape="1">
          <a:blip r:embed="rId10">
            <a:alphaModFix/>
          </a:blip>
          <a:srcRect b="0" l="0" r="0" t="0"/>
          <a:stretch/>
        </p:blipFill>
        <p:spPr>
          <a:xfrm>
            <a:off x="4321727" y="11427024"/>
            <a:ext cx="155754" cy="267331"/>
          </a:xfrm>
          <a:prstGeom prst="rect">
            <a:avLst/>
          </a:prstGeom>
          <a:noFill/>
          <a:ln>
            <a:noFill/>
          </a:ln>
        </p:spPr>
      </p:pic>
      <p:pic>
        <p:nvPicPr>
          <p:cNvPr id="1152" name="Google Shape;1152;p28"/>
          <p:cNvPicPr preferRelativeResize="0"/>
          <p:nvPr/>
        </p:nvPicPr>
        <p:blipFill rotWithShape="1">
          <a:blip r:embed="rId11">
            <a:alphaModFix/>
          </a:blip>
          <a:srcRect b="0" l="0" r="0" t="0"/>
          <a:stretch/>
        </p:blipFill>
        <p:spPr>
          <a:xfrm>
            <a:off x="7199563" y="6909683"/>
            <a:ext cx="602643" cy="254422"/>
          </a:xfrm>
          <a:prstGeom prst="rect">
            <a:avLst/>
          </a:prstGeom>
          <a:noFill/>
          <a:ln>
            <a:noFill/>
          </a:ln>
        </p:spPr>
      </p:pic>
      <p:cxnSp>
        <p:nvCxnSpPr>
          <p:cNvPr id="1153" name="Google Shape;1153;p28"/>
          <p:cNvCxnSpPr/>
          <p:nvPr/>
        </p:nvCxnSpPr>
        <p:spPr>
          <a:xfrm>
            <a:off x="5880289" y="5838912"/>
            <a:ext cx="0" cy="1318860"/>
          </a:xfrm>
          <a:prstGeom prst="straightConnector1">
            <a:avLst/>
          </a:prstGeom>
          <a:noFill/>
          <a:ln cap="flat" cmpd="sng" w="12700">
            <a:solidFill>
              <a:srgbClr val="000000"/>
            </a:solidFill>
            <a:prstDash val="solid"/>
            <a:miter lim="800000"/>
            <a:headEnd len="med" w="med" type="triangle"/>
            <a:tailEnd len="med" w="med" type="triangle"/>
          </a:ln>
        </p:spPr>
      </p:cxnSp>
      <p:cxnSp>
        <p:nvCxnSpPr>
          <p:cNvPr id="1154" name="Google Shape;1154;p28"/>
          <p:cNvCxnSpPr/>
          <p:nvPr/>
        </p:nvCxnSpPr>
        <p:spPr>
          <a:xfrm>
            <a:off x="7199150" y="5838912"/>
            <a:ext cx="0" cy="1318860"/>
          </a:xfrm>
          <a:prstGeom prst="straightConnector1">
            <a:avLst/>
          </a:prstGeom>
          <a:noFill/>
          <a:ln cap="flat" cmpd="sng" w="12700">
            <a:solidFill>
              <a:srgbClr val="000000"/>
            </a:solidFill>
            <a:prstDash val="solid"/>
            <a:miter lim="800000"/>
            <a:headEnd len="med" w="med" type="triangle"/>
            <a:tailEnd len="med" w="med" type="triangle"/>
          </a:ln>
        </p:spPr>
      </p:cxnSp>
      <p:pic>
        <p:nvPicPr>
          <p:cNvPr id="1155" name="Google Shape;1155;p28"/>
          <p:cNvPicPr preferRelativeResize="0"/>
          <p:nvPr/>
        </p:nvPicPr>
        <p:blipFill rotWithShape="1">
          <a:blip r:embed="rId12">
            <a:alphaModFix/>
          </a:blip>
          <a:srcRect b="0" l="0" r="0" t="0"/>
          <a:stretch/>
        </p:blipFill>
        <p:spPr>
          <a:xfrm>
            <a:off x="7055508" y="6067454"/>
            <a:ext cx="287287" cy="252605"/>
          </a:xfrm>
          <a:prstGeom prst="rect">
            <a:avLst/>
          </a:prstGeom>
          <a:noFill/>
          <a:ln>
            <a:noFill/>
          </a:ln>
        </p:spPr>
      </p:pic>
      <p:pic>
        <p:nvPicPr>
          <p:cNvPr id="1156" name="Google Shape;1156;p28"/>
          <p:cNvPicPr preferRelativeResize="0"/>
          <p:nvPr/>
        </p:nvPicPr>
        <p:blipFill rotWithShape="1">
          <a:blip r:embed="rId12">
            <a:alphaModFix/>
          </a:blip>
          <a:srcRect b="0" l="0" r="0" t="0"/>
          <a:stretch/>
        </p:blipFill>
        <p:spPr>
          <a:xfrm>
            <a:off x="5736648" y="6067454"/>
            <a:ext cx="287287" cy="252605"/>
          </a:xfrm>
          <a:prstGeom prst="rect">
            <a:avLst/>
          </a:prstGeom>
          <a:noFill/>
          <a:ln>
            <a:noFill/>
          </a:ln>
        </p:spPr>
      </p:pic>
      <p:cxnSp>
        <p:nvCxnSpPr>
          <p:cNvPr id="1157" name="Google Shape;1157;p28"/>
          <p:cNvCxnSpPr/>
          <p:nvPr/>
        </p:nvCxnSpPr>
        <p:spPr>
          <a:xfrm rot="-5400000">
            <a:off x="9930337" y="8566462"/>
            <a:ext cx="301041" cy="0"/>
          </a:xfrm>
          <a:prstGeom prst="straightConnector1">
            <a:avLst/>
          </a:prstGeom>
          <a:noFill/>
          <a:ln cap="flat" cmpd="sng" w="12700">
            <a:solidFill>
              <a:srgbClr val="000000"/>
            </a:solidFill>
            <a:prstDash val="solid"/>
            <a:miter lim="800000"/>
            <a:headEnd len="sm" w="sm" type="none"/>
            <a:tailEnd len="med" w="med" type="triangle"/>
          </a:ln>
        </p:spPr>
      </p:cxnSp>
      <p:cxnSp>
        <p:nvCxnSpPr>
          <p:cNvPr id="1158" name="Google Shape;1158;p28"/>
          <p:cNvCxnSpPr/>
          <p:nvPr/>
        </p:nvCxnSpPr>
        <p:spPr>
          <a:xfrm rot="-5400000">
            <a:off x="9906879" y="7714043"/>
            <a:ext cx="348593" cy="0"/>
          </a:xfrm>
          <a:prstGeom prst="straightConnector1">
            <a:avLst/>
          </a:prstGeom>
          <a:noFill/>
          <a:ln cap="flat" cmpd="sng" w="12700">
            <a:solidFill>
              <a:srgbClr val="000000"/>
            </a:solidFill>
            <a:prstDash val="solid"/>
            <a:miter lim="800000"/>
            <a:headEnd len="med" w="med" type="triangle"/>
            <a:tailEnd len="sm" w="sm" type="none"/>
          </a:ln>
        </p:spPr>
      </p:cxnSp>
      <p:cxnSp>
        <p:nvCxnSpPr>
          <p:cNvPr id="1159" name="Google Shape;1159;p28"/>
          <p:cNvCxnSpPr/>
          <p:nvPr/>
        </p:nvCxnSpPr>
        <p:spPr>
          <a:xfrm>
            <a:off x="10670559" y="7035582"/>
            <a:ext cx="0" cy="1766864"/>
          </a:xfrm>
          <a:prstGeom prst="straightConnector1">
            <a:avLst/>
          </a:prstGeom>
          <a:noFill/>
          <a:ln cap="flat" cmpd="sng" w="9525">
            <a:solidFill>
              <a:srgbClr val="000000"/>
            </a:solidFill>
            <a:prstDash val="dash"/>
            <a:miter lim="800000"/>
            <a:headEnd len="sm" w="sm" type="none"/>
            <a:tailEnd len="sm" w="sm" type="none"/>
          </a:ln>
        </p:spPr>
      </p:cxnSp>
      <p:cxnSp>
        <p:nvCxnSpPr>
          <p:cNvPr id="1160" name="Google Shape;1160;p28"/>
          <p:cNvCxnSpPr/>
          <p:nvPr/>
        </p:nvCxnSpPr>
        <p:spPr>
          <a:xfrm>
            <a:off x="10005610" y="8049417"/>
            <a:ext cx="0" cy="667303"/>
          </a:xfrm>
          <a:prstGeom prst="straightConnector1">
            <a:avLst/>
          </a:prstGeom>
          <a:noFill/>
          <a:ln cap="flat" cmpd="sng" w="9525">
            <a:solidFill>
              <a:srgbClr val="000000"/>
            </a:solidFill>
            <a:prstDash val="dash"/>
            <a:miter lim="800000"/>
            <a:headEnd len="sm" w="sm" type="none"/>
            <a:tailEnd len="sm" w="sm" type="none"/>
          </a:ln>
        </p:spPr>
      </p:cxnSp>
      <p:pic>
        <p:nvPicPr>
          <p:cNvPr id="1161" name="Google Shape;1161;p28"/>
          <p:cNvPicPr preferRelativeResize="0"/>
          <p:nvPr/>
        </p:nvPicPr>
        <p:blipFill rotWithShape="1">
          <a:blip r:embed="rId5">
            <a:alphaModFix/>
          </a:blip>
          <a:srcRect b="0" l="0" r="0" t="0"/>
          <a:stretch/>
        </p:blipFill>
        <p:spPr>
          <a:xfrm>
            <a:off x="9948263" y="8033646"/>
            <a:ext cx="265823" cy="259874"/>
          </a:xfrm>
          <a:prstGeom prst="rect">
            <a:avLst/>
          </a:prstGeom>
          <a:noFill/>
          <a:ln>
            <a:noFill/>
          </a:ln>
        </p:spPr>
      </p:pic>
      <p:sp>
        <p:nvSpPr>
          <p:cNvPr id="1162" name="Google Shape;1162;p28"/>
          <p:cNvSpPr/>
          <p:nvPr/>
        </p:nvSpPr>
        <p:spPr>
          <a:xfrm>
            <a:off x="14551397" y="7529378"/>
            <a:ext cx="880347" cy="358964"/>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163" name="Google Shape;1163;p28"/>
          <p:cNvSpPr/>
          <p:nvPr/>
        </p:nvSpPr>
        <p:spPr>
          <a:xfrm>
            <a:off x="14557943" y="11390238"/>
            <a:ext cx="880347" cy="358964"/>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164" name="Google Shape;1164;p28"/>
          <p:cNvPicPr preferRelativeResize="0"/>
          <p:nvPr/>
        </p:nvPicPr>
        <p:blipFill rotWithShape="1">
          <a:blip r:embed="rId13">
            <a:alphaModFix/>
          </a:blip>
          <a:srcRect b="0" l="0" r="0" t="0"/>
          <a:stretch/>
        </p:blipFill>
        <p:spPr>
          <a:xfrm>
            <a:off x="14551397" y="11094320"/>
            <a:ext cx="1078606" cy="207317"/>
          </a:xfrm>
          <a:prstGeom prst="rect">
            <a:avLst/>
          </a:prstGeom>
          <a:noFill/>
          <a:ln>
            <a:noFill/>
          </a:ln>
        </p:spPr>
      </p:pic>
      <p:pic>
        <p:nvPicPr>
          <p:cNvPr id="1165" name="Google Shape;1165;p28"/>
          <p:cNvPicPr preferRelativeResize="0"/>
          <p:nvPr/>
        </p:nvPicPr>
        <p:blipFill rotWithShape="1">
          <a:blip r:embed="rId14">
            <a:alphaModFix/>
          </a:blip>
          <a:srcRect b="0" l="0" r="0" t="0"/>
          <a:stretch/>
        </p:blipFill>
        <p:spPr>
          <a:xfrm>
            <a:off x="14551397" y="7087759"/>
            <a:ext cx="1143001" cy="207317"/>
          </a:xfrm>
          <a:prstGeom prst="rect">
            <a:avLst/>
          </a:prstGeom>
          <a:noFill/>
          <a:ln>
            <a:noFill/>
          </a:ln>
        </p:spPr>
      </p:pic>
      <p:pic>
        <p:nvPicPr>
          <p:cNvPr id="1166" name="Google Shape;1166;p28"/>
          <p:cNvPicPr preferRelativeResize="0"/>
          <p:nvPr/>
        </p:nvPicPr>
        <p:blipFill rotWithShape="1">
          <a:blip r:embed="rId15">
            <a:alphaModFix/>
          </a:blip>
          <a:srcRect b="0" l="0" r="0" t="0"/>
          <a:stretch/>
        </p:blipFill>
        <p:spPr>
          <a:xfrm>
            <a:off x="17236222" y="6326090"/>
            <a:ext cx="3597216" cy="288000"/>
          </a:xfrm>
          <a:prstGeom prst="rect">
            <a:avLst/>
          </a:prstGeom>
          <a:noFill/>
          <a:ln>
            <a:noFill/>
          </a:ln>
        </p:spPr>
      </p:pic>
      <p:pic>
        <p:nvPicPr>
          <p:cNvPr id="1167" name="Google Shape;1167;p28"/>
          <p:cNvPicPr preferRelativeResize="0"/>
          <p:nvPr/>
        </p:nvPicPr>
        <p:blipFill rotWithShape="1">
          <a:blip r:embed="rId16">
            <a:alphaModFix/>
          </a:blip>
          <a:srcRect b="0" l="0" r="0" t="0"/>
          <a:stretch/>
        </p:blipFill>
        <p:spPr>
          <a:xfrm>
            <a:off x="17236224" y="7241378"/>
            <a:ext cx="3606505" cy="288000"/>
          </a:xfrm>
          <a:prstGeom prst="rect">
            <a:avLst/>
          </a:prstGeom>
          <a:noFill/>
          <a:ln>
            <a:noFill/>
          </a:ln>
        </p:spPr>
      </p:pic>
      <p:pic>
        <p:nvPicPr>
          <p:cNvPr id="1168" name="Google Shape;1168;p28"/>
          <p:cNvPicPr preferRelativeResize="0"/>
          <p:nvPr/>
        </p:nvPicPr>
        <p:blipFill rotWithShape="1">
          <a:blip r:embed="rId17">
            <a:alphaModFix/>
          </a:blip>
          <a:srcRect b="0" l="0" r="0" t="0"/>
          <a:stretch/>
        </p:blipFill>
        <p:spPr>
          <a:xfrm>
            <a:off x="17236226" y="8156666"/>
            <a:ext cx="2264915" cy="288000"/>
          </a:xfrm>
          <a:prstGeom prst="rect">
            <a:avLst/>
          </a:prstGeom>
          <a:noFill/>
          <a:ln>
            <a:noFill/>
          </a:ln>
        </p:spPr>
      </p:pic>
      <p:pic>
        <p:nvPicPr>
          <p:cNvPr id="1169" name="Google Shape;1169;p28"/>
          <p:cNvPicPr preferRelativeResize="0"/>
          <p:nvPr/>
        </p:nvPicPr>
        <p:blipFill rotWithShape="1">
          <a:blip r:embed="rId18">
            <a:alphaModFix/>
          </a:blip>
          <a:srcRect b="0" l="0" r="0" t="0"/>
          <a:stretch/>
        </p:blipFill>
        <p:spPr>
          <a:xfrm>
            <a:off x="17236226" y="9071954"/>
            <a:ext cx="2023730" cy="288000"/>
          </a:xfrm>
          <a:prstGeom prst="rect">
            <a:avLst/>
          </a:prstGeom>
          <a:noFill/>
          <a:ln>
            <a:noFill/>
          </a:ln>
        </p:spPr>
      </p:pic>
      <p:pic>
        <p:nvPicPr>
          <p:cNvPr id="1170" name="Google Shape;1170;p28"/>
          <p:cNvPicPr preferRelativeResize="0"/>
          <p:nvPr/>
        </p:nvPicPr>
        <p:blipFill rotWithShape="1">
          <a:blip r:embed="rId19">
            <a:alphaModFix/>
          </a:blip>
          <a:srcRect b="0" l="0" r="0" t="0"/>
          <a:stretch/>
        </p:blipFill>
        <p:spPr>
          <a:xfrm>
            <a:off x="17236226" y="9987242"/>
            <a:ext cx="3501776" cy="288000"/>
          </a:xfrm>
          <a:prstGeom prst="rect">
            <a:avLst/>
          </a:prstGeom>
          <a:noFill/>
          <a:ln>
            <a:noFill/>
          </a:ln>
        </p:spPr>
      </p:pic>
      <p:pic>
        <p:nvPicPr>
          <p:cNvPr id="1171" name="Google Shape;1171;p28"/>
          <p:cNvPicPr preferRelativeResize="0"/>
          <p:nvPr/>
        </p:nvPicPr>
        <p:blipFill rotWithShape="1">
          <a:blip r:embed="rId20">
            <a:alphaModFix/>
          </a:blip>
          <a:srcRect b="0" l="0" r="0" t="0"/>
          <a:stretch/>
        </p:blipFill>
        <p:spPr>
          <a:xfrm>
            <a:off x="17236226" y="10902530"/>
            <a:ext cx="3702040" cy="288000"/>
          </a:xfrm>
          <a:prstGeom prst="rect">
            <a:avLst/>
          </a:prstGeom>
          <a:noFill/>
          <a:ln>
            <a:noFill/>
          </a:ln>
        </p:spPr>
      </p:pic>
      <p:pic>
        <p:nvPicPr>
          <p:cNvPr id="1172" name="Google Shape;1172;p28"/>
          <p:cNvPicPr preferRelativeResize="0"/>
          <p:nvPr/>
        </p:nvPicPr>
        <p:blipFill rotWithShape="1">
          <a:blip r:embed="rId21">
            <a:alphaModFix/>
          </a:blip>
          <a:srcRect b="0" l="0" r="0" t="0"/>
          <a:stretch/>
        </p:blipFill>
        <p:spPr>
          <a:xfrm>
            <a:off x="17236222" y="11817821"/>
            <a:ext cx="1169166" cy="284186"/>
          </a:xfrm>
          <a:prstGeom prst="rect">
            <a:avLst/>
          </a:prstGeom>
          <a:noFill/>
          <a:ln>
            <a:noFill/>
          </a:ln>
        </p:spPr>
      </p:pic>
      <p:pic>
        <p:nvPicPr>
          <p:cNvPr id="1173" name="Google Shape;1173;p28"/>
          <p:cNvPicPr preferRelativeResize="0"/>
          <p:nvPr/>
        </p:nvPicPr>
        <p:blipFill rotWithShape="1">
          <a:blip r:embed="rId22">
            <a:alphaModFix/>
          </a:blip>
          <a:srcRect b="0" l="0" r="0" t="0"/>
          <a:stretch/>
        </p:blipFill>
        <p:spPr>
          <a:xfrm>
            <a:off x="6115035" y="3753927"/>
            <a:ext cx="6709475" cy="1605369"/>
          </a:xfrm>
          <a:prstGeom prst="rect">
            <a:avLst/>
          </a:prstGeom>
          <a:noFill/>
          <a:ln>
            <a:noFill/>
          </a:ln>
        </p:spPr>
      </p:pic>
      <p:sp>
        <p:nvSpPr>
          <p:cNvPr id="1174" name="Google Shape;1174;p28"/>
          <p:cNvSpPr txBox="1"/>
          <p:nvPr/>
        </p:nvSpPr>
        <p:spPr>
          <a:xfrm>
            <a:off x="17326263" y="5257751"/>
            <a:ext cx="3321702" cy="75469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3200">
                <a:solidFill>
                  <a:schemeClr val="dk2"/>
                </a:solidFill>
                <a:latin typeface="Montserrat"/>
                <a:ea typeface="Montserrat"/>
                <a:cs typeface="Montserrat"/>
                <a:sym typeface="Montserrat"/>
              </a:rPr>
              <a:t>Parameters</a:t>
            </a:r>
            <a:endParaRPr sz="3200">
              <a:solidFill>
                <a:schemeClr val="dk2"/>
              </a:solidFill>
              <a:latin typeface="Montserrat"/>
              <a:ea typeface="Montserrat"/>
              <a:cs typeface="Montserrat"/>
              <a:sym typeface="Montserrat"/>
            </a:endParaRPr>
          </a:p>
        </p:txBody>
      </p:sp>
      <p:sp>
        <p:nvSpPr>
          <p:cNvPr id="1175" name="Google Shape;1175;p28"/>
          <p:cNvSpPr/>
          <p:nvPr/>
        </p:nvSpPr>
        <p:spPr>
          <a:xfrm>
            <a:off x="15847393" y="4696852"/>
            <a:ext cx="6536357" cy="7704698"/>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29"/>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Simulation (PBS, TE mode, Sd = 8 μm)</a:t>
            </a:r>
            <a:endParaRPr/>
          </a:p>
        </p:txBody>
      </p:sp>
      <p:sp>
        <p:nvSpPr>
          <p:cNvPr id="1181" name="Google Shape;1181;p29"/>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182" name="Google Shape;1182;p29"/>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83" name="Google Shape;1183;p29"/>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184" name="Google Shape;1184;p29"/>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185" name="Google Shape;1185;p29"/>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186" name="Google Shape;1186;p29"/>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187" name="Google Shape;1187;p29"/>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188" name="Google Shape;1188;p29"/>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189" name="Google Shape;1189;p29"/>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1190" name="Google Shape;1190;p29"/>
          <p:cNvSpPr txBox="1"/>
          <p:nvPr/>
        </p:nvSpPr>
        <p:spPr>
          <a:xfrm>
            <a:off x="6738664" y="3993230"/>
            <a:ext cx="10900320"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Since each coupling section is reduced to half, the transmission spectrum  becomes DC-like, however, the broad operation of high PER is still preserved</a:t>
            </a:r>
            <a:endParaRPr sz="2600">
              <a:solidFill>
                <a:srgbClr val="000000"/>
              </a:solidFill>
              <a:latin typeface="Calibri"/>
              <a:ea typeface="Calibri"/>
              <a:cs typeface="Calibri"/>
              <a:sym typeface="Calibri"/>
            </a:endParaRPr>
          </a:p>
        </p:txBody>
      </p:sp>
      <p:pic>
        <p:nvPicPr>
          <p:cNvPr id="1191" name="Google Shape;1191;p29"/>
          <p:cNvPicPr preferRelativeResize="0"/>
          <p:nvPr/>
        </p:nvPicPr>
        <p:blipFill rotWithShape="1">
          <a:blip r:embed="rId3">
            <a:alphaModFix/>
          </a:blip>
          <a:srcRect b="0" l="0" r="0" t="0"/>
          <a:stretch/>
        </p:blipFill>
        <p:spPr>
          <a:xfrm>
            <a:off x="12253969" y="5399137"/>
            <a:ext cx="8613618" cy="6457752"/>
          </a:xfrm>
          <a:prstGeom prst="rect">
            <a:avLst/>
          </a:prstGeom>
          <a:noFill/>
          <a:ln>
            <a:noFill/>
          </a:ln>
        </p:spPr>
      </p:pic>
      <p:pic>
        <p:nvPicPr>
          <p:cNvPr id="1192" name="Google Shape;1192;p29"/>
          <p:cNvPicPr preferRelativeResize="0"/>
          <p:nvPr/>
        </p:nvPicPr>
        <p:blipFill rotWithShape="1">
          <a:blip r:embed="rId4">
            <a:alphaModFix/>
          </a:blip>
          <a:srcRect b="0" l="0" r="0" t="0"/>
          <a:stretch/>
        </p:blipFill>
        <p:spPr>
          <a:xfrm>
            <a:off x="3510061" y="5399137"/>
            <a:ext cx="8613618" cy="6457752"/>
          </a:xfrm>
          <a:prstGeom prst="rect">
            <a:avLst/>
          </a:prstGeom>
          <a:noFill/>
          <a:ln>
            <a:noFill/>
          </a:ln>
        </p:spPr>
      </p:pic>
      <p:cxnSp>
        <p:nvCxnSpPr>
          <p:cNvPr id="1193" name="Google Shape;1193;p29"/>
          <p:cNvCxnSpPr/>
          <p:nvPr/>
        </p:nvCxnSpPr>
        <p:spPr>
          <a:xfrm rot="10800000">
            <a:off x="13403960" y="7644260"/>
            <a:ext cx="4466875" cy="0"/>
          </a:xfrm>
          <a:prstGeom prst="straightConnector1">
            <a:avLst/>
          </a:prstGeom>
          <a:noFill/>
          <a:ln cap="flat" cmpd="sng" w="57150">
            <a:solidFill>
              <a:srgbClr val="000000"/>
            </a:solidFill>
            <a:prstDash val="solid"/>
            <a:miter lim="800000"/>
            <a:headEnd len="med" w="med" type="triangle"/>
            <a:tailEnd len="med" w="med" type="triangle"/>
          </a:ln>
        </p:spPr>
      </p:cxnSp>
      <p:sp>
        <p:nvSpPr>
          <p:cNvPr id="1194" name="Google Shape;1194;p29"/>
          <p:cNvSpPr/>
          <p:nvPr/>
        </p:nvSpPr>
        <p:spPr>
          <a:xfrm>
            <a:off x="7705090" y="6076368"/>
            <a:ext cx="245980" cy="280966"/>
          </a:xfrm>
          <a:prstGeom prst="ellipse">
            <a:avLst/>
          </a:prstGeom>
          <a:noFill/>
          <a:ln cap="flat" cmpd="sng" w="571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1195" name="Google Shape;1195;p29"/>
          <p:cNvCxnSpPr/>
          <p:nvPr/>
        </p:nvCxnSpPr>
        <p:spPr>
          <a:xfrm>
            <a:off x="7852946" y="6357336"/>
            <a:ext cx="98122" cy="566002"/>
          </a:xfrm>
          <a:prstGeom prst="straightConnector1">
            <a:avLst/>
          </a:prstGeom>
          <a:noFill/>
          <a:ln cap="flat" cmpd="sng" w="57150">
            <a:solidFill>
              <a:srgbClr val="000000"/>
            </a:solidFill>
            <a:prstDash val="solid"/>
            <a:miter lim="800000"/>
            <a:headEnd len="sm" w="sm" type="none"/>
            <a:tailEnd len="med" w="med" type="triangle"/>
          </a:ln>
        </p:spPr>
      </p:cxnSp>
      <p:pic>
        <p:nvPicPr>
          <p:cNvPr id="1196" name="Google Shape;1196;p29"/>
          <p:cNvPicPr preferRelativeResize="0"/>
          <p:nvPr/>
        </p:nvPicPr>
        <p:blipFill rotWithShape="1">
          <a:blip r:embed="rId5">
            <a:alphaModFix/>
          </a:blip>
          <a:srcRect b="0" l="0" r="0" t="0"/>
          <a:stretch/>
        </p:blipFill>
        <p:spPr>
          <a:xfrm>
            <a:off x="7139700" y="6969785"/>
            <a:ext cx="5123249" cy="192265"/>
          </a:xfrm>
          <a:prstGeom prst="rect">
            <a:avLst/>
          </a:prstGeom>
          <a:noFill/>
          <a:ln>
            <a:noFill/>
          </a:ln>
        </p:spPr>
      </p:pic>
      <p:cxnSp>
        <p:nvCxnSpPr>
          <p:cNvPr id="1197" name="Google Shape;1197;p29"/>
          <p:cNvCxnSpPr/>
          <p:nvPr/>
        </p:nvCxnSpPr>
        <p:spPr>
          <a:xfrm>
            <a:off x="17865333" y="7327689"/>
            <a:ext cx="0" cy="594148"/>
          </a:xfrm>
          <a:prstGeom prst="straightConnector1">
            <a:avLst/>
          </a:prstGeom>
          <a:noFill/>
          <a:ln cap="flat" cmpd="sng" w="57150">
            <a:solidFill>
              <a:srgbClr val="000000"/>
            </a:solidFill>
            <a:prstDash val="dash"/>
            <a:miter lim="800000"/>
            <a:headEnd len="sm" w="sm" type="none"/>
            <a:tailEnd len="sm" w="sm" type="none"/>
          </a:ln>
        </p:spPr>
      </p:cxnSp>
      <p:pic>
        <p:nvPicPr>
          <p:cNvPr id="1198" name="Google Shape;1198;p29"/>
          <p:cNvPicPr preferRelativeResize="0"/>
          <p:nvPr/>
        </p:nvPicPr>
        <p:blipFill rotWithShape="1">
          <a:blip r:embed="rId6">
            <a:alphaModFix/>
          </a:blip>
          <a:srcRect b="0" l="0" r="0" t="0"/>
          <a:stretch/>
        </p:blipFill>
        <p:spPr>
          <a:xfrm>
            <a:off x="14052472" y="6177095"/>
            <a:ext cx="3812861" cy="167254"/>
          </a:xfrm>
          <a:prstGeom prst="rect">
            <a:avLst/>
          </a:prstGeom>
          <a:noFill/>
          <a:ln>
            <a:noFill/>
          </a:ln>
        </p:spPr>
      </p:pic>
      <p:pic>
        <p:nvPicPr>
          <p:cNvPr id="1199" name="Google Shape;1199;p29"/>
          <p:cNvPicPr preferRelativeResize="0"/>
          <p:nvPr/>
        </p:nvPicPr>
        <p:blipFill rotWithShape="1">
          <a:blip r:embed="rId7">
            <a:alphaModFix/>
          </a:blip>
          <a:srcRect b="0" l="0" r="0" t="0"/>
          <a:stretch/>
        </p:blipFill>
        <p:spPr>
          <a:xfrm>
            <a:off x="5206146" y="9332539"/>
            <a:ext cx="1804618" cy="1684308"/>
          </a:xfrm>
          <a:prstGeom prst="rect">
            <a:avLst/>
          </a:prstGeom>
          <a:noFill/>
          <a:ln>
            <a:noFill/>
          </a:ln>
        </p:spPr>
      </p:pic>
      <p:pic>
        <p:nvPicPr>
          <p:cNvPr id="1200" name="Google Shape;1200;p29"/>
          <p:cNvPicPr preferRelativeResize="0"/>
          <p:nvPr/>
        </p:nvPicPr>
        <p:blipFill rotWithShape="1">
          <a:blip r:embed="rId8">
            <a:alphaModFix/>
          </a:blip>
          <a:srcRect b="0" l="0" r="0" t="0"/>
          <a:stretch/>
        </p:blipFill>
        <p:spPr>
          <a:xfrm>
            <a:off x="13516622" y="9332539"/>
            <a:ext cx="1804618" cy="1684308"/>
          </a:xfrm>
          <a:prstGeom prst="rect">
            <a:avLst/>
          </a:prstGeom>
          <a:noFill/>
          <a:ln>
            <a:noFill/>
          </a:ln>
        </p:spPr>
      </p:pic>
      <p:sp>
        <p:nvSpPr>
          <p:cNvPr id="1201" name="Google Shape;1201;p29"/>
          <p:cNvSpPr/>
          <p:nvPr/>
        </p:nvSpPr>
        <p:spPr>
          <a:xfrm>
            <a:off x="5200404" y="10490198"/>
            <a:ext cx="1804618" cy="275167"/>
          </a:xfrm>
          <a:prstGeom prst="rect">
            <a:avLst/>
          </a:prstGeom>
          <a:noFill/>
          <a:ln cap="flat" cmpd="sng" w="381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1202" name="Google Shape;1202;p29"/>
          <p:cNvSpPr/>
          <p:nvPr/>
        </p:nvSpPr>
        <p:spPr>
          <a:xfrm>
            <a:off x="13489267" y="10501347"/>
            <a:ext cx="1804618" cy="275167"/>
          </a:xfrm>
          <a:prstGeom prst="rect">
            <a:avLst/>
          </a:prstGeom>
          <a:noFill/>
          <a:ln cap="flat" cmpd="sng" w="381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pic>
        <p:nvPicPr>
          <p:cNvPr id="1207" name="Google Shape;1207;p30"/>
          <p:cNvPicPr preferRelativeResize="0"/>
          <p:nvPr/>
        </p:nvPicPr>
        <p:blipFill rotWithShape="1">
          <a:blip r:embed="rId3">
            <a:alphaModFix/>
          </a:blip>
          <a:srcRect b="0" l="0" r="0" t="0"/>
          <a:stretch/>
        </p:blipFill>
        <p:spPr>
          <a:xfrm>
            <a:off x="12248683" y="5403675"/>
            <a:ext cx="8607564" cy="6453214"/>
          </a:xfrm>
          <a:prstGeom prst="rect">
            <a:avLst/>
          </a:prstGeom>
          <a:noFill/>
          <a:ln>
            <a:noFill/>
          </a:ln>
        </p:spPr>
      </p:pic>
      <p:pic>
        <p:nvPicPr>
          <p:cNvPr id="1208" name="Google Shape;1208;p30"/>
          <p:cNvPicPr preferRelativeResize="0"/>
          <p:nvPr/>
        </p:nvPicPr>
        <p:blipFill rotWithShape="1">
          <a:blip r:embed="rId4">
            <a:alphaModFix/>
          </a:blip>
          <a:srcRect b="0" l="0" r="0" t="0"/>
          <a:stretch/>
        </p:blipFill>
        <p:spPr>
          <a:xfrm>
            <a:off x="3521401" y="5398615"/>
            <a:ext cx="8607564" cy="6453214"/>
          </a:xfrm>
          <a:prstGeom prst="rect">
            <a:avLst/>
          </a:prstGeom>
          <a:noFill/>
          <a:ln>
            <a:noFill/>
          </a:ln>
        </p:spPr>
      </p:pic>
      <p:cxnSp>
        <p:nvCxnSpPr>
          <p:cNvPr id="1209" name="Google Shape;1209;p30"/>
          <p:cNvCxnSpPr/>
          <p:nvPr/>
        </p:nvCxnSpPr>
        <p:spPr>
          <a:xfrm rot="10800000">
            <a:off x="13398711" y="8877738"/>
            <a:ext cx="4436546" cy="0"/>
          </a:xfrm>
          <a:prstGeom prst="straightConnector1">
            <a:avLst/>
          </a:prstGeom>
          <a:noFill/>
          <a:ln cap="flat" cmpd="sng" w="57150">
            <a:solidFill>
              <a:srgbClr val="000000"/>
            </a:solidFill>
            <a:prstDash val="solid"/>
            <a:miter lim="800000"/>
            <a:headEnd len="med" w="med" type="triangle"/>
            <a:tailEnd len="med" w="med" type="triangle"/>
          </a:ln>
        </p:spPr>
      </p:cxnSp>
      <p:sp>
        <p:nvSpPr>
          <p:cNvPr id="1210" name="Google Shape;1210;p30"/>
          <p:cNvSpPr/>
          <p:nvPr/>
        </p:nvSpPr>
        <p:spPr>
          <a:xfrm>
            <a:off x="7703000" y="8407937"/>
            <a:ext cx="245807" cy="280769"/>
          </a:xfrm>
          <a:prstGeom prst="ellipse">
            <a:avLst/>
          </a:prstGeom>
          <a:noFill/>
          <a:ln cap="flat" cmpd="sng" w="571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1211" name="Google Shape;1211;p30"/>
          <p:cNvCxnSpPr/>
          <p:nvPr/>
        </p:nvCxnSpPr>
        <p:spPr>
          <a:xfrm rot="10800000">
            <a:off x="7627589" y="6826180"/>
            <a:ext cx="154893" cy="1581757"/>
          </a:xfrm>
          <a:prstGeom prst="straightConnector1">
            <a:avLst/>
          </a:prstGeom>
          <a:noFill/>
          <a:ln cap="flat" cmpd="sng" w="57150">
            <a:solidFill>
              <a:srgbClr val="000000"/>
            </a:solidFill>
            <a:prstDash val="solid"/>
            <a:miter lim="800000"/>
            <a:headEnd len="sm" w="sm" type="none"/>
            <a:tailEnd len="med" w="med" type="triangle"/>
          </a:ln>
        </p:spPr>
      </p:cxnSp>
      <p:pic>
        <p:nvPicPr>
          <p:cNvPr id="1212" name="Google Shape;1212;p30"/>
          <p:cNvPicPr preferRelativeResize="0"/>
          <p:nvPr/>
        </p:nvPicPr>
        <p:blipFill rotWithShape="1">
          <a:blip r:embed="rId5">
            <a:alphaModFix/>
          </a:blip>
          <a:srcRect b="0" l="0" r="0" t="0"/>
          <a:stretch/>
        </p:blipFill>
        <p:spPr>
          <a:xfrm>
            <a:off x="5185854" y="6449346"/>
            <a:ext cx="5193256" cy="192130"/>
          </a:xfrm>
          <a:prstGeom prst="rect">
            <a:avLst/>
          </a:prstGeom>
          <a:noFill/>
          <a:ln>
            <a:noFill/>
          </a:ln>
        </p:spPr>
      </p:pic>
      <p:cxnSp>
        <p:nvCxnSpPr>
          <p:cNvPr id="1213" name="Google Shape;1213;p30"/>
          <p:cNvCxnSpPr/>
          <p:nvPr/>
        </p:nvCxnSpPr>
        <p:spPr>
          <a:xfrm>
            <a:off x="17870928" y="8566716"/>
            <a:ext cx="0" cy="593731"/>
          </a:xfrm>
          <a:prstGeom prst="straightConnector1">
            <a:avLst/>
          </a:prstGeom>
          <a:noFill/>
          <a:ln cap="flat" cmpd="sng" w="57150">
            <a:solidFill>
              <a:srgbClr val="000000"/>
            </a:solidFill>
            <a:prstDash val="dash"/>
            <a:miter lim="800000"/>
            <a:headEnd len="sm" w="sm" type="none"/>
            <a:tailEnd len="sm" w="sm" type="none"/>
          </a:ln>
        </p:spPr>
      </p:cxnSp>
      <p:pic>
        <p:nvPicPr>
          <p:cNvPr id="1214" name="Google Shape;1214;p30"/>
          <p:cNvPicPr preferRelativeResize="0"/>
          <p:nvPr/>
        </p:nvPicPr>
        <p:blipFill rotWithShape="1">
          <a:blip r:embed="rId6">
            <a:alphaModFix/>
          </a:blip>
          <a:srcRect b="0" l="0" r="0" t="0"/>
          <a:stretch/>
        </p:blipFill>
        <p:spPr>
          <a:xfrm>
            <a:off x="15616983" y="7797293"/>
            <a:ext cx="3856490" cy="167136"/>
          </a:xfrm>
          <a:prstGeom prst="rect">
            <a:avLst/>
          </a:prstGeom>
          <a:noFill/>
          <a:ln>
            <a:noFill/>
          </a:ln>
        </p:spPr>
      </p:pic>
      <p:pic>
        <p:nvPicPr>
          <p:cNvPr id="1215" name="Google Shape;1215;p30"/>
          <p:cNvPicPr preferRelativeResize="0"/>
          <p:nvPr/>
        </p:nvPicPr>
        <p:blipFill rotWithShape="1">
          <a:blip r:embed="rId7">
            <a:alphaModFix/>
          </a:blip>
          <a:srcRect b="0" l="0" r="0" t="0"/>
          <a:stretch/>
        </p:blipFill>
        <p:spPr>
          <a:xfrm>
            <a:off x="9414977" y="7117458"/>
            <a:ext cx="1803349" cy="1683124"/>
          </a:xfrm>
          <a:prstGeom prst="rect">
            <a:avLst/>
          </a:prstGeom>
          <a:noFill/>
          <a:ln>
            <a:noFill/>
          </a:ln>
        </p:spPr>
      </p:pic>
      <p:pic>
        <p:nvPicPr>
          <p:cNvPr id="1216" name="Google Shape;1216;p30"/>
          <p:cNvPicPr preferRelativeResize="0"/>
          <p:nvPr/>
        </p:nvPicPr>
        <p:blipFill rotWithShape="1">
          <a:blip r:embed="rId8">
            <a:alphaModFix/>
          </a:blip>
          <a:srcRect b="0" l="1553" r="2758" t="2174"/>
          <a:stretch/>
        </p:blipFill>
        <p:spPr>
          <a:xfrm>
            <a:off x="13479217" y="9447851"/>
            <a:ext cx="1725615" cy="1646539"/>
          </a:xfrm>
          <a:prstGeom prst="rect">
            <a:avLst/>
          </a:prstGeom>
          <a:noFill/>
          <a:ln>
            <a:noFill/>
          </a:ln>
        </p:spPr>
      </p:pic>
      <p:sp>
        <p:nvSpPr>
          <p:cNvPr id="1217" name="Google Shape;1217;p30"/>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Simulation (PBS, TM mode, Sd = 8 μm)</a:t>
            </a:r>
            <a:endParaRPr/>
          </a:p>
        </p:txBody>
      </p:sp>
      <p:sp>
        <p:nvSpPr>
          <p:cNvPr id="1218" name="Google Shape;1218;p30"/>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219" name="Google Shape;1219;p30"/>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20" name="Google Shape;1220;p30"/>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221" name="Google Shape;1221;p30"/>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222" name="Google Shape;1222;p30"/>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223" name="Google Shape;1223;p30"/>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224" name="Google Shape;1224;p30"/>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225" name="Google Shape;1225;p30"/>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226" name="Google Shape;1226;p30"/>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1227" name="Google Shape;1227;p30"/>
          <p:cNvSpPr/>
          <p:nvPr/>
        </p:nvSpPr>
        <p:spPr>
          <a:xfrm>
            <a:off x="9404104" y="8286748"/>
            <a:ext cx="1804618" cy="275167"/>
          </a:xfrm>
          <a:prstGeom prst="rect">
            <a:avLst/>
          </a:prstGeom>
          <a:noFill/>
          <a:ln cap="flat" cmpd="sng" w="381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1228" name="Google Shape;1228;p30"/>
          <p:cNvSpPr/>
          <p:nvPr/>
        </p:nvSpPr>
        <p:spPr>
          <a:xfrm>
            <a:off x="13435699" y="10566966"/>
            <a:ext cx="1804618" cy="275167"/>
          </a:xfrm>
          <a:prstGeom prst="rect">
            <a:avLst/>
          </a:prstGeom>
          <a:noFill/>
          <a:ln cap="flat" cmpd="sng" w="381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1229" name="Google Shape;1229;p30"/>
          <p:cNvSpPr txBox="1"/>
          <p:nvPr/>
        </p:nvSpPr>
        <p:spPr>
          <a:xfrm>
            <a:off x="5642831" y="3687717"/>
            <a:ext cx="13225736"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Due to the smaller birefringence provided by Ti-diffused waveguides, a half of the TM energy is still cross-coupled to the intermediate waveguides. However, the broad operation of high PER is still guaranteed by the large separation between TE and TM port</a:t>
            </a:r>
            <a:endParaRPr sz="2600">
              <a:solidFill>
                <a:srgbClr val="00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31"/>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Simulation (PBS, BPM, TE input)</a:t>
            </a:r>
            <a:endParaRPr/>
          </a:p>
        </p:txBody>
      </p:sp>
      <p:sp>
        <p:nvSpPr>
          <p:cNvPr id="1235" name="Google Shape;1235;p31"/>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236" name="Google Shape;1236;p31"/>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37" name="Google Shape;1237;p31"/>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238" name="Google Shape;1238;p31"/>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239" name="Google Shape;1239;p31"/>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240" name="Google Shape;1240;p31"/>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241" name="Google Shape;1241;p31"/>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242" name="Google Shape;1242;p31"/>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243" name="Google Shape;1243;p31"/>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pic>
        <p:nvPicPr>
          <p:cNvPr id="1244" name="Google Shape;1244;p31"/>
          <p:cNvPicPr preferRelativeResize="0"/>
          <p:nvPr/>
        </p:nvPicPr>
        <p:blipFill rotWithShape="1">
          <a:blip r:embed="rId3">
            <a:alphaModFix/>
          </a:blip>
          <a:srcRect b="0" l="0" r="0" t="0"/>
          <a:stretch/>
        </p:blipFill>
        <p:spPr>
          <a:xfrm>
            <a:off x="3475674" y="3900610"/>
            <a:ext cx="5811224" cy="4052681"/>
          </a:xfrm>
          <a:prstGeom prst="rect">
            <a:avLst/>
          </a:prstGeom>
          <a:noFill/>
          <a:ln>
            <a:noFill/>
          </a:ln>
        </p:spPr>
      </p:pic>
      <p:pic>
        <p:nvPicPr>
          <p:cNvPr id="1245" name="Google Shape;1245;p31"/>
          <p:cNvPicPr preferRelativeResize="0"/>
          <p:nvPr/>
        </p:nvPicPr>
        <p:blipFill rotWithShape="1">
          <a:blip r:embed="rId4">
            <a:alphaModFix/>
          </a:blip>
          <a:srcRect b="0" l="0" r="0" t="0"/>
          <a:stretch/>
        </p:blipFill>
        <p:spPr>
          <a:xfrm>
            <a:off x="9284442" y="3900610"/>
            <a:ext cx="5811222" cy="4052681"/>
          </a:xfrm>
          <a:prstGeom prst="rect">
            <a:avLst/>
          </a:prstGeom>
          <a:noFill/>
          <a:ln>
            <a:noFill/>
          </a:ln>
        </p:spPr>
      </p:pic>
      <p:pic>
        <p:nvPicPr>
          <p:cNvPr id="1246" name="Google Shape;1246;p31"/>
          <p:cNvPicPr preferRelativeResize="0"/>
          <p:nvPr/>
        </p:nvPicPr>
        <p:blipFill rotWithShape="1">
          <a:blip r:embed="rId5">
            <a:alphaModFix/>
          </a:blip>
          <a:srcRect b="0" l="0" r="0" t="0"/>
          <a:stretch/>
        </p:blipFill>
        <p:spPr>
          <a:xfrm>
            <a:off x="15093207" y="3900610"/>
            <a:ext cx="5811222" cy="4052681"/>
          </a:xfrm>
          <a:prstGeom prst="rect">
            <a:avLst/>
          </a:prstGeom>
          <a:noFill/>
          <a:ln>
            <a:noFill/>
          </a:ln>
        </p:spPr>
      </p:pic>
      <p:pic>
        <p:nvPicPr>
          <p:cNvPr id="1247" name="Google Shape;1247;p31"/>
          <p:cNvPicPr preferRelativeResize="0"/>
          <p:nvPr/>
        </p:nvPicPr>
        <p:blipFill rotWithShape="1">
          <a:blip r:embed="rId6">
            <a:alphaModFix/>
          </a:blip>
          <a:srcRect b="0" l="0" r="0" t="0"/>
          <a:stretch/>
        </p:blipFill>
        <p:spPr>
          <a:xfrm>
            <a:off x="3473218" y="8677588"/>
            <a:ext cx="5811222" cy="4052681"/>
          </a:xfrm>
          <a:prstGeom prst="rect">
            <a:avLst/>
          </a:prstGeom>
          <a:noFill/>
          <a:ln>
            <a:noFill/>
          </a:ln>
        </p:spPr>
      </p:pic>
      <p:pic>
        <p:nvPicPr>
          <p:cNvPr id="1248" name="Google Shape;1248;p31"/>
          <p:cNvPicPr preferRelativeResize="0"/>
          <p:nvPr/>
        </p:nvPicPr>
        <p:blipFill rotWithShape="1">
          <a:blip r:embed="rId7">
            <a:alphaModFix/>
          </a:blip>
          <a:srcRect b="0" l="0" r="0" t="0"/>
          <a:stretch/>
        </p:blipFill>
        <p:spPr>
          <a:xfrm>
            <a:off x="9281985" y="8677588"/>
            <a:ext cx="5811222" cy="4052681"/>
          </a:xfrm>
          <a:prstGeom prst="rect">
            <a:avLst/>
          </a:prstGeom>
          <a:noFill/>
          <a:ln>
            <a:noFill/>
          </a:ln>
        </p:spPr>
      </p:pic>
      <p:pic>
        <p:nvPicPr>
          <p:cNvPr id="1249" name="Google Shape;1249;p31"/>
          <p:cNvPicPr preferRelativeResize="0"/>
          <p:nvPr/>
        </p:nvPicPr>
        <p:blipFill rotWithShape="1">
          <a:blip r:embed="rId8">
            <a:alphaModFix/>
          </a:blip>
          <a:srcRect b="0" l="0" r="0" t="0"/>
          <a:stretch/>
        </p:blipFill>
        <p:spPr>
          <a:xfrm>
            <a:off x="15090751" y="8677588"/>
            <a:ext cx="5811222" cy="4052681"/>
          </a:xfrm>
          <a:prstGeom prst="rect">
            <a:avLst/>
          </a:prstGeom>
          <a:noFill/>
          <a:ln>
            <a:noFill/>
          </a:ln>
        </p:spPr>
      </p:pic>
      <p:pic>
        <p:nvPicPr>
          <p:cNvPr id="1250" name="Google Shape;1250;p31"/>
          <p:cNvPicPr preferRelativeResize="0"/>
          <p:nvPr/>
        </p:nvPicPr>
        <p:blipFill rotWithShape="1">
          <a:blip r:embed="rId9">
            <a:alphaModFix/>
          </a:blip>
          <a:srcRect b="0" l="0" r="0" t="0"/>
          <a:stretch/>
        </p:blipFill>
        <p:spPr>
          <a:xfrm>
            <a:off x="5495293" y="3730269"/>
            <a:ext cx="1767072" cy="218317"/>
          </a:xfrm>
          <a:prstGeom prst="rect">
            <a:avLst/>
          </a:prstGeom>
          <a:noFill/>
          <a:ln>
            <a:noFill/>
          </a:ln>
        </p:spPr>
      </p:pic>
      <p:pic>
        <p:nvPicPr>
          <p:cNvPr id="1251" name="Google Shape;1251;p31"/>
          <p:cNvPicPr preferRelativeResize="0"/>
          <p:nvPr/>
        </p:nvPicPr>
        <p:blipFill rotWithShape="1">
          <a:blip r:embed="rId10">
            <a:alphaModFix/>
          </a:blip>
          <a:srcRect b="0" l="0" r="0" t="0"/>
          <a:stretch/>
        </p:blipFill>
        <p:spPr>
          <a:xfrm>
            <a:off x="11301602" y="3730269"/>
            <a:ext cx="1767072" cy="218317"/>
          </a:xfrm>
          <a:prstGeom prst="rect">
            <a:avLst/>
          </a:prstGeom>
          <a:noFill/>
          <a:ln>
            <a:noFill/>
          </a:ln>
        </p:spPr>
      </p:pic>
      <p:pic>
        <p:nvPicPr>
          <p:cNvPr id="1252" name="Google Shape;1252;p31"/>
          <p:cNvPicPr preferRelativeResize="0"/>
          <p:nvPr/>
        </p:nvPicPr>
        <p:blipFill rotWithShape="1">
          <a:blip r:embed="rId11">
            <a:alphaModFix/>
          </a:blip>
          <a:srcRect b="0" l="0" r="0" t="0"/>
          <a:stretch/>
        </p:blipFill>
        <p:spPr>
          <a:xfrm>
            <a:off x="17120197" y="3730269"/>
            <a:ext cx="1767072" cy="218317"/>
          </a:xfrm>
          <a:prstGeom prst="rect">
            <a:avLst/>
          </a:prstGeom>
          <a:noFill/>
          <a:ln>
            <a:noFill/>
          </a:ln>
        </p:spPr>
      </p:pic>
      <p:pic>
        <p:nvPicPr>
          <p:cNvPr id="1253" name="Google Shape;1253;p31"/>
          <p:cNvPicPr preferRelativeResize="0"/>
          <p:nvPr/>
        </p:nvPicPr>
        <p:blipFill rotWithShape="1">
          <a:blip r:embed="rId12">
            <a:alphaModFix/>
          </a:blip>
          <a:srcRect b="0" l="0" r="0" t="0"/>
          <a:stretch/>
        </p:blipFill>
        <p:spPr>
          <a:xfrm>
            <a:off x="5495293" y="8459271"/>
            <a:ext cx="1767072" cy="218317"/>
          </a:xfrm>
          <a:prstGeom prst="rect">
            <a:avLst/>
          </a:prstGeom>
          <a:noFill/>
          <a:ln>
            <a:noFill/>
          </a:ln>
        </p:spPr>
      </p:pic>
      <p:pic>
        <p:nvPicPr>
          <p:cNvPr id="1254" name="Google Shape;1254;p31"/>
          <p:cNvPicPr preferRelativeResize="0"/>
          <p:nvPr/>
        </p:nvPicPr>
        <p:blipFill rotWithShape="1">
          <a:blip r:embed="rId13">
            <a:alphaModFix/>
          </a:blip>
          <a:srcRect b="0" l="0" r="0" t="0"/>
          <a:stretch/>
        </p:blipFill>
        <p:spPr>
          <a:xfrm>
            <a:off x="11301602" y="8459271"/>
            <a:ext cx="1767072" cy="218317"/>
          </a:xfrm>
          <a:prstGeom prst="rect">
            <a:avLst/>
          </a:prstGeom>
          <a:noFill/>
          <a:ln>
            <a:noFill/>
          </a:ln>
        </p:spPr>
      </p:pic>
      <p:pic>
        <p:nvPicPr>
          <p:cNvPr id="1255" name="Google Shape;1255;p31"/>
          <p:cNvPicPr preferRelativeResize="0"/>
          <p:nvPr/>
        </p:nvPicPr>
        <p:blipFill rotWithShape="1">
          <a:blip r:embed="rId14">
            <a:alphaModFix/>
          </a:blip>
          <a:srcRect b="0" l="0" r="0" t="0"/>
          <a:stretch/>
        </p:blipFill>
        <p:spPr>
          <a:xfrm>
            <a:off x="17120197" y="8459271"/>
            <a:ext cx="1767072" cy="21831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32"/>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Simulation (PBS, BPM, TE input)</a:t>
            </a:r>
            <a:endParaRPr/>
          </a:p>
        </p:txBody>
      </p:sp>
      <p:sp>
        <p:nvSpPr>
          <p:cNvPr id="1261" name="Google Shape;1261;p32"/>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262" name="Google Shape;1262;p32"/>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63" name="Google Shape;1263;p32"/>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264" name="Google Shape;1264;p32"/>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265" name="Google Shape;1265;p32"/>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266" name="Google Shape;1266;p32"/>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267" name="Google Shape;1267;p32"/>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268" name="Google Shape;1268;p32"/>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269" name="Google Shape;1269;p32"/>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grpSp>
        <p:nvGrpSpPr>
          <p:cNvPr id="1270" name="Google Shape;1270;p32"/>
          <p:cNvGrpSpPr/>
          <p:nvPr/>
        </p:nvGrpSpPr>
        <p:grpSpPr>
          <a:xfrm>
            <a:off x="6387842" y="3730269"/>
            <a:ext cx="11735713" cy="9000000"/>
            <a:chOff x="2414322" y="803080"/>
            <a:chExt cx="7300320" cy="5598542"/>
          </a:xfrm>
        </p:grpSpPr>
        <p:pic>
          <p:nvPicPr>
            <p:cNvPr id="1271" name="Google Shape;1271;p32"/>
            <p:cNvPicPr preferRelativeResize="0"/>
            <p:nvPr/>
          </p:nvPicPr>
          <p:blipFill rotWithShape="1">
            <a:blip r:embed="rId3">
              <a:alphaModFix/>
            </a:blip>
            <a:srcRect b="0" l="0" r="0" t="0"/>
            <a:stretch/>
          </p:blipFill>
          <p:spPr>
            <a:xfrm>
              <a:off x="6096000" y="3878022"/>
              <a:ext cx="3618642" cy="2523600"/>
            </a:xfrm>
            <a:prstGeom prst="rect">
              <a:avLst/>
            </a:prstGeom>
            <a:noFill/>
            <a:ln>
              <a:noFill/>
            </a:ln>
          </p:spPr>
        </p:pic>
        <p:pic>
          <p:nvPicPr>
            <p:cNvPr id="1272" name="Google Shape;1272;p32"/>
            <p:cNvPicPr preferRelativeResize="0"/>
            <p:nvPr/>
          </p:nvPicPr>
          <p:blipFill rotWithShape="1">
            <a:blip r:embed="rId4">
              <a:alphaModFix/>
            </a:blip>
            <a:srcRect b="0" l="0" r="0" t="0"/>
            <a:stretch/>
          </p:blipFill>
          <p:spPr>
            <a:xfrm>
              <a:off x="2414322" y="3878022"/>
              <a:ext cx="3618642" cy="2523600"/>
            </a:xfrm>
            <a:prstGeom prst="rect">
              <a:avLst/>
            </a:prstGeom>
            <a:noFill/>
            <a:ln>
              <a:noFill/>
            </a:ln>
          </p:spPr>
        </p:pic>
        <p:pic>
          <p:nvPicPr>
            <p:cNvPr id="1273" name="Google Shape;1273;p32"/>
            <p:cNvPicPr preferRelativeResize="0"/>
            <p:nvPr/>
          </p:nvPicPr>
          <p:blipFill rotWithShape="1">
            <a:blip r:embed="rId5">
              <a:alphaModFix/>
            </a:blip>
            <a:srcRect b="0" l="0" r="0" t="0"/>
            <a:stretch/>
          </p:blipFill>
          <p:spPr>
            <a:xfrm>
              <a:off x="6096000" y="905400"/>
              <a:ext cx="3618642" cy="2523600"/>
            </a:xfrm>
            <a:prstGeom prst="rect">
              <a:avLst/>
            </a:prstGeom>
            <a:noFill/>
            <a:ln>
              <a:noFill/>
            </a:ln>
          </p:spPr>
        </p:pic>
        <p:pic>
          <p:nvPicPr>
            <p:cNvPr id="1274" name="Google Shape;1274;p32"/>
            <p:cNvPicPr preferRelativeResize="0"/>
            <p:nvPr/>
          </p:nvPicPr>
          <p:blipFill rotWithShape="1">
            <a:blip r:embed="rId6">
              <a:alphaModFix/>
            </a:blip>
            <a:srcRect b="0" l="0" r="0" t="0"/>
            <a:stretch/>
          </p:blipFill>
          <p:spPr>
            <a:xfrm>
              <a:off x="2414322" y="910181"/>
              <a:ext cx="3618642" cy="2523600"/>
            </a:xfrm>
            <a:prstGeom prst="rect">
              <a:avLst/>
            </a:prstGeom>
            <a:noFill/>
            <a:ln>
              <a:noFill/>
            </a:ln>
          </p:spPr>
        </p:pic>
        <p:pic>
          <p:nvPicPr>
            <p:cNvPr id="1275" name="Google Shape;1275;p32"/>
            <p:cNvPicPr preferRelativeResize="0"/>
            <p:nvPr/>
          </p:nvPicPr>
          <p:blipFill rotWithShape="1">
            <a:blip r:embed="rId7">
              <a:alphaModFix/>
            </a:blip>
            <a:srcRect b="0" l="0" r="0" t="0"/>
            <a:stretch/>
          </p:blipFill>
          <p:spPr>
            <a:xfrm>
              <a:off x="3657544" y="803080"/>
              <a:ext cx="996746" cy="135752"/>
            </a:xfrm>
            <a:prstGeom prst="rect">
              <a:avLst/>
            </a:prstGeom>
            <a:noFill/>
            <a:ln>
              <a:noFill/>
            </a:ln>
          </p:spPr>
        </p:pic>
        <p:pic>
          <p:nvPicPr>
            <p:cNvPr id="1276" name="Google Shape;1276;p32"/>
            <p:cNvPicPr preferRelativeResize="0"/>
            <p:nvPr/>
          </p:nvPicPr>
          <p:blipFill rotWithShape="1">
            <a:blip r:embed="rId8">
              <a:alphaModFix/>
            </a:blip>
            <a:srcRect b="0" l="0" r="0" t="0"/>
            <a:stretch/>
          </p:blipFill>
          <p:spPr>
            <a:xfrm>
              <a:off x="7267969" y="803080"/>
              <a:ext cx="996746" cy="135752"/>
            </a:xfrm>
            <a:prstGeom prst="rect">
              <a:avLst/>
            </a:prstGeom>
            <a:noFill/>
            <a:ln>
              <a:noFill/>
            </a:ln>
          </p:spPr>
        </p:pic>
        <p:pic>
          <p:nvPicPr>
            <p:cNvPr id="1277" name="Google Shape;1277;p32"/>
            <p:cNvPicPr preferRelativeResize="0"/>
            <p:nvPr/>
          </p:nvPicPr>
          <p:blipFill rotWithShape="1">
            <a:blip r:embed="rId9">
              <a:alphaModFix/>
            </a:blip>
            <a:srcRect b="0" l="0" r="0" t="0"/>
            <a:stretch/>
          </p:blipFill>
          <p:spPr>
            <a:xfrm>
              <a:off x="3657544" y="3743624"/>
              <a:ext cx="1098784" cy="135752"/>
            </a:xfrm>
            <a:prstGeom prst="rect">
              <a:avLst/>
            </a:prstGeom>
            <a:noFill/>
            <a:ln>
              <a:noFill/>
            </a:ln>
          </p:spPr>
        </p:pic>
        <p:pic>
          <p:nvPicPr>
            <p:cNvPr id="1278" name="Google Shape;1278;p32"/>
            <p:cNvPicPr preferRelativeResize="0"/>
            <p:nvPr/>
          </p:nvPicPr>
          <p:blipFill rotWithShape="1">
            <a:blip r:embed="rId10">
              <a:alphaModFix/>
            </a:blip>
            <a:srcRect b="0" l="0" r="0" t="0"/>
            <a:stretch/>
          </p:blipFill>
          <p:spPr>
            <a:xfrm>
              <a:off x="7267969" y="3743624"/>
              <a:ext cx="1098784" cy="135752"/>
            </a:xfrm>
            <a:prstGeom prst="rect">
              <a:avLst/>
            </a:prstGeom>
            <a:noFill/>
            <a:ln>
              <a:noFill/>
            </a:ln>
          </p:spPr>
        </p:pic>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grpSp>
        <p:nvGrpSpPr>
          <p:cNvPr id="1283" name="Google Shape;1283;p33"/>
          <p:cNvGrpSpPr/>
          <p:nvPr/>
        </p:nvGrpSpPr>
        <p:grpSpPr>
          <a:xfrm>
            <a:off x="2790780" y="3730269"/>
            <a:ext cx="18934749" cy="9000000"/>
            <a:chOff x="148769" y="803080"/>
            <a:chExt cx="11773829" cy="5596296"/>
          </a:xfrm>
        </p:grpSpPr>
        <p:pic>
          <p:nvPicPr>
            <p:cNvPr id="1284" name="Google Shape;1284;p33"/>
            <p:cNvPicPr preferRelativeResize="0"/>
            <p:nvPr/>
          </p:nvPicPr>
          <p:blipFill rotWithShape="1">
            <a:blip r:embed="rId3">
              <a:alphaModFix/>
            </a:blip>
            <a:srcRect b="0" l="0" r="0" t="0"/>
            <a:stretch/>
          </p:blipFill>
          <p:spPr>
            <a:xfrm>
              <a:off x="7380376" y="3879376"/>
              <a:ext cx="4542222" cy="2520000"/>
            </a:xfrm>
            <a:prstGeom prst="rect">
              <a:avLst/>
            </a:prstGeom>
            <a:noFill/>
            <a:ln>
              <a:noFill/>
            </a:ln>
          </p:spPr>
        </p:pic>
        <p:pic>
          <p:nvPicPr>
            <p:cNvPr id="1285" name="Google Shape;1285;p33"/>
            <p:cNvPicPr preferRelativeResize="0"/>
            <p:nvPr/>
          </p:nvPicPr>
          <p:blipFill rotWithShape="1">
            <a:blip r:embed="rId4">
              <a:alphaModFix/>
            </a:blip>
            <a:srcRect b="0" l="0" r="0" t="0"/>
            <a:stretch/>
          </p:blipFill>
          <p:spPr>
            <a:xfrm>
              <a:off x="3769076" y="3879376"/>
              <a:ext cx="4542222" cy="2520000"/>
            </a:xfrm>
            <a:prstGeom prst="rect">
              <a:avLst/>
            </a:prstGeom>
            <a:noFill/>
            <a:ln>
              <a:noFill/>
            </a:ln>
          </p:spPr>
        </p:pic>
        <p:pic>
          <p:nvPicPr>
            <p:cNvPr id="1286" name="Google Shape;1286;p33"/>
            <p:cNvPicPr preferRelativeResize="0"/>
            <p:nvPr/>
          </p:nvPicPr>
          <p:blipFill rotWithShape="1">
            <a:blip r:embed="rId5">
              <a:alphaModFix/>
            </a:blip>
            <a:srcRect b="0" l="0" r="0" t="0"/>
            <a:stretch/>
          </p:blipFill>
          <p:spPr>
            <a:xfrm>
              <a:off x="148769" y="3879376"/>
              <a:ext cx="4542222" cy="2520000"/>
            </a:xfrm>
            <a:prstGeom prst="rect">
              <a:avLst/>
            </a:prstGeom>
            <a:noFill/>
            <a:ln>
              <a:noFill/>
            </a:ln>
          </p:spPr>
        </p:pic>
        <p:pic>
          <p:nvPicPr>
            <p:cNvPr id="1287" name="Google Shape;1287;p33"/>
            <p:cNvPicPr preferRelativeResize="0"/>
            <p:nvPr/>
          </p:nvPicPr>
          <p:blipFill rotWithShape="1">
            <a:blip r:embed="rId6">
              <a:alphaModFix/>
            </a:blip>
            <a:srcRect b="0" l="0" r="0" t="0"/>
            <a:stretch/>
          </p:blipFill>
          <p:spPr>
            <a:xfrm>
              <a:off x="7380376" y="909000"/>
              <a:ext cx="4542222" cy="2520000"/>
            </a:xfrm>
            <a:prstGeom prst="rect">
              <a:avLst/>
            </a:prstGeom>
            <a:noFill/>
            <a:ln>
              <a:noFill/>
            </a:ln>
          </p:spPr>
        </p:pic>
        <p:pic>
          <p:nvPicPr>
            <p:cNvPr id="1288" name="Google Shape;1288;p33"/>
            <p:cNvPicPr preferRelativeResize="0"/>
            <p:nvPr/>
          </p:nvPicPr>
          <p:blipFill rotWithShape="1">
            <a:blip r:embed="rId7">
              <a:alphaModFix/>
            </a:blip>
            <a:srcRect b="0" l="0" r="0" t="0"/>
            <a:stretch/>
          </p:blipFill>
          <p:spPr>
            <a:xfrm>
              <a:off x="3769076" y="909000"/>
              <a:ext cx="4542222" cy="2520000"/>
            </a:xfrm>
            <a:prstGeom prst="rect">
              <a:avLst/>
            </a:prstGeom>
            <a:noFill/>
            <a:ln>
              <a:noFill/>
            </a:ln>
          </p:spPr>
        </p:pic>
        <p:pic>
          <p:nvPicPr>
            <p:cNvPr id="1289" name="Google Shape;1289;p33"/>
            <p:cNvPicPr preferRelativeResize="0"/>
            <p:nvPr/>
          </p:nvPicPr>
          <p:blipFill rotWithShape="1">
            <a:blip r:embed="rId8">
              <a:alphaModFix/>
            </a:blip>
            <a:srcRect b="0" l="0" r="0" t="0"/>
            <a:stretch/>
          </p:blipFill>
          <p:spPr>
            <a:xfrm>
              <a:off x="148769" y="909000"/>
              <a:ext cx="4542223" cy="2520000"/>
            </a:xfrm>
            <a:prstGeom prst="rect">
              <a:avLst/>
            </a:prstGeom>
            <a:noFill/>
            <a:ln>
              <a:noFill/>
            </a:ln>
          </p:spPr>
        </p:pic>
        <p:pic>
          <p:nvPicPr>
            <p:cNvPr id="1290" name="Google Shape;1290;p33"/>
            <p:cNvPicPr preferRelativeResize="0"/>
            <p:nvPr/>
          </p:nvPicPr>
          <p:blipFill rotWithShape="1">
            <a:blip r:embed="rId9">
              <a:alphaModFix/>
            </a:blip>
            <a:srcRect b="0" l="0" r="0" t="0"/>
            <a:stretch/>
          </p:blipFill>
          <p:spPr>
            <a:xfrm>
              <a:off x="1857024" y="803080"/>
              <a:ext cx="1158932" cy="136932"/>
            </a:xfrm>
            <a:prstGeom prst="rect">
              <a:avLst/>
            </a:prstGeom>
            <a:noFill/>
            <a:ln>
              <a:noFill/>
            </a:ln>
          </p:spPr>
        </p:pic>
        <p:pic>
          <p:nvPicPr>
            <p:cNvPr id="1291" name="Google Shape;1291;p33"/>
            <p:cNvPicPr preferRelativeResize="0"/>
            <p:nvPr/>
          </p:nvPicPr>
          <p:blipFill rotWithShape="1">
            <a:blip r:embed="rId10">
              <a:alphaModFix/>
            </a:blip>
            <a:srcRect b="0" l="0" r="0" t="0"/>
            <a:stretch/>
          </p:blipFill>
          <p:spPr>
            <a:xfrm>
              <a:off x="5467449" y="803080"/>
              <a:ext cx="1158932" cy="136932"/>
            </a:xfrm>
            <a:prstGeom prst="rect">
              <a:avLst/>
            </a:prstGeom>
            <a:noFill/>
            <a:ln>
              <a:noFill/>
            </a:ln>
          </p:spPr>
        </p:pic>
        <p:pic>
          <p:nvPicPr>
            <p:cNvPr id="1292" name="Google Shape;1292;p33"/>
            <p:cNvPicPr preferRelativeResize="0"/>
            <p:nvPr/>
          </p:nvPicPr>
          <p:blipFill rotWithShape="1">
            <a:blip r:embed="rId11">
              <a:alphaModFix/>
            </a:blip>
            <a:srcRect b="0" l="0" r="0" t="0"/>
            <a:stretch/>
          </p:blipFill>
          <p:spPr>
            <a:xfrm>
              <a:off x="9085513" y="803080"/>
              <a:ext cx="1158932" cy="136932"/>
            </a:xfrm>
            <a:prstGeom prst="rect">
              <a:avLst/>
            </a:prstGeom>
            <a:noFill/>
            <a:ln>
              <a:noFill/>
            </a:ln>
          </p:spPr>
        </p:pic>
        <p:pic>
          <p:nvPicPr>
            <p:cNvPr id="1293" name="Google Shape;1293;p33"/>
            <p:cNvPicPr preferRelativeResize="0"/>
            <p:nvPr/>
          </p:nvPicPr>
          <p:blipFill rotWithShape="1">
            <a:blip r:embed="rId12">
              <a:alphaModFix/>
            </a:blip>
            <a:srcRect b="0" l="0" r="0" t="0"/>
            <a:stretch/>
          </p:blipFill>
          <p:spPr>
            <a:xfrm>
              <a:off x="1857024" y="3743624"/>
              <a:ext cx="1158932" cy="136932"/>
            </a:xfrm>
            <a:prstGeom prst="rect">
              <a:avLst/>
            </a:prstGeom>
            <a:noFill/>
            <a:ln>
              <a:noFill/>
            </a:ln>
          </p:spPr>
        </p:pic>
        <p:pic>
          <p:nvPicPr>
            <p:cNvPr id="1294" name="Google Shape;1294;p33"/>
            <p:cNvPicPr preferRelativeResize="0"/>
            <p:nvPr/>
          </p:nvPicPr>
          <p:blipFill rotWithShape="1">
            <a:blip r:embed="rId13">
              <a:alphaModFix/>
            </a:blip>
            <a:srcRect b="0" l="0" r="0" t="0"/>
            <a:stretch/>
          </p:blipFill>
          <p:spPr>
            <a:xfrm>
              <a:off x="5467449" y="3743624"/>
              <a:ext cx="1158932" cy="136932"/>
            </a:xfrm>
            <a:prstGeom prst="rect">
              <a:avLst/>
            </a:prstGeom>
            <a:noFill/>
            <a:ln>
              <a:noFill/>
            </a:ln>
          </p:spPr>
        </p:pic>
        <p:pic>
          <p:nvPicPr>
            <p:cNvPr id="1295" name="Google Shape;1295;p33"/>
            <p:cNvPicPr preferRelativeResize="0"/>
            <p:nvPr/>
          </p:nvPicPr>
          <p:blipFill rotWithShape="1">
            <a:blip r:embed="rId14">
              <a:alphaModFix/>
            </a:blip>
            <a:srcRect b="0" l="0" r="0" t="0"/>
            <a:stretch/>
          </p:blipFill>
          <p:spPr>
            <a:xfrm>
              <a:off x="9085513" y="3742444"/>
              <a:ext cx="1158932" cy="136932"/>
            </a:xfrm>
            <a:prstGeom prst="rect">
              <a:avLst/>
            </a:prstGeom>
            <a:noFill/>
            <a:ln>
              <a:noFill/>
            </a:ln>
          </p:spPr>
        </p:pic>
      </p:grpSp>
      <p:sp>
        <p:nvSpPr>
          <p:cNvPr id="1296" name="Google Shape;1296;p33"/>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Simulation (PBS, BPM, TM input)</a:t>
            </a:r>
            <a:endParaRPr/>
          </a:p>
        </p:txBody>
      </p:sp>
      <p:sp>
        <p:nvSpPr>
          <p:cNvPr id="1297" name="Google Shape;1297;p33"/>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298" name="Google Shape;1298;p33"/>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99" name="Google Shape;1299;p33"/>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300" name="Google Shape;1300;p33"/>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301" name="Google Shape;1301;p33"/>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302" name="Google Shape;1302;p33"/>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303" name="Google Shape;1303;p33"/>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304" name="Google Shape;1304;p33"/>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305" name="Google Shape;1305;p33"/>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34"/>
          <p:cNvSpPr txBox="1"/>
          <p:nvPr/>
        </p:nvSpPr>
        <p:spPr>
          <a:xfrm>
            <a:off x="3444256" y="1483499"/>
            <a:ext cx="17489138"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The schematic of the proposed high-pass filter</a:t>
            </a:r>
            <a:endParaRPr/>
          </a:p>
        </p:txBody>
      </p:sp>
      <p:sp>
        <p:nvSpPr>
          <p:cNvPr id="1311" name="Google Shape;1311;p34"/>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312" name="Google Shape;1312;p34"/>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13" name="Google Shape;1313;p34"/>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314" name="Google Shape;1314;p34"/>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315" name="Google Shape;1315;p34"/>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316" name="Google Shape;1316;p34"/>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317" name="Google Shape;1317;p34"/>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318" name="Google Shape;1318;p34"/>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319" name="Google Shape;1319;p34"/>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1320" name="Google Shape;1320;p34"/>
          <p:cNvSpPr/>
          <p:nvPr/>
        </p:nvSpPr>
        <p:spPr>
          <a:xfrm rot="10800000">
            <a:off x="3452348" y="5789982"/>
            <a:ext cx="10671971" cy="6070592"/>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321" name="Google Shape;1321;p34"/>
          <p:cNvPicPr preferRelativeResize="0"/>
          <p:nvPr/>
        </p:nvPicPr>
        <p:blipFill rotWithShape="1">
          <a:blip r:embed="rId3">
            <a:alphaModFix/>
          </a:blip>
          <a:srcRect b="0" l="0" r="0" t="0"/>
          <a:stretch/>
        </p:blipFill>
        <p:spPr>
          <a:xfrm>
            <a:off x="1294563" y="10919913"/>
            <a:ext cx="1876782" cy="356630"/>
          </a:xfrm>
          <a:prstGeom prst="rect">
            <a:avLst/>
          </a:prstGeom>
          <a:noFill/>
          <a:ln>
            <a:noFill/>
          </a:ln>
        </p:spPr>
      </p:pic>
      <p:pic>
        <p:nvPicPr>
          <p:cNvPr id="1322" name="Google Shape;1322;p34"/>
          <p:cNvPicPr preferRelativeResize="0"/>
          <p:nvPr/>
        </p:nvPicPr>
        <p:blipFill rotWithShape="1">
          <a:blip r:embed="rId4">
            <a:alphaModFix/>
          </a:blip>
          <a:srcRect b="0" l="0" r="0" t="0"/>
          <a:stretch/>
        </p:blipFill>
        <p:spPr>
          <a:xfrm>
            <a:off x="8289997" y="11184742"/>
            <a:ext cx="656109" cy="273993"/>
          </a:xfrm>
          <a:prstGeom prst="rect">
            <a:avLst/>
          </a:prstGeom>
          <a:noFill/>
          <a:ln>
            <a:noFill/>
          </a:ln>
        </p:spPr>
      </p:pic>
      <p:sp>
        <p:nvSpPr>
          <p:cNvPr id="1323" name="Google Shape;1323;p34"/>
          <p:cNvSpPr/>
          <p:nvPr/>
        </p:nvSpPr>
        <p:spPr>
          <a:xfrm rot="5400000">
            <a:off x="7966164" y="5870607"/>
            <a:ext cx="943050" cy="8331279"/>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324" name="Google Shape;1324;p34"/>
          <p:cNvSpPr/>
          <p:nvPr/>
        </p:nvSpPr>
        <p:spPr>
          <a:xfrm flipH="1" rot="-5400000">
            <a:off x="7970855" y="2917514"/>
            <a:ext cx="933678" cy="8331278"/>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325" name="Google Shape;1325;p34"/>
          <p:cNvSpPr/>
          <p:nvPr/>
        </p:nvSpPr>
        <p:spPr>
          <a:xfrm rot="5400000">
            <a:off x="7662020" y="4378314"/>
            <a:ext cx="1551342" cy="8331279"/>
          </a:xfrm>
          <a:custGeom>
            <a:rect b="b" l="l" r="r" t="t"/>
            <a:pathLst>
              <a:path extrusionOk="0" h="1851025" w="342900">
                <a:moveTo>
                  <a:pt x="136525" y="0"/>
                </a:moveTo>
                <a:lnTo>
                  <a:pt x="342900" y="0"/>
                </a:lnTo>
                <a:lnTo>
                  <a:pt x="203200" y="1851025"/>
                </a:lnTo>
                <a:lnTo>
                  <a:pt x="0" y="1851025"/>
                </a:lnTo>
                <a:lnTo>
                  <a:pt x="13652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326" name="Google Shape;1326;p34"/>
          <p:cNvSpPr/>
          <p:nvPr/>
        </p:nvSpPr>
        <p:spPr>
          <a:xfrm rot="5400000">
            <a:off x="12895762" y="6321428"/>
            <a:ext cx="933678" cy="1523450"/>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327" name="Google Shape;1327;p34"/>
          <p:cNvSpPr/>
          <p:nvPr/>
        </p:nvSpPr>
        <p:spPr>
          <a:xfrm rot="5400000">
            <a:off x="13033442" y="9271889"/>
            <a:ext cx="666338" cy="1515431"/>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1328" name="Google Shape;1328;p34"/>
          <p:cNvCxnSpPr/>
          <p:nvPr/>
        </p:nvCxnSpPr>
        <p:spPr>
          <a:xfrm>
            <a:off x="8481056" y="6826371"/>
            <a:ext cx="0" cy="8275673"/>
          </a:xfrm>
          <a:prstGeom prst="straightConnector1">
            <a:avLst/>
          </a:prstGeom>
          <a:noFill/>
          <a:ln cap="flat" cmpd="sng" w="12700">
            <a:solidFill>
              <a:srgbClr val="000000"/>
            </a:solidFill>
            <a:prstDash val="solid"/>
            <a:miter lim="800000"/>
            <a:headEnd len="med" w="med" type="triangle"/>
            <a:tailEnd len="med" w="med" type="triangle"/>
          </a:ln>
        </p:spPr>
      </p:cxnSp>
      <p:sp>
        <p:nvSpPr>
          <p:cNvPr id="1329" name="Google Shape;1329;p34"/>
          <p:cNvSpPr/>
          <p:nvPr/>
        </p:nvSpPr>
        <p:spPr>
          <a:xfrm rot="5400000">
            <a:off x="3382309" y="9632811"/>
            <a:ext cx="945009" cy="804913"/>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330" name="Google Shape;1330;p34"/>
          <p:cNvSpPr/>
          <p:nvPr/>
        </p:nvSpPr>
        <p:spPr>
          <a:xfrm rot="5400000">
            <a:off x="3525026" y="6669903"/>
            <a:ext cx="666338" cy="811678"/>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331" name="Google Shape;1331;p34"/>
          <p:cNvPicPr preferRelativeResize="0"/>
          <p:nvPr/>
        </p:nvPicPr>
        <p:blipFill rotWithShape="1">
          <a:blip r:embed="rId5">
            <a:alphaModFix/>
          </a:blip>
          <a:srcRect b="0" l="0" r="0" t="0"/>
          <a:stretch/>
        </p:blipFill>
        <p:spPr>
          <a:xfrm>
            <a:off x="3051614" y="9031587"/>
            <a:ext cx="199064" cy="210281"/>
          </a:xfrm>
          <a:prstGeom prst="rect">
            <a:avLst/>
          </a:prstGeom>
          <a:noFill/>
          <a:ln>
            <a:noFill/>
          </a:ln>
        </p:spPr>
      </p:pic>
      <p:cxnSp>
        <p:nvCxnSpPr>
          <p:cNvPr id="1332" name="Google Shape;1332;p34"/>
          <p:cNvCxnSpPr/>
          <p:nvPr/>
        </p:nvCxnSpPr>
        <p:spPr>
          <a:xfrm rot="-5400000">
            <a:off x="3009247" y="9759045"/>
            <a:ext cx="324197" cy="0"/>
          </a:xfrm>
          <a:prstGeom prst="straightConnector1">
            <a:avLst/>
          </a:prstGeom>
          <a:noFill/>
          <a:ln cap="flat" cmpd="sng" w="12700">
            <a:solidFill>
              <a:srgbClr val="000000"/>
            </a:solidFill>
            <a:prstDash val="solid"/>
            <a:miter lim="800000"/>
            <a:headEnd len="sm" w="sm" type="none"/>
            <a:tailEnd len="med" w="med" type="triangle"/>
          </a:ln>
        </p:spPr>
      </p:cxnSp>
      <p:cxnSp>
        <p:nvCxnSpPr>
          <p:cNvPr id="1333" name="Google Shape;1333;p34"/>
          <p:cNvCxnSpPr/>
          <p:nvPr/>
        </p:nvCxnSpPr>
        <p:spPr>
          <a:xfrm rot="-5400000">
            <a:off x="2983984" y="8481131"/>
            <a:ext cx="375408" cy="0"/>
          </a:xfrm>
          <a:prstGeom prst="straightConnector1">
            <a:avLst/>
          </a:prstGeom>
          <a:noFill/>
          <a:ln cap="flat" cmpd="sng" w="12700">
            <a:solidFill>
              <a:srgbClr val="000000"/>
            </a:solidFill>
            <a:prstDash val="solid"/>
            <a:miter lim="800000"/>
            <a:headEnd len="med" w="med" type="triangle"/>
            <a:tailEnd len="sm" w="sm" type="none"/>
          </a:ln>
        </p:spPr>
      </p:cxnSp>
      <p:pic>
        <p:nvPicPr>
          <p:cNvPr id="1334" name="Google Shape;1334;p34"/>
          <p:cNvPicPr preferRelativeResize="0"/>
          <p:nvPr/>
        </p:nvPicPr>
        <p:blipFill rotWithShape="1">
          <a:blip r:embed="rId6">
            <a:alphaModFix/>
          </a:blip>
          <a:srcRect b="0" l="0" r="0" t="0"/>
          <a:stretch/>
        </p:blipFill>
        <p:spPr>
          <a:xfrm>
            <a:off x="3027882" y="7488227"/>
            <a:ext cx="251335" cy="187485"/>
          </a:xfrm>
          <a:prstGeom prst="rect">
            <a:avLst/>
          </a:prstGeom>
          <a:noFill/>
          <a:ln>
            <a:noFill/>
          </a:ln>
        </p:spPr>
      </p:pic>
      <p:cxnSp>
        <p:nvCxnSpPr>
          <p:cNvPr id="1335" name="Google Shape;1335;p34"/>
          <p:cNvCxnSpPr/>
          <p:nvPr/>
        </p:nvCxnSpPr>
        <p:spPr>
          <a:xfrm rot="-5400000">
            <a:off x="3009589" y="7948935"/>
            <a:ext cx="324197" cy="0"/>
          </a:xfrm>
          <a:prstGeom prst="straightConnector1">
            <a:avLst/>
          </a:prstGeom>
          <a:noFill/>
          <a:ln cap="flat" cmpd="sng" w="12700">
            <a:solidFill>
              <a:srgbClr val="000000"/>
            </a:solidFill>
            <a:prstDash val="solid"/>
            <a:miter lim="800000"/>
            <a:headEnd len="sm" w="sm" type="none"/>
            <a:tailEnd len="med" w="med" type="triangle"/>
          </a:ln>
        </p:spPr>
      </p:cxnSp>
      <p:cxnSp>
        <p:nvCxnSpPr>
          <p:cNvPr id="1336" name="Google Shape;1336;p34"/>
          <p:cNvCxnSpPr/>
          <p:nvPr/>
        </p:nvCxnSpPr>
        <p:spPr>
          <a:xfrm rot="-5400000">
            <a:off x="2983984" y="7221207"/>
            <a:ext cx="375408" cy="0"/>
          </a:xfrm>
          <a:prstGeom prst="straightConnector1">
            <a:avLst/>
          </a:prstGeom>
          <a:noFill/>
          <a:ln cap="flat" cmpd="sng" w="12700">
            <a:solidFill>
              <a:srgbClr val="000000"/>
            </a:solidFill>
            <a:prstDash val="solid"/>
            <a:miter lim="800000"/>
            <a:headEnd len="med" w="med" type="triangle"/>
            <a:tailEnd len="sm" w="sm" type="none"/>
          </a:ln>
        </p:spPr>
      </p:cxnSp>
      <p:cxnSp>
        <p:nvCxnSpPr>
          <p:cNvPr id="1337" name="Google Shape;1337;p34"/>
          <p:cNvCxnSpPr/>
          <p:nvPr/>
        </p:nvCxnSpPr>
        <p:spPr>
          <a:xfrm>
            <a:off x="3036764" y="7007916"/>
            <a:ext cx="0" cy="801991"/>
          </a:xfrm>
          <a:prstGeom prst="straightConnector1">
            <a:avLst/>
          </a:prstGeom>
          <a:noFill/>
          <a:ln cap="flat" cmpd="sng" w="9525">
            <a:solidFill>
              <a:srgbClr val="000000"/>
            </a:solidFill>
            <a:prstDash val="dash"/>
            <a:miter lim="800000"/>
            <a:headEnd len="sm" w="sm" type="none"/>
            <a:tailEnd len="sm" w="sm" type="none"/>
          </a:ln>
        </p:spPr>
      </p:cxnSp>
      <p:cxnSp>
        <p:nvCxnSpPr>
          <p:cNvPr id="1338" name="Google Shape;1338;p34"/>
          <p:cNvCxnSpPr/>
          <p:nvPr/>
        </p:nvCxnSpPr>
        <p:spPr>
          <a:xfrm>
            <a:off x="3549982" y="7051365"/>
            <a:ext cx="0" cy="1405274"/>
          </a:xfrm>
          <a:prstGeom prst="straightConnector1">
            <a:avLst/>
          </a:prstGeom>
          <a:noFill/>
          <a:ln cap="flat" cmpd="sng" w="9525">
            <a:solidFill>
              <a:srgbClr val="000000"/>
            </a:solidFill>
            <a:prstDash val="dash"/>
            <a:miter lim="800000"/>
            <a:headEnd len="sm" w="sm" type="none"/>
            <a:tailEnd len="sm" w="sm" type="none"/>
          </a:ln>
        </p:spPr>
      </p:cxnSp>
      <p:cxnSp>
        <p:nvCxnSpPr>
          <p:cNvPr id="1339" name="Google Shape;1339;p34"/>
          <p:cNvCxnSpPr/>
          <p:nvPr/>
        </p:nvCxnSpPr>
        <p:spPr>
          <a:xfrm>
            <a:off x="3552308" y="7989606"/>
            <a:ext cx="0" cy="1409925"/>
          </a:xfrm>
          <a:prstGeom prst="straightConnector1">
            <a:avLst/>
          </a:prstGeom>
          <a:noFill/>
          <a:ln cap="flat" cmpd="sng" w="9525">
            <a:solidFill>
              <a:srgbClr val="000000"/>
            </a:solidFill>
            <a:prstDash val="dash"/>
            <a:miter lim="800000"/>
            <a:headEnd len="sm" w="sm" type="none"/>
            <a:tailEnd len="sm" w="sm" type="none"/>
          </a:ln>
        </p:spPr>
      </p:cxnSp>
      <p:cxnSp>
        <p:nvCxnSpPr>
          <p:cNvPr id="1340" name="Google Shape;1340;p34"/>
          <p:cNvCxnSpPr/>
          <p:nvPr/>
        </p:nvCxnSpPr>
        <p:spPr>
          <a:xfrm>
            <a:off x="3411755" y="8772970"/>
            <a:ext cx="0" cy="1579587"/>
          </a:xfrm>
          <a:prstGeom prst="straightConnector1">
            <a:avLst/>
          </a:prstGeom>
          <a:noFill/>
          <a:ln cap="flat" cmpd="sng" w="9525">
            <a:solidFill>
              <a:srgbClr val="000000"/>
            </a:solidFill>
            <a:prstDash val="dash"/>
            <a:miter lim="800000"/>
            <a:headEnd len="sm" w="sm" type="none"/>
            <a:tailEnd len="sm" w="sm" type="none"/>
          </a:ln>
        </p:spPr>
      </p:cxnSp>
      <p:pic>
        <p:nvPicPr>
          <p:cNvPr id="1341" name="Google Shape;1341;p34"/>
          <p:cNvPicPr preferRelativeResize="0"/>
          <p:nvPr/>
        </p:nvPicPr>
        <p:blipFill rotWithShape="1">
          <a:blip r:embed="rId7">
            <a:alphaModFix/>
          </a:blip>
          <a:srcRect b="0" l="0" r="0" t="0"/>
          <a:stretch/>
        </p:blipFill>
        <p:spPr>
          <a:xfrm>
            <a:off x="14281402" y="7842247"/>
            <a:ext cx="199064" cy="210281"/>
          </a:xfrm>
          <a:prstGeom prst="rect">
            <a:avLst/>
          </a:prstGeom>
          <a:noFill/>
          <a:ln>
            <a:noFill/>
          </a:ln>
        </p:spPr>
      </p:pic>
      <p:cxnSp>
        <p:nvCxnSpPr>
          <p:cNvPr id="1342" name="Google Shape;1342;p34"/>
          <p:cNvCxnSpPr/>
          <p:nvPr/>
        </p:nvCxnSpPr>
        <p:spPr>
          <a:xfrm rot="-5400000">
            <a:off x="14213040" y="8567688"/>
            <a:ext cx="324197" cy="0"/>
          </a:xfrm>
          <a:prstGeom prst="straightConnector1">
            <a:avLst/>
          </a:prstGeom>
          <a:noFill/>
          <a:ln cap="flat" cmpd="sng" w="12700">
            <a:solidFill>
              <a:srgbClr val="000000"/>
            </a:solidFill>
            <a:prstDash val="solid"/>
            <a:miter lim="800000"/>
            <a:headEnd len="sm" w="sm" type="none"/>
            <a:tailEnd len="med" w="med" type="triangle"/>
          </a:ln>
        </p:spPr>
      </p:cxnSp>
      <p:cxnSp>
        <p:nvCxnSpPr>
          <p:cNvPr id="1343" name="Google Shape;1343;p34"/>
          <p:cNvCxnSpPr/>
          <p:nvPr/>
        </p:nvCxnSpPr>
        <p:spPr>
          <a:xfrm rot="-5400000">
            <a:off x="14187777" y="7328690"/>
            <a:ext cx="375408" cy="0"/>
          </a:xfrm>
          <a:prstGeom prst="straightConnector1">
            <a:avLst/>
          </a:prstGeom>
          <a:noFill/>
          <a:ln cap="flat" cmpd="sng" w="12700">
            <a:solidFill>
              <a:srgbClr val="000000"/>
            </a:solidFill>
            <a:prstDash val="solid"/>
            <a:miter lim="800000"/>
            <a:headEnd len="med" w="med" type="triangle"/>
            <a:tailEnd len="sm" w="sm" type="none"/>
          </a:ln>
        </p:spPr>
      </p:cxnSp>
      <p:pic>
        <p:nvPicPr>
          <p:cNvPr id="1344" name="Google Shape;1344;p34"/>
          <p:cNvPicPr preferRelativeResize="0"/>
          <p:nvPr/>
        </p:nvPicPr>
        <p:blipFill rotWithShape="1">
          <a:blip r:embed="rId8">
            <a:alphaModFix/>
          </a:blip>
          <a:srcRect b="0" l="0" r="0" t="0"/>
          <a:stretch/>
        </p:blipFill>
        <p:spPr>
          <a:xfrm>
            <a:off x="14256511" y="9414888"/>
            <a:ext cx="251335" cy="187485"/>
          </a:xfrm>
          <a:prstGeom prst="rect">
            <a:avLst/>
          </a:prstGeom>
          <a:noFill/>
          <a:ln>
            <a:noFill/>
          </a:ln>
        </p:spPr>
      </p:pic>
      <p:cxnSp>
        <p:nvCxnSpPr>
          <p:cNvPr id="1345" name="Google Shape;1345;p34"/>
          <p:cNvCxnSpPr/>
          <p:nvPr/>
        </p:nvCxnSpPr>
        <p:spPr>
          <a:xfrm rot="-5400000">
            <a:off x="14213971" y="9886626"/>
            <a:ext cx="324197" cy="0"/>
          </a:xfrm>
          <a:prstGeom prst="straightConnector1">
            <a:avLst/>
          </a:prstGeom>
          <a:noFill/>
          <a:ln cap="flat" cmpd="sng" w="12700">
            <a:solidFill>
              <a:srgbClr val="000000"/>
            </a:solidFill>
            <a:prstDash val="solid"/>
            <a:miter lim="800000"/>
            <a:headEnd len="sm" w="sm" type="none"/>
            <a:tailEnd len="med" w="med" type="triangle"/>
          </a:ln>
        </p:spPr>
      </p:cxnSp>
      <p:cxnSp>
        <p:nvCxnSpPr>
          <p:cNvPr id="1346" name="Google Shape;1346;p34"/>
          <p:cNvCxnSpPr/>
          <p:nvPr/>
        </p:nvCxnSpPr>
        <p:spPr>
          <a:xfrm rot="-5400000">
            <a:off x="14188366" y="9123850"/>
            <a:ext cx="375408" cy="0"/>
          </a:xfrm>
          <a:prstGeom prst="straightConnector1">
            <a:avLst/>
          </a:prstGeom>
          <a:noFill/>
          <a:ln cap="flat" cmpd="sng" w="12700">
            <a:solidFill>
              <a:srgbClr val="000000"/>
            </a:solidFill>
            <a:prstDash val="solid"/>
            <a:miter lim="800000"/>
            <a:headEnd len="med" w="med" type="triangle"/>
            <a:tailEnd len="sm" w="sm" type="none"/>
          </a:ln>
        </p:spPr>
      </p:cxnSp>
      <p:cxnSp>
        <p:nvCxnSpPr>
          <p:cNvPr id="1347" name="Google Shape;1347;p34"/>
          <p:cNvCxnSpPr/>
          <p:nvPr/>
        </p:nvCxnSpPr>
        <p:spPr>
          <a:xfrm>
            <a:off x="13550668" y="8385270"/>
            <a:ext cx="0" cy="1883006"/>
          </a:xfrm>
          <a:prstGeom prst="straightConnector1">
            <a:avLst/>
          </a:prstGeom>
          <a:noFill/>
          <a:ln cap="flat" cmpd="sng" w="9525">
            <a:solidFill>
              <a:srgbClr val="000000"/>
            </a:solidFill>
            <a:prstDash val="dash"/>
            <a:miter lim="800000"/>
            <a:headEnd len="sm" w="sm" type="none"/>
            <a:tailEnd len="sm" w="sm" type="none"/>
          </a:ln>
        </p:spPr>
      </p:cxnSp>
      <p:cxnSp>
        <p:nvCxnSpPr>
          <p:cNvPr id="1348" name="Google Shape;1348;p34"/>
          <p:cNvCxnSpPr/>
          <p:nvPr/>
        </p:nvCxnSpPr>
        <p:spPr>
          <a:xfrm>
            <a:off x="13874337" y="8440993"/>
            <a:ext cx="0" cy="2510886"/>
          </a:xfrm>
          <a:prstGeom prst="straightConnector1">
            <a:avLst/>
          </a:prstGeom>
          <a:noFill/>
          <a:ln cap="flat" cmpd="sng" w="9525">
            <a:solidFill>
              <a:srgbClr val="000000"/>
            </a:solidFill>
            <a:prstDash val="dash"/>
            <a:miter lim="800000"/>
            <a:headEnd len="sm" w="sm" type="none"/>
            <a:tailEnd len="sm" w="sm" type="none"/>
          </a:ln>
        </p:spPr>
      </p:cxnSp>
      <p:cxnSp>
        <p:nvCxnSpPr>
          <p:cNvPr id="1349" name="Google Shape;1349;p34"/>
          <p:cNvCxnSpPr/>
          <p:nvPr/>
        </p:nvCxnSpPr>
        <p:spPr>
          <a:xfrm>
            <a:off x="13857989" y="6270338"/>
            <a:ext cx="0" cy="2543581"/>
          </a:xfrm>
          <a:prstGeom prst="straightConnector1">
            <a:avLst/>
          </a:prstGeom>
          <a:noFill/>
          <a:ln cap="flat" cmpd="sng" w="9525">
            <a:solidFill>
              <a:srgbClr val="000000"/>
            </a:solidFill>
            <a:prstDash val="dash"/>
            <a:miter lim="800000"/>
            <a:headEnd len="sm" w="sm" type="none"/>
            <a:tailEnd len="sm" w="sm" type="none"/>
          </a:ln>
        </p:spPr>
      </p:cxnSp>
      <p:cxnSp>
        <p:nvCxnSpPr>
          <p:cNvPr id="1350" name="Google Shape;1350;p34"/>
          <p:cNvCxnSpPr/>
          <p:nvPr/>
        </p:nvCxnSpPr>
        <p:spPr>
          <a:xfrm>
            <a:off x="13537584" y="7424885"/>
            <a:ext cx="0" cy="1902770"/>
          </a:xfrm>
          <a:prstGeom prst="straightConnector1">
            <a:avLst/>
          </a:prstGeom>
          <a:noFill/>
          <a:ln cap="flat" cmpd="sng" w="9525">
            <a:solidFill>
              <a:srgbClr val="000000"/>
            </a:solidFill>
            <a:prstDash val="dash"/>
            <a:miter lim="800000"/>
            <a:headEnd len="sm" w="sm" type="none"/>
            <a:tailEnd len="sm" w="sm" type="none"/>
          </a:ln>
        </p:spPr>
      </p:cxnSp>
      <p:pic>
        <p:nvPicPr>
          <p:cNvPr id="1351" name="Google Shape;1351;p34"/>
          <p:cNvPicPr preferRelativeResize="0"/>
          <p:nvPr/>
        </p:nvPicPr>
        <p:blipFill rotWithShape="1">
          <a:blip r:embed="rId9">
            <a:alphaModFix/>
          </a:blip>
          <a:srcRect b="0" l="0" r="0" t="0"/>
          <a:stretch/>
        </p:blipFill>
        <p:spPr>
          <a:xfrm>
            <a:off x="4591831" y="9926027"/>
            <a:ext cx="140196" cy="275378"/>
          </a:xfrm>
          <a:prstGeom prst="rect">
            <a:avLst/>
          </a:prstGeom>
          <a:noFill/>
          <a:ln>
            <a:noFill/>
          </a:ln>
        </p:spPr>
      </p:pic>
      <p:pic>
        <p:nvPicPr>
          <p:cNvPr id="1352" name="Google Shape;1352;p34"/>
          <p:cNvPicPr preferRelativeResize="0"/>
          <p:nvPr/>
        </p:nvPicPr>
        <p:blipFill rotWithShape="1">
          <a:blip r:embed="rId10">
            <a:alphaModFix/>
          </a:blip>
          <a:srcRect b="0" l="0" r="0" t="0"/>
          <a:stretch/>
        </p:blipFill>
        <p:spPr>
          <a:xfrm>
            <a:off x="4578062" y="8160866"/>
            <a:ext cx="167734" cy="275378"/>
          </a:xfrm>
          <a:prstGeom prst="rect">
            <a:avLst/>
          </a:prstGeom>
          <a:noFill/>
          <a:ln>
            <a:noFill/>
          </a:ln>
        </p:spPr>
      </p:pic>
      <p:pic>
        <p:nvPicPr>
          <p:cNvPr id="1353" name="Google Shape;1353;p34"/>
          <p:cNvPicPr preferRelativeResize="0"/>
          <p:nvPr/>
        </p:nvPicPr>
        <p:blipFill rotWithShape="1">
          <a:blip r:embed="rId11">
            <a:alphaModFix/>
          </a:blip>
          <a:srcRect b="0" l="0" r="0" t="0"/>
          <a:stretch/>
        </p:blipFill>
        <p:spPr>
          <a:xfrm>
            <a:off x="4569299" y="6950568"/>
            <a:ext cx="175246" cy="285392"/>
          </a:xfrm>
          <a:prstGeom prst="rect">
            <a:avLst/>
          </a:prstGeom>
          <a:noFill/>
          <a:ln>
            <a:noFill/>
          </a:ln>
        </p:spPr>
      </p:pic>
      <p:cxnSp>
        <p:nvCxnSpPr>
          <p:cNvPr id="1354" name="Google Shape;1354;p34"/>
          <p:cNvCxnSpPr/>
          <p:nvPr/>
        </p:nvCxnSpPr>
        <p:spPr>
          <a:xfrm>
            <a:off x="3411979" y="9724444"/>
            <a:ext cx="0" cy="1574313"/>
          </a:xfrm>
          <a:prstGeom prst="straightConnector1">
            <a:avLst/>
          </a:prstGeom>
          <a:noFill/>
          <a:ln cap="flat" cmpd="sng" w="9525">
            <a:solidFill>
              <a:srgbClr val="000000"/>
            </a:solidFill>
            <a:prstDash val="dash"/>
            <a:miter lim="800000"/>
            <a:headEnd len="sm" w="sm" type="none"/>
            <a:tailEnd len="sm" w="sm" type="none"/>
          </a:ln>
        </p:spPr>
      </p:cxnSp>
      <p:cxnSp>
        <p:nvCxnSpPr>
          <p:cNvPr id="1355" name="Google Shape;1355;p34"/>
          <p:cNvCxnSpPr/>
          <p:nvPr/>
        </p:nvCxnSpPr>
        <p:spPr>
          <a:xfrm rot="-5400000">
            <a:off x="2349498" y="10061023"/>
            <a:ext cx="893497" cy="0"/>
          </a:xfrm>
          <a:prstGeom prst="straightConnector1">
            <a:avLst/>
          </a:prstGeom>
          <a:noFill/>
          <a:ln cap="flat" cmpd="sng" w="12700">
            <a:solidFill>
              <a:srgbClr val="000000"/>
            </a:solidFill>
            <a:prstDash val="solid"/>
            <a:miter lim="800000"/>
            <a:headEnd len="med" w="med" type="triangle"/>
            <a:tailEnd len="med" w="med" type="triangle"/>
          </a:ln>
        </p:spPr>
      </p:cxnSp>
      <p:pic>
        <p:nvPicPr>
          <p:cNvPr id="1356" name="Google Shape;1356;p34"/>
          <p:cNvPicPr preferRelativeResize="0"/>
          <p:nvPr/>
        </p:nvPicPr>
        <p:blipFill rotWithShape="1">
          <a:blip r:embed="rId12">
            <a:alphaModFix/>
          </a:blip>
          <a:srcRect b="0" l="0" r="0" t="0"/>
          <a:stretch/>
        </p:blipFill>
        <p:spPr>
          <a:xfrm>
            <a:off x="2415056" y="10015899"/>
            <a:ext cx="302272" cy="191795"/>
          </a:xfrm>
          <a:prstGeom prst="rect">
            <a:avLst/>
          </a:prstGeom>
          <a:noFill/>
          <a:ln>
            <a:noFill/>
          </a:ln>
        </p:spPr>
      </p:pic>
      <p:cxnSp>
        <p:nvCxnSpPr>
          <p:cNvPr id="1357" name="Google Shape;1357;p34"/>
          <p:cNvCxnSpPr/>
          <p:nvPr/>
        </p:nvCxnSpPr>
        <p:spPr>
          <a:xfrm>
            <a:off x="14534548" y="6021082"/>
            <a:ext cx="0" cy="1190464"/>
          </a:xfrm>
          <a:prstGeom prst="straightConnector1">
            <a:avLst/>
          </a:prstGeom>
          <a:noFill/>
          <a:ln cap="flat" cmpd="sng" w="9525">
            <a:solidFill>
              <a:srgbClr val="000000"/>
            </a:solidFill>
            <a:prstDash val="dash"/>
            <a:miter lim="800000"/>
            <a:headEnd len="sm" w="sm" type="none"/>
            <a:tailEnd len="sm" w="sm" type="none"/>
          </a:ln>
        </p:spPr>
      </p:cxnSp>
      <p:cxnSp>
        <p:nvCxnSpPr>
          <p:cNvPr id="1358" name="Google Shape;1358;p34"/>
          <p:cNvCxnSpPr/>
          <p:nvPr/>
        </p:nvCxnSpPr>
        <p:spPr>
          <a:xfrm rot="-5400000">
            <a:off x="14306684" y="7069646"/>
            <a:ext cx="893497" cy="0"/>
          </a:xfrm>
          <a:prstGeom prst="straightConnector1">
            <a:avLst/>
          </a:prstGeom>
          <a:noFill/>
          <a:ln cap="flat" cmpd="sng" w="12700">
            <a:solidFill>
              <a:srgbClr val="000000"/>
            </a:solidFill>
            <a:prstDash val="solid"/>
            <a:miter lim="800000"/>
            <a:headEnd len="med" w="med" type="triangle"/>
            <a:tailEnd len="med" w="med" type="triangle"/>
          </a:ln>
        </p:spPr>
      </p:cxnSp>
      <p:pic>
        <p:nvPicPr>
          <p:cNvPr id="1359" name="Google Shape;1359;p34"/>
          <p:cNvPicPr preferRelativeResize="0"/>
          <p:nvPr/>
        </p:nvPicPr>
        <p:blipFill rotWithShape="1">
          <a:blip r:embed="rId13">
            <a:alphaModFix/>
          </a:blip>
          <a:srcRect b="0" l="0" r="0" t="0"/>
          <a:stretch/>
        </p:blipFill>
        <p:spPr>
          <a:xfrm>
            <a:off x="14833229" y="6966146"/>
            <a:ext cx="302272" cy="191795"/>
          </a:xfrm>
          <a:prstGeom prst="rect">
            <a:avLst/>
          </a:prstGeom>
          <a:noFill/>
          <a:ln>
            <a:noFill/>
          </a:ln>
        </p:spPr>
      </p:pic>
      <p:cxnSp>
        <p:nvCxnSpPr>
          <p:cNvPr id="1360" name="Google Shape;1360;p34"/>
          <p:cNvCxnSpPr/>
          <p:nvPr/>
        </p:nvCxnSpPr>
        <p:spPr>
          <a:xfrm>
            <a:off x="14230699" y="9463693"/>
            <a:ext cx="0" cy="1798161"/>
          </a:xfrm>
          <a:prstGeom prst="straightConnector1">
            <a:avLst/>
          </a:prstGeom>
          <a:noFill/>
          <a:ln cap="flat" cmpd="sng" w="9525">
            <a:solidFill>
              <a:srgbClr val="000000"/>
            </a:solidFill>
            <a:prstDash val="dash"/>
            <a:miter lim="800000"/>
            <a:headEnd len="sm" w="sm" type="none"/>
            <a:tailEnd len="sm" w="sm" type="none"/>
          </a:ln>
        </p:spPr>
      </p:cxnSp>
      <p:cxnSp>
        <p:nvCxnSpPr>
          <p:cNvPr id="1361" name="Google Shape;1361;p34"/>
          <p:cNvCxnSpPr/>
          <p:nvPr/>
        </p:nvCxnSpPr>
        <p:spPr>
          <a:xfrm rot="-5400000">
            <a:off x="14445352" y="10030648"/>
            <a:ext cx="613165" cy="0"/>
          </a:xfrm>
          <a:prstGeom prst="straightConnector1">
            <a:avLst/>
          </a:prstGeom>
          <a:noFill/>
          <a:ln cap="flat" cmpd="sng" w="12700">
            <a:solidFill>
              <a:srgbClr val="000000"/>
            </a:solidFill>
            <a:prstDash val="solid"/>
            <a:miter lim="800000"/>
            <a:headEnd len="med" w="med" type="triangle"/>
            <a:tailEnd len="med" w="med" type="triangle"/>
          </a:ln>
        </p:spPr>
      </p:cxnSp>
      <p:pic>
        <p:nvPicPr>
          <p:cNvPr id="1362" name="Google Shape;1362;p34"/>
          <p:cNvPicPr preferRelativeResize="0"/>
          <p:nvPr/>
        </p:nvPicPr>
        <p:blipFill rotWithShape="1">
          <a:blip r:embed="rId14">
            <a:alphaModFix/>
          </a:blip>
          <a:srcRect b="0" l="0" r="0" t="0"/>
          <a:stretch/>
        </p:blipFill>
        <p:spPr>
          <a:xfrm>
            <a:off x="14836960" y="9929183"/>
            <a:ext cx="309384" cy="191795"/>
          </a:xfrm>
          <a:prstGeom prst="rect">
            <a:avLst/>
          </a:prstGeom>
          <a:noFill/>
          <a:ln>
            <a:noFill/>
          </a:ln>
        </p:spPr>
      </p:pic>
      <p:cxnSp>
        <p:nvCxnSpPr>
          <p:cNvPr id="1363" name="Google Shape;1363;p34"/>
          <p:cNvCxnSpPr/>
          <p:nvPr/>
        </p:nvCxnSpPr>
        <p:spPr>
          <a:xfrm>
            <a:off x="3408645" y="5955417"/>
            <a:ext cx="0" cy="1574313"/>
          </a:xfrm>
          <a:prstGeom prst="straightConnector1">
            <a:avLst/>
          </a:prstGeom>
          <a:noFill/>
          <a:ln cap="flat" cmpd="sng" w="9525">
            <a:solidFill>
              <a:srgbClr val="000000"/>
            </a:solidFill>
            <a:prstDash val="dash"/>
            <a:miter lim="800000"/>
            <a:headEnd len="sm" w="sm" type="none"/>
            <a:tailEnd len="sm" w="sm" type="none"/>
          </a:ln>
        </p:spPr>
      </p:cxnSp>
      <p:cxnSp>
        <p:nvCxnSpPr>
          <p:cNvPr id="1364" name="Google Shape;1364;p34"/>
          <p:cNvCxnSpPr/>
          <p:nvPr/>
        </p:nvCxnSpPr>
        <p:spPr>
          <a:xfrm rot="-5400000">
            <a:off x="2484902" y="7074443"/>
            <a:ext cx="616021" cy="0"/>
          </a:xfrm>
          <a:prstGeom prst="straightConnector1">
            <a:avLst/>
          </a:prstGeom>
          <a:noFill/>
          <a:ln cap="flat" cmpd="sng" w="12700">
            <a:solidFill>
              <a:srgbClr val="000000"/>
            </a:solidFill>
            <a:prstDash val="solid"/>
            <a:miter lim="800000"/>
            <a:headEnd len="med" w="med" type="triangle"/>
            <a:tailEnd len="med" w="med" type="triangle"/>
          </a:ln>
        </p:spPr>
      </p:cxnSp>
      <p:pic>
        <p:nvPicPr>
          <p:cNvPr id="1365" name="Google Shape;1365;p34"/>
          <p:cNvPicPr preferRelativeResize="0"/>
          <p:nvPr/>
        </p:nvPicPr>
        <p:blipFill rotWithShape="1">
          <a:blip r:embed="rId15">
            <a:alphaModFix/>
          </a:blip>
          <a:srcRect b="0" l="0" r="0" t="0"/>
          <a:stretch/>
        </p:blipFill>
        <p:spPr>
          <a:xfrm>
            <a:off x="2408165" y="7012383"/>
            <a:ext cx="309384" cy="191795"/>
          </a:xfrm>
          <a:prstGeom prst="rect">
            <a:avLst/>
          </a:prstGeom>
          <a:noFill/>
          <a:ln>
            <a:noFill/>
          </a:ln>
        </p:spPr>
      </p:pic>
      <p:sp>
        <p:nvSpPr>
          <p:cNvPr id="1366" name="Google Shape;1366;p34"/>
          <p:cNvSpPr/>
          <p:nvPr/>
        </p:nvSpPr>
        <p:spPr>
          <a:xfrm>
            <a:off x="1529540" y="9855436"/>
            <a:ext cx="655694" cy="386575"/>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367" name="Google Shape;1367;p34"/>
          <p:cNvPicPr preferRelativeResize="0"/>
          <p:nvPr/>
        </p:nvPicPr>
        <p:blipFill rotWithShape="1">
          <a:blip r:embed="rId16">
            <a:alphaModFix/>
          </a:blip>
          <a:srcRect b="0" l="0" r="0" t="0"/>
          <a:stretch/>
        </p:blipFill>
        <p:spPr>
          <a:xfrm>
            <a:off x="15421078" y="10518032"/>
            <a:ext cx="1171455" cy="180000"/>
          </a:xfrm>
          <a:prstGeom prst="rect">
            <a:avLst/>
          </a:prstGeom>
          <a:noFill/>
          <a:ln>
            <a:noFill/>
          </a:ln>
        </p:spPr>
      </p:pic>
      <p:sp>
        <p:nvSpPr>
          <p:cNvPr id="1368" name="Google Shape;1368;p34"/>
          <p:cNvSpPr/>
          <p:nvPr/>
        </p:nvSpPr>
        <p:spPr>
          <a:xfrm>
            <a:off x="15428662" y="9830649"/>
            <a:ext cx="529191" cy="386575"/>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369" name="Google Shape;1369;p34"/>
          <p:cNvSpPr/>
          <p:nvPr/>
        </p:nvSpPr>
        <p:spPr>
          <a:xfrm>
            <a:off x="15421077" y="6868755"/>
            <a:ext cx="529191" cy="386575"/>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370" name="Google Shape;1370;p34"/>
          <p:cNvPicPr preferRelativeResize="0"/>
          <p:nvPr/>
        </p:nvPicPr>
        <p:blipFill rotWithShape="1">
          <a:blip r:embed="rId17">
            <a:alphaModFix/>
          </a:blip>
          <a:srcRect b="0" l="0" r="0" t="0"/>
          <a:stretch/>
        </p:blipFill>
        <p:spPr>
          <a:xfrm>
            <a:off x="15421077" y="6394961"/>
            <a:ext cx="1174792" cy="184898"/>
          </a:xfrm>
          <a:prstGeom prst="rect">
            <a:avLst/>
          </a:prstGeom>
          <a:noFill/>
          <a:ln>
            <a:noFill/>
          </a:ln>
        </p:spPr>
      </p:pic>
      <p:pic>
        <p:nvPicPr>
          <p:cNvPr id="1371" name="Google Shape;1371;p34"/>
          <p:cNvPicPr preferRelativeResize="0"/>
          <p:nvPr/>
        </p:nvPicPr>
        <p:blipFill rotWithShape="1">
          <a:blip r:embed="rId18">
            <a:alphaModFix/>
          </a:blip>
          <a:srcRect b="0" l="0" r="0" t="0"/>
          <a:stretch/>
        </p:blipFill>
        <p:spPr>
          <a:xfrm>
            <a:off x="17636199" y="6472314"/>
            <a:ext cx="3597216" cy="288000"/>
          </a:xfrm>
          <a:prstGeom prst="rect">
            <a:avLst/>
          </a:prstGeom>
          <a:noFill/>
          <a:ln>
            <a:noFill/>
          </a:ln>
        </p:spPr>
      </p:pic>
      <p:pic>
        <p:nvPicPr>
          <p:cNvPr id="1372" name="Google Shape;1372;p34"/>
          <p:cNvPicPr preferRelativeResize="0"/>
          <p:nvPr/>
        </p:nvPicPr>
        <p:blipFill rotWithShape="1">
          <a:blip r:embed="rId19">
            <a:alphaModFix/>
          </a:blip>
          <a:srcRect b="0" l="0" r="0" t="0"/>
          <a:stretch/>
        </p:blipFill>
        <p:spPr>
          <a:xfrm>
            <a:off x="17636203" y="7519648"/>
            <a:ext cx="2264915" cy="288000"/>
          </a:xfrm>
          <a:prstGeom prst="rect">
            <a:avLst/>
          </a:prstGeom>
          <a:noFill/>
          <a:ln>
            <a:noFill/>
          </a:ln>
        </p:spPr>
      </p:pic>
      <p:pic>
        <p:nvPicPr>
          <p:cNvPr id="1373" name="Google Shape;1373;p34"/>
          <p:cNvPicPr preferRelativeResize="0"/>
          <p:nvPr/>
        </p:nvPicPr>
        <p:blipFill rotWithShape="1">
          <a:blip r:embed="rId20">
            <a:alphaModFix/>
          </a:blip>
          <a:srcRect b="0" l="0" r="0" t="0"/>
          <a:stretch/>
        </p:blipFill>
        <p:spPr>
          <a:xfrm>
            <a:off x="17636203" y="10661650"/>
            <a:ext cx="1801448" cy="288000"/>
          </a:xfrm>
          <a:prstGeom prst="rect">
            <a:avLst/>
          </a:prstGeom>
          <a:noFill/>
          <a:ln>
            <a:noFill/>
          </a:ln>
        </p:spPr>
      </p:pic>
      <p:pic>
        <p:nvPicPr>
          <p:cNvPr id="1374" name="Google Shape;1374;p34"/>
          <p:cNvPicPr preferRelativeResize="0"/>
          <p:nvPr/>
        </p:nvPicPr>
        <p:blipFill rotWithShape="1">
          <a:blip r:embed="rId21">
            <a:alphaModFix/>
          </a:blip>
          <a:srcRect b="0" l="0" r="0" t="0"/>
          <a:stretch/>
        </p:blipFill>
        <p:spPr>
          <a:xfrm>
            <a:off x="17636204" y="8566982"/>
            <a:ext cx="3486518" cy="288000"/>
          </a:xfrm>
          <a:prstGeom prst="rect">
            <a:avLst/>
          </a:prstGeom>
          <a:noFill/>
          <a:ln>
            <a:noFill/>
          </a:ln>
        </p:spPr>
      </p:pic>
      <p:pic>
        <p:nvPicPr>
          <p:cNvPr id="1375" name="Google Shape;1375;p34"/>
          <p:cNvPicPr preferRelativeResize="0"/>
          <p:nvPr/>
        </p:nvPicPr>
        <p:blipFill rotWithShape="1">
          <a:blip r:embed="rId22">
            <a:alphaModFix/>
          </a:blip>
          <a:srcRect b="0" l="0" r="0" t="0"/>
          <a:stretch/>
        </p:blipFill>
        <p:spPr>
          <a:xfrm>
            <a:off x="17636204" y="9614316"/>
            <a:ext cx="3806941" cy="288000"/>
          </a:xfrm>
          <a:prstGeom prst="rect">
            <a:avLst/>
          </a:prstGeom>
          <a:noFill/>
          <a:ln>
            <a:noFill/>
          </a:ln>
        </p:spPr>
      </p:pic>
      <p:pic>
        <p:nvPicPr>
          <p:cNvPr id="1376" name="Google Shape;1376;p34"/>
          <p:cNvPicPr preferRelativeResize="0"/>
          <p:nvPr/>
        </p:nvPicPr>
        <p:blipFill rotWithShape="1">
          <a:blip r:embed="rId23">
            <a:alphaModFix/>
          </a:blip>
          <a:srcRect b="0" l="0" r="0" t="0"/>
          <a:stretch/>
        </p:blipFill>
        <p:spPr>
          <a:xfrm>
            <a:off x="17636205" y="11708984"/>
            <a:ext cx="1825956" cy="288000"/>
          </a:xfrm>
          <a:prstGeom prst="rect">
            <a:avLst/>
          </a:prstGeom>
          <a:noFill/>
          <a:ln>
            <a:noFill/>
          </a:ln>
        </p:spPr>
      </p:pic>
      <p:pic>
        <p:nvPicPr>
          <p:cNvPr id="1377" name="Google Shape;1377;p34"/>
          <p:cNvPicPr preferRelativeResize="0"/>
          <p:nvPr/>
        </p:nvPicPr>
        <p:blipFill rotWithShape="1">
          <a:blip r:embed="rId24">
            <a:alphaModFix/>
          </a:blip>
          <a:srcRect b="0" l="0" r="0" t="0"/>
          <a:stretch/>
        </p:blipFill>
        <p:spPr>
          <a:xfrm>
            <a:off x="5546947" y="3503010"/>
            <a:ext cx="6733631" cy="1605369"/>
          </a:xfrm>
          <a:prstGeom prst="rect">
            <a:avLst/>
          </a:prstGeom>
          <a:noFill/>
          <a:ln>
            <a:noFill/>
          </a:ln>
        </p:spPr>
      </p:pic>
      <p:sp>
        <p:nvSpPr>
          <p:cNvPr id="1378" name="Google Shape;1378;p34"/>
          <p:cNvSpPr txBox="1"/>
          <p:nvPr/>
        </p:nvSpPr>
        <p:spPr>
          <a:xfrm>
            <a:off x="17773956" y="5317510"/>
            <a:ext cx="3321702" cy="75469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3200">
                <a:solidFill>
                  <a:schemeClr val="dk2"/>
                </a:solidFill>
                <a:latin typeface="Montserrat"/>
                <a:ea typeface="Montserrat"/>
                <a:cs typeface="Montserrat"/>
                <a:sym typeface="Montserrat"/>
              </a:rPr>
              <a:t>Parameters</a:t>
            </a:r>
            <a:endParaRPr sz="3200">
              <a:solidFill>
                <a:schemeClr val="dk2"/>
              </a:solidFill>
              <a:latin typeface="Montserrat"/>
              <a:ea typeface="Montserrat"/>
              <a:cs typeface="Montserrat"/>
              <a:sym typeface="Montserrat"/>
            </a:endParaRPr>
          </a:p>
        </p:txBody>
      </p:sp>
      <p:sp>
        <p:nvSpPr>
          <p:cNvPr id="1379" name="Google Shape;1379;p34"/>
          <p:cNvSpPr/>
          <p:nvPr/>
        </p:nvSpPr>
        <p:spPr>
          <a:xfrm>
            <a:off x="4591831" y="3168245"/>
            <a:ext cx="8431150" cy="2259619"/>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35"/>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385" name="Google Shape;1385;p35"/>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86" name="Google Shape;1386;p35"/>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387" name="Google Shape;1387;p35"/>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388" name="Google Shape;1388;p35"/>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389" name="Google Shape;1389;p35"/>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390" name="Google Shape;1390;p35"/>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391" name="Google Shape;1391;p35"/>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392" name="Google Shape;1392;p35"/>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1393" name="Google Shape;1393;p35"/>
          <p:cNvSpPr/>
          <p:nvPr/>
        </p:nvSpPr>
        <p:spPr>
          <a:xfrm rot="10800000">
            <a:off x="3452348" y="5789982"/>
            <a:ext cx="10671971" cy="6070592"/>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394" name="Google Shape;1394;p35"/>
          <p:cNvPicPr preferRelativeResize="0"/>
          <p:nvPr/>
        </p:nvPicPr>
        <p:blipFill rotWithShape="1">
          <a:blip r:embed="rId3">
            <a:alphaModFix/>
          </a:blip>
          <a:srcRect b="0" l="0" r="0" t="0"/>
          <a:stretch/>
        </p:blipFill>
        <p:spPr>
          <a:xfrm>
            <a:off x="1294563" y="10919913"/>
            <a:ext cx="1876782" cy="356630"/>
          </a:xfrm>
          <a:prstGeom prst="rect">
            <a:avLst/>
          </a:prstGeom>
          <a:noFill/>
          <a:ln>
            <a:noFill/>
          </a:ln>
        </p:spPr>
      </p:pic>
      <p:pic>
        <p:nvPicPr>
          <p:cNvPr id="1395" name="Google Shape;1395;p35"/>
          <p:cNvPicPr preferRelativeResize="0"/>
          <p:nvPr/>
        </p:nvPicPr>
        <p:blipFill rotWithShape="1">
          <a:blip r:embed="rId4">
            <a:alphaModFix/>
          </a:blip>
          <a:srcRect b="0" l="0" r="0" t="0"/>
          <a:stretch/>
        </p:blipFill>
        <p:spPr>
          <a:xfrm>
            <a:off x="8289997" y="11184742"/>
            <a:ext cx="656109" cy="273993"/>
          </a:xfrm>
          <a:prstGeom prst="rect">
            <a:avLst/>
          </a:prstGeom>
          <a:noFill/>
          <a:ln>
            <a:noFill/>
          </a:ln>
        </p:spPr>
      </p:pic>
      <p:sp>
        <p:nvSpPr>
          <p:cNvPr id="1396" name="Google Shape;1396;p35"/>
          <p:cNvSpPr/>
          <p:nvPr/>
        </p:nvSpPr>
        <p:spPr>
          <a:xfrm rot="5400000">
            <a:off x="7966164" y="5870607"/>
            <a:ext cx="943050" cy="8331279"/>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397" name="Google Shape;1397;p35"/>
          <p:cNvSpPr/>
          <p:nvPr/>
        </p:nvSpPr>
        <p:spPr>
          <a:xfrm flipH="1" rot="-5400000">
            <a:off x="7970855" y="2917514"/>
            <a:ext cx="933678" cy="8331278"/>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398" name="Google Shape;1398;p35"/>
          <p:cNvSpPr/>
          <p:nvPr/>
        </p:nvSpPr>
        <p:spPr>
          <a:xfrm rot="5400000">
            <a:off x="7662020" y="4378314"/>
            <a:ext cx="1551342" cy="8331279"/>
          </a:xfrm>
          <a:custGeom>
            <a:rect b="b" l="l" r="r" t="t"/>
            <a:pathLst>
              <a:path extrusionOk="0" h="1851025" w="342900">
                <a:moveTo>
                  <a:pt x="136525" y="0"/>
                </a:moveTo>
                <a:lnTo>
                  <a:pt x="342900" y="0"/>
                </a:lnTo>
                <a:lnTo>
                  <a:pt x="203200" y="1851025"/>
                </a:lnTo>
                <a:lnTo>
                  <a:pt x="0" y="1851025"/>
                </a:lnTo>
                <a:lnTo>
                  <a:pt x="13652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399" name="Google Shape;1399;p35"/>
          <p:cNvSpPr/>
          <p:nvPr/>
        </p:nvSpPr>
        <p:spPr>
          <a:xfrm rot="5400000">
            <a:off x="12895762" y="6321428"/>
            <a:ext cx="933678" cy="1523450"/>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400" name="Google Shape;1400;p35"/>
          <p:cNvSpPr/>
          <p:nvPr/>
        </p:nvSpPr>
        <p:spPr>
          <a:xfrm rot="5400000">
            <a:off x="13033442" y="9271889"/>
            <a:ext cx="666338" cy="1515431"/>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1401" name="Google Shape;1401;p35"/>
          <p:cNvCxnSpPr/>
          <p:nvPr/>
        </p:nvCxnSpPr>
        <p:spPr>
          <a:xfrm>
            <a:off x="8481056" y="6826371"/>
            <a:ext cx="0" cy="8275673"/>
          </a:xfrm>
          <a:prstGeom prst="straightConnector1">
            <a:avLst/>
          </a:prstGeom>
          <a:noFill/>
          <a:ln cap="flat" cmpd="sng" w="12700">
            <a:solidFill>
              <a:srgbClr val="000000"/>
            </a:solidFill>
            <a:prstDash val="solid"/>
            <a:miter lim="800000"/>
            <a:headEnd len="med" w="med" type="triangle"/>
            <a:tailEnd len="med" w="med" type="triangle"/>
          </a:ln>
        </p:spPr>
      </p:cxnSp>
      <p:sp>
        <p:nvSpPr>
          <p:cNvPr id="1402" name="Google Shape;1402;p35"/>
          <p:cNvSpPr/>
          <p:nvPr/>
        </p:nvSpPr>
        <p:spPr>
          <a:xfrm rot="5400000">
            <a:off x="3382309" y="9632811"/>
            <a:ext cx="945009" cy="804913"/>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403" name="Google Shape;1403;p35"/>
          <p:cNvSpPr/>
          <p:nvPr/>
        </p:nvSpPr>
        <p:spPr>
          <a:xfrm rot="5400000">
            <a:off x="3525026" y="6669903"/>
            <a:ext cx="666338" cy="811678"/>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404" name="Google Shape;1404;p35"/>
          <p:cNvPicPr preferRelativeResize="0"/>
          <p:nvPr/>
        </p:nvPicPr>
        <p:blipFill rotWithShape="1">
          <a:blip r:embed="rId5">
            <a:alphaModFix/>
          </a:blip>
          <a:srcRect b="0" l="0" r="0" t="0"/>
          <a:stretch/>
        </p:blipFill>
        <p:spPr>
          <a:xfrm>
            <a:off x="3051614" y="9031587"/>
            <a:ext cx="199064" cy="210281"/>
          </a:xfrm>
          <a:prstGeom prst="rect">
            <a:avLst/>
          </a:prstGeom>
          <a:noFill/>
          <a:ln>
            <a:noFill/>
          </a:ln>
        </p:spPr>
      </p:pic>
      <p:cxnSp>
        <p:nvCxnSpPr>
          <p:cNvPr id="1405" name="Google Shape;1405;p35"/>
          <p:cNvCxnSpPr/>
          <p:nvPr/>
        </p:nvCxnSpPr>
        <p:spPr>
          <a:xfrm rot="-5400000">
            <a:off x="3009247" y="9759045"/>
            <a:ext cx="324197" cy="0"/>
          </a:xfrm>
          <a:prstGeom prst="straightConnector1">
            <a:avLst/>
          </a:prstGeom>
          <a:noFill/>
          <a:ln cap="flat" cmpd="sng" w="12700">
            <a:solidFill>
              <a:srgbClr val="000000"/>
            </a:solidFill>
            <a:prstDash val="solid"/>
            <a:miter lim="800000"/>
            <a:headEnd len="sm" w="sm" type="none"/>
            <a:tailEnd len="med" w="med" type="triangle"/>
          </a:ln>
        </p:spPr>
      </p:cxnSp>
      <p:cxnSp>
        <p:nvCxnSpPr>
          <p:cNvPr id="1406" name="Google Shape;1406;p35"/>
          <p:cNvCxnSpPr/>
          <p:nvPr/>
        </p:nvCxnSpPr>
        <p:spPr>
          <a:xfrm rot="-5400000">
            <a:off x="2983984" y="8481131"/>
            <a:ext cx="375408" cy="0"/>
          </a:xfrm>
          <a:prstGeom prst="straightConnector1">
            <a:avLst/>
          </a:prstGeom>
          <a:noFill/>
          <a:ln cap="flat" cmpd="sng" w="12700">
            <a:solidFill>
              <a:srgbClr val="000000"/>
            </a:solidFill>
            <a:prstDash val="solid"/>
            <a:miter lim="800000"/>
            <a:headEnd len="med" w="med" type="triangle"/>
            <a:tailEnd len="sm" w="sm" type="none"/>
          </a:ln>
        </p:spPr>
      </p:cxnSp>
      <p:pic>
        <p:nvPicPr>
          <p:cNvPr id="1407" name="Google Shape;1407;p35"/>
          <p:cNvPicPr preferRelativeResize="0"/>
          <p:nvPr/>
        </p:nvPicPr>
        <p:blipFill rotWithShape="1">
          <a:blip r:embed="rId6">
            <a:alphaModFix/>
          </a:blip>
          <a:srcRect b="0" l="0" r="0" t="0"/>
          <a:stretch/>
        </p:blipFill>
        <p:spPr>
          <a:xfrm>
            <a:off x="3027882" y="7488227"/>
            <a:ext cx="251335" cy="187485"/>
          </a:xfrm>
          <a:prstGeom prst="rect">
            <a:avLst/>
          </a:prstGeom>
          <a:noFill/>
          <a:ln>
            <a:noFill/>
          </a:ln>
        </p:spPr>
      </p:pic>
      <p:cxnSp>
        <p:nvCxnSpPr>
          <p:cNvPr id="1408" name="Google Shape;1408;p35"/>
          <p:cNvCxnSpPr/>
          <p:nvPr/>
        </p:nvCxnSpPr>
        <p:spPr>
          <a:xfrm rot="-5400000">
            <a:off x="3009589" y="7948935"/>
            <a:ext cx="324197" cy="0"/>
          </a:xfrm>
          <a:prstGeom prst="straightConnector1">
            <a:avLst/>
          </a:prstGeom>
          <a:noFill/>
          <a:ln cap="flat" cmpd="sng" w="12700">
            <a:solidFill>
              <a:srgbClr val="000000"/>
            </a:solidFill>
            <a:prstDash val="solid"/>
            <a:miter lim="800000"/>
            <a:headEnd len="sm" w="sm" type="none"/>
            <a:tailEnd len="med" w="med" type="triangle"/>
          </a:ln>
        </p:spPr>
      </p:cxnSp>
      <p:cxnSp>
        <p:nvCxnSpPr>
          <p:cNvPr id="1409" name="Google Shape;1409;p35"/>
          <p:cNvCxnSpPr/>
          <p:nvPr/>
        </p:nvCxnSpPr>
        <p:spPr>
          <a:xfrm rot="-5400000">
            <a:off x="2983984" y="7221207"/>
            <a:ext cx="375408" cy="0"/>
          </a:xfrm>
          <a:prstGeom prst="straightConnector1">
            <a:avLst/>
          </a:prstGeom>
          <a:noFill/>
          <a:ln cap="flat" cmpd="sng" w="12700">
            <a:solidFill>
              <a:srgbClr val="000000"/>
            </a:solidFill>
            <a:prstDash val="solid"/>
            <a:miter lim="800000"/>
            <a:headEnd len="med" w="med" type="triangle"/>
            <a:tailEnd len="sm" w="sm" type="none"/>
          </a:ln>
        </p:spPr>
      </p:cxnSp>
      <p:cxnSp>
        <p:nvCxnSpPr>
          <p:cNvPr id="1410" name="Google Shape;1410;p35"/>
          <p:cNvCxnSpPr/>
          <p:nvPr/>
        </p:nvCxnSpPr>
        <p:spPr>
          <a:xfrm>
            <a:off x="3036764" y="7007916"/>
            <a:ext cx="0" cy="801991"/>
          </a:xfrm>
          <a:prstGeom prst="straightConnector1">
            <a:avLst/>
          </a:prstGeom>
          <a:noFill/>
          <a:ln cap="flat" cmpd="sng" w="9525">
            <a:solidFill>
              <a:srgbClr val="000000"/>
            </a:solidFill>
            <a:prstDash val="dash"/>
            <a:miter lim="800000"/>
            <a:headEnd len="sm" w="sm" type="none"/>
            <a:tailEnd len="sm" w="sm" type="none"/>
          </a:ln>
        </p:spPr>
      </p:cxnSp>
      <p:cxnSp>
        <p:nvCxnSpPr>
          <p:cNvPr id="1411" name="Google Shape;1411;p35"/>
          <p:cNvCxnSpPr/>
          <p:nvPr/>
        </p:nvCxnSpPr>
        <p:spPr>
          <a:xfrm>
            <a:off x="3549982" y="7051365"/>
            <a:ext cx="0" cy="1405274"/>
          </a:xfrm>
          <a:prstGeom prst="straightConnector1">
            <a:avLst/>
          </a:prstGeom>
          <a:noFill/>
          <a:ln cap="flat" cmpd="sng" w="9525">
            <a:solidFill>
              <a:srgbClr val="000000"/>
            </a:solidFill>
            <a:prstDash val="dash"/>
            <a:miter lim="800000"/>
            <a:headEnd len="sm" w="sm" type="none"/>
            <a:tailEnd len="sm" w="sm" type="none"/>
          </a:ln>
        </p:spPr>
      </p:cxnSp>
      <p:cxnSp>
        <p:nvCxnSpPr>
          <p:cNvPr id="1412" name="Google Shape;1412;p35"/>
          <p:cNvCxnSpPr/>
          <p:nvPr/>
        </p:nvCxnSpPr>
        <p:spPr>
          <a:xfrm>
            <a:off x="3552308" y="7989606"/>
            <a:ext cx="0" cy="1409925"/>
          </a:xfrm>
          <a:prstGeom prst="straightConnector1">
            <a:avLst/>
          </a:prstGeom>
          <a:noFill/>
          <a:ln cap="flat" cmpd="sng" w="9525">
            <a:solidFill>
              <a:srgbClr val="000000"/>
            </a:solidFill>
            <a:prstDash val="dash"/>
            <a:miter lim="800000"/>
            <a:headEnd len="sm" w="sm" type="none"/>
            <a:tailEnd len="sm" w="sm" type="none"/>
          </a:ln>
        </p:spPr>
      </p:cxnSp>
      <p:cxnSp>
        <p:nvCxnSpPr>
          <p:cNvPr id="1413" name="Google Shape;1413;p35"/>
          <p:cNvCxnSpPr/>
          <p:nvPr/>
        </p:nvCxnSpPr>
        <p:spPr>
          <a:xfrm>
            <a:off x="3411755" y="8772970"/>
            <a:ext cx="0" cy="1579587"/>
          </a:xfrm>
          <a:prstGeom prst="straightConnector1">
            <a:avLst/>
          </a:prstGeom>
          <a:noFill/>
          <a:ln cap="flat" cmpd="sng" w="9525">
            <a:solidFill>
              <a:srgbClr val="000000"/>
            </a:solidFill>
            <a:prstDash val="dash"/>
            <a:miter lim="800000"/>
            <a:headEnd len="sm" w="sm" type="none"/>
            <a:tailEnd len="sm" w="sm" type="none"/>
          </a:ln>
        </p:spPr>
      </p:cxnSp>
      <p:pic>
        <p:nvPicPr>
          <p:cNvPr id="1414" name="Google Shape;1414;p35"/>
          <p:cNvPicPr preferRelativeResize="0"/>
          <p:nvPr/>
        </p:nvPicPr>
        <p:blipFill rotWithShape="1">
          <a:blip r:embed="rId5">
            <a:alphaModFix/>
          </a:blip>
          <a:srcRect b="0" l="0" r="0" t="0"/>
          <a:stretch/>
        </p:blipFill>
        <p:spPr>
          <a:xfrm>
            <a:off x="14281402" y="7842247"/>
            <a:ext cx="199064" cy="210281"/>
          </a:xfrm>
          <a:prstGeom prst="rect">
            <a:avLst/>
          </a:prstGeom>
          <a:noFill/>
          <a:ln>
            <a:noFill/>
          </a:ln>
        </p:spPr>
      </p:pic>
      <p:cxnSp>
        <p:nvCxnSpPr>
          <p:cNvPr id="1415" name="Google Shape;1415;p35"/>
          <p:cNvCxnSpPr/>
          <p:nvPr/>
        </p:nvCxnSpPr>
        <p:spPr>
          <a:xfrm rot="-5400000">
            <a:off x="14213040" y="8567688"/>
            <a:ext cx="324197" cy="0"/>
          </a:xfrm>
          <a:prstGeom prst="straightConnector1">
            <a:avLst/>
          </a:prstGeom>
          <a:noFill/>
          <a:ln cap="flat" cmpd="sng" w="12700">
            <a:solidFill>
              <a:srgbClr val="000000"/>
            </a:solidFill>
            <a:prstDash val="solid"/>
            <a:miter lim="800000"/>
            <a:headEnd len="sm" w="sm" type="none"/>
            <a:tailEnd len="med" w="med" type="triangle"/>
          </a:ln>
        </p:spPr>
      </p:cxnSp>
      <p:cxnSp>
        <p:nvCxnSpPr>
          <p:cNvPr id="1416" name="Google Shape;1416;p35"/>
          <p:cNvCxnSpPr/>
          <p:nvPr/>
        </p:nvCxnSpPr>
        <p:spPr>
          <a:xfrm rot="-5400000">
            <a:off x="14187777" y="7328690"/>
            <a:ext cx="375408" cy="0"/>
          </a:xfrm>
          <a:prstGeom prst="straightConnector1">
            <a:avLst/>
          </a:prstGeom>
          <a:noFill/>
          <a:ln cap="flat" cmpd="sng" w="12700">
            <a:solidFill>
              <a:srgbClr val="000000"/>
            </a:solidFill>
            <a:prstDash val="solid"/>
            <a:miter lim="800000"/>
            <a:headEnd len="med" w="med" type="triangle"/>
            <a:tailEnd len="sm" w="sm" type="none"/>
          </a:ln>
        </p:spPr>
      </p:cxnSp>
      <p:pic>
        <p:nvPicPr>
          <p:cNvPr id="1417" name="Google Shape;1417;p35"/>
          <p:cNvPicPr preferRelativeResize="0"/>
          <p:nvPr/>
        </p:nvPicPr>
        <p:blipFill rotWithShape="1">
          <a:blip r:embed="rId6">
            <a:alphaModFix/>
          </a:blip>
          <a:srcRect b="0" l="0" r="0" t="0"/>
          <a:stretch/>
        </p:blipFill>
        <p:spPr>
          <a:xfrm>
            <a:off x="14256511" y="9414888"/>
            <a:ext cx="251335" cy="187485"/>
          </a:xfrm>
          <a:prstGeom prst="rect">
            <a:avLst/>
          </a:prstGeom>
          <a:noFill/>
          <a:ln>
            <a:noFill/>
          </a:ln>
        </p:spPr>
      </p:pic>
      <p:cxnSp>
        <p:nvCxnSpPr>
          <p:cNvPr id="1418" name="Google Shape;1418;p35"/>
          <p:cNvCxnSpPr/>
          <p:nvPr/>
        </p:nvCxnSpPr>
        <p:spPr>
          <a:xfrm rot="-5400000">
            <a:off x="14213971" y="9886626"/>
            <a:ext cx="324197" cy="0"/>
          </a:xfrm>
          <a:prstGeom prst="straightConnector1">
            <a:avLst/>
          </a:prstGeom>
          <a:noFill/>
          <a:ln cap="flat" cmpd="sng" w="12700">
            <a:solidFill>
              <a:srgbClr val="000000"/>
            </a:solidFill>
            <a:prstDash val="solid"/>
            <a:miter lim="800000"/>
            <a:headEnd len="sm" w="sm" type="none"/>
            <a:tailEnd len="med" w="med" type="triangle"/>
          </a:ln>
        </p:spPr>
      </p:cxnSp>
      <p:cxnSp>
        <p:nvCxnSpPr>
          <p:cNvPr id="1419" name="Google Shape;1419;p35"/>
          <p:cNvCxnSpPr/>
          <p:nvPr/>
        </p:nvCxnSpPr>
        <p:spPr>
          <a:xfrm rot="-5400000">
            <a:off x="14188366" y="9123850"/>
            <a:ext cx="375408" cy="0"/>
          </a:xfrm>
          <a:prstGeom prst="straightConnector1">
            <a:avLst/>
          </a:prstGeom>
          <a:noFill/>
          <a:ln cap="flat" cmpd="sng" w="12700">
            <a:solidFill>
              <a:srgbClr val="000000"/>
            </a:solidFill>
            <a:prstDash val="solid"/>
            <a:miter lim="800000"/>
            <a:headEnd len="med" w="med" type="triangle"/>
            <a:tailEnd len="sm" w="sm" type="none"/>
          </a:ln>
        </p:spPr>
      </p:cxnSp>
      <p:cxnSp>
        <p:nvCxnSpPr>
          <p:cNvPr id="1420" name="Google Shape;1420;p35"/>
          <p:cNvCxnSpPr/>
          <p:nvPr/>
        </p:nvCxnSpPr>
        <p:spPr>
          <a:xfrm>
            <a:off x="13550668" y="8385270"/>
            <a:ext cx="0" cy="1883006"/>
          </a:xfrm>
          <a:prstGeom prst="straightConnector1">
            <a:avLst/>
          </a:prstGeom>
          <a:noFill/>
          <a:ln cap="flat" cmpd="sng" w="9525">
            <a:solidFill>
              <a:srgbClr val="000000"/>
            </a:solidFill>
            <a:prstDash val="dash"/>
            <a:miter lim="800000"/>
            <a:headEnd len="sm" w="sm" type="none"/>
            <a:tailEnd len="sm" w="sm" type="none"/>
          </a:ln>
        </p:spPr>
      </p:cxnSp>
      <p:cxnSp>
        <p:nvCxnSpPr>
          <p:cNvPr id="1421" name="Google Shape;1421;p35"/>
          <p:cNvCxnSpPr/>
          <p:nvPr/>
        </p:nvCxnSpPr>
        <p:spPr>
          <a:xfrm>
            <a:off x="13874337" y="8440993"/>
            <a:ext cx="0" cy="2510886"/>
          </a:xfrm>
          <a:prstGeom prst="straightConnector1">
            <a:avLst/>
          </a:prstGeom>
          <a:noFill/>
          <a:ln cap="flat" cmpd="sng" w="9525">
            <a:solidFill>
              <a:srgbClr val="000000"/>
            </a:solidFill>
            <a:prstDash val="dash"/>
            <a:miter lim="800000"/>
            <a:headEnd len="sm" w="sm" type="none"/>
            <a:tailEnd len="sm" w="sm" type="none"/>
          </a:ln>
        </p:spPr>
      </p:cxnSp>
      <p:cxnSp>
        <p:nvCxnSpPr>
          <p:cNvPr id="1422" name="Google Shape;1422;p35"/>
          <p:cNvCxnSpPr/>
          <p:nvPr/>
        </p:nvCxnSpPr>
        <p:spPr>
          <a:xfrm>
            <a:off x="13857989" y="6270338"/>
            <a:ext cx="0" cy="2543581"/>
          </a:xfrm>
          <a:prstGeom prst="straightConnector1">
            <a:avLst/>
          </a:prstGeom>
          <a:noFill/>
          <a:ln cap="flat" cmpd="sng" w="9525">
            <a:solidFill>
              <a:srgbClr val="000000"/>
            </a:solidFill>
            <a:prstDash val="dash"/>
            <a:miter lim="800000"/>
            <a:headEnd len="sm" w="sm" type="none"/>
            <a:tailEnd len="sm" w="sm" type="none"/>
          </a:ln>
        </p:spPr>
      </p:cxnSp>
      <p:cxnSp>
        <p:nvCxnSpPr>
          <p:cNvPr id="1423" name="Google Shape;1423;p35"/>
          <p:cNvCxnSpPr/>
          <p:nvPr/>
        </p:nvCxnSpPr>
        <p:spPr>
          <a:xfrm>
            <a:off x="13537584" y="7424885"/>
            <a:ext cx="0" cy="1902770"/>
          </a:xfrm>
          <a:prstGeom prst="straightConnector1">
            <a:avLst/>
          </a:prstGeom>
          <a:noFill/>
          <a:ln cap="flat" cmpd="sng" w="9525">
            <a:solidFill>
              <a:srgbClr val="000000"/>
            </a:solidFill>
            <a:prstDash val="dash"/>
            <a:miter lim="800000"/>
            <a:headEnd len="sm" w="sm" type="none"/>
            <a:tailEnd len="sm" w="sm" type="none"/>
          </a:ln>
        </p:spPr>
      </p:cxnSp>
      <p:pic>
        <p:nvPicPr>
          <p:cNvPr id="1424" name="Google Shape;1424;p35"/>
          <p:cNvPicPr preferRelativeResize="0"/>
          <p:nvPr/>
        </p:nvPicPr>
        <p:blipFill rotWithShape="1">
          <a:blip r:embed="rId7">
            <a:alphaModFix/>
          </a:blip>
          <a:srcRect b="0" l="0" r="0" t="0"/>
          <a:stretch/>
        </p:blipFill>
        <p:spPr>
          <a:xfrm>
            <a:off x="4591831" y="9926027"/>
            <a:ext cx="140196" cy="275378"/>
          </a:xfrm>
          <a:prstGeom prst="rect">
            <a:avLst/>
          </a:prstGeom>
          <a:noFill/>
          <a:ln>
            <a:noFill/>
          </a:ln>
        </p:spPr>
      </p:pic>
      <p:pic>
        <p:nvPicPr>
          <p:cNvPr id="1425" name="Google Shape;1425;p35"/>
          <p:cNvPicPr preferRelativeResize="0"/>
          <p:nvPr/>
        </p:nvPicPr>
        <p:blipFill rotWithShape="1">
          <a:blip r:embed="rId8">
            <a:alphaModFix/>
          </a:blip>
          <a:srcRect b="0" l="0" r="0" t="0"/>
          <a:stretch/>
        </p:blipFill>
        <p:spPr>
          <a:xfrm>
            <a:off x="4578062" y="8160866"/>
            <a:ext cx="167734" cy="275378"/>
          </a:xfrm>
          <a:prstGeom prst="rect">
            <a:avLst/>
          </a:prstGeom>
          <a:noFill/>
          <a:ln>
            <a:noFill/>
          </a:ln>
        </p:spPr>
      </p:pic>
      <p:pic>
        <p:nvPicPr>
          <p:cNvPr id="1426" name="Google Shape;1426;p35"/>
          <p:cNvPicPr preferRelativeResize="0"/>
          <p:nvPr/>
        </p:nvPicPr>
        <p:blipFill rotWithShape="1">
          <a:blip r:embed="rId9">
            <a:alphaModFix/>
          </a:blip>
          <a:srcRect b="0" l="0" r="0" t="0"/>
          <a:stretch/>
        </p:blipFill>
        <p:spPr>
          <a:xfrm>
            <a:off x="4569299" y="6950568"/>
            <a:ext cx="175246" cy="285392"/>
          </a:xfrm>
          <a:prstGeom prst="rect">
            <a:avLst/>
          </a:prstGeom>
          <a:noFill/>
          <a:ln>
            <a:noFill/>
          </a:ln>
        </p:spPr>
      </p:pic>
      <p:cxnSp>
        <p:nvCxnSpPr>
          <p:cNvPr id="1427" name="Google Shape;1427;p35"/>
          <p:cNvCxnSpPr/>
          <p:nvPr/>
        </p:nvCxnSpPr>
        <p:spPr>
          <a:xfrm>
            <a:off x="3411979" y="9724444"/>
            <a:ext cx="0" cy="1574313"/>
          </a:xfrm>
          <a:prstGeom prst="straightConnector1">
            <a:avLst/>
          </a:prstGeom>
          <a:noFill/>
          <a:ln cap="flat" cmpd="sng" w="9525">
            <a:solidFill>
              <a:srgbClr val="000000"/>
            </a:solidFill>
            <a:prstDash val="dash"/>
            <a:miter lim="800000"/>
            <a:headEnd len="sm" w="sm" type="none"/>
            <a:tailEnd len="sm" w="sm" type="none"/>
          </a:ln>
        </p:spPr>
      </p:cxnSp>
      <p:cxnSp>
        <p:nvCxnSpPr>
          <p:cNvPr id="1428" name="Google Shape;1428;p35"/>
          <p:cNvCxnSpPr/>
          <p:nvPr/>
        </p:nvCxnSpPr>
        <p:spPr>
          <a:xfrm rot="-5400000">
            <a:off x="2349498" y="10061023"/>
            <a:ext cx="893497" cy="0"/>
          </a:xfrm>
          <a:prstGeom prst="straightConnector1">
            <a:avLst/>
          </a:prstGeom>
          <a:noFill/>
          <a:ln cap="flat" cmpd="sng" w="12700">
            <a:solidFill>
              <a:srgbClr val="000000"/>
            </a:solidFill>
            <a:prstDash val="solid"/>
            <a:miter lim="800000"/>
            <a:headEnd len="med" w="med" type="triangle"/>
            <a:tailEnd len="med" w="med" type="triangle"/>
          </a:ln>
        </p:spPr>
      </p:cxnSp>
      <p:pic>
        <p:nvPicPr>
          <p:cNvPr id="1429" name="Google Shape;1429;p35"/>
          <p:cNvPicPr preferRelativeResize="0"/>
          <p:nvPr/>
        </p:nvPicPr>
        <p:blipFill rotWithShape="1">
          <a:blip r:embed="rId10">
            <a:alphaModFix/>
          </a:blip>
          <a:srcRect b="0" l="0" r="0" t="0"/>
          <a:stretch/>
        </p:blipFill>
        <p:spPr>
          <a:xfrm>
            <a:off x="2415056" y="10015899"/>
            <a:ext cx="302272" cy="191795"/>
          </a:xfrm>
          <a:prstGeom prst="rect">
            <a:avLst/>
          </a:prstGeom>
          <a:noFill/>
          <a:ln>
            <a:noFill/>
          </a:ln>
        </p:spPr>
      </p:pic>
      <p:cxnSp>
        <p:nvCxnSpPr>
          <p:cNvPr id="1430" name="Google Shape;1430;p35"/>
          <p:cNvCxnSpPr/>
          <p:nvPr/>
        </p:nvCxnSpPr>
        <p:spPr>
          <a:xfrm>
            <a:off x="14534548" y="6021082"/>
            <a:ext cx="0" cy="1190464"/>
          </a:xfrm>
          <a:prstGeom prst="straightConnector1">
            <a:avLst/>
          </a:prstGeom>
          <a:noFill/>
          <a:ln cap="flat" cmpd="sng" w="9525">
            <a:solidFill>
              <a:srgbClr val="000000"/>
            </a:solidFill>
            <a:prstDash val="dash"/>
            <a:miter lim="800000"/>
            <a:headEnd len="sm" w="sm" type="none"/>
            <a:tailEnd len="sm" w="sm" type="none"/>
          </a:ln>
        </p:spPr>
      </p:cxnSp>
      <p:cxnSp>
        <p:nvCxnSpPr>
          <p:cNvPr id="1431" name="Google Shape;1431;p35"/>
          <p:cNvCxnSpPr/>
          <p:nvPr/>
        </p:nvCxnSpPr>
        <p:spPr>
          <a:xfrm rot="-5400000">
            <a:off x="14306684" y="7069646"/>
            <a:ext cx="893497" cy="0"/>
          </a:xfrm>
          <a:prstGeom prst="straightConnector1">
            <a:avLst/>
          </a:prstGeom>
          <a:noFill/>
          <a:ln cap="flat" cmpd="sng" w="12700">
            <a:solidFill>
              <a:srgbClr val="000000"/>
            </a:solidFill>
            <a:prstDash val="solid"/>
            <a:miter lim="800000"/>
            <a:headEnd len="med" w="med" type="triangle"/>
            <a:tailEnd len="med" w="med" type="triangle"/>
          </a:ln>
        </p:spPr>
      </p:cxnSp>
      <p:pic>
        <p:nvPicPr>
          <p:cNvPr id="1432" name="Google Shape;1432;p35"/>
          <p:cNvPicPr preferRelativeResize="0"/>
          <p:nvPr/>
        </p:nvPicPr>
        <p:blipFill rotWithShape="1">
          <a:blip r:embed="rId10">
            <a:alphaModFix/>
          </a:blip>
          <a:srcRect b="0" l="0" r="0" t="0"/>
          <a:stretch/>
        </p:blipFill>
        <p:spPr>
          <a:xfrm>
            <a:off x="14833229" y="6966146"/>
            <a:ext cx="302272" cy="191795"/>
          </a:xfrm>
          <a:prstGeom prst="rect">
            <a:avLst/>
          </a:prstGeom>
          <a:noFill/>
          <a:ln>
            <a:noFill/>
          </a:ln>
        </p:spPr>
      </p:pic>
      <p:cxnSp>
        <p:nvCxnSpPr>
          <p:cNvPr id="1433" name="Google Shape;1433;p35"/>
          <p:cNvCxnSpPr/>
          <p:nvPr/>
        </p:nvCxnSpPr>
        <p:spPr>
          <a:xfrm>
            <a:off x="14230699" y="9463693"/>
            <a:ext cx="0" cy="1798161"/>
          </a:xfrm>
          <a:prstGeom prst="straightConnector1">
            <a:avLst/>
          </a:prstGeom>
          <a:noFill/>
          <a:ln cap="flat" cmpd="sng" w="9525">
            <a:solidFill>
              <a:srgbClr val="000000"/>
            </a:solidFill>
            <a:prstDash val="dash"/>
            <a:miter lim="800000"/>
            <a:headEnd len="sm" w="sm" type="none"/>
            <a:tailEnd len="sm" w="sm" type="none"/>
          </a:ln>
        </p:spPr>
      </p:cxnSp>
      <p:cxnSp>
        <p:nvCxnSpPr>
          <p:cNvPr id="1434" name="Google Shape;1434;p35"/>
          <p:cNvCxnSpPr/>
          <p:nvPr/>
        </p:nvCxnSpPr>
        <p:spPr>
          <a:xfrm rot="-5400000">
            <a:off x="14445352" y="10030648"/>
            <a:ext cx="613165" cy="0"/>
          </a:xfrm>
          <a:prstGeom prst="straightConnector1">
            <a:avLst/>
          </a:prstGeom>
          <a:noFill/>
          <a:ln cap="flat" cmpd="sng" w="12700">
            <a:solidFill>
              <a:srgbClr val="000000"/>
            </a:solidFill>
            <a:prstDash val="solid"/>
            <a:miter lim="800000"/>
            <a:headEnd len="med" w="med" type="triangle"/>
            <a:tailEnd len="med" w="med" type="triangle"/>
          </a:ln>
        </p:spPr>
      </p:cxnSp>
      <p:pic>
        <p:nvPicPr>
          <p:cNvPr id="1435" name="Google Shape;1435;p35"/>
          <p:cNvPicPr preferRelativeResize="0"/>
          <p:nvPr/>
        </p:nvPicPr>
        <p:blipFill rotWithShape="1">
          <a:blip r:embed="rId11">
            <a:alphaModFix/>
          </a:blip>
          <a:srcRect b="0" l="0" r="0" t="0"/>
          <a:stretch/>
        </p:blipFill>
        <p:spPr>
          <a:xfrm>
            <a:off x="14836960" y="9929183"/>
            <a:ext cx="309384" cy="191795"/>
          </a:xfrm>
          <a:prstGeom prst="rect">
            <a:avLst/>
          </a:prstGeom>
          <a:noFill/>
          <a:ln>
            <a:noFill/>
          </a:ln>
        </p:spPr>
      </p:pic>
      <p:cxnSp>
        <p:nvCxnSpPr>
          <p:cNvPr id="1436" name="Google Shape;1436;p35"/>
          <p:cNvCxnSpPr/>
          <p:nvPr/>
        </p:nvCxnSpPr>
        <p:spPr>
          <a:xfrm>
            <a:off x="3408645" y="5955417"/>
            <a:ext cx="0" cy="1574313"/>
          </a:xfrm>
          <a:prstGeom prst="straightConnector1">
            <a:avLst/>
          </a:prstGeom>
          <a:noFill/>
          <a:ln cap="flat" cmpd="sng" w="9525">
            <a:solidFill>
              <a:srgbClr val="000000"/>
            </a:solidFill>
            <a:prstDash val="dash"/>
            <a:miter lim="800000"/>
            <a:headEnd len="sm" w="sm" type="none"/>
            <a:tailEnd len="sm" w="sm" type="none"/>
          </a:ln>
        </p:spPr>
      </p:cxnSp>
      <p:cxnSp>
        <p:nvCxnSpPr>
          <p:cNvPr id="1437" name="Google Shape;1437;p35"/>
          <p:cNvCxnSpPr/>
          <p:nvPr/>
        </p:nvCxnSpPr>
        <p:spPr>
          <a:xfrm rot="-5400000">
            <a:off x="2484902" y="7074443"/>
            <a:ext cx="616021" cy="0"/>
          </a:xfrm>
          <a:prstGeom prst="straightConnector1">
            <a:avLst/>
          </a:prstGeom>
          <a:noFill/>
          <a:ln cap="flat" cmpd="sng" w="12700">
            <a:solidFill>
              <a:srgbClr val="000000"/>
            </a:solidFill>
            <a:prstDash val="solid"/>
            <a:miter lim="800000"/>
            <a:headEnd len="med" w="med" type="triangle"/>
            <a:tailEnd len="med" w="med" type="triangle"/>
          </a:ln>
        </p:spPr>
      </p:cxnSp>
      <p:pic>
        <p:nvPicPr>
          <p:cNvPr id="1438" name="Google Shape;1438;p35"/>
          <p:cNvPicPr preferRelativeResize="0"/>
          <p:nvPr/>
        </p:nvPicPr>
        <p:blipFill rotWithShape="1">
          <a:blip r:embed="rId11">
            <a:alphaModFix/>
          </a:blip>
          <a:srcRect b="0" l="0" r="0" t="0"/>
          <a:stretch/>
        </p:blipFill>
        <p:spPr>
          <a:xfrm>
            <a:off x="2408165" y="7012383"/>
            <a:ext cx="309384" cy="191795"/>
          </a:xfrm>
          <a:prstGeom prst="rect">
            <a:avLst/>
          </a:prstGeom>
          <a:noFill/>
          <a:ln>
            <a:noFill/>
          </a:ln>
        </p:spPr>
      </p:pic>
      <p:sp>
        <p:nvSpPr>
          <p:cNvPr id="1439" name="Google Shape;1439;p35"/>
          <p:cNvSpPr/>
          <p:nvPr/>
        </p:nvSpPr>
        <p:spPr>
          <a:xfrm>
            <a:off x="1529540" y="9855436"/>
            <a:ext cx="655694" cy="386575"/>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440" name="Google Shape;1440;p35"/>
          <p:cNvPicPr preferRelativeResize="0"/>
          <p:nvPr/>
        </p:nvPicPr>
        <p:blipFill rotWithShape="1">
          <a:blip r:embed="rId12">
            <a:alphaModFix/>
          </a:blip>
          <a:srcRect b="0" l="0" r="0" t="0"/>
          <a:stretch/>
        </p:blipFill>
        <p:spPr>
          <a:xfrm>
            <a:off x="15421078" y="10518032"/>
            <a:ext cx="1171455" cy="180000"/>
          </a:xfrm>
          <a:prstGeom prst="rect">
            <a:avLst/>
          </a:prstGeom>
          <a:noFill/>
          <a:ln>
            <a:noFill/>
          </a:ln>
        </p:spPr>
      </p:pic>
      <p:sp>
        <p:nvSpPr>
          <p:cNvPr id="1441" name="Google Shape;1441;p35"/>
          <p:cNvSpPr/>
          <p:nvPr/>
        </p:nvSpPr>
        <p:spPr>
          <a:xfrm>
            <a:off x="15428662" y="9830649"/>
            <a:ext cx="529191" cy="386575"/>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442" name="Google Shape;1442;p35"/>
          <p:cNvSpPr/>
          <p:nvPr/>
        </p:nvSpPr>
        <p:spPr>
          <a:xfrm>
            <a:off x="15421077" y="6868755"/>
            <a:ext cx="529191" cy="386575"/>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443" name="Google Shape;1443;p35"/>
          <p:cNvPicPr preferRelativeResize="0"/>
          <p:nvPr/>
        </p:nvPicPr>
        <p:blipFill rotWithShape="1">
          <a:blip r:embed="rId13">
            <a:alphaModFix/>
          </a:blip>
          <a:srcRect b="0" l="0" r="0" t="0"/>
          <a:stretch/>
        </p:blipFill>
        <p:spPr>
          <a:xfrm>
            <a:off x="17636199" y="6472314"/>
            <a:ext cx="3597216" cy="288000"/>
          </a:xfrm>
          <a:prstGeom prst="rect">
            <a:avLst/>
          </a:prstGeom>
          <a:noFill/>
          <a:ln>
            <a:noFill/>
          </a:ln>
        </p:spPr>
      </p:pic>
      <p:pic>
        <p:nvPicPr>
          <p:cNvPr id="1444" name="Google Shape;1444;p35"/>
          <p:cNvPicPr preferRelativeResize="0"/>
          <p:nvPr/>
        </p:nvPicPr>
        <p:blipFill rotWithShape="1">
          <a:blip r:embed="rId14">
            <a:alphaModFix/>
          </a:blip>
          <a:srcRect b="0" l="0" r="0" t="0"/>
          <a:stretch/>
        </p:blipFill>
        <p:spPr>
          <a:xfrm>
            <a:off x="17636203" y="7519648"/>
            <a:ext cx="2264915" cy="288000"/>
          </a:xfrm>
          <a:prstGeom prst="rect">
            <a:avLst/>
          </a:prstGeom>
          <a:noFill/>
          <a:ln>
            <a:noFill/>
          </a:ln>
        </p:spPr>
      </p:pic>
      <p:pic>
        <p:nvPicPr>
          <p:cNvPr id="1445" name="Google Shape;1445;p35"/>
          <p:cNvPicPr preferRelativeResize="0"/>
          <p:nvPr/>
        </p:nvPicPr>
        <p:blipFill rotWithShape="1">
          <a:blip r:embed="rId15">
            <a:alphaModFix/>
          </a:blip>
          <a:srcRect b="0" l="0" r="0" t="0"/>
          <a:stretch/>
        </p:blipFill>
        <p:spPr>
          <a:xfrm>
            <a:off x="17636203" y="10661650"/>
            <a:ext cx="1801448" cy="288000"/>
          </a:xfrm>
          <a:prstGeom prst="rect">
            <a:avLst/>
          </a:prstGeom>
          <a:noFill/>
          <a:ln>
            <a:noFill/>
          </a:ln>
        </p:spPr>
      </p:pic>
      <p:pic>
        <p:nvPicPr>
          <p:cNvPr id="1446" name="Google Shape;1446;p35"/>
          <p:cNvPicPr preferRelativeResize="0"/>
          <p:nvPr/>
        </p:nvPicPr>
        <p:blipFill rotWithShape="1">
          <a:blip r:embed="rId16">
            <a:alphaModFix/>
          </a:blip>
          <a:srcRect b="0" l="0" r="0" t="0"/>
          <a:stretch/>
        </p:blipFill>
        <p:spPr>
          <a:xfrm>
            <a:off x="17636204" y="8566982"/>
            <a:ext cx="3486518" cy="288000"/>
          </a:xfrm>
          <a:prstGeom prst="rect">
            <a:avLst/>
          </a:prstGeom>
          <a:noFill/>
          <a:ln>
            <a:noFill/>
          </a:ln>
        </p:spPr>
      </p:pic>
      <p:pic>
        <p:nvPicPr>
          <p:cNvPr id="1447" name="Google Shape;1447;p35"/>
          <p:cNvPicPr preferRelativeResize="0"/>
          <p:nvPr/>
        </p:nvPicPr>
        <p:blipFill rotWithShape="1">
          <a:blip r:embed="rId17">
            <a:alphaModFix/>
          </a:blip>
          <a:srcRect b="0" l="0" r="0" t="0"/>
          <a:stretch/>
        </p:blipFill>
        <p:spPr>
          <a:xfrm>
            <a:off x="17636204" y="9614316"/>
            <a:ext cx="3806941" cy="288000"/>
          </a:xfrm>
          <a:prstGeom prst="rect">
            <a:avLst/>
          </a:prstGeom>
          <a:noFill/>
          <a:ln>
            <a:noFill/>
          </a:ln>
        </p:spPr>
      </p:pic>
      <p:pic>
        <p:nvPicPr>
          <p:cNvPr id="1448" name="Google Shape;1448;p35"/>
          <p:cNvPicPr preferRelativeResize="0"/>
          <p:nvPr/>
        </p:nvPicPr>
        <p:blipFill rotWithShape="1">
          <a:blip r:embed="rId18">
            <a:alphaModFix/>
          </a:blip>
          <a:srcRect b="0" l="0" r="0" t="0"/>
          <a:stretch/>
        </p:blipFill>
        <p:spPr>
          <a:xfrm>
            <a:off x="17636205" y="11708984"/>
            <a:ext cx="1825956" cy="288000"/>
          </a:xfrm>
          <a:prstGeom prst="rect">
            <a:avLst/>
          </a:prstGeom>
          <a:noFill/>
          <a:ln>
            <a:noFill/>
          </a:ln>
        </p:spPr>
      </p:pic>
      <p:pic>
        <p:nvPicPr>
          <p:cNvPr id="1449" name="Google Shape;1449;p35"/>
          <p:cNvPicPr preferRelativeResize="0"/>
          <p:nvPr/>
        </p:nvPicPr>
        <p:blipFill rotWithShape="1">
          <a:blip r:embed="rId19">
            <a:alphaModFix/>
          </a:blip>
          <a:srcRect b="0" l="0" r="0" t="0"/>
          <a:stretch/>
        </p:blipFill>
        <p:spPr>
          <a:xfrm>
            <a:off x="5546947" y="3503010"/>
            <a:ext cx="6733631" cy="1605369"/>
          </a:xfrm>
          <a:prstGeom prst="rect">
            <a:avLst/>
          </a:prstGeom>
          <a:noFill/>
          <a:ln>
            <a:noFill/>
          </a:ln>
        </p:spPr>
      </p:pic>
      <p:sp>
        <p:nvSpPr>
          <p:cNvPr id="1450" name="Google Shape;1450;p35"/>
          <p:cNvSpPr txBox="1"/>
          <p:nvPr/>
        </p:nvSpPr>
        <p:spPr>
          <a:xfrm>
            <a:off x="17773956" y="5317510"/>
            <a:ext cx="3321702" cy="75469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3200">
                <a:solidFill>
                  <a:schemeClr val="dk2"/>
                </a:solidFill>
                <a:latin typeface="Montserrat"/>
                <a:ea typeface="Montserrat"/>
                <a:cs typeface="Montserrat"/>
                <a:sym typeface="Montserrat"/>
              </a:rPr>
              <a:t>Parameters</a:t>
            </a:r>
            <a:endParaRPr sz="3200">
              <a:solidFill>
                <a:schemeClr val="dk2"/>
              </a:solidFill>
              <a:latin typeface="Montserrat"/>
              <a:ea typeface="Montserrat"/>
              <a:cs typeface="Montserrat"/>
              <a:sym typeface="Montserrat"/>
            </a:endParaRPr>
          </a:p>
        </p:txBody>
      </p:sp>
      <p:sp>
        <p:nvSpPr>
          <p:cNvPr id="1451" name="Google Shape;1451;p35"/>
          <p:cNvSpPr/>
          <p:nvPr/>
        </p:nvSpPr>
        <p:spPr>
          <a:xfrm>
            <a:off x="16907147" y="5149293"/>
            <a:ext cx="5990949" cy="7233205"/>
          </a:xfrm>
          <a:prstGeom prst="rect">
            <a:avLst/>
          </a:prstGeom>
          <a:solidFill>
            <a:schemeClr val="lt1">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452" name="Google Shape;1452;p35"/>
          <p:cNvSpPr txBox="1"/>
          <p:nvPr/>
        </p:nvSpPr>
        <p:spPr>
          <a:xfrm>
            <a:off x="3444256" y="1483499"/>
            <a:ext cx="17489138"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The schematic of the proposed high-pass filter</a:t>
            </a:r>
            <a:endParaRPr/>
          </a:p>
        </p:txBody>
      </p:sp>
      <p:pic>
        <p:nvPicPr>
          <p:cNvPr id="1453" name="Google Shape;1453;p35"/>
          <p:cNvPicPr preferRelativeResize="0"/>
          <p:nvPr/>
        </p:nvPicPr>
        <p:blipFill rotWithShape="1">
          <a:blip r:embed="rId20">
            <a:alphaModFix/>
          </a:blip>
          <a:srcRect b="0" l="0" r="0" t="0"/>
          <a:stretch/>
        </p:blipFill>
        <p:spPr>
          <a:xfrm>
            <a:off x="15421077" y="6394961"/>
            <a:ext cx="1174792" cy="18489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36"/>
          <p:cNvSpPr txBox="1"/>
          <p:nvPr/>
        </p:nvSpPr>
        <p:spPr>
          <a:xfrm>
            <a:off x="1515607" y="1483499"/>
            <a:ext cx="21346434"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Simulation (high-pass filter , TM mode, s</a:t>
            </a:r>
            <a:r>
              <a:rPr b="1" baseline="-25000" lang="en-US" sz="5400">
                <a:solidFill>
                  <a:schemeClr val="dk2"/>
                </a:solidFill>
                <a:latin typeface="Montserrat"/>
                <a:ea typeface="Montserrat"/>
                <a:cs typeface="Montserrat"/>
                <a:sym typeface="Montserrat"/>
              </a:rPr>
              <a:t>b2</a:t>
            </a:r>
            <a:r>
              <a:rPr b="1" lang="en-US" sz="5400">
                <a:solidFill>
                  <a:schemeClr val="dk2"/>
                </a:solidFill>
                <a:latin typeface="Montserrat"/>
                <a:ea typeface="Montserrat"/>
                <a:cs typeface="Montserrat"/>
                <a:sym typeface="Montserrat"/>
              </a:rPr>
              <a:t>= 2.5 μm)</a:t>
            </a:r>
            <a:endParaRPr/>
          </a:p>
        </p:txBody>
      </p:sp>
      <p:sp>
        <p:nvSpPr>
          <p:cNvPr id="1459" name="Google Shape;1459;p36"/>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460" name="Google Shape;1460;p36"/>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61" name="Google Shape;1461;p36"/>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462" name="Google Shape;1462;p36"/>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463" name="Google Shape;1463;p36"/>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464" name="Google Shape;1464;p36"/>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465" name="Google Shape;1465;p36"/>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466" name="Google Shape;1466;p36"/>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467" name="Google Shape;1467;p36"/>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pic>
        <p:nvPicPr>
          <p:cNvPr id="1468" name="Google Shape;1468;p36"/>
          <p:cNvPicPr preferRelativeResize="0"/>
          <p:nvPr/>
        </p:nvPicPr>
        <p:blipFill rotWithShape="1">
          <a:blip r:embed="rId3">
            <a:alphaModFix/>
          </a:blip>
          <a:srcRect b="0" l="0" r="0" t="0"/>
          <a:stretch/>
        </p:blipFill>
        <p:spPr>
          <a:xfrm>
            <a:off x="12242984" y="5399137"/>
            <a:ext cx="8613618" cy="6457752"/>
          </a:xfrm>
          <a:prstGeom prst="rect">
            <a:avLst/>
          </a:prstGeom>
          <a:noFill/>
          <a:ln>
            <a:noFill/>
          </a:ln>
        </p:spPr>
      </p:pic>
      <p:pic>
        <p:nvPicPr>
          <p:cNvPr id="1469" name="Google Shape;1469;p36"/>
          <p:cNvPicPr preferRelativeResize="0"/>
          <p:nvPr/>
        </p:nvPicPr>
        <p:blipFill rotWithShape="1">
          <a:blip r:embed="rId4">
            <a:alphaModFix/>
          </a:blip>
          <a:srcRect b="0" l="0" r="0" t="0"/>
          <a:stretch/>
        </p:blipFill>
        <p:spPr>
          <a:xfrm>
            <a:off x="3508814" y="5399137"/>
            <a:ext cx="8613618" cy="6457752"/>
          </a:xfrm>
          <a:prstGeom prst="rect">
            <a:avLst/>
          </a:prstGeom>
          <a:noFill/>
          <a:ln>
            <a:noFill/>
          </a:ln>
        </p:spPr>
      </p:pic>
      <p:cxnSp>
        <p:nvCxnSpPr>
          <p:cNvPr id="1470" name="Google Shape;1470;p36"/>
          <p:cNvCxnSpPr/>
          <p:nvPr/>
        </p:nvCxnSpPr>
        <p:spPr>
          <a:xfrm rot="10800000">
            <a:off x="14154614" y="9391679"/>
            <a:ext cx="5743708" cy="0"/>
          </a:xfrm>
          <a:prstGeom prst="straightConnector1">
            <a:avLst/>
          </a:prstGeom>
          <a:noFill/>
          <a:ln cap="flat" cmpd="sng" w="57150">
            <a:solidFill>
              <a:schemeClr val="dk2"/>
            </a:solidFill>
            <a:prstDash val="solid"/>
            <a:miter lim="800000"/>
            <a:headEnd len="med" w="med" type="triangle"/>
            <a:tailEnd len="med" w="med" type="triangle"/>
          </a:ln>
        </p:spPr>
      </p:cxnSp>
      <p:cxnSp>
        <p:nvCxnSpPr>
          <p:cNvPr id="1471" name="Google Shape;1471;p36"/>
          <p:cNvCxnSpPr/>
          <p:nvPr/>
        </p:nvCxnSpPr>
        <p:spPr>
          <a:xfrm>
            <a:off x="19898321" y="9101609"/>
            <a:ext cx="0" cy="594148"/>
          </a:xfrm>
          <a:prstGeom prst="straightConnector1">
            <a:avLst/>
          </a:prstGeom>
          <a:noFill/>
          <a:ln cap="flat" cmpd="sng" w="9525">
            <a:solidFill>
              <a:srgbClr val="000000"/>
            </a:solidFill>
            <a:prstDash val="dash"/>
            <a:miter lim="800000"/>
            <a:headEnd len="sm" w="sm" type="none"/>
            <a:tailEnd len="sm" w="sm" type="none"/>
          </a:ln>
        </p:spPr>
      </p:cxnSp>
      <p:pic>
        <p:nvPicPr>
          <p:cNvPr id="1472" name="Google Shape;1472;p36"/>
          <p:cNvPicPr preferRelativeResize="0"/>
          <p:nvPr/>
        </p:nvPicPr>
        <p:blipFill rotWithShape="1">
          <a:blip r:embed="rId5">
            <a:alphaModFix/>
          </a:blip>
          <a:srcRect b="0" l="0" r="0" t="0"/>
          <a:stretch/>
        </p:blipFill>
        <p:spPr>
          <a:xfrm>
            <a:off x="14639056" y="7192871"/>
            <a:ext cx="3821476" cy="423472"/>
          </a:xfrm>
          <a:prstGeom prst="rect">
            <a:avLst/>
          </a:prstGeom>
          <a:noFill/>
          <a:ln>
            <a:noFill/>
          </a:ln>
        </p:spPr>
      </p:pic>
      <p:pic>
        <p:nvPicPr>
          <p:cNvPr id="1473" name="Google Shape;1473;p36"/>
          <p:cNvPicPr preferRelativeResize="0"/>
          <p:nvPr/>
        </p:nvPicPr>
        <p:blipFill rotWithShape="1">
          <a:blip r:embed="rId6">
            <a:alphaModFix/>
          </a:blip>
          <a:srcRect b="0" l="0" r="0" t="0"/>
          <a:stretch/>
        </p:blipFill>
        <p:spPr>
          <a:xfrm>
            <a:off x="9437141" y="9237946"/>
            <a:ext cx="1604471" cy="1858239"/>
          </a:xfrm>
          <a:prstGeom prst="rect">
            <a:avLst/>
          </a:prstGeom>
          <a:noFill/>
          <a:ln>
            <a:noFill/>
          </a:ln>
        </p:spPr>
      </p:pic>
      <p:sp>
        <p:nvSpPr>
          <p:cNvPr id="1474" name="Google Shape;1474;p36"/>
          <p:cNvSpPr/>
          <p:nvPr/>
        </p:nvSpPr>
        <p:spPr>
          <a:xfrm>
            <a:off x="9411156" y="10074701"/>
            <a:ext cx="1656439" cy="210163"/>
          </a:xfrm>
          <a:prstGeom prst="rect">
            <a:avLst/>
          </a:prstGeom>
          <a:noFill/>
          <a:ln cap="flat" cmpd="sng" w="381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475" name="Google Shape;1475;p36"/>
          <p:cNvSpPr txBox="1"/>
          <p:nvPr/>
        </p:nvSpPr>
        <p:spPr>
          <a:xfrm>
            <a:off x="7154214" y="4218983"/>
            <a:ext cx="9936436"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Since Ti-diffused waveguides provide higher confinement for TM modes, broadband transmissions can be achieved within 1.5 cm</a:t>
            </a:r>
            <a:endParaRPr sz="2600">
              <a:solidFill>
                <a:srgbClr val="000000"/>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pic>
        <p:nvPicPr>
          <p:cNvPr id="1480" name="Google Shape;1480;p37"/>
          <p:cNvPicPr preferRelativeResize="0"/>
          <p:nvPr/>
        </p:nvPicPr>
        <p:blipFill rotWithShape="1">
          <a:blip r:embed="rId3">
            <a:alphaModFix/>
          </a:blip>
          <a:srcRect b="0" l="0" r="0" t="0"/>
          <a:stretch/>
        </p:blipFill>
        <p:spPr>
          <a:xfrm>
            <a:off x="12231963" y="5398255"/>
            <a:ext cx="8603389" cy="6450084"/>
          </a:xfrm>
          <a:prstGeom prst="rect">
            <a:avLst/>
          </a:prstGeom>
          <a:noFill/>
          <a:ln>
            <a:noFill/>
          </a:ln>
        </p:spPr>
      </p:pic>
      <p:pic>
        <p:nvPicPr>
          <p:cNvPr id="1481" name="Google Shape;1481;p37"/>
          <p:cNvPicPr preferRelativeResize="0"/>
          <p:nvPr/>
        </p:nvPicPr>
        <p:blipFill rotWithShape="1">
          <a:blip r:embed="rId4">
            <a:alphaModFix/>
          </a:blip>
          <a:srcRect b="0" l="0" r="0" t="0"/>
          <a:stretch/>
        </p:blipFill>
        <p:spPr>
          <a:xfrm>
            <a:off x="3521048" y="5406805"/>
            <a:ext cx="8603389" cy="6450084"/>
          </a:xfrm>
          <a:prstGeom prst="rect">
            <a:avLst/>
          </a:prstGeom>
          <a:noFill/>
          <a:ln>
            <a:noFill/>
          </a:ln>
        </p:spPr>
      </p:pic>
      <p:pic>
        <p:nvPicPr>
          <p:cNvPr id="1482" name="Google Shape;1482;p37"/>
          <p:cNvPicPr preferRelativeResize="0"/>
          <p:nvPr/>
        </p:nvPicPr>
        <p:blipFill rotWithShape="1">
          <a:blip r:embed="rId5">
            <a:alphaModFix/>
          </a:blip>
          <a:srcRect b="0" l="0" r="0" t="0"/>
          <a:stretch/>
        </p:blipFill>
        <p:spPr>
          <a:xfrm>
            <a:off x="13436577" y="7069751"/>
            <a:ext cx="2518795" cy="163500"/>
          </a:xfrm>
          <a:prstGeom prst="rect">
            <a:avLst/>
          </a:prstGeom>
          <a:noFill/>
          <a:ln>
            <a:noFill/>
          </a:ln>
        </p:spPr>
      </p:pic>
      <p:pic>
        <p:nvPicPr>
          <p:cNvPr id="1483" name="Google Shape;1483;p37"/>
          <p:cNvPicPr preferRelativeResize="0"/>
          <p:nvPr/>
        </p:nvPicPr>
        <p:blipFill rotWithShape="1">
          <a:blip r:embed="rId6">
            <a:alphaModFix/>
          </a:blip>
          <a:srcRect b="1390" l="1940" r="2441" t="1630"/>
          <a:stretch/>
        </p:blipFill>
        <p:spPr>
          <a:xfrm>
            <a:off x="18337469" y="9262732"/>
            <a:ext cx="1532358" cy="1799997"/>
          </a:xfrm>
          <a:prstGeom prst="rect">
            <a:avLst/>
          </a:prstGeom>
          <a:noFill/>
          <a:ln>
            <a:noFill/>
          </a:ln>
        </p:spPr>
      </p:pic>
      <p:sp>
        <p:nvSpPr>
          <p:cNvPr id="1484" name="Google Shape;1484;p37"/>
          <p:cNvSpPr/>
          <p:nvPr/>
        </p:nvSpPr>
        <p:spPr>
          <a:xfrm>
            <a:off x="18280435" y="10068267"/>
            <a:ext cx="1654472" cy="209914"/>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485" name="Google Shape;1485;p37"/>
          <p:cNvSpPr/>
          <p:nvPr/>
        </p:nvSpPr>
        <p:spPr>
          <a:xfrm>
            <a:off x="13241278" y="10066940"/>
            <a:ext cx="245688" cy="280633"/>
          </a:xfrm>
          <a:prstGeom prst="ellipse">
            <a:avLst/>
          </a:prstGeom>
          <a:noFill/>
          <a:ln cap="flat" cmpd="sng" w="571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1486" name="Google Shape;1486;p37"/>
          <p:cNvCxnSpPr/>
          <p:nvPr/>
        </p:nvCxnSpPr>
        <p:spPr>
          <a:xfrm flipH="1" rot="10800000">
            <a:off x="13401910" y="7405885"/>
            <a:ext cx="615741" cy="2661055"/>
          </a:xfrm>
          <a:prstGeom prst="straightConnector1">
            <a:avLst/>
          </a:prstGeom>
          <a:noFill/>
          <a:ln cap="flat" cmpd="sng" w="57150">
            <a:solidFill>
              <a:srgbClr val="000000"/>
            </a:solidFill>
            <a:prstDash val="solid"/>
            <a:miter lim="800000"/>
            <a:headEnd len="sm" w="sm" type="none"/>
            <a:tailEnd len="med" w="med" type="triangle"/>
          </a:ln>
        </p:spPr>
      </p:cxnSp>
      <p:sp>
        <p:nvSpPr>
          <p:cNvPr id="1487" name="Google Shape;1487;p37"/>
          <p:cNvSpPr txBox="1"/>
          <p:nvPr/>
        </p:nvSpPr>
        <p:spPr>
          <a:xfrm>
            <a:off x="1763257" y="1483499"/>
            <a:ext cx="20851134"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Simulation (high-pass filter , TE mode, s</a:t>
            </a:r>
            <a:r>
              <a:rPr b="1" baseline="-25000" lang="en-US" sz="5400">
                <a:solidFill>
                  <a:schemeClr val="dk2"/>
                </a:solidFill>
                <a:latin typeface="Montserrat"/>
                <a:ea typeface="Montserrat"/>
                <a:cs typeface="Montserrat"/>
                <a:sym typeface="Montserrat"/>
              </a:rPr>
              <a:t>b2</a:t>
            </a:r>
            <a:r>
              <a:rPr b="1" lang="en-US" sz="5400">
                <a:solidFill>
                  <a:schemeClr val="dk2"/>
                </a:solidFill>
                <a:latin typeface="Montserrat"/>
                <a:ea typeface="Montserrat"/>
                <a:cs typeface="Montserrat"/>
                <a:sym typeface="Montserrat"/>
              </a:rPr>
              <a:t>= 2.5 μm)</a:t>
            </a:r>
            <a:endParaRPr/>
          </a:p>
        </p:txBody>
      </p:sp>
      <p:sp>
        <p:nvSpPr>
          <p:cNvPr id="1488" name="Google Shape;1488;p37"/>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489" name="Google Shape;1489;p37"/>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90" name="Google Shape;1490;p37"/>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491" name="Google Shape;1491;p37"/>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492" name="Google Shape;1492;p37"/>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493" name="Google Shape;1493;p37"/>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494" name="Google Shape;1494;p37"/>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495" name="Google Shape;1495;p37"/>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496" name="Google Shape;1496;p37"/>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1497" name="Google Shape;1497;p37"/>
          <p:cNvSpPr txBox="1"/>
          <p:nvPr/>
        </p:nvSpPr>
        <p:spPr>
          <a:xfrm>
            <a:off x="7220606" y="4218983"/>
            <a:ext cx="9936436"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For shorter wavelengths, the coupling strength is not enough to achieve adiabatic following, the energy remains uncoupled (high-pass filter)</a:t>
            </a:r>
            <a:endParaRPr sz="2600">
              <a:solidFill>
                <a:srgbClr val="000000"/>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grpSp>
        <p:nvGrpSpPr>
          <p:cNvPr id="1502" name="Google Shape;1502;p38"/>
          <p:cNvGrpSpPr/>
          <p:nvPr/>
        </p:nvGrpSpPr>
        <p:grpSpPr>
          <a:xfrm>
            <a:off x="2718736" y="3730269"/>
            <a:ext cx="18940175" cy="9000000"/>
            <a:chOff x="148769" y="803080"/>
            <a:chExt cx="11777203" cy="5596296"/>
          </a:xfrm>
        </p:grpSpPr>
        <p:pic>
          <p:nvPicPr>
            <p:cNvPr id="1503" name="Google Shape;1503;p38"/>
            <p:cNvPicPr preferRelativeResize="0"/>
            <p:nvPr/>
          </p:nvPicPr>
          <p:blipFill rotWithShape="1">
            <a:blip r:embed="rId3">
              <a:alphaModFix/>
            </a:blip>
            <a:srcRect b="0" l="0" r="0" t="0"/>
            <a:stretch/>
          </p:blipFill>
          <p:spPr>
            <a:xfrm>
              <a:off x="7373627" y="3875632"/>
              <a:ext cx="4548971" cy="2523744"/>
            </a:xfrm>
            <a:prstGeom prst="rect">
              <a:avLst/>
            </a:prstGeom>
            <a:noFill/>
            <a:ln>
              <a:noFill/>
            </a:ln>
          </p:spPr>
        </p:pic>
        <p:pic>
          <p:nvPicPr>
            <p:cNvPr id="1504" name="Google Shape;1504;p38"/>
            <p:cNvPicPr preferRelativeResize="0"/>
            <p:nvPr/>
          </p:nvPicPr>
          <p:blipFill rotWithShape="1">
            <a:blip r:embed="rId4">
              <a:alphaModFix/>
            </a:blip>
            <a:srcRect b="0" l="0" r="0" t="0"/>
            <a:stretch/>
          </p:blipFill>
          <p:spPr>
            <a:xfrm>
              <a:off x="3772429" y="3875632"/>
              <a:ext cx="4548971" cy="2523744"/>
            </a:xfrm>
            <a:prstGeom prst="rect">
              <a:avLst/>
            </a:prstGeom>
            <a:noFill/>
            <a:ln>
              <a:noFill/>
            </a:ln>
          </p:spPr>
        </p:pic>
        <p:pic>
          <p:nvPicPr>
            <p:cNvPr id="1505" name="Google Shape;1505;p38"/>
            <p:cNvPicPr preferRelativeResize="0"/>
            <p:nvPr/>
          </p:nvPicPr>
          <p:blipFill rotWithShape="1">
            <a:blip r:embed="rId5">
              <a:alphaModFix/>
            </a:blip>
            <a:srcRect b="0" l="0" r="0" t="0"/>
            <a:stretch/>
          </p:blipFill>
          <p:spPr>
            <a:xfrm>
              <a:off x="148769" y="3875632"/>
              <a:ext cx="4548971" cy="2523744"/>
            </a:xfrm>
            <a:prstGeom prst="rect">
              <a:avLst/>
            </a:prstGeom>
            <a:noFill/>
            <a:ln>
              <a:noFill/>
            </a:ln>
          </p:spPr>
        </p:pic>
        <p:pic>
          <p:nvPicPr>
            <p:cNvPr id="1506" name="Google Shape;1506;p38"/>
            <p:cNvPicPr preferRelativeResize="0"/>
            <p:nvPr/>
          </p:nvPicPr>
          <p:blipFill rotWithShape="1">
            <a:blip r:embed="rId6">
              <a:alphaModFix/>
            </a:blip>
            <a:srcRect b="0" l="0" r="0" t="0"/>
            <a:stretch/>
          </p:blipFill>
          <p:spPr>
            <a:xfrm>
              <a:off x="7377001" y="905256"/>
              <a:ext cx="4548971" cy="2523744"/>
            </a:xfrm>
            <a:prstGeom prst="rect">
              <a:avLst/>
            </a:prstGeom>
            <a:noFill/>
            <a:ln>
              <a:noFill/>
            </a:ln>
          </p:spPr>
        </p:pic>
        <p:pic>
          <p:nvPicPr>
            <p:cNvPr id="1507" name="Google Shape;1507;p38"/>
            <p:cNvPicPr preferRelativeResize="0"/>
            <p:nvPr/>
          </p:nvPicPr>
          <p:blipFill rotWithShape="1">
            <a:blip r:embed="rId7">
              <a:alphaModFix/>
            </a:blip>
            <a:srcRect b="0" l="0" r="0" t="0"/>
            <a:stretch/>
          </p:blipFill>
          <p:spPr>
            <a:xfrm>
              <a:off x="3772429" y="905256"/>
              <a:ext cx="4548971" cy="2523744"/>
            </a:xfrm>
            <a:prstGeom prst="rect">
              <a:avLst/>
            </a:prstGeom>
            <a:noFill/>
            <a:ln>
              <a:noFill/>
            </a:ln>
          </p:spPr>
        </p:pic>
        <p:pic>
          <p:nvPicPr>
            <p:cNvPr id="1508" name="Google Shape;1508;p38"/>
            <p:cNvPicPr preferRelativeResize="0"/>
            <p:nvPr/>
          </p:nvPicPr>
          <p:blipFill rotWithShape="1">
            <a:blip r:embed="rId8">
              <a:alphaModFix/>
            </a:blip>
            <a:srcRect b="0" l="0" r="0" t="0"/>
            <a:stretch/>
          </p:blipFill>
          <p:spPr>
            <a:xfrm>
              <a:off x="148769" y="905256"/>
              <a:ext cx="4548971" cy="2523744"/>
            </a:xfrm>
            <a:prstGeom prst="rect">
              <a:avLst/>
            </a:prstGeom>
            <a:noFill/>
            <a:ln>
              <a:noFill/>
            </a:ln>
          </p:spPr>
        </p:pic>
        <p:pic>
          <p:nvPicPr>
            <p:cNvPr id="1509" name="Google Shape;1509;p38"/>
            <p:cNvPicPr preferRelativeResize="0"/>
            <p:nvPr/>
          </p:nvPicPr>
          <p:blipFill rotWithShape="1">
            <a:blip r:embed="rId9">
              <a:alphaModFix/>
            </a:blip>
            <a:srcRect b="0" l="0" r="0" t="0"/>
            <a:stretch/>
          </p:blipFill>
          <p:spPr>
            <a:xfrm>
              <a:off x="1857024" y="803080"/>
              <a:ext cx="1158932" cy="136932"/>
            </a:xfrm>
            <a:prstGeom prst="rect">
              <a:avLst/>
            </a:prstGeom>
            <a:noFill/>
            <a:ln>
              <a:noFill/>
            </a:ln>
          </p:spPr>
        </p:pic>
        <p:pic>
          <p:nvPicPr>
            <p:cNvPr id="1510" name="Google Shape;1510;p38"/>
            <p:cNvPicPr preferRelativeResize="0"/>
            <p:nvPr/>
          </p:nvPicPr>
          <p:blipFill rotWithShape="1">
            <a:blip r:embed="rId10">
              <a:alphaModFix/>
            </a:blip>
            <a:srcRect b="0" l="0" r="0" t="0"/>
            <a:stretch/>
          </p:blipFill>
          <p:spPr>
            <a:xfrm>
              <a:off x="5467449" y="803080"/>
              <a:ext cx="1158932" cy="136932"/>
            </a:xfrm>
            <a:prstGeom prst="rect">
              <a:avLst/>
            </a:prstGeom>
            <a:noFill/>
            <a:ln>
              <a:noFill/>
            </a:ln>
          </p:spPr>
        </p:pic>
        <p:pic>
          <p:nvPicPr>
            <p:cNvPr id="1511" name="Google Shape;1511;p38"/>
            <p:cNvPicPr preferRelativeResize="0"/>
            <p:nvPr/>
          </p:nvPicPr>
          <p:blipFill rotWithShape="1">
            <a:blip r:embed="rId11">
              <a:alphaModFix/>
            </a:blip>
            <a:srcRect b="0" l="0" r="0" t="0"/>
            <a:stretch/>
          </p:blipFill>
          <p:spPr>
            <a:xfrm>
              <a:off x="9085513" y="803080"/>
              <a:ext cx="1158932" cy="136932"/>
            </a:xfrm>
            <a:prstGeom prst="rect">
              <a:avLst/>
            </a:prstGeom>
            <a:noFill/>
            <a:ln>
              <a:noFill/>
            </a:ln>
          </p:spPr>
        </p:pic>
        <p:pic>
          <p:nvPicPr>
            <p:cNvPr id="1512" name="Google Shape;1512;p38"/>
            <p:cNvPicPr preferRelativeResize="0"/>
            <p:nvPr/>
          </p:nvPicPr>
          <p:blipFill rotWithShape="1">
            <a:blip r:embed="rId12">
              <a:alphaModFix/>
            </a:blip>
            <a:srcRect b="0" l="0" r="0" t="0"/>
            <a:stretch/>
          </p:blipFill>
          <p:spPr>
            <a:xfrm>
              <a:off x="1857024" y="3743624"/>
              <a:ext cx="1158932" cy="136932"/>
            </a:xfrm>
            <a:prstGeom prst="rect">
              <a:avLst/>
            </a:prstGeom>
            <a:noFill/>
            <a:ln>
              <a:noFill/>
            </a:ln>
          </p:spPr>
        </p:pic>
        <p:pic>
          <p:nvPicPr>
            <p:cNvPr id="1513" name="Google Shape;1513;p38"/>
            <p:cNvPicPr preferRelativeResize="0"/>
            <p:nvPr/>
          </p:nvPicPr>
          <p:blipFill rotWithShape="1">
            <a:blip r:embed="rId13">
              <a:alphaModFix/>
            </a:blip>
            <a:srcRect b="0" l="0" r="0" t="0"/>
            <a:stretch/>
          </p:blipFill>
          <p:spPr>
            <a:xfrm>
              <a:off x="5467449" y="3743624"/>
              <a:ext cx="1158932" cy="136932"/>
            </a:xfrm>
            <a:prstGeom prst="rect">
              <a:avLst/>
            </a:prstGeom>
            <a:noFill/>
            <a:ln>
              <a:noFill/>
            </a:ln>
          </p:spPr>
        </p:pic>
        <p:pic>
          <p:nvPicPr>
            <p:cNvPr id="1514" name="Google Shape;1514;p38"/>
            <p:cNvPicPr preferRelativeResize="0"/>
            <p:nvPr/>
          </p:nvPicPr>
          <p:blipFill rotWithShape="1">
            <a:blip r:embed="rId14">
              <a:alphaModFix/>
            </a:blip>
            <a:srcRect b="0" l="0" r="0" t="0"/>
            <a:stretch/>
          </p:blipFill>
          <p:spPr>
            <a:xfrm>
              <a:off x="9085513" y="3742444"/>
              <a:ext cx="1158932" cy="136932"/>
            </a:xfrm>
            <a:prstGeom prst="rect">
              <a:avLst/>
            </a:prstGeom>
            <a:noFill/>
            <a:ln>
              <a:noFill/>
            </a:ln>
          </p:spPr>
        </p:pic>
      </p:grpSp>
      <p:sp>
        <p:nvSpPr>
          <p:cNvPr id="1515" name="Google Shape;1515;p38"/>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Simulation (spectral filter, BPM, TM input)</a:t>
            </a:r>
            <a:endParaRPr/>
          </a:p>
        </p:txBody>
      </p:sp>
      <p:sp>
        <p:nvSpPr>
          <p:cNvPr id="1516" name="Google Shape;1516;p38"/>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517" name="Google Shape;1517;p38"/>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18" name="Google Shape;1518;p38"/>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519" name="Google Shape;1519;p38"/>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520" name="Google Shape;1520;p38"/>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521" name="Google Shape;1521;p38"/>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522" name="Google Shape;1522;p38"/>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523" name="Google Shape;1523;p38"/>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524" name="Google Shape;1524;p38"/>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sp>
        <p:nvSpPr>
          <p:cNvPr id="1529" name="Google Shape;1529;p39"/>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Simulation (spectral filter, BPM, TE input)</a:t>
            </a:r>
            <a:endParaRPr/>
          </a:p>
        </p:txBody>
      </p:sp>
      <p:sp>
        <p:nvSpPr>
          <p:cNvPr id="1530" name="Google Shape;1530;p39"/>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531" name="Google Shape;1531;p39"/>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32" name="Google Shape;1532;p39"/>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533" name="Google Shape;1533;p39"/>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534" name="Google Shape;1534;p39"/>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535" name="Google Shape;1535;p39"/>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Simulation</a:t>
            </a:r>
            <a:endParaRPr/>
          </a:p>
        </p:txBody>
      </p:sp>
      <p:sp>
        <p:nvSpPr>
          <p:cNvPr id="1536" name="Google Shape;1536;p39"/>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537" name="Google Shape;1537;p39"/>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538" name="Google Shape;1538;p39"/>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grpSp>
        <p:nvGrpSpPr>
          <p:cNvPr id="1539" name="Google Shape;1539;p39"/>
          <p:cNvGrpSpPr/>
          <p:nvPr/>
        </p:nvGrpSpPr>
        <p:grpSpPr>
          <a:xfrm>
            <a:off x="6409334" y="3730269"/>
            <a:ext cx="11735713" cy="9000000"/>
            <a:chOff x="2414322" y="803080"/>
            <a:chExt cx="7300320" cy="5598542"/>
          </a:xfrm>
        </p:grpSpPr>
        <p:pic>
          <p:nvPicPr>
            <p:cNvPr id="1540" name="Google Shape;1540;p39"/>
            <p:cNvPicPr preferRelativeResize="0"/>
            <p:nvPr/>
          </p:nvPicPr>
          <p:blipFill rotWithShape="1">
            <a:blip r:embed="rId3">
              <a:alphaModFix/>
            </a:blip>
            <a:srcRect b="0" l="0" r="0" t="0"/>
            <a:stretch/>
          </p:blipFill>
          <p:spPr>
            <a:xfrm>
              <a:off x="6096000" y="3878022"/>
              <a:ext cx="3618642" cy="2523600"/>
            </a:xfrm>
            <a:prstGeom prst="rect">
              <a:avLst/>
            </a:prstGeom>
            <a:noFill/>
            <a:ln>
              <a:noFill/>
            </a:ln>
          </p:spPr>
        </p:pic>
        <p:pic>
          <p:nvPicPr>
            <p:cNvPr id="1541" name="Google Shape;1541;p39"/>
            <p:cNvPicPr preferRelativeResize="0"/>
            <p:nvPr/>
          </p:nvPicPr>
          <p:blipFill rotWithShape="1">
            <a:blip r:embed="rId4">
              <a:alphaModFix/>
            </a:blip>
            <a:srcRect b="0" l="0" r="0" t="0"/>
            <a:stretch/>
          </p:blipFill>
          <p:spPr>
            <a:xfrm>
              <a:off x="2414322" y="3878022"/>
              <a:ext cx="3618642" cy="2523600"/>
            </a:xfrm>
            <a:prstGeom prst="rect">
              <a:avLst/>
            </a:prstGeom>
            <a:noFill/>
            <a:ln>
              <a:noFill/>
            </a:ln>
          </p:spPr>
        </p:pic>
        <p:pic>
          <p:nvPicPr>
            <p:cNvPr id="1542" name="Google Shape;1542;p39"/>
            <p:cNvPicPr preferRelativeResize="0"/>
            <p:nvPr/>
          </p:nvPicPr>
          <p:blipFill rotWithShape="1">
            <a:blip r:embed="rId5">
              <a:alphaModFix/>
            </a:blip>
            <a:srcRect b="0" l="0" r="0" t="0"/>
            <a:stretch/>
          </p:blipFill>
          <p:spPr>
            <a:xfrm>
              <a:off x="6096000" y="910181"/>
              <a:ext cx="3618642" cy="2523600"/>
            </a:xfrm>
            <a:prstGeom prst="rect">
              <a:avLst/>
            </a:prstGeom>
            <a:noFill/>
            <a:ln>
              <a:noFill/>
            </a:ln>
          </p:spPr>
        </p:pic>
        <p:pic>
          <p:nvPicPr>
            <p:cNvPr id="1543" name="Google Shape;1543;p39"/>
            <p:cNvPicPr preferRelativeResize="0"/>
            <p:nvPr/>
          </p:nvPicPr>
          <p:blipFill rotWithShape="1">
            <a:blip r:embed="rId6">
              <a:alphaModFix/>
            </a:blip>
            <a:srcRect b="0" l="0" r="0" t="0"/>
            <a:stretch/>
          </p:blipFill>
          <p:spPr>
            <a:xfrm>
              <a:off x="2414322" y="900620"/>
              <a:ext cx="3618642" cy="2523600"/>
            </a:xfrm>
            <a:prstGeom prst="rect">
              <a:avLst/>
            </a:prstGeom>
            <a:noFill/>
            <a:ln>
              <a:noFill/>
            </a:ln>
          </p:spPr>
        </p:pic>
        <p:pic>
          <p:nvPicPr>
            <p:cNvPr id="1544" name="Google Shape;1544;p39"/>
            <p:cNvPicPr preferRelativeResize="0"/>
            <p:nvPr/>
          </p:nvPicPr>
          <p:blipFill rotWithShape="1">
            <a:blip r:embed="rId7">
              <a:alphaModFix/>
            </a:blip>
            <a:srcRect b="0" l="0" r="0" t="0"/>
            <a:stretch/>
          </p:blipFill>
          <p:spPr>
            <a:xfrm>
              <a:off x="3657544" y="803080"/>
              <a:ext cx="996746" cy="135752"/>
            </a:xfrm>
            <a:prstGeom prst="rect">
              <a:avLst/>
            </a:prstGeom>
            <a:noFill/>
            <a:ln>
              <a:noFill/>
            </a:ln>
          </p:spPr>
        </p:pic>
        <p:pic>
          <p:nvPicPr>
            <p:cNvPr id="1545" name="Google Shape;1545;p39"/>
            <p:cNvPicPr preferRelativeResize="0"/>
            <p:nvPr/>
          </p:nvPicPr>
          <p:blipFill rotWithShape="1">
            <a:blip r:embed="rId8">
              <a:alphaModFix/>
            </a:blip>
            <a:srcRect b="0" l="0" r="0" t="0"/>
            <a:stretch/>
          </p:blipFill>
          <p:spPr>
            <a:xfrm>
              <a:off x="7267969" y="803080"/>
              <a:ext cx="996746" cy="135752"/>
            </a:xfrm>
            <a:prstGeom prst="rect">
              <a:avLst/>
            </a:prstGeom>
            <a:noFill/>
            <a:ln>
              <a:noFill/>
            </a:ln>
          </p:spPr>
        </p:pic>
        <p:pic>
          <p:nvPicPr>
            <p:cNvPr id="1546" name="Google Shape;1546;p39"/>
            <p:cNvPicPr preferRelativeResize="0"/>
            <p:nvPr/>
          </p:nvPicPr>
          <p:blipFill rotWithShape="1">
            <a:blip r:embed="rId9">
              <a:alphaModFix/>
            </a:blip>
            <a:srcRect b="0" l="0" r="0" t="0"/>
            <a:stretch/>
          </p:blipFill>
          <p:spPr>
            <a:xfrm>
              <a:off x="3657544" y="3743624"/>
              <a:ext cx="1098784" cy="135752"/>
            </a:xfrm>
            <a:prstGeom prst="rect">
              <a:avLst/>
            </a:prstGeom>
            <a:noFill/>
            <a:ln>
              <a:noFill/>
            </a:ln>
          </p:spPr>
        </p:pic>
        <p:pic>
          <p:nvPicPr>
            <p:cNvPr id="1547" name="Google Shape;1547;p39"/>
            <p:cNvPicPr preferRelativeResize="0"/>
            <p:nvPr/>
          </p:nvPicPr>
          <p:blipFill rotWithShape="1">
            <a:blip r:embed="rId10">
              <a:alphaModFix/>
            </a:blip>
            <a:srcRect b="0" l="0" r="0" t="0"/>
            <a:stretch/>
          </p:blipFill>
          <p:spPr>
            <a:xfrm>
              <a:off x="7267969" y="3743624"/>
              <a:ext cx="1098784" cy="135752"/>
            </a:xfrm>
            <a:prstGeom prst="rect">
              <a:avLst/>
            </a:prstGeom>
            <a:noFill/>
            <a:ln>
              <a:noFill/>
            </a:ln>
          </p:spPr>
        </p:pic>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sp>
        <p:nvSpPr>
          <p:cNvPr id="1553" name="Google Shape;1553;p40"/>
          <p:cNvSpPr txBox="1"/>
          <p:nvPr/>
        </p:nvSpPr>
        <p:spPr>
          <a:xfrm>
            <a:off x="5955030" y="5073938"/>
            <a:ext cx="12467590" cy="31700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0">
                <a:solidFill>
                  <a:schemeClr val="dk2"/>
                </a:solidFill>
                <a:latin typeface="Montserrat"/>
                <a:ea typeface="Montserrat"/>
                <a:cs typeface="Montserrat"/>
                <a:sym typeface="Montserrat"/>
              </a:rPr>
              <a:t>Fabrication process</a:t>
            </a:r>
            <a:endParaRPr b="1" sz="10000">
              <a:solidFill>
                <a:schemeClr val="dk2"/>
              </a:solidFill>
              <a:latin typeface="Montserrat"/>
              <a:ea typeface="Montserrat"/>
              <a:cs typeface="Montserrat"/>
              <a:sym typeface="Montserrat"/>
            </a:endParaRPr>
          </a:p>
        </p:txBody>
      </p:sp>
      <p:sp>
        <p:nvSpPr>
          <p:cNvPr id="1554" name="Google Shape;1554;p40"/>
          <p:cNvSpPr txBox="1"/>
          <p:nvPr/>
        </p:nvSpPr>
        <p:spPr>
          <a:xfrm>
            <a:off x="6572250" y="9131313"/>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555" name="Google Shape;1555;p40"/>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6" name="Google Shape;1556;p40"/>
          <p:cNvSpPr/>
          <p:nvPr/>
        </p:nvSpPr>
        <p:spPr>
          <a:xfrm flipH="1">
            <a:off x="19337650" y="1047600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1557" name="Google Shape;1557;p40"/>
          <p:cNvSpPr/>
          <p:nvPr/>
        </p:nvSpPr>
        <p:spPr>
          <a:xfrm flipH="1" rot="10800000">
            <a:off x="0" y="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1558" name="Google Shape;1558;p40"/>
          <p:cNvSpPr/>
          <p:nvPr/>
        </p:nvSpPr>
        <p:spPr>
          <a:xfrm flipH="1" rot="10800000">
            <a:off x="7640888" y="8772423"/>
            <a:ext cx="9095874" cy="10081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2" name="Shape 1562"/>
        <p:cNvGrpSpPr/>
        <p:nvPr/>
      </p:nvGrpSpPr>
      <p:grpSpPr>
        <a:xfrm>
          <a:off x="0" y="0"/>
          <a:ext cx="0" cy="0"/>
          <a:chOff x="0" y="0"/>
          <a:chExt cx="0" cy="0"/>
        </a:xfrm>
      </p:grpSpPr>
      <p:sp>
        <p:nvSpPr>
          <p:cNvPr id="1563" name="Google Shape;1563;p41"/>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Overall fabrication process</a:t>
            </a:r>
            <a:endParaRPr/>
          </a:p>
        </p:txBody>
      </p:sp>
      <p:sp>
        <p:nvSpPr>
          <p:cNvPr id="1564" name="Google Shape;1564;p41"/>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565" name="Google Shape;1565;p41"/>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66" name="Google Shape;1566;p41"/>
          <p:cNvSpPr/>
          <p:nvPr/>
        </p:nvSpPr>
        <p:spPr>
          <a:xfrm rot="5400000">
            <a:off x="15707037" y="3199867"/>
            <a:ext cx="2318775" cy="4916363"/>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nvGrpSpPr>
          <p:cNvPr id="1567" name="Google Shape;1567;p41"/>
          <p:cNvGrpSpPr/>
          <p:nvPr/>
        </p:nvGrpSpPr>
        <p:grpSpPr>
          <a:xfrm>
            <a:off x="14408243" y="5018767"/>
            <a:ext cx="4916363" cy="1378657"/>
            <a:chOff x="7498147" y="4563035"/>
            <a:chExt cx="3281644" cy="920246"/>
          </a:xfrm>
        </p:grpSpPr>
        <p:sp>
          <p:nvSpPr>
            <p:cNvPr id="1568" name="Google Shape;1568;p41"/>
            <p:cNvSpPr/>
            <p:nvPr/>
          </p:nvSpPr>
          <p:spPr>
            <a:xfrm rot="5400000">
              <a:off x="8055798" y="4230726"/>
              <a:ext cx="71036" cy="1186338"/>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569" name="Google Shape;1569;p41"/>
            <p:cNvSpPr/>
            <p:nvPr/>
          </p:nvSpPr>
          <p:spPr>
            <a:xfrm rot="5400000">
              <a:off x="9137136" y="4474390"/>
              <a:ext cx="109286" cy="1030146"/>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570" name="Google Shape;1570;p41"/>
            <p:cNvSpPr/>
            <p:nvPr/>
          </p:nvSpPr>
          <p:spPr>
            <a:xfrm rot="5400000">
              <a:off x="10128831" y="4372623"/>
              <a:ext cx="71036" cy="902545"/>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571" name="Google Shape;1571;p41"/>
            <p:cNvSpPr/>
            <p:nvPr/>
          </p:nvSpPr>
          <p:spPr>
            <a:xfrm flipH="1" rot="-5400000">
              <a:off x="10128831" y="4147280"/>
              <a:ext cx="71036" cy="902545"/>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572" name="Google Shape;1572;p41"/>
            <p:cNvSpPr/>
            <p:nvPr/>
          </p:nvSpPr>
          <p:spPr>
            <a:xfrm rot="5400000">
              <a:off x="10106890" y="4258420"/>
              <a:ext cx="118028" cy="902545"/>
            </a:xfrm>
            <a:custGeom>
              <a:rect b="b" l="l" r="r" t="t"/>
              <a:pathLst>
                <a:path extrusionOk="0" h="1851025" w="342900">
                  <a:moveTo>
                    <a:pt x="136525" y="0"/>
                  </a:moveTo>
                  <a:lnTo>
                    <a:pt x="342900" y="0"/>
                  </a:lnTo>
                  <a:lnTo>
                    <a:pt x="203200" y="1851025"/>
                  </a:lnTo>
                  <a:lnTo>
                    <a:pt x="0" y="1851025"/>
                  </a:lnTo>
                  <a:lnTo>
                    <a:pt x="13652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573" name="Google Shape;1573;p41"/>
            <p:cNvSpPr/>
            <p:nvPr/>
          </p:nvSpPr>
          <p:spPr>
            <a:xfrm rot="5400000">
              <a:off x="9164040" y="4308822"/>
              <a:ext cx="71036" cy="1030146"/>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574" name="Google Shape;1574;p41"/>
            <p:cNvSpPr/>
            <p:nvPr/>
          </p:nvSpPr>
          <p:spPr>
            <a:xfrm rot="5400000">
              <a:off x="9687672" y="4391162"/>
              <a:ext cx="71036" cy="2113201"/>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575" name="Google Shape;1575;p41"/>
            <p:cNvSpPr/>
            <p:nvPr/>
          </p:nvSpPr>
          <p:spPr>
            <a:xfrm rot="5400000">
              <a:off x="10662188" y="4516468"/>
              <a:ext cx="71036" cy="16417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576" name="Google Shape;1576;p41"/>
            <p:cNvSpPr/>
            <p:nvPr/>
          </p:nvSpPr>
          <p:spPr>
            <a:xfrm rot="5400000">
              <a:off x="10672515" y="4741083"/>
              <a:ext cx="50381" cy="16417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577" name="Google Shape;1577;p41"/>
            <p:cNvSpPr/>
            <p:nvPr/>
          </p:nvSpPr>
          <p:spPr>
            <a:xfrm rot="5400000">
              <a:off x="9442342" y="4622212"/>
              <a:ext cx="109286" cy="1030146"/>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578" name="Google Shape;1578;p41"/>
            <p:cNvSpPr/>
            <p:nvPr/>
          </p:nvSpPr>
          <p:spPr>
            <a:xfrm rot="5400000">
              <a:off x="9742152" y="4767119"/>
              <a:ext cx="109286" cy="1030146"/>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sp>
        <p:nvSpPr>
          <p:cNvPr id="1579" name="Google Shape;1579;p41"/>
          <p:cNvSpPr/>
          <p:nvPr/>
        </p:nvSpPr>
        <p:spPr>
          <a:xfrm rot="5400000">
            <a:off x="6485583" y="3199436"/>
            <a:ext cx="2318775" cy="4916363"/>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580" name="Google Shape;1580;p41"/>
          <p:cNvPicPr preferRelativeResize="0"/>
          <p:nvPr/>
        </p:nvPicPr>
        <p:blipFill rotWithShape="1">
          <a:blip r:embed="rId3">
            <a:alphaModFix/>
          </a:blip>
          <a:srcRect b="0" l="0" r="0" t="0"/>
          <a:stretch/>
        </p:blipFill>
        <p:spPr>
          <a:xfrm>
            <a:off x="7137996" y="5487624"/>
            <a:ext cx="1013949" cy="200311"/>
          </a:xfrm>
          <a:prstGeom prst="rect">
            <a:avLst/>
          </a:prstGeom>
          <a:noFill/>
          <a:ln>
            <a:noFill/>
          </a:ln>
        </p:spPr>
      </p:pic>
      <p:sp>
        <p:nvSpPr>
          <p:cNvPr id="1581" name="Google Shape;1581;p41"/>
          <p:cNvSpPr/>
          <p:nvPr/>
        </p:nvSpPr>
        <p:spPr>
          <a:xfrm>
            <a:off x="11660965" y="5408481"/>
            <a:ext cx="1194849" cy="331000"/>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582" name="Google Shape;1582;p41"/>
          <p:cNvPicPr preferRelativeResize="0"/>
          <p:nvPr/>
        </p:nvPicPr>
        <p:blipFill rotWithShape="1">
          <a:blip r:embed="rId4">
            <a:alphaModFix/>
          </a:blip>
          <a:srcRect b="0" l="0" r="0" t="0"/>
          <a:stretch/>
        </p:blipFill>
        <p:spPr>
          <a:xfrm>
            <a:off x="11083094" y="4924880"/>
            <a:ext cx="2350587" cy="200311"/>
          </a:xfrm>
          <a:prstGeom prst="rect">
            <a:avLst/>
          </a:prstGeom>
          <a:noFill/>
          <a:ln>
            <a:noFill/>
          </a:ln>
        </p:spPr>
      </p:pic>
      <p:pic>
        <p:nvPicPr>
          <p:cNvPr id="1583" name="Google Shape;1583;p41"/>
          <p:cNvPicPr preferRelativeResize="0"/>
          <p:nvPr/>
        </p:nvPicPr>
        <p:blipFill rotWithShape="1">
          <a:blip r:embed="rId5">
            <a:alphaModFix/>
          </a:blip>
          <a:srcRect b="0" l="0" r="0" t="0"/>
          <a:stretch/>
        </p:blipFill>
        <p:spPr>
          <a:xfrm>
            <a:off x="14779919" y="4984304"/>
            <a:ext cx="2489756" cy="254176"/>
          </a:xfrm>
          <a:prstGeom prst="rect">
            <a:avLst/>
          </a:prstGeom>
          <a:noFill/>
          <a:ln>
            <a:noFill/>
          </a:ln>
        </p:spPr>
      </p:pic>
      <p:cxnSp>
        <p:nvCxnSpPr>
          <p:cNvPr id="1584" name="Google Shape;1584;p41"/>
          <p:cNvCxnSpPr/>
          <p:nvPr/>
        </p:nvCxnSpPr>
        <p:spPr>
          <a:xfrm>
            <a:off x="7690979" y="7593948"/>
            <a:ext cx="0" cy="450970"/>
          </a:xfrm>
          <a:prstGeom prst="straightConnector1">
            <a:avLst/>
          </a:prstGeom>
          <a:noFill/>
          <a:ln cap="flat" cmpd="sng" w="38100">
            <a:solidFill>
              <a:srgbClr val="000000"/>
            </a:solidFill>
            <a:prstDash val="solid"/>
            <a:miter lim="800000"/>
            <a:headEnd len="sm" w="sm" type="none"/>
            <a:tailEnd len="med" w="med" type="triangle"/>
          </a:ln>
        </p:spPr>
      </p:cxnSp>
      <p:cxnSp>
        <p:nvCxnSpPr>
          <p:cNvPr id="1585" name="Google Shape;1585;p41"/>
          <p:cNvCxnSpPr/>
          <p:nvPr/>
        </p:nvCxnSpPr>
        <p:spPr>
          <a:xfrm>
            <a:off x="17309112" y="6900231"/>
            <a:ext cx="0" cy="727962"/>
          </a:xfrm>
          <a:prstGeom prst="straightConnector1">
            <a:avLst/>
          </a:prstGeom>
          <a:noFill/>
          <a:ln cap="flat" cmpd="sng" w="38100">
            <a:solidFill>
              <a:srgbClr val="000000"/>
            </a:solidFill>
            <a:prstDash val="solid"/>
            <a:miter lim="800000"/>
            <a:headEnd len="sm" w="sm" type="none"/>
            <a:tailEnd len="sm" w="sm" type="none"/>
          </a:ln>
        </p:spPr>
      </p:cxnSp>
      <p:cxnSp>
        <p:nvCxnSpPr>
          <p:cNvPr id="1586" name="Google Shape;1586;p41"/>
          <p:cNvCxnSpPr/>
          <p:nvPr/>
        </p:nvCxnSpPr>
        <p:spPr>
          <a:xfrm>
            <a:off x="7662814" y="7602827"/>
            <a:ext cx="9635405" cy="0"/>
          </a:xfrm>
          <a:prstGeom prst="straightConnector1">
            <a:avLst/>
          </a:prstGeom>
          <a:noFill/>
          <a:ln cap="flat" cmpd="sng" w="38100">
            <a:solidFill>
              <a:srgbClr val="000000"/>
            </a:solidFill>
            <a:prstDash val="solid"/>
            <a:miter lim="800000"/>
            <a:headEnd len="sm" w="sm" type="none"/>
            <a:tailEnd len="sm" w="sm" type="none"/>
          </a:ln>
        </p:spPr>
      </p:cxnSp>
      <p:pic>
        <p:nvPicPr>
          <p:cNvPr id="1587" name="Google Shape;1587;p41"/>
          <p:cNvPicPr preferRelativeResize="0"/>
          <p:nvPr/>
        </p:nvPicPr>
        <p:blipFill rotWithShape="1">
          <a:blip r:embed="rId6">
            <a:alphaModFix/>
          </a:blip>
          <a:srcRect b="0" l="0" r="0" t="0"/>
          <a:stretch/>
        </p:blipFill>
        <p:spPr>
          <a:xfrm>
            <a:off x="11177947" y="7175959"/>
            <a:ext cx="2157890" cy="254176"/>
          </a:xfrm>
          <a:prstGeom prst="rect">
            <a:avLst/>
          </a:prstGeom>
          <a:noFill/>
          <a:ln>
            <a:noFill/>
          </a:ln>
        </p:spPr>
      </p:pic>
      <p:sp>
        <p:nvSpPr>
          <p:cNvPr id="1588" name="Google Shape;1588;p41"/>
          <p:cNvSpPr/>
          <p:nvPr/>
        </p:nvSpPr>
        <p:spPr>
          <a:xfrm>
            <a:off x="11660965" y="9701096"/>
            <a:ext cx="1194849" cy="331000"/>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589" name="Google Shape;1589;p41"/>
          <p:cNvPicPr preferRelativeResize="0"/>
          <p:nvPr/>
        </p:nvPicPr>
        <p:blipFill rotWithShape="1">
          <a:blip r:embed="rId7">
            <a:alphaModFix/>
          </a:blip>
          <a:srcRect b="0" l="0" r="0" t="0"/>
          <a:stretch/>
        </p:blipFill>
        <p:spPr>
          <a:xfrm>
            <a:off x="11331646" y="9217495"/>
            <a:ext cx="1850494" cy="257543"/>
          </a:xfrm>
          <a:prstGeom prst="rect">
            <a:avLst/>
          </a:prstGeom>
          <a:noFill/>
          <a:ln>
            <a:noFill/>
          </a:ln>
        </p:spPr>
      </p:pic>
      <p:sp>
        <p:nvSpPr>
          <p:cNvPr id="1590" name="Google Shape;1590;p41"/>
          <p:cNvSpPr/>
          <p:nvPr/>
        </p:nvSpPr>
        <p:spPr>
          <a:xfrm>
            <a:off x="5200929" y="11389239"/>
            <a:ext cx="507299" cy="193128"/>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591" name="Google Shape;1591;p41"/>
          <p:cNvSpPr/>
          <p:nvPr/>
        </p:nvSpPr>
        <p:spPr>
          <a:xfrm>
            <a:off x="6947999" y="11389239"/>
            <a:ext cx="507299" cy="193128"/>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592" name="Google Shape;1592;p41"/>
          <p:cNvSpPr/>
          <p:nvPr/>
        </p:nvSpPr>
        <p:spPr>
          <a:xfrm>
            <a:off x="10801888" y="11389239"/>
            <a:ext cx="507299" cy="193128"/>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593" name="Google Shape;1593;p41"/>
          <p:cNvPicPr preferRelativeResize="0"/>
          <p:nvPr/>
        </p:nvPicPr>
        <p:blipFill rotWithShape="1">
          <a:blip r:embed="rId8">
            <a:alphaModFix/>
          </a:blip>
          <a:srcRect b="0" l="0" r="0" t="0"/>
          <a:stretch/>
        </p:blipFill>
        <p:spPr>
          <a:xfrm>
            <a:off x="5961030" y="11389239"/>
            <a:ext cx="333395" cy="190212"/>
          </a:xfrm>
          <a:prstGeom prst="rect">
            <a:avLst/>
          </a:prstGeom>
          <a:noFill/>
          <a:ln>
            <a:noFill/>
          </a:ln>
        </p:spPr>
      </p:pic>
      <p:pic>
        <p:nvPicPr>
          <p:cNvPr id="1594" name="Google Shape;1594;p41"/>
          <p:cNvPicPr preferRelativeResize="0"/>
          <p:nvPr/>
        </p:nvPicPr>
        <p:blipFill rotWithShape="1">
          <a:blip r:embed="rId9">
            <a:alphaModFix/>
          </a:blip>
          <a:srcRect b="0" l="0" r="0" t="0"/>
          <a:stretch/>
        </p:blipFill>
        <p:spPr>
          <a:xfrm>
            <a:off x="7708101" y="11389786"/>
            <a:ext cx="2489756" cy="254177"/>
          </a:xfrm>
          <a:prstGeom prst="rect">
            <a:avLst/>
          </a:prstGeom>
          <a:noFill/>
          <a:ln>
            <a:noFill/>
          </a:ln>
        </p:spPr>
      </p:pic>
      <p:pic>
        <p:nvPicPr>
          <p:cNvPr id="1595" name="Google Shape;1595;p41"/>
          <p:cNvPicPr preferRelativeResize="0"/>
          <p:nvPr/>
        </p:nvPicPr>
        <p:blipFill rotWithShape="1">
          <a:blip r:embed="rId10">
            <a:alphaModFix/>
          </a:blip>
          <a:srcRect b="0" l="0" r="0" t="0"/>
          <a:stretch/>
        </p:blipFill>
        <p:spPr>
          <a:xfrm>
            <a:off x="11581600" y="11391469"/>
            <a:ext cx="2697747" cy="250812"/>
          </a:xfrm>
          <a:prstGeom prst="rect">
            <a:avLst/>
          </a:prstGeom>
          <a:noFill/>
          <a:ln>
            <a:noFill/>
          </a:ln>
        </p:spPr>
      </p:pic>
      <p:grpSp>
        <p:nvGrpSpPr>
          <p:cNvPr id="1596" name="Google Shape;1596;p41"/>
          <p:cNvGrpSpPr/>
          <p:nvPr/>
        </p:nvGrpSpPr>
        <p:grpSpPr>
          <a:xfrm>
            <a:off x="5186791" y="8405890"/>
            <a:ext cx="4916365" cy="2318775"/>
            <a:chOff x="1785940" y="3863027"/>
            <a:chExt cx="2830819" cy="1335139"/>
          </a:xfrm>
        </p:grpSpPr>
        <p:sp>
          <p:nvSpPr>
            <p:cNvPr id="1597" name="Google Shape;1597;p41"/>
            <p:cNvSpPr/>
            <p:nvPr/>
          </p:nvSpPr>
          <p:spPr>
            <a:xfrm rot="5400000">
              <a:off x="2533779" y="3115188"/>
              <a:ext cx="1335139" cy="2830817"/>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nvGrpSpPr>
            <p:cNvPr id="1598" name="Google Shape;1598;p41"/>
            <p:cNvGrpSpPr/>
            <p:nvPr/>
          </p:nvGrpSpPr>
          <p:grpSpPr>
            <a:xfrm>
              <a:off x="1785940" y="4162501"/>
              <a:ext cx="2830819" cy="793823"/>
              <a:chOff x="7498145" y="4563020"/>
              <a:chExt cx="3281645" cy="920242"/>
            </a:xfrm>
          </p:grpSpPr>
          <p:sp>
            <p:nvSpPr>
              <p:cNvPr id="1599" name="Google Shape;1599;p41"/>
              <p:cNvSpPr/>
              <p:nvPr/>
            </p:nvSpPr>
            <p:spPr>
              <a:xfrm rot="5400000">
                <a:off x="8055796" y="4230711"/>
                <a:ext cx="71036" cy="1186338"/>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00" name="Google Shape;1600;p41"/>
              <p:cNvSpPr/>
              <p:nvPr/>
            </p:nvSpPr>
            <p:spPr>
              <a:xfrm rot="5400000">
                <a:off x="9137133" y="4474375"/>
                <a:ext cx="109285" cy="1030146"/>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01" name="Google Shape;1601;p41"/>
              <p:cNvSpPr/>
              <p:nvPr/>
            </p:nvSpPr>
            <p:spPr>
              <a:xfrm rot="5400000">
                <a:off x="10128828" y="4372608"/>
                <a:ext cx="71036" cy="902545"/>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02" name="Google Shape;1602;p41"/>
              <p:cNvSpPr/>
              <p:nvPr/>
            </p:nvSpPr>
            <p:spPr>
              <a:xfrm flipH="1" rot="-5400000">
                <a:off x="10128828" y="4147266"/>
                <a:ext cx="71036" cy="902545"/>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03" name="Google Shape;1603;p41"/>
              <p:cNvSpPr/>
              <p:nvPr/>
            </p:nvSpPr>
            <p:spPr>
              <a:xfrm rot="5400000">
                <a:off x="10106887" y="4258406"/>
                <a:ext cx="118027" cy="902545"/>
              </a:xfrm>
              <a:custGeom>
                <a:rect b="b" l="l" r="r" t="t"/>
                <a:pathLst>
                  <a:path extrusionOk="0" h="1851025" w="342900">
                    <a:moveTo>
                      <a:pt x="136525" y="0"/>
                    </a:moveTo>
                    <a:lnTo>
                      <a:pt x="342900" y="0"/>
                    </a:lnTo>
                    <a:lnTo>
                      <a:pt x="203200" y="1851025"/>
                    </a:lnTo>
                    <a:lnTo>
                      <a:pt x="0" y="1851025"/>
                    </a:lnTo>
                    <a:lnTo>
                      <a:pt x="13652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04" name="Google Shape;1604;p41"/>
              <p:cNvSpPr/>
              <p:nvPr/>
            </p:nvSpPr>
            <p:spPr>
              <a:xfrm rot="5400000">
                <a:off x="9164037" y="4308807"/>
                <a:ext cx="71036" cy="1030146"/>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05" name="Google Shape;1605;p41"/>
              <p:cNvSpPr/>
              <p:nvPr/>
            </p:nvSpPr>
            <p:spPr>
              <a:xfrm rot="5400000">
                <a:off x="9687670" y="4391143"/>
                <a:ext cx="71036" cy="2113201"/>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06" name="Google Shape;1606;p41"/>
              <p:cNvSpPr/>
              <p:nvPr/>
            </p:nvSpPr>
            <p:spPr>
              <a:xfrm rot="5400000">
                <a:off x="10662185" y="4516453"/>
                <a:ext cx="71036" cy="16417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07" name="Google Shape;1607;p41"/>
              <p:cNvSpPr/>
              <p:nvPr/>
            </p:nvSpPr>
            <p:spPr>
              <a:xfrm rot="5400000">
                <a:off x="10672514" y="4741068"/>
                <a:ext cx="50381" cy="16417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08" name="Google Shape;1608;p41"/>
              <p:cNvSpPr/>
              <p:nvPr/>
            </p:nvSpPr>
            <p:spPr>
              <a:xfrm rot="5400000">
                <a:off x="9442344" y="4622189"/>
                <a:ext cx="109285" cy="1030146"/>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09" name="Google Shape;1609;p41"/>
              <p:cNvSpPr/>
              <p:nvPr/>
            </p:nvSpPr>
            <p:spPr>
              <a:xfrm rot="5400000">
                <a:off x="9742152" y="4767119"/>
                <a:ext cx="109285" cy="1030146"/>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grpSp>
          <p:nvGrpSpPr>
            <p:cNvPr id="1610" name="Google Shape;1610;p41"/>
            <p:cNvGrpSpPr/>
            <p:nvPr/>
          </p:nvGrpSpPr>
          <p:grpSpPr>
            <a:xfrm>
              <a:off x="1886730" y="4328909"/>
              <a:ext cx="881991" cy="107581"/>
              <a:chOff x="689292" y="4328909"/>
              <a:chExt cx="881991" cy="107581"/>
            </a:xfrm>
          </p:grpSpPr>
          <p:sp>
            <p:nvSpPr>
              <p:cNvPr id="1611" name="Google Shape;1611;p41"/>
              <p:cNvSpPr/>
              <p:nvPr/>
            </p:nvSpPr>
            <p:spPr>
              <a:xfrm flipH="1">
                <a:off x="689292" y="4328911"/>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12" name="Google Shape;1612;p41"/>
              <p:cNvSpPr/>
              <p:nvPr/>
            </p:nvSpPr>
            <p:spPr>
              <a:xfrm flipH="1">
                <a:off x="768438" y="4328910"/>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13" name="Google Shape;1613;p41"/>
              <p:cNvSpPr/>
              <p:nvPr/>
            </p:nvSpPr>
            <p:spPr>
              <a:xfrm flipH="1">
                <a:off x="843393" y="4328909"/>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14" name="Google Shape;1614;p41"/>
              <p:cNvSpPr/>
              <p:nvPr/>
            </p:nvSpPr>
            <p:spPr>
              <a:xfrm flipH="1">
                <a:off x="920710" y="4328911"/>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15" name="Google Shape;1615;p41"/>
              <p:cNvSpPr/>
              <p:nvPr/>
            </p:nvSpPr>
            <p:spPr>
              <a:xfrm flipH="1">
                <a:off x="999856" y="4328910"/>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16" name="Google Shape;1616;p41"/>
              <p:cNvSpPr/>
              <p:nvPr/>
            </p:nvSpPr>
            <p:spPr>
              <a:xfrm flipH="1">
                <a:off x="1074810" y="4328909"/>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17" name="Google Shape;1617;p41"/>
              <p:cNvSpPr/>
              <p:nvPr/>
            </p:nvSpPr>
            <p:spPr>
              <a:xfrm flipH="1">
                <a:off x="1149765" y="4328911"/>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18" name="Google Shape;1618;p41"/>
              <p:cNvSpPr/>
              <p:nvPr/>
            </p:nvSpPr>
            <p:spPr>
              <a:xfrm flipH="1">
                <a:off x="1228911" y="4328910"/>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19" name="Google Shape;1619;p41"/>
              <p:cNvSpPr/>
              <p:nvPr/>
            </p:nvSpPr>
            <p:spPr>
              <a:xfrm flipH="1">
                <a:off x="1303865" y="4328909"/>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20" name="Google Shape;1620;p41"/>
              <p:cNvSpPr/>
              <p:nvPr/>
            </p:nvSpPr>
            <p:spPr>
              <a:xfrm flipH="1">
                <a:off x="1381182" y="4328911"/>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21" name="Google Shape;1621;p41"/>
              <p:cNvSpPr/>
              <p:nvPr/>
            </p:nvSpPr>
            <p:spPr>
              <a:xfrm flipH="1">
                <a:off x="1460328" y="4328910"/>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22" name="Google Shape;1622;p41"/>
              <p:cNvSpPr/>
              <p:nvPr/>
            </p:nvSpPr>
            <p:spPr>
              <a:xfrm flipH="1">
                <a:off x="1535283" y="4328909"/>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pic>
          <p:nvPicPr>
            <p:cNvPr id="1623" name="Google Shape;1623;p41"/>
            <p:cNvPicPr preferRelativeResize="0"/>
            <p:nvPr/>
          </p:nvPicPr>
          <p:blipFill rotWithShape="1">
            <a:blip r:embed="rId11">
              <a:alphaModFix/>
            </a:blip>
            <a:srcRect b="0" l="0" r="0" t="0"/>
            <a:stretch/>
          </p:blipFill>
          <p:spPr>
            <a:xfrm>
              <a:off x="2142227" y="4128584"/>
              <a:ext cx="390979" cy="109522"/>
            </a:xfrm>
            <a:prstGeom prst="rect">
              <a:avLst/>
            </a:prstGeom>
            <a:noFill/>
            <a:ln>
              <a:noFill/>
            </a:ln>
          </p:spPr>
        </p:pic>
      </p:grpSp>
      <p:grpSp>
        <p:nvGrpSpPr>
          <p:cNvPr id="1624" name="Google Shape;1624;p41"/>
          <p:cNvGrpSpPr/>
          <p:nvPr/>
        </p:nvGrpSpPr>
        <p:grpSpPr>
          <a:xfrm>
            <a:off x="13636239" y="8038093"/>
            <a:ext cx="5688369" cy="3418752"/>
            <a:chOff x="6651090" y="3651251"/>
            <a:chExt cx="3275335" cy="1968500"/>
          </a:xfrm>
        </p:grpSpPr>
        <p:sp>
          <p:nvSpPr>
            <p:cNvPr id="1625" name="Google Shape;1625;p41"/>
            <p:cNvSpPr/>
            <p:nvPr/>
          </p:nvSpPr>
          <p:spPr>
            <a:xfrm rot="5400000">
              <a:off x="7852488" y="3124233"/>
              <a:ext cx="1335139" cy="2812730"/>
            </a:xfrm>
            <a:custGeom>
              <a:rect b="b" l="l" r="r" t="t"/>
              <a:pathLst>
                <a:path extrusionOk="0" h="2812730" w="1335139">
                  <a:moveTo>
                    <a:pt x="0" y="2713351"/>
                  </a:moveTo>
                  <a:lnTo>
                    <a:pt x="0" y="0"/>
                  </a:lnTo>
                  <a:lnTo>
                    <a:pt x="1335139" y="0"/>
                  </a:lnTo>
                  <a:lnTo>
                    <a:pt x="1335139" y="2812730"/>
                  </a:lnTo>
                  <a:lnTo>
                    <a:pt x="0" y="2713351"/>
                  </a:lnTo>
                  <a:close/>
                </a:path>
              </a:pathLst>
            </a:cu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nvGrpSpPr>
            <p:cNvPr id="1626" name="Google Shape;1626;p41"/>
            <p:cNvGrpSpPr/>
            <p:nvPr/>
          </p:nvGrpSpPr>
          <p:grpSpPr>
            <a:xfrm>
              <a:off x="7095606" y="4162503"/>
              <a:ext cx="2830819" cy="793823"/>
              <a:chOff x="7498145" y="4563020"/>
              <a:chExt cx="3281645" cy="920242"/>
            </a:xfrm>
          </p:grpSpPr>
          <p:sp>
            <p:nvSpPr>
              <p:cNvPr id="1627" name="Google Shape;1627;p41"/>
              <p:cNvSpPr/>
              <p:nvPr/>
            </p:nvSpPr>
            <p:spPr>
              <a:xfrm rot="5400000">
                <a:off x="8055796" y="4230711"/>
                <a:ext cx="71036" cy="1186338"/>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28" name="Google Shape;1628;p41"/>
              <p:cNvSpPr/>
              <p:nvPr/>
            </p:nvSpPr>
            <p:spPr>
              <a:xfrm rot="5400000">
                <a:off x="9137133" y="4474375"/>
                <a:ext cx="109285" cy="1030146"/>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29" name="Google Shape;1629;p41"/>
              <p:cNvSpPr/>
              <p:nvPr/>
            </p:nvSpPr>
            <p:spPr>
              <a:xfrm rot="5400000">
                <a:off x="10128828" y="4372608"/>
                <a:ext cx="71036" cy="902545"/>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30" name="Google Shape;1630;p41"/>
              <p:cNvSpPr/>
              <p:nvPr/>
            </p:nvSpPr>
            <p:spPr>
              <a:xfrm flipH="1" rot="-5400000">
                <a:off x="10128828" y="4147266"/>
                <a:ext cx="71036" cy="902545"/>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31" name="Google Shape;1631;p41"/>
              <p:cNvSpPr/>
              <p:nvPr/>
            </p:nvSpPr>
            <p:spPr>
              <a:xfrm rot="5400000">
                <a:off x="10106887" y="4258406"/>
                <a:ext cx="118027" cy="902545"/>
              </a:xfrm>
              <a:custGeom>
                <a:rect b="b" l="l" r="r" t="t"/>
                <a:pathLst>
                  <a:path extrusionOk="0" h="1851025" w="342900">
                    <a:moveTo>
                      <a:pt x="136525" y="0"/>
                    </a:moveTo>
                    <a:lnTo>
                      <a:pt x="342900" y="0"/>
                    </a:lnTo>
                    <a:lnTo>
                      <a:pt x="203200" y="1851025"/>
                    </a:lnTo>
                    <a:lnTo>
                      <a:pt x="0" y="1851025"/>
                    </a:lnTo>
                    <a:lnTo>
                      <a:pt x="13652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32" name="Google Shape;1632;p41"/>
              <p:cNvSpPr/>
              <p:nvPr/>
            </p:nvSpPr>
            <p:spPr>
              <a:xfrm rot="5400000">
                <a:off x="9164037" y="4308807"/>
                <a:ext cx="71036" cy="1030146"/>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33" name="Google Shape;1633;p41"/>
              <p:cNvSpPr/>
              <p:nvPr/>
            </p:nvSpPr>
            <p:spPr>
              <a:xfrm rot="5400000">
                <a:off x="9687670" y="4391143"/>
                <a:ext cx="71036" cy="2113201"/>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34" name="Google Shape;1634;p41"/>
              <p:cNvSpPr/>
              <p:nvPr/>
            </p:nvSpPr>
            <p:spPr>
              <a:xfrm rot="5400000">
                <a:off x="10662185" y="4516453"/>
                <a:ext cx="71036" cy="16417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35" name="Google Shape;1635;p41"/>
              <p:cNvSpPr/>
              <p:nvPr/>
            </p:nvSpPr>
            <p:spPr>
              <a:xfrm rot="5400000">
                <a:off x="10672514" y="4741068"/>
                <a:ext cx="50381" cy="16417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36" name="Google Shape;1636;p41"/>
              <p:cNvSpPr/>
              <p:nvPr/>
            </p:nvSpPr>
            <p:spPr>
              <a:xfrm rot="5400000">
                <a:off x="9442344" y="4622189"/>
                <a:ext cx="109285" cy="1030146"/>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37" name="Google Shape;1637;p41"/>
              <p:cNvSpPr/>
              <p:nvPr/>
            </p:nvSpPr>
            <p:spPr>
              <a:xfrm rot="5400000">
                <a:off x="9742152" y="4767119"/>
                <a:ext cx="109285" cy="1030146"/>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grpSp>
          <p:nvGrpSpPr>
            <p:cNvPr id="1638" name="Google Shape;1638;p41"/>
            <p:cNvGrpSpPr/>
            <p:nvPr/>
          </p:nvGrpSpPr>
          <p:grpSpPr>
            <a:xfrm>
              <a:off x="7196396" y="4328911"/>
              <a:ext cx="881991" cy="107581"/>
              <a:chOff x="689292" y="4328909"/>
              <a:chExt cx="881991" cy="107581"/>
            </a:xfrm>
          </p:grpSpPr>
          <p:sp>
            <p:nvSpPr>
              <p:cNvPr id="1639" name="Google Shape;1639;p41"/>
              <p:cNvSpPr/>
              <p:nvPr/>
            </p:nvSpPr>
            <p:spPr>
              <a:xfrm flipH="1">
                <a:off x="689292" y="4328911"/>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40" name="Google Shape;1640;p41"/>
              <p:cNvSpPr/>
              <p:nvPr/>
            </p:nvSpPr>
            <p:spPr>
              <a:xfrm flipH="1">
                <a:off x="768438" y="4328910"/>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41" name="Google Shape;1641;p41"/>
              <p:cNvSpPr/>
              <p:nvPr/>
            </p:nvSpPr>
            <p:spPr>
              <a:xfrm flipH="1">
                <a:off x="843393" y="4328909"/>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42" name="Google Shape;1642;p41"/>
              <p:cNvSpPr/>
              <p:nvPr/>
            </p:nvSpPr>
            <p:spPr>
              <a:xfrm flipH="1">
                <a:off x="920710" y="4328911"/>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43" name="Google Shape;1643;p41"/>
              <p:cNvSpPr/>
              <p:nvPr/>
            </p:nvSpPr>
            <p:spPr>
              <a:xfrm flipH="1">
                <a:off x="999856" y="4328910"/>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44" name="Google Shape;1644;p41"/>
              <p:cNvSpPr/>
              <p:nvPr/>
            </p:nvSpPr>
            <p:spPr>
              <a:xfrm flipH="1">
                <a:off x="1074810" y="4328909"/>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45" name="Google Shape;1645;p41"/>
              <p:cNvSpPr/>
              <p:nvPr/>
            </p:nvSpPr>
            <p:spPr>
              <a:xfrm flipH="1">
                <a:off x="1149765" y="4328911"/>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46" name="Google Shape;1646;p41"/>
              <p:cNvSpPr/>
              <p:nvPr/>
            </p:nvSpPr>
            <p:spPr>
              <a:xfrm flipH="1">
                <a:off x="1228911" y="4328910"/>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47" name="Google Shape;1647;p41"/>
              <p:cNvSpPr/>
              <p:nvPr/>
            </p:nvSpPr>
            <p:spPr>
              <a:xfrm flipH="1">
                <a:off x="1303865" y="4328909"/>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48" name="Google Shape;1648;p41"/>
              <p:cNvSpPr/>
              <p:nvPr/>
            </p:nvSpPr>
            <p:spPr>
              <a:xfrm flipH="1">
                <a:off x="1381182" y="4328911"/>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49" name="Google Shape;1649;p41"/>
              <p:cNvSpPr/>
              <p:nvPr/>
            </p:nvSpPr>
            <p:spPr>
              <a:xfrm flipH="1">
                <a:off x="1460328" y="4328910"/>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50" name="Google Shape;1650;p41"/>
              <p:cNvSpPr/>
              <p:nvPr/>
            </p:nvSpPr>
            <p:spPr>
              <a:xfrm flipH="1">
                <a:off x="1535283" y="4328909"/>
                <a:ext cx="36000" cy="107579"/>
              </a:xfrm>
              <a:prstGeom prst="roundRect">
                <a:avLst>
                  <a:gd fmla="val 16667" name="adj"/>
                </a:avLst>
              </a:prstGeom>
              <a:solidFill>
                <a:srgbClr val="F5ED3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pic>
          <p:nvPicPr>
            <p:cNvPr id="1651" name="Google Shape;1651;p41"/>
            <p:cNvPicPr preferRelativeResize="0"/>
            <p:nvPr/>
          </p:nvPicPr>
          <p:blipFill rotWithShape="1">
            <a:blip r:embed="rId11">
              <a:alphaModFix/>
            </a:blip>
            <a:srcRect b="0" l="0" r="0" t="0"/>
            <a:stretch/>
          </p:blipFill>
          <p:spPr>
            <a:xfrm>
              <a:off x="7451893" y="4128586"/>
              <a:ext cx="390979" cy="109522"/>
            </a:xfrm>
            <a:prstGeom prst="rect">
              <a:avLst/>
            </a:prstGeom>
            <a:noFill/>
            <a:ln>
              <a:noFill/>
            </a:ln>
          </p:spPr>
        </p:pic>
        <p:sp>
          <p:nvSpPr>
            <p:cNvPr id="1652" name="Google Shape;1652;p41"/>
            <p:cNvSpPr/>
            <p:nvPr/>
          </p:nvSpPr>
          <p:spPr>
            <a:xfrm rot="5400000">
              <a:off x="5952590" y="4349751"/>
              <a:ext cx="1968500" cy="571500"/>
            </a:xfrm>
            <a:custGeom>
              <a:rect b="b" l="l" r="r" t="t"/>
              <a:pathLst>
                <a:path extrusionOk="0" h="571500" w="1968500">
                  <a:moveTo>
                    <a:pt x="0" y="0"/>
                  </a:moveTo>
                  <a:lnTo>
                    <a:pt x="211777" y="15764"/>
                  </a:lnTo>
                  <a:lnTo>
                    <a:pt x="211777" y="133230"/>
                  </a:lnTo>
                  <a:lnTo>
                    <a:pt x="1546916" y="133230"/>
                  </a:lnTo>
                  <a:lnTo>
                    <a:pt x="1546916" y="133230"/>
                  </a:lnTo>
                  <a:lnTo>
                    <a:pt x="211778" y="133230"/>
                  </a:lnTo>
                  <a:lnTo>
                    <a:pt x="211778" y="15764"/>
                  </a:lnTo>
                  <a:lnTo>
                    <a:pt x="1546917" y="115143"/>
                  </a:lnTo>
                  <a:lnTo>
                    <a:pt x="1546917" y="115143"/>
                  </a:lnTo>
                  <a:lnTo>
                    <a:pt x="1962150" y="146050"/>
                  </a:lnTo>
                  <a:lnTo>
                    <a:pt x="1968500" y="571500"/>
                  </a:lnTo>
                  <a:lnTo>
                    <a:pt x="12700" y="52705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sp>
        <p:nvSpPr>
          <p:cNvPr id="1653" name="Google Shape;1653;p41"/>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654" name="Google Shape;1654;p41"/>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655" name="Google Shape;1655;p41"/>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656" name="Google Shape;1656;p41"/>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1657" name="Google Shape;1657;p41"/>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658" name="Google Shape;1658;p41"/>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659" name="Google Shape;1659;p41"/>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Fabrication process</a:t>
            </a:r>
            <a:endParaRPr b="1" sz="1500">
              <a:solidFill>
                <a:schemeClr val="dk2"/>
              </a:solidFill>
              <a:latin typeface="Montserrat"/>
              <a:ea typeface="Montserrat"/>
              <a:cs typeface="Montserrat"/>
              <a:sym typeface="Montserra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sp>
        <p:nvSpPr>
          <p:cNvPr id="1664" name="Google Shape;1664;p42"/>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Titanium in-diffusion</a:t>
            </a:r>
            <a:endParaRPr b="1" sz="5400">
              <a:solidFill>
                <a:schemeClr val="dk2"/>
              </a:solidFill>
              <a:latin typeface="Montserrat"/>
              <a:ea typeface="Montserrat"/>
              <a:cs typeface="Montserrat"/>
              <a:sym typeface="Montserrat"/>
            </a:endParaRPr>
          </a:p>
        </p:txBody>
      </p:sp>
      <p:sp>
        <p:nvSpPr>
          <p:cNvPr id="1665" name="Google Shape;1665;p42"/>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666" name="Google Shape;1666;p42"/>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1667" name="Google Shape;1667;p42"/>
          <p:cNvGrpSpPr/>
          <p:nvPr/>
        </p:nvGrpSpPr>
        <p:grpSpPr>
          <a:xfrm>
            <a:off x="5539228" y="4428842"/>
            <a:ext cx="13488075" cy="7470805"/>
            <a:chOff x="6934120" y="5973263"/>
            <a:chExt cx="8108822" cy="4491332"/>
          </a:xfrm>
        </p:grpSpPr>
        <p:grpSp>
          <p:nvGrpSpPr>
            <p:cNvPr id="1668" name="Google Shape;1668;p42"/>
            <p:cNvGrpSpPr/>
            <p:nvPr/>
          </p:nvGrpSpPr>
          <p:grpSpPr>
            <a:xfrm>
              <a:off x="6934120" y="10321862"/>
              <a:ext cx="629629" cy="111202"/>
              <a:chOff x="1794081" y="5580824"/>
              <a:chExt cx="629629" cy="111202"/>
            </a:xfrm>
          </p:grpSpPr>
          <p:sp>
            <p:nvSpPr>
              <p:cNvPr id="1669" name="Google Shape;1669;p42"/>
              <p:cNvSpPr/>
              <p:nvPr/>
            </p:nvSpPr>
            <p:spPr>
              <a:xfrm>
                <a:off x="1794081" y="5580824"/>
                <a:ext cx="292100" cy="111202"/>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670" name="Google Shape;1670;p42"/>
              <p:cNvPicPr preferRelativeResize="0"/>
              <p:nvPr/>
            </p:nvPicPr>
            <p:blipFill rotWithShape="1">
              <a:blip r:embed="rId3">
                <a:alphaModFix/>
              </a:blip>
              <a:srcRect b="0" l="0" r="0" t="0"/>
              <a:stretch/>
            </p:blipFill>
            <p:spPr>
              <a:xfrm>
                <a:off x="2231743" y="5580824"/>
                <a:ext cx="191967" cy="109523"/>
              </a:xfrm>
              <a:prstGeom prst="rect">
                <a:avLst/>
              </a:prstGeom>
              <a:noFill/>
              <a:ln>
                <a:noFill/>
              </a:ln>
            </p:spPr>
          </p:pic>
        </p:grpSp>
        <p:grpSp>
          <p:nvGrpSpPr>
            <p:cNvPr id="1671" name="Google Shape;1671;p42"/>
            <p:cNvGrpSpPr/>
            <p:nvPr/>
          </p:nvGrpSpPr>
          <p:grpSpPr>
            <a:xfrm>
              <a:off x="11010066" y="10317926"/>
              <a:ext cx="1871252" cy="146669"/>
              <a:chOff x="1794081" y="6321577"/>
              <a:chExt cx="1871252" cy="146669"/>
            </a:xfrm>
          </p:grpSpPr>
          <p:sp>
            <p:nvSpPr>
              <p:cNvPr id="1672" name="Google Shape;1672;p42"/>
              <p:cNvSpPr/>
              <p:nvPr/>
            </p:nvSpPr>
            <p:spPr>
              <a:xfrm>
                <a:off x="1794081" y="6321577"/>
                <a:ext cx="292100" cy="111202"/>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673" name="Google Shape;1673;p42"/>
              <p:cNvPicPr preferRelativeResize="0"/>
              <p:nvPr/>
            </p:nvPicPr>
            <p:blipFill rotWithShape="1">
              <a:blip r:embed="rId4">
                <a:alphaModFix/>
              </a:blip>
              <a:srcRect b="0" l="0" r="0" t="0"/>
              <a:stretch/>
            </p:blipFill>
            <p:spPr>
              <a:xfrm>
                <a:off x="2231744" y="6321892"/>
                <a:ext cx="1433589" cy="146354"/>
              </a:xfrm>
              <a:prstGeom prst="rect">
                <a:avLst/>
              </a:prstGeom>
              <a:noFill/>
              <a:ln>
                <a:noFill/>
              </a:ln>
            </p:spPr>
          </p:pic>
        </p:grpSp>
        <p:sp>
          <p:nvSpPr>
            <p:cNvPr id="1674" name="Google Shape;1674;p42"/>
            <p:cNvSpPr/>
            <p:nvPr/>
          </p:nvSpPr>
          <p:spPr>
            <a:xfrm>
              <a:off x="10084834" y="6563430"/>
              <a:ext cx="1598993" cy="589140"/>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75" name="Google Shape;1675;p42"/>
            <p:cNvSpPr/>
            <p:nvPr/>
          </p:nvSpPr>
          <p:spPr>
            <a:xfrm>
              <a:off x="10084831" y="6270722"/>
              <a:ext cx="1598993"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76" name="Google Shape;1676;p42"/>
            <p:cNvSpPr/>
            <p:nvPr/>
          </p:nvSpPr>
          <p:spPr>
            <a:xfrm>
              <a:off x="10084832" y="6417076"/>
              <a:ext cx="1598993" cy="146354"/>
            </a:xfrm>
            <a:prstGeom prst="rect">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77" name="Google Shape;1677;p42"/>
            <p:cNvSpPr/>
            <p:nvPr/>
          </p:nvSpPr>
          <p:spPr>
            <a:xfrm>
              <a:off x="7039947" y="6563430"/>
              <a:ext cx="1598993" cy="589140"/>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78" name="Google Shape;1678;p42"/>
            <p:cNvSpPr/>
            <p:nvPr/>
          </p:nvSpPr>
          <p:spPr>
            <a:xfrm>
              <a:off x="13129716" y="6561800"/>
              <a:ext cx="1598993" cy="589140"/>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79" name="Google Shape;1679;p42"/>
            <p:cNvSpPr/>
            <p:nvPr/>
          </p:nvSpPr>
          <p:spPr>
            <a:xfrm>
              <a:off x="13129714" y="6415446"/>
              <a:ext cx="519375" cy="146354"/>
            </a:xfrm>
            <a:prstGeom prst="rect">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80" name="Google Shape;1680;p42"/>
            <p:cNvSpPr/>
            <p:nvPr/>
          </p:nvSpPr>
          <p:spPr>
            <a:xfrm>
              <a:off x="14123752" y="6269092"/>
              <a:ext cx="604954"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81" name="Google Shape;1681;p42"/>
            <p:cNvSpPr/>
            <p:nvPr/>
          </p:nvSpPr>
          <p:spPr>
            <a:xfrm>
              <a:off x="13129712" y="6269092"/>
              <a:ext cx="604954"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82" name="Google Shape;1682;p42"/>
            <p:cNvSpPr/>
            <p:nvPr/>
          </p:nvSpPr>
          <p:spPr>
            <a:xfrm>
              <a:off x="14209335" y="6415446"/>
              <a:ext cx="519375" cy="146354"/>
            </a:xfrm>
            <a:prstGeom prst="rect">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83" name="Google Shape;1683;p42"/>
            <p:cNvSpPr/>
            <p:nvPr/>
          </p:nvSpPr>
          <p:spPr>
            <a:xfrm>
              <a:off x="7039939" y="6417076"/>
              <a:ext cx="1598993" cy="146354"/>
            </a:xfrm>
            <a:prstGeom prst="rect">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84" name="Google Shape;1684;p42"/>
            <p:cNvSpPr/>
            <p:nvPr/>
          </p:nvSpPr>
          <p:spPr>
            <a:xfrm>
              <a:off x="7039939" y="9076863"/>
              <a:ext cx="1598993" cy="589140"/>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85" name="Google Shape;1685;p42"/>
            <p:cNvSpPr/>
            <p:nvPr/>
          </p:nvSpPr>
          <p:spPr>
            <a:xfrm>
              <a:off x="7039937" y="8930509"/>
              <a:ext cx="519375" cy="146354"/>
            </a:xfrm>
            <a:prstGeom prst="rect">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86" name="Google Shape;1686;p42"/>
            <p:cNvSpPr/>
            <p:nvPr/>
          </p:nvSpPr>
          <p:spPr>
            <a:xfrm>
              <a:off x="8033975" y="8784155"/>
              <a:ext cx="604954"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87" name="Google Shape;1687;p42"/>
            <p:cNvSpPr/>
            <p:nvPr/>
          </p:nvSpPr>
          <p:spPr>
            <a:xfrm>
              <a:off x="7039935" y="8788036"/>
              <a:ext cx="604954"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88" name="Google Shape;1688;p42"/>
            <p:cNvSpPr/>
            <p:nvPr/>
          </p:nvSpPr>
          <p:spPr>
            <a:xfrm>
              <a:off x="8119558" y="8930509"/>
              <a:ext cx="519375" cy="146354"/>
            </a:xfrm>
            <a:prstGeom prst="rect">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89" name="Google Shape;1689;p42"/>
            <p:cNvSpPr/>
            <p:nvPr/>
          </p:nvSpPr>
          <p:spPr>
            <a:xfrm>
              <a:off x="7039935" y="8641682"/>
              <a:ext cx="604954" cy="146354"/>
            </a:xfrm>
            <a:prstGeom prst="rect">
              <a:avLst/>
            </a:prstGeom>
            <a:solidFill>
              <a:srgbClr val="DEE1E6"/>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90" name="Google Shape;1690;p42"/>
            <p:cNvSpPr/>
            <p:nvPr/>
          </p:nvSpPr>
          <p:spPr>
            <a:xfrm>
              <a:off x="8033975" y="8637801"/>
              <a:ext cx="604954" cy="146354"/>
            </a:xfrm>
            <a:prstGeom prst="rect">
              <a:avLst/>
            </a:prstGeom>
            <a:solidFill>
              <a:srgbClr val="DEE1E6"/>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91" name="Google Shape;1691;p42"/>
            <p:cNvSpPr/>
            <p:nvPr/>
          </p:nvSpPr>
          <p:spPr>
            <a:xfrm>
              <a:off x="7668849" y="8930509"/>
              <a:ext cx="346076" cy="146354"/>
            </a:xfrm>
            <a:prstGeom prst="rect">
              <a:avLst/>
            </a:prstGeom>
            <a:solidFill>
              <a:srgbClr val="DEE1E6"/>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92" name="Google Shape;1692;p42"/>
            <p:cNvSpPr/>
            <p:nvPr/>
          </p:nvSpPr>
          <p:spPr>
            <a:xfrm>
              <a:off x="10084831" y="9076863"/>
              <a:ext cx="1598993" cy="589140"/>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93" name="Google Shape;1693;p42"/>
            <p:cNvSpPr/>
            <p:nvPr/>
          </p:nvSpPr>
          <p:spPr>
            <a:xfrm>
              <a:off x="10713741" y="8930509"/>
              <a:ext cx="346076" cy="146354"/>
            </a:xfrm>
            <a:prstGeom prst="rect">
              <a:avLst/>
            </a:prstGeom>
            <a:solidFill>
              <a:srgbClr val="DEE1E6"/>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94" name="Google Shape;1694;p42"/>
            <p:cNvSpPr/>
            <p:nvPr/>
          </p:nvSpPr>
          <p:spPr>
            <a:xfrm>
              <a:off x="13129713" y="9075233"/>
              <a:ext cx="1598993" cy="589140"/>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695" name="Google Shape;1695;p42"/>
            <p:cNvSpPr/>
            <p:nvPr/>
          </p:nvSpPr>
          <p:spPr>
            <a:xfrm>
              <a:off x="13698428" y="9076969"/>
              <a:ext cx="461562" cy="261027"/>
            </a:xfrm>
            <a:custGeom>
              <a:rect b="b" l="l" r="r" t="t"/>
              <a:pathLst>
                <a:path extrusionOk="0" h="261027" w="461562">
                  <a:moveTo>
                    <a:pt x="4289" y="0"/>
                  </a:moveTo>
                  <a:lnTo>
                    <a:pt x="457273" y="0"/>
                  </a:lnTo>
                  <a:lnTo>
                    <a:pt x="461562" y="40627"/>
                  </a:lnTo>
                  <a:cubicBezTo>
                    <a:pt x="461562" y="162351"/>
                    <a:pt x="358238" y="261027"/>
                    <a:pt x="230781" y="261027"/>
                  </a:cubicBezTo>
                  <a:cubicBezTo>
                    <a:pt x="103324" y="261027"/>
                    <a:pt x="0" y="162351"/>
                    <a:pt x="0" y="40627"/>
                  </a:cubicBezTo>
                  <a:lnTo>
                    <a:pt x="4289"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nvGrpSpPr>
            <p:cNvPr id="1696" name="Google Shape;1696;p42"/>
            <p:cNvGrpSpPr/>
            <p:nvPr/>
          </p:nvGrpSpPr>
          <p:grpSpPr>
            <a:xfrm>
              <a:off x="9761714" y="10320963"/>
              <a:ext cx="1027547" cy="111202"/>
              <a:chOff x="1794081" y="5005615"/>
              <a:chExt cx="1027547" cy="111202"/>
            </a:xfrm>
          </p:grpSpPr>
          <p:sp>
            <p:nvSpPr>
              <p:cNvPr id="1697" name="Google Shape;1697;p42"/>
              <p:cNvSpPr/>
              <p:nvPr/>
            </p:nvSpPr>
            <p:spPr>
              <a:xfrm>
                <a:off x="1794081" y="5005615"/>
                <a:ext cx="292100" cy="111202"/>
              </a:xfrm>
              <a:prstGeom prst="rect">
                <a:avLst/>
              </a:prstGeom>
              <a:solidFill>
                <a:srgbClr val="DEE1E6"/>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698" name="Google Shape;1698;p42"/>
              <p:cNvPicPr preferRelativeResize="0"/>
              <p:nvPr/>
            </p:nvPicPr>
            <p:blipFill rotWithShape="1">
              <a:blip r:embed="rId5">
                <a:alphaModFix/>
              </a:blip>
              <a:srcRect b="0" l="0" r="0" t="0"/>
              <a:stretch/>
            </p:blipFill>
            <p:spPr>
              <a:xfrm>
                <a:off x="2228115" y="5006325"/>
                <a:ext cx="593513" cy="110492"/>
              </a:xfrm>
              <a:prstGeom prst="rect">
                <a:avLst/>
              </a:prstGeom>
              <a:noFill/>
              <a:ln>
                <a:noFill/>
              </a:ln>
            </p:spPr>
          </p:pic>
        </p:grpSp>
        <p:grpSp>
          <p:nvGrpSpPr>
            <p:cNvPr id="1699" name="Google Shape;1699;p42"/>
            <p:cNvGrpSpPr/>
            <p:nvPr/>
          </p:nvGrpSpPr>
          <p:grpSpPr>
            <a:xfrm>
              <a:off x="7784554" y="10317926"/>
              <a:ext cx="742238" cy="117394"/>
              <a:chOff x="1794081" y="5259227"/>
              <a:chExt cx="742238" cy="117394"/>
            </a:xfrm>
          </p:grpSpPr>
          <p:sp>
            <p:nvSpPr>
              <p:cNvPr id="1700" name="Google Shape;1700;p42"/>
              <p:cNvSpPr/>
              <p:nvPr/>
            </p:nvSpPr>
            <p:spPr>
              <a:xfrm>
                <a:off x="1794081" y="5265419"/>
                <a:ext cx="292100" cy="111202"/>
              </a:xfrm>
              <a:prstGeom prst="rect">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701" name="Google Shape;1701;p42"/>
              <p:cNvPicPr preferRelativeResize="0"/>
              <p:nvPr/>
            </p:nvPicPr>
            <p:blipFill rotWithShape="1">
              <a:blip r:embed="rId6">
                <a:alphaModFix/>
              </a:blip>
              <a:srcRect b="0" l="0" r="0" t="0"/>
              <a:stretch/>
            </p:blipFill>
            <p:spPr>
              <a:xfrm>
                <a:off x="2228115" y="5259227"/>
                <a:ext cx="308204" cy="117277"/>
              </a:xfrm>
              <a:prstGeom prst="rect">
                <a:avLst/>
              </a:prstGeom>
              <a:noFill/>
              <a:ln>
                <a:noFill/>
              </a:ln>
            </p:spPr>
          </p:pic>
        </p:grpSp>
        <p:grpSp>
          <p:nvGrpSpPr>
            <p:cNvPr id="1702" name="Google Shape;1702;p42"/>
            <p:cNvGrpSpPr/>
            <p:nvPr/>
          </p:nvGrpSpPr>
          <p:grpSpPr>
            <a:xfrm>
              <a:off x="8747597" y="10317926"/>
              <a:ext cx="793312" cy="117277"/>
              <a:chOff x="1794081" y="5923220"/>
              <a:chExt cx="793312" cy="117277"/>
            </a:xfrm>
          </p:grpSpPr>
          <p:sp>
            <p:nvSpPr>
              <p:cNvPr id="1703" name="Google Shape;1703;p42"/>
              <p:cNvSpPr/>
              <p:nvPr/>
            </p:nvSpPr>
            <p:spPr>
              <a:xfrm>
                <a:off x="1794081" y="5926258"/>
                <a:ext cx="292100" cy="111202"/>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704" name="Google Shape;1704;p42"/>
              <p:cNvPicPr preferRelativeResize="0"/>
              <p:nvPr/>
            </p:nvPicPr>
            <p:blipFill rotWithShape="1">
              <a:blip r:embed="rId7">
                <a:alphaModFix/>
              </a:blip>
              <a:srcRect b="0" l="0" r="0" t="0"/>
              <a:stretch/>
            </p:blipFill>
            <p:spPr>
              <a:xfrm>
                <a:off x="2228115" y="5923220"/>
                <a:ext cx="359278" cy="117277"/>
              </a:xfrm>
              <a:prstGeom prst="rect">
                <a:avLst/>
              </a:prstGeom>
              <a:noFill/>
              <a:ln>
                <a:noFill/>
              </a:ln>
            </p:spPr>
          </p:pic>
        </p:grpSp>
        <p:sp>
          <p:nvSpPr>
            <p:cNvPr id="1705" name="Google Shape;1705;p42"/>
            <p:cNvSpPr/>
            <p:nvPr/>
          </p:nvSpPr>
          <p:spPr>
            <a:xfrm>
              <a:off x="9017892" y="6665782"/>
              <a:ext cx="687988" cy="190588"/>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706" name="Google Shape;1706;p42"/>
            <p:cNvPicPr preferRelativeResize="0"/>
            <p:nvPr/>
          </p:nvPicPr>
          <p:blipFill rotWithShape="1">
            <a:blip r:embed="rId8">
              <a:alphaModFix/>
            </a:blip>
            <a:srcRect b="0" l="0" r="0" t="0"/>
            <a:stretch/>
          </p:blipFill>
          <p:spPr>
            <a:xfrm>
              <a:off x="7234426" y="5973263"/>
              <a:ext cx="1315591" cy="146353"/>
            </a:xfrm>
            <a:prstGeom prst="rect">
              <a:avLst/>
            </a:prstGeom>
            <a:noFill/>
            <a:ln>
              <a:noFill/>
            </a:ln>
          </p:spPr>
        </p:pic>
        <p:pic>
          <p:nvPicPr>
            <p:cNvPr id="1707" name="Google Shape;1707;p42"/>
            <p:cNvPicPr preferRelativeResize="0"/>
            <p:nvPr/>
          </p:nvPicPr>
          <p:blipFill rotWithShape="1">
            <a:blip r:embed="rId9">
              <a:alphaModFix/>
            </a:blip>
            <a:srcRect b="0" l="0" r="0" t="0"/>
            <a:stretch/>
          </p:blipFill>
          <p:spPr>
            <a:xfrm>
              <a:off x="10226531" y="5973263"/>
              <a:ext cx="1370187" cy="146353"/>
            </a:xfrm>
            <a:prstGeom prst="rect">
              <a:avLst/>
            </a:prstGeom>
            <a:noFill/>
            <a:ln>
              <a:noFill/>
            </a:ln>
          </p:spPr>
        </p:pic>
        <p:pic>
          <p:nvPicPr>
            <p:cNvPr id="1708" name="Google Shape;1708;p42"/>
            <p:cNvPicPr preferRelativeResize="0"/>
            <p:nvPr/>
          </p:nvPicPr>
          <p:blipFill rotWithShape="1">
            <a:blip r:embed="rId10">
              <a:alphaModFix/>
            </a:blip>
            <a:srcRect b="0" l="0" r="0" t="0"/>
            <a:stretch/>
          </p:blipFill>
          <p:spPr>
            <a:xfrm>
              <a:off x="13081648" y="5973263"/>
              <a:ext cx="1695122" cy="146353"/>
            </a:xfrm>
            <a:prstGeom prst="rect">
              <a:avLst/>
            </a:prstGeom>
            <a:noFill/>
            <a:ln>
              <a:noFill/>
            </a:ln>
          </p:spPr>
        </p:pic>
        <p:sp>
          <p:nvSpPr>
            <p:cNvPr id="1709" name="Google Shape;1709;p42"/>
            <p:cNvSpPr/>
            <p:nvPr/>
          </p:nvSpPr>
          <p:spPr>
            <a:xfrm>
              <a:off x="12062776" y="6665782"/>
              <a:ext cx="687988" cy="190588"/>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10" name="Google Shape;1710;p42"/>
            <p:cNvSpPr/>
            <p:nvPr/>
          </p:nvSpPr>
          <p:spPr>
            <a:xfrm>
              <a:off x="9015861" y="9274509"/>
              <a:ext cx="687988" cy="190588"/>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11" name="Google Shape;1711;p42"/>
            <p:cNvSpPr/>
            <p:nvPr/>
          </p:nvSpPr>
          <p:spPr>
            <a:xfrm>
              <a:off x="12060745" y="9274509"/>
              <a:ext cx="687988" cy="190588"/>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1712" name="Google Shape;1712;p42"/>
            <p:cNvCxnSpPr/>
            <p:nvPr/>
          </p:nvCxnSpPr>
          <p:spPr>
            <a:xfrm>
              <a:off x="7855642" y="7714530"/>
              <a:ext cx="0" cy="259666"/>
            </a:xfrm>
            <a:prstGeom prst="straightConnector1">
              <a:avLst/>
            </a:prstGeom>
            <a:noFill/>
            <a:ln cap="flat" cmpd="sng" w="38100">
              <a:solidFill>
                <a:srgbClr val="000000"/>
              </a:solidFill>
              <a:prstDash val="solid"/>
              <a:miter lim="800000"/>
              <a:headEnd len="sm" w="sm" type="none"/>
              <a:tailEnd len="med" w="med" type="triangle"/>
            </a:ln>
          </p:spPr>
        </p:cxnSp>
        <p:cxnSp>
          <p:nvCxnSpPr>
            <p:cNvPr id="1713" name="Google Shape;1713;p42"/>
            <p:cNvCxnSpPr/>
            <p:nvPr/>
          </p:nvCxnSpPr>
          <p:spPr>
            <a:xfrm>
              <a:off x="13939812" y="7315091"/>
              <a:ext cx="0" cy="419157"/>
            </a:xfrm>
            <a:prstGeom prst="straightConnector1">
              <a:avLst/>
            </a:prstGeom>
            <a:noFill/>
            <a:ln cap="flat" cmpd="sng" w="38100">
              <a:solidFill>
                <a:srgbClr val="000000"/>
              </a:solidFill>
              <a:prstDash val="solid"/>
              <a:miter lim="800000"/>
              <a:headEnd len="sm" w="sm" type="none"/>
              <a:tailEnd len="sm" w="sm" type="none"/>
            </a:ln>
          </p:spPr>
        </p:cxnSp>
        <p:cxnSp>
          <p:nvCxnSpPr>
            <p:cNvPr id="1714" name="Google Shape;1714;p42"/>
            <p:cNvCxnSpPr/>
            <p:nvPr/>
          </p:nvCxnSpPr>
          <p:spPr>
            <a:xfrm>
              <a:off x="7836666" y="7719642"/>
              <a:ext cx="6121400" cy="0"/>
            </a:xfrm>
            <a:prstGeom prst="straightConnector1">
              <a:avLst/>
            </a:prstGeom>
            <a:noFill/>
            <a:ln cap="flat" cmpd="sng" w="38100">
              <a:solidFill>
                <a:srgbClr val="000000"/>
              </a:solidFill>
              <a:prstDash val="solid"/>
              <a:miter lim="800000"/>
              <a:headEnd len="sm" w="sm" type="none"/>
              <a:tailEnd len="sm" w="sm" type="none"/>
            </a:ln>
          </p:spPr>
        </p:cxnSp>
        <p:pic>
          <p:nvPicPr>
            <p:cNvPr id="1715" name="Google Shape;1715;p42"/>
            <p:cNvPicPr preferRelativeResize="0"/>
            <p:nvPr/>
          </p:nvPicPr>
          <p:blipFill rotWithShape="1">
            <a:blip r:embed="rId11">
              <a:alphaModFix/>
            </a:blip>
            <a:srcRect b="0" l="0" r="0" t="0"/>
            <a:stretch/>
          </p:blipFill>
          <p:spPr>
            <a:xfrm>
              <a:off x="7170945" y="8371566"/>
              <a:ext cx="1331442" cy="144415"/>
            </a:xfrm>
            <a:prstGeom prst="rect">
              <a:avLst/>
            </a:prstGeom>
            <a:noFill/>
            <a:ln>
              <a:noFill/>
            </a:ln>
          </p:spPr>
        </p:pic>
        <p:pic>
          <p:nvPicPr>
            <p:cNvPr id="1716" name="Google Shape;1716;p42"/>
            <p:cNvPicPr preferRelativeResize="0"/>
            <p:nvPr/>
          </p:nvPicPr>
          <p:blipFill rotWithShape="1">
            <a:blip r:embed="rId12">
              <a:alphaModFix/>
            </a:blip>
            <a:srcRect b="0" l="0" r="0" t="0"/>
            <a:stretch/>
          </p:blipFill>
          <p:spPr>
            <a:xfrm>
              <a:off x="10662420" y="8371566"/>
              <a:ext cx="443814" cy="115338"/>
            </a:xfrm>
            <a:prstGeom prst="rect">
              <a:avLst/>
            </a:prstGeom>
            <a:noFill/>
            <a:ln>
              <a:noFill/>
            </a:ln>
          </p:spPr>
        </p:pic>
        <p:pic>
          <p:nvPicPr>
            <p:cNvPr id="1717" name="Google Shape;1717;p42"/>
            <p:cNvPicPr preferRelativeResize="0"/>
            <p:nvPr/>
          </p:nvPicPr>
          <p:blipFill rotWithShape="1">
            <a:blip r:embed="rId13">
              <a:alphaModFix/>
            </a:blip>
            <a:srcRect b="0" l="0" r="0" t="0"/>
            <a:stretch/>
          </p:blipFill>
          <p:spPr>
            <a:xfrm>
              <a:off x="13281338" y="8371566"/>
              <a:ext cx="1353456" cy="115338"/>
            </a:xfrm>
            <a:prstGeom prst="rect">
              <a:avLst/>
            </a:prstGeom>
            <a:noFill/>
            <a:ln>
              <a:noFill/>
            </a:ln>
          </p:spPr>
        </p:pic>
        <p:sp>
          <p:nvSpPr>
            <p:cNvPr id="1718" name="Google Shape;1718;p42"/>
            <p:cNvSpPr/>
            <p:nvPr/>
          </p:nvSpPr>
          <p:spPr>
            <a:xfrm>
              <a:off x="13129712" y="9600760"/>
              <a:ext cx="1598993" cy="64109"/>
            </a:xfrm>
            <a:prstGeom prst="rect">
              <a:avLst/>
            </a:prstGeom>
            <a:solidFill>
              <a:srgbClr val="AEEDE6"/>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nvGrpSpPr>
            <p:cNvPr id="1719" name="Google Shape;1719;p42"/>
            <p:cNvGrpSpPr/>
            <p:nvPr/>
          </p:nvGrpSpPr>
          <p:grpSpPr>
            <a:xfrm>
              <a:off x="13102123" y="10313783"/>
              <a:ext cx="1940819" cy="146669"/>
              <a:chOff x="9024885" y="5572745"/>
              <a:chExt cx="1940819" cy="146669"/>
            </a:xfrm>
          </p:grpSpPr>
          <p:sp>
            <p:nvSpPr>
              <p:cNvPr id="1720" name="Google Shape;1720;p42"/>
              <p:cNvSpPr/>
              <p:nvPr/>
            </p:nvSpPr>
            <p:spPr>
              <a:xfrm>
                <a:off x="9024885" y="5572745"/>
                <a:ext cx="292100" cy="111202"/>
              </a:xfrm>
              <a:prstGeom prst="rect">
                <a:avLst/>
              </a:prstGeom>
              <a:solidFill>
                <a:srgbClr val="AEEDE6"/>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721" name="Google Shape;1721;p42"/>
              <p:cNvPicPr preferRelativeResize="0"/>
              <p:nvPr/>
            </p:nvPicPr>
            <p:blipFill rotWithShape="1">
              <a:blip r:embed="rId14">
                <a:alphaModFix/>
              </a:blip>
              <a:srcRect b="0" l="0" r="0" t="0"/>
              <a:stretch/>
            </p:blipFill>
            <p:spPr>
              <a:xfrm>
                <a:off x="9462548" y="5573060"/>
                <a:ext cx="1503156" cy="146354"/>
              </a:xfrm>
              <a:prstGeom prst="rect">
                <a:avLst/>
              </a:prstGeom>
              <a:noFill/>
              <a:ln>
                <a:noFill/>
              </a:ln>
            </p:spPr>
          </p:pic>
        </p:grpSp>
      </p:grpSp>
      <p:sp>
        <p:nvSpPr>
          <p:cNvPr id="1722" name="Google Shape;1722;p42"/>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723" name="Google Shape;1723;p42"/>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724" name="Google Shape;1724;p42"/>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725" name="Google Shape;1725;p42"/>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1726" name="Google Shape;1726;p42"/>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727" name="Google Shape;1727;p42"/>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728" name="Google Shape;1728;p42"/>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Fabrication process</a:t>
            </a:r>
            <a:endParaRPr b="1" sz="1500">
              <a:solidFill>
                <a:schemeClr val="dk2"/>
              </a:solidFill>
              <a:latin typeface="Montserrat"/>
              <a:ea typeface="Montserrat"/>
              <a:cs typeface="Montserrat"/>
              <a:sym typeface="Montserrat"/>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2" name="Shape 1732"/>
        <p:cNvGrpSpPr/>
        <p:nvPr/>
      </p:nvGrpSpPr>
      <p:grpSpPr>
        <a:xfrm>
          <a:off x="0" y="0"/>
          <a:ext cx="0" cy="0"/>
          <a:chOff x="0" y="0"/>
          <a:chExt cx="0" cy="0"/>
        </a:xfrm>
      </p:grpSpPr>
      <p:sp>
        <p:nvSpPr>
          <p:cNvPr id="1733" name="Google Shape;1733;p43"/>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Electric field poling</a:t>
            </a:r>
            <a:endParaRPr/>
          </a:p>
        </p:txBody>
      </p:sp>
      <p:sp>
        <p:nvSpPr>
          <p:cNvPr id="1734" name="Google Shape;1734;p43"/>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735" name="Google Shape;1735;p43"/>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1736" name="Google Shape;1736;p43"/>
          <p:cNvGrpSpPr/>
          <p:nvPr/>
        </p:nvGrpSpPr>
        <p:grpSpPr>
          <a:xfrm>
            <a:off x="5038009" y="3308246"/>
            <a:ext cx="14663415" cy="8815227"/>
            <a:chOff x="7561993" y="4532999"/>
            <a:chExt cx="9145653" cy="5498106"/>
          </a:xfrm>
        </p:grpSpPr>
        <p:grpSp>
          <p:nvGrpSpPr>
            <p:cNvPr id="1737" name="Google Shape;1737;p43"/>
            <p:cNvGrpSpPr/>
            <p:nvPr/>
          </p:nvGrpSpPr>
          <p:grpSpPr>
            <a:xfrm>
              <a:off x="10242519" y="9152005"/>
              <a:ext cx="629629" cy="111202"/>
              <a:chOff x="1794081" y="5580824"/>
              <a:chExt cx="629629" cy="111202"/>
            </a:xfrm>
          </p:grpSpPr>
          <p:sp>
            <p:nvSpPr>
              <p:cNvPr id="1738" name="Google Shape;1738;p43"/>
              <p:cNvSpPr/>
              <p:nvPr/>
            </p:nvSpPr>
            <p:spPr>
              <a:xfrm>
                <a:off x="1794081" y="5580824"/>
                <a:ext cx="292100" cy="111202"/>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739" name="Google Shape;1739;p43"/>
              <p:cNvPicPr preferRelativeResize="0"/>
              <p:nvPr/>
            </p:nvPicPr>
            <p:blipFill rotWithShape="1">
              <a:blip r:embed="rId3">
                <a:alphaModFix/>
              </a:blip>
              <a:srcRect b="0" l="0" r="0" t="0"/>
              <a:stretch/>
            </p:blipFill>
            <p:spPr>
              <a:xfrm>
                <a:off x="2231743" y="5580824"/>
                <a:ext cx="191967" cy="109523"/>
              </a:xfrm>
              <a:prstGeom prst="rect">
                <a:avLst/>
              </a:prstGeom>
              <a:noFill/>
              <a:ln>
                <a:noFill/>
              </a:ln>
            </p:spPr>
          </p:pic>
        </p:grpSp>
        <p:grpSp>
          <p:nvGrpSpPr>
            <p:cNvPr id="1740" name="Google Shape;1740;p43"/>
            <p:cNvGrpSpPr/>
            <p:nvPr/>
          </p:nvGrpSpPr>
          <p:grpSpPr>
            <a:xfrm>
              <a:off x="10242759" y="9500487"/>
              <a:ext cx="1871252" cy="146669"/>
              <a:chOff x="1794081" y="6321577"/>
              <a:chExt cx="1871252" cy="146669"/>
            </a:xfrm>
          </p:grpSpPr>
          <p:sp>
            <p:nvSpPr>
              <p:cNvPr id="1741" name="Google Shape;1741;p43"/>
              <p:cNvSpPr/>
              <p:nvPr/>
            </p:nvSpPr>
            <p:spPr>
              <a:xfrm>
                <a:off x="1794081" y="6321577"/>
                <a:ext cx="292100" cy="111202"/>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742" name="Google Shape;1742;p43"/>
              <p:cNvPicPr preferRelativeResize="0"/>
              <p:nvPr/>
            </p:nvPicPr>
            <p:blipFill rotWithShape="1">
              <a:blip r:embed="rId4">
                <a:alphaModFix/>
              </a:blip>
              <a:srcRect b="0" l="0" r="0" t="0"/>
              <a:stretch/>
            </p:blipFill>
            <p:spPr>
              <a:xfrm>
                <a:off x="2231744" y="6321892"/>
                <a:ext cx="1433589" cy="146354"/>
              </a:xfrm>
              <a:prstGeom prst="rect">
                <a:avLst/>
              </a:prstGeom>
              <a:noFill/>
              <a:ln>
                <a:noFill/>
              </a:ln>
            </p:spPr>
          </p:pic>
        </p:grpSp>
        <p:grpSp>
          <p:nvGrpSpPr>
            <p:cNvPr id="1743" name="Google Shape;1743;p43"/>
            <p:cNvGrpSpPr/>
            <p:nvPr/>
          </p:nvGrpSpPr>
          <p:grpSpPr>
            <a:xfrm>
              <a:off x="12626631" y="9495224"/>
              <a:ext cx="793312" cy="117277"/>
              <a:chOff x="1794081" y="5923220"/>
              <a:chExt cx="793312" cy="117277"/>
            </a:xfrm>
          </p:grpSpPr>
          <p:sp>
            <p:nvSpPr>
              <p:cNvPr id="1744" name="Google Shape;1744;p43"/>
              <p:cNvSpPr/>
              <p:nvPr/>
            </p:nvSpPr>
            <p:spPr>
              <a:xfrm>
                <a:off x="1794081" y="5926258"/>
                <a:ext cx="292100" cy="111202"/>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745" name="Google Shape;1745;p43"/>
              <p:cNvPicPr preferRelativeResize="0"/>
              <p:nvPr/>
            </p:nvPicPr>
            <p:blipFill rotWithShape="1">
              <a:blip r:embed="rId5">
                <a:alphaModFix/>
              </a:blip>
              <a:srcRect b="0" l="0" r="0" t="0"/>
              <a:stretch/>
            </p:blipFill>
            <p:spPr>
              <a:xfrm>
                <a:off x="2228115" y="5923220"/>
                <a:ext cx="359278" cy="117277"/>
              </a:xfrm>
              <a:prstGeom prst="rect">
                <a:avLst/>
              </a:prstGeom>
              <a:noFill/>
              <a:ln>
                <a:noFill/>
              </a:ln>
            </p:spPr>
          </p:pic>
        </p:grpSp>
        <p:sp>
          <p:nvSpPr>
            <p:cNvPr id="1746" name="Google Shape;1746;p43"/>
            <p:cNvSpPr/>
            <p:nvPr/>
          </p:nvSpPr>
          <p:spPr>
            <a:xfrm>
              <a:off x="10187345" y="5307588"/>
              <a:ext cx="687988" cy="190588"/>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747" name="Google Shape;1747;p43"/>
            <p:cNvPicPr preferRelativeResize="0"/>
            <p:nvPr/>
          </p:nvPicPr>
          <p:blipFill rotWithShape="1">
            <a:blip r:embed="rId6">
              <a:alphaModFix/>
            </a:blip>
            <a:srcRect b="0" l="0" r="0" t="0"/>
            <a:stretch/>
          </p:blipFill>
          <p:spPr>
            <a:xfrm>
              <a:off x="7988308" y="4532999"/>
              <a:ext cx="1078714" cy="146353"/>
            </a:xfrm>
            <a:prstGeom prst="rect">
              <a:avLst/>
            </a:prstGeom>
            <a:noFill/>
            <a:ln>
              <a:noFill/>
            </a:ln>
          </p:spPr>
        </p:pic>
        <p:pic>
          <p:nvPicPr>
            <p:cNvPr id="1748" name="Google Shape;1748;p43"/>
            <p:cNvPicPr preferRelativeResize="0"/>
            <p:nvPr/>
          </p:nvPicPr>
          <p:blipFill rotWithShape="1">
            <a:blip r:embed="rId7">
              <a:alphaModFix/>
            </a:blip>
            <a:srcRect b="0" l="0" r="0" t="0"/>
            <a:stretch/>
          </p:blipFill>
          <p:spPr>
            <a:xfrm>
              <a:off x="11282253" y="4830837"/>
              <a:ext cx="1370187" cy="146353"/>
            </a:xfrm>
            <a:prstGeom prst="rect">
              <a:avLst/>
            </a:prstGeom>
            <a:noFill/>
            <a:ln>
              <a:noFill/>
            </a:ln>
          </p:spPr>
        </p:pic>
        <p:pic>
          <p:nvPicPr>
            <p:cNvPr id="1749" name="Google Shape;1749;p43"/>
            <p:cNvPicPr preferRelativeResize="0"/>
            <p:nvPr/>
          </p:nvPicPr>
          <p:blipFill rotWithShape="1">
            <a:blip r:embed="rId8">
              <a:alphaModFix/>
            </a:blip>
            <a:srcRect b="0" l="0" r="0" t="0"/>
            <a:stretch/>
          </p:blipFill>
          <p:spPr>
            <a:xfrm>
              <a:off x="14471437" y="4830837"/>
              <a:ext cx="1695122" cy="146353"/>
            </a:xfrm>
            <a:prstGeom prst="rect">
              <a:avLst/>
            </a:prstGeom>
            <a:noFill/>
            <a:ln>
              <a:noFill/>
            </a:ln>
          </p:spPr>
        </p:pic>
        <p:sp>
          <p:nvSpPr>
            <p:cNvPr id="1750" name="Google Shape;1750;p43"/>
            <p:cNvSpPr/>
            <p:nvPr/>
          </p:nvSpPr>
          <p:spPr>
            <a:xfrm>
              <a:off x="13619748" y="5381690"/>
              <a:ext cx="687988" cy="190588"/>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1751" name="Google Shape;1751;p43"/>
            <p:cNvCxnSpPr/>
            <p:nvPr/>
          </p:nvCxnSpPr>
          <p:spPr>
            <a:xfrm>
              <a:off x="8568878" y="6151038"/>
              <a:ext cx="0" cy="404059"/>
            </a:xfrm>
            <a:prstGeom prst="straightConnector1">
              <a:avLst/>
            </a:prstGeom>
            <a:noFill/>
            <a:ln cap="flat" cmpd="sng" w="38100">
              <a:solidFill>
                <a:srgbClr val="000000"/>
              </a:solidFill>
              <a:prstDash val="solid"/>
              <a:miter lim="800000"/>
              <a:headEnd len="sm" w="sm" type="none"/>
              <a:tailEnd len="med" w="med" type="triangle"/>
            </a:ln>
          </p:spPr>
        </p:cxnSp>
        <p:cxnSp>
          <p:nvCxnSpPr>
            <p:cNvPr id="1752" name="Google Shape;1752;p43"/>
            <p:cNvCxnSpPr/>
            <p:nvPr/>
          </p:nvCxnSpPr>
          <p:spPr>
            <a:xfrm>
              <a:off x="15456620" y="5941777"/>
              <a:ext cx="0" cy="233213"/>
            </a:xfrm>
            <a:prstGeom prst="straightConnector1">
              <a:avLst/>
            </a:prstGeom>
            <a:noFill/>
            <a:ln cap="flat" cmpd="sng" w="38100">
              <a:solidFill>
                <a:srgbClr val="000000"/>
              </a:solidFill>
              <a:prstDash val="solid"/>
              <a:miter lim="800000"/>
              <a:headEnd len="sm" w="sm" type="none"/>
              <a:tailEnd len="sm" w="sm" type="none"/>
            </a:ln>
          </p:spPr>
        </p:cxnSp>
        <p:cxnSp>
          <p:nvCxnSpPr>
            <p:cNvPr id="1753" name="Google Shape;1753;p43"/>
            <p:cNvCxnSpPr/>
            <p:nvPr/>
          </p:nvCxnSpPr>
          <p:spPr>
            <a:xfrm>
              <a:off x="8550559" y="6156150"/>
              <a:ext cx="6905778" cy="0"/>
            </a:xfrm>
            <a:prstGeom prst="straightConnector1">
              <a:avLst/>
            </a:prstGeom>
            <a:noFill/>
            <a:ln cap="flat" cmpd="sng" w="38100">
              <a:solidFill>
                <a:srgbClr val="000000"/>
              </a:solidFill>
              <a:prstDash val="solid"/>
              <a:miter lim="800000"/>
              <a:headEnd len="sm" w="sm" type="none"/>
              <a:tailEnd len="sm" w="sm" type="none"/>
            </a:ln>
          </p:spPr>
        </p:cxnSp>
        <p:grpSp>
          <p:nvGrpSpPr>
            <p:cNvPr id="1754" name="Google Shape;1754;p43"/>
            <p:cNvGrpSpPr/>
            <p:nvPr/>
          </p:nvGrpSpPr>
          <p:grpSpPr>
            <a:xfrm>
              <a:off x="10246163" y="9884436"/>
              <a:ext cx="1940819" cy="146669"/>
              <a:chOff x="9024885" y="5572745"/>
              <a:chExt cx="1940819" cy="146669"/>
            </a:xfrm>
          </p:grpSpPr>
          <p:sp>
            <p:nvSpPr>
              <p:cNvPr id="1755" name="Google Shape;1755;p43"/>
              <p:cNvSpPr/>
              <p:nvPr/>
            </p:nvSpPr>
            <p:spPr>
              <a:xfrm>
                <a:off x="9024885" y="5572745"/>
                <a:ext cx="292100" cy="111202"/>
              </a:xfrm>
              <a:prstGeom prst="rect">
                <a:avLst/>
              </a:prstGeom>
              <a:solidFill>
                <a:srgbClr val="AEEDE6"/>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756" name="Google Shape;1756;p43"/>
              <p:cNvPicPr preferRelativeResize="0"/>
              <p:nvPr/>
            </p:nvPicPr>
            <p:blipFill rotWithShape="1">
              <a:blip r:embed="rId9">
                <a:alphaModFix/>
              </a:blip>
              <a:srcRect b="0" l="0" r="0" t="0"/>
              <a:stretch/>
            </p:blipFill>
            <p:spPr>
              <a:xfrm>
                <a:off x="9462548" y="5573060"/>
                <a:ext cx="1503156" cy="146354"/>
              </a:xfrm>
              <a:prstGeom prst="rect">
                <a:avLst/>
              </a:prstGeom>
              <a:noFill/>
              <a:ln>
                <a:noFill/>
              </a:ln>
            </p:spPr>
          </p:pic>
        </p:grpSp>
        <p:sp>
          <p:nvSpPr>
            <p:cNvPr id="1757" name="Google Shape;1757;p43"/>
            <p:cNvSpPr/>
            <p:nvPr/>
          </p:nvSpPr>
          <p:spPr>
            <a:xfrm>
              <a:off x="7845894" y="5188122"/>
              <a:ext cx="1363549" cy="502392"/>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58" name="Google Shape;1758;p43"/>
            <p:cNvSpPr/>
            <p:nvPr/>
          </p:nvSpPr>
          <p:spPr>
            <a:xfrm>
              <a:off x="8330868" y="5188122"/>
              <a:ext cx="393599" cy="222592"/>
            </a:xfrm>
            <a:custGeom>
              <a:rect b="b" l="l" r="r" t="t"/>
              <a:pathLst>
                <a:path extrusionOk="0" h="261027" w="461562">
                  <a:moveTo>
                    <a:pt x="4289" y="0"/>
                  </a:moveTo>
                  <a:lnTo>
                    <a:pt x="457273" y="0"/>
                  </a:lnTo>
                  <a:lnTo>
                    <a:pt x="461562" y="40627"/>
                  </a:lnTo>
                  <a:cubicBezTo>
                    <a:pt x="461562" y="162351"/>
                    <a:pt x="358238" y="261027"/>
                    <a:pt x="230781" y="261027"/>
                  </a:cubicBezTo>
                  <a:cubicBezTo>
                    <a:pt x="103324" y="261027"/>
                    <a:pt x="0" y="162351"/>
                    <a:pt x="0" y="40627"/>
                  </a:cubicBezTo>
                  <a:lnTo>
                    <a:pt x="4289"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59" name="Google Shape;1759;p43"/>
            <p:cNvSpPr/>
            <p:nvPr/>
          </p:nvSpPr>
          <p:spPr>
            <a:xfrm>
              <a:off x="7845893" y="5634934"/>
              <a:ext cx="1363549" cy="54669"/>
            </a:xfrm>
            <a:prstGeom prst="rect">
              <a:avLst/>
            </a:prstGeom>
            <a:solidFill>
              <a:srgbClr val="AEEDE6"/>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60" name="Google Shape;1760;p43"/>
            <p:cNvSpPr/>
            <p:nvPr/>
          </p:nvSpPr>
          <p:spPr>
            <a:xfrm>
              <a:off x="7561993" y="5689603"/>
              <a:ext cx="1977132" cy="126388"/>
            </a:xfrm>
            <a:prstGeom prst="rect">
              <a:avLst/>
            </a:prstGeom>
            <a:blipFill rotWithShape="1">
              <a:blip r:embed="rId10">
                <a:alphaModFix/>
              </a:blip>
              <a:tile algn="tl" flip="none" tx="0" sx="100000" ty="0" sy="100000"/>
            </a:blip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61" name="Google Shape;1761;p43"/>
            <p:cNvSpPr/>
            <p:nvPr/>
          </p:nvSpPr>
          <p:spPr>
            <a:xfrm>
              <a:off x="7561993" y="5081405"/>
              <a:ext cx="1931347" cy="105770"/>
            </a:xfrm>
            <a:prstGeom prst="rect">
              <a:avLst/>
            </a:prstGeom>
            <a:gradFill>
              <a:gsLst>
                <a:gs pos="0">
                  <a:srgbClr val="000000"/>
                </a:gs>
                <a:gs pos="38000">
                  <a:srgbClr val="FFFFFF"/>
                </a:gs>
                <a:gs pos="100000">
                  <a:srgbClr val="000000"/>
                </a:gs>
              </a:gsLst>
              <a:lin ang="10800000" scaled="0"/>
            </a:gra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62" name="Google Shape;1762;p43"/>
            <p:cNvSpPr/>
            <p:nvPr/>
          </p:nvSpPr>
          <p:spPr>
            <a:xfrm>
              <a:off x="8260519" y="4791462"/>
              <a:ext cx="534293" cy="290070"/>
            </a:xfrm>
            <a:prstGeom prst="rect">
              <a:avLst/>
            </a:prstGeom>
            <a:gradFill>
              <a:gsLst>
                <a:gs pos="0">
                  <a:srgbClr val="000000"/>
                </a:gs>
                <a:gs pos="41000">
                  <a:srgbClr val="FFFFFF"/>
                </a:gs>
                <a:gs pos="100000">
                  <a:srgbClr val="000000"/>
                </a:gs>
              </a:gsLst>
              <a:lin ang="10800000" scaled="0"/>
            </a:gra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63" name="Google Shape;1763;p43"/>
            <p:cNvSpPr/>
            <p:nvPr/>
          </p:nvSpPr>
          <p:spPr>
            <a:xfrm>
              <a:off x="11140552" y="5277709"/>
              <a:ext cx="1702800" cy="523963"/>
            </a:xfrm>
            <a:custGeom>
              <a:rect b="b" l="l" r="r" t="t"/>
              <a:pathLst>
                <a:path extrusionOk="0" h="523963" w="1598993">
                  <a:moveTo>
                    <a:pt x="0" y="0"/>
                  </a:moveTo>
                  <a:lnTo>
                    <a:pt x="1598993" y="0"/>
                  </a:lnTo>
                  <a:lnTo>
                    <a:pt x="1598993" y="523963"/>
                  </a:lnTo>
                  <a:lnTo>
                    <a:pt x="0" y="523963"/>
                  </a:lnTo>
                  <a:lnTo>
                    <a:pt x="0" y="0"/>
                  </a:lnTo>
                  <a:close/>
                </a:path>
              </a:pathLst>
            </a:cu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64" name="Google Shape;1764;p43"/>
            <p:cNvSpPr/>
            <p:nvPr/>
          </p:nvSpPr>
          <p:spPr>
            <a:xfrm>
              <a:off x="11140554" y="5131354"/>
              <a:ext cx="1702800"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1765" name="Google Shape;1765;p43"/>
            <p:cNvCxnSpPr/>
            <p:nvPr/>
          </p:nvCxnSpPr>
          <p:spPr>
            <a:xfrm>
              <a:off x="12962820" y="5463769"/>
              <a:ext cx="270395" cy="0"/>
            </a:xfrm>
            <a:prstGeom prst="straightConnector1">
              <a:avLst/>
            </a:prstGeom>
            <a:noFill/>
            <a:ln cap="flat" cmpd="sng" w="12700">
              <a:solidFill>
                <a:srgbClr val="000000"/>
              </a:solidFill>
              <a:prstDash val="solid"/>
              <a:miter lim="800000"/>
              <a:headEnd len="sm" w="sm" type="none"/>
              <a:tailEnd len="med" w="med" type="triangle"/>
            </a:ln>
          </p:spPr>
        </p:cxnSp>
        <p:cxnSp>
          <p:nvCxnSpPr>
            <p:cNvPr id="1766" name="Google Shape;1766;p43"/>
            <p:cNvCxnSpPr/>
            <p:nvPr/>
          </p:nvCxnSpPr>
          <p:spPr>
            <a:xfrm rot="10800000">
              <a:off x="12966946" y="5185580"/>
              <a:ext cx="0" cy="282921"/>
            </a:xfrm>
            <a:prstGeom prst="straightConnector1">
              <a:avLst/>
            </a:prstGeom>
            <a:noFill/>
            <a:ln cap="flat" cmpd="sng" w="12700">
              <a:solidFill>
                <a:srgbClr val="000000"/>
              </a:solidFill>
              <a:prstDash val="solid"/>
              <a:miter lim="800000"/>
              <a:headEnd len="sm" w="sm" type="none"/>
              <a:tailEnd len="med" w="med" type="triangle"/>
            </a:ln>
          </p:spPr>
        </p:cxnSp>
        <p:pic>
          <p:nvPicPr>
            <p:cNvPr id="1767" name="Google Shape;1767;p43"/>
            <p:cNvPicPr preferRelativeResize="0"/>
            <p:nvPr/>
          </p:nvPicPr>
          <p:blipFill rotWithShape="1">
            <a:blip r:embed="rId11">
              <a:alphaModFix/>
            </a:blip>
            <a:srcRect b="0" l="0" r="0" t="0"/>
            <a:stretch/>
          </p:blipFill>
          <p:spPr>
            <a:xfrm>
              <a:off x="12935274" y="5104083"/>
              <a:ext cx="78419" cy="51359"/>
            </a:xfrm>
            <a:prstGeom prst="rect">
              <a:avLst/>
            </a:prstGeom>
            <a:noFill/>
            <a:ln>
              <a:noFill/>
            </a:ln>
          </p:spPr>
        </p:pic>
        <p:pic>
          <p:nvPicPr>
            <p:cNvPr id="1768" name="Google Shape;1768;p43"/>
            <p:cNvPicPr preferRelativeResize="0"/>
            <p:nvPr/>
          </p:nvPicPr>
          <p:blipFill rotWithShape="1">
            <a:blip r:embed="rId12">
              <a:alphaModFix/>
            </a:blip>
            <a:srcRect b="0" l="0" r="0" t="0"/>
            <a:stretch/>
          </p:blipFill>
          <p:spPr>
            <a:xfrm>
              <a:off x="13269817" y="5437016"/>
              <a:ext cx="90731" cy="51359"/>
            </a:xfrm>
            <a:prstGeom prst="rect">
              <a:avLst/>
            </a:prstGeom>
            <a:noFill/>
            <a:ln>
              <a:noFill/>
            </a:ln>
          </p:spPr>
        </p:pic>
        <p:sp>
          <p:nvSpPr>
            <p:cNvPr id="1769" name="Google Shape;1769;p43"/>
            <p:cNvSpPr/>
            <p:nvPr/>
          </p:nvSpPr>
          <p:spPr>
            <a:xfrm>
              <a:off x="11140552" y="5275725"/>
              <a:ext cx="1702800" cy="265473"/>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70" name="Google Shape;1770;p43"/>
            <p:cNvSpPr/>
            <p:nvPr/>
          </p:nvSpPr>
          <p:spPr>
            <a:xfrm>
              <a:off x="14536779" y="5274166"/>
              <a:ext cx="1702791" cy="523963"/>
            </a:xfrm>
            <a:custGeom>
              <a:rect b="b" l="l" r="r" t="t"/>
              <a:pathLst>
                <a:path extrusionOk="0" h="523963" w="1598993">
                  <a:moveTo>
                    <a:pt x="0" y="0"/>
                  </a:moveTo>
                  <a:lnTo>
                    <a:pt x="1598993" y="0"/>
                  </a:lnTo>
                  <a:lnTo>
                    <a:pt x="1598993" y="523963"/>
                  </a:lnTo>
                  <a:lnTo>
                    <a:pt x="0" y="523963"/>
                  </a:lnTo>
                  <a:lnTo>
                    <a:pt x="0" y="0"/>
                  </a:lnTo>
                  <a:close/>
                </a:path>
              </a:pathLst>
            </a:cu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71" name="Google Shape;1771;p43"/>
            <p:cNvSpPr/>
            <p:nvPr/>
          </p:nvSpPr>
          <p:spPr>
            <a:xfrm>
              <a:off x="14536780" y="5272182"/>
              <a:ext cx="1702798" cy="265473"/>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nvGrpSpPr>
            <p:cNvPr id="1772" name="Google Shape;1772;p43"/>
            <p:cNvGrpSpPr/>
            <p:nvPr/>
          </p:nvGrpSpPr>
          <p:grpSpPr>
            <a:xfrm>
              <a:off x="9564195" y="5255477"/>
              <a:ext cx="424627" cy="408545"/>
              <a:chOff x="3499819" y="1105725"/>
              <a:chExt cx="424627" cy="408545"/>
            </a:xfrm>
          </p:grpSpPr>
          <p:cxnSp>
            <p:nvCxnSpPr>
              <p:cNvPr id="1773" name="Google Shape;1773;p43"/>
              <p:cNvCxnSpPr/>
              <p:nvPr/>
            </p:nvCxnSpPr>
            <p:spPr>
              <a:xfrm>
                <a:off x="3527365" y="1465411"/>
                <a:ext cx="270395" cy="0"/>
              </a:xfrm>
              <a:prstGeom prst="straightConnector1">
                <a:avLst/>
              </a:prstGeom>
              <a:noFill/>
              <a:ln cap="flat" cmpd="sng" w="12700">
                <a:solidFill>
                  <a:srgbClr val="000000"/>
                </a:solidFill>
                <a:prstDash val="solid"/>
                <a:miter lim="800000"/>
                <a:headEnd len="sm" w="sm" type="none"/>
                <a:tailEnd len="med" w="med" type="triangle"/>
              </a:ln>
            </p:spPr>
          </p:cxnSp>
          <p:cxnSp>
            <p:nvCxnSpPr>
              <p:cNvPr id="1774" name="Google Shape;1774;p43"/>
              <p:cNvCxnSpPr/>
              <p:nvPr/>
            </p:nvCxnSpPr>
            <p:spPr>
              <a:xfrm rot="10800000">
                <a:off x="3531491" y="1187222"/>
                <a:ext cx="0" cy="282921"/>
              </a:xfrm>
              <a:prstGeom prst="straightConnector1">
                <a:avLst/>
              </a:prstGeom>
              <a:noFill/>
              <a:ln cap="flat" cmpd="sng" w="12700">
                <a:solidFill>
                  <a:srgbClr val="000000"/>
                </a:solidFill>
                <a:prstDash val="solid"/>
                <a:miter lim="800000"/>
                <a:headEnd len="sm" w="sm" type="none"/>
                <a:tailEnd len="med" w="med" type="triangle"/>
              </a:ln>
            </p:spPr>
          </p:cxnSp>
          <p:pic>
            <p:nvPicPr>
              <p:cNvPr id="1775" name="Google Shape;1775;p43"/>
              <p:cNvPicPr preferRelativeResize="0"/>
              <p:nvPr/>
            </p:nvPicPr>
            <p:blipFill rotWithShape="1">
              <a:blip r:embed="rId13">
                <a:alphaModFix/>
              </a:blip>
              <a:srcRect b="0" l="0" r="0" t="0"/>
              <a:stretch/>
            </p:blipFill>
            <p:spPr>
              <a:xfrm>
                <a:off x="3499819" y="1105725"/>
                <a:ext cx="78419" cy="51359"/>
              </a:xfrm>
              <a:prstGeom prst="rect">
                <a:avLst/>
              </a:prstGeom>
              <a:noFill/>
              <a:ln>
                <a:noFill/>
              </a:ln>
            </p:spPr>
          </p:pic>
          <p:pic>
            <p:nvPicPr>
              <p:cNvPr id="1776" name="Google Shape;1776;p43"/>
              <p:cNvPicPr preferRelativeResize="0"/>
              <p:nvPr/>
            </p:nvPicPr>
            <p:blipFill rotWithShape="1">
              <a:blip r:embed="rId14">
                <a:alphaModFix/>
              </a:blip>
              <a:srcRect b="0" l="0" r="0" t="0"/>
              <a:stretch/>
            </p:blipFill>
            <p:spPr>
              <a:xfrm>
                <a:off x="3834363" y="1438658"/>
                <a:ext cx="90083" cy="75612"/>
              </a:xfrm>
              <a:prstGeom prst="rect">
                <a:avLst/>
              </a:prstGeom>
              <a:noFill/>
              <a:ln>
                <a:noFill/>
              </a:ln>
            </p:spPr>
          </p:pic>
        </p:grpSp>
        <p:sp>
          <p:nvSpPr>
            <p:cNvPr id="1777" name="Google Shape;1777;p43"/>
            <p:cNvSpPr/>
            <p:nvPr/>
          </p:nvSpPr>
          <p:spPr>
            <a:xfrm>
              <a:off x="14536777" y="5123404"/>
              <a:ext cx="435596"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78" name="Google Shape;1778;p43"/>
            <p:cNvSpPr/>
            <p:nvPr/>
          </p:nvSpPr>
          <p:spPr>
            <a:xfrm>
              <a:off x="15011978" y="5123404"/>
              <a:ext cx="118800"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79" name="Google Shape;1779;p43"/>
            <p:cNvSpPr/>
            <p:nvPr/>
          </p:nvSpPr>
          <p:spPr>
            <a:xfrm>
              <a:off x="15170378" y="5123404"/>
              <a:ext cx="118800"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80" name="Google Shape;1780;p43"/>
            <p:cNvSpPr/>
            <p:nvPr/>
          </p:nvSpPr>
          <p:spPr>
            <a:xfrm>
              <a:off x="15328778" y="5123404"/>
              <a:ext cx="118800"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81" name="Google Shape;1781;p43"/>
            <p:cNvSpPr/>
            <p:nvPr/>
          </p:nvSpPr>
          <p:spPr>
            <a:xfrm>
              <a:off x="15487178" y="5123404"/>
              <a:ext cx="118800"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82" name="Google Shape;1782;p43"/>
            <p:cNvSpPr/>
            <p:nvPr/>
          </p:nvSpPr>
          <p:spPr>
            <a:xfrm>
              <a:off x="15645578" y="5123404"/>
              <a:ext cx="118800"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83" name="Google Shape;1783;p43"/>
            <p:cNvSpPr/>
            <p:nvPr/>
          </p:nvSpPr>
          <p:spPr>
            <a:xfrm>
              <a:off x="15803978" y="5123404"/>
              <a:ext cx="118800"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84" name="Google Shape;1784;p43"/>
            <p:cNvSpPr/>
            <p:nvPr/>
          </p:nvSpPr>
          <p:spPr>
            <a:xfrm>
              <a:off x="15803978" y="5123404"/>
              <a:ext cx="435592" cy="146354"/>
            </a:xfrm>
            <a:prstGeom prst="rect">
              <a:avLst/>
            </a:prstGeom>
            <a:solidFill>
              <a:srgbClr val="FE94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nvGrpSpPr>
            <p:cNvPr id="1785" name="Google Shape;1785;p43"/>
            <p:cNvGrpSpPr/>
            <p:nvPr/>
          </p:nvGrpSpPr>
          <p:grpSpPr>
            <a:xfrm>
              <a:off x="7711133" y="7090251"/>
              <a:ext cx="1702801" cy="674725"/>
              <a:chOff x="2935711" y="3394058"/>
              <a:chExt cx="1702801" cy="674725"/>
            </a:xfrm>
          </p:grpSpPr>
          <p:sp>
            <p:nvSpPr>
              <p:cNvPr id="1786" name="Google Shape;1786;p43"/>
              <p:cNvSpPr/>
              <p:nvPr/>
            </p:nvSpPr>
            <p:spPr>
              <a:xfrm>
                <a:off x="2935713" y="3544820"/>
                <a:ext cx="1702791" cy="523963"/>
              </a:xfrm>
              <a:custGeom>
                <a:rect b="b" l="l" r="r" t="t"/>
                <a:pathLst>
                  <a:path extrusionOk="0" h="523963" w="1598993">
                    <a:moveTo>
                      <a:pt x="0" y="0"/>
                    </a:moveTo>
                    <a:lnTo>
                      <a:pt x="1598993" y="0"/>
                    </a:lnTo>
                    <a:lnTo>
                      <a:pt x="1598993" y="523963"/>
                    </a:lnTo>
                    <a:lnTo>
                      <a:pt x="0" y="523963"/>
                    </a:lnTo>
                    <a:lnTo>
                      <a:pt x="0" y="0"/>
                    </a:lnTo>
                    <a:close/>
                  </a:path>
                </a:pathLst>
              </a:cu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87" name="Google Shape;1787;p43"/>
              <p:cNvSpPr/>
              <p:nvPr/>
            </p:nvSpPr>
            <p:spPr>
              <a:xfrm>
                <a:off x="2935714" y="3542836"/>
                <a:ext cx="1702798" cy="265473"/>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88" name="Google Shape;1788;p43"/>
              <p:cNvSpPr/>
              <p:nvPr/>
            </p:nvSpPr>
            <p:spPr>
              <a:xfrm>
                <a:off x="2935711" y="3394058"/>
                <a:ext cx="277189"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89" name="Google Shape;1789;p43"/>
              <p:cNvSpPr/>
              <p:nvPr/>
            </p:nvSpPr>
            <p:spPr>
              <a:xfrm>
                <a:off x="3252512" y="3394058"/>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90" name="Google Shape;1790;p43"/>
              <p:cNvSpPr/>
              <p:nvPr/>
            </p:nvSpPr>
            <p:spPr>
              <a:xfrm>
                <a:off x="3410912" y="3394058"/>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91" name="Google Shape;1791;p43"/>
              <p:cNvSpPr/>
              <p:nvPr/>
            </p:nvSpPr>
            <p:spPr>
              <a:xfrm>
                <a:off x="3569312" y="3394058"/>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92" name="Google Shape;1792;p43"/>
              <p:cNvSpPr/>
              <p:nvPr/>
            </p:nvSpPr>
            <p:spPr>
              <a:xfrm>
                <a:off x="3727712" y="3394058"/>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93" name="Google Shape;1793;p43"/>
              <p:cNvSpPr/>
              <p:nvPr/>
            </p:nvSpPr>
            <p:spPr>
              <a:xfrm>
                <a:off x="3886112" y="3394058"/>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94" name="Google Shape;1794;p43"/>
              <p:cNvSpPr/>
              <p:nvPr/>
            </p:nvSpPr>
            <p:spPr>
              <a:xfrm>
                <a:off x="4044512" y="3394058"/>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95" name="Google Shape;1795;p43"/>
              <p:cNvSpPr/>
              <p:nvPr/>
            </p:nvSpPr>
            <p:spPr>
              <a:xfrm>
                <a:off x="4202912" y="3394058"/>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96" name="Google Shape;1796;p43"/>
              <p:cNvSpPr/>
              <p:nvPr/>
            </p:nvSpPr>
            <p:spPr>
              <a:xfrm>
                <a:off x="4361312" y="3394058"/>
                <a:ext cx="277192"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grpSp>
          <p:nvGrpSpPr>
            <p:cNvPr id="1797" name="Google Shape;1797;p43"/>
            <p:cNvGrpSpPr/>
            <p:nvPr/>
          </p:nvGrpSpPr>
          <p:grpSpPr>
            <a:xfrm>
              <a:off x="14523846" y="7023463"/>
              <a:ext cx="1715724" cy="679845"/>
              <a:chOff x="8123545" y="3760480"/>
              <a:chExt cx="3684911" cy="1460124"/>
            </a:xfrm>
          </p:grpSpPr>
          <p:sp>
            <p:nvSpPr>
              <p:cNvPr id="1798" name="Google Shape;1798;p43"/>
              <p:cNvSpPr/>
              <p:nvPr/>
            </p:nvSpPr>
            <p:spPr>
              <a:xfrm>
                <a:off x="8123549" y="4086733"/>
                <a:ext cx="3684889" cy="1133871"/>
              </a:xfrm>
              <a:custGeom>
                <a:rect b="b" l="l" r="r" t="t"/>
                <a:pathLst>
                  <a:path extrusionOk="0" h="523963" w="1598993">
                    <a:moveTo>
                      <a:pt x="0" y="0"/>
                    </a:moveTo>
                    <a:lnTo>
                      <a:pt x="1598993" y="0"/>
                    </a:lnTo>
                    <a:lnTo>
                      <a:pt x="1598993" y="523963"/>
                    </a:lnTo>
                    <a:lnTo>
                      <a:pt x="0" y="523963"/>
                    </a:lnTo>
                    <a:lnTo>
                      <a:pt x="0" y="0"/>
                    </a:lnTo>
                    <a:close/>
                  </a:path>
                </a:pathLst>
              </a:cu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799" name="Google Shape;1799;p43"/>
              <p:cNvSpPr/>
              <p:nvPr/>
            </p:nvSpPr>
            <p:spPr>
              <a:xfrm>
                <a:off x="8123551" y="4082440"/>
                <a:ext cx="3684905" cy="574491"/>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00" name="Google Shape;1800;p43"/>
              <p:cNvSpPr/>
              <p:nvPr/>
            </p:nvSpPr>
            <p:spPr>
              <a:xfrm>
                <a:off x="8123545" y="3760480"/>
                <a:ext cx="599845" cy="31671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01" name="Google Shape;1801;p43"/>
              <p:cNvSpPr/>
              <p:nvPr/>
            </p:nvSpPr>
            <p:spPr>
              <a:xfrm>
                <a:off x="8809112" y="3760480"/>
                <a:ext cx="257087" cy="31671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02" name="Google Shape;1802;p43"/>
              <p:cNvSpPr/>
              <p:nvPr/>
            </p:nvSpPr>
            <p:spPr>
              <a:xfrm>
                <a:off x="9151894" y="3760480"/>
                <a:ext cx="257087" cy="31671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03" name="Google Shape;1803;p43"/>
              <p:cNvSpPr/>
              <p:nvPr/>
            </p:nvSpPr>
            <p:spPr>
              <a:xfrm>
                <a:off x="9494676" y="3760480"/>
                <a:ext cx="257087" cy="31671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04" name="Google Shape;1804;p43"/>
              <p:cNvSpPr/>
              <p:nvPr/>
            </p:nvSpPr>
            <p:spPr>
              <a:xfrm>
                <a:off x="9837458" y="3760480"/>
                <a:ext cx="257087" cy="31671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05" name="Google Shape;1805;p43"/>
              <p:cNvSpPr/>
              <p:nvPr/>
            </p:nvSpPr>
            <p:spPr>
              <a:xfrm>
                <a:off x="10180240" y="3760480"/>
                <a:ext cx="257087" cy="31671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06" name="Google Shape;1806;p43"/>
              <p:cNvSpPr/>
              <p:nvPr/>
            </p:nvSpPr>
            <p:spPr>
              <a:xfrm>
                <a:off x="10523023" y="3760480"/>
                <a:ext cx="257087" cy="31671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07" name="Google Shape;1807;p43"/>
              <p:cNvSpPr/>
              <p:nvPr/>
            </p:nvSpPr>
            <p:spPr>
              <a:xfrm>
                <a:off x="10865805" y="3760480"/>
                <a:ext cx="257087" cy="31671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08" name="Google Shape;1808;p43"/>
              <p:cNvSpPr/>
              <p:nvPr/>
            </p:nvSpPr>
            <p:spPr>
              <a:xfrm>
                <a:off x="11208587" y="3760480"/>
                <a:ext cx="599852" cy="31671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09" name="Google Shape;1809;p43"/>
              <p:cNvSpPr/>
              <p:nvPr/>
            </p:nvSpPr>
            <p:spPr>
              <a:xfrm>
                <a:off x="8678000" y="4077192"/>
                <a:ext cx="171391" cy="1143410"/>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10" name="Google Shape;1810;p43"/>
              <p:cNvSpPr/>
              <p:nvPr/>
            </p:nvSpPr>
            <p:spPr>
              <a:xfrm>
                <a:off x="9021150" y="4081371"/>
                <a:ext cx="171391" cy="1139083"/>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11" name="Google Shape;1811;p43"/>
              <p:cNvSpPr/>
              <p:nvPr/>
            </p:nvSpPr>
            <p:spPr>
              <a:xfrm>
                <a:off x="11080044" y="4077190"/>
                <a:ext cx="171391" cy="1143410"/>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12" name="Google Shape;1812;p43"/>
              <p:cNvSpPr/>
              <p:nvPr/>
            </p:nvSpPr>
            <p:spPr>
              <a:xfrm>
                <a:off x="9364300" y="4077188"/>
                <a:ext cx="171391" cy="1143410"/>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13" name="Google Shape;1813;p43"/>
              <p:cNvSpPr/>
              <p:nvPr/>
            </p:nvSpPr>
            <p:spPr>
              <a:xfrm>
                <a:off x="9707450" y="4077186"/>
                <a:ext cx="171391" cy="1143410"/>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14" name="Google Shape;1814;p43"/>
              <p:cNvSpPr/>
              <p:nvPr/>
            </p:nvSpPr>
            <p:spPr>
              <a:xfrm>
                <a:off x="10050600" y="4079309"/>
                <a:ext cx="171391" cy="1141146"/>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15" name="Google Shape;1815;p43"/>
              <p:cNvSpPr/>
              <p:nvPr/>
            </p:nvSpPr>
            <p:spPr>
              <a:xfrm>
                <a:off x="10393750" y="4077045"/>
                <a:ext cx="171391" cy="1143410"/>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16" name="Google Shape;1816;p43"/>
              <p:cNvSpPr/>
              <p:nvPr/>
            </p:nvSpPr>
            <p:spPr>
              <a:xfrm>
                <a:off x="10736900" y="4077044"/>
                <a:ext cx="171391" cy="1143410"/>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grpSp>
          <p:nvGrpSpPr>
            <p:cNvPr id="1817" name="Google Shape;1817;p43"/>
            <p:cNvGrpSpPr/>
            <p:nvPr/>
          </p:nvGrpSpPr>
          <p:grpSpPr>
            <a:xfrm>
              <a:off x="7715652" y="9464348"/>
              <a:ext cx="1715714" cy="530434"/>
              <a:chOff x="6693980" y="4461686"/>
              <a:chExt cx="5376427" cy="1662187"/>
            </a:xfrm>
          </p:grpSpPr>
          <p:sp>
            <p:nvSpPr>
              <p:cNvPr id="1818" name="Google Shape;1818;p43"/>
              <p:cNvSpPr/>
              <p:nvPr/>
            </p:nvSpPr>
            <p:spPr>
              <a:xfrm>
                <a:off x="6693980" y="4469511"/>
                <a:ext cx="5376402" cy="1654362"/>
              </a:xfrm>
              <a:custGeom>
                <a:rect b="b" l="l" r="r" t="t"/>
                <a:pathLst>
                  <a:path extrusionOk="0" h="523963" w="1598993">
                    <a:moveTo>
                      <a:pt x="0" y="0"/>
                    </a:moveTo>
                    <a:lnTo>
                      <a:pt x="1598993" y="0"/>
                    </a:lnTo>
                    <a:lnTo>
                      <a:pt x="1598993" y="523963"/>
                    </a:lnTo>
                    <a:lnTo>
                      <a:pt x="0" y="523963"/>
                    </a:lnTo>
                    <a:lnTo>
                      <a:pt x="0" y="0"/>
                    </a:lnTo>
                    <a:close/>
                  </a:path>
                </a:pathLst>
              </a:cu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19" name="Google Shape;1819;p43"/>
              <p:cNvSpPr/>
              <p:nvPr/>
            </p:nvSpPr>
            <p:spPr>
              <a:xfrm>
                <a:off x="6693983" y="4463247"/>
                <a:ext cx="5376424" cy="838204"/>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20" name="Google Shape;1820;p43"/>
              <p:cNvSpPr/>
              <p:nvPr/>
            </p:nvSpPr>
            <p:spPr>
              <a:xfrm>
                <a:off x="7502947" y="4461905"/>
                <a:ext cx="250066" cy="1661968"/>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21" name="Google Shape;1821;p43"/>
              <p:cNvSpPr/>
              <p:nvPr/>
            </p:nvSpPr>
            <p:spPr>
              <a:xfrm>
                <a:off x="8003615" y="4461686"/>
                <a:ext cx="250066" cy="1661968"/>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22" name="Google Shape;1822;p43"/>
              <p:cNvSpPr/>
              <p:nvPr/>
            </p:nvSpPr>
            <p:spPr>
              <a:xfrm>
                <a:off x="11007626" y="4461686"/>
                <a:ext cx="250066" cy="1662184"/>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23" name="Google Shape;1823;p43"/>
              <p:cNvSpPr/>
              <p:nvPr/>
            </p:nvSpPr>
            <p:spPr>
              <a:xfrm>
                <a:off x="8504284" y="4461899"/>
                <a:ext cx="250066" cy="1661968"/>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24" name="Google Shape;1824;p43"/>
              <p:cNvSpPr/>
              <p:nvPr/>
            </p:nvSpPr>
            <p:spPr>
              <a:xfrm>
                <a:off x="9004955" y="4461896"/>
                <a:ext cx="250066" cy="1661968"/>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25" name="Google Shape;1825;p43"/>
              <p:cNvSpPr/>
              <p:nvPr/>
            </p:nvSpPr>
            <p:spPr>
              <a:xfrm>
                <a:off x="9505624" y="4461896"/>
                <a:ext cx="250067" cy="1661758"/>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26" name="Google Shape;1826;p43"/>
              <p:cNvSpPr/>
              <p:nvPr/>
            </p:nvSpPr>
            <p:spPr>
              <a:xfrm>
                <a:off x="10006295" y="4461895"/>
                <a:ext cx="250066" cy="1661761"/>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27" name="Google Shape;1827;p43"/>
              <p:cNvSpPr/>
              <p:nvPr/>
            </p:nvSpPr>
            <p:spPr>
              <a:xfrm>
                <a:off x="10506964" y="4461895"/>
                <a:ext cx="250066" cy="1661762"/>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pic>
          <p:nvPicPr>
            <p:cNvPr id="1828" name="Google Shape;1828;p43"/>
            <p:cNvPicPr preferRelativeResize="0"/>
            <p:nvPr/>
          </p:nvPicPr>
          <p:blipFill rotWithShape="1">
            <a:blip r:embed="rId15">
              <a:alphaModFix/>
            </a:blip>
            <a:srcRect b="0" l="0" r="0" t="0"/>
            <a:stretch/>
          </p:blipFill>
          <p:spPr>
            <a:xfrm>
              <a:off x="8235833" y="6776632"/>
              <a:ext cx="653393" cy="113399"/>
            </a:xfrm>
            <a:prstGeom prst="rect">
              <a:avLst/>
            </a:prstGeom>
            <a:noFill/>
            <a:ln>
              <a:noFill/>
            </a:ln>
          </p:spPr>
        </p:pic>
        <p:sp>
          <p:nvSpPr>
            <p:cNvPr id="1829" name="Google Shape;1829;p43"/>
            <p:cNvSpPr/>
            <p:nvPr/>
          </p:nvSpPr>
          <p:spPr>
            <a:xfrm>
              <a:off x="11385161" y="7613982"/>
              <a:ext cx="1196028" cy="322211"/>
            </a:xfrm>
            <a:prstGeom prst="rect">
              <a:avLst/>
            </a:prstGeom>
            <a:solidFill>
              <a:srgbClr val="00FFFD"/>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30" name="Google Shape;1830;p43"/>
            <p:cNvSpPr/>
            <p:nvPr/>
          </p:nvSpPr>
          <p:spPr>
            <a:xfrm>
              <a:off x="11340369" y="6902884"/>
              <a:ext cx="1196028" cy="331505"/>
            </a:xfrm>
            <a:prstGeom prst="rect">
              <a:avLst/>
            </a:prstGeom>
            <a:solidFill>
              <a:srgbClr val="00FFFD"/>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31" name="Google Shape;1831;p43"/>
            <p:cNvSpPr/>
            <p:nvPr/>
          </p:nvSpPr>
          <p:spPr>
            <a:xfrm flipH="1" rot="10800000">
              <a:off x="11092801" y="6939609"/>
              <a:ext cx="403466" cy="150297"/>
            </a:xfrm>
            <a:custGeom>
              <a:rect b="b" l="l" r="r" t="t"/>
              <a:pathLst>
                <a:path extrusionOk="0" h="825705" w="2216570">
                  <a:moveTo>
                    <a:pt x="431119" y="0"/>
                  </a:moveTo>
                  <a:lnTo>
                    <a:pt x="1785450" y="0"/>
                  </a:lnTo>
                  <a:lnTo>
                    <a:pt x="1785450" y="636"/>
                  </a:lnTo>
                  <a:lnTo>
                    <a:pt x="1785451" y="636"/>
                  </a:lnTo>
                  <a:cubicBezTo>
                    <a:pt x="2023551" y="636"/>
                    <a:pt x="2216570" y="185184"/>
                    <a:pt x="2216570" y="412836"/>
                  </a:cubicBezTo>
                  <a:cubicBezTo>
                    <a:pt x="2216570" y="640488"/>
                    <a:pt x="2023551" y="825036"/>
                    <a:pt x="1785451" y="825036"/>
                  </a:cubicBezTo>
                  <a:lnTo>
                    <a:pt x="1785450" y="825036"/>
                  </a:lnTo>
                  <a:lnTo>
                    <a:pt x="1785450" y="825705"/>
                  </a:lnTo>
                  <a:lnTo>
                    <a:pt x="431119" y="825705"/>
                  </a:lnTo>
                  <a:lnTo>
                    <a:pt x="431119" y="825036"/>
                  </a:lnTo>
                  <a:cubicBezTo>
                    <a:pt x="193019" y="825036"/>
                    <a:pt x="0" y="640488"/>
                    <a:pt x="0" y="412836"/>
                  </a:cubicBezTo>
                  <a:cubicBezTo>
                    <a:pt x="0" y="185184"/>
                    <a:pt x="193019" y="636"/>
                    <a:pt x="431119" y="636"/>
                  </a:cubicBezTo>
                  <a:close/>
                </a:path>
              </a:pathLst>
            </a:custGeom>
            <a:solidFill>
              <a:srgbClr val="C2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32" name="Google Shape;1832;p43"/>
            <p:cNvSpPr/>
            <p:nvPr/>
          </p:nvSpPr>
          <p:spPr>
            <a:xfrm>
              <a:off x="11136136" y="7238577"/>
              <a:ext cx="1702791" cy="523963"/>
            </a:xfrm>
            <a:custGeom>
              <a:rect b="b" l="l" r="r" t="t"/>
              <a:pathLst>
                <a:path extrusionOk="0" h="523963" w="1598993">
                  <a:moveTo>
                    <a:pt x="0" y="0"/>
                  </a:moveTo>
                  <a:lnTo>
                    <a:pt x="1598993" y="0"/>
                  </a:lnTo>
                  <a:lnTo>
                    <a:pt x="1598993" y="523963"/>
                  </a:lnTo>
                  <a:lnTo>
                    <a:pt x="0" y="523963"/>
                  </a:lnTo>
                  <a:lnTo>
                    <a:pt x="0" y="0"/>
                  </a:lnTo>
                  <a:close/>
                </a:path>
              </a:pathLst>
            </a:cu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33" name="Google Shape;1833;p43"/>
            <p:cNvSpPr/>
            <p:nvPr/>
          </p:nvSpPr>
          <p:spPr>
            <a:xfrm>
              <a:off x="11136137" y="7236593"/>
              <a:ext cx="1702798" cy="265473"/>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34" name="Google Shape;1834;p43"/>
            <p:cNvSpPr/>
            <p:nvPr/>
          </p:nvSpPr>
          <p:spPr>
            <a:xfrm>
              <a:off x="11136134" y="7087815"/>
              <a:ext cx="435596"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35" name="Google Shape;1835;p43"/>
            <p:cNvSpPr/>
            <p:nvPr/>
          </p:nvSpPr>
          <p:spPr>
            <a:xfrm>
              <a:off x="11611335" y="7087815"/>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36" name="Google Shape;1836;p43"/>
            <p:cNvSpPr/>
            <p:nvPr/>
          </p:nvSpPr>
          <p:spPr>
            <a:xfrm>
              <a:off x="11769735" y="7087815"/>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37" name="Google Shape;1837;p43"/>
            <p:cNvSpPr/>
            <p:nvPr/>
          </p:nvSpPr>
          <p:spPr>
            <a:xfrm>
              <a:off x="11928135" y="7087815"/>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38" name="Google Shape;1838;p43"/>
            <p:cNvSpPr/>
            <p:nvPr/>
          </p:nvSpPr>
          <p:spPr>
            <a:xfrm>
              <a:off x="12086535" y="7087815"/>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39" name="Google Shape;1839;p43"/>
            <p:cNvSpPr/>
            <p:nvPr/>
          </p:nvSpPr>
          <p:spPr>
            <a:xfrm>
              <a:off x="12244935" y="7087815"/>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40" name="Google Shape;1840;p43"/>
            <p:cNvSpPr/>
            <p:nvPr/>
          </p:nvSpPr>
          <p:spPr>
            <a:xfrm>
              <a:off x="12403335" y="7087815"/>
              <a:ext cx="118800"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41" name="Google Shape;1841;p43"/>
            <p:cNvSpPr/>
            <p:nvPr/>
          </p:nvSpPr>
          <p:spPr>
            <a:xfrm>
              <a:off x="12403335" y="7087815"/>
              <a:ext cx="435592" cy="146354"/>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42" name="Google Shape;1842;p43"/>
            <p:cNvSpPr/>
            <p:nvPr/>
          </p:nvSpPr>
          <p:spPr>
            <a:xfrm flipH="1" rot="10800000">
              <a:off x="12478789" y="6936083"/>
              <a:ext cx="403466" cy="150297"/>
            </a:xfrm>
            <a:custGeom>
              <a:rect b="b" l="l" r="r" t="t"/>
              <a:pathLst>
                <a:path extrusionOk="0" h="825705" w="2216570">
                  <a:moveTo>
                    <a:pt x="431119" y="0"/>
                  </a:moveTo>
                  <a:lnTo>
                    <a:pt x="1785450" y="0"/>
                  </a:lnTo>
                  <a:lnTo>
                    <a:pt x="1785450" y="636"/>
                  </a:lnTo>
                  <a:lnTo>
                    <a:pt x="1785451" y="636"/>
                  </a:lnTo>
                  <a:cubicBezTo>
                    <a:pt x="2023551" y="636"/>
                    <a:pt x="2216570" y="185184"/>
                    <a:pt x="2216570" y="412836"/>
                  </a:cubicBezTo>
                  <a:cubicBezTo>
                    <a:pt x="2216570" y="640488"/>
                    <a:pt x="2023551" y="825036"/>
                    <a:pt x="1785451" y="825036"/>
                  </a:cubicBezTo>
                  <a:lnTo>
                    <a:pt x="1785450" y="825036"/>
                  </a:lnTo>
                  <a:lnTo>
                    <a:pt x="1785450" y="825705"/>
                  </a:lnTo>
                  <a:lnTo>
                    <a:pt x="431119" y="825705"/>
                  </a:lnTo>
                  <a:lnTo>
                    <a:pt x="431119" y="825036"/>
                  </a:lnTo>
                  <a:cubicBezTo>
                    <a:pt x="193019" y="825036"/>
                    <a:pt x="0" y="640488"/>
                    <a:pt x="0" y="412836"/>
                  </a:cubicBezTo>
                  <a:cubicBezTo>
                    <a:pt x="0" y="185184"/>
                    <a:pt x="193019" y="636"/>
                    <a:pt x="431119" y="636"/>
                  </a:cubicBezTo>
                  <a:close/>
                </a:path>
              </a:pathLst>
            </a:custGeom>
            <a:solidFill>
              <a:srgbClr val="C2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43" name="Google Shape;1843;p43"/>
            <p:cNvSpPr/>
            <p:nvPr/>
          </p:nvSpPr>
          <p:spPr>
            <a:xfrm flipH="1" rot="10800000">
              <a:off x="11092801" y="7762540"/>
              <a:ext cx="403466" cy="150297"/>
            </a:xfrm>
            <a:custGeom>
              <a:rect b="b" l="l" r="r" t="t"/>
              <a:pathLst>
                <a:path extrusionOk="0" h="825705" w="2216570">
                  <a:moveTo>
                    <a:pt x="431119" y="0"/>
                  </a:moveTo>
                  <a:lnTo>
                    <a:pt x="1785450" y="0"/>
                  </a:lnTo>
                  <a:lnTo>
                    <a:pt x="1785450" y="636"/>
                  </a:lnTo>
                  <a:lnTo>
                    <a:pt x="1785451" y="636"/>
                  </a:lnTo>
                  <a:cubicBezTo>
                    <a:pt x="2023551" y="636"/>
                    <a:pt x="2216570" y="185184"/>
                    <a:pt x="2216570" y="412836"/>
                  </a:cubicBezTo>
                  <a:cubicBezTo>
                    <a:pt x="2216570" y="640488"/>
                    <a:pt x="2023551" y="825036"/>
                    <a:pt x="1785451" y="825036"/>
                  </a:cubicBezTo>
                  <a:lnTo>
                    <a:pt x="1785450" y="825036"/>
                  </a:lnTo>
                  <a:lnTo>
                    <a:pt x="1785450" y="825705"/>
                  </a:lnTo>
                  <a:lnTo>
                    <a:pt x="431119" y="825705"/>
                  </a:lnTo>
                  <a:lnTo>
                    <a:pt x="431119" y="825036"/>
                  </a:lnTo>
                  <a:cubicBezTo>
                    <a:pt x="193019" y="825036"/>
                    <a:pt x="0" y="640488"/>
                    <a:pt x="0" y="412836"/>
                  </a:cubicBezTo>
                  <a:cubicBezTo>
                    <a:pt x="0" y="185184"/>
                    <a:pt x="193019" y="636"/>
                    <a:pt x="431119" y="636"/>
                  </a:cubicBezTo>
                  <a:close/>
                </a:path>
              </a:pathLst>
            </a:custGeom>
            <a:solidFill>
              <a:srgbClr val="C2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44" name="Google Shape;1844;p43"/>
            <p:cNvSpPr/>
            <p:nvPr/>
          </p:nvSpPr>
          <p:spPr>
            <a:xfrm flipH="1" rot="10800000">
              <a:off x="12476264" y="7762540"/>
              <a:ext cx="403466" cy="150297"/>
            </a:xfrm>
            <a:custGeom>
              <a:rect b="b" l="l" r="r" t="t"/>
              <a:pathLst>
                <a:path extrusionOk="0" h="825705" w="2216570">
                  <a:moveTo>
                    <a:pt x="431119" y="0"/>
                  </a:moveTo>
                  <a:lnTo>
                    <a:pt x="1785450" y="0"/>
                  </a:lnTo>
                  <a:lnTo>
                    <a:pt x="1785450" y="636"/>
                  </a:lnTo>
                  <a:lnTo>
                    <a:pt x="1785451" y="636"/>
                  </a:lnTo>
                  <a:cubicBezTo>
                    <a:pt x="2023551" y="636"/>
                    <a:pt x="2216570" y="185184"/>
                    <a:pt x="2216570" y="412836"/>
                  </a:cubicBezTo>
                  <a:cubicBezTo>
                    <a:pt x="2216570" y="640488"/>
                    <a:pt x="2023551" y="825036"/>
                    <a:pt x="1785451" y="825036"/>
                  </a:cubicBezTo>
                  <a:lnTo>
                    <a:pt x="1785450" y="825036"/>
                  </a:lnTo>
                  <a:lnTo>
                    <a:pt x="1785450" y="825705"/>
                  </a:lnTo>
                  <a:lnTo>
                    <a:pt x="431119" y="825705"/>
                  </a:lnTo>
                  <a:lnTo>
                    <a:pt x="431119" y="825036"/>
                  </a:lnTo>
                  <a:cubicBezTo>
                    <a:pt x="193019" y="825036"/>
                    <a:pt x="0" y="640488"/>
                    <a:pt x="0" y="412836"/>
                  </a:cubicBezTo>
                  <a:cubicBezTo>
                    <a:pt x="0" y="185184"/>
                    <a:pt x="193019" y="636"/>
                    <a:pt x="431119" y="636"/>
                  </a:cubicBezTo>
                  <a:close/>
                </a:path>
              </a:pathLst>
            </a:custGeom>
            <a:solidFill>
              <a:srgbClr val="C2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45" name="Google Shape;1845;p43"/>
            <p:cNvSpPr/>
            <p:nvPr/>
          </p:nvSpPr>
          <p:spPr>
            <a:xfrm>
              <a:off x="11136129" y="6881232"/>
              <a:ext cx="1702798" cy="53931"/>
            </a:xfrm>
            <a:prstGeom prst="rect">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46" name="Google Shape;1846;p43"/>
            <p:cNvSpPr/>
            <p:nvPr/>
          </p:nvSpPr>
          <p:spPr>
            <a:xfrm>
              <a:off x="11136129" y="7909227"/>
              <a:ext cx="1702798" cy="53931"/>
            </a:xfrm>
            <a:prstGeom prst="rect">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1847" name="Google Shape;1847;p43"/>
            <p:cNvCxnSpPr/>
            <p:nvPr/>
          </p:nvCxnSpPr>
          <p:spPr>
            <a:xfrm>
              <a:off x="11987530" y="6720167"/>
              <a:ext cx="0" cy="161065"/>
            </a:xfrm>
            <a:prstGeom prst="straightConnector1">
              <a:avLst/>
            </a:prstGeom>
            <a:noFill/>
            <a:ln cap="flat" cmpd="sng" w="28575">
              <a:solidFill>
                <a:srgbClr val="000000"/>
              </a:solidFill>
              <a:prstDash val="solid"/>
              <a:miter lim="800000"/>
              <a:headEnd len="sm" w="sm" type="none"/>
              <a:tailEnd len="sm" w="sm" type="none"/>
            </a:ln>
          </p:spPr>
        </p:cxnSp>
        <p:cxnSp>
          <p:nvCxnSpPr>
            <p:cNvPr id="1848" name="Google Shape;1848;p43"/>
            <p:cNvCxnSpPr/>
            <p:nvPr/>
          </p:nvCxnSpPr>
          <p:spPr>
            <a:xfrm rot="10800000">
              <a:off x="11987532" y="6734609"/>
              <a:ext cx="1220116" cy="0"/>
            </a:xfrm>
            <a:prstGeom prst="straightConnector1">
              <a:avLst/>
            </a:prstGeom>
            <a:noFill/>
            <a:ln cap="flat" cmpd="sng" w="28575">
              <a:solidFill>
                <a:srgbClr val="000000"/>
              </a:solidFill>
              <a:prstDash val="solid"/>
              <a:miter lim="800000"/>
              <a:headEnd len="sm" w="sm" type="none"/>
              <a:tailEnd len="sm" w="sm" type="none"/>
            </a:ln>
          </p:spPr>
        </p:cxnSp>
        <p:cxnSp>
          <p:nvCxnSpPr>
            <p:cNvPr id="1849" name="Google Shape;1849;p43"/>
            <p:cNvCxnSpPr/>
            <p:nvPr/>
          </p:nvCxnSpPr>
          <p:spPr>
            <a:xfrm rot="10800000">
              <a:off x="11981155" y="8106863"/>
              <a:ext cx="1226493" cy="0"/>
            </a:xfrm>
            <a:prstGeom prst="straightConnector1">
              <a:avLst/>
            </a:prstGeom>
            <a:noFill/>
            <a:ln cap="flat" cmpd="sng" w="28575">
              <a:solidFill>
                <a:srgbClr val="000000"/>
              </a:solidFill>
              <a:prstDash val="solid"/>
              <a:miter lim="800000"/>
              <a:headEnd len="sm" w="sm" type="none"/>
              <a:tailEnd len="sm" w="sm" type="none"/>
            </a:ln>
          </p:spPr>
        </p:cxnSp>
        <p:cxnSp>
          <p:nvCxnSpPr>
            <p:cNvPr id="1850" name="Google Shape;1850;p43"/>
            <p:cNvCxnSpPr/>
            <p:nvPr/>
          </p:nvCxnSpPr>
          <p:spPr>
            <a:xfrm>
              <a:off x="11987530" y="7963158"/>
              <a:ext cx="0" cy="158772"/>
            </a:xfrm>
            <a:prstGeom prst="straightConnector1">
              <a:avLst/>
            </a:prstGeom>
            <a:noFill/>
            <a:ln cap="flat" cmpd="sng" w="28575">
              <a:solidFill>
                <a:srgbClr val="000000"/>
              </a:solidFill>
              <a:prstDash val="solid"/>
              <a:miter lim="800000"/>
              <a:headEnd len="sm" w="sm" type="none"/>
              <a:tailEnd len="sm" w="sm" type="none"/>
            </a:ln>
          </p:spPr>
        </p:cxnSp>
        <p:cxnSp>
          <p:nvCxnSpPr>
            <p:cNvPr id="1851" name="Google Shape;1851;p43"/>
            <p:cNvCxnSpPr>
              <a:endCxn id="1852" idx="0"/>
            </p:cNvCxnSpPr>
            <p:nvPr/>
          </p:nvCxnSpPr>
          <p:spPr>
            <a:xfrm>
              <a:off x="13207648" y="6720277"/>
              <a:ext cx="0" cy="471300"/>
            </a:xfrm>
            <a:prstGeom prst="straightConnector1">
              <a:avLst/>
            </a:prstGeom>
            <a:noFill/>
            <a:ln cap="flat" cmpd="sng" w="28575">
              <a:solidFill>
                <a:srgbClr val="000000"/>
              </a:solidFill>
              <a:prstDash val="solid"/>
              <a:miter lim="800000"/>
              <a:headEnd len="sm" w="sm" type="none"/>
              <a:tailEnd len="sm" w="sm" type="none"/>
            </a:ln>
          </p:spPr>
        </p:cxnSp>
        <p:sp>
          <p:nvSpPr>
            <p:cNvPr id="1852" name="Google Shape;1852;p43"/>
            <p:cNvSpPr/>
            <p:nvPr/>
          </p:nvSpPr>
          <p:spPr>
            <a:xfrm>
              <a:off x="12991648" y="7191577"/>
              <a:ext cx="432000" cy="432000"/>
            </a:xfrm>
            <a:prstGeom prst="ellipse">
              <a:avLst/>
            </a:prstGeom>
            <a:no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853" name="Google Shape;1853;p43"/>
            <p:cNvPicPr preferRelativeResize="0"/>
            <p:nvPr/>
          </p:nvPicPr>
          <p:blipFill rotWithShape="1">
            <a:blip r:embed="rId16">
              <a:alphaModFix/>
            </a:blip>
            <a:srcRect b="0" l="0" r="0" t="0"/>
            <a:stretch/>
          </p:blipFill>
          <p:spPr>
            <a:xfrm>
              <a:off x="13103099" y="7321627"/>
              <a:ext cx="214505" cy="232132"/>
            </a:xfrm>
            <a:prstGeom prst="rect">
              <a:avLst/>
            </a:prstGeom>
            <a:noFill/>
            <a:ln>
              <a:noFill/>
            </a:ln>
          </p:spPr>
        </p:pic>
        <p:cxnSp>
          <p:nvCxnSpPr>
            <p:cNvPr id="1854" name="Google Shape;1854;p43"/>
            <p:cNvCxnSpPr>
              <a:stCxn id="1852" idx="4"/>
            </p:cNvCxnSpPr>
            <p:nvPr/>
          </p:nvCxnSpPr>
          <p:spPr>
            <a:xfrm>
              <a:off x="13207648" y="7623577"/>
              <a:ext cx="0" cy="498300"/>
            </a:xfrm>
            <a:prstGeom prst="straightConnector1">
              <a:avLst/>
            </a:prstGeom>
            <a:noFill/>
            <a:ln cap="flat" cmpd="sng" w="28575">
              <a:solidFill>
                <a:srgbClr val="000000"/>
              </a:solidFill>
              <a:prstDash val="solid"/>
              <a:miter lim="800000"/>
              <a:headEnd len="sm" w="sm" type="none"/>
              <a:tailEnd len="sm" w="sm" type="none"/>
            </a:ln>
          </p:spPr>
        </p:cxnSp>
        <p:pic>
          <p:nvPicPr>
            <p:cNvPr id="1855" name="Google Shape;1855;p43"/>
            <p:cNvPicPr preferRelativeResize="0"/>
            <p:nvPr/>
          </p:nvPicPr>
          <p:blipFill rotWithShape="1">
            <a:blip r:embed="rId17">
              <a:alphaModFix/>
            </a:blip>
            <a:srcRect b="0" l="0" r="0" t="0"/>
            <a:stretch/>
          </p:blipFill>
          <p:spPr>
            <a:xfrm>
              <a:off x="11526338" y="6461898"/>
              <a:ext cx="1242503" cy="146353"/>
            </a:xfrm>
            <a:prstGeom prst="rect">
              <a:avLst/>
            </a:prstGeom>
            <a:noFill/>
            <a:ln>
              <a:noFill/>
            </a:ln>
          </p:spPr>
        </p:pic>
        <p:pic>
          <p:nvPicPr>
            <p:cNvPr id="1856" name="Google Shape;1856;p43"/>
            <p:cNvPicPr preferRelativeResize="0"/>
            <p:nvPr/>
          </p:nvPicPr>
          <p:blipFill rotWithShape="1">
            <a:blip r:embed="rId18">
              <a:alphaModFix/>
            </a:blip>
            <a:srcRect b="0" l="0" r="0" t="0"/>
            <a:stretch/>
          </p:blipFill>
          <p:spPr>
            <a:xfrm>
              <a:off x="14205029" y="6774685"/>
              <a:ext cx="2502617" cy="146353"/>
            </a:xfrm>
            <a:prstGeom prst="rect">
              <a:avLst/>
            </a:prstGeom>
            <a:noFill/>
            <a:ln>
              <a:noFill/>
            </a:ln>
          </p:spPr>
        </p:pic>
        <p:sp>
          <p:nvSpPr>
            <p:cNvPr id="1857" name="Google Shape;1857;p43"/>
            <p:cNvSpPr/>
            <p:nvPr/>
          </p:nvSpPr>
          <p:spPr>
            <a:xfrm>
              <a:off x="9820711" y="7307113"/>
              <a:ext cx="687988" cy="190588"/>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858" name="Google Shape;1858;p43"/>
            <p:cNvSpPr/>
            <p:nvPr/>
          </p:nvSpPr>
          <p:spPr>
            <a:xfrm>
              <a:off x="13621426" y="7307113"/>
              <a:ext cx="687988" cy="190588"/>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859" name="Google Shape;1859;p43"/>
            <p:cNvPicPr preferRelativeResize="0"/>
            <p:nvPr/>
          </p:nvPicPr>
          <p:blipFill rotWithShape="1">
            <a:blip r:embed="rId19">
              <a:alphaModFix/>
            </a:blip>
            <a:srcRect b="0" l="0" r="0" t="0"/>
            <a:stretch/>
          </p:blipFill>
          <p:spPr>
            <a:xfrm>
              <a:off x="7852530" y="9198113"/>
              <a:ext cx="1449439" cy="144415"/>
            </a:xfrm>
            <a:prstGeom prst="rect">
              <a:avLst/>
            </a:prstGeom>
            <a:noFill/>
            <a:ln>
              <a:noFill/>
            </a:ln>
          </p:spPr>
        </p:pic>
        <p:cxnSp>
          <p:nvCxnSpPr>
            <p:cNvPr id="1860" name="Google Shape;1860;p43"/>
            <p:cNvCxnSpPr/>
            <p:nvPr/>
          </p:nvCxnSpPr>
          <p:spPr>
            <a:xfrm>
              <a:off x="8568878" y="8452328"/>
              <a:ext cx="0" cy="404059"/>
            </a:xfrm>
            <a:prstGeom prst="straightConnector1">
              <a:avLst/>
            </a:prstGeom>
            <a:noFill/>
            <a:ln cap="flat" cmpd="sng" w="38100">
              <a:solidFill>
                <a:srgbClr val="000000"/>
              </a:solidFill>
              <a:prstDash val="solid"/>
              <a:miter lim="800000"/>
              <a:headEnd len="sm" w="sm" type="none"/>
              <a:tailEnd len="med" w="med" type="triangle"/>
            </a:ln>
          </p:spPr>
        </p:cxnSp>
        <p:cxnSp>
          <p:nvCxnSpPr>
            <p:cNvPr id="1861" name="Google Shape;1861;p43"/>
            <p:cNvCxnSpPr/>
            <p:nvPr/>
          </p:nvCxnSpPr>
          <p:spPr>
            <a:xfrm>
              <a:off x="15456620" y="8243067"/>
              <a:ext cx="0" cy="233213"/>
            </a:xfrm>
            <a:prstGeom prst="straightConnector1">
              <a:avLst/>
            </a:prstGeom>
            <a:noFill/>
            <a:ln cap="flat" cmpd="sng" w="38100">
              <a:solidFill>
                <a:srgbClr val="000000"/>
              </a:solidFill>
              <a:prstDash val="solid"/>
              <a:miter lim="800000"/>
              <a:headEnd len="sm" w="sm" type="none"/>
              <a:tailEnd len="sm" w="sm" type="none"/>
            </a:ln>
          </p:spPr>
        </p:cxnSp>
        <p:cxnSp>
          <p:nvCxnSpPr>
            <p:cNvPr id="1862" name="Google Shape;1862;p43"/>
            <p:cNvCxnSpPr/>
            <p:nvPr/>
          </p:nvCxnSpPr>
          <p:spPr>
            <a:xfrm>
              <a:off x="8550559" y="8457440"/>
              <a:ext cx="6905778" cy="0"/>
            </a:xfrm>
            <a:prstGeom prst="straightConnector1">
              <a:avLst/>
            </a:prstGeom>
            <a:noFill/>
            <a:ln cap="flat" cmpd="sng" w="38100">
              <a:solidFill>
                <a:srgbClr val="000000"/>
              </a:solidFill>
              <a:prstDash val="solid"/>
              <a:miter lim="800000"/>
              <a:headEnd len="sm" w="sm" type="none"/>
              <a:tailEnd len="sm" w="sm" type="none"/>
            </a:ln>
          </p:spPr>
        </p:cxnSp>
        <p:grpSp>
          <p:nvGrpSpPr>
            <p:cNvPr id="1863" name="Google Shape;1863;p43"/>
            <p:cNvGrpSpPr/>
            <p:nvPr/>
          </p:nvGrpSpPr>
          <p:grpSpPr>
            <a:xfrm>
              <a:off x="12626631" y="9150455"/>
              <a:ext cx="1293484" cy="144415"/>
              <a:chOff x="4464250" y="5592334"/>
              <a:chExt cx="1293484" cy="144415"/>
            </a:xfrm>
          </p:grpSpPr>
          <p:sp>
            <p:nvSpPr>
              <p:cNvPr id="1864" name="Google Shape;1864;p43"/>
              <p:cNvSpPr/>
              <p:nvPr/>
            </p:nvSpPr>
            <p:spPr>
              <a:xfrm>
                <a:off x="4464250" y="5593931"/>
                <a:ext cx="292100" cy="111202"/>
              </a:xfrm>
              <a:prstGeom prst="rect">
                <a:avLst/>
              </a:prstGeom>
              <a:blipFill rotWithShape="1">
                <a:blip r:embed="rId20">
                  <a:alphaModFix/>
                </a:blip>
                <a:tile algn="tl" flip="none" tx="0" sx="100000" ty="0" sy="100000"/>
              </a:blip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865" name="Google Shape;1865;p43"/>
              <p:cNvPicPr preferRelativeResize="0"/>
              <p:nvPr/>
            </p:nvPicPr>
            <p:blipFill rotWithShape="1">
              <a:blip r:embed="rId21">
                <a:alphaModFix/>
              </a:blip>
              <a:srcRect b="0" l="0" r="0" t="0"/>
              <a:stretch/>
            </p:blipFill>
            <p:spPr>
              <a:xfrm>
                <a:off x="4898285" y="5592334"/>
                <a:ext cx="859449" cy="144415"/>
              </a:xfrm>
              <a:prstGeom prst="rect">
                <a:avLst/>
              </a:prstGeom>
              <a:noFill/>
              <a:ln>
                <a:noFill/>
              </a:ln>
            </p:spPr>
          </p:pic>
        </p:grpSp>
        <p:grpSp>
          <p:nvGrpSpPr>
            <p:cNvPr id="1866" name="Google Shape;1866;p43"/>
            <p:cNvGrpSpPr/>
            <p:nvPr/>
          </p:nvGrpSpPr>
          <p:grpSpPr>
            <a:xfrm>
              <a:off x="12626631" y="9878361"/>
              <a:ext cx="1589360" cy="117277"/>
              <a:chOff x="6848459" y="5936834"/>
              <a:chExt cx="1589360" cy="117277"/>
            </a:xfrm>
          </p:grpSpPr>
          <p:sp>
            <p:nvSpPr>
              <p:cNvPr id="1867" name="Google Shape;1867;p43"/>
              <p:cNvSpPr/>
              <p:nvPr/>
            </p:nvSpPr>
            <p:spPr>
              <a:xfrm>
                <a:off x="6848459" y="5939872"/>
                <a:ext cx="292100" cy="111202"/>
              </a:xfrm>
              <a:prstGeom prst="rect">
                <a:avLst/>
              </a:prstGeom>
              <a:solidFill>
                <a:srgbClr val="715558"/>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868" name="Google Shape;1868;p43"/>
              <p:cNvPicPr preferRelativeResize="0"/>
              <p:nvPr/>
            </p:nvPicPr>
            <p:blipFill rotWithShape="1">
              <a:blip r:embed="rId22">
                <a:alphaModFix/>
              </a:blip>
              <a:srcRect b="0" l="0" r="0" t="0"/>
              <a:stretch/>
            </p:blipFill>
            <p:spPr>
              <a:xfrm>
                <a:off x="7282493" y="5936834"/>
                <a:ext cx="1155326" cy="117277"/>
              </a:xfrm>
              <a:prstGeom prst="rect">
                <a:avLst/>
              </a:prstGeom>
              <a:noFill/>
              <a:ln>
                <a:noFill/>
              </a:ln>
            </p:spPr>
          </p:pic>
        </p:grpSp>
        <p:sp>
          <p:nvSpPr>
            <p:cNvPr id="1869" name="Google Shape;1869;p43"/>
            <p:cNvSpPr/>
            <p:nvPr/>
          </p:nvSpPr>
          <p:spPr>
            <a:xfrm>
              <a:off x="14608770" y="9152052"/>
              <a:ext cx="292100" cy="111202"/>
            </a:xfrm>
            <a:prstGeom prst="rect">
              <a:avLst/>
            </a:prstGeom>
            <a:solidFill>
              <a:srgbClr val="C2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870" name="Google Shape;1870;p43"/>
            <p:cNvPicPr preferRelativeResize="0"/>
            <p:nvPr/>
          </p:nvPicPr>
          <p:blipFill rotWithShape="1">
            <a:blip r:embed="rId23">
              <a:alphaModFix/>
            </a:blip>
            <a:srcRect b="0" l="0" r="0" t="0"/>
            <a:stretch/>
          </p:blipFill>
          <p:spPr>
            <a:xfrm>
              <a:off x="15042805" y="9150455"/>
              <a:ext cx="404188" cy="146353"/>
            </a:xfrm>
            <a:prstGeom prst="rect">
              <a:avLst/>
            </a:prstGeom>
            <a:noFill/>
            <a:ln>
              <a:noFill/>
            </a:ln>
          </p:spPr>
        </p:pic>
        <p:grpSp>
          <p:nvGrpSpPr>
            <p:cNvPr id="1871" name="Google Shape;1871;p43"/>
            <p:cNvGrpSpPr/>
            <p:nvPr/>
          </p:nvGrpSpPr>
          <p:grpSpPr>
            <a:xfrm>
              <a:off x="14606170" y="9498262"/>
              <a:ext cx="1989984" cy="148894"/>
              <a:chOff x="8827998" y="5556735"/>
              <a:chExt cx="1989984" cy="148894"/>
            </a:xfrm>
          </p:grpSpPr>
          <p:sp>
            <p:nvSpPr>
              <p:cNvPr id="1872" name="Google Shape;1872;p43"/>
              <p:cNvSpPr/>
              <p:nvPr/>
            </p:nvSpPr>
            <p:spPr>
              <a:xfrm>
                <a:off x="8827998" y="5556735"/>
                <a:ext cx="292100" cy="111202"/>
              </a:xfrm>
              <a:prstGeom prst="rect">
                <a:avLst/>
              </a:prstGeom>
              <a:solidFill>
                <a:srgbClr val="F5ED3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873" name="Google Shape;1873;p43"/>
              <p:cNvPicPr preferRelativeResize="0"/>
              <p:nvPr/>
            </p:nvPicPr>
            <p:blipFill rotWithShape="1">
              <a:blip r:embed="rId24">
                <a:alphaModFix/>
              </a:blip>
              <a:srcRect b="0" l="0" r="0" t="0"/>
              <a:stretch/>
            </p:blipFill>
            <p:spPr>
              <a:xfrm>
                <a:off x="9264633" y="5561213"/>
                <a:ext cx="1553349" cy="144416"/>
              </a:xfrm>
              <a:prstGeom prst="rect">
                <a:avLst/>
              </a:prstGeom>
              <a:noFill/>
              <a:ln>
                <a:noFill/>
              </a:ln>
            </p:spPr>
          </p:pic>
        </p:grpSp>
        <p:grpSp>
          <p:nvGrpSpPr>
            <p:cNvPr id="1874" name="Google Shape;1874;p43"/>
            <p:cNvGrpSpPr/>
            <p:nvPr/>
          </p:nvGrpSpPr>
          <p:grpSpPr>
            <a:xfrm>
              <a:off x="14606170" y="9882211"/>
              <a:ext cx="1552334" cy="148894"/>
              <a:chOff x="8405612" y="5940684"/>
              <a:chExt cx="1552334" cy="148894"/>
            </a:xfrm>
          </p:grpSpPr>
          <p:sp>
            <p:nvSpPr>
              <p:cNvPr id="1875" name="Google Shape;1875;p43"/>
              <p:cNvSpPr/>
              <p:nvPr/>
            </p:nvSpPr>
            <p:spPr>
              <a:xfrm>
                <a:off x="8405612" y="5940684"/>
                <a:ext cx="292100" cy="111202"/>
              </a:xfrm>
              <a:prstGeom prst="rect">
                <a:avLst/>
              </a:prstGeom>
              <a:solidFill>
                <a:srgbClr val="00FFFD"/>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1876" name="Google Shape;1876;p43"/>
              <p:cNvPicPr preferRelativeResize="0"/>
              <p:nvPr/>
            </p:nvPicPr>
            <p:blipFill rotWithShape="1">
              <a:blip r:embed="rId25">
                <a:alphaModFix/>
              </a:blip>
              <a:srcRect b="0" l="0" r="0" t="0"/>
              <a:stretch/>
            </p:blipFill>
            <p:spPr>
              <a:xfrm>
                <a:off x="8842247" y="5945162"/>
                <a:ext cx="1115699" cy="144416"/>
              </a:xfrm>
              <a:prstGeom prst="rect">
                <a:avLst/>
              </a:prstGeom>
              <a:noFill/>
              <a:ln>
                <a:noFill/>
              </a:ln>
            </p:spPr>
          </p:pic>
        </p:grpSp>
      </p:grpSp>
      <p:sp>
        <p:nvSpPr>
          <p:cNvPr id="1877" name="Google Shape;1877;p43"/>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878" name="Google Shape;1878;p43"/>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879" name="Google Shape;1879;p43"/>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880" name="Google Shape;1880;p43"/>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1881" name="Google Shape;1881;p43"/>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882" name="Google Shape;1882;p43"/>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883" name="Google Shape;1883;p43"/>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Fabrication process</a:t>
            </a:r>
            <a:endParaRPr b="1" sz="1500">
              <a:solidFill>
                <a:schemeClr val="dk2"/>
              </a:solidFill>
              <a:latin typeface="Montserrat"/>
              <a:ea typeface="Montserrat"/>
              <a:cs typeface="Montserrat"/>
              <a:sym typeface="Montserra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sp>
        <p:nvSpPr>
          <p:cNvPr id="1888" name="Google Shape;1888;p44"/>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Microscope images</a:t>
            </a:r>
            <a:endParaRPr/>
          </a:p>
        </p:txBody>
      </p:sp>
      <p:sp>
        <p:nvSpPr>
          <p:cNvPr id="1889" name="Google Shape;1889;p44"/>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890" name="Google Shape;1890;p44"/>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91" name="Google Shape;1891;p44"/>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892" name="Google Shape;1892;p44"/>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893" name="Google Shape;1893;p44"/>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894" name="Google Shape;1894;p44"/>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1895" name="Google Shape;1895;p44"/>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1896" name="Google Shape;1896;p44"/>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897" name="Google Shape;1897;p44"/>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Fabrication process</a:t>
            </a:r>
            <a:endParaRPr b="1" sz="1500">
              <a:solidFill>
                <a:schemeClr val="dk2"/>
              </a:solidFill>
              <a:latin typeface="Montserrat"/>
              <a:ea typeface="Montserrat"/>
              <a:cs typeface="Montserrat"/>
              <a:sym typeface="Montserrat"/>
            </a:endParaRPr>
          </a:p>
        </p:txBody>
      </p:sp>
      <p:pic>
        <p:nvPicPr>
          <p:cNvPr id="1898" name="Google Shape;1898;p44"/>
          <p:cNvPicPr preferRelativeResize="0"/>
          <p:nvPr/>
        </p:nvPicPr>
        <p:blipFill rotWithShape="1">
          <a:blip r:embed="rId3">
            <a:alphaModFix/>
          </a:blip>
          <a:srcRect b="0" l="0" r="0" t="0"/>
          <a:stretch/>
        </p:blipFill>
        <p:spPr>
          <a:xfrm>
            <a:off x="6027142" y="3985603"/>
            <a:ext cx="4319999" cy="3240000"/>
          </a:xfrm>
          <a:prstGeom prst="rect">
            <a:avLst/>
          </a:prstGeom>
          <a:noFill/>
          <a:ln>
            <a:noFill/>
          </a:ln>
        </p:spPr>
      </p:pic>
      <p:pic>
        <p:nvPicPr>
          <p:cNvPr id="1899" name="Google Shape;1899;p44"/>
          <p:cNvPicPr preferRelativeResize="0"/>
          <p:nvPr/>
        </p:nvPicPr>
        <p:blipFill rotWithShape="1">
          <a:blip r:embed="rId4">
            <a:alphaModFix/>
          </a:blip>
          <a:srcRect b="0" l="0" r="0" t="0"/>
          <a:stretch/>
        </p:blipFill>
        <p:spPr>
          <a:xfrm>
            <a:off x="13963753" y="3985603"/>
            <a:ext cx="4319999" cy="3240000"/>
          </a:xfrm>
          <a:prstGeom prst="rect">
            <a:avLst/>
          </a:prstGeom>
          <a:noFill/>
          <a:ln>
            <a:noFill/>
          </a:ln>
        </p:spPr>
      </p:pic>
      <p:pic>
        <p:nvPicPr>
          <p:cNvPr id="1900" name="Google Shape;1900;p44"/>
          <p:cNvPicPr preferRelativeResize="0"/>
          <p:nvPr/>
        </p:nvPicPr>
        <p:blipFill rotWithShape="1">
          <a:blip r:embed="rId5">
            <a:alphaModFix/>
          </a:blip>
          <a:srcRect b="0" l="0" r="0" t="0"/>
          <a:stretch/>
        </p:blipFill>
        <p:spPr>
          <a:xfrm>
            <a:off x="6027142" y="8973723"/>
            <a:ext cx="4319999" cy="3240000"/>
          </a:xfrm>
          <a:prstGeom prst="rect">
            <a:avLst/>
          </a:prstGeom>
          <a:noFill/>
          <a:ln>
            <a:noFill/>
          </a:ln>
        </p:spPr>
      </p:pic>
      <p:pic>
        <p:nvPicPr>
          <p:cNvPr id="1901" name="Google Shape;1901;p44"/>
          <p:cNvPicPr preferRelativeResize="0"/>
          <p:nvPr/>
        </p:nvPicPr>
        <p:blipFill rotWithShape="1">
          <a:blip r:embed="rId6">
            <a:alphaModFix/>
          </a:blip>
          <a:srcRect b="0" l="0" r="0" t="0"/>
          <a:stretch/>
        </p:blipFill>
        <p:spPr>
          <a:xfrm>
            <a:off x="13963752" y="8973723"/>
            <a:ext cx="4319999" cy="3240000"/>
          </a:xfrm>
          <a:prstGeom prst="rect">
            <a:avLst/>
          </a:prstGeom>
          <a:noFill/>
          <a:ln>
            <a:noFill/>
          </a:ln>
        </p:spPr>
      </p:pic>
      <p:sp>
        <p:nvSpPr>
          <p:cNvPr id="1902" name="Google Shape;1902;p44"/>
          <p:cNvSpPr txBox="1"/>
          <p:nvPr/>
        </p:nvSpPr>
        <p:spPr>
          <a:xfrm>
            <a:off x="5086095" y="2865005"/>
            <a:ext cx="6202094" cy="75469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3200">
                <a:solidFill>
                  <a:schemeClr val="dk2"/>
                </a:solidFill>
                <a:latin typeface="Montserrat"/>
                <a:ea typeface="Montserrat"/>
                <a:cs typeface="Montserrat"/>
                <a:sym typeface="Montserrat"/>
              </a:rPr>
              <a:t>Lithography of waveguide patterns</a:t>
            </a:r>
            <a:endParaRPr sz="3200">
              <a:solidFill>
                <a:schemeClr val="dk2"/>
              </a:solidFill>
              <a:latin typeface="Montserrat"/>
              <a:ea typeface="Montserrat"/>
              <a:cs typeface="Montserrat"/>
              <a:sym typeface="Montserrat"/>
            </a:endParaRPr>
          </a:p>
        </p:txBody>
      </p:sp>
      <p:sp>
        <p:nvSpPr>
          <p:cNvPr id="1903" name="Google Shape;1903;p44"/>
          <p:cNvSpPr txBox="1"/>
          <p:nvPr/>
        </p:nvSpPr>
        <p:spPr>
          <a:xfrm>
            <a:off x="13022706" y="2865005"/>
            <a:ext cx="6202094" cy="75469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3200">
                <a:solidFill>
                  <a:schemeClr val="dk2"/>
                </a:solidFill>
                <a:latin typeface="Montserrat"/>
                <a:ea typeface="Montserrat"/>
                <a:cs typeface="Montserrat"/>
                <a:sym typeface="Montserrat"/>
              </a:rPr>
              <a:t>Lift-off after Ti-deposition</a:t>
            </a:r>
            <a:endParaRPr sz="3200">
              <a:solidFill>
                <a:schemeClr val="dk2"/>
              </a:solidFill>
              <a:latin typeface="Montserrat"/>
              <a:ea typeface="Montserrat"/>
              <a:cs typeface="Montserrat"/>
              <a:sym typeface="Montserrat"/>
            </a:endParaRPr>
          </a:p>
        </p:txBody>
      </p:sp>
      <p:sp>
        <p:nvSpPr>
          <p:cNvPr id="1904" name="Google Shape;1904;p44"/>
          <p:cNvSpPr txBox="1"/>
          <p:nvPr/>
        </p:nvSpPr>
        <p:spPr>
          <a:xfrm>
            <a:off x="5086095" y="8091722"/>
            <a:ext cx="6202094" cy="75469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3200">
                <a:solidFill>
                  <a:schemeClr val="dk2"/>
                </a:solidFill>
                <a:latin typeface="Montserrat"/>
                <a:ea typeface="Montserrat"/>
                <a:cs typeface="Montserrat"/>
                <a:sym typeface="Montserrat"/>
              </a:rPr>
              <a:t>Titanium in-diffusion</a:t>
            </a:r>
            <a:endParaRPr sz="3200">
              <a:solidFill>
                <a:schemeClr val="dk2"/>
              </a:solidFill>
              <a:latin typeface="Montserrat"/>
              <a:ea typeface="Montserrat"/>
              <a:cs typeface="Montserrat"/>
              <a:sym typeface="Montserrat"/>
            </a:endParaRPr>
          </a:p>
        </p:txBody>
      </p:sp>
      <p:sp>
        <p:nvSpPr>
          <p:cNvPr id="1905" name="Google Shape;1905;p44"/>
          <p:cNvSpPr txBox="1"/>
          <p:nvPr/>
        </p:nvSpPr>
        <p:spPr>
          <a:xfrm>
            <a:off x="13089461" y="8091722"/>
            <a:ext cx="6202094" cy="75469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3200">
                <a:solidFill>
                  <a:schemeClr val="dk2"/>
                </a:solidFill>
                <a:latin typeface="Montserrat"/>
                <a:ea typeface="Montserrat"/>
                <a:cs typeface="Montserrat"/>
                <a:sym typeface="Montserrat"/>
              </a:rPr>
              <a:t>Electric field poling</a:t>
            </a:r>
            <a:endParaRPr sz="3200">
              <a:solidFill>
                <a:schemeClr val="dk2"/>
              </a:solidFill>
              <a:latin typeface="Montserrat"/>
              <a:ea typeface="Montserrat"/>
              <a:cs typeface="Montserrat"/>
              <a:sym typeface="Montserra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0" name="Shape 1910"/>
        <p:cNvGrpSpPr/>
        <p:nvPr/>
      </p:nvGrpSpPr>
      <p:grpSpPr>
        <a:xfrm>
          <a:off x="0" y="0"/>
          <a:ext cx="0" cy="0"/>
          <a:chOff x="0" y="0"/>
          <a:chExt cx="0" cy="0"/>
        </a:xfrm>
      </p:grpSpPr>
      <p:sp>
        <p:nvSpPr>
          <p:cNvPr id="1911" name="Google Shape;1911;p45"/>
          <p:cNvSpPr txBox="1"/>
          <p:nvPr/>
        </p:nvSpPr>
        <p:spPr>
          <a:xfrm>
            <a:off x="5955030" y="5073938"/>
            <a:ext cx="12467590" cy="31700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0">
                <a:solidFill>
                  <a:schemeClr val="dk2"/>
                </a:solidFill>
                <a:latin typeface="Montserrat"/>
                <a:ea typeface="Montserrat"/>
                <a:cs typeface="Montserrat"/>
                <a:sym typeface="Montserrat"/>
              </a:rPr>
              <a:t>Results and discussions</a:t>
            </a:r>
            <a:endParaRPr b="1" sz="10000">
              <a:solidFill>
                <a:schemeClr val="dk2"/>
              </a:solidFill>
              <a:latin typeface="Montserrat"/>
              <a:ea typeface="Montserrat"/>
              <a:cs typeface="Montserrat"/>
              <a:sym typeface="Montserrat"/>
            </a:endParaRPr>
          </a:p>
        </p:txBody>
      </p:sp>
      <p:sp>
        <p:nvSpPr>
          <p:cNvPr id="1912" name="Google Shape;1912;p45"/>
          <p:cNvSpPr txBox="1"/>
          <p:nvPr/>
        </p:nvSpPr>
        <p:spPr>
          <a:xfrm>
            <a:off x="6572250" y="9131313"/>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913" name="Google Shape;1913;p45"/>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14" name="Google Shape;1914;p45"/>
          <p:cNvSpPr/>
          <p:nvPr/>
        </p:nvSpPr>
        <p:spPr>
          <a:xfrm flipH="1">
            <a:off x="19337650" y="1047600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1915" name="Google Shape;1915;p45"/>
          <p:cNvSpPr/>
          <p:nvPr/>
        </p:nvSpPr>
        <p:spPr>
          <a:xfrm flipH="1" rot="10800000">
            <a:off x="0" y="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1916" name="Google Shape;1916;p45"/>
          <p:cNvSpPr/>
          <p:nvPr/>
        </p:nvSpPr>
        <p:spPr>
          <a:xfrm flipH="1" rot="10800000">
            <a:off x="7640888" y="8772423"/>
            <a:ext cx="9095874" cy="10081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Google Shape;1921;p46"/>
          <p:cNvSpPr txBox="1"/>
          <p:nvPr/>
        </p:nvSpPr>
        <p:spPr>
          <a:xfrm>
            <a:off x="3949452" y="1483499"/>
            <a:ext cx="16478743"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Experimental setup for SFG measurement</a:t>
            </a:r>
            <a:endParaRPr/>
          </a:p>
        </p:txBody>
      </p:sp>
      <p:sp>
        <p:nvSpPr>
          <p:cNvPr id="1922" name="Google Shape;1922;p46"/>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923" name="Google Shape;1923;p46"/>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1924" name="Google Shape;1924;p46"/>
          <p:cNvCxnSpPr/>
          <p:nvPr/>
        </p:nvCxnSpPr>
        <p:spPr>
          <a:xfrm>
            <a:off x="6284564" y="9955734"/>
            <a:ext cx="1733449" cy="0"/>
          </a:xfrm>
          <a:prstGeom prst="straightConnector1">
            <a:avLst/>
          </a:prstGeom>
          <a:noFill/>
          <a:ln cap="flat" cmpd="sng" w="76200">
            <a:solidFill>
              <a:srgbClr val="FFC000"/>
            </a:solidFill>
            <a:prstDash val="solid"/>
            <a:miter lim="800000"/>
            <a:headEnd len="sm" w="sm" type="none"/>
            <a:tailEnd len="sm" w="sm" type="none"/>
          </a:ln>
        </p:spPr>
      </p:cxnSp>
      <p:sp>
        <p:nvSpPr>
          <p:cNvPr id="1925" name="Google Shape;1925;p46"/>
          <p:cNvSpPr txBox="1"/>
          <p:nvPr/>
        </p:nvSpPr>
        <p:spPr>
          <a:xfrm>
            <a:off x="5128050" y="10167562"/>
            <a:ext cx="212952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Carrier block</a:t>
            </a:r>
            <a:endParaRPr b="1" sz="2000">
              <a:solidFill>
                <a:srgbClr val="000000"/>
              </a:solidFill>
              <a:latin typeface="Calibri"/>
              <a:ea typeface="Calibri"/>
              <a:cs typeface="Calibri"/>
              <a:sym typeface="Calibri"/>
            </a:endParaRPr>
          </a:p>
        </p:txBody>
      </p:sp>
      <p:cxnSp>
        <p:nvCxnSpPr>
          <p:cNvPr id="1926" name="Google Shape;1926;p46"/>
          <p:cNvCxnSpPr/>
          <p:nvPr/>
        </p:nvCxnSpPr>
        <p:spPr>
          <a:xfrm>
            <a:off x="10716187" y="6393179"/>
            <a:ext cx="5484407" cy="0"/>
          </a:xfrm>
          <a:prstGeom prst="straightConnector1">
            <a:avLst/>
          </a:prstGeom>
          <a:noFill/>
          <a:ln cap="flat" cmpd="sng" w="76200">
            <a:solidFill>
              <a:srgbClr val="FFC000"/>
            </a:solidFill>
            <a:prstDash val="solid"/>
            <a:miter lim="800000"/>
            <a:headEnd len="sm" w="sm" type="none"/>
            <a:tailEnd len="med" w="med" type="triangle"/>
          </a:ln>
        </p:spPr>
      </p:cxnSp>
      <p:cxnSp>
        <p:nvCxnSpPr>
          <p:cNvPr id="1927" name="Google Shape;1927;p46"/>
          <p:cNvCxnSpPr/>
          <p:nvPr/>
        </p:nvCxnSpPr>
        <p:spPr>
          <a:xfrm>
            <a:off x="14203674" y="6392764"/>
            <a:ext cx="2185749" cy="0"/>
          </a:xfrm>
          <a:prstGeom prst="straightConnector1">
            <a:avLst/>
          </a:prstGeom>
          <a:noFill/>
          <a:ln cap="flat" cmpd="sng" w="76200">
            <a:solidFill>
              <a:srgbClr val="FFC000"/>
            </a:solidFill>
            <a:prstDash val="solid"/>
            <a:miter lim="800000"/>
            <a:headEnd len="sm" w="sm" type="none"/>
            <a:tailEnd len="sm" w="sm" type="none"/>
          </a:ln>
        </p:spPr>
      </p:cxnSp>
      <p:cxnSp>
        <p:nvCxnSpPr>
          <p:cNvPr id="1928" name="Google Shape;1928;p46"/>
          <p:cNvCxnSpPr/>
          <p:nvPr/>
        </p:nvCxnSpPr>
        <p:spPr>
          <a:xfrm>
            <a:off x="6442112" y="7775356"/>
            <a:ext cx="8526115" cy="0"/>
          </a:xfrm>
          <a:prstGeom prst="straightConnector1">
            <a:avLst/>
          </a:prstGeom>
          <a:noFill/>
          <a:ln cap="flat" cmpd="sng" w="76200">
            <a:solidFill>
              <a:srgbClr val="FFC000"/>
            </a:solidFill>
            <a:prstDash val="solid"/>
            <a:miter lim="800000"/>
            <a:headEnd len="sm" w="sm" type="none"/>
            <a:tailEnd len="sm" w="sm" type="none"/>
          </a:ln>
        </p:spPr>
      </p:cxnSp>
      <p:sp>
        <p:nvSpPr>
          <p:cNvPr id="1929" name="Google Shape;1929;p46"/>
          <p:cNvSpPr/>
          <p:nvPr/>
        </p:nvSpPr>
        <p:spPr>
          <a:xfrm>
            <a:off x="15908434" y="6392764"/>
            <a:ext cx="959857" cy="1151829"/>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cxnSp>
        <p:nvCxnSpPr>
          <p:cNvPr id="1930" name="Google Shape;1930;p46"/>
          <p:cNvCxnSpPr/>
          <p:nvPr/>
        </p:nvCxnSpPr>
        <p:spPr>
          <a:xfrm>
            <a:off x="14951106" y="7775358"/>
            <a:ext cx="1438318" cy="0"/>
          </a:xfrm>
          <a:prstGeom prst="straightConnector1">
            <a:avLst/>
          </a:prstGeom>
          <a:noFill/>
          <a:ln cap="flat" cmpd="sng" w="76200">
            <a:solidFill>
              <a:srgbClr val="FFC000"/>
            </a:solidFill>
            <a:prstDash val="solid"/>
            <a:miter lim="800000"/>
            <a:headEnd len="sm" w="sm" type="none"/>
            <a:tailEnd len="sm" w="sm" type="none"/>
          </a:ln>
        </p:spPr>
      </p:cxnSp>
      <p:sp>
        <p:nvSpPr>
          <p:cNvPr id="1931" name="Google Shape;1931;p46"/>
          <p:cNvSpPr txBox="1"/>
          <p:nvPr/>
        </p:nvSpPr>
        <p:spPr>
          <a:xfrm>
            <a:off x="11167946" y="4549107"/>
            <a:ext cx="353980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Polarization controller (PC)</a:t>
            </a:r>
            <a:endParaRPr b="1" sz="2000">
              <a:solidFill>
                <a:srgbClr val="000000"/>
              </a:solidFill>
              <a:latin typeface="Calibri"/>
              <a:ea typeface="Calibri"/>
              <a:cs typeface="Calibri"/>
              <a:sym typeface="Calibri"/>
            </a:endParaRPr>
          </a:p>
        </p:txBody>
      </p:sp>
      <p:sp>
        <p:nvSpPr>
          <p:cNvPr id="1932" name="Google Shape;1932;p46"/>
          <p:cNvSpPr/>
          <p:nvPr/>
        </p:nvSpPr>
        <p:spPr>
          <a:xfrm rot="10800000">
            <a:off x="5592308" y="8243656"/>
            <a:ext cx="1426731" cy="1712078"/>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sp>
        <p:nvSpPr>
          <p:cNvPr id="1933" name="Google Shape;1933;p46"/>
          <p:cNvSpPr/>
          <p:nvPr/>
        </p:nvSpPr>
        <p:spPr>
          <a:xfrm rot="-5400000">
            <a:off x="5734982" y="7631730"/>
            <a:ext cx="1426731" cy="1712076"/>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cxnSp>
        <p:nvCxnSpPr>
          <p:cNvPr id="1934" name="Google Shape;1934;p46"/>
          <p:cNvCxnSpPr/>
          <p:nvPr/>
        </p:nvCxnSpPr>
        <p:spPr>
          <a:xfrm flipH="1" rot="10800000">
            <a:off x="9291880" y="6392768"/>
            <a:ext cx="1477612" cy="2"/>
          </a:xfrm>
          <a:prstGeom prst="straightConnector1">
            <a:avLst/>
          </a:prstGeom>
          <a:noFill/>
          <a:ln cap="flat" cmpd="sng" w="76200">
            <a:solidFill>
              <a:srgbClr val="FFC000"/>
            </a:solidFill>
            <a:prstDash val="solid"/>
            <a:miter lim="800000"/>
            <a:headEnd len="sm" w="sm" type="none"/>
            <a:tailEnd len="sm" w="sm" type="none"/>
          </a:ln>
        </p:spPr>
      </p:cxnSp>
      <p:cxnSp>
        <p:nvCxnSpPr>
          <p:cNvPr id="1935" name="Google Shape;1935;p46"/>
          <p:cNvCxnSpPr>
            <a:endCxn id="1932" idx="2"/>
          </p:cNvCxnSpPr>
          <p:nvPr/>
        </p:nvCxnSpPr>
        <p:spPr>
          <a:xfrm>
            <a:off x="5592308" y="8478995"/>
            <a:ext cx="0" cy="620700"/>
          </a:xfrm>
          <a:prstGeom prst="straightConnector1">
            <a:avLst/>
          </a:prstGeom>
          <a:noFill/>
          <a:ln cap="flat" cmpd="sng" w="76200">
            <a:solidFill>
              <a:srgbClr val="FFC000"/>
            </a:solidFill>
            <a:prstDash val="solid"/>
            <a:miter lim="800000"/>
            <a:headEnd len="sm" w="sm" type="none"/>
            <a:tailEnd len="sm" w="sm" type="none"/>
          </a:ln>
        </p:spPr>
      </p:cxnSp>
      <p:cxnSp>
        <p:nvCxnSpPr>
          <p:cNvPr id="1936" name="Google Shape;1936;p46"/>
          <p:cNvCxnSpPr/>
          <p:nvPr/>
        </p:nvCxnSpPr>
        <p:spPr>
          <a:xfrm>
            <a:off x="10147400" y="7774402"/>
            <a:ext cx="4245433" cy="0"/>
          </a:xfrm>
          <a:prstGeom prst="straightConnector1">
            <a:avLst/>
          </a:prstGeom>
          <a:noFill/>
          <a:ln cap="flat" cmpd="sng" w="76200">
            <a:solidFill>
              <a:srgbClr val="FFC000"/>
            </a:solidFill>
            <a:prstDash val="solid"/>
            <a:miter lim="800000"/>
            <a:headEnd len="med" w="med" type="triangle"/>
            <a:tailEnd len="sm" w="sm" type="none"/>
          </a:ln>
        </p:spPr>
      </p:cxnSp>
      <p:cxnSp>
        <p:nvCxnSpPr>
          <p:cNvPr id="1937" name="Google Shape;1937;p46"/>
          <p:cNvCxnSpPr/>
          <p:nvPr/>
        </p:nvCxnSpPr>
        <p:spPr>
          <a:xfrm>
            <a:off x="16868291" y="6923985"/>
            <a:ext cx="0" cy="288382"/>
          </a:xfrm>
          <a:prstGeom prst="straightConnector1">
            <a:avLst/>
          </a:prstGeom>
          <a:noFill/>
          <a:ln cap="flat" cmpd="sng" w="76200">
            <a:solidFill>
              <a:srgbClr val="FFC000"/>
            </a:solidFill>
            <a:prstDash val="solid"/>
            <a:miter lim="800000"/>
            <a:headEnd len="sm" w="sm" type="none"/>
            <a:tailEnd len="sm" w="sm" type="none"/>
          </a:ln>
        </p:spPr>
      </p:cxnSp>
      <p:sp>
        <p:nvSpPr>
          <p:cNvPr id="1938" name="Google Shape;1938;p46"/>
          <p:cNvSpPr/>
          <p:nvPr/>
        </p:nvSpPr>
        <p:spPr>
          <a:xfrm rot="10800000">
            <a:off x="4892847" y="11141537"/>
            <a:ext cx="2904822" cy="1143965"/>
          </a:xfrm>
          <a:custGeom>
            <a:rect b="b" l="l" r="r" t="t"/>
            <a:pathLst>
              <a:path extrusionOk="0" h="553901" w="1406498">
                <a:moveTo>
                  <a:pt x="130547" y="553901"/>
                </a:moveTo>
                <a:lnTo>
                  <a:pt x="0" y="553901"/>
                </a:lnTo>
                <a:lnTo>
                  <a:pt x="0" y="553897"/>
                </a:lnTo>
                <a:lnTo>
                  <a:pt x="105109" y="553897"/>
                </a:lnTo>
                <a:lnTo>
                  <a:pt x="105109" y="553896"/>
                </a:lnTo>
                <a:lnTo>
                  <a:pt x="1406496" y="553896"/>
                </a:lnTo>
                <a:lnTo>
                  <a:pt x="1406496" y="0"/>
                </a:lnTo>
                <a:lnTo>
                  <a:pt x="1406498" y="0"/>
                </a:lnTo>
                <a:lnTo>
                  <a:pt x="1406498" y="553900"/>
                </a:lnTo>
                <a:lnTo>
                  <a:pt x="130547" y="553900"/>
                </a:lnTo>
                <a:lnTo>
                  <a:pt x="130547" y="55390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1939" name="Google Shape;1939;p46"/>
          <p:cNvSpPr/>
          <p:nvPr/>
        </p:nvSpPr>
        <p:spPr>
          <a:xfrm>
            <a:off x="6080108" y="5804959"/>
            <a:ext cx="3740295" cy="1100042"/>
          </a:xfrm>
          <a:prstGeom prst="rect">
            <a:avLst/>
          </a:prstGeom>
          <a:solidFill>
            <a:srgbClr val="545653"/>
          </a:solid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1940" name="Google Shape;1940;p46"/>
          <p:cNvSpPr txBox="1"/>
          <p:nvPr/>
        </p:nvSpPr>
        <p:spPr>
          <a:xfrm>
            <a:off x="6564906" y="5950747"/>
            <a:ext cx="265738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E7E6E6"/>
                </a:solidFill>
                <a:latin typeface="Calibri"/>
                <a:ea typeface="Calibri"/>
                <a:cs typeface="Calibri"/>
                <a:sym typeface="Calibri"/>
              </a:rPr>
              <a:t>Tunable laser source (1500 ~1600 nm)</a:t>
            </a:r>
            <a:endParaRPr b="1" sz="2000">
              <a:solidFill>
                <a:srgbClr val="E7E6E6"/>
              </a:solidFill>
              <a:latin typeface="Calibri"/>
              <a:ea typeface="Calibri"/>
              <a:cs typeface="Calibri"/>
              <a:sym typeface="Calibri"/>
            </a:endParaRPr>
          </a:p>
        </p:txBody>
      </p:sp>
      <p:sp>
        <p:nvSpPr>
          <p:cNvPr id="1941" name="Google Shape;1941;p46"/>
          <p:cNvSpPr txBox="1"/>
          <p:nvPr/>
        </p:nvSpPr>
        <p:spPr>
          <a:xfrm>
            <a:off x="10646818" y="7106781"/>
            <a:ext cx="133548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SM fiber</a:t>
            </a:r>
            <a:endParaRPr b="1" sz="2000">
              <a:solidFill>
                <a:srgbClr val="000000"/>
              </a:solidFill>
              <a:latin typeface="Calibri"/>
              <a:ea typeface="Calibri"/>
              <a:cs typeface="Calibri"/>
              <a:sym typeface="Calibri"/>
            </a:endParaRPr>
          </a:p>
        </p:txBody>
      </p:sp>
      <p:sp>
        <p:nvSpPr>
          <p:cNvPr id="1942" name="Google Shape;1942;p46"/>
          <p:cNvSpPr/>
          <p:nvPr/>
        </p:nvSpPr>
        <p:spPr>
          <a:xfrm>
            <a:off x="13500419" y="5291530"/>
            <a:ext cx="1101645" cy="1100042"/>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1943" name="Google Shape;1943;p46"/>
          <p:cNvSpPr/>
          <p:nvPr/>
        </p:nvSpPr>
        <p:spPr>
          <a:xfrm>
            <a:off x="12192925" y="5290012"/>
            <a:ext cx="1101645" cy="1100042"/>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1944" name="Google Shape;1944;p46"/>
          <p:cNvSpPr/>
          <p:nvPr/>
        </p:nvSpPr>
        <p:spPr>
          <a:xfrm>
            <a:off x="10880656" y="5291363"/>
            <a:ext cx="1101645" cy="1100042"/>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1945" name="Google Shape;1945;p46"/>
          <p:cNvSpPr/>
          <p:nvPr/>
        </p:nvSpPr>
        <p:spPr>
          <a:xfrm flipH="1" rot="10800000">
            <a:off x="15908434" y="6623946"/>
            <a:ext cx="959857" cy="1151829"/>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sp>
        <p:nvSpPr>
          <p:cNvPr id="1946" name="Google Shape;1946;p46"/>
          <p:cNvSpPr/>
          <p:nvPr/>
        </p:nvSpPr>
        <p:spPr>
          <a:xfrm>
            <a:off x="13583970" y="5372942"/>
            <a:ext cx="936814" cy="936814"/>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1947" name="Google Shape;1947;p46"/>
          <p:cNvSpPr/>
          <p:nvPr/>
        </p:nvSpPr>
        <p:spPr>
          <a:xfrm>
            <a:off x="12276476" y="5372942"/>
            <a:ext cx="936814" cy="936814"/>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1948" name="Google Shape;1948;p46"/>
          <p:cNvSpPr/>
          <p:nvPr/>
        </p:nvSpPr>
        <p:spPr>
          <a:xfrm>
            <a:off x="10964207" y="5375069"/>
            <a:ext cx="936814" cy="936814"/>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1949" name="Google Shape;1949;p46"/>
          <p:cNvSpPr/>
          <p:nvPr/>
        </p:nvSpPr>
        <p:spPr>
          <a:xfrm>
            <a:off x="7139235" y="9397625"/>
            <a:ext cx="3385801" cy="1415573"/>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1950" name="Google Shape;1950;p46"/>
          <p:cNvSpPr/>
          <p:nvPr/>
        </p:nvSpPr>
        <p:spPr>
          <a:xfrm flipH="1" rot="-5400000">
            <a:off x="6688808" y="9895834"/>
            <a:ext cx="234551" cy="119803"/>
          </a:xfrm>
          <a:prstGeom prst="snip2SameRect">
            <a:avLst>
              <a:gd fmla="val 16667" name="adj1"/>
              <a:gd fmla="val 0" name="adj2"/>
            </a:avLst>
          </a:prstGeom>
          <a:solidFill>
            <a:srgbClr val="75707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grpSp>
        <p:nvGrpSpPr>
          <p:cNvPr id="1951" name="Google Shape;1951;p46"/>
          <p:cNvGrpSpPr/>
          <p:nvPr/>
        </p:nvGrpSpPr>
        <p:grpSpPr>
          <a:xfrm>
            <a:off x="7329068" y="9542371"/>
            <a:ext cx="3028198" cy="1143967"/>
            <a:chOff x="3783404" y="5727429"/>
            <a:chExt cx="1466236" cy="553902"/>
          </a:xfrm>
        </p:grpSpPr>
        <p:sp>
          <p:nvSpPr>
            <p:cNvPr id="1952" name="Google Shape;1952;p46"/>
            <p:cNvSpPr/>
            <p:nvPr/>
          </p:nvSpPr>
          <p:spPr>
            <a:xfrm>
              <a:off x="3815103" y="5727430"/>
              <a:ext cx="1434537" cy="553901"/>
            </a:xfrm>
            <a:custGeom>
              <a:rect b="b" l="l" r="r" t="t"/>
              <a:pathLst>
                <a:path extrusionOk="0" h="720001" w="1864715">
                  <a:moveTo>
                    <a:pt x="173075" y="0"/>
                  </a:moveTo>
                  <a:lnTo>
                    <a:pt x="1864715" y="0"/>
                  </a:lnTo>
                  <a:lnTo>
                    <a:pt x="1864715" y="720000"/>
                  </a:lnTo>
                  <a:lnTo>
                    <a:pt x="173078" y="720000"/>
                  </a:lnTo>
                  <a:lnTo>
                    <a:pt x="173078" y="720001"/>
                  </a:lnTo>
                  <a:lnTo>
                    <a:pt x="0" y="720001"/>
                  </a:lnTo>
                  <a:lnTo>
                    <a:pt x="34615" y="1"/>
                  </a:lnTo>
                  <a:lnTo>
                    <a:pt x="173075" y="1"/>
                  </a:lnTo>
                  <a:close/>
                </a:path>
              </a:pathLst>
            </a:custGeom>
            <a:solidFill>
              <a:srgbClr val="86F387"/>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grpSp>
          <p:nvGrpSpPr>
            <p:cNvPr id="1953" name="Google Shape;1953;p46"/>
            <p:cNvGrpSpPr/>
            <p:nvPr/>
          </p:nvGrpSpPr>
          <p:grpSpPr>
            <a:xfrm>
              <a:off x="3815104" y="5827451"/>
              <a:ext cx="1434536" cy="381820"/>
              <a:chOff x="3160385" y="2239516"/>
              <a:chExt cx="6376989" cy="2673530"/>
            </a:xfrm>
          </p:grpSpPr>
          <p:sp>
            <p:nvSpPr>
              <p:cNvPr id="1954" name="Google Shape;1954;p46"/>
              <p:cNvSpPr/>
              <p:nvPr/>
            </p:nvSpPr>
            <p:spPr>
              <a:xfrm rot="5400000">
                <a:off x="4108122" y="1946453"/>
                <a:ext cx="206375" cy="210185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55" name="Google Shape;1955;p46"/>
              <p:cNvSpPr/>
              <p:nvPr/>
            </p:nvSpPr>
            <p:spPr>
              <a:xfrm rot="5400000">
                <a:off x="6138536" y="2427466"/>
                <a:ext cx="317500"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56" name="Google Shape;1956;p46"/>
              <p:cNvSpPr/>
              <p:nvPr/>
            </p:nvSpPr>
            <p:spPr>
              <a:xfrm rot="5400000">
                <a:off x="8178473" y="2076628"/>
                <a:ext cx="206375" cy="1841500"/>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57" name="Google Shape;1957;p46"/>
              <p:cNvSpPr/>
              <p:nvPr/>
            </p:nvSpPr>
            <p:spPr>
              <a:xfrm flipH="1" rot="-5400000">
                <a:off x="8178473" y="1421953"/>
                <a:ext cx="206375" cy="1841500"/>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58" name="Google Shape;1958;p46"/>
              <p:cNvSpPr/>
              <p:nvPr/>
            </p:nvSpPr>
            <p:spPr>
              <a:xfrm rot="5400000">
                <a:off x="8113385" y="1744841"/>
                <a:ext cx="342900" cy="1841500"/>
              </a:xfrm>
              <a:custGeom>
                <a:rect b="b" l="l" r="r" t="t"/>
                <a:pathLst>
                  <a:path extrusionOk="0" h="1851025" w="342900">
                    <a:moveTo>
                      <a:pt x="136525" y="0"/>
                    </a:moveTo>
                    <a:lnTo>
                      <a:pt x="342900" y="0"/>
                    </a:lnTo>
                    <a:lnTo>
                      <a:pt x="203200" y="1851025"/>
                    </a:lnTo>
                    <a:lnTo>
                      <a:pt x="0" y="1851025"/>
                    </a:lnTo>
                    <a:lnTo>
                      <a:pt x="13652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59" name="Google Shape;1959;p46"/>
              <p:cNvSpPr/>
              <p:nvPr/>
            </p:nvSpPr>
            <p:spPr>
              <a:xfrm rot="5400000">
                <a:off x="6209972" y="1946453"/>
                <a:ext cx="206375" cy="210185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60" name="Google Shape;1960;p46"/>
              <p:cNvSpPr/>
              <p:nvPr/>
            </p:nvSpPr>
            <p:spPr>
              <a:xfrm rot="5400000">
                <a:off x="7278360" y="2654033"/>
                <a:ext cx="206375" cy="431165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61" name="Google Shape;1961;p46"/>
              <p:cNvSpPr/>
              <p:nvPr/>
            </p:nvSpPr>
            <p:spPr>
              <a:xfrm rot="5400000">
                <a:off x="9266704" y="2175222"/>
                <a:ext cx="206375" cy="334963"/>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62" name="Google Shape;1962;p46"/>
              <p:cNvSpPr/>
              <p:nvPr/>
            </p:nvSpPr>
            <p:spPr>
              <a:xfrm rot="5400000">
                <a:off x="9296707" y="2827780"/>
                <a:ext cx="146370" cy="334963"/>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63" name="Google Shape;1963;p46"/>
              <p:cNvSpPr/>
              <p:nvPr/>
            </p:nvSpPr>
            <p:spPr>
              <a:xfrm rot="5400000">
                <a:off x="6761262" y="2856927"/>
                <a:ext cx="317500"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64" name="Google Shape;1964;p46"/>
              <p:cNvSpPr/>
              <p:nvPr/>
            </p:nvSpPr>
            <p:spPr>
              <a:xfrm rot="5400000">
                <a:off x="7372976" y="3277920"/>
                <a:ext cx="317500"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grpSp>
          <p:nvGrpSpPr>
            <p:cNvPr id="1965" name="Google Shape;1965;p46"/>
            <p:cNvGrpSpPr/>
            <p:nvPr/>
          </p:nvGrpSpPr>
          <p:grpSpPr>
            <a:xfrm>
              <a:off x="3862845" y="5920935"/>
              <a:ext cx="425080" cy="29488"/>
              <a:chOff x="3369184" y="2894093"/>
              <a:chExt cx="1889624" cy="206474"/>
            </a:xfrm>
          </p:grpSpPr>
          <p:sp>
            <p:nvSpPr>
              <p:cNvPr id="1966" name="Google Shape;1966;p46"/>
              <p:cNvSpPr/>
              <p:nvPr/>
            </p:nvSpPr>
            <p:spPr>
              <a:xfrm rot="5400000">
                <a:off x="3370396" y="2892979"/>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67" name="Google Shape;1967;p46"/>
              <p:cNvSpPr/>
              <p:nvPr/>
            </p:nvSpPr>
            <p:spPr>
              <a:xfrm rot="5400000">
                <a:off x="3789181" y="2892946"/>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68" name="Google Shape;1968;p46"/>
              <p:cNvSpPr/>
              <p:nvPr/>
            </p:nvSpPr>
            <p:spPr>
              <a:xfrm rot="5400000">
                <a:off x="4210341" y="2892913"/>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69" name="Google Shape;1969;p46"/>
              <p:cNvSpPr/>
              <p:nvPr/>
            </p:nvSpPr>
            <p:spPr>
              <a:xfrm rot="5400000">
                <a:off x="4629126" y="2892880"/>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70" name="Google Shape;1970;p46"/>
              <p:cNvSpPr/>
              <p:nvPr/>
            </p:nvSpPr>
            <p:spPr>
              <a:xfrm rot="5400000">
                <a:off x="5051220" y="2892883"/>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sp>
          <p:nvSpPr>
            <p:cNvPr id="1971" name="Google Shape;1971;p46"/>
            <p:cNvSpPr/>
            <p:nvPr/>
          </p:nvSpPr>
          <p:spPr>
            <a:xfrm rot="10800000">
              <a:off x="3783404" y="5727429"/>
              <a:ext cx="56310" cy="553900"/>
            </a:xfrm>
            <a:custGeom>
              <a:rect b="b" l="l" r="r" t="t"/>
              <a:pathLst>
                <a:path extrusionOk="0" h="553900" w="56310">
                  <a:moveTo>
                    <a:pt x="28041" y="553900"/>
                  </a:moveTo>
                  <a:lnTo>
                    <a:pt x="0" y="553900"/>
                  </a:lnTo>
                  <a:lnTo>
                    <a:pt x="26629" y="0"/>
                  </a:lnTo>
                  <a:lnTo>
                    <a:pt x="56310" y="0"/>
                  </a:lnTo>
                  <a:lnTo>
                    <a:pt x="56310" y="4"/>
                  </a:lnTo>
                  <a:lnTo>
                    <a:pt x="54150" y="4"/>
                  </a:lnTo>
                  <a:lnTo>
                    <a:pt x="28041" y="553900"/>
                  </a:lnTo>
                  <a:close/>
                </a:path>
              </a:pathLst>
            </a:custGeom>
            <a:solidFill>
              <a:srgbClr val="FFFFFF"/>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grpSp>
      <p:sp>
        <p:nvSpPr>
          <p:cNvPr id="1972" name="Google Shape;1972;p46"/>
          <p:cNvSpPr/>
          <p:nvPr/>
        </p:nvSpPr>
        <p:spPr>
          <a:xfrm rot="10800000">
            <a:off x="6865985" y="9791184"/>
            <a:ext cx="530942" cy="329099"/>
          </a:xfrm>
          <a:custGeom>
            <a:rect b="b" l="l" r="r" t="t"/>
            <a:pathLst>
              <a:path extrusionOk="0" h="207132" w="334169">
                <a:moveTo>
                  <a:pt x="9958" y="0"/>
                </a:moveTo>
                <a:lnTo>
                  <a:pt x="49791" y="0"/>
                </a:lnTo>
                <a:lnTo>
                  <a:pt x="334169" y="0"/>
                </a:lnTo>
                <a:lnTo>
                  <a:pt x="334169" y="207132"/>
                </a:lnTo>
                <a:lnTo>
                  <a:pt x="49791" y="207132"/>
                </a:lnTo>
                <a:lnTo>
                  <a:pt x="0" y="207132"/>
                </a:lnTo>
                <a:lnTo>
                  <a:pt x="9958" y="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1973" name="Google Shape;1973;p46"/>
          <p:cNvSpPr txBox="1"/>
          <p:nvPr/>
        </p:nvSpPr>
        <p:spPr>
          <a:xfrm>
            <a:off x="7445364" y="10183547"/>
            <a:ext cx="971881" cy="4527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000000"/>
                </a:solidFill>
                <a:latin typeface="Calibri"/>
                <a:ea typeface="Calibri"/>
                <a:cs typeface="Calibri"/>
                <a:sym typeface="Calibri"/>
              </a:rPr>
              <a:t>Chip</a:t>
            </a:r>
            <a:endParaRPr b="1" sz="1000">
              <a:solidFill>
                <a:srgbClr val="000000"/>
              </a:solidFill>
              <a:latin typeface="Calibri"/>
              <a:ea typeface="Calibri"/>
              <a:cs typeface="Calibri"/>
              <a:sym typeface="Calibri"/>
            </a:endParaRPr>
          </a:p>
        </p:txBody>
      </p:sp>
      <p:sp>
        <p:nvSpPr>
          <p:cNvPr id="1974" name="Google Shape;1974;p46"/>
          <p:cNvSpPr txBox="1"/>
          <p:nvPr/>
        </p:nvSpPr>
        <p:spPr>
          <a:xfrm>
            <a:off x="6891911" y="8823240"/>
            <a:ext cx="427603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Oven (with temperature controller)</a:t>
            </a:r>
            <a:endParaRPr b="1" sz="2000">
              <a:solidFill>
                <a:srgbClr val="000000"/>
              </a:solidFill>
              <a:latin typeface="Calibri"/>
              <a:ea typeface="Calibri"/>
              <a:cs typeface="Calibri"/>
              <a:sym typeface="Calibri"/>
            </a:endParaRPr>
          </a:p>
        </p:txBody>
      </p:sp>
      <p:cxnSp>
        <p:nvCxnSpPr>
          <p:cNvPr id="1975" name="Google Shape;1975;p46"/>
          <p:cNvCxnSpPr/>
          <p:nvPr/>
        </p:nvCxnSpPr>
        <p:spPr>
          <a:xfrm>
            <a:off x="10526840" y="9986220"/>
            <a:ext cx="6375180" cy="0"/>
          </a:xfrm>
          <a:prstGeom prst="straightConnector1">
            <a:avLst/>
          </a:prstGeom>
          <a:noFill/>
          <a:ln cap="flat" cmpd="sng" w="76200">
            <a:solidFill>
              <a:srgbClr val="000000"/>
            </a:solidFill>
            <a:prstDash val="solid"/>
            <a:miter lim="800000"/>
            <a:headEnd len="sm" w="sm" type="none"/>
            <a:tailEnd len="sm" w="sm" type="none"/>
          </a:ln>
        </p:spPr>
      </p:cxnSp>
      <p:sp>
        <p:nvSpPr>
          <p:cNvPr id="1976" name="Google Shape;1976;p46"/>
          <p:cNvSpPr txBox="1"/>
          <p:nvPr/>
        </p:nvSpPr>
        <p:spPr>
          <a:xfrm>
            <a:off x="11101148" y="8671826"/>
            <a:ext cx="2081128"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Calibri"/>
                <a:ea typeface="Calibri"/>
                <a:cs typeface="Calibri"/>
                <a:sym typeface="Calibri"/>
              </a:rPr>
              <a:t>Objective lens</a:t>
            </a:r>
            <a:endParaRPr b="1" sz="2000">
              <a:solidFill>
                <a:srgbClr val="000000"/>
              </a:solidFill>
              <a:latin typeface="Calibri"/>
              <a:ea typeface="Calibri"/>
              <a:cs typeface="Calibri"/>
              <a:sym typeface="Calibri"/>
            </a:endParaRPr>
          </a:p>
        </p:txBody>
      </p:sp>
      <p:cxnSp>
        <p:nvCxnSpPr>
          <p:cNvPr id="1977" name="Google Shape;1977;p46"/>
          <p:cNvCxnSpPr/>
          <p:nvPr/>
        </p:nvCxnSpPr>
        <p:spPr>
          <a:xfrm>
            <a:off x="15106718" y="9986216"/>
            <a:ext cx="953791" cy="0"/>
          </a:xfrm>
          <a:prstGeom prst="straightConnector1">
            <a:avLst/>
          </a:prstGeom>
          <a:noFill/>
          <a:ln cap="flat" cmpd="sng" w="76200">
            <a:solidFill>
              <a:srgbClr val="000000"/>
            </a:solidFill>
            <a:prstDash val="solid"/>
            <a:miter lim="800000"/>
            <a:headEnd len="sm" w="sm" type="none"/>
            <a:tailEnd len="med" w="med" type="triangle"/>
          </a:ln>
        </p:spPr>
      </p:cxnSp>
      <p:sp>
        <p:nvSpPr>
          <p:cNvPr id="1978" name="Google Shape;1978;p46"/>
          <p:cNvSpPr txBox="1"/>
          <p:nvPr/>
        </p:nvSpPr>
        <p:spPr>
          <a:xfrm>
            <a:off x="13546942" y="8682790"/>
            <a:ext cx="215709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Calibri"/>
                <a:ea typeface="Calibri"/>
                <a:cs typeface="Calibri"/>
                <a:sym typeface="Calibri"/>
              </a:rPr>
              <a:t>Low pass filter</a:t>
            </a:r>
            <a:endParaRPr b="1" sz="2000">
              <a:solidFill>
                <a:srgbClr val="000000"/>
              </a:solidFill>
              <a:latin typeface="Calibri"/>
              <a:ea typeface="Calibri"/>
              <a:cs typeface="Calibri"/>
              <a:sym typeface="Calibri"/>
            </a:endParaRPr>
          </a:p>
        </p:txBody>
      </p:sp>
      <p:sp>
        <p:nvSpPr>
          <p:cNvPr id="1979" name="Google Shape;1979;p46"/>
          <p:cNvSpPr/>
          <p:nvPr/>
        </p:nvSpPr>
        <p:spPr>
          <a:xfrm>
            <a:off x="14421123" y="9383334"/>
            <a:ext cx="408732" cy="1197229"/>
          </a:xfrm>
          <a:prstGeom prst="rect">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1980" name="Google Shape;1980;p46"/>
          <p:cNvSpPr/>
          <p:nvPr/>
        </p:nvSpPr>
        <p:spPr>
          <a:xfrm>
            <a:off x="16939225" y="9675391"/>
            <a:ext cx="619845" cy="621649"/>
          </a:xfrm>
          <a:prstGeom prst="flowChartDelay">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1981" name="Google Shape;1981;p46"/>
          <p:cNvSpPr txBox="1"/>
          <p:nvPr/>
        </p:nvSpPr>
        <p:spPr>
          <a:xfrm>
            <a:off x="16239468" y="8887361"/>
            <a:ext cx="2019358"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Calibri"/>
                <a:ea typeface="Calibri"/>
                <a:cs typeface="Calibri"/>
                <a:sym typeface="Calibri"/>
              </a:rPr>
              <a:t>Power meter</a:t>
            </a:r>
            <a:endParaRPr b="1" sz="2000">
              <a:solidFill>
                <a:srgbClr val="000000"/>
              </a:solidFill>
              <a:latin typeface="Calibri"/>
              <a:ea typeface="Calibri"/>
              <a:cs typeface="Calibri"/>
              <a:sym typeface="Calibri"/>
            </a:endParaRPr>
          </a:p>
        </p:txBody>
      </p:sp>
      <p:sp>
        <p:nvSpPr>
          <p:cNvPr id="1982" name="Google Shape;1982;p46"/>
          <p:cNvSpPr/>
          <p:nvPr/>
        </p:nvSpPr>
        <p:spPr>
          <a:xfrm rot="5400000">
            <a:off x="11575503" y="9449521"/>
            <a:ext cx="1100780" cy="1037768"/>
          </a:xfrm>
          <a:prstGeom prst="snip2SameRect">
            <a:avLst>
              <a:gd fmla="val 16667" name="adj1"/>
              <a:gd fmla="val 0" name="adj2"/>
            </a:avLst>
          </a:prstGeom>
          <a:solidFill>
            <a:srgbClr val="757070"/>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1983" name="Google Shape;1983;p46"/>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1984" name="Google Shape;1984;p46"/>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1985" name="Google Shape;1985;p46"/>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1986" name="Google Shape;1986;p46"/>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1987" name="Google Shape;1987;p46"/>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1988" name="Google Shape;1988;p46"/>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1989" name="Google Shape;1989;p46"/>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1990" name="Google Shape;1990;p46"/>
          <p:cNvSpPr txBox="1"/>
          <p:nvPr/>
        </p:nvSpPr>
        <p:spPr>
          <a:xfrm>
            <a:off x="14968226" y="5019241"/>
            <a:ext cx="8615667"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The polarization of the input light is adjusted to 45</a:t>
            </a:r>
            <a:r>
              <a:rPr lang="en-US" sz="2800">
                <a:solidFill>
                  <a:srgbClr val="000000"/>
                </a:solidFill>
                <a:latin typeface="Calibri"/>
                <a:ea typeface="Calibri"/>
                <a:cs typeface="Calibri"/>
                <a:sym typeface="Calibri"/>
              </a:rPr>
              <a:t>° polarized, which gives idler (TM) and single (TE) waves</a:t>
            </a:r>
            <a:endParaRPr sz="2600">
              <a:solidFill>
                <a:srgbClr val="000000"/>
              </a:solidFill>
              <a:latin typeface="Calibri"/>
              <a:ea typeface="Calibri"/>
              <a:cs typeface="Calibri"/>
              <a:sym typeface="Calibri"/>
            </a:endParaRPr>
          </a:p>
        </p:txBody>
      </p:sp>
      <p:sp>
        <p:nvSpPr>
          <p:cNvPr id="1991" name="Google Shape;1991;p46"/>
          <p:cNvSpPr txBox="1"/>
          <p:nvPr/>
        </p:nvSpPr>
        <p:spPr>
          <a:xfrm>
            <a:off x="8126441" y="10959591"/>
            <a:ext cx="1512119"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Calibri"/>
                <a:ea typeface="Calibri"/>
                <a:cs typeface="Calibri"/>
                <a:sym typeface="Calibri"/>
              </a:rPr>
              <a:t>Chip 1 </a:t>
            </a:r>
            <a:endParaRPr b="1" sz="2000">
              <a:solidFill>
                <a:srgbClr val="000000"/>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5" name="Shape 1995"/>
        <p:cNvGrpSpPr/>
        <p:nvPr/>
      </p:nvGrpSpPr>
      <p:grpSpPr>
        <a:xfrm>
          <a:off x="0" y="0"/>
          <a:ext cx="0" cy="0"/>
          <a:chOff x="0" y="0"/>
          <a:chExt cx="0" cy="0"/>
        </a:xfrm>
      </p:grpSpPr>
      <p:sp>
        <p:nvSpPr>
          <p:cNvPr id="1996" name="Google Shape;1996;p47"/>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Tuning curves of SFG</a:t>
            </a:r>
            <a:endParaRPr b="1" sz="5400">
              <a:solidFill>
                <a:schemeClr val="dk2"/>
              </a:solidFill>
              <a:latin typeface="Montserrat"/>
              <a:ea typeface="Montserrat"/>
              <a:cs typeface="Montserrat"/>
              <a:sym typeface="Montserrat"/>
            </a:endParaRPr>
          </a:p>
        </p:txBody>
      </p:sp>
      <p:sp>
        <p:nvSpPr>
          <p:cNvPr id="1997" name="Google Shape;1997;p47"/>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1998" name="Google Shape;1998;p47"/>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99" name="Google Shape;1999;p47"/>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000" name="Google Shape;2000;p47"/>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001" name="Google Shape;2001;p47"/>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002" name="Google Shape;2002;p47"/>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003" name="Google Shape;2003;p47"/>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004" name="Google Shape;2004;p47"/>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005" name="Google Shape;2005;p47"/>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pic>
        <p:nvPicPr>
          <p:cNvPr id="2006" name="Google Shape;2006;p47"/>
          <p:cNvPicPr preferRelativeResize="0"/>
          <p:nvPr/>
        </p:nvPicPr>
        <p:blipFill rotWithShape="1">
          <a:blip r:embed="rId3">
            <a:alphaModFix/>
          </a:blip>
          <a:srcRect b="0" l="0" r="0" t="0"/>
          <a:stretch/>
        </p:blipFill>
        <p:spPr>
          <a:xfrm>
            <a:off x="12515225" y="5783372"/>
            <a:ext cx="8724200" cy="6543150"/>
          </a:xfrm>
          <a:prstGeom prst="rect">
            <a:avLst/>
          </a:prstGeom>
          <a:noFill/>
          <a:ln>
            <a:noFill/>
          </a:ln>
        </p:spPr>
      </p:pic>
      <p:pic>
        <p:nvPicPr>
          <p:cNvPr id="2007" name="Google Shape;2007;p47"/>
          <p:cNvPicPr preferRelativeResize="0"/>
          <p:nvPr/>
        </p:nvPicPr>
        <p:blipFill rotWithShape="1">
          <a:blip r:embed="rId4">
            <a:alphaModFix/>
          </a:blip>
          <a:srcRect b="0" l="0" r="0" t="0"/>
          <a:stretch/>
        </p:blipFill>
        <p:spPr>
          <a:xfrm>
            <a:off x="3271973" y="5783372"/>
            <a:ext cx="8724200" cy="6543150"/>
          </a:xfrm>
          <a:prstGeom prst="rect">
            <a:avLst/>
          </a:prstGeom>
          <a:noFill/>
          <a:ln>
            <a:noFill/>
          </a:ln>
        </p:spPr>
      </p:pic>
      <p:sp>
        <p:nvSpPr>
          <p:cNvPr id="2008" name="Google Shape;2008;p47"/>
          <p:cNvSpPr txBox="1"/>
          <p:nvPr/>
        </p:nvSpPr>
        <p:spPr>
          <a:xfrm>
            <a:off x="6345947" y="4155580"/>
            <a:ext cx="11819503"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The measured temperature tuning rate is ~ -0.2</a:t>
            </a:r>
            <a:r>
              <a:rPr lang="en-US" sz="2400">
                <a:solidFill>
                  <a:srgbClr val="000000"/>
                </a:solidFill>
                <a:latin typeface="Calibri"/>
                <a:ea typeface="Calibri"/>
                <a:cs typeface="Calibri"/>
                <a:sym typeface="Calibri"/>
              </a:rPr>
              <a:t> nm/°C. Since SFG is an reverse process of SPDC, the operating temperatures can be characterized by the measured tuning curves</a:t>
            </a:r>
            <a:endParaRPr sz="2600">
              <a:solidFill>
                <a:srgbClr val="000000"/>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2" name="Shape 2012"/>
        <p:cNvGrpSpPr/>
        <p:nvPr/>
      </p:nvGrpSpPr>
      <p:grpSpPr>
        <a:xfrm>
          <a:off x="0" y="0"/>
          <a:ext cx="0" cy="0"/>
          <a:chOff x="0" y="0"/>
          <a:chExt cx="0" cy="0"/>
        </a:xfrm>
      </p:grpSpPr>
      <p:sp>
        <p:nvSpPr>
          <p:cNvPr id="2013" name="Google Shape;2013;p48"/>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Joint spectrum</a:t>
            </a:r>
            <a:endParaRPr b="1" sz="5400">
              <a:solidFill>
                <a:schemeClr val="dk2"/>
              </a:solidFill>
              <a:latin typeface="Montserrat"/>
              <a:ea typeface="Montserrat"/>
              <a:cs typeface="Montserrat"/>
              <a:sym typeface="Montserrat"/>
            </a:endParaRPr>
          </a:p>
        </p:txBody>
      </p:sp>
      <p:sp>
        <p:nvSpPr>
          <p:cNvPr id="2014" name="Google Shape;2014;p48"/>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015" name="Google Shape;2015;p48"/>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16" name="Google Shape;2016;p48"/>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017" name="Google Shape;2017;p48"/>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018" name="Google Shape;2018;p48"/>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019" name="Google Shape;2019;p48"/>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020" name="Google Shape;2020;p48"/>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021" name="Google Shape;2021;p48"/>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022" name="Google Shape;2022;p48"/>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pic>
        <p:nvPicPr>
          <p:cNvPr id="2023" name="Google Shape;2023;p48"/>
          <p:cNvPicPr preferRelativeResize="0"/>
          <p:nvPr/>
        </p:nvPicPr>
        <p:blipFill rotWithShape="1">
          <a:blip r:embed="rId3">
            <a:alphaModFix/>
          </a:blip>
          <a:srcRect b="0" l="0" r="0" t="0"/>
          <a:stretch/>
        </p:blipFill>
        <p:spPr>
          <a:xfrm>
            <a:off x="831102" y="6030941"/>
            <a:ext cx="7200000" cy="5400000"/>
          </a:xfrm>
          <a:prstGeom prst="rect">
            <a:avLst/>
          </a:prstGeom>
          <a:noFill/>
          <a:ln>
            <a:noFill/>
          </a:ln>
        </p:spPr>
      </p:pic>
      <p:pic>
        <p:nvPicPr>
          <p:cNvPr id="2024" name="Google Shape;2024;p48"/>
          <p:cNvPicPr preferRelativeResize="0"/>
          <p:nvPr/>
        </p:nvPicPr>
        <p:blipFill rotWithShape="1">
          <a:blip r:embed="rId4">
            <a:alphaModFix/>
          </a:blip>
          <a:srcRect b="0" l="0" r="0" t="0"/>
          <a:stretch/>
        </p:blipFill>
        <p:spPr>
          <a:xfrm>
            <a:off x="8551095" y="6030941"/>
            <a:ext cx="7200000" cy="5400000"/>
          </a:xfrm>
          <a:prstGeom prst="rect">
            <a:avLst/>
          </a:prstGeom>
          <a:noFill/>
          <a:ln>
            <a:noFill/>
          </a:ln>
        </p:spPr>
      </p:pic>
      <p:cxnSp>
        <p:nvCxnSpPr>
          <p:cNvPr id="2025" name="Google Shape;2025;p48"/>
          <p:cNvCxnSpPr/>
          <p:nvPr/>
        </p:nvCxnSpPr>
        <p:spPr>
          <a:xfrm flipH="1" rot="10800000">
            <a:off x="1750694" y="6445519"/>
            <a:ext cx="5582652" cy="4360244"/>
          </a:xfrm>
          <a:prstGeom prst="straightConnector1">
            <a:avLst/>
          </a:prstGeom>
          <a:noFill/>
          <a:ln cap="flat" cmpd="sng" w="38100">
            <a:solidFill>
              <a:schemeClr val="lt1"/>
            </a:solidFill>
            <a:prstDash val="solid"/>
            <a:miter lim="800000"/>
            <a:headEnd len="sm" w="sm" type="none"/>
            <a:tailEnd len="sm" w="sm" type="none"/>
          </a:ln>
        </p:spPr>
      </p:cxnSp>
      <p:sp>
        <p:nvSpPr>
          <p:cNvPr id="2026" name="Google Shape;2026;p48"/>
          <p:cNvSpPr txBox="1"/>
          <p:nvPr/>
        </p:nvSpPr>
        <p:spPr>
          <a:xfrm>
            <a:off x="1071322" y="3648657"/>
            <a:ext cx="6828077"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Since we only have one tunable laser source, the measured data only represents the diagonal line of the phase matching diagram</a:t>
            </a:r>
            <a:endParaRPr/>
          </a:p>
        </p:txBody>
      </p:sp>
      <p:sp>
        <p:nvSpPr>
          <p:cNvPr id="2027" name="Google Shape;2027;p48"/>
          <p:cNvSpPr txBox="1"/>
          <p:nvPr/>
        </p:nvSpPr>
        <p:spPr>
          <a:xfrm>
            <a:off x="7397058" y="8194754"/>
            <a:ext cx="1398828"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5000">
                <a:solidFill>
                  <a:srgbClr val="000000"/>
                </a:solidFill>
                <a:latin typeface="Calibri"/>
                <a:ea typeface="Calibri"/>
                <a:cs typeface="Calibri"/>
                <a:sym typeface="Calibri"/>
              </a:rPr>
              <a:t>×</a:t>
            </a:r>
            <a:endParaRPr/>
          </a:p>
        </p:txBody>
      </p:sp>
      <p:sp>
        <p:nvSpPr>
          <p:cNvPr id="2028" name="Google Shape;2028;p48"/>
          <p:cNvSpPr txBox="1"/>
          <p:nvPr/>
        </p:nvSpPr>
        <p:spPr>
          <a:xfrm>
            <a:off x="15051681" y="8194754"/>
            <a:ext cx="1398828" cy="86177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5000">
                <a:solidFill>
                  <a:srgbClr val="000000"/>
                </a:solidFill>
                <a:latin typeface="Calibri"/>
                <a:ea typeface="Calibri"/>
                <a:cs typeface="Calibri"/>
                <a:sym typeface="Calibri"/>
              </a:rPr>
              <a:t>=</a:t>
            </a:r>
            <a:endParaRPr/>
          </a:p>
        </p:txBody>
      </p:sp>
      <p:sp>
        <p:nvSpPr>
          <p:cNvPr id="2029" name="Google Shape;2029;p48"/>
          <p:cNvSpPr txBox="1"/>
          <p:nvPr/>
        </p:nvSpPr>
        <p:spPr>
          <a:xfrm>
            <a:off x="9764908" y="3651838"/>
            <a:ext cx="12936779"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If two tunable laser sources are used, the phase matching diagram can be fully constructed, and we can use it to calculate the joint spectral intensity of the single photon source, which gives the correlation of photon pairs and the spectral purity</a:t>
            </a:r>
            <a:endParaRPr/>
          </a:p>
        </p:txBody>
      </p:sp>
      <p:pic>
        <p:nvPicPr>
          <p:cNvPr id="2030" name="Google Shape;2030;p48"/>
          <p:cNvPicPr preferRelativeResize="0"/>
          <p:nvPr/>
        </p:nvPicPr>
        <p:blipFill rotWithShape="1">
          <a:blip r:embed="rId5">
            <a:alphaModFix/>
          </a:blip>
          <a:srcRect b="0" l="0" r="0" t="0"/>
          <a:stretch/>
        </p:blipFill>
        <p:spPr>
          <a:xfrm>
            <a:off x="3854828" y="5474741"/>
            <a:ext cx="1374384" cy="360000"/>
          </a:xfrm>
          <a:prstGeom prst="rect">
            <a:avLst/>
          </a:prstGeom>
          <a:noFill/>
          <a:ln>
            <a:noFill/>
          </a:ln>
        </p:spPr>
      </p:pic>
      <p:pic>
        <p:nvPicPr>
          <p:cNvPr id="2031" name="Google Shape;2031;p48"/>
          <p:cNvPicPr preferRelativeResize="0"/>
          <p:nvPr/>
        </p:nvPicPr>
        <p:blipFill rotWithShape="1">
          <a:blip r:embed="rId6">
            <a:alphaModFix/>
          </a:blip>
          <a:srcRect b="0" l="0" r="0" t="0"/>
          <a:stretch/>
        </p:blipFill>
        <p:spPr>
          <a:xfrm>
            <a:off x="11468619" y="5474741"/>
            <a:ext cx="1360196" cy="360000"/>
          </a:xfrm>
          <a:prstGeom prst="rect">
            <a:avLst/>
          </a:prstGeom>
          <a:noFill/>
          <a:ln>
            <a:noFill/>
          </a:ln>
        </p:spPr>
      </p:pic>
      <p:pic>
        <p:nvPicPr>
          <p:cNvPr id="2032" name="Google Shape;2032;p48"/>
          <p:cNvPicPr preferRelativeResize="0"/>
          <p:nvPr/>
        </p:nvPicPr>
        <p:blipFill rotWithShape="1">
          <a:blip r:embed="rId7">
            <a:alphaModFix/>
          </a:blip>
          <a:srcRect b="0" l="0" r="0" t="0"/>
          <a:stretch/>
        </p:blipFill>
        <p:spPr>
          <a:xfrm>
            <a:off x="17541729" y="5474741"/>
            <a:ext cx="4658718" cy="360000"/>
          </a:xfrm>
          <a:prstGeom prst="rect">
            <a:avLst/>
          </a:prstGeom>
          <a:noFill/>
          <a:ln>
            <a:noFill/>
          </a:ln>
        </p:spPr>
      </p:pic>
      <p:pic>
        <p:nvPicPr>
          <p:cNvPr id="2033" name="Google Shape;2033;p48"/>
          <p:cNvPicPr preferRelativeResize="0"/>
          <p:nvPr/>
        </p:nvPicPr>
        <p:blipFill rotWithShape="1">
          <a:blip r:embed="rId8">
            <a:alphaModFix/>
          </a:blip>
          <a:srcRect b="0" l="0" r="0" t="0"/>
          <a:stretch/>
        </p:blipFill>
        <p:spPr>
          <a:xfrm>
            <a:off x="16271088" y="6030941"/>
            <a:ext cx="7200000" cy="5400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37" name="Shape 2037"/>
        <p:cNvGrpSpPr/>
        <p:nvPr/>
      </p:nvGrpSpPr>
      <p:grpSpPr>
        <a:xfrm>
          <a:off x="0" y="0"/>
          <a:ext cx="0" cy="0"/>
          <a:chOff x="0" y="0"/>
          <a:chExt cx="0" cy="0"/>
        </a:xfrm>
      </p:grpSpPr>
      <p:sp>
        <p:nvSpPr>
          <p:cNvPr id="2038" name="Google Shape;2038;p49"/>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SFG power dependence</a:t>
            </a:r>
            <a:endParaRPr b="1" sz="5400">
              <a:solidFill>
                <a:schemeClr val="dk2"/>
              </a:solidFill>
              <a:latin typeface="Montserrat"/>
              <a:ea typeface="Montserrat"/>
              <a:cs typeface="Montserrat"/>
              <a:sym typeface="Montserrat"/>
            </a:endParaRPr>
          </a:p>
        </p:txBody>
      </p:sp>
      <p:sp>
        <p:nvSpPr>
          <p:cNvPr id="2039" name="Google Shape;2039;p49"/>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040" name="Google Shape;2040;p49"/>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41" name="Google Shape;2041;p49"/>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042" name="Google Shape;2042;p49"/>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043" name="Google Shape;2043;p49"/>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044" name="Google Shape;2044;p49"/>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045" name="Google Shape;2045;p49"/>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046" name="Google Shape;2046;p49"/>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047" name="Google Shape;2047;p49"/>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pic>
        <p:nvPicPr>
          <p:cNvPr id="2048" name="Google Shape;2048;p49"/>
          <p:cNvPicPr preferRelativeResize="0"/>
          <p:nvPr/>
        </p:nvPicPr>
        <p:blipFill rotWithShape="1">
          <a:blip r:embed="rId3">
            <a:alphaModFix/>
          </a:blip>
          <a:srcRect b="0" l="0" r="0" t="0"/>
          <a:stretch/>
        </p:blipFill>
        <p:spPr>
          <a:xfrm>
            <a:off x="6908823" y="4711401"/>
            <a:ext cx="10560001" cy="7920000"/>
          </a:xfrm>
          <a:prstGeom prst="rect">
            <a:avLst/>
          </a:prstGeom>
          <a:noFill/>
          <a:ln>
            <a:noFill/>
          </a:ln>
        </p:spPr>
      </p:pic>
      <p:pic>
        <p:nvPicPr>
          <p:cNvPr id="2049" name="Google Shape;2049;p49"/>
          <p:cNvPicPr preferRelativeResize="0"/>
          <p:nvPr/>
        </p:nvPicPr>
        <p:blipFill rotWithShape="1">
          <a:blip r:embed="rId4">
            <a:alphaModFix/>
          </a:blip>
          <a:srcRect b="0" l="0" r="0" t="0"/>
          <a:stretch/>
        </p:blipFill>
        <p:spPr>
          <a:xfrm>
            <a:off x="8603081" y="5908257"/>
            <a:ext cx="7200000" cy="707606"/>
          </a:xfrm>
          <a:prstGeom prst="rect">
            <a:avLst/>
          </a:prstGeom>
          <a:noFill/>
          <a:ln>
            <a:noFill/>
          </a:ln>
        </p:spPr>
      </p:pic>
      <p:sp>
        <p:nvSpPr>
          <p:cNvPr id="2050" name="Google Shape;2050;p49"/>
          <p:cNvSpPr txBox="1"/>
          <p:nvPr/>
        </p:nvSpPr>
        <p:spPr>
          <a:xfrm>
            <a:off x="8019951" y="3818849"/>
            <a:ext cx="8471495"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Since the conversion is fairly weak, the output SFG power shows a clear quadratic dependency on the input power</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4" name="Shape 2054"/>
        <p:cNvGrpSpPr/>
        <p:nvPr/>
      </p:nvGrpSpPr>
      <p:grpSpPr>
        <a:xfrm>
          <a:off x="0" y="0"/>
          <a:ext cx="0" cy="0"/>
          <a:chOff x="0" y="0"/>
          <a:chExt cx="0" cy="0"/>
        </a:xfrm>
      </p:grpSpPr>
      <p:sp>
        <p:nvSpPr>
          <p:cNvPr id="2055" name="Google Shape;2055;p50"/>
          <p:cNvSpPr txBox="1"/>
          <p:nvPr/>
        </p:nvSpPr>
        <p:spPr>
          <a:xfrm>
            <a:off x="3949452" y="1483499"/>
            <a:ext cx="16478743"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Experimental setup for ER/PER measurement</a:t>
            </a:r>
            <a:endParaRPr/>
          </a:p>
        </p:txBody>
      </p:sp>
      <p:sp>
        <p:nvSpPr>
          <p:cNvPr id="2056" name="Google Shape;2056;p50"/>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057" name="Google Shape;2057;p50"/>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2058" name="Google Shape;2058;p50"/>
          <p:cNvCxnSpPr/>
          <p:nvPr/>
        </p:nvCxnSpPr>
        <p:spPr>
          <a:xfrm>
            <a:off x="6284564" y="9209261"/>
            <a:ext cx="1733449" cy="0"/>
          </a:xfrm>
          <a:prstGeom prst="straightConnector1">
            <a:avLst/>
          </a:prstGeom>
          <a:noFill/>
          <a:ln cap="flat" cmpd="sng" w="76200">
            <a:solidFill>
              <a:srgbClr val="FFC000"/>
            </a:solidFill>
            <a:prstDash val="solid"/>
            <a:miter lim="800000"/>
            <a:headEnd len="sm" w="sm" type="none"/>
            <a:tailEnd len="sm" w="sm" type="none"/>
          </a:ln>
        </p:spPr>
      </p:cxnSp>
      <p:sp>
        <p:nvSpPr>
          <p:cNvPr id="2059" name="Google Shape;2059;p50"/>
          <p:cNvSpPr txBox="1"/>
          <p:nvPr/>
        </p:nvSpPr>
        <p:spPr>
          <a:xfrm>
            <a:off x="5128050" y="9421089"/>
            <a:ext cx="212952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Carrier block</a:t>
            </a:r>
            <a:endParaRPr b="1" sz="2000">
              <a:solidFill>
                <a:srgbClr val="000000"/>
              </a:solidFill>
              <a:latin typeface="Calibri"/>
              <a:ea typeface="Calibri"/>
              <a:cs typeface="Calibri"/>
              <a:sym typeface="Calibri"/>
            </a:endParaRPr>
          </a:p>
        </p:txBody>
      </p:sp>
      <p:sp>
        <p:nvSpPr>
          <p:cNvPr id="2060" name="Google Shape;2060;p50"/>
          <p:cNvSpPr txBox="1"/>
          <p:nvPr/>
        </p:nvSpPr>
        <p:spPr>
          <a:xfrm>
            <a:off x="12697450" y="8148692"/>
            <a:ext cx="201030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Calibri"/>
                <a:ea typeface="Calibri"/>
                <a:cs typeface="Calibri"/>
                <a:sym typeface="Calibri"/>
              </a:rPr>
              <a:t>Objective lens</a:t>
            </a:r>
            <a:endParaRPr b="1" sz="2000">
              <a:solidFill>
                <a:srgbClr val="000000"/>
              </a:solidFill>
              <a:latin typeface="Calibri"/>
              <a:ea typeface="Calibri"/>
              <a:cs typeface="Calibri"/>
              <a:sym typeface="Calibri"/>
            </a:endParaRPr>
          </a:p>
        </p:txBody>
      </p:sp>
      <p:cxnSp>
        <p:nvCxnSpPr>
          <p:cNvPr id="2061" name="Google Shape;2061;p50"/>
          <p:cNvCxnSpPr/>
          <p:nvPr/>
        </p:nvCxnSpPr>
        <p:spPr>
          <a:xfrm>
            <a:off x="10716187" y="5646706"/>
            <a:ext cx="5484407" cy="0"/>
          </a:xfrm>
          <a:prstGeom prst="straightConnector1">
            <a:avLst/>
          </a:prstGeom>
          <a:noFill/>
          <a:ln cap="flat" cmpd="sng" w="76200">
            <a:solidFill>
              <a:srgbClr val="FFC000"/>
            </a:solidFill>
            <a:prstDash val="solid"/>
            <a:miter lim="800000"/>
            <a:headEnd len="sm" w="sm" type="none"/>
            <a:tailEnd len="med" w="med" type="triangle"/>
          </a:ln>
        </p:spPr>
      </p:cxnSp>
      <p:cxnSp>
        <p:nvCxnSpPr>
          <p:cNvPr id="2062" name="Google Shape;2062;p50"/>
          <p:cNvCxnSpPr/>
          <p:nvPr/>
        </p:nvCxnSpPr>
        <p:spPr>
          <a:xfrm>
            <a:off x="14203674" y="5646291"/>
            <a:ext cx="2185749" cy="0"/>
          </a:xfrm>
          <a:prstGeom prst="straightConnector1">
            <a:avLst/>
          </a:prstGeom>
          <a:noFill/>
          <a:ln cap="flat" cmpd="sng" w="76200">
            <a:solidFill>
              <a:srgbClr val="FFC000"/>
            </a:solidFill>
            <a:prstDash val="solid"/>
            <a:miter lim="800000"/>
            <a:headEnd len="sm" w="sm" type="none"/>
            <a:tailEnd len="sm" w="sm" type="none"/>
          </a:ln>
        </p:spPr>
      </p:cxnSp>
      <p:cxnSp>
        <p:nvCxnSpPr>
          <p:cNvPr id="2063" name="Google Shape;2063;p50"/>
          <p:cNvCxnSpPr/>
          <p:nvPr/>
        </p:nvCxnSpPr>
        <p:spPr>
          <a:xfrm>
            <a:off x="6442112" y="7028883"/>
            <a:ext cx="8526115" cy="0"/>
          </a:xfrm>
          <a:prstGeom prst="straightConnector1">
            <a:avLst/>
          </a:prstGeom>
          <a:noFill/>
          <a:ln cap="flat" cmpd="sng" w="76200">
            <a:solidFill>
              <a:srgbClr val="FFC000"/>
            </a:solidFill>
            <a:prstDash val="solid"/>
            <a:miter lim="800000"/>
            <a:headEnd len="sm" w="sm" type="none"/>
            <a:tailEnd len="sm" w="sm" type="none"/>
          </a:ln>
        </p:spPr>
      </p:cxnSp>
      <p:sp>
        <p:nvSpPr>
          <p:cNvPr id="2064" name="Google Shape;2064;p50"/>
          <p:cNvSpPr/>
          <p:nvPr/>
        </p:nvSpPr>
        <p:spPr>
          <a:xfrm>
            <a:off x="15908434" y="5646291"/>
            <a:ext cx="959857" cy="1151829"/>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cxnSp>
        <p:nvCxnSpPr>
          <p:cNvPr id="2065" name="Google Shape;2065;p50"/>
          <p:cNvCxnSpPr/>
          <p:nvPr/>
        </p:nvCxnSpPr>
        <p:spPr>
          <a:xfrm>
            <a:off x="14951106" y="7028885"/>
            <a:ext cx="1438318" cy="0"/>
          </a:xfrm>
          <a:prstGeom prst="straightConnector1">
            <a:avLst/>
          </a:prstGeom>
          <a:noFill/>
          <a:ln cap="flat" cmpd="sng" w="76200">
            <a:solidFill>
              <a:srgbClr val="FFC000"/>
            </a:solidFill>
            <a:prstDash val="solid"/>
            <a:miter lim="800000"/>
            <a:headEnd len="sm" w="sm" type="none"/>
            <a:tailEnd len="sm" w="sm" type="none"/>
          </a:ln>
        </p:spPr>
      </p:cxnSp>
      <p:sp>
        <p:nvSpPr>
          <p:cNvPr id="2066" name="Google Shape;2066;p50"/>
          <p:cNvSpPr txBox="1"/>
          <p:nvPr/>
        </p:nvSpPr>
        <p:spPr>
          <a:xfrm>
            <a:off x="11167946" y="3802634"/>
            <a:ext cx="353980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Polarization controller (PC)</a:t>
            </a:r>
            <a:endParaRPr b="1" sz="2000">
              <a:solidFill>
                <a:srgbClr val="000000"/>
              </a:solidFill>
              <a:latin typeface="Calibri"/>
              <a:ea typeface="Calibri"/>
              <a:cs typeface="Calibri"/>
              <a:sym typeface="Calibri"/>
            </a:endParaRPr>
          </a:p>
        </p:txBody>
      </p:sp>
      <p:sp>
        <p:nvSpPr>
          <p:cNvPr id="2067" name="Google Shape;2067;p50"/>
          <p:cNvSpPr/>
          <p:nvPr/>
        </p:nvSpPr>
        <p:spPr>
          <a:xfrm rot="10800000">
            <a:off x="5592308" y="7497183"/>
            <a:ext cx="1426731" cy="1712078"/>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sp>
        <p:nvSpPr>
          <p:cNvPr id="2068" name="Google Shape;2068;p50"/>
          <p:cNvSpPr/>
          <p:nvPr/>
        </p:nvSpPr>
        <p:spPr>
          <a:xfrm rot="-5400000">
            <a:off x="5734982" y="6885257"/>
            <a:ext cx="1426731" cy="1712076"/>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cxnSp>
        <p:nvCxnSpPr>
          <p:cNvPr id="2069" name="Google Shape;2069;p50"/>
          <p:cNvCxnSpPr/>
          <p:nvPr/>
        </p:nvCxnSpPr>
        <p:spPr>
          <a:xfrm flipH="1" rot="10800000">
            <a:off x="9291880" y="5646295"/>
            <a:ext cx="1477612" cy="2"/>
          </a:xfrm>
          <a:prstGeom prst="straightConnector1">
            <a:avLst/>
          </a:prstGeom>
          <a:noFill/>
          <a:ln cap="flat" cmpd="sng" w="76200">
            <a:solidFill>
              <a:srgbClr val="FFC000"/>
            </a:solidFill>
            <a:prstDash val="solid"/>
            <a:miter lim="800000"/>
            <a:headEnd len="sm" w="sm" type="none"/>
            <a:tailEnd len="sm" w="sm" type="none"/>
          </a:ln>
        </p:spPr>
      </p:cxnSp>
      <p:cxnSp>
        <p:nvCxnSpPr>
          <p:cNvPr id="2070" name="Google Shape;2070;p50"/>
          <p:cNvCxnSpPr>
            <a:endCxn id="2067" idx="2"/>
          </p:cNvCxnSpPr>
          <p:nvPr/>
        </p:nvCxnSpPr>
        <p:spPr>
          <a:xfrm>
            <a:off x="5592308" y="7732522"/>
            <a:ext cx="0" cy="620700"/>
          </a:xfrm>
          <a:prstGeom prst="straightConnector1">
            <a:avLst/>
          </a:prstGeom>
          <a:noFill/>
          <a:ln cap="flat" cmpd="sng" w="76200">
            <a:solidFill>
              <a:srgbClr val="FFC000"/>
            </a:solidFill>
            <a:prstDash val="solid"/>
            <a:miter lim="800000"/>
            <a:headEnd len="sm" w="sm" type="none"/>
            <a:tailEnd len="sm" w="sm" type="none"/>
          </a:ln>
        </p:spPr>
      </p:cxnSp>
      <p:cxnSp>
        <p:nvCxnSpPr>
          <p:cNvPr id="2071" name="Google Shape;2071;p50"/>
          <p:cNvCxnSpPr/>
          <p:nvPr/>
        </p:nvCxnSpPr>
        <p:spPr>
          <a:xfrm>
            <a:off x="10147400" y="7027929"/>
            <a:ext cx="4245433" cy="0"/>
          </a:xfrm>
          <a:prstGeom prst="straightConnector1">
            <a:avLst/>
          </a:prstGeom>
          <a:noFill/>
          <a:ln cap="flat" cmpd="sng" w="76200">
            <a:solidFill>
              <a:srgbClr val="FFC000"/>
            </a:solidFill>
            <a:prstDash val="solid"/>
            <a:miter lim="800000"/>
            <a:headEnd len="med" w="med" type="triangle"/>
            <a:tailEnd len="sm" w="sm" type="none"/>
          </a:ln>
        </p:spPr>
      </p:cxnSp>
      <p:cxnSp>
        <p:nvCxnSpPr>
          <p:cNvPr id="2072" name="Google Shape;2072;p50"/>
          <p:cNvCxnSpPr/>
          <p:nvPr/>
        </p:nvCxnSpPr>
        <p:spPr>
          <a:xfrm>
            <a:off x="16868291" y="6177512"/>
            <a:ext cx="0" cy="288382"/>
          </a:xfrm>
          <a:prstGeom prst="straightConnector1">
            <a:avLst/>
          </a:prstGeom>
          <a:noFill/>
          <a:ln cap="flat" cmpd="sng" w="76200">
            <a:solidFill>
              <a:srgbClr val="FFC000"/>
            </a:solidFill>
            <a:prstDash val="solid"/>
            <a:miter lim="800000"/>
            <a:headEnd len="sm" w="sm" type="none"/>
            <a:tailEnd len="sm" w="sm" type="none"/>
          </a:ln>
        </p:spPr>
      </p:cxnSp>
      <p:sp>
        <p:nvSpPr>
          <p:cNvPr id="2073" name="Google Shape;2073;p50"/>
          <p:cNvSpPr/>
          <p:nvPr/>
        </p:nvSpPr>
        <p:spPr>
          <a:xfrm rot="10800000">
            <a:off x="4892847" y="11141537"/>
            <a:ext cx="2904822" cy="1143965"/>
          </a:xfrm>
          <a:custGeom>
            <a:rect b="b" l="l" r="r" t="t"/>
            <a:pathLst>
              <a:path extrusionOk="0" h="553901" w="1406498">
                <a:moveTo>
                  <a:pt x="130547" y="553901"/>
                </a:moveTo>
                <a:lnTo>
                  <a:pt x="0" y="553901"/>
                </a:lnTo>
                <a:lnTo>
                  <a:pt x="0" y="553897"/>
                </a:lnTo>
                <a:lnTo>
                  <a:pt x="105109" y="553897"/>
                </a:lnTo>
                <a:lnTo>
                  <a:pt x="105109" y="553896"/>
                </a:lnTo>
                <a:lnTo>
                  <a:pt x="1406496" y="553896"/>
                </a:lnTo>
                <a:lnTo>
                  <a:pt x="1406496" y="0"/>
                </a:lnTo>
                <a:lnTo>
                  <a:pt x="1406498" y="0"/>
                </a:lnTo>
                <a:lnTo>
                  <a:pt x="1406498" y="553900"/>
                </a:lnTo>
                <a:lnTo>
                  <a:pt x="130547" y="553900"/>
                </a:lnTo>
                <a:lnTo>
                  <a:pt x="130547" y="55390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74" name="Google Shape;2074;p50"/>
          <p:cNvSpPr/>
          <p:nvPr/>
        </p:nvSpPr>
        <p:spPr>
          <a:xfrm>
            <a:off x="6080108" y="5058486"/>
            <a:ext cx="3740295" cy="1100042"/>
          </a:xfrm>
          <a:prstGeom prst="rect">
            <a:avLst/>
          </a:prstGeom>
          <a:solidFill>
            <a:srgbClr val="545653"/>
          </a:solid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75" name="Google Shape;2075;p50"/>
          <p:cNvSpPr txBox="1"/>
          <p:nvPr/>
        </p:nvSpPr>
        <p:spPr>
          <a:xfrm>
            <a:off x="6564906" y="5204274"/>
            <a:ext cx="265738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E7E6E6"/>
                </a:solidFill>
                <a:latin typeface="Calibri"/>
                <a:ea typeface="Calibri"/>
                <a:cs typeface="Calibri"/>
                <a:sym typeface="Calibri"/>
              </a:rPr>
              <a:t>Tunable laser source (1500 ~1600 nm)</a:t>
            </a:r>
            <a:endParaRPr b="1" sz="2000">
              <a:solidFill>
                <a:srgbClr val="E7E6E6"/>
              </a:solidFill>
              <a:latin typeface="Calibri"/>
              <a:ea typeface="Calibri"/>
              <a:cs typeface="Calibri"/>
              <a:sym typeface="Calibri"/>
            </a:endParaRPr>
          </a:p>
        </p:txBody>
      </p:sp>
      <p:sp>
        <p:nvSpPr>
          <p:cNvPr id="2076" name="Google Shape;2076;p50"/>
          <p:cNvSpPr txBox="1"/>
          <p:nvPr/>
        </p:nvSpPr>
        <p:spPr>
          <a:xfrm>
            <a:off x="10646818" y="6360308"/>
            <a:ext cx="133548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SM fiber</a:t>
            </a:r>
            <a:endParaRPr b="1" sz="2000">
              <a:solidFill>
                <a:srgbClr val="000000"/>
              </a:solidFill>
              <a:latin typeface="Calibri"/>
              <a:ea typeface="Calibri"/>
              <a:cs typeface="Calibri"/>
              <a:sym typeface="Calibri"/>
            </a:endParaRPr>
          </a:p>
        </p:txBody>
      </p:sp>
      <p:sp>
        <p:nvSpPr>
          <p:cNvPr id="2077" name="Google Shape;2077;p50"/>
          <p:cNvSpPr/>
          <p:nvPr/>
        </p:nvSpPr>
        <p:spPr>
          <a:xfrm>
            <a:off x="13500419" y="4545057"/>
            <a:ext cx="1101645" cy="1100042"/>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78" name="Google Shape;2078;p50"/>
          <p:cNvSpPr/>
          <p:nvPr/>
        </p:nvSpPr>
        <p:spPr>
          <a:xfrm>
            <a:off x="12192925" y="4543539"/>
            <a:ext cx="1101645" cy="1100042"/>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79" name="Google Shape;2079;p50"/>
          <p:cNvSpPr/>
          <p:nvPr/>
        </p:nvSpPr>
        <p:spPr>
          <a:xfrm>
            <a:off x="10880656" y="4544890"/>
            <a:ext cx="1101645" cy="1100042"/>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80" name="Google Shape;2080;p50"/>
          <p:cNvSpPr/>
          <p:nvPr/>
        </p:nvSpPr>
        <p:spPr>
          <a:xfrm flipH="1" rot="10800000">
            <a:off x="15908434" y="5877473"/>
            <a:ext cx="959857" cy="1151829"/>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sp>
        <p:nvSpPr>
          <p:cNvPr id="2081" name="Google Shape;2081;p50"/>
          <p:cNvSpPr/>
          <p:nvPr/>
        </p:nvSpPr>
        <p:spPr>
          <a:xfrm>
            <a:off x="13583970" y="4626469"/>
            <a:ext cx="936814" cy="936814"/>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82" name="Google Shape;2082;p50"/>
          <p:cNvSpPr/>
          <p:nvPr/>
        </p:nvSpPr>
        <p:spPr>
          <a:xfrm>
            <a:off x="12276476" y="4626469"/>
            <a:ext cx="936814" cy="936814"/>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83" name="Google Shape;2083;p50"/>
          <p:cNvSpPr/>
          <p:nvPr/>
        </p:nvSpPr>
        <p:spPr>
          <a:xfrm>
            <a:off x="10964207" y="4628596"/>
            <a:ext cx="936814" cy="936814"/>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84" name="Google Shape;2084;p50"/>
          <p:cNvSpPr txBox="1"/>
          <p:nvPr/>
        </p:nvSpPr>
        <p:spPr>
          <a:xfrm>
            <a:off x="15864008" y="11344254"/>
            <a:ext cx="1949712"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Calibri"/>
                <a:ea typeface="Calibri"/>
                <a:cs typeface="Calibri"/>
                <a:sym typeface="Calibri"/>
              </a:rPr>
              <a:t>Knife edge</a:t>
            </a:r>
            <a:endParaRPr b="1" sz="2000">
              <a:solidFill>
                <a:srgbClr val="000000"/>
              </a:solidFill>
              <a:latin typeface="Calibri"/>
              <a:ea typeface="Calibri"/>
              <a:cs typeface="Calibri"/>
              <a:sym typeface="Calibri"/>
            </a:endParaRPr>
          </a:p>
        </p:txBody>
      </p:sp>
      <p:sp>
        <p:nvSpPr>
          <p:cNvPr id="2085" name="Google Shape;2085;p50"/>
          <p:cNvSpPr/>
          <p:nvPr/>
        </p:nvSpPr>
        <p:spPr>
          <a:xfrm>
            <a:off x="16332615" y="10702393"/>
            <a:ext cx="1012499" cy="534228"/>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86" name="Google Shape;2086;p50"/>
          <p:cNvSpPr/>
          <p:nvPr/>
        </p:nvSpPr>
        <p:spPr>
          <a:xfrm>
            <a:off x="16785103" y="9246969"/>
            <a:ext cx="94423" cy="1450526"/>
          </a:xfrm>
          <a:custGeom>
            <a:rect b="b" l="l" r="r" t="t"/>
            <a:pathLst>
              <a:path extrusionOk="0" h="530028" w="50400">
                <a:moveTo>
                  <a:pt x="878" y="0"/>
                </a:moveTo>
                <a:lnTo>
                  <a:pt x="49705" y="176821"/>
                </a:lnTo>
                <a:lnTo>
                  <a:pt x="50400" y="176821"/>
                </a:lnTo>
                <a:lnTo>
                  <a:pt x="50400" y="179337"/>
                </a:lnTo>
                <a:lnTo>
                  <a:pt x="50400" y="530028"/>
                </a:lnTo>
                <a:lnTo>
                  <a:pt x="0" y="530028"/>
                </a:lnTo>
                <a:lnTo>
                  <a:pt x="0" y="176821"/>
                </a:lnTo>
                <a:lnTo>
                  <a:pt x="878" y="176821"/>
                </a:lnTo>
                <a:close/>
              </a:path>
            </a:pathLst>
          </a:custGeom>
          <a:solidFill>
            <a:srgbClr val="E8E8E8"/>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87" name="Google Shape;2087;p50"/>
          <p:cNvSpPr/>
          <p:nvPr/>
        </p:nvSpPr>
        <p:spPr>
          <a:xfrm>
            <a:off x="17521938" y="10337734"/>
            <a:ext cx="476800" cy="952703"/>
          </a:xfrm>
          <a:prstGeom prst="up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cxnSp>
        <p:nvCxnSpPr>
          <p:cNvPr id="2088" name="Google Shape;2088;p50"/>
          <p:cNvCxnSpPr/>
          <p:nvPr/>
        </p:nvCxnSpPr>
        <p:spPr>
          <a:xfrm>
            <a:off x="10357267" y="9032910"/>
            <a:ext cx="6314300" cy="449886"/>
          </a:xfrm>
          <a:prstGeom prst="straightConnector1">
            <a:avLst/>
          </a:prstGeom>
          <a:noFill/>
          <a:ln cap="flat" cmpd="sng" w="19050">
            <a:solidFill>
              <a:srgbClr val="1E91CA"/>
            </a:solidFill>
            <a:prstDash val="solid"/>
            <a:miter lim="800000"/>
            <a:headEnd len="sm" w="sm" type="none"/>
            <a:tailEnd len="med" w="med" type="triangle"/>
          </a:ln>
        </p:spPr>
      </p:cxnSp>
      <p:cxnSp>
        <p:nvCxnSpPr>
          <p:cNvPr id="2089" name="Google Shape;2089;p50"/>
          <p:cNvCxnSpPr/>
          <p:nvPr/>
        </p:nvCxnSpPr>
        <p:spPr>
          <a:xfrm flipH="1" rot="10800000">
            <a:off x="10355790" y="8764842"/>
            <a:ext cx="6429313" cy="1012177"/>
          </a:xfrm>
          <a:prstGeom prst="straightConnector1">
            <a:avLst/>
          </a:prstGeom>
          <a:noFill/>
          <a:ln cap="flat" cmpd="sng" w="19050">
            <a:solidFill>
              <a:srgbClr val="0E9553"/>
            </a:solidFill>
            <a:prstDash val="solid"/>
            <a:miter lim="800000"/>
            <a:headEnd len="sm" w="sm" type="none"/>
            <a:tailEnd len="med" w="med" type="triangle"/>
          </a:ln>
        </p:spPr>
      </p:cxnSp>
      <p:sp>
        <p:nvSpPr>
          <p:cNvPr id="2090" name="Google Shape;2090;p50"/>
          <p:cNvSpPr/>
          <p:nvPr/>
        </p:nvSpPr>
        <p:spPr>
          <a:xfrm rot="5400000">
            <a:off x="13191188" y="8787155"/>
            <a:ext cx="1027251" cy="968448"/>
          </a:xfrm>
          <a:prstGeom prst="snip2SameRect">
            <a:avLst>
              <a:gd fmla="val 16667" name="adj1"/>
              <a:gd fmla="val 0" name="adj2"/>
            </a:avLst>
          </a:prstGeom>
          <a:solidFill>
            <a:srgbClr val="757070"/>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91" name="Google Shape;2091;p50"/>
          <p:cNvSpPr txBox="1"/>
          <p:nvPr/>
        </p:nvSpPr>
        <p:spPr>
          <a:xfrm>
            <a:off x="14889661" y="8430501"/>
            <a:ext cx="152347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TE mode</a:t>
            </a:r>
            <a:endParaRPr b="1" sz="2000">
              <a:solidFill>
                <a:srgbClr val="000000"/>
              </a:solidFill>
              <a:latin typeface="Calibri"/>
              <a:ea typeface="Calibri"/>
              <a:cs typeface="Calibri"/>
              <a:sym typeface="Calibri"/>
            </a:endParaRPr>
          </a:p>
        </p:txBody>
      </p:sp>
      <p:sp>
        <p:nvSpPr>
          <p:cNvPr id="2092" name="Google Shape;2092;p50"/>
          <p:cNvSpPr/>
          <p:nvPr/>
        </p:nvSpPr>
        <p:spPr>
          <a:xfrm>
            <a:off x="16927654" y="8422347"/>
            <a:ext cx="578442" cy="580125"/>
          </a:xfrm>
          <a:prstGeom prst="flowChartDelay">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93" name="Google Shape;2093;p50"/>
          <p:cNvSpPr txBox="1"/>
          <p:nvPr/>
        </p:nvSpPr>
        <p:spPr>
          <a:xfrm>
            <a:off x="17661417" y="8512354"/>
            <a:ext cx="228153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Power meter</a:t>
            </a:r>
            <a:endParaRPr b="1" sz="2000">
              <a:solidFill>
                <a:srgbClr val="000000"/>
              </a:solidFill>
              <a:latin typeface="Calibri"/>
              <a:ea typeface="Calibri"/>
              <a:cs typeface="Calibri"/>
              <a:sym typeface="Calibri"/>
            </a:endParaRPr>
          </a:p>
        </p:txBody>
      </p:sp>
      <p:sp>
        <p:nvSpPr>
          <p:cNvPr id="2094" name="Google Shape;2094;p50"/>
          <p:cNvSpPr/>
          <p:nvPr/>
        </p:nvSpPr>
        <p:spPr>
          <a:xfrm>
            <a:off x="7139235" y="8651152"/>
            <a:ext cx="3385801" cy="1415573"/>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095" name="Google Shape;2095;p50"/>
          <p:cNvSpPr/>
          <p:nvPr/>
        </p:nvSpPr>
        <p:spPr>
          <a:xfrm flipH="1" rot="-5400000">
            <a:off x="6688808" y="9149361"/>
            <a:ext cx="234551" cy="119803"/>
          </a:xfrm>
          <a:prstGeom prst="snip2SameRect">
            <a:avLst>
              <a:gd fmla="val 16667" name="adj1"/>
              <a:gd fmla="val 0" name="adj2"/>
            </a:avLst>
          </a:prstGeom>
          <a:solidFill>
            <a:srgbClr val="75707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grpSp>
        <p:nvGrpSpPr>
          <p:cNvPr id="2096" name="Google Shape;2096;p50"/>
          <p:cNvGrpSpPr/>
          <p:nvPr/>
        </p:nvGrpSpPr>
        <p:grpSpPr>
          <a:xfrm>
            <a:off x="7329068" y="8795898"/>
            <a:ext cx="3028198" cy="1143967"/>
            <a:chOff x="3783404" y="5727429"/>
            <a:chExt cx="1466236" cy="553902"/>
          </a:xfrm>
        </p:grpSpPr>
        <p:sp>
          <p:nvSpPr>
            <p:cNvPr id="2097" name="Google Shape;2097;p50"/>
            <p:cNvSpPr/>
            <p:nvPr/>
          </p:nvSpPr>
          <p:spPr>
            <a:xfrm>
              <a:off x="3815103" y="5727430"/>
              <a:ext cx="1434537" cy="553901"/>
            </a:xfrm>
            <a:custGeom>
              <a:rect b="b" l="l" r="r" t="t"/>
              <a:pathLst>
                <a:path extrusionOk="0" h="720001" w="1864715">
                  <a:moveTo>
                    <a:pt x="173075" y="0"/>
                  </a:moveTo>
                  <a:lnTo>
                    <a:pt x="1864715" y="0"/>
                  </a:lnTo>
                  <a:lnTo>
                    <a:pt x="1864715" y="720000"/>
                  </a:lnTo>
                  <a:lnTo>
                    <a:pt x="173078" y="720000"/>
                  </a:lnTo>
                  <a:lnTo>
                    <a:pt x="173078" y="720001"/>
                  </a:lnTo>
                  <a:lnTo>
                    <a:pt x="0" y="720001"/>
                  </a:lnTo>
                  <a:lnTo>
                    <a:pt x="34615" y="1"/>
                  </a:lnTo>
                  <a:lnTo>
                    <a:pt x="173075" y="1"/>
                  </a:lnTo>
                  <a:close/>
                </a:path>
              </a:pathLst>
            </a:custGeom>
            <a:solidFill>
              <a:srgbClr val="86F387"/>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grpSp>
          <p:nvGrpSpPr>
            <p:cNvPr id="2098" name="Google Shape;2098;p50"/>
            <p:cNvGrpSpPr/>
            <p:nvPr/>
          </p:nvGrpSpPr>
          <p:grpSpPr>
            <a:xfrm>
              <a:off x="3815104" y="5827451"/>
              <a:ext cx="1434536" cy="381820"/>
              <a:chOff x="3160385" y="2239516"/>
              <a:chExt cx="6376989" cy="2673530"/>
            </a:xfrm>
          </p:grpSpPr>
          <p:sp>
            <p:nvSpPr>
              <p:cNvPr id="2099" name="Google Shape;2099;p50"/>
              <p:cNvSpPr/>
              <p:nvPr/>
            </p:nvSpPr>
            <p:spPr>
              <a:xfrm rot="5400000">
                <a:off x="4108122" y="1946453"/>
                <a:ext cx="206375" cy="210185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00" name="Google Shape;2100;p50"/>
              <p:cNvSpPr/>
              <p:nvPr/>
            </p:nvSpPr>
            <p:spPr>
              <a:xfrm rot="5400000">
                <a:off x="6138536" y="2427466"/>
                <a:ext cx="317500"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01" name="Google Shape;2101;p50"/>
              <p:cNvSpPr/>
              <p:nvPr/>
            </p:nvSpPr>
            <p:spPr>
              <a:xfrm rot="5400000">
                <a:off x="8178473" y="2076628"/>
                <a:ext cx="206375" cy="1841500"/>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02" name="Google Shape;2102;p50"/>
              <p:cNvSpPr/>
              <p:nvPr/>
            </p:nvSpPr>
            <p:spPr>
              <a:xfrm flipH="1" rot="-5400000">
                <a:off x="8178473" y="1421953"/>
                <a:ext cx="206375" cy="1841500"/>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03" name="Google Shape;2103;p50"/>
              <p:cNvSpPr/>
              <p:nvPr/>
            </p:nvSpPr>
            <p:spPr>
              <a:xfrm rot="5400000">
                <a:off x="8113385" y="1744841"/>
                <a:ext cx="342900" cy="1841500"/>
              </a:xfrm>
              <a:custGeom>
                <a:rect b="b" l="l" r="r" t="t"/>
                <a:pathLst>
                  <a:path extrusionOk="0" h="1851025" w="342900">
                    <a:moveTo>
                      <a:pt x="136525" y="0"/>
                    </a:moveTo>
                    <a:lnTo>
                      <a:pt x="342900" y="0"/>
                    </a:lnTo>
                    <a:lnTo>
                      <a:pt x="203200" y="1851025"/>
                    </a:lnTo>
                    <a:lnTo>
                      <a:pt x="0" y="1851025"/>
                    </a:lnTo>
                    <a:lnTo>
                      <a:pt x="13652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04" name="Google Shape;2104;p50"/>
              <p:cNvSpPr/>
              <p:nvPr/>
            </p:nvSpPr>
            <p:spPr>
              <a:xfrm rot="5400000">
                <a:off x="6209972" y="1946453"/>
                <a:ext cx="206375" cy="210185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05" name="Google Shape;2105;p50"/>
              <p:cNvSpPr/>
              <p:nvPr/>
            </p:nvSpPr>
            <p:spPr>
              <a:xfrm rot="5400000">
                <a:off x="7278360" y="2654033"/>
                <a:ext cx="206375" cy="431165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06" name="Google Shape;2106;p50"/>
              <p:cNvSpPr/>
              <p:nvPr/>
            </p:nvSpPr>
            <p:spPr>
              <a:xfrm rot="5400000">
                <a:off x="9266704" y="2175222"/>
                <a:ext cx="206375" cy="334963"/>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07" name="Google Shape;2107;p50"/>
              <p:cNvSpPr/>
              <p:nvPr/>
            </p:nvSpPr>
            <p:spPr>
              <a:xfrm rot="5400000">
                <a:off x="9296707" y="2827780"/>
                <a:ext cx="146370" cy="334963"/>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08" name="Google Shape;2108;p50"/>
              <p:cNvSpPr/>
              <p:nvPr/>
            </p:nvSpPr>
            <p:spPr>
              <a:xfrm rot="5400000">
                <a:off x="6761262" y="2856927"/>
                <a:ext cx="317500"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09" name="Google Shape;2109;p50"/>
              <p:cNvSpPr/>
              <p:nvPr/>
            </p:nvSpPr>
            <p:spPr>
              <a:xfrm rot="5400000">
                <a:off x="7372976" y="3277920"/>
                <a:ext cx="317500"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grpSp>
          <p:nvGrpSpPr>
            <p:cNvPr id="2110" name="Google Shape;2110;p50"/>
            <p:cNvGrpSpPr/>
            <p:nvPr/>
          </p:nvGrpSpPr>
          <p:grpSpPr>
            <a:xfrm>
              <a:off x="3862845" y="5920935"/>
              <a:ext cx="425080" cy="29488"/>
              <a:chOff x="3369184" y="2894093"/>
              <a:chExt cx="1889624" cy="206474"/>
            </a:xfrm>
          </p:grpSpPr>
          <p:sp>
            <p:nvSpPr>
              <p:cNvPr id="2111" name="Google Shape;2111;p50"/>
              <p:cNvSpPr/>
              <p:nvPr/>
            </p:nvSpPr>
            <p:spPr>
              <a:xfrm rot="5400000">
                <a:off x="3370396" y="2892979"/>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12" name="Google Shape;2112;p50"/>
              <p:cNvSpPr/>
              <p:nvPr/>
            </p:nvSpPr>
            <p:spPr>
              <a:xfrm rot="5400000">
                <a:off x="3789181" y="2892946"/>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13" name="Google Shape;2113;p50"/>
              <p:cNvSpPr/>
              <p:nvPr/>
            </p:nvSpPr>
            <p:spPr>
              <a:xfrm rot="5400000">
                <a:off x="4210341" y="2892913"/>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14" name="Google Shape;2114;p50"/>
              <p:cNvSpPr/>
              <p:nvPr/>
            </p:nvSpPr>
            <p:spPr>
              <a:xfrm rot="5400000">
                <a:off x="4629126" y="2892880"/>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115" name="Google Shape;2115;p50"/>
              <p:cNvSpPr/>
              <p:nvPr/>
            </p:nvSpPr>
            <p:spPr>
              <a:xfrm rot="5400000">
                <a:off x="5051220" y="2892883"/>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sp>
          <p:nvSpPr>
            <p:cNvPr id="2116" name="Google Shape;2116;p50"/>
            <p:cNvSpPr/>
            <p:nvPr/>
          </p:nvSpPr>
          <p:spPr>
            <a:xfrm rot="10800000">
              <a:off x="3783404" y="5727429"/>
              <a:ext cx="56310" cy="553900"/>
            </a:xfrm>
            <a:custGeom>
              <a:rect b="b" l="l" r="r" t="t"/>
              <a:pathLst>
                <a:path extrusionOk="0" h="553900" w="56310">
                  <a:moveTo>
                    <a:pt x="28041" y="553900"/>
                  </a:moveTo>
                  <a:lnTo>
                    <a:pt x="0" y="553900"/>
                  </a:lnTo>
                  <a:lnTo>
                    <a:pt x="26629" y="0"/>
                  </a:lnTo>
                  <a:lnTo>
                    <a:pt x="56310" y="0"/>
                  </a:lnTo>
                  <a:lnTo>
                    <a:pt x="56310" y="4"/>
                  </a:lnTo>
                  <a:lnTo>
                    <a:pt x="54150" y="4"/>
                  </a:lnTo>
                  <a:lnTo>
                    <a:pt x="28041" y="553900"/>
                  </a:lnTo>
                  <a:close/>
                </a:path>
              </a:pathLst>
            </a:custGeom>
            <a:solidFill>
              <a:srgbClr val="FFFFFF"/>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grpSp>
      <p:sp>
        <p:nvSpPr>
          <p:cNvPr id="2117" name="Google Shape;2117;p50"/>
          <p:cNvSpPr/>
          <p:nvPr/>
        </p:nvSpPr>
        <p:spPr>
          <a:xfrm rot="10800000">
            <a:off x="6865985" y="9044711"/>
            <a:ext cx="530942" cy="329099"/>
          </a:xfrm>
          <a:custGeom>
            <a:rect b="b" l="l" r="r" t="t"/>
            <a:pathLst>
              <a:path extrusionOk="0" h="207132" w="334169">
                <a:moveTo>
                  <a:pt x="9958" y="0"/>
                </a:moveTo>
                <a:lnTo>
                  <a:pt x="49791" y="0"/>
                </a:lnTo>
                <a:lnTo>
                  <a:pt x="334169" y="0"/>
                </a:lnTo>
                <a:lnTo>
                  <a:pt x="334169" y="207132"/>
                </a:lnTo>
                <a:lnTo>
                  <a:pt x="49791" y="207132"/>
                </a:lnTo>
                <a:lnTo>
                  <a:pt x="0" y="207132"/>
                </a:lnTo>
                <a:lnTo>
                  <a:pt x="9958" y="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118" name="Google Shape;2118;p50"/>
          <p:cNvSpPr txBox="1"/>
          <p:nvPr/>
        </p:nvSpPr>
        <p:spPr>
          <a:xfrm>
            <a:off x="7445364" y="9437074"/>
            <a:ext cx="971881" cy="4527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000000"/>
                </a:solidFill>
                <a:latin typeface="Calibri"/>
                <a:ea typeface="Calibri"/>
                <a:cs typeface="Calibri"/>
                <a:sym typeface="Calibri"/>
              </a:rPr>
              <a:t>Chip</a:t>
            </a:r>
            <a:endParaRPr b="1" sz="1000">
              <a:solidFill>
                <a:srgbClr val="000000"/>
              </a:solidFill>
              <a:latin typeface="Calibri"/>
              <a:ea typeface="Calibri"/>
              <a:cs typeface="Calibri"/>
              <a:sym typeface="Calibri"/>
            </a:endParaRPr>
          </a:p>
        </p:txBody>
      </p:sp>
      <p:sp>
        <p:nvSpPr>
          <p:cNvPr id="2119" name="Google Shape;2119;p50"/>
          <p:cNvSpPr txBox="1"/>
          <p:nvPr/>
        </p:nvSpPr>
        <p:spPr>
          <a:xfrm>
            <a:off x="6891911" y="8076767"/>
            <a:ext cx="427603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Oven (with temperature controller)</a:t>
            </a:r>
            <a:endParaRPr b="1" sz="2000">
              <a:solidFill>
                <a:srgbClr val="000000"/>
              </a:solidFill>
              <a:latin typeface="Calibri"/>
              <a:ea typeface="Calibri"/>
              <a:cs typeface="Calibri"/>
              <a:sym typeface="Calibri"/>
            </a:endParaRPr>
          </a:p>
        </p:txBody>
      </p:sp>
      <p:sp>
        <p:nvSpPr>
          <p:cNvPr id="2120" name="Google Shape;2120;p50"/>
          <p:cNvSpPr txBox="1"/>
          <p:nvPr/>
        </p:nvSpPr>
        <p:spPr>
          <a:xfrm>
            <a:off x="14889661" y="9468378"/>
            <a:ext cx="152347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TM mode</a:t>
            </a:r>
            <a:endParaRPr b="1" sz="2000">
              <a:solidFill>
                <a:srgbClr val="000000"/>
              </a:solidFill>
              <a:latin typeface="Calibri"/>
              <a:ea typeface="Calibri"/>
              <a:cs typeface="Calibri"/>
              <a:sym typeface="Calibri"/>
            </a:endParaRPr>
          </a:p>
        </p:txBody>
      </p:sp>
      <p:sp>
        <p:nvSpPr>
          <p:cNvPr id="2121" name="Google Shape;2121;p50"/>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122" name="Google Shape;2122;p50"/>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123" name="Google Shape;2123;p50"/>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124" name="Google Shape;2124;p50"/>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125" name="Google Shape;2125;p50"/>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126" name="Google Shape;2126;p50"/>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127" name="Google Shape;2127;p50"/>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2128" name="Google Shape;2128;p50"/>
          <p:cNvSpPr txBox="1"/>
          <p:nvPr/>
        </p:nvSpPr>
        <p:spPr>
          <a:xfrm>
            <a:off x="7936560" y="10192808"/>
            <a:ext cx="1791149"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Calibri"/>
                <a:ea typeface="Calibri"/>
                <a:cs typeface="Calibri"/>
                <a:sym typeface="Calibri"/>
              </a:rPr>
              <a:t>Chip 2</a:t>
            </a:r>
            <a:r>
              <a:rPr b="1" lang="en-US" sz="2000">
                <a:solidFill>
                  <a:schemeClr val="dk2"/>
                </a:solidFill>
                <a:latin typeface="Calibri"/>
                <a:ea typeface="Calibri"/>
                <a:cs typeface="Calibri"/>
                <a:sym typeface="Calibri"/>
              </a:rPr>
              <a:t> </a:t>
            </a:r>
            <a:endParaRPr b="1" sz="2000">
              <a:solidFill>
                <a:schemeClr val="dk2"/>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2" name="Shape 2132"/>
        <p:cNvGrpSpPr/>
        <p:nvPr/>
      </p:nvGrpSpPr>
      <p:grpSpPr>
        <a:xfrm>
          <a:off x="0" y="0"/>
          <a:ext cx="0" cy="0"/>
          <a:chOff x="0" y="0"/>
          <a:chExt cx="0" cy="0"/>
        </a:xfrm>
      </p:grpSpPr>
      <p:sp>
        <p:nvSpPr>
          <p:cNvPr id="2133" name="Google Shape;2133;p51"/>
          <p:cNvSpPr txBox="1"/>
          <p:nvPr/>
        </p:nvSpPr>
        <p:spPr>
          <a:xfrm>
            <a:off x="1655915" y="1483499"/>
            <a:ext cx="21329851"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Measured transmission and PER spectra (TE input, no. 1-3)</a:t>
            </a:r>
            <a:endParaRPr/>
          </a:p>
        </p:txBody>
      </p:sp>
      <p:sp>
        <p:nvSpPr>
          <p:cNvPr id="2134" name="Google Shape;2134;p51"/>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135" name="Google Shape;2135;p51"/>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36" name="Google Shape;2136;p51"/>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137" name="Google Shape;2137;p51"/>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138" name="Google Shape;2138;p51"/>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139" name="Google Shape;2139;p51"/>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140" name="Google Shape;2140;p51"/>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141" name="Google Shape;2141;p51"/>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142" name="Google Shape;2142;p51"/>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pic>
        <p:nvPicPr>
          <p:cNvPr id="2143" name="Google Shape;2143;p51"/>
          <p:cNvPicPr preferRelativeResize="0"/>
          <p:nvPr/>
        </p:nvPicPr>
        <p:blipFill rotWithShape="1">
          <a:blip r:embed="rId3">
            <a:alphaModFix/>
          </a:blip>
          <a:srcRect b="0" l="0" r="0" t="0"/>
          <a:stretch/>
        </p:blipFill>
        <p:spPr>
          <a:xfrm>
            <a:off x="12721457" y="5558307"/>
            <a:ext cx="8613618" cy="6457752"/>
          </a:xfrm>
          <a:prstGeom prst="rect">
            <a:avLst/>
          </a:prstGeom>
          <a:noFill/>
          <a:ln>
            <a:noFill/>
          </a:ln>
        </p:spPr>
      </p:pic>
      <p:pic>
        <p:nvPicPr>
          <p:cNvPr id="2144" name="Google Shape;2144;p51"/>
          <p:cNvPicPr preferRelativeResize="0"/>
          <p:nvPr/>
        </p:nvPicPr>
        <p:blipFill rotWithShape="1">
          <a:blip r:embed="rId4">
            <a:alphaModFix/>
          </a:blip>
          <a:srcRect b="0" l="0" r="0" t="0"/>
          <a:stretch/>
        </p:blipFill>
        <p:spPr>
          <a:xfrm>
            <a:off x="2893433" y="5558307"/>
            <a:ext cx="8613618" cy="6457752"/>
          </a:xfrm>
          <a:prstGeom prst="rect">
            <a:avLst/>
          </a:prstGeom>
          <a:noFill/>
          <a:ln>
            <a:noFill/>
          </a:ln>
        </p:spPr>
      </p:pic>
      <p:sp>
        <p:nvSpPr>
          <p:cNvPr id="2145" name="Google Shape;2145;p51"/>
          <p:cNvSpPr txBox="1"/>
          <p:nvPr/>
        </p:nvSpPr>
        <p:spPr>
          <a:xfrm>
            <a:off x="2707006" y="3532768"/>
            <a:ext cx="8613618" cy="16927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The measured transmission of TE mode are in great agreement with the theoretically predicted one with a 0.75 </a:t>
            </a:r>
            <a:r>
              <a:rPr lang="en-US" sz="2400">
                <a:solidFill>
                  <a:srgbClr val="000000"/>
                </a:solidFill>
                <a:latin typeface="Calibri"/>
                <a:ea typeface="Calibri"/>
                <a:cs typeface="Calibri"/>
                <a:sym typeface="Calibri"/>
              </a:rPr>
              <a:t>μm</a:t>
            </a:r>
            <a:r>
              <a:rPr lang="en-US" sz="2600">
                <a:solidFill>
                  <a:srgbClr val="000000"/>
                </a:solidFill>
                <a:latin typeface="Calibri"/>
                <a:ea typeface="Calibri"/>
                <a:cs typeface="Calibri"/>
                <a:sym typeface="Calibri"/>
              </a:rPr>
              <a:t> width deviation. All the transmissions are normalized by subtracting coupling loss and propagation loss (around 3 dB).</a:t>
            </a:r>
            <a:endParaRPr/>
          </a:p>
        </p:txBody>
      </p:sp>
      <p:sp>
        <p:nvSpPr>
          <p:cNvPr id="2146" name="Google Shape;2146;p51"/>
          <p:cNvSpPr txBox="1"/>
          <p:nvPr/>
        </p:nvSpPr>
        <p:spPr>
          <a:xfrm>
            <a:off x="13122073" y="3532768"/>
            <a:ext cx="7812386"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However, the presence of unfiltered background noise introduced by scattering and free-space coupling limits the highest PER to 15 dB level (flattened response)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0" name="Shape 2150"/>
        <p:cNvGrpSpPr/>
        <p:nvPr/>
      </p:nvGrpSpPr>
      <p:grpSpPr>
        <a:xfrm>
          <a:off x="0" y="0"/>
          <a:ext cx="0" cy="0"/>
          <a:chOff x="0" y="0"/>
          <a:chExt cx="0" cy="0"/>
        </a:xfrm>
      </p:grpSpPr>
      <p:pic>
        <p:nvPicPr>
          <p:cNvPr id="2151" name="Google Shape;2151;p52"/>
          <p:cNvPicPr preferRelativeResize="0"/>
          <p:nvPr/>
        </p:nvPicPr>
        <p:blipFill rotWithShape="1">
          <a:blip r:embed="rId3">
            <a:alphaModFix/>
          </a:blip>
          <a:srcRect b="0" l="0" r="0" t="0"/>
          <a:stretch/>
        </p:blipFill>
        <p:spPr>
          <a:xfrm>
            <a:off x="12320841" y="5558307"/>
            <a:ext cx="8613618" cy="6457752"/>
          </a:xfrm>
          <a:prstGeom prst="rect">
            <a:avLst/>
          </a:prstGeom>
          <a:noFill/>
          <a:ln>
            <a:noFill/>
          </a:ln>
        </p:spPr>
      </p:pic>
      <p:pic>
        <p:nvPicPr>
          <p:cNvPr id="2152" name="Google Shape;2152;p52"/>
          <p:cNvPicPr preferRelativeResize="0"/>
          <p:nvPr/>
        </p:nvPicPr>
        <p:blipFill rotWithShape="1">
          <a:blip r:embed="rId4">
            <a:alphaModFix/>
          </a:blip>
          <a:srcRect b="0" l="0" r="0" t="0"/>
          <a:stretch/>
        </p:blipFill>
        <p:spPr>
          <a:xfrm>
            <a:off x="3576925" y="5558307"/>
            <a:ext cx="8613618" cy="6457752"/>
          </a:xfrm>
          <a:prstGeom prst="rect">
            <a:avLst/>
          </a:prstGeom>
          <a:noFill/>
          <a:ln>
            <a:noFill/>
          </a:ln>
        </p:spPr>
      </p:pic>
      <p:sp>
        <p:nvSpPr>
          <p:cNvPr id="2153" name="Google Shape;2153;p52"/>
          <p:cNvSpPr txBox="1"/>
          <p:nvPr/>
        </p:nvSpPr>
        <p:spPr>
          <a:xfrm>
            <a:off x="1620382" y="1483499"/>
            <a:ext cx="21136884"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Measured transmission and PER spectra (TM input, no. 1-3)</a:t>
            </a:r>
            <a:endParaRPr/>
          </a:p>
        </p:txBody>
      </p:sp>
      <p:sp>
        <p:nvSpPr>
          <p:cNvPr id="2154" name="Google Shape;2154;p52"/>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155" name="Google Shape;2155;p52"/>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56" name="Google Shape;2156;p52"/>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157" name="Google Shape;2157;p52"/>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158" name="Google Shape;2158;p52"/>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159" name="Google Shape;2159;p52"/>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160" name="Google Shape;2160;p52"/>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161" name="Google Shape;2161;p52"/>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162" name="Google Shape;2162;p52"/>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2163" name="Google Shape;2163;p52"/>
          <p:cNvSpPr txBox="1"/>
          <p:nvPr/>
        </p:nvSpPr>
        <p:spPr>
          <a:xfrm>
            <a:off x="4021668" y="4137611"/>
            <a:ext cx="7724157"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Positive width deviation results in higher transmission of TM modes</a:t>
            </a:r>
            <a:endParaRPr/>
          </a:p>
        </p:txBody>
      </p:sp>
      <p:sp>
        <p:nvSpPr>
          <p:cNvPr id="2164" name="Google Shape;2164;p52"/>
          <p:cNvSpPr txBox="1"/>
          <p:nvPr/>
        </p:nvSpPr>
        <p:spPr>
          <a:xfrm>
            <a:off x="12721457" y="4142342"/>
            <a:ext cx="7812386"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The spectral response fits well with the calculated one in the region where PER &lt; 15 dB</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8" name="Shape 2168"/>
        <p:cNvGrpSpPr/>
        <p:nvPr/>
      </p:nvGrpSpPr>
      <p:grpSpPr>
        <a:xfrm>
          <a:off x="0" y="0"/>
          <a:ext cx="0" cy="0"/>
          <a:chOff x="0" y="0"/>
          <a:chExt cx="0" cy="0"/>
        </a:xfrm>
      </p:grpSpPr>
      <p:pic>
        <p:nvPicPr>
          <p:cNvPr id="2169" name="Google Shape;2169;p53"/>
          <p:cNvPicPr preferRelativeResize="0"/>
          <p:nvPr/>
        </p:nvPicPr>
        <p:blipFill rotWithShape="1">
          <a:blip r:embed="rId3">
            <a:alphaModFix/>
          </a:blip>
          <a:srcRect b="0" l="0" r="0" t="0"/>
          <a:stretch/>
        </p:blipFill>
        <p:spPr>
          <a:xfrm>
            <a:off x="3577651" y="5558307"/>
            <a:ext cx="8613618" cy="6457752"/>
          </a:xfrm>
          <a:prstGeom prst="rect">
            <a:avLst/>
          </a:prstGeom>
          <a:noFill/>
          <a:ln>
            <a:noFill/>
          </a:ln>
        </p:spPr>
      </p:pic>
      <p:pic>
        <p:nvPicPr>
          <p:cNvPr id="2170" name="Google Shape;2170;p53"/>
          <p:cNvPicPr preferRelativeResize="0"/>
          <p:nvPr/>
        </p:nvPicPr>
        <p:blipFill rotWithShape="1">
          <a:blip r:embed="rId4">
            <a:alphaModFix/>
          </a:blip>
          <a:srcRect b="0" l="0" r="0" t="0"/>
          <a:stretch/>
        </p:blipFill>
        <p:spPr>
          <a:xfrm>
            <a:off x="12321574" y="5558307"/>
            <a:ext cx="8613618" cy="6457752"/>
          </a:xfrm>
          <a:prstGeom prst="rect">
            <a:avLst/>
          </a:prstGeom>
          <a:noFill/>
          <a:ln>
            <a:noFill/>
          </a:ln>
        </p:spPr>
      </p:pic>
      <p:sp>
        <p:nvSpPr>
          <p:cNvPr id="2171" name="Google Shape;2171;p53"/>
          <p:cNvSpPr txBox="1"/>
          <p:nvPr/>
        </p:nvSpPr>
        <p:spPr>
          <a:xfrm>
            <a:off x="1620382" y="1483499"/>
            <a:ext cx="21136884"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Measured ER spectra (TM input, no. 1-3)</a:t>
            </a:r>
            <a:endParaRPr/>
          </a:p>
        </p:txBody>
      </p:sp>
      <p:sp>
        <p:nvSpPr>
          <p:cNvPr id="2172" name="Google Shape;2172;p53"/>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173" name="Google Shape;2173;p53"/>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74" name="Google Shape;2174;p53"/>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175" name="Google Shape;2175;p53"/>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176" name="Google Shape;2176;p53"/>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177" name="Google Shape;2177;p53"/>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178" name="Google Shape;2178;p53"/>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179" name="Google Shape;2179;p53"/>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180" name="Google Shape;2180;p53"/>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2181" name="Google Shape;2181;p53"/>
          <p:cNvSpPr txBox="1"/>
          <p:nvPr/>
        </p:nvSpPr>
        <p:spPr>
          <a:xfrm>
            <a:off x="5314022" y="4089763"/>
            <a:ext cx="13753042"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Unlike the proposed PBS, the ER of the spectral filter is more sensitive to width deviation. The calculated tolerance is estimated as 0.5 μm. However, the results still fit well with simulations</a:t>
            </a:r>
            <a:endParaRPr sz="2600">
              <a:solidFill>
                <a:srgbClr val="000000"/>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5" name="Shape 2185"/>
        <p:cNvGrpSpPr/>
        <p:nvPr/>
      </p:nvGrpSpPr>
      <p:grpSpPr>
        <a:xfrm>
          <a:off x="0" y="0"/>
          <a:ext cx="0" cy="0"/>
          <a:chOff x="0" y="0"/>
          <a:chExt cx="0" cy="0"/>
        </a:xfrm>
      </p:grpSpPr>
      <p:cxnSp>
        <p:nvCxnSpPr>
          <p:cNvPr id="2186" name="Google Shape;2186;p54"/>
          <p:cNvCxnSpPr>
            <a:endCxn id="2187" idx="1"/>
          </p:cNvCxnSpPr>
          <p:nvPr/>
        </p:nvCxnSpPr>
        <p:spPr>
          <a:xfrm>
            <a:off x="9480106" y="9295823"/>
            <a:ext cx="2751300" cy="0"/>
          </a:xfrm>
          <a:prstGeom prst="straightConnector1">
            <a:avLst/>
          </a:prstGeom>
          <a:noFill/>
          <a:ln cap="flat" cmpd="sng" w="76200">
            <a:solidFill>
              <a:srgbClr val="000000"/>
            </a:solidFill>
            <a:prstDash val="solid"/>
            <a:miter lim="800000"/>
            <a:headEnd len="sm" w="sm" type="none"/>
            <a:tailEnd len="med" w="med" type="triangle"/>
          </a:ln>
        </p:spPr>
      </p:cxnSp>
      <p:sp>
        <p:nvSpPr>
          <p:cNvPr id="2188" name="Google Shape;2188;p54"/>
          <p:cNvSpPr txBox="1"/>
          <p:nvPr/>
        </p:nvSpPr>
        <p:spPr>
          <a:xfrm>
            <a:off x="3949452" y="1483499"/>
            <a:ext cx="16478743"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Experimental setup for coincidence counting</a:t>
            </a:r>
            <a:endParaRPr/>
          </a:p>
        </p:txBody>
      </p:sp>
      <p:sp>
        <p:nvSpPr>
          <p:cNvPr id="2189" name="Google Shape;2189;p54"/>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190" name="Google Shape;2190;p54"/>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2191" name="Google Shape;2191;p54"/>
          <p:cNvCxnSpPr/>
          <p:nvPr/>
        </p:nvCxnSpPr>
        <p:spPr>
          <a:xfrm>
            <a:off x="5221560" y="9209261"/>
            <a:ext cx="1733449" cy="0"/>
          </a:xfrm>
          <a:prstGeom prst="straightConnector1">
            <a:avLst/>
          </a:prstGeom>
          <a:noFill/>
          <a:ln cap="flat" cmpd="sng" w="76200">
            <a:solidFill>
              <a:srgbClr val="FFC000"/>
            </a:solidFill>
            <a:prstDash val="solid"/>
            <a:miter lim="800000"/>
            <a:headEnd len="sm" w="sm" type="none"/>
            <a:tailEnd len="sm" w="sm" type="none"/>
          </a:ln>
        </p:spPr>
      </p:cxnSp>
      <p:sp>
        <p:nvSpPr>
          <p:cNvPr id="2192" name="Google Shape;2192;p54"/>
          <p:cNvSpPr txBox="1"/>
          <p:nvPr/>
        </p:nvSpPr>
        <p:spPr>
          <a:xfrm>
            <a:off x="4065046" y="9421089"/>
            <a:ext cx="212952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Carrier block</a:t>
            </a:r>
            <a:endParaRPr b="1" sz="2000">
              <a:solidFill>
                <a:srgbClr val="000000"/>
              </a:solidFill>
              <a:latin typeface="Calibri"/>
              <a:ea typeface="Calibri"/>
              <a:cs typeface="Calibri"/>
              <a:sym typeface="Calibri"/>
            </a:endParaRPr>
          </a:p>
        </p:txBody>
      </p:sp>
      <p:cxnSp>
        <p:nvCxnSpPr>
          <p:cNvPr id="2193" name="Google Shape;2193;p54"/>
          <p:cNvCxnSpPr/>
          <p:nvPr/>
        </p:nvCxnSpPr>
        <p:spPr>
          <a:xfrm>
            <a:off x="9653183" y="5646706"/>
            <a:ext cx="5484407" cy="0"/>
          </a:xfrm>
          <a:prstGeom prst="straightConnector1">
            <a:avLst/>
          </a:prstGeom>
          <a:noFill/>
          <a:ln cap="flat" cmpd="sng" w="76200">
            <a:solidFill>
              <a:srgbClr val="FFC000"/>
            </a:solidFill>
            <a:prstDash val="solid"/>
            <a:miter lim="800000"/>
            <a:headEnd len="sm" w="sm" type="none"/>
            <a:tailEnd len="med" w="med" type="triangle"/>
          </a:ln>
        </p:spPr>
      </p:cxnSp>
      <p:cxnSp>
        <p:nvCxnSpPr>
          <p:cNvPr id="2194" name="Google Shape;2194;p54"/>
          <p:cNvCxnSpPr/>
          <p:nvPr/>
        </p:nvCxnSpPr>
        <p:spPr>
          <a:xfrm>
            <a:off x="13140670" y="5646291"/>
            <a:ext cx="2185749" cy="0"/>
          </a:xfrm>
          <a:prstGeom prst="straightConnector1">
            <a:avLst/>
          </a:prstGeom>
          <a:noFill/>
          <a:ln cap="flat" cmpd="sng" w="76200">
            <a:solidFill>
              <a:srgbClr val="FFC000"/>
            </a:solidFill>
            <a:prstDash val="solid"/>
            <a:miter lim="800000"/>
            <a:headEnd len="sm" w="sm" type="none"/>
            <a:tailEnd len="sm" w="sm" type="none"/>
          </a:ln>
        </p:spPr>
      </p:cxnSp>
      <p:cxnSp>
        <p:nvCxnSpPr>
          <p:cNvPr id="2195" name="Google Shape;2195;p54"/>
          <p:cNvCxnSpPr/>
          <p:nvPr/>
        </p:nvCxnSpPr>
        <p:spPr>
          <a:xfrm>
            <a:off x="5379108" y="7028883"/>
            <a:ext cx="8526115" cy="0"/>
          </a:xfrm>
          <a:prstGeom prst="straightConnector1">
            <a:avLst/>
          </a:prstGeom>
          <a:noFill/>
          <a:ln cap="flat" cmpd="sng" w="76200">
            <a:solidFill>
              <a:srgbClr val="FFC000"/>
            </a:solidFill>
            <a:prstDash val="solid"/>
            <a:miter lim="800000"/>
            <a:headEnd len="sm" w="sm" type="none"/>
            <a:tailEnd len="sm" w="sm" type="none"/>
          </a:ln>
        </p:spPr>
      </p:cxnSp>
      <p:sp>
        <p:nvSpPr>
          <p:cNvPr id="2196" name="Google Shape;2196;p54"/>
          <p:cNvSpPr/>
          <p:nvPr/>
        </p:nvSpPr>
        <p:spPr>
          <a:xfrm>
            <a:off x="14845430" y="5646291"/>
            <a:ext cx="959857" cy="1151829"/>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cxnSp>
        <p:nvCxnSpPr>
          <p:cNvPr id="2197" name="Google Shape;2197;p54"/>
          <p:cNvCxnSpPr/>
          <p:nvPr/>
        </p:nvCxnSpPr>
        <p:spPr>
          <a:xfrm>
            <a:off x="13888102" y="7028885"/>
            <a:ext cx="1438318" cy="0"/>
          </a:xfrm>
          <a:prstGeom prst="straightConnector1">
            <a:avLst/>
          </a:prstGeom>
          <a:noFill/>
          <a:ln cap="flat" cmpd="sng" w="76200">
            <a:solidFill>
              <a:srgbClr val="FFC000"/>
            </a:solidFill>
            <a:prstDash val="solid"/>
            <a:miter lim="800000"/>
            <a:headEnd len="sm" w="sm" type="none"/>
            <a:tailEnd len="sm" w="sm" type="none"/>
          </a:ln>
        </p:spPr>
      </p:cxnSp>
      <p:sp>
        <p:nvSpPr>
          <p:cNvPr id="2198" name="Google Shape;2198;p54"/>
          <p:cNvSpPr txBox="1"/>
          <p:nvPr/>
        </p:nvSpPr>
        <p:spPr>
          <a:xfrm>
            <a:off x="10104942" y="3802634"/>
            <a:ext cx="353980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Polarization controller (PC)</a:t>
            </a:r>
            <a:endParaRPr b="1" sz="2000">
              <a:solidFill>
                <a:srgbClr val="000000"/>
              </a:solidFill>
              <a:latin typeface="Calibri"/>
              <a:ea typeface="Calibri"/>
              <a:cs typeface="Calibri"/>
              <a:sym typeface="Calibri"/>
            </a:endParaRPr>
          </a:p>
        </p:txBody>
      </p:sp>
      <p:sp>
        <p:nvSpPr>
          <p:cNvPr id="2199" name="Google Shape;2199;p54"/>
          <p:cNvSpPr/>
          <p:nvPr/>
        </p:nvSpPr>
        <p:spPr>
          <a:xfrm rot="10800000">
            <a:off x="4529304" y="7497183"/>
            <a:ext cx="1426731" cy="1712078"/>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sp>
        <p:nvSpPr>
          <p:cNvPr id="2200" name="Google Shape;2200;p54"/>
          <p:cNvSpPr/>
          <p:nvPr/>
        </p:nvSpPr>
        <p:spPr>
          <a:xfrm rot="-5400000">
            <a:off x="4671978" y="6885257"/>
            <a:ext cx="1426731" cy="1712076"/>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cxnSp>
        <p:nvCxnSpPr>
          <p:cNvPr id="2201" name="Google Shape;2201;p54"/>
          <p:cNvCxnSpPr/>
          <p:nvPr/>
        </p:nvCxnSpPr>
        <p:spPr>
          <a:xfrm flipH="1" rot="10800000">
            <a:off x="8228876" y="5646295"/>
            <a:ext cx="1477612" cy="2"/>
          </a:xfrm>
          <a:prstGeom prst="straightConnector1">
            <a:avLst/>
          </a:prstGeom>
          <a:noFill/>
          <a:ln cap="flat" cmpd="sng" w="76200">
            <a:solidFill>
              <a:srgbClr val="FFC000"/>
            </a:solidFill>
            <a:prstDash val="solid"/>
            <a:miter lim="800000"/>
            <a:headEnd len="sm" w="sm" type="none"/>
            <a:tailEnd len="sm" w="sm" type="none"/>
          </a:ln>
        </p:spPr>
      </p:cxnSp>
      <p:cxnSp>
        <p:nvCxnSpPr>
          <p:cNvPr id="2202" name="Google Shape;2202;p54"/>
          <p:cNvCxnSpPr>
            <a:endCxn id="2199" idx="2"/>
          </p:cNvCxnSpPr>
          <p:nvPr/>
        </p:nvCxnSpPr>
        <p:spPr>
          <a:xfrm>
            <a:off x="4529304" y="7732522"/>
            <a:ext cx="0" cy="620700"/>
          </a:xfrm>
          <a:prstGeom prst="straightConnector1">
            <a:avLst/>
          </a:prstGeom>
          <a:noFill/>
          <a:ln cap="flat" cmpd="sng" w="76200">
            <a:solidFill>
              <a:srgbClr val="FFC000"/>
            </a:solidFill>
            <a:prstDash val="solid"/>
            <a:miter lim="800000"/>
            <a:headEnd len="sm" w="sm" type="none"/>
            <a:tailEnd len="sm" w="sm" type="none"/>
          </a:ln>
        </p:spPr>
      </p:cxnSp>
      <p:cxnSp>
        <p:nvCxnSpPr>
          <p:cNvPr id="2203" name="Google Shape;2203;p54"/>
          <p:cNvCxnSpPr/>
          <p:nvPr/>
        </p:nvCxnSpPr>
        <p:spPr>
          <a:xfrm>
            <a:off x="9084396" y="7027929"/>
            <a:ext cx="4245433" cy="0"/>
          </a:xfrm>
          <a:prstGeom prst="straightConnector1">
            <a:avLst/>
          </a:prstGeom>
          <a:noFill/>
          <a:ln cap="flat" cmpd="sng" w="76200">
            <a:solidFill>
              <a:srgbClr val="FFC000"/>
            </a:solidFill>
            <a:prstDash val="solid"/>
            <a:miter lim="800000"/>
            <a:headEnd len="med" w="med" type="triangle"/>
            <a:tailEnd len="sm" w="sm" type="none"/>
          </a:ln>
        </p:spPr>
      </p:cxnSp>
      <p:cxnSp>
        <p:nvCxnSpPr>
          <p:cNvPr id="2204" name="Google Shape;2204;p54"/>
          <p:cNvCxnSpPr/>
          <p:nvPr/>
        </p:nvCxnSpPr>
        <p:spPr>
          <a:xfrm>
            <a:off x="15805287" y="6177512"/>
            <a:ext cx="0" cy="288382"/>
          </a:xfrm>
          <a:prstGeom prst="straightConnector1">
            <a:avLst/>
          </a:prstGeom>
          <a:noFill/>
          <a:ln cap="flat" cmpd="sng" w="76200">
            <a:solidFill>
              <a:srgbClr val="FFC000"/>
            </a:solidFill>
            <a:prstDash val="solid"/>
            <a:miter lim="800000"/>
            <a:headEnd len="sm" w="sm" type="none"/>
            <a:tailEnd len="sm" w="sm" type="none"/>
          </a:ln>
        </p:spPr>
      </p:cxnSp>
      <p:sp>
        <p:nvSpPr>
          <p:cNvPr id="2205" name="Google Shape;2205;p54"/>
          <p:cNvSpPr/>
          <p:nvPr/>
        </p:nvSpPr>
        <p:spPr>
          <a:xfrm rot="10800000">
            <a:off x="8454848" y="11141537"/>
            <a:ext cx="2904822" cy="1143965"/>
          </a:xfrm>
          <a:custGeom>
            <a:rect b="b" l="l" r="r" t="t"/>
            <a:pathLst>
              <a:path extrusionOk="0" h="553901" w="1406498">
                <a:moveTo>
                  <a:pt x="130547" y="553901"/>
                </a:moveTo>
                <a:lnTo>
                  <a:pt x="0" y="553901"/>
                </a:lnTo>
                <a:lnTo>
                  <a:pt x="0" y="553897"/>
                </a:lnTo>
                <a:lnTo>
                  <a:pt x="105109" y="553897"/>
                </a:lnTo>
                <a:lnTo>
                  <a:pt x="105109" y="553896"/>
                </a:lnTo>
                <a:lnTo>
                  <a:pt x="1406496" y="553896"/>
                </a:lnTo>
                <a:lnTo>
                  <a:pt x="1406496" y="0"/>
                </a:lnTo>
                <a:lnTo>
                  <a:pt x="1406498" y="0"/>
                </a:lnTo>
                <a:lnTo>
                  <a:pt x="1406498" y="553900"/>
                </a:lnTo>
                <a:lnTo>
                  <a:pt x="130547" y="553900"/>
                </a:lnTo>
                <a:lnTo>
                  <a:pt x="130547" y="55390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206" name="Google Shape;2206;p54"/>
          <p:cNvSpPr/>
          <p:nvPr/>
        </p:nvSpPr>
        <p:spPr>
          <a:xfrm>
            <a:off x="5017104" y="5058486"/>
            <a:ext cx="3740295" cy="1100042"/>
          </a:xfrm>
          <a:prstGeom prst="rect">
            <a:avLst/>
          </a:prstGeom>
          <a:solidFill>
            <a:srgbClr val="545653"/>
          </a:solid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207" name="Google Shape;2207;p54"/>
          <p:cNvSpPr txBox="1"/>
          <p:nvPr/>
        </p:nvSpPr>
        <p:spPr>
          <a:xfrm>
            <a:off x="5091806" y="5104012"/>
            <a:ext cx="3582494"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E7E6E6"/>
                </a:solidFill>
                <a:latin typeface="Calibri"/>
                <a:ea typeface="Calibri"/>
                <a:cs typeface="Calibri"/>
                <a:sym typeface="Calibri"/>
              </a:rPr>
              <a:t>785 nm</a:t>
            </a:r>
            <a:endParaRPr/>
          </a:p>
          <a:p>
            <a:pPr indent="0" lvl="0" marL="0" marR="0" rtl="0" algn="ctr">
              <a:spcBef>
                <a:spcPts val="0"/>
              </a:spcBef>
              <a:spcAft>
                <a:spcPts val="0"/>
              </a:spcAft>
              <a:buNone/>
            </a:pPr>
            <a:r>
              <a:rPr b="1" lang="en-US" sz="2000">
                <a:solidFill>
                  <a:srgbClr val="E7E6E6"/>
                </a:solidFill>
                <a:latin typeface="Calibri"/>
                <a:ea typeface="Calibri"/>
                <a:cs typeface="Calibri"/>
                <a:sym typeface="Calibri"/>
              </a:rPr>
              <a:t>Volume-Holographic-Grating- (VHG) Stabilized SF Laser </a:t>
            </a:r>
            <a:endParaRPr b="1" sz="2000">
              <a:solidFill>
                <a:srgbClr val="E7E6E6"/>
              </a:solidFill>
              <a:latin typeface="Calibri"/>
              <a:ea typeface="Calibri"/>
              <a:cs typeface="Calibri"/>
              <a:sym typeface="Calibri"/>
            </a:endParaRPr>
          </a:p>
        </p:txBody>
      </p:sp>
      <p:sp>
        <p:nvSpPr>
          <p:cNvPr id="2208" name="Google Shape;2208;p54"/>
          <p:cNvSpPr txBox="1"/>
          <p:nvPr/>
        </p:nvSpPr>
        <p:spPr>
          <a:xfrm>
            <a:off x="9583814" y="6360308"/>
            <a:ext cx="133548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SM fiber</a:t>
            </a:r>
            <a:endParaRPr b="1" sz="2000">
              <a:solidFill>
                <a:srgbClr val="000000"/>
              </a:solidFill>
              <a:latin typeface="Calibri"/>
              <a:ea typeface="Calibri"/>
              <a:cs typeface="Calibri"/>
              <a:sym typeface="Calibri"/>
            </a:endParaRPr>
          </a:p>
        </p:txBody>
      </p:sp>
      <p:sp>
        <p:nvSpPr>
          <p:cNvPr id="2209" name="Google Shape;2209;p54"/>
          <p:cNvSpPr/>
          <p:nvPr/>
        </p:nvSpPr>
        <p:spPr>
          <a:xfrm>
            <a:off x="12437415" y="4545057"/>
            <a:ext cx="1101645" cy="1100042"/>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210" name="Google Shape;2210;p54"/>
          <p:cNvSpPr/>
          <p:nvPr/>
        </p:nvSpPr>
        <p:spPr>
          <a:xfrm>
            <a:off x="11129921" y="4543539"/>
            <a:ext cx="1101645" cy="1100042"/>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211" name="Google Shape;2211;p54"/>
          <p:cNvSpPr/>
          <p:nvPr/>
        </p:nvSpPr>
        <p:spPr>
          <a:xfrm>
            <a:off x="9817652" y="4544890"/>
            <a:ext cx="1101645" cy="1100042"/>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212" name="Google Shape;2212;p54"/>
          <p:cNvSpPr/>
          <p:nvPr/>
        </p:nvSpPr>
        <p:spPr>
          <a:xfrm flipH="1" rot="10800000">
            <a:off x="14845430" y="5877473"/>
            <a:ext cx="959857" cy="1151829"/>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sp>
        <p:nvSpPr>
          <p:cNvPr id="2213" name="Google Shape;2213;p54"/>
          <p:cNvSpPr/>
          <p:nvPr/>
        </p:nvSpPr>
        <p:spPr>
          <a:xfrm>
            <a:off x="12520966" y="4626469"/>
            <a:ext cx="936814" cy="936814"/>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214" name="Google Shape;2214;p54"/>
          <p:cNvSpPr/>
          <p:nvPr/>
        </p:nvSpPr>
        <p:spPr>
          <a:xfrm>
            <a:off x="11213472" y="4626469"/>
            <a:ext cx="936814" cy="936814"/>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215" name="Google Shape;2215;p54"/>
          <p:cNvSpPr/>
          <p:nvPr/>
        </p:nvSpPr>
        <p:spPr>
          <a:xfrm>
            <a:off x="9901203" y="4628596"/>
            <a:ext cx="936814" cy="936814"/>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216" name="Google Shape;2216;p54"/>
          <p:cNvSpPr/>
          <p:nvPr/>
        </p:nvSpPr>
        <p:spPr>
          <a:xfrm>
            <a:off x="6076231" y="8651152"/>
            <a:ext cx="3385801" cy="1415573"/>
          </a:xfrm>
          <a:prstGeom prst="rect">
            <a:avLst/>
          </a:prstGeom>
          <a:solidFill>
            <a:schemeClr val="lt1"/>
          </a:solid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217" name="Google Shape;2217;p54"/>
          <p:cNvSpPr/>
          <p:nvPr/>
        </p:nvSpPr>
        <p:spPr>
          <a:xfrm flipH="1" rot="-5400000">
            <a:off x="5668056" y="9149361"/>
            <a:ext cx="234551" cy="119803"/>
          </a:xfrm>
          <a:prstGeom prst="snip2SameRect">
            <a:avLst>
              <a:gd fmla="val 16667" name="adj1"/>
              <a:gd fmla="val 0" name="adj2"/>
            </a:avLst>
          </a:prstGeom>
          <a:solidFill>
            <a:srgbClr val="75707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grpSp>
        <p:nvGrpSpPr>
          <p:cNvPr id="2218" name="Google Shape;2218;p54"/>
          <p:cNvGrpSpPr/>
          <p:nvPr/>
        </p:nvGrpSpPr>
        <p:grpSpPr>
          <a:xfrm>
            <a:off x="6266064" y="8795898"/>
            <a:ext cx="3028198" cy="1143967"/>
            <a:chOff x="3783404" y="5727429"/>
            <a:chExt cx="1466236" cy="553902"/>
          </a:xfrm>
        </p:grpSpPr>
        <p:sp>
          <p:nvSpPr>
            <p:cNvPr id="2219" name="Google Shape;2219;p54"/>
            <p:cNvSpPr/>
            <p:nvPr/>
          </p:nvSpPr>
          <p:spPr>
            <a:xfrm>
              <a:off x="3815103" y="5727430"/>
              <a:ext cx="1434537" cy="553901"/>
            </a:xfrm>
            <a:custGeom>
              <a:rect b="b" l="l" r="r" t="t"/>
              <a:pathLst>
                <a:path extrusionOk="0" h="720001" w="1864715">
                  <a:moveTo>
                    <a:pt x="173075" y="0"/>
                  </a:moveTo>
                  <a:lnTo>
                    <a:pt x="1864715" y="0"/>
                  </a:lnTo>
                  <a:lnTo>
                    <a:pt x="1864715" y="720000"/>
                  </a:lnTo>
                  <a:lnTo>
                    <a:pt x="173078" y="720000"/>
                  </a:lnTo>
                  <a:lnTo>
                    <a:pt x="173078" y="720001"/>
                  </a:lnTo>
                  <a:lnTo>
                    <a:pt x="0" y="720001"/>
                  </a:lnTo>
                  <a:lnTo>
                    <a:pt x="34615" y="1"/>
                  </a:lnTo>
                  <a:lnTo>
                    <a:pt x="173075" y="1"/>
                  </a:lnTo>
                  <a:close/>
                </a:path>
              </a:pathLst>
            </a:custGeom>
            <a:solidFill>
              <a:srgbClr val="86F387"/>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grpSp>
          <p:nvGrpSpPr>
            <p:cNvPr id="2220" name="Google Shape;2220;p54"/>
            <p:cNvGrpSpPr/>
            <p:nvPr/>
          </p:nvGrpSpPr>
          <p:grpSpPr>
            <a:xfrm>
              <a:off x="3815104" y="5827451"/>
              <a:ext cx="1434536" cy="381820"/>
              <a:chOff x="3160385" y="2239516"/>
              <a:chExt cx="6376989" cy="2673530"/>
            </a:xfrm>
          </p:grpSpPr>
          <p:sp>
            <p:nvSpPr>
              <p:cNvPr id="2221" name="Google Shape;2221;p54"/>
              <p:cNvSpPr/>
              <p:nvPr/>
            </p:nvSpPr>
            <p:spPr>
              <a:xfrm rot="5400000">
                <a:off x="4108122" y="1946453"/>
                <a:ext cx="206375" cy="210185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22" name="Google Shape;2222;p54"/>
              <p:cNvSpPr/>
              <p:nvPr/>
            </p:nvSpPr>
            <p:spPr>
              <a:xfrm rot="5400000">
                <a:off x="6138536" y="2427466"/>
                <a:ext cx="317500"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23" name="Google Shape;2223;p54"/>
              <p:cNvSpPr/>
              <p:nvPr/>
            </p:nvSpPr>
            <p:spPr>
              <a:xfrm rot="5400000">
                <a:off x="8178473" y="2076628"/>
                <a:ext cx="206375" cy="1841500"/>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24" name="Google Shape;2224;p54"/>
              <p:cNvSpPr/>
              <p:nvPr/>
            </p:nvSpPr>
            <p:spPr>
              <a:xfrm flipH="1" rot="-5400000">
                <a:off x="8178473" y="1421953"/>
                <a:ext cx="206375" cy="1841500"/>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25" name="Google Shape;2225;p54"/>
              <p:cNvSpPr/>
              <p:nvPr/>
            </p:nvSpPr>
            <p:spPr>
              <a:xfrm rot="5400000">
                <a:off x="8113385" y="1744841"/>
                <a:ext cx="342900" cy="1841500"/>
              </a:xfrm>
              <a:custGeom>
                <a:rect b="b" l="l" r="r" t="t"/>
                <a:pathLst>
                  <a:path extrusionOk="0" h="1851025" w="342900">
                    <a:moveTo>
                      <a:pt x="136525" y="0"/>
                    </a:moveTo>
                    <a:lnTo>
                      <a:pt x="342900" y="0"/>
                    </a:lnTo>
                    <a:lnTo>
                      <a:pt x="203200" y="1851025"/>
                    </a:lnTo>
                    <a:lnTo>
                      <a:pt x="0" y="1851025"/>
                    </a:lnTo>
                    <a:lnTo>
                      <a:pt x="13652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26" name="Google Shape;2226;p54"/>
              <p:cNvSpPr/>
              <p:nvPr/>
            </p:nvSpPr>
            <p:spPr>
              <a:xfrm rot="5400000">
                <a:off x="6209972" y="1946453"/>
                <a:ext cx="206375" cy="210185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27" name="Google Shape;2227;p54"/>
              <p:cNvSpPr/>
              <p:nvPr/>
            </p:nvSpPr>
            <p:spPr>
              <a:xfrm rot="5400000">
                <a:off x="7278360" y="2654033"/>
                <a:ext cx="206375" cy="431165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28" name="Google Shape;2228;p54"/>
              <p:cNvSpPr/>
              <p:nvPr/>
            </p:nvSpPr>
            <p:spPr>
              <a:xfrm rot="5400000">
                <a:off x="9266704" y="2175222"/>
                <a:ext cx="206375" cy="334963"/>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29" name="Google Shape;2229;p54"/>
              <p:cNvSpPr/>
              <p:nvPr/>
            </p:nvSpPr>
            <p:spPr>
              <a:xfrm rot="5400000">
                <a:off x="9296707" y="2827780"/>
                <a:ext cx="146370" cy="334963"/>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30" name="Google Shape;2230;p54"/>
              <p:cNvSpPr/>
              <p:nvPr/>
            </p:nvSpPr>
            <p:spPr>
              <a:xfrm rot="5400000">
                <a:off x="6761262" y="2856927"/>
                <a:ext cx="317500"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31" name="Google Shape;2231;p54"/>
              <p:cNvSpPr/>
              <p:nvPr/>
            </p:nvSpPr>
            <p:spPr>
              <a:xfrm rot="5400000">
                <a:off x="7372976" y="3277920"/>
                <a:ext cx="317500"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grpSp>
          <p:nvGrpSpPr>
            <p:cNvPr id="2232" name="Google Shape;2232;p54"/>
            <p:cNvGrpSpPr/>
            <p:nvPr/>
          </p:nvGrpSpPr>
          <p:grpSpPr>
            <a:xfrm>
              <a:off x="3862845" y="5920935"/>
              <a:ext cx="425080" cy="29488"/>
              <a:chOff x="3369184" y="2894093"/>
              <a:chExt cx="1889624" cy="206474"/>
            </a:xfrm>
          </p:grpSpPr>
          <p:sp>
            <p:nvSpPr>
              <p:cNvPr id="2233" name="Google Shape;2233;p54"/>
              <p:cNvSpPr/>
              <p:nvPr/>
            </p:nvSpPr>
            <p:spPr>
              <a:xfrm rot="5400000">
                <a:off x="3370396" y="2892979"/>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34" name="Google Shape;2234;p54"/>
              <p:cNvSpPr/>
              <p:nvPr/>
            </p:nvSpPr>
            <p:spPr>
              <a:xfrm rot="5400000">
                <a:off x="3789181" y="2892946"/>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35" name="Google Shape;2235;p54"/>
              <p:cNvSpPr/>
              <p:nvPr/>
            </p:nvSpPr>
            <p:spPr>
              <a:xfrm rot="5400000">
                <a:off x="4210341" y="2892913"/>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36" name="Google Shape;2236;p54"/>
              <p:cNvSpPr/>
              <p:nvPr/>
            </p:nvSpPr>
            <p:spPr>
              <a:xfrm rot="5400000">
                <a:off x="4629126" y="2892880"/>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237" name="Google Shape;2237;p54"/>
              <p:cNvSpPr/>
              <p:nvPr/>
            </p:nvSpPr>
            <p:spPr>
              <a:xfrm rot="5400000">
                <a:off x="5051220" y="2892883"/>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sp>
          <p:nvSpPr>
            <p:cNvPr id="2238" name="Google Shape;2238;p54"/>
            <p:cNvSpPr/>
            <p:nvPr/>
          </p:nvSpPr>
          <p:spPr>
            <a:xfrm rot="10800000">
              <a:off x="3783404" y="5727429"/>
              <a:ext cx="56310" cy="553900"/>
            </a:xfrm>
            <a:custGeom>
              <a:rect b="b" l="l" r="r" t="t"/>
              <a:pathLst>
                <a:path extrusionOk="0" h="553900" w="56310">
                  <a:moveTo>
                    <a:pt x="28041" y="553900"/>
                  </a:moveTo>
                  <a:lnTo>
                    <a:pt x="0" y="553900"/>
                  </a:lnTo>
                  <a:lnTo>
                    <a:pt x="26629" y="0"/>
                  </a:lnTo>
                  <a:lnTo>
                    <a:pt x="56310" y="0"/>
                  </a:lnTo>
                  <a:lnTo>
                    <a:pt x="56310" y="4"/>
                  </a:lnTo>
                  <a:lnTo>
                    <a:pt x="54150" y="4"/>
                  </a:lnTo>
                  <a:lnTo>
                    <a:pt x="28041" y="553900"/>
                  </a:lnTo>
                  <a:close/>
                </a:path>
              </a:pathLst>
            </a:custGeom>
            <a:solidFill>
              <a:srgbClr val="FFFFFF"/>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grpSp>
      <p:sp>
        <p:nvSpPr>
          <p:cNvPr id="2239" name="Google Shape;2239;p54"/>
          <p:cNvSpPr/>
          <p:nvPr/>
        </p:nvSpPr>
        <p:spPr>
          <a:xfrm rot="10800000">
            <a:off x="5845233" y="9044711"/>
            <a:ext cx="530942" cy="329099"/>
          </a:xfrm>
          <a:custGeom>
            <a:rect b="b" l="l" r="r" t="t"/>
            <a:pathLst>
              <a:path extrusionOk="0" h="207132" w="334169">
                <a:moveTo>
                  <a:pt x="9958" y="0"/>
                </a:moveTo>
                <a:lnTo>
                  <a:pt x="49791" y="0"/>
                </a:lnTo>
                <a:lnTo>
                  <a:pt x="334169" y="0"/>
                </a:lnTo>
                <a:lnTo>
                  <a:pt x="334169" y="207132"/>
                </a:lnTo>
                <a:lnTo>
                  <a:pt x="49791" y="207132"/>
                </a:lnTo>
                <a:lnTo>
                  <a:pt x="0" y="207132"/>
                </a:lnTo>
                <a:lnTo>
                  <a:pt x="9958" y="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240" name="Google Shape;2240;p54"/>
          <p:cNvSpPr txBox="1"/>
          <p:nvPr/>
        </p:nvSpPr>
        <p:spPr>
          <a:xfrm>
            <a:off x="6382360" y="9437074"/>
            <a:ext cx="971881" cy="4527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000000"/>
                </a:solidFill>
                <a:latin typeface="Calibri"/>
                <a:ea typeface="Calibri"/>
                <a:cs typeface="Calibri"/>
                <a:sym typeface="Calibri"/>
              </a:rPr>
              <a:t>Chip</a:t>
            </a:r>
            <a:endParaRPr b="1" sz="1000">
              <a:solidFill>
                <a:srgbClr val="000000"/>
              </a:solidFill>
              <a:latin typeface="Calibri"/>
              <a:ea typeface="Calibri"/>
              <a:cs typeface="Calibri"/>
              <a:sym typeface="Calibri"/>
            </a:endParaRPr>
          </a:p>
        </p:txBody>
      </p:sp>
      <p:sp>
        <p:nvSpPr>
          <p:cNvPr id="2241" name="Google Shape;2241;p54"/>
          <p:cNvSpPr txBox="1"/>
          <p:nvPr/>
        </p:nvSpPr>
        <p:spPr>
          <a:xfrm>
            <a:off x="5647353" y="8076767"/>
            <a:ext cx="4276035"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Calibri"/>
                <a:ea typeface="Calibri"/>
                <a:cs typeface="Calibri"/>
                <a:sym typeface="Calibri"/>
              </a:rPr>
              <a:t>Oven (25 °C)</a:t>
            </a:r>
            <a:endParaRPr b="1" sz="2000">
              <a:solidFill>
                <a:srgbClr val="000000"/>
              </a:solidFill>
              <a:latin typeface="Calibri"/>
              <a:ea typeface="Calibri"/>
              <a:cs typeface="Calibri"/>
              <a:sym typeface="Calibri"/>
            </a:endParaRPr>
          </a:p>
        </p:txBody>
      </p:sp>
      <p:sp>
        <p:nvSpPr>
          <p:cNvPr id="2242" name="Google Shape;2242;p54"/>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243" name="Google Shape;2243;p54"/>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244" name="Google Shape;2244;p54"/>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245" name="Google Shape;2245;p54"/>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246" name="Google Shape;2246;p54"/>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247" name="Google Shape;2247;p54"/>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248" name="Google Shape;2248;p54"/>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cxnSp>
        <p:nvCxnSpPr>
          <p:cNvPr id="2249" name="Google Shape;2249;p54"/>
          <p:cNvCxnSpPr/>
          <p:nvPr/>
        </p:nvCxnSpPr>
        <p:spPr>
          <a:xfrm rot="10800000">
            <a:off x="13303831" y="8935315"/>
            <a:ext cx="727685" cy="706983"/>
          </a:xfrm>
          <a:prstGeom prst="straightConnector1">
            <a:avLst/>
          </a:prstGeom>
          <a:noFill/>
          <a:ln cap="flat" cmpd="sng" w="38100">
            <a:solidFill>
              <a:srgbClr val="5B9BD5"/>
            </a:solidFill>
            <a:prstDash val="solid"/>
            <a:miter lim="800000"/>
            <a:headEnd len="sm" w="sm" type="none"/>
            <a:tailEnd len="sm" w="sm" type="none"/>
          </a:ln>
        </p:spPr>
      </p:cxnSp>
      <p:sp>
        <p:nvSpPr>
          <p:cNvPr id="2187" name="Google Shape;2187;p54"/>
          <p:cNvSpPr/>
          <p:nvPr/>
        </p:nvSpPr>
        <p:spPr>
          <a:xfrm>
            <a:off x="12231406" y="8931539"/>
            <a:ext cx="111649" cy="728567"/>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2250" name="Google Shape;2250;p54"/>
          <p:cNvSpPr txBox="1"/>
          <p:nvPr/>
        </p:nvSpPr>
        <p:spPr>
          <a:xfrm>
            <a:off x="11483069" y="8054551"/>
            <a:ext cx="179854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Pump filter</a:t>
            </a:r>
            <a:endParaRPr b="1" sz="2000">
              <a:solidFill>
                <a:srgbClr val="000000"/>
              </a:solidFill>
              <a:latin typeface="Arial"/>
              <a:ea typeface="Arial"/>
              <a:cs typeface="Arial"/>
              <a:sym typeface="Arial"/>
            </a:endParaRPr>
          </a:p>
        </p:txBody>
      </p:sp>
      <p:cxnSp>
        <p:nvCxnSpPr>
          <p:cNvPr id="2251" name="Google Shape;2251;p54"/>
          <p:cNvCxnSpPr>
            <a:stCxn id="2187" idx="3"/>
            <a:endCxn id="2252" idx="1"/>
          </p:cNvCxnSpPr>
          <p:nvPr/>
        </p:nvCxnSpPr>
        <p:spPr>
          <a:xfrm>
            <a:off x="12343055" y="9295823"/>
            <a:ext cx="5338200" cy="0"/>
          </a:xfrm>
          <a:prstGeom prst="straightConnector1">
            <a:avLst/>
          </a:prstGeom>
          <a:noFill/>
          <a:ln cap="flat" cmpd="sng" w="76200">
            <a:solidFill>
              <a:srgbClr val="000000"/>
            </a:solidFill>
            <a:prstDash val="solid"/>
            <a:miter lim="800000"/>
            <a:headEnd len="sm" w="sm" type="none"/>
            <a:tailEnd len="med" w="med" type="triangle"/>
          </a:ln>
        </p:spPr>
      </p:cxnSp>
      <p:sp>
        <p:nvSpPr>
          <p:cNvPr id="2253" name="Google Shape;2253;p54"/>
          <p:cNvSpPr/>
          <p:nvPr/>
        </p:nvSpPr>
        <p:spPr>
          <a:xfrm>
            <a:off x="13298167" y="8931539"/>
            <a:ext cx="727685" cy="728567"/>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2254" name="Google Shape;2254;p54"/>
          <p:cNvSpPr txBox="1"/>
          <p:nvPr/>
        </p:nvSpPr>
        <p:spPr>
          <a:xfrm>
            <a:off x="13257249" y="8468283"/>
            <a:ext cx="82112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PBS</a:t>
            </a:r>
            <a:endParaRPr b="1" sz="2000">
              <a:solidFill>
                <a:srgbClr val="000000"/>
              </a:solidFill>
              <a:latin typeface="Arial"/>
              <a:ea typeface="Arial"/>
              <a:cs typeface="Arial"/>
              <a:sym typeface="Arial"/>
            </a:endParaRPr>
          </a:p>
        </p:txBody>
      </p:sp>
      <p:cxnSp>
        <p:nvCxnSpPr>
          <p:cNvPr id="2255" name="Google Shape;2255;p54"/>
          <p:cNvCxnSpPr/>
          <p:nvPr/>
        </p:nvCxnSpPr>
        <p:spPr>
          <a:xfrm>
            <a:off x="13662008" y="9274238"/>
            <a:ext cx="0" cy="2051245"/>
          </a:xfrm>
          <a:prstGeom prst="straightConnector1">
            <a:avLst/>
          </a:prstGeom>
          <a:noFill/>
          <a:ln cap="flat" cmpd="sng" w="76200">
            <a:solidFill>
              <a:srgbClr val="000000"/>
            </a:solidFill>
            <a:prstDash val="solid"/>
            <a:miter lim="800000"/>
            <a:headEnd len="sm" w="sm" type="none"/>
            <a:tailEnd len="sm" w="sm" type="none"/>
          </a:ln>
        </p:spPr>
      </p:cxnSp>
      <p:cxnSp>
        <p:nvCxnSpPr>
          <p:cNvPr id="2256" name="Google Shape;2256;p54"/>
          <p:cNvCxnSpPr/>
          <p:nvPr/>
        </p:nvCxnSpPr>
        <p:spPr>
          <a:xfrm>
            <a:off x="13622522" y="11302832"/>
            <a:ext cx="3035239" cy="0"/>
          </a:xfrm>
          <a:prstGeom prst="straightConnector1">
            <a:avLst/>
          </a:prstGeom>
          <a:noFill/>
          <a:ln cap="flat" cmpd="sng" w="76200">
            <a:solidFill>
              <a:srgbClr val="000000"/>
            </a:solidFill>
            <a:prstDash val="solid"/>
            <a:miter lim="800000"/>
            <a:headEnd len="sm" w="sm" type="none"/>
            <a:tailEnd len="sm" w="sm" type="none"/>
          </a:ln>
        </p:spPr>
      </p:cxnSp>
      <p:sp>
        <p:nvSpPr>
          <p:cNvPr id="2252" name="Google Shape;2252;p54"/>
          <p:cNvSpPr/>
          <p:nvPr/>
        </p:nvSpPr>
        <p:spPr>
          <a:xfrm>
            <a:off x="17681242" y="9078762"/>
            <a:ext cx="453019" cy="434120"/>
          </a:xfrm>
          <a:prstGeom prst="flowChartDelay">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2257" name="Google Shape;2257;p54"/>
          <p:cNvSpPr/>
          <p:nvPr/>
        </p:nvSpPr>
        <p:spPr>
          <a:xfrm>
            <a:off x="18094220" y="11085772"/>
            <a:ext cx="453019" cy="434120"/>
          </a:xfrm>
          <a:prstGeom prst="flowChartDelay">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cxnSp>
        <p:nvCxnSpPr>
          <p:cNvPr id="2258" name="Google Shape;2258;p54"/>
          <p:cNvCxnSpPr>
            <a:endCxn id="2257" idx="1"/>
          </p:cNvCxnSpPr>
          <p:nvPr/>
        </p:nvCxnSpPr>
        <p:spPr>
          <a:xfrm>
            <a:off x="16302320" y="11302832"/>
            <a:ext cx="1791900" cy="0"/>
          </a:xfrm>
          <a:prstGeom prst="straightConnector1">
            <a:avLst/>
          </a:prstGeom>
          <a:noFill/>
          <a:ln cap="flat" cmpd="sng" w="76200">
            <a:solidFill>
              <a:srgbClr val="000000"/>
            </a:solidFill>
            <a:prstDash val="solid"/>
            <a:miter lim="800000"/>
            <a:headEnd len="sm" w="sm" type="none"/>
            <a:tailEnd len="med" w="med" type="triangle"/>
          </a:ln>
        </p:spPr>
      </p:cxnSp>
      <p:sp>
        <p:nvSpPr>
          <p:cNvPr id="2259" name="Google Shape;2259;p54"/>
          <p:cNvSpPr txBox="1"/>
          <p:nvPr/>
        </p:nvSpPr>
        <p:spPr>
          <a:xfrm>
            <a:off x="17355097" y="8580328"/>
            <a:ext cx="101819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SPD</a:t>
            </a:r>
            <a:endParaRPr b="1" sz="2000">
              <a:solidFill>
                <a:srgbClr val="000000"/>
              </a:solidFill>
              <a:latin typeface="Arial"/>
              <a:ea typeface="Arial"/>
              <a:cs typeface="Arial"/>
              <a:sym typeface="Arial"/>
            </a:endParaRPr>
          </a:p>
        </p:txBody>
      </p:sp>
      <p:sp>
        <p:nvSpPr>
          <p:cNvPr id="2260" name="Google Shape;2260;p54"/>
          <p:cNvSpPr txBox="1"/>
          <p:nvPr/>
        </p:nvSpPr>
        <p:spPr>
          <a:xfrm>
            <a:off x="17264574" y="11736952"/>
            <a:ext cx="211231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Arial"/>
                <a:ea typeface="Arial"/>
                <a:cs typeface="Arial"/>
                <a:sym typeface="Arial"/>
              </a:rPr>
              <a:t>Triggered SPD</a:t>
            </a:r>
            <a:endParaRPr b="1" sz="2000">
              <a:solidFill>
                <a:srgbClr val="000000"/>
              </a:solidFill>
              <a:latin typeface="Arial"/>
              <a:ea typeface="Arial"/>
              <a:cs typeface="Arial"/>
              <a:sym typeface="Arial"/>
            </a:endParaRPr>
          </a:p>
        </p:txBody>
      </p:sp>
      <p:cxnSp>
        <p:nvCxnSpPr>
          <p:cNvPr id="2261" name="Google Shape;2261;p54"/>
          <p:cNvCxnSpPr/>
          <p:nvPr/>
        </p:nvCxnSpPr>
        <p:spPr>
          <a:xfrm>
            <a:off x="19585594" y="9295823"/>
            <a:ext cx="0" cy="2007010"/>
          </a:xfrm>
          <a:prstGeom prst="straightConnector1">
            <a:avLst/>
          </a:prstGeom>
          <a:noFill/>
          <a:ln cap="flat" cmpd="sng" w="76200">
            <a:solidFill>
              <a:srgbClr val="000000"/>
            </a:solidFill>
            <a:prstDash val="solid"/>
            <a:miter lim="800000"/>
            <a:headEnd len="sm" w="sm" type="none"/>
            <a:tailEnd len="sm" w="sm" type="none"/>
          </a:ln>
        </p:spPr>
      </p:cxnSp>
      <p:cxnSp>
        <p:nvCxnSpPr>
          <p:cNvPr id="2262" name="Google Shape;2262;p54"/>
          <p:cNvCxnSpPr/>
          <p:nvPr/>
        </p:nvCxnSpPr>
        <p:spPr>
          <a:xfrm>
            <a:off x="18157501" y="9295823"/>
            <a:ext cx="1465036" cy="0"/>
          </a:xfrm>
          <a:prstGeom prst="straightConnector1">
            <a:avLst/>
          </a:prstGeom>
          <a:noFill/>
          <a:ln cap="flat" cmpd="sng" w="76200">
            <a:solidFill>
              <a:srgbClr val="000000"/>
            </a:solidFill>
            <a:prstDash val="solid"/>
            <a:miter lim="800000"/>
            <a:headEnd len="sm" w="sm" type="none"/>
            <a:tailEnd len="sm" w="sm" type="none"/>
          </a:ln>
        </p:spPr>
      </p:cxnSp>
      <p:cxnSp>
        <p:nvCxnSpPr>
          <p:cNvPr id="2263" name="Google Shape;2263;p54"/>
          <p:cNvCxnSpPr/>
          <p:nvPr/>
        </p:nvCxnSpPr>
        <p:spPr>
          <a:xfrm rot="10800000">
            <a:off x="18583334" y="11302832"/>
            <a:ext cx="1039203" cy="0"/>
          </a:xfrm>
          <a:prstGeom prst="straightConnector1">
            <a:avLst/>
          </a:prstGeom>
          <a:noFill/>
          <a:ln cap="flat" cmpd="sng" w="76200">
            <a:solidFill>
              <a:srgbClr val="000000"/>
            </a:solidFill>
            <a:prstDash val="solid"/>
            <a:miter lim="800000"/>
            <a:headEnd len="sm" w="sm" type="none"/>
            <a:tailEnd len="med" w="med" type="triangle"/>
          </a:ln>
        </p:spPr>
      </p:cxnSp>
      <p:sp>
        <p:nvSpPr>
          <p:cNvPr id="2264" name="Google Shape;2264;p54"/>
          <p:cNvSpPr txBox="1"/>
          <p:nvPr/>
        </p:nvSpPr>
        <p:spPr>
          <a:xfrm>
            <a:off x="18275653" y="8787183"/>
            <a:ext cx="301054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Triggering signals</a:t>
            </a:r>
            <a:endParaRPr b="1" sz="2000">
              <a:solidFill>
                <a:srgbClr val="000000"/>
              </a:solidFill>
              <a:latin typeface="Arial"/>
              <a:ea typeface="Arial"/>
              <a:cs typeface="Arial"/>
              <a:sym typeface="Arial"/>
            </a:endParaRPr>
          </a:p>
        </p:txBody>
      </p:sp>
      <p:sp>
        <p:nvSpPr>
          <p:cNvPr id="2265" name="Google Shape;2265;p54"/>
          <p:cNvSpPr txBox="1"/>
          <p:nvPr/>
        </p:nvSpPr>
        <p:spPr>
          <a:xfrm>
            <a:off x="9290175" y="8057429"/>
            <a:ext cx="201030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Calibri"/>
                <a:ea typeface="Calibri"/>
                <a:cs typeface="Calibri"/>
                <a:sym typeface="Calibri"/>
              </a:rPr>
              <a:t>Objective lens</a:t>
            </a:r>
            <a:endParaRPr b="1" sz="2000">
              <a:solidFill>
                <a:srgbClr val="000000"/>
              </a:solidFill>
              <a:latin typeface="Calibri"/>
              <a:ea typeface="Calibri"/>
              <a:cs typeface="Calibri"/>
              <a:sym typeface="Calibri"/>
            </a:endParaRPr>
          </a:p>
        </p:txBody>
      </p:sp>
      <p:sp>
        <p:nvSpPr>
          <p:cNvPr id="2266" name="Google Shape;2266;p54"/>
          <p:cNvSpPr/>
          <p:nvPr/>
        </p:nvSpPr>
        <p:spPr>
          <a:xfrm rot="5400000">
            <a:off x="9783913" y="8802057"/>
            <a:ext cx="1027251" cy="968448"/>
          </a:xfrm>
          <a:prstGeom prst="snip2SameRect">
            <a:avLst>
              <a:gd fmla="val 16667" name="adj1"/>
              <a:gd fmla="val 0" name="adj2"/>
            </a:avLst>
          </a:prstGeom>
          <a:solidFill>
            <a:srgbClr val="757070"/>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267" name="Google Shape;2267;p54"/>
          <p:cNvSpPr txBox="1"/>
          <p:nvPr/>
        </p:nvSpPr>
        <p:spPr>
          <a:xfrm>
            <a:off x="2326222" y="11252991"/>
            <a:ext cx="10826042" cy="1323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In this measurement, we used samples with input facet fiber-pigtailed, which can only withstand a temperature below 85</a:t>
            </a:r>
            <a:r>
              <a:rPr lang="en-US" sz="2400">
                <a:solidFill>
                  <a:srgbClr val="000000"/>
                </a:solidFill>
                <a:latin typeface="Calibri"/>
                <a:ea typeface="Calibri"/>
                <a:cs typeface="Calibri"/>
                <a:sym typeface="Calibri"/>
              </a:rPr>
              <a:t> °C</a:t>
            </a:r>
            <a:r>
              <a:rPr lang="en-US" sz="2600">
                <a:solidFill>
                  <a:srgbClr val="000000"/>
                </a:solidFill>
                <a:latin typeface="Calibri"/>
                <a:ea typeface="Calibri"/>
                <a:cs typeface="Calibri"/>
                <a:sym typeface="Calibri"/>
              </a:rPr>
              <a:t> , therefore the coincidence measurement was performed at non-degenerate conditions.</a:t>
            </a:r>
            <a:endParaRPr/>
          </a:p>
        </p:txBody>
      </p:sp>
      <p:sp>
        <p:nvSpPr>
          <p:cNvPr id="2268" name="Google Shape;2268;p54"/>
          <p:cNvSpPr txBox="1"/>
          <p:nvPr/>
        </p:nvSpPr>
        <p:spPr>
          <a:xfrm>
            <a:off x="5513237" y="10192808"/>
            <a:ext cx="4591705"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Calibri"/>
                <a:ea typeface="Calibri"/>
                <a:cs typeface="Calibri"/>
                <a:sym typeface="Calibri"/>
              </a:rPr>
              <a:t>Chip 1, </a:t>
            </a:r>
            <a:r>
              <a:rPr b="1" lang="en-US" sz="2000">
                <a:solidFill>
                  <a:schemeClr val="dk2"/>
                </a:solidFill>
                <a:latin typeface="Calibri"/>
                <a:ea typeface="Calibri"/>
                <a:cs typeface="Calibri"/>
                <a:sym typeface="Calibri"/>
              </a:rPr>
              <a:t>4.5 </a:t>
            </a:r>
            <a:r>
              <a:rPr b="1" lang="en-US" sz="2000">
                <a:solidFill>
                  <a:srgbClr val="000000"/>
                </a:solidFill>
                <a:latin typeface="Calibri"/>
                <a:ea typeface="Calibri"/>
                <a:cs typeface="Calibri"/>
                <a:sym typeface="Calibri"/>
              </a:rPr>
              <a:t>μW input</a:t>
            </a:r>
            <a:endParaRPr/>
          </a:p>
          <a:p>
            <a:pPr indent="0" lvl="0" marL="0" marR="0" rtl="0" algn="ctr">
              <a:spcBef>
                <a:spcPts val="0"/>
              </a:spcBef>
              <a:spcAft>
                <a:spcPts val="0"/>
              </a:spcAft>
              <a:buNone/>
            </a:pPr>
            <a:r>
              <a:rPr b="1" lang="en-US" sz="2000">
                <a:solidFill>
                  <a:srgbClr val="000000"/>
                </a:solidFill>
                <a:latin typeface="Calibri"/>
                <a:ea typeface="Calibri"/>
                <a:cs typeface="Calibri"/>
                <a:sym typeface="Calibri"/>
              </a:rPr>
              <a:t> (coupling loss subtracted)</a:t>
            </a:r>
            <a:r>
              <a:rPr b="1" lang="en-US" sz="2000">
                <a:solidFill>
                  <a:schemeClr val="dk2"/>
                </a:solidFill>
                <a:latin typeface="Calibri"/>
                <a:ea typeface="Calibri"/>
                <a:cs typeface="Calibri"/>
                <a:sym typeface="Calibri"/>
              </a:rPr>
              <a:t> </a:t>
            </a:r>
            <a:endParaRPr b="1" sz="2000">
              <a:solidFill>
                <a:schemeClr val="dk2"/>
              </a:solidFill>
              <a:latin typeface="Calibri"/>
              <a:ea typeface="Calibri"/>
              <a:cs typeface="Calibri"/>
              <a:sym typeface="Calibri"/>
            </a:endParaRPr>
          </a:p>
        </p:txBody>
      </p:sp>
      <p:sp>
        <p:nvSpPr>
          <p:cNvPr id="2269" name="Google Shape;2269;p54"/>
          <p:cNvSpPr/>
          <p:nvPr/>
        </p:nvSpPr>
        <p:spPr>
          <a:xfrm>
            <a:off x="14908615" y="8931539"/>
            <a:ext cx="111649" cy="728567"/>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2270" name="Google Shape;2270;p54"/>
          <p:cNvSpPr txBox="1"/>
          <p:nvPr/>
        </p:nvSpPr>
        <p:spPr>
          <a:xfrm>
            <a:off x="14160278" y="8054551"/>
            <a:ext cx="179854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Pump filter</a:t>
            </a:r>
            <a:endParaRPr b="1" sz="2000">
              <a:solidFill>
                <a:srgbClr val="000000"/>
              </a:solidFill>
              <a:latin typeface="Arial"/>
              <a:ea typeface="Arial"/>
              <a:cs typeface="Arial"/>
              <a:sym typeface="Arial"/>
            </a:endParaRPr>
          </a:p>
        </p:txBody>
      </p:sp>
      <p:pic>
        <p:nvPicPr>
          <p:cNvPr id="2271" name="Google Shape;2271;p54"/>
          <p:cNvPicPr preferRelativeResize="0"/>
          <p:nvPr/>
        </p:nvPicPr>
        <p:blipFill rotWithShape="1">
          <a:blip r:embed="rId3">
            <a:alphaModFix/>
          </a:blip>
          <a:srcRect b="0" l="0" r="0" t="0"/>
          <a:stretch/>
        </p:blipFill>
        <p:spPr>
          <a:xfrm>
            <a:off x="17264574" y="3723084"/>
            <a:ext cx="2933234" cy="1873921"/>
          </a:xfrm>
          <a:prstGeom prst="rect">
            <a:avLst/>
          </a:prstGeom>
          <a:noFill/>
          <a:ln>
            <a:noFill/>
          </a:ln>
        </p:spPr>
      </p:pic>
      <p:pic>
        <p:nvPicPr>
          <p:cNvPr id="2272" name="Google Shape;2272;p54"/>
          <p:cNvPicPr preferRelativeResize="0"/>
          <p:nvPr/>
        </p:nvPicPr>
        <p:blipFill rotWithShape="1">
          <a:blip r:embed="rId4">
            <a:alphaModFix/>
          </a:blip>
          <a:srcRect b="0" l="0" r="0" t="0"/>
          <a:stretch/>
        </p:blipFill>
        <p:spPr>
          <a:xfrm>
            <a:off x="20519359" y="3643992"/>
            <a:ext cx="1708238" cy="2032104"/>
          </a:xfrm>
          <a:prstGeom prst="rect">
            <a:avLst/>
          </a:prstGeom>
          <a:noFill/>
          <a:ln>
            <a:noFill/>
          </a:ln>
        </p:spPr>
      </p:pic>
      <p:sp>
        <p:nvSpPr>
          <p:cNvPr id="2273" name="Google Shape;2273;p54"/>
          <p:cNvSpPr txBox="1"/>
          <p:nvPr/>
        </p:nvSpPr>
        <p:spPr>
          <a:xfrm>
            <a:off x="15769505" y="3260525"/>
            <a:ext cx="757436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This experiment was performed in quantum photonics laboratory led by professor Chuu </a:t>
            </a:r>
            <a:endParaRPr/>
          </a:p>
        </p:txBody>
      </p:sp>
      <p:sp>
        <p:nvSpPr>
          <p:cNvPr id="2274" name="Google Shape;2274;p54"/>
          <p:cNvSpPr txBox="1"/>
          <p:nvPr/>
        </p:nvSpPr>
        <p:spPr>
          <a:xfrm>
            <a:off x="14235764" y="11417867"/>
            <a:ext cx="2457491"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Signal photons (1624 nm)</a:t>
            </a:r>
            <a:endParaRPr b="1" sz="2000">
              <a:solidFill>
                <a:srgbClr val="000000"/>
              </a:solidFill>
              <a:latin typeface="Arial"/>
              <a:ea typeface="Arial"/>
              <a:cs typeface="Arial"/>
              <a:sym typeface="Arial"/>
            </a:endParaRPr>
          </a:p>
        </p:txBody>
      </p:sp>
      <p:sp>
        <p:nvSpPr>
          <p:cNvPr id="2275" name="Google Shape;2275;p54"/>
          <p:cNvSpPr txBox="1"/>
          <p:nvPr/>
        </p:nvSpPr>
        <p:spPr>
          <a:xfrm>
            <a:off x="15150880" y="9429098"/>
            <a:ext cx="226547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Idler photons (1519 nm)</a:t>
            </a:r>
            <a:endParaRPr b="1" sz="2000">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9" name="Shape 2279"/>
        <p:cNvGrpSpPr/>
        <p:nvPr/>
      </p:nvGrpSpPr>
      <p:grpSpPr>
        <a:xfrm>
          <a:off x="0" y="0"/>
          <a:ext cx="0" cy="0"/>
          <a:chOff x="0" y="0"/>
          <a:chExt cx="0" cy="0"/>
        </a:xfrm>
      </p:grpSpPr>
      <p:sp>
        <p:nvSpPr>
          <p:cNvPr id="2280" name="Google Shape;2280;p55"/>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Coincidence peak</a:t>
            </a:r>
            <a:endParaRPr/>
          </a:p>
        </p:txBody>
      </p:sp>
      <p:sp>
        <p:nvSpPr>
          <p:cNvPr id="2281" name="Google Shape;2281;p55"/>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282" name="Google Shape;2282;p55"/>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83" name="Google Shape;2283;p55"/>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284" name="Google Shape;2284;p55"/>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285" name="Google Shape;2285;p55"/>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286" name="Google Shape;2286;p55"/>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287" name="Google Shape;2287;p55"/>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288" name="Google Shape;2288;p55"/>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289" name="Google Shape;2289;p55"/>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pic>
        <p:nvPicPr>
          <p:cNvPr id="2290" name="Google Shape;2290;p55"/>
          <p:cNvPicPr preferRelativeResize="0"/>
          <p:nvPr/>
        </p:nvPicPr>
        <p:blipFill rotWithShape="1">
          <a:blip r:embed="rId3">
            <a:alphaModFix/>
          </a:blip>
          <a:srcRect b="0" l="0" r="0" t="0"/>
          <a:stretch/>
        </p:blipFill>
        <p:spPr>
          <a:xfrm>
            <a:off x="7733307" y="5732264"/>
            <a:ext cx="9044784" cy="6783587"/>
          </a:xfrm>
          <a:prstGeom prst="rect">
            <a:avLst/>
          </a:prstGeom>
          <a:noFill/>
          <a:ln>
            <a:noFill/>
          </a:ln>
        </p:spPr>
      </p:pic>
      <p:sp>
        <p:nvSpPr>
          <p:cNvPr id="2291" name="Google Shape;2291;p55"/>
          <p:cNvSpPr txBox="1"/>
          <p:nvPr/>
        </p:nvSpPr>
        <p:spPr>
          <a:xfrm>
            <a:off x="5319579" y="4008715"/>
            <a:ext cx="13738490"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The result shows clear coincidence peak, which directly proves the successful generation of photon pairs. The 25 ns offset comes from the optical path difference between signal and idler arms.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5" name="Shape 2295"/>
        <p:cNvGrpSpPr/>
        <p:nvPr/>
      </p:nvGrpSpPr>
      <p:grpSpPr>
        <a:xfrm>
          <a:off x="0" y="0"/>
          <a:ext cx="0" cy="0"/>
          <a:chOff x="0" y="0"/>
          <a:chExt cx="0" cy="0"/>
        </a:xfrm>
      </p:grpSpPr>
      <p:sp>
        <p:nvSpPr>
          <p:cNvPr id="2296" name="Google Shape;2296;p56"/>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Calculation of pair generation rate</a:t>
            </a:r>
            <a:endParaRPr/>
          </a:p>
        </p:txBody>
      </p:sp>
      <p:sp>
        <p:nvSpPr>
          <p:cNvPr id="2297" name="Google Shape;2297;p56"/>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298" name="Google Shape;2298;p56"/>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99" name="Google Shape;2299;p56"/>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300" name="Google Shape;2300;p56"/>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301" name="Google Shape;2301;p56"/>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302" name="Google Shape;2302;p56"/>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303" name="Google Shape;2303;p56"/>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304" name="Google Shape;2304;p56"/>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305" name="Google Shape;2305;p56"/>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pic>
        <p:nvPicPr>
          <p:cNvPr id="2306" name="Google Shape;2306;p56"/>
          <p:cNvPicPr preferRelativeResize="0"/>
          <p:nvPr/>
        </p:nvPicPr>
        <p:blipFill rotWithShape="1">
          <a:blip r:embed="rId3">
            <a:alphaModFix/>
          </a:blip>
          <a:srcRect b="0" l="0" r="0" t="0"/>
          <a:stretch/>
        </p:blipFill>
        <p:spPr>
          <a:xfrm>
            <a:off x="3301372" y="9667232"/>
            <a:ext cx="2983529" cy="360000"/>
          </a:xfrm>
          <a:prstGeom prst="rect">
            <a:avLst/>
          </a:prstGeom>
          <a:noFill/>
          <a:ln>
            <a:noFill/>
          </a:ln>
        </p:spPr>
      </p:pic>
      <p:pic>
        <p:nvPicPr>
          <p:cNvPr id="2307" name="Google Shape;2307;p56"/>
          <p:cNvPicPr preferRelativeResize="0"/>
          <p:nvPr/>
        </p:nvPicPr>
        <p:blipFill rotWithShape="1">
          <a:blip r:embed="rId4">
            <a:alphaModFix/>
          </a:blip>
          <a:srcRect b="0" l="0" r="0" t="0"/>
          <a:stretch/>
        </p:blipFill>
        <p:spPr>
          <a:xfrm>
            <a:off x="3301371" y="10395692"/>
            <a:ext cx="2992940" cy="360000"/>
          </a:xfrm>
          <a:prstGeom prst="rect">
            <a:avLst/>
          </a:prstGeom>
          <a:noFill/>
          <a:ln>
            <a:noFill/>
          </a:ln>
        </p:spPr>
      </p:pic>
      <p:pic>
        <p:nvPicPr>
          <p:cNvPr id="2308" name="Google Shape;2308;p56"/>
          <p:cNvPicPr preferRelativeResize="0"/>
          <p:nvPr/>
        </p:nvPicPr>
        <p:blipFill rotWithShape="1">
          <a:blip r:embed="rId5">
            <a:alphaModFix/>
          </a:blip>
          <a:srcRect b="0" l="0" r="0" t="0"/>
          <a:stretch/>
        </p:blipFill>
        <p:spPr>
          <a:xfrm>
            <a:off x="3301370" y="7778714"/>
            <a:ext cx="2785770" cy="360000"/>
          </a:xfrm>
          <a:prstGeom prst="rect">
            <a:avLst/>
          </a:prstGeom>
          <a:noFill/>
          <a:ln>
            <a:noFill/>
          </a:ln>
        </p:spPr>
      </p:pic>
      <p:pic>
        <p:nvPicPr>
          <p:cNvPr id="2309" name="Google Shape;2309;p56"/>
          <p:cNvPicPr preferRelativeResize="0"/>
          <p:nvPr/>
        </p:nvPicPr>
        <p:blipFill rotWithShape="1">
          <a:blip r:embed="rId6">
            <a:alphaModFix/>
          </a:blip>
          <a:srcRect b="0" l="0" r="0" t="0"/>
          <a:stretch/>
        </p:blipFill>
        <p:spPr>
          <a:xfrm>
            <a:off x="9855429" y="9839971"/>
            <a:ext cx="4573740" cy="720000"/>
          </a:xfrm>
          <a:prstGeom prst="rect">
            <a:avLst/>
          </a:prstGeom>
          <a:noFill/>
          <a:ln>
            <a:noFill/>
          </a:ln>
        </p:spPr>
      </p:pic>
      <p:pic>
        <p:nvPicPr>
          <p:cNvPr id="2310" name="Google Shape;2310;p56"/>
          <p:cNvPicPr preferRelativeResize="0"/>
          <p:nvPr/>
        </p:nvPicPr>
        <p:blipFill rotWithShape="1">
          <a:blip r:embed="rId7">
            <a:alphaModFix/>
          </a:blip>
          <a:srcRect b="0" l="0" r="0" t="0"/>
          <a:stretch/>
        </p:blipFill>
        <p:spPr>
          <a:xfrm>
            <a:off x="16109571" y="5061475"/>
            <a:ext cx="4966709" cy="288000"/>
          </a:xfrm>
          <a:prstGeom prst="rect">
            <a:avLst/>
          </a:prstGeom>
          <a:noFill/>
          <a:ln>
            <a:noFill/>
          </a:ln>
        </p:spPr>
      </p:pic>
      <p:pic>
        <p:nvPicPr>
          <p:cNvPr id="2311" name="Google Shape;2311;p56"/>
          <p:cNvPicPr preferRelativeResize="0"/>
          <p:nvPr/>
        </p:nvPicPr>
        <p:blipFill rotWithShape="1">
          <a:blip r:embed="rId8">
            <a:alphaModFix/>
          </a:blip>
          <a:srcRect b="0" l="0" r="0" t="0"/>
          <a:stretch/>
        </p:blipFill>
        <p:spPr>
          <a:xfrm>
            <a:off x="16109571" y="5679883"/>
            <a:ext cx="4966708" cy="288000"/>
          </a:xfrm>
          <a:prstGeom prst="rect">
            <a:avLst/>
          </a:prstGeom>
          <a:noFill/>
          <a:ln>
            <a:noFill/>
          </a:ln>
        </p:spPr>
      </p:pic>
      <p:pic>
        <p:nvPicPr>
          <p:cNvPr id="2312" name="Google Shape;2312;p56"/>
          <p:cNvPicPr preferRelativeResize="0"/>
          <p:nvPr/>
        </p:nvPicPr>
        <p:blipFill rotWithShape="1">
          <a:blip r:embed="rId9">
            <a:alphaModFix/>
          </a:blip>
          <a:srcRect b="0" l="0" r="0" t="0"/>
          <a:stretch/>
        </p:blipFill>
        <p:spPr>
          <a:xfrm>
            <a:off x="16109572" y="10008739"/>
            <a:ext cx="3897487" cy="288000"/>
          </a:xfrm>
          <a:prstGeom prst="rect">
            <a:avLst/>
          </a:prstGeom>
          <a:noFill/>
          <a:ln>
            <a:noFill/>
          </a:ln>
        </p:spPr>
      </p:pic>
      <p:pic>
        <p:nvPicPr>
          <p:cNvPr id="2313" name="Google Shape;2313;p56"/>
          <p:cNvPicPr preferRelativeResize="0"/>
          <p:nvPr/>
        </p:nvPicPr>
        <p:blipFill rotWithShape="1">
          <a:blip r:embed="rId10">
            <a:alphaModFix/>
          </a:blip>
          <a:srcRect b="0" l="0" r="0" t="0"/>
          <a:stretch/>
        </p:blipFill>
        <p:spPr>
          <a:xfrm>
            <a:off x="16109571" y="6298291"/>
            <a:ext cx="4896000" cy="288000"/>
          </a:xfrm>
          <a:prstGeom prst="rect">
            <a:avLst/>
          </a:prstGeom>
          <a:noFill/>
          <a:ln>
            <a:noFill/>
          </a:ln>
        </p:spPr>
      </p:pic>
      <p:pic>
        <p:nvPicPr>
          <p:cNvPr id="2314" name="Google Shape;2314;p56"/>
          <p:cNvPicPr preferRelativeResize="0"/>
          <p:nvPr/>
        </p:nvPicPr>
        <p:blipFill rotWithShape="1">
          <a:blip r:embed="rId11">
            <a:alphaModFix/>
          </a:blip>
          <a:srcRect b="0" l="0" r="0" t="0"/>
          <a:stretch/>
        </p:blipFill>
        <p:spPr>
          <a:xfrm>
            <a:off x="16109571" y="6916699"/>
            <a:ext cx="4896000" cy="288000"/>
          </a:xfrm>
          <a:prstGeom prst="rect">
            <a:avLst/>
          </a:prstGeom>
          <a:noFill/>
          <a:ln>
            <a:noFill/>
          </a:ln>
        </p:spPr>
      </p:pic>
      <p:pic>
        <p:nvPicPr>
          <p:cNvPr id="2315" name="Google Shape;2315;p56"/>
          <p:cNvPicPr preferRelativeResize="0"/>
          <p:nvPr/>
        </p:nvPicPr>
        <p:blipFill rotWithShape="1">
          <a:blip r:embed="rId12">
            <a:alphaModFix/>
          </a:blip>
          <a:srcRect b="0" l="0" r="0" t="0"/>
          <a:stretch/>
        </p:blipFill>
        <p:spPr>
          <a:xfrm>
            <a:off x="16109571" y="7535107"/>
            <a:ext cx="4539333" cy="288000"/>
          </a:xfrm>
          <a:prstGeom prst="rect">
            <a:avLst/>
          </a:prstGeom>
          <a:noFill/>
          <a:ln>
            <a:noFill/>
          </a:ln>
        </p:spPr>
      </p:pic>
      <p:pic>
        <p:nvPicPr>
          <p:cNvPr id="2316" name="Google Shape;2316;p56"/>
          <p:cNvPicPr preferRelativeResize="0"/>
          <p:nvPr/>
        </p:nvPicPr>
        <p:blipFill rotWithShape="1">
          <a:blip r:embed="rId13">
            <a:alphaModFix/>
          </a:blip>
          <a:srcRect b="0" l="0" r="0" t="0"/>
          <a:stretch/>
        </p:blipFill>
        <p:spPr>
          <a:xfrm>
            <a:off x="16109571" y="8153515"/>
            <a:ext cx="4361955" cy="288000"/>
          </a:xfrm>
          <a:prstGeom prst="rect">
            <a:avLst/>
          </a:prstGeom>
          <a:noFill/>
          <a:ln>
            <a:noFill/>
          </a:ln>
        </p:spPr>
      </p:pic>
      <p:pic>
        <p:nvPicPr>
          <p:cNvPr id="2317" name="Google Shape;2317;p56"/>
          <p:cNvPicPr preferRelativeResize="0"/>
          <p:nvPr/>
        </p:nvPicPr>
        <p:blipFill rotWithShape="1">
          <a:blip r:embed="rId14">
            <a:alphaModFix/>
          </a:blip>
          <a:srcRect b="0" l="0" r="0" t="0"/>
          <a:stretch/>
        </p:blipFill>
        <p:spPr>
          <a:xfrm>
            <a:off x="16109571" y="10627146"/>
            <a:ext cx="3630171" cy="288000"/>
          </a:xfrm>
          <a:prstGeom prst="rect">
            <a:avLst/>
          </a:prstGeom>
          <a:noFill/>
          <a:ln>
            <a:noFill/>
          </a:ln>
        </p:spPr>
      </p:pic>
      <p:sp>
        <p:nvSpPr>
          <p:cNvPr id="2318" name="Google Shape;2318;p56"/>
          <p:cNvSpPr/>
          <p:nvPr/>
        </p:nvSpPr>
        <p:spPr>
          <a:xfrm>
            <a:off x="7489157" y="9933154"/>
            <a:ext cx="1311041" cy="561782"/>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19" name="Google Shape;2319;p56"/>
          <p:cNvSpPr txBox="1"/>
          <p:nvPr/>
        </p:nvSpPr>
        <p:spPr>
          <a:xfrm>
            <a:off x="4445238" y="4862156"/>
            <a:ext cx="7925661"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From the measured count rates at two detectors and the coincidence count rate calculated from the coincidence peak, we can get the pair generation rate of the source</a:t>
            </a:r>
            <a:endParaRPr/>
          </a:p>
        </p:txBody>
      </p:sp>
      <p:pic>
        <p:nvPicPr>
          <p:cNvPr id="2320" name="Google Shape;2320;p56"/>
          <p:cNvPicPr preferRelativeResize="0"/>
          <p:nvPr/>
        </p:nvPicPr>
        <p:blipFill rotWithShape="1">
          <a:blip r:embed="rId15">
            <a:alphaModFix/>
          </a:blip>
          <a:srcRect b="0" l="0" r="0" t="0"/>
          <a:stretch/>
        </p:blipFill>
        <p:spPr>
          <a:xfrm>
            <a:off x="16109571" y="8771923"/>
            <a:ext cx="4916704" cy="288000"/>
          </a:xfrm>
          <a:prstGeom prst="rect">
            <a:avLst/>
          </a:prstGeom>
          <a:noFill/>
          <a:ln>
            <a:noFill/>
          </a:ln>
        </p:spPr>
      </p:pic>
      <p:pic>
        <p:nvPicPr>
          <p:cNvPr id="2321" name="Google Shape;2321;p56"/>
          <p:cNvPicPr preferRelativeResize="0"/>
          <p:nvPr/>
        </p:nvPicPr>
        <p:blipFill rotWithShape="1">
          <a:blip r:embed="rId16">
            <a:alphaModFix/>
          </a:blip>
          <a:srcRect b="0" l="0" r="0" t="0"/>
          <a:stretch/>
        </p:blipFill>
        <p:spPr>
          <a:xfrm>
            <a:off x="16109571" y="9390331"/>
            <a:ext cx="4926116" cy="288000"/>
          </a:xfrm>
          <a:prstGeom prst="rect">
            <a:avLst/>
          </a:prstGeom>
          <a:noFill/>
          <a:ln>
            <a:noFill/>
          </a:ln>
        </p:spPr>
      </p:pic>
      <p:pic>
        <p:nvPicPr>
          <p:cNvPr id="2322" name="Google Shape;2322;p56"/>
          <p:cNvPicPr preferRelativeResize="0"/>
          <p:nvPr/>
        </p:nvPicPr>
        <p:blipFill rotWithShape="1">
          <a:blip r:embed="rId17">
            <a:alphaModFix/>
          </a:blip>
          <a:srcRect b="0" l="0" r="0" t="0"/>
          <a:stretch/>
        </p:blipFill>
        <p:spPr>
          <a:xfrm>
            <a:off x="9855429" y="7594658"/>
            <a:ext cx="2997354" cy="719999"/>
          </a:xfrm>
          <a:prstGeom prst="rect">
            <a:avLst/>
          </a:prstGeom>
          <a:noFill/>
          <a:ln>
            <a:noFill/>
          </a:ln>
        </p:spPr>
      </p:pic>
      <p:sp>
        <p:nvSpPr>
          <p:cNvPr id="2323" name="Google Shape;2323;p56"/>
          <p:cNvSpPr/>
          <p:nvPr/>
        </p:nvSpPr>
        <p:spPr>
          <a:xfrm>
            <a:off x="7489156" y="7673767"/>
            <a:ext cx="1311041" cy="561782"/>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24" name="Google Shape;2324;p56"/>
          <p:cNvSpPr txBox="1"/>
          <p:nvPr/>
        </p:nvSpPr>
        <p:spPr>
          <a:xfrm>
            <a:off x="7553324" y="8803574"/>
            <a:ext cx="983746"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OR</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8" name="Shape 2328"/>
        <p:cNvGrpSpPr/>
        <p:nvPr/>
      </p:nvGrpSpPr>
      <p:grpSpPr>
        <a:xfrm>
          <a:off x="0" y="0"/>
          <a:ext cx="0" cy="0"/>
          <a:chOff x="0" y="0"/>
          <a:chExt cx="0" cy="0"/>
        </a:xfrm>
      </p:grpSpPr>
      <p:sp>
        <p:nvSpPr>
          <p:cNvPr id="2329" name="Google Shape;2329;p57"/>
          <p:cNvSpPr txBox="1"/>
          <p:nvPr/>
        </p:nvSpPr>
        <p:spPr>
          <a:xfrm>
            <a:off x="3949452" y="1483499"/>
            <a:ext cx="16478743"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Loss calculation</a:t>
            </a:r>
            <a:endParaRPr/>
          </a:p>
        </p:txBody>
      </p:sp>
      <p:sp>
        <p:nvSpPr>
          <p:cNvPr id="2330" name="Google Shape;2330;p57"/>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331" name="Google Shape;2331;p57"/>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2332" name="Google Shape;2332;p57"/>
          <p:cNvCxnSpPr/>
          <p:nvPr/>
        </p:nvCxnSpPr>
        <p:spPr>
          <a:xfrm>
            <a:off x="5221560" y="9209261"/>
            <a:ext cx="1733449" cy="0"/>
          </a:xfrm>
          <a:prstGeom prst="straightConnector1">
            <a:avLst/>
          </a:prstGeom>
          <a:noFill/>
          <a:ln cap="flat" cmpd="sng" w="76200">
            <a:solidFill>
              <a:srgbClr val="FFC000"/>
            </a:solidFill>
            <a:prstDash val="solid"/>
            <a:miter lim="800000"/>
            <a:headEnd len="sm" w="sm" type="none"/>
            <a:tailEnd len="sm" w="sm" type="none"/>
          </a:ln>
        </p:spPr>
      </p:cxnSp>
      <p:sp>
        <p:nvSpPr>
          <p:cNvPr id="2333" name="Google Shape;2333;p57"/>
          <p:cNvSpPr txBox="1"/>
          <p:nvPr/>
        </p:nvSpPr>
        <p:spPr>
          <a:xfrm>
            <a:off x="4065046" y="9421089"/>
            <a:ext cx="212952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Carrier block</a:t>
            </a:r>
            <a:endParaRPr b="1" sz="2000">
              <a:solidFill>
                <a:srgbClr val="000000"/>
              </a:solidFill>
              <a:latin typeface="Calibri"/>
              <a:ea typeface="Calibri"/>
              <a:cs typeface="Calibri"/>
              <a:sym typeface="Calibri"/>
            </a:endParaRPr>
          </a:p>
        </p:txBody>
      </p:sp>
      <p:cxnSp>
        <p:nvCxnSpPr>
          <p:cNvPr id="2334" name="Google Shape;2334;p57"/>
          <p:cNvCxnSpPr/>
          <p:nvPr/>
        </p:nvCxnSpPr>
        <p:spPr>
          <a:xfrm>
            <a:off x="9653183" y="5646706"/>
            <a:ext cx="5484407" cy="0"/>
          </a:xfrm>
          <a:prstGeom prst="straightConnector1">
            <a:avLst/>
          </a:prstGeom>
          <a:noFill/>
          <a:ln cap="flat" cmpd="sng" w="76200">
            <a:solidFill>
              <a:srgbClr val="FFC000"/>
            </a:solidFill>
            <a:prstDash val="solid"/>
            <a:miter lim="800000"/>
            <a:headEnd len="sm" w="sm" type="none"/>
            <a:tailEnd len="med" w="med" type="triangle"/>
          </a:ln>
        </p:spPr>
      </p:cxnSp>
      <p:cxnSp>
        <p:nvCxnSpPr>
          <p:cNvPr id="2335" name="Google Shape;2335;p57"/>
          <p:cNvCxnSpPr/>
          <p:nvPr/>
        </p:nvCxnSpPr>
        <p:spPr>
          <a:xfrm>
            <a:off x="13140670" y="5646291"/>
            <a:ext cx="2185749" cy="0"/>
          </a:xfrm>
          <a:prstGeom prst="straightConnector1">
            <a:avLst/>
          </a:prstGeom>
          <a:noFill/>
          <a:ln cap="flat" cmpd="sng" w="76200">
            <a:solidFill>
              <a:srgbClr val="FFC000"/>
            </a:solidFill>
            <a:prstDash val="solid"/>
            <a:miter lim="800000"/>
            <a:headEnd len="sm" w="sm" type="none"/>
            <a:tailEnd len="sm" w="sm" type="none"/>
          </a:ln>
        </p:spPr>
      </p:cxnSp>
      <p:cxnSp>
        <p:nvCxnSpPr>
          <p:cNvPr id="2336" name="Google Shape;2336;p57"/>
          <p:cNvCxnSpPr/>
          <p:nvPr/>
        </p:nvCxnSpPr>
        <p:spPr>
          <a:xfrm>
            <a:off x="5379108" y="7028883"/>
            <a:ext cx="8526115" cy="0"/>
          </a:xfrm>
          <a:prstGeom prst="straightConnector1">
            <a:avLst/>
          </a:prstGeom>
          <a:noFill/>
          <a:ln cap="flat" cmpd="sng" w="76200">
            <a:solidFill>
              <a:srgbClr val="FFC000"/>
            </a:solidFill>
            <a:prstDash val="solid"/>
            <a:miter lim="800000"/>
            <a:headEnd len="sm" w="sm" type="none"/>
            <a:tailEnd len="sm" w="sm" type="none"/>
          </a:ln>
        </p:spPr>
      </p:cxnSp>
      <p:sp>
        <p:nvSpPr>
          <p:cNvPr id="2337" name="Google Shape;2337;p57"/>
          <p:cNvSpPr/>
          <p:nvPr/>
        </p:nvSpPr>
        <p:spPr>
          <a:xfrm>
            <a:off x="14845430" y="5646291"/>
            <a:ext cx="959857" cy="1151829"/>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sp>
        <p:nvSpPr>
          <p:cNvPr id="2338" name="Google Shape;2338;p57"/>
          <p:cNvSpPr txBox="1"/>
          <p:nvPr/>
        </p:nvSpPr>
        <p:spPr>
          <a:xfrm>
            <a:off x="10104942" y="3802634"/>
            <a:ext cx="353980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Polarization controller (PC)</a:t>
            </a:r>
            <a:endParaRPr b="1" sz="2000">
              <a:solidFill>
                <a:srgbClr val="000000"/>
              </a:solidFill>
              <a:latin typeface="Calibri"/>
              <a:ea typeface="Calibri"/>
              <a:cs typeface="Calibri"/>
              <a:sym typeface="Calibri"/>
            </a:endParaRPr>
          </a:p>
        </p:txBody>
      </p:sp>
      <p:sp>
        <p:nvSpPr>
          <p:cNvPr id="2339" name="Google Shape;2339;p57"/>
          <p:cNvSpPr/>
          <p:nvPr/>
        </p:nvSpPr>
        <p:spPr>
          <a:xfrm rot="10800000">
            <a:off x="4529304" y="7497183"/>
            <a:ext cx="1426731" cy="1712078"/>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sp>
        <p:nvSpPr>
          <p:cNvPr id="2340" name="Google Shape;2340;p57"/>
          <p:cNvSpPr/>
          <p:nvPr/>
        </p:nvSpPr>
        <p:spPr>
          <a:xfrm rot="-5400000">
            <a:off x="4671978" y="6885257"/>
            <a:ext cx="1426731" cy="1712076"/>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cxnSp>
        <p:nvCxnSpPr>
          <p:cNvPr id="2341" name="Google Shape;2341;p57"/>
          <p:cNvCxnSpPr/>
          <p:nvPr/>
        </p:nvCxnSpPr>
        <p:spPr>
          <a:xfrm flipH="1" rot="10800000">
            <a:off x="8228876" y="5646295"/>
            <a:ext cx="1477612" cy="2"/>
          </a:xfrm>
          <a:prstGeom prst="straightConnector1">
            <a:avLst/>
          </a:prstGeom>
          <a:noFill/>
          <a:ln cap="flat" cmpd="sng" w="76200">
            <a:solidFill>
              <a:srgbClr val="FFC000"/>
            </a:solidFill>
            <a:prstDash val="solid"/>
            <a:miter lim="800000"/>
            <a:headEnd len="sm" w="sm" type="none"/>
            <a:tailEnd len="sm" w="sm" type="none"/>
          </a:ln>
        </p:spPr>
      </p:cxnSp>
      <p:cxnSp>
        <p:nvCxnSpPr>
          <p:cNvPr id="2342" name="Google Shape;2342;p57"/>
          <p:cNvCxnSpPr>
            <a:endCxn id="2339" idx="2"/>
          </p:cNvCxnSpPr>
          <p:nvPr/>
        </p:nvCxnSpPr>
        <p:spPr>
          <a:xfrm>
            <a:off x="4529304" y="7732522"/>
            <a:ext cx="0" cy="620700"/>
          </a:xfrm>
          <a:prstGeom prst="straightConnector1">
            <a:avLst/>
          </a:prstGeom>
          <a:noFill/>
          <a:ln cap="flat" cmpd="sng" w="76200">
            <a:solidFill>
              <a:srgbClr val="FFC000"/>
            </a:solidFill>
            <a:prstDash val="solid"/>
            <a:miter lim="800000"/>
            <a:headEnd len="sm" w="sm" type="none"/>
            <a:tailEnd len="sm" w="sm" type="none"/>
          </a:ln>
        </p:spPr>
      </p:cxnSp>
      <p:cxnSp>
        <p:nvCxnSpPr>
          <p:cNvPr id="2343" name="Google Shape;2343;p57"/>
          <p:cNvCxnSpPr/>
          <p:nvPr/>
        </p:nvCxnSpPr>
        <p:spPr>
          <a:xfrm>
            <a:off x="9084396" y="7027929"/>
            <a:ext cx="4245433" cy="0"/>
          </a:xfrm>
          <a:prstGeom prst="straightConnector1">
            <a:avLst/>
          </a:prstGeom>
          <a:noFill/>
          <a:ln cap="flat" cmpd="sng" w="76200">
            <a:solidFill>
              <a:srgbClr val="FFC000"/>
            </a:solidFill>
            <a:prstDash val="solid"/>
            <a:miter lim="800000"/>
            <a:headEnd len="med" w="med" type="triangle"/>
            <a:tailEnd len="sm" w="sm" type="none"/>
          </a:ln>
        </p:spPr>
      </p:cxnSp>
      <p:cxnSp>
        <p:nvCxnSpPr>
          <p:cNvPr id="2344" name="Google Shape;2344;p57"/>
          <p:cNvCxnSpPr/>
          <p:nvPr/>
        </p:nvCxnSpPr>
        <p:spPr>
          <a:xfrm>
            <a:off x="15805287" y="6177512"/>
            <a:ext cx="0" cy="288382"/>
          </a:xfrm>
          <a:prstGeom prst="straightConnector1">
            <a:avLst/>
          </a:prstGeom>
          <a:noFill/>
          <a:ln cap="flat" cmpd="sng" w="76200">
            <a:solidFill>
              <a:srgbClr val="FFC000"/>
            </a:solidFill>
            <a:prstDash val="solid"/>
            <a:miter lim="800000"/>
            <a:headEnd len="sm" w="sm" type="none"/>
            <a:tailEnd len="sm" w="sm" type="none"/>
          </a:ln>
        </p:spPr>
      </p:cxnSp>
      <p:sp>
        <p:nvSpPr>
          <p:cNvPr id="2345" name="Google Shape;2345;p57"/>
          <p:cNvSpPr/>
          <p:nvPr/>
        </p:nvSpPr>
        <p:spPr>
          <a:xfrm rot="10800000">
            <a:off x="8454848" y="11141537"/>
            <a:ext cx="2904822" cy="1143965"/>
          </a:xfrm>
          <a:custGeom>
            <a:rect b="b" l="l" r="r" t="t"/>
            <a:pathLst>
              <a:path extrusionOk="0" h="553901" w="1406498">
                <a:moveTo>
                  <a:pt x="130547" y="553901"/>
                </a:moveTo>
                <a:lnTo>
                  <a:pt x="0" y="553901"/>
                </a:lnTo>
                <a:lnTo>
                  <a:pt x="0" y="553897"/>
                </a:lnTo>
                <a:lnTo>
                  <a:pt x="105109" y="553897"/>
                </a:lnTo>
                <a:lnTo>
                  <a:pt x="105109" y="553896"/>
                </a:lnTo>
                <a:lnTo>
                  <a:pt x="1406496" y="553896"/>
                </a:lnTo>
                <a:lnTo>
                  <a:pt x="1406496" y="0"/>
                </a:lnTo>
                <a:lnTo>
                  <a:pt x="1406498" y="0"/>
                </a:lnTo>
                <a:lnTo>
                  <a:pt x="1406498" y="553900"/>
                </a:lnTo>
                <a:lnTo>
                  <a:pt x="130547" y="553900"/>
                </a:lnTo>
                <a:lnTo>
                  <a:pt x="130547" y="55390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346" name="Google Shape;2346;p57"/>
          <p:cNvSpPr/>
          <p:nvPr/>
        </p:nvSpPr>
        <p:spPr>
          <a:xfrm>
            <a:off x="5017104" y="5058486"/>
            <a:ext cx="3740295" cy="1100042"/>
          </a:xfrm>
          <a:prstGeom prst="rect">
            <a:avLst/>
          </a:prstGeom>
          <a:solidFill>
            <a:srgbClr val="545653"/>
          </a:solid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347" name="Google Shape;2347;p57"/>
          <p:cNvSpPr txBox="1"/>
          <p:nvPr/>
        </p:nvSpPr>
        <p:spPr>
          <a:xfrm>
            <a:off x="5091806" y="5104012"/>
            <a:ext cx="3582494"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E7E6E6"/>
                </a:solidFill>
                <a:latin typeface="Calibri"/>
                <a:ea typeface="Calibri"/>
                <a:cs typeface="Calibri"/>
                <a:sym typeface="Calibri"/>
              </a:rPr>
              <a:t>785 nm</a:t>
            </a:r>
            <a:endParaRPr/>
          </a:p>
          <a:p>
            <a:pPr indent="0" lvl="0" marL="0" marR="0" rtl="0" algn="ctr">
              <a:spcBef>
                <a:spcPts val="0"/>
              </a:spcBef>
              <a:spcAft>
                <a:spcPts val="0"/>
              </a:spcAft>
              <a:buNone/>
            </a:pPr>
            <a:r>
              <a:rPr b="1" lang="en-US" sz="2000">
                <a:solidFill>
                  <a:srgbClr val="E7E6E6"/>
                </a:solidFill>
                <a:latin typeface="Calibri"/>
                <a:ea typeface="Calibri"/>
                <a:cs typeface="Calibri"/>
                <a:sym typeface="Calibri"/>
              </a:rPr>
              <a:t>Volume-Holographic-Grating- (VHG) Stabilized SF Laser </a:t>
            </a:r>
            <a:endParaRPr b="1" sz="2000">
              <a:solidFill>
                <a:srgbClr val="E7E6E6"/>
              </a:solidFill>
              <a:latin typeface="Calibri"/>
              <a:ea typeface="Calibri"/>
              <a:cs typeface="Calibri"/>
              <a:sym typeface="Calibri"/>
            </a:endParaRPr>
          </a:p>
        </p:txBody>
      </p:sp>
      <p:sp>
        <p:nvSpPr>
          <p:cNvPr id="2348" name="Google Shape;2348;p57"/>
          <p:cNvSpPr txBox="1"/>
          <p:nvPr/>
        </p:nvSpPr>
        <p:spPr>
          <a:xfrm>
            <a:off x="9583814" y="6360308"/>
            <a:ext cx="133548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Calibri"/>
                <a:ea typeface="Calibri"/>
                <a:cs typeface="Calibri"/>
                <a:sym typeface="Calibri"/>
              </a:rPr>
              <a:t>SM fiber</a:t>
            </a:r>
            <a:endParaRPr b="1" sz="2000">
              <a:solidFill>
                <a:srgbClr val="000000"/>
              </a:solidFill>
              <a:latin typeface="Calibri"/>
              <a:ea typeface="Calibri"/>
              <a:cs typeface="Calibri"/>
              <a:sym typeface="Calibri"/>
            </a:endParaRPr>
          </a:p>
        </p:txBody>
      </p:sp>
      <p:sp>
        <p:nvSpPr>
          <p:cNvPr id="2349" name="Google Shape;2349;p57"/>
          <p:cNvSpPr/>
          <p:nvPr/>
        </p:nvSpPr>
        <p:spPr>
          <a:xfrm>
            <a:off x="12437415" y="4545057"/>
            <a:ext cx="1101645" cy="1100042"/>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350" name="Google Shape;2350;p57"/>
          <p:cNvSpPr/>
          <p:nvPr/>
        </p:nvSpPr>
        <p:spPr>
          <a:xfrm>
            <a:off x="11129921" y="4543539"/>
            <a:ext cx="1101645" cy="1100042"/>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351" name="Google Shape;2351;p57"/>
          <p:cNvSpPr/>
          <p:nvPr/>
        </p:nvSpPr>
        <p:spPr>
          <a:xfrm>
            <a:off x="9817652" y="4544890"/>
            <a:ext cx="1101645" cy="1100042"/>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352" name="Google Shape;2352;p57"/>
          <p:cNvSpPr/>
          <p:nvPr/>
        </p:nvSpPr>
        <p:spPr>
          <a:xfrm flipH="1" rot="10800000">
            <a:off x="14845430" y="5877473"/>
            <a:ext cx="959857" cy="1151829"/>
          </a:xfrm>
          <a:prstGeom prst="arc">
            <a:avLst>
              <a:gd fmla="val 16200000" name="adj1"/>
              <a:gd fmla="val 0" name="adj2"/>
            </a:avLst>
          </a:prstGeom>
          <a:noFill/>
          <a:ln cap="flat" cmpd="sng" w="762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000000"/>
              </a:solidFill>
              <a:latin typeface="Calibri"/>
              <a:ea typeface="Calibri"/>
              <a:cs typeface="Calibri"/>
              <a:sym typeface="Calibri"/>
            </a:endParaRPr>
          </a:p>
        </p:txBody>
      </p:sp>
      <p:sp>
        <p:nvSpPr>
          <p:cNvPr id="2353" name="Google Shape;2353;p57"/>
          <p:cNvSpPr/>
          <p:nvPr/>
        </p:nvSpPr>
        <p:spPr>
          <a:xfrm>
            <a:off x="12520966" y="4626469"/>
            <a:ext cx="936814" cy="936814"/>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354" name="Google Shape;2354;p57"/>
          <p:cNvSpPr/>
          <p:nvPr/>
        </p:nvSpPr>
        <p:spPr>
          <a:xfrm>
            <a:off x="11213472" y="4626469"/>
            <a:ext cx="936814" cy="936814"/>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355" name="Google Shape;2355;p57"/>
          <p:cNvSpPr/>
          <p:nvPr/>
        </p:nvSpPr>
        <p:spPr>
          <a:xfrm>
            <a:off x="9901203" y="4628596"/>
            <a:ext cx="936814" cy="936814"/>
          </a:xfrm>
          <a:prstGeom prst="ellipse">
            <a:avLst/>
          </a:prstGeom>
          <a:noFill/>
          <a:ln cap="flat" cmpd="sng" w="762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356" name="Google Shape;2356;p57"/>
          <p:cNvSpPr/>
          <p:nvPr/>
        </p:nvSpPr>
        <p:spPr>
          <a:xfrm>
            <a:off x="6076231" y="8651152"/>
            <a:ext cx="3385801" cy="1415573"/>
          </a:xfrm>
          <a:prstGeom prst="rect">
            <a:avLst/>
          </a:prstGeom>
          <a:solidFill>
            <a:schemeClr val="lt1"/>
          </a:solid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357" name="Google Shape;2357;p57"/>
          <p:cNvSpPr/>
          <p:nvPr/>
        </p:nvSpPr>
        <p:spPr>
          <a:xfrm flipH="1" rot="-5400000">
            <a:off x="5668056" y="9149361"/>
            <a:ext cx="234551" cy="119803"/>
          </a:xfrm>
          <a:prstGeom prst="snip2SameRect">
            <a:avLst>
              <a:gd fmla="val 16667" name="adj1"/>
              <a:gd fmla="val 0" name="adj2"/>
            </a:avLst>
          </a:prstGeom>
          <a:solidFill>
            <a:srgbClr val="75707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grpSp>
        <p:nvGrpSpPr>
          <p:cNvPr id="2358" name="Google Shape;2358;p57"/>
          <p:cNvGrpSpPr/>
          <p:nvPr/>
        </p:nvGrpSpPr>
        <p:grpSpPr>
          <a:xfrm>
            <a:off x="6266064" y="8795898"/>
            <a:ext cx="3028198" cy="1143967"/>
            <a:chOff x="3783404" y="5727429"/>
            <a:chExt cx="1466236" cy="553902"/>
          </a:xfrm>
        </p:grpSpPr>
        <p:sp>
          <p:nvSpPr>
            <p:cNvPr id="2359" name="Google Shape;2359;p57"/>
            <p:cNvSpPr/>
            <p:nvPr/>
          </p:nvSpPr>
          <p:spPr>
            <a:xfrm>
              <a:off x="3815103" y="5727430"/>
              <a:ext cx="1434537" cy="553901"/>
            </a:xfrm>
            <a:custGeom>
              <a:rect b="b" l="l" r="r" t="t"/>
              <a:pathLst>
                <a:path extrusionOk="0" h="720001" w="1864715">
                  <a:moveTo>
                    <a:pt x="173075" y="0"/>
                  </a:moveTo>
                  <a:lnTo>
                    <a:pt x="1864715" y="0"/>
                  </a:lnTo>
                  <a:lnTo>
                    <a:pt x="1864715" y="720000"/>
                  </a:lnTo>
                  <a:lnTo>
                    <a:pt x="173078" y="720000"/>
                  </a:lnTo>
                  <a:lnTo>
                    <a:pt x="173078" y="720001"/>
                  </a:lnTo>
                  <a:lnTo>
                    <a:pt x="0" y="720001"/>
                  </a:lnTo>
                  <a:lnTo>
                    <a:pt x="34615" y="1"/>
                  </a:lnTo>
                  <a:lnTo>
                    <a:pt x="173075" y="1"/>
                  </a:lnTo>
                  <a:close/>
                </a:path>
              </a:pathLst>
            </a:custGeom>
            <a:solidFill>
              <a:srgbClr val="86F387"/>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grpSp>
          <p:nvGrpSpPr>
            <p:cNvPr id="2360" name="Google Shape;2360;p57"/>
            <p:cNvGrpSpPr/>
            <p:nvPr/>
          </p:nvGrpSpPr>
          <p:grpSpPr>
            <a:xfrm>
              <a:off x="3815104" y="5827451"/>
              <a:ext cx="1434536" cy="381820"/>
              <a:chOff x="3160385" y="2239516"/>
              <a:chExt cx="6376989" cy="2673530"/>
            </a:xfrm>
          </p:grpSpPr>
          <p:sp>
            <p:nvSpPr>
              <p:cNvPr id="2361" name="Google Shape;2361;p57"/>
              <p:cNvSpPr/>
              <p:nvPr/>
            </p:nvSpPr>
            <p:spPr>
              <a:xfrm rot="5400000">
                <a:off x="4108122" y="1946453"/>
                <a:ext cx="206375" cy="210185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2" name="Google Shape;2362;p57"/>
              <p:cNvSpPr/>
              <p:nvPr/>
            </p:nvSpPr>
            <p:spPr>
              <a:xfrm rot="5400000">
                <a:off x="6138536" y="2427466"/>
                <a:ext cx="317500"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3" name="Google Shape;2363;p57"/>
              <p:cNvSpPr/>
              <p:nvPr/>
            </p:nvSpPr>
            <p:spPr>
              <a:xfrm rot="5400000">
                <a:off x="8178473" y="2076628"/>
                <a:ext cx="206375" cy="1841500"/>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4" name="Google Shape;2364;p57"/>
              <p:cNvSpPr/>
              <p:nvPr/>
            </p:nvSpPr>
            <p:spPr>
              <a:xfrm flipH="1" rot="-5400000">
                <a:off x="8178473" y="1421953"/>
                <a:ext cx="206375" cy="1841500"/>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5" name="Google Shape;2365;p57"/>
              <p:cNvSpPr/>
              <p:nvPr/>
            </p:nvSpPr>
            <p:spPr>
              <a:xfrm rot="5400000">
                <a:off x="8113385" y="1744841"/>
                <a:ext cx="342900" cy="1841500"/>
              </a:xfrm>
              <a:custGeom>
                <a:rect b="b" l="l" r="r" t="t"/>
                <a:pathLst>
                  <a:path extrusionOk="0" h="1851025" w="342900">
                    <a:moveTo>
                      <a:pt x="136525" y="0"/>
                    </a:moveTo>
                    <a:lnTo>
                      <a:pt x="342900" y="0"/>
                    </a:lnTo>
                    <a:lnTo>
                      <a:pt x="203200" y="1851025"/>
                    </a:lnTo>
                    <a:lnTo>
                      <a:pt x="0" y="1851025"/>
                    </a:lnTo>
                    <a:lnTo>
                      <a:pt x="136525"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6" name="Google Shape;2366;p57"/>
              <p:cNvSpPr/>
              <p:nvPr/>
            </p:nvSpPr>
            <p:spPr>
              <a:xfrm rot="5400000">
                <a:off x="6209972" y="1946453"/>
                <a:ext cx="206375" cy="210185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7" name="Google Shape;2367;p57"/>
              <p:cNvSpPr/>
              <p:nvPr/>
            </p:nvSpPr>
            <p:spPr>
              <a:xfrm rot="5400000">
                <a:off x="7278360" y="2654033"/>
                <a:ext cx="206375" cy="4311650"/>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8" name="Google Shape;2368;p57"/>
              <p:cNvSpPr/>
              <p:nvPr/>
            </p:nvSpPr>
            <p:spPr>
              <a:xfrm rot="5400000">
                <a:off x="9266704" y="2175222"/>
                <a:ext cx="206375" cy="334963"/>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69" name="Google Shape;2369;p57"/>
              <p:cNvSpPr/>
              <p:nvPr/>
            </p:nvSpPr>
            <p:spPr>
              <a:xfrm rot="5400000">
                <a:off x="9296707" y="2827780"/>
                <a:ext cx="146370" cy="334963"/>
              </a:xfrm>
              <a:prstGeom prst="rect">
                <a:avLst/>
              </a:pr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70" name="Google Shape;2370;p57"/>
              <p:cNvSpPr/>
              <p:nvPr/>
            </p:nvSpPr>
            <p:spPr>
              <a:xfrm rot="5400000">
                <a:off x="6761262" y="2856927"/>
                <a:ext cx="317500"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71" name="Google Shape;2371;p57"/>
              <p:cNvSpPr/>
              <p:nvPr/>
            </p:nvSpPr>
            <p:spPr>
              <a:xfrm rot="5400000">
                <a:off x="7372976" y="3277920"/>
                <a:ext cx="317500" cy="2101850"/>
              </a:xfrm>
              <a:custGeom>
                <a:rect b="b" l="l" r="r" t="t"/>
                <a:pathLst>
                  <a:path extrusionOk="0" h="2101850" w="317500">
                    <a:moveTo>
                      <a:pt x="0" y="0"/>
                    </a:moveTo>
                    <a:lnTo>
                      <a:pt x="203200" y="0"/>
                    </a:lnTo>
                    <a:lnTo>
                      <a:pt x="317500" y="2101850"/>
                    </a:lnTo>
                    <a:lnTo>
                      <a:pt x="114300" y="2101850"/>
                    </a:lnTo>
                    <a:lnTo>
                      <a:pt x="0" y="0"/>
                    </a:lnTo>
                    <a:close/>
                  </a:path>
                </a:pathLst>
              </a:custGeom>
              <a:solidFill>
                <a:srgbClr val="6600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grpSp>
          <p:nvGrpSpPr>
            <p:cNvPr id="2372" name="Google Shape;2372;p57"/>
            <p:cNvGrpSpPr/>
            <p:nvPr/>
          </p:nvGrpSpPr>
          <p:grpSpPr>
            <a:xfrm>
              <a:off x="3862845" y="5920935"/>
              <a:ext cx="425080" cy="29488"/>
              <a:chOff x="3369184" y="2894093"/>
              <a:chExt cx="1889624" cy="206474"/>
            </a:xfrm>
          </p:grpSpPr>
          <p:sp>
            <p:nvSpPr>
              <p:cNvPr id="2373" name="Google Shape;2373;p57"/>
              <p:cNvSpPr/>
              <p:nvPr/>
            </p:nvSpPr>
            <p:spPr>
              <a:xfrm rot="5400000">
                <a:off x="3370396" y="2892979"/>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74" name="Google Shape;2374;p57"/>
              <p:cNvSpPr/>
              <p:nvPr/>
            </p:nvSpPr>
            <p:spPr>
              <a:xfrm rot="5400000">
                <a:off x="3789181" y="2892946"/>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75" name="Google Shape;2375;p57"/>
              <p:cNvSpPr/>
              <p:nvPr/>
            </p:nvSpPr>
            <p:spPr>
              <a:xfrm rot="5400000">
                <a:off x="4210341" y="2892913"/>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76" name="Google Shape;2376;p57"/>
              <p:cNvSpPr/>
              <p:nvPr/>
            </p:nvSpPr>
            <p:spPr>
              <a:xfrm rot="5400000">
                <a:off x="4629126" y="2892880"/>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377" name="Google Shape;2377;p57"/>
              <p:cNvSpPr/>
              <p:nvPr/>
            </p:nvSpPr>
            <p:spPr>
              <a:xfrm rot="5400000">
                <a:off x="5051220" y="2892883"/>
                <a:ext cx="206375" cy="208800"/>
              </a:xfrm>
              <a:prstGeom prst="rect">
                <a:avLst/>
              </a:prstGeom>
              <a:solidFill>
                <a:srgbClr val="F5ED3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grpSp>
        <p:sp>
          <p:nvSpPr>
            <p:cNvPr id="2378" name="Google Shape;2378;p57"/>
            <p:cNvSpPr/>
            <p:nvPr/>
          </p:nvSpPr>
          <p:spPr>
            <a:xfrm rot="10800000">
              <a:off x="3783404" y="5727429"/>
              <a:ext cx="56310" cy="553900"/>
            </a:xfrm>
            <a:custGeom>
              <a:rect b="b" l="l" r="r" t="t"/>
              <a:pathLst>
                <a:path extrusionOk="0" h="553900" w="56310">
                  <a:moveTo>
                    <a:pt x="28041" y="553900"/>
                  </a:moveTo>
                  <a:lnTo>
                    <a:pt x="0" y="553900"/>
                  </a:lnTo>
                  <a:lnTo>
                    <a:pt x="26629" y="0"/>
                  </a:lnTo>
                  <a:lnTo>
                    <a:pt x="56310" y="0"/>
                  </a:lnTo>
                  <a:lnTo>
                    <a:pt x="56310" y="4"/>
                  </a:lnTo>
                  <a:lnTo>
                    <a:pt x="54150" y="4"/>
                  </a:lnTo>
                  <a:lnTo>
                    <a:pt x="28041" y="553900"/>
                  </a:lnTo>
                  <a:close/>
                </a:path>
              </a:pathLst>
            </a:custGeom>
            <a:solidFill>
              <a:srgbClr val="FFFFFF"/>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grpSp>
      <p:sp>
        <p:nvSpPr>
          <p:cNvPr id="2379" name="Google Shape;2379;p57"/>
          <p:cNvSpPr/>
          <p:nvPr/>
        </p:nvSpPr>
        <p:spPr>
          <a:xfrm rot="10800000">
            <a:off x="5845233" y="9044711"/>
            <a:ext cx="530942" cy="329099"/>
          </a:xfrm>
          <a:custGeom>
            <a:rect b="b" l="l" r="r" t="t"/>
            <a:pathLst>
              <a:path extrusionOk="0" h="207132" w="334169">
                <a:moveTo>
                  <a:pt x="9958" y="0"/>
                </a:moveTo>
                <a:lnTo>
                  <a:pt x="49791" y="0"/>
                </a:lnTo>
                <a:lnTo>
                  <a:pt x="334169" y="0"/>
                </a:lnTo>
                <a:lnTo>
                  <a:pt x="334169" y="207132"/>
                </a:lnTo>
                <a:lnTo>
                  <a:pt x="49791" y="207132"/>
                </a:lnTo>
                <a:lnTo>
                  <a:pt x="0" y="207132"/>
                </a:lnTo>
                <a:lnTo>
                  <a:pt x="9958" y="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380" name="Google Shape;2380;p57"/>
          <p:cNvSpPr txBox="1"/>
          <p:nvPr/>
        </p:nvSpPr>
        <p:spPr>
          <a:xfrm>
            <a:off x="6382360" y="9437074"/>
            <a:ext cx="971881" cy="4527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000000"/>
                </a:solidFill>
                <a:latin typeface="Calibri"/>
                <a:ea typeface="Calibri"/>
                <a:cs typeface="Calibri"/>
                <a:sym typeface="Calibri"/>
              </a:rPr>
              <a:t>Chip</a:t>
            </a:r>
            <a:endParaRPr b="1" sz="1000">
              <a:solidFill>
                <a:srgbClr val="000000"/>
              </a:solidFill>
              <a:latin typeface="Calibri"/>
              <a:ea typeface="Calibri"/>
              <a:cs typeface="Calibri"/>
              <a:sym typeface="Calibri"/>
            </a:endParaRPr>
          </a:p>
        </p:txBody>
      </p:sp>
      <p:sp>
        <p:nvSpPr>
          <p:cNvPr id="2381" name="Google Shape;2381;p57"/>
          <p:cNvSpPr txBox="1"/>
          <p:nvPr/>
        </p:nvSpPr>
        <p:spPr>
          <a:xfrm>
            <a:off x="5647353" y="8076767"/>
            <a:ext cx="4276035"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Calibri"/>
                <a:ea typeface="Calibri"/>
                <a:cs typeface="Calibri"/>
                <a:sym typeface="Calibri"/>
              </a:rPr>
              <a:t>Oven (25 °C)</a:t>
            </a:r>
            <a:endParaRPr b="1" sz="2000">
              <a:solidFill>
                <a:srgbClr val="000000"/>
              </a:solidFill>
              <a:latin typeface="Calibri"/>
              <a:ea typeface="Calibri"/>
              <a:cs typeface="Calibri"/>
              <a:sym typeface="Calibri"/>
            </a:endParaRPr>
          </a:p>
        </p:txBody>
      </p:sp>
      <p:sp>
        <p:nvSpPr>
          <p:cNvPr id="2382" name="Google Shape;2382;p57"/>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383" name="Google Shape;2383;p57"/>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384" name="Google Shape;2384;p57"/>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385" name="Google Shape;2385;p57"/>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386" name="Google Shape;2386;p57"/>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387" name="Google Shape;2387;p57"/>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388" name="Google Shape;2388;p57"/>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2389" name="Google Shape;2389;p57"/>
          <p:cNvSpPr/>
          <p:nvPr/>
        </p:nvSpPr>
        <p:spPr>
          <a:xfrm>
            <a:off x="2983757" y="3031537"/>
            <a:ext cx="14889239" cy="4227348"/>
          </a:xfrm>
          <a:prstGeom prst="rect">
            <a:avLst/>
          </a:prstGeom>
          <a:solidFill>
            <a:schemeClr val="lt1">
              <a:alpha val="9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390" name="Google Shape;2390;p57"/>
          <p:cNvSpPr/>
          <p:nvPr/>
        </p:nvSpPr>
        <p:spPr>
          <a:xfrm>
            <a:off x="4089289" y="7027928"/>
            <a:ext cx="3201794" cy="4227348"/>
          </a:xfrm>
          <a:prstGeom prst="rect">
            <a:avLst/>
          </a:prstGeom>
          <a:solidFill>
            <a:schemeClr val="lt1">
              <a:alpha val="9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391" name="Google Shape;2391;p57"/>
          <p:cNvSpPr/>
          <p:nvPr/>
        </p:nvSpPr>
        <p:spPr>
          <a:xfrm>
            <a:off x="7272555" y="7027927"/>
            <a:ext cx="3695522" cy="1601618"/>
          </a:xfrm>
          <a:prstGeom prst="rect">
            <a:avLst/>
          </a:prstGeom>
          <a:solidFill>
            <a:schemeClr val="lt1">
              <a:alpha val="9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cxnSp>
        <p:nvCxnSpPr>
          <p:cNvPr id="2392" name="Google Shape;2392;p57"/>
          <p:cNvCxnSpPr>
            <a:endCxn id="2393" idx="1"/>
          </p:cNvCxnSpPr>
          <p:nvPr/>
        </p:nvCxnSpPr>
        <p:spPr>
          <a:xfrm>
            <a:off x="9480106" y="9295823"/>
            <a:ext cx="2751300" cy="0"/>
          </a:xfrm>
          <a:prstGeom prst="straightConnector1">
            <a:avLst/>
          </a:prstGeom>
          <a:noFill/>
          <a:ln cap="flat" cmpd="sng" w="76200">
            <a:solidFill>
              <a:srgbClr val="000000"/>
            </a:solidFill>
            <a:prstDash val="solid"/>
            <a:miter lim="800000"/>
            <a:headEnd len="sm" w="sm" type="none"/>
            <a:tailEnd len="med" w="med" type="triangle"/>
          </a:ln>
        </p:spPr>
      </p:cxnSp>
      <p:cxnSp>
        <p:nvCxnSpPr>
          <p:cNvPr id="2394" name="Google Shape;2394;p57"/>
          <p:cNvCxnSpPr/>
          <p:nvPr/>
        </p:nvCxnSpPr>
        <p:spPr>
          <a:xfrm rot="10800000">
            <a:off x="13303831" y="8935315"/>
            <a:ext cx="727685" cy="706983"/>
          </a:xfrm>
          <a:prstGeom prst="straightConnector1">
            <a:avLst/>
          </a:prstGeom>
          <a:noFill/>
          <a:ln cap="flat" cmpd="sng" w="38100">
            <a:solidFill>
              <a:srgbClr val="5B9BD5"/>
            </a:solidFill>
            <a:prstDash val="solid"/>
            <a:miter lim="800000"/>
            <a:headEnd len="sm" w="sm" type="none"/>
            <a:tailEnd len="sm" w="sm" type="none"/>
          </a:ln>
        </p:spPr>
      </p:cxnSp>
      <p:sp>
        <p:nvSpPr>
          <p:cNvPr id="2393" name="Google Shape;2393;p57"/>
          <p:cNvSpPr/>
          <p:nvPr/>
        </p:nvSpPr>
        <p:spPr>
          <a:xfrm>
            <a:off x="12231406" y="8931539"/>
            <a:ext cx="111649" cy="728567"/>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2395" name="Google Shape;2395;p57"/>
          <p:cNvSpPr txBox="1"/>
          <p:nvPr/>
        </p:nvSpPr>
        <p:spPr>
          <a:xfrm>
            <a:off x="11483069" y="8054551"/>
            <a:ext cx="179854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Pump filter</a:t>
            </a:r>
            <a:endParaRPr b="1" sz="2000">
              <a:solidFill>
                <a:srgbClr val="000000"/>
              </a:solidFill>
              <a:latin typeface="Arial"/>
              <a:ea typeface="Arial"/>
              <a:cs typeface="Arial"/>
              <a:sym typeface="Arial"/>
            </a:endParaRPr>
          </a:p>
        </p:txBody>
      </p:sp>
      <p:cxnSp>
        <p:nvCxnSpPr>
          <p:cNvPr id="2396" name="Google Shape;2396;p57"/>
          <p:cNvCxnSpPr>
            <a:stCxn id="2393" idx="3"/>
            <a:endCxn id="2397" idx="1"/>
          </p:cNvCxnSpPr>
          <p:nvPr/>
        </p:nvCxnSpPr>
        <p:spPr>
          <a:xfrm>
            <a:off x="12343055" y="9295823"/>
            <a:ext cx="5338200" cy="0"/>
          </a:xfrm>
          <a:prstGeom prst="straightConnector1">
            <a:avLst/>
          </a:prstGeom>
          <a:noFill/>
          <a:ln cap="flat" cmpd="sng" w="76200">
            <a:solidFill>
              <a:srgbClr val="000000"/>
            </a:solidFill>
            <a:prstDash val="solid"/>
            <a:miter lim="800000"/>
            <a:headEnd len="sm" w="sm" type="none"/>
            <a:tailEnd len="med" w="med" type="triangle"/>
          </a:ln>
        </p:spPr>
      </p:cxnSp>
      <p:sp>
        <p:nvSpPr>
          <p:cNvPr id="2398" name="Google Shape;2398;p57"/>
          <p:cNvSpPr/>
          <p:nvPr/>
        </p:nvSpPr>
        <p:spPr>
          <a:xfrm>
            <a:off x="13298167" y="8931539"/>
            <a:ext cx="727685" cy="728567"/>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2399" name="Google Shape;2399;p57"/>
          <p:cNvSpPr txBox="1"/>
          <p:nvPr/>
        </p:nvSpPr>
        <p:spPr>
          <a:xfrm>
            <a:off x="13257249" y="8468283"/>
            <a:ext cx="82112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PBS</a:t>
            </a:r>
            <a:endParaRPr b="1" sz="2000">
              <a:solidFill>
                <a:srgbClr val="000000"/>
              </a:solidFill>
              <a:latin typeface="Arial"/>
              <a:ea typeface="Arial"/>
              <a:cs typeface="Arial"/>
              <a:sym typeface="Arial"/>
            </a:endParaRPr>
          </a:p>
        </p:txBody>
      </p:sp>
      <p:sp>
        <p:nvSpPr>
          <p:cNvPr id="2400" name="Google Shape;2400;p57"/>
          <p:cNvSpPr txBox="1"/>
          <p:nvPr/>
        </p:nvSpPr>
        <p:spPr>
          <a:xfrm>
            <a:off x="1645354" y="3451055"/>
            <a:ext cx="346719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0000"/>
                </a:solidFill>
                <a:latin typeface="Arial"/>
                <a:ea typeface="Arial"/>
                <a:cs typeface="Arial"/>
                <a:sym typeface="Arial"/>
              </a:rPr>
              <a:t>Conversion losses: </a:t>
            </a:r>
            <a:endParaRPr b="1" sz="2400">
              <a:solidFill>
                <a:srgbClr val="000000"/>
              </a:solidFill>
              <a:latin typeface="Arial"/>
              <a:ea typeface="Arial"/>
              <a:cs typeface="Arial"/>
              <a:sym typeface="Arial"/>
            </a:endParaRPr>
          </a:p>
        </p:txBody>
      </p:sp>
      <p:cxnSp>
        <p:nvCxnSpPr>
          <p:cNvPr id="2401" name="Google Shape;2401;p57"/>
          <p:cNvCxnSpPr/>
          <p:nvPr/>
        </p:nvCxnSpPr>
        <p:spPr>
          <a:xfrm>
            <a:off x="13662008" y="9274238"/>
            <a:ext cx="0" cy="2051245"/>
          </a:xfrm>
          <a:prstGeom prst="straightConnector1">
            <a:avLst/>
          </a:prstGeom>
          <a:noFill/>
          <a:ln cap="flat" cmpd="sng" w="76200">
            <a:solidFill>
              <a:srgbClr val="000000"/>
            </a:solidFill>
            <a:prstDash val="solid"/>
            <a:miter lim="800000"/>
            <a:headEnd len="sm" w="sm" type="none"/>
            <a:tailEnd len="sm" w="sm" type="none"/>
          </a:ln>
        </p:spPr>
      </p:cxnSp>
      <p:cxnSp>
        <p:nvCxnSpPr>
          <p:cNvPr id="2402" name="Google Shape;2402;p57"/>
          <p:cNvCxnSpPr/>
          <p:nvPr/>
        </p:nvCxnSpPr>
        <p:spPr>
          <a:xfrm>
            <a:off x="13622522" y="11302832"/>
            <a:ext cx="3035239" cy="0"/>
          </a:xfrm>
          <a:prstGeom prst="straightConnector1">
            <a:avLst/>
          </a:prstGeom>
          <a:noFill/>
          <a:ln cap="flat" cmpd="sng" w="76200">
            <a:solidFill>
              <a:srgbClr val="000000"/>
            </a:solidFill>
            <a:prstDash val="solid"/>
            <a:miter lim="800000"/>
            <a:headEnd len="sm" w="sm" type="none"/>
            <a:tailEnd len="sm" w="sm" type="none"/>
          </a:ln>
        </p:spPr>
      </p:cxnSp>
      <p:sp>
        <p:nvSpPr>
          <p:cNvPr id="2397" name="Google Shape;2397;p57"/>
          <p:cNvSpPr/>
          <p:nvPr/>
        </p:nvSpPr>
        <p:spPr>
          <a:xfrm>
            <a:off x="17681242" y="9078762"/>
            <a:ext cx="453019" cy="434120"/>
          </a:xfrm>
          <a:prstGeom prst="flowChartDelay">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2403" name="Google Shape;2403;p57"/>
          <p:cNvSpPr/>
          <p:nvPr/>
        </p:nvSpPr>
        <p:spPr>
          <a:xfrm>
            <a:off x="18094220" y="11085772"/>
            <a:ext cx="453019" cy="434120"/>
          </a:xfrm>
          <a:prstGeom prst="flowChartDelay">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cxnSp>
        <p:nvCxnSpPr>
          <p:cNvPr id="2404" name="Google Shape;2404;p57"/>
          <p:cNvCxnSpPr>
            <a:endCxn id="2403" idx="1"/>
          </p:cNvCxnSpPr>
          <p:nvPr/>
        </p:nvCxnSpPr>
        <p:spPr>
          <a:xfrm>
            <a:off x="16302320" y="11302832"/>
            <a:ext cx="1791900" cy="0"/>
          </a:xfrm>
          <a:prstGeom prst="straightConnector1">
            <a:avLst/>
          </a:prstGeom>
          <a:noFill/>
          <a:ln cap="flat" cmpd="sng" w="76200">
            <a:solidFill>
              <a:srgbClr val="000000"/>
            </a:solidFill>
            <a:prstDash val="solid"/>
            <a:miter lim="800000"/>
            <a:headEnd len="sm" w="sm" type="none"/>
            <a:tailEnd len="med" w="med" type="triangle"/>
          </a:ln>
        </p:spPr>
      </p:cxnSp>
      <p:sp>
        <p:nvSpPr>
          <p:cNvPr id="2405" name="Google Shape;2405;p57"/>
          <p:cNvSpPr txBox="1"/>
          <p:nvPr/>
        </p:nvSpPr>
        <p:spPr>
          <a:xfrm>
            <a:off x="14235764" y="11417867"/>
            <a:ext cx="2457491"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Signal photons (1624 nm)</a:t>
            </a:r>
            <a:endParaRPr b="1" sz="2000">
              <a:solidFill>
                <a:srgbClr val="000000"/>
              </a:solidFill>
              <a:latin typeface="Arial"/>
              <a:ea typeface="Arial"/>
              <a:cs typeface="Arial"/>
              <a:sym typeface="Arial"/>
            </a:endParaRPr>
          </a:p>
        </p:txBody>
      </p:sp>
      <p:sp>
        <p:nvSpPr>
          <p:cNvPr id="2406" name="Google Shape;2406;p57"/>
          <p:cNvSpPr txBox="1"/>
          <p:nvPr/>
        </p:nvSpPr>
        <p:spPr>
          <a:xfrm>
            <a:off x="17355097" y="8580328"/>
            <a:ext cx="101819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SPD</a:t>
            </a:r>
            <a:endParaRPr b="1" sz="2000">
              <a:solidFill>
                <a:srgbClr val="000000"/>
              </a:solidFill>
              <a:latin typeface="Arial"/>
              <a:ea typeface="Arial"/>
              <a:cs typeface="Arial"/>
              <a:sym typeface="Arial"/>
            </a:endParaRPr>
          </a:p>
        </p:txBody>
      </p:sp>
      <p:sp>
        <p:nvSpPr>
          <p:cNvPr id="2407" name="Google Shape;2407;p57"/>
          <p:cNvSpPr txBox="1"/>
          <p:nvPr/>
        </p:nvSpPr>
        <p:spPr>
          <a:xfrm>
            <a:off x="17264574" y="11736952"/>
            <a:ext cx="211231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0000"/>
                </a:solidFill>
                <a:latin typeface="Arial"/>
                <a:ea typeface="Arial"/>
                <a:cs typeface="Arial"/>
                <a:sym typeface="Arial"/>
              </a:rPr>
              <a:t>Triggered SPD</a:t>
            </a:r>
            <a:endParaRPr b="1" sz="2000">
              <a:solidFill>
                <a:srgbClr val="000000"/>
              </a:solidFill>
              <a:latin typeface="Arial"/>
              <a:ea typeface="Arial"/>
              <a:cs typeface="Arial"/>
              <a:sym typeface="Arial"/>
            </a:endParaRPr>
          </a:p>
        </p:txBody>
      </p:sp>
      <p:cxnSp>
        <p:nvCxnSpPr>
          <p:cNvPr id="2408" name="Google Shape;2408;p57"/>
          <p:cNvCxnSpPr/>
          <p:nvPr/>
        </p:nvCxnSpPr>
        <p:spPr>
          <a:xfrm>
            <a:off x="19585594" y="9295823"/>
            <a:ext cx="0" cy="2007010"/>
          </a:xfrm>
          <a:prstGeom prst="straightConnector1">
            <a:avLst/>
          </a:prstGeom>
          <a:noFill/>
          <a:ln cap="flat" cmpd="sng" w="76200">
            <a:solidFill>
              <a:srgbClr val="000000"/>
            </a:solidFill>
            <a:prstDash val="solid"/>
            <a:miter lim="800000"/>
            <a:headEnd len="sm" w="sm" type="none"/>
            <a:tailEnd len="sm" w="sm" type="none"/>
          </a:ln>
        </p:spPr>
      </p:cxnSp>
      <p:cxnSp>
        <p:nvCxnSpPr>
          <p:cNvPr id="2409" name="Google Shape;2409;p57"/>
          <p:cNvCxnSpPr/>
          <p:nvPr/>
        </p:nvCxnSpPr>
        <p:spPr>
          <a:xfrm>
            <a:off x="18157501" y="9295823"/>
            <a:ext cx="1465036" cy="0"/>
          </a:xfrm>
          <a:prstGeom prst="straightConnector1">
            <a:avLst/>
          </a:prstGeom>
          <a:noFill/>
          <a:ln cap="flat" cmpd="sng" w="76200">
            <a:solidFill>
              <a:srgbClr val="000000"/>
            </a:solidFill>
            <a:prstDash val="solid"/>
            <a:miter lim="800000"/>
            <a:headEnd len="sm" w="sm" type="none"/>
            <a:tailEnd len="sm" w="sm" type="none"/>
          </a:ln>
        </p:spPr>
      </p:cxnSp>
      <p:cxnSp>
        <p:nvCxnSpPr>
          <p:cNvPr id="2410" name="Google Shape;2410;p57"/>
          <p:cNvCxnSpPr/>
          <p:nvPr/>
        </p:nvCxnSpPr>
        <p:spPr>
          <a:xfrm rot="10800000">
            <a:off x="18583334" y="11302832"/>
            <a:ext cx="1039203" cy="0"/>
          </a:xfrm>
          <a:prstGeom prst="straightConnector1">
            <a:avLst/>
          </a:prstGeom>
          <a:noFill/>
          <a:ln cap="flat" cmpd="sng" w="76200">
            <a:solidFill>
              <a:srgbClr val="000000"/>
            </a:solidFill>
            <a:prstDash val="solid"/>
            <a:miter lim="800000"/>
            <a:headEnd len="sm" w="sm" type="none"/>
            <a:tailEnd len="med" w="med" type="triangle"/>
          </a:ln>
        </p:spPr>
      </p:cxnSp>
      <p:sp>
        <p:nvSpPr>
          <p:cNvPr id="2411" name="Google Shape;2411;p57"/>
          <p:cNvSpPr txBox="1"/>
          <p:nvPr/>
        </p:nvSpPr>
        <p:spPr>
          <a:xfrm>
            <a:off x="18275653" y="8787183"/>
            <a:ext cx="301054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Triggering signals</a:t>
            </a:r>
            <a:endParaRPr b="1" sz="2000">
              <a:solidFill>
                <a:srgbClr val="000000"/>
              </a:solidFill>
              <a:latin typeface="Arial"/>
              <a:ea typeface="Arial"/>
              <a:cs typeface="Arial"/>
              <a:sym typeface="Arial"/>
            </a:endParaRPr>
          </a:p>
        </p:txBody>
      </p:sp>
      <p:sp>
        <p:nvSpPr>
          <p:cNvPr id="2412" name="Google Shape;2412;p57"/>
          <p:cNvSpPr/>
          <p:nvPr/>
        </p:nvSpPr>
        <p:spPr>
          <a:xfrm rot="5400000">
            <a:off x="9783913" y="8802057"/>
            <a:ext cx="1027251" cy="968448"/>
          </a:xfrm>
          <a:prstGeom prst="snip2SameRect">
            <a:avLst>
              <a:gd fmla="val 16667" name="adj1"/>
              <a:gd fmla="val 0" name="adj2"/>
            </a:avLst>
          </a:prstGeom>
          <a:solidFill>
            <a:srgbClr val="757070"/>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Tahoma"/>
              <a:buNone/>
            </a:pPr>
            <a:r>
              <a:t/>
            </a:r>
            <a:endParaRPr b="0" i="0" sz="1000" u="none" cap="none" strike="noStrike">
              <a:solidFill>
                <a:srgbClr val="FFFFFF"/>
              </a:solidFill>
              <a:latin typeface="Calibri"/>
              <a:ea typeface="Calibri"/>
              <a:cs typeface="Calibri"/>
              <a:sym typeface="Calibri"/>
            </a:endParaRPr>
          </a:p>
        </p:txBody>
      </p:sp>
      <p:sp>
        <p:nvSpPr>
          <p:cNvPr id="2413" name="Google Shape;2413;p57"/>
          <p:cNvSpPr/>
          <p:nvPr/>
        </p:nvSpPr>
        <p:spPr>
          <a:xfrm>
            <a:off x="14908615" y="8931539"/>
            <a:ext cx="111649" cy="728567"/>
          </a:xfrm>
          <a:prstGeom prst="rect">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Arial"/>
              <a:ea typeface="Arial"/>
              <a:cs typeface="Arial"/>
              <a:sym typeface="Arial"/>
            </a:endParaRPr>
          </a:p>
        </p:txBody>
      </p:sp>
      <p:sp>
        <p:nvSpPr>
          <p:cNvPr id="2414" name="Google Shape;2414;p57"/>
          <p:cNvSpPr txBox="1"/>
          <p:nvPr/>
        </p:nvSpPr>
        <p:spPr>
          <a:xfrm>
            <a:off x="14160278" y="8070924"/>
            <a:ext cx="1798541"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Pump filter</a:t>
            </a:r>
            <a:endParaRPr b="1" sz="2000">
              <a:solidFill>
                <a:srgbClr val="000000"/>
              </a:solidFill>
              <a:latin typeface="Arial"/>
              <a:ea typeface="Arial"/>
              <a:cs typeface="Arial"/>
              <a:sym typeface="Arial"/>
            </a:endParaRPr>
          </a:p>
        </p:txBody>
      </p:sp>
      <p:sp>
        <p:nvSpPr>
          <p:cNvPr id="2415" name="Google Shape;2415;p57"/>
          <p:cNvSpPr/>
          <p:nvPr/>
        </p:nvSpPr>
        <p:spPr>
          <a:xfrm>
            <a:off x="11515750" y="7206009"/>
            <a:ext cx="5701119" cy="1601618"/>
          </a:xfrm>
          <a:prstGeom prst="rect">
            <a:avLst/>
          </a:prstGeom>
          <a:solidFill>
            <a:schemeClr val="lt1">
              <a:alpha val="9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grpSp>
        <p:nvGrpSpPr>
          <p:cNvPr id="2416" name="Google Shape;2416;p57"/>
          <p:cNvGrpSpPr/>
          <p:nvPr/>
        </p:nvGrpSpPr>
        <p:grpSpPr>
          <a:xfrm>
            <a:off x="11924597" y="7176859"/>
            <a:ext cx="720000" cy="720000"/>
            <a:chOff x="13690930" y="8337959"/>
            <a:chExt cx="720000" cy="720000"/>
          </a:xfrm>
        </p:grpSpPr>
        <p:sp>
          <p:nvSpPr>
            <p:cNvPr id="2417" name="Google Shape;2417;p57"/>
            <p:cNvSpPr/>
            <p:nvPr/>
          </p:nvSpPr>
          <p:spPr>
            <a:xfrm flipH="1" rot="10800000">
              <a:off x="13690930" y="8337959"/>
              <a:ext cx="720000" cy="7200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418" name="Google Shape;2418;p57"/>
            <p:cNvSpPr txBox="1"/>
            <p:nvPr/>
          </p:nvSpPr>
          <p:spPr>
            <a:xfrm>
              <a:off x="13863994" y="8405835"/>
              <a:ext cx="470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Montserrat"/>
                  <a:ea typeface="Montserrat"/>
                  <a:cs typeface="Montserrat"/>
                  <a:sym typeface="Montserrat"/>
                </a:rPr>
                <a:t>2</a:t>
              </a:r>
              <a:endParaRPr b="1" sz="3200">
                <a:solidFill>
                  <a:schemeClr val="lt1"/>
                </a:solidFill>
                <a:latin typeface="Montserrat"/>
                <a:ea typeface="Montserrat"/>
                <a:cs typeface="Montserrat"/>
                <a:sym typeface="Montserrat"/>
              </a:endParaRPr>
            </a:p>
          </p:txBody>
        </p:sp>
      </p:grpSp>
      <p:grpSp>
        <p:nvGrpSpPr>
          <p:cNvPr id="2419" name="Google Shape;2419;p57"/>
          <p:cNvGrpSpPr/>
          <p:nvPr/>
        </p:nvGrpSpPr>
        <p:grpSpPr>
          <a:xfrm>
            <a:off x="13340895" y="7176859"/>
            <a:ext cx="720000" cy="720000"/>
            <a:chOff x="13690930" y="8337959"/>
            <a:chExt cx="720000" cy="720000"/>
          </a:xfrm>
        </p:grpSpPr>
        <p:sp>
          <p:nvSpPr>
            <p:cNvPr id="2420" name="Google Shape;2420;p57"/>
            <p:cNvSpPr/>
            <p:nvPr/>
          </p:nvSpPr>
          <p:spPr>
            <a:xfrm flipH="1" rot="10800000">
              <a:off x="13690930" y="8337959"/>
              <a:ext cx="720000" cy="7200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421" name="Google Shape;2421;p57"/>
            <p:cNvSpPr txBox="1"/>
            <p:nvPr/>
          </p:nvSpPr>
          <p:spPr>
            <a:xfrm>
              <a:off x="13863994" y="8405835"/>
              <a:ext cx="470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Montserrat"/>
                  <a:ea typeface="Montserrat"/>
                  <a:cs typeface="Montserrat"/>
                  <a:sym typeface="Montserrat"/>
                </a:rPr>
                <a:t>3</a:t>
              </a:r>
              <a:endParaRPr b="1" sz="3200">
                <a:solidFill>
                  <a:schemeClr val="lt1"/>
                </a:solidFill>
                <a:latin typeface="Montserrat"/>
                <a:ea typeface="Montserrat"/>
                <a:cs typeface="Montserrat"/>
                <a:sym typeface="Montserrat"/>
              </a:endParaRPr>
            </a:p>
          </p:txBody>
        </p:sp>
      </p:grpSp>
      <p:grpSp>
        <p:nvGrpSpPr>
          <p:cNvPr id="2422" name="Google Shape;2422;p57"/>
          <p:cNvGrpSpPr/>
          <p:nvPr/>
        </p:nvGrpSpPr>
        <p:grpSpPr>
          <a:xfrm>
            <a:off x="14609827" y="7176859"/>
            <a:ext cx="720000" cy="720000"/>
            <a:chOff x="13690930" y="8337959"/>
            <a:chExt cx="720000" cy="720000"/>
          </a:xfrm>
        </p:grpSpPr>
        <p:sp>
          <p:nvSpPr>
            <p:cNvPr id="2423" name="Google Shape;2423;p57"/>
            <p:cNvSpPr/>
            <p:nvPr/>
          </p:nvSpPr>
          <p:spPr>
            <a:xfrm flipH="1" rot="10800000">
              <a:off x="13690930" y="8337959"/>
              <a:ext cx="720000" cy="7200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424" name="Google Shape;2424;p57"/>
            <p:cNvSpPr txBox="1"/>
            <p:nvPr/>
          </p:nvSpPr>
          <p:spPr>
            <a:xfrm>
              <a:off x="13863994" y="8405835"/>
              <a:ext cx="470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Montserrat"/>
                  <a:ea typeface="Montserrat"/>
                  <a:cs typeface="Montserrat"/>
                  <a:sym typeface="Montserrat"/>
                </a:rPr>
                <a:t>4</a:t>
              </a:r>
              <a:endParaRPr b="1" sz="3200">
                <a:solidFill>
                  <a:schemeClr val="lt1"/>
                </a:solidFill>
                <a:latin typeface="Montserrat"/>
                <a:ea typeface="Montserrat"/>
                <a:cs typeface="Montserrat"/>
                <a:sym typeface="Montserrat"/>
              </a:endParaRPr>
            </a:p>
          </p:txBody>
        </p:sp>
      </p:grpSp>
      <p:grpSp>
        <p:nvGrpSpPr>
          <p:cNvPr id="2425" name="Google Shape;2425;p57"/>
          <p:cNvGrpSpPr/>
          <p:nvPr/>
        </p:nvGrpSpPr>
        <p:grpSpPr>
          <a:xfrm>
            <a:off x="16630605" y="7176859"/>
            <a:ext cx="720000" cy="720000"/>
            <a:chOff x="13690930" y="8337959"/>
            <a:chExt cx="720000" cy="720000"/>
          </a:xfrm>
        </p:grpSpPr>
        <p:sp>
          <p:nvSpPr>
            <p:cNvPr id="2426" name="Google Shape;2426;p57"/>
            <p:cNvSpPr/>
            <p:nvPr/>
          </p:nvSpPr>
          <p:spPr>
            <a:xfrm flipH="1" rot="10800000">
              <a:off x="13690930" y="8337959"/>
              <a:ext cx="720000" cy="7200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427" name="Google Shape;2427;p57"/>
            <p:cNvSpPr txBox="1"/>
            <p:nvPr/>
          </p:nvSpPr>
          <p:spPr>
            <a:xfrm>
              <a:off x="13863994" y="8405835"/>
              <a:ext cx="470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Montserrat"/>
                  <a:ea typeface="Montserrat"/>
                  <a:cs typeface="Montserrat"/>
                  <a:sym typeface="Montserrat"/>
                </a:rPr>
                <a:t>5</a:t>
              </a:r>
              <a:endParaRPr b="1" sz="3200">
                <a:solidFill>
                  <a:schemeClr val="lt1"/>
                </a:solidFill>
                <a:latin typeface="Montserrat"/>
                <a:ea typeface="Montserrat"/>
                <a:cs typeface="Montserrat"/>
                <a:sym typeface="Montserrat"/>
              </a:endParaRPr>
            </a:p>
          </p:txBody>
        </p:sp>
      </p:grpSp>
      <p:grpSp>
        <p:nvGrpSpPr>
          <p:cNvPr id="2428" name="Google Shape;2428;p57"/>
          <p:cNvGrpSpPr/>
          <p:nvPr/>
        </p:nvGrpSpPr>
        <p:grpSpPr>
          <a:xfrm>
            <a:off x="16696354" y="12356041"/>
            <a:ext cx="720000" cy="720000"/>
            <a:chOff x="13690930" y="8337959"/>
            <a:chExt cx="720000" cy="720000"/>
          </a:xfrm>
        </p:grpSpPr>
        <p:sp>
          <p:nvSpPr>
            <p:cNvPr id="2429" name="Google Shape;2429;p57"/>
            <p:cNvSpPr/>
            <p:nvPr/>
          </p:nvSpPr>
          <p:spPr>
            <a:xfrm flipH="1" rot="10800000">
              <a:off x="13690930" y="8337959"/>
              <a:ext cx="720000" cy="7200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430" name="Google Shape;2430;p57"/>
            <p:cNvSpPr txBox="1"/>
            <p:nvPr/>
          </p:nvSpPr>
          <p:spPr>
            <a:xfrm>
              <a:off x="13863994" y="8405835"/>
              <a:ext cx="470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Montserrat"/>
                  <a:ea typeface="Montserrat"/>
                  <a:cs typeface="Montserrat"/>
                  <a:sym typeface="Montserrat"/>
                </a:rPr>
                <a:t>6</a:t>
              </a:r>
              <a:endParaRPr/>
            </a:p>
          </p:txBody>
        </p:sp>
      </p:grpSp>
      <p:sp>
        <p:nvSpPr>
          <p:cNvPr id="2431" name="Google Shape;2431;p57"/>
          <p:cNvSpPr txBox="1"/>
          <p:nvPr/>
        </p:nvSpPr>
        <p:spPr>
          <a:xfrm>
            <a:off x="18188654" y="12421998"/>
            <a:ext cx="184731"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3200">
              <a:solidFill>
                <a:schemeClr val="lt1"/>
              </a:solidFill>
              <a:latin typeface="Montserrat"/>
              <a:ea typeface="Montserrat"/>
              <a:cs typeface="Montserrat"/>
              <a:sym typeface="Montserrat"/>
            </a:endParaRPr>
          </a:p>
        </p:txBody>
      </p:sp>
      <p:sp>
        <p:nvSpPr>
          <p:cNvPr id="2432" name="Google Shape;2432;p57"/>
          <p:cNvSpPr txBox="1"/>
          <p:nvPr/>
        </p:nvSpPr>
        <p:spPr>
          <a:xfrm>
            <a:off x="640511" y="5371261"/>
            <a:ext cx="5484941"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0000"/>
                </a:solidFill>
                <a:latin typeface="Arial"/>
                <a:ea typeface="Arial"/>
                <a:cs typeface="Arial"/>
                <a:sym typeface="Arial"/>
              </a:rPr>
              <a:t>Transmission and coupling losses: </a:t>
            </a:r>
            <a:endParaRPr b="1" sz="2400">
              <a:solidFill>
                <a:srgbClr val="000000"/>
              </a:solidFill>
              <a:latin typeface="Arial"/>
              <a:ea typeface="Arial"/>
              <a:cs typeface="Arial"/>
              <a:sym typeface="Arial"/>
            </a:endParaRPr>
          </a:p>
        </p:txBody>
      </p:sp>
      <p:graphicFrame>
        <p:nvGraphicFramePr>
          <p:cNvPr id="2433" name="Google Shape;2433;p57"/>
          <p:cNvGraphicFramePr/>
          <p:nvPr/>
        </p:nvGraphicFramePr>
        <p:xfrm>
          <a:off x="809099" y="4186201"/>
          <a:ext cx="3000000" cy="3000000"/>
        </p:xfrm>
        <a:graphic>
          <a:graphicData uri="http://schemas.openxmlformats.org/drawingml/2006/table">
            <a:tbl>
              <a:tblPr bandRow="1" firstRow="1">
                <a:noFill/>
                <a:tableStyleId>{2D5A7AE6-9B3A-4105-8E20-78A74F81C108}</a:tableStyleId>
              </a:tblPr>
              <a:tblGrid>
                <a:gridCol w="1713225"/>
                <a:gridCol w="1713225"/>
                <a:gridCol w="1713225"/>
              </a:tblGrid>
              <a:tr h="510250">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No</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TE (dB)</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TM (dB)</a:t>
                      </a:r>
                      <a:endParaRPr sz="2400" u="none" cap="none" strike="noStrike">
                        <a:solidFill>
                          <a:schemeClr val="dk2"/>
                        </a:solidFill>
                        <a:latin typeface="Arial"/>
                        <a:ea typeface="Arial"/>
                        <a:cs typeface="Arial"/>
                        <a:sym typeface="Arial"/>
                      </a:endParaRPr>
                    </a:p>
                  </a:txBody>
                  <a:tcPr marT="45725" marB="45725" marR="91450" marL="91450"/>
                </a:tc>
              </a:tr>
              <a:tr h="510250">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 </a:t>
                      </a:r>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-9.78 </a:t>
                      </a:r>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-1.87</a:t>
                      </a:r>
                      <a:endParaRPr sz="2400" u="none" cap="none" strike="noStrike">
                        <a:solidFill>
                          <a:schemeClr val="dk2"/>
                        </a:solidFill>
                        <a:latin typeface="Arial"/>
                        <a:ea typeface="Arial"/>
                        <a:cs typeface="Arial"/>
                        <a:sym typeface="Arial"/>
                      </a:endParaRPr>
                    </a:p>
                  </a:txBody>
                  <a:tcPr marT="45725" marB="45725" marR="91450" marL="91450"/>
                </a:tc>
              </a:tr>
            </a:tbl>
          </a:graphicData>
        </a:graphic>
      </p:graphicFrame>
      <p:sp>
        <p:nvSpPr>
          <p:cNvPr id="2434" name="Google Shape;2434;p57"/>
          <p:cNvSpPr txBox="1"/>
          <p:nvPr/>
        </p:nvSpPr>
        <p:spPr>
          <a:xfrm>
            <a:off x="15150880" y="9429098"/>
            <a:ext cx="226547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0000"/>
                </a:solidFill>
                <a:latin typeface="Arial"/>
                <a:ea typeface="Arial"/>
                <a:cs typeface="Arial"/>
                <a:sym typeface="Arial"/>
              </a:rPr>
              <a:t>Idler photons (1519 nm)</a:t>
            </a:r>
            <a:endParaRPr b="1" sz="2000">
              <a:solidFill>
                <a:srgbClr val="000000"/>
              </a:solidFill>
              <a:latin typeface="Arial"/>
              <a:ea typeface="Arial"/>
              <a:cs typeface="Arial"/>
              <a:sym typeface="Arial"/>
            </a:endParaRPr>
          </a:p>
        </p:txBody>
      </p:sp>
      <p:graphicFrame>
        <p:nvGraphicFramePr>
          <p:cNvPr id="2435" name="Google Shape;2435;p57"/>
          <p:cNvGraphicFramePr/>
          <p:nvPr/>
        </p:nvGraphicFramePr>
        <p:xfrm>
          <a:off x="776566" y="5959542"/>
          <a:ext cx="3000000" cy="3000000"/>
        </p:xfrm>
        <a:graphic>
          <a:graphicData uri="http://schemas.openxmlformats.org/drawingml/2006/table">
            <a:tbl>
              <a:tblPr bandRow="1" firstRow="1">
                <a:noFill/>
                <a:tableStyleId>{2D5A7AE6-9B3A-4105-8E20-78A74F81C108}</a:tableStyleId>
              </a:tblPr>
              <a:tblGrid>
                <a:gridCol w="1713225"/>
                <a:gridCol w="1713225"/>
                <a:gridCol w="1713225"/>
              </a:tblGrid>
              <a:tr h="510250">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No</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TE (dB)</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TM (dB)</a:t>
                      </a:r>
                      <a:endParaRPr sz="2400" u="none" cap="none" strike="noStrike">
                        <a:solidFill>
                          <a:schemeClr val="dk2"/>
                        </a:solidFill>
                        <a:latin typeface="Arial"/>
                        <a:ea typeface="Arial"/>
                        <a:cs typeface="Arial"/>
                        <a:sym typeface="Arial"/>
                      </a:endParaRPr>
                    </a:p>
                  </a:txBody>
                  <a:tcPr marT="45725" marB="45725" marR="91450" marL="91450"/>
                </a:tc>
              </a:tr>
              <a:tr h="510250">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2 </a:t>
                      </a:r>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-0.06</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-0.30</a:t>
                      </a:r>
                      <a:endParaRPr sz="2400" u="none" cap="none" strike="noStrike">
                        <a:solidFill>
                          <a:schemeClr val="dk2"/>
                        </a:solidFill>
                        <a:latin typeface="Arial"/>
                        <a:ea typeface="Arial"/>
                        <a:cs typeface="Arial"/>
                        <a:sym typeface="Arial"/>
                      </a:endParaRPr>
                    </a:p>
                  </a:txBody>
                  <a:tcPr marT="45725" marB="45725" marR="91450" marL="91450"/>
                </a:tc>
              </a:tr>
              <a:tr h="510250">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3</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-0.03</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-0.05</a:t>
                      </a:r>
                      <a:endParaRPr sz="2400" u="none" cap="none" strike="noStrike">
                        <a:solidFill>
                          <a:schemeClr val="dk2"/>
                        </a:solidFill>
                        <a:latin typeface="Arial"/>
                        <a:ea typeface="Arial"/>
                        <a:cs typeface="Arial"/>
                        <a:sym typeface="Arial"/>
                      </a:endParaRPr>
                    </a:p>
                  </a:txBody>
                  <a:tcPr marT="45725" marB="45725" marR="91450" marL="91450"/>
                </a:tc>
              </a:tr>
              <a:tr h="510250">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4</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-0.82</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t/>
                      </a:r>
                      <a:endParaRPr sz="2400" u="none" cap="none" strike="noStrike">
                        <a:solidFill>
                          <a:schemeClr val="dk2"/>
                        </a:solidFill>
                        <a:latin typeface="Arial"/>
                        <a:ea typeface="Arial"/>
                        <a:cs typeface="Arial"/>
                        <a:sym typeface="Arial"/>
                      </a:endParaRPr>
                    </a:p>
                  </a:txBody>
                  <a:tcPr marT="45725" marB="45725" marR="91450" marL="91450"/>
                </a:tc>
              </a:tr>
              <a:tr h="510250">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5</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-6.02</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t/>
                      </a:r>
                      <a:endParaRPr sz="2400" u="none" cap="none" strike="noStrike">
                        <a:solidFill>
                          <a:schemeClr val="dk2"/>
                        </a:solidFill>
                        <a:latin typeface="Arial"/>
                        <a:ea typeface="Arial"/>
                        <a:cs typeface="Arial"/>
                        <a:sym typeface="Arial"/>
                      </a:endParaRPr>
                    </a:p>
                  </a:txBody>
                  <a:tcPr marT="45725" marB="45725" marR="91450" marL="91450"/>
                </a:tc>
              </a:tr>
              <a:tr h="510250">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6</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-3.01</a:t>
                      </a:r>
                      <a:endParaRPr sz="2400" u="none" cap="none" strike="noStrike">
                        <a:solidFill>
                          <a:schemeClr val="dk2"/>
                        </a:solidFill>
                        <a:latin typeface="Arial"/>
                        <a:ea typeface="Arial"/>
                        <a:cs typeface="Arial"/>
                        <a:sym typeface="Arial"/>
                      </a:endParaRPr>
                    </a:p>
                  </a:txBody>
                  <a:tcPr marT="45725" marB="45725" marR="91450" marL="91450"/>
                </a:tc>
              </a:tr>
              <a:tr h="510250">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Overall (1~6)</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-16.71</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-5.23</a:t>
                      </a:r>
                      <a:endParaRPr sz="2400" u="none" cap="none" strike="noStrike">
                        <a:solidFill>
                          <a:schemeClr val="dk2"/>
                        </a:solidFill>
                        <a:latin typeface="Arial"/>
                        <a:ea typeface="Arial"/>
                        <a:cs typeface="Arial"/>
                        <a:sym typeface="Arial"/>
                      </a:endParaRPr>
                    </a:p>
                  </a:txBody>
                  <a:tcPr marT="45725" marB="45725" marR="91450" marL="91450"/>
                </a:tc>
              </a:tr>
            </a:tbl>
          </a:graphicData>
        </a:graphic>
      </p:graphicFrame>
      <p:sp>
        <p:nvSpPr>
          <p:cNvPr id="2436" name="Google Shape;2436;p57"/>
          <p:cNvSpPr txBox="1"/>
          <p:nvPr/>
        </p:nvSpPr>
        <p:spPr>
          <a:xfrm>
            <a:off x="1297935" y="10701748"/>
            <a:ext cx="390465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000000"/>
                </a:solidFill>
                <a:latin typeface="Arial"/>
                <a:ea typeface="Arial"/>
                <a:cs typeface="Arial"/>
                <a:sym typeface="Arial"/>
              </a:rPr>
              <a:t>Detection efficiency</a:t>
            </a:r>
            <a:endParaRPr b="1" sz="2400">
              <a:solidFill>
                <a:srgbClr val="000000"/>
              </a:solidFill>
              <a:latin typeface="Arial"/>
              <a:ea typeface="Arial"/>
              <a:cs typeface="Arial"/>
              <a:sym typeface="Arial"/>
            </a:endParaRPr>
          </a:p>
        </p:txBody>
      </p:sp>
      <p:graphicFrame>
        <p:nvGraphicFramePr>
          <p:cNvPr id="2437" name="Google Shape;2437;p57"/>
          <p:cNvGraphicFramePr/>
          <p:nvPr/>
        </p:nvGraphicFramePr>
        <p:xfrm>
          <a:off x="1537027" y="11477405"/>
          <a:ext cx="3000000" cy="3000000"/>
        </p:xfrm>
        <a:graphic>
          <a:graphicData uri="http://schemas.openxmlformats.org/drawingml/2006/table">
            <a:tbl>
              <a:tblPr bandRow="1" firstRow="1">
                <a:noFill/>
                <a:tableStyleId>{2D5A7AE6-9B3A-4105-8E20-78A74F81C108}</a:tableStyleId>
              </a:tblPr>
              <a:tblGrid>
                <a:gridCol w="1713225"/>
                <a:gridCol w="1713225"/>
              </a:tblGrid>
              <a:tr h="510250">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TE (%)</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TM (%)</a:t>
                      </a:r>
                      <a:endParaRPr sz="2400" u="none" cap="none" strike="noStrike">
                        <a:solidFill>
                          <a:schemeClr val="dk2"/>
                        </a:solidFill>
                        <a:latin typeface="Arial"/>
                        <a:ea typeface="Arial"/>
                        <a:cs typeface="Arial"/>
                        <a:sym typeface="Arial"/>
                      </a:endParaRPr>
                    </a:p>
                  </a:txBody>
                  <a:tcPr marT="45725" marB="45725" marR="91450" marL="91450"/>
                </a:tc>
              </a:tr>
              <a:tr h="510250">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 15%</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 5%</a:t>
                      </a:r>
                      <a:endParaRPr sz="2400" u="none" cap="none" strike="noStrike">
                        <a:solidFill>
                          <a:schemeClr val="dk2"/>
                        </a:solidFill>
                        <a:latin typeface="Arial"/>
                        <a:ea typeface="Arial"/>
                        <a:cs typeface="Arial"/>
                        <a:sym typeface="Arial"/>
                      </a:endParaRPr>
                    </a:p>
                  </a:txBody>
                  <a:tcPr marT="45725" marB="45725" marR="91450" marL="91450"/>
                </a:tc>
              </a:tr>
            </a:tbl>
          </a:graphicData>
        </a:graphic>
      </p:graphicFrame>
      <p:grpSp>
        <p:nvGrpSpPr>
          <p:cNvPr id="2438" name="Google Shape;2438;p57"/>
          <p:cNvGrpSpPr/>
          <p:nvPr/>
        </p:nvGrpSpPr>
        <p:grpSpPr>
          <a:xfrm>
            <a:off x="7941543" y="7173632"/>
            <a:ext cx="720000" cy="720000"/>
            <a:chOff x="13690930" y="8337959"/>
            <a:chExt cx="720000" cy="720000"/>
          </a:xfrm>
        </p:grpSpPr>
        <p:sp>
          <p:nvSpPr>
            <p:cNvPr id="2439" name="Google Shape;2439;p57"/>
            <p:cNvSpPr/>
            <p:nvPr/>
          </p:nvSpPr>
          <p:spPr>
            <a:xfrm flipH="1" rot="10800000">
              <a:off x="13690930" y="8337959"/>
              <a:ext cx="720000" cy="720000"/>
            </a:xfrm>
            <a:prstGeom prst="ellipse">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440" name="Google Shape;2440;p57"/>
            <p:cNvSpPr txBox="1"/>
            <p:nvPr/>
          </p:nvSpPr>
          <p:spPr>
            <a:xfrm>
              <a:off x="13863994" y="8405835"/>
              <a:ext cx="470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Montserrat"/>
                  <a:ea typeface="Montserrat"/>
                  <a:cs typeface="Montserrat"/>
                  <a:sym typeface="Montserrat"/>
                </a:rPr>
                <a:t>1</a:t>
              </a:r>
              <a:endParaRPr b="1" sz="3200">
                <a:solidFill>
                  <a:schemeClr val="lt1"/>
                </a:solidFill>
                <a:latin typeface="Montserrat"/>
                <a:ea typeface="Montserrat"/>
                <a:cs typeface="Montserrat"/>
                <a:sym typeface="Montserrat"/>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4" name="Shape 2444"/>
        <p:cNvGrpSpPr/>
        <p:nvPr/>
      </p:nvGrpSpPr>
      <p:grpSpPr>
        <a:xfrm>
          <a:off x="0" y="0"/>
          <a:ext cx="0" cy="0"/>
          <a:chOff x="0" y="0"/>
          <a:chExt cx="0" cy="0"/>
        </a:xfrm>
      </p:grpSpPr>
      <p:sp>
        <p:nvSpPr>
          <p:cNvPr id="2445" name="Google Shape;2445;p58"/>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Calculation of pair generation rate</a:t>
            </a:r>
            <a:endParaRPr/>
          </a:p>
        </p:txBody>
      </p:sp>
      <p:sp>
        <p:nvSpPr>
          <p:cNvPr id="2446" name="Google Shape;2446;p58"/>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447" name="Google Shape;2447;p58"/>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48" name="Google Shape;2448;p58"/>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449" name="Google Shape;2449;p58"/>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450" name="Google Shape;2450;p58"/>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451" name="Google Shape;2451;p58"/>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452" name="Google Shape;2452;p58"/>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453" name="Google Shape;2453;p58"/>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454" name="Google Shape;2454;p58"/>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pic>
        <p:nvPicPr>
          <p:cNvPr id="2455" name="Google Shape;2455;p58"/>
          <p:cNvPicPr preferRelativeResize="0"/>
          <p:nvPr/>
        </p:nvPicPr>
        <p:blipFill rotWithShape="1">
          <a:blip r:embed="rId3">
            <a:alphaModFix/>
          </a:blip>
          <a:srcRect b="0" l="0" r="0" t="0"/>
          <a:stretch/>
        </p:blipFill>
        <p:spPr>
          <a:xfrm>
            <a:off x="7210196" y="3663301"/>
            <a:ext cx="2785770" cy="360000"/>
          </a:xfrm>
          <a:prstGeom prst="rect">
            <a:avLst/>
          </a:prstGeom>
          <a:noFill/>
          <a:ln>
            <a:noFill/>
          </a:ln>
        </p:spPr>
      </p:pic>
      <p:graphicFrame>
        <p:nvGraphicFramePr>
          <p:cNvPr id="2456" name="Google Shape;2456;p58"/>
          <p:cNvGraphicFramePr/>
          <p:nvPr/>
        </p:nvGraphicFramePr>
        <p:xfrm>
          <a:off x="1276350" y="4610723"/>
          <a:ext cx="3000000" cy="3000000"/>
        </p:xfrm>
        <a:graphic>
          <a:graphicData uri="http://schemas.openxmlformats.org/drawingml/2006/table">
            <a:tbl>
              <a:tblPr bandRow="1" firstRow="1">
                <a:noFill/>
                <a:tableStyleId>{2D5A7AE6-9B3A-4105-8E20-78A74F81C108}</a:tableStyleId>
              </a:tblPr>
              <a:tblGrid>
                <a:gridCol w="4572000"/>
                <a:gridCol w="4400550"/>
                <a:gridCol w="4559300"/>
              </a:tblGrid>
              <a:tr h="548325">
                <a:tc>
                  <a:txBody>
                    <a:bodyPr/>
                    <a:lstStyle/>
                    <a:p>
                      <a:pPr indent="0" lvl="0" marL="0" marR="0" rtl="0" algn="ctr">
                        <a:spcBef>
                          <a:spcPts val="0"/>
                        </a:spcBef>
                        <a:spcAft>
                          <a:spcPts val="0"/>
                        </a:spcAft>
                        <a:buNone/>
                      </a:pPr>
                      <a:r>
                        <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Other group*</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Our measurement</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1" lang="en-US" sz="2400" u="none" cap="none" strike="noStrike">
                          <a:solidFill>
                            <a:srgbClr val="000000"/>
                          </a:solidFill>
                          <a:latin typeface="Calibri"/>
                          <a:ea typeface="Calibri"/>
                          <a:cs typeface="Calibri"/>
                          <a:sym typeface="Calibri"/>
                        </a:rPr>
                        <a:t>μ</a:t>
                      </a:r>
                      <a:r>
                        <a:rPr baseline="-25000" i="1" lang="en-US" sz="2400" u="none" cap="none" strike="noStrike">
                          <a:solidFill>
                            <a:schemeClr val="dk2"/>
                          </a:solidFill>
                          <a:latin typeface="Arial"/>
                          <a:ea typeface="Arial"/>
                          <a:cs typeface="Arial"/>
                          <a:sym typeface="Arial"/>
                        </a:rPr>
                        <a:t>1</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(dB)</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-10.4576</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-16.71</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1" lang="en-US" sz="2400" u="none" cap="none" strike="noStrike">
                          <a:solidFill>
                            <a:srgbClr val="000000"/>
                          </a:solidFill>
                          <a:latin typeface="Calibri"/>
                          <a:ea typeface="Calibri"/>
                          <a:cs typeface="Calibri"/>
                          <a:sym typeface="Calibri"/>
                        </a:rPr>
                        <a:t>μ</a:t>
                      </a:r>
                      <a:r>
                        <a:rPr baseline="-25000" i="1" lang="en-US" sz="2400" u="none" cap="none" strike="noStrike">
                          <a:solidFill>
                            <a:schemeClr val="dk2"/>
                          </a:solidFill>
                          <a:latin typeface="Arial"/>
                          <a:ea typeface="Arial"/>
                          <a:cs typeface="Arial"/>
                          <a:sym typeface="Arial"/>
                        </a:rPr>
                        <a:t>2</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(dB)</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-10</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-5.23</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1" lang="en-US" sz="2400" u="none" cap="none" strike="noStrike">
                          <a:solidFill>
                            <a:srgbClr val="000000"/>
                          </a:solidFill>
                          <a:latin typeface="Calibri"/>
                          <a:ea typeface="Calibri"/>
                          <a:cs typeface="Calibri"/>
                          <a:sym typeface="Calibri"/>
                        </a:rPr>
                        <a:t>η</a:t>
                      </a:r>
                      <a:r>
                        <a:rPr baseline="-25000" i="1" lang="en-US" sz="2400" u="none" cap="none" strike="noStrike">
                          <a:solidFill>
                            <a:srgbClr val="000000"/>
                          </a:solidFill>
                          <a:latin typeface="Calibri"/>
                          <a:ea typeface="Calibri"/>
                          <a:cs typeface="Calibri"/>
                          <a:sym typeface="Calibri"/>
                        </a:rPr>
                        <a:t>1</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15</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15</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lnSpc>
                          <a:spcPct val="100000"/>
                        </a:lnSpc>
                        <a:spcBef>
                          <a:spcPts val="0"/>
                        </a:spcBef>
                        <a:spcAft>
                          <a:spcPts val="0"/>
                        </a:spcAft>
                        <a:buClr>
                          <a:srgbClr val="000000"/>
                        </a:buClr>
                        <a:buSzPts val="2400"/>
                        <a:buFont typeface="Calibri"/>
                        <a:buNone/>
                      </a:pPr>
                      <a:r>
                        <a:rPr i="1" lang="en-US" sz="2400" u="none" cap="none" strike="noStrike">
                          <a:solidFill>
                            <a:srgbClr val="000000"/>
                          </a:solidFill>
                          <a:latin typeface="Calibri"/>
                          <a:ea typeface="Calibri"/>
                          <a:cs typeface="Calibri"/>
                          <a:sym typeface="Calibri"/>
                        </a:rPr>
                        <a:t>η</a:t>
                      </a:r>
                      <a:r>
                        <a:rPr baseline="-25000" i="1" lang="en-US" sz="2400" u="none" cap="none" strike="noStrike">
                          <a:solidFill>
                            <a:srgbClr val="000000"/>
                          </a:solidFill>
                          <a:latin typeface="Calibri"/>
                          <a:ea typeface="Calibri"/>
                          <a:cs typeface="Calibri"/>
                          <a:sym typeface="Calibri"/>
                        </a:rPr>
                        <a:t>2</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15</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5</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1" lang="en-US" sz="2400" u="none" cap="none" strike="noStrike">
                          <a:solidFill>
                            <a:srgbClr val="000000"/>
                          </a:solidFill>
                          <a:latin typeface="Calibri"/>
                          <a:ea typeface="Calibri"/>
                          <a:cs typeface="Calibri"/>
                          <a:sym typeface="Calibri"/>
                        </a:rPr>
                        <a:t>μ</a:t>
                      </a:r>
                      <a:r>
                        <a:rPr baseline="-25000" i="1" lang="en-US" sz="2400" u="none" cap="none" strike="noStrike">
                          <a:solidFill>
                            <a:schemeClr val="dk2"/>
                          </a:solidFill>
                          <a:latin typeface="Arial"/>
                          <a:ea typeface="Arial"/>
                          <a:cs typeface="Arial"/>
                          <a:sym typeface="Arial"/>
                        </a:rPr>
                        <a:t>1</a:t>
                      </a:r>
                      <a:r>
                        <a:rPr i="1" lang="en-US" sz="2400" u="none" cap="none" strike="noStrike">
                          <a:solidFill>
                            <a:schemeClr val="dk2"/>
                          </a:solidFill>
                          <a:latin typeface="Arial"/>
                          <a:ea typeface="Arial"/>
                          <a:cs typeface="Arial"/>
                          <a:sym typeface="Arial"/>
                        </a:rPr>
                        <a:t> </a:t>
                      </a:r>
                      <a:r>
                        <a:rPr i="1" lang="en-US" sz="2400" u="none" cap="none" strike="noStrike">
                          <a:solidFill>
                            <a:srgbClr val="000000"/>
                          </a:solidFill>
                          <a:latin typeface="Calibri"/>
                          <a:ea typeface="Calibri"/>
                          <a:cs typeface="Calibri"/>
                          <a:sym typeface="Calibri"/>
                        </a:rPr>
                        <a:t>μ</a:t>
                      </a:r>
                      <a:r>
                        <a:rPr baseline="-25000" i="1" lang="en-US" sz="2400" u="none" cap="none" strike="noStrike">
                          <a:solidFill>
                            <a:schemeClr val="dk2"/>
                          </a:solidFill>
                          <a:latin typeface="Arial"/>
                          <a:ea typeface="Arial"/>
                          <a:cs typeface="Arial"/>
                          <a:sym typeface="Arial"/>
                        </a:rPr>
                        <a:t>2</a:t>
                      </a:r>
                      <a:r>
                        <a:rPr i="1" lang="en-US" sz="2400" u="none" cap="none" strike="noStrike">
                          <a:solidFill>
                            <a:schemeClr val="dk2"/>
                          </a:solidFill>
                          <a:latin typeface="Arial"/>
                          <a:ea typeface="Arial"/>
                          <a:cs typeface="Arial"/>
                          <a:sym typeface="Arial"/>
                        </a:rPr>
                        <a:t> </a:t>
                      </a:r>
                      <a:r>
                        <a:rPr i="1" lang="en-US" sz="2400" u="none" cap="none" strike="noStrike">
                          <a:solidFill>
                            <a:srgbClr val="000000"/>
                          </a:solidFill>
                          <a:latin typeface="Calibri"/>
                          <a:ea typeface="Calibri"/>
                          <a:cs typeface="Calibri"/>
                          <a:sym typeface="Calibri"/>
                        </a:rPr>
                        <a:t>η</a:t>
                      </a:r>
                      <a:r>
                        <a:rPr baseline="-25000" i="1" lang="en-US" sz="2400" u="none" cap="none" strike="noStrike">
                          <a:solidFill>
                            <a:srgbClr val="000000"/>
                          </a:solidFill>
                          <a:latin typeface="Calibri"/>
                          <a:ea typeface="Calibri"/>
                          <a:cs typeface="Calibri"/>
                          <a:sym typeface="Calibri"/>
                        </a:rPr>
                        <a:t>1</a:t>
                      </a:r>
                      <a:r>
                        <a:rPr i="1" lang="en-US" sz="2400" u="none" cap="none" strike="noStrike">
                          <a:solidFill>
                            <a:schemeClr val="dk2"/>
                          </a:solidFill>
                          <a:latin typeface="Arial"/>
                          <a:ea typeface="Arial"/>
                          <a:cs typeface="Arial"/>
                          <a:sym typeface="Arial"/>
                        </a:rPr>
                        <a:t> </a:t>
                      </a:r>
                      <a:r>
                        <a:rPr i="1" lang="en-US" sz="2400" u="none" cap="none" strike="noStrike">
                          <a:solidFill>
                            <a:srgbClr val="000000"/>
                          </a:solidFill>
                          <a:latin typeface="Calibri"/>
                          <a:ea typeface="Calibri"/>
                          <a:cs typeface="Calibri"/>
                          <a:sym typeface="Calibri"/>
                        </a:rPr>
                        <a:t>η</a:t>
                      </a:r>
                      <a:r>
                        <a:rPr baseline="-25000" i="1" lang="en-US" sz="2400" u="none" cap="none" strike="noStrike">
                          <a:solidFill>
                            <a:srgbClr val="000000"/>
                          </a:solidFill>
                          <a:latin typeface="Calibri"/>
                          <a:ea typeface="Calibri"/>
                          <a:cs typeface="Calibri"/>
                          <a:sym typeface="Calibri"/>
                        </a:rPr>
                        <a:t>2</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(dB)</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-36.94</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-43.19</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0" lang="en-US" sz="2400" u="none" cap="none" strike="noStrike">
                          <a:solidFill>
                            <a:schemeClr val="dk2"/>
                          </a:solidFill>
                          <a:latin typeface="Arial"/>
                          <a:ea typeface="Arial"/>
                          <a:cs typeface="Arial"/>
                          <a:sym typeface="Arial"/>
                        </a:rPr>
                        <a:t>Pump power (</a:t>
                      </a:r>
                      <a:r>
                        <a:rPr i="0" lang="en-US" sz="2400" u="none" cap="none" strike="noStrike">
                          <a:solidFill>
                            <a:srgbClr val="000000"/>
                          </a:solidFill>
                          <a:latin typeface="Calibri"/>
                          <a:ea typeface="Calibri"/>
                          <a:cs typeface="Calibri"/>
                          <a:sym typeface="Calibri"/>
                        </a:rPr>
                        <a:t>μW</a:t>
                      </a:r>
                      <a:r>
                        <a:rPr i="0" lang="en-US" sz="2400" u="none" cap="none" strike="noStrike">
                          <a:solidFill>
                            <a:schemeClr val="dk2"/>
                          </a:solidFill>
                          <a:latin typeface="Arial"/>
                          <a:ea typeface="Arial"/>
                          <a:cs typeface="Arial"/>
                          <a:sym typeface="Arial"/>
                        </a:rPr>
                        <a:t>)</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95 </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4.5</a:t>
                      </a:r>
                      <a:endParaRPr sz="2400" u="none" cap="none" strike="noStrike">
                        <a:solidFill>
                          <a:schemeClr val="dk2"/>
                        </a:solidFill>
                        <a:latin typeface="Arial"/>
                        <a:ea typeface="Arial"/>
                        <a:cs typeface="Arial"/>
                        <a:sym typeface="Arial"/>
                      </a:endParaRPr>
                    </a:p>
                  </a:txBody>
                  <a:tcPr marT="45725" marB="45725" marR="91450" marL="91450"/>
                </a:tc>
              </a:tr>
              <a:tr h="577500">
                <a:tc>
                  <a:txBody>
                    <a:bodyPr/>
                    <a:lstStyle/>
                    <a:p>
                      <a:pPr indent="0" lvl="0" marL="0" marR="0" rtl="0" algn="ctr">
                        <a:spcBef>
                          <a:spcPts val="0"/>
                        </a:spcBef>
                        <a:spcAft>
                          <a:spcPts val="0"/>
                        </a:spcAft>
                        <a:buNone/>
                      </a:pPr>
                      <a:r>
                        <a:rPr i="1" lang="en-US" sz="2400" u="none" cap="none" strike="noStrike">
                          <a:solidFill>
                            <a:schemeClr val="dk2"/>
                          </a:solidFill>
                          <a:latin typeface="Arial"/>
                          <a:ea typeface="Arial"/>
                          <a:cs typeface="Arial"/>
                          <a:sym typeface="Arial"/>
                        </a:rPr>
                        <a:t>R </a:t>
                      </a:r>
                      <a:r>
                        <a:rPr i="0" lang="en-US" sz="2400" u="none" cap="none" strike="noStrike">
                          <a:solidFill>
                            <a:schemeClr val="dk2"/>
                          </a:solidFill>
                          <a:latin typeface="Arial"/>
                          <a:ea typeface="Arial"/>
                          <a:cs typeface="Arial"/>
                          <a:sym typeface="Arial"/>
                        </a:rPr>
                        <a:t>(1/s)</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1000 (5 cm long) </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chemeClr val="dk2"/>
                        </a:buClr>
                        <a:buSzPts val="2400"/>
                        <a:buFont typeface="Arial"/>
                        <a:buNone/>
                      </a:pPr>
                      <a:r>
                        <a:rPr lang="en-US" sz="2400" u="none" cap="none" strike="noStrike">
                          <a:solidFill>
                            <a:schemeClr val="dk2"/>
                          </a:solidFill>
                          <a:latin typeface="Arial"/>
                          <a:ea typeface="Arial"/>
                          <a:cs typeface="Arial"/>
                          <a:sym typeface="Arial"/>
                        </a:rPr>
                        <a:t>0.613 (1.5 cm long)</a:t>
                      </a:r>
                      <a:endParaRPr/>
                    </a:p>
                  </a:txBody>
                  <a:tcPr marT="45725" marB="45725" marR="91450" marL="91450"/>
                </a:tc>
              </a:tr>
              <a:tr h="577500">
                <a:tc>
                  <a:txBody>
                    <a:bodyPr/>
                    <a:lstStyle/>
                    <a:p>
                      <a:pPr indent="0" lvl="0" marL="0" marR="0" rtl="0" algn="ctr">
                        <a:lnSpc>
                          <a:spcPct val="100000"/>
                        </a:lnSpc>
                        <a:spcBef>
                          <a:spcPts val="0"/>
                        </a:spcBef>
                        <a:spcAft>
                          <a:spcPts val="0"/>
                        </a:spcAft>
                        <a:buClr>
                          <a:schemeClr val="dk2"/>
                        </a:buClr>
                        <a:buSzPts val="2400"/>
                        <a:buFont typeface="Arial"/>
                        <a:buNone/>
                      </a:pPr>
                      <a:r>
                        <a:rPr i="1" lang="en-US" sz="2400" u="none" cap="none" strike="noStrike">
                          <a:solidFill>
                            <a:schemeClr val="dk2"/>
                          </a:solidFill>
                          <a:latin typeface="Arial"/>
                          <a:ea typeface="Arial"/>
                          <a:cs typeface="Arial"/>
                          <a:sym typeface="Arial"/>
                        </a:rPr>
                        <a:t>N </a:t>
                      </a:r>
                      <a:r>
                        <a:rPr i="0" lang="en-US" sz="2400" u="none" cap="none" strike="noStrike">
                          <a:solidFill>
                            <a:schemeClr val="dk2"/>
                          </a:solidFill>
                          <a:latin typeface="Arial"/>
                          <a:ea typeface="Arial"/>
                          <a:cs typeface="Arial"/>
                          <a:sym typeface="Arial"/>
                        </a:rPr>
                        <a:t>(1/s)</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4.94*10</a:t>
                      </a:r>
                      <a:r>
                        <a:rPr baseline="30000" lang="en-US" sz="2400" u="none" cap="none" strike="noStrike">
                          <a:solidFill>
                            <a:schemeClr val="dk2"/>
                          </a:solidFill>
                          <a:latin typeface="Arial"/>
                          <a:ea typeface="Arial"/>
                          <a:cs typeface="Arial"/>
                          <a:sym typeface="Arial"/>
                        </a:rPr>
                        <a:t>6</a:t>
                      </a:r>
                      <a:endParaRPr baseline="3000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chemeClr val="dk2"/>
                        </a:buClr>
                        <a:buSzPts val="2400"/>
                        <a:buFont typeface="Arial"/>
                        <a:buNone/>
                      </a:pPr>
                      <a:r>
                        <a:rPr lang="en-US" sz="2400" u="none" cap="none" strike="noStrike">
                          <a:solidFill>
                            <a:schemeClr val="dk2"/>
                          </a:solidFill>
                          <a:latin typeface="Arial"/>
                          <a:ea typeface="Arial"/>
                          <a:cs typeface="Arial"/>
                          <a:sym typeface="Arial"/>
                        </a:rPr>
                        <a:t>1.28*10</a:t>
                      </a:r>
                      <a:r>
                        <a:rPr baseline="30000" lang="en-US" sz="2400" u="none" cap="none" strike="noStrike">
                          <a:solidFill>
                            <a:schemeClr val="dk2"/>
                          </a:solidFill>
                          <a:latin typeface="Arial"/>
                          <a:ea typeface="Arial"/>
                          <a:cs typeface="Arial"/>
                          <a:sym typeface="Arial"/>
                        </a:rPr>
                        <a:t>4</a:t>
                      </a:r>
                      <a:endParaRPr/>
                    </a:p>
                  </a:txBody>
                  <a:tcPr marT="45725" marB="45725" marR="91450" marL="91450"/>
                </a:tc>
              </a:tr>
              <a:tr h="577500">
                <a:tc>
                  <a:txBody>
                    <a:bodyPr/>
                    <a:lstStyle/>
                    <a:p>
                      <a:pPr indent="0" lvl="0" marL="0" marR="0" rtl="0" algn="ctr">
                        <a:lnSpc>
                          <a:spcPct val="100000"/>
                        </a:lnSpc>
                        <a:spcBef>
                          <a:spcPts val="0"/>
                        </a:spcBef>
                        <a:spcAft>
                          <a:spcPts val="0"/>
                        </a:spcAft>
                        <a:buClr>
                          <a:schemeClr val="dk2"/>
                        </a:buClr>
                        <a:buSzPts val="2400"/>
                        <a:buFont typeface="Arial"/>
                        <a:buNone/>
                      </a:pPr>
                      <a:r>
                        <a:rPr i="0" lang="en-US" sz="2400" u="none" cap="none" strike="noStrike">
                          <a:solidFill>
                            <a:schemeClr val="dk2"/>
                          </a:solidFill>
                          <a:latin typeface="Arial"/>
                          <a:ea typeface="Arial"/>
                          <a:cs typeface="Arial"/>
                          <a:sym typeface="Arial"/>
                        </a:rPr>
                        <a:t>N/pump power⋅cm (1/s⋅</a:t>
                      </a:r>
                      <a:r>
                        <a:rPr i="0" lang="en-US" sz="2400" u="none" cap="none" strike="noStrike">
                          <a:solidFill>
                            <a:srgbClr val="000000"/>
                          </a:solidFill>
                          <a:latin typeface="Calibri"/>
                          <a:ea typeface="Calibri"/>
                          <a:cs typeface="Calibri"/>
                          <a:sym typeface="Calibri"/>
                        </a:rPr>
                        <a:t>mW</a:t>
                      </a:r>
                      <a:r>
                        <a:rPr i="0" lang="en-US" sz="2400" u="none" cap="none" strike="noStrike">
                          <a:solidFill>
                            <a:schemeClr val="dk2"/>
                          </a:solidFill>
                          <a:latin typeface="Arial"/>
                          <a:ea typeface="Arial"/>
                          <a:cs typeface="Arial"/>
                          <a:sym typeface="Arial"/>
                        </a:rPr>
                        <a:t>⋅cm)</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1.04*10</a:t>
                      </a:r>
                      <a:r>
                        <a:rPr baseline="30000" lang="en-US" sz="2400" u="none" cap="none" strike="noStrike">
                          <a:solidFill>
                            <a:schemeClr val="dk2"/>
                          </a:solidFill>
                          <a:latin typeface="Arial"/>
                          <a:ea typeface="Arial"/>
                          <a:cs typeface="Arial"/>
                          <a:sym typeface="Arial"/>
                        </a:rPr>
                        <a:t>7</a:t>
                      </a:r>
                      <a:endParaRPr baseline="3000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chemeClr val="dk2"/>
                        </a:buClr>
                        <a:buSzPts val="2400"/>
                        <a:buFont typeface="Arial"/>
                        <a:buNone/>
                      </a:pPr>
                      <a:r>
                        <a:rPr lang="en-US" sz="2400" u="none" cap="none" strike="noStrike">
                          <a:solidFill>
                            <a:schemeClr val="dk2"/>
                          </a:solidFill>
                          <a:latin typeface="Arial"/>
                          <a:ea typeface="Arial"/>
                          <a:cs typeface="Arial"/>
                          <a:sym typeface="Arial"/>
                        </a:rPr>
                        <a:t>1.89*10</a:t>
                      </a:r>
                      <a:r>
                        <a:rPr baseline="30000" lang="en-US" sz="2400" u="none" cap="none" strike="noStrike">
                          <a:solidFill>
                            <a:schemeClr val="dk2"/>
                          </a:solidFill>
                          <a:latin typeface="Arial"/>
                          <a:ea typeface="Arial"/>
                          <a:cs typeface="Arial"/>
                          <a:sym typeface="Arial"/>
                        </a:rPr>
                        <a:t>6</a:t>
                      </a:r>
                      <a:endParaRPr/>
                    </a:p>
                  </a:txBody>
                  <a:tcPr marT="45725" marB="45725" marR="91450" marL="91450"/>
                </a:tc>
              </a:tr>
            </a:tbl>
          </a:graphicData>
        </a:graphic>
      </p:graphicFrame>
      <p:pic>
        <p:nvPicPr>
          <p:cNvPr id="2457" name="Google Shape;2457;p58"/>
          <p:cNvPicPr preferRelativeResize="0"/>
          <p:nvPr/>
        </p:nvPicPr>
        <p:blipFill rotWithShape="1">
          <a:blip r:embed="rId4">
            <a:alphaModFix/>
          </a:blip>
          <a:srcRect b="0" l="0" r="0" t="0"/>
          <a:stretch/>
        </p:blipFill>
        <p:spPr>
          <a:xfrm>
            <a:off x="16109571" y="5061475"/>
            <a:ext cx="4966709" cy="288000"/>
          </a:xfrm>
          <a:prstGeom prst="rect">
            <a:avLst/>
          </a:prstGeom>
          <a:noFill/>
          <a:ln>
            <a:noFill/>
          </a:ln>
        </p:spPr>
      </p:pic>
      <p:pic>
        <p:nvPicPr>
          <p:cNvPr id="2458" name="Google Shape;2458;p58"/>
          <p:cNvPicPr preferRelativeResize="0"/>
          <p:nvPr/>
        </p:nvPicPr>
        <p:blipFill rotWithShape="1">
          <a:blip r:embed="rId5">
            <a:alphaModFix/>
          </a:blip>
          <a:srcRect b="0" l="0" r="0" t="0"/>
          <a:stretch/>
        </p:blipFill>
        <p:spPr>
          <a:xfrm>
            <a:off x="16109571" y="5679883"/>
            <a:ext cx="4966708" cy="288000"/>
          </a:xfrm>
          <a:prstGeom prst="rect">
            <a:avLst/>
          </a:prstGeom>
          <a:noFill/>
          <a:ln>
            <a:noFill/>
          </a:ln>
        </p:spPr>
      </p:pic>
      <p:pic>
        <p:nvPicPr>
          <p:cNvPr id="2459" name="Google Shape;2459;p58"/>
          <p:cNvPicPr preferRelativeResize="0"/>
          <p:nvPr/>
        </p:nvPicPr>
        <p:blipFill rotWithShape="1">
          <a:blip r:embed="rId6">
            <a:alphaModFix/>
          </a:blip>
          <a:srcRect b="0" l="0" r="0" t="0"/>
          <a:stretch/>
        </p:blipFill>
        <p:spPr>
          <a:xfrm>
            <a:off x="16109572" y="10008739"/>
            <a:ext cx="3897487" cy="288000"/>
          </a:xfrm>
          <a:prstGeom prst="rect">
            <a:avLst/>
          </a:prstGeom>
          <a:noFill/>
          <a:ln>
            <a:noFill/>
          </a:ln>
        </p:spPr>
      </p:pic>
      <p:pic>
        <p:nvPicPr>
          <p:cNvPr id="2460" name="Google Shape;2460;p58"/>
          <p:cNvPicPr preferRelativeResize="0"/>
          <p:nvPr/>
        </p:nvPicPr>
        <p:blipFill rotWithShape="1">
          <a:blip r:embed="rId7">
            <a:alphaModFix/>
          </a:blip>
          <a:srcRect b="0" l="0" r="0" t="0"/>
          <a:stretch/>
        </p:blipFill>
        <p:spPr>
          <a:xfrm>
            <a:off x="16109571" y="6298291"/>
            <a:ext cx="4896000" cy="288000"/>
          </a:xfrm>
          <a:prstGeom prst="rect">
            <a:avLst/>
          </a:prstGeom>
          <a:noFill/>
          <a:ln>
            <a:noFill/>
          </a:ln>
        </p:spPr>
      </p:pic>
      <p:pic>
        <p:nvPicPr>
          <p:cNvPr id="2461" name="Google Shape;2461;p58"/>
          <p:cNvPicPr preferRelativeResize="0"/>
          <p:nvPr/>
        </p:nvPicPr>
        <p:blipFill rotWithShape="1">
          <a:blip r:embed="rId8">
            <a:alphaModFix/>
          </a:blip>
          <a:srcRect b="0" l="0" r="0" t="0"/>
          <a:stretch/>
        </p:blipFill>
        <p:spPr>
          <a:xfrm>
            <a:off x="16109571" y="6916699"/>
            <a:ext cx="4896000" cy="288000"/>
          </a:xfrm>
          <a:prstGeom prst="rect">
            <a:avLst/>
          </a:prstGeom>
          <a:noFill/>
          <a:ln>
            <a:noFill/>
          </a:ln>
        </p:spPr>
      </p:pic>
      <p:pic>
        <p:nvPicPr>
          <p:cNvPr id="2462" name="Google Shape;2462;p58"/>
          <p:cNvPicPr preferRelativeResize="0"/>
          <p:nvPr/>
        </p:nvPicPr>
        <p:blipFill rotWithShape="1">
          <a:blip r:embed="rId9">
            <a:alphaModFix/>
          </a:blip>
          <a:srcRect b="0" l="0" r="0" t="0"/>
          <a:stretch/>
        </p:blipFill>
        <p:spPr>
          <a:xfrm>
            <a:off x="16109571" y="7535107"/>
            <a:ext cx="4539333" cy="288000"/>
          </a:xfrm>
          <a:prstGeom prst="rect">
            <a:avLst/>
          </a:prstGeom>
          <a:noFill/>
          <a:ln>
            <a:noFill/>
          </a:ln>
        </p:spPr>
      </p:pic>
      <p:pic>
        <p:nvPicPr>
          <p:cNvPr id="2463" name="Google Shape;2463;p58"/>
          <p:cNvPicPr preferRelativeResize="0"/>
          <p:nvPr/>
        </p:nvPicPr>
        <p:blipFill rotWithShape="1">
          <a:blip r:embed="rId10">
            <a:alphaModFix/>
          </a:blip>
          <a:srcRect b="0" l="0" r="0" t="0"/>
          <a:stretch/>
        </p:blipFill>
        <p:spPr>
          <a:xfrm>
            <a:off x="16109571" y="8153515"/>
            <a:ext cx="4361955" cy="288000"/>
          </a:xfrm>
          <a:prstGeom prst="rect">
            <a:avLst/>
          </a:prstGeom>
          <a:noFill/>
          <a:ln>
            <a:noFill/>
          </a:ln>
        </p:spPr>
      </p:pic>
      <p:pic>
        <p:nvPicPr>
          <p:cNvPr id="2464" name="Google Shape;2464;p58"/>
          <p:cNvPicPr preferRelativeResize="0"/>
          <p:nvPr/>
        </p:nvPicPr>
        <p:blipFill rotWithShape="1">
          <a:blip r:embed="rId11">
            <a:alphaModFix/>
          </a:blip>
          <a:srcRect b="0" l="0" r="0" t="0"/>
          <a:stretch/>
        </p:blipFill>
        <p:spPr>
          <a:xfrm>
            <a:off x="16109571" y="10627146"/>
            <a:ext cx="3630171" cy="288000"/>
          </a:xfrm>
          <a:prstGeom prst="rect">
            <a:avLst/>
          </a:prstGeom>
          <a:noFill/>
          <a:ln>
            <a:noFill/>
          </a:ln>
        </p:spPr>
      </p:pic>
      <p:pic>
        <p:nvPicPr>
          <p:cNvPr id="2465" name="Google Shape;2465;p58"/>
          <p:cNvPicPr preferRelativeResize="0"/>
          <p:nvPr/>
        </p:nvPicPr>
        <p:blipFill rotWithShape="1">
          <a:blip r:embed="rId12">
            <a:alphaModFix/>
          </a:blip>
          <a:srcRect b="0" l="0" r="0" t="0"/>
          <a:stretch/>
        </p:blipFill>
        <p:spPr>
          <a:xfrm>
            <a:off x="16109571" y="8771923"/>
            <a:ext cx="4916704" cy="288000"/>
          </a:xfrm>
          <a:prstGeom prst="rect">
            <a:avLst/>
          </a:prstGeom>
          <a:noFill/>
          <a:ln>
            <a:noFill/>
          </a:ln>
        </p:spPr>
      </p:pic>
      <p:pic>
        <p:nvPicPr>
          <p:cNvPr id="2466" name="Google Shape;2466;p58"/>
          <p:cNvPicPr preferRelativeResize="0"/>
          <p:nvPr/>
        </p:nvPicPr>
        <p:blipFill rotWithShape="1">
          <a:blip r:embed="rId13">
            <a:alphaModFix/>
          </a:blip>
          <a:srcRect b="0" l="0" r="0" t="0"/>
          <a:stretch/>
        </p:blipFill>
        <p:spPr>
          <a:xfrm>
            <a:off x="16109571" y="9390331"/>
            <a:ext cx="4926116" cy="288000"/>
          </a:xfrm>
          <a:prstGeom prst="rect">
            <a:avLst/>
          </a:prstGeom>
          <a:noFill/>
          <a:ln>
            <a:noFill/>
          </a:ln>
        </p:spPr>
      </p:pic>
      <p:sp>
        <p:nvSpPr>
          <p:cNvPr id="2467" name="Google Shape;2467;p58"/>
          <p:cNvSpPr txBox="1"/>
          <p:nvPr/>
        </p:nvSpPr>
        <p:spPr>
          <a:xfrm>
            <a:off x="3120430" y="10992490"/>
            <a:ext cx="10898530"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After considering all the possible losses in the measurement, our normalized pair generation rate is still 5.50 times smaller than that measured by the other group, the loss of count rate must come from elsewhere</a:t>
            </a:r>
            <a:endParaRPr/>
          </a:p>
        </p:txBody>
      </p:sp>
      <p:sp>
        <p:nvSpPr>
          <p:cNvPr id="2468" name="Google Shape;2468;p58"/>
          <p:cNvSpPr/>
          <p:nvPr/>
        </p:nvSpPr>
        <p:spPr>
          <a:xfrm>
            <a:off x="8268079" y="9989100"/>
            <a:ext cx="603232" cy="718869"/>
          </a:xfrm>
          <a:prstGeom prst="downArrow">
            <a:avLst>
              <a:gd fmla="val 50000" name="adj1"/>
              <a:gd fmla="val 50000" name="adj2"/>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2469" name="Google Shape;2469;p58"/>
          <p:cNvSpPr txBox="1"/>
          <p:nvPr/>
        </p:nvSpPr>
        <p:spPr>
          <a:xfrm>
            <a:off x="900455" y="12998939"/>
            <a:ext cx="14377645" cy="50430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000">
                <a:solidFill>
                  <a:schemeClr val="dk2"/>
                </a:solidFill>
                <a:latin typeface="Arial"/>
                <a:ea typeface="Arial"/>
                <a:cs typeface="Arial"/>
                <a:sym typeface="Arial"/>
              </a:rPr>
              <a:t>*. </a:t>
            </a:r>
            <a:r>
              <a:rPr b="1" lang="en-US" sz="2000">
                <a:solidFill>
                  <a:schemeClr val="dk2"/>
                </a:solidFill>
                <a:latin typeface="Montserrat"/>
                <a:ea typeface="Montserrat"/>
                <a:cs typeface="Montserrat"/>
                <a:sym typeface="Montserrat"/>
              </a:rPr>
              <a:t>Thomas, A., 2011. Photon Pair Sources in Periodically Poled Ti: LiNbO3 Waveguides (Doctoral dissertation, Universitätsbibliothek).</a:t>
            </a:r>
            <a:endParaRPr sz="2000">
              <a:solidFill>
                <a:schemeClr val="dk2"/>
              </a:solidFill>
              <a:latin typeface="Montserrat"/>
              <a:ea typeface="Montserrat"/>
              <a:cs typeface="Montserrat"/>
              <a:sym typeface="Montserra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3" name="Shape 2473"/>
        <p:cNvGrpSpPr/>
        <p:nvPr/>
      </p:nvGrpSpPr>
      <p:grpSpPr>
        <a:xfrm>
          <a:off x="0" y="0"/>
          <a:ext cx="0" cy="0"/>
          <a:chOff x="0" y="0"/>
          <a:chExt cx="0" cy="0"/>
        </a:xfrm>
      </p:grpSpPr>
      <p:sp>
        <p:nvSpPr>
          <p:cNvPr id="2474" name="Google Shape;2474;p59"/>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Calculation of joint spectral intensity</a:t>
            </a:r>
            <a:endParaRPr/>
          </a:p>
        </p:txBody>
      </p:sp>
      <p:sp>
        <p:nvSpPr>
          <p:cNvPr id="2475" name="Google Shape;2475;p59"/>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476" name="Google Shape;2476;p59"/>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77" name="Google Shape;2477;p59"/>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478" name="Google Shape;2478;p59"/>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479" name="Google Shape;2479;p59"/>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480" name="Google Shape;2480;p59"/>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481" name="Google Shape;2481;p59"/>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482" name="Google Shape;2482;p59"/>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483" name="Google Shape;2483;p59"/>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2484" name="Google Shape;2484;p59"/>
          <p:cNvSpPr txBox="1"/>
          <p:nvPr/>
        </p:nvSpPr>
        <p:spPr>
          <a:xfrm>
            <a:off x="900455" y="12998939"/>
            <a:ext cx="11359277" cy="2993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chemeClr val="dk2"/>
                </a:solidFill>
                <a:latin typeface="Montserrat"/>
                <a:ea typeface="Montserrat"/>
                <a:cs typeface="Montserrat"/>
                <a:sym typeface="Montserrat"/>
              </a:rPr>
              <a:t>Thomas, A., 2011. Photon Pair Sources in Periodically Poled Ti: LiNbO3 Waveguides (Doctoral dissertation, Universitätsbibliothek).</a:t>
            </a:r>
            <a:endParaRPr sz="1000">
              <a:solidFill>
                <a:schemeClr val="dk2"/>
              </a:solidFill>
              <a:latin typeface="Montserrat"/>
              <a:ea typeface="Montserrat"/>
              <a:cs typeface="Montserrat"/>
              <a:sym typeface="Montserrat"/>
            </a:endParaRPr>
          </a:p>
        </p:txBody>
      </p:sp>
      <p:pic>
        <p:nvPicPr>
          <p:cNvPr id="2485" name="Google Shape;2485;p59"/>
          <p:cNvPicPr preferRelativeResize="0"/>
          <p:nvPr/>
        </p:nvPicPr>
        <p:blipFill rotWithShape="1">
          <a:blip r:embed="rId3">
            <a:alphaModFix/>
          </a:blip>
          <a:srcRect b="0" l="0" r="0" t="0"/>
          <a:stretch/>
        </p:blipFill>
        <p:spPr>
          <a:xfrm>
            <a:off x="14549869" y="8591543"/>
            <a:ext cx="5334011" cy="4000508"/>
          </a:xfrm>
          <a:prstGeom prst="rect">
            <a:avLst/>
          </a:prstGeom>
          <a:noFill/>
          <a:ln>
            <a:noFill/>
          </a:ln>
        </p:spPr>
      </p:pic>
      <p:pic>
        <p:nvPicPr>
          <p:cNvPr id="2486" name="Google Shape;2486;p59"/>
          <p:cNvPicPr preferRelativeResize="0"/>
          <p:nvPr/>
        </p:nvPicPr>
        <p:blipFill rotWithShape="1">
          <a:blip r:embed="rId4">
            <a:alphaModFix/>
          </a:blip>
          <a:srcRect b="0" l="0" r="0" t="0"/>
          <a:stretch/>
        </p:blipFill>
        <p:spPr>
          <a:xfrm>
            <a:off x="14549869" y="4591035"/>
            <a:ext cx="5334011" cy="4000508"/>
          </a:xfrm>
          <a:prstGeom prst="rect">
            <a:avLst/>
          </a:prstGeom>
          <a:noFill/>
          <a:ln>
            <a:noFill/>
          </a:ln>
        </p:spPr>
      </p:pic>
      <p:pic>
        <p:nvPicPr>
          <p:cNvPr id="2487" name="Google Shape;2487;p59"/>
          <p:cNvPicPr preferRelativeResize="0"/>
          <p:nvPr/>
        </p:nvPicPr>
        <p:blipFill rotWithShape="1">
          <a:blip r:embed="rId5">
            <a:alphaModFix/>
          </a:blip>
          <a:srcRect b="0" l="0" r="0" t="0"/>
          <a:stretch/>
        </p:blipFill>
        <p:spPr>
          <a:xfrm>
            <a:off x="3700292" y="4587646"/>
            <a:ext cx="5334011" cy="4000508"/>
          </a:xfrm>
          <a:prstGeom prst="rect">
            <a:avLst/>
          </a:prstGeom>
          <a:noFill/>
          <a:ln>
            <a:noFill/>
          </a:ln>
        </p:spPr>
      </p:pic>
      <p:pic>
        <p:nvPicPr>
          <p:cNvPr id="2488" name="Google Shape;2488;p59"/>
          <p:cNvPicPr preferRelativeResize="0"/>
          <p:nvPr/>
        </p:nvPicPr>
        <p:blipFill rotWithShape="1">
          <a:blip r:embed="rId6">
            <a:alphaModFix/>
          </a:blip>
          <a:srcRect b="0" l="0" r="0" t="0"/>
          <a:stretch/>
        </p:blipFill>
        <p:spPr>
          <a:xfrm>
            <a:off x="3700292" y="8591543"/>
            <a:ext cx="5334011" cy="4000508"/>
          </a:xfrm>
          <a:prstGeom prst="rect">
            <a:avLst/>
          </a:prstGeom>
          <a:noFill/>
          <a:ln>
            <a:noFill/>
          </a:ln>
        </p:spPr>
      </p:pic>
      <p:pic>
        <p:nvPicPr>
          <p:cNvPr id="2489" name="Google Shape;2489;p59"/>
          <p:cNvPicPr preferRelativeResize="0"/>
          <p:nvPr/>
        </p:nvPicPr>
        <p:blipFill rotWithShape="1">
          <a:blip r:embed="rId7">
            <a:alphaModFix/>
          </a:blip>
          <a:srcRect b="0" l="0" r="0" t="0"/>
          <a:stretch/>
        </p:blipFill>
        <p:spPr>
          <a:xfrm>
            <a:off x="9143506" y="8588154"/>
            <a:ext cx="5334011" cy="4000508"/>
          </a:xfrm>
          <a:prstGeom prst="rect">
            <a:avLst/>
          </a:prstGeom>
          <a:noFill/>
          <a:ln>
            <a:noFill/>
          </a:ln>
        </p:spPr>
      </p:pic>
      <p:pic>
        <p:nvPicPr>
          <p:cNvPr id="2490" name="Google Shape;2490;p59"/>
          <p:cNvPicPr preferRelativeResize="0"/>
          <p:nvPr/>
        </p:nvPicPr>
        <p:blipFill rotWithShape="1">
          <a:blip r:embed="rId8">
            <a:alphaModFix/>
          </a:blip>
          <a:srcRect b="0" l="0" r="0" t="0"/>
          <a:stretch/>
        </p:blipFill>
        <p:spPr>
          <a:xfrm>
            <a:off x="9152604" y="4591035"/>
            <a:ext cx="5334011" cy="4000508"/>
          </a:xfrm>
          <a:prstGeom prst="rect">
            <a:avLst/>
          </a:prstGeom>
          <a:noFill/>
          <a:ln>
            <a:noFill/>
          </a:ln>
        </p:spPr>
      </p:pic>
      <p:sp>
        <p:nvSpPr>
          <p:cNvPr id="2491" name="Google Shape;2491;p59"/>
          <p:cNvSpPr txBox="1"/>
          <p:nvPr/>
        </p:nvSpPr>
        <p:spPr>
          <a:xfrm>
            <a:off x="5980905" y="3491650"/>
            <a:ext cx="10898530"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The linewidth of our pump laser is ~ 0.0113 nm, which severely filters the JSI ,if it’s around 0.1 nm level, the estimated integral of JSI is 9 times greater.  </a:t>
            </a:r>
            <a:endParaRPr/>
          </a:p>
        </p:txBody>
      </p:sp>
      <p:sp>
        <p:nvSpPr>
          <p:cNvPr id="2492" name="Google Shape;2492;p59"/>
          <p:cNvSpPr txBox="1"/>
          <p:nvPr/>
        </p:nvSpPr>
        <p:spPr>
          <a:xfrm>
            <a:off x="15523090" y="5483502"/>
            <a:ext cx="3737755"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chemeClr val="lt1"/>
                </a:solidFill>
                <a:latin typeface="Calibri"/>
                <a:ea typeface="Calibri"/>
                <a:cs typeface="Calibri"/>
                <a:sym typeface="Calibri"/>
              </a:rPr>
              <a:t>The JSI of our source</a:t>
            </a:r>
            <a:endParaRPr/>
          </a:p>
        </p:txBody>
      </p:sp>
      <p:sp>
        <p:nvSpPr>
          <p:cNvPr id="2493" name="Google Shape;2493;p59"/>
          <p:cNvSpPr txBox="1"/>
          <p:nvPr/>
        </p:nvSpPr>
        <p:spPr>
          <a:xfrm>
            <a:off x="16005463" y="8921444"/>
            <a:ext cx="3540977"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600">
                <a:solidFill>
                  <a:schemeClr val="lt1"/>
                </a:solidFill>
                <a:latin typeface="Calibri"/>
                <a:ea typeface="Calibri"/>
                <a:cs typeface="Calibri"/>
                <a:sym typeface="Calibri"/>
              </a:rPr>
              <a:t>The JSI of our source</a:t>
            </a:r>
            <a:endParaRPr/>
          </a:p>
          <a:p>
            <a:pPr indent="0" lvl="0" marL="0" marR="0" rtl="0" algn="l">
              <a:spcBef>
                <a:spcPts val="0"/>
              </a:spcBef>
              <a:spcAft>
                <a:spcPts val="0"/>
              </a:spcAft>
              <a:buNone/>
            </a:pPr>
            <a:r>
              <a:rPr b="1" lang="en-US" sz="2600">
                <a:solidFill>
                  <a:schemeClr val="lt1"/>
                </a:solidFill>
                <a:latin typeface="Calibri"/>
                <a:ea typeface="Calibri"/>
                <a:cs typeface="Calibri"/>
                <a:sym typeface="Calibri"/>
              </a:rPr>
              <a:t> using 0.1 nm linewidth pump laser</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7" name="Shape 2497"/>
        <p:cNvGrpSpPr/>
        <p:nvPr/>
      </p:nvGrpSpPr>
      <p:grpSpPr>
        <a:xfrm>
          <a:off x="0" y="0"/>
          <a:ext cx="0" cy="0"/>
          <a:chOff x="0" y="0"/>
          <a:chExt cx="0" cy="0"/>
        </a:xfrm>
      </p:grpSpPr>
      <p:sp>
        <p:nvSpPr>
          <p:cNvPr id="2498" name="Google Shape;2498;p60"/>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Calculation of pair generation rate</a:t>
            </a:r>
            <a:endParaRPr/>
          </a:p>
        </p:txBody>
      </p:sp>
      <p:sp>
        <p:nvSpPr>
          <p:cNvPr id="2499" name="Google Shape;2499;p60"/>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500" name="Google Shape;2500;p60"/>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01" name="Google Shape;2501;p60"/>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502" name="Google Shape;2502;p60"/>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503" name="Google Shape;2503;p60"/>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504" name="Google Shape;2504;p60"/>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505" name="Google Shape;2505;p60"/>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506" name="Google Shape;2506;p60"/>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507" name="Google Shape;2507;p60"/>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pic>
        <p:nvPicPr>
          <p:cNvPr id="2508" name="Google Shape;2508;p60"/>
          <p:cNvPicPr preferRelativeResize="0"/>
          <p:nvPr/>
        </p:nvPicPr>
        <p:blipFill rotWithShape="1">
          <a:blip r:embed="rId3">
            <a:alphaModFix/>
          </a:blip>
          <a:srcRect b="0" l="0" r="0" t="0"/>
          <a:stretch/>
        </p:blipFill>
        <p:spPr>
          <a:xfrm>
            <a:off x="7210196" y="3369674"/>
            <a:ext cx="2785770" cy="360000"/>
          </a:xfrm>
          <a:prstGeom prst="rect">
            <a:avLst/>
          </a:prstGeom>
          <a:noFill/>
          <a:ln>
            <a:noFill/>
          </a:ln>
        </p:spPr>
      </p:pic>
      <p:graphicFrame>
        <p:nvGraphicFramePr>
          <p:cNvPr id="2509" name="Google Shape;2509;p60"/>
          <p:cNvGraphicFramePr/>
          <p:nvPr/>
        </p:nvGraphicFramePr>
        <p:xfrm>
          <a:off x="1276350" y="4023301"/>
          <a:ext cx="3000000" cy="3000000"/>
        </p:xfrm>
        <a:graphic>
          <a:graphicData uri="http://schemas.openxmlformats.org/drawingml/2006/table">
            <a:tbl>
              <a:tblPr bandRow="1" firstRow="1">
                <a:noFill/>
                <a:tableStyleId>{2D5A7AE6-9B3A-4105-8E20-78A74F81C108}</a:tableStyleId>
              </a:tblPr>
              <a:tblGrid>
                <a:gridCol w="4572000"/>
                <a:gridCol w="4400550"/>
                <a:gridCol w="4559300"/>
              </a:tblGrid>
              <a:tr h="548325">
                <a:tc>
                  <a:txBody>
                    <a:bodyPr/>
                    <a:lstStyle/>
                    <a:p>
                      <a:pPr indent="0" lvl="0" marL="0" marR="0" rtl="0" algn="ctr">
                        <a:spcBef>
                          <a:spcPts val="0"/>
                        </a:spcBef>
                        <a:spcAft>
                          <a:spcPts val="0"/>
                        </a:spcAft>
                        <a:buNone/>
                      </a:pPr>
                      <a:r>
                        <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Other group*</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Our measurement</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1" lang="en-US" sz="2400" u="none" cap="none" strike="noStrike">
                          <a:solidFill>
                            <a:srgbClr val="000000"/>
                          </a:solidFill>
                          <a:latin typeface="Calibri"/>
                          <a:ea typeface="Calibri"/>
                          <a:cs typeface="Calibri"/>
                          <a:sym typeface="Calibri"/>
                        </a:rPr>
                        <a:t>μ</a:t>
                      </a:r>
                      <a:r>
                        <a:rPr baseline="-25000" i="1" lang="en-US" sz="2400" u="none" cap="none" strike="noStrike">
                          <a:solidFill>
                            <a:schemeClr val="dk2"/>
                          </a:solidFill>
                          <a:latin typeface="Arial"/>
                          <a:ea typeface="Arial"/>
                          <a:cs typeface="Arial"/>
                          <a:sym typeface="Arial"/>
                        </a:rPr>
                        <a:t>1</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(dB)</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-10.4576</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-16.71</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1" lang="en-US" sz="2400" u="none" cap="none" strike="noStrike">
                          <a:solidFill>
                            <a:srgbClr val="000000"/>
                          </a:solidFill>
                          <a:latin typeface="Calibri"/>
                          <a:ea typeface="Calibri"/>
                          <a:cs typeface="Calibri"/>
                          <a:sym typeface="Calibri"/>
                        </a:rPr>
                        <a:t>μ</a:t>
                      </a:r>
                      <a:r>
                        <a:rPr baseline="-25000" i="1" lang="en-US" sz="2400" u="none" cap="none" strike="noStrike">
                          <a:solidFill>
                            <a:schemeClr val="dk2"/>
                          </a:solidFill>
                          <a:latin typeface="Arial"/>
                          <a:ea typeface="Arial"/>
                          <a:cs typeface="Arial"/>
                          <a:sym typeface="Arial"/>
                        </a:rPr>
                        <a:t>2</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(dB)</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-10</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-5.23</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1" lang="en-US" sz="2400" u="none" cap="none" strike="noStrike">
                          <a:solidFill>
                            <a:srgbClr val="000000"/>
                          </a:solidFill>
                          <a:latin typeface="Calibri"/>
                          <a:ea typeface="Calibri"/>
                          <a:cs typeface="Calibri"/>
                          <a:sym typeface="Calibri"/>
                        </a:rPr>
                        <a:t>η</a:t>
                      </a:r>
                      <a:r>
                        <a:rPr baseline="-25000" i="1" lang="en-US" sz="2400" u="none" cap="none" strike="noStrike">
                          <a:solidFill>
                            <a:srgbClr val="000000"/>
                          </a:solidFill>
                          <a:latin typeface="Calibri"/>
                          <a:ea typeface="Calibri"/>
                          <a:cs typeface="Calibri"/>
                          <a:sym typeface="Calibri"/>
                        </a:rPr>
                        <a:t>1</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15</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15</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lnSpc>
                          <a:spcPct val="100000"/>
                        </a:lnSpc>
                        <a:spcBef>
                          <a:spcPts val="0"/>
                        </a:spcBef>
                        <a:spcAft>
                          <a:spcPts val="0"/>
                        </a:spcAft>
                        <a:buClr>
                          <a:srgbClr val="000000"/>
                        </a:buClr>
                        <a:buSzPts val="2400"/>
                        <a:buFont typeface="Calibri"/>
                        <a:buNone/>
                      </a:pPr>
                      <a:r>
                        <a:rPr i="1" lang="en-US" sz="2400" u="none" cap="none" strike="noStrike">
                          <a:solidFill>
                            <a:srgbClr val="000000"/>
                          </a:solidFill>
                          <a:latin typeface="Calibri"/>
                          <a:ea typeface="Calibri"/>
                          <a:cs typeface="Calibri"/>
                          <a:sym typeface="Calibri"/>
                        </a:rPr>
                        <a:t>η</a:t>
                      </a:r>
                      <a:r>
                        <a:rPr baseline="-25000" i="1" lang="en-US" sz="2400" u="none" cap="none" strike="noStrike">
                          <a:solidFill>
                            <a:srgbClr val="000000"/>
                          </a:solidFill>
                          <a:latin typeface="Calibri"/>
                          <a:ea typeface="Calibri"/>
                          <a:cs typeface="Calibri"/>
                          <a:sym typeface="Calibri"/>
                        </a:rPr>
                        <a:t>2</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15</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5</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1" lang="en-US" sz="2400" u="none" cap="none" strike="noStrike">
                          <a:solidFill>
                            <a:srgbClr val="000000"/>
                          </a:solidFill>
                          <a:latin typeface="Calibri"/>
                          <a:ea typeface="Calibri"/>
                          <a:cs typeface="Calibri"/>
                          <a:sym typeface="Calibri"/>
                        </a:rPr>
                        <a:t>μ</a:t>
                      </a:r>
                      <a:r>
                        <a:rPr baseline="-25000" i="1" lang="en-US" sz="2400" u="none" cap="none" strike="noStrike">
                          <a:solidFill>
                            <a:schemeClr val="dk2"/>
                          </a:solidFill>
                          <a:latin typeface="Arial"/>
                          <a:ea typeface="Arial"/>
                          <a:cs typeface="Arial"/>
                          <a:sym typeface="Arial"/>
                        </a:rPr>
                        <a:t>1</a:t>
                      </a:r>
                      <a:r>
                        <a:rPr i="1" lang="en-US" sz="2400" u="none" cap="none" strike="noStrike">
                          <a:solidFill>
                            <a:schemeClr val="dk2"/>
                          </a:solidFill>
                          <a:latin typeface="Arial"/>
                          <a:ea typeface="Arial"/>
                          <a:cs typeface="Arial"/>
                          <a:sym typeface="Arial"/>
                        </a:rPr>
                        <a:t> </a:t>
                      </a:r>
                      <a:r>
                        <a:rPr i="1" lang="en-US" sz="2400" u="none" cap="none" strike="noStrike">
                          <a:solidFill>
                            <a:srgbClr val="000000"/>
                          </a:solidFill>
                          <a:latin typeface="Calibri"/>
                          <a:ea typeface="Calibri"/>
                          <a:cs typeface="Calibri"/>
                          <a:sym typeface="Calibri"/>
                        </a:rPr>
                        <a:t>μ</a:t>
                      </a:r>
                      <a:r>
                        <a:rPr baseline="-25000" i="1" lang="en-US" sz="2400" u="none" cap="none" strike="noStrike">
                          <a:solidFill>
                            <a:schemeClr val="dk2"/>
                          </a:solidFill>
                          <a:latin typeface="Arial"/>
                          <a:ea typeface="Arial"/>
                          <a:cs typeface="Arial"/>
                          <a:sym typeface="Arial"/>
                        </a:rPr>
                        <a:t>2</a:t>
                      </a:r>
                      <a:r>
                        <a:rPr i="1" lang="en-US" sz="2400" u="none" cap="none" strike="noStrike">
                          <a:solidFill>
                            <a:schemeClr val="dk2"/>
                          </a:solidFill>
                          <a:latin typeface="Arial"/>
                          <a:ea typeface="Arial"/>
                          <a:cs typeface="Arial"/>
                          <a:sym typeface="Arial"/>
                        </a:rPr>
                        <a:t> </a:t>
                      </a:r>
                      <a:r>
                        <a:rPr i="1" lang="en-US" sz="2400" u="none" cap="none" strike="noStrike">
                          <a:solidFill>
                            <a:srgbClr val="000000"/>
                          </a:solidFill>
                          <a:latin typeface="Calibri"/>
                          <a:ea typeface="Calibri"/>
                          <a:cs typeface="Calibri"/>
                          <a:sym typeface="Calibri"/>
                        </a:rPr>
                        <a:t>η</a:t>
                      </a:r>
                      <a:r>
                        <a:rPr baseline="-25000" i="1" lang="en-US" sz="2400" u="none" cap="none" strike="noStrike">
                          <a:solidFill>
                            <a:srgbClr val="000000"/>
                          </a:solidFill>
                          <a:latin typeface="Calibri"/>
                          <a:ea typeface="Calibri"/>
                          <a:cs typeface="Calibri"/>
                          <a:sym typeface="Calibri"/>
                        </a:rPr>
                        <a:t>1</a:t>
                      </a:r>
                      <a:r>
                        <a:rPr i="1" lang="en-US" sz="2400" u="none" cap="none" strike="noStrike">
                          <a:solidFill>
                            <a:schemeClr val="dk2"/>
                          </a:solidFill>
                          <a:latin typeface="Arial"/>
                          <a:ea typeface="Arial"/>
                          <a:cs typeface="Arial"/>
                          <a:sym typeface="Arial"/>
                        </a:rPr>
                        <a:t> </a:t>
                      </a:r>
                      <a:r>
                        <a:rPr i="1" lang="en-US" sz="2400" u="none" cap="none" strike="noStrike">
                          <a:solidFill>
                            <a:srgbClr val="000000"/>
                          </a:solidFill>
                          <a:latin typeface="Calibri"/>
                          <a:ea typeface="Calibri"/>
                          <a:cs typeface="Calibri"/>
                          <a:sym typeface="Calibri"/>
                        </a:rPr>
                        <a:t>η</a:t>
                      </a:r>
                      <a:r>
                        <a:rPr baseline="-25000" i="1" lang="en-US" sz="2400" u="none" cap="none" strike="noStrike">
                          <a:solidFill>
                            <a:srgbClr val="000000"/>
                          </a:solidFill>
                          <a:latin typeface="Calibri"/>
                          <a:ea typeface="Calibri"/>
                          <a:cs typeface="Calibri"/>
                          <a:sym typeface="Calibri"/>
                        </a:rPr>
                        <a:t>2</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(dB)</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-36.94</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-43.19</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0" lang="en-US" sz="2400" u="none" cap="none" strike="noStrike">
                          <a:solidFill>
                            <a:schemeClr val="dk2"/>
                          </a:solidFill>
                          <a:latin typeface="Arial"/>
                          <a:ea typeface="Arial"/>
                          <a:cs typeface="Arial"/>
                          <a:sym typeface="Arial"/>
                        </a:rPr>
                        <a:t>Pump power (</a:t>
                      </a:r>
                      <a:r>
                        <a:rPr i="0" lang="en-US" sz="2400" u="none" cap="none" strike="noStrike">
                          <a:solidFill>
                            <a:srgbClr val="000000"/>
                          </a:solidFill>
                          <a:latin typeface="Calibri"/>
                          <a:ea typeface="Calibri"/>
                          <a:cs typeface="Calibri"/>
                          <a:sym typeface="Calibri"/>
                        </a:rPr>
                        <a:t>μW</a:t>
                      </a:r>
                      <a:r>
                        <a:rPr i="0" lang="en-US" sz="2400" u="none" cap="none" strike="noStrike">
                          <a:solidFill>
                            <a:schemeClr val="dk2"/>
                          </a:solidFill>
                          <a:latin typeface="Arial"/>
                          <a:ea typeface="Arial"/>
                          <a:cs typeface="Arial"/>
                          <a:sym typeface="Arial"/>
                        </a:rPr>
                        <a:t>)</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95 </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4.5</a:t>
                      </a:r>
                      <a:endParaRPr sz="2400" u="none" cap="none" strike="noStrike">
                        <a:solidFill>
                          <a:schemeClr val="dk2"/>
                        </a:solidFill>
                        <a:latin typeface="Arial"/>
                        <a:ea typeface="Arial"/>
                        <a:cs typeface="Arial"/>
                        <a:sym typeface="Arial"/>
                      </a:endParaRPr>
                    </a:p>
                  </a:txBody>
                  <a:tcPr marT="45725" marB="45725" marR="91450" marL="91450"/>
                </a:tc>
              </a:tr>
              <a:tr h="577500">
                <a:tc>
                  <a:txBody>
                    <a:bodyPr/>
                    <a:lstStyle/>
                    <a:p>
                      <a:pPr indent="0" lvl="0" marL="0" marR="0" rtl="0" algn="ctr">
                        <a:spcBef>
                          <a:spcPts val="0"/>
                        </a:spcBef>
                        <a:spcAft>
                          <a:spcPts val="0"/>
                        </a:spcAft>
                        <a:buNone/>
                      </a:pPr>
                      <a:r>
                        <a:rPr i="1" lang="en-US" sz="2400" u="none" cap="none" strike="noStrike">
                          <a:solidFill>
                            <a:schemeClr val="dk2"/>
                          </a:solidFill>
                          <a:latin typeface="Arial"/>
                          <a:ea typeface="Arial"/>
                          <a:cs typeface="Arial"/>
                          <a:sym typeface="Arial"/>
                        </a:rPr>
                        <a:t>R </a:t>
                      </a:r>
                      <a:r>
                        <a:rPr i="0" lang="en-US" sz="2400" u="none" cap="none" strike="noStrike">
                          <a:solidFill>
                            <a:schemeClr val="dk2"/>
                          </a:solidFill>
                          <a:latin typeface="Arial"/>
                          <a:ea typeface="Arial"/>
                          <a:cs typeface="Arial"/>
                          <a:sym typeface="Arial"/>
                        </a:rPr>
                        <a:t>(1/s)</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1000 (5 cm long) </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chemeClr val="dk2"/>
                        </a:buClr>
                        <a:buSzPts val="2400"/>
                        <a:buFont typeface="Arial"/>
                        <a:buNone/>
                      </a:pPr>
                      <a:r>
                        <a:rPr lang="en-US" sz="2400" u="none" cap="none" strike="noStrike">
                          <a:solidFill>
                            <a:schemeClr val="dk2"/>
                          </a:solidFill>
                          <a:latin typeface="Arial"/>
                          <a:ea typeface="Arial"/>
                          <a:cs typeface="Arial"/>
                          <a:sym typeface="Arial"/>
                        </a:rPr>
                        <a:t>0.613 (1.5 cm long)</a:t>
                      </a:r>
                      <a:endParaRPr/>
                    </a:p>
                  </a:txBody>
                  <a:tcPr marT="45725" marB="45725" marR="91450" marL="91450"/>
                </a:tc>
              </a:tr>
              <a:tr h="577500">
                <a:tc>
                  <a:txBody>
                    <a:bodyPr/>
                    <a:lstStyle/>
                    <a:p>
                      <a:pPr indent="0" lvl="0" marL="0" marR="0" rtl="0" algn="ctr">
                        <a:lnSpc>
                          <a:spcPct val="100000"/>
                        </a:lnSpc>
                        <a:spcBef>
                          <a:spcPts val="0"/>
                        </a:spcBef>
                        <a:spcAft>
                          <a:spcPts val="0"/>
                        </a:spcAft>
                        <a:buClr>
                          <a:schemeClr val="dk2"/>
                        </a:buClr>
                        <a:buSzPts val="2400"/>
                        <a:buFont typeface="Arial"/>
                        <a:buNone/>
                      </a:pPr>
                      <a:r>
                        <a:rPr i="1" lang="en-US" sz="2400" u="none" cap="none" strike="noStrike">
                          <a:solidFill>
                            <a:schemeClr val="dk2"/>
                          </a:solidFill>
                          <a:latin typeface="Arial"/>
                          <a:ea typeface="Arial"/>
                          <a:cs typeface="Arial"/>
                          <a:sym typeface="Arial"/>
                        </a:rPr>
                        <a:t>N </a:t>
                      </a:r>
                      <a:r>
                        <a:rPr i="0" lang="en-US" sz="2400" u="none" cap="none" strike="noStrike">
                          <a:solidFill>
                            <a:schemeClr val="dk2"/>
                          </a:solidFill>
                          <a:latin typeface="Arial"/>
                          <a:ea typeface="Arial"/>
                          <a:cs typeface="Arial"/>
                          <a:sym typeface="Arial"/>
                        </a:rPr>
                        <a:t>(1/s)</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4.94*10</a:t>
                      </a:r>
                      <a:r>
                        <a:rPr baseline="30000" lang="en-US" sz="2400" u="none" cap="none" strike="noStrike">
                          <a:solidFill>
                            <a:schemeClr val="dk2"/>
                          </a:solidFill>
                          <a:latin typeface="Arial"/>
                          <a:ea typeface="Arial"/>
                          <a:cs typeface="Arial"/>
                          <a:sym typeface="Arial"/>
                        </a:rPr>
                        <a:t>6</a:t>
                      </a:r>
                      <a:endParaRPr baseline="3000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chemeClr val="dk2"/>
                        </a:buClr>
                        <a:buSzPts val="2400"/>
                        <a:buFont typeface="Arial"/>
                        <a:buNone/>
                      </a:pPr>
                      <a:r>
                        <a:rPr lang="en-US" sz="2400" u="none" cap="none" strike="noStrike">
                          <a:solidFill>
                            <a:schemeClr val="dk2"/>
                          </a:solidFill>
                          <a:latin typeface="Arial"/>
                          <a:ea typeface="Arial"/>
                          <a:cs typeface="Arial"/>
                          <a:sym typeface="Arial"/>
                        </a:rPr>
                        <a:t>1.28*10</a:t>
                      </a:r>
                      <a:r>
                        <a:rPr baseline="30000" lang="en-US" sz="2400" u="none" cap="none" strike="noStrike">
                          <a:solidFill>
                            <a:schemeClr val="dk2"/>
                          </a:solidFill>
                          <a:latin typeface="Arial"/>
                          <a:ea typeface="Arial"/>
                          <a:cs typeface="Arial"/>
                          <a:sym typeface="Arial"/>
                        </a:rPr>
                        <a:t>4</a:t>
                      </a:r>
                      <a:endParaRPr/>
                    </a:p>
                  </a:txBody>
                  <a:tcPr marT="45725" marB="45725" marR="91450" marL="91450"/>
                </a:tc>
              </a:tr>
              <a:tr h="577500">
                <a:tc>
                  <a:txBody>
                    <a:bodyPr/>
                    <a:lstStyle/>
                    <a:p>
                      <a:pPr indent="0" lvl="0" marL="0" marR="0" rtl="0" algn="ctr">
                        <a:lnSpc>
                          <a:spcPct val="100000"/>
                        </a:lnSpc>
                        <a:spcBef>
                          <a:spcPts val="0"/>
                        </a:spcBef>
                        <a:spcAft>
                          <a:spcPts val="0"/>
                        </a:spcAft>
                        <a:buClr>
                          <a:schemeClr val="dk2"/>
                        </a:buClr>
                        <a:buSzPts val="2400"/>
                        <a:buFont typeface="Arial"/>
                        <a:buNone/>
                      </a:pPr>
                      <a:r>
                        <a:rPr i="0" lang="en-US" sz="2400" u="none" cap="none" strike="noStrike">
                          <a:solidFill>
                            <a:schemeClr val="dk2"/>
                          </a:solidFill>
                          <a:latin typeface="Arial"/>
                          <a:ea typeface="Arial"/>
                          <a:cs typeface="Arial"/>
                          <a:sym typeface="Arial"/>
                        </a:rPr>
                        <a:t>N/pump power⋅cm (1/s⋅</a:t>
                      </a:r>
                      <a:r>
                        <a:rPr i="0" lang="en-US" sz="2400" u="none" cap="none" strike="noStrike">
                          <a:solidFill>
                            <a:srgbClr val="000000"/>
                          </a:solidFill>
                          <a:latin typeface="Calibri"/>
                          <a:ea typeface="Calibri"/>
                          <a:cs typeface="Calibri"/>
                          <a:sym typeface="Calibri"/>
                        </a:rPr>
                        <a:t>mW</a:t>
                      </a:r>
                      <a:r>
                        <a:rPr i="0" lang="en-US" sz="2400" u="none" cap="none" strike="noStrike">
                          <a:solidFill>
                            <a:schemeClr val="dk2"/>
                          </a:solidFill>
                          <a:latin typeface="Arial"/>
                          <a:ea typeface="Arial"/>
                          <a:cs typeface="Arial"/>
                          <a:sym typeface="Arial"/>
                        </a:rPr>
                        <a:t>⋅cm)</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1.04*10</a:t>
                      </a:r>
                      <a:r>
                        <a:rPr baseline="30000" lang="en-US" sz="2400" u="none" cap="none" strike="noStrike">
                          <a:solidFill>
                            <a:schemeClr val="dk2"/>
                          </a:solidFill>
                          <a:latin typeface="Arial"/>
                          <a:ea typeface="Arial"/>
                          <a:cs typeface="Arial"/>
                          <a:sym typeface="Arial"/>
                        </a:rPr>
                        <a:t>7</a:t>
                      </a:r>
                      <a:endParaRPr baseline="3000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chemeClr val="dk2"/>
                        </a:buClr>
                        <a:buSzPts val="2400"/>
                        <a:buFont typeface="Arial"/>
                        <a:buNone/>
                      </a:pPr>
                      <a:r>
                        <a:rPr lang="en-US" sz="2400" u="none" cap="none" strike="noStrike">
                          <a:solidFill>
                            <a:schemeClr val="dk2"/>
                          </a:solidFill>
                          <a:latin typeface="Arial"/>
                          <a:ea typeface="Arial"/>
                          <a:cs typeface="Arial"/>
                          <a:sym typeface="Arial"/>
                        </a:rPr>
                        <a:t>1.89*10</a:t>
                      </a:r>
                      <a:r>
                        <a:rPr baseline="30000" lang="en-US" sz="2400" u="none" cap="none" strike="noStrike">
                          <a:solidFill>
                            <a:schemeClr val="dk2"/>
                          </a:solidFill>
                          <a:latin typeface="Arial"/>
                          <a:ea typeface="Arial"/>
                          <a:cs typeface="Arial"/>
                          <a:sym typeface="Arial"/>
                        </a:rPr>
                        <a:t>6</a:t>
                      </a:r>
                      <a:endParaRPr/>
                    </a:p>
                    <a:p>
                      <a:pPr indent="0" lvl="0" marL="0" marR="0" rtl="0" algn="ctr">
                        <a:lnSpc>
                          <a:spcPct val="100000"/>
                        </a:lnSpc>
                        <a:spcBef>
                          <a:spcPts val="0"/>
                        </a:spcBef>
                        <a:spcAft>
                          <a:spcPts val="0"/>
                        </a:spcAft>
                        <a:buClr>
                          <a:schemeClr val="dk2"/>
                        </a:buClr>
                        <a:buSzPts val="2400"/>
                        <a:buFont typeface="Arial"/>
                        <a:buNone/>
                      </a:pPr>
                      <a:r>
                        <a:rPr lang="en-US" sz="2400" u="none" cap="none" strike="noStrike">
                          <a:solidFill>
                            <a:schemeClr val="dk2"/>
                          </a:solidFill>
                          <a:latin typeface="Arial"/>
                          <a:ea typeface="Arial"/>
                          <a:cs typeface="Arial"/>
                          <a:sym typeface="Arial"/>
                        </a:rPr>
                        <a:t>=&gt; 1.70*10</a:t>
                      </a:r>
                      <a:r>
                        <a:rPr baseline="30000" lang="en-US" sz="2400" u="none" cap="none" strike="noStrike">
                          <a:solidFill>
                            <a:schemeClr val="dk2"/>
                          </a:solidFill>
                          <a:latin typeface="Arial"/>
                          <a:ea typeface="Arial"/>
                          <a:cs typeface="Arial"/>
                          <a:sym typeface="Arial"/>
                        </a:rPr>
                        <a:t>7 </a:t>
                      </a:r>
                      <a:r>
                        <a:rPr lang="en-US" sz="2400" u="none" cap="none" strike="noStrike">
                          <a:solidFill>
                            <a:schemeClr val="dk2"/>
                          </a:solidFill>
                          <a:latin typeface="Arial"/>
                          <a:ea typeface="Arial"/>
                          <a:cs typeface="Arial"/>
                          <a:sym typeface="Arial"/>
                        </a:rPr>
                        <a:t>(using 0.1 nm linewidth laser)</a:t>
                      </a:r>
                      <a:endParaRPr/>
                    </a:p>
                  </a:txBody>
                  <a:tcPr marT="45725" marB="45725" marR="91450" marL="91450"/>
                </a:tc>
              </a:tr>
            </a:tbl>
          </a:graphicData>
        </a:graphic>
      </p:graphicFrame>
      <p:pic>
        <p:nvPicPr>
          <p:cNvPr id="2510" name="Google Shape;2510;p60"/>
          <p:cNvPicPr preferRelativeResize="0"/>
          <p:nvPr/>
        </p:nvPicPr>
        <p:blipFill rotWithShape="1">
          <a:blip r:embed="rId4">
            <a:alphaModFix/>
          </a:blip>
          <a:srcRect b="0" l="0" r="0" t="0"/>
          <a:stretch/>
        </p:blipFill>
        <p:spPr>
          <a:xfrm>
            <a:off x="16109571" y="5061475"/>
            <a:ext cx="4966709" cy="288000"/>
          </a:xfrm>
          <a:prstGeom prst="rect">
            <a:avLst/>
          </a:prstGeom>
          <a:noFill/>
          <a:ln>
            <a:noFill/>
          </a:ln>
        </p:spPr>
      </p:pic>
      <p:pic>
        <p:nvPicPr>
          <p:cNvPr id="2511" name="Google Shape;2511;p60"/>
          <p:cNvPicPr preferRelativeResize="0"/>
          <p:nvPr/>
        </p:nvPicPr>
        <p:blipFill rotWithShape="1">
          <a:blip r:embed="rId5">
            <a:alphaModFix/>
          </a:blip>
          <a:srcRect b="0" l="0" r="0" t="0"/>
          <a:stretch/>
        </p:blipFill>
        <p:spPr>
          <a:xfrm>
            <a:off x="16109571" y="5679883"/>
            <a:ext cx="4966708" cy="288000"/>
          </a:xfrm>
          <a:prstGeom prst="rect">
            <a:avLst/>
          </a:prstGeom>
          <a:noFill/>
          <a:ln>
            <a:noFill/>
          </a:ln>
        </p:spPr>
      </p:pic>
      <p:pic>
        <p:nvPicPr>
          <p:cNvPr id="2512" name="Google Shape;2512;p60"/>
          <p:cNvPicPr preferRelativeResize="0"/>
          <p:nvPr/>
        </p:nvPicPr>
        <p:blipFill rotWithShape="1">
          <a:blip r:embed="rId6">
            <a:alphaModFix/>
          </a:blip>
          <a:srcRect b="0" l="0" r="0" t="0"/>
          <a:stretch/>
        </p:blipFill>
        <p:spPr>
          <a:xfrm>
            <a:off x="16109572" y="10008739"/>
            <a:ext cx="3897487" cy="288000"/>
          </a:xfrm>
          <a:prstGeom prst="rect">
            <a:avLst/>
          </a:prstGeom>
          <a:noFill/>
          <a:ln>
            <a:noFill/>
          </a:ln>
        </p:spPr>
      </p:pic>
      <p:pic>
        <p:nvPicPr>
          <p:cNvPr id="2513" name="Google Shape;2513;p60"/>
          <p:cNvPicPr preferRelativeResize="0"/>
          <p:nvPr/>
        </p:nvPicPr>
        <p:blipFill rotWithShape="1">
          <a:blip r:embed="rId7">
            <a:alphaModFix/>
          </a:blip>
          <a:srcRect b="0" l="0" r="0" t="0"/>
          <a:stretch/>
        </p:blipFill>
        <p:spPr>
          <a:xfrm>
            <a:off x="16109571" y="6298291"/>
            <a:ext cx="4896000" cy="288000"/>
          </a:xfrm>
          <a:prstGeom prst="rect">
            <a:avLst/>
          </a:prstGeom>
          <a:noFill/>
          <a:ln>
            <a:noFill/>
          </a:ln>
        </p:spPr>
      </p:pic>
      <p:pic>
        <p:nvPicPr>
          <p:cNvPr id="2514" name="Google Shape;2514;p60"/>
          <p:cNvPicPr preferRelativeResize="0"/>
          <p:nvPr/>
        </p:nvPicPr>
        <p:blipFill rotWithShape="1">
          <a:blip r:embed="rId8">
            <a:alphaModFix/>
          </a:blip>
          <a:srcRect b="0" l="0" r="0" t="0"/>
          <a:stretch/>
        </p:blipFill>
        <p:spPr>
          <a:xfrm>
            <a:off x="16109571" y="6916699"/>
            <a:ext cx="4896000" cy="288000"/>
          </a:xfrm>
          <a:prstGeom prst="rect">
            <a:avLst/>
          </a:prstGeom>
          <a:noFill/>
          <a:ln>
            <a:noFill/>
          </a:ln>
        </p:spPr>
      </p:pic>
      <p:pic>
        <p:nvPicPr>
          <p:cNvPr id="2515" name="Google Shape;2515;p60"/>
          <p:cNvPicPr preferRelativeResize="0"/>
          <p:nvPr/>
        </p:nvPicPr>
        <p:blipFill rotWithShape="1">
          <a:blip r:embed="rId9">
            <a:alphaModFix/>
          </a:blip>
          <a:srcRect b="0" l="0" r="0" t="0"/>
          <a:stretch/>
        </p:blipFill>
        <p:spPr>
          <a:xfrm>
            <a:off x="16109571" y="7535107"/>
            <a:ext cx="4539333" cy="288000"/>
          </a:xfrm>
          <a:prstGeom prst="rect">
            <a:avLst/>
          </a:prstGeom>
          <a:noFill/>
          <a:ln>
            <a:noFill/>
          </a:ln>
        </p:spPr>
      </p:pic>
      <p:pic>
        <p:nvPicPr>
          <p:cNvPr id="2516" name="Google Shape;2516;p60"/>
          <p:cNvPicPr preferRelativeResize="0"/>
          <p:nvPr/>
        </p:nvPicPr>
        <p:blipFill rotWithShape="1">
          <a:blip r:embed="rId10">
            <a:alphaModFix/>
          </a:blip>
          <a:srcRect b="0" l="0" r="0" t="0"/>
          <a:stretch/>
        </p:blipFill>
        <p:spPr>
          <a:xfrm>
            <a:off x="16109571" y="8153515"/>
            <a:ext cx="4361955" cy="288000"/>
          </a:xfrm>
          <a:prstGeom prst="rect">
            <a:avLst/>
          </a:prstGeom>
          <a:noFill/>
          <a:ln>
            <a:noFill/>
          </a:ln>
        </p:spPr>
      </p:pic>
      <p:pic>
        <p:nvPicPr>
          <p:cNvPr id="2517" name="Google Shape;2517;p60"/>
          <p:cNvPicPr preferRelativeResize="0"/>
          <p:nvPr/>
        </p:nvPicPr>
        <p:blipFill rotWithShape="1">
          <a:blip r:embed="rId11">
            <a:alphaModFix/>
          </a:blip>
          <a:srcRect b="0" l="0" r="0" t="0"/>
          <a:stretch/>
        </p:blipFill>
        <p:spPr>
          <a:xfrm>
            <a:off x="16109571" y="10627146"/>
            <a:ext cx="3630171" cy="288000"/>
          </a:xfrm>
          <a:prstGeom prst="rect">
            <a:avLst/>
          </a:prstGeom>
          <a:noFill/>
          <a:ln>
            <a:noFill/>
          </a:ln>
        </p:spPr>
      </p:pic>
      <p:pic>
        <p:nvPicPr>
          <p:cNvPr id="2518" name="Google Shape;2518;p60"/>
          <p:cNvPicPr preferRelativeResize="0"/>
          <p:nvPr/>
        </p:nvPicPr>
        <p:blipFill rotWithShape="1">
          <a:blip r:embed="rId12">
            <a:alphaModFix/>
          </a:blip>
          <a:srcRect b="0" l="0" r="0" t="0"/>
          <a:stretch/>
        </p:blipFill>
        <p:spPr>
          <a:xfrm>
            <a:off x="16109571" y="8771923"/>
            <a:ext cx="4916704" cy="288000"/>
          </a:xfrm>
          <a:prstGeom prst="rect">
            <a:avLst/>
          </a:prstGeom>
          <a:noFill/>
          <a:ln>
            <a:noFill/>
          </a:ln>
        </p:spPr>
      </p:pic>
      <p:pic>
        <p:nvPicPr>
          <p:cNvPr id="2519" name="Google Shape;2519;p60"/>
          <p:cNvPicPr preferRelativeResize="0"/>
          <p:nvPr/>
        </p:nvPicPr>
        <p:blipFill rotWithShape="1">
          <a:blip r:embed="rId13">
            <a:alphaModFix/>
          </a:blip>
          <a:srcRect b="0" l="0" r="0" t="0"/>
          <a:stretch/>
        </p:blipFill>
        <p:spPr>
          <a:xfrm>
            <a:off x="16109571" y="9390331"/>
            <a:ext cx="4926116" cy="288000"/>
          </a:xfrm>
          <a:prstGeom prst="rect">
            <a:avLst/>
          </a:prstGeom>
          <a:noFill/>
          <a:ln>
            <a:noFill/>
          </a:ln>
        </p:spPr>
      </p:pic>
      <p:sp>
        <p:nvSpPr>
          <p:cNvPr id="2520" name="Google Shape;2520;p60"/>
          <p:cNvSpPr txBox="1"/>
          <p:nvPr/>
        </p:nvSpPr>
        <p:spPr>
          <a:xfrm>
            <a:off x="900455" y="12998939"/>
            <a:ext cx="14377645" cy="50430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000">
                <a:solidFill>
                  <a:schemeClr val="dk2"/>
                </a:solidFill>
                <a:latin typeface="Arial"/>
                <a:ea typeface="Arial"/>
                <a:cs typeface="Arial"/>
                <a:sym typeface="Arial"/>
              </a:rPr>
              <a:t>*. </a:t>
            </a:r>
            <a:r>
              <a:rPr b="1" lang="en-US" sz="2000">
                <a:solidFill>
                  <a:schemeClr val="dk2"/>
                </a:solidFill>
                <a:latin typeface="Montserrat"/>
                <a:ea typeface="Montserrat"/>
                <a:cs typeface="Montserrat"/>
                <a:sym typeface="Montserrat"/>
              </a:rPr>
              <a:t>Thomas, A., 2011. Photon Pair Sources in Periodically Poled Ti: LiNbO3 Waveguides (Doctoral dissertation, Universitätsbibliothek).</a:t>
            </a:r>
            <a:endParaRPr sz="2000">
              <a:solidFill>
                <a:schemeClr val="dk2"/>
              </a:solidFill>
              <a:latin typeface="Montserrat"/>
              <a:ea typeface="Montserrat"/>
              <a:cs typeface="Montserrat"/>
              <a:sym typeface="Montserrat"/>
            </a:endParaRPr>
          </a:p>
        </p:txBody>
      </p:sp>
      <p:sp>
        <p:nvSpPr>
          <p:cNvPr id="2521" name="Google Shape;2521;p60"/>
          <p:cNvSpPr txBox="1"/>
          <p:nvPr/>
        </p:nvSpPr>
        <p:spPr>
          <a:xfrm>
            <a:off x="3252860" y="10727886"/>
            <a:ext cx="10633670"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Taking JSI into account, the normalized pair generation rate is roughly around the same level as presented by the other group, which indirectly verifies the successful demonstration of our single photon source</a:t>
            </a:r>
            <a:endParaRPr/>
          </a:p>
        </p:txBody>
      </p:sp>
      <p:sp>
        <p:nvSpPr>
          <p:cNvPr id="2522" name="Google Shape;2522;p60"/>
          <p:cNvSpPr/>
          <p:nvPr/>
        </p:nvSpPr>
        <p:spPr>
          <a:xfrm>
            <a:off x="8268079" y="9822104"/>
            <a:ext cx="603232" cy="718869"/>
          </a:xfrm>
          <a:prstGeom prst="downArrow">
            <a:avLst>
              <a:gd fmla="val 50000" name="adj1"/>
              <a:gd fmla="val 50000" name="adj2"/>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6" name="Shape 2526"/>
        <p:cNvGrpSpPr/>
        <p:nvPr/>
      </p:nvGrpSpPr>
      <p:grpSpPr>
        <a:xfrm>
          <a:off x="0" y="0"/>
          <a:ext cx="0" cy="0"/>
          <a:chOff x="0" y="0"/>
          <a:chExt cx="0" cy="0"/>
        </a:xfrm>
      </p:grpSpPr>
      <p:sp>
        <p:nvSpPr>
          <p:cNvPr id="2527" name="Google Shape;2527;p61"/>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Calculation of pair generation rate</a:t>
            </a:r>
            <a:endParaRPr/>
          </a:p>
        </p:txBody>
      </p:sp>
      <p:sp>
        <p:nvSpPr>
          <p:cNvPr id="2528" name="Google Shape;2528;p61"/>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529" name="Google Shape;2529;p61"/>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30" name="Google Shape;2530;p61"/>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531" name="Google Shape;2531;p61"/>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532" name="Google Shape;2532;p61"/>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533" name="Google Shape;2533;p61"/>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534" name="Google Shape;2534;p61"/>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Results and discussions</a:t>
            </a:r>
            <a:endParaRPr/>
          </a:p>
        </p:txBody>
      </p:sp>
      <p:sp>
        <p:nvSpPr>
          <p:cNvPr id="2535" name="Google Shape;2535;p61"/>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Conclusion and outlook</a:t>
            </a:r>
            <a:endParaRPr/>
          </a:p>
        </p:txBody>
      </p:sp>
      <p:sp>
        <p:nvSpPr>
          <p:cNvPr id="2536" name="Google Shape;2536;p61"/>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2537" name="Google Shape;2537;p61"/>
          <p:cNvSpPr txBox="1"/>
          <p:nvPr/>
        </p:nvSpPr>
        <p:spPr>
          <a:xfrm>
            <a:off x="10316660" y="8006569"/>
            <a:ext cx="12214068"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Due to the presence of unfiltered pump photons in the spectral range &gt; 850 nm, the coincidence count rate in the idler arm couldn’t be used to calculate the generation rate</a:t>
            </a:r>
            <a:endParaRPr/>
          </a:p>
        </p:txBody>
      </p:sp>
      <p:graphicFrame>
        <p:nvGraphicFramePr>
          <p:cNvPr id="2538" name="Google Shape;2538;p61"/>
          <p:cNvGraphicFramePr/>
          <p:nvPr/>
        </p:nvGraphicFramePr>
        <p:xfrm>
          <a:off x="2020583" y="4979842"/>
          <a:ext cx="3000000" cy="3000000"/>
        </p:xfrm>
        <a:graphic>
          <a:graphicData uri="http://schemas.openxmlformats.org/drawingml/2006/table">
            <a:tbl>
              <a:tblPr bandRow="1" firstRow="1">
                <a:noFill/>
                <a:tableStyleId>{2D5A7AE6-9B3A-4105-8E20-78A74F81C108}</a:tableStyleId>
              </a:tblPr>
              <a:tblGrid>
                <a:gridCol w="3439050"/>
                <a:gridCol w="3679800"/>
              </a:tblGrid>
              <a:tr h="548325">
                <a:tc>
                  <a:txBody>
                    <a:bodyPr/>
                    <a:lstStyle/>
                    <a:p>
                      <a:pPr indent="0" lvl="0" marL="0" marR="0" rtl="0" algn="ctr">
                        <a:spcBef>
                          <a:spcPts val="0"/>
                        </a:spcBef>
                        <a:spcAft>
                          <a:spcPts val="0"/>
                        </a:spcAft>
                        <a:buNone/>
                      </a:pPr>
                      <a:r>
                        <a:t/>
                      </a:r>
                      <a:endParaRPr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Our measurement</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1" lang="en-US" sz="2400" u="none" cap="none" strike="noStrike">
                          <a:solidFill>
                            <a:srgbClr val="000000"/>
                          </a:solidFill>
                          <a:latin typeface="Calibri"/>
                          <a:ea typeface="Calibri"/>
                          <a:cs typeface="Calibri"/>
                          <a:sym typeface="Calibri"/>
                        </a:rPr>
                        <a:t>μ</a:t>
                      </a:r>
                      <a:r>
                        <a:rPr baseline="-25000" i="1" lang="en-US" sz="2400" u="none" cap="none" strike="noStrike">
                          <a:solidFill>
                            <a:schemeClr val="dk2"/>
                          </a:solidFill>
                          <a:latin typeface="Arial"/>
                          <a:ea typeface="Arial"/>
                          <a:cs typeface="Arial"/>
                          <a:sym typeface="Arial"/>
                        </a:rPr>
                        <a:t>1</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(dB)</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-16.71</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1" lang="en-US" sz="2400" u="none" cap="none" strike="noStrike">
                          <a:solidFill>
                            <a:srgbClr val="000000"/>
                          </a:solidFill>
                          <a:latin typeface="Calibri"/>
                          <a:ea typeface="Calibri"/>
                          <a:cs typeface="Calibri"/>
                          <a:sym typeface="Calibri"/>
                        </a:rPr>
                        <a:t>μ</a:t>
                      </a:r>
                      <a:r>
                        <a:rPr baseline="-25000" i="1" lang="en-US" sz="2400" u="none" cap="none" strike="noStrike">
                          <a:solidFill>
                            <a:schemeClr val="dk2"/>
                          </a:solidFill>
                          <a:latin typeface="Arial"/>
                          <a:ea typeface="Arial"/>
                          <a:cs typeface="Arial"/>
                          <a:sym typeface="Arial"/>
                        </a:rPr>
                        <a:t>2</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(dB)</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-5.23</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1" lang="en-US" sz="2400" u="none" cap="none" strike="noStrike">
                          <a:solidFill>
                            <a:srgbClr val="000000"/>
                          </a:solidFill>
                          <a:latin typeface="Calibri"/>
                          <a:ea typeface="Calibri"/>
                          <a:cs typeface="Calibri"/>
                          <a:sym typeface="Calibri"/>
                        </a:rPr>
                        <a:t>η</a:t>
                      </a:r>
                      <a:r>
                        <a:rPr baseline="-25000" i="1" lang="en-US" sz="2400" u="none" cap="none" strike="noStrike">
                          <a:solidFill>
                            <a:srgbClr val="000000"/>
                          </a:solidFill>
                          <a:latin typeface="Calibri"/>
                          <a:ea typeface="Calibri"/>
                          <a:cs typeface="Calibri"/>
                          <a:sym typeface="Calibri"/>
                        </a:rPr>
                        <a:t>1</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15</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lnSpc>
                          <a:spcPct val="100000"/>
                        </a:lnSpc>
                        <a:spcBef>
                          <a:spcPts val="0"/>
                        </a:spcBef>
                        <a:spcAft>
                          <a:spcPts val="0"/>
                        </a:spcAft>
                        <a:buClr>
                          <a:srgbClr val="000000"/>
                        </a:buClr>
                        <a:buSzPts val="2400"/>
                        <a:buFont typeface="Calibri"/>
                        <a:buNone/>
                      </a:pPr>
                      <a:r>
                        <a:rPr i="1" lang="en-US" sz="2400" u="none" cap="none" strike="noStrike">
                          <a:solidFill>
                            <a:srgbClr val="000000"/>
                          </a:solidFill>
                          <a:latin typeface="Calibri"/>
                          <a:ea typeface="Calibri"/>
                          <a:cs typeface="Calibri"/>
                          <a:sym typeface="Calibri"/>
                        </a:rPr>
                        <a:t>η</a:t>
                      </a:r>
                      <a:r>
                        <a:rPr baseline="-25000" i="1" lang="en-US" sz="2400" u="none" cap="none" strike="noStrike">
                          <a:solidFill>
                            <a:srgbClr val="000000"/>
                          </a:solidFill>
                          <a:latin typeface="Calibri"/>
                          <a:ea typeface="Calibri"/>
                          <a:cs typeface="Calibri"/>
                          <a:sym typeface="Calibri"/>
                        </a:rPr>
                        <a:t>2</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5</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1" lang="en-US" sz="2400" u="none" cap="none" strike="noStrike">
                          <a:solidFill>
                            <a:srgbClr val="000000"/>
                          </a:solidFill>
                          <a:latin typeface="Calibri"/>
                          <a:ea typeface="Calibri"/>
                          <a:cs typeface="Calibri"/>
                          <a:sym typeface="Calibri"/>
                        </a:rPr>
                        <a:t>μ</a:t>
                      </a:r>
                      <a:r>
                        <a:rPr baseline="-25000" i="1" lang="en-US" sz="2400" u="none" cap="none" strike="noStrike">
                          <a:solidFill>
                            <a:schemeClr val="dk2"/>
                          </a:solidFill>
                          <a:latin typeface="Arial"/>
                          <a:ea typeface="Arial"/>
                          <a:cs typeface="Arial"/>
                          <a:sym typeface="Arial"/>
                        </a:rPr>
                        <a:t>1</a:t>
                      </a:r>
                      <a:r>
                        <a:rPr i="1" lang="en-US" sz="2400" u="none" cap="none" strike="noStrike">
                          <a:solidFill>
                            <a:schemeClr val="dk2"/>
                          </a:solidFill>
                          <a:latin typeface="Arial"/>
                          <a:ea typeface="Arial"/>
                          <a:cs typeface="Arial"/>
                          <a:sym typeface="Arial"/>
                        </a:rPr>
                        <a:t> </a:t>
                      </a:r>
                      <a:r>
                        <a:rPr i="1" lang="en-US" sz="2400" u="none" cap="none" strike="noStrike">
                          <a:solidFill>
                            <a:srgbClr val="000000"/>
                          </a:solidFill>
                          <a:latin typeface="Calibri"/>
                          <a:ea typeface="Calibri"/>
                          <a:cs typeface="Calibri"/>
                          <a:sym typeface="Calibri"/>
                        </a:rPr>
                        <a:t>μ</a:t>
                      </a:r>
                      <a:r>
                        <a:rPr baseline="-25000" i="1" lang="en-US" sz="2400" u="none" cap="none" strike="noStrike">
                          <a:solidFill>
                            <a:schemeClr val="dk2"/>
                          </a:solidFill>
                          <a:latin typeface="Arial"/>
                          <a:ea typeface="Arial"/>
                          <a:cs typeface="Arial"/>
                          <a:sym typeface="Arial"/>
                        </a:rPr>
                        <a:t>2</a:t>
                      </a:r>
                      <a:r>
                        <a:rPr i="1" lang="en-US" sz="2400" u="none" cap="none" strike="noStrike">
                          <a:solidFill>
                            <a:schemeClr val="dk2"/>
                          </a:solidFill>
                          <a:latin typeface="Arial"/>
                          <a:ea typeface="Arial"/>
                          <a:cs typeface="Arial"/>
                          <a:sym typeface="Arial"/>
                        </a:rPr>
                        <a:t> </a:t>
                      </a:r>
                      <a:r>
                        <a:rPr i="1" lang="en-US" sz="2400" u="none" cap="none" strike="noStrike">
                          <a:solidFill>
                            <a:srgbClr val="000000"/>
                          </a:solidFill>
                          <a:latin typeface="Calibri"/>
                          <a:ea typeface="Calibri"/>
                          <a:cs typeface="Calibri"/>
                          <a:sym typeface="Calibri"/>
                        </a:rPr>
                        <a:t>η</a:t>
                      </a:r>
                      <a:r>
                        <a:rPr baseline="-25000" i="1" lang="en-US" sz="2400" u="none" cap="none" strike="noStrike">
                          <a:solidFill>
                            <a:srgbClr val="000000"/>
                          </a:solidFill>
                          <a:latin typeface="Calibri"/>
                          <a:ea typeface="Calibri"/>
                          <a:cs typeface="Calibri"/>
                          <a:sym typeface="Calibri"/>
                        </a:rPr>
                        <a:t>1</a:t>
                      </a:r>
                      <a:r>
                        <a:rPr i="1" lang="en-US" sz="2400" u="none" cap="none" strike="noStrike">
                          <a:solidFill>
                            <a:schemeClr val="dk2"/>
                          </a:solidFill>
                          <a:latin typeface="Arial"/>
                          <a:ea typeface="Arial"/>
                          <a:cs typeface="Arial"/>
                          <a:sym typeface="Arial"/>
                        </a:rPr>
                        <a:t> </a:t>
                      </a:r>
                      <a:r>
                        <a:rPr i="1" lang="en-US" sz="2400" u="none" cap="none" strike="noStrike">
                          <a:solidFill>
                            <a:srgbClr val="000000"/>
                          </a:solidFill>
                          <a:latin typeface="Calibri"/>
                          <a:ea typeface="Calibri"/>
                          <a:cs typeface="Calibri"/>
                          <a:sym typeface="Calibri"/>
                        </a:rPr>
                        <a:t>η</a:t>
                      </a:r>
                      <a:r>
                        <a:rPr baseline="-25000" i="1" lang="en-US" sz="2400" u="none" cap="none" strike="noStrike">
                          <a:solidFill>
                            <a:srgbClr val="000000"/>
                          </a:solidFill>
                          <a:latin typeface="Calibri"/>
                          <a:ea typeface="Calibri"/>
                          <a:cs typeface="Calibri"/>
                          <a:sym typeface="Calibri"/>
                        </a:rPr>
                        <a:t>2</a:t>
                      </a:r>
                      <a:r>
                        <a:rPr i="1" lang="en-US" sz="2400" u="none" cap="none" strike="noStrike">
                          <a:solidFill>
                            <a:schemeClr val="dk2"/>
                          </a:solidFill>
                          <a:latin typeface="Arial"/>
                          <a:ea typeface="Arial"/>
                          <a:cs typeface="Arial"/>
                          <a:sym typeface="Arial"/>
                        </a:rPr>
                        <a:t> </a:t>
                      </a:r>
                      <a:r>
                        <a:rPr i="0" lang="en-US" sz="2400" u="none" cap="none" strike="noStrike">
                          <a:solidFill>
                            <a:schemeClr val="dk2"/>
                          </a:solidFill>
                          <a:latin typeface="Arial"/>
                          <a:ea typeface="Arial"/>
                          <a:cs typeface="Arial"/>
                          <a:sym typeface="Arial"/>
                        </a:rPr>
                        <a:t>(dB)</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-43.19</a:t>
                      </a:r>
                      <a:endParaRPr sz="2400" u="none" cap="none" strike="noStrike">
                        <a:solidFill>
                          <a:schemeClr val="dk2"/>
                        </a:solidFill>
                        <a:latin typeface="Arial"/>
                        <a:ea typeface="Arial"/>
                        <a:cs typeface="Arial"/>
                        <a:sym typeface="Arial"/>
                      </a:endParaRPr>
                    </a:p>
                  </a:txBody>
                  <a:tcPr marT="45725" marB="45725" marR="91450" marL="91450"/>
                </a:tc>
              </a:tr>
              <a:tr h="427950">
                <a:tc>
                  <a:txBody>
                    <a:bodyPr/>
                    <a:lstStyle/>
                    <a:p>
                      <a:pPr indent="0" lvl="0" marL="0" marR="0" rtl="0" algn="ctr">
                        <a:spcBef>
                          <a:spcPts val="0"/>
                        </a:spcBef>
                        <a:spcAft>
                          <a:spcPts val="0"/>
                        </a:spcAft>
                        <a:buNone/>
                      </a:pPr>
                      <a:r>
                        <a:rPr i="0" lang="en-US" sz="2400" u="none" cap="none" strike="noStrike">
                          <a:solidFill>
                            <a:schemeClr val="dk2"/>
                          </a:solidFill>
                          <a:latin typeface="Arial"/>
                          <a:ea typeface="Arial"/>
                          <a:cs typeface="Arial"/>
                          <a:sym typeface="Arial"/>
                        </a:rPr>
                        <a:t>Pump power (</a:t>
                      </a:r>
                      <a:r>
                        <a:rPr i="0" lang="en-US" sz="2400" u="none" cap="none" strike="noStrike">
                          <a:solidFill>
                            <a:srgbClr val="000000"/>
                          </a:solidFill>
                          <a:latin typeface="Calibri"/>
                          <a:ea typeface="Calibri"/>
                          <a:cs typeface="Calibri"/>
                          <a:sym typeface="Calibri"/>
                        </a:rPr>
                        <a:t>μW</a:t>
                      </a:r>
                      <a:r>
                        <a:rPr i="0" lang="en-US" sz="2400" u="none" cap="none" strike="noStrike">
                          <a:solidFill>
                            <a:schemeClr val="dk2"/>
                          </a:solidFill>
                          <a:latin typeface="Arial"/>
                          <a:ea typeface="Arial"/>
                          <a:cs typeface="Arial"/>
                          <a:sym typeface="Arial"/>
                        </a:rPr>
                        <a:t>)</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4.5</a:t>
                      </a:r>
                      <a:endParaRPr sz="2400" u="none" cap="none" strike="noStrike">
                        <a:solidFill>
                          <a:schemeClr val="dk2"/>
                        </a:solidFill>
                        <a:latin typeface="Arial"/>
                        <a:ea typeface="Arial"/>
                        <a:cs typeface="Arial"/>
                        <a:sym typeface="Arial"/>
                      </a:endParaRPr>
                    </a:p>
                  </a:txBody>
                  <a:tcPr marT="45725" marB="45725" marR="91450" marL="91450"/>
                </a:tc>
              </a:tr>
              <a:tr h="577500">
                <a:tc>
                  <a:txBody>
                    <a:bodyPr/>
                    <a:lstStyle/>
                    <a:p>
                      <a:pPr indent="0" lvl="0" marL="0" marR="0" rtl="0" algn="ctr">
                        <a:spcBef>
                          <a:spcPts val="0"/>
                        </a:spcBef>
                        <a:spcAft>
                          <a:spcPts val="0"/>
                        </a:spcAft>
                        <a:buNone/>
                      </a:pPr>
                      <a:r>
                        <a:rPr i="1" lang="en-US" sz="2400" u="none" cap="none" strike="noStrike">
                          <a:solidFill>
                            <a:schemeClr val="dk2"/>
                          </a:solidFill>
                          <a:latin typeface="Arial"/>
                          <a:ea typeface="Arial"/>
                          <a:cs typeface="Arial"/>
                          <a:sym typeface="Arial"/>
                        </a:rPr>
                        <a:t>R</a:t>
                      </a:r>
                      <a:r>
                        <a:rPr i="0" lang="en-US" sz="2400" u="none" cap="none" strike="noStrike">
                          <a:solidFill>
                            <a:schemeClr val="dk2"/>
                          </a:solidFill>
                          <a:latin typeface="Arial"/>
                          <a:ea typeface="Arial"/>
                          <a:cs typeface="Arial"/>
                          <a:sym typeface="Arial"/>
                        </a:rPr>
                        <a:t>(1/s)</a:t>
                      </a:r>
                      <a:endParaRPr i="0"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chemeClr val="dk2"/>
                        </a:buClr>
                        <a:buSzPts val="2400"/>
                        <a:buFont typeface="Arial"/>
                        <a:buNone/>
                      </a:pPr>
                      <a:r>
                        <a:rPr lang="en-US" sz="2400" u="none" cap="none" strike="noStrike">
                          <a:solidFill>
                            <a:schemeClr val="dk2"/>
                          </a:solidFill>
                          <a:latin typeface="Arial"/>
                          <a:ea typeface="Arial"/>
                          <a:cs typeface="Arial"/>
                          <a:sym typeface="Arial"/>
                        </a:rPr>
                        <a:t>0.613 (1.5 cm long)</a:t>
                      </a:r>
                      <a:endParaRPr/>
                    </a:p>
                  </a:txBody>
                  <a:tcPr marT="45725" marB="45725" marR="91450" marL="91450"/>
                </a:tc>
              </a:tr>
              <a:tr h="577500">
                <a:tc>
                  <a:txBody>
                    <a:bodyPr/>
                    <a:lstStyle/>
                    <a:p>
                      <a:pPr indent="0" lvl="0" marL="0" marR="0" rtl="0" algn="ctr">
                        <a:spcBef>
                          <a:spcPts val="0"/>
                        </a:spcBef>
                        <a:spcAft>
                          <a:spcPts val="0"/>
                        </a:spcAft>
                        <a:buNone/>
                      </a:pPr>
                      <a:r>
                        <a:rPr i="1" lang="en-US" sz="2400" u="none" cap="none" strike="noStrike">
                          <a:solidFill>
                            <a:schemeClr val="dk2"/>
                          </a:solidFill>
                          <a:latin typeface="Arial"/>
                          <a:ea typeface="Arial"/>
                          <a:cs typeface="Arial"/>
                          <a:sym typeface="Arial"/>
                        </a:rPr>
                        <a:t>S</a:t>
                      </a:r>
                      <a:r>
                        <a:rPr baseline="-25000" i="1" lang="en-US" sz="2400" u="none" cap="none" strike="noStrike">
                          <a:solidFill>
                            <a:schemeClr val="dk2"/>
                          </a:solidFill>
                          <a:latin typeface="Arial"/>
                          <a:ea typeface="Arial"/>
                          <a:cs typeface="Arial"/>
                          <a:sym typeface="Arial"/>
                        </a:rPr>
                        <a:t>1 </a:t>
                      </a:r>
                      <a:r>
                        <a:rPr i="0" lang="en-US" sz="2400" u="none" cap="none" strike="noStrike">
                          <a:solidFill>
                            <a:schemeClr val="dk2"/>
                          </a:solidFill>
                          <a:latin typeface="Arial"/>
                          <a:ea typeface="Arial"/>
                          <a:cs typeface="Arial"/>
                          <a:sym typeface="Arial"/>
                        </a:rPr>
                        <a:t>(1/s)</a:t>
                      </a:r>
                      <a:endParaRPr baseline="-25000" i="1"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t/>
                      </a:r>
                      <a:endParaRPr sz="2400" u="none" cap="none" strike="noStrike">
                        <a:solidFill>
                          <a:schemeClr val="dk2"/>
                        </a:solidFill>
                        <a:latin typeface="Arial"/>
                        <a:ea typeface="Arial"/>
                        <a:cs typeface="Arial"/>
                        <a:sym typeface="Arial"/>
                      </a:endParaRPr>
                    </a:p>
                  </a:txBody>
                  <a:tcPr marT="45725" marB="45725" marR="91450" marL="91450"/>
                </a:tc>
              </a:tr>
              <a:tr h="577500">
                <a:tc>
                  <a:txBody>
                    <a:bodyPr/>
                    <a:lstStyle/>
                    <a:p>
                      <a:pPr indent="0" lvl="0" marL="0" marR="0" rtl="0" algn="ctr">
                        <a:lnSpc>
                          <a:spcPct val="100000"/>
                        </a:lnSpc>
                        <a:spcBef>
                          <a:spcPts val="0"/>
                        </a:spcBef>
                        <a:spcAft>
                          <a:spcPts val="0"/>
                        </a:spcAft>
                        <a:buClr>
                          <a:schemeClr val="dk2"/>
                        </a:buClr>
                        <a:buSzPts val="2400"/>
                        <a:buFont typeface="Arial"/>
                        <a:buNone/>
                      </a:pPr>
                      <a:r>
                        <a:rPr i="1" lang="en-US" sz="2400" u="none" cap="none" strike="noStrike">
                          <a:solidFill>
                            <a:schemeClr val="dk2"/>
                          </a:solidFill>
                          <a:latin typeface="Arial"/>
                          <a:ea typeface="Arial"/>
                          <a:cs typeface="Arial"/>
                          <a:sym typeface="Arial"/>
                        </a:rPr>
                        <a:t>S</a:t>
                      </a:r>
                      <a:r>
                        <a:rPr baseline="-25000" i="1" lang="en-US" sz="2400" u="none" cap="none" strike="noStrike">
                          <a:solidFill>
                            <a:schemeClr val="dk2"/>
                          </a:solidFill>
                          <a:latin typeface="Arial"/>
                          <a:ea typeface="Arial"/>
                          <a:cs typeface="Arial"/>
                          <a:sym typeface="Arial"/>
                        </a:rPr>
                        <a:t>2 </a:t>
                      </a:r>
                      <a:r>
                        <a:rPr i="0" lang="en-US" sz="2400" u="none" cap="none" strike="noStrike">
                          <a:solidFill>
                            <a:schemeClr val="dk2"/>
                          </a:solidFill>
                          <a:latin typeface="Arial"/>
                          <a:ea typeface="Arial"/>
                          <a:cs typeface="Arial"/>
                          <a:sym typeface="Arial"/>
                        </a:rPr>
                        <a:t>(1/s)</a:t>
                      </a:r>
                      <a:endParaRPr baseline="-25000" i="1"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7000 </a:t>
                      </a:r>
                      <a:endParaRPr/>
                    </a:p>
                  </a:txBody>
                  <a:tcPr marT="45725" marB="45725" marR="91450" marL="91450"/>
                </a:tc>
              </a:tr>
              <a:tr h="577500">
                <a:tc>
                  <a:txBody>
                    <a:bodyPr/>
                    <a:lstStyle/>
                    <a:p>
                      <a:pPr indent="0" lvl="0" marL="0" marR="0" rtl="0" algn="ctr">
                        <a:lnSpc>
                          <a:spcPct val="100000"/>
                        </a:lnSpc>
                        <a:spcBef>
                          <a:spcPts val="0"/>
                        </a:spcBef>
                        <a:spcAft>
                          <a:spcPts val="0"/>
                        </a:spcAft>
                        <a:buClr>
                          <a:schemeClr val="dk2"/>
                        </a:buClr>
                        <a:buSzPts val="2400"/>
                        <a:buFont typeface="Arial"/>
                        <a:buNone/>
                      </a:pPr>
                      <a:r>
                        <a:rPr i="1" lang="en-US" sz="2400" u="none" cap="none" strike="noStrike">
                          <a:solidFill>
                            <a:schemeClr val="dk2"/>
                          </a:solidFill>
                          <a:latin typeface="Arial"/>
                          <a:ea typeface="Arial"/>
                          <a:cs typeface="Arial"/>
                          <a:sym typeface="Arial"/>
                        </a:rPr>
                        <a:t>D</a:t>
                      </a:r>
                      <a:r>
                        <a:rPr baseline="-25000" i="1" lang="en-US" sz="2400" u="none" cap="none" strike="noStrike">
                          <a:solidFill>
                            <a:schemeClr val="dk2"/>
                          </a:solidFill>
                          <a:latin typeface="Arial"/>
                          <a:ea typeface="Arial"/>
                          <a:cs typeface="Arial"/>
                          <a:sym typeface="Arial"/>
                        </a:rPr>
                        <a:t>1 </a:t>
                      </a:r>
                      <a:r>
                        <a:rPr i="0" lang="en-US" sz="2400" u="none" cap="none" strike="noStrike">
                          <a:solidFill>
                            <a:schemeClr val="dk2"/>
                          </a:solidFill>
                          <a:latin typeface="Arial"/>
                          <a:ea typeface="Arial"/>
                          <a:cs typeface="Arial"/>
                          <a:sym typeface="Arial"/>
                        </a:rPr>
                        <a:t>(1/s)</a:t>
                      </a:r>
                      <a:endParaRPr baseline="-25000" i="1"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2400" u="none" cap="none" strike="noStrike">
                          <a:solidFill>
                            <a:schemeClr val="dk2"/>
                          </a:solidFill>
                          <a:latin typeface="Arial"/>
                          <a:ea typeface="Arial"/>
                          <a:cs typeface="Arial"/>
                          <a:sym typeface="Arial"/>
                        </a:rPr>
                        <a:t>2000 ~ 3000 </a:t>
                      </a:r>
                      <a:endParaRPr/>
                    </a:p>
                  </a:txBody>
                  <a:tcPr marT="45725" marB="45725" marR="91450" marL="91450"/>
                </a:tc>
              </a:tr>
              <a:tr h="577500">
                <a:tc>
                  <a:txBody>
                    <a:bodyPr/>
                    <a:lstStyle/>
                    <a:p>
                      <a:pPr indent="0" lvl="0" marL="0" marR="0" rtl="0" algn="ctr">
                        <a:lnSpc>
                          <a:spcPct val="100000"/>
                        </a:lnSpc>
                        <a:spcBef>
                          <a:spcPts val="0"/>
                        </a:spcBef>
                        <a:spcAft>
                          <a:spcPts val="0"/>
                        </a:spcAft>
                        <a:buClr>
                          <a:schemeClr val="dk2"/>
                        </a:buClr>
                        <a:buSzPts val="2400"/>
                        <a:buFont typeface="Arial"/>
                        <a:buNone/>
                      </a:pPr>
                      <a:r>
                        <a:rPr i="1" lang="en-US" sz="2400" u="none" cap="none" strike="noStrike">
                          <a:solidFill>
                            <a:schemeClr val="dk2"/>
                          </a:solidFill>
                          <a:latin typeface="Arial"/>
                          <a:ea typeface="Arial"/>
                          <a:cs typeface="Arial"/>
                          <a:sym typeface="Arial"/>
                        </a:rPr>
                        <a:t>D</a:t>
                      </a:r>
                      <a:r>
                        <a:rPr baseline="-25000" i="1" lang="en-US" sz="2400" u="none" cap="none" strike="noStrike">
                          <a:solidFill>
                            <a:schemeClr val="dk2"/>
                          </a:solidFill>
                          <a:latin typeface="Arial"/>
                          <a:ea typeface="Arial"/>
                          <a:cs typeface="Arial"/>
                          <a:sym typeface="Arial"/>
                        </a:rPr>
                        <a:t>2 </a:t>
                      </a:r>
                      <a:r>
                        <a:rPr i="0" lang="en-US" sz="2400" u="none" cap="none" strike="noStrike">
                          <a:solidFill>
                            <a:schemeClr val="dk2"/>
                          </a:solidFill>
                          <a:latin typeface="Arial"/>
                          <a:ea typeface="Arial"/>
                          <a:cs typeface="Arial"/>
                          <a:sym typeface="Arial"/>
                        </a:rPr>
                        <a:t>(1/s)</a:t>
                      </a:r>
                      <a:endParaRPr baseline="-25000" i="1" sz="2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chemeClr val="dk2"/>
                        </a:buClr>
                        <a:buSzPts val="2400"/>
                        <a:buFont typeface="Arial"/>
                        <a:buNone/>
                      </a:pPr>
                      <a:r>
                        <a:rPr lang="en-US" sz="2400" u="none" cap="none" strike="noStrike">
                          <a:solidFill>
                            <a:schemeClr val="dk2"/>
                          </a:solidFill>
                          <a:latin typeface="Arial"/>
                          <a:ea typeface="Arial"/>
                          <a:cs typeface="Arial"/>
                          <a:sym typeface="Arial"/>
                        </a:rPr>
                        <a:t>2000 ~ 3000 </a:t>
                      </a:r>
                      <a:endParaRPr/>
                    </a:p>
                  </a:txBody>
                  <a:tcPr marT="45725" marB="45725" marR="91450" marL="91450"/>
                </a:tc>
              </a:tr>
            </a:tbl>
          </a:graphicData>
        </a:graphic>
      </p:graphicFrame>
      <p:pic>
        <p:nvPicPr>
          <p:cNvPr id="2539" name="Google Shape;2539;p61"/>
          <p:cNvPicPr preferRelativeResize="0"/>
          <p:nvPr/>
        </p:nvPicPr>
        <p:blipFill rotWithShape="1">
          <a:blip r:embed="rId3">
            <a:alphaModFix/>
          </a:blip>
          <a:srcRect b="0" l="0" r="0" t="0"/>
          <a:stretch/>
        </p:blipFill>
        <p:spPr>
          <a:xfrm>
            <a:off x="10560014" y="9496938"/>
            <a:ext cx="2983529" cy="360000"/>
          </a:xfrm>
          <a:prstGeom prst="rect">
            <a:avLst/>
          </a:prstGeom>
          <a:noFill/>
          <a:ln>
            <a:noFill/>
          </a:ln>
        </p:spPr>
      </p:pic>
      <p:pic>
        <p:nvPicPr>
          <p:cNvPr id="2540" name="Google Shape;2540;p61"/>
          <p:cNvPicPr preferRelativeResize="0"/>
          <p:nvPr/>
        </p:nvPicPr>
        <p:blipFill rotWithShape="1">
          <a:blip r:embed="rId4">
            <a:alphaModFix/>
          </a:blip>
          <a:srcRect b="0" l="0" r="0" t="0"/>
          <a:stretch/>
        </p:blipFill>
        <p:spPr>
          <a:xfrm>
            <a:off x="10560013" y="10225398"/>
            <a:ext cx="2992940" cy="360000"/>
          </a:xfrm>
          <a:prstGeom prst="rect">
            <a:avLst/>
          </a:prstGeom>
          <a:noFill/>
          <a:ln>
            <a:noFill/>
          </a:ln>
        </p:spPr>
      </p:pic>
      <p:pic>
        <p:nvPicPr>
          <p:cNvPr id="2541" name="Google Shape;2541;p61"/>
          <p:cNvPicPr preferRelativeResize="0"/>
          <p:nvPr/>
        </p:nvPicPr>
        <p:blipFill rotWithShape="1">
          <a:blip r:embed="rId5">
            <a:alphaModFix/>
          </a:blip>
          <a:srcRect b="0" l="0" r="0" t="0"/>
          <a:stretch/>
        </p:blipFill>
        <p:spPr>
          <a:xfrm>
            <a:off x="10560011" y="5669930"/>
            <a:ext cx="2785770" cy="360000"/>
          </a:xfrm>
          <a:prstGeom prst="rect">
            <a:avLst/>
          </a:prstGeom>
          <a:noFill/>
          <a:ln>
            <a:noFill/>
          </a:ln>
        </p:spPr>
      </p:pic>
      <p:pic>
        <p:nvPicPr>
          <p:cNvPr id="2542" name="Google Shape;2542;p61"/>
          <p:cNvPicPr preferRelativeResize="0"/>
          <p:nvPr/>
        </p:nvPicPr>
        <p:blipFill rotWithShape="1">
          <a:blip r:embed="rId6">
            <a:alphaModFix/>
          </a:blip>
          <a:srcRect b="0" l="0" r="0" t="0"/>
          <a:stretch/>
        </p:blipFill>
        <p:spPr>
          <a:xfrm>
            <a:off x="17114071" y="9797616"/>
            <a:ext cx="4165371" cy="540000"/>
          </a:xfrm>
          <a:prstGeom prst="rect">
            <a:avLst/>
          </a:prstGeom>
          <a:noFill/>
          <a:ln>
            <a:noFill/>
          </a:ln>
        </p:spPr>
      </p:pic>
      <p:sp>
        <p:nvSpPr>
          <p:cNvPr id="2543" name="Google Shape;2543;p61"/>
          <p:cNvSpPr/>
          <p:nvPr/>
        </p:nvSpPr>
        <p:spPr>
          <a:xfrm>
            <a:off x="14747798" y="9786725"/>
            <a:ext cx="1311041" cy="561782"/>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2544" name="Google Shape;2544;p61"/>
          <p:cNvPicPr preferRelativeResize="0"/>
          <p:nvPr/>
        </p:nvPicPr>
        <p:blipFill rotWithShape="1">
          <a:blip r:embed="rId7">
            <a:alphaModFix/>
          </a:blip>
          <a:srcRect b="0" l="0" r="0" t="0"/>
          <a:stretch/>
        </p:blipFill>
        <p:spPr>
          <a:xfrm>
            <a:off x="17114070" y="5579930"/>
            <a:ext cx="5416658" cy="540000"/>
          </a:xfrm>
          <a:prstGeom prst="rect">
            <a:avLst/>
          </a:prstGeom>
          <a:noFill/>
          <a:ln>
            <a:noFill/>
          </a:ln>
        </p:spPr>
      </p:pic>
      <p:sp>
        <p:nvSpPr>
          <p:cNvPr id="2545" name="Google Shape;2545;p61"/>
          <p:cNvSpPr/>
          <p:nvPr/>
        </p:nvSpPr>
        <p:spPr>
          <a:xfrm>
            <a:off x="14747797" y="5569039"/>
            <a:ext cx="1311041" cy="561782"/>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546" name="Google Shape;2546;p61"/>
          <p:cNvSpPr txBox="1"/>
          <p:nvPr/>
        </p:nvSpPr>
        <p:spPr>
          <a:xfrm>
            <a:off x="14811965" y="6872743"/>
            <a:ext cx="983746"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600">
                <a:solidFill>
                  <a:srgbClr val="000000"/>
                </a:solidFill>
                <a:latin typeface="Calibri"/>
                <a:ea typeface="Calibri"/>
                <a:cs typeface="Calibri"/>
                <a:sym typeface="Calibri"/>
              </a:rPr>
              <a:t>OR</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1" name="Shape 2551"/>
        <p:cNvGrpSpPr/>
        <p:nvPr/>
      </p:nvGrpSpPr>
      <p:grpSpPr>
        <a:xfrm>
          <a:off x="0" y="0"/>
          <a:ext cx="0" cy="0"/>
          <a:chOff x="0" y="0"/>
          <a:chExt cx="0" cy="0"/>
        </a:xfrm>
      </p:grpSpPr>
      <p:sp>
        <p:nvSpPr>
          <p:cNvPr id="2552" name="Google Shape;2552;p62"/>
          <p:cNvSpPr txBox="1"/>
          <p:nvPr/>
        </p:nvSpPr>
        <p:spPr>
          <a:xfrm>
            <a:off x="5955030" y="5073938"/>
            <a:ext cx="12467590" cy="31700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0">
                <a:solidFill>
                  <a:schemeClr val="dk2"/>
                </a:solidFill>
                <a:latin typeface="Montserrat"/>
                <a:ea typeface="Montserrat"/>
                <a:cs typeface="Montserrat"/>
                <a:sym typeface="Montserrat"/>
              </a:rPr>
              <a:t>Conclusion and outlook</a:t>
            </a:r>
            <a:endParaRPr b="1" sz="10000">
              <a:solidFill>
                <a:schemeClr val="dk2"/>
              </a:solidFill>
              <a:latin typeface="Montserrat"/>
              <a:ea typeface="Montserrat"/>
              <a:cs typeface="Montserrat"/>
              <a:sym typeface="Montserrat"/>
            </a:endParaRPr>
          </a:p>
        </p:txBody>
      </p:sp>
      <p:sp>
        <p:nvSpPr>
          <p:cNvPr id="2553" name="Google Shape;2553;p62"/>
          <p:cNvSpPr txBox="1"/>
          <p:nvPr/>
        </p:nvSpPr>
        <p:spPr>
          <a:xfrm>
            <a:off x="6572250" y="9131313"/>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554" name="Google Shape;2554;p62"/>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55" name="Google Shape;2555;p62"/>
          <p:cNvSpPr/>
          <p:nvPr/>
        </p:nvSpPr>
        <p:spPr>
          <a:xfrm flipH="1">
            <a:off x="19337650" y="1047600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2556" name="Google Shape;2556;p62"/>
          <p:cNvSpPr/>
          <p:nvPr/>
        </p:nvSpPr>
        <p:spPr>
          <a:xfrm flipH="1" rot="10800000">
            <a:off x="0" y="0"/>
            <a:ext cx="5040000" cy="3240000"/>
          </a:xfrm>
          <a:prstGeom prst="rtTriangle">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Tahoma"/>
              <a:ea typeface="Tahoma"/>
              <a:cs typeface="Tahoma"/>
              <a:sym typeface="Tahoma"/>
            </a:endParaRPr>
          </a:p>
        </p:txBody>
      </p:sp>
      <p:sp>
        <p:nvSpPr>
          <p:cNvPr id="2557" name="Google Shape;2557;p62"/>
          <p:cNvSpPr/>
          <p:nvPr/>
        </p:nvSpPr>
        <p:spPr>
          <a:xfrm flipH="1" rot="10800000">
            <a:off x="7640888" y="8772423"/>
            <a:ext cx="9095874" cy="100814"/>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1" name="Shape 2561"/>
        <p:cNvGrpSpPr/>
        <p:nvPr/>
      </p:nvGrpSpPr>
      <p:grpSpPr>
        <a:xfrm>
          <a:off x="0" y="0"/>
          <a:ext cx="0" cy="0"/>
          <a:chOff x="0" y="0"/>
          <a:chExt cx="0" cy="0"/>
        </a:xfrm>
      </p:grpSpPr>
      <p:sp>
        <p:nvSpPr>
          <p:cNvPr id="2562" name="Google Shape;2562;p63"/>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Contribution</a:t>
            </a:r>
            <a:endParaRPr b="1" sz="5400">
              <a:solidFill>
                <a:schemeClr val="dk2"/>
              </a:solidFill>
              <a:latin typeface="Montserrat"/>
              <a:ea typeface="Montserrat"/>
              <a:cs typeface="Montserrat"/>
              <a:sym typeface="Montserrat"/>
            </a:endParaRPr>
          </a:p>
        </p:txBody>
      </p:sp>
      <p:sp>
        <p:nvSpPr>
          <p:cNvPr id="2563" name="Google Shape;2563;p63"/>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564" name="Google Shape;2564;p63"/>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65" name="Google Shape;2565;p63"/>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566" name="Google Shape;2566;p63"/>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567" name="Google Shape;2567;p63"/>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568" name="Google Shape;2568;p63"/>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569" name="Google Shape;2569;p63"/>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2570" name="Google Shape;2570;p63"/>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Conclusion and outlook</a:t>
            </a:r>
            <a:endParaRPr/>
          </a:p>
        </p:txBody>
      </p:sp>
      <p:sp>
        <p:nvSpPr>
          <p:cNvPr id="2571" name="Google Shape;2571;p63"/>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2572" name="Google Shape;2572;p63"/>
          <p:cNvSpPr txBox="1"/>
          <p:nvPr/>
        </p:nvSpPr>
        <p:spPr>
          <a:xfrm>
            <a:off x="5314022" y="3581342"/>
            <a:ext cx="13240678"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000000"/>
                </a:solidFill>
                <a:latin typeface="Calibri"/>
                <a:ea typeface="Calibri"/>
                <a:cs typeface="Calibri"/>
                <a:sym typeface="Calibri"/>
              </a:rPr>
              <a:t>In this study, we have successfully demonstrated:</a:t>
            </a:r>
            <a:endParaRPr/>
          </a:p>
          <a:p>
            <a:pPr indent="0" lvl="0" marL="0" marR="0" rtl="0" algn="l">
              <a:spcBef>
                <a:spcPts val="0"/>
              </a:spcBef>
              <a:spcAft>
                <a:spcPts val="0"/>
              </a:spcAft>
              <a:buNone/>
            </a:pPr>
            <a:r>
              <a:t/>
            </a:r>
            <a:endParaRPr sz="2600">
              <a:solidFill>
                <a:srgbClr val="000000"/>
              </a:solidFill>
              <a:latin typeface="Calibri"/>
              <a:ea typeface="Calibri"/>
              <a:cs typeface="Calibri"/>
              <a:sym typeface="Calibri"/>
            </a:endParaRPr>
          </a:p>
          <a:p>
            <a:pPr indent="-514350" lvl="0" marL="514350" marR="0" rtl="0" algn="l">
              <a:spcBef>
                <a:spcPts val="0"/>
              </a:spcBef>
              <a:spcAft>
                <a:spcPts val="0"/>
              </a:spcAft>
              <a:buClr>
                <a:srgbClr val="000000"/>
              </a:buClr>
              <a:buSzPts val="2600"/>
              <a:buFont typeface="Calibri"/>
              <a:buAutoNum type="arabicPeriod"/>
            </a:pPr>
            <a:r>
              <a:rPr lang="en-US" sz="2600">
                <a:solidFill>
                  <a:srgbClr val="000000"/>
                </a:solidFill>
                <a:latin typeface="Calibri"/>
                <a:ea typeface="Calibri"/>
                <a:cs typeface="Calibri"/>
                <a:sym typeface="Calibri"/>
              </a:rPr>
              <a:t>An novel design of highly fabrication tolerant and broadband PBS. The measured bandwidths for PER</a:t>
            </a:r>
            <a:r>
              <a:rPr baseline="-25000" lang="en-US" sz="2600">
                <a:solidFill>
                  <a:srgbClr val="000000"/>
                </a:solidFill>
                <a:latin typeface="Calibri"/>
                <a:ea typeface="Calibri"/>
                <a:cs typeface="Calibri"/>
                <a:sym typeface="Calibri"/>
              </a:rPr>
              <a:t>TE</a:t>
            </a:r>
            <a:r>
              <a:rPr lang="en-US" sz="2600">
                <a:solidFill>
                  <a:srgbClr val="000000"/>
                </a:solidFill>
                <a:latin typeface="Calibri"/>
                <a:ea typeface="Calibri"/>
                <a:cs typeface="Calibri"/>
                <a:sym typeface="Calibri"/>
              </a:rPr>
              <a:t> ≥ 15 dB and PER</a:t>
            </a:r>
            <a:r>
              <a:rPr baseline="-25000" lang="en-US" sz="2600">
                <a:solidFill>
                  <a:srgbClr val="000000"/>
                </a:solidFill>
                <a:latin typeface="Calibri"/>
                <a:ea typeface="Calibri"/>
                <a:cs typeface="Calibri"/>
                <a:sym typeface="Calibri"/>
              </a:rPr>
              <a:t>TM</a:t>
            </a:r>
            <a:r>
              <a:rPr lang="en-US" sz="2600">
                <a:solidFill>
                  <a:srgbClr val="000000"/>
                </a:solidFill>
                <a:latin typeface="Calibri"/>
                <a:ea typeface="Calibri"/>
                <a:cs typeface="Calibri"/>
                <a:sym typeface="Calibri"/>
              </a:rPr>
              <a:t> ≥ 15 dB are as large as 140 nm and 100 nm, respectively, even with the presence of near 1 μm width deviation.</a:t>
            </a:r>
            <a:endParaRPr/>
          </a:p>
          <a:p>
            <a:pPr indent="-349250" lvl="0" marL="514350" marR="0" rtl="0" algn="l">
              <a:spcBef>
                <a:spcPts val="0"/>
              </a:spcBef>
              <a:spcAft>
                <a:spcPts val="0"/>
              </a:spcAft>
              <a:buClr>
                <a:schemeClr val="dk1"/>
              </a:buClr>
              <a:buSzPts val="2600"/>
              <a:buFont typeface="Tahoma"/>
              <a:buNone/>
            </a:pPr>
            <a:r>
              <a:t/>
            </a:r>
            <a:endParaRPr sz="2600">
              <a:solidFill>
                <a:srgbClr val="000000"/>
              </a:solidFill>
              <a:latin typeface="Calibri"/>
              <a:ea typeface="Calibri"/>
              <a:cs typeface="Calibri"/>
              <a:sym typeface="Calibri"/>
            </a:endParaRPr>
          </a:p>
          <a:p>
            <a:pPr indent="-514350" lvl="0" marL="514350" marR="0" rtl="0" algn="l">
              <a:spcBef>
                <a:spcPts val="0"/>
              </a:spcBef>
              <a:spcAft>
                <a:spcPts val="0"/>
              </a:spcAft>
              <a:buClr>
                <a:srgbClr val="000000"/>
              </a:buClr>
              <a:buSzPts val="2600"/>
              <a:buFont typeface="Calibri"/>
              <a:buAutoNum type="arabicPeriod"/>
            </a:pPr>
            <a:r>
              <a:rPr lang="en-US" sz="2600">
                <a:solidFill>
                  <a:srgbClr val="000000"/>
                </a:solidFill>
                <a:latin typeface="Calibri"/>
                <a:ea typeface="Calibri"/>
                <a:cs typeface="Calibri"/>
                <a:sym typeface="Calibri"/>
              </a:rPr>
              <a:t>The first fully-integrated HSPS on Ti-diffused waveguides. The measured normalized pair generation rate is around 1.89*10</a:t>
            </a:r>
            <a:r>
              <a:rPr baseline="30000" lang="en-US" sz="2600">
                <a:solidFill>
                  <a:srgbClr val="000000"/>
                </a:solidFill>
                <a:latin typeface="Calibri"/>
                <a:ea typeface="Calibri"/>
                <a:cs typeface="Calibri"/>
                <a:sym typeface="Calibri"/>
              </a:rPr>
              <a:t>6 </a:t>
            </a:r>
            <a:r>
              <a:rPr lang="en-US" sz="2600">
                <a:solidFill>
                  <a:srgbClr val="000000"/>
                </a:solidFill>
                <a:latin typeface="Calibri"/>
                <a:ea typeface="Calibri"/>
                <a:cs typeface="Calibri"/>
                <a:sym typeface="Calibri"/>
              </a:rPr>
              <a:t>(1/s⋅mW⋅cm) and is mainly limited by the narrow linewidth of our pump laser.</a:t>
            </a:r>
            <a:endParaRPr/>
          </a:p>
        </p:txBody>
      </p:sp>
      <p:sp>
        <p:nvSpPr>
          <p:cNvPr id="2573" name="Google Shape;2573;p63"/>
          <p:cNvSpPr txBox="1"/>
          <p:nvPr/>
        </p:nvSpPr>
        <p:spPr>
          <a:xfrm>
            <a:off x="5314022" y="7631072"/>
            <a:ext cx="13240678"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000000"/>
                </a:solidFill>
                <a:latin typeface="Calibri"/>
                <a:ea typeface="Calibri"/>
                <a:cs typeface="Calibri"/>
                <a:sym typeface="Calibri"/>
              </a:rPr>
              <a:t>The remaining problems:</a:t>
            </a:r>
            <a:endParaRPr/>
          </a:p>
          <a:p>
            <a:pPr indent="0" lvl="0" marL="0" marR="0" rtl="0" algn="l">
              <a:spcBef>
                <a:spcPts val="0"/>
              </a:spcBef>
              <a:spcAft>
                <a:spcPts val="0"/>
              </a:spcAft>
              <a:buNone/>
            </a:pPr>
            <a:r>
              <a:t/>
            </a:r>
            <a:endParaRPr sz="2600">
              <a:solidFill>
                <a:srgbClr val="000000"/>
              </a:solidFill>
              <a:latin typeface="Calibri"/>
              <a:ea typeface="Calibri"/>
              <a:cs typeface="Calibri"/>
              <a:sym typeface="Calibri"/>
            </a:endParaRPr>
          </a:p>
          <a:p>
            <a:pPr indent="0" lvl="0" marL="0" marR="0" rtl="0" algn="l">
              <a:spcBef>
                <a:spcPts val="0"/>
              </a:spcBef>
              <a:spcAft>
                <a:spcPts val="0"/>
              </a:spcAft>
              <a:buNone/>
            </a:pPr>
            <a:r>
              <a:rPr b="1" lang="en-US" sz="2600">
                <a:solidFill>
                  <a:srgbClr val="000000"/>
                </a:solidFill>
                <a:latin typeface="Calibri"/>
                <a:ea typeface="Calibri"/>
                <a:cs typeface="Calibri"/>
                <a:sym typeface="Calibri"/>
              </a:rPr>
              <a:t>PBS</a:t>
            </a:r>
            <a:endParaRPr/>
          </a:p>
          <a:p>
            <a:pPr indent="-514350" lvl="0" marL="514350" marR="0" rtl="0" algn="l">
              <a:spcBef>
                <a:spcPts val="0"/>
              </a:spcBef>
              <a:spcAft>
                <a:spcPts val="0"/>
              </a:spcAft>
              <a:buClr>
                <a:srgbClr val="000000"/>
              </a:buClr>
              <a:buSzPts val="2600"/>
              <a:buFont typeface="Calibri"/>
              <a:buAutoNum type="arabicPeriod"/>
            </a:pPr>
            <a:r>
              <a:rPr lang="en-US" sz="2600">
                <a:solidFill>
                  <a:srgbClr val="000000"/>
                </a:solidFill>
                <a:latin typeface="Calibri"/>
                <a:ea typeface="Calibri"/>
                <a:cs typeface="Calibri"/>
                <a:sym typeface="Calibri"/>
              </a:rPr>
              <a:t>DC-like transmission of TE modes due to the shortened coupling length</a:t>
            </a:r>
            <a:endParaRPr/>
          </a:p>
          <a:p>
            <a:pPr indent="-514350" lvl="0" marL="514350" marR="0" rtl="0" algn="l">
              <a:spcBef>
                <a:spcPts val="0"/>
              </a:spcBef>
              <a:spcAft>
                <a:spcPts val="0"/>
              </a:spcAft>
              <a:buClr>
                <a:srgbClr val="000000"/>
              </a:buClr>
              <a:buSzPts val="2600"/>
              <a:buFont typeface="Calibri"/>
              <a:buAutoNum type="arabicPeriod"/>
            </a:pPr>
            <a:r>
              <a:rPr lang="en-US" sz="2600">
                <a:solidFill>
                  <a:srgbClr val="000000"/>
                </a:solidFill>
                <a:latin typeface="Calibri"/>
                <a:ea typeface="Calibri"/>
                <a:cs typeface="Calibri"/>
                <a:sym typeface="Calibri"/>
              </a:rPr>
              <a:t>Unwanted energy loss of TM modes due to the relatively smaller birefringence</a:t>
            </a:r>
            <a:endParaRPr/>
          </a:p>
          <a:p>
            <a:pPr indent="-514350" lvl="0" marL="514350" marR="0" rtl="0" algn="l">
              <a:spcBef>
                <a:spcPts val="0"/>
              </a:spcBef>
              <a:spcAft>
                <a:spcPts val="0"/>
              </a:spcAft>
              <a:buClr>
                <a:srgbClr val="000000"/>
              </a:buClr>
              <a:buSzPts val="2600"/>
              <a:buFont typeface="Calibri"/>
              <a:buAutoNum type="arabicPeriod"/>
            </a:pPr>
            <a:r>
              <a:rPr lang="en-US" sz="2600">
                <a:solidFill>
                  <a:srgbClr val="000000"/>
                </a:solidFill>
                <a:latin typeface="Calibri"/>
                <a:ea typeface="Calibri"/>
                <a:cs typeface="Calibri"/>
                <a:sym typeface="Calibri"/>
              </a:rPr>
              <a:t>The background noise that restricts the highest PER to 15 dB level</a:t>
            </a:r>
            <a:endParaRPr/>
          </a:p>
        </p:txBody>
      </p:sp>
      <p:sp>
        <p:nvSpPr>
          <p:cNvPr id="2574" name="Google Shape;2574;p63"/>
          <p:cNvSpPr txBox="1"/>
          <p:nvPr/>
        </p:nvSpPr>
        <p:spPr>
          <a:xfrm>
            <a:off x="5314022" y="10856500"/>
            <a:ext cx="13240678"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600">
                <a:solidFill>
                  <a:srgbClr val="000000"/>
                </a:solidFill>
                <a:latin typeface="Calibri"/>
                <a:ea typeface="Calibri"/>
                <a:cs typeface="Calibri"/>
                <a:sym typeface="Calibri"/>
              </a:rPr>
              <a:t>Single photon source</a:t>
            </a:r>
            <a:endParaRPr/>
          </a:p>
          <a:p>
            <a:pPr indent="-514350" lvl="0" marL="514350" marR="0" rtl="0" algn="l">
              <a:spcBef>
                <a:spcPts val="0"/>
              </a:spcBef>
              <a:spcAft>
                <a:spcPts val="0"/>
              </a:spcAft>
              <a:buClr>
                <a:srgbClr val="000000"/>
              </a:buClr>
              <a:buSzPts val="2600"/>
              <a:buFont typeface="Calibri"/>
              <a:buAutoNum type="arabicPeriod"/>
            </a:pPr>
            <a:r>
              <a:rPr lang="en-US" sz="2600">
                <a:solidFill>
                  <a:srgbClr val="000000"/>
                </a:solidFill>
                <a:latin typeface="Calibri"/>
                <a:ea typeface="Calibri"/>
                <a:cs typeface="Calibri"/>
                <a:sym typeface="Calibri"/>
              </a:rPr>
              <a:t>The presence of unfiltered pump photons at longer wavelength range (&gt; 850 nm)</a:t>
            </a:r>
            <a:endParaRPr/>
          </a:p>
          <a:p>
            <a:pPr indent="-514350" lvl="0" marL="514350" marR="0" rtl="0" algn="l">
              <a:spcBef>
                <a:spcPts val="0"/>
              </a:spcBef>
              <a:spcAft>
                <a:spcPts val="0"/>
              </a:spcAft>
              <a:buClr>
                <a:srgbClr val="000000"/>
              </a:buClr>
              <a:buSzPts val="2600"/>
              <a:buFont typeface="Calibri"/>
              <a:buAutoNum type="arabicPeriod"/>
            </a:pPr>
            <a:r>
              <a:rPr lang="en-US" sz="2600">
                <a:solidFill>
                  <a:srgbClr val="000000"/>
                </a:solidFill>
                <a:latin typeface="Calibri"/>
                <a:ea typeface="Calibri"/>
                <a:cs typeface="Calibri"/>
                <a:sym typeface="Calibri"/>
              </a:rPr>
              <a:t>Nondegenerate operation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8" name="Shape 2578"/>
        <p:cNvGrpSpPr/>
        <p:nvPr/>
      </p:nvGrpSpPr>
      <p:grpSpPr>
        <a:xfrm>
          <a:off x="0" y="0"/>
          <a:ext cx="0" cy="0"/>
          <a:chOff x="0" y="0"/>
          <a:chExt cx="0" cy="0"/>
        </a:xfrm>
      </p:grpSpPr>
      <p:sp>
        <p:nvSpPr>
          <p:cNvPr id="2579" name="Google Shape;2579;p64"/>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APE-Ti based adiabatic couplers</a:t>
            </a:r>
            <a:endParaRPr/>
          </a:p>
        </p:txBody>
      </p:sp>
      <p:sp>
        <p:nvSpPr>
          <p:cNvPr id="2580" name="Google Shape;2580;p64"/>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581" name="Google Shape;2581;p64"/>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82" name="Google Shape;2582;p64"/>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583" name="Google Shape;2583;p64"/>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584" name="Google Shape;2584;p64"/>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585" name="Google Shape;2585;p64"/>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586" name="Google Shape;2586;p64"/>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2587" name="Google Shape;2587;p64"/>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Conclusion and outlook</a:t>
            </a:r>
            <a:endParaRPr/>
          </a:p>
        </p:txBody>
      </p:sp>
      <p:sp>
        <p:nvSpPr>
          <p:cNvPr id="2588" name="Google Shape;2588;p64"/>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2589" name="Google Shape;2589;p64"/>
          <p:cNvSpPr/>
          <p:nvPr/>
        </p:nvSpPr>
        <p:spPr>
          <a:xfrm>
            <a:off x="1084813" y="4900381"/>
            <a:ext cx="4601926" cy="6610227"/>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590" name="Google Shape;2590;p64"/>
          <p:cNvSpPr/>
          <p:nvPr/>
        </p:nvSpPr>
        <p:spPr>
          <a:xfrm>
            <a:off x="3222454" y="8090513"/>
            <a:ext cx="324936" cy="3062892"/>
          </a:xfrm>
          <a:custGeom>
            <a:rect b="b" l="l" r="r" t="t"/>
            <a:pathLst>
              <a:path extrusionOk="0" h="2101850" w="317500">
                <a:moveTo>
                  <a:pt x="0" y="0"/>
                </a:moveTo>
                <a:lnTo>
                  <a:pt x="203200" y="0"/>
                </a:lnTo>
                <a:lnTo>
                  <a:pt x="317500" y="2101850"/>
                </a:lnTo>
                <a:lnTo>
                  <a:pt x="114300" y="2101850"/>
                </a:lnTo>
                <a:lnTo>
                  <a:pt x="0" y="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591" name="Google Shape;2591;p64"/>
          <p:cNvSpPr/>
          <p:nvPr/>
        </p:nvSpPr>
        <p:spPr>
          <a:xfrm>
            <a:off x="2787040" y="5388504"/>
            <a:ext cx="211207" cy="2683503"/>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592" name="Google Shape;2592;p64"/>
          <p:cNvSpPr/>
          <p:nvPr/>
        </p:nvSpPr>
        <p:spPr>
          <a:xfrm flipH="1" rot="10800000">
            <a:off x="2117038" y="5388504"/>
            <a:ext cx="211207" cy="2683503"/>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593" name="Google Shape;2593;p64"/>
          <p:cNvSpPr/>
          <p:nvPr/>
        </p:nvSpPr>
        <p:spPr>
          <a:xfrm>
            <a:off x="2377625" y="5383876"/>
            <a:ext cx="350929" cy="2683503"/>
          </a:xfrm>
          <a:custGeom>
            <a:rect b="b" l="l" r="r" t="t"/>
            <a:pathLst>
              <a:path extrusionOk="0" h="1851025" w="342900">
                <a:moveTo>
                  <a:pt x="136525" y="0"/>
                </a:moveTo>
                <a:lnTo>
                  <a:pt x="342900" y="0"/>
                </a:lnTo>
                <a:lnTo>
                  <a:pt x="203200" y="1851025"/>
                </a:lnTo>
                <a:lnTo>
                  <a:pt x="0" y="1851025"/>
                </a:lnTo>
                <a:lnTo>
                  <a:pt x="13652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594" name="Google Shape;2594;p64"/>
          <p:cNvSpPr/>
          <p:nvPr/>
        </p:nvSpPr>
        <p:spPr>
          <a:xfrm>
            <a:off x="2787042" y="8067381"/>
            <a:ext cx="211207" cy="3443232"/>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595" name="Google Shape;2595;p64"/>
          <p:cNvSpPr/>
          <p:nvPr/>
        </p:nvSpPr>
        <p:spPr>
          <a:xfrm>
            <a:off x="4641962" y="4900383"/>
            <a:ext cx="211207" cy="6610227"/>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596" name="Google Shape;2596;p64"/>
          <p:cNvSpPr/>
          <p:nvPr/>
        </p:nvSpPr>
        <p:spPr>
          <a:xfrm>
            <a:off x="2117037" y="4900383"/>
            <a:ext cx="211207" cy="488119"/>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597" name="Google Shape;2597;p64"/>
          <p:cNvSpPr/>
          <p:nvPr/>
        </p:nvSpPr>
        <p:spPr>
          <a:xfrm>
            <a:off x="2815582" y="4900384"/>
            <a:ext cx="149797" cy="488119"/>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598" name="Google Shape;2598;p64"/>
          <p:cNvSpPr/>
          <p:nvPr/>
        </p:nvSpPr>
        <p:spPr>
          <a:xfrm>
            <a:off x="3657637" y="8090513"/>
            <a:ext cx="324936" cy="3062892"/>
          </a:xfrm>
          <a:custGeom>
            <a:rect b="b" l="l" r="r" t="t"/>
            <a:pathLst>
              <a:path extrusionOk="0" h="2101850" w="317500">
                <a:moveTo>
                  <a:pt x="0" y="0"/>
                </a:moveTo>
                <a:lnTo>
                  <a:pt x="203200" y="0"/>
                </a:lnTo>
                <a:lnTo>
                  <a:pt x="317500" y="2101850"/>
                </a:lnTo>
                <a:lnTo>
                  <a:pt x="114300" y="2101850"/>
                </a:lnTo>
                <a:lnTo>
                  <a:pt x="0" y="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599" name="Google Shape;2599;p64"/>
          <p:cNvSpPr/>
          <p:nvPr/>
        </p:nvSpPr>
        <p:spPr>
          <a:xfrm>
            <a:off x="4092821" y="8090513"/>
            <a:ext cx="324936" cy="3062892"/>
          </a:xfrm>
          <a:custGeom>
            <a:rect b="b" l="l" r="r" t="t"/>
            <a:pathLst>
              <a:path extrusionOk="0" h="2101850" w="317500">
                <a:moveTo>
                  <a:pt x="0" y="0"/>
                </a:moveTo>
                <a:lnTo>
                  <a:pt x="203200" y="0"/>
                </a:lnTo>
                <a:lnTo>
                  <a:pt x="317500" y="2101850"/>
                </a:lnTo>
                <a:lnTo>
                  <a:pt x="114300" y="2101850"/>
                </a:lnTo>
                <a:lnTo>
                  <a:pt x="0" y="0"/>
                </a:lnTo>
                <a:close/>
              </a:path>
            </a:pathLst>
          </a:cu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2600" name="Google Shape;2600;p64"/>
          <p:cNvPicPr preferRelativeResize="0"/>
          <p:nvPr/>
        </p:nvPicPr>
        <p:blipFill rotWithShape="1">
          <a:blip r:embed="rId3">
            <a:alphaModFix/>
          </a:blip>
          <a:srcRect b="0" l="0" r="0" t="0"/>
          <a:stretch/>
        </p:blipFill>
        <p:spPr>
          <a:xfrm>
            <a:off x="2853968" y="11676214"/>
            <a:ext cx="73024" cy="143437"/>
          </a:xfrm>
          <a:prstGeom prst="rect">
            <a:avLst/>
          </a:prstGeom>
          <a:noFill/>
          <a:ln>
            <a:noFill/>
          </a:ln>
        </p:spPr>
      </p:pic>
      <p:pic>
        <p:nvPicPr>
          <p:cNvPr id="2601" name="Google Shape;2601;p64"/>
          <p:cNvPicPr preferRelativeResize="0"/>
          <p:nvPr/>
        </p:nvPicPr>
        <p:blipFill rotWithShape="1">
          <a:blip r:embed="rId4">
            <a:alphaModFix/>
          </a:blip>
          <a:srcRect b="0" l="0" r="0" t="0"/>
          <a:stretch/>
        </p:blipFill>
        <p:spPr>
          <a:xfrm>
            <a:off x="3404964" y="11676214"/>
            <a:ext cx="87368" cy="143437"/>
          </a:xfrm>
          <a:prstGeom prst="rect">
            <a:avLst/>
          </a:prstGeom>
          <a:noFill/>
          <a:ln>
            <a:noFill/>
          </a:ln>
        </p:spPr>
      </p:pic>
      <p:pic>
        <p:nvPicPr>
          <p:cNvPr id="2602" name="Google Shape;2602;p64"/>
          <p:cNvPicPr preferRelativeResize="0"/>
          <p:nvPr/>
        </p:nvPicPr>
        <p:blipFill rotWithShape="1">
          <a:blip r:embed="rId5">
            <a:alphaModFix/>
          </a:blip>
          <a:srcRect b="0" l="0" r="0" t="0"/>
          <a:stretch/>
        </p:blipFill>
        <p:spPr>
          <a:xfrm>
            <a:off x="3836632" y="11671000"/>
            <a:ext cx="91281" cy="148654"/>
          </a:xfrm>
          <a:prstGeom prst="rect">
            <a:avLst/>
          </a:prstGeom>
          <a:noFill/>
          <a:ln>
            <a:noFill/>
          </a:ln>
        </p:spPr>
      </p:pic>
      <p:pic>
        <p:nvPicPr>
          <p:cNvPr id="2603" name="Google Shape;2603;p64"/>
          <p:cNvPicPr preferRelativeResize="0"/>
          <p:nvPr/>
        </p:nvPicPr>
        <p:blipFill rotWithShape="1">
          <a:blip r:embed="rId6">
            <a:alphaModFix/>
          </a:blip>
          <a:srcRect b="0" l="0" r="0" t="0"/>
          <a:stretch/>
        </p:blipFill>
        <p:spPr>
          <a:xfrm>
            <a:off x="4255289" y="11676214"/>
            <a:ext cx="97799" cy="146046"/>
          </a:xfrm>
          <a:prstGeom prst="rect">
            <a:avLst/>
          </a:prstGeom>
          <a:noFill/>
          <a:ln>
            <a:noFill/>
          </a:ln>
        </p:spPr>
      </p:pic>
      <p:pic>
        <p:nvPicPr>
          <p:cNvPr id="2604" name="Google Shape;2604;p64"/>
          <p:cNvPicPr preferRelativeResize="0"/>
          <p:nvPr/>
        </p:nvPicPr>
        <p:blipFill rotWithShape="1">
          <a:blip r:embed="rId7">
            <a:alphaModFix/>
          </a:blip>
          <a:srcRect b="0" l="0" r="0" t="0"/>
          <a:stretch/>
        </p:blipFill>
        <p:spPr>
          <a:xfrm>
            <a:off x="4703880" y="11676216"/>
            <a:ext cx="87368" cy="149957"/>
          </a:xfrm>
          <a:prstGeom prst="rect">
            <a:avLst/>
          </a:prstGeom>
          <a:noFill/>
          <a:ln>
            <a:noFill/>
          </a:ln>
        </p:spPr>
      </p:pic>
      <p:sp>
        <p:nvSpPr>
          <p:cNvPr id="2605" name="Google Shape;2605;p64"/>
          <p:cNvSpPr/>
          <p:nvPr/>
        </p:nvSpPr>
        <p:spPr>
          <a:xfrm rot="-5400000">
            <a:off x="2536806" y="12298488"/>
            <a:ext cx="735806" cy="300027"/>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2606" name="Google Shape;2606;p64"/>
          <p:cNvPicPr preferRelativeResize="0"/>
          <p:nvPr/>
        </p:nvPicPr>
        <p:blipFill rotWithShape="1">
          <a:blip r:embed="rId8">
            <a:alphaModFix/>
          </a:blip>
          <a:srcRect b="0" l="0" r="0" t="0"/>
          <a:stretch/>
        </p:blipFill>
        <p:spPr>
          <a:xfrm>
            <a:off x="3246813" y="12401730"/>
            <a:ext cx="2485221" cy="247329"/>
          </a:xfrm>
          <a:prstGeom prst="rect">
            <a:avLst/>
          </a:prstGeom>
          <a:noFill/>
          <a:ln>
            <a:noFill/>
          </a:ln>
        </p:spPr>
      </p:pic>
      <p:sp>
        <p:nvSpPr>
          <p:cNvPr id="2607" name="Google Shape;2607;p64"/>
          <p:cNvSpPr/>
          <p:nvPr/>
        </p:nvSpPr>
        <p:spPr>
          <a:xfrm rot="-5400000">
            <a:off x="4387851" y="4125040"/>
            <a:ext cx="735806" cy="300027"/>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2608" name="Google Shape;2608;p64"/>
          <p:cNvPicPr preferRelativeResize="0"/>
          <p:nvPr/>
        </p:nvPicPr>
        <p:blipFill rotWithShape="1">
          <a:blip r:embed="rId9">
            <a:alphaModFix/>
          </a:blip>
          <a:srcRect b="0" l="0" r="0" t="0"/>
          <a:stretch/>
        </p:blipFill>
        <p:spPr>
          <a:xfrm>
            <a:off x="4291571" y="3585633"/>
            <a:ext cx="955337" cy="173279"/>
          </a:xfrm>
          <a:prstGeom prst="rect">
            <a:avLst/>
          </a:prstGeom>
          <a:noFill/>
          <a:ln>
            <a:noFill/>
          </a:ln>
        </p:spPr>
      </p:pic>
      <p:grpSp>
        <p:nvGrpSpPr>
          <p:cNvPr id="2609" name="Google Shape;2609;p64"/>
          <p:cNvGrpSpPr/>
          <p:nvPr/>
        </p:nvGrpSpPr>
        <p:grpSpPr>
          <a:xfrm>
            <a:off x="7816412" y="4893863"/>
            <a:ext cx="4601922" cy="6925789"/>
            <a:chOff x="7311928" y="851319"/>
            <a:chExt cx="3054503" cy="4596958"/>
          </a:xfrm>
        </p:grpSpPr>
        <p:sp>
          <p:nvSpPr>
            <p:cNvPr id="2610" name="Google Shape;2610;p64"/>
            <p:cNvSpPr/>
            <p:nvPr/>
          </p:nvSpPr>
          <p:spPr>
            <a:xfrm>
              <a:off x="7311928" y="851319"/>
              <a:ext cx="3054503" cy="4387503"/>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611" name="Google Shape;2611;p64"/>
            <p:cNvSpPr/>
            <p:nvPr/>
          </p:nvSpPr>
          <p:spPr>
            <a:xfrm>
              <a:off x="8730775" y="2968752"/>
              <a:ext cx="215674" cy="2032979"/>
            </a:xfrm>
            <a:custGeom>
              <a:rect b="b" l="l" r="r" t="t"/>
              <a:pathLst>
                <a:path extrusionOk="0" h="2101850" w="317500">
                  <a:moveTo>
                    <a:pt x="0" y="0"/>
                  </a:moveTo>
                  <a:lnTo>
                    <a:pt x="203200" y="0"/>
                  </a:lnTo>
                  <a:lnTo>
                    <a:pt x="317500" y="2101850"/>
                  </a:lnTo>
                  <a:lnTo>
                    <a:pt x="114300" y="2101850"/>
                  </a:lnTo>
                  <a:lnTo>
                    <a:pt x="0" y="0"/>
                  </a:lnTo>
                  <a:close/>
                </a:path>
              </a:pathLst>
            </a:custGeom>
            <a:no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612" name="Google Shape;2612;p64"/>
            <p:cNvSpPr/>
            <p:nvPr/>
          </p:nvSpPr>
          <p:spPr>
            <a:xfrm>
              <a:off x="8441772" y="1175308"/>
              <a:ext cx="140188" cy="1781161"/>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613" name="Google Shape;2613;p64"/>
            <p:cNvSpPr/>
            <p:nvPr/>
          </p:nvSpPr>
          <p:spPr>
            <a:xfrm flipH="1" rot="10800000">
              <a:off x="7997062" y="1175308"/>
              <a:ext cx="140188" cy="1781161"/>
            </a:xfrm>
            <a:custGeom>
              <a:rect b="b" l="l" r="r" t="t"/>
              <a:pathLst>
                <a:path extrusionOk="0" h="1841500" w="206375">
                  <a:moveTo>
                    <a:pt x="28575" y="0"/>
                  </a:moveTo>
                  <a:lnTo>
                    <a:pt x="174625" y="0"/>
                  </a:lnTo>
                  <a:lnTo>
                    <a:pt x="206375" y="1841500"/>
                  </a:lnTo>
                  <a:lnTo>
                    <a:pt x="0" y="1841500"/>
                  </a:lnTo>
                  <a:lnTo>
                    <a:pt x="2857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614" name="Google Shape;2614;p64"/>
            <p:cNvSpPr/>
            <p:nvPr/>
          </p:nvSpPr>
          <p:spPr>
            <a:xfrm>
              <a:off x="8170025" y="1172236"/>
              <a:ext cx="232927" cy="1781161"/>
            </a:xfrm>
            <a:custGeom>
              <a:rect b="b" l="l" r="r" t="t"/>
              <a:pathLst>
                <a:path extrusionOk="0" h="1851025" w="342900">
                  <a:moveTo>
                    <a:pt x="136525" y="0"/>
                  </a:moveTo>
                  <a:lnTo>
                    <a:pt x="342900" y="0"/>
                  </a:lnTo>
                  <a:lnTo>
                    <a:pt x="203200" y="1851025"/>
                  </a:lnTo>
                  <a:lnTo>
                    <a:pt x="0" y="1851025"/>
                  </a:lnTo>
                  <a:lnTo>
                    <a:pt x="136525" y="0"/>
                  </a:lnTo>
                  <a:close/>
                </a:path>
              </a:pathLst>
            </a:cu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615" name="Google Shape;2615;p64"/>
            <p:cNvSpPr/>
            <p:nvPr/>
          </p:nvSpPr>
          <p:spPr>
            <a:xfrm>
              <a:off x="8441773" y="2953398"/>
              <a:ext cx="140188" cy="2285427"/>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616" name="Google Shape;2616;p64"/>
            <p:cNvSpPr/>
            <p:nvPr/>
          </p:nvSpPr>
          <p:spPr>
            <a:xfrm>
              <a:off x="9672966" y="851320"/>
              <a:ext cx="140188" cy="4387503"/>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617" name="Google Shape;2617;p64"/>
            <p:cNvSpPr/>
            <p:nvPr/>
          </p:nvSpPr>
          <p:spPr>
            <a:xfrm>
              <a:off x="7997061" y="851320"/>
              <a:ext cx="140188" cy="323987"/>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618" name="Google Shape;2618;p64"/>
            <p:cNvSpPr/>
            <p:nvPr/>
          </p:nvSpPr>
          <p:spPr>
            <a:xfrm>
              <a:off x="8460716" y="851321"/>
              <a:ext cx="99427" cy="323987"/>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619" name="Google Shape;2619;p64"/>
            <p:cNvSpPr/>
            <p:nvPr/>
          </p:nvSpPr>
          <p:spPr>
            <a:xfrm>
              <a:off x="9019626" y="2968752"/>
              <a:ext cx="215674" cy="2032979"/>
            </a:xfrm>
            <a:custGeom>
              <a:rect b="b" l="l" r="r" t="t"/>
              <a:pathLst>
                <a:path extrusionOk="0" h="2101850" w="317500">
                  <a:moveTo>
                    <a:pt x="0" y="0"/>
                  </a:moveTo>
                  <a:lnTo>
                    <a:pt x="203200" y="0"/>
                  </a:lnTo>
                  <a:lnTo>
                    <a:pt x="317500" y="2101850"/>
                  </a:lnTo>
                  <a:lnTo>
                    <a:pt x="114300" y="2101850"/>
                  </a:lnTo>
                  <a:lnTo>
                    <a:pt x="0" y="0"/>
                  </a:lnTo>
                  <a:close/>
                </a:path>
              </a:pathLst>
            </a:custGeom>
            <a:no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620" name="Google Shape;2620;p64"/>
            <p:cNvSpPr/>
            <p:nvPr/>
          </p:nvSpPr>
          <p:spPr>
            <a:xfrm>
              <a:off x="9308477" y="2968752"/>
              <a:ext cx="215674" cy="2032979"/>
            </a:xfrm>
            <a:custGeom>
              <a:rect b="b" l="l" r="r" t="t"/>
              <a:pathLst>
                <a:path extrusionOk="0" h="2101850" w="317500">
                  <a:moveTo>
                    <a:pt x="0" y="0"/>
                  </a:moveTo>
                  <a:lnTo>
                    <a:pt x="203200" y="0"/>
                  </a:lnTo>
                  <a:lnTo>
                    <a:pt x="317500" y="2101850"/>
                  </a:lnTo>
                  <a:lnTo>
                    <a:pt x="114300" y="2101850"/>
                  </a:lnTo>
                  <a:lnTo>
                    <a:pt x="0" y="0"/>
                  </a:lnTo>
                  <a:close/>
                </a:path>
              </a:pathLst>
            </a:custGeom>
            <a:no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2621" name="Google Shape;2621;p64"/>
            <p:cNvPicPr preferRelativeResize="0"/>
            <p:nvPr/>
          </p:nvPicPr>
          <p:blipFill rotWithShape="1">
            <a:blip r:embed="rId3">
              <a:alphaModFix/>
            </a:blip>
            <a:srcRect b="0" l="0" r="0" t="0"/>
            <a:stretch/>
          </p:blipFill>
          <p:spPr>
            <a:xfrm>
              <a:off x="8486195" y="5348743"/>
              <a:ext cx="48469" cy="95206"/>
            </a:xfrm>
            <a:prstGeom prst="rect">
              <a:avLst/>
            </a:prstGeom>
            <a:noFill/>
            <a:ln>
              <a:noFill/>
            </a:ln>
          </p:spPr>
        </p:pic>
        <p:pic>
          <p:nvPicPr>
            <p:cNvPr id="2622" name="Google Shape;2622;p64"/>
            <p:cNvPicPr preferRelativeResize="0"/>
            <p:nvPr/>
          </p:nvPicPr>
          <p:blipFill rotWithShape="1">
            <a:blip r:embed="rId4">
              <a:alphaModFix/>
            </a:blip>
            <a:srcRect b="0" l="0" r="0" t="0"/>
            <a:stretch/>
          </p:blipFill>
          <p:spPr>
            <a:xfrm>
              <a:off x="8851915" y="5348743"/>
              <a:ext cx="57990" cy="95206"/>
            </a:xfrm>
            <a:prstGeom prst="rect">
              <a:avLst/>
            </a:prstGeom>
            <a:noFill/>
            <a:ln>
              <a:noFill/>
            </a:ln>
          </p:spPr>
        </p:pic>
        <p:pic>
          <p:nvPicPr>
            <p:cNvPr id="2623" name="Google Shape;2623;p64"/>
            <p:cNvPicPr preferRelativeResize="0"/>
            <p:nvPr/>
          </p:nvPicPr>
          <p:blipFill rotWithShape="1">
            <a:blip r:embed="rId5">
              <a:alphaModFix/>
            </a:blip>
            <a:srcRect b="0" l="0" r="0" t="0"/>
            <a:stretch/>
          </p:blipFill>
          <p:spPr>
            <a:xfrm>
              <a:off x="9138433" y="5345281"/>
              <a:ext cx="60587" cy="98668"/>
            </a:xfrm>
            <a:prstGeom prst="rect">
              <a:avLst/>
            </a:prstGeom>
            <a:noFill/>
            <a:ln>
              <a:noFill/>
            </a:ln>
          </p:spPr>
        </p:pic>
        <p:pic>
          <p:nvPicPr>
            <p:cNvPr id="2624" name="Google Shape;2624;p64"/>
            <p:cNvPicPr preferRelativeResize="0"/>
            <p:nvPr/>
          </p:nvPicPr>
          <p:blipFill rotWithShape="1">
            <a:blip r:embed="rId6">
              <a:alphaModFix/>
            </a:blip>
            <a:srcRect b="0" l="0" r="0" t="0"/>
            <a:stretch/>
          </p:blipFill>
          <p:spPr>
            <a:xfrm>
              <a:off x="9416314" y="5348743"/>
              <a:ext cx="64914" cy="96937"/>
            </a:xfrm>
            <a:prstGeom prst="rect">
              <a:avLst/>
            </a:prstGeom>
            <a:noFill/>
            <a:ln>
              <a:noFill/>
            </a:ln>
          </p:spPr>
        </p:pic>
        <p:pic>
          <p:nvPicPr>
            <p:cNvPr id="2625" name="Google Shape;2625;p64"/>
            <p:cNvPicPr preferRelativeResize="0"/>
            <p:nvPr/>
          </p:nvPicPr>
          <p:blipFill rotWithShape="1">
            <a:blip r:embed="rId7">
              <a:alphaModFix/>
            </a:blip>
            <a:srcRect b="0" l="0" r="0" t="0"/>
            <a:stretch/>
          </p:blipFill>
          <p:spPr>
            <a:xfrm>
              <a:off x="9714064" y="5348744"/>
              <a:ext cx="57990" cy="99533"/>
            </a:xfrm>
            <a:prstGeom prst="rect">
              <a:avLst/>
            </a:prstGeom>
            <a:noFill/>
            <a:ln>
              <a:noFill/>
            </a:ln>
          </p:spPr>
        </p:pic>
      </p:grpSp>
      <p:sp>
        <p:nvSpPr>
          <p:cNvPr id="2626" name="Google Shape;2626;p64"/>
          <p:cNvSpPr/>
          <p:nvPr/>
        </p:nvSpPr>
        <p:spPr>
          <a:xfrm rot="-5400000">
            <a:off x="9271061" y="12293671"/>
            <a:ext cx="735806" cy="300027"/>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2627" name="Google Shape;2627;p64"/>
          <p:cNvPicPr preferRelativeResize="0"/>
          <p:nvPr/>
        </p:nvPicPr>
        <p:blipFill rotWithShape="1">
          <a:blip r:embed="rId10">
            <a:alphaModFix/>
          </a:blip>
          <a:srcRect b="0" l="0" r="0" t="0"/>
          <a:stretch/>
        </p:blipFill>
        <p:spPr>
          <a:xfrm>
            <a:off x="9981068" y="12396915"/>
            <a:ext cx="2574028" cy="247329"/>
          </a:xfrm>
          <a:prstGeom prst="rect">
            <a:avLst/>
          </a:prstGeom>
          <a:noFill/>
          <a:ln>
            <a:noFill/>
          </a:ln>
        </p:spPr>
      </p:pic>
      <p:sp>
        <p:nvSpPr>
          <p:cNvPr id="2628" name="Google Shape;2628;p64"/>
          <p:cNvSpPr/>
          <p:nvPr/>
        </p:nvSpPr>
        <p:spPr>
          <a:xfrm rot="-5400000">
            <a:off x="8583758" y="4125040"/>
            <a:ext cx="735806" cy="300027"/>
          </a:xfrm>
          <a:prstGeom prst="rightArrow">
            <a:avLst>
              <a:gd fmla="val 50000" name="adj1"/>
              <a:gd fmla="val 50000" name="adj2"/>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2629" name="Google Shape;2629;p64"/>
          <p:cNvPicPr preferRelativeResize="0"/>
          <p:nvPr/>
        </p:nvPicPr>
        <p:blipFill rotWithShape="1">
          <a:blip r:embed="rId11">
            <a:alphaModFix/>
          </a:blip>
          <a:srcRect b="0" l="0" r="0" t="0"/>
          <a:stretch/>
        </p:blipFill>
        <p:spPr>
          <a:xfrm>
            <a:off x="8487480" y="3585635"/>
            <a:ext cx="901515" cy="173279"/>
          </a:xfrm>
          <a:prstGeom prst="rect">
            <a:avLst/>
          </a:prstGeom>
          <a:noFill/>
          <a:ln>
            <a:noFill/>
          </a:ln>
        </p:spPr>
      </p:pic>
      <p:sp>
        <p:nvSpPr>
          <p:cNvPr id="2630" name="Google Shape;2630;p64"/>
          <p:cNvSpPr/>
          <p:nvPr/>
        </p:nvSpPr>
        <p:spPr>
          <a:xfrm>
            <a:off x="13836994" y="10502064"/>
            <a:ext cx="520938" cy="198320"/>
          </a:xfrm>
          <a:prstGeom prst="rect">
            <a:avLst/>
          </a:prstGeom>
          <a:solidFill>
            <a:srgbClr val="86F387"/>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sp>
        <p:nvSpPr>
          <p:cNvPr id="2631" name="Google Shape;2631;p64"/>
          <p:cNvSpPr/>
          <p:nvPr/>
        </p:nvSpPr>
        <p:spPr>
          <a:xfrm>
            <a:off x="15631035" y="10502064"/>
            <a:ext cx="520938" cy="198320"/>
          </a:xfrm>
          <a:prstGeom prst="rect">
            <a:avLst/>
          </a:prstGeom>
          <a:solidFill>
            <a:srgbClr val="6600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2632" name="Google Shape;2632;p64"/>
          <p:cNvPicPr preferRelativeResize="0"/>
          <p:nvPr/>
        </p:nvPicPr>
        <p:blipFill rotWithShape="1">
          <a:blip r:embed="rId12">
            <a:alphaModFix/>
          </a:blip>
          <a:srcRect b="0" l="0" r="0" t="0"/>
          <a:stretch/>
        </p:blipFill>
        <p:spPr>
          <a:xfrm>
            <a:off x="14617530" y="10502064"/>
            <a:ext cx="342358" cy="195326"/>
          </a:xfrm>
          <a:prstGeom prst="rect">
            <a:avLst/>
          </a:prstGeom>
          <a:noFill/>
          <a:ln>
            <a:noFill/>
          </a:ln>
        </p:spPr>
      </p:pic>
      <p:pic>
        <p:nvPicPr>
          <p:cNvPr id="2633" name="Google Shape;2633;p64"/>
          <p:cNvPicPr preferRelativeResize="0"/>
          <p:nvPr/>
        </p:nvPicPr>
        <p:blipFill rotWithShape="1">
          <a:blip r:embed="rId13">
            <a:alphaModFix/>
          </a:blip>
          <a:srcRect b="0" l="0" r="0" t="0"/>
          <a:stretch/>
        </p:blipFill>
        <p:spPr>
          <a:xfrm>
            <a:off x="16411573" y="10502626"/>
            <a:ext cx="2556695" cy="261011"/>
          </a:xfrm>
          <a:prstGeom prst="rect">
            <a:avLst/>
          </a:prstGeom>
          <a:noFill/>
          <a:ln>
            <a:noFill/>
          </a:ln>
        </p:spPr>
      </p:pic>
      <p:sp>
        <p:nvSpPr>
          <p:cNvPr id="2634" name="Google Shape;2634;p64"/>
          <p:cNvSpPr/>
          <p:nvPr/>
        </p:nvSpPr>
        <p:spPr>
          <a:xfrm>
            <a:off x="19669511" y="10501502"/>
            <a:ext cx="520938" cy="198320"/>
          </a:xfrm>
          <a:prstGeom prst="rect">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pic>
        <p:nvPicPr>
          <p:cNvPr id="2635" name="Google Shape;2635;p64"/>
          <p:cNvPicPr preferRelativeResize="0"/>
          <p:nvPr/>
        </p:nvPicPr>
        <p:blipFill rotWithShape="1">
          <a:blip r:embed="rId14">
            <a:alphaModFix/>
          </a:blip>
          <a:srcRect b="0" l="0" r="0" t="0"/>
          <a:stretch/>
        </p:blipFill>
        <p:spPr>
          <a:xfrm>
            <a:off x="20450050" y="10499168"/>
            <a:ext cx="1882971" cy="264469"/>
          </a:xfrm>
          <a:prstGeom prst="rect">
            <a:avLst/>
          </a:prstGeom>
          <a:noFill/>
          <a:ln>
            <a:noFill/>
          </a:ln>
        </p:spPr>
      </p:pic>
      <p:pic>
        <p:nvPicPr>
          <p:cNvPr id="2636" name="Google Shape;2636;p64"/>
          <p:cNvPicPr preferRelativeResize="0"/>
          <p:nvPr/>
        </p:nvPicPr>
        <p:blipFill rotWithShape="1">
          <a:blip r:embed="rId15">
            <a:alphaModFix/>
          </a:blip>
          <a:srcRect b="0" l="0" r="0" t="0"/>
          <a:stretch/>
        </p:blipFill>
        <p:spPr>
          <a:xfrm>
            <a:off x="2178438" y="8224618"/>
            <a:ext cx="93886" cy="152566"/>
          </a:xfrm>
          <a:prstGeom prst="rect">
            <a:avLst/>
          </a:prstGeom>
          <a:noFill/>
          <a:ln>
            <a:noFill/>
          </a:ln>
        </p:spPr>
      </p:pic>
      <p:pic>
        <p:nvPicPr>
          <p:cNvPr id="2637" name="Google Shape;2637;p64"/>
          <p:cNvPicPr preferRelativeResize="0"/>
          <p:nvPr/>
        </p:nvPicPr>
        <p:blipFill rotWithShape="1">
          <a:blip r:embed="rId16">
            <a:alphaModFix/>
          </a:blip>
          <a:srcRect b="0" l="0" r="0" t="0"/>
          <a:stretch/>
        </p:blipFill>
        <p:spPr>
          <a:xfrm>
            <a:off x="2431370" y="8224618"/>
            <a:ext cx="91281" cy="148654"/>
          </a:xfrm>
          <a:prstGeom prst="rect">
            <a:avLst/>
          </a:prstGeom>
          <a:noFill/>
          <a:ln>
            <a:noFill/>
          </a:ln>
        </p:spPr>
      </p:pic>
      <p:pic>
        <p:nvPicPr>
          <p:cNvPr id="2638" name="Google Shape;2638;p64"/>
          <p:cNvPicPr preferRelativeResize="0"/>
          <p:nvPr/>
        </p:nvPicPr>
        <p:blipFill rotWithShape="1">
          <a:blip r:embed="rId17">
            <a:alphaModFix/>
          </a:blip>
          <a:srcRect b="0" l="0" r="0" t="0"/>
          <a:stretch/>
        </p:blipFill>
        <p:spPr>
          <a:xfrm>
            <a:off x="8910417" y="8224618"/>
            <a:ext cx="93886" cy="152566"/>
          </a:xfrm>
          <a:prstGeom prst="rect">
            <a:avLst/>
          </a:prstGeom>
          <a:noFill/>
          <a:ln>
            <a:noFill/>
          </a:ln>
        </p:spPr>
      </p:pic>
      <p:pic>
        <p:nvPicPr>
          <p:cNvPr id="2639" name="Google Shape;2639;p64"/>
          <p:cNvPicPr preferRelativeResize="0"/>
          <p:nvPr/>
        </p:nvPicPr>
        <p:blipFill rotWithShape="1">
          <a:blip r:embed="rId18">
            <a:alphaModFix/>
          </a:blip>
          <a:srcRect b="0" l="0" r="0" t="0"/>
          <a:stretch/>
        </p:blipFill>
        <p:spPr>
          <a:xfrm>
            <a:off x="9163349" y="8224618"/>
            <a:ext cx="91281" cy="148654"/>
          </a:xfrm>
          <a:prstGeom prst="rect">
            <a:avLst/>
          </a:prstGeom>
          <a:noFill/>
          <a:ln>
            <a:noFill/>
          </a:ln>
        </p:spPr>
      </p:pic>
      <p:sp>
        <p:nvSpPr>
          <p:cNvPr id="2640" name="Google Shape;2640;p64"/>
          <p:cNvSpPr txBox="1"/>
          <p:nvPr/>
        </p:nvSpPr>
        <p:spPr>
          <a:xfrm>
            <a:off x="13710060" y="5806668"/>
            <a:ext cx="10039399" cy="16927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By utilizing the natural polarization isolation provided by APE waveguides, the adiabatic passage can be achieved without sacrificing the energy of both polarizations, which greatly improves the performance while preserving the ultra-broadband operation.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4" name="Shape 2644"/>
        <p:cNvGrpSpPr/>
        <p:nvPr/>
      </p:nvGrpSpPr>
      <p:grpSpPr>
        <a:xfrm>
          <a:off x="0" y="0"/>
          <a:ext cx="0" cy="0"/>
          <a:chOff x="0" y="0"/>
          <a:chExt cx="0" cy="0"/>
        </a:xfrm>
      </p:grpSpPr>
      <p:sp>
        <p:nvSpPr>
          <p:cNvPr id="2645" name="Google Shape;2645;p65"/>
          <p:cNvSpPr txBox="1"/>
          <p:nvPr/>
        </p:nvSpPr>
        <p:spPr>
          <a:xfrm>
            <a:off x="4313916" y="1483499"/>
            <a:ext cx="1588356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chemeClr val="dk2"/>
                </a:solidFill>
                <a:latin typeface="Montserrat"/>
                <a:ea typeface="Montserrat"/>
                <a:cs typeface="Montserrat"/>
                <a:sym typeface="Montserrat"/>
              </a:rPr>
              <a:t>BPM results</a:t>
            </a:r>
            <a:endParaRPr/>
          </a:p>
        </p:txBody>
      </p:sp>
      <p:sp>
        <p:nvSpPr>
          <p:cNvPr id="2646" name="Google Shape;2646;p65"/>
          <p:cNvSpPr txBox="1"/>
          <p:nvPr/>
        </p:nvSpPr>
        <p:spPr>
          <a:xfrm>
            <a:off x="6639847" y="2406829"/>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
        <p:nvSpPr>
          <p:cNvPr id="2647" name="Google Shape;2647;p65"/>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48" name="Google Shape;2648;p65"/>
          <p:cNvSpPr/>
          <p:nvPr/>
        </p:nvSpPr>
        <p:spPr>
          <a:xfrm>
            <a:off x="-1" y="0"/>
            <a:ext cx="24377651" cy="10833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Montserrat"/>
              <a:ea typeface="Montserrat"/>
              <a:cs typeface="Montserrat"/>
              <a:sym typeface="Montserrat"/>
            </a:endParaRPr>
          </a:p>
        </p:txBody>
      </p:sp>
      <p:sp>
        <p:nvSpPr>
          <p:cNvPr id="2649" name="Google Shape;2649;p65"/>
          <p:cNvSpPr txBox="1"/>
          <p:nvPr/>
        </p:nvSpPr>
        <p:spPr>
          <a:xfrm>
            <a:off x="789331" y="417749"/>
            <a:ext cx="210410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CBCBCB"/>
                </a:solidFill>
                <a:latin typeface="Montserrat"/>
                <a:ea typeface="Montserrat"/>
                <a:cs typeface="Montserrat"/>
                <a:sym typeface="Montserrat"/>
              </a:rPr>
              <a:t>Introduction</a:t>
            </a:r>
            <a:endParaRPr/>
          </a:p>
        </p:txBody>
      </p:sp>
      <p:sp>
        <p:nvSpPr>
          <p:cNvPr id="2650" name="Google Shape;2650;p65"/>
          <p:cNvSpPr txBox="1"/>
          <p:nvPr/>
        </p:nvSpPr>
        <p:spPr>
          <a:xfrm>
            <a:off x="4239991" y="418117"/>
            <a:ext cx="120501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Theory</a:t>
            </a:r>
            <a:endParaRPr/>
          </a:p>
        </p:txBody>
      </p:sp>
      <p:sp>
        <p:nvSpPr>
          <p:cNvPr id="2651" name="Google Shape;2651;p65"/>
          <p:cNvSpPr txBox="1"/>
          <p:nvPr/>
        </p:nvSpPr>
        <p:spPr>
          <a:xfrm>
            <a:off x="6791559" y="415467"/>
            <a:ext cx="1811522"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Simulation</a:t>
            </a:r>
            <a:endParaRPr/>
          </a:p>
        </p:txBody>
      </p:sp>
      <p:sp>
        <p:nvSpPr>
          <p:cNvPr id="2652" name="Google Shape;2652;p65"/>
          <p:cNvSpPr txBox="1"/>
          <p:nvPr/>
        </p:nvSpPr>
        <p:spPr>
          <a:xfrm>
            <a:off x="14477517" y="412774"/>
            <a:ext cx="3806235"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Results and discussions</a:t>
            </a:r>
            <a:endParaRPr/>
          </a:p>
        </p:txBody>
      </p:sp>
      <p:sp>
        <p:nvSpPr>
          <p:cNvPr id="2653" name="Google Shape;2653;p65"/>
          <p:cNvSpPr txBox="1"/>
          <p:nvPr/>
        </p:nvSpPr>
        <p:spPr>
          <a:xfrm>
            <a:off x="19630308" y="418117"/>
            <a:ext cx="3754554"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2"/>
                </a:solidFill>
                <a:latin typeface="Montserrat"/>
                <a:ea typeface="Montserrat"/>
                <a:cs typeface="Montserrat"/>
                <a:sym typeface="Montserrat"/>
              </a:rPr>
              <a:t>Conclusion and outlook</a:t>
            </a:r>
            <a:endParaRPr/>
          </a:p>
        </p:txBody>
      </p:sp>
      <p:sp>
        <p:nvSpPr>
          <p:cNvPr id="2654" name="Google Shape;2654;p65"/>
          <p:cNvSpPr txBox="1"/>
          <p:nvPr/>
        </p:nvSpPr>
        <p:spPr>
          <a:xfrm>
            <a:off x="9949639" y="412775"/>
            <a:ext cx="3181320"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B2B2B2"/>
                </a:solidFill>
                <a:latin typeface="Montserrat"/>
                <a:ea typeface="Montserrat"/>
                <a:cs typeface="Montserrat"/>
                <a:sym typeface="Montserrat"/>
              </a:rPr>
              <a:t>Fabrication process</a:t>
            </a:r>
            <a:endParaRPr b="1" sz="1500">
              <a:solidFill>
                <a:srgbClr val="B2B2B2"/>
              </a:solidFill>
              <a:latin typeface="Montserrat"/>
              <a:ea typeface="Montserrat"/>
              <a:cs typeface="Montserrat"/>
              <a:sym typeface="Montserrat"/>
            </a:endParaRPr>
          </a:p>
        </p:txBody>
      </p:sp>
      <p:sp>
        <p:nvSpPr>
          <p:cNvPr id="2655" name="Google Shape;2655;p65"/>
          <p:cNvSpPr/>
          <p:nvPr/>
        </p:nvSpPr>
        <p:spPr>
          <a:xfrm>
            <a:off x="13615191" y="7114974"/>
            <a:ext cx="703093" cy="743264"/>
          </a:xfrm>
          <a:prstGeom prst="ellipse">
            <a:avLst/>
          </a:prstGeom>
          <a:noFill/>
          <a:ln cap="flat" cmpd="sng" w="381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t/>
            </a:r>
            <a:endParaRPr b="0" i="0" sz="1800" u="none" cap="none" strike="noStrike">
              <a:solidFill>
                <a:srgbClr val="FFFFFF"/>
              </a:solidFill>
              <a:latin typeface="Calibri"/>
              <a:ea typeface="Calibri"/>
              <a:cs typeface="Calibri"/>
              <a:sym typeface="Calibri"/>
            </a:endParaRPr>
          </a:p>
        </p:txBody>
      </p:sp>
      <p:cxnSp>
        <p:nvCxnSpPr>
          <p:cNvPr id="2656" name="Google Shape;2656;p65"/>
          <p:cNvCxnSpPr/>
          <p:nvPr/>
        </p:nvCxnSpPr>
        <p:spPr>
          <a:xfrm rot="10800000">
            <a:off x="13966737" y="6008289"/>
            <a:ext cx="235" cy="1106688"/>
          </a:xfrm>
          <a:prstGeom prst="straightConnector1">
            <a:avLst/>
          </a:prstGeom>
          <a:noFill/>
          <a:ln cap="flat" cmpd="sng" w="38100">
            <a:solidFill>
              <a:srgbClr val="000000"/>
            </a:solidFill>
            <a:prstDash val="solid"/>
            <a:miter lim="800000"/>
            <a:headEnd len="sm" w="sm" type="none"/>
            <a:tailEnd len="med" w="med" type="triangle"/>
          </a:ln>
        </p:spPr>
      </p:cxnSp>
      <p:pic>
        <p:nvPicPr>
          <p:cNvPr id="2657" name="Google Shape;2657;p65"/>
          <p:cNvPicPr preferRelativeResize="0"/>
          <p:nvPr/>
        </p:nvPicPr>
        <p:blipFill rotWithShape="1">
          <a:blip r:embed="rId3">
            <a:alphaModFix/>
          </a:blip>
          <a:srcRect b="0" l="0" r="0" t="0"/>
          <a:stretch/>
        </p:blipFill>
        <p:spPr>
          <a:xfrm>
            <a:off x="3121476" y="5966631"/>
            <a:ext cx="8887516" cy="6265870"/>
          </a:xfrm>
          <a:prstGeom prst="rect">
            <a:avLst/>
          </a:prstGeom>
          <a:noFill/>
          <a:ln>
            <a:noFill/>
          </a:ln>
        </p:spPr>
      </p:pic>
      <p:pic>
        <p:nvPicPr>
          <p:cNvPr id="2658" name="Google Shape;2658;p65"/>
          <p:cNvPicPr preferRelativeResize="0"/>
          <p:nvPr/>
        </p:nvPicPr>
        <p:blipFill rotWithShape="1">
          <a:blip r:embed="rId4">
            <a:alphaModFix/>
          </a:blip>
          <a:srcRect b="0" l="0" r="0" t="0"/>
          <a:stretch/>
        </p:blipFill>
        <p:spPr>
          <a:xfrm>
            <a:off x="12464739" y="5966631"/>
            <a:ext cx="8791434" cy="6265870"/>
          </a:xfrm>
          <a:prstGeom prst="rect">
            <a:avLst/>
          </a:prstGeom>
          <a:noFill/>
          <a:ln>
            <a:noFill/>
          </a:ln>
        </p:spPr>
      </p:pic>
      <p:pic>
        <p:nvPicPr>
          <p:cNvPr id="2659" name="Google Shape;2659;p65"/>
          <p:cNvPicPr preferRelativeResize="0"/>
          <p:nvPr/>
        </p:nvPicPr>
        <p:blipFill rotWithShape="1">
          <a:blip r:embed="rId5">
            <a:alphaModFix/>
          </a:blip>
          <a:srcRect b="0" l="0" r="0" t="0"/>
          <a:stretch/>
        </p:blipFill>
        <p:spPr>
          <a:xfrm>
            <a:off x="6703144" y="5757579"/>
            <a:ext cx="1428185" cy="313293"/>
          </a:xfrm>
          <a:prstGeom prst="rect">
            <a:avLst/>
          </a:prstGeom>
          <a:noFill/>
          <a:ln>
            <a:noFill/>
          </a:ln>
        </p:spPr>
      </p:pic>
      <p:pic>
        <p:nvPicPr>
          <p:cNvPr id="2660" name="Google Shape;2660;p65"/>
          <p:cNvPicPr preferRelativeResize="0"/>
          <p:nvPr/>
        </p:nvPicPr>
        <p:blipFill rotWithShape="1">
          <a:blip r:embed="rId6">
            <a:alphaModFix/>
          </a:blip>
          <a:srcRect b="0" l="0" r="0" t="0"/>
          <a:stretch/>
        </p:blipFill>
        <p:spPr>
          <a:xfrm>
            <a:off x="16103150" y="5757579"/>
            <a:ext cx="1514610" cy="313293"/>
          </a:xfrm>
          <a:prstGeom prst="rect">
            <a:avLst/>
          </a:prstGeom>
          <a:noFill/>
          <a:ln>
            <a:noFill/>
          </a:ln>
        </p:spPr>
      </p:pic>
      <p:sp>
        <p:nvSpPr>
          <p:cNvPr id="2661" name="Google Shape;2661;p65"/>
          <p:cNvSpPr txBox="1"/>
          <p:nvPr/>
        </p:nvSpPr>
        <p:spPr>
          <a:xfrm>
            <a:off x="6285354" y="3678596"/>
            <a:ext cx="11447276"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600">
                <a:solidFill>
                  <a:srgbClr val="000000"/>
                </a:solidFill>
                <a:latin typeface="Calibri"/>
                <a:ea typeface="Calibri"/>
                <a:cs typeface="Calibri"/>
                <a:sym typeface="Calibri"/>
              </a:rPr>
              <a:t>Using APE-Ti waveguides, the broadband conversion can be potentially achieved without sacrificing the energy of TE and TM modes. However, more experimental data of the dispersion of APE waveguides is still needed</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6" name="Shape 2666"/>
        <p:cNvGrpSpPr/>
        <p:nvPr/>
      </p:nvGrpSpPr>
      <p:grpSpPr>
        <a:xfrm>
          <a:off x="0" y="0"/>
          <a:ext cx="0" cy="0"/>
          <a:chOff x="0" y="0"/>
          <a:chExt cx="0" cy="0"/>
        </a:xfrm>
      </p:grpSpPr>
      <p:sp>
        <p:nvSpPr>
          <p:cNvPr id="2667" name="Google Shape;2667;p66"/>
          <p:cNvSpPr txBox="1"/>
          <p:nvPr/>
        </p:nvSpPr>
        <p:spPr>
          <a:xfrm>
            <a:off x="5030600" y="3773519"/>
            <a:ext cx="14340239" cy="62170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9900">
                <a:solidFill>
                  <a:srgbClr val="F2F2F2"/>
                </a:solidFill>
                <a:latin typeface="Montserrat"/>
                <a:ea typeface="Montserrat"/>
                <a:cs typeface="Montserrat"/>
                <a:sym typeface="Montserrat"/>
              </a:rPr>
              <a:t>Thank</a:t>
            </a:r>
            <a:endParaRPr/>
          </a:p>
          <a:p>
            <a:pPr indent="0" lvl="0" marL="0" marR="0" rtl="0" algn="ctr">
              <a:spcBef>
                <a:spcPts val="0"/>
              </a:spcBef>
              <a:spcAft>
                <a:spcPts val="0"/>
              </a:spcAft>
              <a:buNone/>
            </a:pPr>
            <a:r>
              <a:rPr b="1" lang="en-US" sz="19900">
                <a:solidFill>
                  <a:srgbClr val="F2F2F2"/>
                </a:solidFill>
                <a:latin typeface="Montserrat"/>
                <a:ea typeface="Montserrat"/>
                <a:cs typeface="Montserrat"/>
                <a:sym typeface="Montserrat"/>
              </a:rPr>
              <a:t>you</a:t>
            </a:r>
            <a:endParaRPr/>
          </a:p>
        </p:txBody>
      </p:sp>
      <p:sp>
        <p:nvSpPr>
          <p:cNvPr id="2668" name="Google Shape;2668;p66"/>
          <p:cNvSpPr txBox="1"/>
          <p:nvPr/>
        </p:nvSpPr>
        <p:spPr>
          <a:xfrm>
            <a:off x="6033368" y="6387598"/>
            <a:ext cx="12467590" cy="144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800">
                <a:solidFill>
                  <a:schemeClr val="dk2"/>
                </a:solidFill>
                <a:latin typeface="Montserrat"/>
                <a:ea typeface="Montserrat"/>
                <a:cs typeface="Montserrat"/>
                <a:sym typeface="Montserrat"/>
              </a:rPr>
              <a:t>Thank you</a:t>
            </a:r>
            <a:endParaRPr b="1" sz="8800">
              <a:solidFill>
                <a:schemeClr val="dk2"/>
              </a:solidFill>
              <a:latin typeface="Montserrat"/>
              <a:ea typeface="Montserrat"/>
              <a:cs typeface="Montserrat"/>
              <a:sym typeface="Montserrat"/>
            </a:endParaRPr>
          </a:p>
        </p:txBody>
      </p:sp>
      <p:sp>
        <p:nvSpPr>
          <p:cNvPr id="2669" name="Google Shape;2669;p66"/>
          <p:cNvSpPr txBox="1"/>
          <p:nvPr>
            <p:ph idx="12" type="sldNum"/>
          </p:nvPr>
        </p:nvSpPr>
        <p:spPr>
          <a:xfrm>
            <a:off x="17216875" y="12592051"/>
            <a:ext cx="5484812" cy="730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70" name="Google Shape;2670;p66"/>
          <p:cNvSpPr txBox="1"/>
          <p:nvPr/>
        </p:nvSpPr>
        <p:spPr>
          <a:xfrm>
            <a:off x="6639847" y="6187543"/>
            <a:ext cx="1123315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accent1"/>
                </a:solidFill>
                <a:latin typeface="Montserrat"/>
                <a:ea typeface="Montserrat"/>
                <a:cs typeface="Montserrat"/>
                <a:sym typeface="Montserrat"/>
              </a:rPr>
              <a:t>Final defense</a:t>
            </a:r>
            <a:endParaRPr b="1" sz="2000">
              <a:solidFill>
                <a:schemeClr val="accent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Theme">
  <a:themeElements>
    <a:clrScheme name="Spark Light">
      <a:dk1>
        <a:srgbClr val="7F7F7F"/>
      </a:dk1>
      <a:lt1>
        <a:srgbClr val="FFFFFF"/>
      </a:lt1>
      <a:dk2>
        <a:srgbClr val="000000"/>
      </a:dk2>
      <a:lt2>
        <a:srgbClr val="FFFFFF"/>
      </a:lt2>
      <a:accent1>
        <a:srgbClr val="C09F63"/>
      </a:accent1>
      <a:accent2>
        <a:srgbClr val="000000"/>
      </a:accent2>
      <a:accent3>
        <a:srgbClr val="6D6D6D"/>
      </a:accent3>
      <a:accent4>
        <a:srgbClr val="B3B3B3"/>
      </a:accent4>
      <a:accent5>
        <a:srgbClr val="DFDEDB"/>
      </a:accent5>
      <a:accent6>
        <a:srgbClr val="EBEBEB"/>
      </a:accent6>
      <a:hlink>
        <a:srgbClr val="E7E7E7"/>
      </a:hlink>
      <a:folHlink>
        <a:srgbClr val="D8786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2014-11-12T21:47:38Z</dcterms:created>
  <dc:creator>calcu</dc:creator>
</cp:coreProperties>
</file>