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5"/>
  </p:notesMasterIdLst>
  <p:sldIdLst>
    <p:sldId id="258" r:id="rId2"/>
    <p:sldId id="259" r:id="rId3"/>
    <p:sldId id="269" r:id="rId4"/>
    <p:sldId id="277" r:id="rId5"/>
    <p:sldId id="278" r:id="rId6"/>
    <p:sldId id="279" r:id="rId7"/>
    <p:sldId id="280" r:id="rId8"/>
    <p:sldId id="281" r:id="rId9"/>
    <p:sldId id="271" r:id="rId10"/>
    <p:sldId id="261" r:id="rId11"/>
    <p:sldId id="273" r:id="rId12"/>
    <p:sldId id="282" r:id="rId13"/>
    <p:sldId id="284" r:id="rId14"/>
    <p:sldId id="285" r:id="rId15"/>
    <p:sldId id="286" r:id="rId16"/>
    <p:sldId id="287" r:id="rId17"/>
    <p:sldId id="262" r:id="rId18"/>
    <p:sldId id="265" r:id="rId19"/>
    <p:sldId id="263" r:id="rId20"/>
    <p:sldId id="264" r:id="rId21"/>
    <p:sldId id="257" r:id="rId22"/>
    <p:sldId id="260" r:id="rId23"/>
    <p:sldId id="283" r:id="rId2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40" autoAdjust="0"/>
  </p:normalViewPr>
  <p:slideViewPr>
    <p:cSldViewPr snapToGrid="0">
      <p:cViewPr varScale="1">
        <p:scale>
          <a:sx n="67" d="100"/>
          <a:sy n="67" d="100"/>
        </p:scale>
        <p:origin x="53"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1648D7-A41F-43DC-B230-F46054C30199}" type="datetimeFigureOut">
              <a:rPr lang="zh-TW" altLang="en-US" smtClean="0"/>
              <a:t>2020/12/22</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996A1F-2E83-498D-A275-A049FAF0317A}" type="slidenum">
              <a:rPr lang="zh-TW" altLang="en-US" smtClean="0"/>
              <a:t>‹#›</a:t>
            </a:fld>
            <a:endParaRPr lang="zh-TW" altLang="en-US"/>
          </a:p>
        </p:txBody>
      </p:sp>
    </p:spTree>
    <p:extLst>
      <p:ext uri="{BB962C8B-B14F-4D97-AF65-F5344CB8AC3E}">
        <p14:creationId xmlns:p14="http://schemas.microsoft.com/office/powerpoint/2010/main" val="762926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This</a:t>
            </a:r>
            <a:r>
              <a:rPr lang="en-US" altLang="zh-TW" baseline="0" dirty="0" smtClean="0"/>
              <a:t> topic just a tentative name .</a:t>
            </a:r>
          </a:p>
          <a:p>
            <a:endParaRPr lang="en-US" altLang="zh-TW" dirty="0" smtClean="0"/>
          </a:p>
          <a:p>
            <a:r>
              <a:rPr lang="en-US" altLang="zh-TW" dirty="0" smtClean="0"/>
              <a:t>I</a:t>
            </a:r>
            <a:r>
              <a:rPr lang="en-US" altLang="zh-TW" baseline="0" dirty="0" smtClean="0"/>
              <a:t>  divide my work into three parts .</a:t>
            </a:r>
            <a:endParaRPr lang="zh-TW" altLang="en-US" dirty="0"/>
          </a:p>
        </p:txBody>
      </p:sp>
      <p:sp>
        <p:nvSpPr>
          <p:cNvPr id="4" name="投影片編號版面配置區 3"/>
          <p:cNvSpPr>
            <a:spLocks noGrp="1"/>
          </p:cNvSpPr>
          <p:nvPr>
            <p:ph type="sldNum" sz="quarter" idx="10"/>
          </p:nvPr>
        </p:nvSpPr>
        <p:spPr/>
        <p:txBody>
          <a:bodyPr/>
          <a:lstStyle/>
          <a:p>
            <a:fld id="{982EB2FD-96C0-4801-BC41-6AE6686E1D3B}" type="slidenum">
              <a:rPr lang="zh-TW" altLang="en-US" smtClean="0"/>
              <a:t>1</a:t>
            </a:fld>
            <a:endParaRPr lang="zh-TW" altLang="en-US"/>
          </a:p>
        </p:txBody>
      </p:sp>
    </p:spTree>
    <p:extLst>
      <p:ext uri="{BB962C8B-B14F-4D97-AF65-F5344CB8AC3E}">
        <p14:creationId xmlns:p14="http://schemas.microsoft.com/office/powerpoint/2010/main" val="2394201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D996A1F-2E83-498D-A275-A049FAF0317A}" type="slidenum">
              <a:rPr lang="zh-TW" altLang="en-US" smtClean="0"/>
              <a:t>10</a:t>
            </a:fld>
            <a:endParaRPr lang="zh-TW" altLang="en-US"/>
          </a:p>
        </p:txBody>
      </p:sp>
    </p:spTree>
    <p:extLst>
      <p:ext uri="{BB962C8B-B14F-4D97-AF65-F5344CB8AC3E}">
        <p14:creationId xmlns:p14="http://schemas.microsoft.com/office/powerpoint/2010/main" val="1224493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This</a:t>
            </a:r>
            <a:r>
              <a:rPr lang="en-US" altLang="zh-TW" baseline="0" dirty="0" smtClean="0"/>
              <a:t> topic just a tentative name .</a:t>
            </a:r>
          </a:p>
          <a:p>
            <a:endParaRPr lang="en-US" altLang="zh-TW" dirty="0" smtClean="0"/>
          </a:p>
          <a:p>
            <a:r>
              <a:rPr lang="en-US" altLang="zh-TW" dirty="0" smtClean="0"/>
              <a:t>I</a:t>
            </a:r>
            <a:r>
              <a:rPr lang="en-US" altLang="zh-TW" baseline="0" dirty="0" smtClean="0"/>
              <a:t>  divide my work into three parts .</a:t>
            </a:r>
            <a:endParaRPr lang="zh-TW" altLang="en-US" dirty="0"/>
          </a:p>
        </p:txBody>
      </p:sp>
      <p:sp>
        <p:nvSpPr>
          <p:cNvPr id="4" name="投影片編號版面配置區 3"/>
          <p:cNvSpPr>
            <a:spLocks noGrp="1"/>
          </p:cNvSpPr>
          <p:nvPr>
            <p:ph type="sldNum" sz="quarter" idx="10"/>
          </p:nvPr>
        </p:nvSpPr>
        <p:spPr/>
        <p:txBody>
          <a:bodyPr/>
          <a:lstStyle/>
          <a:p>
            <a:fld id="{982EB2FD-96C0-4801-BC41-6AE6686E1D3B}" type="slidenum">
              <a:rPr lang="zh-TW" altLang="en-US" smtClean="0"/>
              <a:t>21</a:t>
            </a:fld>
            <a:endParaRPr lang="zh-TW" altLang="en-US"/>
          </a:p>
        </p:txBody>
      </p:sp>
    </p:spTree>
    <p:extLst>
      <p:ext uri="{BB962C8B-B14F-4D97-AF65-F5344CB8AC3E}">
        <p14:creationId xmlns:p14="http://schemas.microsoft.com/office/powerpoint/2010/main" val="1485945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BA484A5E-73A1-48BA-A494-B6C4C0B4B771}" type="datetimeFigureOut">
              <a:rPr lang="zh-TW" altLang="en-US" smtClean="0"/>
              <a:t>2020/12/22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4B93F9F-1D80-42E7-BC5B-754A4F890A06}" type="slidenum">
              <a:rPr lang="zh-TW" altLang="en-US" smtClean="0"/>
              <a:t>‹#›</a:t>
            </a:fld>
            <a:endParaRPr lang="zh-TW" altLang="en-US"/>
          </a:p>
        </p:txBody>
      </p:sp>
    </p:spTree>
    <p:extLst>
      <p:ext uri="{BB962C8B-B14F-4D97-AF65-F5344CB8AC3E}">
        <p14:creationId xmlns:p14="http://schemas.microsoft.com/office/powerpoint/2010/main" val="2516985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A484A5E-73A1-48BA-A494-B6C4C0B4B771}" type="datetimeFigureOut">
              <a:rPr lang="zh-TW" altLang="en-US" smtClean="0"/>
              <a:t>2020/12/22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4B93F9F-1D80-42E7-BC5B-754A4F890A06}" type="slidenum">
              <a:rPr lang="zh-TW" altLang="en-US" smtClean="0"/>
              <a:t>‹#›</a:t>
            </a:fld>
            <a:endParaRPr lang="zh-TW" altLang="en-US"/>
          </a:p>
        </p:txBody>
      </p:sp>
    </p:spTree>
    <p:extLst>
      <p:ext uri="{BB962C8B-B14F-4D97-AF65-F5344CB8AC3E}">
        <p14:creationId xmlns:p14="http://schemas.microsoft.com/office/powerpoint/2010/main" val="187512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編輯母片文字樣式</a:t>
            </a:r>
          </a:p>
        </p:txBody>
      </p:sp>
      <p:sp>
        <p:nvSpPr>
          <p:cNvPr id="4" name="日期版面配置區 3"/>
          <p:cNvSpPr>
            <a:spLocks noGrp="1"/>
          </p:cNvSpPr>
          <p:nvPr>
            <p:ph type="dt" sz="half" idx="10"/>
          </p:nvPr>
        </p:nvSpPr>
        <p:spPr/>
        <p:txBody>
          <a:bodyPr/>
          <a:lstStyle/>
          <a:p>
            <a:fld id="{BA484A5E-73A1-48BA-A494-B6C4C0B4B771}" type="datetimeFigureOut">
              <a:rPr lang="zh-TW" altLang="en-US" smtClean="0"/>
              <a:t>2020/12/22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4B93F9F-1D80-42E7-BC5B-754A4F890A06}" type="slidenum">
              <a:rPr lang="zh-TW" altLang="en-US" smtClean="0"/>
              <a:t>‹#›</a:t>
            </a:fld>
            <a:endParaRPr lang="zh-TW" altLang="en-US"/>
          </a:p>
        </p:txBody>
      </p:sp>
    </p:spTree>
    <p:extLst>
      <p:ext uri="{BB962C8B-B14F-4D97-AF65-F5344CB8AC3E}">
        <p14:creationId xmlns:p14="http://schemas.microsoft.com/office/powerpoint/2010/main" val="3637240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BA484A5E-73A1-48BA-A494-B6C4C0B4B771}" type="datetimeFigureOut">
              <a:rPr lang="zh-TW" altLang="en-US" smtClean="0"/>
              <a:t>2020/12/22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4B93F9F-1D80-42E7-BC5B-754A4F890A06}" type="slidenum">
              <a:rPr lang="zh-TW" altLang="en-US" smtClean="0"/>
              <a:t>‹#›</a:t>
            </a:fld>
            <a:endParaRPr lang="zh-TW" altLang="en-US"/>
          </a:p>
        </p:txBody>
      </p:sp>
    </p:spTree>
    <p:extLst>
      <p:ext uri="{BB962C8B-B14F-4D97-AF65-F5344CB8AC3E}">
        <p14:creationId xmlns:p14="http://schemas.microsoft.com/office/powerpoint/2010/main" val="2093762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BA484A5E-73A1-48BA-A494-B6C4C0B4B771}" type="datetimeFigureOut">
              <a:rPr lang="zh-TW" altLang="en-US" smtClean="0"/>
              <a:t>2020/12/22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B4B93F9F-1D80-42E7-BC5B-754A4F890A06}" type="slidenum">
              <a:rPr lang="zh-TW" altLang="en-US" smtClean="0"/>
              <a:t>‹#›</a:t>
            </a:fld>
            <a:endParaRPr lang="zh-TW" altLang="en-US"/>
          </a:p>
        </p:txBody>
      </p:sp>
    </p:spTree>
    <p:extLst>
      <p:ext uri="{BB962C8B-B14F-4D97-AF65-F5344CB8AC3E}">
        <p14:creationId xmlns:p14="http://schemas.microsoft.com/office/powerpoint/2010/main" val="2056216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BA484A5E-73A1-48BA-A494-B6C4C0B4B771}" type="datetimeFigureOut">
              <a:rPr lang="zh-TW" altLang="en-US" smtClean="0"/>
              <a:t>2020/12/22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B4B93F9F-1D80-42E7-BC5B-754A4F890A06}" type="slidenum">
              <a:rPr lang="zh-TW" altLang="en-US" smtClean="0"/>
              <a:t>‹#›</a:t>
            </a:fld>
            <a:endParaRPr lang="zh-TW" altLang="en-US"/>
          </a:p>
        </p:txBody>
      </p:sp>
    </p:spTree>
    <p:extLst>
      <p:ext uri="{BB962C8B-B14F-4D97-AF65-F5344CB8AC3E}">
        <p14:creationId xmlns:p14="http://schemas.microsoft.com/office/powerpoint/2010/main" val="3535260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A484A5E-73A1-48BA-A494-B6C4C0B4B771}" type="datetimeFigureOut">
              <a:rPr lang="zh-TW" altLang="en-US" smtClean="0"/>
              <a:t>2020/12/22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B4B93F9F-1D80-42E7-BC5B-754A4F890A06}" type="slidenum">
              <a:rPr lang="zh-TW" altLang="en-US" smtClean="0"/>
              <a:t>‹#›</a:t>
            </a:fld>
            <a:endParaRPr lang="zh-TW" altLang="en-US"/>
          </a:p>
        </p:txBody>
      </p:sp>
    </p:spTree>
    <p:extLst>
      <p:ext uri="{BB962C8B-B14F-4D97-AF65-F5344CB8AC3E}">
        <p14:creationId xmlns:p14="http://schemas.microsoft.com/office/powerpoint/2010/main" val="1927228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編輯母片文字樣式</a:t>
            </a:r>
          </a:p>
        </p:txBody>
      </p:sp>
      <p:sp>
        <p:nvSpPr>
          <p:cNvPr id="5" name="日期版面配置區 4"/>
          <p:cNvSpPr>
            <a:spLocks noGrp="1"/>
          </p:cNvSpPr>
          <p:nvPr>
            <p:ph type="dt" sz="half" idx="10"/>
          </p:nvPr>
        </p:nvSpPr>
        <p:spPr/>
        <p:txBody>
          <a:bodyPr/>
          <a:lstStyle/>
          <a:p>
            <a:fld id="{BA484A5E-73A1-48BA-A494-B6C4C0B4B771}" type="datetimeFigureOut">
              <a:rPr lang="zh-TW" altLang="en-US" smtClean="0"/>
              <a:t>2020/12/22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4B93F9F-1D80-42E7-BC5B-754A4F890A06}" type="slidenum">
              <a:rPr lang="zh-TW" altLang="en-US" smtClean="0"/>
              <a:t>‹#›</a:t>
            </a:fld>
            <a:endParaRPr lang="zh-TW" altLang="en-US"/>
          </a:p>
        </p:txBody>
      </p:sp>
    </p:spTree>
    <p:extLst>
      <p:ext uri="{BB962C8B-B14F-4D97-AF65-F5344CB8AC3E}">
        <p14:creationId xmlns:p14="http://schemas.microsoft.com/office/powerpoint/2010/main" val="1089023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編輯母片文字樣式</a:t>
            </a:r>
          </a:p>
        </p:txBody>
      </p:sp>
      <p:sp>
        <p:nvSpPr>
          <p:cNvPr id="5" name="日期版面配置區 4"/>
          <p:cNvSpPr>
            <a:spLocks noGrp="1"/>
          </p:cNvSpPr>
          <p:nvPr>
            <p:ph type="dt" sz="half" idx="10"/>
          </p:nvPr>
        </p:nvSpPr>
        <p:spPr/>
        <p:txBody>
          <a:bodyPr/>
          <a:lstStyle/>
          <a:p>
            <a:fld id="{BA484A5E-73A1-48BA-A494-B6C4C0B4B771}" type="datetimeFigureOut">
              <a:rPr lang="zh-TW" altLang="en-US" smtClean="0"/>
              <a:t>2020/12/22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4B93F9F-1D80-42E7-BC5B-754A4F890A06}" type="slidenum">
              <a:rPr lang="zh-TW" altLang="en-US" smtClean="0"/>
              <a:t>‹#›</a:t>
            </a:fld>
            <a:endParaRPr lang="zh-TW" altLang="en-US"/>
          </a:p>
        </p:txBody>
      </p:sp>
    </p:spTree>
    <p:extLst>
      <p:ext uri="{BB962C8B-B14F-4D97-AF65-F5344CB8AC3E}">
        <p14:creationId xmlns:p14="http://schemas.microsoft.com/office/powerpoint/2010/main" val="818904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A484A5E-73A1-48BA-A494-B6C4C0B4B771}" type="datetimeFigureOut">
              <a:rPr lang="zh-TW" altLang="en-US" smtClean="0"/>
              <a:t>2020/12/22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4B93F9F-1D80-42E7-BC5B-754A4F890A06}" type="slidenum">
              <a:rPr lang="zh-TW" altLang="en-US" smtClean="0"/>
              <a:t>‹#›</a:t>
            </a:fld>
            <a:endParaRPr lang="zh-TW" altLang="en-US"/>
          </a:p>
        </p:txBody>
      </p:sp>
    </p:spTree>
    <p:extLst>
      <p:ext uri="{BB962C8B-B14F-4D97-AF65-F5344CB8AC3E}">
        <p14:creationId xmlns:p14="http://schemas.microsoft.com/office/powerpoint/2010/main" val="2596362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A484A5E-73A1-48BA-A494-B6C4C0B4B771}" type="datetimeFigureOut">
              <a:rPr lang="zh-TW" altLang="en-US" smtClean="0"/>
              <a:t>2020/12/22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4B93F9F-1D80-42E7-BC5B-754A4F890A06}" type="slidenum">
              <a:rPr lang="zh-TW" altLang="en-US" smtClean="0"/>
              <a:t>‹#›</a:t>
            </a:fld>
            <a:endParaRPr lang="zh-TW" altLang="en-US"/>
          </a:p>
        </p:txBody>
      </p:sp>
    </p:spTree>
    <p:extLst>
      <p:ext uri="{BB962C8B-B14F-4D97-AF65-F5344CB8AC3E}">
        <p14:creationId xmlns:p14="http://schemas.microsoft.com/office/powerpoint/2010/main" val="3375991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484A5E-73A1-48BA-A494-B6C4C0B4B771}" type="datetimeFigureOut">
              <a:rPr lang="zh-TW" altLang="en-US" smtClean="0"/>
              <a:t>2020/12/22</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B93F9F-1D80-42E7-BC5B-754A4F890A06}" type="slidenum">
              <a:rPr lang="zh-TW" altLang="en-US" smtClean="0"/>
              <a:t>‹#›</a:t>
            </a:fld>
            <a:endParaRPr lang="zh-TW" altLang="en-US"/>
          </a:p>
        </p:txBody>
      </p:sp>
    </p:spTree>
    <p:extLst>
      <p:ext uri="{BB962C8B-B14F-4D97-AF65-F5344CB8AC3E}">
        <p14:creationId xmlns:p14="http://schemas.microsoft.com/office/powerpoint/2010/main" val="400485421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gif"/><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2.xml"/><Relationship Id="rId16"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2.png"/><Relationship Id="rId7" Type="http://schemas.openxmlformats.org/officeDocument/2006/relationships/image" Target="../media/image33.png"/><Relationship Id="rId12" Type="http://schemas.openxmlformats.org/officeDocument/2006/relationships/image" Target="../media/image19.png"/><Relationship Id="rId2" Type="http://schemas.openxmlformats.org/officeDocument/2006/relationships/image" Target="../media/image1.gif"/><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gif"/><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3.png"/><Relationship Id="rId7" Type="http://schemas.openxmlformats.org/officeDocument/2006/relationships/image" Target="../media/image39.png"/><Relationship Id="rId2" Type="http://schemas.openxmlformats.org/officeDocument/2006/relationships/image" Target="../media/image1.gif"/><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15.png"/><Relationship Id="rId10" Type="http://schemas.openxmlformats.org/officeDocument/2006/relationships/image" Target="../media/image42.png"/><Relationship Id="rId4" Type="http://schemas.openxmlformats.org/officeDocument/2006/relationships/image" Target="../media/image14.png"/><Relationship Id="rId9" Type="http://schemas.openxmlformats.org/officeDocument/2006/relationships/image" Target="../media/image41.png"/></Relationships>
</file>

<file path=ppt/slides/_rels/slide14.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image" Target="../media/image1.gif"/><Relationship Id="rId16"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png"/></Relationships>
</file>

<file path=ppt/slides/_rels/slide1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1.gif"/><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3.xml.rels><?xml version="1.0" encoding="UTF-8" standalone="yes"?>
<Relationships xmlns="http://schemas.openxmlformats.org/package/2006/relationships"><Relationship Id="rId8" Type="http://schemas.openxmlformats.org/officeDocument/2006/relationships/image" Target="../media/image440.png"/><Relationship Id="rId13" Type="http://schemas.openxmlformats.org/officeDocument/2006/relationships/image" Target="../media/image490.png"/><Relationship Id="rId3" Type="http://schemas.openxmlformats.org/officeDocument/2006/relationships/image" Target="../media/image390.png"/><Relationship Id="rId7" Type="http://schemas.openxmlformats.org/officeDocument/2006/relationships/image" Target="../media/image430.png"/><Relationship Id="rId12" Type="http://schemas.openxmlformats.org/officeDocument/2006/relationships/image" Target="../media/image480.png"/><Relationship Id="rId2" Type="http://schemas.openxmlformats.org/officeDocument/2006/relationships/image" Target="../media/image1.gif"/><Relationship Id="rId16" Type="http://schemas.openxmlformats.org/officeDocument/2006/relationships/image" Target="../media/image520.png"/><Relationship Id="rId1" Type="http://schemas.openxmlformats.org/officeDocument/2006/relationships/slideLayout" Target="../slideLayouts/slideLayout2.xml"/><Relationship Id="rId6" Type="http://schemas.openxmlformats.org/officeDocument/2006/relationships/image" Target="../media/image420.png"/><Relationship Id="rId11" Type="http://schemas.openxmlformats.org/officeDocument/2006/relationships/image" Target="../media/image470.png"/><Relationship Id="rId5" Type="http://schemas.openxmlformats.org/officeDocument/2006/relationships/image" Target="../media/image410.png"/><Relationship Id="rId15" Type="http://schemas.openxmlformats.org/officeDocument/2006/relationships/image" Target="../media/image510.png"/><Relationship Id="rId10" Type="http://schemas.openxmlformats.org/officeDocument/2006/relationships/image" Target="../media/image460.png"/><Relationship Id="rId4" Type="http://schemas.openxmlformats.org/officeDocument/2006/relationships/image" Target="../media/image400.png"/><Relationship Id="rId9" Type="http://schemas.openxmlformats.org/officeDocument/2006/relationships/image" Target="../media/image450.png"/><Relationship Id="rId14" Type="http://schemas.openxmlformats.org/officeDocument/2006/relationships/image" Target="../media/image5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群組 6"/>
          <p:cNvGrpSpPr/>
          <p:nvPr/>
        </p:nvGrpSpPr>
        <p:grpSpPr>
          <a:xfrm>
            <a:off x="3394555" y="2615192"/>
            <a:ext cx="5736917" cy="1920403"/>
            <a:chOff x="4904378" y="4184924"/>
            <a:chExt cx="5281814" cy="1764923"/>
          </a:xfrm>
          <a:solidFill>
            <a:schemeClr val="bg1">
              <a:alpha val="98000"/>
            </a:schemeClr>
          </a:solidFill>
        </p:grpSpPr>
        <p:pic>
          <p:nvPicPr>
            <p:cNvPr id="8" name="Picture 4" descr="http://www.ncu.edu.tw/assets/images/logo.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4378" y="4184924"/>
              <a:ext cx="5281814" cy="1764923"/>
            </a:xfrm>
            <a:prstGeom prst="rect">
              <a:avLst/>
            </a:prstGeom>
            <a:grpFill/>
            <a:effectLst>
              <a:outerShdw blurRad="50800" dist="50800" dir="5400000" algn="ctr" rotWithShape="0">
                <a:srgbClr val="000000">
                  <a:alpha val="0"/>
                </a:srgbClr>
              </a:outerShdw>
            </a:effectLst>
          </p:spPr>
        </p:pic>
        <p:sp>
          <p:nvSpPr>
            <p:cNvPr id="9" name="矩形 8"/>
            <p:cNvSpPr/>
            <p:nvPr/>
          </p:nvSpPr>
          <p:spPr>
            <a:xfrm>
              <a:off x="4904378" y="4184924"/>
              <a:ext cx="5281814" cy="1764923"/>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 name="標題 1"/>
          <p:cNvSpPr>
            <a:spLocks noGrp="1"/>
          </p:cNvSpPr>
          <p:nvPr>
            <p:ph type="ctrTitle"/>
          </p:nvPr>
        </p:nvSpPr>
        <p:spPr>
          <a:xfrm>
            <a:off x="422425" y="1190847"/>
            <a:ext cx="11470712" cy="2726601"/>
          </a:xfrm>
        </p:spPr>
        <p:txBody>
          <a:bodyPr>
            <a:normAutofit fontScale="90000"/>
          </a:bodyPr>
          <a:lstStyle/>
          <a:p>
            <a:r>
              <a:rPr lang="zh-TW" altLang="zh-TW" sz="4400" dirty="0"/>
              <a:t>以週期性晶疇極化反轉鈦擴散式鈮酸鋰波導絕熱耦合器作為全光開關之</a:t>
            </a:r>
            <a:r>
              <a:rPr lang="zh-TW" altLang="zh-TW" sz="4400" dirty="0" smtClean="0"/>
              <a:t>研究</a:t>
            </a:r>
            <a:r>
              <a:rPr lang="en-US" altLang="zh-TW" sz="4400" dirty="0" smtClean="0"/>
              <a:t/>
            </a:r>
            <a:br>
              <a:rPr lang="en-US" altLang="zh-TW" sz="4400" dirty="0" smtClean="0"/>
            </a:br>
            <a:r>
              <a:rPr lang="en-US" altLang="zh-TW" sz="4000" dirty="0">
                <a:latin typeface="Times New Roman" panose="02020603050405020304" pitchFamily="18" charset="0"/>
                <a:cs typeface="Times New Roman" panose="02020603050405020304" pitchFamily="18" charset="0"/>
              </a:rPr>
              <a:t>Non-phase-matched all optical switching based on stimulated Raman adiabatic passage in </a:t>
            </a:r>
            <a:r>
              <a:rPr lang="en-US" altLang="zh-TW" sz="4000" dirty="0" err="1">
                <a:latin typeface="Times New Roman" panose="02020603050405020304" pitchFamily="18" charset="0"/>
                <a:cs typeface="Times New Roman" panose="02020603050405020304" pitchFamily="18" charset="0"/>
              </a:rPr>
              <a:t>Ti</a:t>
            </a:r>
            <a:r>
              <a:rPr lang="en-US" altLang="zh-TW" sz="4000" dirty="0">
                <a:latin typeface="Times New Roman" panose="02020603050405020304" pitchFamily="18" charset="0"/>
                <a:cs typeface="Times New Roman" panose="02020603050405020304" pitchFamily="18" charset="0"/>
              </a:rPr>
              <a:t>-diffused periodically poled lithium </a:t>
            </a:r>
            <a:r>
              <a:rPr lang="en-US" altLang="zh-TW" sz="4000" dirty="0" err="1">
                <a:latin typeface="Times New Roman" panose="02020603050405020304" pitchFamily="18" charset="0"/>
                <a:cs typeface="Times New Roman" panose="02020603050405020304" pitchFamily="18" charset="0"/>
              </a:rPr>
              <a:t>niobate</a:t>
            </a:r>
            <a:r>
              <a:rPr lang="en-US" altLang="zh-TW" sz="4000" dirty="0">
                <a:latin typeface="Times New Roman" panose="02020603050405020304" pitchFamily="18" charset="0"/>
                <a:cs typeface="Times New Roman" panose="02020603050405020304" pitchFamily="18" charset="0"/>
              </a:rPr>
              <a:t> waveguides</a:t>
            </a:r>
            <a:endParaRPr lang="zh-TW" altLang="en-US" sz="40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189646" y="4535595"/>
            <a:ext cx="9144000" cy="1057085"/>
          </a:xfrm>
        </p:spPr>
        <p:txBody>
          <a:bodyPr/>
          <a:lstStyle/>
          <a:p>
            <a:r>
              <a:rPr lang="zh-TW" altLang="en-US" dirty="0" smtClean="0">
                <a:latin typeface="Times New Roman" panose="02020603050405020304" pitchFamily="18" charset="0"/>
                <a:cs typeface="Times New Roman" panose="02020603050405020304" pitchFamily="18" charset="0"/>
              </a:rPr>
              <a:t>學</a:t>
            </a:r>
            <a:r>
              <a:rPr lang="zh-TW" altLang="en-US" dirty="0">
                <a:latin typeface="Times New Roman" panose="02020603050405020304" pitchFamily="18" charset="0"/>
                <a:cs typeface="Times New Roman" panose="02020603050405020304" pitchFamily="18" charset="0"/>
              </a:rPr>
              <a:t>生</a:t>
            </a:r>
            <a:r>
              <a:rPr lang="en-US" altLang="zh-TW" dirty="0" smtClean="0">
                <a:latin typeface="Times New Roman" panose="02020603050405020304" pitchFamily="18" charset="0"/>
                <a:cs typeface="Times New Roman" panose="02020603050405020304" pitchFamily="18" charset="0"/>
              </a:rPr>
              <a:t>:</a:t>
            </a:r>
            <a:r>
              <a:rPr lang="zh-TW" altLang="en-US" dirty="0" smtClean="0">
                <a:latin typeface="Times New Roman" panose="02020603050405020304" pitchFamily="18" charset="0"/>
                <a:cs typeface="Times New Roman" panose="02020603050405020304" pitchFamily="18" charset="0"/>
              </a:rPr>
              <a:t>葉冠廷</a:t>
            </a:r>
            <a:endParaRPr lang="en-US" altLang="zh-TW" dirty="0" smtClean="0">
              <a:latin typeface="Times New Roman" panose="02020603050405020304" pitchFamily="18" charset="0"/>
              <a:cs typeface="Times New Roman" panose="02020603050405020304" pitchFamily="18" charset="0"/>
            </a:endParaRPr>
          </a:p>
          <a:p>
            <a:r>
              <a:rPr lang="zh-TW" altLang="en-US" dirty="0" smtClean="0">
                <a:latin typeface="Times New Roman" panose="02020603050405020304" pitchFamily="18" charset="0"/>
                <a:cs typeface="Times New Roman" panose="02020603050405020304" pitchFamily="18" charset="0"/>
              </a:rPr>
              <a:t>指導教授</a:t>
            </a:r>
            <a:r>
              <a:rPr lang="en-US" altLang="zh-TW" dirty="0" smtClean="0">
                <a:latin typeface="Times New Roman" panose="02020603050405020304" pitchFamily="18" charset="0"/>
                <a:cs typeface="Times New Roman" panose="02020603050405020304" pitchFamily="18" charset="0"/>
              </a:rPr>
              <a:t>:</a:t>
            </a:r>
            <a:r>
              <a:rPr lang="zh-TW" altLang="en-US" dirty="0" smtClean="0">
                <a:latin typeface="Times New Roman" panose="02020603050405020304" pitchFamily="18" charset="0"/>
                <a:cs typeface="Times New Roman" panose="02020603050405020304" pitchFamily="18" charset="0"/>
              </a:rPr>
              <a:t>陳彥宏 博士</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16672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群組 9"/>
          <p:cNvGrpSpPr/>
          <p:nvPr/>
        </p:nvGrpSpPr>
        <p:grpSpPr>
          <a:xfrm>
            <a:off x="3487152" y="2680175"/>
            <a:ext cx="5736917" cy="1920403"/>
            <a:chOff x="4904378" y="4184924"/>
            <a:chExt cx="5281814" cy="1764923"/>
          </a:xfrm>
          <a:solidFill>
            <a:schemeClr val="bg1">
              <a:alpha val="98000"/>
            </a:schemeClr>
          </a:solidFill>
        </p:grpSpPr>
        <p:pic>
          <p:nvPicPr>
            <p:cNvPr id="1028" name="Picture 4" descr="http://www.ncu.edu.tw/assets/images/log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4378" y="4184924"/>
              <a:ext cx="5281814" cy="1764923"/>
            </a:xfrm>
            <a:prstGeom prst="rect">
              <a:avLst/>
            </a:prstGeom>
            <a:grpFill/>
            <a:effectLst>
              <a:outerShdw blurRad="50800" dist="50800" dir="5400000" algn="ctr" rotWithShape="0">
                <a:srgbClr val="000000">
                  <a:alpha val="0"/>
                </a:srgbClr>
              </a:outerShdw>
            </a:effectLst>
          </p:spPr>
        </p:pic>
        <p:sp>
          <p:nvSpPr>
            <p:cNvPr id="9" name="矩形 8"/>
            <p:cNvSpPr/>
            <p:nvPr/>
          </p:nvSpPr>
          <p:spPr>
            <a:xfrm>
              <a:off x="4904378" y="4184924"/>
              <a:ext cx="5281814" cy="1764923"/>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4" name="文字方塊 3"/>
          <p:cNvSpPr txBox="1"/>
          <p:nvPr/>
        </p:nvSpPr>
        <p:spPr>
          <a:xfrm>
            <a:off x="19359" y="183099"/>
            <a:ext cx="2491388" cy="1015663"/>
          </a:xfrm>
          <a:prstGeom prst="rect">
            <a:avLst/>
          </a:prstGeom>
          <a:noFill/>
        </p:spPr>
        <p:txBody>
          <a:bodyPr wrap="none" rtlCol="0">
            <a:spAutoFit/>
          </a:bodyPr>
          <a:lstStyle/>
          <a:p>
            <a:r>
              <a:rPr lang="en-US" altLang="zh-TW" sz="6000" dirty="0" smtClean="0">
                <a:latin typeface="Times New Roman" panose="02020603050405020304" pitchFamily="18" charset="0"/>
                <a:cs typeface="Times New Roman" panose="02020603050405020304" pitchFamily="18" charset="0"/>
              </a:rPr>
              <a:t>Outline</a:t>
            </a:r>
            <a:endParaRPr lang="zh-TW" altLang="en-US" sz="6000" dirty="0">
              <a:latin typeface="Times New Roman" panose="02020603050405020304" pitchFamily="18" charset="0"/>
              <a:cs typeface="Times New Roman" panose="02020603050405020304" pitchFamily="18" charset="0"/>
            </a:endParaRPr>
          </a:p>
        </p:txBody>
      </p:sp>
      <p:sp>
        <p:nvSpPr>
          <p:cNvPr id="5" name="文字方塊 4"/>
          <p:cNvSpPr txBox="1"/>
          <p:nvPr/>
        </p:nvSpPr>
        <p:spPr>
          <a:xfrm>
            <a:off x="441564" y="1906668"/>
            <a:ext cx="3509764" cy="3970318"/>
          </a:xfrm>
          <a:prstGeom prst="rect">
            <a:avLst/>
          </a:prstGeom>
          <a:noFill/>
        </p:spPr>
        <p:txBody>
          <a:bodyPr wrap="square" rtlCol="0">
            <a:spAutoFit/>
          </a:bodyPr>
          <a:lstStyle/>
          <a:p>
            <a:pPr marL="285750" indent="-285750">
              <a:buFont typeface="Arial" panose="020B0604020202020204" pitchFamily="34" charset="0"/>
              <a:buChar char="•"/>
            </a:pPr>
            <a:r>
              <a:rPr lang="en-US" altLang="zh-TW" sz="3600" dirty="0" smtClean="0">
                <a:latin typeface="Times New Roman" panose="02020603050405020304" pitchFamily="18" charset="0"/>
                <a:cs typeface="Times New Roman" panose="02020603050405020304" pitchFamily="18" charset="0"/>
              </a:rPr>
              <a:t>History</a:t>
            </a:r>
          </a:p>
          <a:p>
            <a:pPr marL="285750" indent="-285750">
              <a:buFont typeface="Arial" panose="020B0604020202020204" pitchFamily="34" charset="0"/>
              <a:buChar char="•"/>
            </a:pPr>
            <a:r>
              <a:rPr lang="en-US" altLang="zh-TW" sz="3600" dirty="0" smtClean="0">
                <a:latin typeface="Times New Roman" panose="02020603050405020304" pitchFamily="18" charset="0"/>
                <a:cs typeface="Times New Roman" panose="02020603050405020304" pitchFamily="18" charset="0"/>
              </a:rPr>
              <a:t>Motivation</a:t>
            </a:r>
          </a:p>
          <a:p>
            <a:pPr marL="285750" indent="-285750">
              <a:buFont typeface="Arial" panose="020B0604020202020204" pitchFamily="34" charset="0"/>
              <a:buChar char="•"/>
            </a:pPr>
            <a:r>
              <a:rPr lang="en-US" altLang="zh-TW" sz="3600" dirty="0" smtClean="0">
                <a:latin typeface="Times New Roman" panose="02020603050405020304" pitchFamily="18" charset="0"/>
                <a:cs typeface="Times New Roman" panose="02020603050405020304" pitchFamily="18" charset="0"/>
              </a:rPr>
              <a:t>Principle</a:t>
            </a:r>
          </a:p>
          <a:p>
            <a:pPr marL="285750" indent="-285750">
              <a:buFont typeface="Arial" panose="020B0604020202020204" pitchFamily="34" charset="0"/>
              <a:buChar char="•"/>
            </a:pPr>
            <a:r>
              <a:rPr lang="en-US" altLang="zh-TW" sz="3600" dirty="0" smtClean="0">
                <a:latin typeface="Times New Roman" panose="02020603050405020304" pitchFamily="18" charset="0"/>
                <a:cs typeface="Times New Roman" panose="02020603050405020304" pitchFamily="18" charset="0"/>
              </a:rPr>
              <a:t>Stimulation</a:t>
            </a:r>
          </a:p>
          <a:p>
            <a:pPr marL="285750" indent="-285750">
              <a:buFont typeface="Arial" panose="020B0604020202020204" pitchFamily="34" charset="0"/>
              <a:buChar char="•"/>
            </a:pPr>
            <a:r>
              <a:rPr lang="en-US" altLang="zh-TW" sz="3600" dirty="0" smtClean="0">
                <a:latin typeface="Times New Roman" panose="02020603050405020304" pitchFamily="18" charset="0"/>
                <a:cs typeface="Times New Roman" panose="02020603050405020304" pitchFamily="18" charset="0"/>
              </a:rPr>
              <a:t>Result</a:t>
            </a:r>
          </a:p>
          <a:p>
            <a:pPr marL="285750" indent="-285750">
              <a:buFont typeface="Arial" panose="020B0604020202020204" pitchFamily="34" charset="0"/>
              <a:buChar char="•"/>
            </a:pPr>
            <a:r>
              <a:rPr lang="en-US" altLang="zh-TW" sz="3600" dirty="0" smtClean="0">
                <a:latin typeface="Times New Roman" panose="02020603050405020304" pitchFamily="18" charset="0"/>
                <a:cs typeface="Times New Roman" panose="02020603050405020304" pitchFamily="18" charset="0"/>
              </a:rPr>
              <a:t>Conclusion</a:t>
            </a:r>
          </a:p>
          <a:p>
            <a:pPr marL="285750" indent="-285750">
              <a:buFont typeface="Arial" panose="020B0604020202020204" pitchFamily="34" charset="0"/>
              <a:buChar char="•"/>
            </a:pPr>
            <a:r>
              <a:rPr lang="en-US" altLang="zh-TW" sz="3600" dirty="0" smtClean="0">
                <a:latin typeface="Times New Roman" panose="02020603050405020304" pitchFamily="18" charset="0"/>
                <a:cs typeface="Times New Roman" panose="02020603050405020304" pitchFamily="18" charset="0"/>
              </a:rPr>
              <a:t>Future work</a:t>
            </a:r>
            <a:endParaRPr lang="zh-TW" altLang="en-US" sz="3600" dirty="0">
              <a:latin typeface="Times New Roman" panose="02020603050405020304" pitchFamily="18" charset="0"/>
              <a:cs typeface="Times New Roman" panose="02020603050405020304" pitchFamily="18" charset="0"/>
            </a:endParaRPr>
          </a:p>
        </p:txBody>
      </p:sp>
      <p:sp>
        <p:nvSpPr>
          <p:cNvPr id="13" name="＞形箭號 12"/>
          <p:cNvSpPr/>
          <p:nvPr/>
        </p:nvSpPr>
        <p:spPr>
          <a:xfrm>
            <a:off x="10032000" y="1198762"/>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14" name="＞形箭號 13"/>
          <p:cNvSpPr/>
          <p:nvPr/>
        </p:nvSpPr>
        <p:spPr>
          <a:xfrm>
            <a:off x="8425048" y="1198762"/>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15" name="＞形箭號 14"/>
          <p:cNvSpPr/>
          <p:nvPr/>
        </p:nvSpPr>
        <p:spPr>
          <a:xfrm>
            <a:off x="6762882" y="1198762"/>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16" name="＞形箭號 15"/>
          <p:cNvSpPr/>
          <p:nvPr/>
        </p:nvSpPr>
        <p:spPr>
          <a:xfrm>
            <a:off x="5107858" y="1198762"/>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solidFill>
                <a:schemeClr val="tx1"/>
              </a:solidFill>
            </a:endParaRPr>
          </a:p>
        </p:txBody>
      </p:sp>
      <p:sp>
        <p:nvSpPr>
          <p:cNvPr id="17" name="＞形箭號 16"/>
          <p:cNvSpPr/>
          <p:nvPr/>
        </p:nvSpPr>
        <p:spPr>
          <a:xfrm>
            <a:off x="3444193" y="1198762"/>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dirty="0">
              <a:solidFill>
                <a:schemeClr val="tx1"/>
              </a:solidFill>
            </a:endParaRPr>
          </a:p>
        </p:txBody>
      </p:sp>
      <p:sp>
        <p:nvSpPr>
          <p:cNvPr id="18" name="＞形箭號 17"/>
          <p:cNvSpPr/>
          <p:nvPr/>
        </p:nvSpPr>
        <p:spPr>
          <a:xfrm>
            <a:off x="1778885" y="1198762"/>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19" name="＞形箭號 18"/>
          <p:cNvSpPr/>
          <p:nvPr/>
        </p:nvSpPr>
        <p:spPr>
          <a:xfrm>
            <a:off x="19359" y="1198762"/>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Tree>
    <p:extLst>
      <p:ext uri="{BB962C8B-B14F-4D97-AF65-F5344CB8AC3E}">
        <p14:creationId xmlns:p14="http://schemas.microsoft.com/office/powerpoint/2010/main" val="19638314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群組 9"/>
          <p:cNvGrpSpPr/>
          <p:nvPr/>
        </p:nvGrpSpPr>
        <p:grpSpPr>
          <a:xfrm>
            <a:off x="3152832" y="2603617"/>
            <a:ext cx="5736917" cy="1920403"/>
            <a:chOff x="4904378" y="4184924"/>
            <a:chExt cx="5281814" cy="1764923"/>
          </a:xfrm>
          <a:solidFill>
            <a:schemeClr val="bg1">
              <a:alpha val="98000"/>
            </a:schemeClr>
          </a:solidFill>
        </p:grpSpPr>
        <p:pic>
          <p:nvPicPr>
            <p:cNvPr id="1028" name="Picture 4" descr="http://www.ncu.edu.tw/assets/images/log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4378" y="4184924"/>
              <a:ext cx="5281814" cy="1764923"/>
            </a:xfrm>
            <a:prstGeom prst="rect">
              <a:avLst/>
            </a:prstGeom>
            <a:grpFill/>
            <a:effectLst>
              <a:outerShdw blurRad="50800" dist="50800" dir="5400000" algn="ctr" rotWithShape="0">
                <a:srgbClr val="000000">
                  <a:alpha val="0"/>
                </a:srgbClr>
              </a:outerShdw>
            </a:effectLst>
          </p:spPr>
        </p:pic>
        <p:sp>
          <p:nvSpPr>
            <p:cNvPr id="9" name="矩形 8"/>
            <p:cNvSpPr/>
            <p:nvPr/>
          </p:nvSpPr>
          <p:spPr>
            <a:xfrm>
              <a:off x="4904378" y="4184924"/>
              <a:ext cx="5281814" cy="1764923"/>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3" name="矩形 2"/>
          <p:cNvSpPr/>
          <p:nvPr/>
        </p:nvSpPr>
        <p:spPr>
          <a:xfrm>
            <a:off x="185895" y="-1147"/>
            <a:ext cx="2492990" cy="1015663"/>
          </a:xfrm>
          <a:prstGeom prst="rect">
            <a:avLst/>
          </a:prstGeom>
        </p:spPr>
        <p:txBody>
          <a:bodyPr wrap="none">
            <a:spAutoFit/>
          </a:bodyPr>
          <a:lstStyle/>
          <a:p>
            <a:r>
              <a:rPr lang="en-US" altLang="zh-TW" sz="6000" dirty="0" smtClean="0">
                <a:latin typeface="Times New Roman" panose="02020603050405020304" pitchFamily="18" charset="0"/>
                <a:cs typeface="Times New Roman" panose="02020603050405020304" pitchFamily="18" charset="0"/>
              </a:rPr>
              <a:t>History</a:t>
            </a:r>
            <a:endParaRPr lang="en-US" altLang="zh-TW" sz="6000" dirty="0">
              <a:latin typeface="Times New Roman" panose="02020603050405020304" pitchFamily="18" charset="0"/>
              <a:cs typeface="Times New Roman" panose="02020603050405020304" pitchFamily="18" charset="0"/>
            </a:endParaRPr>
          </a:p>
        </p:txBody>
      </p:sp>
      <p:sp>
        <p:nvSpPr>
          <p:cNvPr id="2" name="向右箭號 1"/>
          <p:cNvSpPr/>
          <p:nvPr/>
        </p:nvSpPr>
        <p:spPr>
          <a:xfrm>
            <a:off x="4748058" y="2826894"/>
            <a:ext cx="1733731" cy="520995"/>
          </a:xfrm>
          <a:prstGeom prst="rightArrow">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文字方塊 3"/>
          <p:cNvSpPr txBox="1"/>
          <p:nvPr/>
        </p:nvSpPr>
        <p:spPr>
          <a:xfrm>
            <a:off x="3987270" y="2916275"/>
            <a:ext cx="697627" cy="369332"/>
          </a:xfrm>
          <a:prstGeom prst="rect">
            <a:avLst/>
          </a:prstGeom>
          <a:noFill/>
        </p:spPr>
        <p:txBody>
          <a:bodyPr wrap="none" rtlCol="0">
            <a:spAutoFit/>
          </a:bodyPr>
          <a:lstStyle/>
          <a:p>
            <a:r>
              <a:rPr lang="en-US" altLang="zh-TW" dirty="0" smtClean="0"/>
              <a:t>1951</a:t>
            </a:r>
            <a:endParaRPr lang="zh-TW" altLang="en-US" dirty="0"/>
          </a:p>
        </p:txBody>
      </p:sp>
      <p:sp>
        <p:nvSpPr>
          <p:cNvPr id="12" name="文字方塊 11"/>
          <p:cNvSpPr txBox="1"/>
          <p:nvPr/>
        </p:nvSpPr>
        <p:spPr>
          <a:xfrm>
            <a:off x="6447031" y="2902725"/>
            <a:ext cx="697627" cy="369332"/>
          </a:xfrm>
          <a:prstGeom prst="rect">
            <a:avLst/>
          </a:prstGeom>
          <a:noFill/>
        </p:spPr>
        <p:txBody>
          <a:bodyPr wrap="none" rtlCol="0">
            <a:spAutoFit/>
          </a:bodyPr>
          <a:lstStyle/>
          <a:p>
            <a:r>
              <a:rPr lang="en-US" altLang="zh-TW" dirty="0" smtClean="0"/>
              <a:t>1961</a:t>
            </a:r>
            <a:endParaRPr lang="zh-TW" altLang="en-US" dirty="0"/>
          </a:p>
        </p:txBody>
      </p:sp>
      <p:sp>
        <p:nvSpPr>
          <p:cNvPr id="13" name="向右箭號 12"/>
          <p:cNvSpPr/>
          <p:nvPr/>
        </p:nvSpPr>
        <p:spPr>
          <a:xfrm>
            <a:off x="7101166" y="2826895"/>
            <a:ext cx="1848755" cy="520995"/>
          </a:xfrm>
          <a:prstGeom prst="rightArrow">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文字方塊 13"/>
          <p:cNvSpPr txBox="1"/>
          <p:nvPr/>
        </p:nvSpPr>
        <p:spPr>
          <a:xfrm>
            <a:off x="9047034" y="2810392"/>
            <a:ext cx="715260" cy="461665"/>
          </a:xfrm>
          <a:prstGeom prst="rect">
            <a:avLst/>
          </a:prstGeom>
          <a:noFill/>
        </p:spPr>
        <p:txBody>
          <a:bodyPr wrap="none" rtlCol="0">
            <a:spAutoFit/>
          </a:bodyPr>
          <a:lstStyle/>
          <a:p>
            <a:r>
              <a:rPr lang="en-US" altLang="zh-TW" sz="2400" dirty="0" smtClean="0">
                <a:latin typeface="Times New Roman" panose="02020603050405020304" pitchFamily="18" charset="0"/>
                <a:cs typeface="Times New Roman" panose="02020603050405020304" pitchFamily="18" charset="0"/>
              </a:rPr>
              <a:t>now</a:t>
            </a:r>
            <a:endParaRPr lang="zh-TW" altLang="en-US" sz="2400" dirty="0">
              <a:latin typeface="Times New Roman" panose="02020603050405020304" pitchFamily="18" charset="0"/>
              <a:cs typeface="Times New Roman" panose="02020603050405020304" pitchFamily="18" charset="0"/>
            </a:endParaRPr>
          </a:p>
        </p:txBody>
      </p:sp>
      <p:sp>
        <p:nvSpPr>
          <p:cNvPr id="15" name="文字方塊 14"/>
          <p:cNvSpPr txBox="1"/>
          <p:nvPr/>
        </p:nvSpPr>
        <p:spPr>
          <a:xfrm>
            <a:off x="1210116" y="2902727"/>
            <a:ext cx="697627" cy="369332"/>
          </a:xfrm>
          <a:prstGeom prst="rect">
            <a:avLst/>
          </a:prstGeom>
          <a:noFill/>
        </p:spPr>
        <p:txBody>
          <a:bodyPr wrap="none" rtlCol="0">
            <a:spAutoFit/>
          </a:bodyPr>
          <a:lstStyle/>
          <a:p>
            <a:r>
              <a:rPr lang="en-US" altLang="zh-TW" dirty="0" smtClean="0"/>
              <a:t>1917</a:t>
            </a:r>
            <a:endParaRPr lang="zh-TW" altLang="en-US" dirty="0"/>
          </a:p>
        </p:txBody>
      </p:sp>
      <p:sp>
        <p:nvSpPr>
          <p:cNvPr id="16" name="向右箭號 15"/>
          <p:cNvSpPr/>
          <p:nvPr/>
        </p:nvSpPr>
        <p:spPr>
          <a:xfrm>
            <a:off x="1968784" y="2826895"/>
            <a:ext cx="2018486" cy="520995"/>
          </a:xfrm>
          <a:prstGeom prst="rightArrow">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p:cNvSpPr/>
          <p:nvPr/>
        </p:nvSpPr>
        <p:spPr>
          <a:xfrm>
            <a:off x="1210116" y="3561526"/>
            <a:ext cx="2755883" cy="1292662"/>
          </a:xfrm>
          <a:prstGeom prst="rect">
            <a:avLst/>
          </a:prstGeom>
        </p:spPr>
        <p:txBody>
          <a:bodyPr wrap="none">
            <a:spAutoFit/>
          </a:bodyPr>
          <a:lstStyle/>
          <a:p>
            <a:pPr marL="285750" indent="-285750">
              <a:buFont typeface="Arial" panose="020B0604020202020204" pitchFamily="34" charset="0"/>
              <a:buChar char="•"/>
            </a:pPr>
            <a:r>
              <a:rPr lang="en-US" altLang="zh-TW" sz="2000" dirty="0">
                <a:solidFill>
                  <a:srgbClr val="000000"/>
                </a:solidFill>
                <a:latin typeface="Times New Roman" panose="02020603050405020304" pitchFamily="18" charset="0"/>
                <a:cs typeface="Times New Roman" panose="02020603050405020304" pitchFamily="18" charset="0"/>
              </a:rPr>
              <a:t>Stimulated </a:t>
            </a:r>
            <a:r>
              <a:rPr lang="en-US" altLang="zh-TW" sz="2000" dirty="0" smtClean="0">
                <a:solidFill>
                  <a:srgbClr val="000000"/>
                </a:solidFill>
                <a:latin typeface="Times New Roman" panose="02020603050405020304" pitchFamily="18" charset="0"/>
                <a:cs typeface="Times New Roman" panose="02020603050405020304" pitchFamily="18" charset="0"/>
              </a:rPr>
              <a:t>emission</a:t>
            </a:r>
          </a:p>
          <a:p>
            <a:pPr marL="285750" indent="-285750">
              <a:buFont typeface="Arial" panose="020B0604020202020204" pitchFamily="34" charset="0"/>
              <a:buChar char="•"/>
            </a:pPr>
            <a:r>
              <a:rPr lang="en-US" altLang="zh-TW" sz="2000" dirty="0">
                <a:solidFill>
                  <a:srgbClr val="000000"/>
                </a:solidFill>
                <a:latin typeface="Times New Roman" panose="02020603050405020304" pitchFamily="18" charset="0"/>
                <a:cs typeface="Times New Roman" panose="02020603050405020304" pitchFamily="18" charset="0"/>
              </a:rPr>
              <a:t>Spontaneous emission</a:t>
            </a:r>
          </a:p>
          <a:p>
            <a:pPr marL="285750" indent="-285750">
              <a:buFont typeface="Arial" panose="020B0604020202020204" pitchFamily="34" charset="0"/>
              <a:buChar char="•"/>
            </a:pPr>
            <a:r>
              <a:rPr lang="en-US" altLang="zh-TW" sz="2000" dirty="0">
                <a:solidFill>
                  <a:srgbClr val="000000"/>
                </a:solidFill>
                <a:latin typeface="Times New Roman" panose="02020603050405020304" pitchFamily="18" charset="0"/>
                <a:cs typeface="Times New Roman" panose="02020603050405020304" pitchFamily="18" charset="0"/>
              </a:rPr>
              <a:t>Absorption</a:t>
            </a:r>
          </a:p>
          <a:p>
            <a:pPr marL="285750" indent="-285750">
              <a:buFont typeface="Arial" panose="020B0604020202020204" pitchFamily="34" charset="0"/>
              <a:buChar char="•"/>
            </a:pPr>
            <a:endParaRPr lang="en-US" altLang="zh-TW" b="0" i="0" dirty="0">
              <a:solidFill>
                <a:srgbClr val="000000"/>
              </a:solidFill>
              <a:effectLst/>
              <a:latin typeface="Times New Roman" panose="02020603050405020304" pitchFamily="18" charset="0"/>
              <a:cs typeface="Times New Roman" panose="02020603050405020304" pitchFamily="18" charset="0"/>
            </a:endParaRPr>
          </a:p>
        </p:txBody>
      </p:sp>
      <p:sp>
        <p:nvSpPr>
          <p:cNvPr id="18" name="矩形 17"/>
          <p:cNvSpPr/>
          <p:nvPr/>
        </p:nvSpPr>
        <p:spPr>
          <a:xfrm>
            <a:off x="3982387" y="3527171"/>
            <a:ext cx="2499402" cy="400110"/>
          </a:xfrm>
          <a:prstGeom prst="rect">
            <a:avLst/>
          </a:prstGeom>
        </p:spPr>
        <p:txBody>
          <a:bodyPr wrap="none">
            <a:spAutoFit/>
          </a:bodyPr>
          <a:lstStyle/>
          <a:p>
            <a:pPr marL="285750" indent="-285750">
              <a:buFont typeface="Arial" panose="020B0604020202020204" pitchFamily="34" charset="0"/>
              <a:buChar char="•"/>
            </a:pPr>
            <a:r>
              <a:rPr lang="en-US" altLang="zh-TW" sz="2000" dirty="0" smtClean="0">
                <a:latin typeface="Times New Roman" panose="02020603050405020304" pitchFamily="18" charset="0"/>
                <a:ea typeface="標楷體" panose="03000509000000000000" pitchFamily="65" charset="-120"/>
              </a:rPr>
              <a:t>Population</a:t>
            </a:r>
            <a:r>
              <a:rPr lang="en-US" altLang="zh-TW" dirty="0" smtClean="0">
                <a:latin typeface="Times New Roman" panose="02020603050405020304" pitchFamily="18" charset="0"/>
                <a:ea typeface="標楷體" panose="03000509000000000000" pitchFamily="65" charset="-120"/>
              </a:rPr>
              <a:t> </a:t>
            </a:r>
            <a:r>
              <a:rPr lang="en-US" altLang="zh-TW" dirty="0">
                <a:latin typeface="Times New Roman" panose="02020603050405020304" pitchFamily="18" charset="0"/>
                <a:ea typeface="標楷體" panose="03000509000000000000" pitchFamily="65" charset="-120"/>
              </a:rPr>
              <a:t>inversion</a:t>
            </a:r>
            <a:endParaRPr lang="zh-TW" altLang="en-US" dirty="0"/>
          </a:p>
        </p:txBody>
      </p:sp>
      <p:sp>
        <p:nvSpPr>
          <p:cNvPr id="21" name="文字方塊 20"/>
          <p:cNvSpPr txBox="1"/>
          <p:nvPr/>
        </p:nvSpPr>
        <p:spPr>
          <a:xfrm>
            <a:off x="6481789" y="3543683"/>
            <a:ext cx="1600118" cy="400110"/>
          </a:xfrm>
          <a:prstGeom prst="rect">
            <a:avLst/>
          </a:prstGeom>
          <a:noFill/>
        </p:spPr>
        <p:txBody>
          <a:bodyPr wrap="none" rtlCol="0">
            <a:spAutoFit/>
          </a:bodyPr>
          <a:lstStyle/>
          <a:p>
            <a:pPr marL="285750" indent="-285750">
              <a:buFont typeface="Arial" panose="020B0604020202020204" pitchFamily="34" charset="0"/>
              <a:buChar char="•"/>
            </a:pPr>
            <a:r>
              <a:rPr lang="en-US" altLang="zh-TW" dirty="0" smtClean="0">
                <a:latin typeface="Times New Roman" panose="02020603050405020304" pitchFamily="18" charset="0"/>
                <a:cs typeface="Times New Roman" panose="02020603050405020304" pitchFamily="18" charset="0"/>
              </a:rPr>
              <a:t>Ruby </a:t>
            </a:r>
            <a:r>
              <a:rPr lang="en-US" altLang="zh-TW" sz="2000" dirty="0" smtClean="0">
                <a:latin typeface="Times New Roman" panose="02020603050405020304" pitchFamily="18" charset="0"/>
                <a:cs typeface="Times New Roman" panose="02020603050405020304" pitchFamily="18" charset="0"/>
              </a:rPr>
              <a:t>Laser</a:t>
            </a:r>
            <a:endParaRPr lang="zh-TW" altLang="en-US" dirty="0">
              <a:latin typeface="Times New Roman" panose="02020603050405020304" pitchFamily="18" charset="0"/>
              <a:cs typeface="Times New Roman" panose="02020603050405020304" pitchFamily="18" charset="0"/>
            </a:endParaRPr>
          </a:p>
        </p:txBody>
      </p:sp>
      <p:sp>
        <p:nvSpPr>
          <p:cNvPr id="23" name="文字方塊 22"/>
          <p:cNvSpPr txBox="1"/>
          <p:nvPr/>
        </p:nvSpPr>
        <p:spPr>
          <a:xfrm>
            <a:off x="8945800" y="3558365"/>
            <a:ext cx="2056973" cy="369332"/>
          </a:xfrm>
          <a:prstGeom prst="rect">
            <a:avLst/>
          </a:prstGeom>
          <a:noFill/>
        </p:spPr>
        <p:txBody>
          <a:bodyPr wrap="none" rtlCol="0">
            <a:spAutoFit/>
          </a:bodyPr>
          <a:lstStyle/>
          <a:p>
            <a:pPr marL="285750" indent="-285750">
              <a:buFont typeface="Arial" panose="020B0604020202020204" pitchFamily="34" charset="0"/>
              <a:buChar char="•"/>
            </a:pPr>
            <a:r>
              <a:rPr lang="en-US" altLang="zh-TW" dirty="0" smtClean="0">
                <a:latin typeface="Times New Roman" panose="02020603050405020304" pitchFamily="18" charset="0"/>
                <a:cs typeface="Times New Roman" panose="02020603050405020304" pitchFamily="18" charset="0"/>
              </a:rPr>
              <a:t>Nonlinear Optics</a:t>
            </a:r>
            <a:endParaRPr lang="zh-TW" altLang="en-US" dirty="0">
              <a:latin typeface="Times New Roman" panose="02020603050405020304" pitchFamily="18" charset="0"/>
              <a:cs typeface="Times New Roman" panose="02020603050405020304" pitchFamily="18" charset="0"/>
            </a:endParaRPr>
          </a:p>
        </p:txBody>
      </p:sp>
      <p:sp>
        <p:nvSpPr>
          <p:cNvPr id="27" name="＞形箭號 26"/>
          <p:cNvSpPr/>
          <p:nvPr/>
        </p:nvSpPr>
        <p:spPr>
          <a:xfrm>
            <a:off x="10032000" y="1159250"/>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28" name="＞形箭號 27"/>
          <p:cNvSpPr/>
          <p:nvPr/>
        </p:nvSpPr>
        <p:spPr>
          <a:xfrm>
            <a:off x="8425048" y="1159250"/>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29" name="＞形箭號 28"/>
          <p:cNvSpPr/>
          <p:nvPr/>
        </p:nvSpPr>
        <p:spPr>
          <a:xfrm>
            <a:off x="6762882" y="1159250"/>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30" name="＞形箭號 29"/>
          <p:cNvSpPr/>
          <p:nvPr/>
        </p:nvSpPr>
        <p:spPr>
          <a:xfrm>
            <a:off x="5107858" y="1159250"/>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solidFill>
                <a:schemeClr val="tx1"/>
              </a:solidFill>
            </a:endParaRPr>
          </a:p>
        </p:txBody>
      </p:sp>
      <p:sp>
        <p:nvSpPr>
          <p:cNvPr id="31" name="＞形箭號 30"/>
          <p:cNvSpPr/>
          <p:nvPr/>
        </p:nvSpPr>
        <p:spPr>
          <a:xfrm>
            <a:off x="3444193" y="1159250"/>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dirty="0">
              <a:solidFill>
                <a:schemeClr val="tx1"/>
              </a:solidFill>
            </a:endParaRPr>
          </a:p>
        </p:txBody>
      </p:sp>
      <p:sp>
        <p:nvSpPr>
          <p:cNvPr id="32" name="＞形箭號 31"/>
          <p:cNvSpPr/>
          <p:nvPr/>
        </p:nvSpPr>
        <p:spPr>
          <a:xfrm>
            <a:off x="1778885" y="1159250"/>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33" name="＞形箭號 32"/>
          <p:cNvSpPr/>
          <p:nvPr/>
        </p:nvSpPr>
        <p:spPr>
          <a:xfrm>
            <a:off x="19359" y="1159250"/>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History</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5746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down)">
                                      <p:cBhvr>
                                        <p:cTn id="15" dur="500"/>
                                        <p:tgtEl>
                                          <p:spTgt spid="16"/>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down)">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12" grpId="0"/>
      <p:bldP spid="13" grpId="0" animBg="1"/>
      <p:bldP spid="14" grpId="0"/>
      <p:bldP spid="15" grpId="0"/>
      <p:bldP spid="16" grpId="0" animBg="1"/>
      <p:bldP spid="5" grpId="0"/>
      <p:bldP spid="18" grpId="0"/>
      <p:bldP spid="21"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圖片 23"/>
          <p:cNvPicPr>
            <a:picLocks noChangeAspect="1"/>
          </p:cNvPicPr>
          <p:nvPr/>
        </p:nvPicPr>
        <p:blipFill>
          <a:blip r:embed="rId2"/>
          <a:stretch>
            <a:fillRect/>
          </a:stretch>
        </p:blipFill>
        <p:spPr>
          <a:xfrm>
            <a:off x="2185205" y="1626222"/>
            <a:ext cx="3170687" cy="4421623"/>
          </a:xfrm>
          <a:prstGeom prst="rect">
            <a:avLst/>
          </a:prstGeom>
        </p:spPr>
      </p:pic>
      <p:pic>
        <p:nvPicPr>
          <p:cNvPr id="25" name="圖片 24"/>
          <p:cNvPicPr>
            <a:picLocks noChangeAspect="1"/>
          </p:cNvPicPr>
          <p:nvPr/>
        </p:nvPicPr>
        <p:blipFill>
          <a:blip r:embed="rId3"/>
          <a:stretch>
            <a:fillRect/>
          </a:stretch>
        </p:blipFill>
        <p:spPr>
          <a:xfrm>
            <a:off x="6098978" y="1581946"/>
            <a:ext cx="3226070" cy="4510173"/>
          </a:xfrm>
          <a:prstGeom prst="rect">
            <a:avLst/>
          </a:prstGeom>
        </p:spPr>
      </p:pic>
      <p:sp>
        <p:nvSpPr>
          <p:cNvPr id="26" name="矩形 25"/>
          <p:cNvSpPr/>
          <p:nvPr/>
        </p:nvSpPr>
        <p:spPr>
          <a:xfrm>
            <a:off x="1101171" y="6142461"/>
            <a:ext cx="9198015" cy="461665"/>
          </a:xfrm>
          <a:prstGeom prst="rect">
            <a:avLst/>
          </a:prstGeom>
        </p:spPr>
        <p:txBody>
          <a:bodyPr wrap="square">
            <a:spAutoFit/>
          </a:bodyPr>
          <a:lstStyle/>
          <a:p>
            <a:r>
              <a:rPr lang="en-US" altLang="zh-TW" sz="1200" dirty="0">
                <a:solidFill>
                  <a:schemeClr val="tx1">
                    <a:lumMod val="95000"/>
                    <a:lumOff val="5000"/>
                  </a:schemeClr>
                </a:solidFill>
                <a:latin typeface="Times New Roman" panose="02020603050405020304" pitchFamily="18" charset="0"/>
                <a:cs typeface="Times New Roman" panose="02020603050405020304" pitchFamily="18" charset="0"/>
              </a:rPr>
              <a:t>George I. </a:t>
            </a:r>
            <a:r>
              <a:rPr lang="en-US" altLang="zh-TW" sz="1200" dirty="0" err="1">
                <a:solidFill>
                  <a:schemeClr val="tx1">
                    <a:lumMod val="95000"/>
                    <a:lumOff val="5000"/>
                  </a:schemeClr>
                </a:solidFill>
                <a:latin typeface="Times New Roman" panose="02020603050405020304" pitchFamily="18" charset="0"/>
                <a:cs typeface="Times New Roman" panose="02020603050405020304" pitchFamily="18" charset="0"/>
              </a:rPr>
              <a:t>Stegeman</a:t>
            </a:r>
            <a:r>
              <a:rPr lang="en-US" altLang="zh-TW" sz="12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zh-TW" sz="1200" dirty="0" err="1">
                <a:solidFill>
                  <a:schemeClr val="tx1">
                    <a:lumMod val="95000"/>
                    <a:lumOff val="5000"/>
                  </a:schemeClr>
                </a:solidFill>
                <a:latin typeface="Times New Roman" panose="02020603050405020304" pitchFamily="18" charset="0"/>
                <a:cs typeface="Times New Roman" panose="02020603050405020304" pitchFamily="18" charset="0"/>
              </a:rPr>
              <a:t>Mansoor</a:t>
            </a:r>
            <a:r>
              <a:rPr lang="en-US" altLang="zh-TW" sz="1200" dirty="0">
                <a:solidFill>
                  <a:schemeClr val="tx1">
                    <a:lumMod val="95000"/>
                    <a:lumOff val="5000"/>
                  </a:schemeClr>
                </a:solidFill>
                <a:latin typeface="Times New Roman" panose="02020603050405020304" pitchFamily="18" charset="0"/>
                <a:cs typeface="Times New Roman" panose="02020603050405020304" pitchFamily="18" charset="0"/>
              </a:rPr>
              <a:t> Sheik-</a:t>
            </a:r>
            <a:r>
              <a:rPr lang="en-US" altLang="zh-TW" sz="1200" dirty="0" err="1">
                <a:solidFill>
                  <a:schemeClr val="tx1">
                    <a:lumMod val="95000"/>
                    <a:lumOff val="5000"/>
                  </a:schemeClr>
                </a:solidFill>
                <a:latin typeface="Times New Roman" panose="02020603050405020304" pitchFamily="18" charset="0"/>
                <a:cs typeface="Times New Roman" panose="02020603050405020304" pitchFamily="18" charset="0"/>
              </a:rPr>
              <a:t>Bahae</a:t>
            </a:r>
            <a:r>
              <a:rPr lang="en-US" altLang="zh-TW" sz="1200" dirty="0">
                <a:solidFill>
                  <a:schemeClr val="tx1">
                    <a:lumMod val="95000"/>
                    <a:lumOff val="5000"/>
                  </a:schemeClr>
                </a:solidFill>
                <a:latin typeface="Times New Roman" panose="02020603050405020304" pitchFamily="18" charset="0"/>
                <a:cs typeface="Times New Roman" panose="02020603050405020304" pitchFamily="18" charset="0"/>
              </a:rPr>
              <a:t>, Eric Van </a:t>
            </a:r>
            <a:r>
              <a:rPr lang="en-US" altLang="zh-TW" sz="1200" dirty="0" err="1">
                <a:solidFill>
                  <a:schemeClr val="tx1">
                    <a:lumMod val="95000"/>
                    <a:lumOff val="5000"/>
                  </a:schemeClr>
                </a:solidFill>
                <a:latin typeface="Times New Roman" panose="02020603050405020304" pitchFamily="18" charset="0"/>
                <a:cs typeface="Times New Roman" panose="02020603050405020304" pitchFamily="18" charset="0"/>
              </a:rPr>
              <a:t>Stryland</a:t>
            </a:r>
            <a:r>
              <a:rPr lang="en-US" altLang="zh-TW" sz="1200" dirty="0">
                <a:solidFill>
                  <a:schemeClr val="tx1">
                    <a:lumMod val="95000"/>
                    <a:lumOff val="5000"/>
                  </a:schemeClr>
                </a:solidFill>
                <a:latin typeface="Times New Roman" panose="02020603050405020304" pitchFamily="18" charset="0"/>
                <a:cs typeface="Times New Roman" panose="02020603050405020304" pitchFamily="18" charset="0"/>
              </a:rPr>
              <a:t>, Gaetano </a:t>
            </a:r>
            <a:r>
              <a:rPr lang="en-US" altLang="zh-TW" sz="1200" dirty="0" err="1" smtClean="0">
                <a:solidFill>
                  <a:schemeClr val="tx1">
                    <a:lumMod val="95000"/>
                    <a:lumOff val="5000"/>
                  </a:schemeClr>
                </a:solidFill>
                <a:latin typeface="Times New Roman" panose="02020603050405020304" pitchFamily="18" charset="0"/>
                <a:cs typeface="Times New Roman" panose="02020603050405020304" pitchFamily="18" charset="0"/>
              </a:rPr>
              <a:t>Assanto</a:t>
            </a:r>
            <a:r>
              <a:rPr lang="en-US" altLang="zh-TW" sz="1200"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zh-TW" sz="1200" dirty="0">
                <a:solidFill>
                  <a:schemeClr val="tx1">
                    <a:lumMod val="95000"/>
                    <a:lumOff val="5000"/>
                  </a:schemeClr>
                </a:solidFill>
                <a:latin typeface="Times New Roman" panose="02020603050405020304" pitchFamily="18" charset="0"/>
                <a:cs typeface="Times New Roman" panose="02020603050405020304" pitchFamily="18" charset="0"/>
              </a:rPr>
              <a:t>Large nonlinear phase shifts in second-order nonlinear-optical </a:t>
            </a:r>
            <a:r>
              <a:rPr lang="en-US" altLang="zh-TW" sz="1200" dirty="0" smtClean="0">
                <a:solidFill>
                  <a:schemeClr val="tx1">
                    <a:lumMod val="95000"/>
                    <a:lumOff val="5000"/>
                  </a:schemeClr>
                </a:solidFill>
                <a:latin typeface="Times New Roman" panose="02020603050405020304" pitchFamily="18" charset="0"/>
                <a:cs typeface="Times New Roman" panose="02020603050405020304" pitchFamily="18" charset="0"/>
              </a:rPr>
              <a:t>processes, </a:t>
            </a:r>
            <a:r>
              <a:rPr lang="en-US" altLang="zh-TW" sz="1200" dirty="0">
                <a:solidFill>
                  <a:schemeClr val="tx1">
                    <a:lumMod val="95000"/>
                    <a:lumOff val="5000"/>
                  </a:schemeClr>
                </a:solidFill>
                <a:latin typeface="Times New Roman" panose="02020603050405020304" pitchFamily="18" charset="0"/>
                <a:cs typeface="Times New Roman" panose="02020603050405020304" pitchFamily="18" charset="0"/>
              </a:rPr>
              <a:t>Optics Letters , 18(1), 13, 1993</a:t>
            </a:r>
            <a:endParaRPr lang="zh-TW" alt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4" name="矩形 33"/>
          <p:cNvSpPr/>
          <p:nvPr/>
        </p:nvSpPr>
        <p:spPr>
          <a:xfrm>
            <a:off x="185895" y="-1147"/>
            <a:ext cx="2492990" cy="1015663"/>
          </a:xfrm>
          <a:prstGeom prst="rect">
            <a:avLst/>
          </a:prstGeom>
        </p:spPr>
        <p:txBody>
          <a:bodyPr wrap="none">
            <a:spAutoFit/>
          </a:bodyPr>
          <a:lstStyle/>
          <a:p>
            <a:r>
              <a:rPr lang="en-US" altLang="zh-TW" sz="6000" dirty="0" smtClean="0">
                <a:latin typeface="Times New Roman" panose="02020603050405020304" pitchFamily="18" charset="0"/>
                <a:cs typeface="Times New Roman" panose="02020603050405020304" pitchFamily="18" charset="0"/>
              </a:rPr>
              <a:t>History</a:t>
            </a:r>
            <a:endParaRPr lang="en-US" altLang="zh-TW" sz="6000" dirty="0">
              <a:latin typeface="Times New Roman" panose="02020603050405020304" pitchFamily="18" charset="0"/>
              <a:cs typeface="Times New Roman" panose="02020603050405020304" pitchFamily="18" charset="0"/>
            </a:endParaRPr>
          </a:p>
        </p:txBody>
      </p:sp>
      <p:sp>
        <p:nvSpPr>
          <p:cNvPr id="35" name="＞形箭號 34"/>
          <p:cNvSpPr/>
          <p:nvPr/>
        </p:nvSpPr>
        <p:spPr>
          <a:xfrm>
            <a:off x="10032000" y="1159250"/>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36" name="＞形箭號 35"/>
          <p:cNvSpPr/>
          <p:nvPr/>
        </p:nvSpPr>
        <p:spPr>
          <a:xfrm>
            <a:off x="8425048" y="1159250"/>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37" name="＞形箭號 36"/>
          <p:cNvSpPr/>
          <p:nvPr/>
        </p:nvSpPr>
        <p:spPr>
          <a:xfrm>
            <a:off x="6762882" y="1159250"/>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38" name="＞形箭號 37"/>
          <p:cNvSpPr/>
          <p:nvPr/>
        </p:nvSpPr>
        <p:spPr>
          <a:xfrm>
            <a:off x="5107858" y="1159250"/>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solidFill>
                <a:schemeClr val="tx1"/>
              </a:solidFill>
            </a:endParaRPr>
          </a:p>
        </p:txBody>
      </p:sp>
      <p:sp>
        <p:nvSpPr>
          <p:cNvPr id="39" name="＞形箭號 38"/>
          <p:cNvSpPr/>
          <p:nvPr/>
        </p:nvSpPr>
        <p:spPr>
          <a:xfrm>
            <a:off x="3444193" y="1159250"/>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dirty="0">
              <a:solidFill>
                <a:schemeClr val="tx1"/>
              </a:solidFill>
            </a:endParaRPr>
          </a:p>
        </p:txBody>
      </p:sp>
      <p:sp>
        <p:nvSpPr>
          <p:cNvPr id="40" name="＞形箭號 39"/>
          <p:cNvSpPr/>
          <p:nvPr/>
        </p:nvSpPr>
        <p:spPr>
          <a:xfrm>
            <a:off x="1778885" y="1159250"/>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41" name="＞形箭號 40"/>
          <p:cNvSpPr/>
          <p:nvPr/>
        </p:nvSpPr>
        <p:spPr>
          <a:xfrm>
            <a:off x="19359" y="1159250"/>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History</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26707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185895" y="-1147"/>
            <a:ext cx="2492990" cy="1015663"/>
          </a:xfrm>
          <a:prstGeom prst="rect">
            <a:avLst/>
          </a:prstGeom>
        </p:spPr>
        <p:txBody>
          <a:bodyPr wrap="none">
            <a:spAutoFit/>
          </a:bodyPr>
          <a:lstStyle/>
          <a:p>
            <a:r>
              <a:rPr lang="en-US" altLang="zh-TW" sz="6000" dirty="0" smtClean="0">
                <a:latin typeface="Times New Roman" panose="02020603050405020304" pitchFamily="18" charset="0"/>
                <a:cs typeface="Times New Roman" panose="02020603050405020304" pitchFamily="18" charset="0"/>
              </a:rPr>
              <a:t>History</a:t>
            </a:r>
            <a:endParaRPr lang="en-US" altLang="zh-TW" sz="6000" dirty="0">
              <a:latin typeface="Times New Roman" panose="02020603050405020304" pitchFamily="18" charset="0"/>
              <a:cs typeface="Times New Roman" panose="02020603050405020304" pitchFamily="18" charset="0"/>
            </a:endParaRPr>
          </a:p>
        </p:txBody>
      </p:sp>
      <p:sp>
        <p:nvSpPr>
          <p:cNvPr id="35" name="＞形箭號 34"/>
          <p:cNvSpPr/>
          <p:nvPr/>
        </p:nvSpPr>
        <p:spPr>
          <a:xfrm>
            <a:off x="10032000" y="1159250"/>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36" name="＞形箭號 35"/>
          <p:cNvSpPr/>
          <p:nvPr/>
        </p:nvSpPr>
        <p:spPr>
          <a:xfrm>
            <a:off x="8425048" y="1159250"/>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37" name="＞形箭號 36"/>
          <p:cNvSpPr/>
          <p:nvPr/>
        </p:nvSpPr>
        <p:spPr>
          <a:xfrm>
            <a:off x="6762882" y="1159250"/>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38" name="＞形箭號 37"/>
          <p:cNvSpPr/>
          <p:nvPr/>
        </p:nvSpPr>
        <p:spPr>
          <a:xfrm>
            <a:off x="5107858" y="1159250"/>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solidFill>
                <a:schemeClr val="tx1"/>
              </a:solidFill>
            </a:endParaRPr>
          </a:p>
        </p:txBody>
      </p:sp>
      <p:sp>
        <p:nvSpPr>
          <p:cNvPr id="39" name="＞形箭號 38"/>
          <p:cNvSpPr/>
          <p:nvPr/>
        </p:nvSpPr>
        <p:spPr>
          <a:xfrm>
            <a:off x="3444193" y="1159250"/>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dirty="0">
              <a:solidFill>
                <a:schemeClr val="tx1"/>
              </a:solidFill>
            </a:endParaRPr>
          </a:p>
        </p:txBody>
      </p:sp>
      <p:sp>
        <p:nvSpPr>
          <p:cNvPr id="40" name="＞形箭號 39"/>
          <p:cNvSpPr/>
          <p:nvPr/>
        </p:nvSpPr>
        <p:spPr>
          <a:xfrm>
            <a:off x="1778885" y="1159250"/>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41" name="＞形箭號 40"/>
          <p:cNvSpPr/>
          <p:nvPr/>
        </p:nvSpPr>
        <p:spPr>
          <a:xfrm>
            <a:off x="19359" y="1159250"/>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History</a:t>
            </a:r>
            <a:endParaRPr lang="en-US" altLang="zh-TW" dirty="0">
              <a:latin typeface="Times New Roman" panose="02020603050405020304" pitchFamily="18" charset="0"/>
              <a:cs typeface="Times New Roman" panose="02020603050405020304" pitchFamily="18" charset="0"/>
            </a:endParaRPr>
          </a:p>
        </p:txBody>
      </p:sp>
      <p:pic>
        <p:nvPicPr>
          <p:cNvPr id="13" name="圖片 12"/>
          <p:cNvPicPr>
            <a:picLocks noChangeAspect="1"/>
          </p:cNvPicPr>
          <p:nvPr/>
        </p:nvPicPr>
        <p:blipFill>
          <a:blip r:embed="rId2"/>
          <a:stretch>
            <a:fillRect/>
          </a:stretch>
        </p:blipFill>
        <p:spPr>
          <a:xfrm>
            <a:off x="5859043" y="1649555"/>
            <a:ext cx="5039060" cy="4401458"/>
          </a:xfrm>
          <a:prstGeom prst="rect">
            <a:avLst/>
          </a:prstGeom>
        </p:spPr>
      </p:pic>
      <p:pic>
        <p:nvPicPr>
          <p:cNvPr id="14" name="圖片 13"/>
          <p:cNvPicPr>
            <a:picLocks noChangeAspect="1"/>
          </p:cNvPicPr>
          <p:nvPr/>
        </p:nvPicPr>
        <p:blipFill>
          <a:blip r:embed="rId3"/>
          <a:stretch>
            <a:fillRect/>
          </a:stretch>
        </p:blipFill>
        <p:spPr>
          <a:xfrm>
            <a:off x="1164035" y="3143924"/>
            <a:ext cx="4080158" cy="1412720"/>
          </a:xfrm>
          <a:prstGeom prst="rect">
            <a:avLst/>
          </a:prstGeom>
        </p:spPr>
      </p:pic>
      <p:sp>
        <p:nvSpPr>
          <p:cNvPr id="15" name="矩形 14"/>
          <p:cNvSpPr/>
          <p:nvPr/>
        </p:nvSpPr>
        <p:spPr>
          <a:xfrm>
            <a:off x="1778885" y="6257512"/>
            <a:ext cx="9130007" cy="461665"/>
          </a:xfrm>
          <a:prstGeom prst="rect">
            <a:avLst/>
          </a:prstGeom>
        </p:spPr>
        <p:txBody>
          <a:bodyPr wrap="square">
            <a:spAutoFit/>
          </a:bodyPr>
          <a:lstStyle/>
          <a:p>
            <a:r>
              <a:rPr lang="en-US" altLang="zh-TW" sz="1200" dirty="0">
                <a:latin typeface="Times New Roman" panose="02020603050405020304" pitchFamily="18" charset="0"/>
                <a:cs typeface="Times New Roman" panose="02020603050405020304" pitchFamily="18" charset="0"/>
              </a:rPr>
              <a:t>D. C. Hutchings, J. S. Aitchison, C. N. </a:t>
            </a:r>
            <a:r>
              <a:rPr lang="en-US" altLang="zh-TW" sz="1200" dirty="0" err="1" smtClean="0">
                <a:latin typeface="Times New Roman" panose="02020603050405020304" pitchFamily="18" charset="0"/>
                <a:cs typeface="Times New Roman" panose="02020603050405020304" pitchFamily="18" charset="0"/>
              </a:rPr>
              <a:t>Ironside</a:t>
            </a:r>
            <a:r>
              <a:rPr lang="en-US" altLang="zh-TW" sz="1200" dirty="0">
                <a:latin typeface="Times New Roman" panose="02020603050405020304" pitchFamily="18" charset="0"/>
                <a:cs typeface="Times New Roman" panose="02020603050405020304" pitchFamily="18" charset="0"/>
              </a:rPr>
              <a:t>, All-optical switching based on nondegenerate phase shifts</a:t>
            </a:r>
          </a:p>
          <a:p>
            <a:r>
              <a:rPr lang="en-US" altLang="zh-TW" sz="1200" dirty="0">
                <a:latin typeface="Times New Roman" panose="02020603050405020304" pitchFamily="18" charset="0"/>
                <a:cs typeface="Times New Roman" panose="02020603050405020304" pitchFamily="18" charset="0"/>
              </a:rPr>
              <a:t>from a cascaded second-order </a:t>
            </a:r>
            <a:r>
              <a:rPr lang="en-US" altLang="zh-TW" sz="1200" dirty="0" smtClean="0">
                <a:latin typeface="Times New Roman" panose="02020603050405020304" pitchFamily="18" charset="0"/>
                <a:cs typeface="Times New Roman" panose="02020603050405020304" pitchFamily="18" charset="0"/>
              </a:rPr>
              <a:t>nonlinearity, </a:t>
            </a:r>
            <a:r>
              <a:rPr lang="en-US" altLang="zh-TW" sz="1200" dirty="0">
                <a:latin typeface="Times New Roman" panose="02020603050405020304" pitchFamily="18" charset="0"/>
                <a:cs typeface="Times New Roman" panose="02020603050405020304" pitchFamily="18" charset="0"/>
              </a:rPr>
              <a:t>Optics Letters , 18(10), 793, 1993</a:t>
            </a:r>
            <a:endParaRPr lang="zh-TW" alt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24819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185895" y="-1147"/>
            <a:ext cx="2492990" cy="1015663"/>
          </a:xfrm>
          <a:prstGeom prst="rect">
            <a:avLst/>
          </a:prstGeom>
        </p:spPr>
        <p:txBody>
          <a:bodyPr wrap="none">
            <a:spAutoFit/>
          </a:bodyPr>
          <a:lstStyle/>
          <a:p>
            <a:r>
              <a:rPr lang="en-US" altLang="zh-TW" sz="6000" dirty="0" smtClean="0">
                <a:latin typeface="Times New Roman" panose="02020603050405020304" pitchFamily="18" charset="0"/>
                <a:cs typeface="Times New Roman" panose="02020603050405020304" pitchFamily="18" charset="0"/>
              </a:rPr>
              <a:t>History</a:t>
            </a:r>
            <a:endParaRPr lang="en-US" altLang="zh-TW" sz="6000" dirty="0">
              <a:latin typeface="Times New Roman" panose="02020603050405020304" pitchFamily="18" charset="0"/>
              <a:cs typeface="Times New Roman" panose="02020603050405020304" pitchFamily="18" charset="0"/>
            </a:endParaRPr>
          </a:p>
        </p:txBody>
      </p:sp>
      <p:sp>
        <p:nvSpPr>
          <p:cNvPr id="35" name="＞形箭號 34"/>
          <p:cNvSpPr/>
          <p:nvPr/>
        </p:nvSpPr>
        <p:spPr>
          <a:xfrm>
            <a:off x="10032000" y="1159250"/>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36" name="＞形箭號 35"/>
          <p:cNvSpPr/>
          <p:nvPr/>
        </p:nvSpPr>
        <p:spPr>
          <a:xfrm>
            <a:off x="8425048" y="1159250"/>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37" name="＞形箭號 36"/>
          <p:cNvSpPr/>
          <p:nvPr/>
        </p:nvSpPr>
        <p:spPr>
          <a:xfrm>
            <a:off x="6762882" y="1159250"/>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38" name="＞形箭號 37"/>
          <p:cNvSpPr/>
          <p:nvPr/>
        </p:nvSpPr>
        <p:spPr>
          <a:xfrm>
            <a:off x="5107858" y="1159250"/>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solidFill>
                <a:schemeClr val="tx1"/>
              </a:solidFill>
            </a:endParaRPr>
          </a:p>
        </p:txBody>
      </p:sp>
      <p:sp>
        <p:nvSpPr>
          <p:cNvPr id="39" name="＞形箭號 38"/>
          <p:cNvSpPr/>
          <p:nvPr/>
        </p:nvSpPr>
        <p:spPr>
          <a:xfrm>
            <a:off x="3444193" y="1159250"/>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dirty="0">
              <a:solidFill>
                <a:schemeClr val="tx1"/>
              </a:solidFill>
            </a:endParaRPr>
          </a:p>
        </p:txBody>
      </p:sp>
      <p:sp>
        <p:nvSpPr>
          <p:cNvPr id="40" name="＞形箭號 39"/>
          <p:cNvSpPr/>
          <p:nvPr/>
        </p:nvSpPr>
        <p:spPr>
          <a:xfrm>
            <a:off x="1778885" y="1159250"/>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41" name="＞形箭號 40"/>
          <p:cNvSpPr/>
          <p:nvPr/>
        </p:nvSpPr>
        <p:spPr>
          <a:xfrm>
            <a:off x="19359" y="1159250"/>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History</a:t>
            </a:r>
            <a:endParaRPr lang="en-US" altLang="zh-TW" dirty="0">
              <a:latin typeface="Times New Roman" panose="02020603050405020304" pitchFamily="18" charset="0"/>
              <a:cs typeface="Times New Roman" panose="02020603050405020304" pitchFamily="18" charset="0"/>
            </a:endParaRPr>
          </a:p>
        </p:txBody>
      </p:sp>
      <p:pic>
        <p:nvPicPr>
          <p:cNvPr id="10" name="圖片 9"/>
          <p:cNvPicPr>
            <a:picLocks noChangeAspect="1"/>
          </p:cNvPicPr>
          <p:nvPr/>
        </p:nvPicPr>
        <p:blipFill>
          <a:blip r:embed="rId2"/>
          <a:stretch>
            <a:fillRect/>
          </a:stretch>
        </p:blipFill>
        <p:spPr>
          <a:xfrm>
            <a:off x="1453851" y="2181792"/>
            <a:ext cx="4554007" cy="3282952"/>
          </a:xfrm>
          <a:prstGeom prst="rect">
            <a:avLst/>
          </a:prstGeom>
        </p:spPr>
      </p:pic>
      <p:pic>
        <p:nvPicPr>
          <p:cNvPr id="11" name="圖片 10"/>
          <p:cNvPicPr>
            <a:picLocks noChangeAspect="1"/>
          </p:cNvPicPr>
          <p:nvPr/>
        </p:nvPicPr>
        <p:blipFill>
          <a:blip r:embed="rId3"/>
          <a:stretch>
            <a:fillRect/>
          </a:stretch>
        </p:blipFill>
        <p:spPr>
          <a:xfrm>
            <a:off x="6762882" y="1620122"/>
            <a:ext cx="3556190" cy="5229690"/>
          </a:xfrm>
          <a:prstGeom prst="rect">
            <a:avLst/>
          </a:prstGeom>
        </p:spPr>
      </p:pic>
      <p:sp>
        <p:nvSpPr>
          <p:cNvPr id="12" name="矩形 11"/>
          <p:cNvSpPr/>
          <p:nvPr/>
        </p:nvSpPr>
        <p:spPr>
          <a:xfrm>
            <a:off x="942664" y="6203480"/>
            <a:ext cx="5820218" cy="646331"/>
          </a:xfrm>
          <a:prstGeom prst="rect">
            <a:avLst/>
          </a:prstGeom>
        </p:spPr>
        <p:txBody>
          <a:bodyPr wrap="square">
            <a:spAutoFit/>
          </a:bodyPr>
          <a:lstStyle/>
          <a:p>
            <a:r>
              <a:rPr lang="en-US" altLang="zh-TW" sz="1200" dirty="0">
                <a:latin typeface="Times New Roman" panose="02020603050405020304" pitchFamily="18" charset="0"/>
                <a:cs typeface="Times New Roman" panose="02020603050405020304" pitchFamily="18" charset="0"/>
              </a:rPr>
              <a:t>Y. </a:t>
            </a:r>
            <a:r>
              <a:rPr lang="en-US" altLang="zh-TW" sz="1200" dirty="0" err="1">
                <a:latin typeface="Times New Roman" panose="02020603050405020304" pitchFamily="18" charset="0"/>
                <a:cs typeface="Times New Roman" panose="02020603050405020304" pitchFamily="18" charset="0"/>
              </a:rPr>
              <a:t>Baek</a:t>
            </a:r>
            <a:r>
              <a:rPr lang="en-US" altLang="zh-TW" sz="1200" dirty="0">
                <a:latin typeface="Times New Roman" panose="02020603050405020304" pitchFamily="18" charset="0"/>
                <a:cs typeface="Times New Roman" panose="02020603050405020304" pitchFamily="18" charset="0"/>
              </a:rPr>
              <a:t>, R. </a:t>
            </a:r>
            <a:r>
              <a:rPr lang="en-US" altLang="zh-TW" sz="1200" dirty="0" err="1">
                <a:latin typeface="Times New Roman" panose="02020603050405020304" pitchFamily="18" charset="0"/>
                <a:cs typeface="Times New Roman" panose="02020603050405020304" pitchFamily="18" charset="0"/>
              </a:rPr>
              <a:t>Schiek</a:t>
            </a:r>
            <a:r>
              <a:rPr lang="en-US" altLang="zh-TW" sz="1200" dirty="0">
                <a:latin typeface="Times New Roman" panose="02020603050405020304" pitchFamily="18" charset="0"/>
                <a:cs typeface="Times New Roman" panose="02020603050405020304" pitchFamily="18" charset="0"/>
              </a:rPr>
              <a:t>, G. I. </a:t>
            </a:r>
            <a:r>
              <a:rPr lang="en-US" altLang="zh-TW" sz="1200" dirty="0" err="1">
                <a:latin typeface="Times New Roman" panose="02020603050405020304" pitchFamily="18" charset="0"/>
                <a:cs typeface="Times New Roman" panose="02020603050405020304" pitchFamily="18" charset="0"/>
              </a:rPr>
              <a:t>Stegeman</a:t>
            </a:r>
            <a:r>
              <a:rPr lang="en-US" altLang="zh-TW" sz="1200" dirty="0">
                <a:latin typeface="Times New Roman" panose="02020603050405020304" pitchFamily="18" charset="0"/>
                <a:cs typeface="Times New Roman" panose="02020603050405020304" pitchFamily="18" charset="0"/>
              </a:rPr>
              <a:t>, G. </a:t>
            </a:r>
            <a:r>
              <a:rPr lang="en-US" altLang="zh-TW" sz="1200" dirty="0" err="1">
                <a:latin typeface="Times New Roman" panose="02020603050405020304" pitchFamily="18" charset="0"/>
                <a:cs typeface="Times New Roman" panose="02020603050405020304" pitchFamily="18" charset="0"/>
              </a:rPr>
              <a:t>Krijnen</a:t>
            </a:r>
            <a:r>
              <a:rPr lang="en-US" altLang="zh-TW" sz="1200" dirty="0">
                <a:latin typeface="Times New Roman" panose="02020603050405020304" pitchFamily="18" charset="0"/>
                <a:cs typeface="Times New Roman" panose="02020603050405020304" pitchFamily="18" charset="0"/>
              </a:rPr>
              <a:t>, I. Baumann, W. </a:t>
            </a:r>
            <a:r>
              <a:rPr lang="en-US" altLang="zh-TW" sz="1200" dirty="0" err="1" smtClean="0">
                <a:latin typeface="Times New Roman" panose="02020603050405020304" pitchFamily="18" charset="0"/>
                <a:cs typeface="Times New Roman" panose="02020603050405020304" pitchFamily="18" charset="0"/>
              </a:rPr>
              <a:t>Sohler</a:t>
            </a:r>
            <a:r>
              <a:rPr lang="en-US" altLang="zh-TW" sz="1200" dirty="0" smtClean="0">
                <a:latin typeface="Times New Roman" panose="02020603050405020304" pitchFamily="18" charset="0"/>
                <a:cs typeface="Times New Roman" panose="02020603050405020304" pitchFamily="18" charset="0"/>
              </a:rPr>
              <a:t> ,</a:t>
            </a:r>
            <a:r>
              <a:rPr lang="en-US" altLang="zh-TW" sz="1200" dirty="0">
                <a:latin typeface="Times New Roman" panose="02020603050405020304" pitchFamily="18" charset="0"/>
                <a:cs typeface="Times New Roman" panose="02020603050405020304" pitchFamily="18" charset="0"/>
              </a:rPr>
              <a:t> All‐optical integrated Mach–</a:t>
            </a:r>
            <a:r>
              <a:rPr lang="en-US" altLang="zh-TW" sz="1200" dirty="0" err="1">
                <a:latin typeface="Times New Roman" panose="02020603050405020304" pitchFamily="18" charset="0"/>
                <a:cs typeface="Times New Roman" panose="02020603050405020304" pitchFamily="18" charset="0"/>
              </a:rPr>
              <a:t>Zehnder</a:t>
            </a:r>
            <a:r>
              <a:rPr lang="en-US" altLang="zh-TW" sz="1200" dirty="0">
                <a:latin typeface="Times New Roman" panose="02020603050405020304" pitchFamily="18" charset="0"/>
                <a:cs typeface="Times New Roman" panose="02020603050405020304" pitchFamily="18" charset="0"/>
              </a:rPr>
              <a:t> switching due to cascaded </a:t>
            </a:r>
            <a:r>
              <a:rPr lang="en-US" altLang="zh-TW" sz="1200" dirty="0" smtClean="0">
                <a:latin typeface="Times New Roman" panose="02020603050405020304" pitchFamily="18" charset="0"/>
                <a:cs typeface="Times New Roman" panose="02020603050405020304" pitchFamily="18" charset="0"/>
              </a:rPr>
              <a:t>nonlinearities, </a:t>
            </a:r>
            <a:r>
              <a:rPr lang="en-US" altLang="zh-TW" sz="1200" dirty="0">
                <a:latin typeface="Times New Roman" panose="02020603050405020304" pitchFamily="18" charset="0"/>
                <a:cs typeface="Times New Roman" panose="02020603050405020304" pitchFamily="18" charset="0"/>
              </a:rPr>
              <a:t>Applied Physics Letters , 68(15), 2055 - 2057, 1996</a:t>
            </a:r>
            <a:endParaRPr lang="zh-TW" alt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80159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185895" y="-1147"/>
            <a:ext cx="2492990" cy="1015663"/>
          </a:xfrm>
          <a:prstGeom prst="rect">
            <a:avLst/>
          </a:prstGeom>
        </p:spPr>
        <p:txBody>
          <a:bodyPr wrap="none">
            <a:spAutoFit/>
          </a:bodyPr>
          <a:lstStyle/>
          <a:p>
            <a:r>
              <a:rPr lang="en-US" altLang="zh-TW" sz="6000" dirty="0" smtClean="0">
                <a:latin typeface="Times New Roman" panose="02020603050405020304" pitchFamily="18" charset="0"/>
                <a:cs typeface="Times New Roman" panose="02020603050405020304" pitchFamily="18" charset="0"/>
              </a:rPr>
              <a:t>History</a:t>
            </a:r>
            <a:endParaRPr lang="en-US" altLang="zh-TW" sz="6000" dirty="0">
              <a:latin typeface="Times New Roman" panose="02020603050405020304" pitchFamily="18" charset="0"/>
              <a:cs typeface="Times New Roman" panose="02020603050405020304" pitchFamily="18" charset="0"/>
            </a:endParaRPr>
          </a:p>
        </p:txBody>
      </p:sp>
      <p:sp>
        <p:nvSpPr>
          <p:cNvPr id="35" name="＞形箭號 34"/>
          <p:cNvSpPr/>
          <p:nvPr/>
        </p:nvSpPr>
        <p:spPr>
          <a:xfrm>
            <a:off x="10032000" y="1159250"/>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36" name="＞形箭號 35"/>
          <p:cNvSpPr/>
          <p:nvPr/>
        </p:nvSpPr>
        <p:spPr>
          <a:xfrm>
            <a:off x="8425048" y="1159250"/>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37" name="＞形箭號 36"/>
          <p:cNvSpPr/>
          <p:nvPr/>
        </p:nvSpPr>
        <p:spPr>
          <a:xfrm>
            <a:off x="6762882" y="1159250"/>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38" name="＞形箭號 37"/>
          <p:cNvSpPr/>
          <p:nvPr/>
        </p:nvSpPr>
        <p:spPr>
          <a:xfrm>
            <a:off x="5107858" y="1159250"/>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solidFill>
                <a:schemeClr val="tx1"/>
              </a:solidFill>
            </a:endParaRPr>
          </a:p>
        </p:txBody>
      </p:sp>
      <p:sp>
        <p:nvSpPr>
          <p:cNvPr id="39" name="＞形箭號 38"/>
          <p:cNvSpPr/>
          <p:nvPr/>
        </p:nvSpPr>
        <p:spPr>
          <a:xfrm>
            <a:off x="3444193" y="1159250"/>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dirty="0">
              <a:solidFill>
                <a:schemeClr val="tx1"/>
              </a:solidFill>
            </a:endParaRPr>
          </a:p>
        </p:txBody>
      </p:sp>
      <p:sp>
        <p:nvSpPr>
          <p:cNvPr id="40" name="＞形箭號 39"/>
          <p:cNvSpPr/>
          <p:nvPr/>
        </p:nvSpPr>
        <p:spPr>
          <a:xfrm>
            <a:off x="1778885" y="1159250"/>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41" name="＞形箭號 40"/>
          <p:cNvSpPr/>
          <p:nvPr/>
        </p:nvSpPr>
        <p:spPr>
          <a:xfrm>
            <a:off x="19359" y="1159250"/>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History</a:t>
            </a:r>
            <a:endParaRPr lang="en-US" altLang="zh-TW" dirty="0">
              <a:latin typeface="Times New Roman" panose="02020603050405020304" pitchFamily="18" charset="0"/>
              <a:cs typeface="Times New Roman" panose="02020603050405020304" pitchFamily="18" charset="0"/>
            </a:endParaRPr>
          </a:p>
        </p:txBody>
      </p:sp>
      <p:pic>
        <p:nvPicPr>
          <p:cNvPr id="10" name="圖片 9"/>
          <p:cNvPicPr>
            <a:picLocks noChangeAspect="1"/>
          </p:cNvPicPr>
          <p:nvPr/>
        </p:nvPicPr>
        <p:blipFill>
          <a:blip r:embed="rId2"/>
          <a:stretch>
            <a:fillRect/>
          </a:stretch>
        </p:blipFill>
        <p:spPr>
          <a:xfrm>
            <a:off x="1155687" y="2428683"/>
            <a:ext cx="4661625" cy="2815578"/>
          </a:xfrm>
          <a:prstGeom prst="rect">
            <a:avLst/>
          </a:prstGeom>
        </p:spPr>
      </p:pic>
      <p:pic>
        <p:nvPicPr>
          <p:cNvPr id="11" name="圖片 10"/>
          <p:cNvPicPr>
            <a:picLocks noChangeAspect="1"/>
          </p:cNvPicPr>
          <p:nvPr/>
        </p:nvPicPr>
        <p:blipFill>
          <a:blip r:embed="rId3"/>
          <a:stretch>
            <a:fillRect/>
          </a:stretch>
        </p:blipFill>
        <p:spPr>
          <a:xfrm>
            <a:off x="5921485" y="2044918"/>
            <a:ext cx="5282793" cy="2844013"/>
          </a:xfrm>
          <a:prstGeom prst="rect">
            <a:avLst/>
          </a:prstGeom>
        </p:spPr>
      </p:pic>
      <p:sp>
        <p:nvSpPr>
          <p:cNvPr id="12" name="矩形 11"/>
          <p:cNvSpPr/>
          <p:nvPr/>
        </p:nvSpPr>
        <p:spPr>
          <a:xfrm>
            <a:off x="1427906" y="5955093"/>
            <a:ext cx="8987157" cy="461665"/>
          </a:xfrm>
          <a:prstGeom prst="rect">
            <a:avLst/>
          </a:prstGeom>
        </p:spPr>
        <p:txBody>
          <a:bodyPr wrap="square">
            <a:spAutoFit/>
          </a:bodyPr>
          <a:lstStyle/>
          <a:p>
            <a:r>
              <a:rPr lang="en-US" altLang="zh-TW" sz="1200" dirty="0">
                <a:latin typeface="Times New Roman" panose="02020603050405020304" pitchFamily="18" charset="0"/>
                <a:cs typeface="Times New Roman" panose="02020603050405020304" pitchFamily="18" charset="0"/>
              </a:rPr>
              <a:t>R. </a:t>
            </a:r>
            <a:r>
              <a:rPr lang="en-US" altLang="zh-TW" sz="1200" dirty="0" err="1">
                <a:latin typeface="Times New Roman" panose="02020603050405020304" pitchFamily="18" charset="0"/>
                <a:cs typeface="Times New Roman" panose="02020603050405020304" pitchFamily="18" charset="0"/>
              </a:rPr>
              <a:t>Schiek</a:t>
            </a:r>
            <a:r>
              <a:rPr lang="en-US" altLang="zh-TW" sz="1200" dirty="0">
                <a:latin typeface="Times New Roman" panose="02020603050405020304" pitchFamily="18" charset="0"/>
                <a:cs typeface="Times New Roman" panose="02020603050405020304" pitchFamily="18" charset="0"/>
              </a:rPr>
              <a:t>, L. Friedrich, H. Fang, G. I. </a:t>
            </a:r>
            <a:r>
              <a:rPr lang="en-US" altLang="zh-TW" sz="1200" dirty="0" err="1">
                <a:latin typeface="Times New Roman" panose="02020603050405020304" pitchFamily="18" charset="0"/>
                <a:cs typeface="Times New Roman" panose="02020603050405020304" pitchFamily="18" charset="0"/>
              </a:rPr>
              <a:t>Stegeman</a:t>
            </a:r>
            <a:r>
              <a:rPr lang="en-US" altLang="zh-TW" sz="1200" dirty="0">
                <a:latin typeface="Times New Roman" panose="02020603050405020304" pitchFamily="18" charset="0"/>
                <a:cs typeface="Times New Roman" panose="02020603050405020304" pitchFamily="18" charset="0"/>
              </a:rPr>
              <a:t>, K. R. </a:t>
            </a:r>
            <a:r>
              <a:rPr lang="en-US" altLang="zh-TW" sz="1200" dirty="0" err="1">
                <a:latin typeface="Times New Roman" panose="02020603050405020304" pitchFamily="18" charset="0"/>
                <a:cs typeface="Times New Roman" panose="02020603050405020304" pitchFamily="18" charset="0"/>
              </a:rPr>
              <a:t>Parameswaran</a:t>
            </a:r>
            <a:r>
              <a:rPr lang="en-US" altLang="zh-TW" sz="1200" dirty="0">
                <a:latin typeface="Times New Roman" panose="02020603050405020304" pitchFamily="18" charset="0"/>
                <a:cs typeface="Times New Roman" panose="02020603050405020304" pitchFamily="18" charset="0"/>
              </a:rPr>
              <a:t>, M.-H. Chou, M. M. </a:t>
            </a:r>
            <a:r>
              <a:rPr lang="en-US" altLang="zh-TW" sz="1200" dirty="0" err="1" smtClean="0">
                <a:latin typeface="Times New Roman" panose="02020603050405020304" pitchFamily="18" charset="0"/>
                <a:cs typeface="Times New Roman" panose="02020603050405020304" pitchFamily="18" charset="0"/>
              </a:rPr>
              <a:t>Fejer</a:t>
            </a:r>
            <a:r>
              <a:rPr lang="en-US" altLang="zh-TW" sz="1200" dirty="0" smtClean="0">
                <a:latin typeface="Times New Roman" panose="02020603050405020304" pitchFamily="18" charset="0"/>
                <a:cs typeface="Times New Roman" panose="02020603050405020304" pitchFamily="18" charset="0"/>
              </a:rPr>
              <a:t>, “Nonlinear </a:t>
            </a:r>
            <a:r>
              <a:rPr lang="en-US" altLang="zh-TW" sz="1200" dirty="0">
                <a:latin typeface="Times New Roman" panose="02020603050405020304" pitchFamily="18" charset="0"/>
                <a:cs typeface="Times New Roman" panose="02020603050405020304" pitchFamily="18" charset="0"/>
              </a:rPr>
              <a:t>directional coupler in periodically poled lithium </a:t>
            </a:r>
            <a:r>
              <a:rPr lang="en-US" altLang="zh-TW" sz="1200" dirty="0" err="1" smtClean="0">
                <a:latin typeface="Times New Roman" panose="02020603050405020304" pitchFamily="18" charset="0"/>
                <a:cs typeface="Times New Roman" panose="02020603050405020304" pitchFamily="18" charset="0"/>
              </a:rPr>
              <a:t>niobate</a:t>
            </a:r>
            <a:r>
              <a:rPr lang="en-US" altLang="zh-TW" sz="1200" dirty="0" smtClean="0">
                <a:latin typeface="Times New Roman" panose="02020603050405020304" pitchFamily="18" charset="0"/>
                <a:cs typeface="Times New Roman" panose="02020603050405020304" pitchFamily="18" charset="0"/>
              </a:rPr>
              <a:t>”, </a:t>
            </a:r>
            <a:r>
              <a:rPr lang="en-US" altLang="zh-TW" sz="1200" dirty="0">
                <a:latin typeface="Times New Roman" panose="02020603050405020304" pitchFamily="18" charset="0"/>
                <a:cs typeface="Times New Roman" panose="02020603050405020304" pitchFamily="18" charset="0"/>
              </a:rPr>
              <a:t>Optics </a:t>
            </a:r>
            <a:r>
              <a:rPr lang="en-US" altLang="zh-TW" sz="1200" dirty="0" smtClean="0">
                <a:latin typeface="Times New Roman" panose="02020603050405020304" pitchFamily="18" charset="0"/>
                <a:cs typeface="Times New Roman" panose="02020603050405020304" pitchFamily="18" charset="0"/>
              </a:rPr>
              <a:t>Letters</a:t>
            </a:r>
            <a:r>
              <a:rPr lang="en-US" altLang="zh-TW" sz="1200" dirty="0">
                <a:latin typeface="Times New Roman" panose="02020603050405020304" pitchFamily="18" charset="0"/>
                <a:cs typeface="Times New Roman" panose="02020603050405020304" pitchFamily="18" charset="0"/>
              </a:rPr>
              <a:t> , 24(22), 1617, 1999</a:t>
            </a:r>
            <a:endParaRPr lang="zh-TW" alt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81826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185895" y="-1147"/>
            <a:ext cx="2492990" cy="1015663"/>
          </a:xfrm>
          <a:prstGeom prst="rect">
            <a:avLst/>
          </a:prstGeom>
        </p:spPr>
        <p:txBody>
          <a:bodyPr wrap="none">
            <a:spAutoFit/>
          </a:bodyPr>
          <a:lstStyle/>
          <a:p>
            <a:r>
              <a:rPr lang="en-US" altLang="zh-TW" sz="6000" dirty="0" smtClean="0">
                <a:latin typeface="Times New Roman" panose="02020603050405020304" pitchFamily="18" charset="0"/>
                <a:cs typeface="Times New Roman" panose="02020603050405020304" pitchFamily="18" charset="0"/>
              </a:rPr>
              <a:t>History</a:t>
            </a:r>
            <a:endParaRPr lang="en-US" altLang="zh-TW" sz="6000" dirty="0">
              <a:latin typeface="Times New Roman" panose="02020603050405020304" pitchFamily="18" charset="0"/>
              <a:cs typeface="Times New Roman" panose="02020603050405020304" pitchFamily="18" charset="0"/>
            </a:endParaRPr>
          </a:p>
        </p:txBody>
      </p:sp>
      <p:sp>
        <p:nvSpPr>
          <p:cNvPr id="35" name="＞形箭號 34"/>
          <p:cNvSpPr/>
          <p:nvPr/>
        </p:nvSpPr>
        <p:spPr>
          <a:xfrm>
            <a:off x="10032000" y="1159250"/>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36" name="＞形箭號 35"/>
          <p:cNvSpPr/>
          <p:nvPr/>
        </p:nvSpPr>
        <p:spPr>
          <a:xfrm>
            <a:off x="8425048" y="1159250"/>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37" name="＞形箭號 36"/>
          <p:cNvSpPr/>
          <p:nvPr/>
        </p:nvSpPr>
        <p:spPr>
          <a:xfrm>
            <a:off x="6762882" y="1159250"/>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38" name="＞形箭號 37"/>
          <p:cNvSpPr/>
          <p:nvPr/>
        </p:nvSpPr>
        <p:spPr>
          <a:xfrm>
            <a:off x="5107858" y="1159250"/>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solidFill>
                <a:schemeClr val="tx1"/>
              </a:solidFill>
            </a:endParaRPr>
          </a:p>
        </p:txBody>
      </p:sp>
      <p:sp>
        <p:nvSpPr>
          <p:cNvPr id="39" name="＞形箭號 38"/>
          <p:cNvSpPr/>
          <p:nvPr/>
        </p:nvSpPr>
        <p:spPr>
          <a:xfrm>
            <a:off x="3444193" y="1159250"/>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dirty="0">
              <a:solidFill>
                <a:schemeClr val="tx1"/>
              </a:solidFill>
            </a:endParaRPr>
          </a:p>
        </p:txBody>
      </p:sp>
      <p:sp>
        <p:nvSpPr>
          <p:cNvPr id="40" name="＞形箭號 39"/>
          <p:cNvSpPr/>
          <p:nvPr/>
        </p:nvSpPr>
        <p:spPr>
          <a:xfrm>
            <a:off x="1778885" y="1159250"/>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41" name="＞形箭號 40"/>
          <p:cNvSpPr/>
          <p:nvPr/>
        </p:nvSpPr>
        <p:spPr>
          <a:xfrm>
            <a:off x="19359" y="1159250"/>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History</a:t>
            </a:r>
            <a:endParaRPr lang="en-US" altLang="zh-TW" dirty="0">
              <a:latin typeface="Times New Roman" panose="02020603050405020304" pitchFamily="18" charset="0"/>
              <a:cs typeface="Times New Roman" panose="02020603050405020304" pitchFamily="18" charset="0"/>
            </a:endParaRPr>
          </a:p>
        </p:txBody>
      </p:sp>
      <p:pic>
        <p:nvPicPr>
          <p:cNvPr id="10" name="圖片 9"/>
          <p:cNvPicPr>
            <a:picLocks noChangeAspect="1"/>
          </p:cNvPicPr>
          <p:nvPr/>
        </p:nvPicPr>
        <p:blipFill>
          <a:blip r:embed="rId2"/>
          <a:stretch>
            <a:fillRect/>
          </a:stretch>
        </p:blipFill>
        <p:spPr>
          <a:xfrm>
            <a:off x="6129244" y="1805581"/>
            <a:ext cx="4867275" cy="4886325"/>
          </a:xfrm>
          <a:prstGeom prst="rect">
            <a:avLst/>
          </a:prstGeom>
        </p:spPr>
      </p:pic>
      <p:pic>
        <p:nvPicPr>
          <p:cNvPr id="11" name="圖片 10"/>
          <p:cNvPicPr>
            <a:picLocks noChangeAspect="1"/>
          </p:cNvPicPr>
          <p:nvPr/>
        </p:nvPicPr>
        <p:blipFill>
          <a:blip r:embed="rId3"/>
          <a:stretch>
            <a:fillRect/>
          </a:stretch>
        </p:blipFill>
        <p:spPr>
          <a:xfrm>
            <a:off x="549285" y="2779769"/>
            <a:ext cx="4933950" cy="2266950"/>
          </a:xfrm>
          <a:prstGeom prst="rect">
            <a:avLst/>
          </a:prstGeom>
        </p:spPr>
      </p:pic>
      <p:sp>
        <p:nvSpPr>
          <p:cNvPr id="12" name="矩形 11"/>
          <p:cNvSpPr/>
          <p:nvPr/>
        </p:nvSpPr>
        <p:spPr>
          <a:xfrm>
            <a:off x="539076" y="6060266"/>
            <a:ext cx="5267164" cy="646331"/>
          </a:xfrm>
          <a:prstGeom prst="rect">
            <a:avLst/>
          </a:prstGeom>
        </p:spPr>
        <p:txBody>
          <a:bodyPr wrap="square">
            <a:spAutoFit/>
          </a:bodyPr>
          <a:lstStyle/>
          <a:p>
            <a:r>
              <a:rPr lang="it-IT" altLang="zh-TW" sz="1200" dirty="0">
                <a:solidFill>
                  <a:schemeClr val="tx1">
                    <a:lumMod val="95000"/>
                    <a:lumOff val="5000"/>
                  </a:schemeClr>
                </a:solidFill>
                <a:latin typeface="Times New Roman" panose="02020603050405020304" pitchFamily="18" charset="0"/>
                <a:cs typeface="Times New Roman" panose="02020603050405020304" pitchFamily="18" charset="0"/>
              </a:rPr>
              <a:t>Y. Lahini, F. Pozzi, M. Sorel, R. Morandotti, D. N. Christodoulides, Y. </a:t>
            </a:r>
            <a:r>
              <a:rPr lang="it-IT" altLang="zh-TW" sz="1200" dirty="0" smtClean="0">
                <a:solidFill>
                  <a:schemeClr val="tx1">
                    <a:lumMod val="95000"/>
                    <a:lumOff val="5000"/>
                  </a:schemeClr>
                </a:solidFill>
                <a:latin typeface="Times New Roman" panose="02020603050405020304" pitchFamily="18" charset="0"/>
                <a:cs typeface="Times New Roman" panose="02020603050405020304" pitchFamily="18" charset="0"/>
              </a:rPr>
              <a:t>Silberberg, </a:t>
            </a:r>
            <a:r>
              <a:rPr lang="en-US" altLang="zh-TW" sz="1200" dirty="0">
                <a:solidFill>
                  <a:schemeClr val="tx1">
                    <a:lumMod val="95000"/>
                    <a:lumOff val="5000"/>
                  </a:schemeClr>
                </a:solidFill>
                <a:latin typeface="Times New Roman" panose="02020603050405020304" pitchFamily="18" charset="0"/>
                <a:cs typeface="Times New Roman" panose="02020603050405020304" pitchFamily="18" charset="0"/>
              </a:rPr>
              <a:t>Effect of Nonlinearity on Adiabatic Evolution of Light</a:t>
            </a:r>
            <a:r>
              <a:rPr lang="it-IT" altLang="zh-TW" sz="1200"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zh-TW" sz="1200" dirty="0">
                <a:solidFill>
                  <a:schemeClr val="tx1">
                    <a:lumMod val="95000"/>
                    <a:lumOff val="5000"/>
                  </a:schemeClr>
                </a:solidFill>
                <a:latin typeface="Times New Roman" panose="02020603050405020304" pitchFamily="18" charset="0"/>
                <a:cs typeface="Times New Roman" panose="02020603050405020304" pitchFamily="18" charset="0"/>
              </a:rPr>
              <a:t>Physical Review Letters , 101(19), </a:t>
            </a:r>
            <a:r>
              <a:rPr lang="en-US" altLang="zh-TW" sz="1200" dirty="0" smtClean="0">
                <a:solidFill>
                  <a:schemeClr val="tx1">
                    <a:lumMod val="95000"/>
                    <a:lumOff val="5000"/>
                  </a:schemeClr>
                </a:solidFill>
                <a:latin typeface="Times New Roman" panose="02020603050405020304" pitchFamily="18" charset="0"/>
                <a:cs typeface="Times New Roman" panose="02020603050405020304" pitchFamily="18" charset="0"/>
              </a:rPr>
              <a:t>2008</a:t>
            </a:r>
            <a:endParaRPr lang="zh-TW" altLang="en-US" dirty="0"/>
          </a:p>
        </p:txBody>
      </p:sp>
    </p:spTree>
    <p:extLst>
      <p:ext uri="{BB962C8B-B14F-4D97-AF65-F5344CB8AC3E}">
        <p14:creationId xmlns:p14="http://schemas.microsoft.com/office/powerpoint/2010/main" val="30242187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群組 9"/>
          <p:cNvGrpSpPr/>
          <p:nvPr/>
        </p:nvGrpSpPr>
        <p:grpSpPr>
          <a:xfrm>
            <a:off x="3341752" y="2634077"/>
            <a:ext cx="5736917" cy="1920403"/>
            <a:chOff x="4904378" y="4184924"/>
            <a:chExt cx="5281814" cy="1764923"/>
          </a:xfrm>
          <a:solidFill>
            <a:schemeClr val="bg1">
              <a:alpha val="98000"/>
            </a:schemeClr>
          </a:solidFill>
        </p:grpSpPr>
        <p:pic>
          <p:nvPicPr>
            <p:cNvPr id="1028" name="Picture 4" descr="http://www.ncu.edu.tw/assets/images/log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4378" y="4184924"/>
              <a:ext cx="5281814" cy="1764923"/>
            </a:xfrm>
            <a:prstGeom prst="rect">
              <a:avLst/>
            </a:prstGeom>
            <a:grpFill/>
            <a:effectLst>
              <a:outerShdw blurRad="50800" dist="50800" dir="5400000" algn="ctr" rotWithShape="0">
                <a:srgbClr val="000000">
                  <a:alpha val="0"/>
                </a:srgbClr>
              </a:outerShdw>
            </a:effectLst>
          </p:spPr>
        </p:pic>
        <p:sp>
          <p:nvSpPr>
            <p:cNvPr id="9" name="矩形 8"/>
            <p:cNvSpPr/>
            <p:nvPr/>
          </p:nvSpPr>
          <p:spPr>
            <a:xfrm>
              <a:off x="4904378" y="4184924"/>
              <a:ext cx="5281814" cy="1764923"/>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2" name="矩形 1"/>
          <p:cNvSpPr/>
          <p:nvPr/>
        </p:nvSpPr>
        <p:spPr>
          <a:xfrm>
            <a:off x="19359" y="23850"/>
            <a:ext cx="3602268" cy="1015663"/>
          </a:xfrm>
          <a:prstGeom prst="rect">
            <a:avLst/>
          </a:prstGeom>
        </p:spPr>
        <p:txBody>
          <a:bodyPr wrap="none">
            <a:spAutoFit/>
          </a:bodyPr>
          <a:lstStyle/>
          <a:p>
            <a:r>
              <a:rPr lang="en-US" altLang="zh-TW" sz="6000" dirty="0">
                <a:latin typeface="Times New Roman" panose="02020603050405020304" pitchFamily="18" charset="0"/>
                <a:cs typeface="Times New Roman" panose="02020603050405020304" pitchFamily="18" charset="0"/>
              </a:rPr>
              <a:t>Motivation</a:t>
            </a:r>
          </a:p>
        </p:txBody>
      </p:sp>
      <p:sp>
        <p:nvSpPr>
          <p:cNvPr id="4" name="文字方塊 3"/>
          <p:cNvSpPr txBox="1"/>
          <p:nvPr/>
        </p:nvSpPr>
        <p:spPr>
          <a:xfrm>
            <a:off x="2537641" y="2153394"/>
            <a:ext cx="7494359" cy="707886"/>
          </a:xfrm>
          <a:prstGeom prst="rect">
            <a:avLst/>
          </a:prstGeom>
          <a:noFill/>
        </p:spPr>
        <p:txBody>
          <a:bodyPr wrap="none" rtlCol="0">
            <a:spAutoFit/>
          </a:bodyPr>
          <a:lstStyle/>
          <a:p>
            <a:r>
              <a:rPr lang="en-US" altLang="zh-TW" sz="4000" dirty="0" smtClean="0">
                <a:latin typeface="Times New Roman" panose="02020603050405020304" pitchFamily="18" charset="0"/>
                <a:cs typeface="Times New Roman" panose="02020603050405020304" pitchFamily="18" charset="0"/>
              </a:rPr>
              <a:t>Periodically Poled Lithium </a:t>
            </a:r>
            <a:r>
              <a:rPr lang="en-US" altLang="zh-TW" sz="4000" dirty="0" err="1" smtClean="0">
                <a:latin typeface="Times New Roman" panose="02020603050405020304" pitchFamily="18" charset="0"/>
                <a:cs typeface="Times New Roman" panose="02020603050405020304" pitchFamily="18" charset="0"/>
              </a:rPr>
              <a:t>Niobate</a:t>
            </a:r>
            <a:endParaRPr lang="zh-TW" altLang="en-US" sz="4000" dirty="0">
              <a:latin typeface="Times New Roman" panose="02020603050405020304" pitchFamily="18" charset="0"/>
              <a:cs typeface="Times New Roman" panose="02020603050405020304" pitchFamily="18" charset="0"/>
            </a:endParaRPr>
          </a:p>
        </p:txBody>
      </p:sp>
      <p:sp>
        <p:nvSpPr>
          <p:cNvPr id="5" name="加號 4"/>
          <p:cNvSpPr/>
          <p:nvPr/>
        </p:nvSpPr>
        <p:spPr>
          <a:xfrm>
            <a:off x="5822388" y="3734427"/>
            <a:ext cx="924865" cy="960202"/>
          </a:xfrm>
          <a:prstGeom prst="mathPlus">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TW" altLang="en-US"/>
          </a:p>
        </p:txBody>
      </p:sp>
      <p:sp>
        <p:nvSpPr>
          <p:cNvPr id="7" name="矩形 6"/>
          <p:cNvSpPr/>
          <p:nvPr/>
        </p:nvSpPr>
        <p:spPr>
          <a:xfrm>
            <a:off x="4304951" y="5213833"/>
            <a:ext cx="3959738" cy="707886"/>
          </a:xfrm>
          <a:prstGeom prst="rect">
            <a:avLst/>
          </a:prstGeom>
        </p:spPr>
        <p:txBody>
          <a:bodyPr wrap="none">
            <a:spAutoFit/>
          </a:bodyPr>
          <a:lstStyle/>
          <a:p>
            <a:r>
              <a:rPr lang="en-US" altLang="zh-TW" sz="4000" dirty="0" smtClean="0">
                <a:latin typeface="Times New Roman" panose="02020603050405020304" pitchFamily="18" charset="0"/>
                <a:cs typeface="Times New Roman" panose="02020603050405020304" pitchFamily="18" charset="0"/>
              </a:rPr>
              <a:t>Adiabatic Coupler</a:t>
            </a:r>
            <a:endParaRPr lang="zh-TW" altLang="en-US" sz="4000" dirty="0">
              <a:latin typeface="Times New Roman" panose="02020603050405020304" pitchFamily="18" charset="0"/>
              <a:cs typeface="Times New Roman" panose="02020603050405020304" pitchFamily="18" charset="0"/>
            </a:endParaRPr>
          </a:p>
        </p:txBody>
      </p:sp>
      <p:sp>
        <p:nvSpPr>
          <p:cNvPr id="13" name="＞形箭號 12"/>
          <p:cNvSpPr/>
          <p:nvPr/>
        </p:nvSpPr>
        <p:spPr>
          <a:xfrm>
            <a:off x="10032000" y="1139696"/>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14" name="＞形箭號 13"/>
          <p:cNvSpPr/>
          <p:nvPr/>
        </p:nvSpPr>
        <p:spPr>
          <a:xfrm>
            <a:off x="8425048" y="1139696"/>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15" name="＞形箭號 14"/>
          <p:cNvSpPr/>
          <p:nvPr/>
        </p:nvSpPr>
        <p:spPr>
          <a:xfrm>
            <a:off x="6762882" y="1139696"/>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16" name="＞形箭號 15"/>
          <p:cNvSpPr/>
          <p:nvPr/>
        </p:nvSpPr>
        <p:spPr>
          <a:xfrm>
            <a:off x="5107858" y="1139696"/>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solidFill>
                <a:schemeClr val="tx1"/>
              </a:solidFill>
            </a:endParaRPr>
          </a:p>
        </p:txBody>
      </p:sp>
      <p:sp>
        <p:nvSpPr>
          <p:cNvPr id="17" name="＞形箭號 16"/>
          <p:cNvSpPr/>
          <p:nvPr/>
        </p:nvSpPr>
        <p:spPr>
          <a:xfrm>
            <a:off x="3444193" y="1139696"/>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dirty="0">
              <a:solidFill>
                <a:schemeClr val="tx1"/>
              </a:solidFill>
            </a:endParaRPr>
          </a:p>
        </p:txBody>
      </p:sp>
      <p:sp>
        <p:nvSpPr>
          <p:cNvPr id="18" name="＞形箭號 17"/>
          <p:cNvSpPr/>
          <p:nvPr/>
        </p:nvSpPr>
        <p:spPr>
          <a:xfrm>
            <a:off x="1778885" y="1139696"/>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Motivation</a:t>
            </a:r>
            <a:endParaRPr lang="en-US" altLang="zh-TW" dirty="0">
              <a:latin typeface="Times New Roman" panose="02020603050405020304" pitchFamily="18" charset="0"/>
              <a:cs typeface="Times New Roman" panose="02020603050405020304" pitchFamily="18" charset="0"/>
            </a:endParaRPr>
          </a:p>
        </p:txBody>
      </p:sp>
      <p:sp>
        <p:nvSpPr>
          <p:cNvPr id="19" name="＞形箭號 18"/>
          <p:cNvSpPr/>
          <p:nvPr/>
        </p:nvSpPr>
        <p:spPr>
          <a:xfrm>
            <a:off x="19359" y="1139696"/>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Tree>
    <p:extLst>
      <p:ext uri="{BB962C8B-B14F-4D97-AF65-F5344CB8AC3E}">
        <p14:creationId xmlns:p14="http://schemas.microsoft.com/office/powerpoint/2010/main" val="3491436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群組 9"/>
          <p:cNvGrpSpPr/>
          <p:nvPr/>
        </p:nvGrpSpPr>
        <p:grpSpPr>
          <a:xfrm>
            <a:off x="3429279" y="2634964"/>
            <a:ext cx="5736917" cy="1920403"/>
            <a:chOff x="4904378" y="4184924"/>
            <a:chExt cx="5281814" cy="1764923"/>
          </a:xfrm>
          <a:solidFill>
            <a:schemeClr val="bg1">
              <a:alpha val="98000"/>
            </a:schemeClr>
          </a:solidFill>
        </p:grpSpPr>
        <p:pic>
          <p:nvPicPr>
            <p:cNvPr id="1028" name="Picture 4" descr="http://www.ncu.edu.tw/assets/images/logo.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4378" y="4184924"/>
              <a:ext cx="5281814" cy="1764923"/>
            </a:xfrm>
            <a:prstGeom prst="rect">
              <a:avLst/>
            </a:prstGeom>
            <a:grpFill/>
            <a:effectLst>
              <a:outerShdw blurRad="50800" dist="50800" dir="5400000" algn="ctr" rotWithShape="0">
                <a:srgbClr val="000000">
                  <a:alpha val="0"/>
                </a:srgbClr>
              </a:outerShdw>
            </a:effectLst>
          </p:spPr>
        </p:pic>
        <p:sp>
          <p:nvSpPr>
            <p:cNvPr id="9" name="矩形 8"/>
            <p:cNvSpPr/>
            <p:nvPr/>
          </p:nvSpPr>
          <p:spPr>
            <a:xfrm>
              <a:off x="4904378" y="4184924"/>
              <a:ext cx="5281814" cy="1764923"/>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3" name="矩形 2"/>
          <p:cNvSpPr/>
          <p:nvPr/>
        </p:nvSpPr>
        <p:spPr>
          <a:xfrm>
            <a:off x="738071" y="2127822"/>
            <a:ext cx="3010761" cy="461665"/>
          </a:xfrm>
          <a:prstGeom prst="rect">
            <a:avLst/>
          </a:prstGeom>
        </p:spPr>
        <p:txBody>
          <a:bodyPr wrap="none">
            <a:spAutoFit/>
          </a:bodyPr>
          <a:lstStyle/>
          <a:p>
            <a:r>
              <a:rPr lang="en-US" altLang="zh-TW" sz="2400" dirty="0" smtClean="0">
                <a:latin typeface="Times New Roman" panose="02020603050405020304" pitchFamily="18" charset="0"/>
                <a:cs typeface="Times New Roman" panose="02020603050405020304" pitchFamily="18" charset="0"/>
              </a:rPr>
              <a:t>Quasi-phase matching:</a:t>
            </a:r>
            <a:endParaRPr lang="en-US" altLang="zh-TW"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矩形 14"/>
              <p:cNvSpPr/>
              <p:nvPr/>
            </p:nvSpPr>
            <p:spPr>
              <a:xfrm>
                <a:off x="1915696" y="3117665"/>
                <a:ext cx="1770927" cy="116219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en-US" altLang="zh-TW" i="1" smtClean="0">
                              <a:solidFill>
                                <a:schemeClr val="tx1">
                                  <a:lumMod val="95000"/>
                                  <a:lumOff val="5000"/>
                                </a:schemeClr>
                              </a:solidFill>
                              <a:latin typeface="Cambria Math" panose="02040503050406030204" pitchFamily="18" charset="0"/>
                            </a:rPr>
                          </m:ctrlPr>
                        </m:sSupPr>
                        <m:e>
                          <m:r>
                            <a:rPr lang="zh-TW" altLang="en-US" i="1">
                              <a:solidFill>
                                <a:schemeClr val="tx1">
                                  <a:lumMod val="95000"/>
                                  <a:lumOff val="5000"/>
                                </a:schemeClr>
                              </a:solidFill>
                              <a:latin typeface="Cambria Math" panose="02040503050406030204" pitchFamily="18" charset="0"/>
                            </a:rPr>
                            <m:t>𝜒</m:t>
                          </m:r>
                        </m:e>
                        <m:sup>
                          <m:r>
                            <a:rPr lang="en-US" altLang="zh-TW" i="1">
                              <a:solidFill>
                                <a:schemeClr val="tx1">
                                  <a:lumMod val="95000"/>
                                  <a:lumOff val="5000"/>
                                </a:schemeClr>
                              </a:solidFill>
                              <a:latin typeface="Cambria Math" panose="02040503050406030204" pitchFamily="18" charset="0"/>
                            </a:rPr>
                            <m:t>(</m:t>
                          </m:r>
                          <m:r>
                            <a:rPr lang="en-US" altLang="zh-TW" b="0" i="1" smtClean="0">
                              <a:solidFill>
                                <a:schemeClr val="tx1">
                                  <a:lumMod val="95000"/>
                                  <a:lumOff val="5000"/>
                                </a:schemeClr>
                              </a:solidFill>
                              <a:latin typeface="Cambria Math" panose="02040503050406030204" pitchFamily="18" charset="0"/>
                            </a:rPr>
                            <m:t>2</m:t>
                          </m:r>
                          <m:r>
                            <a:rPr lang="en-US" altLang="zh-TW" i="1">
                              <a:solidFill>
                                <a:schemeClr val="tx1">
                                  <a:lumMod val="95000"/>
                                  <a:lumOff val="5000"/>
                                </a:schemeClr>
                              </a:solidFill>
                              <a:latin typeface="Cambria Math" panose="02040503050406030204" pitchFamily="18" charset="0"/>
                            </a:rPr>
                            <m:t>)</m:t>
                          </m:r>
                        </m:sup>
                      </m:sSup>
                    </m:oMath>
                  </m:oMathPara>
                </a14:m>
                <a:endParaRPr lang="zh-TW" altLang="en-US" dirty="0"/>
              </a:p>
            </p:txBody>
          </p:sp>
        </mc:Choice>
        <mc:Fallback xmlns="">
          <p:sp>
            <p:nvSpPr>
              <p:cNvPr id="15" name="矩形 14"/>
              <p:cNvSpPr>
                <a:spLocks noRot="1" noChangeAspect="1" noMove="1" noResize="1" noEditPoints="1" noAdjustHandles="1" noChangeArrowheads="1" noChangeShapeType="1" noTextEdit="1"/>
              </p:cNvSpPr>
              <p:nvPr/>
            </p:nvSpPr>
            <p:spPr>
              <a:xfrm>
                <a:off x="1915696" y="3117665"/>
                <a:ext cx="1770927" cy="1162191"/>
              </a:xfrm>
              <a:prstGeom prst="rect">
                <a:avLst/>
              </a:prstGeom>
              <a:blipFill>
                <a:blip r:embed="rId4"/>
                <a:stretch>
                  <a:fillRect/>
                </a:stretch>
              </a:blipFill>
              <a:ln>
                <a:solidFill>
                  <a:schemeClr val="tx1"/>
                </a:solidFill>
              </a:ln>
            </p:spPr>
            <p:txBody>
              <a:bodyPr/>
              <a:lstStyle/>
              <a:p>
                <a:r>
                  <a:rPr lang="zh-TW" altLang="en-US">
                    <a:noFill/>
                  </a:rPr>
                  <a:t> </a:t>
                </a:r>
              </a:p>
            </p:txBody>
          </p:sp>
        </mc:Fallback>
      </mc:AlternateContent>
      <p:sp>
        <p:nvSpPr>
          <p:cNvPr id="16" name="向右箭號 15"/>
          <p:cNvSpPr/>
          <p:nvPr/>
        </p:nvSpPr>
        <p:spPr>
          <a:xfrm>
            <a:off x="816102" y="3307146"/>
            <a:ext cx="975206" cy="369015"/>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向右箭號 17"/>
          <p:cNvSpPr/>
          <p:nvPr/>
        </p:nvSpPr>
        <p:spPr>
          <a:xfrm>
            <a:off x="3857309" y="3515296"/>
            <a:ext cx="975206" cy="369015"/>
          </a:xfrm>
          <a:prstGeom prst="right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7" name="文字方塊 16"/>
              <p:cNvSpPr txBox="1"/>
              <p:nvPr/>
            </p:nvSpPr>
            <p:spPr>
              <a:xfrm>
                <a:off x="816102" y="3272421"/>
                <a:ext cx="51751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𝜔</m:t>
                          </m:r>
                        </m:e>
                        <m:sub>
                          <m:r>
                            <a:rPr lang="en-US" altLang="zh-TW" b="0" i="1" smtClean="0">
                              <a:latin typeface="Cambria Math" panose="02040503050406030204" pitchFamily="18" charset="0"/>
                            </a:rPr>
                            <m:t>1</m:t>
                          </m:r>
                        </m:sub>
                      </m:sSub>
                    </m:oMath>
                  </m:oMathPara>
                </a14:m>
                <a:endParaRPr lang="zh-TW" altLang="en-US" dirty="0"/>
              </a:p>
            </p:txBody>
          </p:sp>
        </mc:Choice>
        <mc:Fallback xmlns="">
          <p:sp>
            <p:nvSpPr>
              <p:cNvPr id="17" name="文字方塊 16"/>
              <p:cNvSpPr txBox="1">
                <a:spLocks noRot="1" noChangeAspect="1" noMove="1" noResize="1" noEditPoints="1" noAdjustHandles="1" noChangeArrowheads="1" noChangeShapeType="1" noTextEdit="1"/>
              </p:cNvSpPr>
              <p:nvPr/>
            </p:nvSpPr>
            <p:spPr>
              <a:xfrm>
                <a:off x="816102" y="3272421"/>
                <a:ext cx="517513" cy="369332"/>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p:cNvSpPr txBox="1"/>
              <p:nvPr/>
            </p:nvSpPr>
            <p:spPr>
              <a:xfrm>
                <a:off x="3857309" y="3515296"/>
                <a:ext cx="5228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𝜔</m:t>
                          </m:r>
                        </m:e>
                        <m:sub>
                          <m:r>
                            <a:rPr lang="en-US" altLang="zh-TW" b="0" i="1" smtClean="0">
                              <a:latin typeface="Cambria Math" panose="02040503050406030204" pitchFamily="18" charset="0"/>
                            </a:rPr>
                            <m:t>3</m:t>
                          </m:r>
                        </m:sub>
                      </m:sSub>
                    </m:oMath>
                  </m:oMathPara>
                </a14:m>
                <a:endParaRPr lang="zh-TW" altLang="en-US" dirty="0"/>
              </a:p>
            </p:txBody>
          </p:sp>
        </mc:Choice>
        <mc:Fallback xmlns="">
          <p:sp>
            <p:nvSpPr>
              <p:cNvPr id="20" name="文字方塊 19"/>
              <p:cNvSpPr txBox="1">
                <a:spLocks noRot="1" noChangeAspect="1" noMove="1" noResize="1" noEditPoints="1" noAdjustHandles="1" noChangeArrowheads="1" noChangeShapeType="1" noTextEdit="1"/>
              </p:cNvSpPr>
              <p:nvPr/>
            </p:nvSpPr>
            <p:spPr>
              <a:xfrm>
                <a:off x="3857309" y="3515296"/>
                <a:ext cx="522835" cy="369332"/>
              </a:xfrm>
              <a:prstGeom prst="rect">
                <a:avLst/>
              </a:prstGeom>
              <a:blipFill>
                <a:blip r:embed="rId6"/>
                <a:stretch>
                  <a:fillRect/>
                </a:stretch>
              </a:blipFill>
            </p:spPr>
            <p:txBody>
              <a:bodyPr/>
              <a:lstStyle/>
              <a:p>
                <a:r>
                  <a:rPr lang="zh-TW" altLang="en-US">
                    <a:noFill/>
                  </a:rPr>
                  <a:t> </a:t>
                </a:r>
              </a:p>
            </p:txBody>
          </p:sp>
        </mc:Fallback>
      </mc:AlternateContent>
      <p:sp>
        <p:nvSpPr>
          <p:cNvPr id="21" name="文字方塊 20"/>
          <p:cNvSpPr txBox="1"/>
          <p:nvPr/>
        </p:nvSpPr>
        <p:spPr>
          <a:xfrm>
            <a:off x="816102" y="4599341"/>
            <a:ext cx="3039615" cy="707886"/>
          </a:xfrm>
          <a:prstGeom prst="rect">
            <a:avLst/>
          </a:prstGeom>
          <a:noFill/>
        </p:spPr>
        <p:txBody>
          <a:bodyPr wrap="none" rtlCol="0">
            <a:spAutoFit/>
          </a:bodyPr>
          <a:lstStyle/>
          <a:p>
            <a:pPr marL="285750" indent="-285750">
              <a:buFont typeface="Arial" panose="020B0604020202020204" pitchFamily="34" charset="0"/>
              <a:buChar char="•"/>
            </a:pPr>
            <a:r>
              <a:rPr lang="en-US" altLang="zh-TW" sz="2000" dirty="0" smtClean="0">
                <a:latin typeface="Times New Roman" panose="02020603050405020304" pitchFamily="18" charset="0"/>
                <a:cs typeface="Times New Roman" panose="02020603050405020304" pitchFamily="18" charset="0"/>
              </a:rPr>
              <a:t>Energy conservation</a:t>
            </a:r>
          </a:p>
          <a:p>
            <a:pPr marL="285750" indent="-285750">
              <a:buFont typeface="Arial" panose="020B0604020202020204" pitchFamily="34" charset="0"/>
              <a:buChar char="•"/>
            </a:pPr>
            <a:r>
              <a:rPr lang="en-US" altLang="zh-TW" sz="2000" dirty="0" smtClean="0">
                <a:latin typeface="Times New Roman" panose="02020603050405020304" pitchFamily="18" charset="0"/>
                <a:cs typeface="Times New Roman" panose="02020603050405020304" pitchFamily="18" charset="0"/>
              </a:rPr>
              <a:t>Momentum conservation</a:t>
            </a:r>
            <a:endParaRPr lang="zh-TW" altLang="en-US"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矩形 21"/>
              <p:cNvSpPr/>
              <p:nvPr/>
            </p:nvSpPr>
            <p:spPr>
              <a:xfrm>
                <a:off x="19360" y="66844"/>
                <a:ext cx="5567406" cy="105413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TW" sz="6000" i="1" smtClean="0">
                              <a:latin typeface="Cambria Math" panose="02040503050406030204" pitchFamily="18" charset="0"/>
                            </a:rPr>
                          </m:ctrlPr>
                        </m:sSupPr>
                        <m:e>
                          <m:r>
                            <a:rPr lang="zh-TW" altLang="en-US" sz="6000" i="1">
                              <a:latin typeface="Cambria Math" panose="02040503050406030204" pitchFamily="18" charset="0"/>
                            </a:rPr>
                            <m:t>𝜒</m:t>
                          </m:r>
                        </m:e>
                        <m:sup>
                          <m:r>
                            <a:rPr lang="en-US" altLang="zh-TW" sz="6000" i="1">
                              <a:latin typeface="Cambria Math" panose="02040503050406030204" pitchFamily="18" charset="0"/>
                            </a:rPr>
                            <m:t>(</m:t>
                          </m:r>
                          <m:r>
                            <a:rPr lang="en-US" altLang="zh-TW" sz="6000" b="0" i="1" smtClean="0">
                              <a:latin typeface="Cambria Math" panose="02040503050406030204" pitchFamily="18" charset="0"/>
                            </a:rPr>
                            <m:t>2</m:t>
                          </m:r>
                          <m:r>
                            <a:rPr lang="en-US" altLang="zh-TW" sz="6000" i="1">
                              <a:latin typeface="Cambria Math" panose="02040503050406030204" pitchFamily="18" charset="0"/>
                            </a:rPr>
                            <m:t>)</m:t>
                          </m:r>
                        </m:sup>
                      </m:sSup>
                      <m:r>
                        <m:rPr>
                          <m:nor/>
                        </m:rPr>
                        <a:rPr lang="en-US" altLang="zh-TW" sz="6000" dirty="0">
                          <a:latin typeface="Times New Roman" panose="02020603050405020304" pitchFamily="18" charset="0"/>
                          <a:cs typeface="Times New Roman" panose="02020603050405020304" pitchFamily="18" charset="0"/>
                        </a:rPr>
                        <m:t>nonlinearity</m:t>
                      </m:r>
                    </m:oMath>
                  </m:oMathPara>
                </a14:m>
                <a:endParaRPr lang="zh-TW" altLang="en-US" sz="6000" dirty="0"/>
              </a:p>
            </p:txBody>
          </p:sp>
        </mc:Choice>
        <mc:Fallback xmlns="">
          <p:sp>
            <p:nvSpPr>
              <p:cNvPr id="22" name="矩形 21"/>
              <p:cNvSpPr>
                <a:spLocks noRot="1" noChangeAspect="1" noMove="1" noResize="1" noEditPoints="1" noAdjustHandles="1" noChangeArrowheads="1" noChangeShapeType="1" noTextEdit="1"/>
              </p:cNvSpPr>
              <p:nvPr/>
            </p:nvSpPr>
            <p:spPr>
              <a:xfrm>
                <a:off x="19360" y="66844"/>
                <a:ext cx="5567406" cy="1054135"/>
              </a:xfrm>
              <a:prstGeom prst="rect">
                <a:avLst/>
              </a:prstGeom>
              <a:blipFill>
                <a:blip r:embed="rId7"/>
                <a:stretch>
                  <a:fillRect/>
                </a:stretch>
              </a:blipFill>
            </p:spPr>
            <p:txBody>
              <a:bodyPr/>
              <a:lstStyle/>
              <a:p>
                <a:r>
                  <a:rPr lang="zh-TW" altLang="en-US">
                    <a:noFill/>
                  </a:rPr>
                  <a:t> </a:t>
                </a:r>
              </a:p>
            </p:txBody>
          </p:sp>
        </mc:Fallback>
      </mc:AlternateContent>
      <p:sp>
        <p:nvSpPr>
          <p:cNvPr id="31" name="矩形 30"/>
          <p:cNvSpPr/>
          <p:nvPr/>
        </p:nvSpPr>
        <p:spPr>
          <a:xfrm>
            <a:off x="6625055" y="1927179"/>
            <a:ext cx="3352200" cy="461665"/>
          </a:xfrm>
          <a:prstGeom prst="rect">
            <a:avLst/>
          </a:prstGeom>
        </p:spPr>
        <p:txBody>
          <a:bodyPr wrap="none">
            <a:spAutoFit/>
          </a:bodyPr>
          <a:lstStyle/>
          <a:p>
            <a:r>
              <a:rPr lang="en-US" altLang="zh-TW" sz="2400" dirty="0">
                <a:latin typeface="Times New Roman" panose="02020603050405020304" pitchFamily="18" charset="0"/>
                <a:cs typeface="Times New Roman" panose="02020603050405020304" pitchFamily="18" charset="0"/>
              </a:rPr>
              <a:t>Momentum </a:t>
            </a:r>
            <a:r>
              <a:rPr lang="en-US" altLang="zh-TW" sz="2400" dirty="0" smtClean="0">
                <a:latin typeface="Times New Roman" panose="02020603050405020304" pitchFamily="18" charset="0"/>
                <a:cs typeface="Times New Roman" panose="02020603050405020304" pitchFamily="18" charset="0"/>
              </a:rPr>
              <a:t>conservation:</a:t>
            </a:r>
            <a:endParaRPr lang="zh-TW" altLang="en-US" sz="2400" dirty="0">
              <a:latin typeface="Times New Roman" panose="02020603050405020304" pitchFamily="18" charset="0"/>
              <a:cs typeface="Times New Roman" panose="02020603050405020304" pitchFamily="18" charset="0"/>
            </a:endParaRPr>
          </a:p>
        </p:txBody>
      </p:sp>
      <p:cxnSp>
        <p:nvCxnSpPr>
          <p:cNvPr id="33" name="直線單箭頭接點 32"/>
          <p:cNvCxnSpPr/>
          <p:nvPr/>
        </p:nvCxnSpPr>
        <p:spPr>
          <a:xfrm flipV="1">
            <a:off x="6757255" y="3149594"/>
            <a:ext cx="1219148" cy="14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flipV="1">
            <a:off x="6757255" y="3232976"/>
            <a:ext cx="2829513" cy="119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a:off x="7976403" y="3149594"/>
            <a:ext cx="108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文字方塊 38"/>
              <p:cNvSpPr txBox="1"/>
              <p:nvPr/>
            </p:nvSpPr>
            <p:spPr>
              <a:xfrm>
                <a:off x="8148410" y="2682448"/>
                <a:ext cx="609974" cy="44044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𝑘</m:t>
                              </m:r>
                            </m:e>
                          </m:acc>
                        </m:e>
                        <m:sub>
                          <m:sSub>
                            <m:sSubPr>
                              <m:ctrlPr>
                                <a:rPr lang="en-US" altLang="zh-TW" i="1">
                                  <a:latin typeface="Cambria Math" panose="02040503050406030204" pitchFamily="18" charset="0"/>
                                </a:rPr>
                              </m:ctrlPr>
                            </m:sSubPr>
                            <m:e>
                              <m:r>
                                <a:rPr lang="zh-TW" altLang="en-US" i="1">
                                  <a:latin typeface="Cambria Math" panose="02040503050406030204" pitchFamily="18" charset="0"/>
                                </a:rPr>
                                <m:t>𝜔</m:t>
                              </m:r>
                            </m:e>
                            <m:sub>
                              <m:r>
                                <a:rPr lang="en-US" altLang="zh-TW" i="1">
                                  <a:latin typeface="Cambria Math" panose="02040503050406030204" pitchFamily="18" charset="0"/>
                                </a:rPr>
                                <m:t>2</m:t>
                              </m:r>
                            </m:sub>
                          </m:sSub>
                        </m:sub>
                      </m:sSub>
                    </m:oMath>
                  </m:oMathPara>
                </a14:m>
                <a:endParaRPr lang="zh-TW" altLang="en-US" dirty="0"/>
              </a:p>
            </p:txBody>
          </p:sp>
        </mc:Choice>
        <mc:Fallback xmlns="">
          <p:sp>
            <p:nvSpPr>
              <p:cNvPr id="39" name="文字方塊 38"/>
              <p:cNvSpPr txBox="1">
                <a:spLocks noRot="1" noChangeAspect="1" noMove="1" noResize="1" noEditPoints="1" noAdjustHandles="1" noChangeArrowheads="1" noChangeShapeType="1" noTextEdit="1"/>
              </p:cNvSpPr>
              <p:nvPr/>
            </p:nvSpPr>
            <p:spPr>
              <a:xfrm>
                <a:off x="8148410" y="2682448"/>
                <a:ext cx="609974" cy="440442"/>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p:cNvSpPr txBox="1"/>
              <p:nvPr/>
            </p:nvSpPr>
            <p:spPr>
              <a:xfrm>
                <a:off x="6983670" y="2682448"/>
                <a:ext cx="609975" cy="44044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𝑘</m:t>
                              </m:r>
                            </m:e>
                          </m:acc>
                        </m:e>
                        <m:sub>
                          <m:sSub>
                            <m:sSubPr>
                              <m:ctrlPr>
                                <a:rPr lang="en-US" altLang="zh-TW" i="1">
                                  <a:latin typeface="Cambria Math" panose="02040503050406030204" pitchFamily="18" charset="0"/>
                                </a:rPr>
                              </m:ctrlPr>
                            </m:sSubPr>
                            <m:e>
                              <m:r>
                                <a:rPr lang="zh-TW" altLang="en-US" i="1">
                                  <a:latin typeface="Cambria Math" panose="02040503050406030204" pitchFamily="18" charset="0"/>
                                </a:rPr>
                                <m:t>𝜔</m:t>
                              </m:r>
                            </m:e>
                            <m:sub>
                              <m:r>
                                <a:rPr lang="en-US" altLang="zh-TW" i="1">
                                  <a:latin typeface="Cambria Math" panose="02040503050406030204" pitchFamily="18" charset="0"/>
                                </a:rPr>
                                <m:t>1</m:t>
                              </m:r>
                            </m:sub>
                          </m:sSub>
                        </m:sub>
                      </m:sSub>
                    </m:oMath>
                  </m:oMathPara>
                </a14:m>
                <a:endParaRPr lang="zh-TW" altLang="en-US" dirty="0"/>
              </a:p>
            </p:txBody>
          </p:sp>
        </mc:Choice>
        <mc:Fallback xmlns="">
          <p:sp>
            <p:nvSpPr>
              <p:cNvPr id="41" name="文字方塊 40"/>
              <p:cNvSpPr txBox="1">
                <a:spLocks noRot="1" noChangeAspect="1" noMove="1" noResize="1" noEditPoints="1" noAdjustHandles="1" noChangeArrowheads="1" noChangeShapeType="1" noTextEdit="1"/>
              </p:cNvSpPr>
              <p:nvPr/>
            </p:nvSpPr>
            <p:spPr>
              <a:xfrm>
                <a:off x="6983670" y="2682448"/>
                <a:ext cx="609975" cy="440442"/>
              </a:xfrm>
              <a:prstGeom prst="rect">
                <a:avLst/>
              </a:prstGeom>
              <a:blipFill>
                <a:blip r:embed="rId9"/>
                <a:stretch>
                  <a:fillRect/>
                </a:stretch>
              </a:blipFill>
            </p:spPr>
            <p:txBody>
              <a:bodyPr/>
              <a:lstStyle/>
              <a:p>
                <a:r>
                  <a:rPr lang="zh-TW" altLang="en-US">
                    <a:noFill/>
                  </a:rPr>
                  <a:t> </a:t>
                </a:r>
              </a:p>
            </p:txBody>
          </p:sp>
        </mc:Fallback>
      </mc:AlternateContent>
      <p:cxnSp>
        <p:nvCxnSpPr>
          <p:cNvPr id="49" name="直線單箭頭接點 48"/>
          <p:cNvCxnSpPr/>
          <p:nvPr/>
        </p:nvCxnSpPr>
        <p:spPr>
          <a:xfrm>
            <a:off x="9046768" y="3149594"/>
            <a:ext cx="54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文字方塊 49"/>
              <p:cNvSpPr txBox="1"/>
              <p:nvPr/>
            </p:nvSpPr>
            <p:spPr>
              <a:xfrm>
                <a:off x="9014797" y="2749621"/>
                <a:ext cx="5200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l-GR" altLang="zh-TW" i="1">
                          <a:latin typeface="Cambria Math" panose="02040503050406030204" pitchFamily="18" charset="0"/>
                          <a:ea typeface="Cambria Math" panose="02040503050406030204" pitchFamily="18" charset="0"/>
                        </a:rPr>
                        <m:t>Δ</m:t>
                      </m:r>
                      <m:r>
                        <a:rPr lang="en-US" altLang="zh-TW" i="1">
                          <a:latin typeface="Cambria Math" panose="02040503050406030204" pitchFamily="18" charset="0"/>
                          <a:ea typeface="Cambria Math" panose="02040503050406030204" pitchFamily="18" charset="0"/>
                        </a:rPr>
                        <m:t>𝑘</m:t>
                      </m:r>
                    </m:oMath>
                  </m:oMathPara>
                </a14:m>
                <a:endParaRPr lang="zh-TW" altLang="en-US" dirty="0"/>
              </a:p>
            </p:txBody>
          </p:sp>
        </mc:Choice>
        <mc:Fallback xmlns="">
          <p:sp>
            <p:nvSpPr>
              <p:cNvPr id="50" name="文字方塊 49"/>
              <p:cNvSpPr txBox="1">
                <a:spLocks noRot="1" noChangeAspect="1" noMove="1" noResize="1" noEditPoints="1" noAdjustHandles="1" noChangeArrowheads="1" noChangeShapeType="1" noTextEdit="1"/>
              </p:cNvSpPr>
              <p:nvPr/>
            </p:nvSpPr>
            <p:spPr>
              <a:xfrm>
                <a:off x="9014797" y="2749621"/>
                <a:ext cx="520014" cy="369332"/>
              </a:xfrm>
              <a:prstGeom prst="rect">
                <a:avLst/>
              </a:prstGeom>
              <a:blipFill>
                <a:blip r:embed="rId10"/>
                <a:stretch>
                  <a:fillRect/>
                </a:stretch>
              </a:blipFill>
            </p:spPr>
            <p:txBody>
              <a:bodyPr/>
              <a:lstStyle/>
              <a:p>
                <a:r>
                  <a:rPr lang="zh-TW" altLang="en-US">
                    <a:noFill/>
                  </a:rPr>
                  <a:t> </a:t>
                </a:r>
              </a:p>
            </p:txBody>
          </p:sp>
        </mc:Fallback>
      </mc:AlternateContent>
      <p:sp>
        <p:nvSpPr>
          <p:cNvPr id="51" name="向右箭號 50"/>
          <p:cNvSpPr/>
          <p:nvPr/>
        </p:nvSpPr>
        <p:spPr>
          <a:xfrm>
            <a:off x="816102" y="3710670"/>
            <a:ext cx="975206" cy="369015"/>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8" name="矩形 47"/>
              <p:cNvSpPr/>
              <p:nvPr/>
            </p:nvSpPr>
            <p:spPr>
              <a:xfrm>
                <a:off x="820886" y="3662269"/>
                <a:ext cx="52283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a:latin typeface="Cambria Math" panose="02040503050406030204" pitchFamily="18" charset="0"/>
                            </a:rPr>
                            <m:t>𝜔</m:t>
                          </m:r>
                        </m:e>
                        <m:sub>
                          <m:r>
                            <a:rPr lang="en-US" altLang="zh-TW" b="0" i="1" smtClean="0">
                              <a:latin typeface="Cambria Math" panose="02040503050406030204" pitchFamily="18" charset="0"/>
                            </a:rPr>
                            <m:t>2</m:t>
                          </m:r>
                        </m:sub>
                      </m:sSub>
                    </m:oMath>
                  </m:oMathPara>
                </a14:m>
                <a:endParaRPr lang="zh-TW" altLang="en-US" dirty="0"/>
              </a:p>
            </p:txBody>
          </p:sp>
        </mc:Choice>
        <mc:Fallback xmlns="">
          <p:sp>
            <p:nvSpPr>
              <p:cNvPr id="48" name="矩形 47"/>
              <p:cNvSpPr>
                <a:spLocks noRot="1" noChangeAspect="1" noMove="1" noResize="1" noEditPoints="1" noAdjustHandles="1" noChangeArrowheads="1" noChangeShapeType="1" noTextEdit="1"/>
              </p:cNvSpPr>
              <p:nvPr/>
            </p:nvSpPr>
            <p:spPr>
              <a:xfrm>
                <a:off x="820886" y="3662269"/>
                <a:ext cx="522835" cy="369332"/>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矩形 51"/>
              <p:cNvSpPr/>
              <p:nvPr/>
            </p:nvSpPr>
            <p:spPr>
              <a:xfrm>
                <a:off x="7906429" y="3339954"/>
                <a:ext cx="609975" cy="4417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𝑘</m:t>
                              </m:r>
                            </m:e>
                          </m:acc>
                        </m:e>
                        <m:sub>
                          <m:sSub>
                            <m:sSubPr>
                              <m:ctrlPr>
                                <a:rPr lang="en-US" altLang="zh-TW" i="1">
                                  <a:latin typeface="Cambria Math" panose="02040503050406030204" pitchFamily="18" charset="0"/>
                                </a:rPr>
                              </m:ctrlPr>
                            </m:sSubPr>
                            <m:e>
                              <m:r>
                                <a:rPr lang="zh-TW" altLang="en-US" i="1">
                                  <a:latin typeface="Cambria Math" panose="02040503050406030204" pitchFamily="18" charset="0"/>
                                </a:rPr>
                                <m:t>𝜔</m:t>
                              </m:r>
                            </m:e>
                            <m:sub>
                              <m:r>
                                <a:rPr lang="en-US" altLang="zh-TW" b="0" i="1" smtClean="0">
                                  <a:latin typeface="Cambria Math" panose="02040503050406030204" pitchFamily="18" charset="0"/>
                                </a:rPr>
                                <m:t>3</m:t>
                              </m:r>
                            </m:sub>
                          </m:sSub>
                        </m:sub>
                      </m:sSub>
                    </m:oMath>
                  </m:oMathPara>
                </a14:m>
                <a:endParaRPr lang="zh-TW" altLang="en-US" dirty="0"/>
              </a:p>
            </p:txBody>
          </p:sp>
        </mc:Choice>
        <mc:Fallback xmlns="">
          <p:sp>
            <p:nvSpPr>
              <p:cNvPr id="52" name="矩形 51"/>
              <p:cNvSpPr>
                <a:spLocks noRot="1" noChangeAspect="1" noMove="1" noResize="1" noEditPoints="1" noAdjustHandles="1" noChangeArrowheads="1" noChangeShapeType="1" noTextEdit="1"/>
              </p:cNvSpPr>
              <p:nvPr/>
            </p:nvSpPr>
            <p:spPr>
              <a:xfrm>
                <a:off x="7906429" y="3339954"/>
                <a:ext cx="609975" cy="441724"/>
              </a:xfrm>
              <a:prstGeom prst="rect">
                <a:avLst/>
              </a:prstGeom>
              <a:blipFill>
                <a:blip r:embed="rId12"/>
                <a:stretch>
                  <a:fillRect/>
                </a:stretch>
              </a:blipFill>
            </p:spPr>
            <p:txBody>
              <a:bodyPr/>
              <a:lstStyle/>
              <a:p>
                <a:r>
                  <a:rPr lang="zh-TW" altLang="en-US">
                    <a:noFill/>
                  </a:rPr>
                  <a:t> </a:t>
                </a:r>
              </a:p>
            </p:txBody>
          </p:sp>
        </mc:Fallback>
      </mc:AlternateContent>
      <p:sp>
        <p:nvSpPr>
          <p:cNvPr id="55" name="矩形 54"/>
          <p:cNvSpPr/>
          <p:nvPr/>
        </p:nvSpPr>
        <p:spPr>
          <a:xfrm>
            <a:off x="5586765" y="5006281"/>
            <a:ext cx="2321363" cy="607760"/>
          </a:xfrm>
          <a:prstGeom prst="rect">
            <a:avLst/>
          </a:prstGeom>
          <a:solidFill>
            <a:schemeClr val="bg2">
              <a:lumMod val="90000"/>
            </a:schemeClr>
          </a:solidFill>
          <a:ln>
            <a:solidFill>
              <a:schemeClr val="bg2">
                <a:lumMod val="90000"/>
              </a:schemeClr>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57" name="矩形 56"/>
          <p:cNvSpPr/>
          <p:nvPr/>
        </p:nvSpPr>
        <p:spPr>
          <a:xfrm>
            <a:off x="5861748" y="5007546"/>
            <a:ext cx="249478" cy="607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57"/>
          <p:cNvSpPr/>
          <p:nvPr/>
        </p:nvSpPr>
        <p:spPr>
          <a:xfrm>
            <a:off x="6375577" y="5006509"/>
            <a:ext cx="249478" cy="6014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58"/>
          <p:cNvSpPr/>
          <p:nvPr/>
        </p:nvSpPr>
        <p:spPr>
          <a:xfrm>
            <a:off x="6884069" y="5008014"/>
            <a:ext cx="249478" cy="607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矩形 59"/>
          <p:cNvSpPr/>
          <p:nvPr/>
        </p:nvSpPr>
        <p:spPr>
          <a:xfrm>
            <a:off x="7397898" y="5006977"/>
            <a:ext cx="249478" cy="6009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1" name="直線單箭頭接點 60"/>
          <p:cNvCxnSpPr/>
          <p:nvPr/>
        </p:nvCxnSpPr>
        <p:spPr>
          <a:xfrm>
            <a:off x="5586765" y="5696321"/>
            <a:ext cx="5400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2" name="文字方塊 61"/>
              <p:cNvSpPr txBox="1"/>
              <p:nvPr/>
            </p:nvSpPr>
            <p:spPr>
              <a:xfrm>
                <a:off x="5662641" y="5735470"/>
                <a:ext cx="3882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l-GR" altLang="zh-TW" i="1" smtClean="0">
                          <a:latin typeface="Cambria Math" panose="02040503050406030204" pitchFamily="18" charset="0"/>
                          <a:ea typeface="Cambria Math" panose="02040503050406030204" pitchFamily="18" charset="0"/>
                        </a:rPr>
                        <m:t>Λ</m:t>
                      </m:r>
                    </m:oMath>
                  </m:oMathPara>
                </a14:m>
                <a:endParaRPr lang="zh-TW" altLang="en-US" dirty="0"/>
              </a:p>
            </p:txBody>
          </p:sp>
        </mc:Choice>
        <mc:Fallback xmlns="">
          <p:sp>
            <p:nvSpPr>
              <p:cNvPr id="62" name="文字方塊 61"/>
              <p:cNvSpPr txBox="1">
                <a:spLocks noRot="1" noChangeAspect="1" noMove="1" noResize="1" noEditPoints="1" noAdjustHandles="1" noChangeArrowheads="1" noChangeShapeType="1" noTextEdit="1"/>
              </p:cNvSpPr>
              <p:nvPr/>
            </p:nvSpPr>
            <p:spPr>
              <a:xfrm>
                <a:off x="5662641" y="5735470"/>
                <a:ext cx="388247" cy="369332"/>
              </a:xfrm>
              <a:prstGeom prst="rect">
                <a:avLst/>
              </a:prstGeom>
              <a:blipFill>
                <a:blip r:embed="rId13"/>
                <a:stretch>
                  <a:fillRect/>
                </a:stretch>
              </a:blipFill>
            </p:spPr>
            <p:txBody>
              <a:bodyPr/>
              <a:lstStyle/>
              <a:p>
                <a:r>
                  <a:rPr lang="zh-TW" altLang="en-US">
                    <a:noFill/>
                  </a:rPr>
                  <a:t> </a:t>
                </a:r>
              </a:p>
            </p:txBody>
          </p:sp>
        </mc:Fallback>
      </mc:AlternateContent>
      <p:sp>
        <p:nvSpPr>
          <p:cNvPr id="63" name="向右箭號 62"/>
          <p:cNvSpPr/>
          <p:nvPr/>
        </p:nvSpPr>
        <p:spPr>
          <a:xfrm>
            <a:off x="8037398" y="5161540"/>
            <a:ext cx="533559" cy="36694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026" name="文字方塊 1025"/>
              <p:cNvSpPr txBox="1"/>
              <p:nvPr/>
            </p:nvSpPr>
            <p:spPr>
              <a:xfrm>
                <a:off x="8743877" y="4255029"/>
                <a:ext cx="2932021" cy="7540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標楷體" panose="03000509000000000000" pitchFamily="65" charset="-120"/>
                          <a:cs typeface="Times New Roman" panose="02020603050405020304" pitchFamily="18" charset="0"/>
                        </a:rPr>
                        <m:t>𝑑</m:t>
                      </m:r>
                      <m:d>
                        <m:dPr>
                          <m:ctrlPr>
                            <a:rPr lang="zh-TW" altLang="zh-TW" i="1">
                              <a:latin typeface="Cambria Math" panose="02040503050406030204" pitchFamily="18" charset="0"/>
                              <a:ea typeface="Cambria Math" panose="02040503050406030204" pitchFamily="18" charset="0"/>
                            </a:rPr>
                          </m:ctrlPr>
                        </m:dPr>
                        <m:e>
                          <m:r>
                            <a:rPr lang="en-US" altLang="zh-TW" i="1">
                              <a:latin typeface="Cambria Math" panose="02040503050406030204" pitchFamily="18" charset="0"/>
                              <a:ea typeface="標楷體" panose="03000509000000000000" pitchFamily="65" charset="-120"/>
                              <a:cs typeface="Times New Roman" panose="02020603050405020304" pitchFamily="18" charset="0"/>
                            </a:rPr>
                            <m:t>𝑥</m:t>
                          </m:r>
                        </m:e>
                      </m:d>
                      <m:r>
                        <a:rPr lang="en-US" altLang="zh-TW" i="1">
                          <a:latin typeface="Cambria Math" panose="02040503050406030204" pitchFamily="18" charset="0"/>
                          <a:ea typeface="標楷體" panose="03000509000000000000" pitchFamily="65" charset="-120"/>
                          <a:cs typeface="Times New Roman" panose="02020603050405020304" pitchFamily="18" charset="0"/>
                        </a:rPr>
                        <m:t>=</m:t>
                      </m:r>
                      <m:d>
                        <m:dPr>
                          <m:begChr m:val="|"/>
                          <m:endChr m:val="|"/>
                          <m:ctrlPr>
                            <a:rPr lang="zh-TW" altLang="zh-TW" i="1">
                              <a:latin typeface="Cambria Math" panose="02040503050406030204" pitchFamily="18" charset="0"/>
                              <a:ea typeface="Cambria Math" panose="02040503050406030204" pitchFamily="18" charset="0"/>
                            </a:rPr>
                          </m:ctrlPr>
                        </m:dPr>
                        <m:e>
                          <m:sSub>
                            <m:sSubPr>
                              <m:ctrlPr>
                                <a:rPr lang="zh-TW"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𝑑</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33</m:t>
                              </m:r>
                            </m:sub>
                          </m:sSub>
                        </m:e>
                      </m:d>
                      <m:nary>
                        <m:naryPr>
                          <m:chr m:val="∑"/>
                          <m:ctrlPr>
                            <a:rPr lang="zh-TW" altLang="en-US" i="1" smtClean="0">
                              <a:latin typeface="Cambria Math" panose="02040503050406030204" pitchFamily="18" charset="0"/>
                            </a:rPr>
                          </m:ctrlPr>
                        </m:naryPr>
                        <m:sub>
                          <m:r>
                            <m:rPr>
                              <m:brk m:alnAt="23"/>
                            </m:rPr>
                            <a:rPr lang="en-US" altLang="zh-TW" b="0" i="1" smtClean="0">
                              <a:latin typeface="Cambria Math" panose="02040503050406030204" pitchFamily="18" charset="0"/>
                            </a:rPr>
                            <m:t>𝑚</m:t>
                          </m:r>
                          <m:r>
                            <a:rPr lang="en-US" altLang="zh-TW" b="0" i="1" smtClean="0">
                              <a:latin typeface="Cambria Math" panose="02040503050406030204" pitchFamily="18" charset="0"/>
                            </a:rPr>
                            <m:t>=−</m:t>
                          </m:r>
                          <m:r>
                            <a:rPr lang="en-US" altLang="zh-TW" i="1">
                              <a:latin typeface="Cambria Math" panose="02040503050406030204" pitchFamily="18" charset="0"/>
                            </a:rPr>
                            <m:t>∞</m:t>
                          </m:r>
                        </m:sub>
                        <m:sup>
                          <m:r>
                            <a:rPr lang="en-US" altLang="zh-TW" i="1">
                              <a:latin typeface="Cambria Math" panose="02040503050406030204" pitchFamily="18" charset="0"/>
                            </a:rPr>
                            <m:t>∞</m:t>
                          </m:r>
                        </m:sup>
                        <m:e>
                          <m:sSub>
                            <m:sSubPr>
                              <m:ctrlPr>
                                <a:rPr lang="zh-TW"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𝐺</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𝑚</m:t>
                              </m:r>
                            </m:sub>
                          </m:sSub>
                          <m:sSup>
                            <m:sSupPr>
                              <m:ctrlPr>
                                <a:rPr lang="zh-TW" altLang="zh-TW" i="1">
                                  <a:latin typeface="Cambria Math" panose="02040503050406030204" pitchFamily="18" charset="0"/>
                                  <a:ea typeface="Cambria Math" panose="02040503050406030204" pitchFamily="18" charset="0"/>
                                </a:rPr>
                              </m:ctrlPr>
                            </m:sSupPr>
                            <m:e>
                              <m:r>
                                <a:rPr lang="en-US" altLang="zh-TW" i="1">
                                  <a:latin typeface="Cambria Math" panose="02040503050406030204" pitchFamily="18" charset="0"/>
                                  <a:ea typeface="標楷體" panose="03000509000000000000" pitchFamily="65" charset="-120"/>
                                  <a:cs typeface="Times New Roman" panose="02020603050405020304" pitchFamily="18" charset="0"/>
                                </a:rPr>
                                <m:t>𝑒</m:t>
                              </m:r>
                            </m:e>
                            <m:sup>
                              <m:r>
                                <a:rPr lang="en-US" altLang="zh-TW" i="1">
                                  <a:latin typeface="Cambria Math" panose="02040503050406030204" pitchFamily="18" charset="0"/>
                                  <a:ea typeface="標楷體" panose="03000509000000000000" pitchFamily="65" charset="-120"/>
                                  <a:cs typeface="Times New Roman" panose="02020603050405020304" pitchFamily="18" charset="0"/>
                                </a:rPr>
                                <m:t>−</m:t>
                              </m:r>
                              <m:r>
                                <a:rPr lang="en-US" altLang="zh-TW" i="1">
                                  <a:latin typeface="Cambria Math" panose="02040503050406030204" pitchFamily="18" charset="0"/>
                                  <a:ea typeface="標楷體" panose="03000509000000000000" pitchFamily="65" charset="-120"/>
                                  <a:cs typeface="Times New Roman" panose="02020603050405020304" pitchFamily="18" charset="0"/>
                                </a:rPr>
                                <m:t>𝑗</m:t>
                              </m:r>
                              <m:r>
                                <m:rPr>
                                  <m:sty m:val="p"/>
                                </m:rPr>
                                <a:rPr lang="el-GR" altLang="zh-TW" i="1">
                                  <a:latin typeface="Cambria Math" panose="02040503050406030204" pitchFamily="18" charset="0"/>
                                  <a:ea typeface="Cambria Math" panose="02040503050406030204" pitchFamily="18" charset="0"/>
                                </a:rPr>
                                <m:t>Δ</m:t>
                              </m:r>
                              <m:r>
                                <a:rPr lang="en-US" altLang="zh-TW" i="1">
                                  <a:latin typeface="Cambria Math" panose="02040503050406030204" pitchFamily="18" charset="0"/>
                                  <a:ea typeface="Cambria Math" panose="02040503050406030204" pitchFamily="18" charset="0"/>
                                </a:rPr>
                                <m:t>𝑘</m:t>
                              </m:r>
                              <m:r>
                                <a:rPr lang="en-US" altLang="zh-TW" i="1">
                                  <a:latin typeface="Cambria Math" panose="02040503050406030204" pitchFamily="18" charset="0"/>
                                  <a:ea typeface="標楷體" panose="03000509000000000000" pitchFamily="65" charset="-120"/>
                                  <a:cs typeface="Times New Roman" panose="02020603050405020304" pitchFamily="18" charset="0"/>
                                </a:rPr>
                                <m:t>𝑥</m:t>
                              </m:r>
                            </m:sup>
                          </m:sSup>
                        </m:e>
                      </m:nary>
                    </m:oMath>
                  </m:oMathPara>
                </a14:m>
                <a:endParaRPr lang="zh-TW" altLang="en-US" dirty="0"/>
              </a:p>
            </p:txBody>
          </p:sp>
        </mc:Choice>
        <mc:Fallback xmlns="">
          <p:sp>
            <p:nvSpPr>
              <p:cNvPr id="1026" name="文字方塊 1025"/>
              <p:cNvSpPr txBox="1">
                <a:spLocks noRot="1" noChangeAspect="1" noMove="1" noResize="1" noEditPoints="1" noAdjustHandles="1" noChangeArrowheads="1" noChangeShapeType="1" noTextEdit="1"/>
              </p:cNvSpPr>
              <p:nvPr/>
            </p:nvSpPr>
            <p:spPr>
              <a:xfrm>
                <a:off x="8743877" y="4255029"/>
                <a:ext cx="2932021" cy="754053"/>
              </a:xfrm>
              <a:prstGeom prst="rect">
                <a:avLst/>
              </a:prstGeom>
              <a:blipFill>
                <a:blip r:embed="rId1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27" name="矩形 1026"/>
              <p:cNvSpPr/>
              <p:nvPr/>
            </p:nvSpPr>
            <p:spPr>
              <a:xfrm>
                <a:off x="8727437" y="5035067"/>
                <a:ext cx="2165639" cy="889795"/>
              </a:xfrm>
              <a:prstGeom prst="rect">
                <a:avLst/>
              </a:prstGeom>
            </p:spPr>
            <p:txBody>
              <a:bodyPr wrap="square">
                <a:spAutoFit/>
              </a:bodyPr>
              <a:lstStyle/>
              <a:p>
                <a:r>
                  <a:rPr lang="zh-TW" altLang="en-US" dirty="0" smtClean="0">
                    <a:latin typeface="標楷體" panose="03000509000000000000" pitchFamily="65" charset="-120"/>
                    <a:ea typeface="標楷體" panose="03000509000000000000" pitchFamily="65" charset="-120"/>
                  </a:rPr>
                  <a:t>其中</a:t>
                </a:r>
                <a:endParaRPr lang="en-US" altLang="zh-TW" dirty="0" smtClean="0">
                  <a:latin typeface="標楷體" panose="03000509000000000000" pitchFamily="65" charset="-120"/>
                  <a:ea typeface="標楷體" panose="03000509000000000000" pitchFamily="65" charset="-120"/>
                </a:endParaRPr>
              </a:p>
              <a:p>
                <a:pPr/>
                <a14:m>
                  <m:oMathPara xmlns:m="http://schemas.openxmlformats.org/officeDocument/2006/math">
                    <m:oMathParaPr>
                      <m:jc m:val="centerGroup"/>
                    </m:oMathParaPr>
                    <m:oMath xmlns:m="http://schemas.openxmlformats.org/officeDocument/2006/math">
                      <m:sSub>
                        <m:sSubPr>
                          <m:ctrlPr>
                            <a:rPr lang="zh-TW" altLang="zh-TW" i="1" smtClean="0">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𝐺</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𝑚</m:t>
                          </m:r>
                        </m:sub>
                      </m:sSub>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f>
                        <m:fPr>
                          <m:ctrlP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ctrlPr>
                        </m:fPr>
                        <m:num>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2</m:t>
                          </m:r>
                        </m:num>
                        <m:den>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𝑚</m:t>
                          </m:r>
                          <m:r>
                            <a:rPr lang="zh-TW" altLang="en-US" b="0" i="1" smtClean="0">
                              <a:latin typeface="Cambria Math" panose="02040503050406030204" pitchFamily="18" charset="0"/>
                              <a:ea typeface="標楷體" panose="03000509000000000000" pitchFamily="65" charset="-120"/>
                              <a:cs typeface="Times New Roman" panose="02020603050405020304" pitchFamily="18" charset="0"/>
                            </a:rPr>
                            <m:t>𝜋</m:t>
                          </m:r>
                        </m:den>
                      </m:f>
                      <m:r>
                        <m:rPr>
                          <m:sty m:val="p"/>
                        </m:rPr>
                        <a:rPr lang="en-US" altLang="zh-TW" b="0" i="0" smtClean="0">
                          <a:latin typeface="Cambria Math" panose="02040503050406030204" pitchFamily="18" charset="0"/>
                          <a:ea typeface="標楷體" panose="03000509000000000000" pitchFamily="65" charset="-120"/>
                          <a:cs typeface="Times New Roman" panose="02020603050405020304" pitchFamily="18" charset="0"/>
                        </a:rPr>
                        <m:t>sin</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𝑚</m:t>
                      </m:r>
                      <m:r>
                        <a:rPr lang="zh-TW" altLang="en-US" i="1">
                          <a:latin typeface="Cambria Math" panose="02040503050406030204" pitchFamily="18" charset="0"/>
                          <a:ea typeface="標楷體" panose="03000509000000000000" pitchFamily="65" charset="-120"/>
                          <a:cs typeface="Times New Roman" panose="02020603050405020304" pitchFamily="18" charset="0"/>
                        </a:rPr>
                        <m:t>𝜋</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𝐷</m:t>
                      </m:r>
                      <m:r>
                        <a:rPr lang="en-US" altLang="zh-TW" b="0" i="1" smtClean="0">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en-US" altLang="zh-TW" dirty="0" smtClean="0"/>
              </a:p>
            </p:txBody>
          </p:sp>
        </mc:Choice>
        <mc:Fallback xmlns="">
          <p:sp>
            <p:nvSpPr>
              <p:cNvPr id="1027" name="矩形 1026"/>
              <p:cNvSpPr>
                <a:spLocks noRot="1" noChangeAspect="1" noMove="1" noResize="1" noEditPoints="1" noAdjustHandles="1" noChangeArrowheads="1" noChangeShapeType="1" noTextEdit="1"/>
              </p:cNvSpPr>
              <p:nvPr/>
            </p:nvSpPr>
            <p:spPr>
              <a:xfrm>
                <a:off x="8727437" y="5035067"/>
                <a:ext cx="2165639" cy="889795"/>
              </a:xfrm>
              <a:prstGeom prst="rect">
                <a:avLst/>
              </a:prstGeom>
              <a:blipFill>
                <a:blip r:embed="rId15"/>
                <a:stretch>
                  <a:fillRect l="-2535" t="-342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29" name="矩形 1028"/>
              <p:cNvSpPr/>
              <p:nvPr/>
            </p:nvSpPr>
            <p:spPr>
              <a:xfrm>
                <a:off x="8727437" y="5919121"/>
                <a:ext cx="960839" cy="612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l-GR" altLang="zh-TW" i="1">
                          <a:latin typeface="Cambria Math" panose="02040503050406030204" pitchFamily="18" charset="0"/>
                          <a:ea typeface="Cambria Math" panose="02040503050406030204" pitchFamily="18" charset="0"/>
                        </a:rPr>
                        <m:t>Λ</m:t>
                      </m:r>
                      <m:r>
                        <a:rPr lang="en-US" altLang="zh-TW" i="1">
                          <a:latin typeface="Cambria Math" panose="02040503050406030204" pitchFamily="18" charset="0"/>
                          <a:ea typeface="Cambria Math" panose="02040503050406030204" pitchFamily="18" charset="0"/>
                        </a:rPr>
                        <m:t>=</m:t>
                      </m:r>
                      <m:f>
                        <m:fPr>
                          <m:ctrlPr>
                            <a:rPr lang="en-US" altLang="zh-TW" i="1">
                              <a:latin typeface="Cambria Math" panose="02040503050406030204" pitchFamily="18" charset="0"/>
                              <a:ea typeface="Cambria Math" panose="02040503050406030204" pitchFamily="18" charset="0"/>
                            </a:rPr>
                          </m:ctrlPr>
                        </m:fPr>
                        <m:num>
                          <m:r>
                            <a:rPr lang="en-US" altLang="zh-TW" i="1">
                              <a:latin typeface="Cambria Math" panose="02040503050406030204" pitchFamily="18" charset="0"/>
                              <a:ea typeface="Cambria Math" panose="02040503050406030204" pitchFamily="18" charset="0"/>
                            </a:rPr>
                            <m:t>2</m:t>
                          </m:r>
                          <m:r>
                            <a:rPr lang="zh-TW" altLang="en-US" i="1">
                              <a:latin typeface="Cambria Math" panose="02040503050406030204" pitchFamily="18" charset="0"/>
                              <a:ea typeface="Cambria Math" panose="02040503050406030204" pitchFamily="18" charset="0"/>
                            </a:rPr>
                            <m:t>𝜋</m:t>
                          </m:r>
                        </m:num>
                        <m:den>
                          <m:r>
                            <m:rPr>
                              <m:sty m:val="p"/>
                            </m:rPr>
                            <a:rPr lang="el-GR" altLang="zh-TW" i="1">
                              <a:latin typeface="Cambria Math" panose="02040503050406030204" pitchFamily="18" charset="0"/>
                              <a:ea typeface="Cambria Math" panose="02040503050406030204" pitchFamily="18" charset="0"/>
                            </a:rPr>
                            <m:t>Δ</m:t>
                          </m:r>
                          <m:r>
                            <a:rPr lang="en-US" altLang="zh-TW" i="1">
                              <a:latin typeface="Cambria Math" panose="02040503050406030204" pitchFamily="18" charset="0"/>
                              <a:ea typeface="Cambria Math" panose="02040503050406030204" pitchFamily="18" charset="0"/>
                            </a:rPr>
                            <m:t>𝑘</m:t>
                          </m:r>
                        </m:den>
                      </m:f>
                    </m:oMath>
                  </m:oMathPara>
                </a14:m>
                <a:endParaRPr lang="zh-TW" altLang="en-US" dirty="0"/>
              </a:p>
            </p:txBody>
          </p:sp>
        </mc:Choice>
        <mc:Fallback xmlns="">
          <p:sp>
            <p:nvSpPr>
              <p:cNvPr id="1029" name="矩形 1028"/>
              <p:cNvSpPr>
                <a:spLocks noRot="1" noChangeAspect="1" noMove="1" noResize="1" noEditPoints="1" noAdjustHandles="1" noChangeArrowheads="1" noChangeShapeType="1" noTextEdit="1"/>
              </p:cNvSpPr>
              <p:nvPr/>
            </p:nvSpPr>
            <p:spPr>
              <a:xfrm>
                <a:off x="8727437" y="5919121"/>
                <a:ext cx="960839" cy="612732"/>
              </a:xfrm>
              <a:prstGeom prst="rect">
                <a:avLst/>
              </a:prstGeom>
              <a:blipFill>
                <a:blip r:embed="rId16"/>
                <a:stretch>
                  <a:fillRect/>
                </a:stretch>
              </a:blipFill>
            </p:spPr>
            <p:txBody>
              <a:bodyPr/>
              <a:lstStyle/>
              <a:p>
                <a:r>
                  <a:rPr lang="zh-TW" altLang="en-US">
                    <a:noFill/>
                  </a:rPr>
                  <a:t> </a:t>
                </a:r>
              </a:p>
            </p:txBody>
          </p:sp>
        </mc:Fallback>
      </mc:AlternateContent>
      <p:sp>
        <p:nvSpPr>
          <p:cNvPr id="72" name="＞形箭號 71"/>
          <p:cNvSpPr/>
          <p:nvPr/>
        </p:nvSpPr>
        <p:spPr>
          <a:xfrm>
            <a:off x="10032000" y="1198762"/>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73" name="＞形箭號 72"/>
          <p:cNvSpPr/>
          <p:nvPr/>
        </p:nvSpPr>
        <p:spPr>
          <a:xfrm>
            <a:off x="8425048" y="1198762"/>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74" name="＞形箭號 73"/>
          <p:cNvSpPr/>
          <p:nvPr/>
        </p:nvSpPr>
        <p:spPr>
          <a:xfrm>
            <a:off x="6762882" y="1198762"/>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75" name="＞形箭號 74"/>
          <p:cNvSpPr/>
          <p:nvPr/>
        </p:nvSpPr>
        <p:spPr>
          <a:xfrm>
            <a:off x="5107858" y="1198762"/>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solidFill>
                <a:schemeClr val="tx1"/>
              </a:solidFill>
            </a:endParaRPr>
          </a:p>
        </p:txBody>
      </p:sp>
      <p:sp>
        <p:nvSpPr>
          <p:cNvPr id="76" name="＞形箭號 75"/>
          <p:cNvSpPr/>
          <p:nvPr/>
        </p:nvSpPr>
        <p:spPr>
          <a:xfrm>
            <a:off x="3444193" y="1198762"/>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Principle</a:t>
            </a:r>
            <a:endParaRPr lang="en-US" altLang="zh-TW" dirty="0">
              <a:latin typeface="Times New Roman" panose="02020603050405020304" pitchFamily="18" charset="0"/>
              <a:cs typeface="Times New Roman" panose="02020603050405020304" pitchFamily="18" charset="0"/>
            </a:endParaRPr>
          </a:p>
        </p:txBody>
      </p:sp>
      <p:sp>
        <p:nvSpPr>
          <p:cNvPr id="77" name="＞形箭號 76"/>
          <p:cNvSpPr/>
          <p:nvPr/>
        </p:nvSpPr>
        <p:spPr>
          <a:xfrm>
            <a:off x="1778885" y="1198762"/>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78" name="＞形箭號 77"/>
          <p:cNvSpPr/>
          <p:nvPr/>
        </p:nvSpPr>
        <p:spPr>
          <a:xfrm>
            <a:off x="19359" y="1198762"/>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2" name="向右箭號 1"/>
          <p:cNvSpPr/>
          <p:nvPr/>
        </p:nvSpPr>
        <p:spPr>
          <a:xfrm rot="16200000">
            <a:off x="5484803" y="5253188"/>
            <a:ext cx="478907" cy="18365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3" name="向右箭號 42"/>
          <p:cNvSpPr/>
          <p:nvPr/>
        </p:nvSpPr>
        <p:spPr>
          <a:xfrm rot="5400000">
            <a:off x="5759786" y="5249654"/>
            <a:ext cx="478907" cy="18365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3" name="向右箭號 52"/>
          <p:cNvSpPr/>
          <p:nvPr/>
        </p:nvSpPr>
        <p:spPr>
          <a:xfrm rot="16200000">
            <a:off x="5998934" y="5253188"/>
            <a:ext cx="478907" cy="18365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4" name="向右箭號 53"/>
          <p:cNvSpPr/>
          <p:nvPr/>
        </p:nvSpPr>
        <p:spPr>
          <a:xfrm rot="5400000">
            <a:off x="6273917" y="5249654"/>
            <a:ext cx="478907" cy="18365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6" name="向右箭號 55"/>
          <p:cNvSpPr/>
          <p:nvPr/>
        </p:nvSpPr>
        <p:spPr>
          <a:xfrm rot="16200000">
            <a:off x="6518036" y="5253188"/>
            <a:ext cx="478907" cy="18365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4" name="向右箭號 63"/>
          <p:cNvSpPr/>
          <p:nvPr/>
        </p:nvSpPr>
        <p:spPr>
          <a:xfrm rot="5400000">
            <a:off x="6793019" y="5249654"/>
            <a:ext cx="478907" cy="18365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5" name="向右箭號 64"/>
          <p:cNvSpPr/>
          <p:nvPr/>
        </p:nvSpPr>
        <p:spPr>
          <a:xfrm rot="16200000">
            <a:off x="7015896" y="5253188"/>
            <a:ext cx="478907" cy="18365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6" name="向右箭號 65"/>
          <p:cNvSpPr/>
          <p:nvPr/>
        </p:nvSpPr>
        <p:spPr>
          <a:xfrm rot="5400000">
            <a:off x="7290879" y="5249654"/>
            <a:ext cx="478907" cy="18365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7" name="向右箭號 66"/>
          <p:cNvSpPr/>
          <p:nvPr/>
        </p:nvSpPr>
        <p:spPr>
          <a:xfrm rot="16200000">
            <a:off x="7557488" y="5249654"/>
            <a:ext cx="478907" cy="18365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9667519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群組 9"/>
          <p:cNvGrpSpPr/>
          <p:nvPr/>
        </p:nvGrpSpPr>
        <p:grpSpPr>
          <a:xfrm>
            <a:off x="3394555" y="2615192"/>
            <a:ext cx="5736917" cy="1920403"/>
            <a:chOff x="4904378" y="4184924"/>
            <a:chExt cx="5281814" cy="1764923"/>
          </a:xfrm>
          <a:solidFill>
            <a:schemeClr val="bg1">
              <a:alpha val="98000"/>
            </a:schemeClr>
          </a:solidFill>
        </p:grpSpPr>
        <p:pic>
          <p:nvPicPr>
            <p:cNvPr id="1028" name="Picture 4" descr="http://www.ncu.edu.tw/assets/images/log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4378" y="4184924"/>
              <a:ext cx="5281814" cy="1764923"/>
            </a:xfrm>
            <a:prstGeom prst="rect">
              <a:avLst/>
            </a:prstGeom>
            <a:grpFill/>
            <a:effectLst>
              <a:outerShdw blurRad="50800" dist="50800" dir="5400000" algn="ctr" rotWithShape="0">
                <a:srgbClr val="000000">
                  <a:alpha val="0"/>
                </a:srgbClr>
              </a:outerShdw>
            </a:effectLst>
          </p:spPr>
        </p:pic>
        <p:sp>
          <p:nvSpPr>
            <p:cNvPr id="9" name="矩形 8"/>
            <p:cNvSpPr/>
            <p:nvPr/>
          </p:nvSpPr>
          <p:spPr>
            <a:xfrm>
              <a:off x="4904378" y="4184924"/>
              <a:ext cx="5281814" cy="1764923"/>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4" name="＞形箭號 13"/>
          <p:cNvSpPr/>
          <p:nvPr/>
        </p:nvSpPr>
        <p:spPr>
          <a:xfrm>
            <a:off x="10032000" y="1198762"/>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15" name="＞形箭號 14"/>
          <p:cNvSpPr/>
          <p:nvPr/>
        </p:nvSpPr>
        <p:spPr>
          <a:xfrm>
            <a:off x="8425048" y="1198762"/>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16" name="＞形箭號 15"/>
          <p:cNvSpPr/>
          <p:nvPr/>
        </p:nvSpPr>
        <p:spPr>
          <a:xfrm>
            <a:off x="6762882" y="1198762"/>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17" name="＞形箭號 16"/>
          <p:cNvSpPr/>
          <p:nvPr/>
        </p:nvSpPr>
        <p:spPr>
          <a:xfrm>
            <a:off x="5107858" y="1198762"/>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solidFill>
                <a:schemeClr val="tx1"/>
              </a:solidFill>
            </a:endParaRPr>
          </a:p>
        </p:txBody>
      </p:sp>
      <p:sp>
        <p:nvSpPr>
          <p:cNvPr id="18" name="＞形箭號 17"/>
          <p:cNvSpPr/>
          <p:nvPr/>
        </p:nvSpPr>
        <p:spPr>
          <a:xfrm>
            <a:off x="3444193" y="1198762"/>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Principle</a:t>
            </a:r>
            <a:endParaRPr lang="en-US" altLang="zh-TW" dirty="0">
              <a:latin typeface="Times New Roman" panose="02020603050405020304" pitchFamily="18" charset="0"/>
              <a:cs typeface="Times New Roman" panose="02020603050405020304" pitchFamily="18" charset="0"/>
            </a:endParaRPr>
          </a:p>
        </p:txBody>
      </p:sp>
      <p:sp>
        <p:nvSpPr>
          <p:cNvPr id="19" name="＞形箭號 18"/>
          <p:cNvSpPr/>
          <p:nvPr/>
        </p:nvSpPr>
        <p:spPr>
          <a:xfrm>
            <a:off x="1778885" y="1198762"/>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20" name="＞形箭號 19"/>
          <p:cNvSpPr/>
          <p:nvPr/>
        </p:nvSpPr>
        <p:spPr>
          <a:xfrm>
            <a:off x="19359" y="1198762"/>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pic>
        <p:nvPicPr>
          <p:cNvPr id="29" name="圖片 28"/>
          <p:cNvPicPr/>
          <p:nvPr/>
        </p:nvPicPr>
        <p:blipFill>
          <a:blip r:embed="rId3"/>
          <a:stretch>
            <a:fillRect/>
          </a:stretch>
        </p:blipFill>
        <p:spPr>
          <a:xfrm>
            <a:off x="5422281" y="2000922"/>
            <a:ext cx="6769719" cy="3667859"/>
          </a:xfrm>
          <a:prstGeom prst="rect">
            <a:avLst/>
          </a:prstGeom>
        </p:spPr>
      </p:pic>
      <p:cxnSp>
        <p:nvCxnSpPr>
          <p:cNvPr id="3" name="直線接點 2"/>
          <p:cNvCxnSpPr/>
          <p:nvPr/>
        </p:nvCxnSpPr>
        <p:spPr>
          <a:xfrm flipV="1">
            <a:off x="1114436" y="3642868"/>
            <a:ext cx="3827404" cy="23149"/>
          </a:xfrm>
          <a:prstGeom prst="line">
            <a:avLst/>
          </a:prstGeom>
          <a:ln w="38100"/>
        </p:spPr>
        <p:style>
          <a:lnRef idx="1">
            <a:schemeClr val="dk1"/>
          </a:lnRef>
          <a:fillRef idx="0">
            <a:schemeClr val="dk1"/>
          </a:fillRef>
          <a:effectRef idx="0">
            <a:schemeClr val="dk1"/>
          </a:effectRef>
          <a:fontRef idx="minor">
            <a:schemeClr val="tx1"/>
          </a:fontRef>
        </p:style>
      </p:cxnSp>
      <p:cxnSp>
        <p:nvCxnSpPr>
          <p:cNvPr id="6" name="直線接點 5"/>
          <p:cNvCxnSpPr/>
          <p:nvPr/>
        </p:nvCxnSpPr>
        <p:spPr>
          <a:xfrm>
            <a:off x="1681760" y="3654442"/>
            <a:ext cx="0" cy="1817912"/>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0" name="直線接點 29"/>
          <p:cNvCxnSpPr/>
          <p:nvPr/>
        </p:nvCxnSpPr>
        <p:spPr>
          <a:xfrm>
            <a:off x="4251286" y="3642868"/>
            <a:ext cx="0" cy="1817912"/>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32" name="等腰三角形 31"/>
          <p:cNvSpPr/>
          <p:nvPr/>
        </p:nvSpPr>
        <p:spPr>
          <a:xfrm rot="10800000">
            <a:off x="1565736" y="3979221"/>
            <a:ext cx="232047" cy="306386"/>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等腰三角形 33"/>
          <p:cNvSpPr/>
          <p:nvPr/>
        </p:nvSpPr>
        <p:spPr>
          <a:xfrm>
            <a:off x="4138802" y="4245439"/>
            <a:ext cx="234000" cy="306386"/>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5" name="直線接點 34"/>
          <p:cNvCxnSpPr/>
          <p:nvPr/>
        </p:nvCxnSpPr>
        <p:spPr>
          <a:xfrm>
            <a:off x="1681759" y="5240861"/>
            <a:ext cx="256341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6" name="文字方塊 35"/>
              <p:cNvSpPr txBox="1"/>
              <p:nvPr/>
            </p:nvSpPr>
            <p:spPr>
              <a:xfrm>
                <a:off x="1114436" y="2995373"/>
                <a:ext cx="1011880" cy="64395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r>
                            <a:rPr lang="zh-TW" altLang="en-US" i="1" smtClean="0">
                              <a:latin typeface="Cambria Math" panose="02040503050406030204" pitchFamily="18" charset="0"/>
                            </a:rPr>
                            <m:t>𝜔</m:t>
                          </m:r>
                        </m:num>
                        <m:den>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𝑘</m:t>
                              </m:r>
                            </m:e>
                            <m:sub>
                              <m:r>
                                <a:rPr lang="en-US" altLang="zh-TW" b="0" i="1" smtClean="0">
                                  <a:latin typeface="Cambria Math" panose="02040503050406030204" pitchFamily="18" charset="0"/>
                                </a:rPr>
                                <m:t>𝑝</m:t>
                              </m:r>
                            </m:sub>
                          </m:sSub>
                        </m:den>
                      </m:f>
                      <m:r>
                        <a:rPr lang="en-US" altLang="zh-TW" b="0" i="0"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𝑝</m:t>
                          </m:r>
                        </m:sub>
                      </m:sSub>
                    </m:oMath>
                  </m:oMathPara>
                </a14:m>
                <a:endParaRPr lang="zh-TW" altLang="en-US" dirty="0"/>
              </a:p>
            </p:txBody>
          </p:sp>
        </mc:Choice>
        <mc:Fallback xmlns="">
          <p:sp>
            <p:nvSpPr>
              <p:cNvPr id="36" name="文字方塊 35"/>
              <p:cNvSpPr txBox="1">
                <a:spLocks noRot="1" noChangeAspect="1" noMove="1" noResize="1" noEditPoints="1" noAdjustHandles="1" noChangeArrowheads="1" noChangeShapeType="1" noTextEdit="1"/>
              </p:cNvSpPr>
              <p:nvPr/>
            </p:nvSpPr>
            <p:spPr>
              <a:xfrm>
                <a:off x="1114436" y="2995373"/>
                <a:ext cx="1011880" cy="643959"/>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p:cNvSpPr txBox="1"/>
              <p:nvPr/>
            </p:nvSpPr>
            <p:spPr>
              <a:xfrm>
                <a:off x="4004365" y="2926919"/>
                <a:ext cx="1011880" cy="64395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r>
                            <a:rPr lang="zh-TW" altLang="en-US" i="1" smtClean="0">
                              <a:latin typeface="Cambria Math" panose="02040503050406030204" pitchFamily="18" charset="0"/>
                            </a:rPr>
                            <m:t>𝜔</m:t>
                          </m:r>
                        </m:num>
                        <m:den>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𝑘</m:t>
                              </m:r>
                            </m:e>
                            <m:sub>
                              <m:r>
                                <a:rPr lang="en-US" altLang="zh-TW" b="0" i="1" smtClean="0">
                                  <a:latin typeface="Cambria Math" panose="02040503050406030204" pitchFamily="18" charset="0"/>
                                </a:rPr>
                                <m:t>𝑝</m:t>
                              </m:r>
                            </m:sub>
                          </m:sSub>
                        </m:den>
                      </m:f>
                      <m:r>
                        <a:rPr lang="en-US" altLang="zh-TW">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𝑝</m:t>
                          </m:r>
                        </m:sub>
                      </m:sSub>
                    </m:oMath>
                  </m:oMathPara>
                </a14:m>
                <a:endParaRPr lang="zh-TW" altLang="en-US" dirty="0"/>
              </a:p>
            </p:txBody>
          </p:sp>
        </mc:Choice>
        <mc:Fallback xmlns="">
          <p:sp>
            <p:nvSpPr>
              <p:cNvPr id="38" name="文字方塊 37"/>
              <p:cNvSpPr txBox="1">
                <a:spLocks noRot="1" noChangeAspect="1" noMove="1" noResize="1" noEditPoints="1" noAdjustHandles="1" noChangeArrowheads="1" noChangeShapeType="1" noTextEdit="1"/>
              </p:cNvSpPr>
              <p:nvPr/>
            </p:nvSpPr>
            <p:spPr>
              <a:xfrm>
                <a:off x="4004365" y="2926919"/>
                <a:ext cx="1011880" cy="643959"/>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p:cNvSpPr txBox="1"/>
              <p:nvPr/>
            </p:nvSpPr>
            <p:spPr>
              <a:xfrm>
                <a:off x="215083" y="4419982"/>
                <a:ext cx="14790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TW" altLang="en-US" i="1">
                          <a:latin typeface="Cambria Math" panose="02040503050406030204" pitchFamily="18" charset="0"/>
                        </a:rPr>
                        <m:t>𝜔</m:t>
                      </m:r>
                      <m:r>
                        <a:rPr lang="en-US" altLang="zh-TW" i="1">
                          <a:latin typeface="Cambria Math" panose="02040503050406030204" pitchFamily="18" charset="0"/>
                        </a:rPr>
                        <m:t>+</m:t>
                      </m:r>
                      <m:r>
                        <a:rPr lang="zh-TW" altLang="en-US" i="1">
                          <a:latin typeface="Cambria Math" panose="02040503050406030204" pitchFamily="18" charset="0"/>
                        </a:rPr>
                        <m:t>𝜔</m:t>
                      </m:r>
                      <m:r>
                        <a:rPr lang="zh-TW" altLang="en-US" i="1">
                          <a:latin typeface="Cambria Math" panose="02040503050406030204" pitchFamily="18" charset="0"/>
                        </a:rPr>
                        <m:t>→2</m:t>
                      </m:r>
                      <m:r>
                        <a:rPr lang="zh-TW" altLang="en-US" i="1">
                          <a:latin typeface="Cambria Math" panose="02040503050406030204" pitchFamily="18" charset="0"/>
                        </a:rPr>
                        <m:t>𝜔</m:t>
                      </m:r>
                    </m:oMath>
                  </m:oMathPara>
                </a14:m>
                <a:endParaRPr lang="zh-TW" altLang="en-US" dirty="0"/>
              </a:p>
            </p:txBody>
          </p:sp>
        </mc:Choice>
        <mc:Fallback xmlns="">
          <p:sp>
            <p:nvSpPr>
              <p:cNvPr id="37" name="文字方塊 36"/>
              <p:cNvSpPr txBox="1">
                <a:spLocks noRot="1" noChangeAspect="1" noMove="1" noResize="1" noEditPoints="1" noAdjustHandles="1" noChangeArrowheads="1" noChangeShapeType="1" noTextEdit="1"/>
              </p:cNvSpPr>
              <p:nvPr/>
            </p:nvSpPr>
            <p:spPr>
              <a:xfrm>
                <a:off x="215083" y="4419982"/>
                <a:ext cx="1479059" cy="369332"/>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矩形 38"/>
              <p:cNvSpPr/>
              <p:nvPr/>
            </p:nvSpPr>
            <p:spPr>
              <a:xfrm>
                <a:off x="4189344" y="4544903"/>
                <a:ext cx="147905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2</m:t>
                      </m:r>
                      <m:r>
                        <a:rPr lang="zh-TW" altLang="en-US" i="1">
                          <a:latin typeface="Cambria Math" panose="02040503050406030204" pitchFamily="18" charset="0"/>
                        </a:rPr>
                        <m:t>𝜔</m:t>
                      </m:r>
                      <m:r>
                        <a:rPr lang="en-US" altLang="zh-TW" b="0" i="1" smtClean="0">
                          <a:latin typeface="Cambria Math" panose="02040503050406030204" pitchFamily="18" charset="0"/>
                        </a:rPr>
                        <m:t>−</m:t>
                      </m:r>
                      <m:r>
                        <a:rPr lang="zh-TW" altLang="en-US" i="1">
                          <a:latin typeface="Cambria Math" panose="02040503050406030204" pitchFamily="18" charset="0"/>
                        </a:rPr>
                        <m:t>𝜔</m:t>
                      </m:r>
                      <m:r>
                        <a:rPr lang="zh-TW" altLang="en-US" i="1">
                          <a:latin typeface="Cambria Math" panose="02040503050406030204" pitchFamily="18" charset="0"/>
                        </a:rPr>
                        <m:t>→</m:t>
                      </m:r>
                      <m:r>
                        <a:rPr lang="zh-TW" altLang="en-US" i="1" smtClean="0">
                          <a:latin typeface="Cambria Math" panose="02040503050406030204" pitchFamily="18" charset="0"/>
                        </a:rPr>
                        <m:t>𝜔</m:t>
                      </m:r>
                    </m:oMath>
                  </m:oMathPara>
                </a14:m>
                <a:endParaRPr lang="zh-TW" altLang="en-US" dirty="0"/>
              </a:p>
            </p:txBody>
          </p:sp>
        </mc:Choice>
        <mc:Fallback xmlns="">
          <p:sp>
            <p:nvSpPr>
              <p:cNvPr id="39" name="矩形 38"/>
              <p:cNvSpPr>
                <a:spLocks noRot="1" noChangeAspect="1" noMove="1" noResize="1" noEditPoints="1" noAdjustHandles="1" noChangeArrowheads="1" noChangeShapeType="1" noTextEdit="1"/>
              </p:cNvSpPr>
              <p:nvPr/>
            </p:nvSpPr>
            <p:spPr>
              <a:xfrm>
                <a:off x="4189344" y="4544903"/>
                <a:ext cx="1479058" cy="369332"/>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矩形 39"/>
              <p:cNvSpPr/>
              <p:nvPr/>
            </p:nvSpPr>
            <p:spPr>
              <a:xfrm>
                <a:off x="2480546" y="4544903"/>
                <a:ext cx="1045223" cy="659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2</m:t>
                          </m:r>
                          <m:r>
                            <a:rPr lang="zh-TW" altLang="en-US" i="1">
                              <a:latin typeface="Cambria Math" panose="02040503050406030204" pitchFamily="18" charset="0"/>
                            </a:rPr>
                            <m:t>𝜔</m:t>
                          </m:r>
                        </m:num>
                        <m:den>
                          <m:sSub>
                            <m:sSubPr>
                              <m:ctrlPr>
                                <a:rPr lang="en-US" altLang="zh-TW" i="1">
                                  <a:latin typeface="Cambria Math" panose="02040503050406030204" pitchFamily="18" charset="0"/>
                                </a:rPr>
                              </m:ctrlPr>
                            </m:sSubPr>
                            <m:e>
                              <m:r>
                                <a:rPr lang="en-US" altLang="zh-TW" i="1">
                                  <a:latin typeface="Cambria Math" panose="02040503050406030204" pitchFamily="18" charset="0"/>
                                </a:rPr>
                                <m:t>𝑘</m:t>
                              </m:r>
                            </m:e>
                            <m:sub>
                              <m:r>
                                <a:rPr lang="en-US" altLang="zh-TW" b="0" i="1" smtClean="0">
                                  <a:latin typeface="Cambria Math" panose="02040503050406030204" pitchFamily="18" charset="0"/>
                                </a:rPr>
                                <m:t>𝑠</m:t>
                              </m:r>
                            </m:sub>
                          </m:sSub>
                        </m:den>
                      </m:f>
                      <m:r>
                        <a:rPr lang="en-US" altLang="zh-TW">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b="0" i="1" smtClean="0">
                              <a:latin typeface="Cambria Math" panose="02040503050406030204" pitchFamily="18" charset="0"/>
                            </a:rPr>
                            <m:t>𝑠</m:t>
                          </m:r>
                        </m:sub>
                      </m:sSub>
                    </m:oMath>
                  </m:oMathPara>
                </a14:m>
                <a:endParaRPr lang="zh-TW" altLang="en-US" dirty="0"/>
              </a:p>
            </p:txBody>
          </p:sp>
        </mc:Choice>
        <mc:Fallback xmlns="">
          <p:sp>
            <p:nvSpPr>
              <p:cNvPr id="40" name="矩形 39"/>
              <p:cNvSpPr>
                <a:spLocks noRot="1" noChangeAspect="1" noMove="1" noResize="1" noEditPoints="1" noAdjustHandles="1" noChangeArrowheads="1" noChangeShapeType="1" noTextEdit="1"/>
              </p:cNvSpPr>
              <p:nvPr/>
            </p:nvSpPr>
            <p:spPr>
              <a:xfrm>
                <a:off x="2480546" y="4544903"/>
                <a:ext cx="1045223" cy="659540"/>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p:cNvSpPr txBox="1"/>
              <p:nvPr/>
            </p:nvSpPr>
            <p:spPr>
              <a:xfrm>
                <a:off x="4334178" y="3836082"/>
                <a:ext cx="3350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m:t>
                      </m:r>
                    </m:oMath>
                  </m:oMathPara>
                </a14:m>
                <a:endParaRPr lang="zh-TW" altLang="en-US" dirty="0"/>
              </a:p>
            </p:txBody>
          </p:sp>
        </mc:Choice>
        <mc:Fallback xmlns="">
          <p:sp>
            <p:nvSpPr>
              <p:cNvPr id="41" name="文字方塊 40"/>
              <p:cNvSpPr txBox="1">
                <a:spLocks noRot="1" noChangeAspect="1" noMove="1" noResize="1" noEditPoints="1" noAdjustHandles="1" noChangeArrowheads="1" noChangeShapeType="1" noTextEdit="1"/>
              </p:cNvSpPr>
              <p:nvPr/>
            </p:nvSpPr>
            <p:spPr>
              <a:xfrm>
                <a:off x="4334178" y="3836082"/>
                <a:ext cx="335028" cy="276999"/>
              </a:xfrm>
              <a:prstGeom prst="rect">
                <a:avLst/>
              </a:prstGeom>
              <a:blipFill>
                <a:blip r:embed="rId9"/>
                <a:stretch>
                  <a:fillRect l="-16364" r="-20000" b="-17391"/>
                </a:stretch>
              </a:blipFill>
            </p:spPr>
            <p:txBody>
              <a:bodyPr/>
              <a:lstStyle/>
              <a:p>
                <a:r>
                  <a:rPr lang="zh-TW" altLang="en-US">
                    <a:noFill/>
                  </a:rPr>
                  <a:t> </a:t>
                </a:r>
              </a:p>
            </p:txBody>
          </p:sp>
        </mc:Fallback>
      </mc:AlternateContent>
      <p:cxnSp>
        <p:nvCxnSpPr>
          <p:cNvPr id="45" name="直線單箭頭接點 44"/>
          <p:cNvCxnSpPr/>
          <p:nvPr/>
        </p:nvCxnSpPr>
        <p:spPr>
          <a:xfrm>
            <a:off x="1681759" y="5452507"/>
            <a:ext cx="256166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6" name="文字方塊 45"/>
              <p:cNvSpPr txBox="1"/>
              <p:nvPr/>
            </p:nvSpPr>
            <p:spPr>
              <a:xfrm>
                <a:off x="2846865" y="5567488"/>
                <a:ext cx="224870" cy="524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𝑐</m:t>
                              </m:r>
                            </m:sub>
                          </m:sSub>
                        </m:num>
                        <m:den>
                          <m:r>
                            <a:rPr lang="en-US" altLang="zh-TW" b="0" i="1" smtClean="0">
                              <a:latin typeface="Cambria Math" panose="02040503050406030204" pitchFamily="18" charset="0"/>
                            </a:rPr>
                            <m:t>2</m:t>
                          </m:r>
                        </m:den>
                      </m:f>
                    </m:oMath>
                  </m:oMathPara>
                </a14:m>
                <a:endParaRPr lang="zh-TW" altLang="en-US" dirty="0"/>
              </a:p>
            </p:txBody>
          </p:sp>
        </mc:Choice>
        <mc:Fallback xmlns="">
          <p:sp>
            <p:nvSpPr>
              <p:cNvPr id="46" name="文字方塊 45"/>
              <p:cNvSpPr txBox="1">
                <a:spLocks noRot="1" noChangeAspect="1" noMove="1" noResize="1" noEditPoints="1" noAdjustHandles="1" noChangeArrowheads="1" noChangeShapeType="1" noTextEdit="1"/>
              </p:cNvSpPr>
              <p:nvPr/>
            </p:nvSpPr>
            <p:spPr>
              <a:xfrm>
                <a:off x="2846865" y="5567488"/>
                <a:ext cx="224870" cy="524118"/>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46"/>
              <p:cNvSpPr txBox="1"/>
              <p:nvPr/>
            </p:nvSpPr>
            <p:spPr>
              <a:xfrm>
                <a:off x="7090773" y="5907557"/>
                <a:ext cx="4744473" cy="48314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2800" b="0" i="1" smtClean="0">
                              <a:latin typeface="Cambria Math" panose="02040503050406030204" pitchFamily="18" charset="0"/>
                            </a:rPr>
                          </m:ctrlPr>
                        </m:accPr>
                        <m:e>
                          <m:r>
                            <a:rPr lang="en-US" altLang="zh-TW" sz="2800" b="0" i="1" smtClean="0">
                              <a:latin typeface="Cambria Math" panose="02040503050406030204" pitchFamily="18" charset="0"/>
                            </a:rPr>
                            <m:t>𝐸</m:t>
                          </m:r>
                        </m:e>
                      </m:acc>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𝐸</m:t>
                          </m:r>
                        </m:e>
                        <m:sub>
                          <m:r>
                            <a:rPr lang="en-US" altLang="zh-TW" sz="2800" b="0" i="1" smtClean="0">
                              <a:latin typeface="Cambria Math" panose="02040503050406030204" pitchFamily="18" charset="0"/>
                            </a:rPr>
                            <m:t>0</m:t>
                          </m:r>
                        </m:sub>
                      </m:sSub>
                      <m:r>
                        <m:rPr>
                          <m:sty m:val="p"/>
                        </m:rPr>
                        <a:rPr lang="en-US" altLang="zh-TW" sz="2800" b="0" i="0" smtClean="0">
                          <a:latin typeface="Cambria Math" panose="02040503050406030204" pitchFamily="18" charset="0"/>
                        </a:rPr>
                        <m:t>cos</m:t>
                      </m:r>
                      <m:r>
                        <a:rPr lang="en-US" altLang="zh-TW" sz="2800" b="0" i="1" smtClean="0">
                          <a:latin typeface="Cambria Math" panose="02040503050406030204" pitchFamily="18" charset="0"/>
                        </a:rPr>
                        <m:t>⁡(</m:t>
                      </m:r>
                      <m:r>
                        <a:rPr lang="zh-TW" altLang="en-US" sz="2800" b="0" i="1" smtClean="0">
                          <a:latin typeface="Cambria Math" panose="02040503050406030204" pitchFamily="18" charset="0"/>
                        </a:rPr>
                        <m:t>𝜔</m:t>
                      </m:r>
                      <m:r>
                        <a:rPr lang="en-US" altLang="zh-TW" sz="2800" b="0" i="1" smtClean="0">
                          <a:latin typeface="Cambria Math" panose="02040503050406030204" pitchFamily="18" charset="0"/>
                        </a:rPr>
                        <m:t>𝑡</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𝑘𝑥</m:t>
                      </m:r>
                      <m:r>
                        <a:rPr lang="en-US" altLang="zh-TW" sz="2800" b="0" i="1" smtClean="0">
                          <a:latin typeface="Cambria Math" panose="02040503050406030204" pitchFamily="18" charset="0"/>
                        </a:rPr>
                        <m:t>+∆∅)</m:t>
                      </m:r>
                    </m:oMath>
                  </m:oMathPara>
                </a14:m>
                <a:endParaRPr lang="zh-TW" altLang="en-US" sz="2800" dirty="0"/>
              </a:p>
            </p:txBody>
          </p:sp>
        </mc:Choice>
        <mc:Fallback xmlns="">
          <p:sp>
            <p:nvSpPr>
              <p:cNvPr id="47" name="文字方塊 46"/>
              <p:cNvSpPr txBox="1">
                <a:spLocks noRot="1" noChangeAspect="1" noMove="1" noResize="1" noEditPoints="1" noAdjustHandles="1" noChangeArrowheads="1" noChangeShapeType="1" noTextEdit="1"/>
              </p:cNvSpPr>
              <p:nvPr/>
            </p:nvSpPr>
            <p:spPr>
              <a:xfrm>
                <a:off x="7090773" y="5907557"/>
                <a:ext cx="4744473" cy="483146"/>
              </a:xfrm>
              <a:prstGeom prst="rect">
                <a:avLst/>
              </a:prstGeom>
              <a:blipFill>
                <a:blip r:embed="rId11"/>
                <a:stretch>
                  <a:fillRect/>
                </a:stretch>
              </a:blipFill>
            </p:spPr>
            <p:txBody>
              <a:bodyPr/>
              <a:lstStyle/>
              <a:p>
                <a:r>
                  <a:rPr lang="zh-TW" altLang="en-US">
                    <a:noFill/>
                  </a:rPr>
                  <a:t> </a:t>
                </a:r>
              </a:p>
            </p:txBody>
          </p:sp>
        </mc:Fallback>
      </mc:AlternateContent>
      <p:sp>
        <p:nvSpPr>
          <p:cNvPr id="48" name="文字方塊 47"/>
          <p:cNvSpPr txBox="1"/>
          <p:nvPr/>
        </p:nvSpPr>
        <p:spPr>
          <a:xfrm>
            <a:off x="5573182" y="3605645"/>
            <a:ext cx="65" cy="276999"/>
          </a:xfrm>
          <a:prstGeom prst="rect">
            <a:avLst/>
          </a:prstGeom>
          <a:noFill/>
        </p:spPr>
        <p:txBody>
          <a:bodyPr wrap="none" lIns="0" tIns="0" rIns="0" bIns="0" rtlCol="0">
            <a:spAutoFit/>
          </a:bodyPr>
          <a:lstStyle/>
          <a:p>
            <a:endParaRPr lang="zh-TW" altLang="en-US" dirty="0"/>
          </a:p>
        </p:txBody>
      </p:sp>
      <p:sp>
        <p:nvSpPr>
          <p:cNvPr id="49" name="向右箭號 48"/>
          <p:cNvSpPr/>
          <p:nvPr/>
        </p:nvSpPr>
        <p:spPr>
          <a:xfrm>
            <a:off x="6263013" y="5993831"/>
            <a:ext cx="1049481" cy="31059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1" name="矩形 50"/>
              <p:cNvSpPr/>
              <p:nvPr/>
            </p:nvSpPr>
            <p:spPr>
              <a:xfrm>
                <a:off x="19360" y="66844"/>
                <a:ext cx="5567406" cy="105413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TW" sz="6000" i="1" smtClean="0">
                              <a:latin typeface="Cambria Math" panose="02040503050406030204" pitchFamily="18" charset="0"/>
                            </a:rPr>
                          </m:ctrlPr>
                        </m:sSupPr>
                        <m:e>
                          <m:r>
                            <a:rPr lang="zh-TW" altLang="en-US" sz="6000" i="1">
                              <a:latin typeface="Cambria Math" panose="02040503050406030204" pitchFamily="18" charset="0"/>
                            </a:rPr>
                            <m:t>𝜒</m:t>
                          </m:r>
                        </m:e>
                        <m:sup>
                          <m:r>
                            <a:rPr lang="en-US" altLang="zh-TW" sz="6000" i="1">
                              <a:latin typeface="Cambria Math" panose="02040503050406030204" pitchFamily="18" charset="0"/>
                            </a:rPr>
                            <m:t>(</m:t>
                          </m:r>
                          <m:r>
                            <a:rPr lang="en-US" altLang="zh-TW" sz="6000" b="0" i="1" smtClean="0">
                              <a:latin typeface="Cambria Math" panose="02040503050406030204" pitchFamily="18" charset="0"/>
                            </a:rPr>
                            <m:t>2</m:t>
                          </m:r>
                          <m:r>
                            <a:rPr lang="en-US" altLang="zh-TW" sz="6000" i="1">
                              <a:latin typeface="Cambria Math" panose="02040503050406030204" pitchFamily="18" charset="0"/>
                            </a:rPr>
                            <m:t>)</m:t>
                          </m:r>
                        </m:sup>
                      </m:sSup>
                      <m:r>
                        <m:rPr>
                          <m:nor/>
                        </m:rPr>
                        <a:rPr lang="en-US" altLang="zh-TW" sz="6000" dirty="0">
                          <a:latin typeface="Times New Roman" panose="02020603050405020304" pitchFamily="18" charset="0"/>
                          <a:cs typeface="Times New Roman" panose="02020603050405020304" pitchFamily="18" charset="0"/>
                        </a:rPr>
                        <m:t>nonlinearity</m:t>
                      </m:r>
                    </m:oMath>
                  </m:oMathPara>
                </a14:m>
                <a:endParaRPr lang="zh-TW" altLang="en-US" sz="6000" dirty="0"/>
              </a:p>
            </p:txBody>
          </p:sp>
        </mc:Choice>
        <mc:Fallback xmlns="">
          <p:sp>
            <p:nvSpPr>
              <p:cNvPr id="51" name="矩形 50"/>
              <p:cNvSpPr>
                <a:spLocks noRot="1" noChangeAspect="1" noMove="1" noResize="1" noEditPoints="1" noAdjustHandles="1" noChangeArrowheads="1" noChangeShapeType="1" noTextEdit="1"/>
              </p:cNvSpPr>
              <p:nvPr/>
            </p:nvSpPr>
            <p:spPr>
              <a:xfrm>
                <a:off x="19360" y="66844"/>
                <a:ext cx="5567406" cy="1054135"/>
              </a:xfrm>
              <a:prstGeom prst="rect">
                <a:avLst/>
              </a:prstGeom>
              <a:blipFill>
                <a:blip r:embed="rId12"/>
                <a:stretch>
                  <a:fillRect/>
                </a:stretch>
              </a:blipFill>
            </p:spPr>
            <p:txBody>
              <a:bodyPr/>
              <a:lstStyle/>
              <a:p>
                <a:r>
                  <a:rPr lang="zh-TW" altLang="en-US">
                    <a:noFill/>
                  </a:rPr>
                  <a:t> </a:t>
                </a:r>
              </a:p>
            </p:txBody>
          </p:sp>
        </mc:Fallback>
      </mc:AlternateContent>
      <p:sp>
        <p:nvSpPr>
          <p:cNvPr id="50" name="文字方塊 49"/>
          <p:cNvSpPr txBox="1"/>
          <p:nvPr/>
        </p:nvSpPr>
        <p:spPr>
          <a:xfrm>
            <a:off x="1046981" y="2388531"/>
            <a:ext cx="4049507" cy="400110"/>
          </a:xfrm>
          <a:prstGeom prst="rect">
            <a:avLst/>
          </a:prstGeom>
          <a:noFill/>
        </p:spPr>
        <p:txBody>
          <a:bodyPr wrap="none" rtlCol="0">
            <a:spAutoFit/>
          </a:bodyPr>
          <a:lstStyle/>
          <a:p>
            <a:r>
              <a:rPr lang="en-US" altLang="zh-TW" sz="2000" dirty="0" smtClean="0">
                <a:latin typeface="Times New Roman" panose="02020603050405020304" pitchFamily="18" charset="0"/>
                <a:cs typeface="Times New Roman" panose="02020603050405020304" pitchFamily="18" charset="0"/>
              </a:rPr>
              <a:t>Second Harmonic Generation (SHG):</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6972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群組 9"/>
          <p:cNvGrpSpPr/>
          <p:nvPr/>
        </p:nvGrpSpPr>
        <p:grpSpPr>
          <a:xfrm>
            <a:off x="3394555" y="2615192"/>
            <a:ext cx="5736917" cy="1920403"/>
            <a:chOff x="4904378" y="4184924"/>
            <a:chExt cx="5281814" cy="1764923"/>
          </a:xfrm>
          <a:solidFill>
            <a:schemeClr val="bg1">
              <a:alpha val="98000"/>
            </a:schemeClr>
          </a:solidFill>
        </p:grpSpPr>
        <p:pic>
          <p:nvPicPr>
            <p:cNvPr id="1028" name="Picture 4" descr="http://www.ncu.edu.tw/assets/images/log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4378" y="4184924"/>
              <a:ext cx="5281814" cy="1764923"/>
            </a:xfrm>
            <a:prstGeom prst="rect">
              <a:avLst/>
            </a:prstGeom>
            <a:grpFill/>
            <a:effectLst>
              <a:outerShdw blurRad="50800" dist="50800" dir="5400000" algn="ctr" rotWithShape="0">
                <a:srgbClr val="000000">
                  <a:alpha val="0"/>
                </a:srgbClr>
              </a:outerShdw>
            </a:effectLst>
          </p:spPr>
        </p:pic>
        <p:sp>
          <p:nvSpPr>
            <p:cNvPr id="9" name="矩形 8"/>
            <p:cNvSpPr/>
            <p:nvPr/>
          </p:nvSpPr>
          <p:spPr>
            <a:xfrm>
              <a:off x="4904378" y="4184924"/>
              <a:ext cx="5281814" cy="1764923"/>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4" name="＞形箭號 13"/>
          <p:cNvSpPr/>
          <p:nvPr/>
        </p:nvSpPr>
        <p:spPr>
          <a:xfrm>
            <a:off x="10032000" y="1198762"/>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15" name="＞形箭號 14"/>
          <p:cNvSpPr/>
          <p:nvPr/>
        </p:nvSpPr>
        <p:spPr>
          <a:xfrm>
            <a:off x="8425048" y="1198762"/>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16" name="＞形箭號 15"/>
          <p:cNvSpPr/>
          <p:nvPr/>
        </p:nvSpPr>
        <p:spPr>
          <a:xfrm>
            <a:off x="6762882" y="1198762"/>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17" name="＞形箭號 16"/>
          <p:cNvSpPr/>
          <p:nvPr/>
        </p:nvSpPr>
        <p:spPr>
          <a:xfrm>
            <a:off x="5107858" y="1198762"/>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solidFill>
                <a:schemeClr val="tx1"/>
              </a:solidFill>
            </a:endParaRPr>
          </a:p>
        </p:txBody>
      </p:sp>
      <p:sp>
        <p:nvSpPr>
          <p:cNvPr id="18" name="＞形箭號 17"/>
          <p:cNvSpPr/>
          <p:nvPr/>
        </p:nvSpPr>
        <p:spPr>
          <a:xfrm>
            <a:off x="3444193" y="1198762"/>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Principle</a:t>
            </a:r>
            <a:endParaRPr lang="en-US" altLang="zh-TW" dirty="0">
              <a:latin typeface="Times New Roman" panose="02020603050405020304" pitchFamily="18" charset="0"/>
              <a:cs typeface="Times New Roman" panose="02020603050405020304" pitchFamily="18" charset="0"/>
            </a:endParaRPr>
          </a:p>
        </p:txBody>
      </p:sp>
      <p:sp>
        <p:nvSpPr>
          <p:cNvPr id="19" name="＞形箭號 18"/>
          <p:cNvSpPr/>
          <p:nvPr/>
        </p:nvSpPr>
        <p:spPr>
          <a:xfrm>
            <a:off x="1778885" y="1198762"/>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20" name="＞形箭號 19"/>
          <p:cNvSpPr/>
          <p:nvPr/>
        </p:nvSpPr>
        <p:spPr>
          <a:xfrm>
            <a:off x="19359" y="1198762"/>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12" name="文字方塊 11"/>
          <p:cNvSpPr txBox="1"/>
          <p:nvPr/>
        </p:nvSpPr>
        <p:spPr>
          <a:xfrm>
            <a:off x="8472936" y="4012375"/>
            <a:ext cx="3521637" cy="523220"/>
          </a:xfrm>
          <a:prstGeom prst="rect">
            <a:avLst/>
          </a:prstGeom>
          <a:noFill/>
        </p:spPr>
        <p:txBody>
          <a:bodyPr wrap="square" rtlCol="0">
            <a:spAutoFit/>
          </a:bodyPr>
          <a:lstStyle/>
          <a:p>
            <a:r>
              <a:rPr lang="en-US" altLang="zh-TW" sz="2800" dirty="0" smtClean="0">
                <a:latin typeface="Times New Roman" panose="02020603050405020304" pitchFamily="18" charset="0"/>
                <a:cs typeface="Times New Roman" panose="02020603050405020304" pitchFamily="18" charset="0"/>
              </a:rPr>
              <a:t>Cascaded nonlinearity</a:t>
            </a:r>
            <a:endParaRPr lang="zh-TW"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文字方塊 12"/>
              <p:cNvSpPr txBox="1"/>
              <p:nvPr/>
            </p:nvSpPr>
            <p:spPr>
              <a:xfrm>
                <a:off x="7523812" y="3409130"/>
                <a:ext cx="4050899" cy="369332"/>
              </a:xfrm>
              <a:prstGeom prst="rect">
                <a:avLst/>
              </a:prstGeom>
              <a:noFill/>
            </p:spPr>
            <p:txBody>
              <a:bodyPr wrap="square" lIns="0" tIns="0" rIns="0" bIns="0" rtlCol="0">
                <a:spAutoFit/>
              </a:bodyPr>
              <a:lstStyle/>
              <a:p>
                <a:r>
                  <a:rPr lang="en-US" altLang="zh-TW" sz="2400" b="0" dirty="0" smtClean="0">
                    <a:latin typeface="Times New Roman" panose="02020603050405020304" pitchFamily="18" charset="0"/>
                    <a:cs typeface="Times New Roman" panose="02020603050405020304" pitchFamily="18" charset="0"/>
                  </a:rPr>
                  <a:t>Kerr effect</a:t>
                </a:r>
                <a14:m>
                  <m:oMath xmlns:m="http://schemas.openxmlformats.org/officeDocument/2006/math">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𝑛</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𝑛</m:t>
                        </m:r>
                      </m:e>
                      <m:sub>
                        <m:r>
                          <a:rPr lang="en-US" altLang="zh-TW" sz="2400" b="0" i="1" smtClean="0">
                            <a:latin typeface="Cambria Math" panose="02040503050406030204" pitchFamily="18" charset="0"/>
                          </a:rPr>
                          <m:t>𝑜</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𝑛</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𝐼</m:t>
                    </m:r>
                  </m:oMath>
                </a14:m>
                <a:endParaRPr lang="zh-TW" altLang="en-US" sz="2400"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7523812" y="3409130"/>
                <a:ext cx="4050899" cy="369332"/>
              </a:xfrm>
              <a:prstGeom prst="rect">
                <a:avLst/>
              </a:prstGeom>
              <a:blipFill>
                <a:blip r:embed="rId3"/>
                <a:stretch>
                  <a:fillRect l="-4511" t="-26230" b="-47541"/>
                </a:stretch>
              </a:blipFill>
            </p:spPr>
            <p:txBody>
              <a:bodyPr/>
              <a:lstStyle/>
              <a:p>
                <a:r>
                  <a:rPr lang="zh-TW" altLang="en-US">
                    <a:noFill/>
                  </a:rPr>
                  <a:t> </a:t>
                </a:r>
              </a:p>
            </p:txBody>
          </p:sp>
        </mc:Fallback>
      </mc:AlternateContent>
      <p:sp>
        <p:nvSpPr>
          <p:cNvPr id="21" name="向右箭號 20"/>
          <p:cNvSpPr/>
          <p:nvPr/>
        </p:nvSpPr>
        <p:spPr>
          <a:xfrm>
            <a:off x="7523812" y="4054066"/>
            <a:ext cx="949124" cy="4398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2" name="矩形 21"/>
              <p:cNvSpPr/>
              <p:nvPr/>
            </p:nvSpPr>
            <p:spPr>
              <a:xfrm>
                <a:off x="19360" y="66844"/>
                <a:ext cx="5567406" cy="105413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TW" sz="6000" i="1" smtClean="0">
                              <a:latin typeface="Cambria Math" panose="02040503050406030204" pitchFamily="18" charset="0"/>
                            </a:rPr>
                          </m:ctrlPr>
                        </m:sSupPr>
                        <m:e>
                          <m:r>
                            <a:rPr lang="zh-TW" altLang="en-US" sz="6000" i="1">
                              <a:latin typeface="Cambria Math" panose="02040503050406030204" pitchFamily="18" charset="0"/>
                            </a:rPr>
                            <m:t>𝜒</m:t>
                          </m:r>
                        </m:e>
                        <m:sup>
                          <m:r>
                            <a:rPr lang="en-US" altLang="zh-TW" sz="6000" i="1">
                              <a:latin typeface="Cambria Math" panose="02040503050406030204" pitchFamily="18" charset="0"/>
                            </a:rPr>
                            <m:t>(</m:t>
                          </m:r>
                          <m:r>
                            <a:rPr lang="en-US" altLang="zh-TW" sz="6000" b="0" i="1" smtClean="0">
                              <a:latin typeface="Cambria Math" panose="02040503050406030204" pitchFamily="18" charset="0"/>
                            </a:rPr>
                            <m:t>2</m:t>
                          </m:r>
                          <m:r>
                            <a:rPr lang="en-US" altLang="zh-TW" sz="6000" i="1">
                              <a:latin typeface="Cambria Math" panose="02040503050406030204" pitchFamily="18" charset="0"/>
                            </a:rPr>
                            <m:t>)</m:t>
                          </m:r>
                        </m:sup>
                      </m:sSup>
                      <m:r>
                        <m:rPr>
                          <m:nor/>
                        </m:rPr>
                        <a:rPr lang="en-US" altLang="zh-TW" sz="6000" dirty="0">
                          <a:latin typeface="Times New Roman" panose="02020603050405020304" pitchFamily="18" charset="0"/>
                          <a:cs typeface="Times New Roman" panose="02020603050405020304" pitchFamily="18" charset="0"/>
                        </a:rPr>
                        <m:t>nonlinearity</m:t>
                      </m:r>
                    </m:oMath>
                  </m:oMathPara>
                </a14:m>
                <a:endParaRPr lang="zh-TW" altLang="en-US" sz="6000" dirty="0"/>
              </a:p>
            </p:txBody>
          </p:sp>
        </mc:Choice>
        <mc:Fallback xmlns="">
          <p:sp>
            <p:nvSpPr>
              <p:cNvPr id="22" name="矩形 21"/>
              <p:cNvSpPr>
                <a:spLocks noRot="1" noChangeAspect="1" noMove="1" noResize="1" noEditPoints="1" noAdjustHandles="1" noChangeArrowheads="1" noChangeShapeType="1" noTextEdit="1"/>
              </p:cNvSpPr>
              <p:nvPr/>
            </p:nvSpPr>
            <p:spPr>
              <a:xfrm>
                <a:off x="19360" y="66844"/>
                <a:ext cx="5567406" cy="1054135"/>
              </a:xfrm>
              <a:prstGeom prst="rect">
                <a:avLst/>
              </a:prstGeom>
              <a:blipFill>
                <a:blip r:embed="rId4"/>
                <a:stretch>
                  <a:fillRect/>
                </a:stretch>
              </a:blipFill>
            </p:spPr>
            <p:txBody>
              <a:bodyPr/>
              <a:lstStyle/>
              <a:p>
                <a:r>
                  <a:rPr lang="zh-TW" altLang="en-US">
                    <a:noFill/>
                  </a:rPr>
                  <a:t> </a:t>
                </a:r>
              </a:p>
            </p:txBody>
          </p:sp>
        </mc:Fallback>
      </mc:AlternateContent>
      <p:pic>
        <p:nvPicPr>
          <p:cNvPr id="23" name="圖片 22"/>
          <p:cNvPicPr>
            <a:picLocks noChangeAspect="1"/>
          </p:cNvPicPr>
          <p:nvPr/>
        </p:nvPicPr>
        <p:blipFill>
          <a:blip r:embed="rId5"/>
          <a:stretch>
            <a:fillRect/>
          </a:stretch>
        </p:blipFill>
        <p:spPr>
          <a:xfrm>
            <a:off x="273506" y="1799342"/>
            <a:ext cx="3170687" cy="4421623"/>
          </a:xfrm>
          <a:prstGeom prst="rect">
            <a:avLst/>
          </a:prstGeom>
        </p:spPr>
      </p:pic>
      <p:pic>
        <p:nvPicPr>
          <p:cNvPr id="24" name="圖片 23"/>
          <p:cNvPicPr>
            <a:picLocks noChangeAspect="1"/>
          </p:cNvPicPr>
          <p:nvPr/>
        </p:nvPicPr>
        <p:blipFill>
          <a:blip r:embed="rId6"/>
          <a:stretch>
            <a:fillRect/>
          </a:stretch>
        </p:blipFill>
        <p:spPr>
          <a:xfrm>
            <a:off x="3681788" y="1721559"/>
            <a:ext cx="3226070" cy="4510173"/>
          </a:xfrm>
          <a:prstGeom prst="rect">
            <a:avLst/>
          </a:prstGeom>
        </p:spPr>
      </p:pic>
    </p:spTree>
    <p:extLst>
      <p:ext uri="{BB962C8B-B14F-4D97-AF65-F5344CB8AC3E}">
        <p14:creationId xmlns:p14="http://schemas.microsoft.com/office/powerpoint/2010/main" val="34750188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群組 9"/>
          <p:cNvGrpSpPr/>
          <p:nvPr/>
        </p:nvGrpSpPr>
        <p:grpSpPr>
          <a:xfrm>
            <a:off x="3139399" y="2674847"/>
            <a:ext cx="5736917" cy="1920403"/>
            <a:chOff x="4904378" y="4184924"/>
            <a:chExt cx="5281814" cy="1764923"/>
          </a:xfrm>
          <a:solidFill>
            <a:schemeClr val="bg1">
              <a:alpha val="98000"/>
            </a:schemeClr>
          </a:solidFill>
        </p:grpSpPr>
        <p:pic>
          <p:nvPicPr>
            <p:cNvPr id="1028" name="Picture 4" descr="http://www.ncu.edu.tw/assets/images/log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4378" y="4184924"/>
              <a:ext cx="5281814" cy="1764923"/>
            </a:xfrm>
            <a:prstGeom prst="rect">
              <a:avLst/>
            </a:prstGeom>
            <a:grpFill/>
            <a:effectLst>
              <a:outerShdw blurRad="50800" dist="50800" dir="5400000" algn="ctr" rotWithShape="0">
                <a:srgbClr val="000000">
                  <a:alpha val="0"/>
                </a:srgbClr>
              </a:outerShdw>
            </a:effectLst>
          </p:spPr>
        </p:pic>
        <p:sp>
          <p:nvSpPr>
            <p:cNvPr id="9" name="矩形 8"/>
            <p:cNvSpPr/>
            <p:nvPr/>
          </p:nvSpPr>
          <p:spPr>
            <a:xfrm>
              <a:off x="4904378" y="4184924"/>
              <a:ext cx="5281814" cy="1764923"/>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4" name="＞形箭號 13"/>
          <p:cNvSpPr/>
          <p:nvPr/>
        </p:nvSpPr>
        <p:spPr>
          <a:xfrm>
            <a:off x="10032000" y="1198762"/>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15" name="＞形箭號 14"/>
          <p:cNvSpPr/>
          <p:nvPr/>
        </p:nvSpPr>
        <p:spPr>
          <a:xfrm>
            <a:off x="8425048" y="1198762"/>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16" name="＞形箭號 15"/>
          <p:cNvSpPr/>
          <p:nvPr/>
        </p:nvSpPr>
        <p:spPr>
          <a:xfrm>
            <a:off x="6762882" y="1198762"/>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17" name="＞形箭號 16"/>
          <p:cNvSpPr/>
          <p:nvPr/>
        </p:nvSpPr>
        <p:spPr>
          <a:xfrm>
            <a:off x="5107858" y="1198762"/>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solidFill>
                <a:schemeClr val="tx1"/>
              </a:solidFill>
            </a:endParaRPr>
          </a:p>
        </p:txBody>
      </p:sp>
      <p:sp>
        <p:nvSpPr>
          <p:cNvPr id="18" name="＞形箭號 17"/>
          <p:cNvSpPr/>
          <p:nvPr/>
        </p:nvSpPr>
        <p:spPr>
          <a:xfrm>
            <a:off x="3444193" y="1198762"/>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Principle</a:t>
            </a:r>
            <a:endParaRPr lang="en-US" altLang="zh-TW" dirty="0">
              <a:latin typeface="Times New Roman" panose="02020603050405020304" pitchFamily="18" charset="0"/>
              <a:cs typeface="Times New Roman" panose="02020603050405020304" pitchFamily="18" charset="0"/>
            </a:endParaRPr>
          </a:p>
        </p:txBody>
      </p:sp>
      <p:sp>
        <p:nvSpPr>
          <p:cNvPr id="19" name="＞形箭號 18"/>
          <p:cNvSpPr/>
          <p:nvPr/>
        </p:nvSpPr>
        <p:spPr>
          <a:xfrm>
            <a:off x="1778885" y="1198762"/>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20" name="＞形箭號 19"/>
          <p:cNvSpPr/>
          <p:nvPr/>
        </p:nvSpPr>
        <p:spPr>
          <a:xfrm>
            <a:off x="19359" y="1198762"/>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12" name="矩形 11"/>
          <p:cNvSpPr/>
          <p:nvPr/>
        </p:nvSpPr>
        <p:spPr>
          <a:xfrm>
            <a:off x="19360" y="66844"/>
            <a:ext cx="6888498" cy="1015663"/>
          </a:xfrm>
          <a:prstGeom prst="rect">
            <a:avLst/>
          </a:prstGeom>
        </p:spPr>
        <p:txBody>
          <a:bodyPr wrap="square">
            <a:spAutoFit/>
          </a:bodyPr>
          <a:lstStyle/>
          <a:p>
            <a:r>
              <a:rPr lang="en-US" altLang="zh-TW" sz="6000" dirty="0" smtClean="0">
                <a:latin typeface="Times New Roman" panose="02020603050405020304" pitchFamily="18" charset="0"/>
                <a:cs typeface="Times New Roman" panose="02020603050405020304" pitchFamily="18" charset="0"/>
              </a:rPr>
              <a:t>Adiabatic coupler</a:t>
            </a:r>
            <a:endParaRPr lang="zh-TW" altLang="en-US" sz="6000" dirty="0">
              <a:latin typeface="Times New Roman" panose="02020603050405020304" pitchFamily="18" charset="0"/>
              <a:cs typeface="Times New Roman" panose="02020603050405020304" pitchFamily="18" charset="0"/>
            </a:endParaRPr>
          </a:p>
        </p:txBody>
      </p:sp>
      <p:pic>
        <p:nvPicPr>
          <p:cNvPr id="21" name="圖片 20"/>
          <p:cNvPicPr/>
          <p:nvPr/>
        </p:nvPicPr>
        <p:blipFill>
          <a:blip r:embed="rId3"/>
          <a:stretch>
            <a:fillRect/>
          </a:stretch>
        </p:blipFill>
        <p:spPr>
          <a:xfrm>
            <a:off x="757973" y="1834013"/>
            <a:ext cx="5193030" cy="4191000"/>
          </a:xfrm>
          <a:prstGeom prst="rect">
            <a:avLst/>
          </a:prstGeom>
        </p:spPr>
      </p:pic>
      <p:sp>
        <p:nvSpPr>
          <p:cNvPr id="3" name="向右箭號 2"/>
          <p:cNvSpPr/>
          <p:nvPr/>
        </p:nvSpPr>
        <p:spPr>
          <a:xfrm rot="16200000">
            <a:off x="4455713" y="6045666"/>
            <a:ext cx="539259" cy="34598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 name="矩形 4"/>
              <p:cNvSpPr/>
              <p:nvPr/>
            </p:nvSpPr>
            <p:spPr>
              <a:xfrm>
                <a:off x="6907858" y="2082096"/>
                <a:ext cx="2631682" cy="6183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TW" altLang="en-US" i="1">
                              <a:latin typeface="Cambria Math" panose="02040503050406030204" pitchFamily="18" charset="0"/>
                            </a:rPr>
                          </m:ctrlPr>
                        </m:fPr>
                        <m:num>
                          <m:r>
                            <m:rPr>
                              <m:sty m:val="p"/>
                            </m:rPr>
                            <a:rPr lang="zh-TW" altLang="en-US">
                              <a:latin typeface="Cambria Math" panose="02040503050406030204" pitchFamily="18" charset="0"/>
                            </a:rPr>
                            <m:t>d</m:t>
                          </m:r>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E</m:t>
                              </m:r>
                            </m:e>
                            <m:sub>
                              <m:r>
                                <a:rPr lang="zh-TW" altLang="en-US">
                                  <a:latin typeface="Cambria Math" panose="02040503050406030204" pitchFamily="18" charset="0"/>
                                </a:rPr>
                                <m:t>1</m:t>
                              </m:r>
                            </m:sub>
                          </m:sSub>
                        </m:num>
                        <m:den>
                          <m:r>
                            <m:rPr>
                              <m:sty m:val="p"/>
                            </m:rPr>
                            <a:rPr lang="zh-TW" altLang="en-US">
                              <a:latin typeface="Cambria Math" panose="02040503050406030204" pitchFamily="18" charset="0"/>
                            </a:rPr>
                            <m:t>dx</m:t>
                          </m:r>
                        </m:den>
                      </m:f>
                      <m:r>
                        <a:rPr lang="zh-TW" altLang="en-US">
                          <a:latin typeface="Cambria Math" panose="02040503050406030204" pitchFamily="18" charset="0"/>
                        </a:rPr>
                        <m:t>=</m:t>
                      </m:r>
                      <m:sSub>
                        <m:sSubPr>
                          <m:ctrlPr>
                            <a:rPr lang="zh-TW" altLang="en-US" i="1">
                              <a:latin typeface="Cambria Math" panose="02040503050406030204" pitchFamily="18" charset="0"/>
                            </a:rPr>
                          </m:ctrlPr>
                        </m:sSubPr>
                        <m:e>
                          <m:r>
                            <a:rPr lang="zh-TW" altLang="en-US">
                              <a:latin typeface="Cambria Math" panose="02040503050406030204" pitchFamily="18" charset="0"/>
                            </a:rPr>
                            <m:t>−</m:t>
                          </m:r>
                          <m:r>
                            <m:rPr>
                              <m:sty m:val="p"/>
                            </m:rPr>
                            <a:rPr lang="zh-TW" altLang="en-US">
                              <a:latin typeface="Cambria Math" panose="02040503050406030204" pitchFamily="18" charset="0"/>
                            </a:rPr>
                            <m:t>j</m:t>
                          </m:r>
                          <m:r>
                            <a:rPr lang="en-US" altLang="zh-TW" i="1">
                              <a:latin typeface="Cambria Math" panose="02040503050406030204" pitchFamily="18" charset="0"/>
                            </a:rPr>
                            <m:t>(</m:t>
                          </m:r>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β</m:t>
                              </m:r>
                            </m:e>
                            <m:sub>
                              <m:r>
                                <a:rPr lang="zh-TW" altLang="en-US">
                                  <a:latin typeface="Cambria Math" panose="02040503050406030204" pitchFamily="18" charset="0"/>
                                </a:rPr>
                                <m:t>1</m:t>
                              </m:r>
                            </m:sub>
                          </m:sSub>
                          <m:r>
                            <m:rPr>
                              <m:sty m:val="p"/>
                            </m:rPr>
                            <a:rPr lang="zh-TW" altLang="en-US">
                              <a:latin typeface="Cambria Math" panose="02040503050406030204" pitchFamily="18" charset="0"/>
                            </a:rPr>
                            <m:t>E</m:t>
                          </m:r>
                        </m:e>
                        <m:sub>
                          <m:r>
                            <a:rPr lang="zh-TW" altLang="en-US">
                              <a:latin typeface="Cambria Math" panose="02040503050406030204" pitchFamily="18" charset="0"/>
                            </a:rPr>
                            <m:t>1</m:t>
                          </m:r>
                        </m:sub>
                      </m:sSub>
                      <m:r>
                        <a:rPr lang="zh-TW" altLang="en-US">
                          <a:latin typeface="Cambria Math" panose="02040503050406030204" pitchFamily="18" charset="0"/>
                        </a:rPr>
                        <m:t>+</m:t>
                      </m:r>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κ</m:t>
                          </m:r>
                        </m:e>
                        <m:sub>
                          <m:r>
                            <a:rPr lang="zh-TW" altLang="en-US">
                              <a:latin typeface="Cambria Math" panose="02040503050406030204" pitchFamily="18" charset="0"/>
                            </a:rPr>
                            <m:t>12</m:t>
                          </m:r>
                        </m:sub>
                      </m:sSub>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E</m:t>
                          </m:r>
                        </m:e>
                        <m:sub>
                          <m:r>
                            <a:rPr lang="zh-TW" altLang="en-US">
                              <a:latin typeface="Cambria Math" panose="02040503050406030204" pitchFamily="18" charset="0"/>
                            </a:rPr>
                            <m:t>2</m:t>
                          </m:r>
                        </m:sub>
                      </m:sSub>
                      <m:r>
                        <a:rPr lang="en-US" altLang="zh-TW" i="1">
                          <a:latin typeface="Cambria Math" panose="02040503050406030204" pitchFamily="18" charset="0"/>
                        </a:rPr>
                        <m:t>)</m:t>
                      </m:r>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6907858" y="2082096"/>
                <a:ext cx="2631682" cy="618374"/>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6959404" y="3389028"/>
                <a:ext cx="2580136" cy="61837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TW" altLang="en-US" i="1">
                              <a:latin typeface="Cambria Math" panose="02040503050406030204" pitchFamily="18" charset="0"/>
                            </a:rPr>
                          </m:ctrlPr>
                        </m:fPr>
                        <m:num>
                          <m:r>
                            <m:rPr>
                              <m:sty m:val="p"/>
                            </m:rPr>
                            <a:rPr lang="zh-TW" altLang="en-US">
                              <a:latin typeface="Cambria Math" panose="02040503050406030204" pitchFamily="18" charset="0"/>
                            </a:rPr>
                            <m:t>d</m:t>
                          </m:r>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E</m:t>
                              </m:r>
                            </m:e>
                            <m:sub>
                              <m:r>
                                <a:rPr lang="zh-TW" altLang="en-US">
                                  <a:latin typeface="Cambria Math" panose="02040503050406030204" pitchFamily="18" charset="0"/>
                                </a:rPr>
                                <m:t>3</m:t>
                              </m:r>
                            </m:sub>
                          </m:sSub>
                        </m:num>
                        <m:den>
                          <m:r>
                            <m:rPr>
                              <m:sty m:val="p"/>
                            </m:rPr>
                            <a:rPr lang="zh-TW" altLang="en-US">
                              <a:latin typeface="Cambria Math" panose="02040503050406030204" pitchFamily="18" charset="0"/>
                            </a:rPr>
                            <m:t>dx</m:t>
                          </m:r>
                        </m:den>
                      </m:f>
                      <m:r>
                        <a:rPr lang="zh-TW" altLang="en-US">
                          <a:latin typeface="Cambria Math" panose="02040503050406030204" pitchFamily="18" charset="0"/>
                        </a:rPr>
                        <m:t>=</m:t>
                      </m:r>
                      <m:sSub>
                        <m:sSubPr>
                          <m:ctrlPr>
                            <a:rPr lang="zh-TW" altLang="en-US" i="1">
                              <a:latin typeface="Cambria Math" panose="02040503050406030204" pitchFamily="18" charset="0"/>
                            </a:rPr>
                          </m:ctrlPr>
                        </m:sSubPr>
                        <m:e>
                          <m:r>
                            <a:rPr lang="zh-TW" altLang="en-US">
                              <a:latin typeface="Cambria Math" panose="02040503050406030204" pitchFamily="18" charset="0"/>
                            </a:rPr>
                            <m:t>−</m:t>
                          </m:r>
                          <m:r>
                            <m:rPr>
                              <m:sty m:val="p"/>
                            </m:rPr>
                            <a:rPr lang="zh-TW" altLang="en-US">
                              <a:latin typeface="Cambria Math" panose="02040503050406030204" pitchFamily="18" charset="0"/>
                            </a:rPr>
                            <m:t>j</m:t>
                          </m:r>
                          <m:r>
                            <a:rPr lang="zh-TW" altLang="en-US">
                              <a:latin typeface="Cambria Math" panose="02040503050406030204" pitchFamily="18" charset="0"/>
                            </a:rPr>
                            <m:t>(</m:t>
                          </m:r>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β</m:t>
                              </m:r>
                            </m:e>
                            <m:sub>
                              <m:r>
                                <a:rPr lang="zh-TW" altLang="en-US">
                                  <a:latin typeface="Cambria Math" panose="02040503050406030204" pitchFamily="18" charset="0"/>
                                </a:rPr>
                                <m:t>3</m:t>
                              </m:r>
                            </m:sub>
                          </m:sSub>
                          <m:r>
                            <m:rPr>
                              <m:sty m:val="p"/>
                            </m:rPr>
                            <a:rPr lang="zh-TW" altLang="en-US">
                              <a:latin typeface="Cambria Math" panose="02040503050406030204" pitchFamily="18" charset="0"/>
                            </a:rPr>
                            <m:t>E</m:t>
                          </m:r>
                        </m:e>
                        <m:sub>
                          <m:r>
                            <a:rPr lang="zh-TW" altLang="en-US">
                              <a:latin typeface="Cambria Math" panose="02040503050406030204" pitchFamily="18" charset="0"/>
                            </a:rPr>
                            <m:t>3</m:t>
                          </m:r>
                        </m:sub>
                      </m:sSub>
                      <m:r>
                        <a:rPr lang="zh-TW" altLang="en-US">
                          <a:latin typeface="Cambria Math" panose="02040503050406030204" pitchFamily="18" charset="0"/>
                        </a:rPr>
                        <m:t>+</m:t>
                      </m:r>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κ</m:t>
                          </m:r>
                        </m:e>
                        <m:sub>
                          <m:r>
                            <a:rPr lang="zh-TW" altLang="en-US">
                              <a:latin typeface="Cambria Math" panose="02040503050406030204" pitchFamily="18" charset="0"/>
                            </a:rPr>
                            <m:t>32</m:t>
                          </m:r>
                        </m:sub>
                      </m:sSub>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E</m:t>
                          </m:r>
                        </m:e>
                        <m:sub>
                          <m:r>
                            <a:rPr lang="zh-TW" altLang="en-US">
                              <a:latin typeface="Cambria Math" panose="02040503050406030204" pitchFamily="18" charset="0"/>
                            </a:rPr>
                            <m:t>2</m:t>
                          </m:r>
                        </m:sub>
                      </m:sSub>
                      <m:r>
                        <a:rPr lang="en-US" altLang="zh-TW" i="1">
                          <a:latin typeface="Cambria Math" panose="02040503050406030204" pitchFamily="18" charset="0"/>
                          <a:ea typeface="Cambria Math" panose="02040503050406030204" pitchFamily="18" charset="0"/>
                        </a:rPr>
                        <m:t>)</m:t>
                      </m:r>
                    </m:oMath>
                  </m:oMathPara>
                </a14:m>
                <a:endParaRPr lang="zh-TW" altLang="en-US" dirty="0">
                  <a:latin typeface="Cambria Math" panose="02040503050406030204" pitchFamily="18" charset="0"/>
                  <a:cs typeface="Times New Roman" panose="02020603050405020304" pitchFamily="18"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6959404" y="3389028"/>
                <a:ext cx="2580136" cy="618374"/>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6907858" y="2735562"/>
                <a:ext cx="3512195" cy="61837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TW" altLang="en-US" i="1" smtClean="0">
                              <a:latin typeface="Cambria Math" panose="02040503050406030204" pitchFamily="18" charset="0"/>
                            </a:rPr>
                          </m:ctrlPr>
                        </m:fPr>
                        <m:num>
                          <m:r>
                            <m:rPr>
                              <m:sty m:val="p"/>
                            </m:rPr>
                            <a:rPr lang="zh-TW" altLang="en-US">
                              <a:latin typeface="Cambria Math" panose="02040503050406030204" pitchFamily="18" charset="0"/>
                            </a:rPr>
                            <m:t>d</m:t>
                          </m:r>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E</m:t>
                              </m:r>
                            </m:e>
                            <m:sub>
                              <m:r>
                                <a:rPr lang="en-US" altLang="zh-TW" b="0" i="0" smtClean="0">
                                  <a:latin typeface="Cambria Math" panose="02040503050406030204" pitchFamily="18" charset="0"/>
                                </a:rPr>
                                <m:t>2</m:t>
                              </m:r>
                            </m:sub>
                          </m:sSub>
                        </m:num>
                        <m:den>
                          <m:r>
                            <m:rPr>
                              <m:sty m:val="p"/>
                            </m:rPr>
                            <a:rPr lang="zh-TW" altLang="en-US">
                              <a:latin typeface="Cambria Math" panose="02040503050406030204" pitchFamily="18" charset="0"/>
                            </a:rPr>
                            <m:t>dx</m:t>
                          </m:r>
                        </m:den>
                      </m:f>
                      <m:r>
                        <a:rPr lang="zh-TW" altLang="en-US">
                          <a:latin typeface="Cambria Math" panose="02040503050406030204" pitchFamily="18" charset="0"/>
                        </a:rPr>
                        <m:t>=</m:t>
                      </m:r>
                      <m:sSub>
                        <m:sSubPr>
                          <m:ctrlPr>
                            <a:rPr lang="zh-TW" altLang="en-US" i="1">
                              <a:latin typeface="Cambria Math" panose="02040503050406030204" pitchFamily="18" charset="0"/>
                            </a:rPr>
                          </m:ctrlPr>
                        </m:sSubPr>
                        <m:e>
                          <m:r>
                            <a:rPr lang="zh-TW" altLang="en-US">
                              <a:latin typeface="Cambria Math" panose="02040503050406030204" pitchFamily="18" charset="0"/>
                            </a:rPr>
                            <m:t>−</m:t>
                          </m:r>
                          <m:r>
                            <m:rPr>
                              <m:sty m:val="p"/>
                            </m:rPr>
                            <a:rPr lang="zh-TW" altLang="en-US">
                              <a:latin typeface="Cambria Math" panose="02040503050406030204" pitchFamily="18" charset="0"/>
                            </a:rPr>
                            <m:t>j</m:t>
                          </m:r>
                          <m:r>
                            <a:rPr lang="zh-TW" altLang="en-US">
                              <a:latin typeface="Cambria Math" panose="02040503050406030204" pitchFamily="18" charset="0"/>
                            </a:rPr>
                            <m:t>(</m:t>
                          </m:r>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β</m:t>
                              </m:r>
                            </m:e>
                            <m:sub>
                              <m:r>
                                <a:rPr lang="en-US" altLang="zh-TW" b="0" i="0" smtClean="0">
                                  <a:latin typeface="Cambria Math" panose="02040503050406030204" pitchFamily="18" charset="0"/>
                                </a:rPr>
                                <m:t>2</m:t>
                              </m:r>
                            </m:sub>
                          </m:sSub>
                          <m:r>
                            <m:rPr>
                              <m:sty m:val="p"/>
                            </m:rPr>
                            <a:rPr lang="zh-TW" altLang="en-US">
                              <a:latin typeface="Cambria Math" panose="02040503050406030204" pitchFamily="18" charset="0"/>
                            </a:rPr>
                            <m:t>E</m:t>
                          </m:r>
                        </m:e>
                        <m:sub>
                          <m:r>
                            <a:rPr lang="en-US" altLang="zh-TW" b="0" i="0" smtClean="0">
                              <a:latin typeface="Cambria Math" panose="02040503050406030204" pitchFamily="18" charset="0"/>
                            </a:rPr>
                            <m:t>2</m:t>
                          </m:r>
                        </m:sub>
                      </m:sSub>
                      <m:r>
                        <a:rPr lang="zh-TW" altLang="en-US">
                          <a:latin typeface="Cambria Math" panose="02040503050406030204" pitchFamily="18" charset="0"/>
                        </a:rPr>
                        <m:t>+</m:t>
                      </m:r>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κ</m:t>
                          </m:r>
                        </m:e>
                        <m:sub>
                          <m:r>
                            <a:rPr lang="zh-TW" altLang="en-US">
                              <a:latin typeface="Cambria Math" panose="02040503050406030204" pitchFamily="18" charset="0"/>
                            </a:rPr>
                            <m:t>2</m:t>
                          </m:r>
                          <m:r>
                            <a:rPr lang="en-US" altLang="zh-TW" b="0" i="0" smtClean="0">
                              <a:latin typeface="Cambria Math" panose="02040503050406030204" pitchFamily="18" charset="0"/>
                            </a:rPr>
                            <m:t>1</m:t>
                          </m:r>
                        </m:sub>
                      </m:sSub>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E</m:t>
                          </m:r>
                        </m:e>
                        <m:sub>
                          <m:r>
                            <a:rPr lang="en-US" altLang="zh-TW" b="0" i="0"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κ</m:t>
                          </m:r>
                        </m:e>
                        <m:sub>
                          <m:r>
                            <a:rPr lang="zh-TW" altLang="en-US">
                              <a:latin typeface="Cambria Math" panose="02040503050406030204" pitchFamily="18" charset="0"/>
                            </a:rPr>
                            <m:t>2</m:t>
                          </m:r>
                          <m:r>
                            <a:rPr lang="en-US" altLang="zh-TW" b="0" i="1" smtClean="0">
                              <a:latin typeface="Cambria Math" panose="02040503050406030204" pitchFamily="18" charset="0"/>
                            </a:rPr>
                            <m:t>3</m:t>
                          </m:r>
                        </m:sub>
                      </m:sSub>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E</m:t>
                          </m:r>
                        </m:e>
                        <m:sub>
                          <m:r>
                            <a:rPr lang="en-US" altLang="zh-TW" b="0" i="0" smtClean="0">
                              <a:latin typeface="Cambria Math" panose="02040503050406030204" pitchFamily="18" charset="0"/>
                            </a:rPr>
                            <m:t>3</m:t>
                          </m:r>
                        </m:sub>
                      </m:sSub>
                      <m:r>
                        <a:rPr lang="en-US" altLang="zh-TW" i="1">
                          <a:latin typeface="Cambria Math" panose="02040503050406030204" pitchFamily="18" charset="0"/>
                          <a:ea typeface="Cambria Math" panose="02040503050406030204" pitchFamily="18" charset="0"/>
                        </a:rPr>
                        <m:t>)</m:t>
                      </m:r>
                    </m:oMath>
                  </m:oMathPara>
                </a14:m>
                <a:endParaRPr lang="zh-TW" altLang="en-US" dirty="0"/>
              </a:p>
            </p:txBody>
          </p:sp>
        </mc:Choice>
        <mc:Fallback xmlns="">
          <p:sp>
            <p:nvSpPr>
              <p:cNvPr id="8" name="矩形 7"/>
              <p:cNvSpPr>
                <a:spLocks noRot="1" noChangeAspect="1" noMove="1" noResize="1" noEditPoints="1" noAdjustHandles="1" noChangeArrowheads="1" noChangeShapeType="1" noTextEdit="1"/>
              </p:cNvSpPr>
              <p:nvPr/>
            </p:nvSpPr>
            <p:spPr>
              <a:xfrm>
                <a:off x="6907858" y="2735562"/>
                <a:ext cx="3512195" cy="618374"/>
              </a:xfrm>
              <a:prstGeom prst="rect">
                <a:avLst/>
              </a:prstGeom>
              <a:blipFill>
                <a:blip r:embed="rId6"/>
                <a:stretch>
                  <a:fillRect/>
                </a:stretch>
              </a:blipFill>
            </p:spPr>
            <p:txBody>
              <a:bodyPr/>
              <a:lstStyle/>
              <a:p>
                <a:r>
                  <a:rPr lang="zh-TW" altLang="en-US">
                    <a:noFill/>
                  </a:rPr>
                  <a:t> </a:t>
                </a:r>
              </a:p>
            </p:txBody>
          </p:sp>
        </mc:Fallback>
      </mc:AlternateContent>
      <p:sp>
        <p:nvSpPr>
          <p:cNvPr id="11" name="矩形 10"/>
          <p:cNvSpPr/>
          <p:nvPr/>
        </p:nvSpPr>
        <p:spPr>
          <a:xfrm>
            <a:off x="6907858" y="1598823"/>
            <a:ext cx="2454518"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Coupled mode </a:t>
            </a:r>
            <a:r>
              <a:rPr lang="en-US" altLang="zh-TW" dirty="0" smtClean="0">
                <a:latin typeface="Times New Roman" panose="02020603050405020304" pitchFamily="18" charset="0"/>
                <a:cs typeface="Times New Roman" panose="02020603050405020304" pitchFamily="18" charset="0"/>
              </a:rPr>
              <a:t>equation:</a:t>
            </a:r>
          </a:p>
        </p:txBody>
      </p:sp>
      <p:sp>
        <p:nvSpPr>
          <p:cNvPr id="4" name="向下箭號 3"/>
          <p:cNvSpPr/>
          <p:nvPr/>
        </p:nvSpPr>
        <p:spPr>
          <a:xfrm>
            <a:off x="6824370" y="4072379"/>
            <a:ext cx="270067" cy="61347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 name="矩形 1"/>
              <p:cNvSpPr/>
              <p:nvPr/>
            </p:nvSpPr>
            <p:spPr>
              <a:xfrm>
                <a:off x="7094437" y="4148357"/>
                <a:ext cx="4042615" cy="382541"/>
              </a:xfrm>
              <a:prstGeom prst="rect">
                <a:avLst/>
              </a:prstGeom>
            </p:spPr>
            <p:txBody>
              <a:bodyPr wrap="square">
                <a:spAutoFit/>
              </a:bodyPr>
              <a:lstStyle/>
              <a:p>
                <a14:m>
                  <m:oMath xmlns:m="http://schemas.openxmlformats.org/officeDocument/2006/math">
                    <m:sSub>
                      <m:sSubPr>
                        <m:ctrlPr>
                          <a:rPr lang="zh-TW" altLang="en-US" i="1" smtClean="0">
                            <a:latin typeface="Cambria Math" panose="02040503050406030204" pitchFamily="18" charset="0"/>
                          </a:rPr>
                        </m:ctrlPr>
                      </m:sSubPr>
                      <m:e>
                        <m:r>
                          <a:rPr lang="en-US" altLang="zh-TW" b="0" i="0" smtClean="0">
                            <a:latin typeface="Cambria Math" panose="02040503050406030204" pitchFamily="18" charset="0"/>
                          </a:rPr>
                          <m:t>(</m:t>
                        </m:r>
                        <m:r>
                          <m:rPr>
                            <m:sty m:val="p"/>
                          </m:rPr>
                          <a:rPr lang="zh-TW" altLang="en-US">
                            <a:latin typeface="Cambria Math" panose="02040503050406030204" pitchFamily="18" charset="0"/>
                          </a:rPr>
                          <m:t>E</m:t>
                        </m:r>
                      </m:e>
                      <m:sub>
                        <m:r>
                          <m:rPr>
                            <m:sty m:val="p"/>
                          </m:rPr>
                          <a:rPr lang="en-US" altLang="zh-TW" b="0" i="0" smtClean="0">
                            <a:latin typeface="Cambria Math" panose="02040503050406030204" pitchFamily="18" charset="0"/>
                          </a:rPr>
                          <m:t>n</m:t>
                        </m:r>
                      </m:sub>
                    </m:sSub>
                    <m:r>
                      <a:rPr lang="en-US" altLang="zh-TW" b="0" i="1" smtClean="0">
                        <a:latin typeface="Cambria Math" panose="02040503050406030204" pitchFamily="18" charset="0"/>
                      </a:rPr>
                      <m:t>=</m:t>
                    </m:r>
                    <m:sSub>
                      <m:sSubPr>
                        <m:ctrlPr>
                          <a:rPr lang="zh-TW" altLang="en-US" i="1">
                            <a:latin typeface="Cambria Math" panose="02040503050406030204" pitchFamily="18" charset="0"/>
                          </a:rPr>
                        </m:ctrlPr>
                      </m:sSubPr>
                      <m:e>
                        <m:r>
                          <m:rPr>
                            <m:sty m:val="p"/>
                          </m:rPr>
                          <a:rPr lang="en-US" altLang="zh-TW" b="0" i="0" smtClean="0">
                            <a:latin typeface="Cambria Math" panose="02040503050406030204" pitchFamily="18" charset="0"/>
                          </a:rPr>
                          <m:t>b</m:t>
                        </m:r>
                      </m:e>
                      <m:sub>
                        <m:r>
                          <m:rPr>
                            <m:sty m:val="p"/>
                          </m:rPr>
                          <a:rPr lang="en-US" altLang="zh-TW" b="0" i="0" smtClean="0">
                            <a:latin typeface="Cambria Math" panose="02040503050406030204" pitchFamily="18" charset="0"/>
                          </a:rPr>
                          <m:t>n</m:t>
                        </m:r>
                      </m:sub>
                    </m:sSub>
                    <m:sSup>
                      <m:sSupPr>
                        <m:ctrlPr>
                          <a:rPr lang="en-US" altLang="zh-TW" i="1" smtClean="0">
                            <a:latin typeface="Cambria Math" panose="02040503050406030204" pitchFamily="18" charset="0"/>
                          </a:rPr>
                        </m:ctrlPr>
                      </m:sSupPr>
                      <m:e>
                        <m:r>
                          <a:rPr lang="en-US" altLang="zh-TW" i="1" smtClean="0">
                            <a:latin typeface="Cambria Math" panose="02040503050406030204" pitchFamily="18" charset="0"/>
                          </a:rPr>
                          <m:t>𝑒</m:t>
                        </m:r>
                      </m:e>
                      <m:sup>
                        <m:r>
                          <a:rPr lang="en-US" altLang="zh-TW" i="1" smtClean="0">
                            <a:latin typeface="Cambria Math" panose="02040503050406030204" pitchFamily="18" charset="0"/>
                          </a:rPr>
                          <m:t>−</m:t>
                        </m:r>
                        <m:r>
                          <a:rPr lang="en-US" altLang="zh-TW" i="1" smtClean="0">
                            <a:latin typeface="Cambria Math" panose="02040503050406030204" pitchFamily="18" charset="0"/>
                          </a:rPr>
                          <m:t>𝑖</m:t>
                        </m:r>
                        <m:r>
                          <m:rPr>
                            <m:sty m:val="p"/>
                          </m:rPr>
                          <a:rPr lang="zh-TW" altLang="en-US">
                            <a:latin typeface="Cambria Math" panose="02040503050406030204" pitchFamily="18" charset="0"/>
                          </a:rPr>
                          <m:t>β</m:t>
                        </m:r>
                        <m:r>
                          <a:rPr lang="en-US" altLang="zh-TW" b="0" i="1" smtClean="0">
                            <a:latin typeface="Cambria Math" panose="02040503050406030204" pitchFamily="18" charset="0"/>
                          </a:rPr>
                          <m:t>𝑥</m:t>
                        </m:r>
                      </m:sup>
                    </m:sSup>
                    <m:r>
                      <a:rPr lang="en-US" altLang="zh-TW" b="0" i="1" smtClean="0">
                        <a:latin typeface="Cambria Math" panose="02040503050406030204" pitchFamily="18" charset="0"/>
                      </a:rPr>
                      <m:t> , </m:t>
                    </m:r>
                    <m:r>
                      <a:rPr lang="en-US" altLang="zh-TW" b="0" i="1" smtClean="0">
                        <a:latin typeface="Cambria Math" panose="02040503050406030204" pitchFamily="18" charset="0"/>
                      </a:rPr>
                      <m:t>𝑛</m:t>
                    </m:r>
                    <m:r>
                      <a:rPr lang="en-US" altLang="zh-TW" b="0" i="1" smtClean="0">
                        <a:latin typeface="Cambria Math" panose="02040503050406030204" pitchFamily="18" charset="0"/>
                      </a:rPr>
                      <m:t>=1,2,3 ,</m:t>
                    </m:r>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β</m:t>
                        </m:r>
                      </m:e>
                      <m:sub>
                        <m:r>
                          <a:rPr lang="zh-TW" altLang="en-US">
                            <a:latin typeface="Cambria Math" panose="02040503050406030204" pitchFamily="18" charset="0"/>
                          </a:rPr>
                          <m:t>1</m:t>
                        </m:r>
                      </m:sub>
                    </m:sSub>
                    <m:r>
                      <a:rPr lang="en-US" altLang="zh-TW" b="0" i="1" smtClean="0">
                        <a:latin typeface="Cambria Math" panose="02040503050406030204" pitchFamily="18" charset="0"/>
                      </a:rPr>
                      <m:t>=</m:t>
                    </m:r>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β</m:t>
                        </m:r>
                      </m:e>
                      <m:sub>
                        <m:r>
                          <a:rPr lang="zh-TW" altLang="en-US">
                            <a:latin typeface="Cambria Math" panose="02040503050406030204" pitchFamily="18" charset="0"/>
                          </a:rPr>
                          <m:t>3</m:t>
                        </m:r>
                      </m:sub>
                    </m:sSub>
                    <m:r>
                      <a:rPr lang="en-US" altLang="zh-TW" b="0" i="1" smtClean="0">
                        <a:latin typeface="Cambria Math" panose="02040503050406030204" pitchFamily="18" charset="0"/>
                      </a:rPr>
                      <m:t>=</m:t>
                    </m:r>
                    <m:r>
                      <m:rPr>
                        <m:sty m:val="p"/>
                      </m:rPr>
                      <a:rPr lang="zh-TW" altLang="en-US">
                        <a:latin typeface="Cambria Math" panose="02040503050406030204" pitchFamily="18" charset="0"/>
                      </a:rPr>
                      <m:t>β</m:t>
                    </m:r>
                    <m:r>
                      <a:rPr lang="en-US" altLang="zh-TW" b="0" i="1" smtClean="0">
                        <a:latin typeface="Cambria Math" panose="02040503050406030204" pitchFamily="18" charset="0"/>
                      </a:rPr>
                      <m:t>)</m:t>
                    </m:r>
                  </m:oMath>
                </a14:m>
                <a:r>
                  <a:rPr lang="zh-TW" altLang="en-US" dirty="0" smtClean="0"/>
                  <a:t> </a:t>
                </a:r>
                <a:r>
                  <a:rPr lang="en-US" altLang="zh-TW" dirty="0" smtClean="0"/>
                  <a:t> </a:t>
                </a:r>
                <a:endParaRPr lang="zh-TW" altLang="en-US" dirty="0"/>
              </a:p>
            </p:txBody>
          </p:sp>
        </mc:Choice>
        <mc:Fallback xmlns="">
          <p:sp>
            <p:nvSpPr>
              <p:cNvPr id="2" name="矩形 1"/>
              <p:cNvSpPr>
                <a:spLocks noRot="1" noChangeAspect="1" noMove="1" noResize="1" noEditPoints="1" noAdjustHandles="1" noChangeArrowheads="1" noChangeShapeType="1" noTextEdit="1"/>
              </p:cNvSpPr>
              <p:nvPr/>
            </p:nvSpPr>
            <p:spPr>
              <a:xfrm>
                <a:off x="7094437" y="4148357"/>
                <a:ext cx="4042615" cy="382541"/>
              </a:xfrm>
              <a:prstGeom prst="rect">
                <a:avLst/>
              </a:prstGeom>
              <a:blipFill>
                <a:blip r:embed="rId7"/>
                <a:stretch>
                  <a:fillRect l="-452" b="-145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6959404" y="4776450"/>
                <a:ext cx="1676548" cy="6183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TW" altLang="en-US" i="1">
                              <a:latin typeface="Cambria Math" panose="02040503050406030204" pitchFamily="18" charset="0"/>
                            </a:rPr>
                          </m:ctrlPr>
                        </m:fPr>
                        <m:num>
                          <m:r>
                            <m:rPr>
                              <m:sty m:val="p"/>
                            </m:rPr>
                            <a:rPr lang="zh-TW" altLang="en-US">
                              <a:latin typeface="Cambria Math" panose="02040503050406030204" pitchFamily="18" charset="0"/>
                            </a:rPr>
                            <m:t>d</m:t>
                          </m:r>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b</m:t>
                              </m:r>
                            </m:e>
                            <m:sub>
                              <m:r>
                                <a:rPr lang="zh-TW" altLang="en-US" i="0">
                                  <a:latin typeface="Cambria Math" panose="02040503050406030204" pitchFamily="18" charset="0"/>
                                </a:rPr>
                                <m:t>1</m:t>
                              </m:r>
                            </m:sub>
                          </m:sSub>
                        </m:num>
                        <m:den>
                          <m:r>
                            <m:rPr>
                              <m:sty m:val="p"/>
                            </m:rPr>
                            <a:rPr lang="zh-TW" altLang="en-US" i="0">
                              <a:latin typeface="Cambria Math" panose="02040503050406030204" pitchFamily="18" charset="0"/>
                            </a:rPr>
                            <m:t>dx</m:t>
                          </m:r>
                        </m:den>
                      </m:f>
                      <m:r>
                        <a:rPr lang="zh-TW" altLang="en-US" i="0">
                          <a:latin typeface="Cambria Math" panose="02040503050406030204" pitchFamily="18" charset="0"/>
                        </a:rPr>
                        <m:t>=−</m:t>
                      </m:r>
                      <m:r>
                        <m:rPr>
                          <m:sty m:val="p"/>
                        </m:rPr>
                        <a:rPr lang="zh-TW" altLang="en-US" i="0">
                          <a:latin typeface="Cambria Math" panose="02040503050406030204" pitchFamily="18" charset="0"/>
                        </a:rPr>
                        <m:t>j</m:t>
                      </m:r>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κ</m:t>
                          </m:r>
                        </m:e>
                        <m:sub>
                          <m:r>
                            <a:rPr lang="zh-TW" altLang="en-US" i="0">
                              <a:latin typeface="Cambria Math" panose="02040503050406030204" pitchFamily="18" charset="0"/>
                            </a:rPr>
                            <m:t>12</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𝑏</m:t>
                          </m:r>
                        </m:e>
                        <m:sub>
                          <m:r>
                            <a:rPr lang="zh-TW" altLang="en-US" i="0">
                              <a:latin typeface="Cambria Math" panose="02040503050406030204" pitchFamily="18" charset="0"/>
                            </a:rPr>
                            <m:t>2</m:t>
                          </m:r>
                        </m:sub>
                      </m:sSub>
                    </m:oMath>
                  </m:oMathPara>
                </a14:m>
                <a:endParaRPr lang="zh-TW"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6959404" y="4776450"/>
                <a:ext cx="1676548" cy="618374"/>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6976762" y="6025013"/>
                <a:ext cx="1687193" cy="6183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TW" altLang="en-US" i="1">
                              <a:latin typeface="Cambria Math" panose="02040503050406030204" pitchFamily="18" charset="0"/>
                            </a:rPr>
                          </m:ctrlPr>
                        </m:fPr>
                        <m:num>
                          <m:r>
                            <m:rPr>
                              <m:sty m:val="p"/>
                            </m:rPr>
                            <a:rPr lang="zh-TW" altLang="en-US">
                              <a:latin typeface="Cambria Math" panose="02040503050406030204" pitchFamily="18" charset="0"/>
                            </a:rPr>
                            <m:t>d</m:t>
                          </m:r>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b</m:t>
                              </m:r>
                            </m:e>
                            <m:sub>
                              <m:r>
                                <a:rPr lang="zh-TW" altLang="en-US" i="0">
                                  <a:latin typeface="Cambria Math" panose="02040503050406030204" pitchFamily="18" charset="0"/>
                                </a:rPr>
                                <m:t>3</m:t>
                              </m:r>
                            </m:sub>
                          </m:sSub>
                        </m:num>
                        <m:den>
                          <m:r>
                            <m:rPr>
                              <m:sty m:val="p"/>
                            </m:rPr>
                            <a:rPr lang="zh-TW" altLang="en-US" i="0">
                              <a:latin typeface="Cambria Math" panose="02040503050406030204" pitchFamily="18" charset="0"/>
                            </a:rPr>
                            <m:t>dx</m:t>
                          </m:r>
                        </m:den>
                      </m:f>
                      <m:r>
                        <a:rPr lang="zh-TW" altLang="en-US" i="0">
                          <a:latin typeface="Cambria Math" panose="02040503050406030204" pitchFamily="18" charset="0"/>
                        </a:rPr>
                        <m:t>=−</m:t>
                      </m:r>
                      <m:r>
                        <m:rPr>
                          <m:sty m:val="p"/>
                        </m:rPr>
                        <a:rPr lang="zh-TW" altLang="en-US" i="0">
                          <a:latin typeface="Cambria Math" panose="02040503050406030204" pitchFamily="18" charset="0"/>
                        </a:rPr>
                        <m:t>j</m:t>
                      </m:r>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κ</m:t>
                          </m:r>
                        </m:e>
                        <m:sub>
                          <m:r>
                            <a:rPr lang="zh-TW" altLang="en-US" i="0">
                              <a:latin typeface="Cambria Math" panose="02040503050406030204" pitchFamily="18" charset="0"/>
                            </a:rPr>
                            <m:t>23</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𝑏</m:t>
                          </m:r>
                        </m:e>
                        <m:sub>
                          <m:r>
                            <a:rPr lang="zh-TW" altLang="en-US" i="0">
                              <a:latin typeface="Cambria Math" panose="02040503050406030204" pitchFamily="18" charset="0"/>
                            </a:rPr>
                            <m:t>2</m:t>
                          </m:r>
                        </m:sub>
                      </m:sSub>
                    </m:oMath>
                  </m:oMathPara>
                </a14:m>
                <a:endParaRPr lang="zh-TW" altLang="en-US" dirty="0"/>
              </a:p>
            </p:txBody>
          </p:sp>
        </mc:Choice>
        <mc:Fallback xmlns="">
          <p:sp>
            <p:nvSpPr>
              <p:cNvPr id="25" name="矩形 24"/>
              <p:cNvSpPr>
                <a:spLocks noRot="1" noChangeAspect="1" noMove="1" noResize="1" noEditPoints="1" noAdjustHandles="1" noChangeArrowheads="1" noChangeShapeType="1" noTextEdit="1"/>
              </p:cNvSpPr>
              <p:nvPr/>
            </p:nvSpPr>
            <p:spPr>
              <a:xfrm>
                <a:off x="6976762" y="6025013"/>
                <a:ext cx="1687193" cy="618374"/>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6964902" y="5406639"/>
                <a:ext cx="3463512" cy="6183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TW" altLang="en-US" i="1" smtClean="0">
                              <a:latin typeface="Cambria Math" panose="02040503050406030204" pitchFamily="18" charset="0"/>
                            </a:rPr>
                          </m:ctrlPr>
                        </m:fPr>
                        <m:num>
                          <m:r>
                            <m:rPr>
                              <m:sty m:val="p"/>
                            </m:rPr>
                            <a:rPr lang="zh-TW" altLang="en-US">
                              <a:latin typeface="Cambria Math" panose="02040503050406030204" pitchFamily="18" charset="0"/>
                            </a:rPr>
                            <m:t>d</m:t>
                          </m:r>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b</m:t>
                              </m:r>
                            </m:e>
                            <m:sub>
                              <m:r>
                                <a:rPr lang="en-US" altLang="zh-TW" b="0" i="0" smtClean="0">
                                  <a:latin typeface="Cambria Math" panose="02040503050406030204" pitchFamily="18" charset="0"/>
                                </a:rPr>
                                <m:t>2</m:t>
                              </m:r>
                            </m:sub>
                          </m:sSub>
                        </m:num>
                        <m:den>
                          <m:r>
                            <m:rPr>
                              <m:sty m:val="p"/>
                            </m:rPr>
                            <a:rPr lang="zh-TW" altLang="en-US">
                              <a:latin typeface="Cambria Math" panose="02040503050406030204" pitchFamily="18" charset="0"/>
                            </a:rPr>
                            <m:t>dx</m:t>
                          </m:r>
                        </m:den>
                      </m:f>
                      <m:r>
                        <a:rPr lang="zh-TW" altLang="en-US">
                          <a:latin typeface="Cambria Math" panose="02040503050406030204" pitchFamily="18" charset="0"/>
                        </a:rPr>
                        <m:t>=−</m:t>
                      </m:r>
                      <m:r>
                        <m:rPr>
                          <m:sty m:val="p"/>
                        </m:rPr>
                        <a:rPr lang="zh-TW" altLang="en-US">
                          <a:latin typeface="Cambria Math" panose="02040503050406030204" pitchFamily="18" charset="0"/>
                        </a:rPr>
                        <m:t>j</m:t>
                      </m:r>
                      <m:r>
                        <a:rPr lang="en-US" altLang="zh-TW" b="0" i="0" smtClean="0">
                          <a:latin typeface="Cambria Math" panose="02040503050406030204" pitchFamily="18" charset="0"/>
                        </a:rPr>
                        <m:t>(</m:t>
                      </m:r>
                      <m:r>
                        <a:rPr lang="en-US" altLang="zh-TW">
                          <a:latin typeface="Cambria Math" panose="02040503050406030204" pitchFamily="18" charset="0"/>
                          <a:ea typeface="標楷體" panose="03000509000000000000" pitchFamily="65" charset="-120"/>
                          <a:cs typeface="Times New Roman" panose="02020603050405020304" pitchFamily="18" charset="0"/>
                        </a:rPr>
                        <m:t>∆</m:t>
                      </m:r>
                      <m:r>
                        <m:rPr>
                          <m:sty m:val="p"/>
                        </m:rPr>
                        <a:rPr lang="en-US" altLang="zh-TW">
                          <a:latin typeface="Cambria Math" panose="02040503050406030204" pitchFamily="18" charset="0"/>
                          <a:ea typeface="標楷體" panose="03000509000000000000" pitchFamily="65" charset="-120"/>
                          <a:cs typeface="Times New Roman" panose="02020603050405020304" pitchFamily="18" charset="0"/>
                        </a:rPr>
                        <m:t>β</m:t>
                      </m:r>
                      <m:sSub>
                        <m:sSubPr>
                          <m:ctrlPr>
                            <a:rPr lang="zh-TW"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𝑏</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2</m:t>
                          </m:r>
                        </m:sub>
                      </m:sSub>
                      <m:r>
                        <a:rPr lang="en-US" altLang="zh-TW">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i="1">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TW">
                              <a:latin typeface="Cambria Math" panose="02040503050406030204" pitchFamily="18" charset="0"/>
                              <a:ea typeface="標楷體" panose="03000509000000000000" pitchFamily="65" charset="-120"/>
                              <a:cs typeface="Times New Roman" panose="02020603050405020304" pitchFamily="18" charset="0"/>
                            </a:rPr>
                            <m:t>κ</m:t>
                          </m:r>
                        </m:e>
                        <m:sub>
                          <m:r>
                            <a:rPr lang="en-US" altLang="zh-TW">
                              <a:latin typeface="Cambria Math" panose="02040503050406030204" pitchFamily="18" charset="0"/>
                              <a:ea typeface="標楷體" panose="03000509000000000000" pitchFamily="65" charset="-120"/>
                              <a:cs typeface="Times New Roman" panose="02020603050405020304" pitchFamily="18" charset="0"/>
                            </a:rPr>
                            <m:t>12</m:t>
                          </m:r>
                        </m:sub>
                      </m:sSub>
                      <m:sSub>
                        <m:sSubPr>
                          <m:ctrlPr>
                            <a:rPr lang="zh-TW"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𝑏</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i="1">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TW">
                              <a:latin typeface="Cambria Math" panose="02040503050406030204" pitchFamily="18" charset="0"/>
                              <a:ea typeface="標楷體" panose="03000509000000000000" pitchFamily="65" charset="-120"/>
                              <a:cs typeface="Times New Roman" panose="02020603050405020304" pitchFamily="18" charset="0"/>
                            </a:rPr>
                            <m:t>κ</m:t>
                          </m:r>
                        </m:e>
                        <m:sub>
                          <m:r>
                            <a:rPr lang="en-US" altLang="zh-TW">
                              <a:latin typeface="Cambria Math" panose="02040503050406030204" pitchFamily="18" charset="0"/>
                              <a:ea typeface="標楷體" panose="03000509000000000000" pitchFamily="65" charset="-120"/>
                              <a:cs typeface="Times New Roman" panose="02020603050405020304" pitchFamily="18" charset="0"/>
                            </a:rPr>
                            <m:t>23</m:t>
                          </m:r>
                        </m:sub>
                      </m:sSub>
                      <m:sSub>
                        <m:sSubPr>
                          <m:ctrlPr>
                            <a:rPr lang="zh-TW"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𝑏</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3</m:t>
                          </m:r>
                        </m:sub>
                      </m:sSub>
                      <m:r>
                        <a:rPr lang="en-US" altLang="zh-TW" b="0" i="1" smtClean="0">
                          <a:latin typeface="Cambria Math" panose="02040503050406030204" pitchFamily="18" charset="0"/>
                        </a:rPr>
                        <m:t>)</m:t>
                      </m:r>
                    </m:oMath>
                  </m:oMathPara>
                </a14:m>
                <a:endParaRPr lang="zh-TW" altLang="en-US" dirty="0"/>
              </a:p>
            </p:txBody>
          </p:sp>
        </mc:Choice>
        <mc:Fallback xmlns="">
          <p:sp>
            <p:nvSpPr>
              <p:cNvPr id="26" name="矩形 25"/>
              <p:cNvSpPr>
                <a:spLocks noRot="1" noChangeAspect="1" noMove="1" noResize="1" noEditPoints="1" noAdjustHandles="1" noChangeArrowheads="1" noChangeShapeType="1" noTextEdit="1"/>
              </p:cNvSpPr>
              <p:nvPr/>
            </p:nvSpPr>
            <p:spPr>
              <a:xfrm>
                <a:off x="6964902" y="5406639"/>
                <a:ext cx="3463512" cy="618374"/>
              </a:xfrm>
              <a:prstGeom prst="rect">
                <a:avLst/>
              </a:prstGeom>
              <a:blipFill>
                <a:blip r:embed="rId10"/>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252399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群組 9"/>
          <p:cNvGrpSpPr/>
          <p:nvPr/>
        </p:nvGrpSpPr>
        <p:grpSpPr>
          <a:xfrm>
            <a:off x="3139399" y="2674847"/>
            <a:ext cx="5736917" cy="1920403"/>
            <a:chOff x="4904378" y="4184924"/>
            <a:chExt cx="5281814" cy="1764923"/>
          </a:xfrm>
          <a:solidFill>
            <a:schemeClr val="bg1">
              <a:alpha val="98000"/>
            </a:schemeClr>
          </a:solidFill>
        </p:grpSpPr>
        <p:pic>
          <p:nvPicPr>
            <p:cNvPr id="1028" name="Picture 4" descr="http://www.ncu.edu.tw/assets/images/log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4378" y="4184924"/>
              <a:ext cx="5281814" cy="1764923"/>
            </a:xfrm>
            <a:prstGeom prst="rect">
              <a:avLst/>
            </a:prstGeom>
            <a:grpFill/>
            <a:effectLst>
              <a:outerShdw blurRad="50800" dist="50800" dir="5400000" algn="ctr" rotWithShape="0">
                <a:srgbClr val="000000">
                  <a:alpha val="0"/>
                </a:srgbClr>
              </a:outerShdw>
            </a:effectLst>
          </p:spPr>
        </p:pic>
        <p:sp>
          <p:nvSpPr>
            <p:cNvPr id="9" name="矩形 8"/>
            <p:cNvSpPr/>
            <p:nvPr/>
          </p:nvSpPr>
          <p:spPr>
            <a:xfrm>
              <a:off x="4904378" y="4184924"/>
              <a:ext cx="5281814" cy="1764923"/>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4" name="＞形箭號 13"/>
          <p:cNvSpPr/>
          <p:nvPr/>
        </p:nvSpPr>
        <p:spPr>
          <a:xfrm>
            <a:off x="10032000" y="1198762"/>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15" name="＞形箭號 14"/>
          <p:cNvSpPr/>
          <p:nvPr/>
        </p:nvSpPr>
        <p:spPr>
          <a:xfrm>
            <a:off x="8425048" y="1198762"/>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16" name="＞形箭號 15"/>
          <p:cNvSpPr/>
          <p:nvPr/>
        </p:nvSpPr>
        <p:spPr>
          <a:xfrm>
            <a:off x="6762882" y="1198762"/>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17" name="＞形箭號 16"/>
          <p:cNvSpPr/>
          <p:nvPr/>
        </p:nvSpPr>
        <p:spPr>
          <a:xfrm>
            <a:off x="5107858" y="1198762"/>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solidFill>
                <a:schemeClr val="tx1"/>
              </a:solidFill>
            </a:endParaRPr>
          </a:p>
        </p:txBody>
      </p:sp>
      <p:sp>
        <p:nvSpPr>
          <p:cNvPr id="18" name="＞形箭號 17"/>
          <p:cNvSpPr/>
          <p:nvPr/>
        </p:nvSpPr>
        <p:spPr>
          <a:xfrm>
            <a:off x="3444193" y="1198762"/>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Principle</a:t>
            </a:r>
            <a:endParaRPr lang="en-US" altLang="zh-TW" dirty="0">
              <a:latin typeface="Times New Roman" panose="02020603050405020304" pitchFamily="18" charset="0"/>
              <a:cs typeface="Times New Roman" panose="02020603050405020304" pitchFamily="18" charset="0"/>
            </a:endParaRPr>
          </a:p>
        </p:txBody>
      </p:sp>
      <p:sp>
        <p:nvSpPr>
          <p:cNvPr id="19" name="＞形箭號 18"/>
          <p:cNvSpPr/>
          <p:nvPr/>
        </p:nvSpPr>
        <p:spPr>
          <a:xfrm>
            <a:off x="1778885" y="1198762"/>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20" name="＞形箭號 19"/>
          <p:cNvSpPr/>
          <p:nvPr/>
        </p:nvSpPr>
        <p:spPr>
          <a:xfrm>
            <a:off x="19359" y="1198762"/>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12" name="矩形 11"/>
          <p:cNvSpPr/>
          <p:nvPr/>
        </p:nvSpPr>
        <p:spPr>
          <a:xfrm>
            <a:off x="19360" y="66844"/>
            <a:ext cx="6888498" cy="1015663"/>
          </a:xfrm>
          <a:prstGeom prst="rect">
            <a:avLst/>
          </a:prstGeom>
        </p:spPr>
        <p:txBody>
          <a:bodyPr wrap="square">
            <a:spAutoFit/>
          </a:bodyPr>
          <a:lstStyle/>
          <a:p>
            <a:r>
              <a:rPr lang="en-US" altLang="zh-TW" sz="6000" dirty="0" smtClean="0">
                <a:latin typeface="Times New Roman" panose="02020603050405020304" pitchFamily="18" charset="0"/>
                <a:cs typeface="Times New Roman" panose="02020603050405020304" pitchFamily="18" charset="0"/>
              </a:rPr>
              <a:t>Adiabatic coupler</a:t>
            </a:r>
            <a:endParaRPr lang="zh-TW" altLang="en-US" sz="6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7" name="矩形 26"/>
              <p:cNvSpPr/>
              <p:nvPr/>
            </p:nvSpPr>
            <p:spPr>
              <a:xfrm>
                <a:off x="499228" y="4998136"/>
                <a:ext cx="2655983" cy="9727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TW" altLang="en-US" smtClean="0">
                          <a:latin typeface="Cambria Math" panose="02040503050406030204" pitchFamily="18" charset="0"/>
                        </a:rPr>
                        <m:t>M</m:t>
                      </m:r>
                      <m:d>
                        <m:dPr>
                          <m:ctrlPr>
                            <a:rPr lang="zh-TW" altLang="en-US" i="1">
                              <a:latin typeface="Cambria Math" panose="02040503050406030204" pitchFamily="18" charset="0"/>
                            </a:rPr>
                          </m:ctrlPr>
                        </m:dPr>
                        <m:e>
                          <m:r>
                            <m:rPr>
                              <m:sty m:val="p"/>
                            </m:rPr>
                            <a:rPr lang="zh-TW" altLang="en-US" i="0">
                              <a:latin typeface="Cambria Math" panose="02040503050406030204" pitchFamily="18" charset="0"/>
                            </a:rPr>
                            <m:t>x</m:t>
                          </m:r>
                        </m:e>
                      </m:d>
                      <m:r>
                        <a:rPr lang="zh-TW" altLang="en-US" i="0">
                          <a:latin typeface="Cambria Math" panose="02040503050406030204" pitchFamily="18" charset="0"/>
                        </a:rPr>
                        <m:t>=</m:t>
                      </m:r>
                      <m:d>
                        <m:dPr>
                          <m:begChr m:val="["/>
                          <m:endChr m:val="]"/>
                          <m:ctrlPr>
                            <a:rPr lang="zh-TW" altLang="en-US" i="1">
                              <a:latin typeface="Cambria Math" panose="02040503050406030204" pitchFamily="18" charset="0"/>
                            </a:rPr>
                          </m:ctrlPr>
                        </m:dPr>
                        <m:e>
                          <m:m>
                            <m:mPr>
                              <m:mcs>
                                <m:mc>
                                  <m:mcPr>
                                    <m:count m:val="3"/>
                                    <m:mcJc m:val="center"/>
                                  </m:mcPr>
                                </m:mc>
                              </m:mcs>
                              <m:ctrlPr>
                                <a:rPr lang="zh-TW" altLang="en-US" i="1">
                                  <a:latin typeface="Cambria Math" panose="02040503050406030204" pitchFamily="18" charset="0"/>
                                </a:rPr>
                              </m:ctrlPr>
                            </m:mPr>
                            <m:mr>
                              <m:e>
                                <m:r>
                                  <a:rPr lang="zh-TW" altLang="en-US" i="0">
                                    <a:latin typeface="Cambria Math" panose="02040503050406030204" pitchFamily="18" charset="0"/>
                                  </a:rPr>
                                  <m:t>0</m:t>
                                </m:r>
                              </m:e>
                              <m:e>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κ</m:t>
                                    </m:r>
                                  </m:e>
                                  <m:sub>
                                    <m:r>
                                      <a:rPr lang="zh-TW" altLang="en-US" i="0">
                                        <a:latin typeface="Cambria Math" panose="02040503050406030204" pitchFamily="18" charset="0"/>
                                      </a:rPr>
                                      <m:t>12</m:t>
                                    </m:r>
                                  </m:sub>
                                </m:sSub>
                              </m:e>
                              <m:e>
                                <m:r>
                                  <a:rPr lang="zh-TW" altLang="en-US" i="0">
                                    <a:latin typeface="Cambria Math" panose="02040503050406030204" pitchFamily="18" charset="0"/>
                                  </a:rPr>
                                  <m:t>0</m:t>
                                </m:r>
                              </m:e>
                            </m:mr>
                            <m:mr>
                              <m:e>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κ</m:t>
                                    </m:r>
                                  </m:e>
                                  <m:sub>
                                    <m:r>
                                      <a:rPr lang="zh-TW" altLang="en-US" i="0">
                                        <a:latin typeface="Cambria Math" panose="02040503050406030204" pitchFamily="18" charset="0"/>
                                      </a:rPr>
                                      <m:t>12</m:t>
                                    </m:r>
                                  </m:sub>
                                </m:sSub>
                              </m:e>
                              <m:e>
                                <m:r>
                                  <a:rPr lang="zh-TW" altLang="en-US" i="0">
                                    <a:latin typeface="Cambria Math" panose="02040503050406030204" pitchFamily="18" charset="0"/>
                                  </a:rPr>
                                  <m:t>∆</m:t>
                                </m:r>
                                <m:r>
                                  <m:rPr>
                                    <m:sty m:val="p"/>
                                  </m:rPr>
                                  <a:rPr lang="zh-TW" altLang="en-US" i="0">
                                    <a:latin typeface="Cambria Math" panose="02040503050406030204" pitchFamily="18" charset="0"/>
                                  </a:rPr>
                                  <m:t>β</m:t>
                                </m:r>
                              </m:e>
                              <m:e>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κ</m:t>
                                    </m:r>
                                  </m:e>
                                  <m:sub>
                                    <m:r>
                                      <a:rPr lang="zh-TW" altLang="en-US" i="0">
                                        <a:latin typeface="Cambria Math" panose="02040503050406030204" pitchFamily="18" charset="0"/>
                                      </a:rPr>
                                      <m:t>23</m:t>
                                    </m:r>
                                  </m:sub>
                                </m:sSub>
                              </m:e>
                            </m:mr>
                            <m:mr>
                              <m:e>
                                <m:r>
                                  <a:rPr lang="zh-TW" altLang="en-US" i="0">
                                    <a:latin typeface="Cambria Math" panose="02040503050406030204" pitchFamily="18" charset="0"/>
                                  </a:rPr>
                                  <m:t>0</m:t>
                                </m:r>
                              </m:e>
                              <m:e>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κ</m:t>
                                    </m:r>
                                  </m:e>
                                  <m:sub>
                                    <m:r>
                                      <a:rPr lang="zh-TW" altLang="en-US" i="0">
                                        <a:latin typeface="Cambria Math" panose="02040503050406030204" pitchFamily="18" charset="0"/>
                                      </a:rPr>
                                      <m:t>23</m:t>
                                    </m:r>
                                  </m:sub>
                                </m:sSub>
                              </m:e>
                              <m:e>
                                <m:r>
                                  <a:rPr lang="zh-TW" altLang="en-US" i="0">
                                    <a:latin typeface="Cambria Math" panose="02040503050406030204" pitchFamily="18" charset="0"/>
                                  </a:rPr>
                                  <m:t>0</m:t>
                                </m:r>
                              </m:e>
                            </m:mr>
                          </m:m>
                        </m:e>
                      </m:d>
                    </m:oMath>
                  </m:oMathPara>
                </a14:m>
                <a:endParaRPr lang="zh-TW" altLang="en-US" dirty="0"/>
              </a:p>
            </p:txBody>
          </p:sp>
        </mc:Choice>
        <mc:Fallback xmlns="">
          <p:sp>
            <p:nvSpPr>
              <p:cNvPr id="27" name="矩形 26"/>
              <p:cNvSpPr>
                <a:spLocks noRot="1" noChangeAspect="1" noMove="1" noResize="1" noEditPoints="1" noAdjustHandles="1" noChangeArrowheads="1" noChangeShapeType="1" noTextEdit="1"/>
              </p:cNvSpPr>
              <p:nvPr/>
            </p:nvSpPr>
            <p:spPr>
              <a:xfrm>
                <a:off x="499228" y="4998136"/>
                <a:ext cx="2655983" cy="972702"/>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499228" y="4379890"/>
                <a:ext cx="2471254" cy="6182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TW" altLang="en-US" i="1">
                              <a:latin typeface="Cambria Math" panose="02040503050406030204" pitchFamily="18" charset="0"/>
                            </a:rPr>
                          </m:ctrlPr>
                        </m:fPr>
                        <m:num>
                          <m:r>
                            <a:rPr lang="zh-TW" altLang="en-US" i="1">
                              <a:latin typeface="Cambria Math" panose="02040503050406030204" pitchFamily="18" charset="0"/>
                            </a:rPr>
                            <m:t>𝑑</m:t>
                          </m:r>
                        </m:num>
                        <m:den>
                          <m:r>
                            <a:rPr lang="zh-TW" altLang="en-US" i="1">
                              <a:latin typeface="Cambria Math" panose="02040503050406030204" pitchFamily="18" charset="0"/>
                            </a:rPr>
                            <m:t>𝑑𝑥</m:t>
                          </m:r>
                        </m:den>
                      </m:f>
                      <m:r>
                        <a:rPr lang="zh-TW" altLang="en-US" i="1">
                          <a:latin typeface="Cambria Math" panose="02040503050406030204" pitchFamily="18" charset="0"/>
                        </a:rPr>
                        <m:t>𝑏</m:t>
                      </m:r>
                      <m:d>
                        <m:dPr>
                          <m:ctrlPr>
                            <a:rPr lang="zh-TW" altLang="en-US" i="1">
                              <a:latin typeface="Cambria Math" panose="02040503050406030204" pitchFamily="18" charset="0"/>
                            </a:rPr>
                          </m:ctrlPr>
                        </m:dPr>
                        <m:e>
                          <m:r>
                            <a:rPr lang="zh-TW" altLang="en-US" i="1">
                              <a:latin typeface="Cambria Math" panose="02040503050406030204" pitchFamily="18" charset="0"/>
                            </a:rPr>
                            <m:t>𝑥</m:t>
                          </m:r>
                        </m:e>
                      </m:d>
                      <m:r>
                        <a:rPr lang="zh-TW" altLang="en-US" i="0">
                          <a:latin typeface="Cambria Math" panose="02040503050406030204" pitchFamily="18" charset="0"/>
                        </a:rPr>
                        <m:t>=−</m:t>
                      </m:r>
                      <m:r>
                        <m:rPr>
                          <m:sty m:val="p"/>
                        </m:rPr>
                        <a:rPr lang="zh-TW" altLang="en-US" i="0">
                          <a:latin typeface="Cambria Math" panose="02040503050406030204" pitchFamily="18" charset="0"/>
                        </a:rPr>
                        <m:t>jM</m:t>
                      </m:r>
                      <m:r>
                        <a:rPr lang="zh-TW" altLang="en-US" i="0">
                          <a:latin typeface="Cambria Math" panose="02040503050406030204" pitchFamily="18" charset="0"/>
                        </a:rPr>
                        <m:t>(</m:t>
                      </m:r>
                      <m:r>
                        <m:rPr>
                          <m:sty m:val="p"/>
                        </m:rPr>
                        <a:rPr lang="zh-TW" altLang="en-US" i="0">
                          <a:latin typeface="Cambria Math" panose="02040503050406030204" pitchFamily="18" charset="0"/>
                        </a:rPr>
                        <m:t>x</m:t>
                      </m:r>
                      <m:r>
                        <a:rPr lang="zh-TW" altLang="en-US" i="0">
                          <a:latin typeface="Cambria Math" panose="02040503050406030204" pitchFamily="18" charset="0"/>
                        </a:rPr>
                        <m:t>)</m:t>
                      </m:r>
                      <m:r>
                        <a:rPr lang="zh-TW" altLang="en-US" i="1">
                          <a:latin typeface="Cambria Math" panose="02040503050406030204" pitchFamily="18" charset="0"/>
                        </a:rPr>
                        <m:t>𝑏</m:t>
                      </m:r>
                      <m:d>
                        <m:dPr>
                          <m:ctrlPr>
                            <a:rPr lang="zh-TW" altLang="en-US" i="1">
                              <a:latin typeface="Cambria Math" panose="02040503050406030204" pitchFamily="18" charset="0"/>
                            </a:rPr>
                          </m:ctrlPr>
                        </m:dPr>
                        <m:e>
                          <m:r>
                            <a:rPr lang="zh-TW" altLang="en-US" i="1">
                              <a:latin typeface="Cambria Math" panose="02040503050406030204" pitchFamily="18" charset="0"/>
                            </a:rPr>
                            <m:t>𝑥</m:t>
                          </m:r>
                        </m:e>
                      </m:d>
                    </m:oMath>
                  </m:oMathPara>
                </a14:m>
                <a:endParaRPr lang="zh-TW" altLang="en-US" dirty="0"/>
              </a:p>
            </p:txBody>
          </p:sp>
        </mc:Choice>
        <mc:Fallback xmlns="">
          <p:sp>
            <p:nvSpPr>
              <p:cNvPr id="29" name="矩形 28"/>
              <p:cNvSpPr>
                <a:spLocks noRot="1" noChangeAspect="1" noMove="1" noResize="1" noEditPoints="1" noAdjustHandles="1" noChangeArrowheads="1" noChangeShapeType="1" noTextEdit="1"/>
              </p:cNvSpPr>
              <p:nvPr/>
            </p:nvSpPr>
            <p:spPr>
              <a:xfrm>
                <a:off x="499228" y="4379890"/>
                <a:ext cx="2471254" cy="618246"/>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529685" y="6112443"/>
                <a:ext cx="262552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endChr m:val=""/>
                          <m:ctrlPr>
                            <a:rPr lang="zh-TW" altLang="en-US" i="1">
                              <a:latin typeface="Cambria Math" panose="02040503050406030204" pitchFamily="18" charset="0"/>
                            </a:rPr>
                          </m:ctrlPr>
                        </m:dPr>
                        <m:e>
                          <m:r>
                            <m:rPr>
                              <m:sty m:val="p"/>
                            </m:rPr>
                            <a:rPr lang="zh-TW" altLang="en-US">
                              <a:latin typeface="Cambria Math" panose="02040503050406030204" pitchFamily="18" charset="0"/>
                            </a:rPr>
                            <m:t>M</m:t>
                          </m:r>
                          <m:d>
                            <m:dPr>
                              <m:ctrlPr>
                                <a:rPr lang="zh-TW" altLang="en-US" i="1">
                                  <a:latin typeface="Cambria Math" panose="02040503050406030204" pitchFamily="18" charset="0"/>
                                </a:rPr>
                              </m:ctrlPr>
                            </m:dPr>
                            <m:e>
                              <m:r>
                                <m:rPr>
                                  <m:sty m:val="p"/>
                                </m:rPr>
                                <a:rPr lang="zh-TW" altLang="en-US" i="0">
                                  <a:latin typeface="Cambria Math" panose="02040503050406030204" pitchFamily="18" charset="0"/>
                                </a:rPr>
                                <m:t>x</m:t>
                              </m:r>
                            </m:e>
                          </m:d>
                          <m:r>
                            <a:rPr lang="zh-TW" altLang="en-US" i="0">
                              <a:latin typeface="Cambria Math" panose="02040503050406030204" pitchFamily="18" charset="0"/>
                            </a:rPr>
                            <m:t>−</m:t>
                          </m:r>
                          <m:r>
                            <a:rPr lang="zh-TW" altLang="en-US" i="1">
                              <a:latin typeface="Cambria Math" panose="02040503050406030204" pitchFamily="18" charset="0"/>
                            </a:rPr>
                            <m:t>𝜆</m:t>
                          </m:r>
                          <m:d>
                            <m:dPr>
                              <m:ctrlPr>
                                <a:rPr lang="zh-TW" altLang="en-US" i="1">
                                  <a:latin typeface="Cambria Math" panose="02040503050406030204" pitchFamily="18" charset="0"/>
                                </a:rPr>
                              </m:ctrlPr>
                            </m:dPr>
                            <m:e>
                              <m:r>
                                <a:rPr lang="zh-TW" altLang="en-US" i="1">
                                  <a:latin typeface="Cambria Math" panose="02040503050406030204" pitchFamily="18" charset="0"/>
                                </a:rPr>
                                <m:t>𝑥</m:t>
                              </m:r>
                            </m:e>
                          </m:d>
                          <m:r>
                            <a:rPr lang="zh-TW" altLang="en-US" b="1" i="1">
                              <a:latin typeface="Cambria Math" panose="02040503050406030204" pitchFamily="18" charset="0"/>
                            </a:rPr>
                            <m:t>𝑰</m:t>
                          </m:r>
                          <m:r>
                            <a:rPr lang="zh-TW" altLang="en-US" b="0" i="0">
                              <a:latin typeface="Cambria Math" panose="02040503050406030204" pitchFamily="18" charset="0"/>
                            </a:rPr>
                            <m:t>)</m:t>
                          </m:r>
                          <m:r>
                            <a:rPr lang="zh-TW" altLang="en-US" b="0" i="1">
                              <a:latin typeface="Cambria Math" panose="02040503050406030204" pitchFamily="18" charset="0"/>
                            </a:rPr>
                            <m:t>𝑏</m:t>
                          </m:r>
                          <m:d>
                            <m:dPr>
                              <m:ctrlPr>
                                <a:rPr lang="zh-TW" altLang="en-US" b="0" i="1">
                                  <a:latin typeface="Cambria Math" panose="02040503050406030204" pitchFamily="18" charset="0"/>
                                </a:rPr>
                              </m:ctrlPr>
                            </m:dPr>
                            <m:e>
                              <m:r>
                                <a:rPr lang="zh-TW" altLang="en-US" b="0" i="1">
                                  <a:latin typeface="Cambria Math" panose="02040503050406030204" pitchFamily="18" charset="0"/>
                                </a:rPr>
                                <m:t>𝑥</m:t>
                              </m:r>
                            </m:e>
                          </m:d>
                          <m:r>
                            <a:rPr lang="zh-TW" altLang="en-US" b="0" i="0">
                              <a:latin typeface="Cambria Math" panose="02040503050406030204" pitchFamily="18" charset="0"/>
                            </a:rPr>
                            <m:t>=</m:t>
                          </m:r>
                          <m:r>
                            <a:rPr lang="zh-TW" altLang="en-US" b="1" i="0">
                              <a:latin typeface="Cambria Math" panose="02040503050406030204" pitchFamily="18" charset="0"/>
                            </a:rPr>
                            <m:t>𝟎</m:t>
                          </m:r>
                        </m:e>
                      </m:d>
                    </m:oMath>
                  </m:oMathPara>
                </a14:m>
                <a:endParaRPr lang="zh-TW" altLang="en-US" dirty="0"/>
              </a:p>
            </p:txBody>
          </p:sp>
        </mc:Choice>
        <mc:Fallback xmlns="">
          <p:sp>
            <p:nvSpPr>
              <p:cNvPr id="30" name="矩形 29"/>
              <p:cNvSpPr>
                <a:spLocks noRot="1" noChangeAspect="1" noMove="1" noResize="1" noEditPoints="1" noAdjustHandles="1" noChangeArrowheads="1" noChangeShapeType="1" noTextEdit="1"/>
              </p:cNvSpPr>
              <p:nvPr/>
            </p:nvSpPr>
            <p:spPr>
              <a:xfrm>
                <a:off x="529685" y="6112443"/>
                <a:ext cx="2625526" cy="369332"/>
              </a:xfrm>
              <a:prstGeom prst="rect">
                <a:avLst/>
              </a:prstGeom>
              <a:blipFill>
                <a:blip r:embed="rId5"/>
                <a:stretch>
                  <a:fillRect l="-11601" t="-121667" b="-188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4873786" y="5464531"/>
                <a:ext cx="381963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𝜓</m:t>
                          </m:r>
                        </m:e>
                        <m:sub>
                          <m:r>
                            <a:rPr lang="zh-TW" altLang="en-US" i="0">
                              <a:latin typeface="Cambria Math" panose="02040503050406030204" pitchFamily="18" charset="0"/>
                            </a:rPr>
                            <m:t>0</m:t>
                          </m:r>
                        </m:sub>
                      </m:sSub>
                      <m:d>
                        <m:dPr>
                          <m:ctrlPr>
                            <a:rPr lang="zh-TW" altLang="en-US" i="1">
                              <a:latin typeface="Cambria Math" panose="02040503050406030204" pitchFamily="18" charset="0"/>
                            </a:rPr>
                          </m:ctrlPr>
                        </m:dPr>
                        <m:e>
                          <m:r>
                            <a:rPr lang="zh-TW" altLang="en-US" i="1">
                              <a:latin typeface="Cambria Math" panose="02040503050406030204" pitchFamily="18" charset="0"/>
                            </a:rPr>
                            <m:t>𝑥</m:t>
                          </m:r>
                        </m:e>
                      </m:d>
                      <m:r>
                        <a:rPr lang="zh-TW" altLang="en-US" i="0">
                          <a:latin typeface="Cambria Math" panose="02040503050406030204" pitchFamily="18" charset="0"/>
                        </a:rPr>
                        <m:t>=</m:t>
                      </m:r>
                      <m:r>
                        <a:rPr lang="zh-TW" altLang="en-US" i="1">
                          <a:latin typeface="Cambria Math" panose="02040503050406030204" pitchFamily="18" charset="0"/>
                        </a:rPr>
                        <m:t>𝑐𝑜𝑠</m:t>
                      </m:r>
                      <m:r>
                        <m:rPr>
                          <m:sty m:val="p"/>
                        </m:rPr>
                        <a:rPr lang="zh-TW" altLang="en-US" i="0">
                          <a:latin typeface="Cambria Math" panose="02040503050406030204" pitchFamily="18" charset="0"/>
                        </a:rPr>
                        <m:t>ϑ</m:t>
                      </m:r>
                      <m:d>
                        <m:dPr>
                          <m:ctrlPr>
                            <a:rPr lang="zh-TW" altLang="en-US" i="1">
                              <a:latin typeface="Cambria Math" panose="02040503050406030204" pitchFamily="18" charset="0"/>
                            </a:rPr>
                          </m:ctrlPr>
                        </m:dPr>
                        <m:e>
                          <m:r>
                            <a:rPr lang="zh-TW" altLang="en-US" i="1">
                              <a:latin typeface="Cambria Math" panose="02040503050406030204" pitchFamily="18" charset="0"/>
                            </a:rPr>
                            <m:t>𝑥</m:t>
                          </m:r>
                        </m:e>
                      </m:d>
                      <m:r>
                        <a:rPr lang="zh-TW" altLang="en-US" i="0">
                          <a:latin typeface="Cambria Math" panose="02040503050406030204" pitchFamily="18" charset="0"/>
                        </a:rPr>
                        <m:t>｜</m:t>
                      </m:r>
                      <m:r>
                        <a:rPr lang="zh-TW" altLang="en-US" i="0">
                          <a:latin typeface="Cambria Math" panose="02040503050406030204" pitchFamily="18" charset="0"/>
                        </a:rPr>
                        <m:t>1⟩−</m:t>
                      </m:r>
                      <m:r>
                        <m:rPr>
                          <m:sty m:val="p"/>
                        </m:rPr>
                        <a:rPr lang="zh-TW" altLang="en-US" i="0">
                          <a:latin typeface="Cambria Math" panose="02040503050406030204" pitchFamily="18" charset="0"/>
                        </a:rPr>
                        <m:t>sinϑ</m:t>
                      </m:r>
                      <m:d>
                        <m:dPr>
                          <m:ctrlPr>
                            <a:rPr lang="zh-TW" altLang="en-US" i="1">
                              <a:latin typeface="Cambria Math" panose="02040503050406030204" pitchFamily="18" charset="0"/>
                            </a:rPr>
                          </m:ctrlPr>
                        </m:dPr>
                        <m:e>
                          <m:r>
                            <a:rPr lang="zh-TW" altLang="en-US" i="1">
                              <a:latin typeface="Cambria Math" panose="02040503050406030204" pitchFamily="18" charset="0"/>
                            </a:rPr>
                            <m:t>𝑥</m:t>
                          </m:r>
                        </m:e>
                      </m:d>
                      <m:r>
                        <a:rPr lang="zh-TW" altLang="en-US" i="0">
                          <a:latin typeface="Cambria Math" panose="02040503050406030204" pitchFamily="18" charset="0"/>
                        </a:rPr>
                        <m:t>｜</m:t>
                      </m:r>
                      <m:r>
                        <a:rPr lang="zh-TW" altLang="en-US" i="0">
                          <a:latin typeface="Cambria Math" panose="02040503050406030204" pitchFamily="18" charset="0"/>
                        </a:rPr>
                        <m:t>3⟩</m:t>
                      </m:r>
                    </m:oMath>
                  </m:oMathPara>
                </a14:m>
                <a:endParaRPr lang="zh-TW" altLang="en-US" dirty="0"/>
              </a:p>
            </p:txBody>
          </p:sp>
        </mc:Choice>
        <mc:Fallback xmlns="">
          <p:sp>
            <p:nvSpPr>
              <p:cNvPr id="32" name="矩形 31"/>
              <p:cNvSpPr>
                <a:spLocks noRot="1" noChangeAspect="1" noMove="1" noResize="1" noEditPoints="1" noAdjustHandles="1" noChangeArrowheads="1" noChangeShapeType="1" noTextEdit="1"/>
              </p:cNvSpPr>
              <p:nvPr/>
            </p:nvSpPr>
            <p:spPr>
              <a:xfrm>
                <a:off x="4873786" y="5464531"/>
                <a:ext cx="3819635" cy="369332"/>
              </a:xfrm>
              <a:prstGeom prst="rect">
                <a:avLst/>
              </a:prstGeom>
              <a:blipFill>
                <a:blip r:embed="rId6"/>
                <a:stretch>
                  <a:fillRect b="-1475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矩形 32"/>
              <p:cNvSpPr/>
              <p:nvPr/>
            </p:nvSpPr>
            <p:spPr>
              <a:xfrm>
                <a:off x="4838452" y="5878418"/>
                <a:ext cx="7017462" cy="369332"/>
              </a:xfrm>
              <a:prstGeom prst="rect">
                <a:avLst/>
              </a:prstGeom>
            </p:spPr>
            <p:txBody>
              <a:bodyPr wrap="square">
                <a:sp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zh-TW" altLang="zh-TW"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100">
                              <a:latin typeface="Cambria Math" panose="02040503050406030204" pitchFamily="18" charset="0"/>
                              <a:ea typeface="標楷體" panose="03000509000000000000" pitchFamily="65" charset="-120"/>
                              <a:cs typeface="Times New Roman" panose="02020603050405020304" pitchFamily="18" charset="0"/>
                            </a:rPr>
                            <m:t>𝜓</m:t>
                          </m:r>
                        </m:e>
                        <m:sub>
                          <m:r>
                            <a:rPr lang="en-US" altLang="zh-TW" i="1" kern="100">
                              <a:latin typeface="Cambria Math" panose="02040503050406030204" pitchFamily="18" charset="0"/>
                              <a:ea typeface="標楷體" panose="03000509000000000000" pitchFamily="65" charset="-120"/>
                              <a:cs typeface="Times New Roman" panose="02020603050405020304" pitchFamily="18" charset="0"/>
                            </a:rPr>
                            <m:t>+</m:t>
                          </m:r>
                        </m:sub>
                      </m:sSub>
                      <m:d>
                        <m:dPr>
                          <m:ctrlPr>
                            <a:rPr lang="zh-TW" altLang="zh-TW"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i="1" kern="100">
                              <a:latin typeface="Cambria Math" panose="02040503050406030204" pitchFamily="18" charset="0"/>
                              <a:ea typeface="標楷體" panose="03000509000000000000" pitchFamily="65" charset="-120"/>
                              <a:cs typeface="Times New Roman" panose="02020603050405020304" pitchFamily="18" charset="0"/>
                            </a:rPr>
                            <m:t>𝑥</m:t>
                          </m:r>
                        </m:e>
                      </m:d>
                      <m:r>
                        <a:rPr lang="en-US" altLang="zh-TW"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100">
                          <a:latin typeface="Cambria Math" panose="02040503050406030204" pitchFamily="18" charset="0"/>
                          <a:ea typeface="標楷體" panose="03000509000000000000" pitchFamily="65" charset="-120"/>
                          <a:cs typeface="Times New Roman" panose="02020603050405020304" pitchFamily="18" charset="0"/>
                        </a:rPr>
                        <m:t>𝑠𝑖𝑛</m:t>
                      </m:r>
                      <m:r>
                        <m:rPr>
                          <m:sty m:val="p"/>
                        </m:rPr>
                        <a:rPr lang="en-US" altLang="zh-TW" kern="100">
                          <a:latin typeface="Cambria Math" panose="02040503050406030204" pitchFamily="18" charset="0"/>
                          <a:ea typeface="標楷體" panose="03000509000000000000" pitchFamily="65" charset="-120"/>
                          <a:cs typeface="Times New Roman" panose="02020603050405020304" pitchFamily="18" charset="0"/>
                        </a:rPr>
                        <m:t>ϑ</m:t>
                      </m:r>
                      <m:d>
                        <m:dPr>
                          <m:ctrlPr>
                            <a:rPr lang="zh-TW" altLang="zh-TW"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i="1" kern="100">
                              <a:latin typeface="Cambria Math" panose="02040503050406030204" pitchFamily="18" charset="0"/>
                              <a:ea typeface="標楷體" panose="03000509000000000000" pitchFamily="65" charset="-120"/>
                              <a:cs typeface="Times New Roman" panose="02020603050405020304" pitchFamily="18" charset="0"/>
                            </a:rPr>
                            <m:t>𝑥</m:t>
                          </m:r>
                        </m:e>
                      </m:d>
                      <m:r>
                        <a:rPr lang="en-US" altLang="zh-TW" i="1" kern="100">
                          <a:latin typeface="Cambria Math" panose="02040503050406030204" pitchFamily="18" charset="0"/>
                          <a:ea typeface="標楷體" panose="03000509000000000000" pitchFamily="65" charset="-120"/>
                          <a:cs typeface="Times New Roman" panose="02020603050405020304" pitchFamily="18" charset="0"/>
                        </a:rPr>
                        <m:t>𝑠𝑖𝑛</m:t>
                      </m:r>
                      <m:r>
                        <m:rPr>
                          <m:sty m:val="p"/>
                        </m:rPr>
                        <a:rPr lang="en-US" altLang="zh-TW" kern="100">
                          <a:latin typeface="Cambria Math" panose="02040503050406030204" pitchFamily="18" charset="0"/>
                          <a:cs typeface="Times New Roman" panose="02020603050405020304" pitchFamily="18" charset="0"/>
                        </a:rPr>
                        <m:t>φ</m:t>
                      </m:r>
                      <m:d>
                        <m:dPr>
                          <m:ctrlPr>
                            <a:rPr lang="zh-TW" altLang="zh-TW"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i="1" kern="100">
                              <a:latin typeface="Cambria Math" panose="02040503050406030204" pitchFamily="18" charset="0"/>
                              <a:cs typeface="Times New Roman" panose="02020603050405020304" pitchFamily="18" charset="0"/>
                            </a:rPr>
                            <m:t>𝑥</m:t>
                          </m:r>
                        </m:e>
                      </m:d>
                      <m:r>
                        <a:rPr lang="zh-TW" altLang="zh-TW" kern="100">
                          <a:latin typeface="Cambria Math" panose="02040503050406030204" pitchFamily="18" charset="0"/>
                          <a:cs typeface="Times New Roman" panose="02020603050405020304" pitchFamily="18" charset="0"/>
                        </a:rPr>
                        <m:t>｜</m:t>
                      </m:r>
                      <m:r>
                        <a:rPr lang="en-US" altLang="zh-TW" kern="100">
                          <a:latin typeface="Cambria Math" panose="02040503050406030204" pitchFamily="18" charset="0"/>
                          <a:cs typeface="Times New Roman" panose="02020603050405020304" pitchFamily="18" charset="0"/>
                        </a:rPr>
                        <m:t>1</m:t>
                      </m:r>
                      <m:r>
                        <a:rPr lang="en-US" altLang="zh-TW" i="1" kern="100">
                          <a:latin typeface="Cambria Math" panose="02040503050406030204" pitchFamily="18" charset="0"/>
                          <a:cs typeface="Times New Roman" panose="02020603050405020304" pitchFamily="18" charset="0"/>
                        </a:rPr>
                        <m:t>⟩</m:t>
                      </m:r>
                      <m:r>
                        <a:rPr lang="en-US" altLang="zh-TW" kern="100">
                          <a:latin typeface="Cambria Math" panose="02040503050406030204" pitchFamily="18" charset="0"/>
                          <a:cs typeface="Times New Roman" panose="02020603050405020304" pitchFamily="18" charset="0"/>
                        </a:rPr>
                        <m:t>+</m:t>
                      </m:r>
                      <m:r>
                        <a:rPr lang="en-US" altLang="zh-TW" i="1" kern="100">
                          <a:latin typeface="Cambria Math" panose="02040503050406030204" pitchFamily="18" charset="0"/>
                          <a:cs typeface="Times New Roman" panose="02020603050405020304" pitchFamily="18" charset="0"/>
                        </a:rPr>
                        <m:t>𝑐𝑜𝑠</m:t>
                      </m:r>
                      <m:r>
                        <a:rPr lang="en-US" altLang="zh-TW" i="1" kern="100">
                          <a:latin typeface="Cambria Math" panose="02040503050406030204" pitchFamily="18" charset="0"/>
                          <a:cs typeface="Times New Roman" panose="02020603050405020304" pitchFamily="18" charset="0"/>
                        </a:rPr>
                        <m:t>𝜑</m:t>
                      </m:r>
                      <m:d>
                        <m:dPr>
                          <m:ctrlPr>
                            <a:rPr lang="zh-TW" altLang="zh-TW"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i="1" kern="100">
                              <a:latin typeface="Cambria Math" panose="02040503050406030204" pitchFamily="18" charset="0"/>
                              <a:cs typeface="Times New Roman" panose="02020603050405020304" pitchFamily="18" charset="0"/>
                            </a:rPr>
                            <m:t>𝑥</m:t>
                          </m:r>
                        </m:e>
                      </m:d>
                      <m:r>
                        <a:rPr lang="zh-TW" altLang="zh-TW" kern="100">
                          <a:latin typeface="Cambria Math" panose="02040503050406030204" pitchFamily="18" charset="0"/>
                          <a:cs typeface="Times New Roman" panose="02020603050405020304" pitchFamily="18" charset="0"/>
                        </a:rPr>
                        <m:t>｜</m:t>
                      </m:r>
                      <m:r>
                        <a:rPr lang="en-US" altLang="zh-TW" kern="100">
                          <a:latin typeface="Cambria Math" panose="02040503050406030204" pitchFamily="18" charset="0"/>
                          <a:cs typeface="Times New Roman" panose="02020603050405020304" pitchFamily="18" charset="0"/>
                        </a:rPr>
                        <m:t>2</m:t>
                      </m:r>
                      <m:r>
                        <a:rPr lang="en-US" altLang="zh-TW" i="1" kern="100">
                          <a:latin typeface="Cambria Math" panose="02040503050406030204" pitchFamily="18" charset="0"/>
                          <a:cs typeface="Times New Roman" panose="02020603050405020304" pitchFamily="18" charset="0"/>
                        </a:rPr>
                        <m:t>⟩</m:t>
                      </m:r>
                      <m:r>
                        <a:rPr lang="en-US" altLang="zh-TW">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標楷體" panose="03000509000000000000" pitchFamily="65" charset="-120"/>
                          <a:cs typeface="Times New Roman" panose="02020603050405020304" pitchFamily="18" charset="0"/>
                        </a:rPr>
                        <m:t>𝑐𝑜𝑠</m:t>
                      </m:r>
                      <m:r>
                        <m:rPr>
                          <m:sty m:val="p"/>
                        </m:rPr>
                        <a:rPr lang="en-US" altLang="zh-TW">
                          <a:latin typeface="Cambria Math" panose="02040503050406030204" pitchFamily="18" charset="0"/>
                          <a:ea typeface="標楷體" panose="03000509000000000000" pitchFamily="65" charset="-120"/>
                          <a:cs typeface="Times New Roman" panose="02020603050405020304" pitchFamily="18" charset="0"/>
                        </a:rPr>
                        <m:t>ϑ</m:t>
                      </m:r>
                      <m:d>
                        <m:dPr>
                          <m:ctrlPr>
                            <a:rPr lang="zh-TW" altLang="zh-TW" i="1">
                              <a:latin typeface="Cambria Math" panose="02040503050406030204" pitchFamily="18" charset="0"/>
                              <a:ea typeface="Cambria Math" panose="02040503050406030204" pitchFamily="18" charset="0"/>
                            </a:rPr>
                          </m:ctrlPr>
                        </m:dPr>
                        <m:e>
                          <m:r>
                            <a:rPr lang="en-US" altLang="zh-TW" i="1">
                              <a:latin typeface="Cambria Math" panose="02040503050406030204" pitchFamily="18" charset="0"/>
                              <a:ea typeface="標楷體" panose="03000509000000000000" pitchFamily="65" charset="-120"/>
                              <a:cs typeface="Times New Roman" panose="02020603050405020304" pitchFamily="18" charset="0"/>
                            </a:rPr>
                            <m:t>𝑥</m:t>
                          </m:r>
                        </m:e>
                      </m:d>
                      <m:r>
                        <a:rPr lang="en-US" altLang="zh-TW" i="1">
                          <a:latin typeface="Cambria Math" panose="02040503050406030204" pitchFamily="18" charset="0"/>
                          <a:ea typeface="標楷體" panose="03000509000000000000" pitchFamily="65" charset="-120"/>
                          <a:cs typeface="Times New Roman" panose="02020603050405020304" pitchFamily="18" charset="0"/>
                        </a:rPr>
                        <m:t>𝑠𝑖𝑛</m:t>
                      </m:r>
                      <m:r>
                        <m:rPr>
                          <m:sty m:val="p"/>
                        </m:rPr>
                        <a:rPr lang="en-US" altLang="zh-TW">
                          <a:latin typeface="Cambria Math" panose="02040503050406030204" pitchFamily="18" charset="0"/>
                          <a:cs typeface="Times New Roman" panose="02020603050405020304" pitchFamily="18" charset="0"/>
                        </a:rPr>
                        <m:t>φ</m:t>
                      </m:r>
                      <m:d>
                        <m:dPr>
                          <m:ctrlPr>
                            <a:rPr lang="zh-TW" altLang="zh-TW" i="1">
                              <a:latin typeface="Cambria Math" panose="02040503050406030204" pitchFamily="18" charset="0"/>
                              <a:ea typeface="Cambria Math" panose="02040503050406030204" pitchFamily="18" charset="0"/>
                            </a:rPr>
                          </m:ctrlPr>
                        </m:dPr>
                        <m:e>
                          <m:r>
                            <a:rPr lang="en-US" altLang="zh-TW" i="1">
                              <a:latin typeface="Cambria Math" panose="02040503050406030204" pitchFamily="18" charset="0"/>
                              <a:cs typeface="Times New Roman" panose="02020603050405020304" pitchFamily="18" charset="0"/>
                            </a:rPr>
                            <m:t>𝑥</m:t>
                          </m:r>
                        </m:e>
                      </m:d>
                      <m:r>
                        <a:rPr lang="zh-TW" altLang="zh-TW">
                          <a:latin typeface="Cambria Math" panose="02040503050406030204" pitchFamily="18" charset="0"/>
                          <a:cs typeface="Times New Roman" panose="02020603050405020304" pitchFamily="18" charset="0"/>
                        </a:rPr>
                        <m:t>｜</m:t>
                      </m:r>
                      <m:r>
                        <a:rPr lang="en-US" altLang="zh-TW">
                          <a:latin typeface="Cambria Math" panose="02040503050406030204" pitchFamily="18" charset="0"/>
                          <a:cs typeface="Times New Roman" panose="02020603050405020304" pitchFamily="18" charset="0"/>
                        </a:rPr>
                        <m:t>3</m:t>
                      </m:r>
                      <m:r>
                        <a:rPr lang="en-US" altLang="zh-TW" i="1">
                          <a:latin typeface="Cambria Math" panose="02040503050406030204" pitchFamily="18" charset="0"/>
                          <a:cs typeface="Times New Roman" panose="02020603050405020304" pitchFamily="18" charset="0"/>
                        </a:rPr>
                        <m:t>⟩</m:t>
                      </m:r>
                    </m:oMath>
                  </m:oMathPara>
                </a14:m>
                <a:endParaRPr lang="zh-TW" altLang="en-US" dirty="0"/>
              </a:p>
            </p:txBody>
          </p:sp>
        </mc:Choice>
        <mc:Fallback xmlns="">
          <p:sp>
            <p:nvSpPr>
              <p:cNvPr id="33" name="矩形 32"/>
              <p:cNvSpPr>
                <a:spLocks noRot="1" noChangeAspect="1" noMove="1" noResize="1" noEditPoints="1" noAdjustHandles="1" noChangeArrowheads="1" noChangeShapeType="1" noTextEdit="1"/>
              </p:cNvSpPr>
              <p:nvPr/>
            </p:nvSpPr>
            <p:spPr>
              <a:xfrm>
                <a:off x="4838452" y="5878418"/>
                <a:ext cx="7017462" cy="369332"/>
              </a:xfrm>
              <a:prstGeom prst="rect">
                <a:avLst/>
              </a:prstGeom>
              <a:blipFill>
                <a:blip r:embed="rId7"/>
                <a:stretch>
                  <a:fillRect b="-1475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4852520" y="6297109"/>
                <a:ext cx="7039107" cy="369332"/>
              </a:xfrm>
              <a:prstGeom prst="rect">
                <a:avLst/>
              </a:prstGeom>
            </p:spPr>
            <p:txBody>
              <a:bodyPr wrap="square">
                <a:sp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zh-TW" altLang="zh-TW"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100">
                              <a:latin typeface="Cambria Math" panose="02040503050406030204" pitchFamily="18" charset="0"/>
                              <a:ea typeface="標楷體" panose="03000509000000000000" pitchFamily="65" charset="-120"/>
                              <a:cs typeface="Times New Roman" panose="02020603050405020304" pitchFamily="18" charset="0"/>
                            </a:rPr>
                            <m:t>𝜓</m:t>
                          </m:r>
                        </m:e>
                        <m:sub>
                          <m:r>
                            <a:rPr lang="zh-TW" altLang="en-US" i="1" kern="100">
                              <a:latin typeface="Cambria Math" panose="02040503050406030204" pitchFamily="18" charset="0"/>
                              <a:ea typeface="MS Gothic" panose="020B0609070205080204" pitchFamily="49" charset="-128"/>
                              <a:cs typeface="MS Gothic" panose="020B0609070205080204" pitchFamily="49" charset="-128"/>
                            </a:rPr>
                            <m:t>−</m:t>
                          </m:r>
                        </m:sub>
                      </m:sSub>
                      <m:d>
                        <m:dPr>
                          <m:ctrlPr>
                            <a:rPr lang="zh-TW" altLang="zh-TW"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i="1" kern="100">
                              <a:latin typeface="Cambria Math" panose="02040503050406030204" pitchFamily="18" charset="0"/>
                              <a:ea typeface="標楷體" panose="03000509000000000000" pitchFamily="65" charset="-120"/>
                              <a:cs typeface="Times New Roman" panose="02020603050405020304" pitchFamily="18" charset="0"/>
                            </a:rPr>
                            <m:t>𝑥</m:t>
                          </m:r>
                        </m:e>
                      </m:d>
                      <m:r>
                        <a:rPr lang="en-US" altLang="zh-TW"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i="1" kern="100">
                          <a:latin typeface="Cambria Math" panose="02040503050406030204" pitchFamily="18" charset="0"/>
                          <a:ea typeface="標楷體" panose="03000509000000000000" pitchFamily="65" charset="-120"/>
                          <a:cs typeface="Times New Roman" panose="02020603050405020304" pitchFamily="18" charset="0"/>
                        </a:rPr>
                        <m:t>𝑠𝑖𝑛</m:t>
                      </m:r>
                      <m:r>
                        <m:rPr>
                          <m:sty m:val="p"/>
                        </m:rPr>
                        <a:rPr lang="en-US" altLang="zh-TW" kern="100">
                          <a:latin typeface="Cambria Math" panose="02040503050406030204" pitchFamily="18" charset="0"/>
                          <a:ea typeface="標楷體" panose="03000509000000000000" pitchFamily="65" charset="-120"/>
                          <a:cs typeface="Times New Roman" panose="02020603050405020304" pitchFamily="18" charset="0"/>
                        </a:rPr>
                        <m:t>ϑ</m:t>
                      </m:r>
                      <m:d>
                        <m:dPr>
                          <m:ctrlPr>
                            <a:rPr lang="zh-TW" altLang="zh-TW"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i="1" kern="100">
                              <a:latin typeface="Cambria Math" panose="02040503050406030204" pitchFamily="18" charset="0"/>
                              <a:ea typeface="標楷體" panose="03000509000000000000" pitchFamily="65" charset="-120"/>
                              <a:cs typeface="Times New Roman" panose="02020603050405020304" pitchFamily="18" charset="0"/>
                            </a:rPr>
                            <m:t>𝑥</m:t>
                          </m:r>
                        </m:e>
                      </m:d>
                      <m:r>
                        <a:rPr lang="en-US" altLang="zh-TW" i="1" kern="100">
                          <a:latin typeface="Cambria Math" panose="02040503050406030204" pitchFamily="18" charset="0"/>
                          <a:cs typeface="Times New Roman" panose="02020603050405020304" pitchFamily="18" charset="0"/>
                        </a:rPr>
                        <m:t>𝑐𝑜𝑠</m:t>
                      </m:r>
                      <m:r>
                        <m:rPr>
                          <m:sty m:val="p"/>
                        </m:rPr>
                        <a:rPr lang="en-US" altLang="zh-TW" kern="100">
                          <a:latin typeface="Cambria Math" panose="02040503050406030204" pitchFamily="18" charset="0"/>
                          <a:cs typeface="Times New Roman" panose="02020603050405020304" pitchFamily="18" charset="0"/>
                        </a:rPr>
                        <m:t>φ</m:t>
                      </m:r>
                      <m:d>
                        <m:dPr>
                          <m:ctrlPr>
                            <a:rPr lang="zh-TW" altLang="zh-TW"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i="1" kern="100">
                              <a:latin typeface="Cambria Math" panose="02040503050406030204" pitchFamily="18" charset="0"/>
                              <a:cs typeface="Times New Roman" panose="02020603050405020304" pitchFamily="18" charset="0"/>
                            </a:rPr>
                            <m:t>𝑥</m:t>
                          </m:r>
                        </m:e>
                      </m:d>
                      <m:r>
                        <a:rPr lang="zh-TW" altLang="zh-TW" kern="100">
                          <a:latin typeface="Cambria Math" panose="02040503050406030204" pitchFamily="18" charset="0"/>
                          <a:cs typeface="Times New Roman" panose="02020603050405020304" pitchFamily="18" charset="0"/>
                        </a:rPr>
                        <m:t>｜</m:t>
                      </m:r>
                      <m:r>
                        <a:rPr lang="en-US" altLang="zh-TW" kern="100">
                          <a:latin typeface="Cambria Math" panose="02040503050406030204" pitchFamily="18" charset="0"/>
                          <a:cs typeface="Times New Roman" panose="02020603050405020304" pitchFamily="18" charset="0"/>
                        </a:rPr>
                        <m:t>1</m:t>
                      </m:r>
                      <m:r>
                        <a:rPr lang="en-US" altLang="zh-TW" i="1" kern="100">
                          <a:latin typeface="Cambria Math" panose="02040503050406030204" pitchFamily="18" charset="0"/>
                          <a:cs typeface="Times New Roman" panose="02020603050405020304" pitchFamily="18" charset="0"/>
                        </a:rPr>
                        <m:t>⟩</m:t>
                      </m:r>
                      <m:r>
                        <a:rPr lang="zh-TW" altLang="en-US" i="1" kern="100">
                          <a:latin typeface="Cambria Math" panose="02040503050406030204" pitchFamily="18" charset="0"/>
                          <a:ea typeface="MS Gothic" panose="020B0609070205080204" pitchFamily="49" charset="-128"/>
                          <a:cs typeface="MS Gothic" panose="020B0609070205080204" pitchFamily="49" charset="-128"/>
                        </a:rPr>
                        <m:t>−</m:t>
                      </m:r>
                      <m:r>
                        <a:rPr lang="en-US" altLang="zh-TW" i="1" kern="100">
                          <a:latin typeface="Cambria Math" panose="02040503050406030204" pitchFamily="18" charset="0"/>
                          <a:cs typeface="Times New Roman" panose="02020603050405020304" pitchFamily="18" charset="0"/>
                        </a:rPr>
                        <m:t>𝑠𝑖𝑛</m:t>
                      </m:r>
                      <m:r>
                        <a:rPr lang="en-US" altLang="zh-TW" i="1" kern="100">
                          <a:latin typeface="Cambria Math" panose="02040503050406030204" pitchFamily="18" charset="0"/>
                          <a:cs typeface="Times New Roman" panose="02020603050405020304" pitchFamily="18" charset="0"/>
                        </a:rPr>
                        <m:t>𝜑</m:t>
                      </m:r>
                      <m:d>
                        <m:dPr>
                          <m:ctrlPr>
                            <a:rPr lang="zh-TW" altLang="zh-TW"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i="1" kern="100">
                              <a:latin typeface="Cambria Math" panose="02040503050406030204" pitchFamily="18" charset="0"/>
                              <a:cs typeface="Times New Roman" panose="02020603050405020304" pitchFamily="18" charset="0"/>
                            </a:rPr>
                            <m:t>𝑥</m:t>
                          </m:r>
                        </m:e>
                      </m:d>
                      <m:r>
                        <a:rPr lang="zh-TW" altLang="zh-TW" kern="100">
                          <a:latin typeface="Cambria Math" panose="02040503050406030204" pitchFamily="18" charset="0"/>
                          <a:cs typeface="Times New Roman" panose="02020603050405020304" pitchFamily="18" charset="0"/>
                        </a:rPr>
                        <m:t>｜</m:t>
                      </m:r>
                      <m:r>
                        <a:rPr lang="en-US" altLang="zh-TW" kern="100">
                          <a:latin typeface="Cambria Math" panose="02040503050406030204" pitchFamily="18" charset="0"/>
                          <a:cs typeface="Times New Roman" panose="02020603050405020304" pitchFamily="18" charset="0"/>
                        </a:rPr>
                        <m:t>2</m:t>
                      </m:r>
                      <m:r>
                        <a:rPr lang="en-US" altLang="zh-TW" i="1" kern="100">
                          <a:latin typeface="Cambria Math" panose="02040503050406030204" pitchFamily="18" charset="0"/>
                          <a:cs typeface="Times New Roman" panose="02020603050405020304" pitchFamily="18" charset="0"/>
                        </a:rPr>
                        <m:t>⟩</m:t>
                      </m:r>
                      <m:r>
                        <a:rPr lang="en-US" altLang="zh-TW">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標楷體" panose="03000509000000000000" pitchFamily="65" charset="-120"/>
                          <a:cs typeface="Times New Roman" panose="02020603050405020304" pitchFamily="18" charset="0"/>
                        </a:rPr>
                        <m:t>𝑐𝑜𝑠</m:t>
                      </m:r>
                      <m:r>
                        <m:rPr>
                          <m:sty m:val="p"/>
                        </m:rPr>
                        <a:rPr lang="en-US" altLang="zh-TW">
                          <a:latin typeface="Cambria Math" panose="02040503050406030204" pitchFamily="18" charset="0"/>
                          <a:ea typeface="標楷體" panose="03000509000000000000" pitchFamily="65" charset="-120"/>
                          <a:cs typeface="Times New Roman" panose="02020603050405020304" pitchFamily="18" charset="0"/>
                        </a:rPr>
                        <m:t>ϑ</m:t>
                      </m:r>
                      <m:d>
                        <m:dPr>
                          <m:ctrlPr>
                            <a:rPr lang="zh-TW" altLang="zh-TW" i="1">
                              <a:latin typeface="Cambria Math" panose="02040503050406030204" pitchFamily="18" charset="0"/>
                              <a:ea typeface="Cambria Math" panose="02040503050406030204" pitchFamily="18" charset="0"/>
                            </a:rPr>
                          </m:ctrlPr>
                        </m:dPr>
                        <m:e>
                          <m:r>
                            <a:rPr lang="en-US" altLang="zh-TW" i="1">
                              <a:latin typeface="Cambria Math" panose="02040503050406030204" pitchFamily="18" charset="0"/>
                              <a:ea typeface="標楷體" panose="03000509000000000000" pitchFamily="65" charset="-120"/>
                              <a:cs typeface="Times New Roman" panose="02020603050405020304" pitchFamily="18" charset="0"/>
                            </a:rPr>
                            <m:t>𝑥</m:t>
                          </m:r>
                        </m:e>
                      </m:d>
                      <m:r>
                        <a:rPr lang="en-US" altLang="zh-TW" i="1">
                          <a:latin typeface="Cambria Math" panose="02040503050406030204" pitchFamily="18" charset="0"/>
                          <a:ea typeface="標楷體" panose="03000509000000000000" pitchFamily="65" charset="-120"/>
                          <a:cs typeface="Times New Roman" panose="02020603050405020304" pitchFamily="18" charset="0"/>
                        </a:rPr>
                        <m:t>𝑐𝑜𝑠</m:t>
                      </m:r>
                      <m:r>
                        <m:rPr>
                          <m:sty m:val="p"/>
                        </m:rPr>
                        <a:rPr lang="en-US" altLang="zh-TW">
                          <a:latin typeface="Cambria Math" panose="02040503050406030204" pitchFamily="18" charset="0"/>
                          <a:cs typeface="Times New Roman" panose="02020603050405020304" pitchFamily="18" charset="0"/>
                        </a:rPr>
                        <m:t>φ</m:t>
                      </m:r>
                      <m:d>
                        <m:dPr>
                          <m:ctrlPr>
                            <a:rPr lang="zh-TW" altLang="zh-TW" i="1">
                              <a:latin typeface="Cambria Math" panose="02040503050406030204" pitchFamily="18" charset="0"/>
                              <a:ea typeface="Cambria Math" panose="02040503050406030204" pitchFamily="18" charset="0"/>
                            </a:rPr>
                          </m:ctrlPr>
                        </m:dPr>
                        <m:e>
                          <m:r>
                            <a:rPr lang="en-US" altLang="zh-TW" i="1">
                              <a:latin typeface="Cambria Math" panose="02040503050406030204" pitchFamily="18" charset="0"/>
                              <a:cs typeface="Times New Roman" panose="02020603050405020304" pitchFamily="18" charset="0"/>
                            </a:rPr>
                            <m:t>𝑥</m:t>
                          </m:r>
                        </m:e>
                      </m:d>
                      <m:r>
                        <a:rPr lang="zh-TW" altLang="zh-TW">
                          <a:latin typeface="Cambria Math" panose="02040503050406030204" pitchFamily="18" charset="0"/>
                          <a:cs typeface="Times New Roman" panose="02020603050405020304" pitchFamily="18" charset="0"/>
                        </a:rPr>
                        <m:t>｜</m:t>
                      </m:r>
                      <m:r>
                        <a:rPr lang="en-US" altLang="zh-TW">
                          <a:latin typeface="Cambria Math" panose="02040503050406030204" pitchFamily="18" charset="0"/>
                          <a:cs typeface="Times New Roman" panose="02020603050405020304" pitchFamily="18" charset="0"/>
                        </a:rPr>
                        <m:t>3</m:t>
                      </m:r>
                      <m:r>
                        <a:rPr lang="en-US" altLang="zh-TW" i="1">
                          <a:latin typeface="Cambria Math" panose="02040503050406030204" pitchFamily="18" charset="0"/>
                          <a:cs typeface="Times New Roman" panose="02020603050405020304" pitchFamily="18" charset="0"/>
                        </a:rPr>
                        <m:t>⟩</m:t>
                      </m:r>
                    </m:oMath>
                  </m:oMathPara>
                </a14:m>
                <a:endParaRPr lang="zh-TW" altLang="en-US" dirty="0"/>
              </a:p>
            </p:txBody>
          </p:sp>
        </mc:Choice>
        <mc:Fallback xmlns="">
          <p:sp>
            <p:nvSpPr>
              <p:cNvPr id="6" name="矩形 5"/>
              <p:cNvSpPr>
                <a:spLocks noRot="1" noChangeAspect="1" noMove="1" noResize="1" noEditPoints="1" noAdjustHandles="1" noChangeArrowheads="1" noChangeShapeType="1" noTextEdit="1"/>
              </p:cNvSpPr>
              <p:nvPr/>
            </p:nvSpPr>
            <p:spPr>
              <a:xfrm>
                <a:off x="4852520" y="6297109"/>
                <a:ext cx="7039107" cy="369332"/>
              </a:xfrm>
              <a:prstGeom prst="rect">
                <a:avLst/>
              </a:prstGeom>
              <a:blipFill>
                <a:blip r:embed="rId8"/>
                <a:stretch>
                  <a:fillRect b="-1475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矩形 36"/>
              <p:cNvSpPr/>
              <p:nvPr/>
            </p:nvSpPr>
            <p:spPr>
              <a:xfrm>
                <a:off x="481870" y="1791627"/>
                <a:ext cx="1676548" cy="6183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TW" altLang="en-US" i="1">
                              <a:latin typeface="Cambria Math" panose="02040503050406030204" pitchFamily="18" charset="0"/>
                            </a:rPr>
                          </m:ctrlPr>
                        </m:fPr>
                        <m:num>
                          <m:r>
                            <m:rPr>
                              <m:sty m:val="p"/>
                            </m:rPr>
                            <a:rPr lang="zh-TW" altLang="en-US">
                              <a:latin typeface="Cambria Math" panose="02040503050406030204" pitchFamily="18" charset="0"/>
                            </a:rPr>
                            <m:t>d</m:t>
                          </m:r>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b</m:t>
                              </m:r>
                            </m:e>
                            <m:sub>
                              <m:r>
                                <a:rPr lang="zh-TW" altLang="en-US" i="0">
                                  <a:latin typeface="Cambria Math" panose="02040503050406030204" pitchFamily="18" charset="0"/>
                                </a:rPr>
                                <m:t>1</m:t>
                              </m:r>
                            </m:sub>
                          </m:sSub>
                        </m:num>
                        <m:den>
                          <m:r>
                            <m:rPr>
                              <m:sty m:val="p"/>
                            </m:rPr>
                            <a:rPr lang="zh-TW" altLang="en-US" i="0">
                              <a:latin typeface="Cambria Math" panose="02040503050406030204" pitchFamily="18" charset="0"/>
                            </a:rPr>
                            <m:t>dx</m:t>
                          </m:r>
                        </m:den>
                      </m:f>
                      <m:r>
                        <a:rPr lang="zh-TW" altLang="en-US" i="0">
                          <a:latin typeface="Cambria Math" panose="02040503050406030204" pitchFamily="18" charset="0"/>
                        </a:rPr>
                        <m:t>=−</m:t>
                      </m:r>
                      <m:r>
                        <m:rPr>
                          <m:sty m:val="p"/>
                        </m:rPr>
                        <a:rPr lang="zh-TW" altLang="en-US" i="0">
                          <a:latin typeface="Cambria Math" panose="02040503050406030204" pitchFamily="18" charset="0"/>
                        </a:rPr>
                        <m:t>j</m:t>
                      </m:r>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κ</m:t>
                          </m:r>
                        </m:e>
                        <m:sub>
                          <m:r>
                            <a:rPr lang="zh-TW" altLang="en-US" i="0">
                              <a:latin typeface="Cambria Math" panose="02040503050406030204" pitchFamily="18" charset="0"/>
                            </a:rPr>
                            <m:t>12</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𝑏</m:t>
                          </m:r>
                        </m:e>
                        <m:sub>
                          <m:r>
                            <a:rPr lang="zh-TW" altLang="en-US" i="0">
                              <a:latin typeface="Cambria Math" panose="02040503050406030204" pitchFamily="18" charset="0"/>
                            </a:rPr>
                            <m:t>2</m:t>
                          </m:r>
                        </m:sub>
                      </m:sSub>
                    </m:oMath>
                  </m:oMathPara>
                </a14:m>
                <a:endParaRPr lang="zh-TW" altLang="en-US" dirty="0"/>
              </a:p>
            </p:txBody>
          </p:sp>
        </mc:Choice>
        <mc:Fallback xmlns="">
          <p:sp>
            <p:nvSpPr>
              <p:cNvPr id="37" name="矩形 36"/>
              <p:cNvSpPr>
                <a:spLocks noRot="1" noChangeAspect="1" noMove="1" noResize="1" noEditPoints="1" noAdjustHandles="1" noChangeArrowheads="1" noChangeShapeType="1" noTextEdit="1"/>
              </p:cNvSpPr>
              <p:nvPr/>
            </p:nvSpPr>
            <p:spPr>
              <a:xfrm>
                <a:off x="481870" y="1791627"/>
                <a:ext cx="1676548" cy="618374"/>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矩形 37"/>
              <p:cNvSpPr/>
              <p:nvPr/>
            </p:nvSpPr>
            <p:spPr>
              <a:xfrm>
                <a:off x="499228" y="3040190"/>
                <a:ext cx="1687193" cy="6183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TW" altLang="en-US" i="1">
                              <a:latin typeface="Cambria Math" panose="02040503050406030204" pitchFamily="18" charset="0"/>
                            </a:rPr>
                          </m:ctrlPr>
                        </m:fPr>
                        <m:num>
                          <m:r>
                            <m:rPr>
                              <m:sty m:val="p"/>
                            </m:rPr>
                            <a:rPr lang="zh-TW" altLang="en-US">
                              <a:latin typeface="Cambria Math" panose="02040503050406030204" pitchFamily="18" charset="0"/>
                            </a:rPr>
                            <m:t>d</m:t>
                          </m:r>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b</m:t>
                              </m:r>
                            </m:e>
                            <m:sub>
                              <m:r>
                                <a:rPr lang="zh-TW" altLang="en-US" i="0">
                                  <a:latin typeface="Cambria Math" panose="02040503050406030204" pitchFamily="18" charset="0"/>
                                </a:rPr>
                                <m:t>3</m:t>
                              </m:r>
                            </m:sub>
                          </m:sSub>
                        </m:num>
                        <m:den>
                          <m:r>
                            <m:rPr>
                              <m:sty m:val="p"/>
                            </m:rPr>
                            <a:rPr lang="zh-TW" altLang="en-US" i="0">
                              <a:latin typeface="Cambria Math" panose="02040503050406030204" pitchFamily="18" charset="0"/>
                            </a:rPr>
                            <m:t>dx</m:t>
                          </m:r>
                        </m:den>
                      </m:f>
                      <m:r>
                        <a:rPr lang="zh-TW" altLang="en-US" i="0">
                          <a:latin typeface="Cambria Math" panose="02040503050406030204" pitchFamily="18" charset="0"/>
                        </a:rPr>
                        <m:t>=−</m:t>
                      </m:r>
                      <m:r>
                        <m:rPr>
                          <m:sty m:val="p"/>
                        </m:rPr>
                        <a:rPr lang="zh-TW" altLang="en-US" i="0">
                          <a:latin typeface="Cambria Math" panose="02040503050406030204" pitchFamily="18" charset="0"/>
                        </a:rPr>
                        <m:t>j</m:t>
                      </m:r>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κ</m:t>
                          </m:r>
                        </m:e>
                        <m:sub>
                          <m:r>
                            <a:rPr lang="zh-TW" altLang="en-US" i="0">
                              <a:latin typeface="Cambria Math" panose="02040503050406030204" pitchFamily="18" charset="0"/>
                            </a:rPr>
                            <m:t>23</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𝑏</m:t>
                          </m:r>
                        </m:e>
                        <m:sub>
                          <m:r>
                            <a:rPr lang="zh-TW" altLang="en-US" i="0">
                              <a:latin typeface="Cambria Math" panose="02040503050406030204" pitchFamily="18" charset="0"/>
                            </a:rPr>
                            <m:t>2</m:t>
                          </m:r>
                        </m:sub>
                      </m:sSub>
                    </m:oMath>
                  </m:oMathPara>
                </a14:m>
                <a:endParaRPr lang="zh-TW" altLang="en-US" dirty="0"/>
              </a:p>
            </p:txBody>
          </p:sp>
        </mc:Choice>
        <mc:Fallback xmlns="">
          <p:sp>
            <p:nvSpPr>
              <p:cNvPr id="38" name="矩形 37"/>
              <p:cNvSpPr>
                <a:spLocks noRot="1" noChangeAspect="1" noMove="1" noResize="1" noEditPoints="1" noAdjustHandles="1" noChangeArrowheads="1" noChangeShapeType="1" noTextEdit="1"/>
              </p:cNvSpPr>
              <p:nvPr/>
            </p:nvSpPr>
            <p:spPr>
              <a:xfrm>
                <a:off x="499228" y="3040190"/>
                <a:ext cx="1687193" cy="618374"/>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矩形 38"/>
              <p:cNvSpPr/>
              <p:nvPr/>
            </p:nvSpPr>
            <p:spPr>
              <a:xfrm>
                <a:off x="487368" y="2421816"/>
                <a:ext cx="3463512" cy="6183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TW" altLang="en-US" i="1" smtClean="0">
                              <a:latin typeface="Cambria Math" panose="02040503050406030204" pitchFamily="18" charset="0"/>
                            </a:rPr>
                          </m:ctrlPr>
                        </m:fPr>
                        <m:num>
                          <m:r>
                            <m:rPr>
                              <m:sty m:val="p"/>
                            </m:rPr>
                            <a:rPr lang="zh-TW" altLang="en-US">
                              <a:latin typeface="Cambria Math" panose="02040503050406030204" pitchFamily="18" charset="0"/>
                            </a:rPr>
                            <m:t>d</m:t>
                          </m:r>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b</m:t>
                              </m:r>
                            </m:e>
                            <m:sub>
                              <m:r>
                                <a:rPr lang="en-US" altLang="zh-TW" b="0" i="0" smtClean="0">
                                  <a:latin typeface="Cambria Math" panose="02040503050406030204" pitchFamily="18" charset="0"/>
                                </a:rPr>
                                <m:t>2</m:t>
                              </m:r>
                            </m:sub>
                          </m:sSub>
                        </m:num>
                        <m:den>
                          <m:r>
                            <m:rPr>
                              <m:sty m:val="p"/>
                            </m:rPr>
                            <a:rPr lang="zh-TW" altLang="en-US">
                              <a:latin typeface="Cambria Math" panose="02040503050406030204" pitchFamily="18" charset="0"/>
                            </a:rPr>
                            <m:t>dx</m:t>
                          </m:r>
                        </m:den>
                      </m:f>
                      <m:r>
                        <a:rPr lang="zh-TW" altLang="en-US">
                          <a:latin typeface="Cambria Math" panose="02040503050406030204" pitchFamily="18" charset="0"/>
                        </a:rPr>
                        <m:t>=−</m:t>
                      </m:r>
                      <m:r>
                        <m:rPr>
                          <m:sty m:val="p"/>
                        </m:rPr>
                        <a:rPr lang="zh-TW" altLang="en-US">
                          <a:latin typeface="Cambria Math" panose="02040503050406030204" pitchFamily="18" charset="0"/>
                        </a:rPr>
                        <m:t>j</m:t>
                      </m:r>
                      <m:r>
                        <a:rPr lang="en-US" altLang="zh-TW" b="0" i="0" smtClean="0">
                          <a:latin typeface="Cambria Math" panose="02040503050406030204" pitchFamily="18" charset="0"/>
                        </a:rPr>
                        <m:t>(</m:t>
                      </m:r>
                      <m:r>
                        <a:rPr lang="en-US" altLang="zh-TW">
                          <a:latin typeface="Cambria Math" panose="02040503050406030204" pitchFamily="18" charset="0"/>
                          <a:ea typeface="標楷體" panose="03000509000000000000" pitchFamily="65" charset="-120"/>
                          <a:cs typeface="Times New Roman" panose="02020603050405020304" pitchFamily="18" charset="0"/>
                        </a:rPr>
                        <m:t>∆</m:t>
                      </m:r>
                      <m:r>
                        <m:rPr>
                          <m:sty m:val="p"/>
                        </m:rPr>
                        <a:rPr lang="en-US" altLang="zh-TW">
                          <a:latin typeface="Cambria Math" panose="02040503050406030204" pitchFamily="18" charset="0"/>
                          <a:ea typeface="標楷體" panose="03000509000000000000" pitchFamily="65" charset="-120"/>
                          <a:cs typeface="Times New Roman" panose="02020603050405020304" pitchFamily="18" charset="0"/>
                        </a:rPr>
                        <m:t>β</m:t>
                      </m:r>
                      <m:sSub>
                        <m:sSubPr>
                          <m:ctrlPr>
                            <a:rPr lang="zh-TW"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𝑏</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2</m:t>
                          </m:r>
                        </m:sub>
                      </m:sSub>
                      <m:r>
                        <a:rPr lang="en-US" altLang="zh-TW">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i="1">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TW">
                              <a:latin typeface="Cambria Math" panose="02040503050406030204" pitchFamily="18" charset="0"/>
                              <a:ea typeface="標楷體" panose="03000509000000000000" pitchFamily="65" charset="-120"/>
                              <a:cs typeface="Times New Roman" panose="02020603050405020304" pitchFamily="18" charset="0"/>
                            </a:rPr>
                            <m:t>κ</m:t>
                          </m:r>
                        </m:e>
                        <m:sub>
                          <m:r>
                            <a:rPr lang="en-US" altLang="zh-TW">
                              <a:latin typeface="Cambria Math" panose="02040503050406030204" pitchFamily="18" charset="0"/>
                              <a:ea typeface="標楷體" panose="03000509000000000000" pitchFamily="65" charset="-120"/>
                              <a:cs typeface="Times New Roman" panose="02020603050405020304" pitchFamily="18" charset="0"/>
                            </a:rPr>
                            <m:t>12</m:t>
                          </m:r>
                        </m:sub>
                      </m:sSub>
                      <m:sSub>
                        <m:sSubPr>
                          <m:ctrlPr>
                            <a:rPr lang="zh-TW"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𝑏</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i="1">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TW">
                              <a:latin typeface="Cambria Math" panose="02040503050406030204" pitchFamily="18" charset="0"/>
                              <a:ea typeface="標楷體" panose="03000509000000000000" pitchFamily="65" charset="-120"/>
                              <a:cs typeface="Times New Roman" panose="02020603050405020304" pitchFamily="18" charset="0"/>
                            </a:rPr>
                            <m:t>κ</m:t>
                          </m:r>
                        </m:e>
                        <m:sub>
                          <m:r>
                            <a:rPr lang="en-US" altLang="zh-TW">
                              <a:latin typeface="Cambria Math" panose="02040503050406030204" pitchFamily="18" charset="0"/>
                              <a:ea typeface="標楷體" panose="03000509000000000000" pitchFamily="65" charset="-120"/>
                              <a:cs typeface="Times New Roman" panose="02020603050405020304" pitchFamily="18" charset="0"/>
                            </a:rPr>
                            <m:t>23</m:t>
                          </m:r>
                        </m:sub>
                      </m:sSub>
                      <m:sSub>
                        <m:sSubPr>
                          <m:ctrlPr>
                            <a:rPr lang="zh-TW"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𝑏</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3</m:t>
                          </m:r>
                        </m:sub>
                      </m:sSub>
                      <m:r>
                        <a:rPr lang="en-US" altLang="zh-TW" b="0" i="1" smtClean="0">
                          <a:latin typeface="Cambria Math" panose="02040503050406030204" pitchFamily="18" charset="0"/>
                        </a:rPr>
                        <m:t>)</m:t>
                      </m:r>
                    </m:oMath>
                  </m:oMathPara>
                </a14:m>
                <a:endParaRPr lang="zh-TW" altLang="en-US" dirty="0"/>
              </a:p>
            </p:txBody>
          </p:sp>
        </mc:Choice>
        <mc:Fallback xmlns="">
          <p:sp>
            <p:nvSpPr>
              <p:cNvPr id="39" name="矩形 38"/>
              <p:cNvSpPr>
                <a:spLocks noRot="1" noChangeAspect="1" noMove="1" noResize="1" noEditPoints="1" noAdjustHandles="1" noChangeArrowheads="1" noChangeShapeType="1" noTextEdit="1"/>
              </p:cNvSpPr>
              <p:nvPr/>
            </p:nvSpPr>
            <p:spPr>
              <a:xfrm>
                <a:off x="487368" y="2421816"/>
                <a:ext cx="3463512" cy="618374"/>
              </a:xfrm>
              <a:prstGeom prst="rect">
                <a:avLst/>
              </a:prstGeom>
              <a:blipFill>
                <a:blip r:embed="rId11"/>
                <a:stretch>
                  <a:fillRect/>
                </a:stretch>
              </a:blipFill>
            </p:spPr>
            <p:txBody>
              <a:bodyPr/>
              <a:lstStyle/>
              <a:p>
                <a:r>
                  <a:rPr lang="zh-TW" altLang="en-US">
                    <a:noFill/>
                  </a:rPr>
                  <a:t> </a:t>
                </a:r>
              </a:p>
            </p:txBody>
          </p:sp>
        </mc:Fallback>
      </mc:AlternateContent>
      <p:sp>
        <p:nvSpPr>
          <p:cNvPr id="24" name="文字方塊 23"/>
          <p:cNvSpPr txBox="1"/>
          <p:nvPr/>
        </p:nvSpPr>
        <p:spPr>
          <a:xfrm>
            <a:off x="499228" y="3908370"/>
            <a:ext cx="2236510"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D</a:t>
            </a:r>
            <a:r>
              <a:rPr lang="en-US" altLang="zh-TW" dirty="0" smtClean="0">
                <a:latin typeface="Times New Roman" panose="02020603050405020304" pitchFamily="18" charset="0"/>
                <a:cs typeface="Times New Roman" panose="02020603050405020304" pitchFamily="18" charset="0"/>
              </a:rPr>
              <a:t>escription </a:t>
            </a:r>
            <a:r>
              <a:rPr lang="en-US" altLang="zh-TW" dirty="0">
                <a:latin typeface="Times New Roman" panose="02020603050405020304" pitchFamily="18" charset="0"/>
                <a:cs typeface="Times New Roman" panose="02020603050405020304" pitchFamily="18" charset="0"/>
              </a:rPr>
              <a:t>of m</a:t>
            </a:r>
            <a:r>
              <a:rPr lang="en-US" altLang="zh-TW" dirty="0" smtClean="0">
                <a:latin typeface="Times New Roman" panose="02020603050405020304" pitchFamily="18" charset="0"/>
                <a:cs typeface="Times New Roman" panose="02020603050405020304" pitchFamily="18" charset="0"/>
              </a:rPr>
              <a:t>atrix:</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 name="矩形 39"/>
              <p:cNvSpPr/>
              <p:nvPr/>
            </p:nvSpPr>
            <p:spPr>
              <a:xfrm>
                <a:off x="4783353" y="2116470"/>
                <a:ext cx="120872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latin typeface="Cambria Math" panose="02040503050406030204" pitchFamily="18" charset="0"/>
                            </a:rPr>
                          </m:ctrlPr>
                        </m:sSubPr>
                        <m:e>
                          <m:r>
                            <m:rPr>
                              <m:sty m:val="p"/>
                            </m:rPr>
                            <a:rPr lang="zh-TW" altLang="en-US">
                              <a:latin typeface="Cambria Math" panose="02040503050406030204" pitchFamily="18" charset="0"/>
                            </a:rPr>
                            <m:t>λ</m:t>
                          </m:r>
                        </m:e>
                        <m:sub>
                          <m:r>
                            <a:rPr lang="zh-TW" altLang="en-US" i="0">
                              <a:latin typeface="Cambria Math" panose="02040503050406030204" pitchFamily="18" charset="0"/>
                            </a:rPr>
                            <m:t>0</m:t>
                          </m:r>
                        </m:sub>
                      </m:sSub>
                      <m:d>
                        <m:dPr>
                          <m:ctrlPr>
                            <a:rPr lang="zh-TW" altLang="en-US" i="1">
                              <a:latin typeface="Cambria Math" panose="02040503050406030204" pitchFamily="18" charset="0"/>
                            </a:rPr>
                          </m:ctrlPr>
                        </m:dPr>
                        <m:e>
                          <m:r>
                            <a:rPr lang="zh-TW" altLang="en-US" i="1">
                              <a:latin typeface="Cambria Math" panose="02040503050406030204" pitchFamily="18" charset="0"/>
                            </a:rPr>
                            <m:t>𝑥</m:t>
                          </m:r>
                        </m:e>
                      </m:d>
                      <m:r>
                        <a:rPr lang="zh-TW" altLang="en-US" i="0">
                          <a:latin typeface="Cambria Math" panose="02040503050406030204" pitchFamily="18" charset="0"/>
                        </a:rPr>
                        <m:t>=0</m:t>
                      </m:r>
                    </m:oMath>
                  </m:oMathPara>
                </a14:m>
                <a:endParaRPr lang="zh-TW" altLang="en-US" dirty="0"/>
              </a:p>
            </p:txBody>
          </p:sp>
        </mc:Choice>
        <mc:Fallback xmlns="">
          <p:sp>
            <p:nvSpPr>
              <p:cNvPr id="40" name="矩形 39"/>
              <p:cNvSpPr>
                <a:spLocks noRot="1" noChangeAspect="1" noMove="1" noResize="1" noEditPoints="1" noAdjustHandles="1" noChangeArrowheads="1" noChangeShapeType="1" noTextEdit="1"/>
              </p:cNvSpPr>
              <p:nvPr/>
            </p:nvSpPr>
            <p:spPr>
              <a:xfrm>
                <a:off x="4783353" y="2116470"/>
                <a:ext cx="1208728" cy="369332"/>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矩形 40"/>
              <p:cNvSpPr/>
              <p:nvPr/>
            </p:nvSpPr>
            <p:spPr>
              <a:xfrm>
                <a:off x="4804620" y="2512078"/>
                <a:ext cx="3943515" cy="7639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λ</m:t>
                          </m:r>
                        </m:e>
                        <m:sub>
                          <m:r>
                            <a:rPr lang="zh-TW" altLang="en-US" i="0">
                              <a:latin typeface="Cambria Math" panose="02040503050406030204" pitchFamily="18" charset="0"/>
                            </a:rPr>
                            <m:t>+</m:t>
                          </m:r>
                        </m:sub>
                      </m:sSub>
                      <m:d>
                        <m:dPr>
                          <m:ctrlPr>
                            <a:rPr lang="zh-TW" altLang="en-US" i="1">
                              <a:latin typeface="Cambria Math" panose="02040503050406030204" pitchFamily="18" charset="0"/>
                            </a:rPr>
                          </m:ctrlPr>
                        </m:dPr>
                        <m:e>
                          <m:r>
                            <a:rPr lang="zh-TW" altLang="en-US" i="1">
                              <a:latin typeface="Cambria Math" panose="02040503050406030204" pitchFamily="18" charset="0"/>
                            </a:rPr>
                            <m:t>𝑥</m:t>
                          </m:r>
                        </m:e>
                      </m:d>
                      <m:r>
                        <a:rPr lang="zh-TW" altLang="en-US" i="0">
                          <a:latin typeface="Cambria Math" panose="02040503050406030204" pitchFamily="18" charset="0"/>
                        </a:rPr>
                        <m:t>=</m:t>
                      </m:r>
                      <m:f>
                        <m:fPr>
                          <m:ctrlPr>
                            <a:rPr lang="zh-TW" altLang="en-US" i="1">
                              <a:latin typeface="Cambria Math" panose="02040503050406030204" pitchFamily="18" charset="0"/>
                            </a:rPr>
                          </m:ctrlPr>
                        </m:fPr>
                        <m:num>
                          <m:d>
                            <m:dPr>
                              <m:begChr m:val=""/>
                              <m:ctrlPr>
                                <a:rPr lang="zh-TW" altLang="en-US" i="1">
                                  <a:latin typeface="Cambria Math" panose="02040503050406030204" pitchFamily="18" charset="0"/>
                                </a:rPr>
                              </m:ctrlPr>
                            </m:dPr>
                            <m:e>
                              <m:r>
                                <a:rPr lang="zh-TW" altLang="en-US" i="0">
                                  <a:latin typeface="Cambria Math" panose="02040503050406030204" pitchFamily="18" charset="0"/>
                                </a:rPr>
                                <m:t>∆</m:t>
                              </m:r>
                              <m:r>
                                <m:rPr>
                                  <m:sty m:val="p"/>
                                </m:rPr>
                                <a:rPr lang="zh-TW" altLang="en-US" i="0">
                                  <a:latin typeface="Cambria Math" panose="02040503050406030204" pitchFamily="18" charset="0"/>
                                </a:rPr>
                                <m:t>β</m:t>
                              </m:r>
                              <m:r>
                                <a:rPr lang="zh-TW" altLang="en-US" i="0">
                                  <a:latin typeface="Cambria Math" panose="02040503050406030204" pitchFamily="18" charset="0"/>
                                </a:rPr>
                                <m:t>+</m:t>
                              </m:r>
                              <m:rad>
                                <m:radPr>
                                  <m:degHide m:val="on"/>
                                  <m:ctrlPr>
                                    <a:rPr lang="zh-TW" altLang="en-US" i="1">
                                      <a:latin typeface="Cambria Math" panose="02040503050406030204" pitchFamily="18" charset="0"/>
                                    </a:rPr>
                                  </m:ctrlPr>
                                </m:radPr>
                                <m:deg/>
                                <m:e>
                                  <m:sSup>
                                    <m:sSupPr>
                                      <m:ctrlPr>
                                        <a:rPr lang="zh-TW" altLang="en-US" i="1">
                                          <a:latin typeface="Cambria Math" panose="02040503050406030204" pitchFamily="18" charset="0"/>
                                        </a:rPr>
                                      </m:ctrlPr>
                                    </m:sSupPr>
                                    <m:e>
                                      <m:r>
                                        <a:rPr lang="zh-TW" altLang="en-US" i="0">
                                          <a:latin typeface="Cambria Math" panose="02040503050406030204" pitchFamily="18" charset="0"/>
                                        </a:rPr>
                                        <m:t>∆</m:t>
                                      </m:r>
                                      <m:r>
                                        <m:rPr>
                                          <m:sty m:val="p"/>
                                        </m:rPr>
                                        <a:rPr lang="zh-TW" altLang="en-US" i="0">
                                          <a:latin typeface="Cambria Math" panose="02040503050406030204" pitchFamily="18" charset="0"/>
                                        </a:rPr>
                                        <m:t>β</m:t>
                                      </m:r>
                                    </m:e>
                                    <m:sup>
                                      <m:r>
                                        <a:rPr lang="zh-TW" altLang="en-US" i="0">
                                          <a:latin typeface="Cambria Math" panose="02040503050406030204" pitchFamily="18" charset="0"/>
                                        </a:rPr>
                                        <m:t>2</m:t>
                                      </m:r>
                                    </m:sup>
                                  </m:sSup>
                                  <m:r>
                                    <a:rPr lang="zh-TW" altLang="en-US" i="0">
                                      <a:latin typeface="Cambria Math" panose="02040503050406030204" pitchFamily="18" charset="0"/>
                                    </a:rPr>
                                    <m:t>+4(</m:t>
                                  </m:r>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κ</m:t>
                                          </m:r>
                                        </m:e>
                                        <m:sub>
                                          <m:r>
                                            <a:rPr lang="zh-TW" altLang="en-US" i="0">
                                              <a:latin typeface="Cambria Math" panose="02040503050406030204" pitchFamily="18" charset="0"/>
                                            </a:rPr>
                                            <m:t>12</m:t>
                                          </m:r>
                                        </m:sub>
                                      </m:sSub>
                                    </m:e>
                                    <m:sup>
                                      <m:r>
                                        <a:rPr lang="zh-TW" altLang="en-US" i="0">
                                          <a:latin typeface="Cambria Math" panose="02040503050406030204" pitchFamily="18" charset="0"/>
                                        </a:rPr>
                                        <m:t>2</m:t>
                                      </m:r>
                                    </m:sup>
                                  </m:sSup>
                                  <m:r>
                                    <a:rPr lang="zh-TW" altLang="en-US" i="0">
                                      <a:latin typeface="Cambria Math" panose="02040503050406030204" pitchFamily="18" charset="0"/>
                                    </a:rPr>
                                    <m:t>+</m:t>
                                  </m:r>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κ</m:t>
                                          </m:r>
                                        </m:e>
                                        <m:sub>
                                          <m:r>
                                            <a:rPr lang="zh-TW" altLang="en-US" i="0">
                                              <a:latin typeface="Cambria Math" panose="02040503050406030204" pitchFamily="18" charset="0"/>
                                            </a:rPr>
                                            <m:t>23</m:t>
                                          </m:r>
                                        </m:sub>
                                      </m:sSub>
                                    </m:e>
                                    <m:sup>
                                      <m:r>
                                        <a:rPr lang="zh-TW" altLang="en-US" i="0">
                                          <a:latin typeface="Cambria Math" panose="02040503050406030204" pitchFamily="18" charset="0"/>
                                        </a:rPr>
                                        <m:t>2</m:t>
                                      </m:r>
                                    </m:sup>
                                  </m:sSup>
                                </m:e>
                              </m:rad>
                            </m:e>
                          </m:d>
                        </m:num>
                        <m:den>
                          <m:r>
                            <a:rPr lang="zh-TW" altLang="en-US" i="0">
                              <a:latin typeface="Cambria Math" panose="02040503050406030204" pitchFamily="18" charset="0"/>
                            </a:rPr>
                            <m:t>2</m:t>
                          </m:r>
                        </m:den>
                      </m:f>
                    </m:oMath>
                  </m:oMathPara>
                </a14:m>
                <a:endParaRPr lang="zh-TW" altLang="en-US" dirty="0"/>
              </a:p>
            </p:txBody>
          </p:sp>
        </mc:Choice>
        <mc:Fallback xmlns="">
          <p:sp>
            <p:nvSpPr>
              <p:cNvPr id="41" name="矩形 40"/>
              <p:cNvSpPr>
                <a:spLocks noRot="1" noChangeAspect="1" noMove="1" noResize="1" noEditPoints="1" noAdjustHandles="1" noChangeArrowheads="1" noChangeShapeType="1" noTextEdit="1"/>
              </p:cNvSpPr>
              <p:nvPr/>
            </p:nvSpPr>
            <p:spPr>
              <a:xfrm>
                <a:off x="4804620" y="2512078"/>
                <a:ext cx="3943515" cy="763992"/>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矩形 41"/>
              <p:cNvSpPr/>
              <p:nvPr/>
            </p:nvSpPr>
            <p:spPr>
              <a:xfrm>
                <a:off x="4804619" y="3384140"/>
                <a:ext cx="3943515" cy="7639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λ</m:t>
                          </m:r>
                        </m:e>
                        <m:sub>
                          <m:r>
                            <a:rPr lang="zh-TW" altLang="en-US" i="0">
                              <a:latin typeface="Cambria Math" panose="02040503050406030204" pitchFamily="18" charset="0"/>
                            </a:rPr>
                            <m:t>−</m:t>
                          </m:r>
                        </m:sub>
                      </m:sSub>
                      <m:d>
                        <m:dPr>
                          <m:ctrlPr>
                            <a:rPr lang="zh-TW" altLang="en-US" i="1">
                              <a:latin typeface="Cambria Math" panose="02040503050406030204" pitchFamily="18" charset="0"/>
                            </a:rPr>
                          </m:ctrlPr>
                        </m:dPr>
                        <m:e>
                          <m:r>
                            <a:rPr lang="zh-TW" altLang="en-US" i="1">
                              <a:latin typeface="Cambria Math" panose="02040503050406030204" pitchFamily="18" charset="0"/>
                            </a:rPr>
                            <m:t>𝑥</m:t>
                          </m:r>
                        </m:e>
                      </m:d>
                      <m:r>
                        <a:rPr lang="zh-TW" altLang="en-US" i="0">
                          <a:latin typeface="Cambria Math" panose="02040503050406030204" pitchFamily="18" charset="0"/>
                        </a:rPr>
                        <m:t>=</m:t>
                      </m:r>
                      <m:f>
                        <m:fPr>
                          <m:ctrlPr>
                            <a:rPr lang="zh-TW" altLang="en-US" i="1">
                              <a:latin typeface="Cambria Math" panose="02040503050406030204" pitchFamily="18" charset="0"/>
                            </a:rPr>
                          </m:ctrlPr>
                        </m:fPr>
                        <m:num>
                          <m:d>
                            <m:dPr>
                              <m:begChr m:val=""/>
                              <m:ctrlPr>
                                <a:rPr lang="zh-TW" altLang="en-US" i="1">
                                  <a:latin typeface="Cambria Math" panose="02040503050406030204" pitchFamily="18" charset="0"/>
                                </a:rPr>
                              </m:ctrlPr>
                            </m:dPr>
                            <m:e>
                              <m:r>
                                <a:rPr lang="zh-TW" altLang="en-US" i="0">
                                  <a:latin typeface="Cambria Math" panose="02040503050406030204" pitchFamily="18" charset="0"/>
                                </a:rPr>
                                <m:t>∆</m:t>
                              </m:r>
                              <m:r>
                                <m:rPr>
                                  <m:sty m:val="p"/>
                                </m:rPr>
                                <a:rPr lang="zh-TW" altLang="en-US" i="0">
                                  <a:latin typeface="Cambria Math" panose="02040503050406030204" pitchFamily="18" charset="0"/>
                                </a:rPr>
                                <m:t>β</m:t>
                              </m:r>
                              <m:r>
                                <a:rPr lang="zh-TW" altLang="en-US" i="0">
                                  <a:latin typeface="Cambria Math" panose="02040503050406030204" pitchFamily="18" charset="0"/>
                                </a:rPr>
                                <m:t>−</m:t>
                              </m:r>
                              <m:rad>
                                <m:radPr>
                                  <m:degHide m:val="on"/>
                                  <m:ctrlPr>
                                    <a:rPr lang="zh-TW" altLang="en-US" i="1">
                                      <a:latin typeface="Cambria Math" panose="02040503050406030204" pitchFamily="18" charset="0"/>
                                    </a:rPr>
                                  </m:ctrlPr>
                                </m:radPr>
                                <m:deg/>
                                <m:e>
                                  <m:sSup>
                                    <m:sSupPr>
                                      <m:ctrlPr>
                                        <a:rPr lang="zh-TW" altLang="en-US" i="1">
                                          <a:latin typeface="Cambria Math" panose="02040503050406030204" pitchFamily="18" charset="0"/>
                                        </a:rPr>
                                      </m:ctrlPr>
                                    </m:sSupPr>
                                    <m:e>
                                      <m:r>
                                        <a:rPr lang="zh-TW" altLang="en-US" i="0">
                                          <a:latin typeface="Cambria Math" panose="02040503050406030204" pitchFamily="18" charset="0"/>
                                        </a:rPr>
                                        <m:t>∆</m:t>
                                      </m:r>
                                      <m:r>
                                        <m:rPr>
                                          <m:sty m:val="p"/>
                                        </m:rPr>
                                        <a:rPr lang="zh-TW" altLang="en-US" i="0">
                                          <a:latin typeface="Cambria Math" panose="02040503050406030204" pitchFamily="18" charset="0"/>
                                        </a:rPr>
                                        <m:t>β</m:t>
                                      </m:r>
                                    </m:e>
                                    <m:sup>
                                      <m:r>
                                        <a:rPr lang="zh-TW" altLang="en-US" i="0">
                                          <a:latin typeface="Cambria Math" panose="02040503050406030204" pitchFamily="18" charset="0"/>
                                        </a:rPr>
                                        <m:t>2</m:t>
                                      </m:r>
                                    </m:sup>
                                  </m:sSup>
                                  <m:r>
                                    <a:rPr lang="zh-TW" altLang="en-US" i="0">
                                      <a:latin typeface="Cambria Math" panose="02040503050406030204" pitchFamily="18" charset="0"/>
                                    </a:rPr>
                                    <m:t>+4(</m:t>
                                  </m:r>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κ</m:t>
                                          </m:r>
                                        </m:e>
                                        <m:sub>
                                          <m:r>
                                            <a:rPr lang="zh-TW" altLang="en-US" i="0">
                                              <a:latin typeface="Cambria Math" panose="02040503050406030204" pitchFamily="18" charset="0"/>
                                            </a:rPr>
                                            <m:t>12</m:t>
                                          </m:r>
                                        </m:sub>
                                      </m:sSub>
                                    </m:e>
                                    <m:sup>
                                      <m:r>
                                        <a:rPr lang="zh-TW" altLang="en-US" i="0">
                                          <a:latin typeface="Cambria Math" panose="02040503050406030204" pitchFamily="18" charset="0"/>
                                        </a:rPr>
                                        <m:t>2</m:t>
                                      </m:r>
                                    </m:sup>
                                  </m:sSup>
                                  <m:r>
                                    <a:rPr lang="zh-TW" altLang="en-US" i="0">
                                      <a:latin typeface="Cambria Math" panose="02040503050406030204" pitchFamily="18" charset="0"/>
                                    </a:rPr>
                                    <m:t>+</m:t>
                                  </m:r>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κ</m:t>
                                          </m:r>
                                        </m:e>
                                        <m:sub>
                                          <m:r>
                                            <a:rPr lang="zh-TW" altLang="en-US" i="0">
                                              <a:latin typeface="Cambria Math" panose="02040503050406030204" pitchFamily="18" charset="0"/>
                                            </a:rPr>
                                            <m:t>23</m:t>
                                          </m:r>
                                        </m:sub>
                                      </m:sSub>
                                    </m:e>
                                    <m:sup>
                                      <m:r>
                                        <a:rPr lang="zh-TW" altLang="en-US" i="0">
                                          <a:latin typeface="Cambria Math" panose="02040503050406030204" pitchFamily="18" charset="0"/>
                                        </a:rPr>
                                        <m:t>2</m:t>
                                      </m:r>
                                    </m:sup>
                                  </m:sSup>
                                </m:e>
                              </m:rad>
                            </m:e>
                          </m:d>
                        </m:num>
                        <m:den>
                          <m:r>
                            <a:rPr lang="zh-TW" altLang="en-US" i="0">
                              <a:latin typeface="Cambria Math" panose="02040503050406030204" pitchFamily="18" charset="0"/>
                            </a:rPr>
                            <m:t>2</m:t>
                          </m:r>
                        </m:den>
                      </m:f>
                    </m:oMath>
                  </m:oMathPara>
                </a14:m>
                <a:endParaRPr lang="zh-TW" altLang="en-US" dirty="0"/>
              </a:p>
            </p:txBody>
          </p:sp>
        </mc:Choice>
        <mc:Fallback xmlns="">
          <p:sp>
            <p:nvSpPr>
              <p:cNvPr id="42" name="矩形 41"/>
              <p:cNvSpPr>
                <a:spLocks noRot="1" noChangeAspect="1" noMove="1" noResize="1" noEditPoints="1" noAdjustHandles="1" noChangeArrowheads="1" noChangeShapeType="1" noTextEdit="1"/>
              </p:cNvSpPr>
              <p:nvPr/>
            </p:nvSpPr>
            <p:spPr>
              <a:xfrm>
                <a:off x="4804619" y="3384140"/>
                <a:ext cx="3943515" cy="763992"/>
              </a:xfrm>
              <a:prstGeom prst="rect">
                <a:avLst/>
              </a:prstGeom>
              <a:blipFill>
                <a:blip r:embed="rId14"/>
                <a:stretch>
                  <a:fillRect/>
                </a:stretch>
              </a:blipFill>
            </p:spPr>
            <p:txBody>
              <a:bodyPr/>
              <a:lstStyle/>
              <a:p>
                <a:r>
                  <a:rPr lang="zh-TW" altLang="en-US">
                    <a:noFill/>
                  </a:rPr>
                  <a:t> </a:t>
                </a:r>
              </a:p>
            </p:txBody>
          </p:sp>
        </mc:Fallback>
      </mc:AlternateContent>
      <p:sp>
        <p:nvSpPr>
          <p:cNvPr id="43" name="矩形 42"/>
          <p:cNvSpPr/>
          <p:nvPr/>
        </p:nvSpPr>
        <p:spPr>
          <a:xfrm>
            <a:off x="4760301" y="1620623"/>
            <a:ext cx="1345240" cy="369332"/>
          </a:xfrm>
          <a:prstGeom prst="rect">
            <a:avLst/>
          </a:prstGeom>
        </p:spPr>
        <p:txBody>
          <a:bodyPr wrap="none">
            <a:spAutoFit/>
          </a:bodyPr>
          <a:lstStyle/>
          <a:p>
            <a:r>
              <a:rPr lang="en-US" altLang="zh-TW" dirty="0" smtClean="0">
                <a:latin typeface="Times New Roman" panose="02020603050405020304" pitchFamily="18" charset="0"/>
                <a:cs typeface="Times New Roman" panose="02020603050405020304" pitchFamily="18" charset="0"/>
              </a:rPr>
              <a:t>Eigen value:</a:t>
            </a:r>
            <a:endParaRPr lang="zh-TW" altLang="en-US" dirty="0"/>
          </a:p>
        </p:txBody>
      </p:sp>
      <mc:AlternateContent xmlns:mc="http://schemas.openxmlformats.org/markup-compatibility/2006" xmlns:a14="http://schemas.microsoft.com/office/drawing/2010/main">
        <mc:Choice Requires="a14">
          <p:sp>
            <p:nvSpPr>
              <p:cNvPr id="44" name="矩形 43"/>
              <p:cNvSpPr/>
              <p:nvPr/>
            </p:nvSpPr>
            <p:spPr>
              <a:xfrm>
                <a:off x="4804619" y="4700489"/>
                <a:ext cx="2256580" cy="7146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TW" altLang="en-US" smtClean="0">
                          <a:latin typeface="Cambria Math" panose="02040503050406030204" pitchFamily="18" charset="0"/>
                        </a:rPr>
                        <m:t>ϑ</m:t>
                      </m:r>
                      <m:d>
                        <m:dPr>
                          <m:ctrlPr>
                            <a:rPr lang="zh-TW" altLang="en-US" i="1">
                              <a:latin typeface="Cambria Math" panose="02040503050406030204" pitchFamily="18" charset="0"/>
                            </a:rPr>
                          </m:ctrlPr>
                        </m:dPr>
                        <m:e>
                          <m:r>
                            <a:rPr lang="zh-TW" altLang="en-US" i="1">
                              <a:latin typeface="Cambria Math" panose="02040503050406030204" pitchFamily="18" charset="0"/>
                            </a:rPr>
                            <m:t>𝑥</m:t>
                          </m:r>
                        </m:e>
                      </m:d>
                      <m:r>
                        <a:rPr lang="zh-TW" altLang="en-US" i="0">
                          <a:latin typeface="Cambria Math" panose="02040503050406030204" pitchFamily="18" charset="0"/>
                        </a:rPr>
                        <m:t>=</m:t>
                      </m:r>
                      <m:r>
                        <m:rPr>
                          <m:sty m:val="p"/>
                        </m:rPr>
                        <a:rPr lang="zh-TW" altLang="en-US" i="0">
                          <a:latin typeface="Cambria Math" panose="02040503050406030204" pitchFamily="18" charset="0"/>
                        </a:rPr>
                        <m:t>arcta</m:t>
                      </m:r>
                      <m:r>
                        <a:rPr lang="en-US" altLang="zh-TW" b="0" i="1" smtClean="0">
                          <a:latin typeface="Cambria Math" panose="02040503050406030204" pitchFamily="18" charset="0"/>
                        </a:rPr>
                        <m:t>𝑛</m:t>
                      </m:r>
                      <m:d>
                        <m:dPr>
                          <m:ctrlPr>
                            <a:rPr lang="zh-TW" altLang="en-US" i="1">
                              <a:latin typeface="Cambria Math" panose="02040503050406030204" pitchFamily="18" charset="0"/>
                            </a:rPr>
                          </m:ctrlPr>
                        </m:dPr>
                        <m:e>
                          <m:f>
                            <m:fPr>
                              <m:ctrlPr>
                                <a:rPr lang="zh-TW" altLang="en-US" i="1">
                                  <a:latin typeface="Cambria Math" panose="02040503050406030204" pitchFamily="18" charset="0"/>
                                </a:rPr>
                              </m:ctrlPr>
                            </m:fPr>
                            <m:num>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κ</m:t>
                                  </m:r>
                                </m:e>
                                <m:sub>
                                  <m:r>
                                    <a:rPr lang="zh-TW" altLang="en-US">
                                      <a:latin typeface="Cambria Math" panose="02040503050406030204" pitchFamily="18" charset="0"/>
                                    </a:rPr>
                                    <m:t>12</m:t>
                                  </m:r>
                                </m:sub>
                              </m:sSub>
                            </m:num>
                            <m:den>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κ</m:t>
                                  </m:r>
                                </m:e>
                                <m:sub>
                                  <m:r>
                                    <a:rPr lang="zh-TW" altLang="en-US">
                                      <a:latin typeface="Cambria Math" panose="02040503050406030204" pitchFamily="18" charset="0"/>
                                    </a:rPr>
                                    <m:t>23</m:t>
                                  </m:r>
                                </m:sub>
                              </m:sSub>
                            </m:den>
                          </m:f>
                        </m:e>
                      </m:d>
                    </m:oMath>
                  </m:oMathPara>
                </a14:m>
                <a:endParaRPr lang="zh-TW" altLang="en-US" dirty="0"/>
              </a:p>
            </p:txBody>
          </p:sp>
        </mc:Choice>
        <mc:Fallback xmlns="">
          <p:sp>
            <p:nvSpPr>
              <p:cNvPr id="44" name="矩形 43"/>
              <p:cNvSpPr>
                <a:spLocks noRot="1" noChangeAspect="1" noMove="1" noResize="1" noEditPoints="1" noAdjustHandles="1" noChangeArrowheads="1" noChangeShapeType="1" noTextEdit="1"/>
              </p:cNvSpPr>
              <p:nvPr/>
            </p:nvSpPr>
            <p:spPr>
              <a:xfrm>
                <a:off x="4804619" y="4700489"/>
                <a:ext cx="2256580" cy="714683"/>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矩形 44"/>
              <p:cNvSpPr/>
              <p:nvPr/>
            </p:nvSpPr>
            <p:spPr>
              <a:xfrm>
                <a:off x="7105216" y="4689013"/>
                <a:ext cx="3285836" cy="720903"/>
              </a:xfrm>
              <a:prstGeom prst="rect">
                <a:avLst/>
              </a:prstGeom>
            </p:spPr>
            <p:txBody>
              <a:bodyPr wrap="none">
                <a:spAutoFit/>
              </a:bodyPr>
              <a:lstStyle/>
              <a:p>
                <a14:m>
                  <m:oMath xmlns:m="http://schemas.openxmlformats.org/officeDocument/2006/math">
                    <m:r>
                      <m:rPr>
                        <m:sty m:val="p"/>
                      </m:rPr>
                      <a:rPr lang="zh-TW" altLang="en-US" smtClean="0">
                        <a:latin typeface="Cambria Math" panose="02040503050406030204" pitchFamily="18" charset="0"/>
                      </a:rPr>
                      <m:t>φ</m:t>
                    </m:r>
                    <m:d>
                      <m:dPr>
                        <m:ctrlPr>
                          <a:rPr lang="zh-TW" altLang="en-US" i="1">
                            <a:latin typeface="Cambria Math" panose="02040503050406030204" pitchFamily="18" charset="0"/>
                          </a:rPr>
                        </m:ctrlPr>
                      </m:dPr>
                      <m:e>
                        <m:r>
                          <a:rPr lang="zh-TW" altLang="en-US" i="1">
                            <a:latin typeface="Cambria Math" panose="02040503050406030204" pitchFamily="18" charset="0"/>
                          </a:rPr>
                          <m:t>𝑥</m:t>
                        </m:r>
                      </m:e>
                    </m:d>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1</m:t>
                        </m:r>
                      </m:num>
                      <m:den>
                        <m:r>
                          <a:rPr lang="zh-TW" altLang="en-US" i="0">
                            <a:latin typeface="Cambria Math" panose="02040503050406030204" pitchFamily="18" charset="0"/>
                          </a:rPr>
                          <m:t>2</m:t>
                        </m:r>
                      </m:den>
                    </m:f>
                    <m:r>
                      <m:rPr>
                        <m:sty m:val="p"/>
                      </m:rPr>
                      <a:rPr lang="zh-TW" altLang="en-US" i="0">
                        <a:latin typeface="Cambria Math" panose="02040503050406030204" pitchFamily="18" charset="0"/>
                      </a:rPr>
                      <m:t>arcta</m:t>
                    </m:r>
                    <m:r>
                      <a:rPr lang="en-US" altLang="zh-TW" b="0" i="1" smtClean="0">
                        <a:latin typeface="Cambria Math" panose="02040503050406030204" pitchFamily="18" charset="0"/>
                      </a:rPr>
                      <m:t>𝑛</m:t>
                    </m:r>
                  </m:oMath>
                </a14:m>
                <a:r>
                  <a:rPr lang="zh-TW" altLang="en-US" dirty="0"/>
                  <a:t> </a:t>
                </a:r>
                <a14:m>
                  <m:oMath xmlns:m="http://schemas.openxmlformats.org/officeDocument/2006/math">
                    <m:d>
                      <m:dPr>
                        <m:ctrlPr>
                          <a:rPr lang="zh-TW" altLang="en-US" i="1">
                            <a:latin typeface="Cambria Math" panose="02040503050406030204" pitchFamily="18" charset="0"/>
                          </a:rPr>
                        </m:ctrlPr>
                      </m:dPr>
                      <m:e>
                        <m:f>
                          <m:fPr>
                            <m:ctrlPr>
                              <a:rPr lang="zh-TW" altLang="en-US" i="1">
                                <a:latin typeface="Cambria Math" panose="02040503050406030204" pitchFamily="18" charset="0"/>
                              </a:rPr>
                            </m:ctrlPr>
                          </m:fPr>
                          <m:num>
                            <m:d>
                              <m:dPr>
                                <m:begChr m:val=""/>
                                <m:ctrlPr>
                                  <a:rPr lang="zh-TW" altLang="en-US" i="1">
                                    <a:latin typeface="Cambria Math" panose="02040503050406030204" pitchFamily="18" charset="0"/>
                                  </a:rPr>
                                </m:ctrlPr>
                              </m:dPr>
                              <m:e>
                                <m:rad>
                                  <m:radPr>
                                    <m:degHide m:val="on"/>
                                    <m:ctrlPr>
                                      <a:rPr lang="zh-TW" altLang="en-US" i="1">
                                        <a:latin typeface="Cambria Math" panose="02040503050406030204" pitchFamily="18" charset="0"/>
                                      </a:rPr>
                                    </m:ctrlPr>
                                  </m:radPr>
                                  <m:deg/>
                                  <m:e>
                                    <m:r>
                                      <a:rPr lang="zh-TW" altLang="en-US">
                                        <a:latin typeface="Cambria Math" panose="02040503050406030204" pitchFamily="18" charset="0"/>
                                      </a:rPr>
                                      <m:t>4(</m:t>
                                    </m:r>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κ</m:t>
                                            </m:r>
                                          </m:e>
                                          <m:sub>
                                            <m:r>
                                              <a:rPr lang="zh-TW" altLang="en-US">
                                                <a:latin typeface="Cambria Math" panose="02040503050406030204" pitchFamily="18" charset="0"/>
                                              </a:rPr>
                                              <m:t>12</m:t>
                                            </m:r>
                                          </m:sub>
                                        </m:sSub>
                                      </m:e>
                                      <m:sup>
                                        <m:r>
                                          <a:rPr lang="zh-TW" altLang="en-US">
                                            <a:latin typeface="Cambria Math" panose="02040503050406030204" pitchFamily="18" charset="0"/>
                                          </a:rPr>
                                          <m:t>2</m:t>
                                        </m:r>
                                      </m:sup>
                                    </m:sSup>
                                    <m:r>
                                      <a:rPr lang="zh-TW" altLang="en-US">
                                        <a:latin typeface="Cambria Math" panose="02040503050406030204" pitchFamily="18" charset="0"/>
                                      </a:rPr>
                                      <m:t>+</m:t>
                                    </m:r>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m:rPr>
                                                <m:sty m:val="p"/>
                                              </m:rPr>
                                              <a:rPr lang="zh-TW" altLang="en-US">
                                                <a:latin typeface="Cambria Math" panose="02040503050406030204" pitchFamily="18" charset="0"/>
                                              </a:rPr>
                                              <m:t>κ</m:t>
                                            </m:r>
                                          </m:e>
                                          <m:sub>
                                            <m:r>
                                              <a:rPr lang="zh-TW" altLang="en-US">
                                                <a:latin typeface="Cambria Math" panose="02040503050406030204" pitchFamily="18" charset="0"/>
                                              </a:rPr>
                                              <m:t>23</m:t>
                                            </m:r>
                                          </m:sub>
                                        </m:sSub>
                                      </m:e>
                                      <m:sup>
                                        <m:r>
                                          <a:rPr lang="zh-TW" altLang="en-US">
                                            <a:latin typeface="Cambria Math" panose="02040503050406030204" pitchFamily="18" charset="0"/>
                                          </a:rPr>
                                          <m:t>2</m:t>
                                        </m:r>
                                      </m:sup>
                                    </m:sSup>
                                  </m:e>
                                </m:rad>
                              </m:e>
                            </m:d>
                          </m:num>
                          <m:den>
                            <m:r>
                              <a:rPr lang="zh-TW" altLang="en-US">
                                <a:latin typeface="Cambria Math" panose="02040503050406030204" pitchFamily="18" charset="0"/>
                              </a:rPr>
                              <m:t>∆</m:t>
                            </m:r>
                            <m:r>
                              <m:rPr>
                                <m:sty m:val="p"/>
                              </m:rPr>
                              <a:rPr lang="zh-TW" altLang="en-US">
                                <a:latin typeface="Cambria Math" panose="02040503050406030204" pitchFamily="18" charset="0"/>
                              </a:rPr>
                              <m:t>β</m:t>
                            </m:r>
                          </m:den>
                        </m:f>
                      </m:e>
                    </m:d>
                  </m:oMath>
                </a14:m>
                <a:endParaRPr lang="zh-TW" altLang="en-US" dirty="0"/>
              </a:p>
            </p:txBody>
          </p:sp>
        </mc:Choice>
        <mc:Fallback xmlns="">
          <p:sp>
            <p:nvSpPr>
              <p:cNvPr id="45" name="矩形 44"/>
              <p:cNvSpPr>
                <a:spLocks noRot="1" noChangeAspect="1" noMove="1" noResize="1" noEditPoints="1" noAdjustHandles="1" noChangeArrowheads="1" noChangeShapeType="1" noTextEdit="1"/>
              </p:cNvSpPr>
              <p:nvPr/>
            </p:nvSpPr>
            <p:spPr>
              <a:xfrm>
                <a:off x="7105216" y="4689013"/>
                <a:ext cx="3285836" cy="720903"/>
              </a:xfrm>
              <a:prstGeom prst="rect">
                <a:avLst/>
              </a:prstGeom>
              <a:blipFill>
                <a:blip r:embed="rId16"/>
                <a:stretch>
                  <a:fillRect/>
                </a:stretch>
              </a:blipFill>
            </p:spPr>
            <p:txBody>
              <a:bodyPr/>
              <a:lstStyle/>
              <a:p>
                <a:r>
                  <a:rPr lang="zh-TW" altLang="en-US">
                    <a:noFill/>
                  </a:rPr>
                  <a:t> </a:t>
                </a:r>
              </a:p>
            </p:txBody>
          </p:sp>
        </mc:Fallback>
      </mc:AlternateContent>
      <p:sp>
        <p:nvSpPr>
          <p:cNvPr id="46" name="矩形 45"/>
          <p:cNvSpPr/>
          <p:nvPr/>
        </p:nvSpPr>
        <p:spPr>
          <a:xfrm>
            <a:off x="4852520" y="4220016"/>
            <a:ext cx="1268296" cy="369332"/>
          </a:xfrm>
          <a:prstGeom prst="rect">
            <a:avLst/>
          </a:prstGeom>
        </p:spPr>
        <p:txBody>
          <a:bodyPr wrap="none">
            <a:spAutoFit/>
          </a:bodyPr>
          <a:lstStyle/>
          <a:p>
            <a:r>
              <a:rPr lang="en-US" altLang="zh-TW" dirty="0" smtClean="0">
                <a:latin typeface="Times New Roman" panose="02020603050405020304" pitchFamily="18" charset="0"/>
                <a:cs typeface="Times New Roman" panose="02020603050405020304" pitchFamily="18" charset="0"/>
              </a:rPr>
              <a:t>Eigen state:</a:t>
            </a:r>
            <a:endParaRPr lang="zh-TW" altLang="en-US" dirty="0"/>
          </a:p>
        </p:txBody>
      </p:sp>
    </p:spTree>
    <p:extLst>
      <p:ext uri="{BB962C8B-B14F-4D97-AF65-F5344CB8AC3E}">
        <p14:creationId xmlns:p14="http://schemas.microsoft.com/office/powerpoint/2010/main" val="9544435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形箭號 13"/>
          <p:cNvSpPr/>
          <p:nvPr/>
        </p:nvSpPr>
        <p:spPr>
          <a:xfrm>
            <a:off x="10032000" y="1198762"/>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15" name="＞形箭號 14"/>
          <p:cNvSpPr/>
          <p:nvPr/>
        </p:nvSpPr>
        <p:spPr>
          <a:xfrm>
            <a:off x="8425048" y="1198762"/>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16" name="＞形箭號 15"/>
          <p:cNvSpPr/>
          <p:nvPr/>
        </p:nvSpPr>
        <p:spPr>
          <a:xfrm>
            <a:off x="6762882" y="1198762"/>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17" name="＞形箭號 16"/>
          <p:cNvSpPr/>
          <p:nvPr/>
        </p:nvSpPr>
        <p:spPr>
          <a:xfrm>
            <a:off x="5107858" y="1198762"/>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solidFill>
                <a:schemeClr val="tx1"/>
              </a:solidFill>
            </a:endParaRPr>
          </a:p>
        </p:txBody>
      </p:sp>
      <p:sp>
        <p:nvSpPr>
          <p:cNvPr id="18" name="＞形箭號 17"/>
          <p:cNvSpPr/>
          <p:nvPr/>
        </p:nvSpPr>
        <p:spPr>
          <a:xfrm>
            <a:off x="3444193" y="1198762"/>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Principle</a:t>
            </a:r>
            <a:endParaRPr lang="en-US" altLang="zh-TW" dirty="0">
              <a:latin typeface="Times New Roman" panose="02020603050405020304" pitchFamily="18" charset="0"/>
              <a:cs typeface="Times New Roman" panose="02020603050405020304" pitchFamily="18" charset="0"/>
            </a:endParaRPr>
          </a:p>
        </p:txBody>
      </p:sp>
      <p:sp>
        <p:nvSpPr>
          <p:cNvPr id="19" name="＞形箭號 18"/>
          <p:cNvSpPr/>
          <p:nvPr/>
        </p:nvSpPr>
        <p:spPr>
          <a:xfrm>
            <a:off x="1778885" y="1198762"/>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20" name="＞形箭號 19"/>
          <p:cNvSpPr/>
          <p:nvPr/>
        </p:nvSpPr>
        <p:spPr>
          <a:xfrm>
            <a:off x="19359" y="1198762"/>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12" name="矩形 11"/>
          <p:cNvSpPr/>
          <p:nvPr/>
        </p:nvSpPr>
        <p:spPr>
          <a:xfrm>
            <a:off x="19360" y="66844"/>
            <a:ext cx="9825680" cy="1015663"/>
          </a:xfrm>
          <a:prstGeom prst="rect">
            <a:avLst/>
          </a:prstGeom>
        </p:spPr>
        <p:txBody>
          <a:bodyPr wrap="square">
            <a:spAutoFit/>
          </a:bodyPr>
          <a:lstStyle/>
          <a:p>
            <a:r>
              <a:rPr lang="en-US" altLang="zh-TW" sz="6000" dirty="0" smtClean="0">
                <a:latin typeface="Times New Roman" panose="02020603050405020304" pitchFamily="18" charset="0"/>
                <a:cs typeface="Times New Roman" panose="02020603050405020304" pitchFamily="18" charset="0"/>
              </a:rPr>
              <a:t>Adiabatic coupler + PPLN </a:t>
            </a:r>
            <a:endParaRPr lang="zh-TW" altLang="en-US" sz="6000"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2"/>
          <a:stretch>
            <a:fillRect/>
          </a:stretch>
        </p:blipFill>
        <p:spPr>
          <a:xfrm>
            <a:off x="3017838" y="1940560"/>
            <a:ext cx="5027810" cy="4195923"/>
          </a:xfrm>
          <a:prstGeom prst="rect">
            <a:avLst/>
          </a:prstGeom>
        </p:spPr>
      </p:pic>
      <p:sp>
        <p:nvSpPr>
          <p:cNvPr id="28" name="向右箭號 27"/>
          <p:cNvSpPr/>
          <p:nvPr/>
        </p:nvSpPr>
        <p:spPr>
          <a:xfrm rot="16200000">
            <a:off x="6660434" y="6111213"/>
            <a:ext cx="539259" cy="34598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向右箭號 33"/>
          <p:cNvSpPr/>
          <p:nvPr/>
        </p:nvSpPr>
        <p:spPr>
          <a:xfrm rot="16200000">
            <a:off x="4746057" y="1886489"/>
            <a:ext cx="539259" cy="34598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 name="文字方塊 2"/>
              <p:cNvSpPr txBox="1"/>
              <p:nvPr/>
            </p:nvSpPr>
            <p:spPr>
              <a:xfrm>
                <a:off x="244419" y="1940560"/>
                <a:ext cx="4005071" cy="461665"/>
              </a:xfrm>
              <a:prstGeom prst="rect">
                <a:avLst/>
              </a:prstGeom>
              <a:noFill/>
            </p:spPr>
            <p:txBody>
              <a:bodyPr wrap="none" rtlCol="0">
                <a:spAutoFit/>
              </a:bodyPr>
              <a:lstStyle/>
              <a:p>
                <a:r>
                  <a:rPr lang="en-US" altLang="zh-TW" sz="2400" dirty="0" smtClean="0">
                    <a:latin typeface="Times New Roman" panose="02020603050405020304" pitchFamily="18" charset="0"/>
                    <a:cs typeface="Times New Roman" panose="02020603050405020304" pitchFamily="18" charset="0"/>
                  </a:rPr>
                  <a:t>Non-phase matching(</a:t>
                </a:r>
                <a14:m>
                  <m:oMath xmlns:m="http://schemas.openxmlformats.org/officeDocument/2006/math">
                    <m:r>
                      <a:rPr lang="en-US" altLang="zh-TW" sz="24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𝑘</m:t>
                    </m:r>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≫0</m:t>
                    </m:r>
                  </m:oMath>
                </a14:m>
                <a:r>
                  <a:rPr lang="en-US" altLang="zh-TW"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3" name="文字方塊 2"/>
              <p:cNvSpPr txBox="1">
                <a:spLocks noRot="1" noChangeAspect="1" noMove="1" noResize="1" noEditPoints="1" noAdjustHandles="1" noChangeArrowheads="1" noChangeShapeType="1" noTextEdit="1"/>
              </p:cNvSpPr>
              <p:nvPr/>
            </p:nvSpPr>
            <p:spPr>
              <a:xfrm>
                <a:off x="244419" y="1940560"/>
                <a:ext cx="4005071" cy="461665"/>
              </a:xfrm>
              <a:prstGeom prst="rect">
                <a:avLst/>
              </a:prstGeom>
              <a:blipFill>
                <a:blip r:embed="rId3"/>
                <a:stretch>
                  <a:fillRect l="-2283" t="-10526" r="-913" b="-2894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233874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形箭號 13"/>
          <p:cNvSpPr/>
          <p:nvPr/>
        </p:nvSpPr>
        <p:spPr>
          <a:xfrm>
            <a:off x="10032000" y="1198762"/>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15" name="＞形箭號 14"/>
          <p:cNvSpPr/>
          <p:nvPr/>
        </p:nvSpPr>
        <p:spPr>
          <a:xfrm>
            <a:off x="8425048" y="1198762"/>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16" name="＞形箭號 15"/>
          <p:cNvSpPr/>
          <p:nvPr/>
        </p:nvSpPr>
        <p:spPr>
          <a:xfrm>
            <a:off x="6762882" y="1198762"/>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17" name="＞形箭號 16"/>
          <p:cNvSpPr/>
          <p:nvPr/>
        </p:nvSpPr>
        <p:spPr>
          <a:xfrm>
            <a:off x="5107858" y="1198762"/>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solidFill>
                <a:schemeClr val="tx1"/>
              </a:solidFill>
            </a:endParaRPr>
          </a:p>
        </p:txBody>
      </p:sp>
      <p:sp>
        <p:nvSpPr>
          <p:cNvPr id="18" name="＞形箭號 17"/>
          <p:cNvSpPr/>
          <p:nvPr/>
        </p:nvSpPr>
        <p:spPr>
          <a:xfrm>
            <a:off x="3444193" y="1198762"/>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Principle</a:t>
            </a:r>
            <a:endParaRPr lang="en-US" altLang="zh-TW" dirty="0">
              <a:latin typeface="Times New Roman" panose="02020603050405020304" pitchFamily="18" charset="0"/>
              <a:cs typeface="Times New Roman" panose="02020603050405020304" pitchFamily="18" charset="0"/>
            </a:endParaRPr>
          </a:p>
        </p:txBody>
      </p:sp>
      <p:sp>
        <p:nvSpPr>
          <p:cNvPr id="19" name="＞形箭號 18"/>
          <p:cNvSpPr/>
          <p:nvPr/>
        </p:nvSpPr>
        <p:spPr>
          <a:xfrm>
            <a:off x="1778885" y="1198762"/>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20" name="＞形箭號 19"/>
          <p:cNvSpPr/>
          <p:nvPr/>
        </p:nvSpPr>
        <p:spPr>
          <a:xfrm>
            <a:off x="19359" y="1198762"/>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12" name="矩形 11"/>
          <p:cNvSpPr/>
          <p:nvPr/>
        </p:nvSpPr>
        <p:spPr>
          <a:xfrm>
            <a:off x="19360" y="66844"/>
            <a:ext cx="9825680" cy="1015663"/>
          </a:xfrm>
          <a:prstGeom prst="rect">
            <a:avLst/>
          </a:prstGeom>
        </p:spPr>
        <p:txBody>
          <a:bodyPr wrap="square">
            <a:spAutoFit/>
          </a:bodyPr>
          <a:lstStyle/>
          <a:p>
            <a:r>
              <a:rPr lang="en-US" altLang="zh-TW" sz="6000" dirty="0" smtClean="0">
                <a:latin typeface="Times New Roman" panose="02020603050405020304" pitchFamily="18" charset="0"/>
                <a:cs typeface="Times New Roman" panose="02020603050405020304" pitchFamily="18" charset="0"/>
              </a:rPr>
              <a:t>Adiabatic coupler + PPLN </a:t>
            </a:r>
            <a:endParaRPr lang="zh-TW" altLang="en-US" sz="6000"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2"/>
          <a:stretch>
            <a:fillRect/>
          </a:stretch>
        </p:blipFill>
        <p:spPr>
          <a:xfrm>
            <a:off x="3017838" y="1940560"/>
            <a:ext cx="5027810" cy="4195923"/>
          </a:xfrm>
          <a:prstGeom prst="rect">
            <a:avLst/>
          </a:prstGeom>
        </p:spPr>
      </p:pic>
      <p:sp>
        <p:nvSpPr>
          <p:cNvPr id="28" name="向右箭號 27"/>
          <p:cNvSpPr/>
          <p:nvPr/>
        </p:nvSpPr>
        <p:spPr>
          <a:xfrm rot="16200000">
            <a:off x="6660434" y="6111213"/>
            <a:ext cx="539259" cy="34598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向右箭號 33"/>
          <p:cNvSpPr/>
          <p:nvPr/>
        </p:nvSpPr>
        <p:spPr>
          <a:xfrm rot="16200000">
            <a:off x="6660434" y="1876328"/>
            <a:ext cx="539259" cy="34598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向右箭號 20"/>
          <p:cNvSpPr/>
          <p:nvPr/>
        </p:nvSpPr>
        <p:spPr>
          <a:xfrm rot="16200000">
            <a:off x="6660435" y="6233120"/>
            <a:ext cx="539259" cy="34598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向右箭號 21"/>
          <p:cNvSpPr/>
          <p:nvPr/>
        </p:nvSpPr>
        <p:spPr>
          <a:xfrm rot="16200000">
            <a:off x="6660435" y="6374305"/>
            <a:ext cx="539259" cy="34598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3" name="文字方塊 22"/>
              <p:cNvSpPr txBox="1"/>
              <p:nvPr/>
            </p:nvSpPr>
            <p:spPr>
              <a:xfrm>
                <a:off x="244419" y="1940560"/>
                <a:ext cx="3956981" cy="461665"/>
              </a:xfrm>
              <a:prstGeom prst="rect">
                <a:avLst/>
              </a:prstGeom>
              <a:noFill/>
            </p:spPr>
            <p:txBody>
              <a:bodyPr wrap="none" rtlCol="0">
                <a:spAutoFit/>
              </a:bodyPr>
              <a:lstStyle/>
              <a:p>
                <a:r>
                  <a:rPr lang="en-US" altLang="zh-TW" sz="2400" dirty="0" smtClean="0">
                    <a:latin typeface="Times New Roman" panose="02020603050405020304" pitchFamily="18" charset="0"/>
                    <a:cs typeface="Times New Roman" panose="02020603050405020304" pitchFamily="18" charset="0"/>
                  </a:rPr>
                  <a:t>Non-phase matching(</a:t>
                </a:r>
                <a14:m>
                  <m:oMath xmlns:m="http://schemas.openxmlformats.org/officeDocument/2006/math">
                    <m:r>
                      <a:rPr lang="en-US" altLang="zh-TW" sz="24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𝑘</m:t>
                    </m:r>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≈0</m:t>
                    </m:r>
                  </m:oMath>
                </a14:m>
                <a:r>
                  <a:rPr lang="en-US" altLang="zh-TW"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23" name="文字方塊 22"/>
              <p:cNvSpPr txBox="1">
                <a:spLocks noRot="1" noChangeAspect="1" noMove="1" noResize="1" noEditPoints="1" noAdjustHandles="1" noChangeArrowheads="1" noChangeShapeType="1" noTextEdit="1"/>
              </p:cNvSpPr>
              <p:nvPr/>
            </p:nvSpPr>
            <p:spPr>
              <a:xfrm>
                <a:off x="244419" y="1940560"/>
                <a:ext cx="3956981" cy="461665"/>
              </a:xfrm>
              <a:prstGeom prst="rect">
                <a:avLst/>
              </a:prstGeom>
              <a:blipFill>
                <a:blip r:embed="rId3"/>
                <a:stretch>
                  <a:fillRect l="-2311" t="-10526" r="-924" b="-2894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953019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群組 9"/>
          <p:cNvGrpSpPr/>
          <p:nvPr/>
        </p:nvGrpSpPr>
        <p:grpSpPr>
          <a:xfrm>
            <a:off x="3394555" y="2615192"/>
            <a:ext cx="5736917" cy="1920403"/>
            <a:chOff x="4904378" y="4184924"/>
            <a:chExt cx="5281814" cy="1764923"/>
          </a:xfrm>
          <a:solidFill>
            <a:schemeClr val="bg1">
              <a:alpha val="98000"/>
            </a:schemeClr>
          </a:solidFill>
        </p:grpSpPr>
        <p:pic>
          <p:nvPicPr>
            <p:cNvPr id="1028" name="Picture 4" descr="http://www.ncu.edu.tw/assets/images/log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4378" y="4184924"/>
              <a:ext cx="5281814" cy="1764923"/>
            </a:xfrm>
            <a:prstGeom prst="rect">
              <a:avLst/>
            </a:prstGeom>
            <a:grpFill/>
            <a:effectLst>
              <a:outerShdw blurRad="50800" dist="50800" dir="5400000" algn="ctr" rotWithShape="0">
                <a:srgbClr val="000000">
                  <a:alpha val="0"/>
                </a:srgbClr>
              </a:outerShdw>
            </a:effectLst>
          </p:spPr>
        </p:pic>
        <p:sp>
          <p:nvSpPr>
            <p:cNvPr id="9" name="矩形 8"/>
            <p:cNvSpPr/>
            <p:nvPr/>
          </p:nvSpPr>
          <p:spPr>
            <a:xfrm>
              <a:off x="4904378" y="4184924"/>
              <a:ext cx="5281814" cy="1764923"/>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 name="矩形 2"/>
          <p:cNvSpPr/>
          <p:nvPr/>
        </p:nvSpPr>
        <p:spPr>
          <a:xfrm>
            <a:off x="39411" y="183099"/>
            <a:ext cx="3772186" cy="1015663"/>
          </a:xfrm>
          <a:prstGeom prst="rect">
            <a:avLst/>
          </a:prstGeom>
        </p:spPr>
        <p:txBody>
          <a:bodyPr wrap="none">
            <a:spAutoFit/>
          </a:bodyPr>
          <a:lstStyle/>
          <a:p>
            <a:r>
              <a:rPr lang="en-US" altLang="zh-TW" sz="6000" dirty="0" smtClean="0">
                <a:latin typeface="Times New Roman" panose="02020603050405020304" pitchFamily="18" charset="0"/>
                <a:cs typeface="Times New Roman" panose="02020603050405020304" pitchFamily="18" charset="0"/>
              </a:rPr>
              <a:t>Stimulation</a:t>
            </a:r>
            <a:endParaRPr lang="en-US" altLang="zh-TW" sz="6000" dirty="0">
              <a:latin typeface="Times New Roman" panose="02020603050405020304" pitchFamily="18" charset="0"/>
              <a:cs typeface="Times New Roman" panose="02020603050405020304" pitchFamily="18" charset="0"/>
            </a:endParaRPr>
          </a:p>
        </p:txBody>
      </p:sp>
      <p:sp>
        <p:nvSpPr>
          <p:cNvPr id="7" name="＞形箭號 6"/>
          <p:cNvSpPr/>
          <p:nvPr/>
        </p:nvSpPr>
        <p:spPr>
          <a:xfrm>
            <a:off x="10032000" y="1198762"/>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8" name="＞形箭號 7"/>
          <p:cNvSpPr/>
          <p:nvPr/>
        </p:nvSpPr>
        <p:spPr>
          <a:xfrm>
            <a:off x="8425048" y="1198762"/>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11" name="＞形箭號 10"/>
          <p:cNvSpPr/>
          <p:nvPr/>
        </p:nvSpPr>
        <p:spPr>
          <a:xfrm>
            <a:off x="6762882" y="1198762"/>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12" name="＞形箭號 11"/>
          <p:cNvSpPr/>
          <p:nvPr/>
        </p:nvSpPr>
        <p:spPr>
          <a:xfrm>
            <a:off x="5107858" y="1198762"/>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Stimulation</a:t>
            </a:r>
            <a:endParaRPr lang="en-US" altLang="zh-TW" dirty="0">
              <a:latin typeface="Times New Roman" panose="02020603050405020304" pitchFamily="18" charset="0"/>
              <a:cs typeface="Times New Roman" panose="02020603050405020304" pitchFamily="18" charset="0"/>
            </a:endParaRPr>
          </a:p>
        </p:txBody>
      </p:sp>
      <p:sp>
        <p:nvSpPr>
          <p:cNvPr id="13" name="＞形箭號 12"/>
          <p:cNvSpPr/>
          <p:nvPr/>
        </p:nvSpPr>
        <p:spPr>
          <a:xfrm>
            <a:off x="3444193" y="1198762"/>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ltLang="zh-TW" dirty="0">
              <a:latin typeface="Times New Roman" panose="02020603050405020304" pitchFamily="18" charset="0"/>
              <a:cs typeface="Times New Roman" panose="02020603050405020304" pitchFamily="18" charset="0"/>
            </a:endParaRPr>
          </a:p>
        </p:txBody>
      </p:sp>
      <p:sp>
        <p:nvSpPr>
          <p:cNvPr id="14" name="＞形箭號 13"/>
          <p:cNvSpPr/>
          <p:nvPr/>
        </p:nvSpPr>
        <p:spPr>
          <a:xfrm>
            <a:off x="1778885" y="1198762"/>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15" name="＞形箭號 14"/>
          <p:cNvSpPr/>
          <p:nvPr/>
        </p:nvSpPr>
        <p:spPr>
          <a:xfrm>
            <a:off x="19359" y="1198762"/>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Tree>
    <p:extLst>
      <p:ext uri="{BB962C8B-B14F-4D97-AF65-F5344CB8AC3E}">
        <p14:creationId xmlns:p14="http://schemas.microsoft.com/office/powerpoint/2010/main" val="37497498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群組 9"/>
          <p:cNvGrpSpPr/>
          <p:nvPr/>
        </p:nvGrpSpPr>
        <p:grpSpPr>
          <a:xfrm>
            <a:off x="3394555" y="2615192"/>
            <a:ext cx="5736917" cy="1920403"/>
            <a:chOff x="4904378" y="4184924"/>
            <a:chExt cx="5281814" cy="1764923"/>
          </a:xfrm>
          <a:solidFill>
            <a:schemeClr val="bg1">
              <a:alpha val="98000"/>
            </a:schemeClr>
          </a:solidFill>
        </p:grpSpPr>
        <p:pic>
          <p:nvPicPr>
            <p:cNvPr id="1028" name="Picture 4" descr="http://www.ncu.edu.tw/assets/images/log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4378" y="4184924"/>
              <a:ext cx="5281814" cy="1764923"/>
            </a:xfrm>
            <a:prstGeom prst="rect">
              <a:avLst/>
            </a:prstGeom>
            <a:grpFill/>
            <a:effectLst>
              <a:outerShdw blurRad="50800" dist="50800" dir="5400000" algn="ctr" rotWithShape="0">
                <a:srgbClr val="000000">
                  <a:alpha val="0"/>
                </a:srgbClr>
              </a:outerShdw>
            </a:effectLst>
          </p:spPr>
        </p:pic>
        <p:sp>
          <p:nvSpPr>
            <p:cNvPr id="9" name="矩形 8"/>
            <p:cNvSpPr/>
            <p:nvPr/>
          </p:nvSpPr>
          <p:spPr>
            <a:xfrm>
              <a:off x="4904378" y="4184924"/>
              <a:ext cx="5281814" cy="1764923"/>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 name="矩形 2"/>
          <p:cNvSpPr/>
          <p:nvPr/>
        </p:nvSpPr>
        <p:spPr>
          <a:xfrm>
            <a:off x="1634821" y="437338"/>
            <a:ext cx="2149948" cy="1015663"/>
          </a:xfrm>
          <a:prstGeom prst="rect">
            <a:avLst/>
          </a:prstGeom>
        </p:spPr>
        <p:txBody>
          <a:bodyPr wrap="none">
            <a:spAutoFit/>
          </a:bodyPr>
          <a:lstStyle/>
          <a:p>
            <a:r>
              <a:rPr lang="en-US" altLang="zh-TW" sz="6000" dirty="0" smtClean="0">
                <a:latin typeface="Times New Roman" panose="02020603050405020304" pitchFamily="18" charset="0"/>
                <a:cs typeface="Times New Roman" panose="02020603050405020304" pitchFamily="18" charset="0"/>
              </a:rPr>
              <a:t>Result</a:t>
            </a:r>
            <a:endParaRPr lang="en-US" altLang="zh-TW"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974474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群組 9"/>
          <p:cNvGrpSpPr/>
          <p:nvPr/>
        </p:nvGrpSpPr>
        <p:grpSpPr>
          <a:xfrm>
            <a:off x="3394555" y="2615192"/>
            <a:ext cx="5736917" cy="1920403"/>
            <a:chOff x="4904378" y="4184924"/>
            <a:chExt cx="5281814" cy="1764923"/>
          </a:xfrm>
          <a:solidFill>
            <a:schemeClr val="bg1">
              <a:alpha val="98000"/>
            </a:schemeClr>
          </a:solidFill>
        </p:grpSpPr>
        <p:pic>
          <p:nvPicPr>
            <p:cNvPr id="1028" name="Picture 4" descr="http://www.ncu.edu.tw/assets/images/log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4378" y="4184924"/>
              <a:ext cx="5281814" cy="1764923"/>
            </a:xfrm>
            <a:prstGeom prst="rect">
              <a:avLst/>
            </a:prstGeom>
            <a:grpFill/>
            <a:effectLst>
              <a:outerShdw blurRad="50800" dist="50800" dir="5400000" algn="ctr" rotWithShape="0">
                <a:srgbClr val="000000">
                  <a:alpha val="0"/>
                </a:srgbClr>
              </a:outerShdw>
            </a:effectLst>
          </p:spPr>
        </p:pic>
        <p:sp>
          <p:nvSpPr>
            <p:cNvPr id="9" name="矩形 8"/>
            <p:cNvSpPr/>
            <p:nvPr/>
          </p:nvSpPr>
          <p:spPr>
            <a:xfrm>
              <a:off x="4904378" y="4184924"/>
              <a:ext cx="5281814" cy="1764923"/>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 name="矩形 2"/>
          <p:cNvSpPr/>
          <p:nvPr/>
        </p:nvSpPr>
        <p:spPr>
          <a:xfrm>
            <a:off x="19359" y="124619"/>
            <a:ext cx="3688830" cy="1015663"/>
          </a:xfrm>
          <a:prstGeom prst="rect">
            <a:avLst/>
          </a:prstGeom>
        </p:spPr>
        <p:txBody>
          <a:bodyPr wrap="none">
            <a:spAutoFit/>
          </a:bodyPr>
          <a:lstStyle/>
          <a:p>
            <a:r>
              <a:rPr lang="en-US" altLang="zh-TW" sz="6000" dirty="0" smtClean="0">
                <a:latin typeface="Times New Roman" panose="02020603050405020304" pitchFamily="18" charset="0"/>
                <a:cs typeface="Times New Roman" panose="02020603050405020304" pitchFamily="18" charset="0"/>
              </a:rPr>
              <a:t>Conclusion</a:t>
            </a:r>
            <a:endParaRPr lang="en-US" altLang="zh-TW" sz="6000" dirty="0">
              <a:latin typeface="Times New Roman" panose="02020603050405020304" pitchFamily="18" charset="0"/>
              <a:cs typeface="Times New Roman" panose="02020603050405020304" pitchFamily="18" charset="0"/>
            </a:endParaRPr>
          </a:p>
        </p:txBody>
      </p:sp>
      <p:sp>
        <p:nvSpPr>
          <p:cNvPr id="7" name="＞形箭號 6"/>
          <p:cNvSpPr/>
          <p:nvPr/>
        </p:nvSpPr>
        <p:spPr>
          <a:xfrm>
            <a:off x="10032000" y="1198762"/>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8" name="＞形箭號 7"/>
          <p:cNvSpPr/>
          <p:nvPr/>
        </p:nvSpPr>
        <p:spPr>
          <a:xfrm>
            <a:off x="8425048" y="1198762"/>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Conclusion</a:t>
            </a:r>
            <a:endParaRPr lang="en-US" altLang="zh-TW" dirty="0">
              <a:latin typeface="Times New Roman" panose="02020603050405020304" pitchFamily="18" charset="0"/>
              <a:cs typeface="Times New Roman" panose="02020603050405020304" pitchFamily="18" charset="0"/>
            </a:endParaRPr>
          </a:p>
        </p:txBody>
      </p:sp>
      <p:sp>
        <p:nvSpPr>
          <p:cNvPr id="11" name="＞形箭號 10"/>
          <p:cNvSpPr/>
          <p:nvPr/>
        </p:nvSpPr>
        <p:spPr>
          <a:xfrm>
            <a:off x="6762882" y="1198762"/>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12" name="＞形箭號 11"/>
          <p:cNvSpPr/>
          <p:nvPr/>
        </p:nvSpPr>
        <p:spPr>
          <a:xfrm>
            <a:off x="5107858" y="1198762"/>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ltLang="zh-TW" dirty="0">
              <a:latin typeface="Times New Roman" panose="02020603050405020304" pitchFamily="18" charset="0"/>
              <a:cs typeface="Times New Roman" panose="02020603050405020304" pitchFamily="18" charset="0"/>
            </a:endParaRPr>
          </a:p>
        </p:txBody>
      </p:sp>
      <p:sp>
        <p:nvSpPr>
          <p:cNvPr id="13" name="＞形箭號 12"/>
          <p:cNvSpPr/>
          <p:nvPr/>
        </p:nvSpPr>
        <p:spPr>
          <a:xfrm>
            <a:off x="3444193" y="1198762"/>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ltLang="zh-TW" dirty="0">
              <a:latin typeface="Times New Roman" panose="02020603050405020304" pitchFamily="18" charset="0"/>
              <a:cs typeface="Times New Roman" panose="02020603050405020304" pitchFamily="18" charset="0"/>
            </a:endParaRPr>
          </a:p>
        </p:txBody>
      </p:sp>
      <p:sp>
        <p:nvSpPr>
          <p:cNvPr id="14" name="＞形箭號 13"/>
          <p:cNvSpPr/>
          <p:nvPr/>
        </p:nvSpPr>
        <p:spPr>
          <a:xfrm>
            <a:off x="1778885" y="1198762"/>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15" name="＞形箭號 14"/>
          <p:cNvSpPr/>
          <p:nvPr/>
        </p:nvSpPr>
        <p:spPr>
          <a:xfrm>
            <a:off x="19359" y="1198762"/>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Tree>
    <p:extLst>
      <p:ext uri="{BB962C8B-B14F-4D97-AF65-F5344CB8AC3E}">
        <p14:creationId xmlns:p14="http://schemas.microsoft.com/office/powerpoint/2010/main" val="10303460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群組 9"/>
          <p:cNvGrpSpPr/>
          <p:nvPr/>
        </p:nvGrpSpPr>
        <p:grpSpPr>
          <a:xfrm>
            <a:off x="3452429" y="2615192"/>
            <a:ext cx="5736917" cy="1920403"/>
            <a:chOff x="4904378" y="4184924"/>
            <a:chExt cx="5281814" cy="1764923"/>
          </a:xfrm>
          <a:solidFill>
            <a:schemeClr val="bg1">
              <a:alpha val="98000"/>
            </a:schemeClr>
          </a:solidFill>
        </p:grpSpPr>
        <p:pic>
          <p:nvPicPr>
            <p:cNvPr id="1028" name="Picture 4" descr="http://www.ncu.edu.tw/assets/images/log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4378" y="4184924"/>
              <a:ext cx="5281814" cy="1764923"/>
            </a:xfrm>
            <a:prstGeom prst="rect">
              <a:avLst/>
            </a:prstGeom>
            <a:grpFill/>
            <a:effectLst>
              <a:outerShdw blurRad="50800" dist="50800" dir="5400000" algn="ctr" rotWithShape="0">
                <a:srgbClr val="000000">
                  <a:alpha val="0"/>
                </a:srgbClr>
              </a:outerShdw>
            </a:effectLst>
          </p:spPr>
        </p:pic>
        <p:sp>
          <p:nvSpPr>
            <p:cNvPr id="9" name="矩形 8"/>
            <p:cNvSpPr/>
            <p:nvPr/>
          </p:nvSpPr>
          <p:spPr>
            <a:xfrm>
              <a:off x="4904378" y="4184924"/>
              <a:ext cx="5281814" cy="1764923"/>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 name="矩形 2"/>
          <p:cNvSpPr/>
          <p:nvPr/>
        </p:nvSpPr>
        <p:spPr>
          <a:xfrm>
            <a:off x="19359" y="66138"/>
            <a:ext cx="3967753" cy="1015663"/>
          </a:xfrm>
          <a:prstGeom prst="rect">
            <a:avLst/>
          </a:prstGeom>
        </p:spPr>
        <p:txBody>
          <a:bodyPr wrap="none">
            <a:spAutoFit/>
          </a:bodyPr>
          <a:lstStyle/>
          <a:p>
            <a:r>
              <a:rPr lang="en-US" altLang="zh-TW" sz="6000" dirty="0" smtClean="0">
                <a:latin typeface="Times New Roman" panose="02020603050405020304" pitchFamily="18" charset="0"/>
                <a:cs typeface="Times New Roman" panose="02020603050405020304" pitchFamily="18" charset="0"/>
              </a:rPr>
              <a:t>Future work</a:t>
            </a:r>
            <a:endParaRPr lang="en-US" altLang="zh-TW" sz="6000" dirty="0">
              <a:latin typeface="Times New Roman" panose="02020603050405020304" pitchFamily="18" charset="0"/>
              <a:cs typeface="Times New Roman" panose="02020603050405020304" pitchFamily="18" charset="0"/>
            </a:endParaRPr>
          </a:p>
        </p:txBody>
      </p:sp>
      <p:sp>
        <p:nvSpPr>
          <p:cNvPr id="7" name="＞形箭號 6"/>
          <p:cNvSpPr/>
          <p:nvPr/>
        </p:nvSpPr>
        <p:spPr>
          <a:xfrm>
            <a:off x="10032000" y="1198762"/>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Future work</a:t>
            </a:r>
            <a:endParaRPr lang="en-US" altLang="zh-TW" dirty="0">
              <a:latin typeface="Times New Roman" panose="02020603050405020304" pitchFamily="18" charset="0"/>
              <a:cs typeface="Times New Roman" panose="02020603050405020304" pitchFamily="18" charset="0"/>
            </a:endParaRPr>
          </a:p>
        </p:txBody>
      </p:sp>
      <p:sp>
        <p:nvSpPr>
          <p:cNvPr id="8" name="＞形箭號 7"/>
          <p:cNvSpPr/>
          <p:nvPr/>
        </p:nvSpPr>
        <p:spPr>
          <a:xfrm>
            <a:off x="8425048" y="1198762"/>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ltLang="zh-TW" dirty="0">
              <a:latin typeface="Times New Roman" panose="02020603050405020304" pitchFamily="18" charset="0"/>
              <a:cs typeface="Times New Roman" panose="02020603050405020304" pitchFamily="18" charset="0"/>
            </a:endParaRPr>
          </a:p>
        </p:txBody>
      </p:sp>
      <p:sp>
        <p:nvSpPr>
          <p:cNvPr id="11" name="＞形箭號 10"/>
          <p:cNvSpPr/>
          <p:nvPr/>
        </p:nvSpPr>
        <p:spPr>
          <a:xfrm>
            <a:off x="6762882" y="1198762"/>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12" name="＞形箭號 11"/>
          <p:cNvSpPr/>
          <p:nvPr/>
        </p:nvSpPr>
        <p:spPr>
          <a:xfrm>
            <a:off x="5107858" y="1198762"/>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ltLang="zh-TW" dirty="0">
              <a:latin typeface="Times New Roman" panose="02020603050405020304" pitchFamily="18" charset="0"/>
              <a:cs typeface="Times New Roman" panose="02020603050405020304" pitchFamily="18" charset="0"/>
            </a:endParaRPr>
          </a:p>
        </p:txBody>
      </p:sp>
      <p:sp>
        <p:nvSpPr>
          <p:cNvPr id="13" name="＞形箭號 12"/>
          <p:cNvSpPr/>
          <p:nvPr/>
        </p:nvSpPr>
        <p:spPr>
          <a:xfrm>
            <a:off x="3444193" y="1198762"/>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ltLang="zh-TW" dirty="0">
              <a:latin typeface="Times New Roman" panose="02020603050405020304" pitchFamily="18" charset="0"/>
              <a:cs typeface="Times New Roman" panose="02020603050405020304" pitchFamily="18" charset="0"/>
            </a:endParaRPr>
          </a:p>
        </p:txBody>
      </p:sp>
      <p:sp>
        <p:nvSpPr>
          <p:cNvPr id="14" name="＞形箭號 13"/>
          <p:cNvSpPr/>
          <p:nvPr/>
        </p:nvSpPr>
        <p:spPr>
          <a:xfrm>
            <a:off x="1778885" y="1198762"/>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15" name="＞形箭號 14"/>
          <p:cNvSpPr/>
          <p:nvPr/>
        </p:nvSpPr>
        <p:spPr>
          <a:xfrm>
            <a:off x="19359" y="1198762"/>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Tree>
    <p:extLst>
      <p:ext uri="{BB962C8B-B14F-4D97-AF65-F5344CB8AC3E}">
        <p14:creationId xmlns:p14="http://schemas.microsoft.com/office/powerpoint/2010/main" val="657612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ctrTitle"/>
          </p:nvPr>
        </p:nvSpPr>
        <p:spPr>
          <a:xfrm>
            <a:off x="522813" y="939689"/>
            <a:ext cx="11481345" cy="2286643"/>
          </a:xfrm>
        </p:spPr>
        <p:txBody>
          <a:bodyPr>
            <a:normAutofit/>
          </a:bodyPr>
          <a:lstStyle/>
          <a:p>
            <a:pPr algn="just"/>
            <a:r>
              <a:rPr lang="en-US" altLang="zh-TW" sz="4400" dirty="0" smtClean="0">
                <a:latin typeface="Times New Roman" panose="02020603050405020304" pitchFamily="18" charset="0"/>
                <a:cs typeface="Times New Roman" panose="02020603050405020304" pitchFamily="18" charset="0"/>
              </a:rPr>
              <a:t>Non-phase matched all optical switching based on stimulated Raman adiabatic passage by using a </a:t>
            </a:r>
            <a:br>
              <a:rPr lang="en-US" altLang="zh-TW" sz="4400" dirty="0" smtClean="0">
                <a:latin typeface="Times New Roman" panose="02020603050405020304" pitchFamily="18" charset="0"/>
                <a:cs typeface="Times New Roman" panose="02020603050405020304" pitchFamily="18" charset="0"/>
              </a:rPr>
            </a:br>
            <a:r>
              <a:rPr lang="en-US" altLang="zh-TW" sz="4400" dirty="0" err="1" smtClean="0">
                <a:latin typeface="Times New Roman" panose="02020603050405020304" pitchFamily="18" charset="0"/>
                <a:cs typeface="Times New Roman" panose="02020603050405020304" pitchFamily="18" charset="0"/>
              </a:rPr>
              <a:t>ti</a:t>
            </a:r>
            <a:r>
              <a:rPr lang="en-US" altLang="zh-TW" sz="4400" dirty="0" smtClean="0">
                <a:latin typeface="Times New Roman" panose="02020603050405020304" pitchFamily="18" charset="0"/>
                <a:cs typeface="Times New Roman" panose="02020603050405020304" pitchFamily="18" charset="0"/>
              </a:rPr>
              <a:t>-diffusion </a:t>
            </a:r>
            <a:r>
              <a:rPr lang="en-US" altLang="zh-TW" sz="4400" dirty="0">
                <a:latin typeface="Times New Roman" panose="02020603050405020304" pitchFamily="18" charset="0"/>
                <a:cs typeface="Times New Roman" panose="02020603050405020304" pitchFamily="18" charset="0"/>
              </a:rPr>
              <a:t>PPLN </a:t>
            </a:r>
            <a:r>
              <a:rPr lang="en-US" altLang="zh-TW" sz="4400" dirty="0" smtClean="0">
                <a:latin typeface="Times New Roman" panose="02020603050405020304" pitchFamily="18" charset="0"/>
                <a:cs typeface="Times New Roman" panose="02020603050405020304" pitchFamily="18" charset="0"/>
              </a:rPr>
              <a:t>waveguide</a:t>
            </a:r>
            <a:endParaRPr lang="zh-TW" altLang="en-US" sz="44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585781" y="4406166"/>
            <a:ext cx="9144000" cy="1057085"/>
          </a:xfrm>
        </p:spPr>
        <p:txBody>
          <a:bodyPr/>
          <a:lstStyle/>
          <a:p>
            <a:r>
              <a:rPr lang="zh-TW" altLang="en-US" dirty="0" smtClean="0">
                <a:latin typeface="Times New Roman" panose="02020603050405020304" pitchFamily="18" charset="0"/>
                <a:cs typeface="Times New Roman" panose="02020603050405020304" pitchFamily="18" charset="0"/>
              </a:rPr>
              <a:t>學</a:t>
            </a:r>
            <a:r>
              <a:rPr lang="zh-TW" altLang="en-US" dirty="0">
                <a:latin typeface="Times New Roman" panose="02020603050405020304" pitchFamily="18" charset="0"/>
                <a:cs typeface="Times New Roman" panose="02020603050405020304" pitchFamily="18" charset="0"/>
              </a:rPr>
              <a:t>生</a:t>
            </a:r>
            <a:r>
              <a:rPr lang="en-US" altLang="zh-TW" dirty="0" smtClean="0">
                <a:latin typeface="Times New Roman" panose="02020603050405020304" pitchFamily="18" charset="0"/>
                <a:cs typeface="Times New Roman" panose="02020603050405020304" pitchFamily="18" charset="0"/>
              </a:rPr>
              <a:t>:</a:t>
            </a:r>
            <a:r>
              <a:rPr lang="zh-TW" altLang="en-US" dirty="0" smtClean="0">
                <a:latin typeface="Times New Roman" panose="02020603050405020304" pitchFamily="18" charset="0"/>
                <a:cs typeface="Times New Roman" panose="02020603050405020304" pitchFamily="18" charset="0"/>
              </a:rPr>
              <a:t>葉冠廷</a:t>
            </a:r>
            <a:endParaRPr lang="en-US" altLang="zh-TW" dirty="0" smtClean="0">
              <a:latin typeface="Times New Roman" panose="02020603050405020304" pitchFamily="18" charset="0"/>
              <a:cs typeface="Times New Roman" panose="02020603050405020304" pitchFamily="18" charset="0"/>
            </a:endParaRPr>
          </a:p>
          <a:p>
            <a:r>
              <a:rPr lang="zh-TW" altLang="en-US" dirty="0" smtClean="0">
                <a:latin typeface="Times New Roman" panose="02020603050405020304" pitchFamily="18" charset="0"/>
                <a:cs typeface="Times New Roman" panose="02020603050405020304" pitchFamily="18" charset="0"/>
              </a:rPr>
              <a:t>指導教授</a:t>
            </a:r>
            <a:r>
              <a:rPr lang="en-US" altLang="zh-TW" dirty="0" smtClean="0">
                <a:latin typeface="Times New Roman" panose="02020603050405020304" pitchFamily="18" charset="0"/>
                <a:cs typeface="Times New Roman" panose="02020603050405020304" pitchFamily="18" charset="0"/>
              </a:rPr>
              <a:t>:</a:t>
            </a:r>
            <a:r>
              <a:rPr lang="zh-TW" altLang="en-US" dirty="0" smtClean="0">
                <a:latin typeface="Times New Roman" panose="02020603050405020304" pitchFamily="18" charset="0"/>
                <a:cs typeface="Times New Roman" panose="02020603050405020304" pitchFamily="18" charset="0"/>
              </a:rPr>
              <a:t>陳彥宏 博士</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61595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群組 9"/>
          <p:cNvGrpSpPr/>
          <p:nvPr/>
        </p:nvGrpSpPr>
        <p:grpSpPr>
          <a:xfrm>
            <a:off x="3394555" y="2615192"/>
            <a:ext cx="5736917" cy="1920403"/>
            <a:chOff x="4904378" y="4184924"/>
            <a:chExt cx="5281814" cy="1764923"/>
          </a:xfrm>
          <a:solidFill>
            <a:schemeClr val="bg1">
              <a:alpha val="98000"/>
            </a:schemeClr>
          </a:solidFill>
        </p:grpSpPr>
        <p:pic>
          <p:nvPicPr>
            <p:cNvPr id="1028" name="Picture 4" descr="http://www.ncu.edu.tw/assets/images/log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4378" y="4184924"/>
              <a:ext cx="5281814" cy="1764923"/>
            </a:xfrm>
            <a:prstGeom prst="rect">
              <a:avLst/>
            </a:prstGeom>
            <a:grpFill/>
            <a:effectLst>
              <a:outerShdw blurRad="50800" dist="50800" dir="5400000" algn="ctr" rotWithShape="0">
                <a:srgbClr val="000000">
                  <a:alpha val="0"/>
                </a:srgbClr>
              </a:outerShdw>
            </a:effectLst>
          </p:spPr>
        </p:pic>
        <p:sp>
          <p:nvSpPr>
            <p:cNvPr id="9" name="矩形 8"/>
            <p:cNvSpPr/>
            <p:nvPr/>
          </p:nvSpPr>
          <p:spPr>
            <a:xfrm>
              <a:off x="4904378" y="4184924"/>
              <a:ext cx="5281814" cy="1764923"/>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pic>
        <p:nvPicPr>
          <p:cNvPr id="3" name="圖片 2"/>
          <p:cNvPicPr>
            <a:picLocks noChangeAspect="1"/>
          </p:cNvPicPr>
          <p:nvPr/>
        </p:nvPicPr>
        <p:blipFill>
          <a:blip r:embed="rId3"/>
          <a:stretch>
            <a:fillRect/>
          </a:stretch>
        </p:blipFill>
        <p:spPr>
          <a:xfrm>
            <a:off x="1980410" y="1329171"/>
            <a:ext cx="3786229" cy="4412410"/>
          </a:xfrm>
          <a:prstGeom prst="rect">
            <a:avLst/>
          </a:prstGeom>
        </p:spPr>
      </p:pic>
      <p:sp>
        <p:nvSpPr>
          <p:cNvPr id="2" name="矩形 1"/>
          <p:cNvSpPr/>
          <p:nvPr/>
        </p:nvSpPr>
        <p:spPr>
          <a:xfrm>
            <a:off x="1593421" y="451030"/>
            <a:ext cx="3602268" cy="1015663"/>
          </a:xfrm>
          <a:prstGeom prst="rect">
            <a:avLst/>
          </a:prstGeom>
        </p:spPr>
        <p:txBody>
          <a:bodyPr wrap="none">
            <a:spAutoFit/>
          </a:bodyPr>
          <a:lstStyle/>
          <a:p>
            <a:r>
              <a:rPr lang="en-US" altLang="zh-TW" sz="6000" dirty="0">
                <a:latin typeface="Times New Roman" panose="02020603050405020304" pitchFamily="18" charset="0"/>
                <a:cs typeface="Times New Roman" panose="02020603050405020304" pitchFamily="18" charset="0"/>
              </a:rPr>
              <a:t>Motivation</a:t>
            </a:r>
          </a:p>
        </p:txBody>
      </p:sp>
      <p:sp>
        <p:nvSpPr>
          <p:cNvPr id="6" name="矩形 5"/>
          <p:cNvSpPr/>
          <p:nvPr/>
        </p:nvSpPr>
        <p:spPr>
          <a:xfrm>
            <a:off x="1082172" y="6099797"/>
            <a:ext cx="10955498" cy="415498"/>
          </a:xfrm>
          <a:prstGeom prst="rect">
            <a:avLst/>
          </a:prstGeom>
        </p:spPr>
        <p:txBody>
          <a:bodyPr wrap="square">
            <a:spAutoFit/>
          </a:bodyPr>
          <a:lstStyle/>
          <a:p>
            <a:r>
              <a:rPr lang="en-US" altLang="zh-TW" sz="1050" dirty="0">
                <a:latin typeface="Times New Roman" panose="02020603050405020304" pitchFamily="18" charset="0"/>
                <a:cs typeface="Times New Roman" panose="02020603050405020304" pitchFamily="18" charset="0"/>
              </a:rPr>
              <a:t>H. </a:t>
            </a:r>
            <a:r>
              <a:rPr lang="en-US" altLang="zh-TW" sz="1050" dirty="0" err="1">
                <a:latin typeface="Times New Roman" panose="02020603050405020304" pitchFamily="18" charset="0"/>
                <a:cs typeface="Times New Roman" panose="02020603050405020304" pitchFamily="18" charset="0"/>
              </a:rPr>
              <a:t>Kanbara</a:t>
            </a:r>
            <a:r>
              <a:rPr lang="en-US" altLang="zh-TW" sz="1050" dirty="0">
                <a:latin typeface="Times New Roman" panose="02020603050405020304" pitchFamily="18" charset="0"/>
                <a:cs typeface="Times New Roman" panose="02020603050405020304" pitchFamily="18" charset="0"/>
              </a:rPr>
              <a:t>, H. Itoh, M. </a:t>
            </a:r>
            <a:r>
              <a:rPr lang="en-US" altLang="zh-TW" sz="1050" dirty="0" err="1">
                <a:latin typeface="Times New Roman" panose="02020603050405020304" pitchFamily="18" charset="0"/>
                <a:cs typeface="Times New Roman" panose="02020603050405020304" pitchFamily="18" charset="0"/>
              </a:rPr>
              <a:t>Asobe</a:t>
            </a:r>
            <a:r>
              <a:rPr lang="en-US" altLang="zh-TW" sz="1050" dirty="0">
                <a:latin typeface="Times New Roman" panose="02020603050405020304" pitchFamily="18" charset="0"/>
                <a:cs typeface="Times New Roman" panose="02020603050405020304" pitchFamily="18" charset="0"/>
              </a:rPr>
              <a:t>, K. Noguchi, H. Miyazawa, T. </a:t>
            </a:r>
            <a:r>
              <a:rPr lang="en-US" altLang="zh-TW" sz="1050" dirty="0" err="1">
                <a:latin typeface="Times New Roman" panose="02020603050405020304" pitchFamily="18" charset="0"/>
                <a:cs typeface="Times New Roman" panose="02020603050405020304" pitchFamily="18" charset="0"/>
              </a:rPr>
              <a:t>Yanagawa</a:t>
            </a:r>
            <a:r>
              <a:rPr lang="en-US" altLang="zh-TW" sz="1050" dirty="0">
                <a:latin typeface="Times New Roman" panose="02020603050405020304" pitchFamily="18" charset="0"/>
                <a:cs typeface="Times New Roman" panose="02020603050405020304" pitchFamily="18" charset="0"/>
              </a:rPr>
              <a:t>, I. </a:t>
            </a:r>
            <a:r>
              <a:rPr lang="en-US" altLang="zh-TW" sz="1050" dirty="0" smtClean="0">
                <a:latin typeface="Times New Roman" panose="02020603050405020304" pitchFamily="18" charset="0"/>
                <a:cs typeface="Times New Roman" panose="02020603050405020304" pitchFamily="18" charset="0"/>
              </a:rPr>
              <a:t>Yokohama, “</a:t>
            </a:r>
            <a:r>
              <a:rPr lang="en-US" altLang="zh-TW" sz="1050" dirty="0" smtClean="0">
                <a:latin typeface="Times New Roman" panose="02020603050405020304" pitchFamily="18" charset="0"/>
              </a:rPr>
              <a:t>All-Optical </a:t>
            </a:r>
            <a:r>
              <a:rPr lang="en-US" altLang="zh-TW" sz="1050" dirty="0">
                <a:latin typeface="Times New Roman" panose="02020603050405020304" pitchFamily="18" charset="0"/>
              </a:rPr>
              <a:t>Switching Based on Cascading </a:t>
            </a:r>
            <a:r>
              <a:rPr lang="en-US" altLang="zh-TW" sz="1050" dirty="0" smtClean="0">
                <a:latin typeface="Times New Roman" panose="02020603050405020304" pitchFamily="18" charset="0"/>
              </a:rPr>
              <a:t>of Second-Order </a:t>
            </a:r>
            <a:r>
              <a:rPr lang="en-US" altLang="zh-TW" sz="1050" dirty="0">
                <a:latin typeface="Times New Roman" panose="02020603050405020304" pitchFamily="18" charset="0"/>
              </a:rPr>
              <a:t>Nonlinearities in a Periodically </a:t>
            </a:r>
            <a:r>
              <a:rPr lang="en-US" altLang="zh-TW" sz="1050" dirty="0" smtClean="0">
                <a:latin typeface="Times New Roman" panose="02020603050405020304" pitchFamily="18" charset="0"/>
              </a:rPr>
              <a:t>Poled Titanium-Diffused </a:t>
            </a:r>
            <a:r>
              <a:rPr lang="en-US" altLang="zh-TW" sz="1050" dirty="0">
                <a:latin typeface="Times New Roman" panose="02020603050405020304" pitchFamily="18" charset="0"/>
              </a:rPr>
              <a:t>Lithium </a:t>
            </a:r>
            <a:r>
              <a:rPr lang="en-US" altLang="zh-TW" sz="1050" dirty="0" err="1">
                <a:latin typeface="Times New Roman" panose="02020603050405020304" pitchFamily="18" charset="0"/>
              </a:rPr>
              <a:t>Niobate</a:t>
            </a:r>
            <a:r>
              <a:rPr lang="en-US" altLang="zh-TW" sz="1050" dirty="0">
                <a:latin typeface="Times New Roman" panose="02020603050405020304" pitchFamily="18" charset="0"/>
              </a:rPr>
              <a:t> </a:t>
            </a:r>
            <a:r>
              <a:rPr lang="en-US" altLang="zh-TW" sz="1050" dirty="0" smtClean="0">
                <a:latin typeface="Times New Roman" panose="02020603050405020304" pitchFamily="18" charset="0"/>
              </a:rPr>
              <a:t>Waveguide”, </a:t>
            </a:r>
            <a:r>
              <a:rPr lang="en-US" altLang="zh-TW" sz="1050" dirty="0">
                <a:latin typeface="Times New Roman" panose="02020603050405020304" pitchFamily="18" charset="0"/>
                <a:cs typeface="Times New Roman" panose="02020603050405020304" pitchFamily="18" charset="0"/>
              </a:rPr>
              <a:t>IEEE Photonics Technology Letters , 11(3), 328 - 330, 1999</a:t>
            </a:r>
            <a:endParaRPr lang="zh-TW" altLang="en-US" sz="800"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4"/>
          <a:stretch>
            <a:fillRect/>
          </a:stretch>
        </p:blipFill>
        <p:spPr>
          <a:xfrm>
            <a:off x="6887926" y="292486"/>
            <a:ext cx="4487092" cy="2250902"/>
          </a:xfrm>
          <a:prstGeom prst="rect">
            <a:avLst/>
          </a:prstGeom>
        </p:spPr>
      </p:pic>
      <p:pic>
        <p:nvPicPr>
          <p:cNvPr id="11" name="圖片 10"/>
          <p:cNvPicPr>
            <a:picLocks noChangeAspect="1"/>
          </p:cNvPicPr>
          <p:nvPr/>
        </p:nvPicPr>
        <p:blipFill>
          <a:blip r:embed="rId5"/>
          <a:stretch>
            <a:fillRect/>
          </a:stretch>
        </p:blipFill>
        <p:spPr>
          <a:xfrm>
            <a:off x="7788447" y="2549912"/>
            <a:ext cx="2686050" cy="838200"/>
          </a:xfrm>
          <a:prstGeom prst="rect">
            <a:avLst/>
          </a:prstGeom>
        </p:spPr>
      </p:pic>
      <p:pic>
        <p:nvPicPr>
          <p:cNvPr id="12" name="圖片 11"/>
          <p:cNvPicPr>
            <a:picLocks noChangeAspect="1"/>
          </p:cNvPicPr>
          <p:nvPr/>
        </p:nvPicPr>
        <p:blipFill>
          <a:blip r:embed="rId6"/>
          <a:stretch>
            <a:fillRect/>
          </a:stretch>
        </p:blipFill>
        <p:spPr>
          <a:xfrm>
            <a:off x="7004765" y="3333359"/>
            <a:ext cx="4052913" cy="2797225"/>
          </a:xfrm>
          <a:prstGeom prst="rect">
            <a:avLst/>
          </a:prstGeom>
        </p:spPr>
      </p:pic>
    </p:spTree>
    <p:extLst>
      <p:ext uri="{BB962C8B-B14F-4D97-AF65-F5344CB8AC3E}">
        <p14:creationId xmlns:p14="http://schemas.microsoft.com/office/powerpoint/2010/main" val="30147531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 name="向右箭號 46"/>
          <p:cNvSpPr/>
          <p:nvPr/>
        </p:nvSpPr>
        <p:spPr>
          <a:xfrm rot="16200000">
            <a:off x="793818" y="5015602"/>
            <a:ext cx="662280" cy="27962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0000"/>
              </a:solidFill>
            </a:endParaRPr>
          </a:p>
        </p:txBody>
      </p:sp>
      <p:grpSp>
        <p:nvGrpSpPr>
          <p:cNvPr id="10" name="群組 9"/>
          <p:cNvGrpSpPr/>
          <p:nvPr/>
        </p:nvGrpSpPr>
        <p:grpSpPr>
          <a:xfrm>
            <a:off x="3394555" y="2615192"/>
            <a:ext cx="5736917" cy="1920403"/>
            <a:chOff x="4904378" y="4184924"/>
            <a:chExt cx="5281814" cy="1764923"/>
          </a:xfrm>
          <a:solidFill>
            <a:schemeClr val="bg1">
              <a:alpha val="98000"/>
            </a:schemeClr>
          </a:solidFill>
        </p:grpSpPr>
        <p:pic>
          <p:nvPicPr>
            <p:cNvPr id="1028" name="Picture 4" descr="http://www.ncu.edu.tw/assets/images/log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4378" y="4184924"/>
              <a:ext cx="5281814" cy="1764923"/>
            </a:xfrm>
            <a:prstGeom prst="rect">
              <a:avLst/>
            </a:prstGeom>
            <a:grpFill/>
            <a:effectLst>
              <a:outerShdw blurRad="50800" dist="50800" dir="5400000" algn="ctr" rotWithShape="0">
                <a:srgbClr val="000000">
                  <a:alpha val="0"/>
                </a:srgbClr>
              </a:outerShdw>
            </a:effectLst>
          </p:spPr>
        </p:pic>
        <p:sp>
          <p:nvSpPr>
            <p:cNvPr id="9" name="矩形 8"/>
            <p:cNvSpPr/>
            <p:nvPr/>
          </p:nvSpPr>
          <p:spPr>
            <a:xfrm>
              <a:off x="4904378" y="4184924"/>
              <a:ext cx="5281814" cy="1764923"/>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4" name="＞形箭號 13"/>
          <p:cNvSpPr/>
          <p:nvPr/>
        </p:nvSpPr>
        <p:spPr>
          <a:xfrm>
            <a:off x="10032000" y="1198762"/>
            <a:ext cx="2160000" cy="283806"/>
          </a:xfrm>
          <a:prstGeom prst="chevron">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solidFill>
                <a:schemeClr val="tx1"/>
              </a:solidFill>
            </a:endParaRPr>
          </a:p>
        </p:txBody>
      </p:sp>
      <p:sp>
        <p:nvSpPr>
          <p:cNvPr id="15" name="＞形箭號 14"/>
          <p:cNvSpPr/>
          <p:nvPr/>
        </p:nvSpPr>
        <p:spPr>
          <a:xfrm>
            <a:off x="8425048" y="1198762"/>
            <a:ext cx="1800000" cy="283806"/>
          </a:xfrm>
          <a:prstGeom prst="chevr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TW" altLang="en-US">
              <a:solidFill>
                <a:schemeClr val="tx1"/>
              </a:solidFill>
            </a:endParaRPr>
          </a:p>
        </p:txBody>
      </p:sp>
      <p:sp>
        <p:nvSpPr>
          <p:cNvPr id="16" name="＞形箭號 15"/>
          <p:cNvSpPr/>
          <p:nvPr/>
        </p:nvSpPr>
        <p:spPr>
          <a:xfrm>
            <a:off x="6762882" y="1198762"/>
            <a:ext cx="1800000" cy="283806"/>
          </a:xfrm>
          <a:prstGeom prst="chevro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solidFill>
                <a:schemeClr val="tx1"/>
              </a:solidFill>
            </a:endParaRPr>
          </a:p>
        </p:txBody>
      </p:sp>
      <p:sp>
        <p:nvSpPr>
          <p:cNvPr id="17" name="＞形箭號 16"/>
          <p:cNvSpPr/>
          <p:nvPr/>
        </p:nvSpPr>
        <p:spPr>
          <a:xfrm>
            <a:off x="5107858" y="1198762"/>
            <a:ext cx="1800000" cy="283806"/>
          </a:xfrm>
          <a:prstGeom prst="chevr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solidFill>
                <a:schemeClr val="tx1"/>
              </a:solidFill>
            </a:endParaRPr>
          </a:p>
        </p:txBody>
      </p:sp>
      <p:sp>
        <p:nvSpPr>
          <p:cNvPr id="18" name="＞形箭號 17"/>
          <p:cNvSpPr/>
          <p:nvPr/>
        </p:nvSpPr>
        <p:spPr>
          <a:xfrm>
            <a:off x="3444193" y="1198762"/>
            <a:ext cx="1800000" cy="283806"/>
          </a:xfrm>
          <a:prstGeom prst="chevr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TW">
                <a:latin typeface="Times New Roman" panose="02020603050405020304" pitchFamily="18" charset="0"/>
                <a:cs typeface="Times New Roman" panose="02020603050405020304" pitchFamily="18" charset="0"/>
              </a:rPr>
              <a:t>Principle</a:t>
            </a:r>
            <a:endParaRPr lang="en-US" altLang="zh-TW" dirty="0">
              <a:latin typeface="Times New Roman" panose="02020603050405020304" pitchFamily="18" charset="0"/>
              <a:cs typeface="Times New Roman" panose="02020603050405020304" pitchFamily="18" charset="0"/>
            </a:endParaRPr>
          </a:p>
        </p:txBody>
      </p:sp>
      <p:sp>
        <p:nvSpPr>
          <p:cNvPr id="19" name="＞形箭號 18"/>
          <p:cNvSpPr/>
          <p:nvPr/>
        </p:nvSpPr>
        <p:spPr>
          <a:xfrm>
            <a:off x="1778885" y="1198762"/>
            <a:ext cx="1800000" cy="283806"/>
          </a:xfrm>
          <a:prstGeom prst="chevron">
            <a:avLst/>
          </a:prstGeom>
          <a:solidFill>
            <a:schemeClr val="tx2">
              <a:lumMod val="75000"/>
            </a:schemeClr>
          </a:solidFill>
          <a:ln>
            <a:solidFill>
              <a:schemeClr val="tx2">
                <a:lumMod val="75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20" name="＞形箭號 19"/>
          <p:cNvSpPr/>
          <p:nvPr/>
        </p:nvSpPr>
        <p:spPr>
          <a:xfrm>
            <a:off x="19359" y="1198762"/>
            <a:ext cx="1980000" cy="283806"/>
          </a:xfrm>
          <a:prstGeom prst="chevron">
            <a:avLst/>
          </a:prstGeom>
          <a:solidFill>
            <a:srgbClr val="7030A0"/>
          </a:solidFill>
          <a:ln>
            <a:solidFill>
              <a:srgbClr val="7030A0"/>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dirty="0">
              <a:solidFill>
                <a:schemeClr val="accent2">
                  <a:lumMod val="75000"/>
                </a:schemeClr>
              </a:solidFill>
            </a:endParaRPr>
          </a:p>
        </p:txBody>
      </p:sp>
      <p:sp>
        <p:nvSpPr>
          <p:cNvPr id="12" name="矩形 11"/>
          <p:cNvSpPr/>
          <p:nvPr/>
        </p:nvSpPr>
        <p:spPr>
          <a:xfrm>
            <a:off x="19360" y="66844"/>
            <a:ext cx="6888498" cy="1015663"/>
          </a:xfrm>
          <a:prstGeom prst="rect">
            <a:avLst/>
          </a:prstGeom>
        </p:spPr>
        <p:txBody>
          <a:bodyPr wrap="square">
            <a:spAutoFit/>
          </a:bodyPr>
          <a:lstStyle/>
          <a:p>
            <a:r>
              <a:rPr lang="en-US" altLang="zh-TW" sz="6000" dirty="0" smtClean="0">
                <a:latin typeface="Times New Roman" panose="02020603050405020304" pitchFamily="18" charset="0"/>
                <a:cs typeface="Times New Roman" panose="02020603050405020304" pitchFamily="18" charset="0"/>
              </a:rPr>
              <a:t>Directional coupler</a:t>
            </a:r>
            <a:endParaRPr lang="zh-TW" altLang="en-US" sz="6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4" name="矩形 23"/>
              <p:cNvSpPr/>
              <p:nvPr/>
            </p:nvSpPr>
            <p:spPr>
              <a:xfrm>
                <a:off x="1820404" y="2975291"/>
                <a:ext cx="344084" cy="18080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𝑛</m:t>
                          </m:r>
                        </m:e>
                        <m:sub>
                          <m:r>
                            <a:rPr lang="en-US" altLang="zh-TW" b="0" i="1" smtClean="0">
                              <a:latin typeface="Cambria Math" panose="02040503050406030204" pitchFamily="18" charset="0"/>
                            </a:rPr>
                            <m:t>2</m:t>
                          </m:r>
                        </m:sub>
                      </m:sSub>
                    </m:oMath>
                  </m:oMathPara>
                </a14:m>
                <a:endParaRPr lang="zh-TW" altLang="en-US" dirty="0"/>
              </a:p>
            </p:txBody>
          </p:sp>
        </mc:Choice>
        <mc:Fallback xmlns="">
          <p:sp>
            <p:nvSpPr>
              <p:cNvPr id="24" name="矩形 23"/>
              <p:cNvSpPr>
                <a:spLocks noRot="1" noChangeAspect="1" noMove="1" noResize="1" noEditPoints="1" noAdjustHandles="1" noChangeArrowheads="1" noChangeShapeType="1" noTextEdit="1"/>
              </p:cNvSpPr>
              <p:nvPr/>
            </p:nvSpPr>
            <p:spPr>
              <a:xfrm>
                <a:off x="1820404" y="2975291"/>
                <a:ext cx="344084" cy="1808020"/>
              </a:xfrm>
              <a:prstGeom prst="rect">
                <a:avLst/>
              </a:prstGeom>
              <a:blipFill>
                <a:blip r:embed="rId3"/>
                <a:stretch>
                  <a:fillRect l="-86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944196" y="2975291"/>
                <a:ext cx="344084" cy="18080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𝑛</m:t>
                          </m:r>
                        </m:e>
                        <m:sub>
                          <m:r>
                            <a:rPr lang="en-US" altLang="zh-TW" b="0" i="1" smtClean="0">
                              <a:latin typeface="Cambria Math" panose="02040503050406030204" pitchFamily="18" charset="0"/>
                            </a:rPr>
                            <m:t>2</m:t>
                          </m:r>
                        </m:sub>
                      </m:sSub>
                    </m:oMath>
                  </m:oMathPara>
                </a14:m>
                <a:endParaRPr lang="zh-TW" altLang="en-US" dirty="0"/>
              </a:p>
            </p:txBody>
          </p:sp>
        </mc:Choice>
        <mc:Fallback xmlns="">
          <p:sp>
            <p:nvSpPr>
              <p:cNvPr id="26" name="矩形 25"/>
              <p:cNvSpPr>
                <a:spLocks noRot="1" noChangeAspect="1" noMove="1" noResize="1" noEditPoints="1" noAdjustHandles="1" noChangeArrowheads="1" noChangeShapeType="1" noTextEdit="1"/>
              </p:cNvSpPr>
              <p:nvPr/>
            </p:nvSpPr>
            <p:spPr>
              <a:xfrm>
                <a:off x="944196" y="2975291"/>
                <a:ext cx="344084" cy="1808020"/>
              </a:xfrm>
              <a:prstGeom prst="rect">
                <a:avLst/>
              </a:prstGeom>
              <a:blipFill>
                <a:blip r:embed="rId4"/>
                <a:stretch>
                  <a:fillRect l="-86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1763441" y="4923776"/>
                <a:ext cx="47102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𝑤𝑔</m:t>
                          </m:r>
                        </m:e>
                        <m:sub>
                          <m:r>
                            <a:rPr lang="en-US" altLang="zh-TW" b="0" i="1" smtClean="0">
                              <a:latin typeface="Cambria Math" panose="02040503050406030204" pitchFamily="18" charset="0"/>
                            </a:rPr>
                            <m:t>𝑏</m:t>
                          </m:r>
                        </m:sub>
                      </m:sSub>
                    </m:oMath>
                  </m:oMathPara>
                </a14:m>
                <a:endParaRPr lang="zh-TW" altLang="en-US"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1763441" y="4923776"/>
                <a:ext cx="471026" cy="276999"/>
              </a:xfrm>
              <a:prstGeom prst="rect">
                <a:avLst/>
              </a:prstGeom>
              <a:blipFill>
                <a:blip r:embed="rId5"/>
                <a:stretch>
                  <a:fillRect l="-11538" r="-3846"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p:cNvSpPr txBox="1"/>
              <p:nvPr/>
            </p:nvSpPr>
            <p:spPr>
              <a:xfrm>
                <a:off x="887233" y="4923776"/>
                <a:ext cx="4754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𝑤𝑔</m:t>
                          </m:r>
                        </m:e>
                        <m:sub>
                          <m:r>
                            <a:rPr lang="en-US" altLang="zh-TW" b="0" i="1" smtClean="0">
                              <a:latin typeface="Cambria Math" panose="02040503050406030204" pitchFamily="18" charset="0"/>
                            </a:rPr>
                            <m:t>𝑎</m:t>
                          </m:r>
                        </m:sub>
                      </m:sSub>
                    </m:oMath>
                  </m:oMathPara>
                </a14:m>
                <a:endParaRPr lang="zh-TW" altLang="en-US" dirty="0"/>
              </a:p>
            </p:txBody>
          </p:sp>
        </mc:Choice>
        <mc:Fallback xmlns="">
          <p:sp>
            <p:nvSpPr>
              <p:cNvPr id="27" name="文字方塊 26"/>
              <p:cNvSpPr txBox="1">
                <a:spLocks noRot="1" noChangeAspect="1" noMove="1" noResize="1" noEditPoints="1" noAdjustHandles="1" noChangeArrowheads="1" noChangeShapeType="1" noTextEdit="1"/>
              </p:cNvSpPr>
              <p:nvPr/>
            </p:nvSpPr>
            <p:spPr>
              <a:xfrm>
                <a:off x="887233" y="4923776"/>
                <a:ext cx="475450" cy="276999"/>
              </a:xfrm>
              <a:prstGeom prst="rect">
                <a:avLst/>
              </a:prstGeom>
              <a:blipFill>
                <a:blip r:embed="rId6"/>
                <a:stretch>
                  <a:fillRect l="-11538" r="-1282"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2408649" y="3740801"/>
                <a:ext cx="2879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𝑛</m:t>
                          </m:r>
                        </m:e>
                        <m:sub>
                          <m:r>
                            <a:rPr lang="en-US" altLang="zh-TW" b="0" i="1" smtClean="0">
                              <a:latin typeface="Cambria Math" panose="02040503050406030204" pitchFamily="18" charset="0"/>
                            </a:rPr>
                            <m:t>1</m:t>
                          </m:r>
                        </m:sub>
                      </m:sSub>
                    </m:oMath>
                  </m:oMathPara>
                </a14:m>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2408649" y="3740801"/>
                <a:ext cx="287963" cy="276999"/>
              </a:xfrm>
              <a:prstGeom prst="rect">
                <a:avLst/>
              </a:prstGeom>
              <a:blipFill>
                <a:blip r:embed="rId7"/>
                <a:stretch>
                  <a:fillRect l="-12766" r="-8511" b="-1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1410360" y="3740800"/>
                <a:ext cx="2879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𝑛</m:t>
                          </m:r>
                        </m:e>
                        <m:sub>
                          <m:r>
                            <a:rPr lang="en-US" altLang="zh-TW" b="0" i="1" smtClean="0">
                              <a:latin typeface="Cambria Math" panose="02040503050406030204" pitchFamily="18" charset="0"/>
                            </a:rPr>
                            <m:t>1</m:t>
                          </m:r>
                        </m:sub>
                      </m:sSub>
                    </m:oMath>
                  </m:oMathPara>
                </a14:m>
                <a:endParaRPr lang="zh-TW" altLang="en-US"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1410360" y="3740800"/>
                <a:ext cx="287963" cy="276999"/>
              </a:xfrm>
              <a:prstGeom prst="rect">
                <a:avLst/>
              </a:prstGeom>
              <a:blipFill>
                <a:blip r:embed="rId8"/>
                <a:stretch>
                  <a:fillRect l="-12500" r="-6250" b="-1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476696" y="3740800"/>
                <a:ext cx="2879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𝑛</m:t>
                          </m:r>
                        </m:e>
                        <m:sub>
                          <m:r>
                            <a:rPr lang="en-US" altLang="zh-TW" b="0" i="1" smtClean="0">
                              <a:latin typeface="Cambria Math" panose="02040503050406030204" pitchFamily="18" charset="0"/>
                            </a:rPr>
                            <m:t>1</m:t>
                          </m:r>
                        </m:sub>
                      </m:sSub>
                    </m:oMath>
                  </m:oMathPara>
                </a14:m>
                <a:endParaRPr lang="zh-TW" altLang="en-US"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476696" y="3740800"/>
                <a:ext cx="287963" cy="276999"/>
              </a:xfrm>
              <a:prstGeom prst="rect">
                <a:avLst/>
              </a:prstGeom>
              <a:blipFill>
                <a:blip r:embed="rId9"/>
                <a:stretch>
                  <a:fillRect l="-12766" r="-8511" b="-15556"/>
                </a:stretch>
              </a:blipFill>
            </p:spPr>
            <p:txBody>
              <a:bodyPr/>
              <a:lstStyle/>
              <a:p>
                <a:r>
                  <a:rPr lang="zh-TW" altLang="en-US">
                    <a:noFill/>
                  </a:rPr>
                  <a:t> </a:t>
                </a:r>
              </a:p>
            </p:txBody>
          </p:sp>
        </mc:Fallback>
      </mc:AlternateContent>
      <p:sp>
        <p:nvSpPr>
          <p:cNvPr id="8" name="矩形 7"/>
          <p:cNvSpPr/>
          <p:nvPr/>
        </p:nvSpPr>
        <p:spPr>
          <a:xfrm>
            <a:off x="349875" y="2975291"/>
            <a:ext cx="2444981" cy="18080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0" name="直線單箭頭接點 29"/>
          <p:cNvCxnSpPr/>
          <p:nvPr/>
        </p:nvCxnSpPr>
        <p:spPr>
          <a:xfrm>
            <a:off x="1799248" y="4759610"/>
            <a:ext cx="38429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p:cNvCxnSpPr/>
          <p:nvPr/>
        </p:nvCxnSpPr>
        <p:spPr>
          <a:xfrm>
            <a:off x="923040" y="4759610"/>
            <a:ext cx="38429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文字方塊 30"/>
          <p:cNvSpPr txBox="1"/>
          <p:nvPr/>
        </p:nvSpPr>
        <p:spPr>
          <a:xfrm>
            <a:off x="986500" y="4491585"/>
            <a:ext cx="295274"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w</a:t>
            </a:r>
            <a:endParaRPr lang="zh-TW" altLang="en-US" sz="1200" dirty="0">
              <a:latin typeface="Times New Roman" panose="02020603050405020304" pitchFamily="18" charset="0"/>
              <a:cs typeface="Times New Roman" panose="02020603050405020304" pitchFamily="18" charset="0"/>
            </a:endParaRPr>
          </a:p>
        </p:txBody>
      </p:sp>
      <p:sp>
        <p:nvSpPr>
          <p:cNvPr id="34" name="文字方塊 33"/>
          <p:cNvSpPr txBox="1"/>
          <p:nvPr/>
        </p:nvSpPr>
        <p:spPr>
          <a:xfrm>
            <a:off x="1843844" y="4482611"/>
            <a:ext cx="295274" cy="276999"/>
          </a:xfrm>
          <a:prstGeom prst="rect">
            <a:avLst/>
          </a:prstGeom>
          <a:noFill/>
        </p:spPr>
        <p:txBody>
          <a:bodyPr wrap="none" rtlCol="0">
            <a:spAutoFit/>
          </a:bodyPr>
          <a:lstStyle/>
          <a:p>
            <a:r>
              <a:rPr lang="en-US" altLang="zh-TW" sz="1200" dirty="0" smtClean="0">
                <a:latin typeface="Times New Roman" panose="02020603050405020304" pitchFamily="18" charset="0"/>
                <a:cs typeface="Times New Roman" panose="02020603050405020304" pitchFamily="18" charset="0"/>
              </a:rPr>
              <a:t>w</a:t>
            </a:r>
            <a:endParaRPr lang="zh-TW" altLang="en-US" sz="1200" dirty="0">
              <a:latin typeface="Times New Roman" panose="02020603050405020304" pitchFamily="18" charset="0"/>
              <a:cs typeface="Times New Roman" panose="02020603050405020304" pitchFamily="18" charset="0"/>
            </a:endParaRPr>
          </a:p>
        </p:txBody>
      </p:sp>
      <p:cxnSp>
        <p:nvCxnSpPr>
          <p:cNvPr id="35" name="直線單箭頭接點 34"/>
          <p:cNvCxnSpPr/>
          <p:nvPr/>
        </p:nvCxnSpPr>
        <p:spPr>
          <a:xfrm flipV="1">
            <a:off x="1300837" y="3197287"/>
            <a:ext cx="517474" cy="223"/>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文字方塊 36"/>
          <p:cNvSpPr txBox="1"/>
          <p:nvPr/>
        </p:nvSpPr>
        <p:spPr>
          <a:xfrm>
            <a:off x="1425526" y="3156263"/>
            <a:ext cx="261610" cy="276999"/>
          </a:xfrm>
          <a:prstGeom prst="rect">
            <a:avLst/>
          </a:prstGeom>
          <a:noFill/>
        </p:spPr>
        <p:txBody>
          <a:bodyPr wrap="none" rtlCol="0">
            <a:spAutoFit/>
          </a:bodyPr>
          <a:lstStyle/>
          <a:p>
            <a:r>
              <a:rPr lang="en-US" altLang="zh-TW" sz="1200" dirty="0">
                <a:latin typeface="Times New Roman" panose="02020603050405020304" pitchFamily="18" charset="0"/>
                <a:cs typeface="Times New Roman" panose="02020603050405020304" pitchFamily="18" charset="0"/>
              </a:rPr>
              <a:t>d</a:t>
            </a:r>
            <a:endParaRPr lang="zh-TW" altLang="en-US" sz="1200" dirty="0">
              <a:latin typeface="Times New Roman" panose="02020603050405020304" pitchFamily="18" charset="0"/>
              <a:cs typeface="Times New Roman" panose="02020603050405020304" pitchFamily="18" charset="0"/>
            </a:endParaRPr>
          </a:p>
        </p:txBody>
      </p:sp>
      <p:sp>
        <p:nvSpPr>
          <p:cNvPr id="38" name="向右箭號 37"/>
          <p:cNvSpPr/>
          <p:nvPr/>
        </p:nvSpPr>
        <p:spPr>
          <a:xfrm>
            <a:off x="3287997" y="3420176"/>
            <a:ext cx="1390650" cy="53047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0000"/>
              </a:solidFill>
            </a:endParaRPr>
          </a:p>
        </p:txBody>
      </p:sp>
      <p:sp>
        <p:nvSpPr>
          <p:cNvPr id="40" name="文字方塊 39"/>
          <p:cNvSpPr txBox="1"/>
          <p:nvPr/>
        </p:nvSpPr>
        <p:spPr>
          <a:xfrm>
            <a:off x="3049025" y="3867346"/>
            <a:ext cx="1871025" cy="369332"/>
          </a:xfrm>
          <a:prstGeom prst="rect">
            <a:avLst/>
          </a:prstGeom>
          <a:noFill/>
        </p:spPr>
        <p:txBody>
          <a:bodyPr wrap="none" rtlCol="0">
            <a:spAutoFit/>
          </a:bodyPr>
          <a:lstStyle/>
          <a:p>
            <a:r>
              <a:rPr lang="en-US" altLang="zh-TW" dirty="0" smtClean="0">
                <a:latin typeface="Times New Roman" panose="02020603050405020304" pitchFamily="18" charset="0"/>
                <a:cs typeface="Times New Roman" panose="02020603050405020304" pitchFamily="18" charset="0"/>
              </a:rPr>
              <a:t>Coupled mode eq.</a:t>
            </a:r>
          </a:p>
        </p:txBody>
      </p:sp>
      <mc:AlternateContent xmlns:mc="http://schemas.openxmlformats.org/markup-compatibility/2006" xmlns:a14="http://schemas.microsoft.com/office/drawing/2010/main">
        <mc:Choice Requires="a14">
          <p:sp>
            <p:nvSpPr>
              <p:cNvPr id="41" name="文字方塊 40"/>
              <p:cNvSpPr txBox="1"/>
              <p:nvPr/>
            </p:nvSpPr>
            <p:spPr>
              <a:xfrm>
                <a:off x="5032050" y="2526974"/>
                <a:ext cx="6916785" cy="7194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𝐴</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𝐴</m:t>
                          </m:r>
                        </m:e>
                        <m:sub>
                          <m:r>
                            <a:rPr lang="en-US" altLang="zh-TW" b="0" i="1" smtClean="0">
                              <a:latin typeface="Cambria Math" panose="02040503050406030204" pitchFamily="18" charset="0"/>
                            </a:rPr>
                            <m:t>0</m:t>
                          </m:r>
                        </m:sub>
                      </m:sSub>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𝑒</m:t>
                          </m:r>
                        </m:e>
                        <m:sup>
                          <m:r>
                            <a:rPr lang="en-US" altLang="zh-TW" b="0" i="1" smtClean="0">
                              <a:latin typeface="Cambria Math" panose="02040503050406030204" pitchFamily="18" charset="0"/>
                            </a:rPr>
                            <m:t>𝑖</m:t>
                          </m:r>
                          <m:r>
                            <a:rPr lang="zh-TW" altLang="en-US" b="0" i="1" smtClean="0">
                              <a:latin typeface="Cambria Math" panose="02040503050406030204" pitchFamily="18" charset="0"/>
                            </a:rPr>
                            <m:t>𝛿</m:t>
                          </m:r>
                          <m:r>
                            <a:rPr lang="en-US" altLang="zh-TW" b="0" i="1" smtClean="0">
                              <a:latin typeface="Cambria Math" panose="02040503050406030204" pitchFamily="18" charset="0"/>
                            </a:rPr>
                            <m:t>𝑥</m:t>
                          </m:r>
                        </m:sup>
                      </m:sSup>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𝑐𝑜𝑠</m:t>
                          </m:r>
                          <m:d>
                            <m:dPr>
                              <m:begChr m:val="["/>
                              <m:endChr m:val="]"/>
                              <m:ctrlPr>
                                <a:rPr lang="en-US" altLang="zh-TW" b="0" i="1" smtClean="0">
                                  <a:latin typeface="Cambria Math" panose="02040503050406030204" pitchFamily="18" charset="0"/>
                                </a:rPr>
                              </m:ctrlPr>
                            </m:dPr>
                            <m:e>
                              <m:rad>
                                <m:radPr>
                                  <m:degHide m:val="on"/>
                                  <m:ctrlPr>
                                    <a:rPr lang="en-US" altLang="zh-TW" b="0" i="1" smtClean="0">
                                      <a:latin typeface="Cambria Math" panose="02040503050406030204" pitchFamily="18" charset="0"/>
                                    </a:rPr>
                                  </m:ctrlPr>
                                </m:radPr>
                                <m:deg/>
                                <m:e>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zh-TW" altLang="en-US" b="0" i="1" smtClean="0">
                                          <a:latin typeface="Cambria Math" panose="02040503050406030204" pitchFamily="18" charset="0"/>
                                        </a:rPr>
                                        <m:t>𝜅</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zh-TW" altLang="en-US" b="0" i="1" smtClean="0">
                                          <a:latin typeface="Cambria Math" panose="02040503050406030204" pitchFamily="18" charset="0"/>
                                        </a:rPr>
                                        <m:t>𝛿</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e>
                              </m:rad>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𝑖</m:t>
                          </m:r>
                          <m:f>
                            <m:fPr>
                              <m:ctrlPr>
                                <a:rPr lang="en-US" altLang="zh-TW" b="0" i="1" smtClean="0">
                                  <a:latin typeface="Cambria Math" panose="02040503050406030204" pitchFamily="18" charset="0"/>
                                </a:rPr>
                              </m:ctrlPr>
                            </m:fPr>
                            <m:num>
                              <m:r>
                                <a:rPr lang="zh-TW" altLang="en-US" b="0" i="1" smtClean="0">
                                  <a:latin typeface="Cambria Math" panose="02040503050406030204" pitchFamily="18" charset="0"/>
                                </a:rPr>
                                <m:t>𝛿</m:t>
                              </m:r>
                            </m:num>
                            <m:den>
                              <m:rad>
                                <m:radPr>
                                  <m:degHide m:val="on"/>
                                  <m:ctrlPr>
                                    <a:rPr lang="en-US" altLang="zh-TW" b="0" i="1" smtClean="0">
                                      <a:latin typeface="Cambria Math" panose="02040503050406030204" pitchFamily="18" charset="0"/>
                                    </a:rPr>
                                  </m:ctrlPr>
                                </m:radPr>
                                <m:deg/>
                                <m:e>
                                  <m:d>
                                    <m:dPr>
                                      <m:ctrlPr>
                                        <a:rPr lang="en-US" altLang="zh-TW" b="0" i="1" smtClean="0">
                                          <a:latin typeface="Cambria Math" panose="02040503050406030204" pitchFamily="18" charset="0"/>
                                        </a:rPr>
                                      </m:ctrlPr>
                                    </m:dPr>
                                    <m:e>
                                      <m:sSup>
                                        <m:sSupPr>
                                          <m:ctrlPr>
                                            <a:rPr lang="en-US" altLang="zh-TW" b="0" i="1" smtClean="0">
                                              <a:latin typeface="Cambria Math" panose="02040503050406030204" pitchFamily="18" charset="0"/>
                                            </a:rPr>
                                          </m:ctrlPr>
                                        </m:sSupPr>
                                        <m:e>
                                          <m:r>
                                            <a:rPr lang="zh-TW" altLang="en-US" b="0" i="1" smtClean="0">
                                              <a:latin typeface="Cambria Math" panose="02040503050406030204" pitchFamily="18" charset="0"/>
                                            </a:rPr>
                                            <m:t>𝜅</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zh-TW" altLang="en-US" b="0" i="1" smtClean="0">
                                              <a:latin typeface="Cambria Math" panose="02040503050406030204" pitchFamily="18" charset="0"/>
                                            </a:rPr>
                                            <m:t>𝛿</m:t>
                                          </m:r>
                                        </m:e>
                                        <m:sup>
                                          <m:r>
                                            <a:rPr lang="en-US" altLang="zh-TW" b="0" i="1" smtClean="0">
                                              <a:latin typeface="Cambria Math" panose="02040503050406030204" pitchFamily="18" charset="0"/>
                                            </a:rPr>
                                            <m:t>2</m:t>
                                          </m:r>
                                        </m:sup>
                                      </m:sSup>
                                    </m:e>
                                  </m:d>
                                </m:e>
                              </m:rad>
                            </m:den>
                          </m:f>
                          <m:r>
                            <m:rPr>
                              <m:sty m:val="p"/>
                            </m:rPr>
                            <a:rPr lang="en-US" altLang="zh-TW" b="0" i="0" smtClean="0">
                              <a:latin typeface="Cambria Math" panose="02040503050406030204" pitchFamily="18" charset="0"/>
                            </a:rPr>
                            <m:t>sin</m:t>
                          </m:r>
                          <m:d>
                            <m:dPr>
                              <m:begChr m:val="["/>
                              <m:endChr m:val="]"/>
                              <m:ctrlPr>
                                <a:rPr lang="en-US" altLang="zh-TW" b="0" i="1" smtClean="0">
                                  <a:latin typeface="Cambria Math" panose="02040503050406030204" pitchFamily="18" charset="0"/>
                                </a:rPr>
                              </m:ctrlPr>
                            </m:dPr>
                            <m:e>
                              <m:rad>
                                <m:radPr>
                                  <m:degHide m:val="on"/>
                                  <m:ctrlPr>
                                    <a:rPr lang="en-US" altLang="zh-TW" b="0" i="1" smtClean="0">
                                      <a:latin typeface="Cambria Math" panose="02040503050406030204" pitchFamily="18" charset="0"/>
                                    </a:rPr>
                                  </m:ctrlPr>
                                </m:radPr>
                                <m:deg/>
                                <m:e>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zh-TW" altLang="en-US" b="0" i="1" smtClean="0">
                                          <a:latin typeface="Cambria Math" panose="02040503050406030204" pitchFamily="18" charset="0"/>
                                        </a:rPr>
                                        <m:t>𝜅</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zh-TW" altLang="en-US" b="0" i="1" smtClean="0">
                                          <a:latin typeface="Cambria Math" panose="02040503050406030204" pitchFamily="18" charset="0"/>
                                        </a:rPr>
                                        <m:t>𝛿</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e>
                              </m:rad>
                              <m:r>
                                <a:rPr lang="en-US" altLang="zh-TW" b="0" i="1" smtClean="0">
                                  <a:latin typeface="Cambria Math" panose="02040503050406030204" pitchFamily="18" charset="0"/>
                                </a:rPr>
                                <m:t>𝑥</m:t>
                              </m:r>
                            </m:e>
                          </m:d>
                        </m:e>
                      </m:d>
                    </m:oMath>
                  </m:oMathPara>
                </a14:m>
                <a:endParaRPr lang="zh-TW" altLang="en-US" dirty="0"/>
              </a:p>
            </p:txBody>
          </p:sp>
        </mc:Choice>
        <mc:Fallback xmlns="">
          <p:sp>
            <p:nvSpPr>
              <p:cNvPr id="41" name="文字方塊 40"/>
              <p:cNvSpPr txBox="1">
                <a:spLocks noRot="1" noChangeAspect="1" noMove="1" noResize="1" noEditPoints="1" noAdjustHandles="1" noChangeArrowheads="1" noChangeShapeType="1" noTextEdit="1"/>
              </p:cNvSpPr>
              <p:nvPr/>
            </p:nvSpPr>
            <p:spPr>
              <a:xfrm>
                <a:off x="5032050" y="2526974"/>
                <a:ext cx="6916785" cy="719428"/>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p:cNvSpPr txBox="1"/>
              <p:nvPr/>
            </p:nvSpPr>
            <p:spPr>
              <a:xfrm>
                <a:off x="5032050" y="3288626"/>
                <a:ext cx="4883331" cy="59067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𝐵</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m:t>
                          </m:r>
                          <m:r>
                            <a:rPr lang="en-US" altLang="zh-TW" b="0" i="1" smtClean="0">
                              <a:latin typeface="Cambria Math" panose="02040503050406030204" pitchFamily="18" charset="0"/>
                            </a:rPr>
                            <m:t>𝐴</m:t>
                          </m:r>
                        </m:e>
                        <m:sub>
                          <m:r>
                            <a:rPr lang="en-US" altLang="zh-TW" b="0" i="1" smtClean="0">
                              <a:latin typeface="Cambria Math" panose="02040503050406030204" pitchFamily="18" charset="0"/>
                            </a:rPr>
                            <m:t>0</m:t>
                          </m:r>
                        </m:sub>
                      </m:sSub>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𝑒</m:t>
                          </m:r>
                        </m:e>
                        <m:sup>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zh-TW" altLang="en-US" b="0" i="1" smtClean="0">
                              <a:latin typeface="Cambria Math" panose="02040503050406030204" pitchFamily="18" charset="0"/>
                            </a:rPr>
                            <m:t>𝛿</m:t>
                          </m:r>
                          <m:r>
                            <a:rPr lang="en-US" altLang="zh-TW" b="0" i="1" smtClean="0">
                              <a:latin typeface="Cambria Math" panose="02040503050406030204" pitchFamily="18" charset="0"/>
                            </a:rPr>
                            <m:t>𝑥</m:t>
                          </m:r>
                        </m:sup>
                      </m:sSup>
                      <m:f>
                        <m:fPr>
                          <m:ctrlPr>
                            <a:rPr lang="en-US" altLang="zh-TW" b="0" i="1" smtClean="0">
                              <a:latin typeface="Cambria Math" panose="02040503050406030204" pitchFamily="18" charset="0"/>
                            </a:rPr>
                          </m:ctrlPr>
                        </m:fPr>
                        <m:num>
                          <m:r>
                            <a:rPr lang="zh-TW" altLang="en-US" b="0" i="1" smtClean="0">
                              <a:latin typeface="Cambria Math" panose="02040503050406030204" pitchFamily="18" charset="0"/>
                            </a:rPr>
                            <m:t>𝜅</m:t>
                          </m:r>
                        </m:num>
                        <m:den>
                          <m:rad>
                            <m:radPr>
                              <m:degHide m:val="on"/>
                              <m:ctrlPr>
                                <a:rPr lang="en-US" altLang="zh-TW" b="0" i="1" smtClean="0">
                                  <a:latin typeface="Cambria Math" panose="02040503050406030204" pitchFamily="18" charset="0"/>
                                </a:rPr>
                              </m:ctrlPr>
                            </m:radPr>
                            <m:deg/>
                            <m:e>
                              <m:d>
                                <m:dPr>
                                  <m:ctrlPr>
                                    <a:rPr lang="en-US" altLang="zh-TW" b="0" i="1" smtClean="0">
                                      <a:latin typeface="Cambria Math" panose="02040503050406030204" pitchFamily="18" charset="0"/>
                                    </a:rPr>
                                  </m:ctrlPr>
                                </m:dPr>
                                <m:e>
                                  <m:sSup>
                                    <m:sSupPr>
                                      <m:ctrlPr>
                                        <a:rPr lang="en-US" altLang="zh-TW" b="0" i="1" smtClean="0">
                                          <a:latin typeface="Cambria Math" panose="02040503050406030204" pitchFamily="18" charset="0"/>
                                        </a:rPr>
                                      </m:ctrlPr>
                                    </m:sSupPr>
                                    <m:e>
                                      <m:r>
                                        <a:rPr lang="zh-TW" altLang="en-US" b="0" i="1" smtClean="0">
                                          <a:latin typeface="Cambria Math" panose="02040503050406030204" pitchFamily="18" charset="0"/>
                                        </a:rPr>
                                        <m:t>𝜅</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zh-TW" altLang="en-US" b="0" i="1" smtClean="0">
                                          <a:latin typeface="Cambria Math" panose="02040503050406030204" pitchFamily="18" charset="0"/>
                                        </a:rPr>
                                        <m:t>𝛿</m:t>
                                      </m:r>
                                    </m:e>
                                    <m:sup>
                                      <m:r>
                                        <a:rPr lang="en-US" altLang="zh-TW" b="0" i="1" smtClean="0">
                                          <a:latin typeface="Cambria Math" panose="02040503050406030204" pitchFamily="18" charset="0"/>
                                        </a:rPr>
                                        <m:t>2</m:t>
                                      </m:r>
                                    </m:sup>
                                  </m:sSup>
                                </m:e>
                              </m:d>
                            </m:e>
                          </m:rad>
                        </m:den>
                      </m:f>
                      <m:r>
                        <m:rPr>
                          <m:sty m:val="p"/>
                        </m:rPr>
                        <a:rPr lang="en-US" altLang="zh-TW" b="0" i="0" smtClean="0">
                          <a:latin typeface="Cambria Math" panose="02040503050406030204" pitchFamily="18" charset="0"/>
                        </a:rPr>
                        <m:t>sin</m:t>
                      </m:r>
                      <m:d>
                        <m:dPr>
                          <m:begChr m:val="["/>
                          <m:endChr m:val="]"/>
                          <m:ctrlPr>
                            <a:rPr lang="en-US" altLang="zh-TW" b="0" i="1" smtClean="0">
                              <a:latin typeface="Cambria Math" panose="02040503050406030204" pitchFamily="18" charset="0"/>
                            </a:rPr>
                          </m:ctrlPr>
                        </m:dPr>
                        <m:e>
                          <m:rad>
                            <m:radPr>
                              <m:degHide m:val="on"/>
                              <m:ctrlPr>
                                <a:rPr lang="en-US" altLang="zh-TW" b="0" i="1" smtClean="0">
                                  <a:latin typeface="Cambria Math" panose="02040503050406030204" pitchFamily="18" charset="0"/>
                                </a:rPr>
                              </m:ctrlPr>
                            </m:radPr>
                            <m:deg/>
                            <m:e>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zh-TW" altLang="en-US" b="0" i="1" smtClean="0">
                                      <a:latin typeface="Cambria Math" panose="02040503050406030204" pitchFamily="18" charset="0"/>
                                    </a:rPr>
                                    <m:t>𝜅</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zh-TW" altLang="en-US" b="0" i="1" smtClean="0">
                                      <a:latin typeface="Cambria Math" panose="02040503050406030204" pitchFamily="18" charset="0"/>
                                    </a:rPr>
                                    <m:t>𝛿</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e>
                          </m:rad>
                          <m:r>
                            <a:rPr lang="en-US" altLang="zh-TW" b="0" i="1" smtClean="0">
                              <a:latin typeface="Cambria Math" panose="02040503050406030204" pitchFamily="18" charset="0"/>
                            </a:rPr>
                            <m:t>𝑥</m:t>
                          </m:r>
                        </m:e>
                      </m:d>
                    </m:oMath>
                  </m:oMathPara>
                </a14:m>
                <a:endParaRPr lang="zh-TW" altLang="en-US"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5032050" y="3288626"/>
                <a:ext cx="4883331" cy="590675"/>
              </a:xfrm>
              <a:prstGeom prst="rect">
                <a:avLst/>
              </a:prstGeom>
              <a:blipFill>
                <a:blip r:embed="rId11"/>
                <a:stretch>
                  <a:fillRect b="-103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p:cNvSpPr txBox="1"/>
              <p:nvPr/>
            </p:nvSpPr>
            <p:spPr>
              <a:xfrm>
                <a:off x="5032049" y="4073233"/>
                <a:ext cx="276714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𝐴</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𝐴</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rPr>
                        <m:t>𝐴</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0</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𝐵</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𝑥</m:t>
                      </m:r>
                      <m:r>
                        <a:rPr lang="en-US" altLang="zh-TW" b="0" i="1" smtClean="0">
                          <a:latin typeface="Cambria Math" panose="02040503050406030204" pitchFamily="18" charset="0"/>
                        </a:rPr>
                        <m:t>)</m:t>
                      </m:r>
                    </m:oMath>
                  </m:oMathPara>
                </a14:m>
                <a:endParaRPr lang="zh-TW" altLang="en-US" dirty="0"/>
              </a:p>
            </p:txBody>
          </p:sp>
        </mc:Choice>
        <mc:Fallback xmlns="">
          <p:sp>
            <p:nvSpPr>
              <p:cNvPr id="43" name="文字方塊 42"/>
              <p:cNvSpPr txBox="1">
                <a:spLocks noRot="1" noChangeAspect="1" noMove="1" noResize="1" noEditPoints="1" noAdjustHandles="1" noChangeArrowheads="1" noChangeShapeType="1" noTextEdit="1"/>
              </p:cNvSpPr>
              <p:nvPr/>
            </p:nvSpPr>
            <p:spPr>
              <a:xfrm>
                <a:off x="5032049" y="4073233"/>
                <a:ext cx="2767149" cy="276999"/>
              </a:xfrm>
              <a:prstGeom prst="rect">
                <a:avLst/>
              </a:prstGeom>
              <a:blipFill>
                <a:blip r:embed="rId12"/>
                <a:stretch>
                  <a:fillRect t="-2174" r="-661" b="-3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文字方塊 43"/>
              <p:cNvSpPr txBox="1"/>
              <p:nvPr/>
            </p:nvSpPr>
            <p:spPr>
              <a:xfrm>
                <a:off x="5032050" y="4544164"/>
                <a:ext cx="4883331" cy="5950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𝑃</m:t>
                          </m:r>
                        </m:e>
                        <m:sub>
                          <m:r>
                            <a:rPr lang="en-US" altLang="zh-TW" i="1">
                              <a:latin typeface="Cambria Math" panose="02040503050406030204" pitchFamily="18" charset="0"/>
                            </a:rPr>
                            <m:t>𝐵</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𝐵</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rPr>
                        <m:t>𝐵</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0</m:t>
                          </m:r>
                        </m:sub>
                      </m:sSub>
                      <m:f>
                        <m:fPr>
                          <m:ctrlPr>
                            <a:rPr lang="en-US" altLang="zh-TW" b="0" i="1" smtClean="0">
                              <a:latin typeface="Cambria Math" panose="02040503050406030204" pitchFamily="18" charset="0"/>
                            </a:rPr>
                          </m:ctrlPr>
                        </m:fPr>
                        <m:num>
                          <m:sSup>
                            <m:sSupPr>
                              <m:ctrlPr>
                                <a:rPr lang="en-US" altLang="zh-TW" b="0" i="1" smtClean="0">
                                  <a:latin typeface="Cambria Math" panose="02040503050406030204" pitchFamily="18" charset="0"/>
                                </a:rPr>
                              </m:ctrlPr>
                            </m:sSupPr>
                            <m:e>
                              <m:r>
                                <a:rPr lang="zh-TW" altLang="en-US" b="0" i="1" smtClean="0">
                                  <a:latin typeface="Cambria Math" panose="02040503050406030204" pitchFamily="18" charset="0"/>
                                </a:rPr>
                                <m:t>𝜅</m:t>
                              </m:r>
                            </m:e>
                            <m:sup>
                              <m:r>
                                <a:rPr lang="en-US" altLang="zh-TW" b="0" i="1" smtClean="0">
                                  <a:latin typeface="Cambria Math" panose="02040503050406030204" pitchFamily="18" charset="0"/>
                                </a:rPr>
                                <m:t>2</m:t>
                              </m:r>
                            </m:sup>
                          </m:sSup>
                        </m:num>
                        <m:den>
                          <m:d>
                            <m:dPr>
                              <m:ctrlPr>
                                <a:rPr lang="en-US" altLang="zh-TW" b="0" i="1" smtClean="0">
                                  <a:latin typeface="Cambria Math" panose="02040503050406030204" pitchFamily="18" charset="0"/>
                                </a:rPr>
                              </m:ctrlPr>
                            </m:dPr>
                            <m:e>
                              <m:sSup>
                                <m:sSupPr>
                                  <m:ctrlPr>
                                    <a:rPr lang="en-US" altLang="zh-TW" b="0" i="1" smtClean="0">
                                      <a:latin typeface="Cambria Math" panose="02040503050406030204" pitchFamily="18" charset="0"/>
                                    </a:rPr>
                                  </m:ctrlPr>
                                </m:sSupPr>
                                <m:e>
                                  <m:r>
                                    <a:rPr lang="zh-TW" altLang="en-US" b="0" i="1" smtClean="0">
                                      <a:latin typeface="Cambria Math" panose="02040503050406030204" pitchFamily="18" charset="0"/>
                                    </a:rPr>
                                    <m:t>𝜅</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zh-TW" altLang="en-US" b="0" i="1" smtClean="0">
                                      <a:latin typeface="Cambria Math" panose="02040503050406030204" pitchFamily="18" charset="0"/>
                                    </a:rPr>
                                    <m:t>𝛿</m:t>
                                  </m:r>
                                </m:e>
                                <m:sup>
                                  <m:r>
                                    <a:rPr lang="en-US" altLang="zh-TW" b="0" i="1" smtClean="0">
                                      <a:latin typeface="Cambria Math" panose="02040503050406030204" pitchFamily="18" charset="0"/>
                                    </a:rPr>
                                    <m:t>2</m:t>
                                  </m:r>
                                </m:sup>
                              </m:sSup>
                            </m:e>
                          </m:d>
                        </m:den>
                      </m:f>
                      <m:sSup>
                        <m:sSupPr>
                          <m:ctrlPr>
                            <a:rPr lang="en-US" altLang="zh-TW" b="0" i="1" smtClean="0">
                              <a:latin typeface="Cambria Math" panose="02040503050406030204" pitchFamily="18" charset="0"/>
                            </a:rPr>
                          </m:ctrlPr>
                        </m:sSupPr>
                        <m:e>
                          <m:r>
                            <m:rPr>
                              <m:sty m:val="p"/>
                            </m:rPr>
                            <a:rPr lang="en-US" altLang="zh-TW" b="0" i="0" smtClean="0">
                              <a:latin typeface="Cambria Math" panose="02040503050406030204" pitchFamily="18" charset="0"/>
                            </a:rPr>
                            <m:t>sin</m:t>
                          </m:r>
                        </m:e>
                        <m:sup>
                          <m:r>
                            <a:rPr lang="en-US" altLang="zh-TW" b="0" i="1" smtClean="0">
                              <a:latin typeface="Cambria Math" panose="02040503050406030204" pitchFamily="18" charset="0"/>
                            </a:rPr>
                            <m:t>2</m:t>
                          </m:r>
                        </m:sup>
                      </m:sSup>
                      <m:d>
                        <m:dPr>
                          <m:begChr m:val="["/>
                          <m:endChr m:val="]"/>
                          <m:ctrlPr>
                            <a:rPr lang="en-US" altLang="zh-TW" b="0" i="1" smtClean="0">
                              <a:latin typeface="Cambria Math" panose="02040503050406030204" pitchFamily="18" charset="0"/>
                            </a:rPr>
                          </m:ctrlPr>
                        </m:dPr>
                        <m:e>
                          <m:rad>
                            <m:radPr>
                              <m:degHide m:val="on"/>
                              <m:ctrlPr>
                                <a:rPr lang="en-US" altLang="zh-TW" b="0" i="1" smtClean="0">
                                  <a:latin typeface="Cambria Math" panose="02040503050406030204" pitchFamily="18" charset="0"/>
                                </a:rPr>
                              </m:ctrlPr>
                            </m:radPr>
                            <m:deg/>
                            <m:e>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zh-TW" altLang="en-US" b="0" i="1" smtClean="0">
                                      <a:latin typeface="Cambria Math" panose="02040503050406030204" pitchFamily="18" charset="0"/>
                                    </a:rPr>
                                    <m:t>𝜅</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zh-TW" altLang="en-US" b="0" i="1" smtClean="0">
                                      <a:latin typeface="Cambria Math" panose="02040503050406030204" pitchFamily="18" charset="0"/>
                                    </a:rPr>
                                    <m:t>𝛿</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e>
                          </m:rad>
                          <m:r>
                            <a:rPr lang="en-US" altLang="zh-TW" b="0" i="1" smtClean="0">
                              <a:latin typeface="Cambria Math" panose="02040503050406030204" pitchFamily="18" charset="0"/>
                            </a:rPr>
                            <m:t>𝑥</m:t>
                          </m:r>
                        </m:e>
                      </m:d>
                    </m:oMath>
                  </m:oMathPara>
                </a14:m>
                <a:endParaRPr lang="zh-TW" altLang="en-US"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5032050" y="4544164"/>
                <a:ext cx="4883331" cy="595035"/>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矩形 44"/>
              <p:cNvSpPr/>
              <p:nvPr/>
            </p:nvSpPr>
            <p:spPr>
              <a:xfrm>
                <a:off x="5032050" y="5333131"/>
                <a:ext cx="3057888" cy="6280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b="0" i="1" smtClean="0">
                          <a:latin typeface="Cambria Math" panose="02040503050406030204" pitchFamily="18" charset="0"/>
                        </a:rPr>
                        <m:t>𝛿</m:t>
                      </m:r>
                      <m:r>
                        <a:rPr lang="en-US" altLang="zh-TW" b="0" i="0" smtClean="0">
                          <a:latin typeface="Cambria Math" panose="02040503050406030204" pitchFamily="18" charset="0"/>
                        </a:rPr>
                        <m:t>=</m:t>
                      </m:r>
                      <m:f>
                        <m:fPr>
                          <m:ctrlPr>
                            <a:rPr lang="en-US" altLang="zh-TW" b="0" i="1" smtClean="0">
                              <a:latin typeface="Cambria Math" panose="02040503050406030204" pitchFamily="18" charset="0"/>
                            </a:rPr>
                          </m:ctrlPr>
                        </m:fPr>
                        <m:num>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𝛽</m:t>
                                  </m:r>
                                </m:e>
                                <m:sub>
                                  <m:r>
                                    <a:rPr lang="en-US" altLang="zh-TW" b="0" i="1" smtClean="0">
                                      <a:latin typeface="Cambria Math" panose="02040503050406030204" pitchFamily="18" charset="0"/>
                                    </a:rPr>
                                    <m:t>𝑎</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𝜅</m:t>
                                  </m:r>
                                </m:e>
                                <m:sub>
                                  <m:r>
                                    <a:rPr lang="en-US" altLang="zh-TW" b="0" i="1" smtClean="0">
                                      <a:latin typeface="Cambria Math" panose="02040503050406030204" pitchFamily="18" charset="0"/>
                                    </a:rPr>
                                    <m:t>𝑎𝑎</m:t>
                                  </m:r>
                                </m:sub>
                              </m:sSub>
                            </m:e>
                          </m:d>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𝛽</m:t>
                              </m:r>
                            </m:e>
                            <m:sub>
                              <m:r>
                                <a:rPr lang="en-US" altLang="zh-TW" b="0" i="1" smtClean="0">
                                  <a:latin typeface="Cambria Math" panose="02040503050406030204" pitchFamily="18" charset="0"/>
                                </a:rPr>
                                <m:t>𝑏</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𝜅</m:t>
                              </m:r>
                            </m:e>
                            <m:sub>
                              <m:r>
                                <a:rPr lang="en-US" altLang="zh-TW" b="0" i="1" smtClean="0">
                                  <a:latin typeface="Cambria Math" panose="02040503050406030204" pitchFamily="18" charset="0"/>
                                </a:rPr>
                                <m:t>𝑏𝑏</m:t>
                              </m:r>
                            </m:sub>
                          </m:sSub>
                          <m:r>
                            <a:rPr lang="en-US" altLang="zh-TW" b="0" i="1" smtClean="0">
                              <a:latin typeface="Cambria Math" panose="02040503050406030204" pitchFamily="18" charset="0"/>
                            </a:rPr>
                            <m:t>)</m:t>
                          </m:r>
                        </m:num>
                        <m:den>
                          <m:r>
                            <a:rPr lang="en-US" altLang="zh-TW" b="0" i="1" smtClean="0">
                              <a:latin typeface="Cambria Math" panose="02040503050406030204" pitchFamily="18" charset="0"/>
                            </a:rPr>
                            <m:t>2</m:t>
                          </m:r>
                        </m:den>
                      </m:f>
                    </m:oMath>
                  </m:oMathPara>
                </a14:m>
                <a:endParaRPr lang="zh-TW" altLang="en-US" dirty="0"/>
              </a:p>
            </p:txBody>
          </p:sp>
        </mc:Choice>
        <mc:Fallback xmlns="">
          <p:sp>
            <p:nvSpPr>
              <p:cNvPr id="45" name="矩形 44"/>
              <p:cNvSpPr>
                <a:spLocks noRot="1" noChangeAspect="1" noMove="1" noResize="1" noEditPoints="1" noAdjustHandles="1" noChangeArrowheads="1" noChangeShapeType="1" noTextEdit="1"/>
              </p:cNvSpPr>
              <p:nvPr/>
            </p:nvSpPr>
            <p:spPr>
              <a:xfrm>
                <a:off x="5032050" y="5333131"/>
                <a:ext cx="3057888" cy="628057"/>
              </a:xfrm>
              <a:prstGeom prst="rect">
                <a:avLst/>
              </a:prstGeom>
              <a:blipFill>
                <a:blip r:embed="rId14"/>
                <a:stretch>
                  <a:fillRect/>
                </a:stretch>
              </a:blipFill>
            </p:spPr>
            <p:txBody>
              <a:bodyPr/>
              <a:lstStyle/>
              <a:p>
                <a:r>
                  <a:rPr lang="zh-TW" altLang="en-US">
                    <a:noFill/>
                  </a:rPr>
                  <a:t> </a:t>
                </a:r>
              </a:p>
            </p:txBody>
          </p:sp>
        </mc:Fallback>
      </mc:AlternateContent>
      <p:sp>
        <p:nvSpPr>
          <p:cNvPr id="48" name="向右箭號 47"/>
          <p:cNvSpPr/>
          <p:nvPr/>
        </p:nvSpPr>
        <p:spPr>
          <a:xfrm rot="16200000">
            <a:off x="1681264" y="2695016"/>
            <a:ext cx="662280" cy="27962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0000"/>
              </a:solidFill>
            </a:endParaRPr>
          </a:p>
        </p:txBody>
      </p:sp>
      <p:sp>
        <p:nvSpPr>
          <p:cNvPr id="49" name="向右箭號 48"/>
          <p:cNvSpPr/>
          <p:nvPr/>
        </p:nvSpPr>
        <p:spPr>
          <a:xfrm rot="16200000">
            <a:off x="785365" y="2695016"/>
            <a:ext cx="662280" cy="27962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0000"/>
              </a:solidFill>
            </a:endParaRPr>
          </a:p>
        </p:txBody>
      </p:sp>
      <mc:AlternateContent xmlns:mc="http://schemas.openxmlformats.org/markup-compatibility/2006" xmlns:a14="http://schemas.microsoft.com/office/drawing/2010/main">
        <mc:Choice Requires="a14">
          <p:sp>
            <p:nvSpPr>
              <p:cNvPr id="39" name="矩形 38"/>
              <p:cNvSpPr/>
              <p:nvPr/>
            </p:nvSpPr>
            <p:spPr>
              <a:xfrm>
                <a:off x="863397" y="2540913"/>
                <a:ext cx="4673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𝑃</m:t>
                          </m:r>
                        </m:e>
                        <m:sub>
                          <m:r>
                            <a:rPr lang="en-US" altLang="zh-TW" i="1">
                              <a:latin typeface="Cambria Math" panose="02040503050406030204" pitchFamily="18" charset="0"/>
                            </a:rPr>
                            <m:t>𝐴</m:t>
                          </m:r>
                        </m:sub>
                      </m:sSub>
                    </m:oMath>
                  </m:oMathPara>
                </a14:m>
                <a:endParaRPr lang="zh-TW" altLang="en-US" dirty="0"/>
              </a:p>
            </p:txBody>
          </p:sp>
        </mc:Choice>
        <mc:Fallback xmlns="">
          <p:sp>
            <p:nvSpPr>
              <p:cNvPr id="39" name="矩形 38"/>
              <p:cNvSpPr>
                <a:spLocks noRot="1" noChangeAspect="1" noMove="1" noResize="1" noEditPoints="1" noAdjustHandles="1" noChangeArrowheads="1" noChangeShapeType="1" noTextEdit="1"/>
              </p:cNvSpPr>
              <p:nvPr/>
            </p:nvSpPr>
            <p:spPr>
              <a:xfrm>
                <a:off x="863397" y="2540913"/>
                <a:ext cx="467372" cy="369332"/>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矩形 49"/>
              <p:cNvSpPr/>
              <p:nvPr/>
            </p:nvSpPr>
            <p:spPr>
              <a:xfrm>
                <a:off x="1757317" y="2558340"/>
                <a:ext cx="48327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𝑃</m:t>
                          </m:r>
                        </m:e>
                        <m:sub>
                          <m:r>
                            <a:rPr lang="en-US" altLang="zh-TW" i="1">
                              <a:latin typeface="Cambria Math" panose="02040503050406030204" pitchFamily="18" charset="0"/>
                            </a:rPr>
                            <m:t>𝐵</m:t>
                          </m:r>
                        </m:sub>
                      </m:sSub>
                    </m:oMath>
                  </m:oMathPara>
                </a14:m>
                <a:endParaRPr lang="zh-TW" altLang="en-US" dirty="0"/>
              </a:p>
            </p:txBody>
          </p:sp>
        </mc:Choice>
        <mc:Fallback xmlns="">
          <p:sp>
            <p:nvSpPr>
              <p:cNvPr id="50" name="矩形 49"/>
              <p:cNvSpPr>
                <a:spLocks noRot="1" noChangeAspect="1" noMove="1" noResize="1" noEditPoints="1" noAdjustHandles="1" noChangeArrowheads="1" noChangeShapeType="1" noTextEdit="1"/>
              </p:cNvSpPr>
              <p:nvPr/>
            </p:nvSpPr>
            <p:spPr>
              <a:xfrm>
                <a:off x="1757317" y="2558340"/>
                <a:ext cx="483274" cy="369332"/>
              </a:xfrm>
              <a:prstGeom prst="rect">
                <a:avLst/>
              </a:prstGeom>
              <a:blipFill>
                <a:blip r:embed="rId16"/>
                <a:stretch>
                  <a:fillRect/>
                </a:stretch>
              </a:blipFill>
            </p:spPr>
            <p:txBody>
              <a:bodyPr/>
              <a:lstStyle/>
              <a:p>
                <a:r>
                  <a:rPr lang="zh-TW" altLang="en-US">
                    <a:noFill/>
                  </a:rPr>
                  <a:t> </a:t>
                </a:r>
              </a:p>
            </p:txBody>
          </p:sp>
        </mc:Fallback>
      </mc:AlternateContent>
      <p:cxnSp>
        <p:nvCxnSpPr>
          <p:cNvPr id="52" name="直線單箭頭接點 51"/>
          <p:cNvCxnSpPr/>
          <p:nvPr/>
        </p:nvCxnSpPr>
        <p:spPr>
          <a:xfrm flipV="1">
            <a:off x="2635225" y="5327851"/>
            <a:ext cx="0" cy="720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p:nvPr/>
        </p:nvCxnSpPr>
        <p:spPr>
          <a:xfrm>
            <a:off x="2635225" y="6047851"/>
            <a:ext cx="72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文字方塊 57"/>
          <p:cNvSpPr txBox="1"/>
          <p:nvPr/>
        </p:nvSpPr>
        <p:spPr>
          <a:xfrm>
            <a:off x="2485184" y="4925121"/>
            <a:ext cx="300082"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x</a:t>
            </a:r>
            <a:endParaRPr lang="zh-TW" altLang="en-US" dirty="0">
              <a:latin typeface="Times New Roman" panose="02020603050405020304" pitchFamily="18" charset="0"/>
              <a:cs typeface="Times New Roman" panose="02020603050405020304" pitchFamily="18" charset="0"/>
            </a:endParaRPr>
          </a:p>
        </p:txBody>
      </p:sp>
      <p:sp>
        <p:nvSpPr>
          <p:cNvPr id="60" name="文字方塊 59"/>
          <p:cNvSpPr txBox="1"/>
          <p:nvPr/>
        </p:nvSpPr>
        <p:spPr>
          <a:xfrm>
            <a:off x="3353156" y="5863185"/>
            <a:ext cx="300082" cy="369332"/>
          </a:xfrm>
          <a:prstGeom prst="rect">
            <a:avLst/>
          </a:prstGeom>
          <a:noFill/>
        </p:spPr>
        <p:txBody>
          <a:bodyPr wrap="none" rtlCol="0">
            <a:spAutoFit/>
          </a:bodyPr>
          <a:lstStyle/>
          <a:p>
            <a:r>
              <a:rPr lang="en-US" altLang="zh-TW" dirty="0" smtClean="0">
                <a:latin typeface="Times New Roman" panose="02020603050405020304" pitchFamily="18" charset="0"/>
                <a:cs typeface="Times New Roman" panose="02020603050405020304" pitchFamily="18" charset="0"/>
              </a:rPr>
              <a:t>y</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52816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2032</TotalTime>
  <Words>944</Words>
  <Application>Microsoft Office PowerPoint</Application>
  <PresentationFormat>寬螢幕</PresentationFormat>
  <Paragraphs>155</Paragraphs>
  <Slides>23</Slides>
  <Notes>3</Notes>
  <HiddenSlides>3</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23</vt:i4>
      </vt:variant>
    </vt:vector>
  </HeadingPairs>
  <TitlesOfParts>
    <vt:vector size="32" baseType="lpstr">
      <vt:lpstr>MS Gothic</vt:lpstr>
      <vt:lpstr>新細明體</vt:lpstr>
      <vt:lpstr>標楷體</vt:lpstr>
      <vt:lpstr>Arial</vt:lpstr>
      <vt:lpstr>Calibri</vt:lpstr>
      <vt:lpstr>Calibri Light</vt:lpstr>
      <vt:lpstr>Cambria Math</vt:lpstr>
      <vt:lpstr>Times New Roman</vt:lpstr>
      <vt:lpstr>Office 佈景主題</vt:lpstr>
      <vt:lpstr>以週期性晶疇極化反轉鈦擴散式鈮酸鋰波導絕熱耦合器作為全光開關之研究 Non-phase-matched all optical switching based on stimulated Raman adiabatic passage in Ti-diffused periodically poled lithium niobate waveguides</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Non-phase matched all optical switching based on stimulated Raman adiabatic passage by using a  ti-diffusion PPLN waveguide</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Non-phase matched all optical switching based on stimulated Raman adiabatic passage by using a  ti-diffusion PPLN waveguide</dc:title>
  <dc:creator>Windows User</dc:creator>
  <cp:lastModifiedBy>Windows User</cp:lastModifiedBy>
  <cp:revision>109</cp:revision>
  <dcterms:created xsi:type="dcterms:W3CDTF">2020-11-28T04:01:15Z</dcterms:created>
  <dcterms:modified xsi:type="dcterms:W3CDTF">2020-12-22T03:00:15Z</dcterms:modified>
</cp:coreProperties>
</file>