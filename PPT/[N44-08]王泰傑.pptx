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48" r:id="rId1"/>
  </p:sldMasterIdLst>
  <p:notesMasterIdLst>
    <p:notesMasterId r:id="rId45"/>
  </p:notesMasterIdLst>
  <p:sldIdLst>
    <p:sldId id="364" r:id="rId2"/>
    <p:sldId id="355" r:id="rId3"/>
    <p:sldId id="288" r:id="rId4"/>
    <p:sldId id="366" r:id="rId5"/>
    <p:sldId id="258" r:id="rId6"/>
    <p:sldId id="372" r:id="rId7"/>
    <p:sldId id="259" r:id="rId8"/>
    <p:sldId id="381" r:id="rId9"/>
    <p:sldId id="332" r:id="rId10"/>
    <p:sldId id="333" r:id="rId11"/>
    <p:sldId id="349" r:id="rId12"/>
    <p:sldId id="373" r:id="rId13"/>
    <p:sldId id="382" r:id="rId14"/>
    <p:sldId id="335" r:id="rId15"/>
    <p:sldId id="374" r:id="rId16"/>
    <p:sldId id="379" r:id="rId17"/>
    <p:sldId id="346" r:id="rId18"/>
    <p:sldId id="377" r:id="rId19"/>
    <p:sldId id="378" r:id="rId20"/>
    <p:sldId id="337" r:id="rId21"/>
    <p:sldId id="336" r:id="rId22"/>
    <p:sldId id="375" r:id="rId23"/>
    <p:sldId id="376" r:id="rId24"/>
    <p:sldId id="341" r:id="rId25"/>
    <p:sldId id="347" r:id="rId26"/>
    <p:sldId id="368" r:id="rId27"/>
    <p:sldId id="369" r:id="rId28"/>
    <p:sldId id="383" r:id="rId29"/>
    <p:sldId id="342" r:id="rId30"/>
    <p:sldId id="345" r:id="rId31"/>
    <p:sldId id="340" r:id="rId32"/>
    <p:sldId id="339" r:id="rId33"/>
    <p:sldId id="338" r:id="rId34"/>
    <p:sldId id="370" r:id="rId35"/>
    <p:sldId id="371" r:id="rId36"/>
    <p:sldId id="350" r:id="rId37"/>
    <p:sldId id="384" r:id="rId38"/>
    <p:sldId id="352" r:id="rId39"/>
    <p:sldId id="353" r:id="rId40"/>
    <p:sldId id="365" r:id="rId41"/>
    <p:sldId id="380" r:id="rId42"/>
    <p:sldId id="354" r:id="rId43"/>
    <p:sldId id="262" r:id="rId4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B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52" autoAdjust="0"/>
    <p:restoredTop sz="90559" autoAdjust="0"/>
  </p:normalViewPr>
  <p:slideViewPr>
    <p:cSldViewPr snapToGrid="0">
      <p:cViewPr varScale="1">
        <p:scale>
          <a:sx n="80" d="100"/>
          <a:sy n="80" d="100"/>
        </p:scale>
        <p:origin x="693" y="49"/>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33F005-AA06-4552-B319-D7F1C7EBDC5D}" type="datetimeFigureOut">
              <a:rPr lang="zh-TW" altLang="en-US" smtClean="0"/>
              <a:t>2019/8/20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A8C52F-BCA5-4EE0-A93C-7D675EA73EEA}" type="slidenum">
              <a:rPr lang="zh-TW" altLang="en-US" smtClean="0"/>
              <a:t>‹#›</a:t>
            </a:fld>
            <a:endParaRPr lang="zh-TW" altLang="en-US"/>
          </a:p>
        </p:txBody>
      </p:sp>
    </p:spTree>
    <p:extLst>
      <p:ext uri="{BB962C8B-B14F-4D97-AF65-F5344CB8AC3E}">
        <p14:creationId xmlns:p14="http://schemas.microsoft.com/office/powerpoint/2010/main" val="2668061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各位 口試委員 學長學弟大家好 我的論文題目為</a:t>
            </a:r>
          </a:p>
        </p:txBody>
      </p:sp>
      <p:sp>
        <p:nvSpPr>
          <p:cNvPr id="4" name="投影片編號版面配置區 3"/>
          <p:cNvSpPr>
            <a:spLocks noGrp="1"/>
          </p:cNvSpPr>
          <p:nvPr>
            <p:ph type="sldNum" sz="quarter" idx="5"/>
          </p:nvPr>
        </p:nvSpPr>
        <p:spPr/>
        <p:txBody>
          <a:bodyPr/>
          <a:lstStyle/>
          <a:p>
            <a:fld id="{B5A8C52F-BCA5-4EE0-A93C-7D675EA73EEA}" type="slidenum">
              <a:rPr lang="zh-TW" altLang="en-US" smtClean="0"/>
              <a:t>1</a:t>
            </a:fld>
            <a:endParaRPr lang="zh-TW" altLang="en-US"/>
          </a:p>
        </p:txBody>
      </p:sp>
    </p:spTree>
    <p:extLst>
      <p:ext uri="{BB962C8B-B14F-4D97-AF65-F5344CB8AC3E}">
        <p14:creationId xmlns:p14="http://schemas.microsoft.com/office/powerpoint/2010/main" val="1908186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這是我</a:t>
            </a:r>
            <a:r>
              <a:rPr lang="en-US" altLang="zh-TW" dirty="0"/>
              <a:t>ppt </a:t>
            </a:r>
            <a:r>
              <a:rPr lang="zh-TW" altLang="en-US" dirty="0"/>
              <a:t>的</a:t>
            </a:r>
            <a:r>
              <a:rPr lang="en-US" altLang="zh-TW" dirty="0"/>
              <a:t>outline </a:t>
            </a:r>
            <a:r>
              <a:rPr lang="zh-TW" altLang="en-US" dirty="0"/>
              <a:t>這次報告 我將分為五的部分進行介紹，首先第一部分為</a:t>
            </a:r>
          </a:p>
        </p:txBody>
      </p:sp>
      <p:sp>
        <p:nvSpPr>
          <p:cNvPr id="4" name="投影片編號版面配置區 3"/>
          <p:cNvSpPr>
            <a:spLocks noGrp="1"/>
          </p:cNvSpPr>
          <p:nvPr>
            <p:ph type="sldNum" sz="quarter" idx="5"/>
          </p:nvPr>
        </p:nvSpPr>
        <p:spPr/>
        <p:txBody>
          <a:bodyPr/>
          <a:lstStyle/>
          <a:p>
            <a:fld id="{B5A8C52F-BCA5-4EE0-A93C-7D675EA73EEA}" type="slidenum">
              <a:rPr lang="zh-TW" altLang="en-US" smtClean="0"/>
              <a:t>2</a:t>
            </a:fld>
            <a:endParaRPr lang="zh-TW" altLang="en-US"/>
          </a:p>
        </p:txBody>
      </p:sp>
    </p:spTree>
    <p:extLst>
      <p:ext uri="{BB962C8B-B14F-4D97-AF65-F5344CB8AC3E}">
        <p14:creationId xmlns:p14="http://schemas.microsoft.com/office/powerpoint/2010/main" val="1617604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aseline="0" dirty="0"/>
              <a:t>多波長選頻在許多領域都有廣泛的應用，如 搖感、光達、光通訊、光譜學等等</a:t>
            </a:r>
            <a:endParaRPr lang="en-US" altLang="zh-TW" baseline="0" dirty="0"/>
          </a:p>
          <a:p>
            <a:r>
              <a:rPr lang="zh-TW" altLang="en-US" baseline="0" dirty="0"/>
              <a:t>、而最常見的多波長選擇的方法，是在系統裡架設 偏振控制器、布拉格反射器等元件，而只要多一個元件、就會造成系統多餘損耗，而本實驗室使用的鈮酸鋰晶片能將多種元件整合在單一鈮酸鋰晶片上。有效改善系統造成的損耗。</a:t>
            </a:r>
            <a:endParaRPr lang="en-US" altLang="zh-TW" baseline="0" dirty="0"/>
          </a:p>
        </p:txBody>
      </p:sp>
      <p:sp>
        <p:nvSpPr>
          <p:cNvPr id="4" name="投影片編號版面配置區 3"/>
          <p:cNvSpPr>
            <a:spLocks noGrp="1"/>
          </p:cNvSpPr>
          <p:nvPr>
            <p:ph type="sldNum" sz="quarter" idx="10"/>
          </p:nvPr>
        </p:nvSpPr>
        <p:spPr/>
        <p:txBody>
          <a:bodyPr/>
          <a:lstStyle/>
          <a:p>
            <a:fld id="{5E05FE76-EA1D-4C44-86FF-3A1FE86001EC}" type="slidenum">
              <a:rPr lang="zh-TW" altLang="en-US" smtClean="0"/>
              <a:t>3</a:t>
            </a:fld>
            <a:endParaRPr lang="zh-TW" altLang="en-US"/>
          </a:p>
        </p:txBody>
      </p:sp>
    </p:spTree>
    <p:extLst>
      <p:ext uri="{BB962C8B-B14F-4D97-AF65-F5344CB8AC3E}">
        <p14:creationId xmlns:p14="http://schemas.microsoft.com/office/powerpoint/2010/main" val="4108457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1" i="0" u="none" strike="noStrike" kern="1200" baseline="0" dirty="0">
                <a:solidFill>
                  <a:schemeClr val="tx1"/>
                </a:solidFill>
                <a:latin typeface="+mn-lt"/>
                <a:ea typeface="+mn-ea"/>
                <a:cs typeface="+mn-cs"/>
              </a:rPr>
              <a:t>1.</a:t>
            </a:r>
            <a:r>
              <a:rPr lang="en-US" altLang="zh-TW" sz="1200" b="0" i="0" u="none" strike="noStrike" kern="1200" baseline="0" dirty="0">
                <a:solidFill>
                  <a:schemeClr val="tx1"/>
                </a:solidFill>
                <a:latin typeface="+mn-lt"/>
                <a:ea typeface="+mn-ea"/>
                <a:cs typeface="+mn-cs"/>
              </a:rPr>
              <a:t> polarization- maintaining-fiber-Bragg-gratings(PM-FBG)</a:t>
            </a:r>
            <a:r>
              <a:rPr lang="zh-TW" altLang="en-US" sz="1200" b="0" i="0" u="none" strike="noStrike" kern="1200" baseline="0" dirty="0">
                <a:solidFill>
                  <a:schemeClr val="tx1"/>
                </a:solidFill>
                <a:latin typeface="+mn-lt"/>
                <a:ea typeface="+mn-ea"/>
                <a:cs typeface="+mn-cs"/>
              </a:rPr>
              <a:t>，</a:t>
            </a:r>
            <a:r>
              <a:rPr lang="en-US" altLang="zh-TW" sz="1200" b="0" i="0" u="none" strike="noStrike" kern="1200" baseline="0" dirty="0">
                <a:solidFill>
                  <a:schemeClr val="tx1"/>
                </a:solidFill>
                <a:latin typeface="+mn-lt"/>
                <a:ea typeface="+mn-ea"/>
                <a:cs typeface="+mn-cs"/>
              </a:rPr>
              <a:t>ensure a stable operation of an SLM dual-wavelength erbium-doped fiber (EDF) laser</a:t>
            </a:r>
            <a:endParaRPr lang="en-US" altLang="zh-TW" sz="1200" b="1" i="0" u="none" strike="noStrike" kern="1200" baseline="0" dirty="0">
              <a:solidFill>
                <a:schemeClr val="tx1"/>
              </a:solidFill>
              <a:latin typeface="+mn-lt"/>
              <a:ea typeface="+mn-ea"/>
              <a:cs typeface="+mn-cs"/>
            </a:endParaRPr>
          </a:p>
          <a:p>
            <a:r>
              <a:rPr lang="en-US" altLang="zh-TW" sz="1200" b="0" i="0" u="none" strike="noStrike" kern="1200" baseline="0" dirty="0">
                <a:solidFill>
                  <a:schemeClr val="tx1"/>
                </a:solidFill>
                <a:latin typeface="+mn-lt"/>
                <a:ea typeface="+mn-ea"/>
                <a:cs typeface="+mn-cs"/>
              </a:rPr>
              <a:t>2.The mode locked laser </a:t>
            </a:r>
            <a:r>
              <a:rPr lang="en-US" altLang="zh-TW" sz="1200" b="0" i="0" u="none" strike="noStrike" kern="1200" baseline="0" dirty="0" err="1">
                <a:solidFill>
                  <a:schemeClr val="tx1"/>
                </a:solidFill>
                <a:latin typeface="+mn-lt"/>
                <a:ea typeface="+mn-ea"/>
                <a:cs typeface="+mn-cs"/>
              </a:rPr>
              <a:t>wavelengthcould</a:t>
            </a:r>
            <a:r>
              <a:rPr lang="en-US" altLang="zh-TW" sz="1200" b="0" i="0" u="none" strike="noStrike" kern="1200" baseline="0" dirty="0">
                <a:solidFill>
                  <a:schemeClr val="tx1"/>
                </a:solidFill>
                <a:latin typeface="+mn-lt"/>
                <a:ea typeface="+mn-ea"/>
                <a:cs typeface="+mn-cs"/>
              </a:rPr>
              <a:t> be switched between 1031 nm and 1046 nm by a slit. </a:t>
            </a:r>
            <a:endParaRPr lang="zh-TW" altLang="en-US" dirty="0"/>
          </a:p>
        </p:txBody>
      </p:sp>
      <p:sp>
        <p:nvSpPr>
          <p:cNvPr id="4" name="投影片編號版面配置區 3"/>
          <p:cNvSpPr>
            <a:spLocks noGrp="1"/>
          </p:cNvSpPr>
          <p:nvPr>
            <p:ph type="sldNum" sz="quarter" idx="10"/>
          </p:nvPr>
        </p:nvSpPr>
        <p:spPr/>
        <p:txBody>
          <a:bodyPr/>
          <a:lstStyle/>
          <a:p>
            <a:fld id="{B5A8C52F-BCA5-4EE0-A93C-7D675EA73EEA}" type="slidenum">
              <a:rPr lang="zh-TW" altLang="en-US" smtClean="0"/>
              <a:t>4</a:t>
            </a:fld>
            <a:endParaRPr lang="zh-TW" altLang="en-US"/>
          </a:p>
        </p:txBody>
      </p:sp>
    </p:spTree>
    <p:extLst>
      <p:ext uri="{BB962C8B-B14F-4D97-AF65-F5344CB8AC3E}">
        <p14:creationId xmlns:p14="http://schemas.microsoft.com/office/powerpoint/2010/main" val="2902676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本實驗室鍾宏彬博士，成功將</a:t>
            </a:r>
            <a:r>
              <a:rPr lang="en-US" altLang="zh-TW" dirty="0"/>
              <a:t>OPO</a:t>
            </a:r>
            <a:r>
              <a:rPr lang="zh-TW" altLang="en-US" dirty="0"/>
              <a:t>與</a:t>
            </a:r>
            <a:r>
              <a:rPr lang="en-US" altLang="zh-TW" dirty="0"/>
              <a:t>EO PMC </a:t>
            </a:r>
            <a:r>
              <a:rPr lang="zh-TW" altLang="en-US" dirty="0"/>
              <a:t>整合在單一</a:t>
            </a:r>
            <a:r>
              <a:rPr lang="en-US" altLang="zh-TW" dirty="0"/>
              <a:t>APPLN</a:t>
            </a:r>
            <a:r>
              <a:rPr lang="zh-TW" altLang="en-US" dirty="0"/>
              <a:t>晶體上，並成功達成</a:t>
            </a:r>
            <a:r>
              <a:rPr lang="en-US" altLang="zh-TW" dirty="0"/>
              <a:t>OPO</a:t>
            </a:r>
            <a:r>
              <a:rPr lang="zh-TW" altLang="en-US" dirty="0"/>
              <a:t>之窄頻。</a:t>
            </a:r>
          </a:p>
        </p:txBody>
      </p:sp>
      <p:sp>
        <p:nvSpPr>
          <p:cNvPr id="4" name="投影片編號版面配置區 3"/>
          <p:cNvSpPr>
            <a:spLocks noGrp="1"/>
          </p:cNvSpPr>
          <p:nvPr>
            <p:ph type="sldNum" sz="quarter" idx="10"/>
          </p:nvPr>
        </p:nvSpPr>
        <p:spPr/>
        <p:txBody>
          <a:bodyPr/>
          <a:lstStyle/>
          <a:p>
            <a:fld id="{5E05FE76-EA1D-4C44-86FF-3A1FE86001EC}" type="slidenum">
              <a:rPr lang="zh-TW" altLang="en-US" smtClean="0"/>
              <a:t>5</a:t>
            </a:fld>
            <a:endParaRPr lang="zh-TW" altLang="en-US"/>
          </a:p>
        </p:txBody>
      </p:sp>
    </p:spTree>
    <p:extLst>
      <p:ext uri="{BB962C8B-B14F-4D97-AF65-F5344CB8AC3E}">
        <p14:creationId xmlns:p14="http://schemas.microsoft.com/office/powerpoint/2010/main" val="3847265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本實驗室鍾宏彬博士，成功將</a:t>
            </a:r>
            <a:r>
              <a:rPr lang="en-US" altLang="zh-TW" dirty="0"/>
              <a:t>OPO</a:t>
            </a:r>
            <a:r>
              <a:rPr lang="zh-TW" altLang="en-US" dirty="0"/>
              <a:t>與</a:t>
            </a:r>
            <a:r>
              <a:rPr lang="en-US" altLang="zh-TW" dirty="0"/>
              <a:t>EO PMC </a:t>
            </a:r>
            <a:r>
              <a:rPr lang="zh-TW" altLang="en-US" dirty="0"/>
              <a:t>整合在單一</a:t>
            </a:r>
            <a:r>
              <a:rPr lang="en-US" altLang="zh-TW" dirty="0"/>
              <a:t>APPLN</a:t>
            </a:r>
            <a:r>
              <a:rPr lang="zh-TW" altLang="en-US" dirty="0"/>
              <a:t>晶體上，並成功達成</a:t>
            </a:r>
            <a:r>
              <a:rPr lang="en-US" altLang="zh-TW" dirty="0"/>
              <a:t>OPO</a:t>
            </a:r>
            <a:r>
              <a:rPr lang="zh-TW" altLang="en-US" dirty="0"/>
              <a:t>之窄頻。</a:t>
            </a:r>
          </a:p>
        </p:txBody>
      </p:sp>
      <p:sp>
        <p:nvSpPr>
          <p:cNvPr id="4" name="投影片編號版面配置區 3"/>
          <p:cNvSpPr>
            <a:spLocks noGrp="1"/>
          </p:cNvSpPr>
          <p:nvPr>
            <p:ph type="sldNum" sz="quarter" idx="10"/>
          </p:nvPr>
        </p:nvSpPr>
        <p:spPr/>
        <p:txBody>
          <a:bodyPr/>
          <a:lstStyle/>
          <a:p>
            <a:fld id="{5E05FE76-EA1D-4C44-86FF-3A1FE86001EC}" type="slidenum">
              <a:rPr lang="zh-TW" altLang="en-US" smtClean="0"/>
              <a:t>6</a:t>
            </a:fld>
            <a:endParaRPr lang="zh-TW" altLang="en-US"/>
          </a:p>
        </p:txBody>
      </p:sp>
    </p:spTree>
    <p:extLst>
      <p:ext uri="{BB962C8B-B14F-4D97-AF65-F5344CB8AC3E}">
        <p14:creationId xmlns:p14="http://schemas.microsoft.com/office/powerpoint/2010/main" val="3576896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在本實驗中，與先前實驗不同的是之前學長們都是做窄頻應用，而本實驗這次利用同樣的原理設計多波長選則之</a:t>
            </a:r>
            <a:r>
              <a:rPr lang="en-US" altLang="zh-TW" dirty="0"/>
              <a:t>APLN</a:t>
            </a:r>
            <a:endParaRPr lang="zh-TW" altLang="en-US" dirty="0"/>
          </a:p>
        </p:txBody>
      </p:sp>
      <p:sp>
        <p:nvSpPr>
          <p:cNvPr id="4" name="投影片編號版面配置區 3"/>
          <p:cNvSpPr>
            <a:spLocks noGrp="1"/>
          </p:cNvSpPr>
          <p:nvPr>
            <p:ph type="sldNum" sz="quarter" idx="5"/>
          </p:nvPr>
        </p:nvSpPr>
        <p:spPr/>
        <p:txBody>
          <a:bodyPr/>
          <a:lstStyle/>
          <a:p>
            <a:fld id="{B5A8C52F-BCA5-4EE0-A93C-7D675EA73EEA}" type="slidenum">
              <a:rPr lang="zh-TW" altLang="en-US" smtClean="0"/>
              <a:t>7</a:t>
            </a:fld>
            <a:endParaRPr lang="zh-TW" altLang="en-US"/>
          </a:p>
        </p:txBody>
      </p:sp>
    </p:spTree>
    <p:extLst>
      <p:ext uri="{BB962C8B-B14F-4D97-AF65-F5344CB8AC3E}">
        <p14:creationId xmlns:p14="http://schemas.microsoft.com/office/powerpoint/2010/main" val="20566661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這是我</a:t>
            </a:r>
            <a:r>
              <a:rPr lang="en-US" altLang="zh-TW" dirty="0"/>
              <a:t>ppt </a:t>
            </a:r>
            <a:r>
              <a:rPr lang="zh-TW" altLang="en-US" dirty="0"/>
              <a:t>的</a:t>
            </a:r>
            <a:r>
              <a:rPr lang="en-US" altLang="zh-TW" dirty="0"/>
              <a:t>outline </a:t>
            </a:r>
            <a:r>
              <a:rPr lang="zh-TW" altLang="en-US" dirty="0"/>
              <a:t>這次報告 我將分為五的部分進行介紹，首先第一部分為</a:t>
            </a:r>
          </a:p>
        </p:txBody>
      </p:sp>
      <p:sp>
        <p:nvSpPr>
          <p:cNvPr id="4" name="投影片編號版面配置區 3"/>
          <p:cNvSpPr>
            <a:spLocks noGrp="1"/>
          </p:cNvSpPr>
          <p:nvPr>
            <p:ph type="sldNum" sz="quarter" idx="5"/>
          </p:nvPr>
        </p:nvSpPr>
        <p:spPr/>
        <p:txBody>
          <a:bodyPr/>
          <a:lstStyle/>
          <a:p>
            <a:fld id="{B5A8C52F-BCA5-4EE0-A93C-7D675EA73EEA}" type="slidenum">
              <a:rPr lang="zh-TW" altLang="en-US" smtClean="0"/>
              <a:t>8</a:t>
            </a:fld>
            <a:endParaRPr lang="zh-TW" altLang="en-US"/>
          </a:p>
        </p:txBody>
      </p:sp>
    </p:spTree>
    <p:extLst>
      <p:ext uri="{BB962C8B-B14F-4D97-AF65-F5344CB8AC3E}">
        <p14:creationId xmlns:p14="http://schemas.microsoft.com/office/powerpoint/2010/main" val="202615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u="none" strike="noStrike" kern="1200" baseline="0" dirty="0">
                <a:solidFill>
                  <a:schemeClr val="tx1"/>
                </a:solidFill>
                <a:latin typeface="+mn-lt"/>
                <a:ea typeface="+mn-ea"/>
                <a:cs typeface="+mn-cs"/>
              </a:rPr>
              <a:t>介電材料中，極化向量為 介電系數乘以電桿，</a:t>
            </a:r>
            <a:endParaRPr lang="en-US" altLang="zh-TW" sz="1200" b="0" i="0" u="none" strike="noStrike" kern="1200" baseline="0" dirty="0">
              <a:solidFill>
                <a:schemeClr val="tx1"/>
              </a:solidFill>
              <a:latin typeface="+mn-lt"/>
              <a:ea typeface="+mn-ea"/>
              <a:cs typeface="+mn-cs"/>
            </a:endParaRPr>
          </a:p>
          <a:p>
            <a:r>
              <a:rPr lang="zh-TW" altLang="en-US" sz="1200" b="0" i="0" u="none" strike="noStrike" kern="1200" baseline="0" dirty="0">
                <a:solidFill>
                  <a:schemeClr val="tx1"/>
                </a:solidFill>
                <a:latin typeface="+mn-lt"/>
                <a:ea typeface="+mn-ea"/>
                <a:cs typeface="+mn-cs"/>
              </a:rPr>
              <a:t>其中， 分別代表一階、二階與三階電感率 </a:t>
            </a:r>
            <a:r>
              <a:rPr lang="en-US" altLang="zh-TW" sz="1200" b="0" i="0" u="none" strike="noStrike" kern="1200" baseline="0" dirty="0">
                <a:solidFill>
                  <a:schemeClr val="tx1"/>
                </a:solidFill>
                <a:latin typeface="+mn-lt"/>
                <a:ea typeface="+mn-ea"/>
                <a:cs typeface="+mn-cs"/>
              </a:rPr>
              <a:t>(electric susceptibility)</a:t>
            </a:r>
          </a:p>
          <a:p>
            <a:r>
              <a:rPr lang="zh-TW" altLang="en-US" sz="1200" b="0" i="0" u="none" strike="noStrike" kern="1200" baseline="0" dirty="0">
                <a:solidFill>
                  <a:schemeClr val="tx1"/>
                </a:solidFill>
                <a:latin typeface="+mn-lt"/>
                <a:ea typeface="+mn-ea"/>
                <a:cs typeface="+mn-cs"/>
              </a:rPr>
              <a:t>介質折射率為相對介電率的函數</a:t>
            </a:r>
            <a:r>
              <a:rPr lang="en-US" altLang="zh-TW" sz="1200" b="0" i="0" u="none" strike="noStrike" kern="1200" baseline="0" dirty="0">
                <a:solidFill>
                  <a:schemeClr val="tx1"/>
                </a:solidFill>
                <a:latin typeface="+mn-lt"/>
                <a:ea typeface="+mn-ea"/>
                <a:cs typeface="+mn-cs"/>
              </a:rPr>
              <a:t> </a:t>
            </a:r>
          </a:p>
          <a:p>
            <a:r>
              <a:rPr lang="zh-TW" altLang="en-US" sz="1200" b="0" i="0" u="none" strike="noStrike" kern="1200" baseline="0" dirty="0">
                <a:solidFill>
                  <a:schemeClr val="tx1"/>
                </a:solidFill>
                <a:latin typeface="+mn-lt"/>
                <a:ea typeface="+mn-ea"/>
                <a:cs typeface="+mn-cs"/>
              </a:rPr>
              <a:t>由於鈮酸鋰晶體為非等向性電光材料，因此其介電系數可用張量表示，</a:t>
            </a:r>
            <a:endParaRPr lang="en-US" altLang="zh-TW" sz="1200" b="0" i="0" u="none" strike="noStrike" kern="1200" baseline="0" dirty="0">
              <a:solidFill>
                <a:schemeClr val="tx1"/>
              </a:solidFill>
              <a:latin typeface="+mn-lt"/>
              <a:ea typeface="+mn-ea"/>
              <a:cs typeface="+mn-cs"/>
            </a:endParaRPr>
          </a:p>
          <a:p>
            <a:r>
              <a:rPr lang="zh-TW" altLang="en-US" sz="1200" b="0" i="0" u="none" strike="noStrike" kern="1200" baseline="0" dirty="0">
                <a:solidFill>
                  <a:schemeClr val="tx1"/>
                </a:solidFill>
                <a:latin typeface="+mn-lt"/>
                <a:ea typeface="+mn-ea"/>
                <a:cs typeface="+mn-cs"/>
              </a:rPr>
              <a:t>定義一反介電張量矩陣，並外加</a:t>
            </a:r>
            <a:r>
              <a:rPr lang="en-US" altLang="zh-TW" sz="1200" b="0" i="0" u="none" strike="noStrike" kern="1200" baseline="0" dirty="0">
                <a:solidFill>
                  <a:schemeClr val="tx1"/>
                </a:solidFill>
                <a:latin typeface="+mn-lt"/>
                <a:ea typeface="+mn-ea"/>
                <a:cs typeface="+mn-cs"/>
              </a:rPr>
              <a:t>Y</a:t>
            </a:r>
            <a:r>
              <a:rPr lang="zh-TW" altLang="en-US" sz="1200" b="0" i="0" u="none" strike="noStrike" kern="1200" baseline="0" dirty="0">
                <a:solidFill>
                  <a:schemeClr val="tx1"/>
                </a:solidFill>
                <a:latin typeface="+mn-lt"/>
                <a:ea typeface="+mn-ea"/>
                <a:cs typeface="+mn-cs"/>
              </a:rPr>
              <a:t>場，並帶入折射率橢球 ，經過矩陣旋轉簡化 可得一角度，此角度為鈮酸鋰外加電場後，光軸偏轉的角度</a:t>
            </a:r>
            <a:endParaRPr lang="en-US" altLang="zh-TW" sz="1200" b="0" i="0" u="none" strike="noStrike" kern="1200" baseline="0" dirty="0">
              <a:solidFill>
                <a:schemeClr val="tx1"/>
              </a:solidFill>
              <a:latin typeface="+mn-lt"/>
              <a:ea typeface="+mn-ea"/>
              <a:cs typeface="+mn-cs"/>
            </a:endParaRPr>
          </a:p>
        </p:txBody>
      </p:sp>
      <p:sp>
        <p:nvSpPr>
          <p:cNvPr id="4" name="投影片編號版面配置區 3"/>
          <p:cNvSpPr>
            <a:spLocks noGrp="1"/>
          </p:cNvSpPr>
          <p:nvPr>
            <p:ph type="sldNum" sz="quarter" idx="5"/>
          </p:nvPr>
        </p:nvSpPr>
        <p:spPr/>
        <p:txBody>
          <a:bodyPr/>
          <a:lstStyle/>
          <a:p>
            <a:fld id="{B5A8C52F-BCA5-4EE0-A93C-7D675EA73EEA}" type="slidenum">
              <a:rPr lang="zh-TW" altLang="en-US" smtClean="0"/>
              <a:t>9</a:t>
            </a:fld>
            <a:endParaRPr lang="zh-TW" altLang="en-US"/>
          </a:p>
        </p:txBody>
      </p:sp>
    </p:spTree>
    <p:extLst>
      <p:ext uri="{BB962C8B-B14F-4D97-AF65-F5344CB8AC3E}">
        <p14:creationId xmlns:p14="http://schemas.microsoft.com/office/powerpoint/2010/main" val="4131017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u="none" strike="noStrike" kern="1200" baseline="0" dirty="0">
                <a:solidFill>
                  <a:schemeClr val="tx1"/>
                </a:solidFill>
                <a:latin typeface="+mn-lt"/>
                <a:ea typeface="+mn-ea"/>
                <a:cs typeface="+mn-cs"/>
              </a:rPr>
              <a:t>在</a:t>
            </a:r>
            <a:r>
              <a:rPr lang="en-US" altLang="zh-TW" sz="1200" b="0" i="0" u="none" strike="noStrike" kern="1200" baseline="0" dirty="0">
                <a:solidFill>
                  <a:schemeClr val="tx1"/>
                </a:solidFill>
                <a:latin typeface="+mn-lt"/>
                <a:ea typeface="+mn-ea"/>
                <a:cs typeface="+mn-cs"/>
              </a:rPr>
              <a:t>1965 </a:t>
            </a:r>
            <a:r>
              <a:rPr lang="zh-TW" altLang="en-US" sz="1200" b="0" i="0" u="none" strike="noStrike" kern="1200" baseline="0" dirty="0">
                <a:solidFill>
                  <a:schemeClr val="tx1"/>
                </a:solidFill>
                <a:latin typeface="+mn-lt"/>
                <a:ea typeface="+mn-ea"/>
                <a:cs typeface="+mn-cs"/>
              </a:rPr>
              <a:t>年</a:t>
            </a:r>
            <a:r>
              <a:rPr lang="en-US" altLang="zh-TW" sz="1200" b="0" i="0" u="none" strike="noStrike" kern="1200" baseline="0" dirty="0">
                <a:solidFill>
                  <a:schemeClr val="tx1"/>
                </a:solidFill>
                <a:latin typeface="+mn-lt"/>
                <a:ea typeface="+mn-ea"/>
                <a:cs typeface="+mn-cs"/>
              </a:rPr>
              <a:t>Ivan </a:t>
            </a:r>
            <a:r>
              <a:rPr lang="en-US" altLang="zh-TW" sz="1200" b="0" i="0" u="none" strike="noStrike" kern="1200" baseline="0" dirty="0" err="1">
                <a:solidFill>
                  <a:schemeClr val="tx1"/>
                </a:solidFill>
                <a:latin typeface="+mn-lt"/>
                <a:ea typeface="+mn-ea"/>
                <a:cs typeface="+mn-cs"/>
              </a:rPr>
              <a:t>Šolc</a:t>
            </a:r>
            <a:r>
              <a:rPr lang="zh-TW" altLang="en-US" sz="1200" b="0" i="0" u="none" strike="noStrike" kern="1200" baseline="0" dirty="0">
                <a:solidFill>
                  <a:schemeClr val="tx1"/>
                </a:solidFill>
                <a:latin typeface="+mn-lt"/>
                <a:ea typeface="+mn-ea"/>
                <a:cs typeface="+mn-cs"/>
              </a:rPr>
              <a:t>所提出的論文中，利用一連串的雙折射晶體之平板，當每一片平板的長度都符合半波相位延遲板的長度</a:t>
            </a:r>
            <a:r>
              <a:rPr lang="en-US" altLang="zh-TW" sz="1200" b="0" i="0" u="none" strike="noStrike" kern="1200" baseline="0" dirty="0">
                <a:solidFill>
                  <a:schemeClr val="tx1"/>
                </a:solidFill>
                <a:latin typeface="+mn-lt"/>
                <a:ea typeface="+mn-ea"/>
                <a:cs typeface="+mn-cs"/>
              </a:rPr>
              <a:t>t</a:t>
            </a:r>
            <a:r>
              <a:rPr lang="zh-TW" altLang="en-US" sz="1200" b="0" i="0" u="none" strike="noStrike" kern="1200" baseline="0" dirty="0">
                <a:solidFill>
                  <a:schemeClr val="tx1"/>
                </a:solidFill>
                <a:latin typeface="+mn-lt"/>
                <a:ea typeface="+mn-ea"/>
                <a:cs typeface="+mn-cs"/>
              </a:rPr>
              <a:t>，當偏振光通過雙折射晶體，偏振會往光軸轉系塔角，可以改變經過光場的偏振模態。應用在鈮酸鋰晶體上面，藉由施加</a:t>
            </a:r>
            <a:r>
              <a:rPr lang="en-US" altLang="zh-TW" sz="1200" b="0" i="0" u="none" strike="noStrike" kern="1200" baseline="0" dirty="0">
                <a:solidFill>
                  <a:schemeClr val="tx1"/>
                </a:solidFill>
                <a:latin typeface="+mn-lt"/>
                <a:ea typeface="+mn-ea"/>
                <a:cs typeface="+mn-cs"/>
              </a:rPr>
              <a:t>y</a:t>
            </a:r>
            <a:r>
              <a:rPr lang="zh-TW" altLang="en-US" sz="1200" b="0" i="0" u="none" strike="noStrike" kern="1200" baseline="0" dirty="0">
                <a:solidFill>
                  <a:schemeClr val="tx1"/>
                </a:solidFill>
                <a:latin typeface="+mn-lt"/>
                <a:ea typeface="+mn-ea"/>
                <a:cs typeface="+mn-cs"/>
              </a:rPr>
              <a:t>方向電場，改變鈮酸鋰晶體光軸方向，將晶疇正負排列，則可以達到索爾克濾波器的效果。</a:t>
            </a:r>
            <a:endParaRPr lang="zh-TW" altLang="en-US" dirty="0"/>
          </a:p>
        </p:txBody>
      </p:sp>
      <p:sp>
        <p:nvSpPr>
          <p:cNvPr id="4" name="投影片編號版面配置區 3"/>
          <p:cNvSpPr>
            <a:spLocks noGrp="1"/>
          </p:cNvSpPr>
          <p:nvPr>
            <p:ph type="sldNum" sz="quarter" idx="5"/>
          </p:nvPr>
        </p:nvSpPr>
        <p:spPr/>
        <p:txBody>
          <a:bodyPr/>
          <a:lstStyle/>
          <a:p>
            <a:fld id="{B5A8C52F-BCA5-4EE0-A93C-7D675EA73EEA}" type="slidenum">
              <a:rPr lang="zh-TW" altLang="en-US" smtClean="0"/>
              <a:t>10</a:t>
            </a:fld>
            <a:endParaRPr lang="zh-TW" altLang="en-US"/>
          </a:p>
        </p:txBody>
      </p:sp>
    </p:spTree>
    <p:extLst>
      <p:ext uri="{BB962C8B-B14F-4D97-AF65-F5344CB8AC3E}">
        <p14:creationId xmlns:p14="http://schemas.microsoft.com/office/powerpoint/2010/main" val="3513672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u="none" strike="noStrike" kern="1200" baseline="0" dirty="0">
                <a:solidFill>
                  <a:schemeClr val="tx1"/>
                </a:solidFill>
                <a:latin typeface="+mn-lt"/>
                <a:ea typeface="+mn-ea"/>
                <a:cs typeface="+mn-cs"/>
              </a:rPr>
              <a:t>第二階的非線性光學轉換機制，可由第二階非線性偏振項來解析，</a:t>
            </a:r>
            <a:r>
              <a:rPr lang="zh-TW" altLang="en-US" dirty="0"/>
              <a:t>光參量振盪器為三光子的下轉換系統，其過程滿足能量守恆及動量守恆，將一顆高能光子，分解為兩顆波長較長，能量較低的兩顆光子，</a:t>
            </a:r>
            <a:r>
              <a:rPr lang="zh-TW" altLang="en-US" sz="1200" b="0" i="0" u="none" strike="noStrike" kern="1200" baseline="0" dirty="0">
                <a:solidFill>
                  <a:schemeClr val="tx1"/>
                </a:solidFill>
                <a:latin typeface="+mn-lt"/>
                <a:ea typeface="+mn-ea"/>
                <a:cs typeface="+mn-cs"/>
              </a:rPr>
              <a:t>分別稱為波長較長稱為訊號波與較短為閒置波</a:t>
            </a:r>
            <a:r>
              <a:rPr lang="zh-TW" altLang="en-US" dirty="0"/>
              <a:t>。</a:t>
            </a:r>
            <a:r>
              <a:rPr lang="zh-TW" altLang="en-US" sz="1200" b="0" i="0" u="none" strike="noStrike" kern="1200" baseline="0" dirty="0">
                <a:solidFill>
                  <a:schemeClr val="tx1"/>
                </a:solidFill>
                <a:latin typeface="+mn-lt"/>
                <a:ea typeface="+mn-ea"/>
                <a:cs typeface="+mn-cs"/>
              </a:rPr>
              <a:t>且過程中，是在環境的真空雜訊（</a:t>
            </a:r>
            <a:r>
              <a:rPr lang="en-US" altLang="zh-TW" sz="1200" b="0" i="1" u="none" strike="noStrike" kern="1200" baseline="0" dirty="0">
                <a:solidFill>
                  <a:schemeClr val="tx1"/>
                </a:solidFill>
                <a:latin typeface="+mn-lt"/>
                <a:ea typeface="+mn-ea"/>
                <a:cs typeface="+mn-cs"/>
              </a:rPr>
              <a:t>Vacuum Noise</a:t>
            </a:r>
            <a:r>
              <a:rPr lang="zh-TW" altLang="en-US" sz="1200" b="0" i="0" u="none" strike="noStrike" kern="1200" baseline="0" dirty="0">
                <a:solidFill>
                  <a:schemeClr val="tx1"/>
                </a:solidFill>
                <a:latin typeface="+mn-lt"/>
                <a:ea typeface="+mn-ea"/>
                <a:cs typeface="+mn-cs"/>
              </a:rPr>
              <a:t>）中自行搜尋滿足相位匹配條件之種源（</a:t>
            </a:r>
            <a:r>
              <a:rPr lang="en-US" altLang="zh-TW" sz="1200" b="0" i="1" u="none" strike="noStrike" kern="1200" baseline="0" dirty="0">
                <a:solidFill>
                  <a:schemeClr val="tx1"/>
                </a:solidFill>
                <a:latin typeface="+mn-lt"/>
                <a:ea typeface="+mn-ea"/>
                <a:cs typeface="+mn-cs"/>
              </a:rPr>
              <a:t>Seeding</a:t>
            </a:r>
            <a:r>
              <a:rPr lang="zh-TW" altLang="en-US" sz="1200" b="0" i="0" u="none" strike="noStrike" kern="1200" baseline="0" dirty="0">
                <a:solidFill>
                  <a:schemeClr val="tx1"/>
                </a:solidFill>
                <a:latin typeface="+mn-lt"/>
                <a:ea typeface="+mn-ea"/>
                <a:cs typeface="+mn-cs"/>
              </a:rPr>
              <a:t>），作為初始訊號光，來進行單趟的放大，</a:t>
            </a:r>
            <a:endParaRPr lang="en-US" altLang="zh-TW" sz="1200" b="0" i="0" u="none" strike="noStrike" kern="1200" baseline="0" dirty="0">
              <a:solidFill>
                <a:schemeClr val="tx1"/>
              </a:solidFill>
              <a:latin typeface="+mn-lt"/>
              <a:ea typeface="+mn-ea"/>
              <a:cs typeface="+mn-cs"/>
            </a:endParaRPr>
          </a:p>
          <a:p>
            <a:r>
              <a:rPr lang="zh-TW" altLang="en-US" dirty="0"/>
              <a:t>其中能量守恆，在自然界中會自動匹配</a:t>
            </a:r>
            <a:endParaRPr lang="en-US" altLang="zh-TW" dirty="0"/>
          </a:p>
          <a:p>
            <a:r>
              <a:rPr lang="zh-TW" altLang="en-US" dirty="0"/>
              <a:t>動量守恆，需要藉由人為的方法來補償向為匹配，本實驗中使用準相位匹配技術來達成動量守恆。</a:t>
            </a:r>
          </a:p>
        </p:txBody>
      </p:sp>
      <p:sp>
        <p:nvSpPr>
          <p:cNvPr id="4" name="投影片編號版面配置區 3"/>
          <p:cNvSpPr>
            <a:spLocks noGrp="1"/>
          </p:cNvSpPr>
          <p:nvPr>
            <p:ph type="sldNum" sz="quarter" idx="5"/>
          </p:nvPr>
        </p:nvSpPr>
        <p:spPr/>
        <p:txBody>
          <a:bodyPr/>
          <a:lstStyle/>
          <a:p>
            <a:fld id="{B5A8C52F-BCA5-4EE0-A93C-7D675EA73EEA}" type="slidenum">
              <a:rPr lang="zh-TW" altLang="en-US" smtClean="0"/>
              <a:t>11</a:t>
            </a:fld>
            <a:endParaRPr lang="zh-TW" altLang="en-US"/>
          </a:p>
        </p:txBody>
      </p:sp>
    </p:spTree>
    <p:extLst>
      <p:ext uri="{BB962C8B-B14F-4D97-AF65-F5344CB8AC3E}">
        <p14:creationId xmlns:p14="http://schemas.microsoft.com/office/powerpoint/2010/main" val="26408962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在本實驗中，與先前實驗不同的是之前學長們都是做窄頻應用，而本實驗這次利用同樣的原理設計多波長選則之</a:t>
            </a:r>
            <a:r>
              <a:rPr lang="en-US" altLang="zh-TW" dirty="0"/>
              <a:t>APLN</a:t>
            </a:r>
            <a:endParaRPr lang="zh-TW" altLang="en-US" dirty="0"/>
          </a:p>
        </p:txBody>
      </p:sp>
      <p:sp>
        <p:nvSpPr>
          <p:cNvPr id="4" name="投影片編號版面配置區 3"/>
          <p:cNvSpPr>
            <a:spLocks noGrp="1"/>
          </p:cNvSpPr>
          <p:nvPr>
            <p:ph type="sldNum" sz="quarter" idx="5"/>
          </p:nvPr>
        </p:nvSpPr>
        <p:spPr/>
        <p:txBody>
          <a:bodyPr/>
          <a:lstStyle/>
          <a:p>
            <a:fld id="{B5A8C52F-BCA5-4EE0-A93C-7D675EA73EEA}" type="slidenum">
              <a:rPr lang="zh-TW" altLang="en-US" smtClean="0"/>
              <a:t>12</a:t>
            </a:fld>
            <a:endParaRPr lang="zh-TW" altLang="en-US"/>
          </a:p>
        </p:txBody>
      </p:sp>
    </p:spTree>
    <p:extLst>
      <p:ext uri="{BB962C8B-B14F-4D97-AF65-F5344CB8AC3E}">
        <p14:creationId xmlns:p14="http://schemas.microsoft.com/office/powerpoint/2010/main" val="19644001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這是我</a:t>
            </a:r>
            <a:r>
              <a:rPr lang="en-US" altLang="zh-TW" dirty="0"/>
              <a:t>ppt </a:t>
            </a:r>
            <a:r>
              <a:rPr lang="zh-TW" altLang="en-US" dirty="0"/>
              <a:t>的</a:t>
            </a:r>
            <a:r>
              <a:rPr lang="en-US" altLang="zh-TW" dirty="0"/>
              <a:t>outline </a:t>
            </a:r>
            <a:r>
              <a:rPr lang="zh-TW" altLang="en-US" dirty="0"/>
              <a:t>這次報告 我將分為五的部分進行介紹，首先第一部分為</a:t>
            </a:r>
          </a:p>
        </p:txBody>
      </p:sp>
      <p:sp>
        <p:nvSpPr>
          <p:cNvPr id="4" name="投影片編號版面配置區 3"/>
          <p:cNvSpPr>
            <a:spLocks noGrp="1"/>
          </p:cNvSpPr>
          <p:nvPr>
            <p:ph type="sldNum" sz="quarter" idx="5"/>
          </p:nvPr>
        </p:nvSpPr>
        <p:spPr/>
        <p:txBody>
          <a:bodyPr/>
          <a:lstStyle/>
          <a:p>
            <a:fld id="{B5A8C52F-BCA5-4EE0-A93C-7D675EA73EEA}" type="slidenum">
              <a:rPr lang="zh-TW" altLang="en-US" smtClean="0"/>
              <a:t>13</a:t>
            </a:fld>
            <a:endParaRPr lang="zh-TW" altLang="en-US"/>
          </a:p>
        </p:txBody>
      </p:sp>
    </p:spTree>
    <p:extLst>
      <p:ext uri="{BB962C8B-B14F-4D97-AF65-F5344CB8AC3E}">
        <p14:creationId xmlns:p14="http://schemas.microsoft.com/office/powerpoint/2010/main" val="10897802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5A8C52F-BCA5-4EE0-A93C-7D675EA73EEA}" type="slidenum">
              <a:rPr lang="zh-TW" altLang="en-US" smtClean="0"/>
              <a:t>21</a:t>
            </a:fld>
            <a:endParaRPr lang="zh-TW" altLang="en-US"/>
          </a:p>
        </p:txBody>
      </p:sp>
    </p:spTree>
    <p:extLst>
      <p:ext uri="{BB962C8B-B14F-4D97-AF65-F5344CB8AC3E}">
        <p14:creationId xmlns:p14="http://schemas.microsoft.com/office/powerpoint/2010/main" val="110037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5A8C52F-BCA5-4EE0-A93C-7D675EA73EEA}" type="slidenum">
              <a:rPr lang="zh-TW" altLang="en-US" smtClean="0"/>
              <a:t>22</a:t>
            </a:fld>
            <a:endParaRPr lang="zh-TW" altLang="en-US"/>
          </a:p>
        </p:txBody>
      </p:sp>
    </p:spTree>
    <p:extLst>
      <p:ext uri="{BB962C8B-B14F-4D97-AF65-F5344CB8AC3E}">
        <p14:creationId xmlns:p14="http://schemas.microsoft.com/office/powerpoint/2010/main" val="4069680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5A8C52F-BCA5-4EE0-A93C-7D675EA73EEA}" type="slidenum">
              <a:rPr lang="zh-TW" altLang="en-US" smtClean="0"/>
              <a:t>23</a:t>
            </a:fld>
            <a:endParaRPr lang="zh-TW" altLang="en-US"/>
          </a:p>
        </p:txBody>
      </p:sp>
    </p:spTree>
    <p:extLst>
      <p:ext uri="{BB962C8B-B14F-4D97-AF65-F5344CB8AC3E}">
        <p14:creationId xmlns:p14="http://schemas.microsoft.com/office/powerpoint/2010/main" val="35956688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5A8C52F-BCA5-4EE0-A93C-7D675EA73EEA}" type="slidenum">
              <a:rPr lang="zh-TW" altLang="en-US" smtClean="0"/>
              <a:t>24</a:t>
            </a:fld>
            <a:endParaRPr lang="zh-TW" altLang="en-US"/>
          </a:p>
        </p:txBody>
      </p:sp>
    </p:spTree>
    <p:extLst>
      <p:ext uri="{BB962C8B-B14F-4D97-AF65-F5344CB8AC3E}">
        <p14:creationId xmlns:p14="http://schemas.microsoft.com/office/powerpoint/2010/main" val="1096749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這是我</a:t>
            </a:r>
            <a:r>
              <a:rPr lang="en-US" altLang="zh-TW" dirty="0"/>
              <a:t>ppt </a:t>
            </a:r>
            <a:r>
              <a:rPr lang="zh-TW" altLang="en-US" dirty="0"/>
              <a:t>的</a:t>
            </a:r>
            <a:r>
              <a:rPr lang="en-US" altLang="zh-TW" dirty="0"/>
              <a:t>outline </a:t>
            </a:r>
            <a:r>
              <a:rPr lang="zh-TW" altLang="en-US" dirty="0"/>
              <a:t>這次報告 我將分為五的部分進行介紹，首先第一部分為</a:t>
            </a:r>
          </a:p>
        </p:txBody>
      </p:sp>
      <p:sp>
        <p:nvSpPr>
          <p:cNvPr id="4" name="投影片編號版面配置區 3"/>
          <p:cNvSpPr>
            <a:spLocks noGrp="1"/>
          </p:cNvSpPr>
          <p:nvPr>
            <p:ph type="sldNum" sz="quarter" idx="5"/>
          </p:nvPr>
        </p:nvSpPr>
        <p:spPr/>
        <p:txBody>
          <a:bodyPr/>
          <a:lstStyle/>
          <a:p>
            <a:fld id="{B5A8C52F-BCA5-4EE0-A93C-7D675EA73EEA}" type="slidenum">
              <a:rPr lang="zh-TW" altLang="en-US" smtClean="0"/>
              <a:t>28</a:t>
            </a:fld>
            <a:endParaRPr lang="zh-TW" altLang="en-US"/>
          </a:p>
        </p:txBody>
      </p:sp>
    </p:spTree>
    <p:extLst>
      <p:ext uri="{BB962C8B-B14F-4D97-AF65-F5344CB8AC3E}">
        <p14:creationId xmlns:p14="http://schemas.microsoft.com/office/powerpoint/2010/main" val="26890781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這是我</a:t>
            </a:r>
            <a:r>
              <a:rPr lang="en-US" altLang="zh-TW" dirty="0"/>
              <a:t>ppt </a:t>
            </a:r>
            <a:r>
              <a:rPr lang="zh-TW" altLang="en-US" dirty="0"/>
              <a:t>的</a:t>
            </a:r>
            <a:r>
              <a:rPr lang="en-US" altLang="zh-TW" dirty="0"/>
              <a:t>outline </a:t>
            </a:r>
            <a:r>
              <a:rPr lang="zh-TW" altLang="en-US" dirty="0"/>
              <a:t>這次報告 我將分為五的部分進行介紹，首先第一部分為</a:t>
            </a:r>
          </a:p>
        </p:txBody>
      </p:sp>
      <p:sp>
        <p:nvSpPr>
          <p:cNvPr id="4" name="投影片編號版面配置區 3"/>
          <p:cNvSpPr>
            <a:spLocks noGrp="1"/>
          </p:cNvSpPr>
          <p:nvPr>
            <p:ph type="sldNum" sz="quarter" idx="5"/>
          </p:nvPr>
        </p:nvSpPr>
        <p:spPr/>
        <p:txBody>
          <a:bodyPr/>
          <a:lstStyle/>
          <a:p>
            <a:fld id="{B5A8C52F-BCA5-4EE0-A93C-7D675EA73EEA}" type="slidenum">
              <a:rPr lang="zh-TW" altLang="en-US" smtClean="0"/>
              <a:t>37</a:t>
            </a:fld>
            <a:endParaRPr lang="zh-TW" altLang="en-US"/>
          </a:p>
        </p:txBody>
      </p:sp>
    </p:spTree>
    <p:extLst>
      <p:ext uri="{BB962C8B-B14F-4D97-AF65-F5344CB8AC3E}">
        <p14:creationId xmlns:p14="http://schemas.microsoft.com/office/powerpoint/2010/main" val="3109360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CBDA81-750B-4A51-9287-9B68FA88D7D3}"/>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8693812A-0149-4366-B373-F6DE53E69B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A7DFB5A0-739C-43FB-A3AA-05D211C19A32}"/>
              </a:ext>
            </a:extLst>
          </p:cNvPr>
          <p:cNvSpPr>
            <a:spLocks noGrp="1"/>
          </p:cNvSpPr>
          <p:nvPr>
            <p:ph type="dt" sz="half" idx="10"/>
          </p:nvPr>
        </p:nvSpPr>
        <p:spPr/>
        <p:txBody>
          <a:bodyPr/>
          <a:lstStyle/>
          <a:p>
            <a:fld id="{8264E501-1FDF-4DA9-9920-E73E14FF37B1}" type="datetime1">
              <a:rPr lang="zh-TW" altLang="en-US" smtClean="0"/>
              <a:t>2019/8/20</a:t>
            </a:fld>
            <a:endParaRPr lang="zh-TW" altLang="en-US"/>
          </a:p>
        </p:txBody>
      </p:sp>
      <p:sp>
        <p:nvSpPr>
          <p:cNvPr id="5" name="頁尾版面配置區 4">
            <a:extLst>
              <a:ext uri="{FF2B5EF4-FFF2-40B4-BE49-F238E27FC236}">
                <a16:creationId xmlns:a16="http://schemas.microsoft.com/office/drawing/2014/main" id="{8AC18FA7-9030-42B9-AF37-0B73558479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DD3C76A-9E89-424A-B9D5-CB41D924B74C}"/>
              </a:ext>
            </a:extLst>
          </p:cNvPr>
          <p:cNvSpPr>
            <a:spLocks noGrp="1"/>
          </p:cNvSpPr>
          <p:nvPr>
            <p:ph type="sldNum" sz="quarter" idx="12"/>
          </p:nvPr>
        </p:nvSpPr>
        <p:spPr/>
        <p:txBody>
          <a:bodyPr/>
          <a:lstStyle/>
          <a:p>
            <a:fld id="{29723A01-8C65-4E4C-95BB-6D96843E9278}" type="slidenum">
              <a:rPr lang="zh-TW" altLang="en-US" smtClean="0"/>
              <a:t>‹#›</a:t>
            </a:fld>
            <a:endParaRPr lang="zh-TW" altLang="en-US"/>
          </a:p>
        </p:txBody>
      </p:sp>
    </p:spTree>
    <p:extLst>
      <p:ext uri="{BB962C8B-B14F-4D97-AF65-F5344CB8AC3E}">
        <p14:creationId xmlns:p14="http://schemas.microsoft.com/office/powerpoint/2010/main" val="3741570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2CE0DF-051E-4FF9-85EA-99952D062E5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E2AE59D-C77E-4E10-8C40-B03795933D0F}"/>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CF39864-C403-45AF-970B-3A5CEB2E027E}"/>
              </a:ext>
            </a:extLst>
          </p:cNvPr>
          <p:cNvSpPr>
            <a:spLocks noGrp="1"/>
          </p:cNvSpPr>
          <p:nvPr>
            <p:ph type="dt" sz="half" idx="10"/>
          </p:nvPr>
        </p:nvSpPr>
        <p:spPr/>
        <p:txBody>
          <a:bodyPr/>
          <a:lstStyle/>
          <a:p>
            <a:fld id="{E34E0C87-D668-4024-8EC6-7F401FC6EFCA}" type="datetime1">
              <a:rPr lang="zh-TW" altLang="en-US" smtClean="0"/>
              <a:t>2019/8/20</a:t>
            </a:fld>
            <a:endParaRPr lang="zh-TW" altLang="en-US"/>
          </a:p>
        </p:txBody>
      </p:sp>
      <p:sp>
        <p:nvSpPr>
          <p:cNvPr id="5" name="頁尾版面配置區 4">
            <a:extLst>
              <a:ext uri="{FF2B5EF4-FFF2-40B4-BE49-F238E27FC236}">
                <a16:creationId xmlns:a16="http://schemas.microsoft.com/office/drawing/2014/main" id="{CA1AA8EA-461E-4F4B-88F5-4FAE9C74F7D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99BB4CF-3C5D-4A29-9DFD-01244AB66CA3}"/>
              </a:ext>
            </a:extLst>
          </p:cNvPr>
          <p:cNvSpPr>
            <a:spLocks noGrp="1"/>
          </p:cNvSpPr>
          <p:nvPr>
            <p:ph type="sldNum" sz="quarter" idx="12"/>
          </p:nvPr>
        </p:nvSpPr>
        <p:spPr/>
        <p:txBody>
          <a:bodyPr/>
          <a:lstStyle/>
          <a:p>
            <a:fld id="{29723A01-8C65-4E4C-95BB-6D96843E9278}" type="slidenum">
              <a:rPr lang="zh-TW" altLang="en-US" smtClean="0"/>
              <a:t>‹#›</a:t>
            </a:fld>
            <a:endParaRPr lang="zh-TW" altLang="en-US"/>
          </a:p>
        </p:txBody>
      </p:sp>
    </p:spTree>
    <p:extLst>
      <p:ext uri="{BB962C8B-B14F-4D97-AF65-F5344CB8AC3E}">
        <p14:creationId xmlns:p14="http://schemas.microsoft.com/office/powerpoint/2010/main" val="2188666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11388C-0CF9-4953-8814-F533491F5FD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E5DF28F7-0AB4-4F00-83EB-2341C89D41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F43B8EE-70F0-4E4F-AC43-24A62087B69C}"/>
              </a:ext>
            </a:extLst>
          </p:cNvPr>
          <p:cNvSpPr>
            <a:spLocks noGrp="1"/>
          </p:cNvSpPr>
          <p:nvPr>
            <p:ph type="dt" sz="half" idx="10"/>
          </p:nvPr>
        </p:nvSpPr>
        <p:spPr/>
        <p:txBody>
          <a:bodyPr/>
          <a:lstStyle/>
          <a:p>
            <a:fld id="{63E5CA48-B2AB-437B-9047-88B54B03205B}" type="datetime1">
              <a:rPr lang="zh-TW" altLang="en-US" smtClean="0"/>
              <a:t>2019/8/20</a:t>
            </a:fld>
            <a:endParaRPr lang="zh-TW" altLang="en-US"/>
          </a:p>
        </p:txBody>
      </p:sp>
      <p:sp>
        <p:nvSpPr>
          <p:cNvPr id="5" name="頁尾版面配置區 4">
            <a:extLst>
              <a:ext uri="{FF2B5EF4-FFF2-40B4-BE49-F238E27FC236}">
                <a16:creationId xmlns:a16="http://schemas.microsoft.com/office/drawing/2014/main" id="{FD2AAC2F-07BF-449F-8046-9A72623E590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E6FCBE4-7BBE-4639-B276-FFE610798242}"/>
              </a:ext>
            </a:extLst>
          </p:cNvPr>
          <p:cNvSpPr>
            <a:spLocks noGrp="1"/>
          </p:cNvSpPr>
          <p:nvPr>
            <p:ph type="sldNum" sz="quarter" idx="12"/>
          </p:nvPr>
        </p:nvSpPr>
        <p:spPr/>
        <p:txBody>
          <a:bodyPr/>
          <a:lstStyle/>
          <a:p>
            <a:fld id="{29723A01-8C65-4E4C-95BB-6D96843E9278}" type="slidenum">
              <a:rPr lang="zh-TW" altLang="en-US" smtClean="0"/>
              <a:t>‹#›</a:t>
            </a:fld>
            <a:endParaRPr lang="zh-TW" altLang="en-US"/>
          </a:p>
        </p:txBody>
      </p:sp>
    </p:spTree>
    <p:extLst>
      <p:ext uri="{BB962C8B-B14F-4D97-AF65-F5344CB8AC3E}">
        <p14:creationId xmlns:p14="http://schemas.microsoft.com/office/powerpoint/2010/main" val="2828744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733DD9-6B56-4002-A605-65BE87C8AE4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BF99D9D-C56F-42A2-B282-008407A745B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7F1F2291-C2C1-4281-A857-F13FB6CEE3FD}"/>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E69FBE8-367A-4DFF-8518-AC20B35ECF37}"/>
              </a:ext>
            </a:extLst>
          </p:cNvPr>
          <p:cNvSpPr>
            <a:spLocks noGrp="1"/>
          </p:cNvSpPr>
          <p:nvPr>
            <p:ph type="dt" sz="half" idx="10"/>
          </p:nvPr>
        </p:nvSpPr>
        <p:spPr/>
        <p:txBody>
          <a:bodyPr/>
          <a:lstStyle/>
          <a:p>
            <a:fld id="{D27355FE-F993-4C88-943D-BED5B24A8F1C}" type="datetime1">
              <a:rPr lang="zh-TW" altLang="en-US" smtClean="0"/>
              <a:t>2019/8/20</a:t>
            </a:fld>
            <a:endParaRPr lang="zh-TW" altLang="en-US"/>
          </a:p>
        </p:txBody>
      </p:sp>
      <p:sp>
        <p:nvSpPr>
          <p:cNvPr id="6" name="頁尾版面配置區 5">
            <a:extLst>
              <a:ext uri="{FF2B5EF4-FFF2-40B4-BE49-F238E27FC236}">
                <a16:creationId xmlns:a16="http://schemas.microsoft.com/office/drawing/2014/main" id="{79E2C701-C73B-435F-B630-79E732D6286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46AB001-D044-4D2B-B045-6D049784CD62}"/>
              </a:ext>
            </a:extLst>
          </p:cNvPr>
          <p:cNvSpPr>
            <a:spLocks noGrp="1"/>
          </p:cNvSpPr>
          <p:nvPr>
            <p:ph type="sldNum" sz="quarter" idx="12"/>
          </p:nvPr>
        </p:nvSpPr>
        <p:spPr/>
        <p:txBody>
          <a:bodyPr/>
          <a:lstStyle/>
          <a:p>
            <a:fld id="{29723A01-8C65-4E4C-95BB-6D96843E9278}" type="slidenum">
              <a:rPr lang="zh-TW" altLang="en-US" smtClean="0"/>
              <a:t>‹#›</a:t>
            </a:fld>
            <a:endParaRPr lang="zh-TW" altLang="en-US"/>
          </a:p>
        </p:txBody>
      </p:sp>
    </p:spTree>
    <p:extLst>
      <p:ext uri="{BB962C8B-B14F-4D97-AF65-F5344CB8AC3E}">
        <p14:creationId xmlns:p14="http://schemas.microsoft.com/office/powerpoint/2010/main" val="3429779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D78088-F984-4BA5-A73B-66AEA1F6E91C}"/>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9639216-6143-4E13-ABA1-96DAC7DCA5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5E455AB-2D73-4FA5-B3CD-C5139E08B4D2}"/>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E55767ED-257A-4F52-AEB4-CA69D968B5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46621271-7D41-43AF-A79A-C679439A627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A5AAB47-12DF-4E1C-A01F-0D147F0F2C90}"/>
              </a:ext>
            </a:extLst>
          </p:cNvPr>
          <p:cNvSpPr>
            <a:spLocks noGrp="1"/>
          </p:cNvSpPr>
          <p:nvPr>
            <p:ph type="dt" sz="half" idx="10"/>
          </p:nvPr>
        </p:nvSpPr>
        <p:spPr/>
        <p:txBody>
          <a:bodyPr/>
          <a:lstStyle/>
          <a:p>
            <a:fld id="{38A483F0-30E0-4304-A8D2-8B39F90D30A6}" type="datetime1">
              <a:rPr lang="zh-TW" altLang="en-US" smtClean="0"/>
              <a:t>2019/8/20</a:t>
            </a:fld>
            <a:endParaRPr lang="zh-TW" altLang="en-US"/>
          </a:p>
        </p:txBody>
      </p:sp>
      <p:sp>
        <p:nvSpPr>
          <p:cNvPr id="8" name="頁尾版面配置區 7">
            <a:extLst>
              <a:ext uri="{FF2B5EF4-FFF2-40B4-BE49-F238E27FC236}">
                <a16:creationId xmlns:a16="http://schemas.microsoft.com/office/drawing/2014/main" id="{6C8D3271-7412-469C-AD6D-AACFD8A1EB54}"/>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653408B0-F854-4165-B0BA-09B136D260C3}"/>
              </a:ext>
            </a:extLst>
          </p:cNvPr>
          <p:cNvSpPr>
            <a:spLocks noGrp="1"/>
          </p:cNvSpPr>
          <p:nvPr>
            <p:ph type="sldNum" sz="quarter" idx="12"/>
          </p:nvPr>
        </p:nvSpPr>
        <p:spPr/>
        <p:txBody>
          <a:bodyPr/>
          <a:lstStyle/>
          <a:p>
            <a:fld id="{29723A01-8C65-4E4C-95BB-6D96843E9278}" type="slidenum">
              <a:rPr lang="zh-TW" altLang="en-US" smtClean="0"/>
              <a:t>‹#›</a:t>
            </a:fld>
            <a:endParaRPr lang="zh-TW" altLang="en-US"/>
          </a:p>
        </p:txBody>
      </p:sp>
    </p:spTree>
    <p:extLst>
      <p:ext uri="{BB962C8B-B14F-4D97-AF65-F5344CB8AC3E}">
        <p14:creationId xmlns:p14="http://schemas.microsoft.com/office/powerpoint/2010/main" val="1840438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C5D264-5805-4817-8FD7-4CC639FC8B2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A73C9C1-DFC6-49C3-8457-CAAA02D50942}"/>
              </a:ext>
            </a:extLst>
          </p:cNvPr>
          <p:cNvSpPr>
            <a:spLocks noGrp="1"/>
          </p:cNvSpPr>
          <p:nvPr>
            <p:ph type="dt" sz="half" idx="10"/>
          </p:nvPr>
        </p:nvSpPr>
        <p:spPr/>
        <p:txBody>
          <a:bodyPr/>
          <a:lstStyle/>
          <a:p>
            <a:fld id="{BE5A4B8C-E978-419E-9B2D-D3E066BB0B09}" type="datetime1">
              <a:rPr lang="zh-TW" altLang="en-US" smtClean="0"/>
              <a:t>2019/8/20</a:t>
            </a:fld>
            <a:endParaRPr lang="zh-TW" altLang="en-US"/>
          </a:p>
        </p:txBody>
      </p:sp>
      <p:sp>
        <p:nvSpPr>
          <p:cNvPr id="4" name="頁尾版面配置區 3">
            <a:extLst>
              <a:ext uri="{FF2B5EF4-FFF2-40B4-BE49-F238E27FC236}">
                <a16:creationId xmlns:a16="http://schemas.microsoft.com/office/drawing/2014/main" id="{EEBC7050-4A9D-4125-A479-DD5A5503E4F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1793D5D-5BD3-41FD-895D-09BC4C0E4745}"/>
              </a:ext>
            </a:extLst>
          </p:cNvPr>
          <p:cNvSpPr>
            <a:spLocks noGrp="1"/>
          </p:cNvSpPr>
          <p:nvPr>
            <p:ph type="sldNum" sz="quarter" idx="12"/>
          </p:nvPr>
        </p:nvSpPr>
        <p:spPr/>
        <p:txBody>
          <a:bodyPr/>
          <a:lstStyle/>
          <a:p>
            <a:fld id="{29723A01-8C65-4E4C-95BB-6D96843E9278}" type="slidenum">
              <a:rPr lang="zh-TW" altLang="en-US" smtClean="0"/>
              <a:t>‹#›</a:t>
            </a:fld>
            <a:endParaRPr lang="zh-TW" altLang="en-US"/>
          </a:p>
        </p:txBody>
      </p:sp>
    </p:spTree>
    <p:extLst>
      <p:ext uri="{BB962C8B-B14F-4D97-AF65-F5344CB8AC3E}">
        <p14:creationId xmlns:p14="http://schemas.microsoft.com/office/powerpoint/2010/main" val="3819552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A94015-CD41-4375-9077-8CDDEBC7898D}"/>
              </a:ext>
            </a:extLst>
          </p:cNvPr>
          <p:cNvSpPr>
            <a:spLocks noGrp="1"/>
          </p:cNvSpPr>
          <p:nvPr>
            <p:ph type="dt" sz="half" idx="10"/>
          </p:nvPr>
        </p:nvSpPr>
        <p:spPr/>
        <p:txBody>
          <a:bodyPr/>
          <a:lstStyle/>
          <a:p>
            <a:fld id="{EBF82FB1-C455-49F8-A6CC-B37912CC1B69}" type="datetime1">
              <a:rPr lang="zh-TW" altLang="en-US" smtClean="0"/>
              <a:t>2019/8/20</a:t>
            </a:fld>
            <a:endParaRPr lang="zh-TW" altLang="en-US"/>
          </a:p>
        </p:txBody>
      </p:sp>
      <p:sp>
        <p:nvSpPr>
          <p:cNvPr id="3" name="頁尾版面配置區 2">
            <a:extLst>
              <a:ext uri="{FF2B5EF4-FFF2-40B4-BE49-F238E27FC236}">
                <a16:creationId xmlns:a16="http://schemas.microsoft.com/office/drawing/2014/main" id="{C88BC03D-81E5-4A27-B3B3-C871D5E7FBCC}"/>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92D676F-B4BC-4519-AF6B-17E707A31B42}"/>
              </a:ext>
            </a:extLst>
          </p:cNvPr>
          <p:cNvSpPr>
            <a:spLocks noGrp="1"/>
          </p:cNvSpPr>
          <p:nvPr>
            <p:ph type="sldNum" sz="quarter" idx="12"/>
          </p:nvPr>
        </p:nvSpPr>
        <p:spPr/>
        <p:txBody>
          <a:bodyPr/>
          <a:lstStyle/>
          <a:p>
            <a:fld id="{29723A01-8C65-4E4C-95BB-6D96843E9278}" type="slidenum">
              <a:rPr lang="zh-TW" altLang="en-US" smtClean="0"/>
              <a:t>‹#›</a:t>
            </a:fld>
            <a:endParaRPr lang="zh-TW" altLang="en-US"/>
          </a:p>
        </p:txBody>
      </p:sp>
    </p:spTree>
    <p:extLst>
      <p:ext uri="{BB962C8B-B14F-4D97-AF65-F5344CB8AC3E}">
        <p14:creationId xmlns:p14="http://schemas.microsoft.com/office/powerpoint/2010/main" val="1737936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F3523A-EF05-48D1-ACB5-87FAB7E525B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8D9E8327-5521-4985-9925-9A3FF16071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66443149-665D-49AF-8BD3-2BA6C654F5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26E7D95-E014-4CC6-A9BB-9E6F926AAA3E}"/>
              </a:ext>
            </a:extLst>
          </p:cNvPr>
          <p:cNvSpPr>
            <a:spLocks noGrp="1"/>
          </p:cNvSpPr>
          <p:nvPr>
            <p:ph type="dt" sz="half" idx="10"/>
          </p:nvPr>
        </p:nvSpPr>
        <p:spPr/>
        <p:txBody>
          <a:bodyPr/>
          <a:lstStyle/>
          <a:p>
            <a:fld id="{E91EC53F-0F85-43C8-8E10-D2EF29CC9DA5}" type="datetime1">
              <a:rPr lang="zh-TW" altLang="en-US" smtClean="0"/>
              <a:t>2019/8/20</a:t>
            </a:fld>
            <a:endParaRPr lang="zh-TW" altLang="en-US"/>
          </a:p>
        </p:txBody>
      </p:sp>
      <p:sp>
        <p:nvSpPr>
          <p:cNvPr id="6" name="頁尾版面配置區 5">
            <a:extLst>
              <a:ext uri="{FF2B5EF4-FFF2-40B4-BE49-F238E27FC236}">
                <a16:creationId xmlns:a16="http://schemas.microsoft.com/office/drawing/2014/main" id="{C7478F94-D370-4856-8D06-017ED446C19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B5AD303-40FE-4CEB-97D7-27D9DCA8CCF2}"/>
              </a:ext>
            </a:extLst>
          </p:cNvPr>
          <p:cNvSpPr>
            <a:spLocks noGrp="1"/>
          </p:cNvSpPr>
          <p:nvPr>
            <p:ph type="sldNum" sz="quarter" idx="12"/>
          </p:nvPr>
        </p:nvSpPr>
        <p:spPr/>
        <p:txBody>
          <a:bodyPr/>
          <a:lstStyle/>
          <a:p>
            <a:fld id="{29723A01-8C65-4E4C-95BB-6D96843E9278}" type="slidenum">
              <a:rPr lang="zh-TW" altLang="en-US" smtClean="0"/>
              <a:t>‹#›</a:t>
            </a:fld>
            <a:endParaRPr lang="zh-TW" altLang="en-US"/>
          </a:p>
        </p:txBody>
      </p:sp>
    </p:spTree>
    <p:extLst>
      <p:ext uri="{BB962C8B-B14F-4D97-AF65-F5344CB8AC3E}">
        <p14:creationId xmlns:p14="http://schemas.microsoft.com/office/powerpoint/2010/main" val="2295970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4E08AA-1E96-4FC5-8806-5C17E4DC29A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5B5529F3-7D07-4722-8ED5-6A36956822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613A8855-4F06-4A39-A9FA-05F4C37A70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A78B340-E072-48BC-ABC8-6988AB195E59}"/>
              </a:ext>
            </a:extLst>
          </p:cNvPr>
          <p:cNvSpPr>
            <a:spLocks noGrp="1"/>
          </p:cNvSpPr>
          <p:nvPr>
            <p:ph type="dt" sz="half" idx="10"/>
          </p:nvPr>
        </p:nvSpPr>
        <p:spPr/>
        <p:txBody>
          <a:bodyPr/>
          <a:lstStyle/>
          <a:p>
            <a:fld id="{7C5FB88F-146C-4174-B2CB-BBE14684D5CE}" type="datetime1">
              <a:rPr lang="zh-TW" altLang="en-US" smtClean="0"/>
              <a:t>2019/8/20</a:t>
            </a:fld>
            <a:endParaRPr lang="zh-TW" altLang="en-US"/>
          </a:p>
        </p:txBody>
      </p:sp>
      <p:sp>
        <p:nvSpPr>
          <p:cNvPr id="6" name="頁尾版面配置區 5">
            <a:extLst>
              <a:ext uri="{FF2B5EF4-FFF2-40B4-BE49-F238E27FC236}">
                <a16:creationId xmlns:a16="http://schemas.microsoft.com/office/drawing/2014/main" id="{FCC9CDE8-2663-4D5A-AA82-91D1A0FC244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735C5F9-48C8-4BA9-A497-1523BB1D4B58}"/>
              </a:ext>
            </a:extLst>
          </p:cNvPr>
          <p:cNvSpPr>
            <a:spLocks noGrp="1"/>
          </p:cNvSpPr>
          <p:nvPr>
            <p:ph type="sldNum" sz="quarter" idx="12"/>
          </p:nvPr>
        </p:nvSpPr>
        <p:spPr/>
        <p:txBody>
          <a:bodyPr/>
          <a:lstStyle/>
          <a:p>
            <a:fld id="{29723A01-8C65-4E4C-95BB-6D96843E9278}" type="slidenum">
              <a:rPr lang="zh-TW" altLang="en-US" smtClean="0"/>
              <a:t>‹#›</a:t>
            </a:fld>
            <a:endParaRPr lang="zh-TW" altLang="en-US"/>
          </a:p>
        </p:txBody>
      </p:sp>
    </p:spTree>
    <p:extLst>
      <p:ext uri="{BB962C8B-B14F-4D97-AF65-F5344CB8AC3E}">
        <p14:creationId xmlns:p14="http://schemas.microsoft.com/office/powerpoint/2010/main" val="1037418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35DBD6-CCEF-4709-B6A8-8D1461A049DF}"/>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F4FD8496-F45D-449B-8ADD-136EEF5C0597}"/>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21905EB-F5F3-4AF6-856F-A8F6F84D26ED}"/>
              </a:ext>
            </a:extLst>
          </p:cNvPr>
          <p:cNvSpPr>
            <a:spLocks noGrp="1"/>
          </p:cNvSpPr>
          <p:nvPr>
            <p:ph type="dt" sz="half" idx="10"/>
          </p:nvPr>
        </p:nvSpPr>
        <p:spPr/>
        <p:txBody>
          <a:bodyPr/>
          <a:lstStyle/>
          <a:p>
            <a:fld id="{E7952247-EA63-4872-BBB4-21995C0C7754}" type="datetime1">
              <a:rPr lang="zh-TW" altLang="en-US" smtClean="0"/>
              <a:t>2019/8/20</a:t>
            </a:fld>
            <a:endParaRPr lang="zh-TW" altLang="en-US"/>
          </a:p>
        </p:txBody>
      </p:sp>
      <p:sp>
        <p:nvSpPr>
          <p:cNvPr id="5" name="頁尾版面配置區 4">
            <a:extLst>
              <a:ext uri="{FF2B5EF4-FFF2-40B4-BE49-F238E27FC236}">
                <a16:creationId xmlns:a16="http://schemas.microsoft.com/office/drawing/2014/main" id="{C918BC45-AA7F-46C2-8EB2-F59D04FD7EE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BF906DA-67DC-4A97-AB6B-CC8234838260}"/>
              </a:ext>
            </a:extLst>
          </p:cNvPr>
          <p:cNvSpPr>
            <a:spLocks noGrp="1"/>
          </p:cNvSpPr>
          <p:nvPr>
            <p:ph type="sldNum" sz="quarter" idx="12"/>
          </p:nvPr>
        </p:nvSpPr>
        <p:spPr/>
        <p:txBody>
          <a:bodyPr/>
          <a:lstStyle/>
          <a:p>
            <a:fld id="{29723A01-8C65-4E4C-95BB-6D96843E9278}" type="slidenum">
              <a:rPr lang="zh-TW" altLang="en-US" smtClean="0"/>
              <a:t>‹#›</a:t>
            </a:fld>
            <a:endParaRPr lang="zh-TW" altLang="en-US"/>
          </a:p>
        </p:txBody>
      </p:sp>
    </p:spTree>
    <p:extLst>
      <p:ext uri="{BB962C8B-B14F-4D97-AF65-F5344CB8AC3E}">
        <p14:creationId xmlns:p14="http://schemas.microsoft.com/office/powerpoint/2010/main" val="4254845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03B37D0-A932-4EDC-919A-28A3A65E6782}"/>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ED4353C0-11E3-4B7E-BB99-D78B40702948}"/>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A299037-4FDE-4428-B552-2BECB1A44829}"/>
              </a:ext>
            </a:extLst>
          </p:cNvPr>
          <p:cNvSpPr>
            <a:spLocks noGrp="1"/>
          </p:cNvSpPr>
          <p:nvPr>
            <p:ph type="dt" sz="half" idx="10"/>
          </p:nvPr>
        </p:nvSpPr>
        <p:spPr/>
        <p:txBody>
          <a:bodyPr/>
          <a:lstStyle/>
          <a:p>
            <a:fld id="{6A089C6F-48F3-484C-AD27-592DC36C10E6}" type="datetime1">
              <a:rPr lang="zh-TW" altLang="en-US" smtClean="0"/>
              <a:t>2019/8/20</a:t>
            </a:fld>
            <a:endParaRPr lang="zh-TW" altLang="en-US"/>
          </a:p>
        </p:txBody>
      </p:sp>
      <p:sp>
        <p:nvSpPr>
          <p:cNvPr id="5" name="頁尾版面配置區 4">
            <a:extLst>
              <a:ext uri="{FF2B5EF4-FFF2-40B4-BE49-F238E27FC236}">
                <a16:creationId xmlns:a16="http://schemas.microsoft.com/office/drawing/2014/main" id="{3262EED4-AE7D-455C-8FD4-7F5894B4D01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E88EF0A-82B5-4F6E-8F30-493676D4B8EF}"/>
              </a:ext>
            </a:extLst>
          </p:cNvPr>
          <p:cNvSpPr>
            <a:spLocks noGrp="1"/>
          </p:cNvSpPr>
          <p:nvPr>
            <p:ph type="sldNum" sz="quarter" idx="12"/>
          </p:nvPr>
        </p:nvSpPr>
        <p:spPr/>
        <p:txBody>
          <a:bodyPr/>
          <a:lstStyle/>
          <a:p>
            <a:fld id="{29723A01-8C65-4E4C-95BB-6D96843E9278}" type="slidenum">
              <a:rPr lang="zh-TW" altLang="en-US" smtClean="0"/>
              <a:t>‹#›</a:t>
            </a:fld>
            <a:endParaRPr lang="zh-TW" altLang="en-US"/>
          </a:p>
        </p:txBody>
      </p:sp>
    </p:spTree>
    <p:extLst>
      <p:ext uri="{BB962C8B-B14F-4D97-AF65-F5344CB8AC3E}">
        <p14:creationId xmlns:p14="http://schemas.microsoft.com/office/powerpoint/2010/main" val="2524476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D667C9F-A771-4070-9947-540B724F48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A05A58B-241F-4576-B378-A6D757617B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14666CB-26C5-491A-9D54-3FC75D2741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BEDA60-A4B9-40A8-8150-31CD5F01E565}" type="datetime1">
              <a:rPr lang="zh-TW" altLang="en-US" smtClean="0"/>
              <a:t>2019/8/20</a:t>
            </a:fld>
            <a:endParaRPr lang="zh-TW" altLang="en-US"/>
          </a:p>
        </p:txBody>
      </p:sp>
      <p:sp>
        <p:nvSpPr>
          <p:cNvPr id="5" name="頁尾版面配置區 4">
            <a:extLst>
              <a:ext uri="{FF2B5EF4-FFF2-40B4-BE49-F238E27FC236}">
                <a16:creationId xmlns:a16="http://schemas.microsoft.com/office/drawing/2014/main" id="{FD94E7BA-7B8A-4A15-9772-A52B94AE14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B14AA85-F548-4268-BC8C-503082A04A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723A01-8C65-4E4C-95BB-6D96843E9278}" type="slidenum">
              <a:rPr lang="zh-TW" altLang="en-US" smtClean="0"/>
              <a:t>‹#›</a:t>
            </a:fld>
            <a:endParaRPr lang="zh-TW" altLang="en-US"/>
          </a:p>
        </p:txBody>
      </p:sp>
    </p:spTree>
    <p:extLst>
      <p:ext uri="{BB962C8B-B14F-4D97-AF65-F5344CB8AC3E}">
        <p14:creationId xmlns:p14="http://schemas.microsoft.com/office/powerpoint/2010/main" val="1125064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gi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image" Target="../media/image240.png"/><Relationship Id="rId18" Type="http://schemas.openxmlformats.org/officeDocument/2006/relationships/image" Target="../media/image29.png"/><Relationship Id="rId3" Type="http://schemas.openxmlformats.org/officeDocument/2006/relationships/image" Target="../media/image140.png"/><Relationship Id="rId7" Type="http://schemas.openxmlformats.org/officeDocument/2006/relationships/image" Target="../media/image180.png"/><Relationship Id="rId12" Type="http://schemas.openxmlformats.org/officeDocument/2006/relationships/image" Target="../media/image230.png"/><Relationship Id="rId17" Type="http://schemas.openxmlformats.org/officeDocument/2006/relationships/image" Target="../media/image28.png"/><Relationship Id="rId2" Type="http://schemas.openxmlformats.org/officeDocument/2006/relationships/notesSlide" Target="../notesSlides/notesSlide9.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170.png"/><Relationship Id="rId11" Type="http://schemas.openxmlformats.org/officeDocument/2006/relationships/image" Target="../media/image220.png"/><Relationship Id="rId5" Type="http://schemas.openxmlformats.org/officeDocument/2006/relationships/image" Target="../media/image160.png"/><Relationship Id="rId15" Type="http://schemas.openxmlformats.org/officeDocument/2006/relationships/image" Target="../media/image26.png"/><Relationship Id="rId10" Type="http://schemas.openxmlformats.org/officeDocument/2006/relationships/image" Target="../media/image210.png"/><Relationship Id="rId19" Type="http://schemas.openxmlformats.org/officeDocument/2006/relationships/image" Target="../media/image30.png"/><Relationship Id="rId4" Type="http://schemas.openxmlformats.org/officeDocument/2006/relationships/image" Target="../media/image150.png"/><Relationship Id="rId9" Type="http://schemas.openxmlformats.org/officeDocument/2006/relationships/image" Target="../media/image200.png"/><Relationship Id="rId14" Type="http://schemas.openxmlformats.org/officeDocument/2006/relationships/image" Target="../media/image250.png"/></Relationships>
</file>

<file path=ppt/slides/_rels/slide10.xml.rels><?xml version="1.0" encoding="UTF-8" standalone="yes"?>
<Relationships xmlns="http://schemas.openxmlformats.org/package/2006/relationships"><Relationship Id="rId3" Type="http://schemas.openxmlformats.org/officeDocument/2006/relationships/image" Target="../media/image280.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4" Type="http://schemas.openxmlformats.org/officeDocument/2006/relationships/image" Target="../media/image290.png"/></Relationships>
</file>

<file path=ppt/slides/_rels/slide11.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1.png"/><Relationship Id="rId18" Type="http://schemas.openxmlformats.org/officeDocument/2006/relationships/image" Target="../media/image45.png"/><Relationship Id="rId3" Type="http://schemas.openxmlformats.org/officeDocument/2006/relationships/image" Target="../media/image23.png"/><Relationship Id="rId21"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0.png"/><Relationship Id="rId17" Type="http://schemas.openxmlformats.org/officeDocument/2006/relationships/image" Target="../media/image44.png"/><Relationship Id="rId2" Type="http://schemas.openxmlformats.org/officeDocument/2006/relationships/notesSlide" Target="../notesSlides/notesSlide11.xml"/><Relationship Id="rId16" Type="http://schemas.openxmlformats.org/officeDocument/2006/relationships/image" Target="../media/image25.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15" Type="http://schemas.openxmlformats.org/officeDocument/2006/relationships/image" Target="../media/image24.png"/><Relationship Id="rId19" Type="http://schemas.openxmlformats.org/officeDocument/2006/relationships/image" Target="../media/image46.png"/><Relationship Id="rId14" Type="http://schemas.openxmlformats.org/officeDocument/2006/relationships/image" Target="../media/image42.png"/><Relationship Id="rId22" Type="http://schemas.openxmlformats.org/officeDocument/2006/relationships/image" Target="../media/image3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image" Target="../media/image481.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image" Target="../media/image39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image" Target="../media/image481.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image" Target="../media/image481.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21.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520.png"/><Relationship Id="rId3" Type="http://schemas.openxmlformats.org/officeDocument/2006/relationships/image" Target="../media/image500.png"/><Relationship Id="rId7" Type="http://schemas.openxmlformats.org/officeDocument/2006/relationships/image" Target="../media/image55.png"/><Relationship Id="rId12" Type="http://schemas.openxmlformats.org/officeDocument/2006/relationships/image" Target="../media/image60.png"/><Relationship Id="rId2" Type="http://schemas.openxmlformats.org/officeDocument/2006/relationships/notesSlide" Target="../notesSlides/notesSlide14.xml"/><Relationship Id="rId16" Type="http://schemas.openxmlformats.org/officeDocument/2006/relationships/image" Target="../media/image61.png"/><Relationship Id="rId1" Type="http://schemas.openxmlformats.org/officeDocument/2006/relationships/slideLayout" Target="../slideLayouts/slideLayout2.xml"/><Relationship Id="rId11" Type="http://schemas.openxmlformats.org/officeDocument/2006/relationships/image" Target="../media/image59.png"/><Relationship Id="rId15" Type="http://schemas.openxmlformats.org/officeDocument/2006/relationships/image" Target="../media/image49.png"/><Relationship Id="rId10" Type="http://schemas.openxmlformats.org/officeDocument/2006/relationships/image" Target="../media/image58.png"/><Relationship Id="rId9" Type="http://schemas.openxmlformats.org/officeDocument/2006/relationships/image" Target="../media/image57.png"/><Relationship Id="rId14" Type="http://schemas.openxmlformats.org/officeDocument/2006/relationships/image" Target="../media/image530.png"/></Relationships>
</file>

<file path=ppt/slides/_rels/slide22.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520.png"/><Relationship Id="rId3" Type="http://schemas.openxmlformats.org/officeDocument/2006/relationships/image" Target="../media/image500.png"/><Relationship Id="rId7" Type="http://schemas.openxmlformats.org/officeDocument/2006/relationships/image" Target="../media/image55.png"/><Relationship Id="rId12" Type="http://schemas.openxmlformats.org/officeDocument/2006/relationships/image" Target="../media/image60.png"/><Relationship Id="rId2" Type="http://schemas.openxmlformats.org/officeDocument/2006/relationships/notesSlide" Target="../notesSlides/notesSlide15.xml"/><Relationship Id="rId16" Type="http://schemas.openxmlformats.org/officeDocument/2006/relationships/image" Target="../media/image61.png"/><Relationship Id="rId1" Type="http://schemas.openxmlformats.org/officeDocument/2006/relationships/slideLayout" Target="../slideLayouts/slideLayout2.xml"/><Relationship Id="rId11" Type="http://schemas.openxmlformats.org/officeDocument/2006/relationships/image" Target="../media/image59.png"/><Relationship Id="rId15" Type="http://schemas.openxmlformats.org/officeDocument/2006/relationships/image" Target="../media/image49.png"/><Relationship Id="rId10" Type="http://schemas.openxmlformats.org/officeDocument/2006/relationships/image" Target="../media/image58.png"/><Relationship Id="rId9" Type="http://schemas.openxmlformats.org/officeDocument/2006/relationships/image" Target="../media/image57.png"/><Relationship Id="rId14" Type="http://schemas.openxmlformats.org/officeDocument/2006/relationships/image" Target="../media/image530.png"/></Relationships>
</file>

<file path=ppt/slides/_rels/slide23.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520.png"/><Relationship Id="rId3" Type="http://schemas.openxmlformats.org/officeDocument/2006/relationships/image" Target="../media/image500.png"/><Relationship Id="rId7" Type="http://schemas.openxmlformats.org/officeDocument/2006/relationships/image" Target="../media/image55.png"/><Relationship Id="rId12" Type="http://schemas.openxmlformats.org/officeDocument/2006/relationships/image" Target="../media/image60.png"/><Relationship Id="rId2" Type="http://schemas.openxmlformats.org/officeDocument/2006/relationships/notesSlide" Target="../notesSlides/notesSlide16.xml"/><Relationship Id="rId16" Type="http://schemas.openxmlformats.org/officeDocument/2006/relationships/image" Target="../media/image61.png"/><Relationship Id="rId1" Type="http://schemas.openxmlformats.org/officeDocument/2006/relationships/slideLayout" Target="../slideLayouts/slideLayout2.xml"/><Relationship Id="rId11" Type="http://schemas.openxmlformats.org/officeDocument/2006/relationships/image" Target="../media/image59.png"/><Relationship Id="rId15" Type="http://schemas.openxmlformats.org/officeDocument/2006/relationships/image" Target="../media/image49.png"/><Relationship Id="rId10" Type="http://schemas.openxmlformats.org/officeDocument/2006/relationships/image" Target="../media/image58.png"/><Relationship Id="rId9" Type="http://schemas.openxmlformats.org/officeDocument/2006/relationships/image" Target="../media/image57.png"/><Relationship Id="rId14" Type="http://schemas.openxmlformats.org/officeDocument/2006/relationships/image" Target="../media/image530.png"/></Relationships>
</file>

<file path=ppt/slides/_rels/slide24.xml.rels><?xml version="1.0" encoding="UTF-8" standalone="yes"?>
<Relationships xmlns="http://schemas.openxmlformats.org/package/2006/relationships"><Relationship Id="rId8" Type="http://schemas.openxmlformats.org/officeDocument/2006/relationships/image" Target="../media/image680.png"/><Relationship Id="rId13" Type="http://schemas.openxmlformats.org/officeDocument/2006/relationships/image" Target="../media/image730.png"/><Relationship Id="rId18" Type="http://schemas.openxmlformats.org/officeDocument/2006/relationships/image" Target="../media/image63.png"/><Relationship Id="rId3" Type="http://schemas.openxmlformats.org/officeDocument/2006/relationships/image" Target="../media/image51.png"/><Relationship Id="rId7" Type="http://schemas.openxmlformats.org/officeDocument/2006/relationships/image" Target="../media/image670.png"/><Relationship Id="rId12" Type="http://schemas.openxmlformats.org/officeDocument/2006/relationships/image" Target="../media/image720.png"/><Relationship Id="rId17" Type="http://schemas.openxmlformats.org/officeDocument/2006/relationships/image" Target="../media/image77.png"/><Relationship Id="rId2" Type="http://schemas.openxmlformats.org/officeDocument/2006/relationships/notesSlide" Target="../notesSlides/notesSlide17.xml"/><Relationship Id="rId16"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660.png"/><Relationship Id="rId11" Type="http://schemas.openxmlformats.org/officeDocument/2006/relationships/image" Target="../media/image710.png"/><Relationship Id="rId5" Type="http://schemas.openxmlformats.org/officeDocument/2006/relationships/image" Target="../media/image62.png"/><Relationship Id="rId15" Type="http://schemas.openxmlformats.org/officeDocument/2006/relationships/image" Target="../media/image75.png"/><Relationship Id="rId10" Type="http://schemas.openxmlformats.org/officeDocument/2006/relationships/image" Target="../media/image700.PNG"/><Relationship Id="rId4" Type="http://schemas.openxmlformats.org/officeDocument/2006/relationships/image" Target="../media/image54.png"/><Relationship Id="rId9" Type="http://schemas.openxmlformats.org/officeDocument/2006/relationships/image" Target="../media/image690.PNG"/><Relationship Id="rId14" Type="http://schemas.openxmlformats.org/officeDocument/2006/relationships/image" Target="../media/image74.png"/></Relationships>
</file>

<file path=ppt/slides/_rels/slide2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67.png"/><Relationship Id="rId4" Type="http://schemas.openxmlformats.org/officeDocument/2006/relationships/image" Target="../media/image66.jpeg"/></Relationships>
</file>

<file path=ppt/slides/_rels/slide27.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71.jpg"/><Relationship Id="rId4" Type="http://schemas.openxmlformats.org/officeDocument/2006/relationships/image" Target="../media/image70.PNG"/></Relationships>
</file>

<file path=ppt/slides/_rels/slide3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6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7.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79.png"/></Relationships>
</file>

<file path=ppt/slides/_rels/slide3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91.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34.xml.rels><?xml version="1.0" encoding="UTF-8" standalone="yes"?>
<Relationships xmlns="http://schemas.openxmlformats.org/package/2006/relationships"><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35.xml.rels><?xml version="1.0" encoding="UTF-8" standalone="yes"?>
<Relationships xmlns="http://schemas.openxmlformats.org/package/2006/relationships"><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3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image" Target="../media/image106.png"/></Relationships>
</file>

<file path=ppt/slides/_rels/slide3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 Id="rId5" Type="http://schemas.openxmlformats.org/officeDocument/2006/relationships/image" Target="../media/image111.png"/><Relationship Id="rId4" Type="http://schemas.openxmlformats.org/officeDocument/2006/relationships/image" Target="../media/image110.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2.xml"/><Relationship Id="rId4" Type="http://schemas.openxmlformats.org/officeDocument/2006/relationships/image" Target="../media/image3.gif"/></Relationships>
</file>

<file path=ppt/slides/_rels/slide4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4" Type="http://schemas.openxmlformats.org/officeDocument/2006/relationships/image" Target="../media/image114.PNG"/></Relationships>
</file>

<file path=ppt/slides/_rels/slide42.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26.png"/><Relationship Id="rId3" Type="http://schemas.openxmlformats.org/officeDocument/2006/relationships/image" Target="../media/image116.png"/><Relationship Id="rId7" Type="http://schemas.openxmlformats.org/officeDocument/2006/relationships/image" Target="../media/image120.png"/><Relationship Id="rId12" Type="http://schemas.openxmlformats.org/officeDocument/2006/relationships/image" Target="../media/image125.png"/><Relationship Id="rId2"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19.png"/><Relationship Id="rId11" Type="http://schemas.openxmlformats.org/officeDocument/2006/relationships/image" Target="../media/image124.png"/><Relationship Id="rId5" Type="http://schemas.openxmlformats.org/officeDocument/2006/relationships/image" Target="../media/image118.png"/><Relationship Id="rId10" Type="http://schemas.openxmlformats.org/officeDocument/2006/relationships/image" Target="../media/image123.png"/><Relationship Id="rId4" Type="http://schemas.openxmlformats.org/officeDocument/2006/relationships/image" Target="../media/image117.png"/><Relationship Id="rId9" Type="http://schemas.openxmlformats.org/officeDocument/2006/relationships/image" Target="../media/image122.png"/></Relationships>
</file>

<file path=ppt/slides/_rels/slide43.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8CA7AA-DDD7-425C-8E0B-9AC80AA8FEC2}"/>
              </a:ext>
            </a:extLst>
          </p:cNvPr>
          <p:cNvSpPr>
            <a:spLocks noGrp="1"/>
          </p:cNvSpPr>
          <p:nvPr>
            <p:ph type="ctrTitle"/>
          </p:nvPr>
        </p:nvSpPr>
        <p:spPr>
          <a:xfrm>
            <a:off x="1524000" y="1847654"/>
            <a:ext cx="9144000" cy="3000916"/>
          </a:xfrm>
        </p:spPr>
        <p:txBody>
          <a:bodyPr>
            <a:normAutofit fontScale="90000"/>
          </a:bodyPr>
          <a:lstStyle/>
          <a:p>
            <a:pPr marL="179705" marR="178435">
              <a:spcAft>
                <a:spcPts val="0"/>
              </a:spcAft>
            </a:pPr>
            <a:r>
              <a:rPr lang="zh-TW" altLang="en-US" sz="3600" kern="100" dirty="0">
                <a:latin typeface="Calibri" panose="020F0502020204030204" pitchFamily="34" charset="0"/>
                <a:ea typeface="標楷體" panose="03000509000000000000" pitchFamily="65" charset="-120"/>
                <a:cs typeface="Times New Roman" panose="02020603050405020304" pitchFamily="18" charset="0"/>
              </a:rPr>
              <a:t>以</a:t>
            </a:r>
            <a:r>
              <a:rPr lang="zh-TW" altLang="zh-TW" sz="3600" kern="100" dirty="0">
                <a:latin typeface="Calibri" panose="020F0502020204030204" pitchFamily="34" charset="0"/>
                <a:ea typeface="標楷體" panose="03000509000000000000" pitchFamily="65" charset="-120"/>
                <a:cs typeface="Times New Roman" panose="02020603050405020304" pitchFamily="18" charset="0"/>
              </a:rPr>
              <a:t>非週期性晶疇極化反轉鈮酸鋰晶體實現多波長光參量振盪器之電光選頻研究</a:t>
            </a:r>
            <a:br>
              <a:rPr lang="en-US" altLang="zh-TW" sz="3600" kern="100" dirty="0">
                <a:latin typeface="Calibri" panose="020F0502020204030204" pitchFamily="34" charset="0"/>
                <a:ea typeface="標楷體" panose="03000509000000000000" pitchFamily="65" charset="-120"/>
                <a:cs typeface="Times New Roman" panose="02020603050405020304" pitchFamily="18" charset="0"/>
              </a:rPr>
            </a:br>
            <a:r>
              <a:rPr lang="en-US" altLang="zh-TW" sz="3100" dirty="0">
                <a:latin typeface="Times New Roman" panose="02020603050405020304" pitchFamily="18" charset="0"/>
                <a:cs typeface="Times New Roman" panose="02020603050405020304" pitchFamily="18" charset="0"/>
              </a:rPr>
              <a:t>Electro-optically spectral-line switchable in </a:t>
            </a:r>
            <a:r>
              <a:rPr lang="en-US" altLang="zh-TW" sz="3100" dirty="0" err="1">
                <a:latin typeface="Times New Roman" panose="02020603050405020304" pitchFamily="18" charset="0"/>
                <a:cs typeface="Times New Roman" panose="02020603050405020304" pitchFamily="18" charset="0"/>
              </a:rPr>
              <a:t>mutil</a:t>
            </a:r>
            <a:r>
              <a:rPr lang="en-US" altLang="zh-TW" sz="3100" dirty="0">
                <a:latin typeface="Times New Roman" panose="02020603050405020304" pitchFamily="18" charset="0"/>
                <a:cs typeface="Times New Roman" panose="02020603050405020304" pitchFamily="18" charset="0"/>
              </a:rPr>
              <a:t>-line optical parameter oscillators based on </a:t>
            </a:r>
            <a:r>
              <a:rPr lang="en-US" altLang="zh-TW" sz="3100" dirty="0" err="1">
                <a:latin typeface="Times New Roman" panose="02020603050405020304" pitchFamily="18" charset="0"/>
                <a:cs typeface="Times New Roman" panose="02020603050405020304" pitchFamily="18" charset="0"/>
              </a:rPr>
              <a:t>aperiodically</a:t>
            </a:r>
            <a:r>
              <a:rPr lang="en-US" altLang="zh-TW" sz="3100" dirty="0">
                <a:latin typeface="Times New Roman" panose="02020603050405020304" pitchFamily="18" charset="0"/>
                <a:cs typeface="Times New Roman" panose="02020603050405020304" pitchFamily="18" charset="0"/>
              </a:rPr>
              <a:t> poled lithium </a:t>
            </a:r>
            <a:r>
              <a:rPr lang="en-US" altLang="zh-TW" sz="3100" dirty="0" err="1">
                <a:latin typeface="Times New Roman" panose="02020603050405020304" pitchFamily="18" charset="0"/>
                <a:cs typeface="Times New Roman" panose="02020603050405020304" pitchFamily="18" charset="0"/>
              </a:rPr>
              <a:t>niobate</a:t>
            </a:r>
            <a:br>
              <a:rPr lang="zh-TW" altLang="zh-TW" dirty="0">
                <a:latin typeface="Times New Roman" panose="02020603050405020304" pitchFamily="18" charset="0"/>
                <a:cs typeface="Times New Roman" panose="02020603050405020304" pitchFamily="18" charset="0"/>
              </a:rPr>
            </a:br>
            <a:endParaRPr lang="zh-TW" altLang="en-US" dirty="0"/>
          </a:p>
        </p:txBody>
      </p:sp>
      <p:pic>
        <p:nvPicPr>
          <p:cNvPr id="4" name="圖片 3">
            <a:extLst>
              <a:ext uri="{FF2B5EF4-FFF2-40B4-BE49-F238E27FC236}">
                <a16:creationId xmlns:a16="http://schemas.microsoft.com/office/drawing/2014/main" id="{0C96AEFB-C918-4813-B115-503FB80885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7080" y="93831"/>
            <a:ext cx="5074920" cy="1226995"/>
          </a:xfrm>
          <a:prstGeom prst="rect">
            <a:avLst/>
          </a:prstGeom>
        </p:spPr>
      </p:pic>
      <p:cxnSp>
        <p:nvCxnSpPr>
          <p:cNvPr id="5" name="直線接點 4">
            <a:extLst>
              <a:ext uri="{FF2B5EF4-FFF2-40B4-BE49-F238E27FC236}">
                <a16:creationId xmlns:a16="http://schemas.microsoft.com/office/drawing/2014/main" id="{67C02E3F-C7BE-4831-B255-CAEB1CD022D8}"/>
              </a:ext>
            </a:extLst>
          </p:cNvPr>
          <p:cNvCxnSpPr>
            <a:cxnSpLocks/>
          </p:cNvCxnSpPr>
          <p:nvPr/>
        </p:nvCxnSpPr>
        <p:spPr>
          <a:xfrm>
            <a:off x="0" y="1443101"/>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6" name="副標題 5">
            <a:extLst>
              <a:ext uri="{FF2B5EF4-FFF2-40B4-BE49-F238E27FC236}">
                <a16:creationId xmlns:a16="http://schemas.microsoft.com/office/drawing/2014/main" id="{54855C66-8982-4E87-804D-CE169B585A71}"/>
              </a:ext>
            </a:extLst>
          </p:cNvPr>
          <p:cNvSpPr>
            <a:spLocks noGrp="1"/>
          </p:cNvSpPr>
          <p:nvPr>
            <p:ph type="subTitle" idx="1"/>
          </p:nvPr>
        </p:nvSpPr>
        <p:spPr>
          <a:xfrm>
            <a:off x="1524000" y="4519507"/>
            <a:ext cx="9144000" cy="2082621"/>
          </a:xfrm>
          <a:prstGeom prst="rect">
            <a:avLst/>
          </a:prstGeom>
        </p:spPr>
        <p:txBody>
          <a:bodyPr>
            <a:spAutoFit/>
          </a:bodyPr>
          <a:lstStyle/>
          <a:p>
            <a:pPr algn="ctr">
              <a:lnSpc>
                <a:spcPct val="100000"/>
              </a:lnSpc>
            </a:pPr>
            <a:r>
              <a:rPr lang="zh-TW" altLang="en-US" dirty="0">
                <a:latin typeface="標楷體" panose="03000509000000000000" pitchFamily="65" charset="-120"/>
                <a:ea typeface="標楷體" panose="03000509000000000000" pitchFamily="65" charset="-120"/>
                <a:cs typeface="Times New Roman" panose="02020603050405020304" pitchFamily="18" charset="0"/>
              </a:rPr>
              <a:t>王泰傑</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Tai-</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Jie</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Wang</a:t>
            </a:r>
          </a:p>
          <a:p>
            <a:pPr algn="ctr">
              <a:lnSpc>
                <a:spcPct val="100000"/>
              </a:lnSpc>
            </a:pPr>
            <a:r>
              <a:rPr lang="zh-TW" altLang="en-US" dirty="0">
                <a:latin typeface="標楷體" panose="03000509000000000000" pitchFamily="65" charset="-120"/>
                <a:ea typeface="標楷體" panose="03000509000000000000" pitchFamily="65" charset="-120"/>
                <a:cs typeface="Times New Roman" panose="02020603050405020304" pitchFamily="18" charset="0"/>
              </a:rPr>
              <a:t>指導教授： 陳彥宏 博士</a:t>
            </a: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pPr algn="ctr">
              <a:lnSpc>
                <a:spcPct val="100000"/>
              </a:lnSpc>
            </a:pPr>
            <a:r>
              <a:rPr lang="en-US" altLang="zh-TW" sz="1600" i="1" dirty="0">
                <a:latin typeface="Times New Roman" panose="02020603050405020304" pitchFamily="18" charset="0"/>
                <a:cs typeface="Times New Roman" panose="02020603050405020304" pitchFamily="18" charset="0"/>
              </a:rPr>
              <a:t>Nonlinear Integrated Laser Photonics Lab (NILP),</a:t>
            </a:r>
          </a:p>
          <a:p>
            <a:pPr algn="ctr">
              <a:lnSpc>
                <a:spcPct val="100000"/>
              </a:lnSpc>
            </a:pPr>
            <a:r>
              <a:rPr lang="en-US" altLang="zh-TW" sz="1600" i="1" dirty="0">
                <a:latin typeface="Times New Roman" panose="02020603050405020304" pitchFamily="18" charset="0"/>
                <a:cs typeface="Times New Roman" panose="02020603050405020304" pitchFamily="18" charset="0"/>
              </a:rPr>
              <a:t> Department of Optics and Photonics, </a:t>
            </a:r>
          </a:p>
          <a:p>
            <a:pPr algn="ctr">
              <a:lnSpc>
                <a:spcPct val="100000"/>
              </a:lnSpc>
            </a:pPr>
            <a:r>
              <a:rPr lang="en-US" altLang="zh-TW" sz="1600" i="1" dirty="0">
                <a:latin typeface="Times New Roman" panose="02020603050405020304" pitchFamily="18" charset="0"/>
                <a:cs typeface="Times New Roman" panose="02020603050405020304" pitchFamily="18" charset="0"/>
              </a:rPr>
              <a:t>National Central University, </a:t>
            </a:r>
            <a:r>
              <a:rPr lang="en-US" altLang="zh-TW" sz="1600" i="1" dirty="0" err="1">
                <a:latin typeface="Times New Roman" panose="02020603050405020304" pitchFamily="18" charset="0"/>
                <a:cs typeface="Times New Roman" panose="02020603050405020304" pitchFamily="18" charset="0"/>
              </a:rPr>
              <a:t>Jhongli</a:t>
            </a:r>
            <a:r>
              <a:rPr lang="en-US" altLang="zh-TW" sz="1600" i="1" dirty="0">
                <a:latin typeface="Times New Roman" panose="02020603050405020304" pitchFamily="18" charset="0"/>
                <a:cs typeface="Times New Roman" panose="02020603050405020304" pitchFamily="18" charset="0"/>
              </a:rPr>
              <a:t> 320, Taiwan</a:t>
            </a:r>
          </a:p>
        </p:txBody>
      </p:sp>
      <p:pic>
        <p:nvPicPr>
          <p:cNvPr id="7" name="圖片 6">
            <a:extLst>
              <a:ext uri="{FF2B5EF4-FFF2-40B4-BE49-F238E27FC236}">
                <a16:creationId xmlns:a16="http://schemas.microsoft.com/office/drawing/2014/main" id="{C5F4B733-1600-4ED1-A6DF-0D5D4CCDC5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695" y="5840182"/>
            <a:ext cx="1089927" cy="932977"/>
          </a:xfrm>
          <a:prstGeom prst="rect">
            <a:avLst/>
          </a:prstGeom>
        </p:spPr>
      </p:pic>
      <p:pic>
        <p:nvPicPr>
          <p:cNvPr id="8" name="圖片 7">
            <a:extLst>
              <a:ext uri="{FF2B5EF4-FFF2-40B4-BE49-F238E27FC236}">
                <a16:creationId xmlns:a16="http://schemas.microsoft.com/office/drawing/2014/main" id="{1AB0C4B0-37D8-46AF-8341-2EC3986DE063}"/>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10402056" y="5904735"/>
            <a:ext cx="1789944" cy="953265"/>
          </a:xfrm>
          <a:prstGeom prst="rect">
            <a:avLst/>
          </a:prstGeom>
        </p:spPr>
      </p:pic>
    </p:spTree>
    <p:extLst>
      <p:ext uri="{BB962C8B-B14F-4D97-AF65-F5344CB8AC3E}">
        <p14:creationId xmlns:p14="http://schemas.microsoft.com/office/powerpoint/2010/main" val="2277466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63051"/>
            <a:ext cx="11152166" cy="584775"/>
          </a:xfrm>
          <a:prstGeom prst="rect">
            <a:avLst/>
          </a:prstGeom>
          <a:solidFill>
            <a:srgbClr val="FFFFD8"/>
          </a:solidFill>
          <a:ln w="38100">
            <a:solidFill>
              <a:srgbClr val="8F9DFE"/>
            </a:solidFill>
          </a:ln>
        </p:spPr>
        <p:txBody>
          <a:bodyPr wrap="square" rtlCol="0">
            <a:spAutoFit/>
          </a:bodyPr>
          <a:lstStyle/>
          <a:p>
            <a:pPr algn="ctr"/>
            <a:r>
              <a:rPr lang="en-US" altLang="zh-TW" sz="3200" b="1" dirty="0">
                <a:latin typeface="Times New Roman" panose="02020603050405020304" pitchFamily="18" charset="0"/>
                <a:cs typeface="Times New Roman" panose="02020603050405020304" pitchFamily="18" charset="0"/>
              </a:rPr>
              <a:t>Outline</a:t>
            </a:r>
            <a:endParaRPr lang="zh-TW" altLang="en-US" sz="3200" b="1" dirty="0">
              <a:latin typeface="Times New Roman" panose="02020603050405020304" pitchFamily="18" charset="0"/>
              <a:cs typeface="Times New Roman" panose="02020603050405020304" pitchFamily="18" charset="0"/>
            </a:endParaRPr>
          </a:p>
        </p:txBody>
      </p:sp>
      <p:sp>
        <p:nvSpPr>
          <p:cNvPr id="3" name="矩形 2"/>
          <p:cNvSpPr/>
          <p:nvPr/>
        </p:nvSpPr>
        <p:spPr>
          <a:xfrm>
            <a:off x="554143" y="1452347"/>
            <a:ext cx="6096000" cy="4216539"/>
          </a:xfrm>
          <a:prstGeom prst="rect">
            <a:avLst/>
          </a:prstGeom>
        </p:spPr>
        <p:txBody>
          <a:bodyPr>
            <a:spAutoFit/>
          </a:bodyPr>
          <a:lstStyle/>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Introduction</a:t>
            </a:r>
            <a:endParaRPr lang="en-US" altLang="zh-TW" sz="1400" b="1" dirty="0">
              <a:latin typeface="Times New Roman" panose="02020603050405020304" pitchFamily="18" charset="0"/>
              <a:cs typeface="Times New Roman" panose="02020603050405020304" pitchFamily="18" charset="0"/>
            </a:endParaRPr>
          </a:p>
          <a:p>
            <a:pPr lvl="2">
              <a:lnSpc>
                <a:spcPct val="100000"/>
              </a:lnSpc>
            </a:pPr>
            <a:r>
              <a:rPr lang="en-US" altLang="zh-TW" sz="1400" b="1" dirty="0">
                <a:latin typeface="Times New Roman" panose="02020603050405020304" pitchFamily="18" charset="0"/>
                <a:cs typeface="Times New Roman" panose="02020603050405020304" pitchFamily="18" charset="0"/>
              </a:rPr>
              <a:t>Motivation </a:t>
            </a:r>
          </a:p>
          <a:p>
            <a:pPr lvl="2"/>
            <a:r>
              <a:rPr lang="en-US" altLang="zh-TW" sz="1400" b="1" dirty="0">
                <a:latin typeface="Times New Roman" panose="02020603050405020304" pitchFamily="18" charset="0"/>
                <a:cs typeface="Times New Roman" panose="02020603050405020304" pitchFamily="18" charset="0"/>
              </a:rPr>
              <a:t>Electro-optically spectrum tailorable APPLN IOPOs</a:t>
            </a:r>
          </a:p>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Working principles</a:t>
            </a:r>
          </a:p>
          <a:p>
            <a:pPr lvl="2">
              <a:lnSpc>
                <a:spcPct val="100000"/>
              </a:lnSpc>
            </a:pPr>
            <a:r>
              <a:rPr lang="en-US" altLang="zh-TW" sz="1400" b="1" dirty="0">
                <a:latin typeface="Times New Roman" panose="02020603050405020304" pitchFamily="18" charset="0"/>
                <a:cs typeface="Times New Roman" panose="02020603050405020304" pitchFamily="18" charset="0"/>
              </a:rPr>
              <a:t>Electro-Optic Polarization Mode Converters</a:t>
            </a:r>
            <a:r>
              <a:rPr lang="zh-TW" altLang="en-US" sz="1400" b="1" dirty="0">
                <a:latin typeface="Times New Roman" panose="02020603050405020304" pitchFamily="18" charset="0"/>
                <a:cs typeface="Times New Roman" panose="02020603050405020304" pitchFamily="18" charset="0"/>
              </a:rPr>
              <a:t> </a:t>
            </a:r>
            <a:endParaRPr lang="en-US" altLang="zh-TW" sz="1400" b="1" dirty="0">
              <a:latin typeface="Times New Roman" panose="02020603050405020304" pitchFamily="18" charset="0"/>
              <a:cs typeface="Times New Roman" panose="02020603050405020304" pitchFamily="18" charset="0"/>
            </a:endParaRPr>
          </a:p>
          <a:p>
            <a:pPr lvl="2">
              <a:lnSpc>
                <a:spcPct val="100000"/>
              </a:lnSpc>
            </a:pPr>
            <a:r>
              <a:rPr lang="en-US" altLang="zh-TW" sz="1400" b="1" dirty="0">
                <a:latin typeface="Times New Roman" panose="02020603050405020304" pitchFamily="18" charset="0"/>
                <a:cs typeface="Times New Roman" panose="02020603050405020304" pitchFamily="18" charset="0"/>
              </a:rPr>
              <a:t>Optical Parametric Oscillators</a:t>
            </a:r>
          </a:p>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Design and Fabrication</a:t>
            </a:r>
          </a:p>
          <a:p>
            <a:pPr lvl="2"/>
            <a:r>
              <a:rPr lang="en-US" altLang="zh-TW" sz="1400" b="1" dirty="0">
                <a:latin typeface="Times New Roman" panose="02020603050405020304" pitchFamily="18" charset="0"/>
                <a:cs typeface="Times New Roman" panose="02020603050405020304" pitchFamily="18" charset="0"/>
              </a:rPr>
              <a:t>Simulated Annealing Method</a:t>
            </a:r>
          </a:p>
          <a:p>
            <a:pPr lvl="2"/>
            <a:r>
              <a:rPr lang="en-US" altLang="zh-TW" sz="1400" b="1" dirty="0" err="1">
                <a:latin typeface="Times New Roman" panose="02020603050405020304" pitchFamily="18" charset="0"/>
                <a:cs typeface="Times New Roman" panose="02020603050405020304" pitchFamily="18" charset="0"/>
              </a:rPr>
              <a:t>Mutil</a:t>
            </a:r>
            <a:r>
              <a:rPr lang="en-US" altLang="zh-TW" sz="1400" b="1" dirty="0">
                <a:latin typeface="Times New Roman" panose="02020603050405020304" pitchFamily="18" charset="0"/>
                <a:cs typeface="Times New Roman" panose="02020603050405020304" pitchFamily="18" charset="0"/>
              </a:rPr>
              <a:t>-line OPO design</a:t>
            </a:r>
          </a:p>
          <a:p>
            <a:pPr lvl="2"/>
            <a:r>
              <a:rPr lang="en-US" altLang="zh-TW" sz="1400" b="1" dirty="0" err="1">
                <a:latin typeface="Times New Roman" panose="02020603050405020304" pitchFamily="18" charset="0"/>
                <a:cs typeface="Times New Roman" panose="02020603050405020304" pitchFamily="18" charset="0"/>
              </a:rPr>
              <a:t>Mutil</a:t>
            </a:r>
            <a:r>
              <a:rPr lang="en-US" altLang="zh-TW" sz="1400" b="1" dirty="0">
                <a:latin typeface="Times New Roman" panose="02020603050405020304" pitchFamily="18" charset="0"/>
                <a:cs typeface="Times New Roman" panose="02020603050405020304" pitchFamily="18" charset="0"/>
              </a:rPr>
              <a:t>-line EO PMC design</a:t>
            </a:r>
            <a:endParaRPr lang="en-US" altLang="zh-TW" sz="2000" b="1" dirty="0">
              <a:latin typeface="Times New Roman" panose="02020603050405020304" pitchFamily="18" charset="0"/>
              <a:cs typeface="Times New Roman" panose="02020603050405020304" pitchFamily="18" charset="0"/>
            </a:endParaRPr>
          </a:p>
          <a:p>
            <a:pPr lvl="2">
              <a:lnSpc>
                <a:spcPct val="100000"/>
              </a:lnSpc>
            </a:pPr>
            <a:r>
              <a:rPr lang="en-US" altLang="zh-TW" sz="1400" b="1" dirty="0">
                <a:latin typeface="Times New Roman" panose="02020603050405020304" pitchFamily="18" charset="0"/>
                <a:cs typeface="Times New Roman" panose="02020603050405020304" pitchFamily="18" charset="0"/>
              </a:rPr>
              <a:t>Fabrication process</a:t>
            </a:r>
            <a:endParaRPr lang="en-US" altLang="zh-TW" sz="1400" dirty="0">
              <a:latin typeface="Times New Roman" panose="02020603050405020304" pitchFamily="18" charset="0"/>
              <a:cs typeface="Times New Roman" panose="02020603050405020304" pitchFamily="18" charset="0"/>
            </a:endParaRP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Experimental Results and Analysis </a:t>
            </a:r>
          </a:p>
          <a:p>
            <a:pPr lvl="2"/>
            <a:r>
              <a:rPr lang="en-US" altLang="zh-TW" sz="1400" b="1" dirty="0">
                <a:latin typeface="Times New Roman" panose="02020603050405020304" pitchFamily="18" charset="0"/>
                <a:cs typeface="Times New Roman" panose="02020603050405020304" pitchFamily="18" charset="0"/>
              </a:rPr>
              <a:t>EO PMC Experimental set-up</a:t>
            </a:r>
          </a:p>
          <a:p>
            <a:pPr lvl="2"/>
            <a:r>
              <a:rPr lang="en-US" altLang="zh-TW" sz="1400" b="1" dirty="0">
                <a:latin typeface="Times New Roman" pitchFamily="18" charset="0"/>
              </a:rPr>
              <a:t>Measurement Results I</a:t>
            </a:r>
          </a:p>
          <a:p>
            <a:pPr lvl="2"/>
            <a:r>
              <a:rPr lang="en-US" altLang="zh-TW" sz="1400" b="1" dirty="0">
                <a:latin typeface="Times New Roman" panose="02020603050405020304" pitchFamily="18" charset="0"/>
                <a:cs typeface="Times New Roman" panose="02020603050405020304" pitchFamily="18" charset="0"/>
              </a:rPr>
              <a:t>EO OPO APPLN Experimental set-up</a:t>
            </a:r>
          </a:p>
          <a:p>
            <a:pPr lvl="2"/>
            <a:r>
              <a:rPr lang="en-US" altLang="zh-TW" sz="1400" b="1" dirty="0">
                <a:latin typeface="Times New Roman" panose="02020603050405020304" pitchFamily="18" charset="0"/>
                <a:cs typeface="Times New Roman" panose="02020603050405020304" pitchFamily="18" charset="0"/>
              </a:rPr>
              <a:t>Measurement Results II</a:t>
            </a:r>
          </a:p>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Conclusions and future work</a:t>
            </a:r>
            <a:endParaRPr lang="zh-TW" altLang="en-US" sz="2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A52E435-1973-4E96-B2FF-A8951FBF242E}"/>
              </a:ext>
            </a:extLst>
          </p:cNvPr>
          <p:cNvSpPr>
            <a:spLocks noGrp="1"/>
          </p:cNvSpPr>
          <p:nvPr>
            <p:ph type="sldNum" sz="quarter" idx="12"/>
          </p:nvPr>
        </p:nvSpPr>
        <p:spPr/>
        <p:txBody>
          <a:bodyPr/>
          <a:lstStyle/>
          <a:p>
            <a:fld id="{29723A01-8C65-4E4C-95BB-6D96843E9278}" type="slidenum">
              <a:rPr lang="zh-TW" altLang="en-US" smtClean="0"/>
              <a:t>2</a:t>
            </a:fld>
            <a:endParaRPr lang="zh-TW" altLang="en-US"/>
          </a:p>
        </p:txBody>
      </p:sp>
      <p:pic>
        <p:nvPicPr>
          <p:cNvPr id="7" name="圖片 6">
            <a:extLst>
              <a:ext uri="{FF2B5EF4-FFF2-40B4-BE49-F238E27FC236}">
                <a16:creationId xmlns:a16="http://schemas.microsoft.com/office/drawing/2014/main" id="{9652B326-C213-47EC-807A-00D14A669B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5133" y="1452347"/>
            <a:ext cx="5688131" cy="4264174"/>
          </a:xfrm>
          <a:prstGeom prst="rect">
            <a:avLst/>
          </a:prstGeom>
        </p:spPr>
      </p:pic>
    </p:spTree>
    <p:extLst>
      <p:ext uri="{BB962C8B-B14F-4D97-AF65-F5344CB8AC3E}">
        <p14:creationId xmlns:p14="http://schemas.microsoft.com/office/powerpoint/2010/main" val="3548936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p:cNvPicPr>
            <a:picLocks noChangeAspect="1"/>
          </p:cNvPicPr>
          <p:nvPr/>
        </p:nvPicPr>
        <p:blipFill rotWithShape="1">
          <a:blip r:embed="rId3"/>
          <a:srcRect l="9052" t="26875" r="49906" b="17375"/>
          <a:stretch/>
        </p:blipFill>
        <p:spPr>
          <a:xfrm>
            <a:off x="5717999" y="1516867"/>
            <a:ext cx="2898370" cy="2213480"/>
          </a:xfrm>
          <a:prstGeom prst="rect">
            <a:avLst/>
          </a:prstGeom>
        </p:spPr>
      </p:pic>
      <p:cxnSp>
        <p:nvCxnSpPr>
          <p:cNvPr id="5" name="直線接點 4"/>
          <p:cNvCxnSpPr/>
          <p:nvPr/>
        </p:nvCxnSpPr>
        <p:spPr>
          <a:xfrm>
            <a:off x="0" y="693063"/>
            <a:ext cx="12060522" cy="0"/>
          </a:xfrm>
          <a:prstGeom prst="line">
            <a:avLst/>
          </a:prstGeom>
          <a:ln w="28575"/>
        </p:spPr>
        <p:style>
          <a:lnRef idx="1">
            <a:schemeClr val="dk1"/>
          </a:lnRef>
          <a:fillRef idx="0">
            <a:schemeClr val="dk1"/>
          </a:fillRef>
          <a:effectRef idx="0">
            <a:schemeClr val="dk1"/>
          </a:effectRef>
          <a:fontRef idx="minor">
            <a:schemeClr val="tx1"/>
          </a:fontRef>
        </p:style>
      </p:cxnSp>
      <p:pic>
        <p:nvPicPr>
          <p:cNvPr id="7"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39735" y="4379366"/>
            <a:ext cx="2407115" cy="2122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10"/>
          <p:cNvSpPr>
            <a:spLocks noChangeArrowheads="1"/>
          </p:cNvSpPr>
          <p:nvPr/>
        </p:nvSpPr>
        <p:spPr bwMode="auto">
          <a:xfrm>
            <a:off x="7167184" y="3736231"/>
            <a:ext cx="264256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en-US" altLang="zh-TW" sz="1400" b="1" dirty="0"/>
              <a:t>Appl. Phys. B 96, 201-213 (2009)</a:t>
            </a:r>
            <a:endParaRPr lang="zh-TW" altLang="zh-TW" sz="1400" b="1" dirty="0"/>
          </a:p>
        </p:txBody>
      </p:sp>
      <p:sp>
        <p:nvSpPr>
          <p:cNvPr id="12" name="矩形 11"/>
          <p:cNvSpPr/>
          <p:nvPr/>
        </p:nvSpPr>
        <p:spPr>
          <a:xfrm>
            <a:off x="9000711" y="4093989"/>
            <a:ext cx="2407115" cy="266188"/>
          </a:xfrm>
          <a:prstGeom prst="rect">
            <a:avLst/>
          </a:prstGeom>
          <a:solidFill>
            <a:srgbClr val="FFFFD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latin typeface="Times New Roman" panose="02020603050405020304" pitchFamily="18" charset="0"/>
                <a:cs typeface="Times New Roman" panose="02020603050405020304" pitchFamily="18" charset="0"/>
              </a:rPr>
              <a:t>THz wave generation</a:t>
            </a:r>
            <a:endParaRPr lang="zh-TW" altLang="en-US" b="1" dirty="0">
              <a:solidFill>
                <a:schemeClr val="tx1"/>
              </a:solidFill>
              <a:latin typeface="Times New Roman" panose="02020603050405020304" pitchFamily="18" charset="0"/>
              <a:cs typeface="Times New Roman" panose="02020603050405020304" pitchFamily="18" charset="0"/>
            </a:endParaRPr>
          </a:p>
        </p:txBody>
      </p:sp>
      <p:pic>
        <p:nvPicPr>
          <p:cNvPr id="13" name="圖片 12"/>
          <p:cNvPicPr>
            <a:picLocks noChangeAspect="1"/>
          </p:cNvPicPr>
          <p:nvPr/>
        </p:nvPicPr>
        <p:blipFill rotWithShape="1">
          <a:blip r:embed="rId5"/>
          <a:srcRect l="37021" t="30375" r="24747" b="12875"/>
          <a:stretch/>
        </p:blipFill>
        <p:spPr>
          <a:xfrm>
            <a:off x="9089522" y="1582453"/>
            <a:ext cx="2339332" cy="1952310"/>
          </a:xfrm>
          <a:prstGeom prst="rect">
            <a:avLst/>
          </a:prstGeom>
        </p:spPr>
      </p:pic>
      <p:sp>
        <p:nvSpPr>
          <p:cNvPr id="14" name="矩形 13"/>
          <p:cNvSpPr/>
          <p:nvPr/>
        </p:nvSpPr>
        <p:spPr>
          <a:xfrm>
            <a:off x="6023350" y="1129992"/>
            <a:ext cx="4824310" cy="292497"/>
          </a:xfrm>
          <a:prstGeom prst="rect">
            <a:avLst/>
          </a:prstGeom>
          <a:solidFill>
            <a:srgbClr val="FFFFD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latin typeface="Times New Roman" panose="02020603050405020304" pitchFamily="18" charset="0"/>
                <a:cs typeface="Times New Roman" panose="02020603050405020304" pitchFamily="18" charset="0"/>
              </a:rPr>
              <a:t>Multi-</a:t>
            </a:r>
            <a:r>
              <a:rPr lang="el-GR" altLang="zh-TW" b="1" dirty="0">
                <a:solidFill>
                  <a:schemeClr val="tx1"/>
                </a:solidFill>
                <a:latin typeface="Times New Roman" panose="02020603050405020304" pitchFamily="18" charset="0"/>
                <a:cs typeface="Times New Roman" panose="02020603050405020304" pitchFamily="18" charset="0"/>
              </a:rPr>
              <a:t>λ</a:t>
            </a:r>
            <a:r>
              <a:rPr lang="en-US" altLang="zh-TW" b="1" dirty="0">
                <a:solidFill>
                  <a:schemeClr val="tx1"/>
                </a:solidFill>
                <a:latin typeface="Times New Roman" panose="02020603050405020304" pitchFamily="18" charset="0"/>
                <a:cs typeface="Times New Roman" panose="02020603050405020304" pitchFamily="18" charset="0"/>
              </a:rPr>
              <a:t> differential absorption LIDAR  (DIAL)</a:t>
            </a:r>
            <a:endParaRPr lang="zh-TW" altLang="en-US" b="1" dirty="0">
              <a:solidFill>
                <a:schemeClr val="tx1"/>
              </a:solidFill>
              <a:latin typeface="Times New Roman" panose="02020603050405020304" pitchFamily="18" charset="0"/>
              <a:cs typeface="Times New Roman" panose="02020603050405020304" pitchFamily="18" charset="0"/>
            </a:endParaRPr>
          </a:p>
        </p:txBody>
      </p:sp>
      <p:pic>
        <p:nvPicPr>
          <p:cNvPr id="16" name="圖片 15"/>
          <p:cNvPicPr>
            <a:picLocks noChangeAspect="1"/>
          </p:cNvPicPr>
          <p:nvPr/>
        </p:nvPicPr>
        <p:blipFill rotWithShape="1">
          <a:blip r:embed="rId6"/>
          <a:srcRect l="39411" t="23875" r="26012" b="40125"/>
          <a:stretch/>
        </p:blipFill>
        <p:spPr>
          <a:xfrm>
            <a:off x="585813" y="1526087"/>
            <a:ext cx="3749859" cy="2195040"/>
          </a:xfrm>
          <a:prstGeom prst="rect">
            <a:avLst/>
          </a:prstGeom>
        </p:spPr>
      </p:pic>
      <p:sp>
        <p:nvSpPr>
          <p:cNvPr id="19" name="矩形 18"/>
          <p:cNvSpPr/>
          <p:nvPr/>
        </p:nvSpPr>
        <p:spPr>
          <a:xfrm>
            <a:off x="1274953" y="3743035"/>
            <a:ext cx="2717241" cy="307777"/>
          </a:xfrm>
          <a:prstGeom prst="rect">
            <a:avLst/>
          </a:prstGeom>
        </p:spPr>
        <p:txBody>
          <a:bodyPr wrap="square">
            <a:spAutoFit/>
          </a:bodyPr>
          <a:lstStyle/>
          <a:p>
            <a:r>
              <a:rPr lang="en-US" altLang="zh-TW" sz="1400" b="1" dirty="0"/>
              <a:t>Appl. Phys. B 107 643–647 (2000)</a:t>
            </a:r>
            <a:endParaRPr lang="zh-TW" altLang="en-US" sz="1400" b="1" dirty="0"/>
          </a:p>
        </p:txBody>
      </p:sp>
      <p:sp>
        <p:nvSpPr>
          <p:cNvPr id="22" name="矩形 21"/>
          <p:cNvSpPr/>
          <p:nvPr/>
        </p:nvSpPr>
        <p:spPr>
          <a:xfrm>
            <a:off x="1588324" y="1116777"/>
            <a:ext cx="2035553" cy="305712"/>
          </a:xfrm>
          <a:prstGeom prst="rect">
            <a:avLst/>
          </a:prstGeom>
          <a:solidFill>
            <a:srgbClr val="FFFFD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b="1" dirty="0">
                <a:solidFill>
                  <a:schemeClr val="tx1"/>
                </a:solidFill>
                <a:latin typeface="Times New Roman" panose="02020603050405020304" pitchFamily="18" charset="0"/>
                <a:cs typeface="Times New Roman" panose="02020603050405020304" pitchFamily="18" charset="0"/>
              </a:rPr>
              <a:t>Remote sensing</a:t>
            </a:r>
            <a:endParaRPr lang="zh-TW" altLang="en-US" sz="2000" b="1" dirty="0">
              <a:solidFill>
                <a:schemeClr val="tx1"/>
              </a:solidFill>
              <a:latin typeface="Times New Roman" panose="02020603050405020304" pitchFamily="18" charset="0"/>
              <a:cs typeface="Times New Roman" panose="02020603050405020304" pitchFamily="18" charset="0"/>
            </a:endParaRPr>
          </a:p>
        </p:txBody>
      </p:sp>
      <p:sp>
        <p:nvSpPr>
          <p:cNvPr id="23" name="Rectangle 110"/>
          <p:cNvSpPr>
            <a:spLocks noChangeArrowheads="1"/>
          </p:cNvSpPr>
          <p:nvPr/>
        </p:nvSpPr>
        <p:spPr bwMode="auto">
          <a:xfrm>
            <a:off x="9176923" y="6339601"/>
            <a:ext cx="20546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en-US" altLang="zh-TW" sz="1400" b="1" dirty="0"/>
              <a:t>Opt. Lett. 25, 1714 (2000)</a:t>
            </a:r>
            <a:endParaRPr lang="zh-TW" altLang="zh-TW" sz="1400" b="1" dirty="0"/>
          </a:p>
        </p:txBody>
      </p:sp>
      <p:sp>
        <p:nvSpPr>
          <p:cNvPr id="25" name="矩形 24"/>
          <p:cNvSpPr/>
          <p:nvPr/>
        </p:nvSpPr>
        <p:spPr>
          <a:xfrm>
            <a:off x="982271" y="4096778"/>
            <a:ext cx="3247658" cy="276434"/>
          </a:xfrm>
          <a:prstGeom prst="rect">
            <a:avLst/>
          </a:prstGeom>
          <a:solidFill>
            <a:srgbClr val="FFFFD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latin typeface="Times New Roman" panose="02020603050405020304" pitchFamily="18" charset="0"/>
                <a:cs typeface="Times New Roman" panose="02020603050405020304" pitchFamily="18" charset="0"/>
              </a:rPr>
              <a:t>Optical communication</a:t>
            </a:r>
            <a:endParaRPr lang="zh-TW" altLang="en-US" b="1" dirty="0">
              <a:solidFill>
                <a:schemeClr val="tx1"/>
              </a:solidFill>
              <a:latin typeface="Times New Roman" panose="02020603050405020304" pitchFamily="18" charset="0"/>
              <a:cs typeface="Times New Roman" panose="02020603050405020304" pitchFamily="18" charset="0"/>
            </a:endParaRPr>
          </a:p>
        </p:txBody>
      </p:sp>
      <p:sp>
        <p:nvSpPr>
          <p:cNvPr id="3" name="矩形 2"/>
          <p:cNvSpPr/>
          <p:nvPr/>
        </p:nvSpPr>
        <p:spPr>
          <a:xfrm>
            <a:off x="5298631" y="6348572"/>
            <a:ext cx="2672754" cy="307777"/>
          </a:xfrm>
          <a:prstGeom prst="rect">
            <a:avLst/>
          </a:prstGeom>
        </p:spPr>
        <p:txBody>
          <a:bodyPr wrap="square">
            <a:spAutoFit/>
          </a:bodyPr>
          <a:lstStyle/>
          <a:p>
            <a:r>
              <a:rPr lang="en-US" altLang="zh-TW" sz="1400" b="1" dirty="0"/>
              <a:t>Appl. Phys. B 71, 651–663 (2000)</a:t>
            </a:r>
            <a:endParaRPr lang="zh-TW" altLang="en-US" sz="1400" b="1" dirty="0"/>
          </a:p>
        </p:txBody>
      </p:sp>
      <p:pic>
        <p:nvPicPr>
          <p:cNvPr id="6" name="圖片 5"/>
          <p:cNvPicPr>
            <a:picLocks noChangeAspect="1"/>
          </p:cNvPicPr>
          <p:nvPr/>
        </p:nvPicPr>
        <p:blipFill rotWithShape="1">
          <a:blip r:embed="rId7"/>
          <a:srcRect l="26480" t="37875" r="52436" b="45125"/>
          <a:stretch/>
        </p:blipFill>
        <p:spPr>
          <a:xfrm>
            <a:off x="608451" y="4471253"/>
            <a:ext cx="4050244" cy="1836111"/>
          </a:xfrm>
          <a:prstGeom prst="rect">
            <a:avLst/>
          </a:prstGeom>
        </p:spPr>
      </p:pic>
      <p:sp>
        <p:nvSpPr>
          <p:cNvPr id="26" name="矩形 25"/>
          <p:cNvSpPr/>
          <p:nvPr/>
        </p:nvSpPr>
        <p:spPr>
          <a:xfrm>
            <a:off x="1182337" y="6347562"/>
            <a:ext cx="2847526" cy="307777"/>
          </a:xfrm>
          <a:prstGeom prst="rect">
            <a:avLst/>
          </a:prstGeom>
        </p:spPr>
        <p:txBody>
          <a:bodyPr wrap="square">
            <a:spAutoFit/>
          </a:bodyPr>
          <a:lstStyle/>
          <a:p>
            <a:r>
              <a:rPr lang="en-US" altLang="zh-TW" sz="1400" b="1" dirty="0"/>
              <a:t>Chinese optics letters, 3, 708 (2005)</a:t>
            </a:r>
            <a:endParaRPr lang="zh-TW" altLang="en-US" sz="1400" b="1" dirty="0"/>
          </a:p>
        </p:txBody>
      </p:sp>
      <p:pic>
        <p:nvPicPr>
          <p:cNvPr id="2" name="圖片 1"/>
          <p:cNvPicPr>
            <a:picLocks noChangeAspect="1"/>
          </p:cNvPicPr>
          <p:nvPr/>
        </p:nvPicPr>
        <p:blipFill rotWithShape="1">
          <a:blip r:embed="rId8"/>
          <a:srcRect l="30978" t="29125" r="45971" b="28984"/>
          <a:stretch/>
        </p:blipFill>
        <p:spPr>
          <a:xfrm>
            <a:off x="5604407" y="4360177"/>
            <a:ext cx="2014483" cy="2058264"/>
          </a:xfrm>
          <a:prstGeom prst="rect">
            <a:avLst/>
          </a:prstGeom>
        </p:spPr>
      </p:pic>
      <p:sp>
        <p:nvSpPr>
          <p:cNvPr id="21" name="標題 1">
            <a:extLst>
              <a:ext uri="{FF2B5EF4-FFF2-40B4-BE49-F238E27FC236}">
                <a16:creationId xmlns:a16="http://schemas.microsoft.com/office/drawing/2014/main" id="{035D36EC-D3CD-4657-AE4D-B786BD781075}"/>
              </a:ext>
            </a:extLst>
          </p:cNvPr>
          <p:cNvSpPr txBox="1">
            <a:spLocks/>
          </p:cNvSpPr>
          <p:nvPr/>
        </p:nvSpPr>
        <p:spPr>
          <a:xfrm>
            <a:off x="-1254742" y="643403"/>
            <a:ext cx="4278045" cy="5765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gn="ctr">
              <a:buFont typeface="Arial" panose="020B0604020202020204" pitchFamily="34" charset="0"/>
              <a:buChar char="•"/>
            </a:pPr>
            <a:r>
              <a:rPr lang="en-US" altLang="zh-TW" sz="2000" b="1" i="1" u="sng" dirty="0">
                <a:latin typeface="Times New Roman" panose="02020603050405020304" pitchFamily="18" charset="0"/>
                <a:cs typeface="Times New Roman" panose="02020603050405020304" pitchFamily="18" charset="0"/>
              </a:rPr>
              <a:t>Motivation</a:t>
            </a:r>
          </a:p>
        </p:txBody>
      </p:sp>
      <p:sp>
        <p:nvSpPr>
          <p:cNvPr id="24" name="矩形 23"/>
          <p:cNvSpPr/>
          <p:nvPr/>
        </p:nvSpPr>
        <p:spPr>
          <a:xfrm>
            <a:off x="5405546" y="4084843"/>
            <a:ext cx="2458923" cy="321265"/>
          </a:xfrm>
          <a:prstGeom prst="rect">
            <a:avLst/>
          </a:prstGeom>
          <a:solidFill>
            <a:srgbClr val="FFFFD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latin typeface="Times New Roman" panose="02020603050405020304" pitchFamily="18" charset="0"/>
                <a:cs typeface="Times New Roman" panose="02020603050405020304" pitchFamily="18" charset="0"/>
              </a:rPr>
              <a:t>Multi-</a:t>
            </a:r>
            <a:r>
              <a:rPr lang="el-GR" altLang="zh-TW" b="1" dirty="0">
                <a:solidFill>
                  <a:schemeClr val="tx1"/>
                </a:solidFill>
                <a:latin typeface="Times New Roman" panose="02020603050405020304" pitchFamily="18" charset="0"/>
                <a:cs typeface="Times New Roman" panose="02020603050405020304" pitchFamily="18" charset="0"/>
              </a:rPr>
              <a:t> λ </a:t>
            </a:r>
            <a:r>
              <a:rPr lang="en-US" altLang="zh-TW" b="1" dirty="0">
                <a:solidFill>
                  <a:schemeClr val="tx1"/>
                </a:solidFill>
                <a:latin typeface="Times New Roman" panose="02020603050405020304" pitchFamily="18" charset="0"/>
                <a:cs typeface="Times New Roman" panose="02020603050405020304" pitchFamily="18" charset="0"/>
              </a:rPr>
              <a:t> spectroscopic</a:t>
            </a:r>
            <a:endParaRPr lang="zh-TW" altLang="en-US" b="1" dirty="0">
              <a:solidFill>
                <a:schemeClr val="tx1"/>
              </a:solidFill>
              <a:latin typeface="Times New Roman" panose="02020603050405020304" pitchFamily="18" charset="0"/>
              <a:cs typeface="Times New Roman" panose="02020603050405020304" pitchFamily="18" charset="0"/>
            </a:endParaRPr>
          </a:p>
        </p:txBody>
      </p:sp>
      <p:sp>
        <p:nvSpPr>
          <p:cNvPr id="27" name="文字方塊 26">
            <a:extLst>
              <a:ext uri="{FF2B5EF4-FFF2-40B4-BE49-F238E27FC236}">
                <a16:creationId xmlns:a16="http://schemas.microsoft.com/office/drawing/2014/main" id="{0E330BEC-8DB0-49EA-A374-7792F5BE9DF0}"/>
              </a:ext>
            </a:extLst>
          </p:cNvPr>
          <p:cNvSpPr txBox="1"/>
          <p:nvPr/>
        </p:nvSpPr>
        <p:spPr>
          <a:xfrm>
            <a:off x="401033" y="57308"/>
            <a:ext cx="11465151" cy="584775"/>
          </a:xfrm>
          <a:prstGeom prst="rect">
            <a:avLst/>
          </a:prstGeom>
          <a:solidFill>
            <a:srgbClr val="FFFFD8"/>
          </a:solidFill>
          <a:ln w="38100">
            <a:solidFill>
              <a:srgbClr val="8F9DFE"/>
            </a:solidFill>
          </a:ln>
        </p:spPr>
        <p:txBody>
          <a:bodyPr wrap="square" rtlCol="0">
            <a:spAutoFit/>
          </a:bodyPr>
          <a:lstStyle/>
          <a:p>
            <a:pPr algn="ctr"/>
            <a:r>
              <a:rPr lang="en-US" altLang="zh-TW" sz="3200" b="1" dirty="0">
                <a:latin typeface="Times New Roman" panose="02020603050405020304" pitchFamily="18" charset="0"/>
                <a:cs typeface="Times New Roman" panose="02020603050405020304" pitchFamily="18" charset="0"/>
              </a:rPr>
              <a:t>Introduction</a:t>
            </a:r>
          </a:p>
        </p:txBody>
      </p:sp>
      <p:sp>
        <p:nvSpPr>
          <p:cNvPr id="4" name="投影片編號版面配置區 3">
            <a:extLst>
              <a:ext uri="{FF2B5EF4-FFF2-40B4-BE49-F238E27FC236}">
                <a16:creationId xmlns:a16="http://schemas.microsoft.com/office/drawing/2014/main" id="{1D19896A-4051-498E-9367-63FF573AD4ED}"/>
              </a:ext>
            </a:extLst>
          </p:cNvPr>
          <p:cNvSpPr>
            <a:spLocks noGrp="1"/>
          </p:cNvSpPr>
          <p:nvPr>
            <p:ph type="sldNum" sz="quarter" idx="12"/>
          </p:nvPr>
        </p:nvSpPr>
        <p:spPr>
          <a:xfrm>
            <a:off x="9448800" y="6501450"/>
            <a:ext cx="2743200" cy="365125"/>
          </a:xfrm>
        </p:spPr>
        <p:txBody>
          <a:bodyPr/>
          <a:lstStyle/>
          <a:p>
            <a:fld id="{29723A01-8C65-4E4C-95BB-6D96843E9278}" type="slidenum">
              <a:rPr lang="zh-TW" altLang="en-US" smtClean="0"/>
              <a:t>3</a:t>
            </a:fld>
            <a:endParaRPr lang="zh-TW" altLang="en-US" dirty="0"/>
          </a:p>
        </p:txBody>
      </p:sp>
    </p:spTree>
    <p:extLst>
      <p:ext uri="{BB962C8B-B14F-4D97-AF65-F5344CB8AC3E}">
        <p14:creationId xmlns:p14="http://schemas.microsoft.com/office/powerpoint/2010/main" val="1192261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p:cNvPicPr>
            <a:picLocks noChangeAspect="1"/>
          </p:cNvPicPr>
          <p:nvPr/>
        </p:nvPicPr>
        <p:blipFill>
          <a:blip r:embed="rId3"/>
          <a:stretch>
            <a:fillRect/>
          </a:stretch>
        </p:blipFill>
        <p:spPr>
          <a:xfrm>
            <a:off x="3937786" y="2265013"/>
            <a:ext cx="2711450" cy="3092471"/>
          </a:xfrm>
          <a:prstGeom prst="rect">
            <a:avLst/>
          </a:prstGeom>
        </p:spPr>
      </p:pic>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1202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Motivation</a:t>
            </a:r>
            <a:endParaRPr lang="zh-TW" altLang="en-US" sz="2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9943717-266E-45CE-ADAF-8020BDE433FE}"/>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4</a:t>
            </a:fld>
            <a:endParaRPr lang="zh-TW" altLang="en-US" dirty="0"/>
          </a:p>
        </p:txBody>
      </p:sp>
      <p:pic>
        <p:nvPicPr>
          <p:cNvPr id="6" name="圖片 5"/>
          <p:cNvPicPr>
            <a:picLocks noChangeAspect="1"/>
          </p:cNvPicPr>
          <p:nvPr/>
        </p:nvPicPr>
        <p:blipFill>
          <a:blip r:embed="rId4"/>
          <a:stretch>
            <a:fillRect/>
          </a:stretch>
        </p:blipFill>
        <p:spPr>
          <a:xfrm>
            <a:off x="0" y="2390372"/>
            <a:ext cx="4149213" cy="2077256"/>
          </a:xfrm>
          <a:prstGeom prst="rect">
            <a:avLst/>
          </a:prstGeom>
        </p:spPr>
      </p:pic>
      <p:sp>
        <p:nvSpPr>
          <p:cNvPr id="18" name="矩形 17"/>
          <p:cNvSpPr/>
          <p:nvPr/>
        </p:nvSpPr>
        <p:spPr>
          <a:xfrm>
            <a:off x="132187" y="4770624"/>
            <a:ext cx="3352800" cy="400110"/>
          </a:xfrm>
          <a:prstGeom prst="rect">
            <a:avLst/>
          </a:prstGeom>
        </p:spPr>
        <p:txBody>
          <a:bodyPr wrap="square">
            <a:spAutoFit/>
          </a:bodyPr>
          <a:lstStyle/>
          <a:p>
            <a:r>
              <a:rPr lang="en-US" altLang="zh-TW" sz="1000" b="1" dirty="0">
                <a:latin typeface="Times New Roman" panose="02020603050405020304" pitchFamily="18" charset="0"/>
                <a:cs typeface="Times New Roman" panose="02020603050405020304" pitchFamily="18" charset="0"/>
              </a:rPr>
              <a:t>Bin Yin, IEEE PHOTONICS TECHNOLOGY LETTERS, VOL. 26, NO. 12, JUNE 15, 2014</a:t>
            </a:r>
            <a:endParaRPr lang="zh-TW" altLang="en-US" sz="1000" b="1" dirty="0">
              <a:latin typeface="Times New Roman" panose="02020603050405020304" pitchFamily="18" charset="0"/>
              <a:cs typeface="Times New Roman" panose="02020603050405020304" pitchFamily="18" charset="0"/>
            </a:endParaRPr>
          </a:p>
        </p:txBody>
      </p:sp>
      <p:pic>
        <p:nvPicPr>
          <p:cNvPr id="19" name="圖片 18"/>
          <p:cNvPicPr>
            <a:picLocks noChangeAspect="1"/>
          </p:cNvPicPr>
          <p:nvPr/>
        </p:nvPicPr>
        <p:blipFill>
          <a:blip r:embed="rId5"/>
          <a:stretch>
            <a:fillRect/>
          </a:stretch>
        </p:blipFill>
        <p:spPr>
          <a:xfrm>
            <a:off x="6690786" y="2265013"/>
            <a:ext cx="3246525" cy="1759873"/>
          </a:xfrm>
          <a:prstGeom prst="rect">
            <a:avLst/>
          </a:prstGeom>
        </p:spPr>
      </p:pic>
      <p:pic>
        <p:nvPicPr>
          <p:cNvPr id="20" name="圖片 19"/>
          <p:cNvPicPr>
            <a:picLocks noChangeAspect="1"/>
          </p:cNvPicPr>
          <p:nvPr/>
        </p:nvPicPr>
        <p:blipFill>
          <a:blip r:embed="rId6"/>
          <a:stretch>
            <a:fillRect/>
          </a:stretch>
        </p:blipFill>
        <p:spPr>
          <a:xfrm>
            <a:off x="10003498" y="3811248"/>
            <a:ext cx="2163003" cy="1598980"/>
          </a:xfrm>
          <a:prstGeom prst="rect">
            <a:avLst/>
          </a:prstGeom>
        </p:spPr>
      </p:pic>
      <p:pic>
        <p:nvPicPr>
          <p:cNvPr id="21" name="圖片 20"/>
          <p:cNvPicPr>
            <a:picLocks noChangeAspect="1"/>
          </p:cNvPicPr>
          <p:nvPr/>
        </p:nvPicPr>
        <p:blipFill>
          <a:blip r:embed="rId7"/>
          <a:stretch>
            <a:fillRect/>
          </a:stretch>
        </p:blipFill>
        <p:spPr>
          <a:xfrm>
            <a:off x="10036927" y="2215370"/>
            <a:ext cx="2096147" cy="1597575"/>
          </a:xfrm>
          <a:prstGeom prst="rect">
            <a:avLst/>
          </a:prstGeom>
        </p:spPr>
      </p:pic>
      <p:sp>
        <p:nvSpPr>
          <p:cNvPr id="22" name="矩形 21"/>
          <p:cNvSpPr/>
          <p:nvPr/>
        </p:nvSpPr>
        <p:spPr>
          <a:xfrm>
            <a:off x="6839249" y="4770624"/>
            <a:ext cx="3552218" cy="400110"/>
          </a:xfrm>
          <a:prstGeom prst="rect">
            <a:avLst/>
          </a:prstGeom>
        </p:spPr>
        <p:txBody>
          <a:bodyPr wrap="square">
            <a:spAutoFit/>
          </a:bodyPr>
          <a:lstStyle/>
          <a:p>
            <a:r>
              <a:rPr lang="en-US" altLang="zh-TW" sz="1000" b="1" dirty="0" err="1">
                <a:latin typeface="Times New Roman" panose="02020603050405020304" pitchFamily="18" charset="0"/>
                <a:cs typeface="Times New Roman" panose="02020603050405020304" pitchFamily="18" charset="0"/>
              </a:rPr>
              <a:t>Weiyang</a:t>
            </a:r>
            <a:r>
              <a:rPr lang="en-US" altLang="zh-TW" sz="1000" b="1" dirty="0">
                <a:latin typeface="Times New Roman" panose="02020603050405020304" pitchFamily="18" charset="0"/>
                <a:cs typeface="Times New Roman" panose="02020603050405020304" pitchFamily="18" charset="0"/>
              </a:rPr>
              <a:t> Ge, 10 February 2014 | Vol. 22, No. 3 | DOI:10.1364/OE.22.002423 | OPTICS EXPRESS 2423</a:t>
            </a:r>
            <a:endParaRPr lang="zh-TW" altLang="en-US" sz="1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1370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p:cNvCxnSpPr/>
          <p:nvPr/>
        </p:nvCxnSpPr>
        <p:spPr>
          <a:xfrm>
            <a:off x="-1" y="690478"/>
            <a:ext cx="12168000" cy="0"/>
          </a:xfrm>
          <a:prstGeom prst="line">
            <a:avLst/>
          </a:prstGeom>
          <a:ln w="28575"/>
        </p:spPr>
        <p:style>
          <a:lnRef idx="1">
            <a:schemeClr val="dk1"/>
          </a:lnRef>
          <a:fillRef idx="0">
            <a:schemeClr val="dk1"/>
          </a:fillRef>
          <a:effectRef idx="0">
            <a:schemeClr val="dk1"/>
          </a:effectRef>
          <a:fontRef idx="minor">
            <a:schemeClr val="tx1"/>
          </a:fontRef>
        </p:style>
      </p:cxnSp>
      <p:sp>
        <p:nvSpPr>
          <p:cNvPr id="21" name="文字方塊 20"/>
          <p:cNvSpPr txBox="1"/>
          <p:nvPr/>
        </p:nvSpPr>
        <p:spPr>
          <a:xfrm>
            <a:off x="574925" y="90760"/>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Prior works  :  Electro-optically spectrum tailorable APPLN IOPOs</a:t>
            </a:r>
            <a:endParaRPr lang="zh-TW" altLang="en-US" sz="2800" b="1" dirty="0">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rotWithShape="1">
          <a:blip r:embed="rId3"/>
          <a:srcRect l="8237" t="17349" r="50081" b="47091"/>
          <a:stretch/>
        </p:blipFill>
        <p:spPr>
          <a:xfrm>
            <a:off x="70622" y="3190241"/>
            <a:ext cx="6207179" cy="2977281"/>
          </a:xfrm>
          <a:prstGeom prst="rect">
            <a:avLst/>
          </a:prstGeom>
        </p:spPr>
      </p:pic>
      <p:sp>
        <p:nvSpPr>
          <p:cNvPr id="22" name="矩形 21"/>
          <p:cNvSpPr/>
          <p:nvPr/>
        </p:nvSpPr>
        <p:spPr>
          <a:xfrm>
            <a:off x="-2" y="6514057"/>
            <a:ext cx="4485908" cy="338554"/>
          </a:xfrm>
          <a:prstGeom prst="rect">
            <a:avLst/>
          </a:prstGeom>
        </p:spPr>
        <p:txBody>
          <a:bodyPr wrap="none">
            <a:spAutoFit/>
          </a:bodyPr>
          <a:lstStyle/>
          <a:p>
            <a:r>
              <a:rPr lang="en-US" altLang="zh-TW" sz="1600" dirty="0"/>
              <a:t>Vol. 40, No. 22 / November 15 2015 / Optics Letters</a:t>
            </a:r>
            <a:endParaRPr lang="zh-TW" altLang="en-US" sz="1600" b="1"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rotWithShape="1">
          <a:blip r:embed="rId4"/>
          <a:srcRect l="7918" t="22769" r="50919" b="16294"/>
          <a:stretch/>
        </p:blipFill>
        <p:spPr>
          <a:xfrm>
            <a:off x="6277779" y="1360186"/>
            <a:ext cx="5677352" cy="4725357"/>
          </a:xfrm>
          <a:prstGeom prst="rect">
            <a:avLst/>
          </a:prstGeom>
        </p:spPr>
      </p:pic>
      <p:sp>
        <p:nvSpPr>
          <p:cNvPr id="11" name="文字方塊 10"/>
          <p:cNvSpPr txBox="1"/>
          <p:nvPr/>
        </p:nvSpPr>
        <p:spPr>
          <a:xfrm>
            <a:off x="8215934" y="1093541"/>
            <a:ext cx="2270814" cy="369332"/>
          </a:xfrm>
          <a:prstGeom prst="rect">
            <a:avLst/>
          </a:prstGeom>
          <a:noFill/>
        </p:spPr>
        <p:txBody>
          <a:bodyPr wrap="none" rtlCol="0">
            <a:spAutoFit/>
          </a:bodyPr>
          <a:lstStyle/>
          <a:p>
            <a:r>
              <a:rPr lang="en-US" altLang="zh-TW" b="1" dirty="0">
                <a:latin typeface="Times New Roman" panose="02020603050405020304" pitchFamily="18" charset="0"/>
                <a:cs typeface="Times New Roman" panose="02020603050405020304" pitchFamily="18" charset="0"/>
              </a:rPr>
              <a:t>At same temperature</a:t>
            </a:r>
            <a:endParaRPr lang="zh-TW" altLang="en-US" b="1" dirty="0">
              <a:latin typeface="Times New Roman" panose="02020603050405020304" pitchFamily="18" charset="0"/>
              <a:cs typeface="Times New Roman" panose="02020603050405020304" pitchFamily="18" charset="0"/>
            </a:endParaRPr>
          </a:p>
        </p:txBody>
      </p:sp>
      <p:pic>
        <p:nvPicPr>
          <p:cNvPr id="65" name="圖片 64">
            <a:extLst>
              <a:ext uri="{FF2B5EF4-FFF2-40B4-BE49-F238E27FC236}">
                <a16:creationId xmlns:a16="http://schemas.microsoft.com/office/drawing/2014/main" id="{CDA28CFF-FB51-4AE2-9C4D-A7646955EA20}"/>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2" y="1360186"/>
            <a:ext cx="6473537" cy="1966455"/>
          </a:xfrm>
          <a:prstGeom prst="rect">
            <a:avLst/>
          </a:prstGeom>
        </p:spPr>
      </p:pic>
      <p:sp>
        <p:nvSpPr>
          <p:cNvPr id="2" name="投影片編號版面配置區 1">
            <a:extLst>
              <a:ext uri="{FF2B5EF4-FFF2-40B4-BE49-F238E27FC236}">
                <a16:creationId xmlns:a16="http://schemas.microsoft.com/office/drawing/2014/main" id="{88E08389-D081-467C-A290-ADE6D36030EA}"/>
              </a:ext>
            </a:extLst>
          </p:cNvPr>
          <p:cNvSpPr>
            <a:spLocks noGrp="1"/>
          </p:cNvSpPr>
          <p:nvPr>
            <p:ph type="sldNum" sz="quarter" idx="12"/>
          </p:nvPr>
        </p:nvSpPr>
        <p:spPr>
          <a:xfrm>
            <a:off x="9448800" y="6487486"/>
            <a:ext cx="2743200" cy="365125"/>
          </a:xfrm>
        </p:spPr>
        <p:txBody>
          <a:bodyPr/>
          <a:lstStyle/>
          <a:p>
            <a:fld id="{29723A01-8C65-4E4C-95BB-6D96843E9278}" type="slidenum">
              <a:rPr lang="zh-TW" altLang="en-US" smtClean="0"/>
              <a:t>5</a:t>
            </a:fld>
            <a:endParaRPr lang="zh-TW" altLang="en-US" dirty="0"/>
          </a:p>
        </p:txBody>
      </p:sp>
    </p:spTree>
    <p:extLst>
      <p:ext uri="{BB962C8B-B14F-4D97-AF65-F5344CB8AC3E}">
        <p14:creationId xmlns:p14="http://schemas.microsoft.com/office/powerpoint/2010/main" val="3458626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3"/>
          <p:cNvCxnSpPr/>
          <p:nvPr/>
        </p:nvCxnSpPr>
        <p:spPr>
          <a:xfrm>
            <a:off x="-1" y="690478"/>
            <a:ext cx="12168000" cy="0"/>
          </a:xfrm>
          <a:prstGeom prst="line">
            <a:avLst/>
          </a:prstGeom>
          <a:ln w="28575"/>
        </p:spPr>
        <p:style>
          <a:lnRef idx="1">
            <a:schemeClr val="dk1"/>
          </a:lnRef>
          <a:fillRef idx="0">
            <a:schemeClr val="dk1"/>
          </a:fillRef>
          <a:effectRef idx="0">
            <a:schemeClr val="dk1"/>
          </a:effectRef>
          <a:fontRef idx="minor">
            <a:schemeClr val="tx1"/>
          </a:fontRef>
        </p:style>
      </p:cxnSp>
      <p:sp>
        <p:nvSpPr>
          <p:cNvPr id="21" name="文字方塊 20"/>
          <p:cNvSpPr txBox="1"/>
          <p:nvPr/>
        </p:nvSpPr>
        <p:spPr>
          <a:xfrm>
            <a:off x="574925" y="90760"/>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Prior works  :  Electro-optically spectrum tailorable APPLN IOPOs</a:t>
            </a:r>
            <a:endParaRPr lang="zh-TW" altLang="en-US" sz="2800" b="1" dirty="0">
              <a:latin typeface="Times New Roman" panose="02020603050405020304" pitchFamily="18" charset="0"/>
              <a:cs typeface="Times New Roman" panose="02020603050405020304" pitchFamily="18" charset="0"/>
            </a:endParaRPr>
          </a:p>
        </p:txBody>
      </p:sp>
      <p:sp>
        <p:nvSpPr>
          <p:cNvPr id="22" name="矩形 21"/>
          <p:cNvSpPr/>
          <p:nvPr/>
        </p:nvSpPr>
        <p:spPr>
          <a:xfrm>
            <a:off x="-2" y="6514057"/>
            <a:ext cx="2544286" cy="338554"/>
          </a:xfrm>
          <a:prstGeom prst="rect">
            <a:avLst/>
          </a:prstGeom>
        </p:spPr>
        <p:txBody>
          <a:bodyPr wrap="none">
            <a:spAutoFit/>
          </a:bodyPr>
          <a:lstStyle/>
          <a:p>
            <a:r>
              <a:rPr lang="zh-TW" altLang="en-US" sz="1600" dirty="0">
                <a:latin typeface="標楷體" panose="03000509000000000000" pitchFamily="65" charset="-120"/>
                <a:ea typeface="標楷體" panose="03000509000000000000" pitchFamily="65" charset="-120"/>
              </a:rPr>
              <a:t>中央大學 張煒堃博士論文</a:t>
            </a:r>
            <a:endParaRPr lang="zh-TW" altLang="en-US" sz="1600" b="1" dirty="0">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p:cNvSpPr txBox="1"/>
          <p:nvPr/>
        </p:nvSpPr>
        <p:spPr>
          <a:xfrm>
            <a:off x="7767521" y="1304385"/>
            <a:ext cx="2270814" cy="369332"/>
          </a:xfrm>
          <a:prstGeom prst="rect">
            <a:avLst/>
          </a:prstGeom>
          <a:noFill/>
        </p:spPr>
        <p:txBody>
          <a:bodyPr wrap="none" rtlCol="0">
            <a:spAutoFit/>
          </a:bodyPr>
          <a:lstStyle/>
          <a:p>
            <a:r>
              <a:rPr lang="en-US" altLang="zh-TW" b="1" dirty="0">
                <a:latin typeface="Times New Roman" panose="02020603050405020304" pitchFamily="18" charset="0"/>
                <a:cs typeface="Times New Roman" panose="02020603050405020304" pitchFamily="18" charset="0"/>
              </a:rPr>
              <a:t>At same temperature</a:t>
            </a:r>
            <a:endParaRPr lang="zh-TW" altLang="en-US" b="1" dirty="0">
              <a:latin typeface="Times New Roman" panose="02020603050405020304" pitchFamily="18" charset="0"/>
              <a:cs typeface="Times New Roman" panose="02020603050405020304" pitchFamily="18" charset="0"/>
            </a:endParaRPr>
          </a:p>
        </p:txBody>
      </p:sp>
      <p:sp>
        <p:nvSpPr>
          <p:cNvPr id="2" name="投影片編號版面配置區 1">
            <a:extLst>
              <a:ext uri="{FF2B5EF4-FFF2-40B4-BE49-F238E27FC236}">
                <a16:creationId xmlns:a16="http://schemas.microsoft.com/office/drawing/2014/main" id="{88E08389-D081-467C-A290-ADE6D36030EA}"/>
              </a:ext>
            </a:extLst>
          </p:cNvPr>
          <p:cNvSpPr>
            <a:spLocks noGrp="1"/>
          </p:cNvSpPr>
          <p:nvPr>
            <p:ph type="sldNum" sz="quarter" idx="12"/>
          </p:nvPr>
        </p:nvSpPr>
        <p:spPr>
          <a:xfrm>
            <a:off x="9448800" y="6487486"/>
            <a:ext cx="2743200" cy="365125"/>
          </a:xfrm>
        </p:spPr>
        <p:txBody>
          <a:bodyPr/>
          <a:lstStyle/>
          <a:p>
            <a:fld id="{29723A01-8C65-4E4C-95BB-6D96843E9278}" type="slidenum">
              <a:rPr lang="zh-TW" altLang="en-US" smtClean="0"/>
              <a:t>6</a:t>
            </a:fld>
            <a:endParaRPr lang="zh-TW" altLang="en-US" dirty="0"/>
          </a:p>
        </p:txBody>
      </p:sp>
      <p:pic>
        <p:nvPicPr>
          <p:cNvPr id="3" name="圖片 2"/>
          <p:cNvPicPr>
            <a:picLocks noChangeAspect="1"/>
          </p:cNvPicPr>
          <p:nvPr/>
        </p:nvPicPr>
        <p:blipFill>
          <a:blip r:embed="rId3"/>
          <a:stretch>
            <a:fillRect/>
          </a:stretch>
        </p:blipFill>
        <p:spPr>
          <a:xfrm>
            <a:off x="389856" y="1058180"/>
            <a:ext cx="5609907" cy="2151745"/>
          </a:xfrm>
          <a:prstGeom prst="rect">
            <a:avLst/>
          </a:prstGeom>
        </p:spPr>
      </p:pic>
      <p:pic>
        <p:nvPicPr>
          <p:cNvPr id="6" name="圖片 5"/>
          <p:cNvPicPr>
            <a:picLocks noChangeAspect="1"/>
          </p:cNvPicPr>
          <p:nvPr/>
        </p:nvPicPr>
        <p:blipFill>
          <a:blip r:embed="rId4"/>
          <a:stretch>
            <a:fillRect/>
          </a:stretch>
        </p:blipFill>
        <p:spPr>
          <a:xfrm>
            <a:off x="657145" y="3361039"/>
            <a:ext cx="5029279" cy="3087239"/>
          </a:xfrm>
          <a:prstGeom prst="rect">
            <a:avLst/>
          </a:prstGeom>
        </p:spPr>
      </p:pic>
      <p:pic>
        <p:nvPicPr>
          <p:cNvPr id="10" name="圖片 9"/>
          <p:cNvPicPr>
            <a:picLocks noChangeAspect="1"/>
          </p:cNvPicPr>
          <p:nvPr/>
        </p:nvPicPr>
        <p:blipFill>
          <a:blip r:embed="rId5"/>
          <a:stretch>
            <a:fillRect/>
          </a:stretch>
        </p:blipFill>
        <p:spPr>
          <a:xfrm>
            <a:off x="5662140" y="1673717"/>
            <a:ext cx="6481575" cy="4402349"/>
          </a:xfrm>
          <a:prstGeom prst="rect">
            <a:avLst/>
          </a:prstGeom>
        </p:spPr>
      </p:pic>
    </p:spTree>
    <p:extLst>
      <p:ext uri="{BB962C8B-B14F-4D97-AF65-F5344CB8AC3E}">
        <p14:creationId xmlns:p14="http://schemas.microsoft.com/office/powerpoint/2010/main" val="4003434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12" name="內容版面配置區 111">
                <a:extLst>
                  <a:ext uri="{FF2B5EF4-FFF2-40B4-BE49-F238E27FC236}">
                    <a16:creationId xmlns:a16="http://schemas.microsoft.com/office/drawing/2014/main" id="{80B5C00C-B2A9-4F07-8396-88C36D251BEF}"/>
                  </a:ext>
                </a:extLst>
              </p:cNvPr>
              <p:cNvGraphicFramePr>
                <a:graphicFrameLocks noGrp="1"/>
              </p:cNvGraphicFramePr>
              <p:nvPr>
                <p:ph idx="1"/>
                <p:extLst>
                  <p:ext uri="{D42A27DB-BD31-4B8C-83A1-F6EECF244321}">
                    <p14:modId xmlns:p14="http://schemas.microsoft.com/office/powerpoint/2010/main" val="2054879393"/>
                  </p:ext>
                </p:extLst>
              </p:nvPr>
            </p:nvGraphicFramePr>
            <p:xfrm>
              <a:off x="0" y="1169030"/>
              <a:ext cx="12191999" cy="2558277"/>
            </p:xfrm>
            <a:graphic>
              <a:graphicData uri="http://schemas.openxmlformats.org/drawingml/2006/table">
                <a:tbl>
                  <a:tblPr firstRow="1" bandRow="1">
                    <a:tableStyleId>{5C22544A-7EE6-4342-B048-85BDC9FD1C3A}</a:tableStyleId>
                  </a:tblPr>
                  <a:tblGrid>
                    <a:gridCol w="2694039">
                      <a:extLst>
                        <a:ext uri="{9D8B030D-6E8A-4147-A177-3AD203B41FA5}">
                          <a16:colId xmlns:a16="http://schemas.microsoft.com/office/drawing/2014/main" val="2625358693"/>
                        </a:ext>
                      </a:extLst>
                    </a:gridCol>
                    <a:gridCol w="3136490">
                      <a:extLst>
                        <a:ext uri="{9D8B030D-6E8A-4147-A177-3AD203B41FA5}">
                          <a16:colId xmlns:a16="http://schemas.microsoft.com/office/drawing/2014/main" val="3365378593"/>
                        </a:ext>
                      </a:extLst>
                    </a:gridCol>
                    <a:gridCol w="3224981">
                      <a:extLst>
                        <a:ext uri="{9D8B030D-6E8A-4147-A177-3AD203B41FA5}">
                          <a16:colId xmlns:a16="http://schemas.microsoft.com/office/drawing/2014/main" val="3014903793"/>
                        </a:ext>
                      </a:extLst>
                    </a:gridCol>
                    <a:gridCol w="3136489">
                      <a:extLst>
                        <a:ext uri="{9D8B030D-6E8A-4147-A177-3AD203B41FA5}">
                          <a16:colId xmlns:a16="http://schemas.microsoft.com/office/drawing/2014/main" val="421958642"/>
                        </a:ext>
                      </a:extLst>
                    </a:gridCol>
                  </a:tblGrid>
                  <a:tr h="557650">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altLang="zh-TW" sz="1600" dirty="0">
                              <a:latin typeface="Times New Roman" panose="02020603050405020304" pitchFamily="18" charset="0"/>
                              <a:cs typeface="Times New Roman" panose="02020603050405020304" pitchFamily="18" charset="0"/>
                            </a:rPr>
                            <a:t>This work EO –OPO APPLN</a:t>
                          </a:r>
                          <a:endParaRPr lang="zh-TW"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6630004"/>
                      </a:ext>
                    </a:extLst>
                  </a:tr>
                  <a:tr h="532125">
                    <a:tc>
                      <a:txBody>
                        <a:bodyPr/>
                        <a:lstStyle/>
                        <a:p>
                          <a:pPr algn="l">
                            <a:lnSpc>
                              <a:spcPct val="150000"/>
                            </a:lnSpc>
                          </a:pPr>
                          <a:r>
                            <a:rPr lang="en-US" altLang="zh-TW" sz="1600" b="1" i="0" kern="1200" dirty="0">
                              <a:solidFill>
                                <a:schemeClr val="tx1"/>
                              </a:solidFill>
                              <a:effectLst/>
                              <a:latin typeface="Times New Roman" panose="02020603050405020304" pitchFamily="18" charset="0"/>
                              <a:ea typeface="+mn-ea"/>
                              <a:cs typeface="Times New Roman" panose="02020603050405020304" pitchFamily="18" charset="0"/>
                            </a:rPr>
                            <a:t>Electro Optic Effect</a:t>
                          </a:r>
                          <a:endParaRPr lang="zh-TW" altLang="en-US" sz="1600" b="1"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altLang="zh-TW" sz="1400" dirty="0">
                              <a:latin typeface="Times New Roman" panose="02020603050405020304" pitchFamily="18" charset="0"/>
                              <a:cs typeface="Times New Roman" panose="02020603050405020304" pitchFamily="18" charset="0"/>
                            </a:rPr>
                            <a:t>One Compensation vector( </a:t>
                          </a:r>
                          <a14:m>
                            <m:oMath xmlns:m="http://schemas.openxmlformats.org/officeDocument/2006/math">
                              <m:r>
                                <a:rPr lang="en-US" altLang="zh-TW" sz="1400" i="1" smtClean="0">
                                  <a:latin typeface="Cambria Math" panose="02040503050406030204" pitchFamily="18" charset="0"/>
                                  <a:ea typeface="Cambria Math" panose="02040503050406030204" pitchFamily="18" charset="0"/>
                                </a:rPr>
                                <m:t>∆</m:t>
                              </m:r>
                              <m:r>
                                <a:rPr lang="en-US" altLang="zh-TW" sz="1400" b="0" i="1" smtClean="0">
                                  <a:latin typeface="Cambria Math" panose="02040503050406030204" pitchFamily="18" charset="0"/>
                                  <a:ea typeface="Cambria Math" panose="02040503050406030204" pitchFamily="18" charset="0"/>
                                </a:rPr>
                                <m:t>𝑘</m:t>
                              </m:r>
                              <m:r>
                                <a:rPr lang="en-US" altLang="zh-TW" sz="1400" b="0" i="1" smtClean="0">
                                  <a:latin typeface="Cambria Math" panose="02040503050406030204" pitchFamily="18" charset="0"/>
                                  <a:ea typeface="Cambria Math" panose="02040503050406030204" pitchFamily="18" charset="0"/>
                                </a:rPr>
                                <m:t> </m:t>
                              </m:r>
                            </m:oMath>
                          </a14:m>
                          <a:r>
                            <a:rPr lang="en-US" altLang="zh-TW" sz="1400" dirty="0">
                              <a:latin typeface="Times New Roman" panose="02020603050405020304" pitchFamily="18" charset="0"/>
                              <a:cs typeface="Times New Roman" panose="02020603050405020304" pitchFamily="18" charset="0"/>
                            </a:rPr>
                            <a:t>) </a:t>
                          </a:r>
                          <a:endParaRPr lang="zh-TW" altLang="en-US" sz="1400" dirty="0">
                            <a:latin typeface="Times New Roman" panose="02020603050405020304" pitchFamily="18" charset="0"/>
                            <a:cs typeface="Times New Roman" panose="02020603050405020304" pitchFamily="18" charset="0"/>
                          </a:endParaRPr>
                        </a:p>
                      </a:txBody>
                      <a:tcPr/>
                    </a:tc>
                    <a:tc>
                      <a:txBody>
                        <a:bodyPr/>
                        <a:lstStyle/>
                        <a:p>
                          <a:pPr algn="ctr">
                            <a:lnSpc>
                              <a:spcPct val="200000"/>
                            </a:lnSpc>
                          </a:pPr>
                          <a:r>
                            <a:rPr lang="en-US" altLang="zh-TW" sz="1400" dirty="0">
                              <a:latin typeface="Times New Roman" panose="02020603050405020304" pitchFamily="18" charset="0"/>
                              <a:cs typeface="Times New Roman" panose="02020603050405020304" pitchFamily="18" charset="0"/>
                            </a:rPr>
                            <a:t>Two Compensation vector( </a:t>
                          </a:r>
                          <a14:m>
                            <m:oMath xmlns:m="http://schemas.openxmlformats.org/officeDocument/2006/math">
                              <m:r>
                                <a:rPr lang="en-US" altLang="zh-TW" sz="1400" i="1" smtClean="0">
                                  <a:latin typeface="Cambria Math" panose="02040503050406030204" pitchFamily="18" charset="0"/>
                                  <a:ea typeface="Cambria Math" panose="02040503050406030204" pitchFamily="18" charset="0"/>
                                </a:rPr>
                                <m:t>∆</m:t>
                              </m:r>
                              <m:r>
                                <a:rPr lang="en-US" altLang="zh-TW" sz="1400" b="0" i="1" smtClean="0">
                                  <a:latin typeface="Cambria Math" panose="02040503050406030204" pitchFamily="18" charset="0"/>
                                  <a:ea typeface="Cambria Math" panose="02040503050406030204" pitchFamily="18" charset="0"/>
                                </a:rPr>
                                <m:t>𝑘</m:t>
                              </m:r>
                              <m:r>
                                <a:rPr lang="en-US" altLang="zh-TW" sz="1400" b="0" i="1" smtClean="0">
                                  <a:latin typeface="Cambria Math" panose="02040503050406030204" pitchFamily="18" charset="0"/>
                                  <a:ea typeface="Cambria Math" panose="02040503050406030204" pitchFamily="18" charset="0"/>
                                </a:rPr>
                                <m:t> </m:t>
                              </m:r>
                            </m:oMath>
                          </a14:m>
                          <a:r>
                            <a:rPr lang="en-US" altLang="zh-TW" sz="1400" dirty="0">
                              <a:latin typeface="Times New Roman" panose="02020603050405020304" pitchFamily="18" charset="0"/>
                              <a:cs typeface="Times New Roman" panose="02020603050405020304" pitchFamily="18" charset="0"/>
                            </a:rPr>
                            <a:t>) </a:t>
                          </a:r>
                          <a:endParaRPr lang="zh-TW" alt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Two Compensation vector( </a:t>
                          </a:r>
                          <a14:m>
                            <m:oMath xmlns:m="http://schemas.openxmlformats.org/officeDocument/2006/math">
                              <m:r>
                                <a:rPr lang="en-US" altLang="zh-TW" sz="1400" i="1" smtClean="0">
                                  <a:latin typeface="Cambria Math" panose="02040503050406030204" pitchFamily="18" charset="0"/>
                                  <a:ea typeface="Cambria Math" panose="02040503050406030204" pitchFamily="18" charset="0"/>
                                </a:rPr>
                                <m:t>∆</m:t>
                              </m:r>
                              <m:r>
                                <a:rPr lang="en-US" altLang="zh-TW" sz="1400" b="0" i="1" smtClean="0">
                                  <a:latin typeface="Cambria Math" panose="02040503050406030204" pitchFamily="18" charset="0"/>
                                  <a:ea typeface="Cambria Math" panose="02040503050406030204" pitchFamily="18" charset="0"/>
                                </a:rPr>
                                <m:t>𝑘</m:t>
                              </m:r>
                              <m:r>
                                <a:rPr lang="en-US" altLang="zh-TW" sz="1400" b="0" i="1" smtClean="0">
                                  <a:latin typeface="Cambria Math" panose="02040503050406030204" pitchFamily="18" charset="0"/>
                                  <a:ea typeface="Cambria Math" panose="02040503050406030204" pitchFamily="18" charset="0"/>
                                </a:rPr>
                                <m:t> </m:t>
                              </m:r>
                            </m:oMath>
                          </a14:m>
                          <a:r>
                            <a:rPr lang="en-US" altLang="zh-TW" sz="1400" dirty="0">
                              <a:latin typeface="Times New Roman" panose="02020603050405020304" pitchFamily="18" charset="0"/>
                              <a:cs typeface="Times New Roman" panose="02020603050405020304" pitchFamily="18" charset="0"/>
                            </a:rPr>
                            <a:t>) </a:t>
                          </a:r>
                          <a:endParaRPr lang="zh-TW" alt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85668344"/>
                      </a:ext>
                    </a:extLst>
                  </a:tr>
                  <a:tr h="588582">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600" b="1" kern="1200" dirty="0">
                              <a:solidFill>
                                <a:schemeClr val="tx1"/>
                              </a:solidFill>
                              <a:effectLst/>
                              <a:latin typeface="Times New Roman" panose="02020603050405020304" pitchFamily="18" charset="0"/>
                              <a:ea typeface="+mn-ea"/>
                              <a:cs typeface="Times New Roman" panose="02020603050405020304" pitchFamily="18" charset="0"/>
                            </a:rPr>
                            <a:t>optical parameter oscillators</a:t>
                          </a:r>
                          <a:endParaRPr lang="zh-TW" altLang="en-US" sz="1600" b="1"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One Compensation  vector( </a:t>
                          </a:r>
                          <a14:m>
                            <m:oMath xmlns:m="http://schemas.openxmlformats.org/officeDocument/2006/math">
                              <m:r>
                                <a:rPr lang="en-US" altLang="zh-TW" sz="1400" i="1" smtClean="0">
                                  <a:latin typeface="Cambria Math" panose="02040503050406030204" pitchFamily="18" charset="0"/>
                                  <a:ea typeface="Cambria Math" panose="02040503050406030204" pitchFamily="18" charset="0"/>
                                </a:rPr>
                                <m:t>∆</m:t>
                              </m:r>
                              <m:r>
                                <a:rPr lang="en-US" altLang="zh-TW" sz="1400" b="0" i="1" smtClean="0">
                                  <a:latin typeface="Cambria Math" panose="02040503050406030204" pitchFamily="18" charset="0"/>
                                  <a:ea typeface="Cambria Math" panose="02040503050406030204" pitchFamily="18" charset="0"/>
                                </a:rPr>
                                <m:t>𝑘</m:t>
                              </m:r>
                              <m:r>
                                <a:rPr lang="en-US" altLang="zh-TW" sz="1400" b="0" i="1" smtClean="0">
                                  <a:latin typeface="Cambria Math" panose="02040503050406030204" pitchFamily="18" charset="0"/>
                                  <a:ea typeface="Cambria Math" panose="02040503050406030204" pitchFamily="18" charset="0"/>
                                </a:rPr>
                                <m:t> </m:t>
                              </m:r>
                            </m:oMath>
                          </a14:m>
                          <a:r>
                            <a:rPr lang="en-US" altLang="zh-TW" sz="1400" dirty="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Two Compensation  vector( </a:t>
                          </a:r>
                          <a14:m>
                            <m:oMath xmlns:m="http://schemas.openxmlformats.org/officeDocument/2006/math">
                              <m:r>
                                <a:rPr lang="en-US" altLang="zh-TW" sz="1400" i="1" smtClean="0">
                                  <a:latin typeface="Cambria Math" panose="02040503050406030204" pitchFamily="18" charset="0"/>
                                  <a:ea typeface="Cambria Math" panose="02040503050406030204" pitchFamily="18" charset="0"/>
                                </a:rPr>
                                <m:t>∆</m:t>
                              </m:r>
                              <m:r>
                                <a:rPr lang="en-US" altLang="zh-TW" sz="1400" b="0" i="1" smtClean="0">
                                  <a:latin typeface="Cambria Math" panose="02040503050406030204" pitchFamily="18" charset="0"/>
                                  <a:ea typeface="Cambria Math" panose="02040503050406030204" pitchFamily="18" charset="0"/>
                                </a:rPr>
                                <m:t>𝑘</m:t>
                              </m:r>
                              <m:r>
                                <a:rPr lang="en-US" altLang="zh-TW" sz="1400" b="0" i="1" smtClean="0">
                                  <a:latin typeface="Cambria Math" panose="02040503050406030204" pitchFamily="18" charset="0"/>
                                  <a:ea typeface="Cambria Math" panose="02040503050406030204" pitchFamily="18" charset="0"/>
                                </a:rPr>
                                <m:t> </m:t>
                              </m:r>
                            </m:oMath>
                          </a14:m>
                          <a:r>
                            <a:rPr lang="en-US" altLang="zh-TW" sz="1400" dirty="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Two Compensation vector( </a:t>
                          </a:r>
                          <a14:m>
                            <m:oMath xmlns:m="http://schemas.openxmlformats.org/officeDocument/2006/math">
                              <m:r>
                                <a:rPr lang="en-US" altLang="zh-TW" sz="1400" i="1" smtClean="0">
                                  <a:latin typeface="Cambria Math" panose="02040503050406030204" pitchFamily="18" charset="0"/>
                                  <a:ea typeface="Cambria Math" panose="02040503050406030204" pitchFamily="18" charset="0"/>
                                </a:rPr>
                                <m:t>∆</m:t>
                              </m:r>
                              <m:r>
                                <a:rPr lang="en-US" altLang="zh-TW" sz="1400" b="0" i="1" smtClean="0">
                                  <a:latin typeface="Cambria Math" panose="02040503050406030204" pitchFamily="18" charset="0"/>
                                  <a:ea typeface="Cambria Math" panose="02040503050406030204" pitchFamily="18" charset="0"/>
                                </a:rPr>
                                <m:t>𝑘</m:t>
                              </m:r>
                              <m:r>
                                <a:rPr lang="en-US" altLang="zh-TW" sz="1400" b="0" i="1" smtClean="0">
                                  <a:latin typeface="Cambria Math" panose="02040503050406030204" pitchFamily="18" charset="0"/>
                                  <a:ea typeface="Cambria Math" panose="02040503050406030204" pitchFamily="18" charset="0"/>
                                </a:rPr>
                                <m:t> </m:t>
                              </m:r>
                            </m:oMath>
                          </a14:m>
                          <a:r>
                            <a:rPr lang="en-US" altLang="zh-TW" sz="1400" dirty="0">
                              <a:latin typeface="Times New Roman" panose="02020603050405020304" pitchFamily="18" charset="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83503572"/>
                      </a:ext>
                    </a:extLst>
                  </a:tr>
                  <a:tr h="0">
                    <a:tc>
                      <a:txBody>
                        <a:bodyPr/>
                        <a:lstStyle/>
                        <a:p>
                          <a:pPr algn="l" fontAlgn="t">
                            <a:lnSpc>
                              <a:spcPct val="150000"/>
                            </a:lnSpc>
                          </a:pPr>
                          <a:r>
                            <a:rPr lang="en-US" sz="1600" b="1" dirty="0">
                              <a:solidFill>
                                <a:srgbClr val="000000"/>
                              </a:solidFill>
                              <a:effectLst/>
                              <a:latin typeface="Times New Roman" panose="02020603050405020304" pitchFamily="18" charset="0"/>
                              <a:cs typeface="Times New Roman" panose="02020603050405020304" pitchFamily="18" charset="0"/>
                            </a:rPr>
                            <a:t>Application</a:t>
                          </a:r>
                          <a:endParaRPr lang="en-US" sz="1600" b="1" dirty="0">
                            <a:effectLst/>
                            <a:latin typeface="Times New Roman" panose="02020603050405020304" pitchFamily="18" charset="0"/>
                            <a:cs typeface="Times New Roman" panose="02020603050405020304" pitchFamily="18" charset="0"/>
                          </a:endParaRPr>
                        </a:p>
                      </a:txBody>
                      <a:tcPr marL="116237" marR="495946" marB="232475"/>
                    </a:tc>
                    <a:tc>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Narrow-line optical parametric oscillator</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Narrow-line optical parametric oscillator</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endParaRPr lang="zh-TW" altLang="en-US" dirty="0"/>
                        </a:p>
                      </a:txBody>
                      <a:tcPr/>
                    </a:tc>
                    <a:tc>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en-US" altLang="zh-TW" sz="1400" dirty="0">
                              <a:latin typeface="Times New Roman" panose="02020603050405020304" pitchFamily="18" charset="0"/>
                              <a:cs typeface="Times New Roman" panose="02020603050405020304" pitchFamily="18" charset="0"/>
                            </a:rPr>
                            <a:t>Narrow-line and EO spectrum switchable optical parametric oscillator</a:t>
                          </a:r>
                        </a:p>
                      </a:txBody>
                      <a:tcPr/>
                    </a:tc>
                    <a:extLst>
                      <a:ext uri="{0D108BD9-81ED-4DB2-BD59-A6C34878D82A}">
                        <a16:rowId xmlns:a16="http://schemas.microsoft.com/office/drawing/2014/main" val="2804995324"/>
                      </a:ext>
                    </a:extLst>
                  </a:tr>
                </a:tbl>
              </a:graphicData>
            </a:graphic>
          </p:graphicFrame>
        </mc:Choice>
        <mc:Fallback xmlns="">
          <p:graphicFrame>
            <p:nvGraphicFramePr>
              <p:cNvPr id="112" name="內容版面配置區 111">
                <a:extLst>
                  <a:ext uri="{FF2B5EF4-FFF2-40B4-BE49-F238E27FC236}">
                    <a16:creationId xmlns:a16="http://schemas.microsoft.com/office/drawing/2014/main" id="{80B5C00C-B2A9-4F07-8396-88C36D251BEF}"/>
                  </a:ext>
                </a:extLst>
              </p:cNvPr>
              <p:cNvGraphicFramePr>
                <a:graphicFrameLocks noGrp="1"/>
              </p:cNvGraphicFramePr>
              <p:nvPr>
                <p:ph idx="1"/>
                <p:extLst>
                  <p:ext uri="{D42A27DB-BD31-4B8C-83A1-F6EECF244321}">
                    <p14:modId xmlns:p14="http://schemas.microsoft.com/office/powerpoint/2010/main" val="2054879393"/>
                  </p:ext>
                </p:extLst>
              </p:nvPr>
            </p:nvGraphicFramePr>
            <p:xfrm>
              <a:off x="0" y="1169030"/>
              <a:ext cx="12191999" cy="2623237"/>
            </p:xfrm>
            <a:graphic>
              <a:graphicData uri="http://schemas.openxmlformats.org/drawingml/2006/table">
                <a:tbl>
                  <a:tblPr firstRow="1" bandRow="1">
                    <a:tableStyleId>{5C22544A-7EE6-4342-B048-85BDC9FD1C3A}</a:tableStyleId>
                  </a:tblPr>
                  <a:tblGrid>
                    <a:gridCol w="2694039">
                      <a:extLst>
                        <a:ext uri="{9D8B030D-6E8A-4147-A177-3AD203B41FA5}">
                          <a16:colId xmlns:a16="http://schemas.microsoft.com/office/drawing/2014/main" val="2625358693"/>
                        </a:ext>
                      </a:extLst>
                    </a:gridCol>
                    <a:gridCol w="3136490">
                      <a:extLst>
                        <a:ext uri="{9D8B030D-6E8A-4147-A177-3AD203B41FA5}">
                          <a16:colId xmlns:a16="http://schemas.microsoft.com/office/drawing/2014/main" val="3365378593"/>
                        </a:ext>
                      </a:extLst>
                    </a:gridCol>
                    <a:gridCol w="3224981">
                      <a:extLst>
                        <a:ext uri="{9D8B030D-6E8A-4147-A177-3AD203B41FA5}">
                          <a16:colId xmlns:a16="http://schemas.microsoft.com/office/drawing/2014/main" val="3014903793"/>
                        </a:ext>
                      </a:extLst>
                    </a:gridCol>
                    <a:gridCol w="3136489">
                      <a:extLst>
                        <a:ext uri="{9D8B030D-6E8A-4147-A177-3AD203B41FA5}">
                          <a16:colId xmlns:a16="http://schemas.microsoft.com/office/drawing/2014/main" val="421958642"/>
                        </a:ext>
                      </a:extLst>
                    </a:gridCol>
                  </a:tblGrid>
                  <a:tr h="557650">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bg1"/>
                            </a:solidFill>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altLang="zh-TW" sz="1600" dirty="0">
                              <a:latin typeface="Times New Roman" panose="02020603050405020304" pitchFamily="18" charset="0"/>
                              <a:cs typeface="Times New Roman" panose="02020603050405020304" pitchFamily="18" charset="0"/>
                            </a:rPr>
                            <a:t>This work EO –OPO APPLN</a:t>
                          </a:r>
                          <a:endParaRPr lang="zh-TW"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6630004"/>
                      </a:ext>
                    </a:extLst>
                  </a:tr>
                  <a:tr h="532125">
                    <a:tc>
                      <a:txBody>
                        <a:bodyPr/>
                        <a:lstStyle/>
                        <a:p>
                          <a:pPr algn="l">
                            <a:lnSpc>
                              <a:spcPct val="150000"/>
                            </a:lnSpc>
                          </a:pPr>
                          <a:r>
                            <a:rPr lang="en-US" altLang="zh-TW" sz="1600" b="1" i="0" kern="1200" dirty="0">
                              <a:solidFill>
                                <a:schemeClr val="tx1"/>
                              </a:solidFill>
                              <a:effectLst/>
                              <a:latin typeface="Times New Roman" panose="02020603050405020304" pitchFamily="18" charset="0"/>
                              <a:ea typeface="+mn-ea"/>
                              <a:cs typeface="Times New Roman" panose="02020603050405020304" pitchFamily="18" charset="0"/>
                            </a:rPr>
                            <a:t>Electro Optic Effect</a:t>
                          </a:r>
                          <a:endParaRPr lang="zh-TW" altLang="en-US" sz="1600" b="1" dirty="0">
                            <a:solidFill>
                              <a:schemeClr val="tx1"/>
                            </a:solidFill>
                            <a:latin typeface="Times New Roman" panose="02020603050405020304" pitchFamily="18" charset="0"/>
                            <a:cs typeface="Times New Roman" panose="02020603050405020304" pitchFamily="18" charset="0"/>
                          </a:endParaRPr>
                        </a:p>
                      </a:txBody>
                      <a:tcPr/>
                    </a:tc>
                    <a:tc>
                      <a:txBody>
                        <a:bodyPr/>
                        <a:lstStyle/>
                        <a:p>
                          <a:endParaRPr lang="zh-TW"/>
                        </a:p>
                      </a:txBody>
                      <a:tcPr>
                        <a:blipFill>
                          <a:blip r:embed="rId3"/>
                          <a:stretch>
                            <a:fillRect l="-86381" t="-106897" r="-204086" b="-293103"/>
                          </a:stretch>
                        </a:blipFill>
                      </a:tcPr>
                    </a:tc>
                    <a:tc>
                      <a:txBody>
                        <a:bodyPr/>
                        <a:lstStyle/>
                        <a:p>
                          <a:endParaRPr lang="zh-TW"/>
                        </a:p>
                      </a:txBody>
                      <a:tcPr>
                        <a:blipFill>
                          <a:blip r:embed="rId3"/>
                          <a:stretch>
                            <a:fillRect l="-181096" t="-106897" r="-98299" b="-293103"/>
                          </a:stretch>
                        </a:blipFill>
                      </a:tcPr>
                    </a:tc>
                    <a:tc>
                      <a:txBody>
                        <a:bodyPr/>
                        <a:lstStyle/>
                        <a:p>
                          <a:endParaRPr lang="zh-TW"/>
                        </a:p>
                      </a:txBody>
                      <a:tcPr>
                        <a:blipFill>
                          <a:blip r:embed="rId3"/>
                          <a:stretch>
                            <a:fillRect l="-288738" t="-106897" r="-971" b="-293103"/>
                          </a:stretch>
                        </a:blipFill>
                      </a:tcPr>
                    </a:tc>
                    <a:extLst>
                      <a:ext uri="{0D108BD9-81ED-4DB2-BD59-A6C34878D82A}">
                        <a16:rowId xmlns:a16="http://schemas.microsoft.com/office/drawing/2014/main" val="1985668344"/>
                      </a:ext>
                    </a:extLst>
                  </a:tr>
                  <a:tr h="588582">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600" b="1" kern="1200" dirty="0">
                              <a:solidFill>
                                <a:schemeClr val="tx1"/>
                              </a:solidFill>
                              <a:effectLst/>
                              <a:latin typeface="Times New Roman" panose="02020603050405020304" pitchFamily="18" charset="0"/>
                              <a:ea typeface="+mn-ea"/>
                              <a:cs typeface="Times New Roman" panose="02020603050405020304" pitchFamily="18" charset="0"/>
                            </a:rPr>
                            <a:t>optical parameter oscillators</a:t>
                          </a:r>
                          <a:endParaRPr lang="zh-TW" altLang="en-US" sz="1600" b="1" dirty="0">
                            <a:solidFill>
                              <a:schemeClr val="tx1"/>
                            </a:solidFill>
                            <a:latin typeface="Times New Roman" panose="02020603050405020304" pitchFamily="18" charset="0"/>
                            <a:cs typeface="Times New Roman" panose="02020603050405020304" pitchFamily="18" charset="0"/>
                          </a:endParaRPr>
                        </a:p>
                      </a:txBody>
                      <a:tcPr/>
                    </a:tc>
                    <a:tc>
                      <a:txBody>
                        <a:bodyPr/>
                        <a:lstStyle/>
                        <a:p>
                          <a:endParaRPr lang="zh-TW"/>
                        </a:p>
                      </a:txBody>
                      <a:tcPr>
                        <a:blipFill>
                          <a:blip r:embed="rId3"/>
                          <a:stretch>
                            <a:fillRect l="-86381" t="-185567" r="-204086" b="-162887"/>
                          </a:stretch>
                        </a:blipFill>
                      </a:tcPr>
                    </a:tc>
                    <a:tc>
                      <a:txBody>
                        <a:bodyPr/>
                        <a:lstStyle/>
                        <a:p>
                          <a:endParaRPr lang="zh-TW"/>
                        </a:p>
                      </a:txBody>
                      <a:tcPr>
                        <a:blipFill>
                          <a:blip r:embed="rId3"/>
                          <a:stretch>
                            <a:fillRect l="-181096" t="-185567" r="-98299" b="-162887"/>
                          </a:stretch>
                        </a:blipFill>
                      </a:tcPr>
                    </a:tc>
                    <a:tc>
                      <a:txBody>
                        <a:bodyPr/>
                        <a:lstStyle/>
                        <a:p>
                          <a:endParaRPr lang="zh-TW"/>
                        </a:p>
                      </a:txBody>
                      <a:tcPr>
                        <a:blipFill>
                          <a:blip r:embed="rId3"/>
                          <a:stretch>
                            <a:fillRect l="-288738" t="-185567" r="-971" b="-162887"/>
                          </a:stretch>
                        </a:blipFill>
                      </a:tcPr>
                    </a:tc>
                    <a:extLst>
                      <a:ext uri="{0D108BD9-81ED-4DB2-BD59-A6C34878D82A}">
                        <a16:rowId xmlns:a16="http://schemas.microsoft.com/office/drawing/2014/main" val="2083503572"/>
                      </a:ext>
                    </a:extLst>
                  </a:tr>
                  <a:tr h="944880">
                    <a:tc>
                      <a:txBody>
                        <a:bodyPr/>
                        <a:lstStyle/>
                        <a:p>
                          <a:pPr algn="l" fontAlgn="t">
                            <a:lnSpc>
                              <a:spcPct val="150000"/>
                            </a:lnSpc>
                          </a:pPr>
                          <a:r>
                            <a:rPr lang="en-US" sz="1600" b="1" dirty="0">
                              <a:solidFill>
                                <a:srgbClr val="000000"/>
                              </a:solidFill>
                              <a:effectLst/>
                              <a:latin typeface="Times New Roman" panose="02020603050405020304" pitchFamily="18" charset="0"/>
                              <a:cs typeface="Times New Roman" panose="02020603050405020304" pitchFamily="18" charset="0"/>
                            </a:rPr>
                            <a:t>Application</a:t>
                          </a:r>
                          <a:endParaRPr lang="en-US" sz="1600" b="1" dirty="0">
                            <a:effectLst/>
                            <a:latin typeface="Times New Roman" panose="02020603050405020304" pitchFamily="18" charset="0"/>
                            <a:cs typeface="Times New Roman" panose="02020603050405020304" pitchFamily="18" charset="0"/>
                          </a:endParaRPr>
                        </a:p>
                      </a:txBody>
                      <a:tcPr marL="116237" marR="495946" marB="232475"/>
                    </a:tc>
                    <a:tc>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kumimoji="0" lang="en-US" altLang="zh-TW"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Narrow-line </a:t>
                          </a: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optical parametric oscillator</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kumimoji="0" lang="en-US" altLang="zh-TW"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Narrow-line </a:t>
                          </a: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optical parametric oscillator</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endParaRPr lang="zh-TW" altLang="en-US" dirty="0"/>
                        </a:p>
                      </a:txBody>
                      <a:tcPr/>
                    </a:tc>
                    <a:tc>
                      <a:txBody>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en-US" altLang="zh-TW" sz="1400" dirty="0" smtClean="0">
                              <a:latin typeface="Times New Roman" panose="02020603050405020304" pitchFamily="18" charset="0"/>
                              <a:cs typeface="Times New Roman" panose="02020603050405020304" pitchFamily="18" charset="0"/>
                            </a:rPr>
                            <a:t>Narrow-line and EO spectrum switchable optical parametric oscillator</a:t>
                          </a:r>
                        </a:p>
                      </a:txBody>
                      <a:tcPr/>
                    </a:tc>
                    <a:extLst>
                      <a:ext uri="{0D108BD9-81ED-4DB2-BD59-A6C34878D82A}">
                        <a16:rowId xmlns:a16="http://schemas.microsoft.com/office/drawing/2014/main" val="2804995324"/>
                      </a:ext>
                    </a:extLst>
                  </a:tr>
                </a:tbl>
              </a:graphicData>
            </a:graphic>
          </p:graphicFrame>
        </mc:Fallback>
      </mc:AlternateContent>
      <p:grpSp>
        <p:nvGrpSpPr>
          <p:cNvPr id="113" name="群組 112">
            <a:extLst>
              <a:ext uri="{FF2B5EF4-FFF2-40B4-BE49-F238E27FC236}">
                <a16:creationId xmlns:a16="http://schemas.microsoft.com/office/drawing/2014/main" id="{28BCBD96-3B1A-455B-A807-BEED123A31A4}"/>
              </a:ext>
            </a:extLst>
          </p:cNvPr>
          <p:cNvGrpSpPr/>
          <p:nvPr/>
        </p:nvGrpSpPr>
        <p:grpSpPr>
          <a:xfrm>
            <a:off x="1466756" y="4091281"/>
            <a:ext cx="9636833" cy="2085620"/>
            <a:chOff x="85501" y="120001"/>
            <a:chExt cx="6003842" cy="1159165"/>
          </a:xfrm>
        </p:grpSpPr>
        <p:grpSp>
          <p:nvGrpSpPr>
            <p:cNvPr id="114" name="群組 113">
              <a:extLst>
                <a:ext uri="{FF2B5EF4-FFF2-40B4-BE49-F238E27FC236}">
                  <a16:creationId xmlns:a16="http://schemas.microsoft.com/office/drawing/2014/main" id="{40D0CE31-A402-49F8-A549-E263124598C9}"/>
                </a:ext>
              </a:extLst>
            </p:cNvPr>
            <p:cNvGrpSpPr/>
            <p:nvPr/>
          </p:nvGrpSpPr>
          <p:grpSpPr>
            <a:xfrm>
              <a:off x="85501" y="180975"/>
              <a:ext cx="6003842" cy="1098191"/>
              <a:chOff x="85501" y="0"/>
              <a:chExt cx="6003843" cy="1098190"/>
            </a:xfrm>
          </p:grpSpPr>
          <p:grpSp>
            <p:nvGrpSpPr>
              <p:cNvPr id="117" name="群組 116">
                <a:extLst>
                  <a:ext uri="{FF2B5EF4-FFF2-40B4-BE49-F238E27FC236}">
                    <a16:creationId xmlns:a16="http://schemas.microsoft.com/office/drawing/2014/main" id="{13F4B299-107F-4F76-8962-EB9ACBF4E936}"/>
                  </a:ext>
                </a:extLst>
              </p:cNvPr>
              <p:cNvGrpSpPr/>
              <p:nvPr/>
            </p:nvGrpSpPr>
            <p:grpSpPr>
              <a:xfrm>
                <a:off x="85501" y="102227"/>
                <a:ext cx="5810255" cy="995963"/>
                <a:chOff x="85501" y="102227"/>
                <a:chExt cx="5810255" cy="995963"/>
              </a:xfrm>
            </p:grpSpPr>
            <p:grpSp>
              <p:nvGrpSpPr>
                <p:cNvPr id="122" name="群組 121">
                  <a:extLst>
                    <a:ext uri="{FF2B5EF4-FFF2-40B4-BE49-F238E27FC236}">
                      <a16:creationId xmlns:a16="http://schemas.microsoft.com/office/drawing/2014/main" id="{56B8720F-F0A4-43D9-9225-936FDC76F995}"/>
                    </a:ext>
                  </a:extLst>
                </p:cNvPr>
                <p:cNvGrpSpPr/>
                <p:nvPr/>
              </p:nvGrpSpPr>
              <p:grpSpPr>
                <a:xfrm>
                  <a:off x="85501" y="102227"/>
                  <a:ext cx="5810255" cy="995963"/>
                  <a:chOff x="85501" y="102227"/>
                  <a:chExt cx="5810255" cy="995963"/>
                </a:xfrm>
              </p:grpSpPr>
              <p:sp>
                <p:nvSpPr>
                  <p:cNvPr id="123" name="矩形 122">
                    <a:extLst>
                      <a:ext uri="{FF2B5EF4-FFF2-40B4-BE49-F238E27FC236}">
                        <a16:creationId xmlns:a16="http://schemas.microsoft.com/office/drawing/2014/main" id="{6F9DCF7B-0A45-422B-97E1-A7BF723366F9}"/>
                      </a:ext>
                    </a:extLst>
                  </p:cNvPr>
                  <p:cNvSpPr/>
                  <p:nvPr/>
                </p:nvSpPr>
                <p:spPr>
                  <a:xfrm>
                    <a:off x="4610100" y="106878"/>
                    <a:ext cx="162370" cy="991312"/>
                  </a:xfrm>
                  <a:prstGeom prst="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24" name="矩形 123">
                    <a:extLst>
                      <a:ext uri="{FF2B5EF4-FFF2-40B4-BE49-F238E27FC236}">
                        <a16:creationId xmlns:a16="http://schemas.microsoft.com/office/drawing/2014/main" id="{D9E85350-C944-40EB-A4CC-80147C9097FA}"/>
                      </a:ext>
                    </a:extLst>
                  </p:cNvPr>
                  <p:cNvSpPr/>
                  <p:nvPr/>
                </p:nvSpPr>
                <p:spPr>
                  <a:xfrm>
                    <a:off x="988213" y="268791"/>
                    <a:ext cx="3514477" cy="626913"/>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dirty="0"/>
                  </a:p>
                </p:txBody>
              </p:sp>
              <p:sp>
                <p:nvSpPr>
                  <p:cNvPr id="125" name="矩形 124">
                    <a:extLst>
                      <a:ext uri="{FF2B5EF4-FFF2-40B4-BE49-F238E27FC236}">
                        <a16:creationId xmlns:a16="http://schemas.microsoft.com/office/drawing/2014/main" id="{E7F47C5C-27CE-4CA3-9D75-AF58E0505A8D}"/>
                      </a:ext>
                    </a:extLst>
                  </p:cNvPr>
                  <p:cNvSpPr/>
                  <p:nvPr/>
                </p:nvSpPr>
                <p:spPr>
                  <a:xfrm>
                    <a:off x="739999" y="102227"/>
                    <a:ext cx="162370" cy="991312"/>
                  </a:xfrm>
                  <a:prstGeom prst="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nvGrpSpPr>
                  <p:cNvPr id="126" name="群組 125">
                    <a:extLst>
                      <a:ext uri="{FF2B5EF4-FFF2-40B4-BE49-F238E27FC236}">
                        <a16:creationId xmlns:a16="http://schemas.microsoft.com/office/drawing/2014/main" id="{CA9DE4F3-C4A7-4923-BB5B-A1DDE1103D45}"/>
                      </a:ext>
                    </a:extLst>
                  </p:cNvPr>
                  <p:cNvGrpSpPr/>
                  <p:nvPr/>
                </p:nvGrpSpPr>
                <p:grpSpPr>
                  <a:xfrm>
                    <a:off x="1340466" y="268673"/>
                    <a:ext cx="3004173" cy="634381"/>
                    <a:chOff x="103825" y="120565"/>
                    <a:chExt cx="3004173" cy="634381"/>
                  </a:xfrm>
                </p:grpSpPr>
                <p:sp>
                  <p:nvSpPr>
                    <p:cNvPr id="136" name="矩形 135">
                      <a:extLst>
                        <a:ext uri="{FF2B5EF4-FFF2-40B4-BE49-F238E27FC236}">
                          <a16:creationId xmlns:a16="http://schemas.microsoft.com/office/drawing/2014/main" id="{CFDFAFA4-B92A-4066-9D91-A7DB401FC789}"/>
                        </a:ext>
                      </a:extLst>
                    </p:cNvPr>
                    <p:cNvSpPr/>
                    <p:nvPr/>
                  </p:nvSpPr>
                  <p:spPr>
                    <a:xfrm>
                      <a:off x="406043" y="120566"/>
                      <a:ext cx="162388"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37" name="矩形 136">
                      <a:extLst>
                        <a:ext uri="{FF2B5EF4-FFF2-40B4-BE49-F238E27FC236}">
                          <a16:creationId xmlns:a16="http://schemas.microsoft.com/office/drawing/2014/main" id="{A8BDE69B-F017-4B51-A308-F51C5A66F0BA}"/>
                        </a:ext>
                      </a:extLst>
                    </p:cNvPr>
                    <p:cNvSpPr/>
                    <p:nvPr/>
                  </p:nvSpPr>
                  <p:spPr>
                    <a:xfrm>
                      <a:off x="103825" y="120565"/>
                      <a:ext cx="162388"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38" name="矩形 137">
                      <a:extLst>
                        <a:ext uri="{FF2B5EF4-FFF2-40B4-BE49-F238E27FC236}">
                          <a16:creationId xmlns:a16="http://schemas.microsoft.com/office/drawing/2014/main" id="{33A89D08-ADF3-48BC-B305-809A075B0412}"/>
                        </a:ext>
                      </a:extLst>
                    </p:cNvPr>
                    <p:cNvSpPr/>
                    <p:nvPr/>
                  </p:nvSpPr>
                  <p:spPr>
                    <a:xfrm>
                      <a:off x="561026" y="120566"/>
                      <a:ext cx="162388"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39" name="矩形 138">
                      <a:extLst>
                        <a:ext uri="{FF2B5EF4-FFF2-40B4-BE49-F238E27FC236}">
                          <a16:creationId xmlns:a16="http://schemas.microsoft.com/office/drawing/2014/main" id="{C96D9D14-5F62-4261-A00B-FCB87DDA1108}"/>
                        </a:ext>
                      </a:extLst>
                    </p:cNvPr>
                    <p:cNvSpPr/>
                    <p:nvPr/>
                  </p:nvSpPr>
                  <p:spPr>
                    <a:xfrm>
                      <a:off x="1165461" y="128314"/>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0" name="矩形 139">
                      <a:extLst>
                        <a:ext uri="{FF2B5EF4-FFF2-40B4-BE49-F238E27FC236}">
                          <a16:creationId xmlns:a16="http://schemas.microsoft.com/office/drawing/2014/main" id="{9882EA07-5F6C-46BE-B524-5D18A7DECB1B}"/>
                        </a:ext>
                      </a:extLst>
                    </p:cNvPr>
                    <p:cNvSpPr/>
                    <p:nvPr/>
                  </p:nvSpPr>
                  <p:spPr>
                    <a:xfrm>
                      <a:off x="1302808" y="128314"/>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1" name="矩形 140">
                      <a:extLst>
                        <a:ext uri="{FF2B5EF4-FFF2-40B4-BE49-F238E27FC236}">
                          <a16:creationId xmlns:a16="http://schemas.microsoft.com/office/drawing/2014/main" id="{DB386221-63E3-491E-A76A-96DF1BD04B0F}"/>
                        </a:ext>
                      </a:extLst>
                    </p:cNvPr>
                    <p:cNvSpPr/>
                    <p:nvPr/>
                  </p:nvSpPr>
                  <p:spPr>
                    <a:xfrm>
                      <a:off x="1457791" y="128314"/>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2" name="矩形 141">
                      <a:extLst>
                        <a:ext uri="{FF2B5EF4-FFF2-40B4-BE49-F238E27FC236}">
                          <a16:creationId xmlns:a16="http://schemas.microsoft.com/office/drawing/2014/main" id="{A50CCBCB-D06D-4535-A5D4-7B29CD64444A}"/>
                        </a:ext>
                      </a:extLst>
                    </p:cNvPr>
                    <p:cNvSpPr/>
                    <p:nvPr/>
                  </p:nvSpPr>
                  <p:spPr>
                    <a:xfrm>
                      <a:off x="2403185" y="120566"/>
                      <a:ext cx="162388"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3" name="矩形 142">
                      <a:extLst>
                        <a:ext uri="{FF2B5EF4-FFF2-40B4-BE49-F238E27FC236}">
                          <a16:creationId xmlns:a16="http://schemas.microsoft.com/office/drawing/2014/main" id="{18FF9374-A83F-472E-A62D-BBE2F8E97F97}"/>
                        </a:ext>
                      </a:extLst>
                    </p:cNvPr>
                    <p:cNvSpPr/>
                    <p:nvPr/>
                  </p:nvSpPr>
                  <p:spPr>
                    <a:xfrm>
                      <a:off x="2248204" y="120566"/>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4" name="矩形 143">
                      <a:extLst>
                        <a:ext uri="{FF2B5EF4-FFF2-40B4-BE49-F238E27FC236}">
                          <a16:creationId xmlns:a16="http://schemas.microsoft.com/office/drawing/2014/main" id="{21B4254A-3FE7-4412-9182-A04470F7A627}"/>
                        </a:ext>
                      </a:extLst>
                    </p:cNvPr>
                    <p:cNvSpPr/>
                    <p:nvPr/>
                  </p:nvSpPr>
                  <p:spPr>
                    <a:xfrm>
                      <a:off x="2945628" y="120566"/>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5" name="矩形 144">
                      <a:extLst>
                        <a:ext uri="{FF2B5EF4-FFF2-40B4-BE49-F238E27FC236}">
                          <a16:creationId xmlns:a16="http://schemas.microsoft.com/office/drawing/2014/main" id="{3ED66B08-5068-4EA0-B919-3AE92D257341}"/>
                        </a:ext>
                      </a:extLst>
                    </p:cNvPr>
                    <p:cNvSpPr/>
                    <p:nvPr/>
                  </p:nvSpPr>
                  <p:spPr>
                    <a:xfrm>
                      <a:off x="2790645" y="120566"/>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6" name="矩形 145">
                      <a:extLst>
                        <a:ext uri="{FF2B5EF4-FFF2-40B4-BE49-F238E27FC236}">
                          <a16:creationId xmlns:a16="http://schemas.microsoft.com/office/drawing/2014/main" id="{B73729C5-DE5F-4911-942D-797D5BAE5DCF}"/>
                        </a:ext>
                      </a:extLst>
                    </p:cNvPr>
                    <p:cNvSpPr/>
                    <p:nvPr/>
                  </p:nvSpPr>
                  <p:spPr>
                    <a:xfrm>
                      <a:off x="1883994" y="120566"/>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127" name="群組 126">
                    <a:extLst>
                      <a:ext uri="{FF2B5EF4-FFF2-40B4-BE49-F238E27FC236}">
                        <a16:creationId xmlns:a16="http://schemas.microsoft.com/office/drawing/2014/main" id="{3EC62733-BB5F-4208-85EA-5075CA33E181}"/>
                      </a:ext>
                    </a:extLst>
                  </p:cNvPr>
                  <p:cNvGrpSpPr/>
                  <p:nvPr/>
                </p:nvGrpSpPr>
                <p:grpSpPr>
                  <a:xfrm>
                    <a:off x="85501" y="127118"/>
                    <a:ext cx="5810255" cy="865717"/>
                    <a:chOff x="85501" y="127118"/>
                    <a:chExt cx="5810255" cy="865717"/>
                  </a:xfrm>
                </p:grpSpPr>
                <p:sp>
                  <p:nvSpPr>
                    <p:cNvPr id="135" name="箭號: 向右 134">
                      <a:extLst>
                        <a:ext uri="{FF2B5EF4-FFF2-40B4-BE49-F238E27FC236}">
                          <a16:creationId xmlns:a16="http://schemas.microsoft.com/office/drawing/2014/main" id="{B8EEBC97-3A3E-47CF-BF76-BF4848498EBA}"/>
                        </a:ext>
                      </a:extLst>
                    </p:cNvPr>
                    <p:cNvSpPr/>
                    <p:nvPr/>
                  </p:nvSpPr>
                  <p:spPr>
                    <a:xfrm>
                      <a:off x="4267105" y="262460"/>
                      <a:ext cx="1016904" cy="200832"/>
                    </a:xfrm>
                    <a:prstGeom prst="rightArrow">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dirty="0"/>
                    </a:p>
                  </p:txBody>
                </p:sp>
                <p:sp>
                  <p:nvSpPr>
                    <p:cNvPr id="129" name="箭號: 向右 128">
                      <a:extLst>
                        <a:ext uri="{FF2B5EF4-FFF2-40B4-BE49-F238E27FC236}">
                          <a16:creationId xmlns:a16="http://schemas.microsoft.com/office/drawing/2014/main" id="{5DEB5399-17CA-4258-AA23-0D021F808C56}"/>
                        </a:ext>
                      </a:extLst>
                    </p:cNvPr>
                    <p:cNvSpPr/>
                    <p:nvPr/>
                  </p:nvSpPr>
                  <p:spPr>
                    <a:xfrm>
                      <a:off x="3723282" y="545095"/>
                      <a:ext cx="1572260" cy="1143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30" name="文字方塊 2">
                      <a:extLst>
                        <a:ext uri="{FF2B5EF4-FFF2-40B4-BE49-F238E27FC236}">
                          <a16:creationId xmlns:a16="http://schemas.microsoft.com/office/drawing/2014/main" id="{865850A5-BE43-4621-8AAB-E4D5A58BFA3E}"/>
                        </a:ext>
                      </a:extLst>
                    </p:cNvPr>
                    <p:cNvSpPr txBox="1">
                      <a:spLocks noChangeArrowheads="1"/>
                    </p:cNvSpPr>
                    <p:nvPr/>
                  </p:nvSpPr>
                  <p:spPr bwMode="auto">
                    <a:xfrm>
                      <a:off x="4834251" y="127118"/>
                      <a:ext cx="1061505" cy="328196"/>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00" b="1" kern="100">
                          <a:effectLst/>
                          <a:latin typeface="標楷體" panose="03000509000000000000" pitchFamily="65" charset="-120"/>
                          <a:ea typeface="新細明體" panose="02020500000000000000" pitchFamily="18" charset="-120"/>
                          <a:cs typeface="Times New Roman" panose="02020603050405020304" pitchFamily="18" charset="0"/>
                        </a:rPr>
                        <a:t>idlers</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131" name="文字方塊 2">
                      <a:extLst>
                        <a:ext uri="{FF2B5EF4-FFF2-40B4-BE49-F238E27FC236}">
                          <a16:creationId xmlns:a16="http://schemas.microsoft.com/office/drawing/2014/main" id="{CF0A95EE-8279-4D68-9560-580C3295F209}"/>
                        </a:ext>
                      </a:extLst>
                    </p:cNvPr>
                    <p:cNvSpPr txBox="1">
                      <a:spLocks noChangeArrowheads="1"/>
                    </p:cNvSpPr>
                    <p:nvPr/>
                  </p:nvSpPr>
                  <p:spPr bwMode="auto">
                    <a:xfrm>
                      <a:off x="4824447" y="442366"/>
                      <a:ext cx="1061506" cy="328196"/>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00" b="1" kern="100" dirty="0">
                          <a:effectLst/>
                          <a:latin typeface="標楷體" panose="03000509000000000000" pitchFamily="65" charset="-120"/>
                          <a:ea typeface="新細明體" panose="02020500000000000000" pitchFamily="18" charset="-120"/>
                          <a:cs typeface="Times New Roman" panose="02020603050405020304" pitchFamily="18" charset="0"/>
                        </a:rPr>
                        <a:t>signals</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132" name="箭號: 向右 131">
                      <a:extLst>
                        <a:ext uri="{FF2B5EF4-FFF2-40B4-BE49-F238E27FC236}">
                          <a16:creationId xmlns:a16="http://schemas.microsoft.com/office/drawing/2014/main" id="{9AD0B2A3-9851-46C4-AD78-AD86E0D07050}"/>
                        </a:ext>
                      </a:extLst>
                    </p:cNvPr>
                    <p:cNvSpPr/>
                    <p:nvPr/>
                  </p:nvSpPr>
                  <p:spPr>
                    <a:xfrm rot="10800000">
                      <a:off x="921461" y="435649"/>
                      <a:ext cx="3509010" cy="34163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33" name="箭號: 向右 132">
                      <a:extLst>
                        <a:ext uri="{FF2B5EF4-FFF2-40B4-BE49-F238E27FC236}">
                          <a16:creationId xmlns:a16="http://schemas.microsoft.com/office/drawing/2014/main" id="{7FED1A8E-5F39-4DC2-86EB-AFC37F3CD8FB}"/>
                        </a:ext>
                      </a:extLst>
                    </p:cNvPr>
                    <p:cNvSpPr/>
                    <p:nvPr/>
                  </p:nvSpPr>
                  <p:spPr>
                    <a:xfrm>
                      <a:off x="3490269" y="432119"/>
                      <a:ext cx="1133475" cy="34163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34" name="箭號: 向右 133">
                      <a:extLst>
                        <a:ext uri="{FF2B5EF4-FFF2-40B4-BE49-F238E27FC236}">
                          <a16:creationId xmlns:a16="http://schemas.microsoft.com/office/drawing/2014/main" id="{4927ECE5-A4C0-4722-B681-C0D9702F96DF}"/>
                        </a:ext>
                      </a:extLst>
                    </p:cNvPr>
                    <p:cNvSpPr/>
                    <p:nvPr/>
                  </p:nvSpPr>
                  <p:spPr>
                    <a:xfrm>
                      <a:off x="85501" y="625805"/>
                      <a:ext cx="5353050" cy="367030"/>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dirty="0"/>
                    </a:p>
                  </p:txBody>
                </p:sp>
              </p:grpSp>
              <p:sp>
                <p:nvSpPr>
                  <p:cNvPr id="128" name="文字方塊 2">
                    <a:extLst>
                      <a:ext uri="{FF2B5EF4-FFF2-40B4-BE49-F238E27FC236}">
                        <a16:creationId xmlns:a16="http://schemas.microsoft.com/office/drawing/2014/main" id="{BE699D16-6796-429B-B855-150614D49696}"/>
                      </a:ext>
                    </a:extLst>
                  </p:cNvPr>
                  <p:cNvSpPr txBox="1">
                    <a:spLocks noChangeArrowheads="1"/>
                  </p:cNvSpPr>
                  <p:nvPr/>
                </p:nvSpPr>
                <p:spPr bwMode="auto">
                  <a:xfrm>
                    <a:off x="2389501" y="518327"/>
                    <a:ext cx="1950367" cy="328196"/>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600" kern="100" dirty="0">
                        <a:ln>
                          <a:noFill/>
                        </a:ln>
                        <a:solidFill>
                          <a:srgbClr val="000000"/>
                        </a:solidFill>
                        <a:effectLst>
                          <a:outerShdw blurRad="38100" dist="19050" dir="2700000" algn="tl">
                            <a:schemeClr val="dk1">
                              <a:alpha val="40000"/>
                            </a:schemeClr>
                          </a:outerShdw>
                        </a:effectLst>
                        <a:latin typeface="標楷體" panose="03000509000000000000" pitchFamily="65" charset="-120"/>
                        <a:ea typeface="新細明體" panose="02020500000000000000" pitchFamily="18" charset="-120"/>
                        <a:cs typeface="Times New Roman" panose="02020603050405020304" pitchFamily="18" charset="0"/>
                      </a:rPr>
                      <a:t>EO OPO - APPLN</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sp>
              <p:nvSpPr>
                <p:cNvPr id="121" name="文字方塊 2">
                  <a:extLst>
                    <a:ext uri="{FF2B5EF4-FFF2-40B4-BE49-F238E27FC236}">
                      <a16:creationId xmlns:a16="http://schemas.microsoft.com/office/drawing/2014/main" id="{964A72F8-5358-401D-9681-75EC3D99F72E}"/>
                    </a:ext>
                  </a:extLst>
                </p:cNvPr>
                <p:cNvSpPr txBox="1">
                  <a:spLocks noChangeArrowheads="1"/>
                </p:cNvSpPr>
                <p:nvPr/>
              </p:nvSpPr>
              <p:spPr bwMode="auto">
                <a:xfrm>
                  <a:off x="216166" y="720659"/>
                  <a:ext cx="1061505" cy="328196"/>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400" b="1" kern="100" dirty="0">
                      <a:effectLst/>
                      <a:latin typeface="標楷體" panose="03000509000000000000" pitchFamily="65" charset="-120"/>
                      <a:ea typeface="新細明體" panose="02020500000000000000" pitchFamily="18" charset="-120"/>
                      <a:cs typeface="Times New Roman" panose="02020603050405020304" pitchFamily="18" charset="0"/>
                    </a:rPr>
                    <a:t>Pump</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sp>
            <p:nvSpPr>
              <p:cNvPr id="118" name="手繪多邊形: 圖案 117">
                <a:extLst>
                  <a:ext uri="{FF2B5EF4-FFF2-40B4-BE49-F238E27FC236}">
                    <a16:creationId xmlns:a16="http://schemas.microsoft.com/office/drawing/2014/main" id="{2623F062-E333-4CB1-9528-09C91805208A}"/>
                  </a:ext>
                </a:extLst>
              </p:cNvPr>
              <p:cNvSpPr/>
              <p:nvPr/>
            </p:nvSpPr>
            <p:spPr>
              <a:xfrm>
                <a:off x="5467961" y="330740"/>
                <a:ext cx="587375" cy="333191"/>
              </a:xfrm>
              <a:custGeom>
                <a:avLst/>
                <a:gdLst>
                  <a:gd name="connsiteX0" fmla="*/ 0 w 742208"/>
                  <a:gd name="connsiteY0" fmla="*/ 445331 h 483814"/>
                  <a:gd name="connsiteX1" fmla="*/ 89065 w 742208"/>
                  <a:gd name="connsiteY1" fmla="*/ 421581 h 483814"/>
                  <a:gd name="connsiteX2" fmla="*/ 178130 w 742208"/>
                  <a:gd name="connsiteY2" fmla="*/ 445331 h 483814"/>
                  <a:gd name="connsiteX3" fmla="*/ 243445 w 742208"/>
                  <a:gd name="connsiteY3" fmla="*/ 7 h 483814"/>
                  <a:gd name="connsiteX4" fmla="*/ 326572 w 742208"/>
                  <a:gd name="connsiteY4" fmla="*/ 457207 h 483814"/>
                  <a:gd name="connsiteX5" fmla="*/ 427512 w 742208"/>
                  <a:gd name="connsiteY5" fmla="*/ 433456 h 483814"/>
                  <a:gd name="connsiteX6" fmla="*/ 546265 w 742208"/>
                  <a:gd name="connsiteY6" fmla="*/ 469082 h 483814"/>
                  <a:gd name="connsiteX7" fmla="*/ 629393 w 742208"/>
                  <a:gd name="connsiteY7" fmla="*/ 451269 h 483814"/>
                  <a:gd name="connsiteX8" fmla="*/ 742208 w 742208"/>
                  <a:gd name="connsiteY8" fmla="*/ 463144 h 48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2208" h="483814">
                    <a:moveTo>
                      <a:pt x="0" y="445331"/>
                    </a:moveTo>
                    <a:cubicBezTo>
                      <a:pt x="29688" y="433456"/>
                      <a:pt x="59377" y="421581"/>
                      <a:pt x="89065" y="421581"/>
                    </a:cubicBezTo>
                    <a:cubicBezTo>
                      <a:pt x="118753" y="421581"/>
                      <a:pt x="152400" y="515593"/>
                      <a:pt x="178130" y="445331"/>
                    </a:cubicBezTo>
                    <a:cubicBezTo>
                      <a:pt x="203860" y="375069"/>
                      <a:pt x="218705" y="-1972"/>
                      <a:pt x="243445" y="7"/>
                    </a:cubicBezTo>
                    <a:cubicBezTo>
                      <a:pt x="268185" y="1986"/>
                      <a:pt x="295894" y="384965"/>
                      <a:pt x="326572" y="457207"/>
                    </a:cubicBezTo>
                    <a:cubicBezTo>
                      <a:pt x="357250" y="529449"/>
                      <a:pt x="390897" y="431477"/>
                      <a:pt x="427512" y="433456"/>
                    </a:cubicBezTo>
                    <a:cubicBezTo>
                      <a:pt x="464127" y="435435"/>
                      <a:pt x="512618" y="466113"/>
                      <a:pt x="546265" y="469082"/>
                    </a:cubicBezTo>
                    <a:cubicBezTo>
                      <a:pt x="579912" y="472051"/>
                      <a:pt x="596736" y="452259"/>
                      <a:pt x="629393" y="451269"/>
                    </a:cubicBezTo>
                    <a:cubicBezTo>
                      <a:pt x="662050" y="450279"/>
                      <a:pt x="713509" y="466113"/>
                      <a:pt x="742208" y="46314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19" name="手繪多邊形: 圖案 118">
                <a:extLst>
                  <a:ext uri="{FF2B5EF4-FFF2-40B4-BE49-F238E27FC236}">
                    <a16:creationId xmlns:a16="http://schemas.microsoft.com/office/drawing/2014/main" id="{A077DC91-CF5B-480E-9B2E-8937160A130F}"/>
                  </a:ext>
                </a:extLst>
              </p:cNvPr>
              <p:cNvSpPr/>
              <p:nvPr/>
            </p:nvSpPr>
            <p:spPr>
              <a:xfrm>
                <a:off x="5448354" y="680936"/>
                <a:ext cx="628939" cy="379746"/>
              </a:xfrm>
              <a:custGeom>
                <a:avLst/>
                <a:gdLst>
                  <a:gd name="connsiteX0" fmla="*/ 0 w 748146"/>
                  <a:gd name="connsiteY0" fmla="*/ 575959 h 586516"/>
                  <a:gd name="connsiteX1" fmla="*/ 112816 w 748146"/>
                  <a:gd name="connsiteY1" fmla="*/ 528458 h 586516"/>
                  <a:gd name="connsiteX2" fmla="*/ 273133 w 748146"/>
                  <a:gd name="connsiteY2" fmla="*/ 564084 h 586516"/>
                  <a:gd name="connsiteX3" fmla="*/ 338447 w 748146"/>
                  <a:gd name="connsiteY3" fmla="*/ 510645 h 586516"/>
                  <a:gd name="connsiteX4" fmla="*/ 415637 w 748146"/>
                  <a:gd name="connsiteY4" fmla="*/ 558146 h 586516"/>
                  <a:gd name="connsiteX5" fmla="*/ 498764 w 748146"/>
                  <a:gd name="connsiteY5" fmla="*/ 6 h 586516"/>
                  <a:gd name="connsiteX6" fmla="*/ 587829 w 748146"/>
                  <a:gd name="connsiteY6" fmla="*/ 546271 h 586516"/>
                  <a:gd name="connsiteX7" fmla="*/ 641268 w 748146"/>
                  <a:gd name="connsiteY7" fmla="*/ 534396 h 586516"/>
                  <a:gd name="connsiteX8" fmla="*/ 748146 w 748146"/>
                  <a:gd name="connsiteY8" fmla="*/ 564084 h 58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8146" h="586516">
                    <a:moveTo>
                      <a:pt x="0" y="575959"/>
                    </a:moveTo>
                    <a:cubicBezTo>
                      <a:pt x="33647" y="553198"/>
                      <a:pt x="67294" y="530437"/>
                      <a:pt x="112816" y="528458"/>
                    </a:cubicBezTo>
                    <a:cubicBezTo>
                      <a:pt x="158338" y="526479"/>
                      <a:pt x="235528" y="567053"/>
                      <a:pt x="273133" y="564084"/>
                    </a:cubicBezTo>
                    <a:cubicBezTo>
                      <a:pt x="310738" y="561115"/>
                      <a:pt x="314696" y="511635"/>
                      <a:pt x="338447" y="510645"/>
                    </a:cubicBezTo>
                    <a:cubicBezTo>
                      <a:pt x="362198" y="509655"/>
                      <a:pt x="388918" y="643253"/>
                      <a:pt x="415637" y="558146"/>
                    </a:cubicBezTo>
                    <a:cubicBezTo>
                      <a:pt x="442357" y="473039"/>
                      <a:pt x="470065" y="1985"/>
                      <a:pt x="498764" y="6"/>
                    </a:cubicBezTo>
                    <a:cubicBezTo>
                      <a:pt x="527463" y="-1973"/>
                      <a:pt x="564078" y="457206"/>
                      <a:pt x="587829" y="546271"/>
                    </a:cubicBezTo>
                    <a:cubicBezTo>
                      <a:pt x="611580" y="635336"/>
                      <a:pt x="614549" y="531427"/>
                      <a:pt x="641268" y="534396"/>
                    </a:cubicBezTo>
                    <a:cubicBezTo>
                      <a:pt x="667987" y="537365"/>
                      <a:pt x="708066" y="550724"/>
                      <a:pt x="748146" y="56408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20" name="手繪多邊形: 圖案 119">
                <a:extLst>
                  <a:ext uri="{FF2B5EF4-FFF2-40B4-BE49-F238E27FC236}">
                    <a16:creationId xmlns:a16="http://schemas.microsoft.com/office/drawing/2014/main" id="{8DA82DFF-53C6-4D81-9047-C4F2634DEB6A}"/>
                  </a:ext>
                </a:extLst>
              </p:cNvPr>
              <p:cNvSpPr/>
              <p:nvPr/>
            </p:nvSpPr>
            <p:spPr>
              <a:xfrm>
                <a:off x="5477765" y="0"/>
                <a:ext cx="611579" cy="333391"/>
              </a:xfrm>
              <a:custGeom>
                <a:avLst/>
                <a:gdLst>
                  <a:gd name="connsiteX0" fmla="*/ 0 w 700644"/>
                  <a:gd name="connsiteY0" fmla="*/ 486890 h 553690"/>
                  <a:gd name="connsiteX1" fmla="*/ 136566 w 700644"/>
                  <a:gd name="connsiteY1" fmla="*/ 486890 h 553690"/>
                  <a:gd name="connsiteX2" fmla="*/ 207818 w 700644"/>
                  <a:gd name="connsiteY2" fmla="*/ 11877 h 553690"/>
                  <a:gd name="connsiteX3" fmla="*/ 290946 w 700644"/>
                  <a:gd name="connsiteY3" fmla="*/ 492827 h 553690"/>
                  <a:gd name="connsiteX4" fmla="*/ 368135 w 700644"/>
                  <a:gd name="connsiteY4" fmla="*/ 492827 h 553690"/>
                  <a:gd name="connsiteX5" fmla="*/ 445325 w 700644"/>
                  <a:gd name="connsiteY5" fmla="*/ 1 h 553690"/>
                  <a:gd name="connsiteX6" fmla="*/ 528452 w 700644"/>
                  <a:gd name="connsiteY6" fmla="*/ 498765 h 553690"/>
                  <a:gd name="connsiteX7" fmla="*/ 623455 w 700644"/>
                  <a:gd name="connsiteY7" fmla="*/ 492827 h 553690"/>
                  <a:gd name="connsiteX8" fmla="*/ 700644 w 700644"/>
                  <a:gd name="connsiteY8" fmla="*/ 504703 h 553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0644" h="553690">
                    <a:moveTo>
                      <a:pt x="0" y="486890"/>
                    </a:moveTo>
                    <a:cubicBezTo>
                      <a:pt x="50965" y="526474"/>
                      <a:pt x="101930" y="566059"/>
                      <a:pt x="136566" y="486890"/>
                    </a:cubicBezTo>
                    <a:cubicBezTo>
                      <a:pt x="171202" y="407721"/>
                      <a:pt x="182088" y="10887"/>
                      <a:pt x="207818" y="11877"/>
                    </a:cubicBezTo>
                    <a:cubicBezTo>
                      <a:pt x="233548" y="12866"/>
                      <a:pt x="264227" y="412669"/>
                      <a:pt x="290946" y="492827"/>
                    </a:cubicBezTo>
                    <a:cubicBezTo>
                      <a:pt x="317665" y="572985"/>
                      <a:pt x="342405" y="574965"/>
                      <a:pt x="368135" y="492827"/>
                    </a:cubicBezTo>
                    <a:cubicBezTo>
                      <a:pt x="393865" y="410689"/>
                      <a:pt x="418606" y="-989"/>
                      <a:pt x="445325" y="1"/>
                    </a:cubicBezTo>
                    <a:cubicBezTo>
                      <a:pt x="472044" y="991"/>
                      <a:pt x="498764" y="416627"/>
                      <a:pt x="528452" y="498765"/>
                    </a:cubicBezTo>
                    <a:cubicBezTo>
                      <a:pt x="558140" y="580903"/>
                      <a:pt x="594756" y="491837"/>
                      <a:pt x="623455" y="492827"/>
                    </a:cubicBezTo>
                    <a:cubicBezTo>
                      <a:pt x="652154" y="493817"/>
                      <a:pt x="676399" y="499260"/>
                      <a:pt x="700644" y="50470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115" name="文字方塊 2">
              <a:extLst>
                <a:ext uri="{FF2B5EF4-FFF2-40B4-BE49-F238E27FC236}">
                  <a16:creationId xmlns:a16="http://schemas.microsoft.com/office/drawing/2014/main" id="{43F1106B-743D-401D-9ECB-1CB34FD534FE}"/>
                </a:ext>
              </a:extLst>
            </p:cNvPr>
            <p:cNvSpPr txBox="1">
              <a:spLocks noChangeArrowheads="1"/>
            </p:cNvSpPr>
            <p:nvPr/>
          </p:nvSpPr>
          <p:spPr bwMode="auto">
            <a:xfrm>
              <a:off x="593429" y="120001"/>
              <a:ext cx="754912" cy="32766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400" b="1" kern="100" dirty="0">
                  <a:effectLst/>
                  <a:latin typeface="標楷體" panose="03000509000000000000" pitchFamily="65" charset="-120"/>
                  <a:ea typeface="新細明體" panose="02020500000000000000" pitchFamily="18" charset="-120"/>
                  <a:cs typeface="Times New Roman" panose="02020603050405020304" pitchFamily="18" charset="0"/>
                </a:rPr>
                <a:t>Mirror1</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116" name="文字方塊 2">
              <a:extLst>
                <a:ext uri="{FF2B5EF4-FFF2-40B4-BE49-F238E27FC236}">
                  <a16:creationId xmlns:a16="http://schemas.microsoft.com/office/drawing/2014/main" id="{8AF804F9-73AF-4825-B290-DA4A5ED596BD}"/>
                </a:ext>
              </a:extLst>
            </p:cNvPr>
            <p:cNvSpPr txBox="1">
              <a:spLocks noChangeArrowheads="1"/>
            </p:cNvSpPr>
            <p:nvPr/>
          </p:nvSpPr>
          <p:spPr bwMode="auto">
            <a:xfrm>
              <a:off x="4462479" y="133196"/>
              <a:ext cx="1063256" cy="328179"/>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400" b="1" kern="100" dirty="0">
                  <a:effectLst/>
                  <a:latin typeface="標楷體" panose="03000509000000000000" pitchFamily="65" charset="-120"/>
                  <a:ea typeface="新細明體" panose="02020500000000000000" pitchFamily="18" charset="-120"/>
                  <a:cs typeface="Times New Roman" panose="02020603050405020304" pitchFamily="18" charset="0"/>
                </a:rPr>
                <a:t>Mirror2</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1202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In this work  :  Electro-optically spectrum selectable APPLN OPOs</a:t>
            </a:r>
            <a:endParaRPr lang="zh-TW" altLang="en-US" sz="2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70B96780-C5C9-41D7-AAA8-C7C06F3B7A9B}"/>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7</a:t>
            </a:fld>
            <a:endParaRPr lang="zh-TW" altLang="en-US" dirty="0"/>
          </a:p>
        </p:txBody>
      </p:sp>
      <p:sp>
        <p:nvSpPr>
          <p:cNvPr id="9" name="矩形 8"/>
          <p:cNvSpPr/>
          <p:nvPr/>
        </p:nvSpPr>
        <p:spPr>
          <a:xfrm>
            <a:off x="2858554" y="1178327"/>
            <a:ext cx="2904321" cy="461665"/>
          </a:xfrm>
          <a:prstGeom prst="rect">
            <a:avLst/>
          </a:prstGeom>
        </p:spPr>
        <p:txBody>
          <a:bodyPr wrap="none">
            <a:spAutoFit/>
          </a:bodyPr>
          <a:lstStyle/>
          <a:p>
            <a:pPr lvl="0">
              <a:lnSpc>
                <a:spcPct val="150000"/>
              </a:lnSpc>
              <a:defRPr/>
            </a:pPr>
            <a:r>
              <a:rPr lang="en-US" altLang="zh-TW" sz="1600" b="1" dirty="0">
                <a:solidFill>
                  <a:prstClr val="white"/>
                </a:solidFill>
                <a:latin typeface="Times New Roman" panose="02020603050405020304" pitchFamily="18" charset="0"/>
                <a:cs typeface="Times New Roman" panose="02020603050405020304" pitchFamily="18" charset="0"/>
              </a:rPr>
              <a:t>Prior works EO –OPO APPLN</a:t>
            </a:r>
            <a:endParaRPr lang="zh-TW" altLang="en-US" sz="1600" b="1" dirty="0">
              <a:solidFill>
                <a:prstClr val="white"/>
              </a:solidFill>
              <a:latin typeface="Times New Roman" panose="02020603050405020304" pitchFamily="18" charset="0"/>
              <a:cs typeface="Times New Roman" panose="02020603050405020304" pitchFamily="18" charset="0"/>
            </a:endParaRPr>
          </a:p>
        </p:txBody>
      </p:sp>
      <p:sp>
        <p:nvSpPr>
          <p:cNvPr id="11" name="矩形 10"/>
          <p:cNvSpPr/>
          <p:nvPr/>
        </p:nvSpPr>
        <p:spPr>
          <a:xfrm>
            <a:off x="5980332" y="1178327"/>
            <a:ext cx="2904321" cy="461665"/>
          </a:xfrm>
          <a:prstGeom prst="rect">
            <a:avLst/>
          </a:prstGeom>
        </p:spPr>
        <p:txBody>
          <a:bodyPr wrap="none">
            <a:spAutoFit/>
          </a:bodyPr>
          <a:lstStyle/>
          <a:p>
            <a:pPr lvl="0">
              <a:lnSpc>
                <a:spcPct val="150000"/>
              </a:lnSpc>
              <a:defRPr/>
            </a:pPr>
            <a:r>
              <a:rPr lang="en-US" altLang="zh-TW" sz="1600" b="1" dirty="0">
                <a:solidFill>
                  <a:prstClr val="white"/>
                </a:solidFill>
                <a:latin typeface="Times New Roman" panose="02020603050405020304" pitchFamily="18" charset="0"/>
                <a:cs typeface="Times New Roman" panose="02020603050405020304" pitchFamily="18" charset="0"/>
              </a:rPr>
              <a:t>Prior works EO –OPO APPLN</a:t>
            </a:r>
            <a:endParaRPr lang="zh-TW" altLang="en-US" sz="1600" b="1" dirty="0">
              <a:solidFill>
                <a:prstClr val="whit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0815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63051"/>
            <a:ext cx="11152166" cy="584775"/>
          </a:xfrm>
          <a:prstGeom prst="rect">
            <a:avLst/>
          </a:prstGeom>
          <a:solidFill>
            <a:srgbClr val="FFFFD8"/>
          </a:solidFill>
          <a:ln w="38100">
            <a:solidFill>
              <a:srgbClr val="8F9DFE"/>
            </a:solidFill>
          </a:ln>
        </p:spPr>
        <p:txBody>
          <a:bodyPr wrap="square" rtlCol="0">
            <a:spAutoFit/>
          </a:bodyPr>
          <a:lstStyle/>
          <a:p>
            <a:pPr algn="ctr"/>
            <a:r>
              <a:rPr lang="en-US" altLang="zh-TW" sz="3200" b="1" dirty="0">
                <a:latin typeface="Times New Roman" panose="02020603050405020304" pitchFamily="18" charset="0"/>
                <a:cs typeface="Times New Roman" panose="02020603050405020304" pitchFamily="18" charset="0"/>
              </a:rPr>
              <a:t>Outline</a:t>
            </a:r>
            <a:endParaRPr lang="zh-TW" altLang="en-US" sz="3200" b="1" dirty="0">
              <a:latin typeface="Times New Roman" panose="02020603050405020304" pitchFamily="18" charset="0"/>
              <a:cs typeface="Times New Roman" panose="02020603050405020304" pitchFamily="18" charset="0"/>
            </a:endParaRPr>
          </a:p>
        </p:txBody>
      </p:sp>
      <p:sp>
        <p:nvSpPr>
          <p:cNvPr id="3" name="矩形 2"/>
          <p:cNvSpPr/>
          <p:nvPr/>
        </p:nvSpPr>
        <p:spPr>
          <a:xfrm>
            <a:off x="554143" y="1452347"/>
            <a:ext cx="6096000" cy="4216539"/>
          </a:xfrm>
          <a:prstGeom prst="rect">
            <a:avLst/>
          </a:prstGeom>
        </p:spPr>
        <p:txBody>
          <a:bodyPr>
            <a:spAutoFit/>
          </a:bodyPr>
          <a:lstStyle/>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Introduction</a:t>
            </a:r>
            <a:endParaRPr lang="en-US" altLang="zh-TW" sz="1400" b="1" dirty="0">
              <a:latin typeface="Times New Roman" panose="02020603050405020304" pitchFamily="18" charset="0"/>
              <a:cs typeface="Times New Roman" panose="02020603050405020304" pitchFamily="18" charset="0"/>
            </a:endParaRPr>
          </a:p>
          <a:p>
            <a:pPr lvl="2">
              <a:lnSpc>
                <a:spcPct val="100000"/>
              </a:lnSpc>
            </a:pPr>
            <a:r>
              <a:rPr lang="en-US" altLang="zh-TW" sz="1400" b="1" dirty="0">
                <a:latin typeface="Times New Roman" panose="02020603050405020304" pitchFamily="18" charset="0"/>
                <a:cs typeface="Times New Roman" panose="02020603050405020304" pitchFamily="18" charset="0"/>
              </a:rPr>
              <a:t>Motivation </a:t>
            </a:r>
          </a:p>
          <a:p>
            <a:pPr lvl="2"/>
            <a:r>
              <a:rPr lang="en-US" altLang="zh-TW" sz="1400" b="1" dirty="0">
                <a:latin typeface="Times New Roman" panose="02020603050405020304" pitchFamily="18" charset="0"/>
                <a:cs typeface="Times New Roman" panose="02020603050405020304" pitchFamily="18" charset="0"/>
              </a:rPr>
              <a:t>Electro-optically spectrum tailorable APPLN IOPOs</a:t>
            </a:r>
          </a:p>
          <a:p>
            <a:pPr marL="571500" indent="-571500">
              <a:lnSpc>
                <a:spcPct val="100000"/>
              </a:lnSpc>
              <a:buAutoNum type="romanUcPeriod"/>
            </a:pPr>
            <a:r>
              <a:rPr lang="en-US" altLang="zh-TW" sz="2000" b="1" dirty="0">
                <a:solidFill>
                  <a:srgbClr val="FF0000"/>
                </a:solidFill>
                <a:latin typeface="Times New Roman" panose="02020603050405020304" pitchFamily="18" charset="0"/>
                <a:cs typeface="Times New Roman" panose="02020603050405020304" pitchFamily="18" charset="0"/>
              </a:rPr>
              <a:t>Working principles</a:t>
            </a:r>
          </a:p>
          <a:p>
            <a:pPr lvl="2">
              <a:lnSpc>
                <a:spcPct val="100000"/>
              </a:lnSpc>
            </a:pPr>
            <a:r>
              <a:rPr lang="en-US" altLang="zh-TW" sz="1400" b="1" dirty="0">
                <a:solidFill>
                  <a:srgbClr val="FF0000"/>
                </a:solidFill>
                <a:latin typeface="Times New Roman" panose="02020603050405020304" pitchFamily="18" charset="0"/>
                <a:cs typeface="Times New Roman" panose="02020603050405020304" pitchFamily="18" charset="0"/>
              </a:rPr>
              <a:t>Electro-Optic Polarization Mode Converters</a:t>
            </a:r>
            <a:r>
              <a:rPr lang="zh-TW" altLang="en-US" sz="1400" b="1" dirty="0">
                <a:solidFill>
                  <a:srgbClr val="FF0000"/>
                </a:solidFill>
                <a:latin typeface="Times New Roman" panose="02020603050405020304" pitchFamily="18" charset="0"/>
                <a:cs typeface="Times New Roman" panose="02020603050405020304" pitchFamily="18" charset="0"/>
              </a:rPr>
              <a:t> </a:t>
            </a:r>
            <a:endParaRPr lang="en-US" altLang="zh-TW" sz="1400" b="1" dirty="0">
              <a:solidFill>
                <a:srgbClr val="FF0000"/>
              </a:solidFill>
              <a:latin typeface="Times New Roman" panose="02020603050405020304" pitchFamily="18" charset="0"/>
              <a:cs typeface="Times New Roman" panose="02020603050405020304" pitchFamily="18" charset="0"/>
            </a:endParaRPr>
          </a:p>
          <a:p>
            <a:pPr lvl="2">
              <a:lnSpc>
                <a:spcPct val="100000"/>
              </a:lnSpc>
            </a:pPr>
            <a:r>
              <a:rPr lang="en-US" altLang="zh-TW" sz="1400" b="1" dirty="0">
                <a:solidFill>
                  <a:srgbClr val="FF0000"/>
                </a:solidFill>
                <a:latin typeface="Times New Roman" panose="02020603050405020304" pitchFamily="18" charset="0"/>
                <a:cs typeface="Times New Roman" panose="02020603050405020304" pitchFamily="18" charset="0"/>
              </a:rPr>
              <a:t>Optical Parametric Oscillators</a:t>
            </a:r>
          </a:p>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Design and Fabrication</a:t>
            </a:r>
          </a:p>
          <a:p>
            <a:pPr lvl="2"/>
            <a:r>
              <a:rPr lang="en-US" altLang="zh-TW" sz="1400" b="1" dirty="0">
                <a:latin typeface="Times New Roman" panose="02020603050405020304" pitchFamily="18" charset="0"/>
                <a:cs typeface="Times New Roman" panose="02020603050405020304" pitchFamily="18" charset="0"/>
              </a:rPr>
              <a:t>Simulated Annealing Method</a:t>
            </a:r>
          </a:p>
          <a:p>
            <a:pPr lvl="2"/>
            <a:r>
              <a:rPr lang="en-US" altLang="zh-TW" sz="1400" b="1" dirty="0" err="1">
                <a:latin typeface="Times New Roman" panose="02020603050405020304" pitchFamily="18" charset="0"/>
                <a:cs typeface="Times New Roman" panose="02020603050405020304" pitchFamily="18" charset="0"/>
              </a:rPr>
              <a:t>Mutil</a:t>
            </a:r>
            <a:r>
              <a:rPr lang="en-US" altLang="zh-TW" sz="1400" b="1" dirty="0">
                <a:latin typeface="Times New Roman" panose="02020603050405020304" pitchFamily="18" charset="0"/>
                <a:cs typeface="Times New Roman" panose="02020603050405020304" pitchFamily="18" charset="0"/>
              </a:rPr>
              <a:t>-line OPO design</a:t>
            </a:r>
          </a:p>
          <a:p>
            <a:pPr lvl="2"/>
            <a:r>
              <a:rPr lang="en-US" altLang="zh-TW" sz="1400" b="1" dirty="0" err="1">
                <a:latin typeface="Times New Roman" panose="02020603050405020304" pitchFamily="18" charset="0"/>
                <a:cs typeface="Times New Roman" panose="02020603050405020304" pitchFamily="18" charset="0"/>
              </a:rPr>
              <a:t>Mutil</a:t>
            </a:r>
            <a:r>
              <a:rPr lang="en-US" altLang="zh-TW" sz="1400" b="1" dirty="0">
                <a:latin typeface="Times New Roman" panose="02020603050405020304" pitchFamily="18" charset="0"/>
                <a:cs typeface="Times New Roman" panose="02020603050405020304" pitchFamily="18" charset="0"/>
              </a:rPr>
              <a:t>-line EO PMC design</a:t>
            </a:r>
            <a:endParaRPr lang="en-US" altLang="zh-TW" sz="2000" b="1" dirty="0">
              <a:latin typeface="Times New Roman" panose="02020603050405020304" pitchFamily="18" charset="0"/>
              <a:cs typeface="Times New Roman" panose="02020603050405020304" pitchFamily="18" charset="0"/>
            </a:endParaRPr>
          </a:p>
          <a:p>
            <a:pPr lvl="2">
              <a:lnSpc>
                <a:spcPct val="100000"/>
              </a:lnSpc>
            </a:pPr>
            <a:r>
              <a:rPr lang="en-US" altLang="zh-TW" sz="1400" b="1" dirty="0">
                <a:latin typeface="Times New Roman" panose="02020603050405020304" pitchFamily="18" charset="0"/>
                <a:cs typeface="Times New Roman" panose="02020603050405020304" pitchFamily="18" charset="0"/>
              </a:rPr>
              <a:t>Fabrication process</a:t>
            </a:r>
            <a:endParaRPr lang="en-US" altLang="zh-TW" sz="1400" dirty="0">
              <a:latin typeface="Times New Roman" panose="02020603050405020304" pitchFamily="18" charset="0"/>
              <a:cs typeface="Times New Roman" panose="02020603050405020304" pitchFamily="18" charset="0"/>
            </a:endParaRP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Experimental Results and Analysis </a:t>
            </a:r>
          </a:p>
          <a:p>
            <a:pPr lvl="2"/>
            <a:r>
              <a:rPr lang="en-US" altLang="zh-TW" sz="1400" b="1" dirty="0">
                <a:latin typeface="Times New Roman" panose="02020603050405020304" pitchFamily="18" charset="0"/>
                <a:cs typeface="Times New Roman" panose="02020603050405020304" pitchFamily="18" charset="0"/>
              </a:rPr>
              <a:t>EO PMC Experimental set-up</a:t>
            </a:r>
          </a:p>
          <a:p>
            <a:pPr lvl="2"/>
            <a:r>
              <a:rPr lang="en-US" altLang="zh-TW" sz="1400" b="1" dirty="0">
                <a:latin typeface="Times New Roman" pitchFamily="18" charset="0"/>
              </a:rPr>
              <a:t>Measurement Results I</a:t>
            </a:r>
          </a:p>
          <a:p>
            <a:pPr lvl="2"/>
            <a:r>
              <a:rPr lang="en-US" altLang="zh-TW" sz="1400" b="1" dirty="0">
                <a:latin typeface="Times New Roman" panose="02020603050405020304" pitchFamily="18" charset="0"/>
                <a:cs typeface="Times New Roman" panose="02020603050405020304" pitchFamily="18" charset="0"/>
              </a:rPr>
              <a:t>EO OPO APPLN Experimental set-up</a:t>
            </a:r>
          </a:p>
          <a:p>
            <a:pPr lvl="2"/>
            <a:r>
              <a:rPr lang="en-US" altLang="zh-TW" sz="1400" b="1" dirty="0">
                <a:latin typeface="Times New Roman" panose="02020603050405020304" pitchFamily="18" charset="0"/>
                <a:cs typeface="Times New Roman" panose="02020603050405020304" pitchFamily="18" charset="0"/>
              </a:rPr>
              <a:t>Measurement Results II</a:t>
            </a:r>
          </a:p>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Conclusions and future work</a:t>
            </a:r>
            <a:endParaRPr lang="zh-TW" altLang="en-US" sz="2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A52E435-1973-4E96-B2FF-A8951FBF242E}"/>
              </a:ext>
            </a:extLst>
          </p:cNvPr>
          <p:cNvSpPr>
            <a:spLocks noGrp="1"/>
          </p:cNvSpPr>
          <p:nvPr>
            <p:ph type="sldNum" sz="quarter" idx="12"/>
          </p:nvPr>
        </p:nvSpPr>
        <p:spPr/>
        <p:txBody>
          <a:bodyPr/>
          <a:lstStyle/>
          <a:p>
            <a:fld id="{29723A01-8C65-4E4C-95BB-6D96843E9278}" type="slidenum">
              <a:rPr lang="zh-TW" altLang="en-US" smtClean="0"/>
              <a:t>8</a:t>
            </a:fld>
            <a:endParaRPr lang="zh-TW" altLang="en-US"/>
          </a:p>
        </p:txBody>
      </p:sp>
      <p:pic>
        <p:nvPicPr>
          <p:cNvPr id="7" name="圖片 6">
            <a:extLst>
              <a:ext uri="{FF2B5EF4-FFF2-40B4-BE49-F238E27FC236}">
                <a16:creationId xmlns:a16="http://schemas.microsoft.com/office/drawing/2014/main" id="{9652B326-C213-47EC-807A-00D14A669B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5133" y="1452347"/>
            <a:ext cx="5688131" cy="4264174"/>
          </a:xfrm>
          <a:prstGeom prst="rect">
            <a:avLst/>
          </a:prstGeom>
        </p:spPr>
      </p:pic>
    </p:spTree>
    <p:extLst>
      <p:ext uri="{BB962C8B-B14F-4D97-AF65-F5344CB8AC3E}">
        <p14:creationId xmlns:p14="http://schemas.microsoft.com/office/powerpoint/2010/main" val="24520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a:bodyPr>
          <a:lstStyle/>
          <a:p>
            <a:pPr algn="ctr"/>
            <a:r>
              <a:rPr lang="en-US" altLang="zh-TW" sz="3200" b="1" dirty="0">
                <a:latin typeface="Times New Roman" panose="02020603050405020304" pitchFamily="18" charset="0"/>
                <a:cs typeface="Times New Roman" panose="02020603050405020304" pitchFamily="18" charset="0"/>
              </a:rPr>
              <a:t>Working Principles</a:t>
            </a:r>
            <a:endParaRPr lang="zh-TW" altLang="en-US" sz="3200"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43" name="文字方塊 42">
            <a:extLst>
              <a:ext uri="{FF2B5EF4-FFF2-40B4-BE49-F238E27FC236}">
                <a16:creationId xmlns:a16="http://schemas.microsoft.com/office/drawing/2014/main" id="{BB959912-40E5-4DEB-94E6-41FC5DA2381D}"/>
              </a:ext>
            </a:extLst>
          </p:cNvPr>
          <p:cNvSpPr txBox="1"/>
          <p:nvPr/>
        </p:nvSpPr>
        <p:spPr>
          <a:xfrm>
            <a:off x="1614035" y="880788"/>
            <a:ext cx="8963929" cy="461665"/>
          </a:xfrm>
          <a:prstGeom prst="rect">
            <a:avLst/>
          </a:prstGeom>
          <a:solidFill>
            <a:srgbClr val="FFFFD8"/>
          </a:solidFill>
          <a:ln w="38100">
            <a:solidFill>
              <a:srgbClr val="8F9DFE"/>
            </a:solidFill>
          </a:ln>
        </p:spPr>
        <p:txBody>
          <a:bodyPr wrap="square" rtlCol="0">
            <a:spAutoFit/>
          </a:bodyPr>
          <a:lstStyle/>
          <a:p>
            <a:pPr lvl="2">
              <a:lnSpc>
                <a:spcPct val="100000"/>
              </a:lnSpc>
            </a:pPr>
            <a:r>
              <a:rPr lang="en-US" altLang="zh-TW" sz="2400" b="1" dirty="0">
                <a:latin typeface="Times New Roman" panose="02020603050405020304" pitchFamily="18" charset="0"/>
                <a:cs typeface="Times New Roman" panose="02020603050405020304" pitchFamily="18" charset="0"/>
              </a:rPr>
              <a:t>Electro-Optic Polarization Mode Converters</a:t>
            </a:r>
            <a:r>
              <a:rPr lang="zh-TW" altLang="en-US" sz="2400" b="1" dirty="0">
                <a:latin typeface="Times New Roman" panose="02020603050405020304" pitchFamily="18" charset="0"/>
                <a:cs typeface="Times New Roman" panose="02020603050405020304" pitchFamily="18" charset="0"/>
              </a:rPr>
              <a:t> </a:t>
            </a:r>
            <a:r>
              <a:rPr lang="en-US" altLang="zh-TW" sz="2400" b="1" dirty="0">
                <a:latin typeface="Times New Roman" panose="02020603050405020304" pitchFamily="18" charset="0"/>
                <a:cs typeface="Times New Roman" panose="02020603050405020304" pitchFamily="18" charset="0"/>
              </a:rPr>
              <a:t>(EO PMC)</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F0A857CD-1DE9-4387-9D09-595A41AFA963}"/>
                  </a:ext>
                </a:extLst>
              </p:cNvPr>
              <p:cNvSpPr/>
              <p:nvPr/>
            </p:nvSpPr>
            <p:spPr>
              <a:xfrm>
                <a:off x="807901" y="1537104"/>
                <a:ext cx="374936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TW" altLang="en-US" i="1" smtClean="0">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𝑃</m:t>
                              </m:r>
                            </m:e>
                            <m:sub>
                              <m:r>
                                <a:rPr lang="zh-TW" altLang="en-US" i="1">
                                  <a:latin typeface="Cambria Math" panose="02040503050406030204" pitchFamily="18" charset="0"/>
                                </a:rPr>
                                <m:t>𝑥</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𝜀</m:t>
                              </m:r>
                            </m:e>
                            <m:sub>
                              <m:r>
                                <a:rPr lang="zh-TW" altLang="en-US" i="0">
                                  <a:latin typeface="Cambria Math" panose="02040503050406030204" pitchFamily="18" charset="0"/>
                                </a:rPr>
                                <m:t>0</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𝜒</m:t>
                              </m:r>
                            </m:e>
                            <m:sub>
                              <m:r>
                                <a:rPr lang="zh-TW" altLang="en-US" i="0">
                                  <a:latin typeface="Cambria Math" panose="02040503050406030204" pitchFamily="18" charset="0"/>
                                </a:rPr>
                                <m:t>1</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𝑥</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𝜒</m:t>
                              </m:r>
                            </m:e>
                            <m:sub>
                              <m:r>
                                <a:rPr lang="zh-TW" altLang="en-US" i="0">
                                  <a:latin typeface="Cambria Math" panose="02040503050406030204" pitchFamily="18" charset="0"/>
                                </a:rPr>
                                <m:t>2</m:t>
                              </m:r>
                            </m:sub>
                          </m:sSub>
                          <m:sSub>
                            <m:sSubPr>
                              <m:ctrlPr>
                                <a:rPr lang="zh-TW" altLang="en-US" i="1">
                                  <a:latin typeface="Cambria Math" panose="02040503050406030204" pitchFamily="18" charset="0"/>
                                </a:rPr>
                              </m:ctrlPr>
                            </m:sSubPr>
                            <m:e>
                              <m:sSup>
                                <m:sSupPr>
                                  <m:ctrlPr>
                                    <a:rPr lang="zh-TW" altLang="en-US" i="1">
                                      <a:latin typeface="Cambria Math" panose="02040503050406030204" pitchFamily="18" charset="0"/>
                                    </a:rPr>
                                  </m:ctrlPr>
                                </m:sSupPr>
                                <m:e>
                                  <m:r>
                                    <a:rPr lang="zh-TW" altLang="en-US" i="1">
                                      <a:latin typeface="Cambria Math" panose="02040503050406030204" pitchFamily="18" charset="0"/>
                                    </a:rPr>
                                    <m:t>𝐸</m:t>
                                  </m:r>
                                </m:e>
                                <m:sup>
                                  <m:r>
                                    <a:rPr lang="zh-TW" altLang="en-US" i="0">
                                      <a:latin typeface="Cambria Math" panose="02040503050406030204" pitchFamily="18" charset="0"/>
                                    </a:rPr>
                                    <m:t>2</m:t>
                                  </m:r>
                                </m:sup>
                              </m:sSup>
                            </m:e>
                            <m:sub>
                              <m:r>
                                <a:rPr lang="zh-TW" altLang="en-US" i="1">
                                  <a:latin typeface="Cambria Math" panose="02040503050406030204" pitchFamily="18" charset="0"/>
                                </a:rPr>
                                <m:t>𝑥</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𝜒</m:t>
                              </m:r>
                            </m:e>
                            <m:sub>
                              <m:r>
                                <a:rPr lang="zh-TW" altLang="en-US" i="0">
                                  <a:latin typeface="Cambria Math" panose="02040503050406030204" pitchFamily="18" charset="0"/>
                                </a:rPr>
                                <m:t>3</m:t>
                              </m:r>
                            </m:sub>
                          </m:sSub>
                          <m:sSub>
                            <m:sSubPr>
                              <m:ctrlPr>
                                <a:rPr lang="zh-TW" altLang="en-US" i="1">
                                  <a:latin typeface="Cambria Math" panose="02040503050406030204" pitchFamily="18" charset="0"/>
                                </a:rPr>
                              </m:ctrlPr>
                            </m:sSubPr>
                            <m:e>
                              <m:sSup>
                                <m:sSupPr>
                                  <m:ctrlPr>
                                    <a:rPr lang="zh-TW" altLang="en-US" i="1">
                                      <a:latin typeface="Cambria Math" panose="02040503050406030204" pitchFamily="18" charset="0"/>
                                    </a:rPr>
                                  </m:ctrlPr>
                                </m:sSupPr>
                                <m:e>
                                  <m:r>
                                    <a:rPr lang="zh-TW" altLang="en-US" i="1">
                                      <a:latin typeface="Cambria Math" panose="02040503050406030204" pitchFamily="18" charset="0"/>
                                    </a:rPr>
                                    <m:t>𝐸</m:t>
                                  </m:r>
                                </m:e>
                                <m:sup>
                                  <m:r>
                                    <a:rPr lang="zh-TW" altLang="en-US" i="0">
                                      <a:latin typeface="Cambria Math" panose="02040503050406030204" pitchFamily="18" charset="0"/>
                                    </a:rPr>
                                    <m:t>3</m:t>
                                  </m:r>
                                </m:sup>
                              </m:sSup>
                            </m:e>
                            <m:sub>
                              <m:r>
                                <a:rPr lang="zh-TW" altLang="en-US" i="1">
                                  <a:latin typeface="Cambria Math" panose="02040503050406030204" pitchFamily="18" charset="0"/>
                                </a:rPr>
                                <m:t>𝑥</m:t>
                              </m:r>
                            </m:sub>
                          </m:sSub>
                          <m:r>
                            <a:rPr lang="zh-TW" altLang="en-US" i="0">
                              <a:latin typeface="Cambria Math" panose="02040503050406030204" pitchFamily="18" charset="0"/>
                            </a:rPr>
                            <m:t>+..</m:t>
                          </m:r>
                        </m:e>
                      </m:d>
                    </m:oMath>
                  </m:oMathPara>
                </a14:m>
                <a:endParaRPr lang="zh-TW" altLang="en-US" dirty="0"/>
              </a:p>
            </p:txBody>
          </p:sp>
        </mc:Choice>
        <mc:Fallback xmlns="">
          <p:sp>
            <p:nvSpPr>
              <p:cNvPr id="6" name="矩形 5">
                <a:extLst>
                  <a:ext uri="{FF2B5EF4-FFF2-40B4-BE49-F238E27FC236}">
                    <a16:creationId xmlns:a16="http://schemas.microsoft.com/office/drawing/2014/main" id="{F0A857CD-1DE9-4387-9D09-595A41AFA963}"/>
                  </a:ext>
                </a:extLst>
              </p:cNvPr>
              <p:cNvSpPr>
                <a:spLocks noRot="1" noChangeAspect="1" noMove="1" noResize="1" noEditPoints="1" noAdjustHandles="1" noChangeArrowheads="1" noChangeShapeType="1" noTextEdit="1"/>
              </p:cNvSpPr>
              <p:nvPr/>
            </p:nvSpPr>
            <p:spPr>
              <a:xfrm>
                <a:off x="807901" y="1537104"/>
                <a:ext cx="3749360" cy="369332"/>
              </a:xfrm>
              <a:prstGeom prst="rect">
                <a:avLst/>
              </a:prstGeom>
              <a:blipFill>
                <a:blip r:embed="rId3"/>
                <a:stretch>
                  <a:fillRect t="-119672" r="-13008" b="-1836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75E66BC-4541-4644-82AC-B1628AB97203}"/>
                  </a:ext>
                </a:extLst>
              </p:cNvPr>
              <p:cNvSpPr/>
              <p:nvPr/>
            </p:nvSpPr>
            <p:spPr>
              <a:xfrm>
                <a:off x="807901" y="2081680"/>
                <a:ext cx="4200124" cy="989373"/>
              </a:xfrm>
              <a:prstGeom prst="rect">
                <a:avLst/>
              </a:prstGeom>
            </p:spPr>
            <p:txBody>
              <a:bodyPr wrap="none">
                <a:spAutoFit/>
              </a:bodyPr>
              <a:lstStyle/>
              <a:p>
                <a:r>
                  <a:rPr lang="zh-TW" altLang="zh-TW" dirty="0">
                    <a:ea typeface="標楷體" panose="03000509000000000000" pitchFamily="65" charset="-120"/>
                    <a:cs typeface="Times New Roman" panose="02020603050405020304" pitchFamily="18" charset="0"/>
                  </a:rPr>
                  <a:t>ε</a:t>
                </a:r>
                <a:r>
                  <a:rPr lang="en-US" altLang="zh-TW" dirty="0">
                    <a:ea typeface="標楷體" panose="03000509000000000000" pitchFamily="65" charset="-120"/>
                    <a:cs typeface="Times New Roman" panose="02020603050405020304" pitchFamily="18" charset="0"/>
                  </a:rPr>
                  <a:t>=</a:t>
                </a:r>
                <a14:m>
                  <m:oMath xmlns:m="http://schemas.openxmlformats.org/officeDocument/2006/math">
                    <m:d>
                      <m:dPr>
                        <m:ctrlPr>
                          <a:rPr lang="zh-TW" altLang="zh-TW" i="1">
                            <a:effectLst/>
                            <a:latin typeface="Cambria Math" panose="02040503050406030204" pitchFamily="18" charset="0"/>
                            <a:ea typeface="Cambria Math" panose="02040503050406030204" pitchFamily="18" charset="0"/>
                          </a:rPr>
                        </m:ctrlPr>
                      </m:dPr>
                      <m:e>
                        <m:m>
                          <m:mPr>
                            <m:mcs>
                              <m:mc>
                                <m:mcPr>
                                  <m:count m:val="3"/>
                                  <m:mcJc m:val="center"/>
                                </m:mcPr>
                              </m:mc>
                            </m:mcs>
                            <m:ctrlPr>
                              <a:rPr lang="zh-TW" altLang="zh-TW" i="1">
                                <a:effectLst/>
                                <a:latin typeface="Cambria Math" panose="02040503050406030204" pitchFamily="18" charset="0"/>
                                <a:ea typeface="Cambria Math" panose="02040503050406030204" pitchFamily="18" charset="0"/>
                              </a:rPr>
                            </m:ctrlPr>
                          </m:mPr>
                          <m:mr>
                            <m:e>
                              <m:sSub>
                                <m:sSubPr>
                                  <m:ctrlPr>
                                    <a:rPr lang="zh-TW" altLang="zh-TW" i="1">
                                      <a:effectLst/>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𝜀</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𝑥</m:t>
                                  </m:r>
                                </m:sub>
                              </m:sSub>
                            </m:e>
                            <m:e>
                              <m:r>
                                <a:rPr lang="en-US" altLang="zh-TW" i="1">
                                  <a:latin typeface="Cambria Math" panose="02040503050406030204" pitchFamily="18" charset="0"/>
                                  <a:ea typeface="標楷體" panose="03000509000000000000" pitchFamily="65" charset="-120"/>
                                  <a:cs typeface="Times New Roman" panose="02020603050405020304" pitchFamily="18" charset="0"/>
                                </a:rPr>
                                <m:t>0</m:t>
                              </m:r>
                            </m:e>
                            <m:e>
                              <m:r>
                                <a:rPr lang="en-US" altLang="zh-TW" i="1">
                                  <a:latin typeface="Cambria Math" panose="02040503050406030204" pitchFamily="18" charset="0"/>
                                  <a:ea typeface="標楷體" panose="03000509000000000000" pitchFamily="65" charset="-120"/>
                                  <a:cs typeface="Times New Roman" panose="02020603050405020304" pitchFamily="18" charset="0"/>
                                </a:rPr>
                                <m:t>0</m:t>
                              </m:r>
                            </m:e>
                          </m:mr>
                          <m:mr>
                            <m:e>
                              <m:r>
                                <a:rPr lang="en-US" altLang="zh-TW" i="1">
                                  <a:latin typeface="Cambria Math" panose="02040503050406030204" pitchFamily="18" charset="0"/>
                                  <a:ea typeface="標楷體" panose="03000509000000000000" pitchFamily="65" charset="-120"/>
                                  <a:cs typeface="Times New Roman" panose="02020603050405020304" pitchFamily="18" charset="0"/>
                                </a:rPr>
                                <m:t>0</m:t>
                              </m:r>
                            </m:e>
                            <m:e>
                              <m:sSub>
                                <m:sSubPr>
                                  <m:ctrlPr>
                                    <a:rPr lang="zh-TW" altLang="zh-TW" i="1">
                                      <a:effectLst/>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𝜀</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𝑦</m:t>
                                  </m:r>
                                </m:sub>
                              </m:sSub>
                            </m:e>
                            <m:e>
                              <m:r>
                                <a:rPr lang="en-US" altLang="zh-TW" i="1">
                                  <a:latin typeface="Cambria Math" panose="02040503050406030204" pitchFamily="18" charset="0"/>
                                  <a:ea typeface="標楷體" panose="03000509000000000000" pitchFamily="65" charset="-120"/>
                                  <a:cs typeface="Times New Roman" panose="02020603050405020304" pitchFamily="18" charset="0"/>
                                </a:rPr>
                                <m:t>0</m:t>
                              </m:r>
                            </m:e>
                          </m:mr>
                          <m:mr>
                            <m:e>
                              <m:r>
                                <a:rPr lang="en-US" altLang="zh-TW" i="1">
                                  <a:latin typeface="Cambria Math" panose="02040503050406030204" pitchFamily="18" charset="0"/>
                                  <a:ea typeface="標楷體" panose="03000509000000000000" pitchFamily="65" charset="-120"/>
                                  <a:cs typeface="Times New Roman" panose="02020603050405020304" pitchFamily="18" charset="0"/>
                                </a:rPr>
                                <m:t>0</m:t>
                              </m:r>
                            </m:e>
                            <m:e>
                              <m:r>
                                <a:rPr lang="en-US" altLang="zh-TW" i="1">
                                  <a:latin typeface="Cambria Math" panose="02040503050406030204" pitchFamily="18" charset="0"/>
                                  <a:ea typeface="標楷體" panose="03000509000000000000" pitchFamily="65" charset="-120"/>
                                  <a:cs typeface="Times New Roman" panose="02020603050405020304" pitchFamily="18" charset="0"/>
                                </a:rPr>
                                <m:t>0</m:t>
                              </m:r>
                            </m:e>
                            <m:e>
                              <m:sSub>
                                <m:sSubPr>
                                  <m:ctrlPr>
                                    <a:rPr lang="zh-TW" altLang="zh-TW" i="1">
                                      <a:effectLst/>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𝜀</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𝑧</m:t>
                                  </m:r>
                                </m:sub>
                              </m:sSub>
                            </m:e>
                          </m:mr>
                        </m:m>
                      </m:e>
                    </m:d>
                    <m:r>
                      <a:rPr lang="en-US" altLang="zh-TW"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i="1">
                            <a:effectLst/>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𝜀</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0</m:t>
                        </m:r>
                      </m:sub>
                    </m:sSub>
                    <m:d>
                      <m:dPr>
                        <m:ctrlPr>
                          <a:rPr lang="zh-TW" altLang="zh-TW" i="1">
                            <a:effectLst/>
                            <a:latin typeface="Cambria Math" panose="02040503050406030204" pitchFamily="18" charset="0"/>
                            <a:ea typeface="Cambria Math" panose="02040503050406030204" pitchFamily="18" charset="0"/>
                          </a:rPr>
                        </m:ctrlPr>
                      </m:dPr>
                      <m:e>
                        <m:m>
                          <m:mPr>
                            <m:mcs>
                              <m:mc>
                                <m:mcPr>
                                  <m:count m:val="3"/>
                                  <m:mcJc m:val="center"/>
                                </m:mcPr>
                              </m:mc>
                            </m:mcs>
                            <m:ctrlPr>
                              <a:rPr lang="zh-TW" altLang="zh-TW" i="1">
                                <a:effectLst/>
                                <a:latin typeface="Cambria Math" panose="02040503050406030204" pitchFamily="18" charset="0"/>
                                <a:ea typeface="Cambria Math" panose="02040503050406030204" pitchFamily="18" charset="0"/>
                              </a:rPr>
                            </m:ctrlPr>
                          </m:mPr>
                          <m:mr>
                            <m:e>
                              <m:sSub>
                                <m:sSubPr>
                                  <m:ctrlPr>
                                    <a:rPr lang="zh-TW" altLang="zh-TW" i="1">
                                      <a:effectLst/>
                                      <a:latin typeface="Cambria Math" panose="02040503050406030204" pitchFamily="18" charset="0"/>
                                      <a:ea typeface="Cambria Math" panose="02040503050406030204" pitchFamily="18" charset="0"/>
                                    </a:rPr>
                                  </m:ctrlPr>
                                </m:sSubPr>
                                <m:e>
                                  <m:sSup>
                                    <m:sSupPr>
                                      <m:ctrlPr>
                                        <a:rPr lang="zh-TW" altLang="zh-TW" i="1">
                                          <a:effectLst/>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標楷體" panose="03000509000000000000" pitchFamily="65" charset="-120"/>
                                          <a:cs typeface="Times New Roman" panose="02020603050405020304" pitchFamily="18" charset="0"/>
                                        </a:rPr>
                                        <m:t>𝑛</m:t>
                                      </m:r>
                                    </m:e>
                                    <m:sup>
                                      <m:r>
                                        <a:rPr lang="en-US" altLang="zh-TW" i="1">
                                          <a:latin typeface="Cambria Math" panose="02040503050406030204" pitchFamily="18" charset="0"/>
                                          <a:ea typeface="標楷體" panose="03000509000000000000" pitchFamily="65" charset="-120"/>
                                          <a:cs typeface="Times New Roman" panose="02020603050405020304" pitchFamily="18" charset="0"/>
                                        </a:rPr>
                                        <m:t>2</m:t>
                                      </m:r>
                                    </m:sup>
                                  </m:sSup>
                                </m:e>
                                <m:sub>
                                  <m:r>
                                    <a:rPr lang="en-US" altLang="zh-TW" i="1">
                                      <a:latin typeface="Cambria Math" panose="02040503050406030204" pitchFamily="18" charset="0"/>
                                      <a:ea typeface="標楷體" panose="03000509000000000000" pitchFamily="65" charset="-120"/>
                                      <a:cs typeface="Times New Roman" panose="02020603050405020304" pitchFamily="18" charset="0"/>
                                    </a:rPr>
                                    <m:t>1</m:t>
                                  </m:r>
                                </m:sub>
                              </m:sSub>
                            </m:e>
                            <m:e>
                              <m:r>
                                <a:rPr lang="en-US" altLang="zh-TW" i="1">
                                  <a:latin typeface="Cambria Math" panose="02040503050406030204" pitchFamily="18" charset="0"/>
                                  <a:ea typeface="標楷體" panose="03000509000000000000" pitchFamily="65" charset="-120"/>
                                  <a:cs typeface="Times New Roman" panose="02020603050405020304" pitchFamily="18" charset="0"/>
                                </a:rPr>
                                <m:t>0</m:t>
                              </m:r>
                            </m:e>
                            <m:e>
                              <m:r>
                                <a:rPr lang="en-US" altLang="zh-TW" i="1">
                                  <a:latin typeface="Cambria Math" panose="02040503050406030204" pitchFamily="18" charset="0"/>
                                  <a:ea typeface="標楷體" panose="03000509000000000000" pitchFamily="65" charset="-120"/>
                                  <a:cs typeface="Times New Roman" panose="02020603050405020304" pitchFamily="18" charset="0"/>
                                </a:rPr>
                                <m:t>0</m:t>
                              </m:r>
                            </m:e>
                          </m:mr>
                          <m:mr>
                            <m:e>
                              <m:r>
                                <a:rPr lang="en-US" altLang="zh-TW" i="1">
                                  <a:latin typeface="Cambria Math" panose="02040503050406030204" pitchFamily="18" charset="0"/>
                                  <a:ea typeface="標楷體" panose="03000509000000000000" pitchFamily="65" charset="-120"/>
                                  <a:cs typeface="Times New Roman" panose="02020603050405020304" pitchFamily="18" charset="0"/>
                                </a:rPr>
                                <m:t>0</m:t>
                              </m:r>
                            </m:e>
                            <m:e>
                              <m:sSub>
                                <m:sSubPr>
                                  <m:ctrlPr>
                                    <a:rPr lang="zh-TW" altLang="zh-TW" i="1">
                                      <a:effectLst/>
                                      <a:latin typeface="Cambria Math" panose="02040503050406030204" pitchFamily="18" charset="0"/>
                                      <a:ea typeface="Cambria Math" panose="02040503050406030204" pitchFamily="18" charset="0"/>
                                    </a:rPr>
                                  </m:ctrlPr>
                                </m:sSubPr>
                                <m:e>
                                  <m:sSup>
                                    <m:sSupPr>
                                      <m:ctrlPr>
                                        <a:rPr lang="zh-TW" altLang="zh-TW" i="1">
                                          <a:effectLst/>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標楷體" panose="03000509000000000000" pitchFamily="65" charset="-120"/>
                                          <a:cs typeface="Times New Roman" panose="02020603050405020304" pitchFamily="18" charset="0"/>
                                        </a:rPr>
                                        <m:t>𝑛</m:t>
                                      </m:r>
                                    </m:e>
                                    <m:sup>
                                      <m:r>
                                        <a:rPr lang="en-US" altLang="zh-TW" i="1">
                                          <a:latin typeface="Cambria Math" panose="02040503050406030204" pitchFamily="18" charset="0"/>
                                          <a:ea typeface="標楷體" panose="03000509000000000000" pitchFamily="65" charset="-120"/>
                                          <a:cs typeface="Times New Roman" panose="02020603050405020304" pitchFamily="18" charset="0"/>
                                        </a:rPr>
                                        <m:t>2</m:t>
                                      </m:r>
                                    </m:sup>
                                  </m:sSup>
                                </m:e>
                                <m:sub>
                                  <m:r>
                                    <a:rPr lang="en-US" altLang="zh-TW" i="1">
                                      <a:latin typeface="Cambria Math" panose="02040503050406030204" pitchFamily="18" charset="0"/>
                                      <a:ea typeface="標楷體" panose="03000509000000000000" pitchFamily="65" charset="-120"/>
                                      <a:cs typeface="Times New Roman" panose="02020603050405020304" pitchFamily="18" charset="0"/>
                                    </a:rPr>
                                    <m:t>2</m:t>
                                  </m:r>
                                </m:sub>
                              </m:sSub>
                            </m:e>
                            <m:e>
                              <m:r>
                                <a:rPr lang="en-US" altLang="zh-TW" i="1">
                                  <a:latin typeface="Cambria Math" panose="02040503050406030204" pitchFamily="18" charset="0"/>
                                  <a:ea typeface="標楷體" panose="03000509000000000000" pitchFamily="65" charset="-120"/>
                                  <a:cs typeface="Times New Roman" panose="02020603050405020304" pitchFamily="18" charset="0"/>
                                </a:rPr>
                                <m:t>0</m:t>
                              </m:r>
                            </m:e>
                          </m:mr>
                          <m:mr>
                            <m:e>
                              <m:r>
                                <a:rPr lang="en-US" altLang="zh-TW" i="1">
                                  <a:latin typeface="Cambria Math" panose="02040503050406030204" pitchFamily="18" charset="0"/>
                                  <a:ea typeface="標楷體" panose="03000509000000000000" pitchFamily="65" charset="-120"/>
                                  <a:cs typeface="Times New Roman" panose="02020603050405020304" pitchFamily="18" charset="0"/>
                                </a:rPr>
                                <m:t>0</m:t>
                              </m:r>
                            </m:e>
                            <m:e>
                              <m:r>
                                <a:rPr lang="en-US" altLang="zh-TW" i="1">
                                  <a:latin typeface="Cambria Math" panose="02040503050406030204" pitchFamily="18" charset="0"/>
                                  <a:ea typeface="標楷體" panose="03000509000000000000" pitchFamily="65" charset="-120"/>
                                  <a:cs typeface="Times New Roman" panose="02020603050405020304" pitchFamily="18" charset="0"/>
                                </a:rPr>
                                <m:t>0</m:t>
                              </m:r>
                            </m:e>
                            <m:e>
                              <m:sSub>
                                <m:sSubPr>
                                  <m:ctrlPr>
                                    <a:rPr lang="zh-TW" altLang="zh-TW" i="1">
                                      <a:effectLst/>
                                      <a:latin typeface="Cambria Math" panose="02040503050406030204" pitchFamily="18" charset="0"/>
                                      <a:ea typeface="Cambria Math" panose="02040503050406030204" pitchFamily="18" charset="0"/>
                                    </a:rPr>
                                  </m:ctrlPr>
                                </m:sSubPr>
                                <m:e>
                                  <m:sSup>
                                    <m:sSupPr>
                                      <m:ctrlPr>
                                        <a:rPr lang="zh-TW" altLang="zh-TW" i="1">
                                          <a:effectLst/>
                                          <a:latin typeface="Cambria Math" panose="02040503050406030204" pitchFamily="18" charset="0"/>
                                          <a:ea typeface="Cambria Math" panose="02040503050406030204" pitchFamily="18" charset="0"/>
                                        </a:rPr>
                                      </m:ctrlPr>
                                    </m:sSupPr>
                                    <m:e>
                                      <m:r>
                                        <a:rPr lang="en-US" altLang="zh-TW" i="1">
                                          <a:latin typeface="Cambria Math" panose="02040503050406030204" pitchFamily="18" charset="0"/>
                                          <a:ea typeface="標楷體" panose="03000509000000000000" pitchFamily="65" charset="-120"/>
                                          <a:cs typeface="Times New Roman" panose="02020603050405020304" pitchFamily="18" charset="0"/>
                                        </a:rPr>
                                        <m:t>𝑛</m:t>
                                      </m:r>
                                    </m:e>
                                    <m:sup>
                                      <m:r>
                                        <a:rPr lang="en-US" altLang="zh-TW" i="1">
                                          <a:latin typeface="Cambria Math" panose="02040503050406030204" pitchFamily="18" charset="0"/>
                                          <a:ea typeface="標楷體" panose="03000509000000000000" pitchFamily="65" charset="-120"/>
                                          <a:cs typeface="Times New Roman" panose="02020603050405020304" pitchFamily="18" charset="0"/>
                                        </a:rPr>
                                        <m:t>2</m:t>
                                      </m:r>
                                    </m:sup>
                                  </m:sSup>
                                </m:e>
                                <m:sub>
                                  <m:r>
                                    <a:rPr lang="en-US" altLang="zh-TW" i="1">
                                      <a:latin typeface="Cambria Math" panose="02040503050406030204" pitchFamily="18" charset="0"/>
                                      <a:ea typeface="標楷體" panose="03000509000000000000" pitchFamily="65" charset="-120"/>
                                      <a:cs typeface="Times New Roman" panose="02020603050405020304" pitchFamily="18" charset="0"/>
                                    </a:rPr>
                                    <m:t>3</m:t>
                                  </m:r>
                                </m:sub>
                              </m:sSub>
                            </m:e>
                          </m:mr>
                        </m:m>
                      </m:e>
                    </m:d>
                  </m:oMath>
                </a14:m>
                <a:endParaRPr lang="zh-TW" altLang="en-US" dirty="0"/>
              </a:p>
            </p:txBody>
          </p:sp>
        </mc:Choice>
        <mc:Fallback xmlns="">
          <p:sp>
            <p:nvSpPr>
              <p:cNvPr id="7" name="矩形 6">
                <a:extLst>
                  <a:ext uri="{FF2B5EF4-FFF2-40B4-BE49-F238E27FC236}">
                    <a16:creationId xmlns:a16="http://schemas.microsoft.com/office/drawing/2014/main" id="{D75E66BC-4541-4644-82AC-B1628AB97203}"/>
                  </a:ext>
                </a:extLst>
              </p:cNvPr>
              <p:cNvSpPr>
                <a:spLocks noRot="1" noChangeAspect="1" noMove="1" noResize="1" noEditPoints="1" noAdjustHandles="1" noChangeArrowheads="1" noChangeShapeType="1" noTextEdit="1"/>
              </p:cNvSpPr>
              <p:nvPr/>
            </p:nvSpPr>
            <p:spPr>
              <a:xfrm>
                <a:off x="807901" y="2081680"/>
                <a:ext cx="4200124" cy="989373"/>
              </a:xfrm>
              <a:prstGeom prst="rect">
                <a:avLst/>
              </a:prstGeom>
              <a:blipFill>
                <a:blip r:embed="rId4"/>
                <a:stretch>
                  <a:fillRect l="-130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660F41DF-B446-4AB7-B9B6-BF5C23A89538}"/>
                  </a:ext>
                </a:extLst>
              </p:cNvPr>
              <p:cNvSpPr/>
              <p:nvPr/>
            </p:nvSpPr>
            <p:spPr>
              <a:xfrm>
                <a:off x="6413778" y="1884997"/>
                <a:ext cx="5172826" cy="519181"/>
              </a:xfrm>
              <a:prstGeom prst="rect">
                <a:avLst/>
              </a:prstGeom>
            </p:spPr>
            <p:txBody>
              <a:bodyPr wrap="none">
                <a:spAutoFit/>
              </a:bodyPr>
              <a:lstStyle/>
              <a:p>
                <a:r>
                  <a:rPr lang="en-US" altLang="zh-TW" kern="100" dirty="0"/>
                  <a:t> (</a:t>
                </a:r>
                <a14:m>
                  <m:oMath xmlns:m="http://schemas.openxmlformats.org/officeDocument/2006/math">
                    <m:f>
                      <m:fPr>
                        <m:ctrlPr>
                          <a:rPr lang="zh-TW" altLang="zh-TW" i="1" kern="100">
                            <a:latin typeface="Cambria Math" panose="02040503050406030204" pitchFamily="18" charset="0"/>
                          </a:rPr>
                        </m:ctrlPr>
                      </m:fPr>
                      <m:num>
                        <m:r>
                          <a:rPr lang="en-US" altLang="zh-TW" kern="100">
                            <a:latin typeface="Cambria Math" panose="02040503050406030204" pitchFamily="18" charset="0"/>
                          </a:rPr>
                          <m:t>1</m:t>
                        </m:r>
                      </m:num>
                      <m:den>
                        <m:sSup>
                          <m:sSupPr>
                            <m:ctrlPr>
                              <a:rPr lang="zh-TW" altLang="zh-TW" i="1" kern="100">
                                <a:latin typeface="Cambria Math" panose="02040503050406030204" pitchFamily="18" charset="0"/>
                              </a:rPr>
                            </m:ctrlPr>
                          </m:sSupPr>
                          <m:e>
                            <m:sSub>
                              <m:sSubPr>
                                <m:ctrlPr>
                                  <a:rPr lang="zh-TW" altLang="zh-TW" i="1" kern="100">
                                    <a:latin typeface="Cambria Math" panose="02040503050406030204" pitchFamily="18" charset="0"/>
                                  </a:rPr>
                                </m:ctrlPr>
                              </m:sSubPr>
                              <m:e>
                                <m:r>
                                  <a:rPr lang="en-US" altLang="zh-TW" kern="100">
                                    <a:latin typeface="Cambria Math" panose="02040503050406030204" pitchFamily="18" charset="0"/>
                                  </a:rPr>
                                  <m:t>𝑛</m:t>
                                </m:r>
                              </m:e>
                              <m:sub>
                                <m:r>
                                  <a:rPr lang="en-US" altLang="zh-TW" kern="100">
                                    <a:latin typeface="Cambria Math" panose="02040503050406030204" pitchFamily="18" charset="0"/>
                                  </a:rPr>
                                  <m:t>𝑜</m:t>
                                </m:r>
                              </m:sub>
                            </m:sSub>
                          </m:e>
                          <m:sup>
                            <m:r>
                              <a:rPr lang="en-US" altLang="zh-TW" kern="100">
                                <a:latin typeface="Cambria Math" panose="02040503050406030204" pitchFamily="18" charset="0"/>
                              </a:rPr>
                              <m:t>2</m:t>
                            </m:r>
                          </m:sup>
                        </m:sSup>
                      </m:den>
                    </m:f>
                    <m:r>
                      <a:rPr lang="en-US" altLang="zh-TW" kern="100">
                        <a:latin typeface="Cambria Math" panose="02040503050406030204" pitchFamily="18" charset="0"/>
                      </a:rPr>
                      <m:t>−</m:t>
                    </m:r>
                    <m:sSub>
                      <m:sSubPr>
                        <m:ctrlPr>
                          <a:rPr lang="zh-TW" altLang="zh-TW" i="1" kern="100">
                            <a:latin typeface="Cambria Math" panose="02040503050406030204" pitchFamily="18" charset="0"/>
                          </a:rPr>
                        </m:ctrlPr>
                      </m:sSubPr>
                      <m:e>
                        <m:r>
                          <a:rPr lang="en-US" altLang="zh-TW" kern="100">
                            <a:latin typeface="Cambria Math" panose="02040503050406030204" pitchFamily="18" charset="0"/>
                          </a:rPr>
                          <m:t>𝑟</m:t>
                        </m:r>
                      </m:e>
                      <m:sub>
                        <m:r>
                          <a:rPr lang="en-US" altLang="zh-TW" kern="100">
                            <a:latin typeface="Cambria Math" panose="02040503050406030204" pitchFamily="18" charset="0"/>
                          </a:rPr>
                          <m:t>22</m:t>
                        </m:r>
                      </m:sub>
                    </m:sSub>
                    <m:sSub>
                      <m:sSubPr>
                        <m:ctrlPr>
                          <a:rPr lang="zh-TW" altLang="zh-TW" i="1" kern="100">
                            <a:latin typeface="Cambria Math" panose="02040503050406030204" pitchFamily="18" charset="0"/>
                          </a:rPr>
                        </m:ctrlPr>
                      </m:sSubPr>
                      <m:e>
                        <m:r>
                          <a:rPr lang="en-US" altLang="zh-TW" kern="100">
                            <a:latin typeface="Cambria Math" panose="02040503050406030204" pitchFamily="18" charset="0"/>
                          </a:rPr>
                          <m:t>𝐸</m:t>
                        </m:r>
                      </m:e>
                      <m:sub>
                        <m:r>
                          <a:rPr lang="en-US" altLang="zh-TW" kern="100">
                            <a:latin typeface="Cambria Math" panose="02040503050406030204" pitchFamily="18" charset="0"/>
                          </a:rPr>
                          <m:t>𝑦</m:t>
                        </m:r>
                      </m:sub>
                    </m:sSub>
                  </m:oMath>
                </a14:m>
                <a:r>
                  <a:rPr lang="en-US" altLang="zh-TW" kern="100" dirty="0"/>
                  <a:t>)</a:t>
                </a:r>
                <a14:m>
                  <m:oMath xmlns:m="http://schemas.openxmlformats.org/officeDocument/2006/math">
                    <m:sSup>
                      <m:sSupPr>
                        <m:ctrlPr>
                          <a:rPr lang="zh-TW" altLang="zh-TW" i="1" kern="100">
                            <a:latin typeface="Cambria Math" panose="02040503050406030204" pitchFamily="18" charset="0"/>
                          </a:rPr>
                        </m:ctrlPr>
                      </m:sSupPr>
                      <m:e>
                        <m:r>
                          <a:rPr lang="en-US" altLang="zh-TW" kern="100">
                            <a:latin typeface="Cambria Math" panose="02040503050406030204" pitchFamily="18" charset="0"/>
                          </a:rPr>
                          <m:t>𝑥</m:t>
                        </m:r>
                      </m:e>
                      <m:sup>
                        <m:r>
                          <a:rPr lang="en-US" altLang="zh-TW" kern="100">
                            <a:latin typeface="Cambria Math" panose="02040503050406030204" pitchFamily="18" charset="0"/>
                          </a:rPr>
                          <m:t>2</m:t>
                        </m:r>
                      </m:sup>
                    </m:sSup>
                  </m:oMath>
                </a14:m>
                <a:r>
                  <a:rPr lang="en-US" altLang="zh-TW" kern="100" dirty="0"/>
                  <a:t>+(</a:t>
                </a:r>
                <a14:m>
                  <m:oMath xmlns:m="http://schemas.openxmlformats.org/officeDocument/2006/math">
                    <m:f>
                      <m:fPr>
                        <m:ctrlPr>
                          <a:rPr lang="zh-TW" altLang="zh-TW" i="1" kern="100">
                            <a:latin typeface="Cambria Math" panose="02040503050406030204" pitchFamily="18" charset="0"/>
                          </a:rPr>
                        </m:ctrlPr>
                      </m:fPr>
                      <m:num>
                        <m:r>
                          <a:rPr lang="en-US" altLang="zh-TW" kern="100">
                            <a:latin typeface="Cambria Math" panose="02040503050406030204" pitchFamily="18" charset="0"/>
                          </a:rPr>
                          <m:t>1</m:t>
                        </m:r>
                      </m:num>
                      <m:den>
                        <m:sSup>
                          <m:sSupPr>
                            <m:ctrlPr>
                              <a:rPr lang="zh-TW" altLang="zh-TW" i="1" kern="100">
                                <a:latin typeface="Cambria Math" panose="02040503050406030204" pitchFamily="18" charset="0"/>
                              </a:rPr>
                            </m:ctrlPr>
                          </m:sSupPr>
                          <m:e>
                            <m:sSub>
                              <m:sSubPr>
                                <m:ctrlPr>
                                  <a:rPr lang="zh-TW" altLang="zh-TW" i="1" kern="100">
                                    <a:latin typeface="Cambria Math" panose="02040503050406030204" pitchFamily="18" charset="0"/>
                                  </a:rPr>
                                </m:ctrlPr>
                              </m:sSubPr>
                              <m:e>
                                <m:r>
                                  <a:rPr lang="en-US" altLang="zh-TW" kern="100">
                                    <a:latin typeface="Cambria Math" panose="02040503050406030204" pitchFamily="18" charset="0"/>
                                  </a:rPr>
                                  <m:t>𝑛</m:t>
                                </m:r>
                              </m:e>
                              <m:sub>
                                <m:r>
                                  <a:rPr lang="en-US" altLang="zh-TW" kern="100">
                                    <a:latin typeface="Cambria Math" panose="02040503050406030204" pitchFamily="18" charset="0"/>
                                  </a:rPr>
                                  <m:t>𝑜</m:t>
                                </m:r>
                              </m:sub>
                            </m:sSub>
                          </m:e>
                          <m:sup>
                            <m:r>
                              <a:rPr lang="en-US" altLang="zh-TW" kern="100">
                                <a:latin typeface="Cambria Math" panose="02040503050406030204" pitchFamily="18" charset="0"/>
                              </a:rPr>
                              <m:t>2</m:t>
                            </m:r>
                          </m:sup>
                        </m:sSup>
                      </m:den>
                    </m:f>
                    <m:r>
                      <a:rPr lang="en-US" altLang="zh-TW" kern="100">
                        <a:latin typeface="Cambria Math" panose="02040503050406030204" pitchFamily="18" charset="0"/>
                      </a:rPr>
                      <m:t>+</m:t>
                    </m:r>
                    <m:sSub>
                      <m:sSubPr>
                        <m:ctrlPr>
                          <a:rPr lang="zh-TW" altLang="zh-TW" i="1" kern="100">
                            <a:latin typeface="Cambria Math" panose="02040503050406030204" pitchFamily="18" charset="0"/>
                          </a:rPr>
                        </m:ctrlPr>
                      </m:sSubPr>
                      <m:e>
                        <m:r>
                          <a:rPr lang="en-US" altLang="zh-TW" kern="100">
                            <a:latin typeface="Cambria Math" panose="02040503050406030204" pitchFamily="18" charset="0"/>
                          </a:rPr>
                          <m:t>𝑟</m:t>
                        </m:r>
                      </m:e>
                      <m:sub>
                        <m:r>
                          <a:rPr lang="en-US" altLang="zh-TW" kern="100">
                            <a:latin typeface="Cambria Math" panose="02040503050406030204" pitchFamily="18" charset="0"/>
                          </a:rPr>
                          <m:t>22</m:t>
                        </m:r>
                      </m:sub>
                    </m:sSub>
                    <m:sSub>
                      <m:sSubPr>
                        <m:ctrlPr>
                          <a:rPr lang="zh-TW" altLang="zh-TW" i="1" kern="100">
                            <a:latin typeface="Cambria Math" panose="02040503050406030204" pitchFamily="18" charset="0"/>
                          </a:rPr>
                        </m:ctrlPr>
                      </m:sSubPr>
                      <m:e>
                        <m:r>
                          <a:rPr lang="en-US" altLang="zh-TW" kern="100">
                            <a:latin typeface="Cambria Math" panose="02040503050406030204" pitchFamily="18" charset="0"/>
                          </a:rPr>
                          <m:t>𝐸</m:t>
                        </m:r>
                      </m:e>
                      <m:sub>
                        <m:r>
                          <a:rPr lang="en-US" altLang="zh-TW" kern="100">
                            <a:latin typeface="Cambria Math" panose="02040503050406030204" pitchFamily="18" charset="0"/>
                          </a:rPr>
                          <m:t>𝑦</m:t>
                        </m:r>
                      </m:sub>
                    </m:sSub>
                  </m:oMath>
                </a14:m>
                <a:r>
                  <a:rPr lang="en-US" altLang="zh-TW" kern="100" dirty="0"/>
                  <a:t>)</a:t>
                </a:r>
                <a14:m>
                  <m:oMath xmlns:m="http://schemas.openxmlformats.org/officeDocument/2006/math">
                    <m:r>
                      <a:rPr lang="en-US" altLang="zh-TW" kern="100">
                        <a:latin typeface="Cambria Math" panose="02040503050406030204" pitchFamily="18" charset="0"/>
                      </a:rPr>
                      <m:t> </m:t>
                    </m:r>
                    <m:sSup>
                      <m:sSupPr>
                        <m:ctrlPr>
                          <a:rPr lang="zh-TW" altLang="zh-TW" i="1" kern="100">
                            <a:latin typeface="Cambria Math" panose="02040503050406030204" pitchFamily="18" charset="0"/>
                          </a:rPr>
                        </m:ctrlPr>
                      </m:sSupPr>
                      <m:e>
                        <m:r>
                          <a:rPr lang="en-US" altLang="zh-TW" kern="100">
                            <a:latin typeface="Cambria Math" panose="02040503050406030204" pitchFamily="18" charset="0"/>
                          </a:rPr>
                          <m:t>𝑦</m:t>
                        </m:r>
                      </m:e>
                      <m:sup>
                        <m:r>
                          <a:rPr lang="en-US" altLang="zh-TW" kern="100">
                            <a:latin typeface="Cambria Math" panose="02040503050406030204" pitchFamily="18" charset="0"/>
                          </a:rPr>
                          <m:t>2</m:t>
                        </m:r>
                      </m:sup>
                    </m:sSup>
                    <m:r>
                      <a:rPr lang="en-US" altLang="zh-TW" kern="100">
                        <a:latin typeface="Cambria Math" panose="02040503050406030204" pitchFamily="18" charset="0"/>
                      </a:rPr>
                      <m:t>+</m:t>
                    </m:r>
                    <m:f>
                      <m:fPr>
                        <m:ctrlPr>
                          <a:rPr lang="zh-TW" altLang="zh-TW" i="1" kern="100">
                            <a:latin typeface="Cambria Math" panose="02040503050406030204" pitchFamily="18" charset="0"/>
                          </a:rPr>
                        </m:ctrlPr>
                      </m:fPr>
                      <m:num>
                        <m:r>
                          <a:rPr lang="en-US" altLang="zh-TW" kern="100">
                            <a:latin typeface="Cambria Math" panose="02040503050406030204" pitchFamily="18" charset="0"/>
                          </a:rPr>
                          <m:t>1</m:t>
                        </m:r>
                      </m:num>
                      <m:den>
                        <m:sSup>
                          <m:sSupPr>
                            <m:ctrlPr>
                              <a:rPr lang="zh-TW" altLang="zh-TW" i="1" kern="100">
                                <a:latin typeface="Cambria Math" panose="02040503050406030204" pitchFamily="18" charset="0"/>
                              </a:rPr>
                            </m:ctrlPr>
                          </m:sSupPr>
                          <m:e>
                            <m:sSub>
                              <m:sSubPr>
                                <m:ctrlPr>
                                  <a:rPr lang="zh-TW" altLang="zh-TW" i="1" kern="100">
                                    <a:latin typeface="Cambria Math" panose="02040503050406030204" pitchFamily="18" charset="0"/>
                                  </a:rPr>
                                </m:ctrlPr>
                              </m:sSubPr>
                              <m:e>
                                <m:r>
                                  <a:rPr lang="en-US" altLang="zh-TW" kern="100">
                                    <a:latin typeface="Cambria Math" panose="02040503050406030204" pitchFamily="18" charset="0"/>
                                  </a:rPr>
                                  <m:t>𝑛</m:t>
                                </m:r>
                              </m:e>
                              <m:sub>
                                <m:r>
                                  <a:rPr lang="en-US" altLang="zh-TW" kern="100">
                                    <a:latin typeface="Cambria Math" panose="02040503050406030204" pitchFamily="18" charset="0"/>
                                  </a:rPr>
                                  <m:t>𝑒</m:t>
                                </m:r>
                              </m:sub>
                            </m:sSub>
                          </m:e>
                          <m:sup>
                            <m:r>
                              <a:rPr lang="en-US" altLang="zh-TW" kern="100">
                                <a:latin typeface="Cambria Math" panose="02040503050406030204" pitchFamily="18" charset="0"/>
                              </a:rPr>
                              <m:t>2</m:t>
                            </m:r>
                          </m:sup>
                        </m:sSup>
                      </m:den>
                    </m:f>
                    <m:sSup>
                      <m:sSupPr>
                        <m:ctrlPr>
                          <a:rPr lang="zh-TW" altLang="zh-TW" i="1" kern="100">
                            <a:latin typeface="Cambria Math" panose="02040503050406030204" pitchFamily="18" charset="0"/>
                          </a:rPr>
                        </m:ctrlPr>
                      </m:sSupPr>
                      <m:e>
                        <m:r>
                          <a:rPr lang="en-US" altLang="zh-TW" kern="100">
                            <a:latin typeface="Cambria Math" panose="02040503050406030204" pitchFamily="18" charset="0"/>
                          </a:rPr>
                          <m:t>𝑧</m:t>
                        </m:r>
                      </m:e>
                      <m:sup>
                        <m:r>
                          <a:rPr lang="en-US" altLang="zh-TW" kern="100">
                            <a:latin typeface="Cambria Math" panose="02040503050406030204" pitchFamily="18" charset="0"/>
                          </a:rPr>
                          <m:t>2</m:t>
                        </m:r>
                      </m:sup>
                    </m:sSup>
                  </m:oMath>
                </a14:m>
                <a:r>
                  <a:rPr lang="en-US" altLang="zh-TW" kern="100" dirty="0"/>
                  <a:t>+2yz</a:t>
                </a:r>
                <a14:m>
                  <m:oMath xmlns:m="http://schemas.openxmlformats.org/officeDocument/2006/math">
                    <m:sSub>
                      <m:sSubPr>
                        <m:ctrlPr>
                          <a:rPr lang="zh-TW" altLang="zh-TW" i="1" kern="100">
                            <a:latin typeface="Cambria Math" panose="02040503050406030204" pitchFamily="18" charset="0"/>
                          </a:rPr>
                        </m:ctrlPr>
                      </m:sSubPr>
                      <m:e>
                        <m:r>
                          <a:rPr lang="en-US" altLang="zh-TW" kern="100">
                            <a:latin typeface="Cambria Math" panose="02040503050406030204" pitchFamily="18" charset="0"/>
                          </a:rPr>
                          <m:t>𝑟</m:t>
                        </m:r>
                      </m:e>
                      <m:sub>
                        <m:r>
                          <a:rPr lang="en-US" altLang="zh-TW" kern="100">
                            <a:latin typeface="Cambria Math" panose="02040503050406030204" pitchFamily="18" charset="0"/>
                          </a:rPr>
                          <m:t>51</m:t>
                        </m:r>
                      </m:sub>
                    </m:sSub>
                  </m:oMath>
                </a14:m>
                <a:r>
                  <a:rPr lang="en-US" altLang="zh-TW" kern="100" dirty="0"/>
                  <a:t>=1</a:t>
                </a:r>
                <a:endParaRPr lang="zh-TW" altLang="en-US" dirty="0"/>
              </a:p>
            </p:txBody>
          </p:sp>
        </mc:Choice>
        <mc:Fallback xmlns="">
          <p:sp>
            <p:nvSpPr>
              <p:cNvPr id="12" name="矩形 11">
                <a:extLst>
                  <a:ext uri="{FF2B5EF4-FFF2-40B4-BE49-F238E27FC236}">
                    <a16:creationId xmlns:a16="http://schemas.microsoft.com/office/drawing/2014/main" id="{660F41DF-B446-4AB7-B9B6-BF5C23A89538}"/>
                  </a:ext>
                </a:extLst>
              </p:cNvPr>
              <p:cNvSpPr>
                <a:spLocks noRot="1" noChangeAspect="1" noMove="1" noResize="1" noEditPoints="1" noAdjustHandles="1" noChangeArrowheads="1" noChangeShapeType="1" noTextEdit="1"/>
              </p:cNvSpPr>
              <p:nvPr/>
            </p:nvSpPr>
            <p:spPr>
              <a:xfrm>
                <a:off x="6413778" y="1884997"/>
                <a:ext cx="5172826" cy="519181"/>
              </a:xfrm>
              <a:prstGeom prst="rect">
                <a:avLst/>
              </a:prstGeom>
              <a:blipFill>
                <a:blip r:embed="rId5"/>
                <a:stretch>
                  <a:fillRect r="-471" b="-11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01B47F49-D4F8-4CCE-BCAD-314D0E018CA3}"/>
                  </a:ext>
                </a:extLst>
              </p:cNvPr>
              <p:cNvSpPr/>
              <p:nvPr/>
            </p:nvSpPr>
            <p:spPr>
              <a:xfrm>
                <a:off x="829112" y="4178904"/>
                <a:ext cx="5977621" cy="246195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TW" altLang="en-US" i="1" smtClean="0">
                              <a:latin typeface="Cambria Math" panose="02040503050406030204" pitchFamily="18" charset="0"/>
                            </a:rPr>
                          </m:ctrlPr>
                        </m:sSubPr>
                        <m:e>
                          <m:r>
                            <m:rPr>
                              <m:sty m:val="p"/>
                            </m:rPr>
                            <a:rPr lang="zh-TW" altLang="en-US">
                              <a:latin typeface="Cambria Math" panose="02040503050406030204" pitchFamily="18" charset="0"/>
                            </a:rPr>
                            <m:t>η</m:t>
                          </m:r>
                        </m:e>
                        <m:sub>
                          <m:r>
                            <a:rPr lang="zh-TW" altLang="en-US" i="1">
                              <a:latin typeface="Cambria Math" panose="02040503050406030204" pitchFamily="18" charset="0"/>
                            </a:rPr>
                            <m:t>𝑖𝑗</m:t>
                          </m:r>
                        </m:sub>
                      </m:sSub>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𝑦</m:t>
                              </m:r>
                            </m:sub>
                          </m:sSub>
                        </m:e>
                      </m:d>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η</m:t>
                          </m:r>
                        </m:e>
                        <m:sub>
                          <m:r>
                            <a:rPr lang="zh-TW" altLang="en-US" i="1">
                              <a:latin typeface="Cambria Math" panose="02040503050406030204" pitchFamily="18" charset="0"/>
                            </a:rPr>
                            <m:t>𝑖𝑗</m:t>
                          </m:r>
                        </m:sub>
                      </m:sSub>
                      <m:d>
                        <m:dPr>
                          <m:ctrlPr>
                            <a:rPr lang="zh-TW" altLang="en-US" i="1">
                              <a:latin typeface="Cambria Math" panose="02040503050406030204" pitchFamily="18" charset="0"/>
                            </a:rPr>
                          </m:ctrlPr>
                        </m:dPr>
                        <m:e>
                          <m:r>
                            <a:rPr lang="zh-TW" altLang="en-US" i="0">
                              <a:latin typeface="Cambria Math" panose="02040503050406030204" pitchFamily="18" charset="0"/>
                            </a:rPr>
                            <m:t>0</m:t>
                          </m:r>
                        </m:e>
                      </m:d>
                      <m:r>
                        <a:rPr lang="zh-TW" altLang="en-US" i="0">
                          <a:latin typeface="Cambria Math" panose="02040503050406030204" pitchFamily="18" charset="0"/>
                        </a:rPr>
                        <m:t>+</m:t>
                      </m:r>
                      <m:r>
                        <m:rPr>
                          <m:sty m:val="p"/>
                        </m:rPr>
                        <a:rPr lang="zh-TW" altLang="en-US" i="0">
                          <a:latin typeface="Cambria Math" panose="02040503050406030204" pitchFamily="18" charset="0"/>
                        </a:rPr>
                        <m:t>Δ</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η</m:t>
                          </m:r>
                        </m:e>
                        <m:sub>
                          <m:r>
                            <a:rPr lang="zh-TW" altLang="en-US" i="1">
                              <a:latin typeface="Cambria Math" panose="02040503050406030204" pitchFamily="18" charset="0"/>
                            </a:rPr>
                            <m:t>𝑖𝑗</m:t>
                          </m:r>
                        </m:sub>
                      </m:sSub>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𝑦</m:t>
                              </m:r>
                            </m:sub>
                          </m:sSub>
                        </m:e>
                      </m:d>
                    </m:oMath>
                  </m:oMathPara>
                </a14:m>
                <a:endParaRPr lang="en-US" altLang="zh-TW" i="1" dirty="0">
                  <a:latin typeface="Cambria Math" panose="02040503050406030204" pitchFamily="18" charset="0"/>
                </a:endParaRPr>
              </a:p>
              <a:p>
                <a:endParaRPr lang="en-US" altLang="zh-TW"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m:t>
                      </m:r>
                      <m:d>
                        <m:dPr>
                          <m:begChr m:val="["/>
                          <m:endChr m:val="]"/>
                          <m:ctrlPr>
                            <a:rPr lang="zh-TW" altLang="en-US" i="1" smtClean="0">
                              <a:latin typeface="Cambria Math" panose="02040503050406030204" pitchFamily="18" charset="0"/>
                            </a:rPr>
                          </m:ctrlPr>
                        </m:dPr>
                        <m:e>
                          <m:eqArr>
                            <m:eqArrPr>
                              <m:ctrlPr>
                                <a:rPr lang="zh-TW" altLang="en-US" i="1">
                                  <a:latin typeface="Cambria Math" panose="02040503050406030204" pitchFamily="18" charset="0"/>
                                </a:rPr>
                              </m:ctrlPr>
                            </m:eqArrPr>
                            <m:e>
                              <m:r>
                                <a:rPr lang="zh-TW" altLang="en-US" i="0">
                                  <a:latin typeface="Cambria Math" panose="02040503050406030204" pitchFamily="18" charset="0"/>
                                </a:rPr>
                                <m:t>&amp;</m:t>
                              </m:r>
                              <m:m>
                                <m:mPr>
                                  <m:plcHide m:val="on"/>
                                  <m:mcs>
                                    <m:mc>
                                      <m:mcPr>
                                        <m:count m:val="3"/>
                                        <m:mcJc m:val="center"/>
                                      </m:mcPr>
                                    </m:mc>
                                  </m:mcs>
                                  <m:ctrlPr>
                                    <a:rPr lang="zh-TW" altLang="en-US" i="1">
                                      <a:latin typeface="Cambria Math" panose="02040503050406030204" pitchFamily="18" charset="0"/>
                                    </a:rPr>
                                  </m:ctrlPr>
                                </m:mPr>
                                <m:mr>
                                  <m:e>
                                    <m:sSub>
                                      <m:sSubPr>
                                        <m:ctrlPr>
                                          <a:rPr lang="zh-TW" altLang="en-US" i="1" smtClean="0">
                                            <a:latin typeface="Cambria Math" panose="02040503050406030204" pitchFamily="18" charset="0"/>
                                          </a:rPr>
                                        </m:ctrlPr>
                                      </m:sSubPr>
                                      <m:e>
                                        <m:r>
                                          <m:rPr>
                                            <m:sty m:val="p"/>
                                          </m:rPr>
                                          <a:rPr lang="zh-TW" altLang="en-US" i="0">
                                            <a:latin typeface="Cambria Math" panose="02040503050406030204" pitchFamily="18" charset="0"/>
                                          </a:rPr>
                                          <m:t>η</m:t>
                                        </m:r>
                                      </m:e>
                                      <m:sub>
                                        <m:r>
                                          <a:rPr lang="zh-TW" altLang="en-US" i="1">
                                            <a:latin typeface="Cambria Math" panose="02040503050406030204" pitchFamily="18" charset="0"/>
                                          </a:rPr>
                                          <m:t>𝑥𝑥</m:t>
                                        </m:r>
                                      </m:sub>
                                    </m:sSub>
                                    <m:r>
                                      <a:rPr lang="en-US" altLang="zh-TW" b="0" i="1" smtClean="0">
                                        <a:latin typeface="Cambria Math" panose="02040503050406030204" pitchFamily="18" charset="0"/>
                                      </a:rPr>
                                      <m:t> </m:t>
                                    </m:r>
                                  </m:e>
                                  <m:e>
                                    <m:r>
                                      <a:rPr lang="zh-TW" altLang="en-US" i="0">
                                        <a:latin typeface="Cambria Math" panose="02040503050406030204" pitchFamily="18" charset="0"/>
                                      </a:rPr>
                                      <m:t>    0</m:t>
                                    </m:r>
                                    <m:r>
                                      <a:rPr lang="en-US" altLang="zh-TW" b="0" i="1" smtClean="0">
                                        <a:latin typeface="Cambria Math" panose="02040503050406030204" pitchFamily="18" charset="0"/>
                                      </a:rPr>
                                      <m:t> </m:t>
                                    </m:r>
                                  </m:e>
                                  <m:e>
                                    <m:r>
                                      <a:rPr lang="zh-TW" altLang="en-US" i="0">
                                        <a:latin typeface="Cambria Math" panose="02040503050406030204" pitchFamily="18" charset="0"/>
                                      </a:rPr>
                                      <m:t>     0</m:t>
                                    </m:r>
                                  </m:e>
                                </m:mr>
                                <m:mr>
                                  <m:e>
                                    <m:r>
                                      <a:rPr lang="zh-TW" altLang="en-US" i="0">
                                        <a:latin typeface="Cambria Math" panose="02040503050406030204" pitchFamily="18" charset="0"/>
                                      </a:rPr>
                                      <m:t>  0</m:t>
                                    </m:r>
                                    <m:r>
                                      <a:rPr lang="en-US" altLang="zh-TW" b="0" i="1" smtClean="0">
                                        <a:latin typeface="Cambria Math" panose="02040503050406030204" pitchFamily="18" charset="0"/>
                                      </a:rPr>
                                      <m:t>  </m:t>
                                    </m:r>
                                  </m:e>
                                  <m:e>
                                    <m:sSub>
                                      <m:sSubPr>
                                        <m:ctrlPr>
                                          <a:rPr lang="zh-TW" altLang="en-US" i="1" smtClean="0">
                                            <a:latin typeface="Cambria Math" panose="02040503050406030204" pitchFamily="18" charset="0"/>
                                          </a:rPr>
                                        </m:ctrlPr>
                                      </m:sSubPr>
                                      <m:e>
                                        <m:r>
                                          <m:rPr>
                                            <m:sty m:val="p"/>
                                          </m:rPr>
                                          <a:rPr lang="zh-TW" altLang="en-US" i="0">
                                            <a:latin typeface="Cambria Math" panose="02040503050406030204" pitchFamily="18" charset="0"/>
                                          </a:rPr>
                                          <m:t>η</m:t>
                                        </m:r>
                                      </m:e>
                                      <m:sub>
                                        <m:r>
                                          <a:rPr lang="zh-TW" altLang="en-US" i="1">
                                            <a:latin typeface="Cambria Math" panose="02040503050406030204" pitchFamily="18" charset="0"/>
                                          </a:rPr>
                                          <m:t>𝑦𝑦</m:t>
                                        </m:r>
                                      </m:sub>
                                    </m:sSub>
                                  </m:e>
                                  <m:e>
                                    <m:r>
                                      <a:rPr lang="zh-TW" altLang="en-US" i="0">
                                        <a:latin typeface="Cambria Math" panose="02040503050406030204" pitchFamily="18" charset="0"/>
                                      </a:rPr>
                                      <m:t>     </m:t>
                                    </m:r>
                                    <m:r>
                                      <a:rPr lang="en-US" altLang="zh-TW" b="0" i="1" smtClean="0">
                                        <a:latin typeface="Cambria Math" panose="02040503050406030204" pitchFamily="18" charset="0"/>
                                      </a:rPr>
                                      <m:t>0</m:t>
                                    </m:r>
                                  </m:e>
                                </m:mr>
                                <m:mr>
                                  <m:e>
                                    <m:r>
                                      <a:rPr lang="zh-TW" altLang="en-US" i="0">
                                        <a:latin typeface="Cambria Math" panose="02040503050406030204" pitchFamily="18" charset="0"/>
                                      </a:rPr>
                                      <m:t>  0</m:t>
                                    </m:r>
                                    <m:r>
                                      <a:rPr lang="en-US" altLang="zh-TW" b="0" i="1" smtClean="0">
                                        <a:latin typeface="Cambria Math" panose="02040503050406030204" pitchFamily="18" charset="0"/>
                                      </a:rPr>
                                      <m:t>  </m:t>
                                    </m:r>
                                  </m:e>
                                  <m:e>
                                    <m:r>
                                      <a:rPr lang="zh-TW" altLang="en-US" i="0">
                                        <a:latin typeface="Cambria Math" panose="02040503050406030204" pitchFamily="18" charset="0"/>
                                      </a:rPr>
                                      <m:t>    </m:t>
                                    </m:r>
                                    <m:r>
                                      <a:rPr lang="en-US" altLang="zh-TW" b="0" i="1" smtClean="0">
                                        <a:latin typeface="Cambria Math" panose="02040503050406030204" pitchFamily="18" charset="0"/>
                                      </a:rPr>
                                      <m:t>0  </m:t>
                                    </m:r>
                                  </m:e>
                                  <m:e>
                                    <m:r>
                                      <a:rPr lang="en-US" altLang="zh-TW" b="0" i="1" smtClean="0">
                                        <a:latin typeface="Cambria Math" panose="02040503050406030204" pitchFamily="18" charset="0"/>
                                      </a:rPr>
                                      <m:t>  </m:t>
                                    </m:r>
                                    <m:sSub>
                                      <m:sSubPr>
                                        <m:ctrlPr>
                                          <a:rPr lang="zh-TW" altLang="en-US" i="1" smtClean="0">
                                            <a:latin typeface="Cambria Math" panose="02040503050406030204" pitchFamily="18" charset="0"/>
                                          </a:rPr>
                                        </m:ctrlPr>
                                      </m:sSubPr>
                                      <m:e>
                                        <m:r>
                                          <m:rPr>
                                            <m:sty m:val="p"/>
                                          </m:rPr>
                                          <a:rPr lang="zh-TW" altLang="en-US" i="0">
                                            <a:latin typeface="Cambria Math" panose="02040503050406030204" pitchFamily="18" charset="0"/>
                                          </a:rPr>
                                          <m:t>η</m:t>
                                        </m:r>
                                      </m:e>
                                      <m:sub>
                                        <m:r>
                                          <a:rPr lang="zh-TW" altLang="en-US" i="1">
                                            <a:latin typeface="Cambria Math" panose="02040503050406030204" pitchFamily="18" charset="0"/>
                                          </a:rPr>
                                          <m:t>𝑧𝑧</m:t>
                                        </m:r>
                                      </m:sub>
                                    </m:sSub>
                                  </m:e>
                                </m:mr>
                              </m:m>
                            </m:e>
                          </m:eqArr>
                          <m:r>
                            <a:rPr lang="en-US" altLang="zh-TW" b="0" i="1" smtClean="0">
                              <a:latin typeface="Cambria Math" panose="02040503050406030204" pitchFamily="18" charset="0"/>
                            </a:rPr>
                            <m:t> </m:t>
                          </m:r>
                        </m:e>
                      </m:d>
                      <m:r>
                        <a:rPr lang="en-US" altLang="zh-TW" b="0" i="1" smtClean="0">
                          <a:latin typeface="Cambria Math" panose="02040503050406030204" pitchFamily="18" charset="0"/>
                        </a:rPr>
                        <m:t>+</m:t>
                      </m:r>
                      <m:d>
                        <m:dPr>
                          <m:begChr m:val="["/>
                          <m:endChr m:val="]"/>
                          <m:ctrlPr>
                            <a:rPr lang="zh-TW" altLang="en-US" i="1" smtClean="0">
                              <a:latin typeface="Cambria Math" panose="02040503050406030204" pitchFamily="18" charset="0"/>
                            </a:rPr>
                          </m:ctrlPr>
                        </m:dPr>
                        <m:e>
                          <m:eqArr>
                            <m:eqArrPr>
                              <m:ctrlPr>
                                <a:rPr lang="zh-TW" altLang="en-US" i="1">
                                  <a:latin typeface="Cambria Math" panose="02040503050406030204" pitchFamily="18" charset="0"/>
                                </a:rPr>
                              </m:ctrlPr>
                            </m:eqArrPr>
                            <m:e>
                              <m:r>
                                <a:rPr lang="zh-TW" altLang="en-US" i="0">
                                  <a:latin typeface="Cambria Math" panose="02040503050406030204" pitchFamily="18" charset="0"/>
                                </a:rPr>
                                <m:t>&amp;</m:t>
                              </m:r>
                              <m:m>
                                <m:mPr>
                                  <m:plcHide m:val="on"/>
                                  <m:mcs>
                                    <m:mc>
                                      <m:mcPr>
                                        <m:count m:val="3"/>
                                        <m:mcJc m:val="center"/>
                                      </m:mcPr>
                                    </m:mc>
                                  </m:mcs>
                                  <m:ctrlPr>
                                    <a:rPr lang="zh-TW" altLang="en-US" i="1">
                                      <a:latin typeface="Cambria Math" panose="02040503050406030204" pitchFamily="18" charset="0"/>
                                    </a:rPr>
                                  </m:ctrlPr>
                                </m:mPr>
                                <m:mr>
                                  <m:e>
                                    <m:r>
                                      <a:rPr lang="zh-TW" altLang="en-US" i="0">
                                        <a:latin typeface="Cambria Math" panose="02040503050406030204" pitchFamily="18" charset="0"/>
                                      </a:rPr>
                                      <m:t>  −</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22</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𝑦</m:t>
                                        </m:r>
                                      </m:sub>
                                    </m:sSub>
                                  </m:e>
                                  <m:e>
                                    <m:r>
                                      <a:rPr lang="zh-TW" altLang="en-US" i="0">
                                        <a:latin typeface="Cambria Math" panose="02040503050406030204" pitchFamily="18" charset="0"/>
                                      </a:rPr>
                                      <m:t>    0</m:t>
                                    </m:r>
                                  </m:e>
                                  <m:e>
                                    <m:r>
                                      <a:rPr lang="zh-TW" altLang="en-US" i="0">
                                        <a:latin typeface="Cambria Math" panose="02040503050406030204" pitchFamily="18" charset="0"/>
                                      </a:rPr>
                                      <m:t>     0</m:t>
                                    </m:r>
                                  </m:e>
                                </m:mr>
                                <m:mr>
                                  <m:e>
                                    <m:r>
                                      <a:rPr lang="zh-TW" altLang="en-US" i="0">
                                        <a:latin typeface="Cambria Math" panose="02040503050406030204" pitchFamily="18" charset="0"/>
                                      </a:rPr>
                                      <m:t>  0</m:t>
                                    </m:r>
                                  </m:e>
                                  <m:e>
                                    <m:r>
                                      <a:rPr lang="zh-TW" altLang="en-US" i="0">
                                        <a:latin typeface="Cambria Math" panose="02040503050406030204" pitchFamily="18" charset="0"/>
                                      </a:rPr>
                                      <m:t>       </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22</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𝑦</m:t>
                                        </m:r>
                                      </m:sub>
                                    </m:sSub>
                                  </m:e>
                                  <m:e>
                                    <m:r>
                                      <a:rPr lang="zh-TW" altLang="en-US" i="0">
                                        <a:latin typeface="Cambria Math" panose="02040503050406030204" pitchFamily="18" charset="0"/>
                                      </a:rPr>
                                      <m:t>     </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51</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𝑦</m:t>
                                        </m:r>
                                      </m:sub>
                                    </m:sSub>
                                  </m:e>
                                </m:mr>
                                <m:mr>
                                  <m:e>
                                    <m:r>
                                      <a:rPr lang="zh-TW" altLang="en-US" i="0">
                                        <a:latin typeface="Cambria Math" panose="02040503050406030204" pitchFamily="18" charset="0"/>
                                      </a:rPr>
                                      <m:t>  0</m:t>
                                    </m:r>
                                  </m:e>
                                  <m:e>
                                    <m:r>
                                      <a:rPr lang="zh-TW" altLang="en-US" i="0">
                                        <a:latin typeface="Cambria Math" panose="02040503050406030204" pitchFamily="18" charset="0"/>
                                      </a:rPr>
                                      <m:t>        </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51</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𝑦</m:t>
                                        </m:r>
                                      </m:sub>
                                    </m:sSub>
                                  </m:e>
                                  <m:e>
                                    <m:r>
                                      <a:rPr lang="zh-TW" altLang="en-US" i="0">
                                        <a:latin typeface="Cambria Math" panose="02040503050406030204" pitchFamily="18" charset="0"/>
                                      </a:rPr>
                                      <m:t>     0</m:t>
                                    </m:r>
                                  </m:e>
                                </m:mr>
                              </m:m>
                            </m:e>
                          </m:eqArr>
                        </m:e>
                      </m:d>
                      <m:r>
                        <a:rPr lang="zh-TW" altLang="en-US" i="0">
                          <a:latin typeface="Cambria Math" panose="02040503050406030204" pitchFamily="18" charset="0"/>
                        </a:rPr>
                        <m:t>=</m:t>
                      </m:r>
                      <m:d>
                        <m:dPr>
                          <m:begChr m:val="["/>
                          <m:endChr m:val="]"/>
                          <m:ctrlPr>
                            <a:rPr lang="zh-TW" altLang="en-US" i="1">
                              <a:latin typeface="Cambria Math" panose="02040503050406030204" pitchFamily="18" charset="0"/>
                            </a:rPr>
                          </m:ctrlPr>
                        </m:dPr>
                        <m:e>
                          <m:eqArr>
                            <m:eqArrPr>
                              <m:ctrlPr>
                                <a:rPr lang="zh-TW" altLang="en-US" i="1">
                                  <a:latin typeface="Cambria Math" panose="02040503050406030204" pitchFamily="18" charset="0"/>
                                </a:rPr>
                              </m:ctrlPr>
                            </m:eqArrPr>
                            <m:e>
                              <m:r>
                                <a:rPr lang="zh-TW" altLang="en-US" i="0">
                                  <a:latin typeface="Cambria Math" panose="02040503050406030204" pitchFamily="18" charset="0"/>
                                </a:rPr>
                                <m:t>&amp;</m:t>
                              </m:r>
                              <m:m>
                                <m:mPr>
                                  <m:plcHide m:val="on"/>
                                  <m:mcs>
                                    <m:mc>
                                      <m:mcPr>
                                        <m:count m:val="3"/>
                                        <m:mcJc m:val="center"/>
                                      </m:mcPr>
                                    </m:mc>
                                  </m:mcs>
                                  <m:ctrlPr>
                                    <a:rPr lang="zh-TW" altLang="en-US" i="1">
                                      <a:latin typeface="Cambria Math" panose="02040503050406030204" pitchFamily="18" charset="0"/>
                                    </a:rPr>
                                  </m:ctrlPr>
                                </m:mPr>
                                <m:mr>
                                  <m:e>
                                    <m:r>
                                      <a:rPr lang="zh-TW" altLang="en-US" i="0">
                                        <a:latin typeface="Cambria Math" panose="02040503050406030204" pitchFamily="18" charset="0"/>
                                      </a:rPr>
                                      <m:t>  </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η</m:t>
                                        </m:r>
                                      </m:e>
                                      <m:sub>
                                        <m:r>
                                          <a:rPr lang="zh-TW" altLang="en-US" i="1">
                                            <a:latin typeface="Cambria Math" panose="02040503050406030204" pitchFamily="18" charset="0"/>
                                          </a:rPr>
                                          <m:t>𝑥𝑥</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22</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𝑦</m:t>
                                        </m:r>
                                      </m:sub>
                                    </m:sSub>
                                  </m:e>
                                  <m:e>
                                    <m:r>
                                      <a:rPr lang="zh-TW" altLang="en-US" i="0">
                                        <a:latin typeface="Cambria Math" panose="02040503050406030204" pitchFamily="18" charset="0"/>
                                      </a:rPr>
                                      <m:t>    0</m:t>
                                    </m:r>
                                  </m:e>
                                  <m:e>
                                    <m:r>
                                      <a:rPr lang="en-US" altLang="zh-TW" b="0" i="1" smtClean="0">
                                        <a:latin typeface="Cambria Math" panose="02040503050406030204" pitchFamily="18" charset="0"/>
                                      </a:rPr>
                                      <m:t>     </m:t>
                                    </m:r>
                                    <m:r>
                                      <a:rPr lang="zh-TW" altLang="en-US" i="0">
                                        <a:latin typeface="Cambria Math" panose="02040503050406030204" pitchFamily="18" charset="0"/>
                                      </a:rPr>
                                      <m:t>     0</m:t>
                                    </m:r>
                                  </m:e>
                                </m:mr>
                                <m:mr>
                                  <m:e>
                                    <m:r>
                                      <a:rPr lang="zh-TW" altLang="en-US" i="0">
                                        <a:latin typeface="Cambria Math" panose="02040503050406030204" pitchFamily="18" charset="0"/>
                                      </a:rPr>
                                      <m:t>  0</m:t>
                                    </m:r>
                                  </m:e>
                                  <m:e>
                                    <m:r>
                                      <a:rPr lang="zh-TW" altLang="en-US" i="0">
                                        <a:latin typeface="Cambria Math" panose="02040503050406030204" pitchFamily="18" charset="0"/>
                                      </a:rPr>
                                      <m:t>      </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η</m:t>
                                        </m:r>
                                      </m:e>
                                      <m:sub>
                                        <m:r>
                                          <a:rPr lang="zh-TW" altLang="en-US" i="1">
                                            <a:latin typeface="Cambria Math" panose="02040503050406030204" pitchFamily="18" charset="0"/>
                                          </a:rPr>
                                          <m:t>𝑦𝑦</m:t>
                                        </m:r>
                                      </m:sub>
                                    </m:sSub>
                                    <m:r>
                                      <a:rPr lang="zh-TW" altLang="en-US" i="0">
                                        <a:latin typeface="Cambria Math" panose="02040503050406030204" pitchFamily="18" charset="0"/>
                                      </a:rPr>
                                      <m:t>+ </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22</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𝑦</m:t>
                                        </m:r>
                                      </m:sub>
                                    </m:sSub>
                                  </m:e>
                                  <m:e>
                                    <m:r>
                                      <a:rPr lang="en-US" altLang="zh-TW" b="0" i="1" smtClean="0">
                                        <a:latin typeface="Cambria Math" panose="02040503050406030204" pitchFamily="18" charset="0"/>
                                      </a:rPr>
                                      <m:t>  </m:t>
                                    </m:r>
                                    <m:r>
                                      <a:rPr lang="zh-TW" altLang="en-US" i="0">
                                        <a:latin typeface="Cambria Math" panose="02040503050406030204" pitchFamily="18" charset="0"/>
                                      </a:rPr>
                                      <m:t>     </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51</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𝑦</m:t>
                                        </m:r>
                                      </m:sub>
                                    </m:sSub>
                                  </m:e>
                                </m:mr>
                                <m:mr>
                                  <m:e>
                                    <m:r>
                                      <a:rPr lang="zh-TW" altLang="en-US" i="0">
                                        <a:latin typeface="Cambria Math" panose="02040503050406030204" pitchFamily="18" charset="0"/>
                                      </a:rPr>
                                      <m:t>  0</m:t>
                                    </m:r>
                                  </m:e>
                                  <m:e>
                                    <m:r>
                                      <a:rPr lang="zh-TW" altLang="en-US" i="0">
                                        <a:latin typeface="Cambria Math" panose="02040503050406030204" pitchFamily="18" charset="0"/>
                                      </a:rPr>
                                      <m:t>        </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51</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𝑦</m:t>
                                        </m:r>
                                      </m:sub>
                                    </m:sSub>
                                  </m:e>
                                  <m:e>
                                    <m:r>
                                      <a:rPr lang="en-US" altLang="zh-TW" b="0" i="1" smtClean="0">
                                        <a:latin typeface="Cambria Math" panose="02040503050406030204" pitchFamily="18" charset="0"/>
                                      </a:rPr>
                                      <m:t>      </m:t>
                                    </m:r>
                                    <m:r>
                                      <a:rPr lang="zh-TW" altLang="en-US" i="0">
                                        <a:latin typeface="Cambria Math" panose="02040503050406030204" pitchFamily="18" charset="0"/>
                                      </a:rPr>
                                      <m:t>     </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η</m:t>
                                        </m:r>
                                      </m:e>
                                      <m:sub>
                                        <m:r>
                                          <a:rPr lang="zh-TW" altLang="en-US" i="1">
                                            <a:latin typeface="Cambria Math" panose="02040503050406030204" pitchFamily="18" charset="0"/>
                                          </a:rPr>
                                          <m:t>𝑧𝑧</m:t>
                                        </m:r>
                                      </m:sub>
                                    </m:sSub>
                                  </m:e>
                                </m:mr>
                              </m:m>
                              <m:r>
                                <a:rPr lang="en-US" altLang="zh-TW" b="0" i="1" smtClean="0">
                                  <a:latin typeface="Cambria Math" panose="02040503050406030204" pitchFamily="18" charset="0"/>
                                </a:rPr>
                                <m:t>   </m:t>
                              </m:r>
                            </m:e>
                          </m:eqArr>
                        </m:e>
                      </m:d>
                      <m:r>
                        <a:rPr lang="zh-TW" altLang="en-US" i="0">
                          <a:latin typeface="Cambria Math" panose="02040503050406030204" pitchFamily="18" charset="0"/>
                        </a:rPr>
                        <m:t> </m:t>
                      </m:r>
                    </m:oMath>
                  </m:oMathPara>
                </a14:m>
                <a:endParaRPr lang="zh-TW" altLang="en-US" dirty="0"/>
              </a:p>
            </p:txBody>
          </p:sp>
        </mc:Choice>
        <mc:Fallback xmlns="">
          <p:sp>
            <p:nvSpPr>
              <p:cNvPr id="13" name="矩形 12">
                <a:extLst>
                  <a:ext uri="{FF2B5EF4-FFF2-40B4-BE49-F238E27FC236}">
                    <a16:creationId xmlns:a16="http://schemas.microsoft.com/office/drawing/2014/main" id="{01B47F49-D4F8-4CCE-BCAD-314D0E018CA3}"/>
                  </a:ext>
                </a:extLst>
              </p:cNvPr>
              <p:cNvSpPr>
                <a:spLocks noRot="1" noChangeAspect="1" noMove="1" noResize="1" noEditPoints="1" noAdjustHandles="1" noChangeArrowheads="1" noChangeShapeType="1" noTextEdit="1"/>
              </p:cNvSpPr>
              <p:nvPr/>
            </p:nvSpPr>
            <p:spPr>
              <a:xfrm>
                <a:off x="829112" y="4178904"/>
                <a:ext cx="5977621" cy="2461956"/>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4D20E0CF-CF84-4657-93D2-1B345C851F57}"/>
                  </a:ext>
                </a:extLst>
              </p:cNvPr>
              <p:cNvSpPr/>
              <p:nvPr/>
            </p:nvSpPr>
            <p:spPr>
              <a:xfrm>
                <a:off x="807901" y="3116552"/>
                <a:ext cx="1719317" cy="3965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latin typeface="Cambria Math" panose="02040503050406030204" pitchFamily="18" charset="0"/>
                            </a:rPr>
                          </m:ctrlPr>
                        </m:sSubPr>
                        <m:e>
                          <m:r>
                            <m:rPr>
                              <m:sty m:val="p"/>
                            </m:rPr>
                            <a:rPr lang="zh-TW" altLang="en-US">
                              <a:latin typeface="Cambria Math" panose="02040503050406030204" pitchFamily="18" charset="0"/>
                            </a:rPr>
                            <m:t>η</m:t>
                          </m:r>
                        </m:e>
                        <m:sub>
                          <m:r>
                            <a:rPr lang="zh-TW" altLang="en-US" i="1">
                              <a:latin typeface="Cambria Math" panose="02040503050406030204" pitchFamily="18" charset="0"/>
                            </a:rPr>
                            <m:t>𝑖𝑗</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d>
                            <m:dPr>
                              <m:begChr m:val=""/>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𝜀</m:t>
                                  </m:r>
                                </m:e>
                                <m:sub>
                                  <m:r>
                                    <a:rPr lang="zh-TW" altLang="en-US" i="0">
                                      <a:latin typeface="Cambria Math" panose="02040503050406030204" pitchFamily="18" charset="0"/>
                                    </a:rPr>
                                    <m:t>0</m:t>
                                  </m:r>
                                </m:sub>
                              </m:sSub>
                              <m:r>
                                <a:rPr lang="zh-TW" altLang="en-US" i="0">
                                  <a:latin typeface="Cambria Math" panose="02040503050406030204" pitchFamily="18" charset="0"/>
                                </a:rPr>
                                <m:t>(</m:t>
                              </m:r>
                              <m:sSup>
                                <m:sSupPr>
                                  <m:ctrlPr>
                                    <a:rPr lang="zh-TW" altLang="en-US" i="1">
                                      <a:latin typeface="Cambria Math" panose="02040503050406030204" pitchFamily="18" charset="0"/>
                                    </a:rPr>
                                  </m:ctrlPr>
                                </m:sSupPr>
                                <m:e>
                                  <m:r>
                                    <a:rPr lang="zh-TW" altLang="en-US" i="1">
                                      <a:latin typeface="Cambria Math" panose="02040503050406030204" pitchFamily="18" charset="0"/>
                                    </a:rPr>
                                    <m:t>𝜀</m:t>
                                  </m:r>
                                </m:e>
                                <m:sup>
                                  <m:r>
                                    <a:rPr lang="zh-TW" altLang="en-US" i="0">
                                      <a:latin typeface="Cambria Math" panose="02040503050406030204" pitchFamily="18" charset="0"/>
                                    </a:rPr>
                                    <m:t>−1</m:t>
                                  </m:r>
                                </m:sup>
                              </m:sSup>
                            </m:e>
                          </m:d>
                        </m:e>
                        <m:sub>
                          <m:r>
                            <a:rPr lang="zh-TW" altLang="en-US" i="1">
                              <a:latin typeface="Cambria Math" panose="02040503050406030204" pitchFamily="18" charset="0"/>
                            </a:rPr>
                            <m:t>𝑖𝑗</m:t>
                          </m:r>
                        </m:sub>
                      </m:sSub>
                    </m:oMath>
                  </m:oMathPara>
                </a14:m>
                <a:endParaRPr lang="zh-TW" altLang="en-US" dirty="0"/>
              </a:p>
            </p:txBody>
          </p:sp>
        </mc:Choice>
        <mc:Fallback xmlns="">
          <p:sp>
            <p:nvSpPr>
              <p:cNvPr id="14" name="矩形 13">
                <a:extLst>
                  <a:ext uri="{FF2B5EF4-FFF2-40B4-BE49-F238E27FC236}">
                    <a16:creationId xmlns:a16="http://schemas.microsoft.com/office/drawing/2014/main" id="{4D20E0CF-CF84-4657-93D2-1B345C851F57}"/>
                  </a:ext>
                </a:extLst>
              </p:cNvPr>
              <p:cNvSpPr>
                <a:spLocks noRot="1" noChangeAspect="1" noMove="1" noResize="1" noEditPoints="1" noAdjustHandles="1" noChangeArrowheads="1" noChangeShapeType="1" noTextEdit="1"/>
              </p:cNvSpPr>
              <p:nvPr/>
            </p:nvSpPr>
            <p:spPr>
              <a:xfrm>
                <a:off x="807901" y="3116552"/>
                <a:ext cx="1719317" cy="396583"/>
              </a:xfrm>
              <a:prstGeom prst="rect">
                <a:avLst/>
              </a:prstGeom>
              <a:blipFill>
                <a:blip r:embed="rId7"/>
                <a:stretch>
                  <a:fillRect t="-110769" r="-20567" b="-1676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68CA84F4-ED5D-4540-891C-20790BF2E588}"/>
                  </a:ext>
                </a:extLst>
              </p:cNvPr>
              <p:cNvSpPr/>
              <p:nvPr/>
            </p:nvSpPr>
            <p:spPr>
              <a:xfrm>
                <a:off x="807901" y="3603934"/>
                <a:ext cx="4429097" cy="4505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latin typeface="Cambria Math" panose="02040503050406030204" pitchFamily="18" charset="0"/>
                            </a:rPr>
                          </m:ctrlPr>
                        </m:sSubPr>
                        <m:e>
                          <m:r>
                            <m:rPr>
                              <m:sty m:val="p"/>
                            </m:rPr>
                            <a:rPr lang="zh-TW" altLang="en-US">
                              <a:latin typeface="Cambria Math" panose="02040503050406030204" pitchFamily="18" charset="0"/>
                            </a:rPr>
                            <m:t>η</m:t>
                          </m:r>
                        </m:e>
                        <m:sub>
                          <m:r>
                            <a:rPr lang="zh-TW" altLang="en-US" i="1">
                              <a:latin typeface="Cambria Math" panose="02040503050406030204" pitchFamily="18" charset="0"/>
                            </a:rPr>
                            <m:t>𝑖𝑗</m:t>
                          </m:r>
                        </m:sub>
                      </m:sSub>
                      <m:r>
                        <a:rPr lang="zh-TW" altLang="en-US" i="0">
                          <a:latin typeface="Cambria Math" panose="02040503050406030204" pitchFamily="18" charset="0"/>
                        </a:rPr>
                        <m:t>(</m:t>
                      </m:r>
                      <m:acc>
                        <m:accPr>
                          <m:chr m:val="⃑"/>
                          <m:ctrlPr>
                            <a:rPr lang="zh-TW" altLang="en-US" i="1">
                              <a:latin typeface="Cambria Math" panose="02040503050406030204" pitchFamily="18" charset="0"/>
                            </a:rPr>
                          </m:ctrlPr>
                        </m:accPr>
                        <m:e>
                          <m:d>
                            <m:dPr>
                              <m:begChr m:val=""/>
                              <m:ctrlPr>
                                <a:rPr lang="zh-TW" altLang="en-US" i="1">
                                  <a:latin typeface="Cambria Math" panose="02040503050406030204" pitchFamily="18" charset="0"/>
                                </a:rPr>
                              </m:ctrlPr>
                            </m:dPr>
                            <m:e>
                              <m:r>
                                <a:rPr lang="zh-TW" altLang="en-US" i="1">
                                  <a:latin typeface="Cambria Math" panose="02040503050406030204" pitchFamily="18" charset="0"/>
                                </a:rPr>
                                <m:t>𝐸</m:t>
                              </m:r>
                            </m:e>
                          </m:d>
                        </m:e>
                      </m:acc>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η</m:t>
                          </m:r>
                        </m:e>
                        <m:sub>
                          <m:r>
                            <a:rPr lang="zh-TW" altLang="en-US" i="1">
                              <a:latin typeface="Cambria Math" panose="02040503050406030204" pitchFamily="18" charset="0"/>
                            </a:rPr>
                            <m:t>𝑖𝑗</m:t>
                          </m:r>
                        </m:sub>
                      </m:sSub>
                      <m:d>
                        <m:dPr>
                          <m:ctrlPr>
                            <a:rPr lang="zh-TW" altLang="en-US" i="1">
                              <a:latin typeface="Cambria Math" panose="02040503050406030204" pitchFamily="18" charset="0"/>
                            </a:rPr>
                          </m:ctrlPr>
                        </m:dPr>
                        <m:e>
                          <m:r>
                            <a:rPr lang="zh-TW" altLang="en-US" i="0">
                              <a:latin typeface="Cambria Math" panose="02040503050406030204" pitchFamily="18" charset="0"/>
                            </a:rPr>
                            <m:t>0</m:t>
                          </m:r>
                        </m:e>
                      </m:d>
                      <m:r>
                        <a:rPr lang="zh-TW" altLang="en-US" i="0">
                          <a:latin typeface="Cambria Math" panose="02040503050406030204" pitchFamily="18" charset="0"/>
                        </a:rPr>
                        <m:t>≡</m:t>
                      </m:r>
                      <m:r>
                        <m:rPr>
                          <m:sty m:val="p"/>
                        </m:rPr>
                        <a:rPr lang="zh-TW" altLang="en-US" i="0">
                          <a:latin typeface="Cambria Math" panose="02040503050406030204" pitchFamily="18" charset="0"/>
                        </a:rPr>
                        <m:t>Δ</m:t>
                      </m:r>
                      <m:sSub>
                        <m:sSubPr>
                          <m:ctrlPr>
                            <a:rPr lang="zh-TW" altLang="en-US" i="1">
                              <a:latin typeface="Cambria Math" panose="02040503050406030204" pitchFamily="18" charset="0"/>
                            </a:rPr>
                          </m:ctrlPr>
                        </m:sSubPr>
                        <m:e>
                          <m:r>
                            <m:rPr>
                              <m:sty m:val="p"/>
                            </m:rPr>
                            <a:rPr lang="zh-TW" altLang="en-US" i="0">
                              <a:latin typeface="Cambria Math" panose="02040503050406030204" pitchFamily="18" charset="0"/>
                            </a:rPr>
                            <m:t>η</m:t>
                          </m:r>
                        </m:e>
                        <m:sub>
                          <m:r>
                            <a:rPr lang="zh-TW" altLang="en-US" i="1">
                              <a:latin typeface="Cambria Math" panose="02040503050406030204" pitchFamily="18" charset="0"/>
                            </a:rPr>
                            <m:t>𝑖𝑗</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1">
                              <a:latin typeface="Cambria Math" panose="02040503050406030204" pitchFamily="18" charset="0"/>
                            </a:rPr>
                            <m:t>𝑖𝑗𝑘</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𝑘</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𝑠</m:t>
                          </m:r>
                        </m:e>
                        <m:sub>
                          <m:r>
                            <a:rPr lang="zh-TW" altLang="en-US" i="1">
                              <a:latin typeface="Cambria Math" panose="02040503050406030204" pitchFamily="18" charset="0"/>
                            </a:rPr>
                            <m:t>𝑖𝑗𝑘</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𝑘</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𝑙</m:t>
                          </m:r>
                        </m:sub>
                      </m:sSub>
                    </m:oMath>
                  </m:oMathPara>
                </a14:m>
                <a:endParaRPr lang="zh-TW" altLang="en-US" dirty="0"/>
              </a:p>
            </p:txBody>
          </p:sp>
        </mc:Choice>
        <mc:Fallback xmlns="">
          <p:sp>
            <p:nvSpPr>
              <p:cNvPr id="15" name="矩形 14">
                <a:extLst>
                  <a:ext uri="{FF2B5EF4-FFF2-40B4-BE49-F238E27FC236}">
                    <a16:creationId xmlns:a16="http://schemas.microsoft.com/office/drawing/2014/main" id="{68CA84F4-ED5D-4540-891C-20790BF2E588}"/>
                  </a:ext>
                </a:extLst>
              </p:cNvPr>
              <p:cNvSpPr>
                <a:spLocks noRot="1" noChangeAspect="1" noMove="1" noResize="1" noEditPoints="1" noAdjustHandles="1" noChangeArrowheads="1" noChangeShapeType="1" noTextEdit="1"/>
              </p:cNvSpPr>
              <p:nvPr/>
            </p:nvSpPr>
            <p:spPr>
              <a:xfrm>
                <a:off x="807901" y="3603934"/>
                <a:ext cx="4429097" cy="450573"/>
              </a:xfrm>
              <a:prstGeom prst="rect">
                <a:avLst/>
              </a:prstGeom>
              <a:blipFill>
                <a:blip r:embed="rId8"/>
                <a:stretch>
                  <a:fillRect t="-85135" b="-1472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9AF366A9-AA07-4BE7-9F25-58CA5164C365}"/>
                  </a:ext>
                </a:extLst>
              </p:cNvPr>
              <p:cNvSpPr/>
              <p:nvPr/>
            </p:nvSpPr>
            <p:spPr>
              <a:xfrm>
                <a:off x="6413778" y="2605001"/>
                <a:ext cx="2667782" cy="9081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zh-TW" altLang="en-US" i="1" smtClean="0">
                              <a:latin typeface="Cambria Math" panose="02040503050406030204" pitchFamily="18" charset="0"/>
                            </a:rPr>
                          </m:ctrlPr>
                        </m:funcPr>
                        <m:fName>
                          <m:r>
                            <m:rPr>
                              <m:sty m:val="p"/>
                            </m:rPr>
                            <a:rPr lang="zh-TW" altLang="en-US">
                              <a:latin typeface="Cambria Math" panose="02040503050406030204" pitchFamily="18" charset="0"/>
                            </a:rPr>
                            <m:t>tan</m:t>
                          </m:r>
                        </m:fName>
                        <m:e>
                          <m:r>
                            <a:rPr lang="zh-TW" altLang="en-US" i="1">
                              <a:latin typeface="Cambria Math" panose="02040503050406030204" pitchFamily="18" charset="0"/>
                            </a:rPr>
                            <m:t>𝜃</m:t>
                          </m:r>
                          <m:r>
                            <a:rPr lang="zh-TW" altLang="en-US" i="0">
                              <a:latin typeface="Cambria Math" panose="02040503050406030204" pitchFamily="18" charset="0"/>
                            </a:rPr>
                            <m:t>≈</m:t>
                          </m:r>
                          <m:r>
                            <a:rPr lang="zh-TW" altLang="en-US" i="1">
                              <a:latin typeface="Cambria Math" panose="02040503050406030204" pitchFamily="18" charset="0"/>
                            </a:rPr>
                            <m:t>𝜃</m:t>
                          </m:r>
                        </m:e>
                      </m:func>
                      <m:r>
                        <a:rPr lang="zh-TW" altLang="en-US" i="0">
                          <a:latin typeface="Cambria Math" panose="02040503050406030204" pitchFamily="18" charset="0"/>
                        </a:rPr>
                        <m:t>≈</m:t>
                      </m:r>
                      <m:f>
                        <m:fPr>
                          <m:ctrlPr>
                            <a:rPr lang="zh-TW" altLang="en-US" i="1">
                              <a:latin typeface="Cambria Math" panose="02040503050406030204" pitchFamily="18" charset="0"/>
                            </a:rPr>
                          </m:ctrlPr>
                        </m:fPr>
                        <m:num>
                          <m:sSub>
                            <m:sSubPr>
                              <m:ctrlPr>
                                <a:rPr lang="zh-TW" altLang="en-US" i="1">
                                  <a:latin typeface="Cambria Math" panose="02040503050406030204" pitchFamily="18" charset="0"/>
                                </a:rPr>
                              </m:ctrlPr>
                            </m:sSubPr>
                            <m:e>
                              <m:r>
                                <a:rPr lang="zh-TW" altLang="en-US" i="1">
                                  <a:latin typeface="Cambria Math" panose="02040503050406030204" pitchFamily="18" charset="0"/>
                                </a:rPr>
                                <m:t>𝑟</m:t>
                              </m:r>
                            </m:e>
                            <m:sub>
                              <m:r>
                                <a:rPr lang="zh-TW" altLang="en-US" i="0">
                                  <a:latin typeface="Cambria Math" panose="02040503050406030204" pitchFamily="18" charset="0"/>
                                </a:rPr>
                                <m:t>51</m:t>
                              </m:r>
                            </m:sub>
                          </m:sSub>
                          <m:sSub>
                            <m:sSubPr>
                              <m:ctrlPr>
                                <a:rPr lang="zh-TW" altLang="en-US" i="1">
                                  <a:latin typeface="Cambria Math" panose="02040503050406030204" pitchFamily="18" charset="0"/>
                                </a:rPr>
                              </m:ctrlPr>
                            </m:sSubPr>
                            <m:e>
                              <m:r>
                                <a:rPr lang="zh-TW" altLang="en-US" i="1">
                                  <a:latin typeface="Cambria Math" panose="02040503050406030204" pitchFamily="18" charset="0"/>
                                </a:rPr>
                                <m:t>𝐸</m:t>
                              </m:r>
                            </m:e>
                            <m:sub>
                              <m:r>
                                <a:rPr lang="zh-TW" altLang="en-US" i="1">
                                  <a:latin typeface="Cambria Math" panose="02040503050406030204" pitchFamily="18" charset="0"/>
                                </a:rPr>
                                <m:t>𝑦</m:t>
                              </m:r>
                            </m:sub>
                          </m:sSub>
                        </m:num>
                        <m:den>
                          <m:d>
                            <m:dPr>
                              <m:ctrlPr>
                                <a:rPr lang="zh-TW" altLang="en-US" i="1">
                                  <a:latin typeface="Cambria Math" panose="02040503050406030204" pitchFamily="18" charset="0"/>
                                </a:rPr>
                              </m:ctrlPr>
                            </m:dPr>
                            <m:e>
                              <m:f>
                                <m:fPr>
                                  <m:ctrlPr>
                                    <a:rPr lang="zh-TW" altLang="en-US" i="1">
                                      <a:latin typeface="Cambria Math" panose="02040503050406030204" pitchFamily="18" charset="0"/>
                                    </a:rPr>
                                  </m:ctrlPr>
                                </m:fPr>
                                <m:num>
                                  <m:r>
                                    <a:rPr lang="zh-TW" altLang="en-US" i="0">
                                      <a:latin typeface="Cambria Math" panose="02040503050406030204" pitchFamily="18" charset="0"/>
                                    </a:rPr>
                                    <m:t>1</m:t>
                                  </m:r>
                                </m:num>
                                <m:den>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r>
                                            <a:rPr lang="zh-TW" altLang="en-US" i="1">
                                              <a:latin typeface="Cambria Math" panose="02040503050406030204" pitchFamily="18" charset="0"/>
                                            </a:rPr>
                                            <m:t>𝑜</m:t>
                                          </m:r>
                                        </m:sub>
                                      </m:sSub>
                                    </m:e>
                                    <m:sup>
                                      <m:r>
                                        <a:rPr lang="zh-TW" altLang="en-US" i="0">
                                          <a:latin typeface="Cambria Math" panose="02040503050406030204" pitchFamily="18" charset="0"/>
                                        </a:rPr>
                                        <m:t>2</m:t>
                                      </m:r>
                                    </m:sup>
                                  </m:sSup>
                                </m:den>
                              </m:f>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1</m:t>
                                  </m:r>
                                </m:num>
                                <m:den>
                                  <m:sSup>
                                    <m:sSupPr>
                                      <m:ctrlPr>
                                        <a:rPr lang="zh-TW" altLang="en-US" i="1">
                                          <a:latin typeface="Cambria Math" panose="02040503050406030204" pitchFamily="18" charset="0"/>
                                        </a:rPr>
                                      </m:ctrlPr>
                                    </m:sSupPr>
                                    <m:e>
                                      <m:sSub>
                                        <m:sSubPr>
                                          <m:ctrlPr>
                                            <a:rPr lang="zh-TW" altLang="en-US" i="1">
                                              <a:latin typeface="Cambria Math" panose="02040503050406030204" pitchFamily="18" charset="0"/>
                                            </a:rPr>
                                          </m:ctrlPr>
                                        </m:sSubPr>
                                        <m:e>
                                          <m:r>
                                            <a:rPr lang="zh-TW" altLang="en-US" i="1">
                                              <a:latin typeface="Cambria Math" panose="02040503050406030204" pitchFamily="18" charset="0"/>
                                            </a:rPr>
                                            <m:t>𝑛</m:t>
                                          </m:r>
                                        </m:e>
                                        <m:sub>
                                          <m:r>
                                            <a:rPr lang="zh-TW" altLang="en-US" i="1">
                                              <a:latin typeface="Cambria Math" panose="02040503050406030204" pitchFamily="18" charset="0"/>
                                            </a:rPr>
                                            <m:t>𝑒</m:t>
                                          </m:r>
                                        </m:sub>
                                      </m:sSub>
                                    </m:e>
                                    <m:sup>
                                      <m:r>
                                        <a:rPr lang="zh-TW" altLang="en-US" i="0">
                                          <a:latin typeface="Cambria Math" panose="02040503050406030204" pitchFamily="18" charset="0"/>
                                        </a:rPr>
                                        <m:t>2</m:t>
                                      </m:r>
                                    </m:sup>
                                  </m:sSup>
                                </m:den>
                              </m:f>
                            </m:e>
                          </m:d>
                        </m:den>
                      </m:f>
                    </m:oMath>
                  </m:oMathPara>
                </a14:m>
                <a:endParaRPr lang="zh-TW" altLang="en-US" dirty="0"/>
              </a:p>
            </p:txBody>
          </p:sp>
        </mc:Choice>
        <mc:Fallback xmlns="">
          <p:sp>
            <p:nvSpPr>
              <p:cNvPr id="16" name="矩形 15">
                <a:extLst>
                  <a:ext uri="{FF2B5EF4-FFF2-40B4-BE49-F238E27FC236}">
                    <a16:creationId xmlns:a16="http://schemas.microsoft.com/office/drawing/2014/main" id="{9AF366A9-AA07-4BE7-9F25-58CA5164C365}"/>
                  </a:ext>
                </a:extLst>
              </p:cNvPr>
              <p:cNvSpPr>
                <a:spLocks noRot="1" noChangeAspect="1" noMove="1" noResize="1" noEditPoints="1" noAdjustHandles="1" noChangeArrowheads="1" noChangeShapeType="1" noTextEdit="1"/>
              </p:cNvSpPr>
              <p:nvPr/>
            </p:nvSpPr>
            <p:spPr>
              <a:xfrm>
                <a:off x="6413778" y="2605001"/>
                <a:ext cx="2667782" cy="908134"/>
              </a:xfrm>
              <a:prstGeom prst="rect">
                <a:avLst/>
              </a:prstGeom>
              <a:blipFill>
                <a:blip r:embed="rId9"/>
                <a:stretch>
                  <a:fillRect/>
                </a:stretch>
              </a:blipFill>
            </p:spPr>
            <p:txBody>
              <a:bodyPr/>
              <a:lstStyle/>
              <a:p>
                <a:r>
                  <a:rPr lang="zh-TW" altLang="en-US">
                    <a:noFill/>
                  </a:rPr>
                  <a:t> </a:t>
                </a:r>
              </a:p>
            </p:txBody>
          </p:sp>
        </mc:Fallback>
      </mc:AlternateContent>
      <p:grpSp>
        <p:nvGrpSpPr>
          <p:cNvPr id="3" name="群組 2">
            <a:extLst>
              <a:ext uri="{FF2B5EF4-FFF2-40B4-BE49-F238E27FC236}">
                <a16:creationId xmlns:a16="http://schemas.microsoft.com/office/drawing/2014/main" id="{A0CB1DD5-BAC5-4EA3-BBE1-49682D89A62F}"/>
              </a:ext>
            </a:extLst>
          </p:cNvPr>
          <p:cNvGrpSpPr/>
          <p:nvPr/>
        </p:nvGrpSpPr>
        <p:grpSpPr>
          <a:xfrm>
            <a:off x="6579514" y="3485840"/>
            <a:ext cx="2499956" cy="2903864"/>
            <a:chOff x="8078008" y="3884607"/>
            <a:chExt cx="2499956" cy="2903864"/>
          </a:xfrm>
        </p:grpSpPr>
        <p:grpSp>
          <p:nvGrpSpPr>
            <p:cNvPr id="58" name="群組 57">
              <a:extLst>
                <a:ext uri="{FF2B5EF4-FFF2-40B4-BE49-F238E27FC236}">
                  <a16:creationId xmlns:a16="http://schemas.microsoft.com/office/drawing/2014/main" id="{394923B4-01B9-42C9-B6D4-6DC3B6A285C1}"/>
                </a:ext>
              </a:extLst>
            </p:cNvPr>
            <p:cNvGrpSpPr/>
            <p:nvPr/>
          </p:nvGrpSpPr>
          <p:grpSpPr>
            <a:xfrm>
              <a:off x="8078008" y="3884607"/>
              <a:ext cx="2499956" cy="2903864"/>
              <a:chOff x="7316314" y="3824212"/>
              <a:chExt cx="2499956" cy="2903864"/>
            </a:xfrm>
          </p:grpSpPr>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F997963F-4E69-45B0-9E1D-A7D33F06158B}"/>
                      </a:ext>
                    </a:extLst>
                  </p:cNvPr>
                  <p:cNvSpPr/>
                  <p:nvPr/>
                </p:nvSpPr>
                <p:spPr>
                  <a:xfrm>
                    <a:off x="8505193" y="3824212"/>
                    <a:ext cx="490519" cy="3912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𝑦</m:t>
                              </m:r>
                            </m:sub>
                          </m:sSub>
                        </m:oMath>
                      </m:oMathPara>
                    </a14:m>
                    <a:endParaRPr lang="zh-TW" altLang="en-US" dirty="0"/>
                  </a:p>
                </p:txBody>
              </p:sp>
            </mc:Choice>
            <mc:Fallback xmlns="">
              <p:sp>
                <p:nvSpPr>
                  <p:cNvPr id="40" name="矩形 39">
                    <a:extLst>
                      <a:ext uri="{FF2B5EF4-FFF2-40B4-BE49-F238E27FC236}">
                        <a16:creationId xmlns:a16="http://schemas.microsoft.com/office/drawing/2014/main" id="{F997963F-4E69-45B0-9E1D-A7D33F06158B}"/>
                      </a:ext>
                    </a:extLst>
                  </p:cNvPr>
                  <p:cNvSpPr>
                    <a:spLocks noRot="1" noChangeAspect="1" noMove="1" noResize="1" noEditPoints="1" noAdjustHandles="1" noChangeArrowheads="1" noChangeShapeType="1" noTextEdit="1"/>
                  </p:cNvSpPr>
                  <p:nvPr/>
                </p:nvSpPr>
                <p:spPr>
                  <a:xfrm>
                    <a:off x="8505193" y="3824212"/>
                    <a:ext cx="490519" cy="391261"/>
                  </a:xfrm>
                  <a:prstGeom prst="rect">
                    <a:avLst/>
                  </a:prstGeom>
                  <a:blipFill>
                    <a:blip r:embed="rId10"/>
                    <a:stretch>
                      <a:fillRect b="-4688"/>
                    </a:stretch>
                  </a:blipFill>
                </p:spPr>
                <p:txBody>
                  <a:bodyPr/>
                  <a:lstStyle/>
                  <a:p>
                    <a:r>
                      <a:rPr lang="zh-TW" altLang="en-US">
                        <a:noFill/>
                      </a:rPr>
                      <a:t> </a:t>
                    </a:r>
                  </a:p>
                </p:txBody>
              </p:sp>
            </mc:Fallback>
          </mc:AlternateContent>
          <p:grpSp>
            <p:nvGrpSpPr>
              <p:cNvPr id="54" name="群組 53">
                <a:extLst>
                  <a:ext uri="{FF2B5EF4-FFF2-40B4-BE49-F238E27FC236}">
                    <a16:creationId xmlns:a16="http://schemas.microsoft.com/office/drawing/2014/main" id="{EB910D5A-7095-42A4-B276-FFF0903A3284}"/>
                  </a:ext>
                </a:extLst>
              </p:cNvPr>
              <p:cNvGrpSpPr/>
              <p:nvPr/>
            </p:nvGrpSpPr>
            <p:grpSpPr>
              <a:xfrm>
                <a:off x="7316314" y="4139274"/>
                <a:ext cx="2499956" cy="2588802"/>
                <a:chOff x="7316314" y="4139274"/>
                <a:chExt cx="2499956" cy="2588802"/>
              </a:xfrm>
            </p:grpSpPr>
            <p:grpSp>
              <p:nvGrpSpPr>
                <p:cNvPr id="53" name="群組 52">
                  <a:extLst>
                    <a:ext uri="{FF2B5EF4-FFF2-40B4-BE49-F238E27FC236}">
                      <a16:creationId xmlns:a16="http://schemas.microsoft.com/office/drawing/2014/main" id="{28CBBF76-486D-4750-A21E-8AF14381DF93}"/>
                    </a:ext>
                  </a:extLst>
                </p:cNvPr>
                <p:cNvGrpSpPr/>
                <p:nvPr/>
              </p:nvGrpSpPr>
              <p:grpSpPr>
                <a:xfrm>
                  <a:off x="7316314" y="4139274"/>
                  <a:ext cx="2499956" cy="2588802"/>
                  <a:chOff x="7316314" y="4139274"/>
                  <a:chExt cx="2499956" cy="2588802"/>
                </a:xfrm>
              </p:grpSpPr>
              <p:grpSp>
                <p:nvGrpSpPr>
                  <p:cNvPr id="204" name="群組 203">
                    <a:extLst>
                      <a:ext uri="{FF2B5EF4-FFF2-40B4-BE49-F238E27FC236}">
                        <a16:creationId xmlns:a16="http://schemas.microsoft.com/office/drawing/2014/main" id="{06F10814-4F7C-4274-84A0-3375AE48121F}"/>
                      </a:ext>
                    </a:extLst>
                  </p:cNvPr>
                  <p:cNvGrpSpPr/>
                  <p:nvPr/>
                </p:nvGrpSpPr>
                <p:grpSpPr>
                  <a:xfrm rot="20850448">
                    <a:off x="7825015" y="4857499"/>
                    <a:ext cx="1752286" cy="1760671"/>
                    <a:chOff x="0" y="7196"/>
                    <a:chExt cx="917455" cy="880781"/>
                  </a:xfrm>
                </p:grpSpPr>
                <p:sp>
                  <p:nvSpPr>
                    <p:cNvPr id="217" name="矩形 216">
                      <a:extLst>
                        <a:ext uri="{FF2B5EF4-FFF2-40B4-BE49-F238E27FC236}">
                          <a16:creationId xmlns:a16="http://schemas.microsoft.com/office/drawing/2014/main" id="{7897B90B-688C-4F65-8EB7-1D1C4E9BD465}"/>
                        </a:ext>
                      </a:extLst>
                    </p:cNvPr>
                    <p:cNvSpPr/>
                    <p:nvPr/>
                  </p:nvSpPr>
                  <p:spPr>
                    <a:xfrm rot="731702">
                      <a:off x="73445" y="81132"/>
                      <a:ext cx="776454" cy="7459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218" name="直線接點 217">
                      <a:extLst>
                        <a:ext uri="{FF2B5EF4-FFF2-40B4-BE49-F238E27FC236}">
                          <a16:creationId xmlns:a16="http://schemas.microsoft.com/office/drawing/2014/main" id="{FAE47081-F9F7-4C92-884B-C28EF105DD5F}"/>
                        </a:ext>
                      </a:extLst>
                    </p:cNvPr>
                    <p:cNvCxnSpPr/>
                    <p:nvPr/>
                  </p:nvCxnSpPr>
                  <p:spPr>
                    <a:xfrm flipH="1">
                      <a:off x="832076" y="172712"/>
                      <a:ext cx="79840" cy="61578"/>
                    </a:xfrm>
                    <a:prstGeom prst="line">
                      <a:avLst/>
                    </a:prstGeom>
                  </p:spPr>
                  <p:style>
                    <a:lnRef idx="1">
                      <a:schemeClr val="accent1"/>
                    </a:lnRef>
                    <a:fillRef idx="0">
                      <a:schemeClr val="accent1"/>
                    </a:fillRef>
                    <a:effectRef idx="0">
                      <a:schemeClr val="accent1"/>
                    </a:effectRef>
                    <a:fontRef idx="minor">
                      <a:schemeClr val="tx1"/>
                    </a:fontRef>
                  </p:style>
                </p:cxnSp>
                <p:grpSp>
                  <p:nvGrpSpPr>
                    <p:cNvPr id="219" name="群組 218">
                      <a:extLst>
                        <a:ext uri="{FF2B5EF4-FFF2-40B4-BE49-F238E27FC236}">
                          <a16:creationId xmlns:a16="http://schemas.microsoft.com/office/drawing/2014/main" id="{29B22F24-8DCE-4544-B8E1-3EE00BCABF21}"/>
                        </a:ext>
                      </a:extLst>
                    </p:cNvPr>
                    <p:cNvGrpSpPr/>
                    <p:nvPr/>
                  </p:nvGrpSpPr>
                  <p:grpSpPr>
                    <a:xfrm>
                      <a:off x="0" y="7196"/>
                      <a:ext cx="917455" cy="880781"/>
                      <a:chOff x="0" y="7196"/>
                      <a:chExt cx="917455" cy="880781"/>
                    </a:xfrm>
                  </p:grpSpPr>
                  <p:sp>
                    <p:nvSpPr>
                      <p:cNvPr id="220" name="矩形 219">
                        <a:extLst>
                          <a:ext uri="{FF2B5EF4-FFF2-40B4-BE49-F238E27FC236}">
                            <a16:creationId xmlns:a16="http://schemas.microsoft.com/office/drawing/2014/main" id="{2F85D252-DC0F-408A-B6D5-8A408702CF22}"/>
                          </a:ext>
                        </a:extLst>
                      </p:cNvPr>
                      <p:cNvSpPr/>
                      <p:nvPr/>
                    </p:nvSpPr>
                    <p:spPr>
                      <a:xfrm rot="721799">
                        <a:off x="0" y="140250"/>
                        <a:ext cx="771800" cy="66487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221" name="直線接點 220">
                        <a:extLst>
                          <a:ext uri="{FF2B5EF4-FFF2-40B4-BE49-F238E27FC236}">
                            <a16:creationId xmlns:a16="http://schemas.microsoft.com/office/drawing/2014/main" id="{3C13BE3B-3989-4A8C-9449-2D9D2A87A70C}"/>
                          </a:ext>
                        </a:extLst>
                      </p:cNvPr>
                      <p:cNvCxnSpPr/>
                      <p:nvPr/>
                    </p:nvCxnSpPr>
                    <p:spPr>
                      <a:xfrm flipH="1">
                        <a:off x="72638" y="7196"/>
                        <a:ext cx="86737" cy="58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2" name="直線接點 221">
                        <a:extLst>
                          <a:ext uri="{FF2B5EF4-FFF2-40B4-BE49-F238E27FC236}">
                            <a16:creationId xmlns:a16="http://schemas.microsoft.com/office/drawing/2014/main" id="{F8F8086F-EE75-44F2-8A8C-0530CAB7B466}"/>
                          </a:ext>
                        </a:extLst>
                      </p:cNvPr>
                      <p:cNvCxnSpPr>
                        <a:cxnSpLocks/>
                      </p:cNvCxnSpPr>
                      <p:nvPr/>
                    </p:nvCxnSpPr>
                    <p:spPr>
                      <a:xfrm rot="749552" flipH="1">
                        <a:off x="696322" y="807723"/>
                        <a:ext cx="66206" cy="8025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3" name="直線接點 222">
                        <a:extLst>
                          <a:ext uri="{FF2B5EF4-FFF2-40B4-BE49-F238E27FC236}">
                            <a16:creationId xmlns:a16="http://schemas.microsoft.com/office/drawing/2014/main" id="{7065031F-0B3B-41F9-8ED6-77F9C5BB555D}"/>
                          </a:ext>
                        </a:extLst>
                      </p:cNvPr>
                      <p:cNvCxnSpPr/>
                      <p:nvPr/>
                    </p:nvCxnSpPr>
                    <p:spPr>
                      <a:xfrm>
                        <a:off x="157800" y="7200"/>
                        <a:ext cx="759655" cy="16412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4" name="直線接點 223">
                        <a:extLst>
                          <a:ext uri="{FF2B5EF4-FFF2-40B4-BE49-F238E27FC236}">
                            <a16:creationId xmlns:a16="http://schemas.microsoft.com/office/drawing/2014/main" id="{FFBD122E-2A32-4B9D-B86A-E3BD62C381D1}"/>
                          </a:ext>
                        </a:extLst>
                      </p:cNvPr>
                      <p:cNvCxnSpPr/>
                      <p:nvPr/>
                    </p:nvCxnSpPr>
                    <p:spPr>
                      <a:xfrm flipH="1">
                        <a:off x="769800" y="172800"/>
                        <a:ext cx="142628" cy="643307"/>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205" name="群組 204">
                    <a:extLst>
                      <a:ext uri="{FF2B5EF4-FFF2-40B4-BE49-F238E27FC236}">
                        <a16:creationId xmlns:a16="http://schemas.microsoft.com/office/drawing/2014/main" id="{F5ED0F74-188B-40BA-BCDE-6E7C9C8BBFD5}"/>
                      </a:ext>
                    </a:extLst>
                  </p:cNvPr>
                  <p:cNvGrpSpPr/>
                  <p:nvPr/>
                </p:nvGrpSpPr>
                <p:grpSpPr>
                  <a:xfrm rot="20930535" flipH="1">
                    <a:off x="7316314" y="4290117"/>
                    <a:ext cx="1672862" cy="2040909"/>
                    <a:chOff x="202968" y="62739"/>
                    <a:chExt cx="891150" cy="1018443"/>
                  </a:xfrm>
                </p:grpSpPr>
                <p:grpSp>
                  <p:nvGrpSpPr>
                    <p:cNvPr id="207" name="群組 206">
                      <a:extLst>
                        <a:ext uri="{FF2B5EF4-FFF2-40B4-BE49-F238E27FC236}">
                          <a16:creationId xmlns:a16="http://schemas.microsoft.com/office/drawing/2014/main" id="{7C8E6B22-F454-4603-B7E1-9D3F7B9866C3}"/>
                        </a:ext>
                      </a:extLst>
                    </p:cNvPr>
                    <p:cNvGrpSpPr/>
                    <p:nvPr/>
                  </p:nvGrpSpPr>
                  <p:grpSpPr>
                    <a:xfrm rot="21241686">
                      <a:off x="332989" y="227278"/>
                      <a:ext cx="672969" cy="653465"/>
                      <a:chOff x="-57478" y="-111068"/>
                      <a:chExt cx="982253" cy="895706"/>
                    </a:xfrm>
                  </p:grpSpPr>
                  <p:cxnSp>
                    <p:nvCxnSpPr>
                      <p:cNvPr id="215" name="直線單箭頭接點 214">
                        <a:extLst>
                          <a:ext uri="{FF2B5EF4-FFF2-40B4-BE49-F238E27FC236}">
                            <a16:creationId xmlns:a16="http://schemas.microsoft.com/office/drawing/2014/main" id="{A9BAB9B2-62B6-403D-926E-F37B5DE9F9B1}"/>
                          </a:ext>
                        </a:extLst>
                      </p:cNvPr>
                      <p:cNvCxnSpPr/>
                      <p:nvPr/>
                    </p:nvCxnSpPr>
                    <p:spPr>
                      <a:xfrm rot="358314" flipH="1" flipV="1">
                        <a:off x="-57478" y="-111068"/>
                        <a:ext cx="160119" cy="8467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直線單箭頭接點 215">
                        <a:extLst>
                          <a:ext uri="{FF2B5EF4-FFF2-40B4-BE49-F238E27FC236}">
                            <a16:creationId xmlns:a16="http://schemas.microsoft.com/office/drawing/2014/main" id="{A697F715-2FB3-45F0-91B4-721B68D95EB1}"/>
                          </a:ext>
                        </a:extLst>
                      </p:cNvPr>
                      <p:cNvCxnSpPr/>
                      <p:nvPr/>
                    </p:nvCxnSpPr>
                    <p:spPr>
                      <a:xfrm rot="358314" flipV="1">
                        <a:off x="57364" y="647614"/>
                        <a:ext cx="867411" cy="1370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208" name="文字方塊 94">
                          <a:extLst>
                            <a:ext uri="{FF2B5EF4-FFF2-40B4-BE49-F238E27FC236}">
                              <a16:creationId xmlns:a16="http://schemas.microsoft.com/office/drawing/2014/main" id="{4801B4C6-909D-46DD-A858-AB6B88A37771}"/>
                            </a:ext>
                          </a:extLst>
                        </p:cNvPr>
                        <p:cNvSpPr txBox="1"/>
                        <p:nvPr/>
                      </p:nvSpPr>
                      <p:spPr>
                        <a:xfrm rot="20978109">
                          <a:off x="202968" y="150317"/>
                          <a:ext cx="269563" cy="32199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r>
                                  <a:rPr lang="en-US" altLang="zh-TW" sz="1200" b="0" i="1" kern="100" smtClean="0">
                                    <a:effectLst/>
                                    <a:latin typeface="Cambria Math" panose="02040503050406030204" pitchFamily="18" charset="0"/>
                                    <a:ea typeface="新細明體" panose="02020500000000000000" pitchFamily="18" charset="-120"/>
                                    <a:cs typeface="Times New Roman" panose="02020603050405020304" pitchFamily="18" charset="0"/>
                                  </a:rPr>
                                  <m:t>𝑧</m:t>
                                </m:r>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208" name="文字方塊 94">
                          <a:extLst>
                            <a:ext uri="{FF2B5EF4-FFF2-40B4-BE49-F238E27FC236}">
                              <a16:creationId xmlns:a16="http://schemas.microsoft.com/office/drawing/2014/main" id="{4801B4C6-909D-46DD-A858-AB6B88A37771}"/>
                            </a:ext>
                          </a:extLst>
                        </p:cNvPr>
                        <p:cNvSpPr txBox="1">
                          <a:spLocks noRot="1" noChangeAspect="1" noMove="1" noResize="1" noEditPoints="1" noAdjustHandles="1" noChangeArrowheads="1" noChangeShapeType="1" noTextEdit="1"/>
                        </p:cNvSpPr>
                        <p:nvPr/>
                      </p:nvSpPr>
                      <p:spPr>
                        <a:xfrm rot="20978109">
                          <a:off x="202968" y="150317"/>
                          <a:ext cx="269563" cy="321998"/>
                        </a:xfrm>
                        <a:prstGeom prst="rect">
                          <a:avLst/>
                        </a:prstGeom>
                        <a:blipFill>
                          <a:blip r:embed="rId11"/>
                          <a:stretch>
                            <a:fillRect/>
                          </a:stretch>
                        </a:blipFill>
                        <a:ln w="6350">
                          <a:noFill/>
                        </a:ln>
                      </p:spPr>
                      <p:txBody>
                        <a:bodyPr/>
                        <a:lstStyle/>
                        <a:p>
                          <a:r>
                            <a:rPr lang="zh-TW" altLang="en-US">
                              <a:noFill/>
                            </a:rPr>
                            <a:t> </a:t>
                          </a:r>
                        </a:p>
                      </p:txBody>
                    </p:sp>
                  </mc:Fallback>
                </mc:AlternateContent>
                <p:sp>
                  <p:nvSpPr>
                    <p:cNvPr id="209" name="文字方塊 131">
                      <a:extLst>
                        <a:ext uri="{FF2B5EF4-FFF2-40B4-BE49-F238E27FC236}">
                          <a16:creationId xmlns:a16="http://schemas.microsoft.com/office/drawing/2014/main" id="{12EEEC0B-ED7E-496E-89B5-0F845233F96D}"/>
                        </a:ext>
                      </a:extLst>
                    </p:cNvPr>
                    <p:cNvSpPr txBox="1"/>
                    <p:nvPr/>
                  </p:nvSpPr>
                  <p:spPr>
                    <a:xfrm rot="20978109">
                      <a:off x="824555" y="652780"/>
                      <a:ext cx="269563" cy="32199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US" altLang="zh-TW" sz="1200" kern="100" dirty="0">
                          <a:latin typeface="Calibri" panose="020F0502020204030204" pitchFamily="34" charset="0"/>
                          <a:ea typeface="新細明體" panose="02020500000000000000" pitchFamily="18" charset="-120"/>
                          <a:cs typeface="Times New Roman" panose="02020603050405020304" pitchFamily="18" charset="0"/>
                        </a:rPr>
                        <a:t>y</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nvGrpSpPr>
                    <p:cNvPr id="210" name="群組 209">
                      <a:extLst>
                        <a:ext uri="{FF2B5EF4-FFF2-40B4-BE49-F238E27FC236}">
                          <a16:creationId xmlns:a16="http://schemas.microsoft.com/office/drawing/2014/main" id="{27C9860E-3701-48DD-A214-B844A10FE69F}"/>
                        </a:ext>
                      </a:extLst>
                    </p:cNvPr>
                    <p:cNvGrpSpPr/>
                    <p:nvPr/>
                  </p:nvGrpSpPr>
                  <p:grpSpPr>
                    <a:xfrm rot="20195453">
                      <a:off x="360173" y="263343"/>
                      <a:ext cx="470269" cy="817839"/>
                      <a:chOff x="29463" y="-840"/>
                      <a:chExt cx="686394" cy="1121013"/>
                    </a:xfrm>
                  </p:grpSpPr>
                  <p:cxnSp>
                    <p:nvCxnSpPr>
                      <p:cNvPr id="213" name="直線單箭頭接點 212">
                        <a:extLst>
                          <a:ext uri="{FF2B5EF4-FFF2-40B4-BE49-F238E27FC236}">
                            <a16:creationId xmlns:a16="http://schemas.microsoft.com/office/drawing/2014/main" id="{DA20DF1A-5F6E-41DF-A11F-47FA82DF5C66}"/>
                          </a:ext>
                        </a:extLst>
                      </p:cNvPr>
                      <p:cNvCxnSpPr/>
                      <p:nvPr/>
                    </p:nvCxnSpPr>
                    <p:spPr>
                      <a:xfrm rot="283615" flipV="1">
                        <a:off x="78183" y="-840"/>
                        <a:ext cx="426823" cy="757961"/>
                      </a:xfrm>
                      <a:prstGeom prst="straightConnector1">
                        <a:avLst/>
                      </a:prstGeom>
                      <a:ln>
                        <a:prstDash val="lgDash"/>
                        <a:tailEnd type="triangle"/>
                      </a:ln>
                    </p:spPr>
                    <p:style>
                      <a:lnRef idx="1">
                        <a:schemeClr val="dk1"/>
                      </a:lnRef>
                      <a:fillRef idx="0">
                        <a:schemeClr val="dk1"/>
                      </a:fillRef>
                      <a:effectRef idx="0">
                        <a:schemeClr val="dk1"/>
                      </a:effectRef>
                      <a:fontRef idx="minor">
                        <a:schemeClr val="tx1"/>
                      </a:fontRef>
                    </p:style>
                  </p:cxnSp>
                  <p:cxnSp>
                    <p:nvCxnSpPr>
                      <p:cNvPr id="214" name="直線單箭頭接點 213">
                        <a:extLst>
                          <a:ext uri="{FF2B5EF4-FFF2-40B4-BE49-F238E27FC236}">
                            <a16:creationId xmlns:a16="http://schemas.microsoft.com/office/drawing/2014/main" id="{4BDF3B7F-8E5B-4319-9EE9-762880D6C0FB}"/>
                          </a:ext>
                        </a:extLst>
                      </p:cNvPr>
                      <p:cNvCxnSpPr>
                        <a:cxnSpLocks/>
                      </p:cNvCxnSpPr>
                      <p:nvPr/>
                    </p:nvCxnSpPr>
                    <p:spPr>
                      <a:xfrm rot="229211">
                        <a:off x="29463" y="759118"/>
                        <a:ext cx="686394" cy="361055"/>
                      </a:xfrm>
                      <a:prstGeom prst="straightConnector1">
                        <a:avLst/>
                      </a:prstGeom>
                      <a:ln>
                        <a:prstDash val="lgDash"/>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211" name="文字方塊 137">
                          <a:extLst>
                            <a:ext uri="{FF2B5EF4-FFF2-40B4-BE49-F238E27FC236}">
                              <a16:creationId xmlns:a16="http://schemas.microsoft.com/office/drawing/2014/main" id="{5789B2AC-D788-4160-A5F0-C0FF5DD8FEB4}"/>
                            </a:ext>
                          </a:extLst>
                        </p:cNvPr>
                        <p:cNvSpPr txBox="1"/>
                        <p:nvPr/>
                      </p:nvSpPr>
                      <p:spPr>
                        <a:xfrm rot="20978109">
                          <a:off x="429401" y="62739"/>
                          <a:ext cx="269563" cy="32199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zh-TW" altLang="en-US" sz="1200" i="1" smtClean="0">
                                        <a:latin typeface="Cambria Math" panose="02040503050406030204" pitchFamily="18" charset="0"/>
                                      </a:rPr>
                                    </m:ctrlPr>
                                  </m:sSubPr>
                                  <m:e>
                                    <m:r>
                                      <a:rPr lang="en-US" altLang="zh-TW" sz="1200" b="0" i="1" smtClean="0">
                                        <a:latin typeface="Cambria Math" panose="02040503050406030204" pitchFamily="18" charset="0"/>
                                      </a:rPr>
                                      <m:t>𝑧</m:t>
                                    </m:r>
                                  </m:e>
                                  <m:sub>
                                    <m:r>
                                      <a:rPr lang="en-US" altLang="zh-TW" sz="1200" b="0" i="1" smtClean="0">
                                        <a:latin typeface="Cambria Math" panose="02040503050406030204" pitchFamily="18" charset="0"/>
                                      </a:rPr>
                                      <m:t>𝑝</m:t>
                                    </m:r>
                                  </m:sub>
                                </m:sSub>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211" name="文字方塊 137">
                          <a:extLst>
                            <a:ext uri="{FF2B5EF4-FFF2-40B4-BE49-F238E27FC236}">
                              <a16:creationId xmlns:a16="http://schemas.microsoft.com/office/drawing/2014/main" id="{5789B2AC-D788-4160-A5F0-C0FF5DD8FEB4}"/>
                            </a:ext>
                          </a:extLst>
                        </p:cNvPr>
                        <p:cNvSpPr txBox="1">
                          <a:spLocks noRot="1" noChangeAspect="1" noMove="1" noResize="1" noEditPoints="1" noAdjustHandles="1" noChangeArrowheads="1" noChangeShapeType="1" noTextEdit="1"/>
                        </p:cNvSpPr>
                        <p:nvPr/>
                      </p:nvSpPr>
                      <p:spPr>
                        <a:xfrm rot="20978109">
                          <a:off x="429401" y="62739"/>
                          <a:ext cx="269563" cy="321998"/>
                        </a:xfrm>
                        <a:prstGeom prst="rect">
                          <a:avLst/>
                        </a:prstGeom>
                        <a:blipFill>
                          <a:blip r:embed="rId12"/>
                          <a:stretch>
                            <a:fillRect/>
                          </a:stretch>
                        </a:blipFill>
                        <a:ln w="6350">
                          <a:noFill/>
                        </a:ln>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206" name="文字方塊 185">
                        <a:extLst>
                          <a:ext uri="{FF2B5EF4-FFF2-40B4-BE49-F238E27FC236}">
                            <a16:creationId xmlns:a16="http://schemas.microsoft.com/office/drawing/2014/main" id="{5A5823EB-D4F9-402E-B1AF-E9279FDF8C81}"/>
                          </a:ext>
                        </a:extLst>
                      </p:cNvPr>
                      <p:cNvSpPr txBox="1"/>
                      <p:nvPr/>
                    </p:nvSpPr>
                    <p:spPr>
                      <a:xfrm>
                        <a:off x="8238497" y="4932992"/>
                        <a:ext cx="515059" cy="6437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r>
                                <m:rPr>
                                  <m:sty m:val="p"/>
                                </m:rPr>
                                <a:rPr lang="en-US" sz="1200" kern="100">
                                  <a:effectLst/>
                                  <a:latin typeface="Cambria Math" panose="02040503050406030204" pitchFamily="18" charset="0"/>
                                  <a:ea typeface="新細明體" panose="02020500000000000000" pitchFamily="18" charset="-120"/>
                                  <a:cs typeface="Times New Roman" panose="02020603050405020304" pitchFamily="18" charset="0"/>
                                </a:rPr>
                                <m:t>θ</m:t>
                              </m:r>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206" name="文字方塊 185">
                        <a:extLst>
                          <a:ext uri="{FF2B5EF4-FFF2-40B4-BE49-F238E27FC236}">
                            <a16:creationId xmlns:a16="http://schemas.microsoft.com/office/drawing/2014/main" id="{5A5823EB-D4F9-402E-B1AF-E9279FDF8C81}"/>
                          </a:ext>
                        </a:extLst>
                      </p:cNvPr>
                      <p:cNvSpPr txBox="1">
                        <a:spLocks noRot="1" noChangeAspect="1" noMove="1" noResize="1" noEditPoints="1" noAdjustHandles="1" noChangeArrowheads="1" noChangeShapeType="1" noTextEdit="1"/>
                      </p:cNvSpPr>
                      <p:nvPr/>
                    </p:nvSpPr>
                    <p:spPr>
                      <a:xfrm>
                        <a:off x="8238497" y="4932992"/>
                        <a:ext cx="515059" cy="643750"/>
                      </a:xfrm>
                      <a:prstGeom prst="rect">
                        <a:avLst/>
                      </a:prstGeom>
                      <a:blipFill>
                        <a:blip r:embed="rId13"/>
                        <a:stretch>
                          <a:fillRect/>
                        </a:stretch>
                      </a:blipFill>
                      <a:ln w="6350">
                        <a:noFill/>
                      </a:ln>
                    </p:spPr>
                    <p:txBody>
                      <a:bodyPr/>
                      <a:lstStyle/>
                      <a:p>
                        <a:r>
                          <a:rPr lang="zh-TW" altLang="en-US">
                            <a:noFill/>
                          </a:rPr>
                          <a:t> </a:t>
                        </a:r>
                      </a:p>
                    </p:txBody>
                  </p:sp>
                </mc:Fallback>
              </mc:AlternateContent>
              <p:grpSp>
                <p:nvGrpSpPr>
                  <p:cNvPr id="193" name="群組 192">
                    <a:extLst>
                      <a:ext uri="{FF2B5EF4-FFF2-40B4-BE49-F238E27FC236}">
                        <a16:creationId xmlns:a16="http://schemas.microsoft.com/office/drawing/2014/main" id="{539DE016-A130-4819-955D-C209A97F5592}"/>
                      </a:ext>
                    </a:extLst>
                  </p:cNvPr>
                  <p:cNvGrpSpPr/>
                  <p:nvPr/>
                </p:nvGrpSpPr>
                <p:grpSpPr>
                  <a:xfrm>
                    <a:off x="7630183" y="4139274"/>
                    <a:ext cx="2186087" cy="1586230"/>
                    <a:chOff x="8909260" y="4069603"/>
                    <a:chExt cx="1143721" cy="793115"/>
                  </a:xfrm>
                </p:grpSpPr>
                <p:grpSp>
                  <p:nvGrpSpPr>
                    <p:cNvPr id="195" name="群組 194">
                      <a:extLst>
                        <a:ext uri="{FF2B5EF4-FFF2-40B4-BE49-F238E27FC236}">
                          <a16:creationId xmlns:a16="http://schemas.microsoft.com/office/drawing/2014/main" id="{373C6D5D-722A-4ADD-9901-B86A5B95FA4A}"/>
                        </a:ext>
                      </a:extLst>
                    </p:cNvPr>
                    <p:cNvGrpSpPr/>
                    <p:nvPr/>
                  </p:nvGrpSpPr>
                  <p:grpSpPr>
                    <a:xfrm>
                      <a:off x="8909260" y="4069603"/>
                      <a:ext cx="1141730" cy="793115"/>
                      <a:chOff x="8909260" y="4069603"/>
                      <a:chExt cx="1141730" cy="793115"/>
                    </a:xfrm>
                  </p:grpSpPr>
                  <p:cxnSp>
                    <p:nvCxnSpPr>
                      <p:cNvPr id="197" name="直線接點 196">
                        <a:extLst>
                          <a:ext uri="{FF2B5EF4-FFF2-40B4-BE49-F238E27FC236}">
                            <a16:creationId xmlns:a16="http://schemas.microsoft.com/office/drawing/2014/main" id="{74B9BE70-3B58-44FE-BE78-BDC793051BEF}"/>
                          </a:ext>
                        </a:extLst>
                      </p:cNvPr>
                      <p:cNvCxnSpPr/>
                      <p:nvPr/>
                    </p:nvCxnSpPr>
                    <p:spPr>
                      <a:xfrm flipH="1" flipV="1">
                        <a:off x="10047815" y="4134373"/>
                        <a:ext cx="3175" cy="728345"/>
                      </a:xfrm>
                      <a:prstGeom prst="line">
                        <a:avLst/>
                      </a:prstGeom>
                    </p:spPr>
                    <p:style>
                      <a:lnRef idx="1">
                        <a:schemeClr val="dk1"/>
                      </a:lnRef>
                      <a:fillRef idx="0">
                        <a:schemeClr val="dk1"/>
                      </a:fillRef>
                      <a:effectRef idx="0">
                        <a:schemeClr val="dk1"/>
                      </a:effectRef>
                      <a:fontRef idx="minor">
                        <a:schemeClr val="tx1"/>
                      </a:fontRef>
                    </p:style>
                  </p:cxnSp>
                  <p:cxnSp>
                    <p:nvCxnSpPr>
                      <p:cNvPr id="198" name="直線接點 197">
                        <a:extLst>
                          <a:ext uri="{FF2B5EF4-FFF2-40B4-BE49-F238E27FC236}">
                            <a16:creationId xmlns:a16="http://schemas.microsoft.com/office/drawing/2014/main" id="{086E19F7-1EBE-401D-952C-FBC496AFCC06}"/>
                          </a:ext>
                        </a:extLst>
                      </p:cNvPr>
                      <p:cNvCxnSpPr/>
                      <p:nvPr/>
                    </p:nvCxnSpPr>
                    <p:spPr>
                      <a:xfrm>
                        <a:off x="8909260" y="4829063"/>
                        <a:ext cx="104775" cy="0"/>
                      </a:xfrm>
                      <a:prstGeom prst="line">
                        <a:avLst/>
                      </a:prstGeom>
                    </p:spPr>
                    <p:style>
                      <a:lnRef idx="1">
                        <a:schemeClr val="dk1"/>
                      </a:lnRef>
                      <a:fillRef idx="0">
                        <a:schemeClr val="dk1"/>
                      </a:fillRef>
                      <a:effectRef idx="0">
                        <a:schemeClr val="dk1"/>
                      </a:effectRef>
                      <a:fontRef idx="minor">
                        <a:schemeClr val="tx1"/>
                      </a:fontRef>
                    </p:style>
                  </p:cxnSp>
                  <p:cxnSp>
                    <p:nvCxnSpPr>
                      <p:cNvPr id="199" name="直線接點 198">
                        <a:extLst>
                          <a:ext uri="{FF2B5EF4-FFF2-40B4-BE49-F238E27FC236}">
                            <a16:creationId xmlns:a16="http://schemas.microsoft.com/office/drawing/2014/main" id="{AE155DE2-AD40-4C57-9F71-D741F03F7D05}"/>
                          </a:ext>
                        </a:extLst>
                      </p:cNvPr>
                      <p:cNvCxnSpPr/>
                      <p:nvPr/>
                    </p:nvCxnSpPr>
                    <p:spPr>
                      <a:xfrm flipH="1" flipV="1">
                        <a:off x="8911165" y="4137548"/>
                        <a:ext cx="1905" cy="693420"/>
                      </a:xfrm>
                      <a:prstGeom prst="line">
                        <a:avLst/>
                      </a:prstGeom>
                    </p:spPr>
                    <p:style>
                      <a:lnRef idx="1">
                        <a:schemeClr val="dk1"/>
                      </a:lnRef>
                      <a:fillRef idx="0">
                        <a:schemeClr val="dk1"/>
                      </a:fillRef>
                      <a:effectRef idx="0">
                        <a:schemeClr val="dk1"/>
                      </a:effectRef>
                      <a:fontRef idx="minor">
                        <a:schemeClr val="tx1"/>
                      </a:fontRef>
                    </p:style>
                  </p:cxnSp>
                  <p:cxnSp>
                    <p:nvCxnSpPr>
                      <p:cNvPr id="200" name="直線接點 199">
                        <a:extLst>
                          <a:ext uri="{FF2B5EF4-FFF2-40B4-BE49-F238E27FC236}">
                            <a16:creationId xmlns:a16="http://schemas.microsoft.com/office/drawing/2014/main" id="{A77DB971-6202-43CB-8D8A-08AAC52A4802}"/>
                          </a:ext>
                        </a:extLst>
                      </p:cNvPr>
                      <p:cNvCxnSpPr/>
                      <p:nvPr/>
                    </p:nvCxnSpPr>
                    <p:spPr>
                      <a:xfrm flipV="1">
                        <a:off x="8909260" y="4137548"/>
                        <a:ext cx="563245" cy="1905"/>
                      </a:xfrm>
                      <a:prstGeom prst="line">
                        <a:avLst/>
                      </a:prstGeom>
                    </p:spPr>
                    <p:style>
                      <a:lnRef idx="1">
                        <a:schemeClr val="dk1"/>
                      </a:lnRef>
                      <a:fillRef idx="0">
                        <a:schemeClr val="dk1"/>
                      </a:fillRef>
                      <a:effectRef idx="0">
                        <a:schemeClr val="dk1"/>
                      </a:effectRef>
                      <a:fontRef idx="minor">
                        <a:schemeClr val="tx1"/>
                      </a:fontRef>
                    </p:style>
                  </p:cxnSp>
                  <p:cxnSp>
                    <p:nvCxnSpPr>
                      <p:cNvPr id="201" name="直線接點 200">
                        <a:extLst>
                          <a:ext uri="{FF2B5EF4-FFF2-40B4-BE49-F238E27FC236}">
                            <a16:creationId xmlns:a16="http://schemas.microsoft.com/office/drawing/2014/main" id="{D8D7DAF7-C12C-4BD9-AEF8-4B46AE046C15}"/>
                          </a:ext>
                        </a:extLst>
                      </p:cNvPr>
                      <p:cNvCxnSpPr/>
                      <p:nvPr/>
                    </p:nvCxnSpPr>
                    <p:spPr>
                      <a:xfrm>
                        <a:off x="9495365" y="4137548"/>
                        <a:ext cx="553720" cy="0"/>
                      </a:xfrm>
                      <a:prstGeom prst="line">
                        <a:avLst/>
                      </a:prstGeom>
                    </p:spPr>
                    <p:style>
                      <a:lnRef idx="1">
                        <a:schemeClr val="dk1"/>
                      </a:lnRef>
                      <a:fillRef idx="0">
                        <a:schemeClr val="dk1"/>
                      </a:fillRef>
                      <a:effectRef idx="0">
                        <a:schemeClr val="dk1"/>
                      </a:effectRef>
                      <a:fontRef idx="minor">
                        <a:schemeClr val="tx1"/>
                      </a:fontRef>
                    </p:style>
                  </p:cxnSp>
                  <p:cxnSp>
                    <p:nvCxnSpPr>
                      <p:cNvPr id="202" name="直線接點 201">
                        <a:extLst>
                          <a:ext uri="{FF2B5EF4-FFF2-40B4-BE49-F238E27FC236}">
                            <a16:creationId xmlns:a16="http://schemas.microsoft.com/office/drawing/2014/main" id="{C480F9F2-AA5E-4884-ABAB-96FB438B396F}"/>
                          </a:ext>
                        </a:extLst>
                      </p:cNvPr>
                      <p:cNvCxnSpPr/>
                      <p:nvPr/>
                    </p:nvCxnSpPr>
                    <p:spPr>
                      <a:xfrm flipH="1" flipV="1">
                        <a:off x="9498540" y="4069603"/>
                        <a:ext cx="0" cy="146685"/>
                      </a:xfrm>
                      <a:prstGeom prst="line">
                        <a:avLst/>
                      </a:prstGeom>
                    </p:spPr>
                    <p:style>
                      <a:lnRef idx="1">
                        <a:schemeClr val="dk1"/>
                      </a:lnRef>
                      <a:fillRef idx="0">
                        <a:schemeClr val="dk1"/>
                      </a:fillRef>
                      <a:effectRef idx="0">
                        <a:schemeClr val="dk1"/>
                      </a:effectRef>
                      <a:fontRef idx="minor">
                        <a:schemeClr val="tx1"/>
                      </a:fontRef>
                    </p:style>
                  </p:cxnSp>
                  <p:cxnSp>
                    <p:nvCxnSpPr>
                      <p:cNvPr id="203" name="直線接點 202">
                        <a:extLst>
                          <a:ext uri="{FF2B5EF4-FFF2-40B4-BE49-F238E27FC236}">
                            <a16:creationId xmlns:a16="http://schemas.microsoft.com/office/drawing/2014/main" id="{53A2FD43-58B5-456F-9F8D-09EB1FBC2180}"/>
                          </a:ext>
                        </a:extLst>
                      </p:cNvPr>
                      <p:cNvCxnSpPr/>
                      <p:nvPr/>
                    </p:nvCxnSpPr>
                    <p:spPr>
                      <a:xfrm flipH="1" flipV="1">
                        <a:off x="9476950" y="4097543"/>
                        <a:ext cx="0" cy="95885"/>
                      </a:xfrm>
                      <a:prstGeom prst="line">
                        <a:avLst/>
                      </a:prstGeom>
                    </p:spPr>
                    <p:style>
                      <a:lnRef idx="1">
                        <a:schemeClr val="dk1"/>
                      </a:lnRef>
                      <a:fillRef idx="0">
                        <a:schemeClr val="dk1"/>
                      </a:fillRef>
                      <a:effectRef idx="0">
                        <a:schemeClr val="dk1"/>
                      </a:effectRef>
                      <a:fontRef idx="minor">
                        <a:schemeClr val="tx1"/>
                      </a:fontRef>
                    </p:style>
                  </p:cxnSp>
                </p:grpSp>
                <p:cxnSp>
                  <p:nvCxnSpPr>
                    <p:cNvPr id="196" name="直線接點 195">
                      <a:extLst>
                        <a:ext uri="{FF2B5EF4-FFF2-40B4-BE49-F238E27FC236}">
                          <a16:creationId xmlns:a16="http://schemas.microsoft.com/office/drawing/2014/main" id="{ED824F39-1CD0-4D08-BC91-0ACD49DB23F7}"/>
                        </a:ext>
                      </a:extLst>
                    </p:cNvPr>
                    <p:cNvCxnSpPr>
                      <a:cxnSpLocks/>
                    </p:cNvCxnSpPr>
                    <p:nvPr/>
                  </p:nvCxnSpPr>
                  <p:spPr>
                    <a:xfrm>
                      <a:off x="9811226" y="4860135"/>
                      <a:ext cx="241755" cy="0"/>
                    </a:xfrm>
                    <a:prstGeom prst="line">
                      <a:avLst/>
                    </a:prstGeom>
                  </p:spPr>
                  <p:style>
                    <a:lnRef idx="1">
                      <a:schemeClr val="dk1"/>
                    </a:lnRef>
                    <a:fillRef idx="0">
                      <a:schemeClr val="dk1"/>
                    </a:fillRef>
                    <a:effectRef idx="0">
                      <a:schemeClr val="dk1"/>
                    </a:effectRef>
                    <a:fontRef idx="minor">
                      <a:schemeClr val="tx1"/>
                    </a:fontRef>
                  </p:style>
                </p:cxnSp>
              </p:grpSp>
              <p:sp>
                <p:nvSpPr>
                  <p:cNvPr id="194" name="弧形 193">
                    <a:extLst>
                      <a:ext uri="{FF2B5EF4-FFF2-40B4-BE49-F238E27FC236}">
                        <a16:creationId xmlns:a16="http://schemas.microsoft.com/office/drawing/2014/main" id="{D4B9936D-7898-4610-BEEF-33FF6144E65D}"/>
                      </a:ext>
                    </a:extLst>
                  </p:cNvPr>
                  <p:cNvSpPr/>
                  <p:nvPr/>
                </p:nvSpPr>
                <p:spPr>
                  <a:xfrm rot="17057495">
                    <a:off x="8282240" y="5189091"/>
                    <a:ext cx="584066" cy="589816"/>
                  </a:xfrm>
                  <a:prstGeom prst="arc">
                    <a:avLst>
                      <a:gd name="adj1" fmla="val 18938785"/>
                      <a:gd name="adj2" fmla="val 21417747"/>
                    </a:avLst>
                  </a:prstGeom>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mc:AlternateContent xmlns:mc="http://schemas.openxmlformats.org/markup-compatibility/2006" xmlns:a14="http://schemas.microsoft.com/office/drawing/2010/main">
                <mc:Choice Requires="a14">
                  <p:sp>
                    <p:nvSpPr>
                      <p:cNvPr id="226" name="文字方塊 131">
                        <a:extLst>
                          <a:ext uri="{FF2B5EF4-FFF2-40B4-BE49-F238E27FC236}">
                            <a16:creationId xmlns:a16="http://schemas.microsoft.com/office/drawing/2014/main" id="{80361D7F-8F74-43D7-9F66-56592DBC7683}"/>
                          </a:ext>
                        </a:extLst>
                      </p:cNvPr>
                      <p:cNvSpPr txBox="1"/>
                      <p:nvPr/>
                    </p:nvSpPr>
                    <p:spPr>
                      <a:xfrm>
                        <a:off x="7386395" y="6084239"/>
                        <a:ext cx="515078" cy="64383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zh-TW" altLang="en-US" sz="1200" i="1" smtClean="0">
                                      <a:latin typeface="Cambria Math" panose="02040503050406030204" pitchFamily="18" charset="0"/>
                                    </a:rPr>
                                  </m:ctrlPr>
                                </m:sSubPr>
                                <m:e>
                                  <m:r>
                                    <a:rPr lang="en-US" altLang="zh-TW" sz="1200" b="0" i="1" smtClean="0">
                                      <a:latin typeface="Cambria Math" panose="02040503050406030204" pitchFamily="18" charset="0"/>
                                    </a:rPr>
                                    <m:t>𝑦</m:t>
                                  </m:r>
                                </m:e>
                                <m:sub>
                                  <m:r>
                                    <a:rPr lang="en-US" altLang="zh-TW" sz="1200" b="0" i="1" smtClean="0">
                                      <a:latin typeface="Cambria Math" panose="02040503050406030204" pitchFamily="18" charset="0"/>
                                    </a:rPr>
                                    <m:t>𝑝</m:t>
                                  </m:r>
                                </m:sub>
                              </m:sSub>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226" name="文字方塊 131">
                        <a:extLst>
                          <a:ext uri="{FF2B5EF4-FFF2-40B4-BE49-F238E27FC236}">
                            <a16:creationId xmlns:a16="http://schemas.microsoft.com/office/drawing/2014/main" id="{80361D7F-8F74-43D7-9F66-56592DBC7683}"/>
                          </a:ext>
                        </a:extLst>
                      </p:cNvPr>
                      <p:cNvSpPr txBox="1">
                        <a:spLocks noRot="1" noChangeAspect="1" noMove="1" noResize="1" noEditPoints="1" noAdjustHandles="1" noChangeArrowheads="1" noChangeShapeType="1" noTextEdit="1"/>
                      </p:cNvSpPr>
                      <p:nvPr/>
                    </p:nvSpPr>
                    <p:spPr>
                      <a:xfrm>
                        <a:off x="7386395" y="6084239"/>
                        <a:ext cx="515078" cy="643837"/>
                      </a:xfrm>
                      <a:prstGeom prst="rect">
                        <a:avLst/>
                      </a:prstGeom>
                      <a:blipFill>
                        <a:blip r:embed="rId14"/>
                        <a:stretch>
                          <a:fillRect/>
                        </a:stretch>
                      </a:blipFill>
                      <a:ln w="6350">
                        <a:noFill/>
                      </a:ln>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1A347EB6-C96B-475E-9CEF-D5F26CB6CF11}"/>
                        </a:ext>
                      </a:extLst>
                    </p:cNvPr>
                    <p:cNvSpPr/>
                    <p:nvPr/>
                  </p:nvSpPr>
                  <p:spPr>
                    <a:xfrm>
                      <a:off x="8566191" y="4380766"/>
                      <a:ext cx="816121" cy="24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zh-TW" altLang="en-US" sz="1000" i="1" smtClean="0">
                                    <a:latin typeface="Cambria Math" panose="02040503050406030204" pitchFamily="18" charset="0"/>
                                  </a:rPr>
                                </m:ctrlPr>
                              </m:dPr>
                              <m:e>
                                <m:r>
                                  <a:rPr lang="en-US" altLang="zh-TW" sz="1000" b="0" i="1" smtClean="0">
                                    <a:latin typeface="Cambria Math" panose="02040503050406030204" pitchFamily="18" charset="0"/>
                                  </a:rPr>
                                  <m:t>𝑂𝑟𝑖𝑔𝑖𝑛𝑎𝑙</m:t>
                                </m:r>
                              </m:e>
                            </m:d>
                          </m:oMath>
                        </m:oMathPara>
                      </a14:m>
                      <a:endParaRPr lang="zh-TW" altLang="en-US" sz="1000" dirty="0"/>
                    </a:p>
                  </p:txBody>
                </p:sp>
              </mc:Choice>
              <mc:Fallback xmlns="">
                <p:sp>
                  <p:nvSpPr>
                    <p:cNvPr id="42" name="矩形 41">
                      <a:extLst>
                        <a:ext uri="{FF2B5EF4-FFF2-40B4-BE49-F238E27FC236}">
                          <a16:creationId xmlns:a16="http://schemas.microsoft.com/office/drawing/2014/main" id="{1A347EB6-C96B-475E-9CEF-D5F26CB6CF11}"/>
                        </a:ext>
                      </a:extLst>
                    </p:cNvPr>
                    <p:cNvSpPr>
                      <a:spLocks noRot="1" noChangeAspect="1" noMove="1" noResize="1" noEditPoints="1" noAdjustHandles="1" noChangeArrowheads="1" noChangeShapeType="1" noTextEdit="1"/>
                    </p:cNvSpPr>
                    <p:nvPr/>
                  </p:nvSpPr>
                  <p:spPr>
                    <a:xfrm>
                      <a:off x="8566191" y="4380766"/>
                      <a:ext cx="816121" cy="246221"/>
                    </a:xfrm>
                    <a:prstGeom prst="rect">
                      <a:avLst/>
                    </a:prstGeom>
                    <a:blipFill>
                      <a:blip r:embed="rId15"/>
                      <a:stretch>
                        <a:fillRect b="-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7" name="矩形 226">
                      <a:extLst>
                        <a:ext uri="{FF2B5EF4-FFF2-40B4-BE49-F238E27FC236}">
                          <a16:creationId xmlns:a16="http://schemas.microsoft.com/office/drawing/2014/main" id="{A5C6B824-FBD4-4A42-B07F-3E4FEB6B073F}"/>
                        </a:ext>
                      </a:extLst>
                    </p:cNvPr>
                    <p:cNvSpPr/>
                    <p:nvPr/>
                  </p:nvSpPr>
                  <p:spPr>
                    <a:xfrm>
                      <a:off x="7779957" y="4470781"/>
                      <a:ext cx="837537" cy="253916"/>
                    </a:xfrm>
                    <a:prstGeom prst="rect">
                      <a:avLst/>
                    </a:prstGeom>
                  </p:spPr>
                  <p:txBody>
                    <a:bodyPr wrap="none">
                      <a:spAutoFit/>
                    </a:bodyPr>
                    <a:lstStyle/>
                    <a:p>
                      <a14:m>
                        <m:oMath xmlns:m="http://schemas.openxmlformats.org/officeDocument/2006/math">
                          <m:r>
                            <a:rPr lang="en-US" altLang="zh-TW" sz="1000" b="0" i="1" smtClean="0">
                              <a:latin typeface="Cambria Math" panose="02040503050406030204" pitchFamily="18" charset="0"/>
                            </a:rPr>
                            <m:t>(</m:t>
                          </m:r>
                          <m:r>
                            <a:rPr lang="en-US" altLang="zh-TW" sz="1000" i="1" smtClean="0">
                              <a:latin typeface="Cambria Math" panose="02040503050406030204" pitchFamily="18" charset="0"/>
                            </a:rPr>
                            <m:t>𝑢</m:t>
                          </m:r>
                          <m:r>
                            <a:rPr lang="en-US" altLang="zh-TW" sz="1000" b="0" i="1" smtClean="0">
                              <a:latin typeface="Cambria Math" panose="02040503050406030204" pitchFamily="18" charset="0"/>
                            </a:rPr>
                            <m:t>𝑛𝑑𝑒𝑟</m:t>
                          </m:r>
                          <m:r>
                            <a:rPr lang="en-US" altLang="zh-TW" sz="1000" b="0" i="1" smtClean="0">
                              <a:latin typeface="Cambria Math" panose="02040503050406030204" pitchFamily="18" charset="0"/>
                            </a:rPr>
                            <m:t> </m:t>
                          </m:r>
                          <m:r>
                            <a:rPr lang="en-US" altLang="zh-TW" sz="1000" b="0" i="1" smtClean="0">
                              <a:latin typeface="Cambria Math" panose="02040503050406030204" pitchFamily="18" charset="0"/>
                            </a:rPr>
                            <m:t>𝐸𝑦</m:t>
                          </m:r>
                        </m:oMath>
                      </a14:m>
                      <a:r>
                        <a:rPr lang="en-US" altLang="zh-TW" sz="1000" dirty="0"/>
                        <a:t>)</a:t>
                      </a:r>
                      <a:endParaRPr lang="zh-TW" altLang="en-US" sz="1000" dirty="0"/>
                    </a:p>
                  </p:txBody>
                </p:sp>
              </mc:Choice>
              <mc:Fallback xmlns="">
                <p:sp>
                  <p:nvSpPr>
                    <p:cNvPr id="227" name="矩形 226">
                      <a:extLst>
                        <a:ext uri="{FF2B5EF4-FFF2-40B4-BE49-F238E27FC236}">
                          <a16:creationId xmlns:a16="http://schemas.microsoft.com/office/drawing/2014/main" id="{A5C6B824-FBD4-4A42-B07F-3E4FEB6B073F}"/>
                        </a:ext>
                      </a:extLst>
                    </p:cNvPr>
                    <p:cNvSpPr>
                      <a:spLocks noRot="1" noChangeAspect="1" noMove="1" noResize="1" noEditPoints="1" noAdjustHandles="1" noChangeArrowheads="1" noChangeShapeType="1" noTextEdit="1"/>
                    </p:cNvSpPr>
                    <p:nvPr/>
                  </p:nvSpPr>
                  <p:spPr>
                    <a:xfrm>
                      <a:off x="7779957" y="4470781"/>
                      <a:ext cx="837537" cy="253916"/>
                    </a:xfrm>
                    <a:prstGeom prst="rect">
                      <a:avLst/>
                    </a:prstGeom>
                    <a:blipFill>
                      <a:blip r:embed="rId16"/>
                      <a:stretch>
                        <a:fillRect b="-11905"/>
                      </a:stretch>
                    </a:blipFill>
                  </p:spPr>
                  <p:txBody>
                    <a:bodyPr/>
                    <a:lstStyle/>
                    <a:p>
                      <a:r>
                        <a:rPr lang="zh-TW" altLang="en-US">
                          <a:noFill/>
                        </a:rPr>
                        <a:t> </a:t>
                      </a:r>
                    </a:p>
                  </p:txBody>
                </p:sp>
              </mc:Fallback>
            </mc:AlternateContent>
          </p:grpSp>
        </p:grpSp>
        <p:cxnSp>
          <p:nvCxnSpPr>
            <p:cNvPr id="60" name="直線單箭頭接點 59">
              <a:extLst>
                <a:ext uri="{FF2B5EF4-FFF2-40B4-BE49-F238E27FC236}">
                  <a16:creationId xmlns:a16="http://schemas.microsoft.com/office/drawing/2014/main" id="{8BD531D0-FCCC-4A86-A25A-F2BA56991B16}"/>
                </a:ext>
              </a:extLst>
            </p:cNvPr>
            <p:cNvCxnSpPr>
              <a:cxnSpLocks/>
            </p:cNvCxnSpPr>
            <p:nvPr/>
          </p:nvCxnSpPr>
          <p:spPr>
            <a:xfrm flipH="1" flipV="1">
              <a:off x="9720559" y="5383384"/>
              <a:ext cx="3122" cy="10039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2" name="矩形 61">
              <a:extLst>
                <a:ext uri="{FF2B5EF4-FFF2-40B4-BE49-F238E27FC236}">
                  <a16:creationId xmlns:a16="http://schemas.microsoft.com/office/drawing/2014/main" id="{EC8EA2D2-800F-4C62-86FA-6B793098D102}"/>
                </a:ext>
              </a:extLst>
            </p:cNvPr>
            <p:cNvSpPr/>
            <p:nvPr/>
          </p:nvSpPr>
          <p:spPr>
            <a:xfrm>
              <a:off x="9721167" y="5607880"/>
              <a:ext cx="389466" cy="369332"/>
            </a:xfrm>
            <a:prstGeom prst="rect">
              <a:avLst/>
            </a:prstGeom>
          </p:spPr>
          <p:txBody>
            <a:bodyPr wrap="none">
              <a:spAutoFit/>
            </a:bodyPr>
            <a:lstStyle/>
            <a:p>
              <a:r>
                <a:rPr lang="en-US" altLang="zh-TW" dirty="0"/>
                <a:t>Ps</a:t>
              </a:r>
              <a:endParaRPr lang="zh-TW" altLang="en-US" dirty="0"/>
            </a:p>
          </p:txBody>
        </p:sp>
      </p:grpSp>
      <p:sp>
        <p:nvSpPr>
          <p:cNvPr id="4" name="投影片編號版面配置區 3">
            <a:extLst>
              <a:ext uri="{FF2B5EF4-FFF2-40B4-BE49-F238E27FC236}">
                <a16:creationId xmlns:a16="http://schemas.microsoft.com/office/drawing/2014/main" id="{14A7C8E5-A062-4971-A83C-CA023B29D369}"/>
              </a:ext>
            </a:extLst>
          </p:cNvPr>
          <p:cNvSpPr>
            <a:spLocks noGrp="1"/>
          </p:cNvSpPr>
          <p:nvPr>
            <p:ph type="sldNum" sz="quarter" idx="12"/>
          </p:nvPr>
        </p:nvSpPr>
        <p:spPr>
          <a:xfrm>
            <a:off x="9454580" y="6484834"/>
            <a:ext cx="2743200" cy="365125"/>
          </a:xfrm>
        </p:spPr>
        <p:txBody>
          <a:bodyPr/>
          <a:lstStyle/>
          <a:p>
            <a:fld id="{29723A01-8C65-4E4C-95BB-6D96843E9278}" type="slidenum">
              <a:rPr lang="zh-TW" altLang="en-US" smtClean="0"/>
              <a:t>9</a:t>
            </a:fld>
            <a:endParaRPr lang="zh-TW" altLang="en-US"/>
          </a:p>
        </p:txBody>
      </p:sp>
      <p:grpSp>
        <p:nvGrpSpPr>
          <p:cNvPr id="55" name="群組 54">
            <a:extLst>
              <a:ext uri="{FF2B5EF4-FFF2-40B4-BE49-F238E27FC236}">
                <a16:creationId xmlns:a16="http://schemas.microsoft.com/office/drawing/2014/main" id="{A0CB1DD5-BAC5-4EA3-BBE1-49682D89A62F}"/>
              </a:ext>
            </a:extLst>
          </p:cNvPr>
          <p:cNvGrpSpPr/>
          <p:nvPr/>
        </p:nvGrpSpPr>
        <p:grpSpPr>
          <a:xfrm>
            <a:off x="9381621" y="3443681"/>
            <a:ext cx="2492335" cy="2834745"/>
            <a:chOff x="8391877" y="3884607"/>
            <a:chExt cx="2492335" cy="2834745"/>
          </a:xfrm>
        </p:grpSpPr>
        <p:grpSp>
          <p:nvGrpSpPr>
            <p:cNvPr id="56" name="群組 55">
              <a:extLst>
                <a:ext uri="{FF2B5EF4-FFF2-40B4-BE49-F238E27FC236}">
                  <a16:creationId xmlns:a16="http://schemas.microsoft.com/office/drawing/2014/main" id="{394923B4-01B9-42C9-B6D4-6DC3B6A285C1}"/>
                </a:ext>
              </a:extLst>
            </p:cNvPr>
            <p:cNvGrpSpPr/>
            <p:nvPr/>
          </p:nvGrpSpPr>
          <p:grpSpPr>
            <a:xfrm>
              <a:off x="8391877" y="3884607"/>
              <a:ext cx="2492335" cy="2834745"/>
              <a:chOff x="7630183" y="3824212"/>
              <a:chExt cx="2492335" cy="2834745"/>
            </a:xfrm>
          </p:grpSpPr>
          <mc:AlternateContent xmlns:mc="http://schemas.openxmlformats.org/markup-compatibility/2006" xmlns:a14="http://schemas.microsoft.com/office/drawing/2010/main">
            <mc:Choice Requires="a14">
              <p:sp>
                <p:nvSpPr>
                  <p:cNvPr id="61" name="矩形 60">
                    <a:extLst>
                      <a:ext uri="{FF2B5EF4-FFF2-40B4-BE49-F238E27FC236}">
                        <a16:creationId xmlns:a16="http://schemas.microsoft.com/office/drawing/2014/main" id="{F997963F-4E69-45B0-9E1D-A7D33F06158B}"/>
                      </a:ext>
                    </a:extLst>
                  </p:cNvPr>
                  <p:cNvSpPr/>
                  <p:nvPr/>
                </p:nvSpPr>
                <p:spPr>
                  <a:xfrm>
                    <a:off x="8505193" y="3824212"/>
                    <a:ext cx="490519" cy="3912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𝑦</m:t>
                              </m:r>
                            </m:sub>
                          </m:sSub>
                        </m:oMath>
                      </m:oMathPara>
                    </a14:m>
                    <a:endParaRPr lang="zh-TW" altLang="en-US" dirty="0"/>
                  </a:p>
                </p:txBody>
              </p:sp>
            </mc:Choice>
            <mc:Fallback xmlns="">
              <p:sp>
                <p:nvSpPr>
                  <p:cNvPr id="40" name="矩形 39">
                    <a:extLst>
                      <a:ext uri="{FF2B5EF4-FFF2-40B4-BE49-F238E27FC236}">
                        <a16:creationId xmlns:a16="http://schemas.microsoft.com/office/drawing/2014/main" id="{F997963F-4E69-45B0-9E1D-A7D33F06158B}"/>
                      </a:ext>
                    </a:extLst>
                  </p:cNvPr>
                  <p:cNvSpPr>
                    <a:spLocks noRot="1" noChangeAspect="1" noMove="1" noResize="1" noEditPoints="1" noAdjustHandles="1" noChangeArrowheads="1" noChangeShapeType="1" noTextEdit="1"/>
                  </p:cNvSpPr>
                  <p:nvPr/>
                </p:nvSpPr>
                <p:spPr>
                  <a:xfrm>
                    <a:off x="8505193" y="3824212"/>
                    <a:ext cx="490519" cy="391261"/>
                  </a:xfrm>
                  <a:prstGeom prst="rect">
                    <a:avLst/>
                  </a:prstGeom>
                  <a:blipFill>
                    <a:blip r:embed="rId10"/>
                    <a:stretch>
                      <a:fillRect b="-4688"/>
                    </a:stretch>
                  </a:blipFill>
                </p:spPr>
                <p:txBody>
                  <a:bodyPr/>
                  <a:lstStyle/>
                  <a:p>
                    <a:r>
                      <a:rPr lang="zh-TW" altLang="en-US">
                        <a:noFill/>
                      </a:rPr>
                      <a:t> </a:t>
                    </a:r>
                  </a:p>
                </p:txBody>
              </p:sp>
            </mc:Fallback>
          </mc:AlternateContent>
          <p:grpSp>
            <p:nvGrpSpPr>
              <p:cNvPr id="63" name="群組 62">
                <a:extLst>
                  <a:ext uri="{FF2B5EF4-FFF2-40B4-BE49-F238E27FC236}">
                    <a16:creationId xmlns:a16="http://schemas.microsoft.com/office/drawing/2014/main" id="{EB910D5A-7095-42A4-B276-FFF0903A3284}"/>
                  </a:ext>
                </a:extLst>
              </p:cNvPr>
              <p:cNvGrpSpPr/>
              <p:nvPr/>
            </p:nvGrpSpPr>
            <p:grpSpPr>
              <a:xfrm>
                <a:off x="7630183" y="4139274"/>
                <a:ext cx="2492335" cy="2519683"/>
                <a:chOff x="7630183" y="4139274"/>
                <a:chExt cx="2492335" cy="2519683"/>
              </a:xfrm>
            </p:grpSpPr>
            <p:grpSp>
              <p:nvGrpSpPr>
                <p:cNvPr id="64" name="群組 63">
                  <a:extLst>
                    <a:ext uri="{FF2B5EF4-FFF2-40B4-BE49-F238E27FC236}">
                      <a16:creationId xmlns:a16="http://schemas.microsoft.com/office/drawing/2014/main" id="{28CBBF76-486D-4750-A21E-8AF14381DF93}"/>
                    </a:ext>
                  </a:extLst>
                </p:cNvPr>
                <p:cNvGrpSpPr/>
                <p:nvPr/>
              </p:nvGrpSpPr>
              <p:grpSpPr>
                <a:xfrm>
                  <a:off x="7630183" y="4139274"/>
                  <a:ext cx="2492335" cy="2519683"/>
                  <a:chOff x="7630183" y="4139274"/>
                  <a:chExt cx="2492335" cy="2519683"/>
                </a:xfrm>
              </p:grpSpPr>
              <p:grpSp>
                <p:nvGrpSpPr>
                  <p:cNvPr id="67" name="群組 66">
                    <a:extLst>
                      <a:ext uri="{FF2B5EF4-FFF2-40B4-BE49-F238E27FC236}">
                        <a16:creationId xmlns:a16="http://schemas.microsoft.com/office/drawing/2014/main" id="{06F10814-4F7C-4274-84A0-3375AE48121F}"/>
                      </a:ext>
                    </a:extLst>
                  </p:cNvPr>
                  <p:cNvGrpSpPr/>
                  <p:nvPr/>
                </p:nvGrpSpPr>
                <p:grpSpPr>
                  <a:xfrm rot="20850448">
                    <a:off x="7825015" y="4857499"/>
                    <a:ext cx="1752286" cy="1760671"/>
                    <a:chOff x="0" y="7196"/>
                    <a:chExt cx="917455" cy="880781"/>
                  </a:xfrm>
                </p:grpSpPr>
                <p:sp>
                  <p:nvSpPr>
                    <p:cNvPr id="91" name="矩形 90">
                      <a:extLst>
                        <a:ext uri="{FF2B5EF4-FFF2-40B4-BE49-F238E27FC236}">
                          <a16:creationId xmlns:a16="http://schemas.microsoft.com/office/drawing/2014/main" id="{7897B90B-688C-4F65-8EB7-1D1C4E9BD465}"/>
                        </a:ext>
                      </a:extLst>
                    </p:cNvPr>
                    <p:cNvSpPr/>
                    <p:nvPr/>
                  </p:nvSpPr>
                  <p:spPr>
                    <a:xfrm rot="731702">
                      <a:off x="70768" y="86407"/>
                      <a:ext cx="776454" cy="7459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92" name="直線接點 91">
                      <a:extLst>
                        <a:ext uri="{FF2B5EF4-FFF2-40B4-BE49-F238E27FC236}">
                          <a16:creationId xmlns:a16="http://schemas.microsoft.com/office/drawing/2014/main" id="{FAE47081-F9F7-4C92-884B-C28EF105DD5F}"/>
                        </a:ext>
                      </a:extLst>
                    </p:cNvPr>
                    <p:cNvCxnSpPr/>
                    <p:nvPr/>
                  </p:nvCxnSpPr>
                  <p:spPr>
                    <a:xfrm flipH="1">
                      <a:off x="832076" y="172712"/>
                      <a:ext cx="79840" cy="61578"/>
                    </a:xfrm>
                    <a:prstGeom prst="line">
                      <a:avLst/>
                    </a:prstGeom>
                  </p:spPr>
                  <p:style>
                    <a:lnRef idx="1">
                      <a:schemeClr val="accent1"/>
                    </a:lnRef>
                    <a:fillRef idx="0">
                      <a:schemeClr val="accent1"/>
                    </a:fillRef>
                    <a:effectRef idx="0">
                      <a:schemeClr val="accent1"/>
                    </a:effectRef>
                    <a:fontRef idx="minor">
                      <a:schemeClr val="tx1"/>
                    </a:fontRef>
                  </p:style>
                </p:cxnSp>
                <p:grpSp>
                  <p:nvGrpSpPr>
                    <p:cNvPr id="93" name="群組 92">
                      <a:extLst>
                        <a:ext uri="{FF2B5EF4-FFF2-40B4-BE49-F238E27FC236}">
                          <a16:creationId xmlns:a16="http://schemas.microsoft.com/office/drawing/2014/main" id="{29B22F24-8DCE-4544-B8E1-3EE00BCABF21}"/>
                        </a:ext>
                      </a:extLst>
                    </p:cNvPr>
                    <p:cNvGrpSpPr/>
                    <p:nvPr/>
                  </p:nvGrpSpPr>
                  <p:grpSpPr>
                    <a:xfrm>
                      <a:off x="0" y="7196"/>
                      <a:ext cx="917455" cy="880781"/>
                      <a:chOff x="0" y="7196"/>
                      <a:chExt cx="917455" cy="880781"/>
                    </a:xfrm>
                  </p:grpSpPr>
                  <p:sp>
                    <p:nvSpPr>
                      <p:cNvPr id="94" name="矩形 93">
                        <a:extLst>
                          <a:ext uri="{FF2B5EF4-FFF2-40B4-BE49-F238E27FC236}">
                            <a16:creationId xmlns:a16="http://schemas.microsoft.com/office/drawing/2014/main" id="{2F85D252-DC0F-408A-B6D5-8A408702CF22}"/>
                          </a:ext>
                        </a:extLst>
                      </p:cNvPr>
                      <p:cNvSpPr/>
                      <p:nvPr/>
                    </p:nvSpPr>
                    <p:spPr>
                      <a:xfrm rot="721799">
                        <a:off x="0" y="140250"/>
                        <a:ext cx="771800" cy="66487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95" name="直線接點 94">
                        <a:extLst>
                          <a:ext uri="{FF2B5EF4-FFF2-40B4-BE49-F238E27FC236}">
                            <a16:creationId xmlns:a16="http://schemas.microsoft.com/office/drawing/2014/main" id="{3C13BE3B-3989-4A8C-9449-2D9D2A87A70C}"/>
                          </a:ext>
                        </a:extLst>
                      </p:cNvPr>
                      <p:cNvCxnSpPr/>
                      <p:nvPr/>
                    </p:nvCxnSpPr>
                    <p:spPr>
                      <a:xfrm flipH="1">
                        <a:off x="72638" y="7196"/>
                        <a:ext cx="86737" cy="58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直線接點 95">
                        <a:extLst>
                          <a:ext uri="{FF2B5EF4-FFF2-40B4-BE49-F238E27FC236}">
                            <a16:creationId xmlns:a16="http://schemas.microsoft.com/office/drawing/2014/main" id="{F8F8086F-EE75-44F2-8A8C-0530CAB7B466}"/>
                          </a:ext>
                        </a:extLst>
                      </p:cNvPr>
                      <p:cNvCxnSpPr>
                        <a:cxnSpLocks/>
                      </p:cNvCxnSpPr>
                      <p:nvPr/>
                    </p:nvCxnSpPr>
                    <p:spPr>
                      <a:xfrm rot="749552" flipH="1">
                        <a:off x="696322" y="807723"/>
                        <a:ext cx="66206" cy="80254"/>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直線接點 96">
                        <a:extLst>
                          <a:ext uri="{FF2B5EF4-FFF2-40B4-BE49-F238E27FC236}">
                            <a16:creationId xmlns:a16="http://schemas.microsoft.com/office/drawing/2014/main" id="{7065031F-0B3B-41F9-8ED6-77F9C5BB555D}"/>
                          </a:ext>
                        </a:extLst>
                      </p:cNvPr>
                      <p:cNvCxnSpPr/>
                      <p:nvPr/>
                    </p:nvCxnSpPr>
                    <p:spPr>
                      <a:xfrm>
                        <a:off x="157800" y="7200"/>
                        <a:ext cx="759655" cy="164123"/>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直線接點 97">
                        <a:extLst>
                          <a:ext uri="{FF2B5EF4-FFF2-40B4-BE49-F238E27FC236}">
                            <a16:creationId xmlns:a16="http://schemas.microsoft.com/office/drawing/2014/main" id="{FFBD122E-2A32-4B9D-B86A-E3BD62C381D1}"/>
                          </a:ext>
                        </a:extLst>
                      </p:cNvPr>
                      <p:cNvCxnSpPr/>
                      <p:nvPr/>
                    </p:nvCxnSpPr>
                    <p:spPr>
                      <a:xfrm flipH="1">
                        <a:off x="769800" y="172800"/>
                        <a:ext cx="142628" cy="643307"/>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68" name="群組 67">
                    <a:extLst>
                      <a:ext uri="{FF2B5EF4-FFF2-40B4-BE49-F238E27FC236}">
                        <a16:creationId xmlns:a16="http://schemas.microsoft.com/office/drawing/2014/main" id="{F5ED0F74-188B-40BA-BCDE-6E7C9C8BBFD5}"/>
                      </a:ext>
                    </a:extLst>
                  </p:cNvPr>
                  <p:cNvGrpSpPr/>
                  <p:nvPr/>
                </p:nvGrpSpPr>
                <p:grpSpPr>
                  <a:xfrm rot="20930535" flipH="1">
                    <a:off x="8511790" y="4240937"/>
                    <a:ext cx="1610728" cy="2207776"/>
                    <a:chOff x="-385520" y="150317"/>
                    <a:chExt cx="858051" cy="1101711"/>
                  </a:xfrm>
                </p:grpSpPr>
                <p:grpSp>
                  <p:nvGrpSpPr>
                    <p:cNvPr id="82" name="群組 81">
                      <a:extLst>
                        <a:ext uri="{FF2B5EF4-FFF2-40B4-BE49-F238E27FC236}">
                          <a16:creationId xmlns:a16="http://schemas.microsoft.com/office/drawing/2014/main" id="{7C8E6B22-F454-4603-B7E1-9D3F7B9866C3}"/>
                        </a:ext>
                      </a:extLst>
                    </p:cNvPr>
                    <p:cNvGrpSpPr/>
                    <p:nvPr/>
                  </p:nvGrpSpPr>
                  <p:grpSpPr>
                    <a:xfrm rot="21241686">
                      <a:off x="-202264" y="284579"/>
                      <a:ext cx="647775" cy="650231"/>
                      <a:chOff x="-842840" y="-111068"/>
                      <a:chExt cx="945481" cy="891273"/>
                    </a:xfrm>
                  </p:grpSpPr>
                  <p:cxnSp>
                    <p:nvCxnSpPr>
                      <p:cNvPr id="89" name="直線單箭頭接點 88">
                        <a:extLst>
                          <a:ext uri="{FF2B5EF4-FFF2-40B4-BE49-F238E27FC236}">
                            <a16:creationId xmlns:a16="http://schemas.microsoft.com/office/drawing/2014/main" id="{A9BAB9B2-62B6-403D-926E-F37B5DE9F9B1}"/>
                          </a:ext>
                        </a:extLst>
                      </p:cNvPr>
                      <p:cNvCxnSpPr/>
                      <p:nvPr/>
                    </p:nvCxnSpPr>
                    <p:spPr>
                      <a:xfrm rot="358314" flipH="1" flipV="1">
                        <a:off x="-57478" y="-111068"/>
                        <a:ext cx="160119" cy="8467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0" name="直線單箭頭接點 89">
                        <a:extLst>
                          <a:ext uri="{FF2B5EF4-FFF2-40B4-BE49-F238E27FC236}">
                            <a16:creationId xmlns:a16="http://schemas.microsoft.com/office/drawing/2014/main" id="{A697F715-2FB3-45F0-91B4-721B68D95EB1}"/>
                          </a:ext>
                        </a:extLst>
                      </p:cNvPr>
                      <p:cNvCxnSpPr/>
                      <p:nvPr/>
                    </p:nvCxnSpPr>
                    <p:spPr>
                      <a:xfrm rot="21288849" flipH="1" flipV="1">
                        <a:off x="-842840" y="771208"/>
                        <a:ext cx="895826" cy="89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83" name="文字方塊 94">
                          <a:extLst>
                            <a:ext uri="{FF2B5EF4-FFF2-40B4-BE49-F238E27FC236}">
                              <a16:creationId xmlns:a16="http://schemas.microsoft.com/office/drawing/2014/main" id="{4801B4C6-909D-46DD-A858-AB6B88A37771}"/>
                            </a:ext>
                          </a:extLst>
                        </p:cNvPr>
                        <p:cNvSpPr txBox="1"/>
                        <p:nvPr/>
                      </p:nvSpPr>
                      <p:spPr>
                        <a:xfrm rot="20978109">
                          <a:off x="202968" y="150317"/>
                          <a:ext cx="269563" cy="32199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r>
                                  <a:rPr lang="en-US" altLang="zh-TW" sz="1200" b="0" i="1" kern="100" smtClean="0">
                                    <a:effectLst/>
                                    <a:latin typeface="Cambria Math" panose="02040503050406030204" pitchFamily="18" charset="0"/>
                                    <a:ea typeface="新細明體" panose="02020500000000000000" pitchFamily="18" charset="-120"/>
                                    <a:cs typeface="Times New Roman" panose="02020603050405020304" pitchFamily="18" charset="0"/>
                                  </a:rPr>
                                  <m:t>𝑧</m:t>
                                </m:r>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208" name="文字方塊 94">
                          <a:extLst>
                            <a:ext uri="{FF2B5EF4-FFF2-40B4-BE49-F238E27FC236}">
                              <a16:creationId xmlns:a16="http://schemas.microsoft.com/office/drawing/2014/main" id="{4801B4C6-909D-46DD-A858-AB6B88A37771}"/>
                            </a:ext>
                          </a:extLst>
                        </p:cNvPr>
                        <p:cNvSpPr txBox="1">
                          <a:spLocks noRot="1" noChangeAspect="1" noMove="1" noResize="1" noEditPoints="1" noAdjustHandles="1" noChangeArrowheads="1" noChangeShapeType="1" noTextEdit="1"/>
                        </p:cNvSpPr>
                        <p:nvPr/>
                      </p:nvSpPr>
                      <p:spPr>
                        <a:xfrm rot="20978109">
                          <a:off x="202968" y="150317"/>
                          <a:ext cx="269563" cy="321998"/>
                        </a:xfrm>
                        <a:prstGeom prst="rect">
                          <a:avLst/>
                        </a:prstGeom>
                        <a:blipFill>
                          <a:blip r:embed="rId11"/>
                          <a:stretch>
                            <a:fillRect/>
                          </a:stretch>
                        </a:blipFill>
                        <a:ln w="6350">
                          <a:noFill/>
                        </a:ln>
                      </p:spPr>
                      <p:txBody>
                        <a:bodyPr/>
                        <a:lstStyle/>
                        <a:p>
                          <a:r>
                            <a:rPr lang="zh-TW" altLang="en-US">
                              <a:noFill/>
                            </a:rPr>
                            <a:t> </a:t>
                          </a:r>
                        </a:p>
                      </p:txBody>
                    </p:sp>
                  </mc:Fallback>
                </mc:AlternateContent>
                <p:sp>
                  <p:nvSpPr>
                    <p:cNvPr id="84" name="文字方塊 131">
                      <a:extLst>
                        <a:ext uri="{FF2B5EF4-FFF2-40B4-BE49-F238E27FC236}">
                          <a16:creationId xmlns:a16="http://schemas.microsoft.com/office/drawing/2014/main" id="{12EEEC0B-ED7E-496E-89B5-0F845233F96D}"/>
                        </a:ext>
                      </a:extLst>
                    </p:cNvPr>
                    <p:cNvSpPr txBox="1"/>
                    <p:nvPr/>
                  </p:nvSpPr>
                  <p:spPr>
                    <a:xfrm rot="20978109">
                      <a:off x="-385520" y="930030"/>
                      <a:ext cx="269563" cy="32199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US" altLang="zh-TW" sz="1200" kern="100" dirty="0">
                          <a:latin typeface="Calibri" panose="020F0502020204030204" pitchFamily="34" charset="0"/>
                          <a:ea typeface="新細明體" panose="02020500000000000000" pitchFamily="18" charset="-120"/>
                          <a:cs typeface="Times New Roman" panose="02020603050405020304" pitchFamily="18" charset="0"/>
                        </a:rPr>
                        <a:t>y</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nvGrpSpPr>
                    <p:cNvPr id="85" name="群組 84">
                      <a:extLst>
                        <a:ext uri="{FF2B5EF4-FFF2-40B4-BE49-F238E27FC236}">
                          <a16:creationId xmlns:a16="http://schemas.microsoft.com/office/drawing/2014/main" id="{27C9860E-3701-48DD-A214-B844A10FE69F}"/>
                        </a:ext>
                      </a:extLst>
                    </p:cNvPr>
                    <p:cNvGrpSpPr/>
                    <p:nvPr/>
                  </p:nvGrpSpPr>
                  <p:grpSpPr>
                    <a:xfrm rot="20195453">
                      <a:off x="-183494" y="389886"/>
                      <a:ext cx="608942" cy="695049"/>
                      <a:chOff x="-744863" y="-93042"/>
                      <a:chExt cx="888801" cy="952703"/>
                    </a:xfrm>
                  </p:grpSpPr>
                  <p:cxnSp>
                    <p:nvCxnSpPr>
                      <p:cNvPr id="87" name="直線單箭頭接點 86">
                        <a:extLst>
                          <a:ext uri="{FF2B5EF4-FFF2-40B4-BE49-F238E27FC236}">
                            <a16:creationId xmlns:a16="http://schemas.microsoft.com/office/drawing/2014/main" id="{DA20DF1A-5F6E-41DF-A11F-47FA82DF5C66}"/>
                          </a:ext>
                        </a:extLst>
                      </p:cNvPr>
                      <p:cNvCxnSpPr/>
                      <p:nvPr/>
                    </p:nvCxnSpPr>
                    <p:spPr>
                      <a:xfrm rot="735082" flipH="1" flipV="1">
                        <a:off x="-119510" y="-93042"/>
                        <a:ext cx="263448" cy="806931"/>
                      </a:xfrm>
                      <a:prstGeom prst="straightConnector1">
                        <a:avLst/>
                      </a:prstGeom>
                      <a:ln>
                        <a:prstDash val="lgDash"/>
                        <a:tailEnd type="triangle"/>
                      </a:ln>
                    </p:spPr>
                    <p:style>
                      <a:lnRef idx="1">
                        <a:schemeClr val="dk1"/>
                      </a:lnRef>
                      <a:fillRef idx="0">
                        <a:schemeClr val="dk1"/>
                      </a:fillRef>
                      <a:effectRef idx="0">
                        <a:schemeClr val="dk1"/>
                      </a:effectRef>
                      <a:fontRef idx="minor">
                        <a:schemeClr val="tx1"/>
                      </a:fontRef>
                    </p:style>
                  </p:cxnSp>
                  <p:cxnSp>
                    <p:nvCxnSpPr>
                      <p:cNvPr id="88" name="直線單箭頭接點 87">
                        <a:extLst>
                          <a:ext uri="{FF2B5EF4-FFF2-40B4-BE49-F238E27FC236}">
                            <a16:creationId xmlns:a16="http://schemas.microsoft.com/office/drawing/2014/main" id="{4BDF3B7F-8E5B-4319-9EE9-762880D6C0FB}"/>
                          </a:ext>
                        </a:extLst>
                      </p:cNvPr>
                      <p:cNvCxnSpPr>
                        <a:cxnSpLocks/>
                      </p:cNvCxnSpPr>
                      <p:nvPr/>
                    </p:nvCxnSpPr>
                    <p:spPr>
                      <a:xfrm rot="735082" flipH="1">
                        <a:off x="-744863" y="650505"/>
                        <a:ext cx="774937" cy="209156"/>
                      </a:xfrm>
                      <a:prstGeom prst="straightConnector1">
                        <a:avLst/>
                      </a:prstGeom>
                      <a:ln>
                        <a:prstDash val="lgDash"/>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86" name="文字方塊 137">
                          <a:extLst>
                            <a:ext uri="{FF2B5EF4-FFF2-40B4-BE49-F238E27FC236}">
                              <a16:creationId xmlns:a16="http://schemas.microsoft.com/office/drawing/2014/main" id="{5789B2AC-D788-4160-A5F0-C0FF5DD8FEB4}"/>
                            </a:ext>
                          </a:extLst>
                        </p:cNvPr>
                        <p:cNvSpPr txBox="1"/>
                        <p:nvPr/>
                      </p:nvSpPr>
                      <p:spPr>
                        <a:xfrm rot="20978109">
                          <a:off x="-30546" y="280685"/>
                          <a:ext cx="269563" cy="32199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zh-TW" altLang="en-US" sz="1200" i="1" smtClean="0">
                                        <a:latin typeface="Cambria Math" panose="02040503050406030204" pitchFamily="18" charset="0"/>
                                      </a:rPr>
                                    </m:ctrlPr>
                                  </m:sSubPr>
                                  <m:e>
                                    <m:r>
                                      <a:rPr lang="en-US" altLang="zh-TW" sz="1200" b="0" i="1" smtClean="0">
                                        <a:latin typeface="Cambria Math" panose="02040503050406030204" pitchFamily="18" charset="0"/>
                                      </a:rPr>
                                      <m:t>𝑧</m:t>
                                    </m:r>
                                  </m:e>
                                  <m:sub>
                                    <m:r>
                                      <a:rPr lang="en-US" altLang="zh-TW" sz="1200" b="0" i="1" smtClean="0">
                                        <a:latin typeface="Cambria Math" panose="02040503050406030204" pitchFamily="18" charset="0"/>
                                      </a:rPr>
                                      <m:t>𝑝</m:t>
                                    </m:r>
                                  </m:sub>
                                </m:sSub>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86" name="文字方塊 137">
                          <a:extLst>
                            <a:ext uri="{FF2B5EF4-FFF2-40B4-BE49-F238E27FC236}">
                              <a16:creationId xmlns:a16="http://schemas.microsoft.com/office/drawing/2014/main" id="{5789B2AC-D788-4160-A5F0-C0FF5DD8FEB4}"/>
                            </a:ext>
                          </a:extLst>
                        </p:cNvPr>
                        <p:cNvSpPr txBox="1">
                          <a:spLocks noRot="1" noChangeAspect="1" noMove="1" noResize="1" noEditPoints="1" noAdjustHandles="1" noChangeArrowheads="1" noChangeShapeType="1" noTextEdit="1"/>
                        </p:cNvSpPr>
                        <p:nvPr/>
                      </p:nvSpPr>
                      <p:spPr>
                        <a:xfrm rot="20978109">
                          <a:off x="-30546" y="280685"/>
                          <a:ext cx="269563" cy="321998"/>
                        </a:xfrm>
                        <a:prstGeom prst="rect">
                          <a:avLst/>
                        </a:prstGeom>
                        <a:blipFill>
                          <a:blip r:embed="rId17"/>
                          <a:stretch>
                            <a:fillRect/>
                          </a:stretch>
                        </a:blipFill>
                        <a:ln w="6350">
                          <a:noFill/>
                        </a:ln>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69" name="文字方塊 185">
                        <a:extLst>
                          <a:ext uri="{FF2B5EF4-FFF2-40B4-BE49-F238E27FC236}">
                            <a16:creationId xmlns:a16="http://schemas.microsoft.com/office/drawing/2014/main" id="{5A5823EB-D4F9-402E-B1AF-E9279FDF8C81}"/>
                          </a:ext>
                        </a:extLst>
                      </p:cNvPr>
                      <p:cNvSpPr txBox="1"/>
                      <p:nvPr/>
                    </p:nvSpPr>
                    <p:spPr>
                      <a:xfrm>
                        <a:off x="8485047" y="4925268"/>
                        <a:ext cx="515059" cy="6437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r>
                                <m:rPr>
                                  <m:sty m:val="p"/>
                                </m:rPr>
                                <a:rPr lang="en-US" sz="1200" kern="100">
                                  <a:effectLst/>
                                  <a:latin typeface="Cambria Math" panose="02040503050406030204" pitchFamily="18" charset="0"/>
                                  <a:ea typeface="新細明體" panose="02020500000000000000" pitchFamily="18" charset="-120"/>
                                  <a:cs typeface="Times New Roman" panose="02020603050405020304" pitchFamily="18" charset="0"/>
                                </a:rPr>
                                <m:t>θ</m:t>
                              </m:r>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69" name="文字方塊 185">
                        <a:extLst>
                          <a:ext uri="{FF2B5EF4-FFF2-40B4-BE49-F238E27FC236}">
                            <a16:creationId xmlns:a16="http://schemas.microsoft.com/office/drawing/2014/main" id="{5A5823EB-D4F9-402E-B1AF-E9279FDF8C81}"/>
                          </a:ext>
                        </a:extLst>
                      </p:cNvPr>
                      <p:cNvSpPr txBox="1">
                        <a:spLocks noRot="1" noChangeAspect="1" noMove="1" noResize="1" noEditPoints="1" noAdjustHandles="1" noChangeArrowheads="1" noChangeShapeType="1" noTextEdit="1"/>
                      </p:cNvSpPr>
                      <p:nvPr/>
                    </p:nvSpPr>
                    <p:spPr>
                      <a:xfrm>
                        <a:off x="8485047" y="4925268"/>
                        <a:ext cx="515059" cy="643750"/>
                      </a:xfrm>
                      <a:prstGeom prst="rect">
                        <a:avLst/>
                      </a:prstGeom>
                      <a:blipFill>
                        <a:blip r:embed="rId18"/>
                        <a:stretch>
                          <a:fillRect/>
                        </a:stretch>
                      </a:blipFill>
                      <a:ln w="6350">
                        <a:noFill/>
                      </a:ln>
                    </p:spPr>
                    <p:txBody>
                      <a:bodyPr/>
                      <a:lstStyle/>
                      <a:p>
                        <a:r>
                          <a:rPr lang="zh-TW" altLang="en-US">
                            <a:noFill/>
                          </a:rPr>
                          <a:t> </a:t>
                        </a:r>
                      </a:p>
                    </p:txBody>
                  </p:sp>
                </mc:Fallback>
              </mc:AlternateContent>
              <p:grpSp>
                <p:nvGrpSpPr>
                  <p:cNvPr id="70" name="群組 69">
                    <a:extLst>
                      <a:ext uri="{FF2B5EF4-FFF2-40B4-BE49-F238E27FC236}">
                        <a16:creationId xmlns:a16="http://schemas.microsoft.com/office/drawing/2014/main" id="{539DE016-A130-4819-955D-C209A97F5592}"/>
                      </a:ext>
                    </a:extLst>
                  </p:cNvPr>
                  <p:cNvGrpSpPr/>
                  <p:nvPr/>
                </p:nvGrpSpPr>
                <p:grpSpPr>
                  <a:xfrm>
                    <a:off x="7630183" y="4139274"/>
                    <a:ext cx="2186087" cy="1586230"/>
                    <a:chOff x="8909260" y="4069603"/>
                    <a:chExt cx="1143721" cy="793115"/>
                  </a:xfrm>
                </p:grpSpPr>
                <p:grpSp>
                  <p:nvGrpSpPr>
                    <p:cNvPr id="73" name="群組 72">
                      <a:extLst>
                        <a:ext uri="{FF2B5EF4-FFF2-40B4-BE49-F238E27FC236}">
                          <a16:creationId xmlns:a16="http://schemas.microsoft.com/office/drawing/2014/main" id="{373C6D5D-722A-4ADD-9901-B86A5B95FA4A}"/>
                        </a:ext>
                      </a:extLst>
                    </p:cNvPr>
                    <p:cNvGrpSpPr/>
                    <p:nvPr/>
                  </p:nvGrpSpPr>
                  <p:grpSpPr>
                    <a:xfrm>
                      <a:off x="8909260" y="4069603"/>
                      <a:ext cx="1141730" cy="793115"/>
                      <a:chOff x="8909260" y="4069603"/>
                      <a:chExt cx="1141730" cy="793115"/>
                    </a:xfrm>
                  </p:grpSpPr>
                  <p:cxnSp>
                    <p:nvCxnSpPr>
                      <p:cNvPr id="75" name="直線接點 74">
                        <a:extLst>
                          <a:ext uri="{FF2B5EF4-FFF2-40B4-BE49-F238E27FC236}">
                            <a16:creationId xmlns:a16="http://schemas.microsoft.com/office/drawing/2014/main" id="{74B9BE70-3B58-44FE-BE78-BDC793051BEF}"/>
                          </a:ext>
                        </a:extLst>
                      </p:cNvPr>
                      <p:cNvCxnSpPr/>
                      <p:nvPr/>
                    </p:nvCxnSpPr>
                    <p:spPr>
                      <a:xfrm flipH="1" flipV="1">
                        <a:off x="10047815" y="4134373"/>
                        <a:ext cx="3175" cy="728345"/>
                      </a:xfrm>
                      <a:prstGeom prst="line">
                        <a:avLst/>
                      </a:prstGeom>
                    </p:spPr>
                    <p:style>
                      <a:lnRef idx="1">
                        <a:schemeClr val="dk1"/>
                      </a:lnRef>
                      <a:fillRef idx="0">
                        <a:schemeClr val="dk1"/>
                      </a:fillRef>
                      <a:effectRef idx="0">
                        <a:schemeClr val="dk1"/>
                      </a:effectRef>
                      <a:fontRef idx="minor">
                        <a:schemeClr val="tx1"/>
                      </a:fontRef>
                    </p:style>
                  </p:cxnSp>
                  <p:cxnSp>
                    <p:nvCxnSpPr>
                      <p:cNvPr id="76" name="直線接點 75">
                        <a:extLst>
                          <a:ext uri="{FF2B5EF4-FFF2-40B4-BE49-F238E27FC236}">
                            <a16:creationId xmlns:a16="http://schemas.microsoft.com/office/drawing/2014/main" id="{086E19F7-1EBE-401D-952C-FBC496AFCC06}"/>
                          </a:ext>
                        </a:extLst>
                      </p:cNvPr>
                      <p:cNvCxnSpPr/>
                      <p:nvPr/>
                    </p:nvCxnSpPr>
                    <p:spPr>
                      <a:xfrm>
                        <a:off x="8909260" y="4829063"/>
                        <a:ext cx="104775" cy="0"/>
                      </a:xfrm>
                      <a:prstGeom prst="line">
                        <a:avLst/>
                      </a:prstGeom>
                    </p:spPr>
                    <p:style>
                      <a:lnRef idx="1">
                        <a:schemeClr val="dk1"/>
                      </a:lnRef>
                      <a:fillRef idx="0">
                        <a:schemeClr val="dk1"/>
                      </a:fillRef>
                      <a:effectRef idx="0">
                        <a:schemeClr val="dk1"/>
                      </a:effectRef>
                      <a:fontRef idx="minor">
                        <a:schemeClr val="tx1"/>
                      </a:fontRef>
                    </p:style>
                  </p:cxnSp>
                  <p:cxnSp>
                    <p:nvCxnSpPr>
                      <p:cNvPr id="77" name="直線接點 76">
                        <a:extLst>
                          <a:ext uri="{FF2B5EF4-FFF2-40B4-BE49-F238E27FC236}">
                            <a16:creationId xmlns:a16="http://schemas.microsoft.com/office/drawing/2014/main" id="{AE155DE2-AD40-4C57-9F71-D741F03F7D05}"/>
                          </a:ext>
                        </a:extLst>
                      </p:cNvPr>
                      <p:cNvCxnSpPr/>
                      <p:nvPr/>
                    </p:nvCxnSpPr>
                    <p:spPr>
                      <a:xfrm flipH="1" flipV="1">
                        <a:off x="8911165" y="4137548"/>
                        <a:ext cx="1905" cy="693420"/>
                      </a:xfrm>
                      <a:prstGeom prst="line">
                        <a:avLst/>
                      </a:prstGeom>
                    </p:spPr>
                    <p:style>
                      <a:lnRef idx="1">
                        <a:schemeClr val="dk1"/>
                      </a:lnRef>
                      <a:fillRef idx="0">
                        <a:schemeClr val="dk1"/>
                      </a:fillRef>
                      <a:effectRef idx="0">
                        <a:schemeClr val="dk1"/>
                      </a:effectRef>
                      <a:fontRef idx="minor">
                        <a:schemeClr val="tx1"/>
                      </a:fontRef>
                    </p:style>
                  </p:cxnSp>
                  <p:cxnSp>
                    <p:nvCxnSpPr>
                      <p:cNvPr id="78" name="直線接點 77">
                        <a:extLst>
                          <a:ext uri="{FF2B5EF4-FFF2-40B4-BE49-F238E27FC236}">
                            <a16:creationId xmlns:a16="http://schemas.microsoft.com/office/drawing/2014/main" id="{A77DB971-6202-43CB-8D8A-08AAC52A4802}"/>
                          </a:ext>
                        </a:extLst>
                      </p:cNvPr>
                      <p:cNvCxnSpPr/>
                      <p:nvPr/>
                    </p:nvCxnSpPr>
                    <p:spPr>
                      <a:xfrm flipV="1">
                        <a:off x="8909260" y="4137548"/>
                        <a:ext cx="563245" cy="1905"/>
                      </a:xfrm>
                      <a:prstGeom prst="line">
                        <a:avLst/>
                      </a:prstGeom>
                    </p:spPr>
                    <p:style>
                      <a:lnRef idx="1">
                        <a:schemeClr val="dk1"/>
                      </a:lnRef>
                      <a:fillRef idx="0">
                        <a:schemeClr val="dk1"/>
                      </a:fillRef>
                      <a:effectRef idx="0">
                        <a:schemeClr val="dk1"/>
                      </a:effectRef>
                      <a:fontRef idx="minor">
                        <a:schemeClr val="tx1"/>
                      </a:fontRef>
                    </p:style>
                  </p:cxnSp>
                  <p:cxnSp>
                    <p:nvCxnSpPr>
                      <p:cNvPr id="79" name="直線接點 78">
                        <a:extLst>
                          <a:ext uri="{FF2B5EF4-FFF2-40B4-BE49-F238E27FC236}">
                            <a16:creationId xmlns:a16="http://schemas.microsoft.com/office/drawing/2014/main" id="{D8D7DAF7-C12C-4BD9-AEF8-4B46AE046C15}"/>
                          </a:ext>
                        </a:extLst>
                      </p:cNvPr>
                      <p:cNvCxnSpPr/>
                      <p:nvPr/>
                    </p:nvCxnSpPr>
                    <p:spPr>
                      <a:xfrm>
                        <a:off x="9495365" y="4137548"/>
                        <a:ext cx="553720" cy="0"/>
                      </a:xfrm>
                      <a:prstGeom prst="line">
                        <a:avLst/>
                      </a:prstGeom>
                    </p:spPr>
                    <p:style>
                      <a:lnRef idx="1">
                        <a:schemeClr val="dk1"/>
                      </a:lnRef>
                      <a:fillRef idx="0">
                        <a:schemeClr val="dk1"/>
                      </a:fillRef>
                      <a:effectRef idx="0">
                        <a:schemeClr val="dk1"/>
                      </a:effectRef>
                      <a:fontRef idx="minor">
                        <a:schemeClr val="tx1"/>
                      </a:fontRef>
                    </p:style>
                  </p:cxnSp>
                  <p:cxnSp>
                    <p:nvCxnSpPr>
                      <p:cNvPr id="80" name="直線接點 79">
                        <a:extLst>
                          <a:ext uri="{FF2B5EF4-FFF2-40B4-BE49-F238E27FC236}">
                            <a16:creationId xmlns:a16="http://schemas.microsoft.com/office/drawing/2014/main" id="{C480F9F2-AA5E-4884-ABAB-96FB438B396F}"/>
                          </a:ext>
                        </a:extLst>
                      </p:cNvPr>
                      <p:cNvCxnSpPr/>
                      <p:nvPr/>
                    </p:nvCxnSpPr>
                    <p:spPr>
                      <a:xfrm flipH="1" flipV="1">
                        <a:off x="9498540" y="4069603"/>
                        <a:ext cx="0" cy="146685"/>
                      </a:xfrm>
                      <a:prstGeom prst="line">
                        <a:avLst/>
                      </a:prstGeom>
                    </p:spPr>
                    <p:style>
                      <a:lnRef idx="1">
                        <a:schemeClr val="dk1"/>
                      </a:lnRef>
                      <a:fillRef idx="0">
                        <a:schemeClr val="dk1"/>
                      </a:fillRef>
                      <a:effectRef idx="0">
                        <a:schemeClr val="dk1"/>
                      </a:effectRef>
                      <a:fontRef idx="minor">
                        <a:schemeClr val="tx1"/>
                      </a:fontRef>
                    </p:style>
                  </p:cxnSp>
                  <p:cxnSp>
                    <p:nvCxnSpPr>
                      <p:cNvPr id="81" name="直線接點 80">
                        <a:extLst>
                          <a:ext uri="{FF2B5EF4-FFF2-40B4-BE49-F238E27FC236}">
                            <a16:creationId xmlns:a16="http://schemas.microsoft.com/office/drawing/2014/main" id="{53A2FD43-58B5-456F-9F8D-09EB1FBC2180}"/>
                          </a:ext>
                        </a:extLst>
                      </p:cNvPr>
                      <p:cNvCxnSpPr/>
                      <p:nvPr/>
                    </p:nvCxnSpPr>
                    <p:spPr>
                      <a:xfrm flipH="1" flipV="1">
                        <a:off x="9476950" y="4097543"/>
                        <a:ext cx="0" cy="95885"/>
                      </a:xfrm>
                      <a:prstGeom prst="line">
                        <a:avLst/>
                      </a:prstGeom>
                    </p:spPr>
                    <p:style>
                      <a:lnRef idx="1">
                        <a:schemeClr val="dk1"/>
                      </a:lnRef>
                      <a:fillRef idx="0">
                        <a:schemeClr val="dk1"/>
                      </a:fillRef>
                      <a:effectRef idx="0">
                        <a:schemeClr val="dk1"/>
                      </a:effectRef>
                      <a:fontRef idx="minor">
                        <a:schemeClr val="tx1"/>
                      </a:fontRef>
                    </p:style>
                  </p:cxnSp>
                </p:grpSp>
                <p:cxnSp>
                  <p:nvCxnSpPr>
                    <p:cNvPr id="74" name="直線接點 73">
                      <a:extLst>
                        <a:ext uri="{FF2B5EF4-FFF2-40B4-BE49-F238E27FC236}">
                          <a16:creationId xmlns:a16="http://schemas.microsoft.com/office/drawing/2014/main" id="{ED824F39-1CD0-4D08-BC91-0ACD49DB23F7}"/>
                        </a:ext>
                      </a:extLst>
                    </p:cNvPr>
                    <p:cNvCxnSpPr>
                      <a:cxnSpLocks/>
                    </p:cNvCxnSpPr>
                    <p:nvPr/>
                  </p:nvCxnSpPr>
                  <p:spPr>
                    <a:xfrm>
                      <a:off x="9811226" y="4860135"/>
                      <a:ext cx="241755" cy="0"/>
                    </a:xfrm>
                    <a:prstGeom prst="line">
                      <a:avLst/>
                    </a:prstGeom>
                  </p:spPr>
                  <p:style>
                    <a:lnRef idx="1">
                      <a:schemeClr val="dk1"/>
                    </a:lnRef>
                    <a:fillRef idx="0">
                      <a:schemeClr val="dk1"/>
                    </a:fillRef>
                    <a:effectRef idx="0">
                      <a:schemeClr val="dk1"/>
                    </a:effectRef>
                    <a:fontRef idx="minor">
                      <a:schemeClr val="tx1"/>
                    </a:fontRef>
                  </p:style>
                </p:cxnSp>
              </p:grpSp>
              <p:sp>
                <p:nvSpPr>
                  <p:cNvPr id="71" name="弧形 70">
                    <a:extLst>
                      <a:ext uri="{FF2B5EF4-FFF2-40B4-BE49-F238E27FC236}">
                        <a16:creationId xmlns:a16="http://schemas.microsoft.com/office/drawing/2014/main" id="{D4B9936D-7898-4610-BEEF-33FF6144E65D}"/>
                      </a:ext>
                    </a:extLst>
                  </p:cNvPr>
                  <p:cNvSpPr/>
                  <p:nvPr/>
                </p:nvSpPr>
                <p:spPr>
                  <a:xfrm rot="17057495">
                    <a:off x="8399052" y="5184738"/>
                    <a:ext cx="580864" cy="589816"/>
                  </a:xfrm>
                  <a:prstGeom prst="arc">
                    <a:avLst>
                      <a:gd name="adj1" fmla="val 19965929"/>
                      <a:gd name="adj2" fmla="val 742844"/>
                    </a:avLst>
                  </a:prstGeom>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mc:AlternateContent xmlns:mc="http://schemas.openxmlformats.org/markup-compatibility/2006" xmlns:a14="http://schemas.microsoft.com/office/drawing/2010/main">
                <mc:Choice Requires="a14">
                  <p:sp>
                    <p:nvSpPr>
                      <p:cNvPr id="72" name="文字方塊 131">
                        <a:extLst>
                          <a:ext uri="{FF2B5EF4-FFF2-40B4-BE49-F238E27FC236}">
                            <a16:creationId xmlns:a16="http://schemas.microsoft.com/office/drawing/2014/main" id="{80361D7F-8F74-43D7-9F66-56592DBC7683}"/>
                          </a:ext>
                        </a:extLst>
                      </p:cNvPr>
                      <p:cNvSpPr txBox="1"/>
                      <p:nvPr/>
                    </p:nvSpPr>
                    <p:spPr>
                      <a:xfrm>
                        <a:off x="9487888" y="6015120"/>
                        <a:ext cx="515078" cy="64383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zh-TW" altLang="en-US" sz="1200" i="1" smtClean="0">
                                      <a:latin typeface="Cambria Math" panose="02040503050406030204" pitchFamily="18" charset="0"/>
                                    </a:rPr>
                                  </m:ctrlPr>
                                </m:sSubPr>
                                <m:e>
                                  <m:r>
                                    <a:rPr lang="en-US" altLang="zh-TW" sz="1200" b="0" i="1" smtClean="0">
                                      <a:latin typeface="Cambria Math" panose="02040503050406030204" pitchFamily="18" charset="0"/>
                                    </a:rPr>
                                    <m:t>𝑦</m:t>
                                  </m:r>
                                </m:e>
                                <m:sub>
                                  <m:r>
                                    <a:rPr lang="en-US" altLang="zh-TW" sz="1200" b="0" i="1" smtClean="0">
                                      <a:latin typeface="Cambria Math" panose="02040503050406030204" pitchFamily="18" charset="0"/>
                                    </a:rPr>
                                    <m:t>𝑝</m:t>
                                  </m:r>
                                </m:sub>
                              </m:sSub>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72" name="文字方塊 131">
                        <a:extLst>
                          <a:ext uri="{FF2B5EF4-FFF2-40B4-BE49-F238E27FC236}">
                            <a16:creationId xmlns:a16="http://schemas.microsoft.com/office/drawing/2014/main" id="{80361D7F-8F74-43D7-9F66-56592DBC7683}"/>
                          </a:ext>
                        </a:extLst>
                      </p:cNvPr>
                      <p:cNvSpPr txBox="1">
                        <a:spLocks noRot="1" noChangeAspect="1" noMove="1" noResize="1" noEditPoints="1" noAdjustHandles="1" noChangeArrowheads="1" noChangeShapeType="1" noTextEdit="1"/>
                      </p:cNvSpPr>
                      <p:nvPr/>
                    </p:nvSpPr>
                    <p:spPr>
                      <a:xfrm>
                        <a:off x="9487888" y="6015120"/>
                        <a:ext cx="515078" cy="643837"/>
                      </a:xfrm>
                      <a:prstGeom prst="rect">
                        <a:avLst/>
                      </a:prstGeom>
                      <a:blipFill>
                        <a:blip r:embed="rId19"/>
                        <a:stretch>
                          <a:fillRect/>
                        </a:stretch>
                      </a:blipFill>
                      <a:ln w="6350">
                        <a:noFill/>
                      </a:ln>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65" name="矩形 64">
                      <a:extLst>
                        <a:ext uri="{FF2B5EF4-FFF2-40B4-BE49-F238E27FC236}">
                          <a16:creationId xmlns:a16="http://schemas.microsoft.com/office/drawing/2014/main" id="{1A347EB6-C96B-475E-9CEF-D5F26CB6CF11}"/>
                        </a:ext>
                      </a:extLst>
                    </p:cNvPr>
                    <p:cNvSpPr/>
                    <p:nvPr/>
                  </p:nvSpPr>
                  <p:spPr>
                    <a:xfrm>
                      <a:off x="8566191" y="4380766"/>
                      <a:ext cx="816121" cy="24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zh-TW" altLang="en-US" sz="1000" i="1" smtClean="0">
                                    <a:latin typeface="Cambria Math" panose="02040503050406030204" pitchFamily="18" charset="0"/>
                                  </a:rPr>
                                </m:ctrlPr>
                              </m:dPr>
                              <m:e>
                                <m:r>
                                  <a:rPr lang="en-US" altLang="zh-TW" sz="1000" b="0" i="1" smtClean="0">
                                    <a:latin typeface="Cambria Math" panose="02040503050406030204" pitchFamily="18" charset="0"/>
                                  </a:rPr>
                                  <m:t>𝑂𝑟𝑖𝑔𝑖𝑛𝑎𝑙</m:t>
                                </m:r>
                              </m:e>
                            </m:d>
                          </m:oMath>
                        </m:oMathPara>
                      </a14:m>
                      <a:endParaRPr lang="zh-TW" altLang="en-US" sz="1000" dirty="0"/>
                    </a:p>
                  </p:txBody>
                </p:sp>
              </mc:Choice>
              <mc:Fallback xmlns="">
                <p:sp>
                  <p:nvSpPr>
                    <p:cNvPr id="42" name="矩形 41">
                      <a:extLst>
                        <a:ext uri="{FF2B5EF4-FFF2-40B4-BE49-F238E27FC236}">
                          <a16:creationId xmlns:a16="http://schemas.microsoft.com/office/drawing/2014/main" id="{1A347EB6-C96B-475E-9CEF-D5F26CB6CF11}"/>
                        </a:ext>
                      </a:extLst>
                    </p:cNvPr>
                    <p:cNvSpPr>
                      <a:spLocks noRot="1" noChangeAspect="1" noMove="1" noResize="1" noEditPoints="1" noAdjustHandles="1" noChangeArrowheads="1" noChangeShapeType="1" noTextEdit="1"/>
                    </p:cNvSpPr>
                    <p:nvPr/>
                  </p:nvSpPr>
                  <p:spPr>
                    <a:xfrm>
                      <a:off x="8566191" y="4380766"/>
                      <a:ext cx="816121" cy="246221"/>
                    </a:xfrm>
                    <a:prstGeom prst="rect">
                      <a:avLst/>
                    </a:prstGeom>
                    <a:blipFill>
                      <a:blip r:embed="rId15"/>
                      <a:stretch>
                        <a:fillRect b="-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6" name="矩形 65">
                      <a:extLst>
                        <a:ext uri="{FF2B5EF4-FFF2-40B4-BE49-F238E27FC236}">
                          <a16:creationId xmlns:a16="http://schemas.microsoft.com/office/drawing/2014/main" id="{A5C6B824-FBD4-4A42-B07F-3E4FEB6B073F}"/>
                        </a:ext>
                      </a:extLst>
                    </p:cNvPr>
                    <p:cNvSpPr/>
                    <p:nvPr/>
                  </p:nvSpPr>
                  <p:spPr>
                    <a:xfrm>
                      <a:off x="9074742" y="4571642"/>
                      <a:ext cx="837537" cy="253916"/>
                    </a:xfrm>
                    <a:prstGeom prst="rect">
                      <a:avLst/>
                    </a:prstGeom>
                  </p:spPr>
                  <p:txBody>
                    <a:bodyPr wrap="none">
                      <a:spAutoFit/>
                    </a:bodyPr>
                    <a:lstStyle/>
                    <a:p>
                      <a14:m>
                        <m:oMath xmlns:m="http://schemas.openxmlformats.org/officeDocument/2006/math">
                          <m:r>
                            <a:rPr lang="en-US" altLang="zh-TW" sz="1000" b="0" i="1" smtClean="0">
                              <a:latin typeface="Cambria Math" panose="02040503050406030204" pitchFamily="18" charset="0"/>
                            </a:rPr>
                            <m:t>(</m:t>
                          </m:r>
                          <m:r>
                            <a:rPr lang="en-US" altLang="zh-TW" sz="1000" i="1" smtClean="0">
                              <a:latin typeface="Cambria Math" panose="02040503050406030204" pitchFamily="18" charset="0"/>
                            </a:rPr>
                            <m:t>𝑢</m:t>
                          </m:r>
                          <m:r>
                            <a:rPr lang="en-US" altLang="zh-TW" sz="1000" b="0" i="1" smtClean="0">
                              <a:latin typeface="Cambria Math" panose="02040503050406030204" pitchFamily="18" charset="0"/>
                            </a:rPr>
                            <m:t>𝑛𝑑𝑒𝑟</m:t>
                          </m:r>
                          <m:r>
                            <a:rPr lang="en-US" altLang="zh-TW" sz="1000" b="0" i="1" smtClean="0">
                              <a:latin typeface="Cambria Math" panose="02040503050406030204" pitchFamily="18" charset="0"/>
                            </a:rPr>
                            <m:t> </m:t>
                          </m:r>
                          <m:r>
                            <a:rPr lang="en-US" altLang="zh-TW" sz="1000" b="0" i="1" smtClean="0">
                              <a:latin typeface="Cambria Math" panose="02040503050406030204" pitchFamily="18" charset="0"/>
                            </a:rPr>
                            <m:t>𝐸𝑦</m:t>
                          </m:r>
                        </m:oMath>
                      </a14:m>
                      <a:r>
                        <a:rPr lang="en-US" altLang="zh-TW" sz="1000" dirty="0"/>
                        <a:t>)</a:t>
                      </a:r>
                      <a:endParaRPr lang="zh-TW" altLang="en-US" sz="1000" dirty="0"/>
                    </a:p>
                  </p:txBody>
                </p:sp>
              </mc:Choice>
              <mc:Fallback xmlns="">
                <p:sp>
                  <p:nvSpPr>
                    <p:cNvPr id="66" name="矩形 65">
                      <a:extLst>
                        <a:ext uri="{FF2B5EF4-FFF2-40B4-BE49-F238E27FC236}">
                          <a16:creationId xmlns:a16="http://schemas.microsoft.com/office/drawing/2014/main" id="{A5C6B824-FBD4-4A42-B07F-3E4FEB6B073F}"/>
                        </a:ext>
                      </a:extLst>
                    </p:cNvPr>
                    <p:cNvSpPr>
                      <a:spLocks noRot="1" noChangeAspect="1" noMove="1" noResize="1" noEditPoints="1" noAdjustHandles="1" noChangeArrowheads="1" noChangeShapeType="1" noTextEdit="1"/>
                    </p:cNvSpPr>
                    <p:nvPr/>
                  </p:nvSpPr>
                  <p:spPr>
                    <a:xfrm>
                      <a:off x="9074742" y="4571642"/>
                      <a:ext cx="837537" cy="253916"/>
                    </a:xfrm>
                    <a:prstGeom prst="rect">
                      <a:avLst/>
                    </a:prstGeom>
                    <a:blipFill>
                      <a:blip r:embed="rId20"/>
                      <a:stretch>
                        <a:fillRect b="-12195"/>
                      </a:stretch>
                    </a:blipFill>
                  </p:spPr>
                  <p:txBody>
                    <a:bodyPr/>
                    <a:lstStyle/>
                    <a:p>
                      <a:r>
                        <a:rPr lang="zh-TW" altLang="en-US">
                          <a:noFill/>
                        </a:rPr>
                        <a:t> </a:t>
                      </a:r>
                    </a:p>
                  </p:txBody>
                </p:sp>
              </mc:Fallback>
            </mc:AlternateContent>
          </p:grpSp>
        </p:grpSp>
        <p:cxnSp>
          <p:nvCxnSpPr>
            <p:cNvPr id="57" name="直線單箭頭接點 56">
              <a:extLst>
                <a:ext uri="{FF2B5EF4-FFF2-40B4-BE49-F238E27FC236}">
                  <a16:creationId xmlns:a16="http://schemas.microsoft.com/office/drawing/2014/main" id="{8BD531D0-FCCC-4A86-A25A-F2BA56991B16}"/>
                </a:ext>
              </a:extLst>
            </p:cNvPr>
            <p:cNvCxnSpPr>
              <a:cxnSpLocks/>
            </p:cNvCxnSpPr>
            <p:nvPr/>
          </p:nvCxnSpPr>
          <p:spPr>
            <a:xfrm>
              <a:off x="8818053" y="5393335"/>
              <a:ext cx="6825" cy="10087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9" name="矩形 58">
              <a:extLst>
                <a:ext uri="{FF2B5EF4-FFF2-40B4-BE49-F238E27FC236}">
                  <a16:creationId xmlns:a16="http://schemas.microsoft.com/office/drawing/2014/main" id="{EC8EA2D2-800F-4C62-86FA-6B793098D102}"/>
                </a:ext>
              </a:extLst>
            </p:cNvPr>
            <p:cNvSpPr/>
            <p:nvPr/>
          </p:nvSpPr>
          <p:spPr>
            <a:xfrm>
              <a:off x="8890070" y="5688319"/>
              <a:ext cx="389466" cy="369332"/>
            </a:xfrm>
            <a:prstGeom prst="rect">
              <a:avLst/>
            </a:prstGeom>
          </p:spPr>
          <p:txBody>
            <a:bodyPr wrap="none">
              <a:spAutoFit/>
            </a:bodyPr>
            <a:lstStyle/>
            <a:p>
              <a:r>
                <a:rPr lang="en-US" altLang="zh-TW" dirty="0"/>
                <a:t>Ps</a:t>
              </a:r>
              <a:endParaRPr lang="zh-TW" altLang="en-US" dirty="0"/>
            </a:p>
          </p:txBody>
        </p:sp>
      </p:grpSp>
    </p:spTree>
    <p:extLst>
      <p:ext uri="{BB962C8B-B14F-4D97-AF65-F5344CB8AC3E}">
        <p14:creationId xmlns:p14="http://schemas.microsoft.com/office/powerpoint/2010/main" val="2172378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82101"/>
            <a:ext cx="11152166" cy="523220"/>
          </a:xfrm>
          <a:prstGeom prst="rect">
            <a:avLst/>
          </a:prstGeom>
          <a:solidFill>
            <a:srgbClr val="FFFFD8"/>
          </a:solidFill>
          <a:ln w="38100">
            <a:solidFill>
              <a:srgbClr val="8F9DFE"/>
            </a:solidFill>
          </a:ln>
        </p:spPr>
        <p:txBody>
          <a:bodyPr wrap="square" rtlCol="0">
            <a:spAutoFit/>
          </a:bodyPr>
          <a:lstStyle/>
          <a:p>
            <a:pPr lvl="2" algn="ctr">
              <a:lnSpc>
                <a:spcPct val="100000"/>
              </a:lnSpc>
            </a:pPr>
            <a:r>
              <a:rPr lang="en-US" altLang="zh-TW" sz="2800" b="1" dirty="0">
                <a:latin typeface="Times New Roman" panose="02020603050405020304" pitchFamily="18" charset="0"/>
                <a:cs typeface="Times New Roman" panose="02020603050405020304" pitchFamily="18" charset="0"/>
              </a:rPr>
              <a:t>Electro-Optic Polarization Mode Converters</a:t>
            </a:r>
            <a:r>
              <a:rPr lang="zh-TW" altLang="en-US" sz="2800" b="1" dirty="0">
                <a:latin typeface="Times New Roman" panose="02020603050405020304" pitchFamily="18" charset="0"/>
                <a:cs typeface="Times New Roman" panose="02020603050405020304" pitchFamily="18" charset="0"/>
              </a:rPr>
              <a:t> </a:t>
            </a:r>
            <a:r>
              <a:rPr lang="en-US" altLang="zh-TW" sz="2800" b="1" dirty="0">
                <a:latin typeface="Times New Roman" panose="02020603050405020304" pitchFamily="18" charset="0"/>
                <a:cs typeface="Times New Roman" panose="02020603050405020304" pitchFamily="18" charset="0"/>
              </a:rPr>
              <a:t>(EO PMC)</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CF5F326-4C98-4E56-B749-1039756B3EF7}"/>
                  </a:ext>
                </a:extLst>
              </p:cNvPr>
              <p:cNvSpPr/>
              <p:nvPr/>
            </p:nvSpPr>
            <p:spPr>
              <a:xfrm>
                <a:off x="4005344" y="4957387"/>
                <a:ext cx="1860766" cy="682687"/>
              </a:xfrm>
              <a:prstGeom prst="rect">
                <a:avLst/>
              </a:prstGeom>
            </p:spPr>
            <p:txBody>
              <a:bodyPr wrap="none">
                <a:spAutoFit/>
              </a:bodyPr>
              <a:lstStyle/>
              <a:p>
                <a:pPr marL="285750" indent="-285750">
                  <a:buFont typeface="Arial" panose="020B0604020202020204" pitchFamily="34" charset="0"/>
                  <a:buChar char="•"/>
                </a:pPr>
                <a:r>
                  <a:rPr lang="en-US" altLang="zh-TW" sz="2400" b="1" dirty="0">
                    <a:latin typeface="Times New Roman" panose="02020603050405020304" pitchFamily="18" charset="0"/>
                    <a:cs typeface="Times New Roman" panose="02020603050405020304" pitchFamily="18" charset="0"/>
                  </a:rPr>
                  <a:t>t=</a:t>
                </a:r>
                <a14:m>
                  <m:oMath xmlns:m="http://schemas.openxmlformats.org/officeDocument/2006/math">
                    <m:f>
                      <m:fPr>
                        <m:ctrlPr>
                          <a:rPr lang="zh-TW" altLang="zh-TW" sz="2400" b="1" i="1">
                            <a:effectLst/>
                            <a:latin typeface="Cambria Math" panose="02040503050406030204" pitchFamily="18" charset="0"/>
                            <a:ea typeface="Cambria Math" panose="02040503050406030204" pitchFamily="18" charset="0"/>
                          </a:rPr>
                        </m:ctrlPr>
                      </m:fPr>
                      <m:num>
                        <m:r>
                          <a:rPr lang="en-US" altLang="zh-TW" sz="2400" b="1" i="1">
                            <a:latin typeface="Cambria Math" panose="02040503050406030204" pitchFamily="18" charset="0"/>
                            <a:ea typeface="標楷體" panose="03000509000000000000" pitchFamily="65" charset="-120"/>
                            <a:cs typeface="Times New Roman" panose="02020603050405020304" pitchFamily="18" charset="0"/>
                          </a:rPr>
                          <m:t>𝝀</m:t>
                        </m:r>
                      </m:num>
                      <m:den>
                        <m:r>
                          <a:rPr lang="en-US" altLang="zh-TW" sz="2400" b="1" i="1">
                            <a:latin typeface="Cambria Math" panose="02040503050406030204" pitchFamily="18" charset="0"/>
                            <a:ea typeface="標楷體" panose="03000509000000000000" pitchFamily="65" charset="-120"/>
                            <a:cs typeface="Times New Roman" panose="02020603050405020304" pitchFamily="18" charset="0"/>
                          </a:rPr>
                          <m:t>𝟐</m:t>
                        </m:r>
                        <m:r>
                          <a:rPr lang="en-US" altLang="zh-TW" sz="2400" b="1"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2400" b="1" i="1">
                                <a:effectLst/>
                                <a:latin typeface="Cambria Math" panose="02040503050406030204" pitchFamily="18" charset="0"/>
                                <a:ea typeface="Cambria Math" panose="02040503050406030204" pitchFamily="18" charset="0"/>
                              </a:rPr>
                            </m:ctrlPr>
                          </m:sSubPr>
                          <m:e>
                            <m:r>
                              <a:rPr lang="en-US" altLang="zh-TW" sz="2400" b="1" i="1">
                                <a:latin typeface="Cambria Math" panose="02040503050406030204" pitchFamily="18" charset="0"/>
                                <a:ea typeface="標楷體" panose="03000509000000000000" pitchFamily="65" charset="-120"/>
                                <a:cs typeface="Times New Roman" panose="02020603050405020304" pitchFamily="18" charset="0"/>
                              </a:rPr>
                              <m:t>𝒏</m:t>
                            </m:r>
                          </m:e>
                          <m:sub>
                            <m:r>
                              <a:rPr lang="en-US" altLang="zh-TW" sz="2400" b="1" i="1">
                                <a:latin typeface="Cambria Math" panose="02040503050406030204" pitchFamily="18" charset="0"/>
                                <a:ea typeface="標楷體" panose="03000509000000000000" pitchFamily="65" charset="-120"/>
                                <a:cs typeface="Times New Roman" panose="02020603050405020304" pitchFamily="18" charset="0"/>
                              </a:rPr>
                              <m:t>𝒐</m:t>
                            </m:r>
                          </m:sub>
                        </m:sSub>
                        <m:r>
                          <a:rPr lang="en-US" altLang="zh-TW" sz="2400" b="1"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2400" b="1" i="1">
                                <a:effectLst/>
                                <a:latin typeface="Cambria Math" panose="02040503050406030204" pitchFamily="18" charset="0"/>
                                <a:ea typeface="Cambria Math" panose="02040503050406030204" pitchFamily="18" charset="0"/>
                              </a:rPr>
                            </m:ctrlPr>
                          </m:sSubPr>
                          <m:e>
                            <m:r>
                              <a:rPr lang="en-US" altLang="zh-TW" sz="2400" b="1" i="1">
                                <a:latin typeface="Cambria Math" panose="02040503050406030204" pitchFamily="18" charset="0"/>
                                <a:ea typeface="標楷體" panose="03000509000000000000" pitchFamily="65" charset="-120"/>
                                <a:cs typeface="Times New Roman" panose="02020603050405020304" pitchFamily="18" charset="0"/>
                              </a:rPr>
                              <m:t>𝒏</m:t>
                            </m:r>
                          </m:e>
                          <m:sub>
                            <m:r>
                              <a:rPr lang="en-US" altLang="zh-TW" sz="2400" b="1" i="1">
                                <a:latin typeface="Cambria Math" panose="02040503050406030204" pitchFamily="18" charset="0"/>
                                <a:ea typeface="標楷體" panose="03000509000000000000" pitchFamily="65" charset="-120"/>
                                <a:cs typeface="Times New Roman" panose="02020603050405020304" pitchFamily="18" charset="0"/>
                              </a:rPr>
                              <m:t>𝒆</m:t>
                            </m:r>
                          </m:sub>
                        </m:sSub>
                        <m:r>
                          <a:rPr lang="en-US" altLang="zh-TW" sz="2400" b="1" i="1">
                            <a:latin typeface="Cambria Math" panose="02040503050406030204" pitchFamily="18" charset="0"/>
                            <a:ea typeface="標楷體" panose="03000509000000000000" pitchFamily="65" charset="-120"/>
                            <a:cs typeface="Times New Roman" panose="02020603050405020304" pitchFamily="18" charset="0"/>
                          </a:rPr>
                          <m:t>)</m:t>
                        </m:r>
                      </m:den>
                    </m:f>
                    <m:r>
                      <a:rPr lang="en-US" altLang="zh-TW" sz="2400" b="1" i="1">
                        <a:latin typeface="Cambria Math" panose="02040503050406030204" pitchFamily="18" charset="0"/>
                        <a:ea typeface="標楷體" panose="03000509000000000000" pitchFamily="65" charset="-120"/>
                        <a:cs typeface="Times New Roman" panose="02020603050405020304" pitchFamily="18" charset="0"/>
                      </a:rPr>
                      <m:t> </m:t>
                    </m:r>
                  </m:oMath>
                </a14:m>
                <a:endParaRPr lang="zh-TW" altLang="en-US" sz="2400" b="1" dirty="0">
                  <a:latin typeface="Times New Roman" panose="02020603050405020304" pitchFamily="18" charset="0"/>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DCF5F326-4C98-4E56-B749-1039756B3EF7}"/>
                  </a:ext>
                </a:extLst>
              </p:cNvPr>
              <p:cNvSpPr>
                <a:spLocks noRot="1" noChangeAspect="1" noMove="1" noResize="1" noEditPoints="1" noAdjustHandles="1" noChangeArrowheads="1" noChangeShapeType="1" noTextEdit="1"/>
              </p:cNvSpPr>
              <p:nvPr/>
            </p:nvSpPr>
            <p:spPr>
              <a:xfrm>
                <a:off x="4005344" y="4957387"/>
                <a:ext cx="1860766" cy="682687"/>
              </a:xfrm>
              <a:prstGeom prst="rect">
                <a:avLst/>
              </a:prstGeom>
              <a:blipFill>
                <a:blip r:embed="rId3"/>
                <a:stretch>
                  <a:fillRect l="-4262"/>
                </a:stretch>
              </a:blipFill>
            </p:spPr>
            <p:txBody>
              <a:bodyPr/>
              <a:lstStyle/>
              <a:p>
                <a:r>
                  <a:rPr lang="zh-TW" altLang="en-US">
                    <a:noFill/>
                  </a:rPr>
                  <a:t> </a:t>
                </a:r>
              </a:p>
            </p:txBody>
          </p:sp>
        </mc:Fallback>
      </mc:AlternateContent>
      <p:grpSp>
        <p:nvGrpSpPr>
          <p:cNvPr id="140" name="群組 139">
            <a:extLst>
              <a:ext uri="{FF2B5EF4-FFF2-40B4-BE49-F238E27FC236}">
                <a16:creationId xmlns:a16="http://schemas.microsoft.com/office/drawing/2014/main" id="{3E0FDC25-2213-4D39-8A67-9700AD3CC222}"/>
              </a:ext>
            </a:extLst>
          </p:cNvPr>
          <p:cNvGrpSpPr/>
          <p:nvPr/>
        </p:nvGrpSpPr>
        <p:grpSpPr>
          <a:xfrm>
            <a:off x="1014101" y="2419681"/>
            <a:ext cx="5509681" cy="3246833"/>
            <a:chOff x="1061203" y="2784881"/>
            <a:chExt cx="5223970" cy="3096374"/>
          </a:xfrm>
        </p:grpSpPr>
        <p:grpSp>
          <p:nvGrpSpPr>
            <p:cNvPr id="6" name="群組 5">
              <a:extLst>
                <a:ext uri="{FF2B5EF4-FFF2-40B4-BE49-F238E27FC236}">
                  <a16:creationId xmlns:a16="http://schemas.microsoft.com/office/drawing/2014/main" id="{01CDB227-8427-4794-8A26-7E919AEE7ABB}"/>
                </a:ext>
              </a:extLst>
            </p:cNvPr>
            <p:cNvGrpSpPr/>
            <p:nvPr/>
          </p:nvGrpSpPr>
          <p:grpSpPr>
            <a:xfrm>
              <a:off x="1061203" y="2784881"/>
              <a:ext cx="5223970" cy="3096374"/>
              <a:chOff x="1" y="0"/>
              <a:chExt cx="3624581" cy="2181859"/>
            </a:xfrm>
          </p:grpSpPr>
          <p:grpSp>
            <p:nvGrpSpPr>
              <p:cNvPr id="7" name="群組 6">
                <a:extLst>
                  <a:ext uri="{FF2B5EF4-FFF2-40B4-BE49-F238E27FC236}">
                    <a16:creationId xmlns:a16="http://schemas.microsoft.com/office/drawing/2014/main" id="{C60ECA5F-3603-4784-B210-8B6F71ABBB77}"/>
                  </a:ext>
                </a:extLst>
              </p:cNvPr>
              <p:cNvGrpSpPr/>
              <p:nvPr/>
            </p:nvGrpSpPr>
            <p:grpSpPr>
              <a:xfrm>
                <a:off x="1" y="0"/>
                <a:ext cx="3624581" cy="2181859"/>
                <a:chOff x="0" y="0"/>
                <a:chExt cx="3624922" cy="2182362"/>
              </a:xfrm>
            </p:grpSpPr>
            <p:grpSp>
              <p:nvGrpSpPr>
                <p:cNvPr id="9" name="群組 8">
                  <a:extLst>
                    <a:ext uri="{FF2B5EF4-FFF2-40B4-BE49-F238E27FC236}">
                      <a16:creationId xmlns:a16="http://schemas.microsoft.com/office/drawing/2014/main" id="{9C574570-1E73-4DEE-92FC-2447CC4DFF9B}"/>
                    </a:ext>
                  </a:extLst>
                </p:cNvPr>
                <p:cNvGrpSpPr/>
                <p:nvPr/>
              </p:nvGrpSpPr>
              <p:grpSpPr>
                <a:xfrm>
                  <a:off x="0" y="0"/>
                  <a:ext cx="3624922" cy="2182362"/>
                  <a:chOff x="0" y="0"/>
                  <a:chExt cx="3624922" cy="2182362"/>
                </a:xfrm>
              </p:grpSpPr>
              <p:grpSp>
                <p:nvGrpSpPr>
                  <p:cNvPr id="12" name="群組 11">
                    <a:extLst>
                      <a:ext uri="{FF2B5EF4-FFF2-40B4-BE49-F238E27FC236}">
                        <a16:creationId xmlns:a16="http://schemas.microsoft.com/office/drawing/2014/main" id="{F572612C-B971-4B49-8DCE-CACB066804F7}"/>
                      </a:ext>
                    </a:extLst>
                  </p:cNvPr>
                  <p:cNvGrpSpPr/>
                  <p:nvPr/>
                </p:nvGrpSpPr>
                <p:grpSpPr>
                  <a:xfrm rot="5400000">
                    <a:off x="2613367" y="-45720"/>
                    <a:ext cx="965835" cy="1057275"/>
                    <a:chOff x="0" y="0"/>
                    <a:chExt cx="966539" cy="1057524"/>
                  </a:xfrm>
                </p:grpSpPr>
                <p:grpSp>
                  <p:nvGrpSpPr>
                    <p:cNvPr id="80" name="群組 79">
                      <a:extLst>
                        <a:ext uri="{FF2B5EF4-FFF2-40B4-BE49-F238E27FC236}">
                          <a16:creationId xmlns:a16="http://schemas.microsoft.com/office/drawing/2014/main" id="{6A82902F-C24E-4282-B078-16E879B8DE63}"/>
                        </a:ext>
                      </a:extLst>
                    </p:cNvPr>
                    <p:cNvGrpSpPr/>
                    <p:nvPr/>
                  </p:nvGrpSpPr>
                  <p:grpSpPr>
                    <a:xfrm>
                      <a:off x="0" y="0"/>
                      <a:ext cx="966539" cy="1057524"/>
                      <a:chOff x="0" y="0"/>
                      <a:chExt cx="966539" cy="1057524"/>
                    </a:xfrm>
                  </p:grpSpPr>
                  <p:sp>
                    <p:nvSpPr>
                      <p:cNvPr id="83" name="矩形 82">
                        <a:extLst>
                          <a:ext uri="{FF2B5EF4-FFF2-40B4-BE49-F238E27FC236}">
                            <a16:creationId xmlns:a16="http://schemas.microsoft.com/office/drawing/2014/main" id="{75E414DC-9B41-44A8-863F-47BC1CDB5C10}"/>
                          </a:ext>
                        </a:extLst>
                      </p:cNvPr>
                      <p:cNvSpPr/>
                      <p:nvPr/>
                    </p:nvSpPr>
                    <p:spPr>
                      <a:xfrm>
                        <a:off x="0" y="0"/>
                        <a:ext cx="966539" cy="10575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84" name="直線接點 83">
                        <a:extLst>
                          <a:ext uri="{FF2B5EF4-FFF2-40B4-BE49-F238E27FC236}">
                            <a16:creationId xmlns:a16="http://schemas.microsoft.com/office/drawing/2014/main" id="{90C92D23-2842-4018-8DF6-1CC4E688A2D1}"/>
                          </a:ext>
                        </a:extLst>
                      </p:cNvPr>
                      <p:cNvCxnSpPr/>
                      <p:nvPr/>
                    </p:nvCxnSpPr>
                    <p:spPr>
                      <a:xfrm>
                        <a:off x="135172" y="135172"/>
                        <a:ext cx="7951" cy="808203"/>
                      </a:xfrm>
                      <a:prstGeom prst="line">
                        <a:avLst/>
                      </a:prstGeom>
                    </p:spPr>
                    <p:style>
                      <a:lnRef idx="1">
                        <a:schemeClr val="dk1"/>
                      </a:lnRef>
                      <a:fillRef idx="0">
                        <a:schemeClr val="dk1"/>
                      </a:fillRef>
                      <a:effectRef idx="0">
                        <a:schemeClr val="dk1"/>
                      </a:effectRef>
                      <a:fontRef idx="minor">
                        <a:schemeClr val="tx1"/>
                      </a:fontRef>
                    </p:style>
                  </p:cxnSp>
                  <p:cxnSp>
                    <p:nvCxnSpPr>
                      <p:cNvPr id="85" name="直線接點 84">
                        <a:extLst>
                          <a:ext uri="{FF2B5EF4-FFF2-40B4-BE49-F238E27FC236}">
                            <a16:creationId xmlns:a16="http://schemas.microsoft.com/office/drawing/2014/main" id="{C7C4FC82-77FE-43C3-B91B-3691BE7B65D1}"/>
                          </a:ext>
                        </a:extLst>
                      </p:cNvPr>
                      <p:cNvCxnSpPr/>
                      <p:nvPr/>
                    </p:nvCxnSpPr>
                    <p:spPr>
                      <a:xfrm>
                        <a:off x="270027" y="157849"/>
                        <a:ext cx="7951" cy="808203"/>
                      </a:xfrm>
                      <a:prstGeom prst="line">
                        <a:avLst/>
                      </a:prstGeom>
                    </p:spPr>
                    <p:style>
                      <a:lnRef idx="1">
                        <a:schemeClr val="dk1"/>
                      </a:lnRef>
                      <a:fillRef idx="0">
                        <a:schemeClr val="dk1"/>
                      </a:fillRef>
                      <a:effectRef idx="0">
                        <a:schemeClr val="dk1"/>
                      </a:effectRef>
                      <a:fontRef idx="minor">
                        <a:schemeClr val="tx1"/>
                      </a:fontRef>
                    </p:style>
                  </p:cxnSp>
                  <p:cxnSp>
                    <p:nvCxnSpPr>
                      <p:cNvPr id="86" name="直線接點 85">
                        <a:extLst>
                          <a:ext uri="{FF2B5EF4-FFF2-40B4-BE49-F238E27FC236}">
                            <a16:creationId xmlns:a16="http://schemas.microsoft.com/office/drawing/2014/main" id="{184CF25A-6910-43DF-8060-F1E7A8A8F5E9}"/>
                          </a:ext>
                        </a:extLst>
                      </p:cNvPr>
                      <p:cNvCxnSpPr/>
                      <p:nvPr/>
                    </p:nvCxnSpPr>
                    <p:spPr>
                      <a:xfrm>
                        <a:off x="552457" y="173719"/>
                        <a:ext cx="7951" cy="808203"/>
                      </a:xfrm>
                      <a:prstGeom prst="line">
                        <a:avLst/>
                      </a:prstGeom>
                    </p:spPr>
                    <p:style>
                      <a:lnRef idx="1">
                        <a:schemeClr val="dk1"/>
                      </a:lnRef>
                      <a:fillRef idx="0">
                        <a:schemeClr val="dk1"/>
                      </a:fillRef>
                      <a:effectRef idx="0">
                        <a:schemeClr val="dk1"/>
                      </a:effectRef>
                      <a:fontRef idx="minor">
                        <a:schemeClr val="tx1"/>
                      </a:fontRef>
                    </p:style>
                  </p:cxnSp>
                  <p:cxnSp>
                    <p:nvCxnSpPr>
                      <p:cNvPr id="87" name="直線接點 86">
                        <a:extLst>
                          <a:ext uri="{FF2B5EF4-FFF2-40B4-BE49-F238E27FC236}">
                            <a16:creationId xmlns:a16="http://schemas.microsoft.com/office/drawing/2014/main" id="{FD7C2EF8-32CB-4719-AA22-E129B289A0D1}"/>
                          </a:ext>
                        </a:extLst>
                      </p:cNvPr>
                      <p:cNvCxnSpPr/>
                      <p:nvPr/>
                    </p:nvCxnSpPr>
                    <p:spPr>
                      <a:xfrm>
                        <a:off x="834554" y="151082"/>
                        <a:ext cx="7620" cy="80772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grpSp>
                <p:cxnSp>
                  <p:nvCxnSpPr>
                    <p:cNvPr id="81" name="直線接點 80">
                      <a:extLst>
                        <a:ext uri="{FF2B5EF4-FFF2-40B4-BE49-F238E27FC236}">
                          <a16:creationId xmlns:a16="http://schemas.microsoft.com/office/drawing/2014/main" id="{CAD28CA7-F7C8-4F65-94E9-20378A17DB12}"/>
                        </a:ext>
                      </a:extLst>
                    </p:cNvPr>
                    <p:cNvCxnSpPr/>
                    <p:nvPr/>
                  </p:nvCxnSpPr>
                  <p:spPr>
                    <a:xfrm>
                      <a:off x="417007" y="155748"/>
                      <a:ext cx="7620" cy="807720"/>
                    </a:xfrm>
                    <a:prstGeom prst="line">
                      <a:avLst/>
                    </a:prstGeom>
                  </p:spPr>
                  <p:style>
                    <a:lnRef idx="1">
                      <a:schemeClr val="dk1"/>
                    </a:lnRef>
                    <a:fillRef idx="0">
                      <a:schemeClr val="dk1"/>
                    </a:fillRef>
                    <a:effectRef idx="0">
                      <a:schemeClr val="dk1"/>
                    </a:effectRef>
                    <a:fontRef idx="minor">
                      <a:schemeClr val="tx1"/>
                    </a:fontRef>
                  </p:style>
                </p:cxnSp>
                <p:cxnSp>
                  <p:nvCxnSpPr>
                    <p:cNvPr id="82" name="直線接點 81">
                      <a:extLst>
                        <a:ext uri="{FF2B5EF4-FFF2-40B4-BE49-F238E27FC236}">
                          <a16:creationId xmlns:a16="http://schemas.microsoft.com/office/drawing/2014/main" id="{7B25ED17-076D-4AB0-BE2F-4EB9B9D1A704}"/>
                        </a:ext>
                      </a:extLst>
                    </p:cNvPr>
                    <p:cNvCxnSpPr/>
                    <p:nvPr/>
                  </p:nvCxnSpPr>
                  <p:spPr>
                    <a:xfrm>
                      <a:off x="708409" y="170822"/>
                      <a:ext cx="7950" cy="808200"/>
                    </a:xfrm>
                    <a:prstGeom prst="line">
                      <a:avLst/>
                    </a:prstGeom>
                  </p:spPr>
                  <p:style>
                    <a:lnRef idx="1">
                      <a:schemeClr val="dk1"/>
                    </a:lnRef>
                    <a:fillRef idx="0">
                      <a:schemeClr val="dk1"/>
                    </a:fillRef>
                    <a:effectRef idx="0">
                      <a:schemeClr val="dk1"/>
                    </a:effectRef>
                    <a:fontRef idx="minor">
                      <a:schemeClr val="tx1"/>
                    </a:fontRef>
                  </p:style>
                </p:cxnSp>
              </p:grpSp>
              <p:grpSp>
                <p:nvGrpSpPr>
                  <p:cNvPr id="13" name="群組 12">
                    <a:extLst>
                      <a:ext uri="{FF2B5EF4-FFF2-40B4-BE49-F238E27FC236}">
                        <a16:creationId xmlns:a16="http://schemas.microsoft.com/office/drawing/2014/main" id="{1F4A5F1F-3E33-4FF0-BC0A-A4E71874DD6D}"/>
                      </a:ext>
                    </a:extLst>
                  </p:cNvPr>
                  <p:cNvGrpSpPr/>
                  <p:nvPr/>
                </p:nvGrpSpPr>
                <p:grpSpPr>
                  <a:xfrm>
                    <a:off x="2270760" y="168519"/>
                    <a:ext cx="916808" cy="876063"/>
                    <a:chOff x="0" y="7196"/>
                    <a:chExt cx="917455" cy="876300"/>
                  </a:xfrm>
                </p:grpSpPr>
                <p:sp>
                  <p:nvSpPr>
                    <p:cNvPr id="72" name="矩形 71">
                      <a:extLst>
                        <a:ext uri="{FF2B5EF4-FFF2-40B4-BE49-F238E27FC236}">
                          <a16:creationId xmlns:a16="http://schemas.microsoft.com/office/drawing/2014/main" id="{595310D1-EE8D-4859-AC23-D396AED3C9D5}"/>
                        </a:ext>
                      </a:extLst>
                    </p:cNvPr>
                    <p:cNvSpPr/>
                    <p:nvPr/>
                  </p:nvSpPr>
                  <p:spPr>
                    <a:xfrm rot="731702">
                      <a:off x="69829" y="80206"/>
                      <a:ext cx="772290" cy="7604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73" name="直線接點 72">
                      <a:extLst>
                        <a:ext uri="{FF2B5EF4-FFF2-40B4-BE49-F238E27FC236}">
                          <a16:creationId xmlns:a16="http://schemas.microsoft.com/office/drawing/2014/main" id="{3E8F4D00-EFE0-4B42-B891-724C2C703200}"/>
                        </a:ext>
                      </a:extLst>
                    </p:cNvPr>
                    <p:cNvCxnSpPr/>
                    <p:nvPr/>
                  </p:nvCxnSpPr>
                  <p:spPr>
                    <a:xfrm flipH="1">
                      <a:off x="832076" y="172712"/>
                      <a:ext cx="79840" cy="61578"/>
                    </a:xfrm>
                    <a:prstGeom prst="line">
                      <a:avLst/>
                    </a:prstGeom>
                  </p:spPr>
                  <p:style>
                    <a:lnRef idx="1">
                      <a:schemeClr val="accent1"/>
                    </a:lnRef>
                    <a:fillRef idx="0">
                      <a:schemeClr val="accent1"/>
                    </a:fillRef>
                    <a:effectRef idx="0">
                      <a:schemeClr val="accent1"/>
                    </a:effectRef>
                    <a:fontRef idx="minor">
                      <a:schemeClr val="tx1"/>
                    </a:fontRef>
                  </p:style>
                </p:cxnSp>
                <p:grpSp>
                  <p:nvGrpSpPr>
                    <p:cNvPr id="74" name="群組 73">
                      <a:extLst>
                        <a:ext uri="{FF2B5EF4-FFF2-40B4-BE49-F238E27FC236}">
                          <a16:creationId xmlns:a16="http://schemas.microsoft.com/office/drawing/2014/main" id="{C783920D-1093-4D82-9308-76DA586C4998}"/>
                        </a:ext>
                      </a:extLst>
                    </p:cNvPr>
                    <p:cNvGrpSpPr/>
                    <p:nvPr/>
                  </p:nvGrpSpPr>
                  <p:grpSpPr>
                    <a:xfrm>
                      <a:off x="0" y="7196"/>
                      <a:ext cx="917455" cy="876300"/>
                      <a:chOff x="0" y="7196"/>
                      <a:chExt cx="917455" cy="876300"/>
                    </a:xfrm>
                  </p:grpSpPr>
                  <p:sp>
                    <p:nvSpPr>
                      <p:cNvPr id="75" name="矩形 74">
                        <a:extLst>
                          <a:ext uri="{FF2B5EF4-FFF2-40B4-BE49-F238E27FC236}">
                            <a16:creationId xmlns:a16="http://schemas.microsoft.com/office/drawing/2014/main" id="{041438F3-5A1D-437A-BB61-DD945C6722A7}"/>
                          </a:ext>
                        </a:extLst>
                      </p:cNvPr>
                      <p:cNvSpPr/>
                      <p:nvPr/>
                    </p:nvSpPr>
                    <p:spPr>
                      <a:xfrm rot="721799">
                        <a:off x="0" y="140250"/>
                        <a:ext cx="771800" cy="66487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76" name="直線接點 75">
                        <a:extLst>
                          <a:ext uri="{FF2B5EF4-FFF2-40B4-BE49-F238E27FC236}">
                            <a16:creationId xmlns:a16="http://schemas.microsoft.com/office/drawing/2014/main" id="{BE01D27D-F06B-4189-A3C4-89A5D1E9EE2E}"/>
                          </a:ext>
                        </a:extLst>
                      </p:cNvPr>
                      <p:cNvCxnSpPr/>
                      <p:nvPr/>
                    </p:nvCxnSpPr>
                    <p:spPr>
                      <a:xfrm flipH="1">
                        <a:off x="72638" y="7196"/>
                        <a:ext cx="86737" cy="58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直線接點 76">
                        <a:extLst>
                          <a:ext uri="{FF2B5EF4-FFF2-40B4-BE49-F238E27FC236}">
                            <a16:creationId xmlns:a16="http://schemas.microsoft.com/office/drawing/2014/main" id="{7B167275-B685-45F7-BC54-A94FED7EAA56}"/>
                          </a:ext>
                        </a:extLst>
                      </p:cNvPr>
                      <p:cNvCxnSpPr/>
                      <p:nvPr/>
                    </p:nvCxnSpPr>
                    <p:spPr>
                      <a:xfrm flipH="1">
                        <a:off x="695721" y="813108"/>
                        <a:ext cx="76608" cy="703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直線接點 77">
                        <a:extLst>
                          <a:ext uri="{FF2B5EF4-FFF2-40B4-BE49-F238E27FC236}">
                            <a16:creationId xmlns:a16="http://schemas.microsoft.com/office/drawing/2014/main" id="{460AAD49-0606-419A-AE5C-BC69E4809E47}"/>
                          </a:ext>
                        </a:extLst>
                      </p:cNvPr>
                      <p:cNvCxnSpPr/>
                      <p:nvPr/>
                    </p:nvCxnSpPr>
                    <p:spPr>
                      <a:xfrm>
                        <a:off x="157800" y="7200"/>
                        <a:ext cx="759655" cy="164123"/>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線接點 78">
                        <a:extLst>
                          <a:ext uri="{FF2B5EF4-FFF2-40B4-BE49-F238E27FC236}">
                            <a16:creationId xmlns:a16="http://schemas.microsoft.com/office/drawing/2014/main" id="{97045FE6-957E-4D56-A5DD-82781C7FA559}"/>
                          </a:ext>
                        </a:extLst>
                      </p:cNvPr>
                      <p:cNvCxnSpPr/>
                      <p:nvPr/>
                    </p:nvCxnSpPr>
                    <p:spPr>
                      <a:xfrm flipH="1">
                        <a:off x="769800" y="172800"/>
                        <a:ext cx="142628" cy="643307"/>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4" name="群組 13">
                    <a:extLst>
                      <a:ext uri="{FF2B5EF4-FFF2-40B4-BE49-F238E27FC236}">
                        <a16:creationId xmlns:a16="http://schemas.microsoft.com/office/drawing/2014/main" id="{8594E54F-D070-4052-9E45-309648D869D1}"/>
                      </a:ext>
                    </a:extLst>
                  </p:cNvPr>
                  <p:cNvGrpSpPr/>
                  <p:nvPr/>
                </p:nvGrpSpPr>
                <p:grpSpPr>
                  <a:xfrm rot="20201879">
                    <a:off x="1787476" y="398584"/>
                    <a:ext cx="916808" cy="876063"/>
                    <a:chOff x="0" y="7196"/>
                    <a:chExt cx="917455" cy="876300"/>
                  </a:xfrm>
                </p:grpSpPr>
                <p:sp>
                  <p:nvSpPr>
                    <p:cNvPr id="64" name="矩形 63">
                      <a:extLst>
                        <a:ext uri="{FF2B5EF4-FFF2-40B4-BE49-F238E27FC236}">
                          <a16:creationId xmlns:a16="http://schemas.microsoft.com/office/drawing/2014/main" id="{4EDAEB74-6901-4F74-9D68-F3A8DE7CCD78}"/>
                        </a:ext>
                      </a:extLst>
                    </p:cNvPr>
                    <p:cNvSpPr/>
                    <p:nvPr/>
                  </p:nvSpPr>
                  <p:spPr>
                    <a:xfrm rot="731702">
                      <a:off x="72335" y="80346"/>
                      <a:ext cx="772297" cy="7413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65" name="直線接點 64">
                      <a:extLst>
                        <a:ext uri="{FF2B5EF4-FFF2-40B4-BE49-F238E27FC236}">
                          <a16:creationId xmlns:a16="http://schemas.microsoft.com/office/drawing/2014/main" id="{3FBBB81C-FA25-428F-B4F0-8BCF9DF68739}"/>
                        </a:ext>
                      </a:extLst>
                    </p:cNvPr>
                    <p:cNvCxnSpPr/>
                    <p:nvPr/>
                  </p:nvCxnSpPr>
                  <p:spPr>
                    <a:xfrm flipH="1">
                      <a:off x="832076" y="172712"/>
                      <a:ext cx="79840" cy="61578"/>
                    </a:xfrm>
                    <a:prstGeom prst="line">
                      <a:avLst/>
                    </a:prstGeom>
                  </p:spPr>
                  <p:style>
                    <a:lnRef idx="1">
                      <a:schemeClr val="accent1"/>
                    </a:lnRef>
                    <a:fillRef idx="0">
                      <a:schemeClr val="accent1"/>
                    </a:fillRef>
                    <a:effectRef idx="0">
                      <a:schemeClr val="accent1"/>
                    </a:effectRef>
                    <a:fontRef idx="minor">
                      <a:schemeClr val="tx1"/>
                    </a:fontRef>
                  </p:style>
                </p:cxnSp>
                <p:grpSp>
                  <p:nvGrpSpPr>
                    <p:cNvPr id="66" name="群組 65">
                      <a:extLst>
                        <a:ext uri="{FF2B5EF4-FFF2-40B4-BE49-F238E27FC236}">
                          <a16:creationId xmlns:a16="http://schemas.microsoft.com/office/drawing/2014/main" id="{60AED241-FF3C-4143-AD80-B8126519D229}"/>
                        </a:ext>
                      </a:extLst>
                    </p:cNvPr>
                    <p:cNvGrpSpPr/>
                    <p:nvPr/>
                  </p:nvGrpSpPr>
                  <p:grpSpPr>
                    <a:xfrm>
                      <a:off x="0" y="7196"/>
                      <a:ext cx="917455" cy="876300"/>
                      <a:chOff x="0" y="7196"/>
                      <a:chExt cx="917455" cy="876300"/>
                    </a:xfrm>
                  </p:grpSpPr>
                  <p:sp>
                    <p:nvSpPr>
                      <p:cNvPr id="67" name="矩形 66">
                        <a:extLst>
                          <a:ext uri="{FF2B5EF4-FFF2-40B4-BE49-F238E27FC236}">
                            <a16:creationId xmlns:a16="http://schemas.microsoft.com/office/drawing/2014/main" id="{E55D7290-C7A3-40E1-80B2-A4C3DD4DA1B0}"/>
                          </a:ext>
                        </a:extLst>
                      </p:cNvPr>
                      <p:cNvSpPr/>
                      <p:nvPr/>
                    </p:nvSpPr>
                    <p:spPr>
                      <a:xfrm rot="721799">
                        <a:off x="0" y="140250"/>
                        <a:ext cx="771800" cy="66487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68" name="直線接點 67">
                        <a:extLst>
                          <a:ext uri="{FF2B5EF4-FFF2-40B4-BE49-F238E27FC236}">
                            <a16:creationId xmlns:a16="http://schemas.microsoft.com/office/drawing/2014/main" id="{35872AAA-91E5-4B88-A5B8-8F358C6220A1}"/>
                          </a:ext>
                        </a:extLst>
                      </p:cNvPr>
                      <p:cNvCxnSpPr/>
                      <p:nvPr/>
                    </p:nvCxnSpPr>
                    <p:spPr>
                      <a:xfrm flipH="1">
                        <a:off x="72638" y="7196"/>
                        <a:ext cx="86737" cy="58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線接點 68">
                        <a:extLst>
                          <a:ext uri="{FF2B5EF4-FFF2-40B4-BE49-F238E27FC236}">
                            <a16:creationId xmlns:a16="http://schemas.microsoft.com/office/drawing/2014/main" id="{3EAFD08F-352D-4976-9A7D-380981CEEC47}"/>
                          </a:ext>
                        </a:extLst>
                      </p:cNvPr>
                      <p:cNvCxnSpPr/>
                      <p:nvPr/>
                    </p:nvCxnSpPr>
                    <p:spPr>
                      <a:xfrm flipH="1">
                        <a:off x="695721" y="813108"/>
                        <a:ext cx="76608" cy="703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直線接點 69">
                        <a:extLst>
                          <a:ext uri="{FF2B5EF4-FFF2-40B4-BE49-F238E27FC236}">
                            <a16:creationId xmlns:a16="http://schemas.microsoft.com/office/drawing/2014/main" id="{7F49733B-2D41-4B82-9F1C-286514F7A64F}"/>
                          </a:ext>
                        </a:extLst>
                      </p:cNvPr>
                      <p:cNvCxnSpPr/>
                      <p:nvPr/>
                    </p:nvCxnSpPr>
                    <p:spPr>
                      <a:xfrm>
                        <a:off x="157800" y="7200"/>
                        <a:ext cx="759655" cy="164123"/>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直線接點 70">
                        <a:extLst>
                          <a:ext uri="{FF2B5EF4-FFF2-40B4-BE49-F238E27FC236}">
                            <a16:creationId xmlns:a16="http://schemas.microsoft.com/office/drawing/2014/main" id="{58CD1B8B-B423-4E6C-8640-BAD03AABDD46}"/>
                          </a:ext>
                        </a:extLst>
                      </p:cNvPr>
                      <p:cNvCxnSpPr/>
                      <p:nvPr/>
                    </p:nvCxnSpPr>
                    <p:spPr>
                      <a:xfrm flipH="1">
                        <a:off x="769800" y="172800"/>
                        <a:ext cx="142628" cy="643307"/>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5" name="群組 14">
                    <a:extLst>
                      <a:ext uri="{FF2B5EF4-FFF2-40B4-BE49-F238E27FC236}">
                        <a16:creationId xmlns:a16="http://schemas.microsoft.com/office/drawing/2014/main" id="{41FDFEDC-FEE4-4C8A-BDE5-2A5804800B38}"/>
                      </a:ext>
                    </a:extLst>
                  </p:cNvPr>
                  <p:cNvGrpSpPr/>
                  <p:nvPr/>
                </p:nvGrpSpPr>
                <p:grpSpPr>
                  <a:xfrm>
                    <a:off x="1215683" y="660889"/>
                    <a:ext cx="916807" cy="876064"/>
                    <a:chOff x="0" y="7196"/>
                    <a:chExt cx="917455" cy="876300"/>
                  </a:xfrm>
                </p:grpSpPr>
                <p:sp>
                  <p:nvSpPr>
                    <p:cNvPr id="56" name="矩形 55">
                      <a:extLst>
                        <a:ext uri="{FF2B5EF4-FFF2-40B4-BE49-F238E27FC236}">
                          <a16:creationId xmlns:a16="http://schemas.microsoft.com/office/drawing/2014/main" id="{6C0ABC99-C437-4589-87FF-8F657F786AD8}"/>
                        </a:ext>
                      </a:extLst>
                    </p:cNvPr>
                    <p:cNvSpPr/>
                    <p:nvPr/>
                  </p:nvSpPr>
                  <p:spPr>
                    <a:xfrm rot="731702">
                      <a:off x="71822" y="80788"/>
                      <a:ext cx="776454" cy="7459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57" name="直線接點 56">
                      <a:extLst>
                        <a:ext uri="{FF2B5EF4-FFF2-40B4-BE49-F238E27FC236}">
                          <a16:creationId xmlns:a16="http://schemas.microsoft.com/office/drawing/2014/main" id="{2B8ECBA0-6E0D-49FF-8722-92F440F3A0A4}"/>
                        </a:ext>
                      </a:extLst>
                    </p:cNvPr>
                    <p:cNvCxnSpPr/>
                    <p:nvPr/>
                  </p:nvCxnSpPr>
                  <p:spPr>
                    <a:xfrm flipH="1">
                      <a:off x="832076" y="172712"/>
                      <a:ext cx="79840" cy="61578"/>
                    </a:xfrm>
                    <a:prstGeom prst="line">
                      <a:avLst/>
                    </a:prstGeom>
                  </p:spPr>
                  <p:style>
                    <a:lnRef idx="1">
                      <a:schemeClr val="accent1"/>
                    </a:lnRef>
                    <a:fillRef idx="0">
                      <a:schemeClr val="accent1"/>
                    </a:fillRef>
                    <a:effectRef idx="0">
                      <a:schemeClr val="accent1"/>
                    </a:effectRef>
                    <a:fontRef idx="minor">
                      <a:schemeClr val="tx1"/>
                    </a:fontRef>
                  </p:style>
                </p:cxnSp>
                <p:grpSp>
                  <p:nvGrpSpPr>
                    <p:cNvPr id="58" name="群組 57">
                      <a:extLst>
                        <a:ext uri="{FF2B5EF4-FFF2-40B4-BE49-F238E27FC236}">
                          <a16:creationId xmlns:a16="http://schemas.microsoft.com/office/drawing/2014/main" id="{FA9B883E-A4F4-4643-9715-F8C34E924658}"/>
                        </a:ext>
                      </a:extLst>
                    </p:cNvPr>
                    <p:cNvGrpSpPr/>
                    <p:nvPr/>
                  </p:nvGrpSpPr>
                  <p:grpSpPr>
                    <a:xfrm>
                      <a:off x="0" y="7196"/>
                      <a:ext cx="917455" cy="876300"/>
                      <a:chOff x="0" y="7196"/>
                      <a:chExt cx="917455" cy="876300"/>
                    </a:xfrm>
                  </p:grpSpPr>
                  <p:sp>
                    <p:nvSpPr>
                      <p:cNvPr id="59" name="矩形 58">
                        <a:extLst>
                          <a:ext uri="{FF2B5EF4-FFF2-40B4-BE49-F238E27FC236}">
                            <a16:creationId xmlns:a16="http://schemas.microsoft.com/office/drawing/2014/main" id="{8F89284F-5361-4897-BB9A-E8DCFD40754B}"/>
                          </a:ext>
                        </a:extLst>
                      </p:cNvPr>
                      <p:cNvSpPr/>
                      <p:nvPr/>
                    </p:nvSpPr>
                    <p:spPr>
                      <a:xfrm rot="721799">
                        <a:off x="0" y="140250"/>
                        <a:ext cx="771800" cy="66487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60" name="直線接點 59">
                        <a:extLst>
                          <a:ext uri="{FF2B5EF4-FFF2-40B4-BE49-F238E27FC236}">
                            <a16:creationId xmlns:a16="http://schemas.microsoft.com/office/drawing/2014/main" id="{231376C5-B08C-4D89-9BEB-C45B16AFCBAA}"/>
                          </a:ext>
                        </a:extLst>
                      </p:cNvPr>
                      <p:cNvCxnSpPr/>
                      <p:nvPr/>
                    </p:nvCxnSpPr>
                    <p:spPr>
                      <a:xfrm flipH="1">
                        <a:off x="72638" y="7196"/>
                        <a:ext cx="86737" cy="58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直線接點 60">
                        <a:extLst>
                          <a:ext uri="{FF2B5EF4-FFF2-40B4-BE49-F238E27FC236}">
                            <a16:creationId xmlns:a16="http://schemas.microsoft.com/office/drawing/2014/main" id="{68FB477E-34D5-4C7F-B242-EF9C6280287A}"/>
                          </a:ext>
                        </a:extLst>
                      </p:cNvPr>
                      <p:cNvCxnSpPr/>
                      <p:nvPr/>
                    </p:nvCxnSpPr>
                    <p:spPr>
                      <a:xfrm flipH="1">
                        <a:off x="695721" y="813108"/>
                        <a:ext cx="76608" cy="703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D51FD011-14DF-4D06-8829-9CCDD41D0E21}"/>
                          </a:ext>
                        </a:extLst>
                      </p:cNvPr>
                      <p:cNvCxnSpPr/>
                      <p:nvPr/>
                    </p:nvCxnSpPr>
                    <p:spPr>
                      <a:xfrm>
                        <a:off x="157800" y="7200"/>
                        <a:ext cx="759655" cy="164123"/>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線接點 62">
                        <a:extLst>
                          <a:ext uri="{FF2B5EF4-FFF2-40B4-BE49-F238E27FC236}">
                            <a16:creationId xmlns:a16="http://schemas.microsoft.com/office/drawing/2014/main" id="{C829639F-1E42-4098-AFB9-B1614B219A1A}"/>
                          </a:ext>
                        </a:extLst>
                      </p:cNvPr>
                      <p:cNvCxnSpPr/>
                      <p:nvPr/>
                    </p:nvCxnSpPr>
                    <p:spPr>
                      <a:xfrm flipH="1">
                        <a:off x="769800" y="172800"/>
                        <a:ext cx="142628" cy="643307"/>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6" name="群組 15">
                    <a:extLst>
                      <a:ext uri="{FF2B5EF4-FFF2-40B4-BE49-F238E27FC236}">
                        <a16:creationId xmlns:a16="http://schemas.microsoft.com/office/drawing/2014/main" id="{5250ECB4-2365-45C6-A950-E1DBB3C8996D}"/>
                      </a:ext>
                    </a:extLst>
                  </p:cNvPr>
                  <p:cNvGrpSpPr/>
                  <p:nvPr/>
                </p:nvGrpSpPr>
                <p:grpSpPr>
                  <a:xfrm rot="1175336">
                    <a:off x="1458651" y="399299"/>
                    <a:ext cx="1014623" cy="1106397"/>
                    <a:chOff x="211422" y="0"/>
                    <a:chExt cx="1014891" cy="1106408"/>
                  </a:xfrm>
                </p:grpSpPr>
                <p:grpSp>
                  <p:nvGrpSpPr>
                    <p:cNvPr id="46" name="群組 45">
                      <a:extLst>
                        <a:ext uri="{FF2B5EF4-FFF2-40B4-BE49-F238E27FC236}">
                          <a16:creationId xmlns:a16="http://schemas.microsoft.com/office/drawing/2014/main" id="{A96B83B3-E631-4FE2-B5B4-44A5A25C6AC4}"/>
                        </a:ext>
                      </a:extLst>
                    </p:cNvPr>
                    <p:cNvGrpSpPr/>
                    <p:nvPr/>
                  </p:nvGrpSpPr>
                  <p:grpSpPr>
                    <a:xfrm rot="21241686">
                      <a:off x="332989" y="227278"/>
                      <a:ext cx="672969" cy="653465"/>
                      <a:chOff x="-57478" y="-111068"/>
                      <a:chExt cx="982253" cy="895706"/>
                    </a:xfrm>
                  </p:grpSpPr>
                  <p:cxnSp>
                    <p:nvCxnSpPr>
                      <p:cNvPr id="54" name="直線單箭頭接點 53">
                        <a:extLst>
                          <a:ext uri="{FF2B5EF4-FFF2-40B4-BE49-F238E27FC236}">
                            <a16:creationId xmlns:a16="http://schemas.microsoft.com/office/drawing/2014/main" id="{7CD93D2E-C4DF-4354-8872-A77583EA0E81}"/>
                          </a:ext>
                        </a:extLst>
                      </p:cNvPr>
                      <p:cNvCxnSpPr/>
                      <p:nvPr/>
                    </p:nvCxnSpPr>
                    <p:spPr>
                      <a:xfrm rot="358314" flipH="1" flipV="1">
                        <a:off x="-57478" y="-111068"/>
                        <a:ext cx="160119" cy="8467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 name="直線單箭頭接點 54">
                        <a:extLst>
                          <a:ext uri="{FF2B5EF4-FFF2-40B4-BE49-F238E27FC236}">
                            <a16:creationId xmlns:a16="http://schemas.microsoft.com/office/drawing/2014/main" id="{C2756066-C058-49B6-B84A-393B5E2D6C87}"/>
                          </a:ext>
                        </a:extLst>
                      </p:cNvPr>
                      <p:cNvCxnSpPr/>
                      <p:nvPr/>
                    </p:nvCxnSpPr>
                    <p:spPr>
                      <a:xfrm rot="358314" flipV="1">
                        <a:off x="57364" y="647614"/>
                        <a:ext cx="867411" cy="1370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47" name="文字方塊 94">
                      <a:extLst>
                        <a:ext uri="{FF2B5EF4-FFF2-40B4-BE49-F238E27FC236}">
                          <a16:creationId xmlns:a16="http://schemas.microsoft.com/office/drawing/2014/main" id="{E6F82DF9-4EDA-4F0A-859F-2E759EE755E4}"/>
                        </a:ext>
                      </a:extLst>
                    </p:cNvPr>
                    <p:cNvSpPr txBox="1"/>
                    <p:nvPr/>
                  </p:nvSpPr>
                  <p:spPr>
                    <a:xfrm rot="20479068">
                      <a:off x="211422" y="0"/>
                      <a:ext cx="269563" cy="32199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US" kern="100" dirty="0">
                          <a:effectLst/>
                          <a:latin typeface="Times New Roman" panose="02020603050405020304" pitchFamily="18" charset="0"/>
                          <a:ea typeface="新細明體" panose="02020500000000000000" pitchFamily="18" charset="-120"/>
                          <a:cs typeface="Times New Roman" panose="02020603050405020304" pitchFamily="18" charset="0"/>
                        </a:rPr>
                        <a:t>z</a:t>
                      </a:r>
                      <a:endParaRPr lang="zh-TW"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48" name="文字方塊 131">
                      <a:extLst>
                        <a:ext uri="{FF2B5EF4-FFF2-40B4-BE49-F238E27FC236}">
                          <a16:creationId xmlns:a16="http://schemas.microsoft.com/office/drawing/2014/main" id="{332734B2-A4F7-43D1-A31B-473963FF6735}"/>
                        </a:ext>
                      </a:extLst>
                    </p:cNvPr>
                    <p:cNvSpPr txBox="1"/>
                    <p:nvPr/>
                  </p:nvSpPr>
                  <p:spPr>
                    <a:xfrm rot="20479068">
                      <a:off x="956750" y="586884"/>
                      <a:ext cx="269563" cy="32199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US" kern="100" dirty="0">
                          <a:effectLst/>
                          <a:latin typeface="Times New Roman" panose="02020603050405020304" pitchFamily="18" charset="0"/>
                          <a:ea typeface="新細明體" panose="02020500000000000000" pitchFamily="18" charset="-120"/>
                          <a:cs typeface="Times New Roman" panose="02020603050405020304" pitchFamily="18" charset="0"/>
                        </a:rPr>
                        <a:t>y</a:t>
                      </a:r>
                      <a:endParaRPr lang="zh-TW"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p:grpSp>
                  <p:nvGrpSpPr>
                    <p:cNvPr id="49" name="群組 48">
                      <a:extLst>
                        <a:ext uri="{FF2B5EF4-FFF2-40B4-BE49-F238E27FC236}">
                          <a16:creationId xmlns:a16="http://schemas.microsoft.com/office/drawing/2014/main" id="{6ECB8B9F-EAED-4CE5-B4CB-4445D785BAF8}"/>
                        </a:ext>
                      </a:extLst>
                    </p:cNvPr>
                    <p:cNvGrpSpPr/>
                    <p:nvPr/>
                  </p:nvGrpSpPr>
                  <p:grpSpPr>
                    <a:xfrm rot="20195453">
                      <a:off x="342803" y="272649"/>
                      <a:ext cx="470269" cy="824998"/>
                      <a:chOff x="-1274" y="1004"/>
                      <a:chExt cx="686394" cy="1130826"/>
                    </a:xfrm>
                  </p:grpSpPr>
                  <p:cxnSp>
                    <p:nvCxnSpPr>
                      <p:cNvPr id="52" name="直線單箭頭接點 51">
                        <a:extLst>
                          <a:ext uri="{FF2B5EF4-FFF2-40B4-BE49-F238E27FC236}">
                            <a16:creationId xmlns:a16="http://schemas.microsoft.com/office/drawing/2014/main" id="{06C1B30A-4424-4440-8051-2C46C81E76A4}"/>
                          </a:ext>
                        </a:extLst>
                      </p:cNvPr>
                      <p:cNvCxnSpPr/>
                      <p:nvPr/>
                    </p:nvCxnSpPr>
                    <p:spPr>
                      <a:xfrm rot="283615" flipV="1">
                        <a:off x="87832" y="1004"/>
                        <a:ext cx="426823" cy="757961"/>
                      </a:xfrm>
                      <a:prstGeom prst="straightConnector1">
                        <a:avLst/>
                      </a:prstGeom>
                      <a:ln>
                        <a:prstDash val="lgDash"/>
                        <a:tailEnd type="triangle"/>
                      </a:ln>
                    </p:spPr>
                    <p:style>
                      <a:lnRef idx="1">
                        <a:schemeClr val="dk1"/>
                      </a:lnRef>
                      <a:fillRef idx="0">
                        <a:schemeClr val="dk1"/>
                      </a:fillRef>
                      <a:effectRef idx="0">
                        <a:schemeClr val="dk1"/>
                      </a:effectRef>
                      <a:fontRef idx="minor">
                        <a:schemeClr val="tx1"/>
                      </a:fontRef>
                    </p:style>
                  </p:cxnSp>
                  <p:cxnSp>
                    <p:nvCxnSpPr>
                      <p:cNvPr id="53" name="直線單箭頭接點 52">
                        <a:extLst>
                          <a:ext uri="{FF2B5EF4-FFF2-40B4-BE49-F238E27FC236}">
                            <a16:creationId xmlns:a16="http://schemas.microsoft.com/office/drawing/2014/main" id="{24031CEF-9A2C-49E0-BD02-5C6772BB6B9A}"/>
                          </a:ext>
                        </a:extLst>
                      </p:cNvPr>
                      <p:cNvCxnSpPr>
                        <a:endCxn id="51" idx="1"/>
                      </p:cNvCxnSpPr>
                      <p:nvPr/>
                    </p:nvCxnSpPr>
                    <p:spPr>
                      <a:xfrm rot="229211">
                        <a:off x="-1274" y="770775"/>
                        <a:ext cx="686394" cy="361055"/>
                      </a:xfrm>
                      <a:prstGeom prst="straightConnector1">
                        <a:avLst/>
                      </a:prstGeom>
                      <a:ln>
                        <a:prstDash val="lgDash"/>
                        <a:tailEnd type="triangle"/>
                      </a:ln>
                    </p:spPr>
                    <p:style>
                      <a:lnRef idx="1">
                        <a:schemeClr val="dk1"/>
                      </a:lnRef>
                      <a:fillRef idx="0">
                        <a:schemeClr val="dk1"/>
                      </a:fillRef>
                      <a:effectRef idx="0">
                        <a:schemeClr val="dk1"/>
                      </a:effectRef>
                      <a:fontRef idx="minor">
                        <a:schemeClr val="tx1"/>
                      </a:fontRef>
                    </p:style>
                  </p:cxnSp>
                </p:grpSp>
                <p:sp>
                  <p:nvSpPr>
                    <p:cNvPr id="50" name="文字方塊 137">
                      <a:extLst>
                        <a:ext uri="{FF2B5EF4-FFF2-40B4-BE49-F238E27FC236}">
                          <a16:creationId xmlns:a16="http://schemas.microsoft.com/office/drawing/2014/main" id="{ABCD59F6-3A41-4082-BB7C-003F574E10DC}"/>
                        </a:ext>
                      </a:extLst>
                    </p:cNvPr>
                    <p:cNvSpPr txBox="1"/>
                    <p:nvPr/>
                  </p:nvSpPr>
                  <p:spPr>
                    <a:xfrm rot="20667462">
                      <a:off x="427098" y="27792"/>
                      <a:ext cx="269563" cy="32199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US" kern="100" dirty="0">
                          <a:effectLst/>
                          <a:latin typeface="Times New Roman" panose="02020603050405020304" pitchFamily="18" charset="0"/>
                          <a:ea typeface="新細明體" panose="02020500000000000000" pitchFamily="18" charset="-120"/>
                          <a:cs typeface="Times New Roman" panose="02020603050405020304" pitchFamily="18" charset="0"/>
                        </a:rPr>
                        <a:t>F</a:t>
                      </a:r>
                      <a:endParaRPr lang="zh-TW"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51" name="文字方塊 138">
                      <a:extLst>
                        <a:ext uri="{FF2B5EF4-FFF2-40B4-BE49-F238E27FC236}">
                          <a16:creationId xmlns:a16="http://schemas.microsoft.com/office/drawing/2014/main" id="{31061FB3-3DDA-4242-9A9D-BCF3ECA879EF}"/>
                        </a:ext>
                      </a:extLst>
                    </p:cNvPr>
                    <p:cNvSpPr txBox="1"/>
                    <p:nvPr/>
                  </p:nvSpPr>
                  <p:spPr>
                    <a:xfrm rot="20479068">
                      <a:off x="948256" y="784410"/>
                      <a:ext cx="269563" cy="32199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US" kern="100" dirty="0">
                          <a:effectLst/>
                          <a:latin typeface="Times New Roman" panose="02020603050405020304" pitchFamily="18" charset="0"/>
                          <a:ea typeface="新細明體" panose="02020500000000000000" pitchFamily="18" charset="-120"/>
                          <a:cs typeface="Times New Roman" panose="02020603050405020304" pitchFamily="18" charset="0"/>
                        </a:rPr>
                        <a:t>S</a:t>
                      </a:r>
                      <a:endParaRPr lang="zh-TW"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p:grpSp>
              <p:grpSp>
                <p:nvGrpSpPr>
                  <p:cNvPr id="17" name="群組 16">
                    <a:extLst>
                      <a:ext uri="{FF2B5EF4-FFF2-40B4-BE49-F238E27FC236}">
                        <a16:creationId xmlns:a16="http://schemas.microsoft.com/office/drawing/2014/main" id="{0E1D1375-CDD0-45A6-9BBC-4AAB02F42110}"/>
                      </a:ext>
                    </a:extLst>
                  </p:cNvPr>
                  <p:cNvGrpSpPr/>
                  <p:nvPr/>
                </p:nvGrpSpPr>
                <p:grpSpPr>
                  <a:xfrm rot="20296128">
                    <a:off x="669093" y="900039"/>
                    <a:ext cx="916306" cy="875665"/>
                    <a:chOff x="0" y="7196"/>
                    <a:chExt cx="917455" cy="876300"/>
                  </a:xfrm>
                </p:grpSpPr>
                <p:sp>
                  <p:nvSpPr>
                    <p:cNvPr id="38" name="矩形 37">
                      <a:extLst>
                        <a:ext uri="{FF2B5EF4-FFF2-40B4-BE49-F238E27FC236}">
                          <a16:creationId xmlns:a16="http://schemas.microsoft.com/office/drawing/2014/main" id="{74F5B0A7-FC90-4101-885F-5AEB40A8DDFC}"/>
                        </a:ext>
                      </a:extLst>
                    </p:cNvPr>
                    <p:cNvSpPr/>
                    <p:nvPr/>
                  </p:nvSpPr>
                  <p:spPr>
                    <a:xfrm rot="731702">
                      <a:off x="80121" y="81675"/>
                      <a:ext cx="776454" cy="6674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39" name="直線接點 38">
                      <a:extLst>
                        <a:ext uri="{FF2B5EF4-FFF2-40B4-BE49-F238E27FC236}">
                          <a16:creationId xmlns:a16="http://schemas.microsoft.com/office/drawing/2014/main" id="{1297DE0B-FA09-4F33-97CA-8EB43DADA27F}"/>
                        </a:ext>
                      </a:extLst>
                    </p:cNvPr>
                    <p:cNvCxnSpPr/>
                    <p:nvPr/>
                  </p:nvCxnSpPr>
                  <p:spPr>
                    <a:xfrm flipH="1">
                      <a:off x="832076" y="172712"/>
                      <a:ext cx="79840" cy="61578"/>
                    </a:xfrm>
                    <a:prstGeom prst="line">
                      <a:avLst/>
                    </a:prstGeom>
                  </p:spPr>
                  <p:style>
                    <a:lnRef idx="1">
                      <a:schemeClr val="accent1"/>
                    </a:lnRef>
                    <a:fillRef idx="0">
                      <a:schemeClr val="accent1"/>
                    </a:fillRef>
                    <a:effectRef idx="0">
                      <a:schemeClr val="accent1"/>
                    </a:effectRef>
                    <a:fontRef idx="minor">
                      <a:schemeClr val="tx1"/>
                    </a:fontRef>
                  </p:style>
                </p:cxnSp>
                <p:grpSp>
                  <p:nvGrpSpPr>
                    <p:cNvPr id="40" name="群組 39">
                      <a:extLst>
                        <a:ext uri="{FF2B5EF4-FFF2-40B4-BE49-F238E27FC236}">
                          <a16:creationId xmlns:a16="http://schemas.microsoft.com/office/drawing/2014/main" id="{6AB40DCC-04F5-443D-9107-C719BE6B4387}"/>
                        </a:ext>
                      </a:extLst>
                    </p:cNvPr>
                    <p:cNvGrpSpPr/>
                    <p:nvPr/>
                  </p:nvGrpSpPr>
                  <p:grpSpPr>
                    <a:xfrm>
                      <a:off x="0" y="7196"/>
                      <a:ext cx="917455" cy="876300"/>
                      <a:chOff x="0" y="7196"/>
                      <a:chExt cx="917455" cy="876300"/>
                    </a:xfrm>
                  </p:grpSpPr>
                  <p:sp>
                    <p:nvSpPr>
                      <p:cNvPr id="41" name="矩形 40">
                        <a:extLst>
                          <a:ext uri="{FF2B5EF4-FFF2-40B4-BE49-F238E27FC236}">
                            <a16:creationId xmlns:a16="http://schemas.microsoft.com/office/drawing/2014/main" id="{B8719619-BF80-4ED6-937F-24A2F9D5BD0C}"/>
                          </a:ext>
                        </a:extLst>
                      </p:cNvPr>
                      <p:cNvSpPr/>
                      <p:nvPr/>
                    </p:nvSpPr>
                    <p:spPr>
                      <a:xfrm rot="721799">
                        <a:off x="0" y="140250"/>
                        <a:ext cx="771800" cy="66487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42" name="直線接點 41">
                        <a:extLst>
                          <a:ext uri="{FF2B5EF4-FFF2-40B4-BE49-F238E27FC236}">
                            <a16:creationId xmlns:a16="http://schemas.microsoft.com/office/drawing/2014/main" id="{A4137268-C2CF-4A05-8372-987EB2609DAE}"/>
                          </a:ext>
                        </a:extLst>
                      </p:cNvPr>
                      <p:cNvCxnSpPr/>
                      <p:nvPr/>
                    </p:nvCxnSpPr>
                    <p:spPr>
                      <a:xfrm flipH="1">
                        <a:off x="72638" y="7196"/>
                        <a:ext cx="86737" cy="58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線接點 42">
                        <a:extLst>
                          <a:ext uri="{FF2B5EF4-FFF2-40B4-BE49-F238E27FC236}">
                            <a16:creationId xmlns:a16="http://schemas.microsoft.com/office/drawing/2014/main" id="{F72DDED5-790E-4926-90D1-48F84088CFDD}"/>
                          </a:ext>
                        </a:extLst>
                      </p:cNvPr>
                      <p:cNvCxnSpPr/>
                      <p:nvPr/>
                    </p:nvCxnSpPr>
                    <p:spPr>
                      <a:xfrm flipH="1">
                        <a:off x="695721" y="813108"/>
                        <a:ext cx="76608" cy="703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57E24A89-F805-46AD-B052-DA09B989478B}"/>
                          </a:ext>
                        </a:extLst>
                      </p:cNvPr>
                      <p:cNvCxnSpPr/>
                      <p:nvPr/>
                    </p:nvCxnSpPr>
                    <p:spPr>
                      <a:xfrm>
                        <a:off x="157800" y="7200"/>
                        <a:ext cx="759655" cy="164123"/>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E5D7C7B9-50B8-4F53-8D71-770EA5006A5F}"/>
                          </a:ext>
                        </a:extLst>
                      </p:cNvPr>
                      <p:cNvCxnSpPr/>
                      <p:nvPr/>
                    </p:nvCxnSpPr>
                    <p:spPr>
                      <a:xfrm flipH="1">
                        <a:off x="769800" y="172800"/>
                        <a:ext cx="142628" cy="643307"/>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18" name="群組 17">
                    <a:extLst>
                      <a:ext uri="{FF2B5EF4-FFF2-40B4-BE49-F238E27FC236}">
                        <a16:creationId xmlns:a16="http://schemas.microsoft.com/office/drawing/2014/main" id="{80F240D0-98D4-4375-A1EC-93979A91A0AD}"/>
                      </a:ext>
                    </a:extLst>
                  </p:cNvPr>
                  <p:cNvGrpSpPr/>
                  <p:nvPr/>
                </p:nvGrpSpPr>
                <p:grpSpPr>
                  <a:xfrm>
                    <a:off x="647114" y="589294"/>
                    <a:ext cx="1200783" cy="869643"/>
                    <a:chOff x="25408" y="40953"/>
                    <a:chExt cx="1201142" cy="869769"/>
                  </a:xfrm>
                </p:grpSpPr>
                <p:grpSp>
                  <p:nvGrpSpPr>
                    <p:cNvPr id="28" name="群組 27">
                      <a:extLst>
                        <a:ext uri="{FF2B5EF4-FFF2-40B4-BE49-F238E27FC236}">
                          <a16:creationId xmlns:a16="http://schemas.microsoft.com/office/drawing/2014/main" id="{45C85FCA-CCCE-415D-9D23-64F15F1F5D37}"/>
                        </a:ext>
                      </a:extLst>
                    </p:cNvPr>
                    <p:cNvGrpSpPr/>
                    <p:nvPr/>
                  </p:nvGrpSpPr>
                  <p:grpSpPr>
                    <a:xfrm rot="21241686">
                      <a:off x="333192" y="227974"/>
                      <a:ext cx="672969" cy="653465"/>
                      <a:chOff x="-57478" y="-111068"/>
                      <a:chExt cx="982253" cy="895706"/>
                    </a:xfrm>
                  </p:grpSpPr>
                  <p:cxnSp>
                    <p:nvCxnSpPr>
                      <p:cNvPr id="36" name="直線單箭頭接點 35">
                        <a:extLst>
                          <a:ext uri="{FF2B5EF4-FFF2-40B4-BE49-F238E27FC236}">
                            <a16:creationId xmlns:a16="http://schemas.microsoft.com/office/drawing/2014/main" id="{FE43F236-A6D0-4730-A2A4-760685FA400F}"/>
                          </a:ext>
                        </a:extLst>
                      </p:cNvPr>
                      <p:cNvCxnSpPr/>
                      <p:nvPr/>
                    </p:nvCxnSpPr>
                    <p:spPr>
                      <a:xfrm rot="358314" flipH="1" flipV="1">
                        <a:off x="-57478" y="-111068"/>
                        <a:ext cx="160119" cy="8467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單箭頭接點 36">
                        <a:extLst>
                          <a:ext uri="{FF2B5EF4-FFF2-40B4-BE49-F238E27FC236}">
                            <a16:creationId xmlns:a16="http://schemas.microsoft.com/office/drawing/2014/main" id="{39E5AB93-0512-4070-BEE5-7130383E76B6}"/>
                          </a:ext>
                        </a:extLst>
                      </p:cNvPr>
                      <p:cNvCxnSpPr/>
                      <p:nvPr/>
                    </p:nvCxnSpPr>
                    <p:spPr>
                      <a:xfrm rot="358314" flipV="1">
                        <a:off x="57364" y="647614"/>
                        <a:ext cx="867411" cy="1370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9" name="文字方塊 84">
                      <a:extLst>
                        <a:ext uri="{FF2B5EF4-FFF2-40B4-BE49-F238E27FC236}">
                          <a16:creationId xmlns:a16="http://schemas.microsoft.com/office/drawing/2014/main" id="{E1D5B163-9015-47CA-BFD8-AA639AE96F5C}"/>
                        </a:ext>
                      </a:extLst>
                    </p:cNvPr>
                    <p:cNvSpPr txBox="1"/>
                    <p:nvPr/>
                  </p:nvSpPr>
                  <p:spPr>
                    <a:xfrm>
                      <a:off x="231410" y="40953"/>
                      <a:ext cx="269563" cy="32199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US" kern="100" dirty="0">
                          <a:effectLst/>
                          <a:latin typeface="Times New Roman" panose="02020603050405020304" pitchFamily="18" charset="0"/>
                          <a:ea typeface="新細明體" panose="02020500000000000000" pitchFamily="18" charset="-120"/>
                          <a:cs typeface="Times New Roman" panose="02020603050405020304" pitchFamily="18" charset="0"/>
                        </a:rPr>
                        <a:t>z</a:t>
                      </a:r>
                      <a:endParaRPr lang="zh-TW"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30" name="文字方塊 85">
                      <a:extLst>
                        <a:ext uri="{FF2B5EF4-FFF2-40B4-BE49-F238E27FC236}">
                          <a16:creationId xmlns:a16="http://schemas.microsoft.com/office/drawing/2014/main" id="{0BDB7146-571B-4BAD-A5E2-DCFABCF277CC}"/>
                        </a:ext>
                      </a:extLst>
                    </p:cNvPr>
                    <p:cNvSpPr txBox="1"/>
                    <p:nvPr/>
                  </p:nvSpPr>
                  <p:spPr>
                    <a:xfrm>
                      <a:off x="956987" y="588724"/>
                      <a:ext cx="269563" cy="32199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US" kern="100" dirty="0">
                          <a:effectLst/>
                          <a:latin typeface="Times New Roman" panose="02020603050405020304" pitchFamily="18" charset="0"/>
                          <a:ea typeface="新細明體" panose="02020500000000000000" pitchFamily="18" charset="-120"/>
                          <a:cs typeface="Times New Roman" panose="02020603050405020304" pitchFamily="18" charset="0"/>
                        </a:rPr>
                        <a:t>y</a:t>
                      </a:r>
                      <a:endParaRPr lang="zh-TW"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p:grpSp>
                  <p:nvGrpSpPr>
                    <p:cNvPr id="31" name="群組 30">
                      <a:extLst>
                        <a:ext uri="{FF2B5EF4-FFF2-40B4-BE49-F238E27FC236}">
                          <a16:creationId xmlns:a16="http://schemas.microsoft.com/office/drawing/2014/main" id="{A59EE0C7-7E75-4922-B7E1-F294BEA971E2}"/>
                        </a:ext>
                      </a:extLst>
                    </p:cNvPr>
                    <p:cNvGrpSpPr/>
                    <p:nvPr/>
                  </p:nvGrpSpPr>
                  <p:grpSpPr>
                    <a:xfrm rot="20195453">
                      <a:off x="230478" y="180375"/>
                      <a:ext cx="672969" cy="653465"/>
                      <a:chOff x="-57478" y="-111068"/>
                      <a:chExt cx="982253" cy="895706"/>
                    </a:xfrm>
                  </p:grpSpPr>
                  <p:cxnSp>
                    <p:nvCxnSpPr>
                      <p:cNvPr id="34" name="直線單箭頭接點 33">
                        <a:extLst>
                          <a:ext uri="{FF2B5EF4-FFF2-40B4-BE49-F238E27FC236}">
                            <a16:creationId xmlns:a16="http://schemas.microsoft.com/office/drawing/2014/main" id="{3B92D745-411D-4D75-BDCB-A0DB8EE2D70E}"/>
                          </a:ext>
                        </a:extLst>
                      </p:cNvPr>
                      <p:cNvCxnSpPr/>
                      <p:nvPr/>
                    </p:nvCxnSpPr>
                    <p:spPr>
                      <a:xfrm rot="358314" flipH="1" flipV="1">
                        <a:off x="-57478" y="-111068"/>
                        <a:ext cx="160119" cy="846709"/>
                      </a:xfrm>
                      <a:prstGeom prst="straightConnector1">
                        <a:avLst/>
                      </a:prstGeom>
                      <a:ln>
                        <a:prstDash val="lgDash"/>
                        <a:tailEnd type="triangle"/>
                      </a:ln>
                    </p:spPr>
                    <p:style>
                      <a:lnRef idx="1">
                        <a:schemeClr val="dk1"/>
                      </a:lnRef>
                      <a:fillRef idx="0">
                        <a:schemeClr val="dk1"/>
                      </a:fillRef>
                      <a:effectRef idx="0">
                        <a:schemeClr val="dk1"/>
                      </a:effectRef>
                      <a:fontRef idx="minor">
                        <a:schemeClr val="tx1"/>
                      </a:fontRef>
                    </p:style>
                  </p:cxnSp>
                  <p:cxnSp>
                    <p:nvCxnSpPr>
                      <p:cNvPr id="35" name="直線單箭頭接點 34">
                        <a:extLst>
                          <a:ext uri="{FF2B5EF4-FFF2-40B4-BE49-F238E27FC236}">
                            <a16:creationId xmlns:a16="http://schemas.microsoft.com/office/drawing/2014/main" id="{A73CD8EC-6C06-4612-BF9E-18B40AB6BB83}"/>
                          </a:ext>
                        </a:extLst>
                      </p:cNvPr>
                      <p:cNvCxnSpPr/>
                      <p:nvPr/>
                    </p:nvCxnSpPr>
                    <p:spPr>
                      <a:xfrm rot="358314" flipV="1">
                        <a:off x="57364" y="647614"/>
                        <a:ext cx="867411" cy="137024"/>
                      </a:xfrm>
                      <a:prstGeom prst="straightConnector1">
                        <a:avLst/>
                      </a:prstGeom>
                      <a:ln>
                        <a:prstDash val="lgDash"/>
                        <a:tailEnd type="triangle"/>
                      </a:ln>
                    </p:spPr>
                    <p:style>
                      <a:lnRef idx="1">
                        <a:schemeClr val="dk1"/>
                      </a:lnRef>
                      <a:fillRef idx="0">
                        <a:schemeClr val="dk1"/>
                      </a:fillRef>
                      <a:effectRef idx="0">
                        <a:schemeClr val="dk1"/>
                      </a:effectRef>
                      <a:fontRef idx="minor">
                        <a:schemeClr val="tx1"/>
                      </a:fontRef>
                    </p:style>
                  </p:cxnSp>
                </p:grpSp>
                <p:sp>
                  <p:nvSpPr>
                    <p:cNvPr id="32" name="文字方塊 89">
                      <a:extLst>
                        <a:ext uri="{FF2B5EF4-FFF2-40B4-BE49-F238E27FC236}">
                          <a16:creationId xmlns:a16="http://schemas.microsoft.com/office/drawing/2014/main" id="{779B8343-6C8E-4D11-B531-F0D474B3DA6A}"/>
                        </a:ext>
                      </a:extLst>
                    </p:cNvPr>
                    <p:cNvSpPr txBox="1"/>
                    <p:nvPr/>
                  </p:nvSpPr>
                  <p:spPr>
                    <a:xfrm>
                      <a:off x="25408" y="86869"/>
                      <a:ext cx="269563" cy="32199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US" kern="100" dirty="0">
                          <a:effectLst/>
                          <a:latin typeface="Times New Roman" panose="02020603050405020304" pitchFamily="18" charset="0"/>
                          <a:ea typeface="新細明體" panose="02020500000000000000" pitchFamily="18" charset="-120"/>
                          <a:cs typeface="Times New Roman" panose="02020603050405020304" pitchFamily="18" charset="0"/>
                        </a:rPr>
                        <a:t>F</a:t>
                      </a:r>
                      <a:endParaRPr lang="zh-TW"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33" name="文字方塊 90">
                      <a:extLst>
                        <a:ext uri="{FF2B5EF4-FFF2-40B4-BE49-F238E27FC236}">
                          <a16:creationId xmlns:a16="http://schemas.microsoft.com/office/drawing/2014/main" id="{214CDFAA-4875-49EA-8DCC-5240D5F888A7}"/>
                        </a:ext>
                      </a:extLst>
                    </p:cNvPr>
                    <p:cNvSpPr txBox="1"/>
                    <p:nvPr/>
                  </p:nvSpPr>
                  <p:spPr>
                    <a:xfrm rot="217302">
                      <a:off x="741216" y="411178"/>
                      <a:ext cx="269563" cy="32199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US" kern="100" dirty="0">
                          <a:effectLst/>
                          <a:latin typeface="Times New Roman" panose="02020603050405020304" pitchFamily="18" charset="0"/>
                          <a:ea typeface="新細明體" panose="02020500000000000000" pitchFamily="18" charset="-120"/>
                          <a:cs typeface="Times New Roman" panose="02020603050405020304" pitchFamily="18" charset="0"/>
                        </a:rPr>
                        <a:t>S</a:t>
                      </a:r>
                      <a:endParaRPr lang="zh-TW"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p:grpSp>
              <p:grpSp>
                <p:nvGrpSpPr>
                  <p:cNvPr id="19" name="群組 18">
                    <a:extLst>
                      <a:ext uri="{FF2B5EF4-FFF2-40B4-BE49-F238E27FC236}">
                        <a16:creationId xmlns:a16="http://schemas.microsoft.com/office/drawing/2014/main" id="{820AEAAE-A161-4504-9FFC-9FE1EB88E7C5}"/>
                      </a:ext>
                    </a:extLst>
                  </p:cNvPr>
                  <p:cNvGrpSpPr/>
                  <p:nvPr/>
                </p:nvGrpSpPr>
                <p:grpSpPr>
                  <a:xfrm>
                    <a:off x="0" y="1125123"/>
                    <a:ext cx="966400" cy="1057239"/>
                    <a:chOff x="0" y="1"/>
                    <a:chExt cx="966539" cy="1057524"/>
                  </a:xfrm>
                </p:grpSpPr>
                <p:grpSp>
                  <p:nvGrpSpPr>
                    <p:cNvPr id="20" name="群組 19">
                      <a:extLst>
                        <a:ext uri="{FF2B5EF4-FFF2-40B4-BE49-F238E27FC236}">
                          <a16:creationId xmlns:a16="http://schemas.microsoft.com/office/drawing/2014/main" id="{5734E1B8-896A-4FF0-9535-321F931C6B6F}"/>
                        </a:ext>
                      </a:extLst>
                    </p:cNvPr>
                    <p:cNvGrpSpPr/>
                    <p:nvPr/>
                  </p:nvGrpSpPr>
                  <p:grpSpPr>
                    <a:xfrm>
                      <a:off x="0" y="1"/>
                      <a:ext cx="966539" cy="1057524"/>
                      <a:chOff x="0" y="1"/>
                      <a:chExt cx="966539" cy="1057524"/>
                    </a:xfrm>
                  </p:grpSpPr>
                  <p:sp>
                    <p:nvSpPr>
                      <p:cNvPr id="23" name="矩形 22">
                        <a:extLst>
                          <a:ext uri="{FF2B5EF4-FFF2-40B4-BE49-F238E27FC236}">
                            <a16:creationId xmlns:a16="http://schemas.microsoft.com/office/drawing/2014/main" id="{87A3E610-35AE-42EF-B3EF-20C2372736F4}"/>
                          </a:ext>
                        </a:extLst>
                      </p:cNvPr>
                      <p:cNvSpPr/>
                      <p:nvPr/>
                    </p:nvSpPr>
                    <p:spPr>
                      <a:xfrm>
                        <a:off x="0" y="1"/>
                        <a:ext cx="966539" cy="10575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24" name="直線接點 23">
                        <a:extLst>
                          <a:ext uri="{FF2B5EF4-FFF2-40B4-BE49-F238E27FC236}">
                            <a16:creationId xmlns:a16="http://schemas.microsoft.com/office/drawing/2014/main" id="{BE7BCEFC-B1AF-4626-AF2C-C136C2809D4B}"/>
                          </a:ext>
                        </a:extLst>
                      </p:cNvPr>
                      <p:cNvCxnSpPr/>
                      <p:nvPr/>
                    </p:nvCxnSpPr>
                    <p:spPr>
                      <a:xfrm>
                        <a:off x="135172" y="135172"/>
                        <a:ext cx="7951" cy="808203"/>
                      </a:xfrm>
                      <a:prstGeom prst="line">
                        <a:avLst/>
                      </a:prstGeom>
                    </p:spPr>
                    <p:style>
                      <a:lnRef idx="1">
                        <a:schemeClr val="dk1"/>
                      </a:lnRef>
                      <a:fillRef idx="0">
                        <a:schemeClr val="dk1"/>
                      </a:fillRef>
                      <a:effectRef idx="0">
                        <a:schemeClr val="dk1"/>
                      </a:effectRef>
                      <a:fontRef idx="minor">
                        <a:schemeClr val="tx1"/>
                      </a:fontRef>
                    </p:style>
                  </p:cxnSp>
                  <p:cxnSp>
                    <p:nvCxnSpPr>
                      <p:cNvPr id="25" name="直線接點 24">
                        <a:extLst>
                          <a:ext uri="{FF2B5EF4-FFF2-40B4-BE49-F238E27FC236}">
                            <a16:creationId xmlns:a16="http://schemas.microsoft.com/office/drawing/2014/main" id="{3AF898FB-5615-4BD6-9CF1-A55C97F78BFF}"/>
                          </a:ext>
                        </a:extLst>
                      </p:cNvPr>
                      <p:cNvCxnSpPr/>
                      <p:nvPr/>
                    </p:nvCxnSpPr>
                    <p:spPr>
                      <a:xfrm>
                        <a:off x="270027" y="157849"/>
                        <a:ext cx="7951" cy="808203"/>
                      </a:xfrm>
                      <a:prstGeom prst="line">
                        <a:avLst/>
                      </a:prstGeom>
                    </p:spPr>
                    <p:style>
                      <a:lnRef idx="1">
                        <a:schemeClr val="dk1"/>
                      </a:lnRef>
                      <a:fillRef idx="0">
                        <a:schemeClr val="dk1"/>
                      </a:fillRef>
                      <a:effectRef idx="0">
                        <a:schemeClr val="dk1"/>
                      </a:effectRef>
                      <a:fontRef idx="minor">
                        <a:schemeClr val="tx1"/>
                      </a:fontRef>
                    </p:style>
                  </p:cxnSp>
                  <p:cxnSp>
                    <p:nvCxnSpPr>
                      <p:cNvPr id="26" name="直線接點 25">
                        <a:extLst>
                          <a:ext uri="{FF2B5EF4-FFF2-40B4-BE49-F238E27FC236}">
                            <a16:creationId xmlns:a16="http://schemas.microsoft.com/office/drawing/2014/main" id="{AF18B9B6-59C0-4604-8D35-BEEECE1FBFE0}"/>
                          </a:ext>
                        </a:extLst>
                      </p:cNvPr>
                      <p:cNvCxnSpPr/>
                      <p:nvPr/>
                    </p:nvCxnSpPr>
                    <p:spPr>
                      <a:xfrm>
                        <a:off x="552457" y="173719"/>
                        <a:ext cx="7951" cy="808203"/>
                      </a:xfrm>
                      <a:prstGeom prst="line">
                        <a:avLst/>
                      </a:prstGeom>
                    </p:spPr>
                    <p:style>
                      <a:lnRef idx="1">
                        <a:schemeClr val="dk1"/>
                      </a:lnRef>
                      <a:fillRef idx="0">
                        <a:schemeClr val="dk1"/>
                      </a:fillRef>
                      <a:effectRef idx="0">
                        <a:schemeClr val="dk1"/>
                      </a:effectRef>
                      <a:fontRef idx="minor">
                        <a:schemeClr val="tx1"/>
                      </a:fontRef>
                    </p:style>
                  </p:cxnSp>
                  <p:cxnSp>
                    <p:nvCxnSpPr>
                      <p:cNvPr id="27" name="直線接點 26">
                        <a:extLst>
                          <a:ext uri="{FF2B5EF4-FFF2-40B4-BE49-F238E27FC236}">
                            <a16:creationId xmlns:a16="http://schemas.microsoft.com/office/drawing/2014/main" id="{A4A22475-93B3-4B9D-9EC1-A069D261C00C}"/>
                          </a:ext>
                        </a:extLst>
                      </p:cNvPr>
                      <p:cNvCxnSpPr/>
                      <p:nvPr/>
                    </p:nvCxnSpPr>
                    <p:spPr>
                      <a:xfrm>
                        <a:off x="834554" y="151082"/>
                        <a:ext cx="7620" cy="80772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grpSp>
                <p:cxnSp>
                  <p:nvCxnSpPr>
                    <p:cNvPr id="21" name="直線接點 20">
                      <a:extLst>
                        <a:ext uri="{FF2B5EF4-FFF2-40B4-BE49-F238E27FC236}">
                          <a16:creationId xmlns:a16="http://schemas.microsoft.com/office/drawing/2014/main" id="{B7AB63EE-4D39-4135-A5F1-223319F59D78}"/>
                        </a:ext>
                      </a:extLst>
                    </p:cNvPr>
                    <p:cNvCxnSpPr/>
                    <p:nvPr/>
                  </p:nvCxnSpPr>
                  <p:spPr>
                    <a:xfrm>
                      <a:off x="417007" y="155749"/>
                      <a:ext cx="7620" cy="807720"/>
                    </a:xfrm>
                    <a:prstGeom prst="line">
                      <a:avLst/>
                    </a:prstGeom>
                  </p:spPr>
                  <p:style>
                    <a:lnRef idx="1">
                      <a:schemeClr val="dk1"/>
                    </a:lnRef>
                    <a:fillRef idx="0">
                      <a:schemeClr val="dk1"/>
                    </a:fillRef>
                    <a:effectRef idx="0">
                      <a:schemeClr val="dk1"/>
                    </a:effectRef>
                    <a:fontRef idx="minor">
                      <a:schemeClr val="tx1"/>
                    </a:fontRef>
                  </p:style>
                </p:cxnSp>
                <p:cxnSp>
                  <p:nvCxnSpPr>
                    <p:cNvPr id="22" name="直線接點 21">
                      <a:extLst>
                        <a:ext uri="{FF2B5EF4-FFF2-40B4-BE49-F238E27FC236}">
                          <a16:creationId xmlns:a16="http://schemas.microsoft.com/office/drawing/2014/main" id="{14D7B344-EA1C-4176-A199-B90AB4875F30}"/>
                        </a:ext>
                      </a:extLst>
                    </p:cNvPr>
                    <p:cNvCxnSpPr/>
                    <p:nvPr/>
                  </p:nvCxnSpPr>
                  <p:spPr>
                    <a:xfrm>
                      <a:off x="708409" y="170822"/>
                      <a:ext cx="7950" cy="808200"/>
                    </a:xfrm>
                    <a:prstGeom prst="line">
                      <a:avLst/>
                    </a:prstGeom>
                  </p:spPr>
                  <p:style>
                    <a:lnRef idx="1">
                      <a:schemeClr val="dk1"/>
                    </a:lnRef>
                    <a:fillRef idx="0">
                      <a:schemeClr val="dk1"/>
                    </a:fillRef>
                    <a:effectRef idx="0">
                      <a:schemeClr val="dk1"/>
                    </a:effectRef>
                    <a:fontRef idx="minor">
                      <a:schemeClr val="tx1"/>
                    </a:fontRef>
                  </p:style>
                </p:cxnSp>
              </p:grpSp>
            </p:grpSp>
            <p:sp>
              <p:nvSpPr>
                <p:cNvPr id="10" name="弧形 9">
                  <a:extLst>
                    <a:ext uri="{FF2B5EF4-FFF2-40B4-BE49-F238E27FC236}">
                      <a16:creationId xmlns:a16="http://schemas.microsoft.com/office/drawing/2014/main" id="{5DFDE8DD-71E6-4879-9D57-68A4CB88B7AF}"/>
                    </a:ext>
                  </a:extLst>
                </p:cNvPr>
                <p:cNvSpPr/>
                <p:nvPr/>
              </p:nvSpPr>
              <p:spPr>
                <a:xfrm rot="16408998">
                  <a:off x="873188" y="1117029"/>
                  <a:ext cx="292100" cy="308610"/>
                </a:xfrm>
                <a:prstGeom prst="arc">
                  <a:avLst>
                    <a:gd name="adj1" fmla="val 18938785"/>
                    <a:gd name="adj2" fmla="val 21412527"/>
                  </a:avLst>
                </a:prstGeom>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1" name="弧形 10">
                  <a:extLst>
                    <a:ext uri="{FF2B5EF4-FFF2-40B4-BE49-F238E27FC236}">
                      <a16:creationId xmlns:a16="http://schemas.microsoft.com/office/drawing/2014/main" id="{A62A7964-5173-4BAE-8A02-357F7CBE0105}"/>
                    </a:ext>
                  </a:extLst>
                </p:cNvPr>
                <p:cNvSpPr/>
                <p:nvPr/>
              </p:nvSpPr>
              <p:spPr>
                <a:xfrm rot="18586014">
                  <a:off x="1515300" y="869125"/>
                  <a:ext cx="292100" cy="308610"/>
                </a:xfrm>
                <a:prstGeom prst="arc">
                  <a:avLst>
                    <a:gd name="adj1" fmla="val 18938785"/>
                    <a:gd name="adj2" fmla="val 21417747"/>
                  </a:avLst>
                </a:prstGeom>
              </p:spPr>
              <p:style>
                <a:lnRef idx="1">
                  <a:schemeClr val="dk1"/>
                </a:lnRef>
                <a:fillRef idx="0">
                  <a:schemeClr val="dk1"/>
                </a:fillRef>
                <a:effectRef idx="0">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mc:AlternateContent xmlns:mc="http://schemas.openxmlformats.org/markup-compatibility/2006" xmlns:a14="http://schemas.microsoft.com/office/drawing/2010/main">
            <mc:Choice Requires="a14">
              <p:sp>
                <p:nvSpPr>
                  <p:cNvPr id="8" name="文字方塊 185">
                    <a:extLst>
                      <a:ext uri="{FF2B5EF4-FFF2-40B4-BE49-F238E27FC236}">
                        <a16:creationId xmlns:a16="http://schemas.microsoft.com/office/drawing/2014/main" id="{3E702F3E-3C5C-4A9C-A405-BDAB6D0E524F}"/>
                      </a:ext>
                    </a:extLst>
                  </p:cNvPr>
                  <p:cNvSpPr txBox="1"/>
                  <p:nvPr/>
                </p:nvSpPr>
                <p:spPr>
                  <a:xfrm>
                    <a:off x="1616989" y="542441"/>
                    <a:ext cx="269457" cy="32187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r>
                            <m:rPr>
                              <m:sty m:val="p"/>
                            </m:rPr>
                            <a:rPr lang="en-US" sz="1200" kern="100">
                              <a:effectLst/>
                              <a:latin typeface="Cambria Math" panose="02040503050406030204" pitchFamily="18" charset="0"/>
                              <a:ea typeface="新細明體" panose="02020500000000000000" pitchFamily="18" charset="-120"/>
                              <a:cs typeface="Times New Roman" panose="02020603050405020304" pitchFamily="18" charset="0"/>
                            </a:rPr>
                            <m:t>θ</m:t>
                          </m:r>
                        </m:oMath>
                      </m:oMathPara>
                    </a14:m>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8" name="文字方塊 185">
                    <a:extLst>
                      <a:ext uri="{FF2B5EF4-FFF2-40B4-BE49-F238E27FC236}">
                        <a16:creationId xmlns:a16="http://schemas.microsoft.com/office/drawing/2014/main" id="{3E702F3E-3C5C-4A9C-A405-BDAB6D0E524F}"/>
                      </a:ext>
                    </a:extLst>
                  </p:cNvPr>
                  <p:cNvSpPr txBox="1">
                    <a:spLocks noRot="1" noChangeAspect="1" noMove="1" noResize="1" noEditPoints="1" noAdjustHandles="1" noChangeArrowheads="1" noChangeShapeType="1" noTextEdit="1"/>
                  </p:cNvSpPr>
                  <p:nvPr/>
                </p:nvSpPr>
                <p:spPr>
                  <a:xfrm>
                    <a:off x="1616989" y="542441"/>
                    <a:ext cx="269457" cy="321877"/>
                  </a:xfrm>
                  <a:prstGeom prst="rect">
                    <a:avLst/>
                  </a:prstGeom>
                  <a:blipFill>
                    <a:blip r:embed="rId4"/>
                    <a:stretch>
                      <a:fillRect/>
                    </a:stretch>
                  </a:blipFill>
                  <a:ln w="6350">
                    <a:noFill/>
                  </a:ln>
                </p:spPr>
                <p:txBody>
                  <a:bodyPr/>
                  <a:lstStyle/>
                  <a:p>
                    <a:r>
                      <a:rPr lang="zh-TW" altLang="en-US">
                        <a:noFill/>
                      </a:rPr>
                      <a:t> </a:t>
                    </a:r>
                  </a:p>
                </p:txBody>
              </p:sp>
            </mc:Fallback>
          </mc:AlternateContent>
        </p:grpSp>
        <p:sp>
          <p:nvSpPr>
            <p:cNvPr id="5" name="矩形 4">
              <a:extLst>
                <a:ext uri="{FF2B5EF4-FFF2-40B4-BE49-F238E27FC236}">
                  <a16:creationId xmlns:a16="http://schemas.microsoft.com/office/drawing/2014/main" id="{41BFDC4B-2792-4411-BA36-CE8DEF338455}"/>
                </a:ext>
              </a:extLst>
            </p:cNvPr>
            <p:cNvSpPr/>
            <p:nvPr/>
          </p:nvSpPr>
          <p:spPr>
            <a:xfrm>
              <a:off x="3785897" y="4811949"/>
              <a:ext cx="235885" cy="352217"/>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p:txBody>
        </p:sp>
        <p:cxnSp>
          <p:nvCxnSpPr>
            <p:cNvPr id="131" name="直線接點 130">
              <a:extLst>
                <a:ext uri="{FF2B5EF4-FFF2-40B4-BE49-F238E27FC236}">
                  <a16:creationId xmlns:a16="http://schemas.microsoft.com/office/drawing/2014/main" id="{6BCDE983-8241-48B5-BF35-E8CA2DC304F4}"/>
                </a:ext>
              </a:extLst>
            </p:cNvPr>
            <p:cNvCxnSpPr>
              <a:cxnSpLocks/>
            </p:cNvCxnSpPr>
            <p:nvPr/>
          </p:nvCxnSpPr>
          <p:spPr>
            <a:xfrm flipH="1" flipV="1">
              <a:off x="3809431" y="4957173"/>
              <a:ext cx="64505" cy="21759"/>
            </a:xfrm>
            <a:prstGeom prst="line">
              <a:avLst/>
            </a:prstGeom>
          </p:spPr>
          <p:style>
            <a:lnRef idx="1">
              <a:schemeClr val="dk1"/>
            </a:lnRef>
            <a:fillRef idx="0">
              <a:schemeClr val="dk1"/>
            </a:fillRef>
            <a:effectRef idx="0">
              <a:schemeClr val="dk1"/>
            </a:effectRef>
            <a:fontRef idx="minor">
              <a:schemeClr val="tx1"/>
            </a:fontRef>
          </p:style>
        </p:cxnSp>
        <p:cxnSp>
          <p:nvCxnSpPr>
            <p:cNvPr id="134" name="直線接點 133">
              <a:extLst>
                <a:ext uri="{FF2B5EF4-FFF2-40B4-BE49-F238E27FC236}">
                  <a16:creationId xmlns:a16="http://schemas.microsoft.com/office/drawing/2014/main" id="{5FAB1DF8-0FB8-429F-83C7-9B5F98E04E0B}"/>
                </a:ext>
              </a:extLst>
            </p:cNvPr>
            <p:cNvCxnSpPr>
              <a:cxnSpLocks/>
            </p:cNvCxnSpPr>
            <p:nvPr/>
          </p:nvCxnSpPr>
          <p:spPr>
            <a:xfrm>
              <a:off x="3920261" y="4870655"/>
              <a:ext cx="27403" cy="43514"/>
            </a:xfrm>
            <a:prstGeom prst="line">
              <a:avLst/>
            </a:prstGeom>
          </p:spPr>
          <p:style>
            <a:lnRef idx="1">
              <a:schemeClr val="dk1"/>
            </a:lnRef>
            <a:fillRef idx="0">
              <a:schemeClr val="dk1"/>
            </a:fillRef>
            <a:effectRef idx="0">
              <a:schemeClr val="dk1"/>
            </a:effectRef>
            <a:fontRef idx="minor">
              <a:schemeClr val="tx1"/>
            </a:fontRef>
          </p:style>
        </p:cxnSp>
      </p:grpSp>
      <p:sp>
        <p:nvSpPr>
          <p:cNvPr id="142" name="矩形 141">
            <a:extLst>
              <a:ext uri="{FF2B5EF4-FFF2-40B4-BE49-F238E27FC236}">
                <a16:creationId xmlns:a16="http://schemas.microsoft.com/office/drawing/2014/main" id="{013AAC5C-BB6E-4F52-8647-76B7657C9144}"/>
              </a:ext>
            </a:extLst>
          </p:cNvPr>
          <p:cNvSpPr/>
          <p:nvPr/>
        </p:nvSpPr>
        <p:spPr>
          <a:xfrm>
            <a:off x="1692178" y="1407601"/>
            <a:ext cx="3143809" cy="461665"/>
          </a:xfrm>
          <a:prstGeom prst="rect">
            <a:avLst/>
          </a:prstGeom>
        </p:spPr>
        <p:txBody>
          <a:bodyPr wrap="none">
            <a:spAutoFit/>
          </a:bodyPr>
          <a:lstStyle/>
          <a:p>
            <a:pPr marL="342900" indent="-342900">
              <a:buFont typeface="Arial" panose="020B0604020202020204" pitchFamily="34" charset="0"/>
              <a:buChar char="•"/>
            </a:pPr>
            <a:r>
              <a:rPr lang="en-US" altLang="zh-TW" sz="2400" b="1" i="1" u="sng" dirty="0">
                <a:latin typeface="Times New Roman" panose="02020603050405020304" pitchFamily="18" charset="0"/>
                <a:cs typeface="Times New Roman" panose="02020603050405020304" pitchFamily="18" charset="0"/>
              </a:rPr>
              <a:t>Fold </a:t>
            </a:r>
            <a:r>
              <a:rPr lang="en-US" altLang="zh-TW" sz="2400" b="1" i="1" u="sng" dirty="0" err="1">
                <a:latin typeface="Times New Roman" panose="02020603050405020304" pitchFamily="18" charset="0"/>
                <a:cs typeface="Times New Roman" panose="02020603050405020304" pitchFamily="18" charset="0"/>
              </a:rPr>
              <a:t>Šolc</a:t>
            </a:r>
            <a:r>
              <a:rPr lang="en-US" altLang="zh-TW" sz="2400" b="1" i="1" u="sng" dirty="0">
                <a:latin typeface="Times New Roman" panose="02020603050405020304" pitchFamily="18" charset="0"/>
                <a:cs typeface="Times New Roman" panose="02020603050405020304" pitchFamily="18" charset="0"/>
              </a:rPr>
              <a:t>-type filter</a:t>
            </a:r>
            <a:endParaRPr lang="zh-TW" altLang="en-US" sz="2400" i="1" u="sng" dirty="0"/>
          </a:p>
        </p:txBody>
      </p:sp>
      <mc:AlternateContent xmlns:mc="http://schemas.openxmlformats.org/markup-compatibility/2006" xmlns:a14="http://schemas.microsoft.com/office/drawing/2010/main">
        <mc:Choice Requires="a14">
          <p:sp>
            <p:nvSpPr>
              <p:cNvPr id="148" name="矩形 147">
                <a:extLst>
                  <a:ext uri="{FF2B5EF4-FFF2-40B4-BE49-F238E27FC236}">
                    <a16:creationId xmlns:a16="http://schemas.microsoft.com/office/drawing/2014/main" id="{CA13985E-7D18-444E-A67E-37AD9AD93F13}"/>
                  </a:ext>
                </a:extLst>
              </p:cNvPr>
              <p:cNvSpPr/>
              <p:nvPr/>
            </p:nvSpPr>
            <p:spPr>
              <a:xfrm>
                <a:off x="8494243" y="1300791"/>
                <a:ext cx="2369886" cy="461665"/>
              </a:xfrm>
              <a:prstGeom prst="rect">
                <a:avLst/>
              </a:prstGeom>
            </p:spPr>
            <p:txBody>
              <a:bodyPr wrap="square">
                <a:spAutoFit/>
              </a:bodyPr>
              <a:lstStyle/>
              <a:p>
                <a:pPr marL="285750" indent="-285750">
                  <a:buFont typeface="Arial" panose="020B0604020202020204" pitchFamily="34" charset="0"/>
                  <a:buChar char="•"/>
                </a:pPr>
                <a:r>
                  <a:rPr lang="en-US" altLang="zh-TW" sz="2400" b="1" dirty="0">
                    <a:latin typeface="Times New Roman" panose="02020603050405020304" pitchFamily="18" charset="0"/>
                    <a:cs typeface="Times New Roman" panose="02020603050405020304" pitchFamily="18" charset="0"/>
                  </a:rPr>
                  <a:t> </a:t>
                </a:r>
                <a:r>
                  <a:rPr lang="en-US" altLang="zh-TW" sz="2400" b="1" i="1" u="sng" dirty="0">
                    <a:latin typeface="Times New Roman" panose="02020603050405020304" pitchFamily="18" charset="0"/>
                    <a:cs typeface="Times New Roman" panose="02020603050405020304" pitchFamily="18" charset="0"/>
                  </a:rPr>
                  <a:t>In </a:t>
                </a:r>
                <a14:m>
                  <m:oMath xmlns:m="http://schemas.openxmlformats.org/officeDocument/2006/math">
                    <m:sSub>
                      <m:sSubPr>
                        <m:ctrlPr>
                          <a:rPr lang="zh-TW" altLang="zh-TW" sz="2400" b="1" i="1" u="sng" smtClean="0">
                            <a:effectLst/>
                            <a:latin typeface="Cambria Math" panose="02040503050406030204" pitchFamily="18" charset="0"/>
                            <a:ea typeface="Cambria Math" panose="02040503050406030204" pitchFamily="18" charset="0"/>
                          </a:rPr>
                        </m:ctrlPr>
                      </m:sSubPr>
                      <m:e>
                        <m:r>
                          <a:rPr lang="en-US" altLang="zh-TW" sz="2400" b="1" i="1" u="sng" smtClean="0">
                            <a:effectLst/>
                            <a:latin typeface="Cambria Math" panose="02040503050406030204" pitchFamily="18" charset="0"/>
                            <a:ea typeface="Cambria Math" panose="02040503050406030204" pitchFamily="18" charset="0"/>
                          </a:rPr>
                          <m:t>𝑳𝒊𝑵𝒃𝑶</m:t>
                        </m:r>
                      </m:e>
                      <m:sub>
                        <m:r>
                          <a:rPr lang="en-US" altLang="zh-TW" sz="2400" b="1" i="1" u="sng" smtClean="0">
                            <a:latin typeface="Cambria Math" panose="02040503050406030204" pitchFamily="18" charset="0"/>
                            <a:ea typeface="標楷體" panose="03000509000000000000" pitchFamily="65" charset="-120"/>
                            <a:cs typeface="Times New Roman" panose="02020603050405020304" pitchFamily="18" charset="0"/>
                          </a:rPr>
                          <m:t>𝟑</m:t>
                        </m:r>
                      </m:sub>
                    </m:sSub>
                  </m:oMath>
                </a14:m>
                <a:endParaRPr lang="zh-TW" altLang="en-US" sz="2400" b="1" i="1" u="sng" dirty="0">
                  <a:latin typeface="Times New Roman" panose="02020603050405020304" pitchFamily="18" charset="0"/>
                  <a:cs typeface="Times New Roman" panose="02020603050405020304" pitchFamily="18" charset="0"/>
                </a:endParaRPr>
              </a:p>
            </p:txBody>
          </p:sp>
        </mc:Choice>
        <mc:Fallback xmlns="">
          <p:sp>
            <p:nvSpPr>
              <p:cNvPr id="148" name="矩形 147">
                <a:extLst>
                  <a:ext uri="{FF2B5EF4-FFF2-40B4-BE49-F238E27FC236}">
                    <a16:creationId xmlns:a16="http://schemas.microsoft.com/office/drawing/2014/main" id="{CA13985E-7D18-444E-A67E-37AD9AD93F13}"/>
                  </a:ext>
                </a:extLst>
              </p:cNvPr>
              <p:cNvSpPr>
                <a:spLocks noRot="1" noChangeAspect="1" noMove="1" noResize="1" noEditPoints="1" noAdjustHandles="1" noChangeArrowheads="1" noChangeShapeType="1" noTextEdit="1"/>
              </p:cNvSpPr>
              <p:nvPr/>
            </p:nvSpPr>
            <p:spPr>
              <a:xfrm>
                <a:off x="8494243" y="1300791"/>
                <a:ext cx="2369886" cy="461665"/>
              </a:xfrm>
              <a:prstGeom prst="rect">
                <a:avLst/>
              </a:prstGeom>
              <a:blipFill>
                <a:blip r:embed="rId5"/>
                <a:stretch>
                  <a:fillRect l="-3342" t="-10526" b="-28947"/>
                </a:stretch>
              </a:blipFill>
            </p:spPr>
            <p:txBody>
              <a:bodyPr/>
              <a:lstStyle/>
              <a:p>
                <a:r>
                  <a:rPr lang="zh-TW" altLang="en-US">
                    <a:noFill/>
                  </a:rPr>
                  <a:t> </a:t>
                </a:r>
              </a:p>
            </p:txBody>
          </p:sp>
        </mc:Fallback>
      </mc:AlternateContent>
      <p:grpSp>
        <p:nvGrpSpPr>
          <p:cNvPr id="167" name="群組 166">
            <a:extLst>
              <a:ext uri="{FF2B5EF4-FFF2-40B4-BE49-F238E27FC236}">
                <a16:creationId xmlns:a16="http://schemas.microsoft.com/office/drawing/2014/main" id="{DD68313B-1318-402D-8A55-9F8FAA54021E}"/>
              </a:ext>
            </a:extLst>
          </p:cNvPr>
          <p:cNvGrpSpPr/>
          <p:nvPr/>
        </p:nvGrpSpPr>
        <p:grpSpPr>
          <a:xfrm>
            <a:off x="6982706" y="1821338"/>
            <a:ext cx="4293273" cy="4285859"/>
            <a:chOff x="6982706" y="1821338"/>
            <a:chExt cx="4293273" cy="4285859"/>
          </a:xfrm>
        </p:grpSpPr>
        <p:sp>
          <p:nvSpPr>
            <p:cNvPr id="151" name="矩形 150">
              <a:extLst>
                <a:ext uri="{FF2B5EF4-FFF2-40B4-BE49-F238E27FC236}">
                  <a16:creationId xmlns:a16="http://schemas.microsoft.com/office/drawing/2014/main" id="{1CDB6BEB-D557-4639-917E-5A06798258BE}"/>
                </a:ext>
              </a:extLst>
            </p:cNvPr>
            <p:cNvSpPr/>
            <p:nvPr/>
          </p:nvSpPr>
          <p:spPr>
            <a:xfrm>
              <a:off x="9908807" y="2313413"/>
              <a:ext cx="1367172" cy="1268582"/>
            </a:xfrm>
            <a:prstGeom prst="rect">
              <a:avLst/>
            </a:prstGeom>
            <a:noFill/>
            <a:ln w="19050">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8" name="直線接點 157">
              <a:extLst>
                <a:ext uri="{FF2B5EF4-FFF2-40B4-BE49-F238E27FC236}">
                  <a16:creationId xmlns:a16="http://schemas.microsoft.com/office/drawing/2014/main" id="{39ED74C0-0DEA-49C9-A7FB-0DB6B776DFBD}"/>
                </a:ext>
              </a:extLst>
            </p:cNvPr>
            <p:cNvCxnSpPr/>
            <p:nvPr/>
          </p:nvCxnSpPr>
          <p:spPr>
            <a:xfrm rot="16713273">
              <a:off x="10581145" y="2805274"/>
              <a:ext cx="12083" cy="1202089"/>
            </a:xfrm>
            <a:prstGeom prst="line">
              <a:avLst/>
            </a:prstGeom>
          </p:spPr>
          <p:style>
            <a:lnRef idx="1">
              <a:schemeClr val="dk1"/>
            </a:lnRef>
            <a:fillRef idx="0">
              <a:schemeClr val="dk1"/>
            </a:fillRef>
            <a:effectRef idx="0">
              <a:schemeClr val="dk1"/>
            </a:effectRef>
            <a:fontRef idx="minor">
              <a:schemeClr val="tx1"/>
            </a:fontRef>
          </p:style>
        </p:cxnSp>
        <p:cxnSp>
          <p:nvCxnSpPr>
            <p:cNvPr id="159" name="直線接點 158">
              <a:extLst>
                <a:ext uri="{FF2B5EF4-FFF2-40B4-BE49-F238E27FC236}">
                  <a16:creationId xmlns:a16="http://schemas.microsoft.com/office/drawing/2014/main" id="{86465981-04DD-45E4-8E6F-0788484929A1}"/>
                </a:ext>
              </a:extLst>
            </p:cNvPr>
            <p:cNvCxnSpPr/>
            <p:nvPr/>
          </p:nvCxnSpPr>
          <p:spPr>
            <a:xfrm rot="16713273">
              <a:off x="10591018" y="2587973"/>
              <a:ext cx="12083" cy="1202089"/>
            </a:xfrm>
            <a:prstGeom prst="line">
              <a:avLst/>
            </a:prstGeom>
          </p:spPr>
          <p:style>
            <a:lnRef idx="1">
              <a:schemeClr val="dk1"/>
            </a:lnRef>
            <a:fillRef idx="0">
              <a:schemeClr val="dk1"/>
            </a:fillRef>
            <a:effectRef idx="0">
              <a:schemeClr val="dk1"/>
            </a:effectRef>
            <a:fontRef idx="minor">
              <a:schemeClr val="tx1"/>
            </a:fontRef>
          </p:style>
        </p:cxnSp>
        <p:cxnSp>
          <p:nvCxnSpPr>
            <p:cNvPr id="160" name="直線接點 159">
              <a:extLst>
                <a:ext uri="{FF2B5EF4-FFF2-40B4-BE49-F238E27FC236}">
                  <a16:creationId xmlns:a16="http://schemas.microsoft.com/office/drawing/2014/main" id="{17AC03A1-4E1B-40BF-B907-F94E9233087C}"/>
                </a:ext>
              </a:extLst>
            </p:cNvPr>
            <p:cNvCxnSpPr/>
            <p:nvPr/>
          </p:nvCxnSpPr>
          <p:spPr>
            <a:xfrm rot="16713273">
              <a:off x="10591019" y="2129024"/>
              <a:ext cx="12083" cy="1202089"/>
            </a:xfrm>
            <a:prstGeom prst="line">
              <a:avLst/>
            </a:prstGeom>
          </p:spPr>
          <p:style>
            <a:lnRef idx="1">
              <a:schemeClr val="dk1"/>
            </a:lnRef>
            <a:fillRef idx="0">
              <a:schemeClr val="dk1"/>
            </a:fillRef>
            <a:effectRef idx="0">
              <a:schemeClr val="dk1"/>
            </a:effectRef>
            <a:fontRef idx="minor">
              <a:schemeClr val="tx1"/>
            </a:fontRef>
          </p:style>
        </p:cxnSp>
        <p:cxnSp>
          <p:nvCxnSpPr>
            <p:cNvPr id="161" name="直線接點 160">
              <a:extLst>
                <a:ext uri="{FF2B5EF4-FFF2-40B4-BE49-F238E27FC236}">
                  <a16:creationId xmlns:a16="http://schemas.microsoft.com/office/drawing/2014/main" id="{8BCB7474-BD83-4F42-8510-5FA3247DA470}"/>
                </a:ext>
              </a:extLst>
            </p:cNvPr>
            <p:cNvCxnSpPr/>
            <p:nvPr/>
          </p:nvCxnSpPr>
          <p:spPr>
            <a:xfrm rot="16713273">
              <a:off x="10591662" y="2356099"/>
              <a:ext cx="11580" cy="1201370"/>
            </a:xfrm>
            <a:prstGeom prst="line">
              <a:avLst/>
            </a:prstGeom>
          </p:spPr>
          <p:style>
            <a:lnRef idx="1">
              <a:schemeClr val="dk1"/>
            </a:lnRef>
            <a:fillRef idx="0">
              <a:schemeClr val="dk1"/>
            </a:fillRef>
            <a:effectRef idx="0">
              <a:schemeClr val="dk1"/>
            </a:effectRef>
            <a:fontRef idx="minor">
              <a:schemeClr val="tx1"/>
            </a:fontRef>
          </p:style>
        </p:cxnSp>
        <p:cxnSp>
          <p:nvCxnSpPr>
            <p:cNvPr id="162" name="直線接點 161">
              <a:extLst>
                <a:ext uri="{FF2B5EF4-FFF2-40B4-BE49-F238E27FC236}">
                  <a16:creationId xmlns:a16="http://schemas.microsoft.com/office/drawing/2014/main" id="{CCF41843-EFF8-4DAE-B18D-CBB1B00F2EFD}"/>
                </a:ext>
              </a:extLst>
            </p:cNvPr>
            <p:cNvCxnSpPr/>
            <p:nvPr/>
          </p:nvCxnSpPr>
          <p:spPr>
            <a:xfrm rot="16713273">
              <a:off x="10581143" y="1911110"/>
              <a:ext cx="12082" cy="1202084"/>
            </a:xfrm>
            <a:prstGeom prst="line">
              <a:avLst/>
            </a:prstGeom>
          </p:spPr>
          <p:style>
            <a:lnRef idx="1">
              <a:schemeClr val="dk1"/>
            </a:lnRef>
            <a:fillRef idx="0">
              <a:schemeClr val="dk1"/>
            </a:fillRef>
            <a:effectRef idx="0">
              <a:schemeClr val="dk1"/>
            </a:effectRef>
            <a:fontRef idx="minor">
              <a:schemeClr val="tx1"/>
            </a:fontRef>
          </p:style>
        </p:cxnSp>
        <p:grpSp>
          <p:nvGrpSpPr>
            <p:cNvPr id="89" name="群組 88">
              <a:extLst>
                <a:ext uri="{FF2B5EF4-FFF2-40B4-BE49-F238E27FC236}">
                  <a16:creationId xmlns:a16="http://schemas.microsoft.com/office/drawing/2014/main" id="{A346F826-C7FB-4D86-859E-15E2CA52B3D0}"/>
                </a:ext>
              </a:extLst>
            </p:cNvPr>
            <p:cNvGrpSpPr/>
            <p:nvPr/>
          </p:nvGrpSpPr>
          <p:grpSpPr>
            <a:xfrm>
              <a:off x="7339637" y="1821338"/>
              <a:ext cx="3525771" cy="4044722"/>
              <a:chOff x="0" y="57803"/>
              <a:chExt cx="1488471" cy="1712916"/>
            </a:xfrm>
          </p:grpSpPr>
          <mc:AlternateContent xmlns:mc="http://schemas.openxmlformats.org/markup-compatibility/2006" xmlns:a14="http://schemas.microsoft.com/office/drawing/2010/main">
            <mc:Choice Requires="a14">
              <p:sp>
                <p:nvSpPr>
                  <p:cNvPr id="90" name="文字方塊 2">
                    <a:extLst>
                      <a:ext uri="{FF2B5EF4-FFF2-40B4-BE49-F238E27FC236}">
                        <a16:creationId xmlns:a16="http://schemas.microsoft.com/office/drawing/2014/main" id="{8AF6A53C-7380-44FD-8E2F-D83D81CB801D}"/>
                      </a:ext>
                    </a:extLst>
                  </p:cNvPr>
                  <p:cNvSpPr txBox="1">
                    <a:spLocks noChangeArrowheads="1"/>
                  </p:cNvSpPr>
                  <p:nvPr/>
                </p:nvSpPr>
                <p:spPr bwMode="auto">
                  <a:xfrm>
                    <a:off x="789994" y="57803"/>
                    <a:ext cx="301025" cy="206662"/>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zh-TW"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kern="100">
                                  <a:effectLst/>
                                  <a:latin typeface="Cambria Math" panose="02040503050406030204" pitchFamily="18" charset="0"/>
                                  <a:ea typeface="新細明體" panose="02020500000000000000" pitchFamily="18" charset="-120"/>
                                  <a:cs typeface="Times New Roman" panose="02020603050405020304" pitchFamily="18" charset="0"/>
                                </a:rPr>
                                <m:t>E</m:t>
                              </m:r>
                            </m:e>
                            <m:sub>
                              <m:r>
                                <a:rPr lang="en-US" i="1" kern="100">
                                  <a:effectLst/>
                                  <a:latin typeface="Cambria Math" panose="02040503050406030204" pitchFamily="18" charset="0"/>
                                  <a:ea typeface="新細明體" panose="02020500000000000000" pitchFamily="18" charset="-120"/>
                                  <a:cs typeface="Times New Roman" panose="02020603050405020304" pitchFamily="18" charset="0"/>
                                </a:rPr>
                                <m:t>𝑦</m:t>
                              </m:r>
                            </m:sub>
                          </m:sSub>
                        </m:oMath>
                      </m:oMathPara>
                    </a14:m>
                    <a:endParaRPr lang="zh-TW"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90" name="文字方塊 2">
                    <a:extLst>
                      <a:ext uri="{FF2B5EF4-FFF2-40B4-BE49-F238E27FC236}">
                        <a16:creationId xmlns:a16="http://schemas.microsoft.com/office/drawing/2014/main" id="{8AF6A53C-7380-44FD-8E2F-D83D81CB801D}"/>
                      </a:ext>
                    </a:extLst>
                  </p:cNvPr>
                  <p:cNvSpPr txBox="1">
                    <a:spLocks noRot="1" noChangeAspect="1" noMove="1" noResize="1" noEditPoints="1" noAdjustHandles="1" noChangeArrowheads="1" noChangeShapeType="1" noTextEdit="1"/>
                  </p:cNvSpPr>
                  <p:nvPr/>
                </p:nvSpPr>
                <p:spPr bwMode="auto">
                  <a:xfrm>
                    <a:off x="789994" y="57803"/>
                    <a:ext cx="301025" cy="206662"/>
                  </a:xfrm>
                  <a:prstGeom prst="rect">
                    <a:avLst/>
                  </a:prstGeom>
                  <a:blipFill>
                    <a:blip r:embed="rId6"/>
                    <a:stretch>
                      <a:fillRect/>
                    </a:stretch>
                  </a:blipFill>
                  <a:ln w="9525">
                    <a:noFill/>
                    <a:miter lim="800000"/>
                    <a:headEnd/>
                    <a:tailEnd/>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1" name="文字方塊 2">
                    <a:extLst>
                      <a:ext uri="{FF2B5EF4-FFF2-40B4-BE49-F238E27FC236}">
                        <a16:creationId xmlns:a16="http://schemas.microsoft.com/office/drawing/2014/main" id="{2766804A-24BC-41CA-9006-4B465C1BBF32}"/>
                      </a:ext>
                    </a:extLst>
                  </p:cNvPr>
                  <p:cNvSpPr txBox="1">
                    <a:spLocks noChangeArrowheads="1"/>
                  </p:cNvSpPr>
                  <p:nvPr/>
                </p:nvSpPr>
                <p:spPr bwMode="auto">
                  <a:xfrm>
                    <a:off x="260483" y="618142"/>
                    <a:ext cx="686385" cy="60579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spcAft>
                        <a:spcPts val="0"/>
                      </a:spcAft>
                    </a:pPr>
                    <a14:m>
                      <m:oMathPara xmlns:m="http://schemas.openxmlformats.org/officeDocument/2006/math">
                        <m:oMathParaPr>
                          <m:jc m:val="centerGroup"/>
                        </m:oMathParaPr>
                        <m:oMath xmlns:m="http://schemas.openxmlformats.org/officeDocument/2006/math">
                          <m:f>
                            <m:fPr>
                              <m:ctrlPr>
                                <a:rPr lang="zh-TW" sz="14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1400" i="1" kern="100">
                                  <a:effectLst/>
                                  <a:latin typeface="Cambria Math" panose="02040503050406030204" pitchFamily="18" charset="0"/>
                                  <a:ea typeface="新細明體" panose="02020500000000000000" pitchFamily="18" charset="-120"/>
                                  <a:cs typeface="Times New Roman" panose="02020603050405020304" pitchFamily="18" charset="0"/>
                                </a:rPr>
                                <m:t>𝜆</m:t>
                              </m:r>
                            </m:num>
                            <m:den>
                              <m:r>
                                <a:rPr lang="en-US" sz="1400" i="1" kern="100">
                                  <a:effectLst/>
                                  <a:latin typeface="Cambria Math" panose="02040503050406030204" pitchFamily="18" charset="0"/>
                                  <a:ea typeface="新細明體" panose="02020500000000000000" pitchFamily="18" charset="-120"/>
                                  <a:cs typeface="Times New Roman" panose="02020603050405020304" pitchFamily="18" charset="0"/>
                                </a:rPr>
                                <m:t>2</m:t>
                              </m:r>
                            </m:den>
                          </m:f>
                          <m:r>
                            <a:rPr lang="en-US" sz="1400" i="1" kern="100">
                              <a:effectLst/>
                              <a:latin typeface="Cambria Math" panose="02040503050406030204" pitchFamily="18" charset="0"/>
                              <a:ea typeface="新細明體" panose="02020500000000000000" pitchFamily="18" charset="-120"/>
                              <a:cs typeface="Times New Roman" panose="02020603050405020304" pitchFamily="18" charset="0"/>
                            </a:rPr>
                            <m:t> </m:t>
                          </m:r>
                          <m:r>
                            <a:rPr lang="en-US" sz="1400" i="1" kern="100">
                              <a:effectLst/>
                              <a:latin typeface="Cambria Math" panose="02040503050406030204" pitchFamily="18" charset="0"/>
                              <a:ea typeface="新細明體" panose="02020500000000000000" pitchFamily="18" charset="-120"/>
                              <a:cs typeface="Times New Roman" panose="02020603050405020304" pitchFamily="18" charset="0"/>
                            </a:rPr>
                            <m:t>𝑝𝑙𝑎𝑡𝑒</m:t>
                          </m:r>
                        </m:oMath>
                      </m:oMathPara>
                    </a14:m>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91" name="文字方塊 2">
                    <a:extLst>
                      <a:ext uri="{FF2B5EF4-FFF2-40B4-BE49-F238E27FC236}">
                        <a16:creationId xmlns:a16="http://schemas.microsoft.com/office/drawing/2014/main" id="{2766804A-24BC-41CA-9006-4B465C1BBF32}"/>
                      </a:ext>
                    </a:extLst>
                  </p:cNvPr>
                  <p:cNvSpPr txBox="1">
                    <a:spLocks noRot="1" noChangeAspect="1" noMove="1" noResize="1" noEditPoints="1" noAdjustHandles="1" noChangeArrowheads="1" noChangeShapeType="1" noTextEdit="1"/>
                  </p:cNvSpPr>
                  <p:nvPr/>
                </p:nvSpPr>
                <p:spPr bwMode="auto">
                  <a:xfrm>
                    <a:off x="260483" y="618142"/>
                    <a:ext cx="686385" cy="605790"/>
                  </a:xfrm>
                  <a:prstGeom prst="rect">
                    <a:avLst/>
                  </a:prstGeom>
                  <a:blipFill>
                    <a:blip r:embed="rId7"/>
                    <a:stretch>
                      <a:fillRect/>
                    </a:stretch>
                  </a:blipFill>
                  <a:ln w="9525">
                    <a:noFill/>
                    <a:miter lim="800000"/>
                    <a:headEnd/>
                    <a:tailEnd/>
                  </a:ln>
                </p:spPr>
                <p:txBody>
                  <a:bodyPr/>
                  <a:lstStyle/>
                  <a:p>
                    <a:r>
                      <a:rPr lang="zh-TW" altLang="en-US">
                        <a:noFill/>
                      </a:rPr>
                      <a:t> </a:t>
                    </a:r>
                  </a:p>
                </p:txBody>
              </p:sp>
            </mc:Fallback>
          </mc:AlternateContent>
          <p:grpSp>
            <p:nvGrpSpPr>
              <p:cNvPr id="92" name="群組 91">
                <a:extLst>
                  <a:ext uri="{FF2B5EF4-FFF2-40B4-BE49-F238E27FC236}">
                    <a16:creationId xmlns:a16="http://schemas.microsoft.com/office/drawing/2014/main" id="{94421377-085B-4679-94D4-F028EB477FA9}"/>
                  </a:ext>
                </a:extLst>
              </p:cNvPr>
              <p:cNvGrpSpPr/>
              <p:nvPr/>
            </p:nvGrpSpPr>
            <p:grpSpPr>
              <a:xfrm>
                <a:off x="0" y="438861"/>
                <a:ext cx="1487931" cy="1331858"/>
                <a:chOff x="0" y="0"/>
                <a:chExt cx="1166210" cy="1045326"/>
              </a:xfrm>
            </p:grpSpPr>
            <p:grpSp>
              <p:nvGrpSpPr>
                <p:cNvPr id="105" name="群組 104">
                  <a:extLst>
                    <a:ext uri="{FF2B5EF4-FFF2-40B4-BE49-F238E27FC236}">
                      <a16:creationId xmlns:a16="http://schemas.microsoft.com/office/drawing/2014/main" id="{776B7DB7-9FB6-463C-A16B-7E2980FFC779}"/>
                    </a:ext>
                  </a:extLst>
                </p:cNvPr>
                <p:cNvGrpSpPr/>
                <p:nvPr/>
              </p:nvGrpSpPr>
              <p:grpSpPr>
                <a:xfrm>
                  <a:off x="0" y="0"/>
                  <a:ext cx="1166210" cy="1045326"/>
                  <a:chOff x="0" y="0"/>
                  <a:chExt cx="1166210" cy="1045326"/>
                </a:xfrm>
              </p:grpSpPr>
              <p:grpSp>
                <p:nvGrpSpPr>
                  <p:cNvPr id="116" name="群組 115">
                    <a:extLst>
                      <a:ext uri="{FF2B5EF4-FFF2-40B4-BE49-F238E27FC236}">
                        <a16:creationId xmlns:a16="http://schemas.microsoft.com/office/drawing/2014/main" id="{748EFF55-C5CB-49EC-BF77-56E78EA96235}"/>
                      </a:ext>
                    </a:extLst>
                  </p:cNvPr>
                  <p:cNvGrpSpPr/>
                  <p:nvPr/>
                </p:nvGrpSpPr>
                <p:grpSpPr>
                  <a:xfrm>
                    <a:off x="674410" y="0"/>
                    <a:ext cx="491800" cy="439858"/>
                    <a:chOff x="-1692" y="0"/>
                    <a:chExt cx="491800" cy="439858"/>
                  </a:xfrm>
                </p:grpSpPr>
                <p:sp>
                  <p:nvSpPr>
                    <p:cNvPr id="129" name="立方體 128">
                      <a:extLst>
                        <a:ext uri="{FF2B5EF4-FFF2-40B4-BE49-F238E27FC236}">
                          <a16:creationId xmlns:a16="http://schemas.microsoft.com/office/drawing/2014/main" id="{BA1BB950-C46E-4609-9593-A7D4C6A87CFD}"/>
                        </a:ext>
                      </a:extLst>
                    </p:cNvPr>
                    <p:cNvSpPr/>
                    <p:nvPr/>
                  </p:nvSpPr>
                  <p:spPr>
                    <a:xfrm>
                      <a:off x="83708" y="0"/>
                      <a:ext cx="406400" cy="363310"/>
                    </a:xfrm>
                    <a:prstGeom prst="cube">
                      <a:avLst/>
                    </a:prstGeom>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30" name="立方體 129">
                      <a:extLst>
                        <a:ext uri="{FF2B5EF4-FFF2-40B4-BE49-F238E27FC236}">
                          <a16:creationId xmlns:a16="http://schemas.microsoft.com/office/drawing/2014/main" id="{381F5783-DDF4-47A1-9DD6-9A778CC97C5A}"/>
                        </a:ext>
                      </a:extLst>
                    </p:cNvPr>
                    <p:cNvSpPr/>
                    <p:nvPr/>
                  </p:nvSpPr>
                  <p:spPr>
                    <a:xfrm>
                      <a:off x="-1692" y="76548"/>
                      <a:ext cx="406400" cy="363310"/>
                    </a:xfrm>
                    <a:prstGeom prst="cube">
                      <a:avLst/>
                    </a:prstGeom>
                    <a:solidFill>
                      <a:schemeClr val="bg1"/>
                    </a:solidFill>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117" name="群組 116">
                    <a:extLst>
                      <a:ext uri="{FF2B5EF4-FFF2-40B4-BE49-F238E27FC236}">
                        <a16:creationId xmlns:a16="http://schemas.microsoft.com/office/drawing/2014/main" id="{18E249F5-573C-40B0-9174-3CFCC2E779BF}"/>
                      </a:ext>
                    </a:extLst>
                  </p:cNvPr>
                  <p:cNvGrpSpPr/>
                  <p:nvPr/>
                </p:nvGrpSpPr>
                <p:grpSpPr>
                  <a:xfrm>
                    <a:off x="507077" y="153282"/>
                    <a:ext cx="490232" cy="440038"/>
                    <a:chOff x="0" y="-1890"/>
                    <a:chExt cx="490853" cy="440387"/>
                  </a:xfrm>
                </p:grpSpPr>
                <p:sp>
                  <p:nvSpPr>
                    <p:cNvPr id="127" name="立方體 126">
                      <a:extLst>
                        <a:ext uri="{FF2B5EF4-FFF2-40B4-BE49-F238E27FC236}">
                          <a16:creationId xmlns:a16="http://schemas.microsoft.com/office/drawing/2014/main" id="{3BACFADF-337E-467D-B5A6-80C70DC2D411}"/>
                        </a:ext>
                      </a:extLst>
                    </p:cNvPr>
                    <p:cNvSpPr/>
                    <p:nvPr/>
                  </p:nvSpPr>
                  <p:spPr>
                    <a:xfrm>
                      <a:off x="84453" y="-1890"/>
                      <a:ext cx="406400" cy="363310"/>
                    </a:xfrm>
                    <a:prstGeom prst="cube">
                      <a:avLst/>
                    </a:prstGeom>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dirty="0"/>
                    </a:p>
                  </p:txBody>
                </p:sp>
                <p:sp>
                  <p:nvSpPr>
                    <p:cNvPr id="128" name="立方體 127">
                      <a:extLst>
                        <a:ext uri="{FF2B5EF4-FFF2-40B4-BE49-F238E27FC236}">
                          <a16:creationId xmlns:a16="http://schemas.microsoft.com/office/drawing/2014/main" id="{14B5FBA9-5100-479B-A4CC-58ACD7D03EC2}"/>
                        </a:ext>
                      </a:extLst>
                    </p:cNvPr>
                    <p:cNvSpPr/>
                    <p:nvPr/>
                  </p:nvSpPr>
                  <p:spPr>
                    <a:xfrm>
                      <a:off x="0" y="75277"/>
                      <a:ext cx="406400" cy="363220"/>
                    </a:xfrm>
                    <a:prstGeom prst="cube">
                      <a:avLst/>
                    </a:prstGeom>
                    <a:solidFill>
                      <a:schemeClr val="bg1"/>
                    </a:solidFill>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118" name="群組 117">
                    <a:extLst>
                      <a:ext uri="{FF2B5EF4-FFF2-40B4-BE49-F238E27FC236}">
                        <a16:creationId xmlns:a16="http://schemas.microsoft.com/office/drawing/2014/main" id="{7BAEFD41-92DE-4A5F-8388-7E7866E049EE}"/>
                      </a:ext>
                    </a:extLst>
                  </p:cNvPr>
                  <p:cNvGrpSpPr/>
                  <p:nvPr/>
                </p:nvGrpSpPr>
                <p:grpSpPr>
                  <a:xfrm>
                    <a:off x="338051" y="304800"/>
                    <a:ext cx="492748" cy="438497"/>
                    <a:chOff x="0" y="0"/>
                    <a:chExt cx="492748" cy="438497"/>
                  </a:xfrm>
                </p:grpSpPr>
                <p:sp>
                  <p:nvSpPr>
                    <p:cNvPr id="125" name="立方體 124">
                      <a:extLst>
                        <a:ext uri="{FF2B5EF4-FFF2-40B4-BE49-F238E27FC236}">
                          <a16:creationId xmlns:a16="http://schemas.microsoft.com/office/drawing/2014/main" id="{7CB6F89C-DE3D-4076-BF8E-1C402F118C9A}"/>
                        </a:ext>
                      </a:extLst>
                    </p:cNvPr>
                    <p:cNvSpPr/>
                    <p:nvPr/>
                  </p:nvSpPr>
                  <p:spPr>
                    <a:xfrm>
                      <a:off x="86348" y="0"/>
                      <a:ext cx="406400" cy="363310"/>
                    </a:xfrm>
                    <a:prstGeom prst="cube">
                      <a:avLst/>
                    </a:prstGeom>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26" name="立方體 125">
                      <a:extLst>
                        <a:ext uri="{FF2B5EF4-FFF2-40B4-BE49-F238E27FC236}">
                          <a16:creationId xmlns:a16="http://schemas.microsoft.com/office/drawing/2014/main" id="{BDD145B6-BD0F-4595-8ECA-AE58A93F6B81}"/>
                        </a:ext>
                      </a:extLst>
                    </p:cNvPr>
                    <p:cNvSpPr/>
                    <p:nvPr/>
                  </p:nvSpPr>
                  <p:spPr>
                    <a:xfrm>
                      <a:off x="0" y="75277"/>
                      <a:ext cx="406400" cy="363220"/>
                    </a:xfrm>
                    <a:prstGeom prst="cube">
                      <a:avLst/>
                    </a:prstGeom>
                    <a:solidFill>
                      <a:schemeClr val="bg1"/>
                    </a:solidFill>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119" name="群組 118">
                    <a:extLst>
                      <a:ext uri="{FF2B5EF4-FFF2-40B4-BE49-F238E27FC236}">
                        <a16:creationId xmlns:a16="http://schemas.microsoft.com/office/drawing/2014/main" id="{A094626E-F5E5-4F7D-B415-8A4A40BDD66E}"/>
                      </a:ext>
                    </a:extLst>
                  </p:cNvPr>
                  <p:cNvGrpSpPr/>
                  <p:nvPr/>
                </p:nvGrpSpPr>
                <p:grpSpPr>
                  <a:xfrm>
                    <a:off x="169026" y="454429"/>
                    <a:ext cx="492748" cy="438497"/>
                    <a:chOff x="0" y="0"/>
                    <a:chExt cx="492748" cy="438497"/>
                  </a:xfrm>
                </p:grpSpPr>
                <p:sp>
                  <p:nvSpPr>
                    <p:cNvPr id="123" name="立方體 122">
                      <a:extLst>
                        <a:ext uri="{FF2B5EF4-FFF2-40B4-BE49-F238E27FC236}">
                          <a16:creationId xmlns:a16="http://schemas.microsoft.com/office/drawing/2014/main" id="{AF8D04F9-2A5E-436B-AF6E-AF60D09495D0}"/>
                        </a:ext>
                      </a:extLst>
                    </p:cNvPr>
                    <p:cNvSpPr/>
                    <p:nvPr/>
                  </p:nvSpPr>
                  <p:spPr>
                    <a:xfrm>
                      <a:off x="86348" y="0"/>
                      <a:ext cx="406400" cy="363310"/>
                    </a:xfrm>
                    <a:prstGeom prst="cube">
                      <a:avLst/>
                    </a:prstGeom>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24" name="立方體 123">
                      <a:extLst>
                        <a:ext uri="{FF2B5EF4-FFF2-40B4-BE49-F238E27FC236}">
                          <a16:creationId xmlns:a16="http://schemas.microsoft.com/office/drawing/2014/main" id="{CDBB1A59-EC9F-4056-8A82-9E6DA8FD663C}"/>
                        </a:ext>
                      </a:extLst>
                    </p:cNvPr>
                    <p:cNvSpPr/>
                    <p:nvPr/>
                  </p:nvSpPr>
                  <p:spPr>
                    <a:xfrm>
                      <a:off x="0" y="75277"/>
                      <a:ext cx="406400" cy="363220"/>
                    </a:xfrm>
                    <a:prstGeom prst="cube">
                      <a:avLst/>
                    </a:prstGeom>
                    <a:solidFill>
                      <a:schemeClr val="bg1"/>
                    </a:solidFill>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120" name="群組 119">
                    <a:extLst>
                      <a:ext uri="{FF2B5EF4-FFF2-40B4-BE49-F238E27FC236}">
                        <a16:creationId xmlns:a16="http://schemas.microsoft.com/office/drawing/2014/main" id="{DEA340FA-A755-476E-8CD6-D855DC005CF8}"/>
                      </a:ext>
                    </a:extLst>
                  </p:cNvPr>
                  <p:cNvGrpSpPr/>
                  <p:nvPr/>
                </p:nvGrpSpPr>
                <p:grpSpPr>
                  <a:xfrm>
                    <a:off x="0" y="606829"/>
                    <a:ext cx="492748" cy="438497"/>
                    <a:chOff x="0" y="0"/>
                    <a:chExt cx="492748" cy="438497"/>
                  </a:xfrm>
                </p:grpSpPr>
                <p:sp>
                  <p:nvSpPr>
                    <p:cNvPr id="121" name="立方體 120">
                      <a:extLst>
                        <a:ext uri="{FF2B5EF4-FFF2-40B4-BE49-F238E27FC236}">
                          <a16:creationId xmlns:a16="http://schemas.microsoft.com/office/drawing/2014/main" id="{93D0CEF2-A85F-4F36-9444-A6B46A63A42E}"/>
                        </a:ext>
                      </a:extLst>
                    </p:cNvPr>
                    <p:cNvSpPr/>
                    <p:nvPr/>
                  </p:nvSpPr>
                  <p:spPr>
                    <a:xfrm>
                      <a:off x="86348" y="0"/>
                      <a:ext cx="406400" cy="363310"/>
                    </a:xfrm>
                    <a:prstGeom prst="cube">
                      <a:avLst/>
                    </a:prstGeom>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22" name="立方體 121">
                      <a:extLst>
                        <a:ext uri="{FF2B5EF4-FFF2-40B4-BE49-F238E27FC236}">
                          <a16:creationId xmlns:a16="http://schemas.microsoft.com/office/drawing/2014/main" id="{994EC035-C755-4063-ADC5-97F8508AB71F}"/>
                        </a:ext>
                      </a:extLst>
                    </p:cNvPr>
                    <p:cNvSpPr/>
                    <p:nvPr/>
                  </p:nvSpPr>
                  <p:spPr>
                    <a:xfrm>
                      <a:off x="0" y="75277"/>
                      <a:ext cx="406400" cy="363220"/>
                    </a:xfrm>
                    <a:prstGeom prst="cube">
                      <a:avLst/>
                    </a:prstGeom>
                    <a:solidFill>
                      <a:schemeClr val="bg1"/>
                    </a:solidFill>
                    <a:ln>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sp>
              <p:nvSpPr>
                <p:cNvPr id="106" name="箭號: 向上 105">
                  <a:extLst>
                    <a:ext uri="{FF2B5EF4-FFF2-40B4-BE49-F238E27FC236}">
                      <a16:creationId xmlns:a16="http://schemas.microsoft.com/office/drawing/2014/main" id="{C3D22207-A728-47CB-9344-01C82C47EA8E}"/>
                    </a:ext>
                  </a:extLst>
                </p:cNvPr>
                <p:cNvSpPr/>
                <p:nvPr/>
              </p:nvSpPr>
              <p:spPr>
                <a:xfrm>
                  <a:off x="319265" y="786861"/>
                  <a:ext cx="47329" cy="202752"/>
                </a:xfrm>
                <a:prstGeom prst="upArrow">
                  <a:avLst/>
                </a:prstGeom>
                <a:solidFill>
                  <a:schemeClr val="tx1"/>
                </a:solidFill>
                <a:ln>
                  <a:solidFill>
                    <a:schemeClr val="tx1"/>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07" name="箭號: 向上 106">
                  <a:extLst>
                    <a:ext uri="{FF2B5EF4-FFF2-40B4-BE49-F238E27FC236}">
                      <a16:creationId xmlns:a16="http://schemas.microsoft.com/office/drawing/2014/main" id="{6B0B80E4-2A90-497F-9F2C-F8C68F4644D6}"/>
                    </a:ext>
                  </a:extLst>
                </p:cNvPr>
                <p:cNvSpPr/>
                <p:nvPr/>
              </p:nvSpPr>
              <p:spPr>
                <a:xfrm>
                  <a:off x="499045" y="638078"/>
                  <a:ext cx="47329" cy="202752"/>
                </a:xfrm>
                <a:prstGeom prst="upArrow">
                  <a:avLst/>
                </a:prstGeom>
                <a:solidFill>
                  <a:schemeClr val="tx1"/>
                </a:solidFill>
                <a:ln>
                  <a:solidFill>
                    <a:schemeClr val="tx1"/>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08" name="箭號: 向上 107">
                  <a:extLst>
                    <a:ext uri="{FF2B5EF4-FFF2-40B4-BE49-F238E27FC236}">
                      <a16:creationId xmlns:a16="http://schemas.microsoft.com/office/drawing/2014/main" id="{7B8DCAA8-2927-4C63-92BF-01E91A896A30}"/>
                    </a:ext>
                  </a:extLst>
                </p:cNvPr>
                <p:cNvSpPr/>
                <p:nvPr/>
              </p:nvSpPr>
              <p:spPr>
                <a:xfrm>
                  <a:off x="663327" y="483095"/>
                  <a:ext cx="47329" cy="202752"/>
                </a:xfrm>
                <a:prstGeom prst="upArrow">
                  <a:avLst/>
                </a:prstGeom>
                <a:solidFill>
                  <a:schemeClr val="tx1"/>
                </a:solidFill>
                <a:ln>
                  <a:solidFill>
                    <a:schemeClr val="tx1"/>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09" name="箭號: 向上 108">
                  <a:extLst>
                    <a:ext uri="{FF2B5EF4-FFF2-40B4-BE49-F238E27FC236}">
                      <a16:creationId xmlns:a16="http://schemas.microsoft.com/office/drawing/2014/main" id="{0BC20B5A-8686-4FD1-A8B6-B14B358AC524}"/>
                    </a:ext>
                  </a:extLst>
                </p:cNvPr>
                <p:cNvSpPr/>
                <p:nvPr/>
              </p:nvSpPr>
              <p:spPr>
                <a:xfrm>
                  <a:off x="833808" y="340510"/>
                  <a:ext cx="47329" cy="202752"/>
                </a:xfrm>
                <a:prstGeom prst="upArrow">
                  <a:avLst/>
                </a:prstGeom>
                <a:solidFill>
                  <a:schemeClr val="tx1"/>
                </a:solidFill>
                <a:ln>
                  <a:solidFill>
                    <a:schemeClr val="tx1"/>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10" name="箭號: 向上 109">
                  <a:extLst>
                    <a:ext uri="{FF2B5EF4-FFF2-40B4-BE49-F238E27FC236}">
                      <a16:creationId xmlns:a16="http://schemas.microsoft.com/office/drawing/2014/main" id="{7C6F36AF-1359-41BD-B640-DC33A00DDB65}"/>
                    </a:ext>
                  </a:extLst>
                </p:cNvPr>
                <p:cNvSpPr/>
                <p:nvPr/>
              </p:nvSpPr>
              <p:spPr>
                <a:xfrm>
                  <a:off x="999012" y="188627"/>
                  <a:ext cx="47329" cy="202752"/>
                </a:xfrm>
                <a:prstGeom prst="upArrow">
                  <a:avLst/>
                </a:prstGeom>
                <a:solidFill>
                  <a:schemeClr val="tx1"/>
                </a:solidFill>
                <a:ln>
                  <a:solidFill>
                    <a:schemeClr val="tx1"/>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11" name="箭號: 向上 110">
                  <a:extLst>
                    <a:ext uri="{FF2B5EF4-FFF2-40B4-BE49-F238E27FC236}">
                      <a16:creationId xmlns:a16="http://schemas.microsoft.com/office/drawing/2014/main" id="{3FCE2A2B-6034-4AA7-B56D-F504A4E8D4E5}"/>
                    </a:ext>
                  </a:extLst>
                </p:cNvPr>
                <p:cNvSpPr/>
                <p:nvPr/>
              </p:nvSpPr>
              <p:spPr>
                <a:xfrm rot="10800000">
                  <a:off x="409155" y="712470"/>
                  <a:ext cx="47329" cy="202752"/>
                </a:xfrm>
                <a:prstGeom prst="upArrow">
                  <a:avLst/>
                </a:prstGeom>
                <a:solidFill>
                  <a:schemeClr val="tx1"/>
                </a:solidFill>
                <a:ln>
                  <a:solidFill>
                    <a:schemeClr val="tx1"/>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12" name="箭號: 向上 111">
                  <a:extLst>
                    <a:ext uri="{FF2B5EF4-FFF2-40B4-BE49-F238E27FC236}">
                      <a16:creationId xmlns:a16="http://schemas.microsoft.com/office/drawing/2014/main" id="{B5BF1722-E383-49C7-A6BB-AB2DC22EE589}"/>
                    </a:ext>
                  </a:extLst>
                </p:cNvPr>
                <p:cNvSpPr/>
                <p:nvPr/>
              </p:nvSpPr>
              <p:spPr>
                <a:xfrm rot="10800000">
                  <a:off x="582736" y="560586"/>
                  <a:ext cx="47329" cy="202752"/>
                </a:xfrm>
                <a:prstGeom prst="upArrow">
                  <a:avLst/>
                </a:prstGeom>
                <a:solidFill>
                  <a:schemeClr val="tx1"/>
                </a:solidFill>
                <a:ln>
                  <a:solidFill>
                    <a:schemeClr val="tx1"/>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13" name="箭號: 向上 112">
                  <a:extLst>
                    <a:ext uri="{FF2B5EF4-FFF2-40B4-BE49-F238E27FC236}">
                      <a16:creationId xmlns:a16="http://schemas.microsoft.com/office/drawing/2014/main" id="{9DDF5991-2811-4299-9807-FA53A4EC2071}"/>
                    </a:ext>
                  </a:extLst>
                </p:cNvPr>
                <p:cNvSpPr/>
                <p:nvPr/>
              </p:nvSpPr>
              <p:spPr>
                <a:xfrm rot="10800000">
                  <a:off x="753217" y="411802"/>
                  <a:ext cx="47329" cy="202752"/>
                </a:xfrm>
                <a:prstGeom prst="upArrow">
                  <a:avLst/>
                </a:prstGeom>
                <a:solidFill>
                  <a:schemeClr val="tx1"/>
                </a:solidFill>
                <a:ln>
                  <a:solidFill>
                    <a:schemeClr val="tx1"/>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14" name="箭號: 向上 113">
                  <a:extLst>
                    <a:ext uri="{FF2B5EF4-FFF2-40B4-BE49-F238E27FC236}">
                      <a16:creationId xmlns:a16="http://schemas.microsoft.com/office/drawing/2014/main" id="{599AAD93-9D72-4D3D-B3CF-1FF475ADAB21}"/>
                    </a:ext>
                  </a:extLst>
                </p:cNvPr>
                <p:cNvSpPr/>
                <p:nvPr/>
              </p:nvSpPr>
              <p:spPr>
                <a:xfrm rot="10800000">
                  <a:off x="918421" y="256819"/>
                  <a:ext cx="47329" cy="202752"/>
                </a:xfrm>
                <a:prstGeom prst="upArrow">
                  <a:avLst/>
                </a:prstGeom>
                <a:solidFill>
                  <a:schemeClr val="tx1"/>
                </a:solidFill>
                <a:ln>
                  <a:solidFill>
                    <a:schemeClr val="tx1"/>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15" name="箭號: 向上 114">
                  <a:extLst>
                    <a:ext uri="{FF2B5EF4-FFF2-40B4-BE49-F238E27FC236}">
                      <a16:creationId xmlns:a16="http://schemas.microsoft.com/office/drawing/2014/main" id="{468C677C-7BAF-4711-A4B0-62376A6A65C5}"/>
                    </a:ext>
                  </a:extLst>
                </p:cNvPr>
                <p:cNvSpPr/>
                <p:nvPr/>
              </p:nvSpPr>
              <p:spPr>
                <a:xfrm rot="10800000">
                  <a:off x="1086263" y="108036"/>
                  <a:ext cx="47329" cy="202752"/>
                </a:xfrm>
                <a:prstGeom prst="upArrow">
                  <a:avLst/>
                </a:prstGeom>
                <a:solidFill>
                  <a:schemeClr val="tx1"/>
                </a:solidFill>
                <a:ln>
                  <a:solidFill>
                    <a:schemeClr val="tx1"/>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cxnSp>
            <p:nvCxnSpPr>
              <p:cNvPr id="93" name="直線單箭頭接點 92">
                <a:extLst>
                  <a:ext uri="{FF2B5EF4-FFF2-40B4-BE49-F238E27FC236}">
                    <a16:creationId xmlns:a16="http://schemas.microsoft.com/office/drawing/2014/main" id="{153EE5D6-8A18-41B5-A94E-F8554AF62C6B}"/>
                  </a:ext>
                </a:extLst>
              </p:cNvPr>
              <p:cNvCxnSpPr/>
              <p:nvPr/>
            </p:nvCxnSpPr>
            <p:spPr>
              <a:xfrm flipV="1">
                <a:off x="492837" y="796967"/>
                <a:ext cx="131182" cy="1195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4" name="直線單箭頭接點 93">
                <a:extLst>
                  <a:ext uri="{FF2B5EF4-FFF2-40B4-BE49-F238E27FC236}">
                    <a16:creationId xmlns:a16="http://schemas.microsoft.com/office/drawing/2014/main" id="{867CF00B-6218-43AF-9E81-44809AB299B0}"/>
                  </a:ext>
                </a:extLst>
              </p:cNvPr>
              <p:cNvCxnSpPr/>
              <p:nvPr/>
            </p:nvCxnSpPr>
            <p:spPr>
              <a:xfrm flipH="1">
                <a:off x="715548" y="593694"/>
                <a:ext cx="125773" cy="1127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95" name="群組 94">
                <a:extLst>
                  <a:ext uri="{FF2B5EF4-FFF2-40B4-BE49-F238E27FC236}">
                    <a16:creationId xmlns:a16="http://schemas.microsoft.com/office/drawing/2014/main" id="{56DF4FF7-B6B7-428F-88B6-C77ABB23D750}"/>
                  </a:ext>
                </a:extLst>
              </p:cNvPr>
              <p:cNvGrpSpPr/>
              <p:nvPr/>
            </p:nvGrpSpPr>
            <p:grpSpPr>
              <a:xfrm>
                <a:off x="1103027" y="307031"/>
                <a:ext cx="385444" cy="729488"/>
                <a:chOff x="337548" y="235712"/>
                <a:chExt cx="385843" cy="729488"/>
              </a:xfrm>
            </p:grpSpPr>
            <p:cxnSp>
              <p:nvCxnSpPr>
                <p:cNvPr id="103" name="直線接點 102">
                  <a:extLst>
                    <a:ext uri="{FF2B5EF4-FFF2-40B4-BE49-F238E27FC236}">
                      <a16:creationId xmlns:a16="http://schemas.microsoft.com/office/drawing/2014/main" id="{651E16BF-81F0-4056-87A6-F49BB9DAEB1B}"/>
                    </a:ext>
                  </a:extLst>
                </p:cNvPr>
                <p:cNvCxnSpPr/>
                <p:nvPr/>
              </p:nvCxnSpPr>
              <p:spPr>
                <a:xfrm>
                  <a:off x="337548" y="961517"/>
                  <a:ext cx="382416" cy="0"/>
                </a:xfrm>
                <a:prstGeom prst="line">
                  <a:avLst/>
                </a:prstGeom>
              </p:spPr>
              <p:style>
                <a:lnRef idx="1">
                  <a:schemeClr val="dk1"/>
                </a:lnRef>
                <a:fillRef idx="0">
                  <a:schemeClr val="dk1"/>
                </a:fillRef>
                <a:effectRef idx="0">
                  <a:schemeClr val="dk1"/>
                </a:effectRef>
                <a:fontRef idx="minor">
                  <a:schemeClr val="tx1"/>
                </a:fontRef>
              </p:style>
            </p:cxnSp>
            <p:cxnSp>
              <p:nvCxnSpPr>
                <p:cNvPr id="104" name="直線接點 103">
                  <a:extLst>
                    <a:ext uri="{FF2B5EF4-FFF2-40B4-BE49-F238E27FC236}">
                      <a16:creationId xmlns:a16="http://schemas.microsoft.com/office/drawing/2014/main" id="{E7C1A863-218F-4F83-A88C-9AE66CEA5213}"/>
                    </a:ext>
                  </a:extLst>
                </p:cNvPr>
                <p:cNvCxnSpPr/>
                <p:nvPr/>
              </p:nvCxnSpPr>
              <p:spPr>
                <a:xfrm flipH="1" flipV="1">
                  <a:off x="719963" y="235712"/>
                  <a:ext cx="3428" cy="729488"/>
                </a:xfrm>
                <a:prstGeom prst="line">
                  <a:avLst/>
                </a:prstGeom>
              </p:spPr>
              <p:style>
                <a:lnRef idx="1">
                  <a:schemeClr val="dk1"/>
                </a:lnRef>
                <a:fillRef idx="0">
                  <a:schemeClr val="dk1"/>
                </a:fillRef>
                <a:effectRef idx="0">
                  <a:schemeClr val="dk1"/>
                </a:effectRef>
                <a:fontRef idx="minor">
                  <a:schemeClr val="tx1"/>
                </a:fontRef>
              </p:style>
            </p:cxnSp>
          </p:grpSp>
          <p:grpSp>
            <p:nvGrpSpPr>
              <p:cNvPr id="96" name="群組 95">
                <a:extLst>
                  <a:ext uri="{FF2B5EF4-FFF2-40B4-BE49-F238E27FC236}">
                    <a16:creationId xmlns:a16="http://schemas.microsoft.com/office/drawing/2014/main" id="{F1A6D662-4DA9-46B6-93E4-90F54A8700EA}"/>
                  </a:ext>
                </a:extLst>
              </p:cNvPr>
              <p:cNvGrpSpPr/>
              <p:nvPr/>
            </p:nvGrpSpPr>
            <p:grpSpPr>
              <a:xfrm>
                <a:off x="346710" y="310499"/>
                <a:ext cx="105410" cy="695428"/>
                <a:chOff x="0" y="269773"/>
                <a:chExt cx="105664" cy="695428"/>
              </a:xfrm>
            </p:grpSpPr>
            <p:cxnSp>
              <p:nvCxnSpPr>
                <p:cNvPr id="101" name="直線接點 100">
                  <a:extLst>
                    <a:ext uri="{FF2B5EF4-FFF2-40B4-BE49-F238E27FC236}">
                      <a16:creationId xmlns:a16="http://schemas.microsoft.com/office/drawing/2014/main" id="{9C1961AD-8175-4E3A-B1D5-E3AF0E44B526}"/>
                    </a:ext>
                  </a:extLst>
                </p:cNvPr>
                <p:cNvCxnSpPr/>
                <p:nvPr/>
              </p:nvCxnSpPr>
              <p:spPr>
                <a:xfrm>
                  <a:off x="0" y="962668"/>
                  <a:ext cx="105664" cy="0"/>
                </a:xfrm>
                <a:prstGeom prst="line">
                  <a:avLst/>
                </a:prstGeom>
              </p:spPr>
              <p:style>
                <a:lnRef idx="1">
                  <a:schemeClr val="dk1"/>
                </a:lnRef>
                <a:fillRef idx="0">
                  <a:schemeClr val="dk1"/>
                </a:fillRef>
                <a:effectRef idx="0">
                  <a:schemeClr val="dk1"/>
                </a:effectRef>
                <a:fontRef idx="minor">
                  <a:schemeClr val="tx1"/>
                </a:fontRef>
              </p:style>
            </p:cxnSp>
            <p:cxnSp>
              <p:nvCxnSpPr>
                <p:cNvPr id="102" name="直線接點 101">
                  <a:extLst>
                    <a:ext uri="{FF2B5EF4-FFF2-40B4-BE49-F238E27FC236}">
                      <a16:creationId xmlns:a16="http://schemas.microsoft.com/office/drawing/2014/main" id="{59EFE8AC-7D1D-4AB1-AD9A-FA0B1DE27A58}"/>
                    </a:ext>
                  </a:extLst>
                </p:cNvPr>
                <p:cNvCxnSpPr/>
                <p:nvPr/>
              </p:nvCxnSpPr>
              <p:spPr>
                <a:xfrm flipH="1" flipV="1">
                  <a:off x="1726" y="269773"/>
                  <a:ext cx="2328" cy="695428"/>
                </a:xfrm>
                <a:prstGeom prst="line">
                  <a:avLst/>
                </a:prstGeom>
              </p:spPr>
              <p:style>
                <a:lnRef idx="1">
                  <a:schemeClr val="dk1"/>
                </a:lnRef>
                <a:fillRef idx="0">
                  <a:schemeClr val="dk1"/>
                </a:fillRef>
                <a:effectRef idx="0">
                  <a:schemeClr val="dk1"/>
                </a:effectRef>
                <a:fontRef idx="minor">
                  <a:schemeClr val="tx1"/>
                </a:fontRef>
              </p:style>
            </p:cxnSp>
          </p:grpSp>
          <p:cxnSp>
            <p:nvCxnSpPr>
              <p:cNvPr id="97" name="直線接點 96">
                <a:extLst>
                  <a:ext uri="{FF2B5EF4-FFF2-40B4-BE49-F238E27FC236}">
                    <a16:creationId xmlns:a16="http://schemas.microsoft.com/office/drawing/2014/main" id="{25E06F18-7450-4DA0-9545-893D099CA2B9}"/>
                  </a:ext>
                </a:extLst>
              </p:cNvPr>
              <p:cNvCxnSpPr/>
              <p:nvPr/>
            </p:nvCxnSpPr>
            <p:spPr>
              <a:xfrm flipV="1">
                <a:off x="346710" y="309966"/>
                <a:ext cx="563697" cy="2174"/>
              </a:xfrm>
              <a:prstGeom prst="line">
                <a:avLst/>
              </a:prstGeom>
            </p:spPr>
            <p:style>
              <a:lnRef idx="1">
                <a:schemeClr val="dk1"/>
              </a:lnRef>
              <a:fillRef idx="0">
                <a:schemeClr val="dk1"/>
              </a:fillRef>
              <a:effectRef idx="0">
                <a:schemeClr val="dk1"/>
              </a:effectRef>
              <a:fontRef idx="minor">
                <a:schemeClr val="tx1"/>
              </a:fontRef>
            </p:style>
          </p:cxnSp>
          <p:cxnSp>
            <p:nvCxnSpPr>
              <p:cNvPr id="98" name="直線接點 97">
                <a:extLst>
                  <a:ext uri="{FF2B5EF4-FFF2-40B4-BE49-F238E27FC236}">
                    <a16:creationId xmlns:a16="http://schemas.microsoft.com/office/drawing/2014/main" id="{62885272-E25A-4D8D-A5A2-FC88B2582ECE}"/>
                  </a:ext>
                </a:extLst>
              </p:cNvPr>
              <p:cNvCxnSpPr/>
              <p:nvPr/>
            </p:nvCxnSpPr>
            <p:spPr>
              <a:xfrm>
                <a:off x="932545" y="309966"/>
                <a:ext cx="554224" cy="0"/>
              </a:xfrm>
              <a:prstGeom prst="line">
                <a:avLst/>
              </a:prstGeom>
            </p:spPr>
            <p:style>
              <a:lnRef idx="1">
                <a:schemeClr val="dk1"/>
              </a:lnRef>
              <a:fillRef idx="0">
                <a:schemeClr val="dk1"/>
              </a:fillRef>
              <a:effectRef idx="0">
                <a:schemeClr val="dk1"/>
              </a:effectRef>
              <a:fontRef idx="minor">
                <a:schemeClr val="tx1"/>
              </a:fontRef>
            </p:style>
          </p:cxnSp>
          <p:cxnSp>
            <p:nvCxnSpPr>
              <p:cNvPr id="99" name="直線接點 98">
                <a:extLst>
                  <a:ext uri="{FF2B5EF4-FFF2-40B4-BE49-F238E27FC236}">
                    <a16:creationId xmlns:a16="http://schemas.microsoft.com/office/drawing/2014/main" id="{A6813105-BC01-4FE5-BC2F-ED0FFE81C767}"/>
                  </a:ext>
                </a:extLst>
              </p:cNvPr>
              <p:cNvCxnSpPr/>
              <p:nvPr/>
            </p:nvCxnSpPr>
            <p:spPr>
              <a:xfrm flipH="1" flipV="1">
                <a:off x="935645" y="241774"/>
                <a:ext cx="0" cy="147320"/>
              </a:xfrm>
              <a:prstGeom prst="line">
                <a:avLst/>
              </a:prstGeom>
            </p:spPr>
            <p:style>
              <a:lnRef idx="1">
                <a:schemeClr val="dk1"/>
              </a:lnRef>
              <a:fillRef idx="0">
                <a:schemeClr val="dk1"/>
              </a:fillRef>
              <a:effectRef idx="0">
                <a:schemeClr val="dk1"/>
              </a:effectRef>
              <a:fontRef idx="minor">
                <a:schemeClr val="tx1"/>
              </a:fontRef>
            </p:style>
          </p:cxnSp>
          <p:cxnSp>
            <p:nvCxnSpPr>
              <p:cNvPr id="100" name="直線接點 99">
                <a:extLst>
                  <a:ext uri="{FF2B5EF4-FFF2-40B4-BE49-F238E27FC236}">
                    <a16:creationId xmlns:a16="http://schemas.microsoft.com/office/drawing/2014/main" id="{22000B2F-4714-462C-9718-087DEFAFE47F}"/>
                  </a:ext>
                </a:extLst>
              </p:cNvPr>
              <p:cNvCxnSpPr/>
              <p:nvPr/>
            </p:nvCxnSpPr>
            <p:spPr>
              <a:xfrm flipH="1" flipV="1">
                <a:off x="913948" y="269671"/>
                <a:ext cx="0" cy="96228"/>
              </a:xfrm>
              <a:prstGeom prst="line">
                <a:avLst/>
              </a:prstGeom>
            </p:spPr>
            <p:style>
              <a:lnRef idx="1">
                <a:schemeClr val="dk1"/>
              </a:lnRef>
              <a:fillRef idx="0">
                <a:schemeClr val="dk1"/>
              </a:fillRef>
              <a:effectRef idx="0">
                <a:schemeClr val="dk1"/>
              </a:effectRef>
              <a:fontRef idx="minor">
                <a:schemeClr val="tx1"/>
              </a:fontRef>
            </p:style>
          </p:cxnSp>
        </p:grpSp>
        <p:sp>
          <p:nvSpPr>
            <p:cNvPr id="144" name="矩形 143">
              <a:extLst>
                <a:ext uri="{FF2B5EF4-FFF2-40B4-BE49-F238E27FC236}">
                  <a16:creationId xmlns:a16="http://schemas.microsoft.com/office/drawing/2014/main" id="{ED04F313-73F8-4A9E-9155-406CAA51B245}"/>
                </a:ext>
              </a:extLst>
            </p:cNvPr>
            <p:cNvSpPr/>
            <p:nvPr/>
          </p:nvSpPr>
          <p:spPr>
            <a:xfrm>
              <a:off x="6982706" y="4767967"/>
              <a:ext cx="1523551" cy="1314325"/>
            </a:xfrm>
            <a:prstGeom prst="rect">
              <a:avLst/>
            </a:prstGeom>
            <a:noFill/>
            <a:ln w="19050">
              <a:solidFill>
                <a:schemeClr val="tx1"/>
              </a:solidFill>
            </a:ln>
            <a:scene3d>
              <a:camera prst="isometricOffAxis2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3" name="直線接點 152">
              <a:extLst>
                <a:ext uri="{FF2B5EF4-FFF2-40B4-BE49-F238E27FC236}">
                  <a16:creationId xmlns:a16="http://schemas.microsoft.com/office/drawing/2014/main" id="{3A85EE5B-BA30-4F6D-80C5-A987BD8B278F}"/>
                </a:ext>
              </a:extLst>
            </p:cNvPr>
            <p:cNvCxnSpPr/>
            <p:nvPr/>
          </p:nvCxnSpPr>
          <p:spPr>
            <a:xfrm>
              <a:off x="7257672" y="4741740"/>
              <a:ext cx="12083" cy="1202089"/>
            </a:xfrm>
            <a:prstGeom prst="line">
              <a:avLst/>
            </a:prstGeom>
          </p:spPr>
          <p:style>
            <a:lnRef idx="1">
              <a:schemeClr val="dk1"/>
            </a:lnRef>
            <a:fillRef idx="0">
              <a:schemeClr val="dk1"/>
            </a:fillRef>
            <a:effectRef idx="0">
              <a:schemeClr val="dk1"/>
            </a:effectRef>
            <a:fontRef idx="minor">
              <a:schemeClr val="tx1"/>
            </a:fontRef>
          </p:style>
        </p:cxnSp>
        <p:cxnSp>
          <p:nvCxnSpPr>
            <p:cNvPr id="154" name="直線接點 153">
              <a:extLst>
                <a:ext uri="{FF2B5EF4-FFF2-40B4-BE49-F238E27FC236}">
                  <a16:creationId xmlns:a16="http://schemas.microsoft.com/office/drawing/2014/main" id="{9EE9D5D2-ABA4-428A-883A-BCD8AA8E7DDB}"/>
                </a:ext>
              </a:extLst>
            </p:cNvPr>
            <p:cNvCxnSpPr/>
            <p:nvPr/>
          </p:nvCxnSpPr>
          <p:spPr>
            <a:xfrm>
              <a:off x="7460566" y="4792403"/>
              <a:ext cx="12083" cy="1202089"/>
            </a:xfrm>
            <a:prstGeom prst="line">
              <a:avLst/>
            </a:prstGeom>
          </p:spPr>
          <p:style>
            <a:lnRef idx="1">
              <a:schemeClr val="dk1"/>
            </a:lnRef>
            <a:fillRef idx="0">
              <a:schemeClr val="dk1"/>
            </a:fillRef>
            <a:effectRef idx="0">
              <a:schemeClr val="dk1"/>
            </a:effectRef>
            <a:fontRef idx="minor">
              <a:schemeClr val="tx1"/>
            </a:fontRef>
          </p:style>
        </p:cxnSp>
        <p:cxnSp>
          <p:nvCxnSpPr>
            <p:cNvPr id="155" name="直線接點 154">
              <a:extLst>
                <a:ext uri="{FF2B5EF4-FFF2-40B4-BE49-F238E27FC236}">
                  <a16:creationId xmlns:a16="http://schemas.microsoft.com/office/drawing/2014/main" id="{270A96AE-A1E3-424F-BDA5-42AB3DFD76CA}"/>
                </a:ext>
              </a:extLst>
            </p:cNvPr>
            <p:cNvCxnSpPr/>
            <p:nvPr/>
          </p:nvCxnSpPr>
          <p:spPr>
            <a:xfrm>
              <a:off x="7933918" y="4857010"/>
              <a:ext cx="12083" cy="1202089"/>
            </a:xfrm>
            <a:prstGeom prst="line">
              <a:avLst/>
            </a:prstGeom>
          </p:spPr>
          <p:style>
            <a:lnRef idx="1">
              <a:schemeClr val="dk1"/>
            </a:lnRef>
            <a:fillRef idx="0">
              <a:schemeClr val="dk1"/>
            </a:fillRef>
            <a:effectRef idx="0">
              <a:schemeClr val="dk1"/>
            </a:effectRef>
            <a:fontRef idx="minor">
              <a:schemeClr val="tx1"/>
            </a:fontRef>
          </p:style>
        </p:cxnSp>
        <p:cxnSp>
          <p:nvCxnSpPr>
            <p:cNvPr id="156" name="直線接點 155">
              <a:extLst>
                <a:ext uri="{FF2B5EF4-FFF2-40B4-BE49-F238E27FC236}">
                  <a16:creationId xmlns:a16="http://schemas.microsoft.com/office/drawing/2014/main" id="{566D23EA-32F6-4905-88F1-29A3EEC8A837}"/>
                </a:ext>
              </a:extLst>
            </p:cNvPr>
            <p:cNvCxnSpPr/>
            <p:nvPr/>
          </p:nvCxnSpPr>
          <p:spPr>
            <a:xfrm>
              <a:off x="7697493" y="4811873"/>
              <a:ext cx="11580" cy="1201370"/>
            </a:xfrm>
            <a:prstGeom prst="line">
              <a:avLst/>
            </a:prstGeom>
          </p:spPr>
          <p:style>
            <a:lnRef idx="1">
              <a:schemeClr val="dk1"/>
            </a:lnRef>
            <a:fillRef idx="0">
              <a:schemeClr val="dk1"/>
            </a:fillRef>
            <a:effectRef idx="0">
              <a:schemeClr val="dk1"/>
            </a:effectRef>
            <a:fontRef idx="minor">
              <a:schemeClr val="tx1"/>
            </a:fontRef>
          </p:style>
        </p:cxnSp>
        <p:cxnSp>
          <p:nvCxnSpPr>
            <p:cNvPr id="157" name="直線接點 156">
              <a:extLst>
                <a:ext uri="{FF2B5EF4-FFF2-40B4-BE49-F238E27FC236}">
                  <a16:creationId xmlns:a16="http://schemas.microsoft.com/office/drawing/2014/main" id="{7FC5840F-5D3D-4885-99A8-872C01EC53F7}"/>
                </a:ext>
              </a:extLst>
            </p:cNvPr>
            <p:cNvCxnSpPr/>
            <p:nvPr/>
          </p:nvCxnSpPr>
          <p:spPr>
            <a:xfrm>
              <a:off x="8211105" y="4905113"/>
              <a:ext cx="12082" cy="1202084"/>
            </a:xfrm>
            <a:prstGeom prst="line">
              <a:avLst/>
            </a:prstGeom>
          </p:spPr>
          <p:style>
            <a:lnRef idx="1">
              <a:schemeClr val="dk1"/>
            </a:lnRef>
            <a:fillRef idx="0">
              <a:schemeClr val="dk1"/>
            </a:fillRef>
            <a:effectRef idx="0">
              <a:schemeClr val="dk1"/>
            </a:effectRef>
            <a:fontRef idx="minor">
              <a:schemeClr val="tx1"/>
            </a:fontRef>
          </p:style>
        </p:cxnSp>
      </p:grpSp>
      <p:sp>
        <p:nvSpPr>
          <p:cNvPr id="4" name="投影片編號版面配置區 3">
            <a:extLst>
              <a:ext uri="{FF2B5EF4-FFF2-40B4-BE49-F238E27FC236}">
                <a16:creationId xmlns:a16="http://schemas.microsoft.com/office/drawing/2014/main" id="{6D3ADFBA-B763-418F-BE4C-3C5F349E1808}"/>
              </a:ext>
            </a:extLst>
          </p:cNvPr>
          <p:cNvSpPr>
            <a:spLocks noGrp="1"/>
          </p:cNvSpPr>
          <p:nvPr>
            <p:ph type="sldNum" sz="quarter" idx="12"/>
          </p:nvPr>
        </p:nvSpPr>
        <p:spPr>
          <a:xfrm>
            <a:off x="9448800" y="6495880"/>
            <a:ext cx="2743200" cy="365125"/>
          </a:xfrm>
        </p:spPr>
        <p:txBody>
          <a:bodyPr/>
          <a:lstStyle/>
          <a:p>
            <a:fld id="{29723A01-8C65-4E4C-95BB-6D96843E9278}" type="slidenum">
              <a:rPr lang="zh-TW" altLang="en-US" smtClean="0"/>
              <a:t>10</a:t>
            </a:fld>
            <a:endParaRPr lang="zh-TW" altLang="en-US"/>
          </a:p>
        </p:txBody>
      </p:sp>
    </p:spTree>
    <p:extLst>
      <p:ext uri="{BB962C8B-B14F-4D97-AF65-F5344CB8AC3E}">
        <p14:creationId xmlns:p14="http://schemas.microsoft.com/office/powerpoint/2010/main" val="573976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63668" y="91626"/>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Optical Parametric Oscillators</a:t>
            </a:r>
            <a:endParaRPr lang="zh-TW" altLang="en-US" sz="2800" b="1" dirty="0"/>
          </a:p>
        </p:txBody>
      </p:sp>
      <p:grpSp>
        <p:nvGrpSpPr>
          <p:cNvPr id="10" name="群組 9">
            <a:extLst>
              <a:ext uri="{FF2B5EF4-FFF2-40B4-BE49-F238E27FC236}">
                <a16:creationId xmlns:a16="http://schemas.microsoft.com/office/drawing/2014/main" id="{0289D81D-3145-41F7-814B-78538E137EFD}"/>
              </a:ext>
            </a:extLst>
          </p:cNvPr>
          <p:cNvGrpSpPr/>
          <p:nvPr/>
        </p:nvGrpSpPr>
        <p:grpSpPr>
          <a:xfrm>
            <a:off x="8181633" y="4632493"/>
            <a:ext cx="2526855" cy="932047"/>
            <a:chOff x="-1979788" y="3859514"/>
            <a:chExt cx="2526855" cy="932047"/>
          </a:xfrm>
        </p:grpSpPr>
        <mc:AlternateContent xmlns:mc="http://schemas.openxmlformats.org/markup-compatibility/2006" xmlns:a14="http://schemas.microsoft.com/office/drawing/2010/main">
          <mc:Choice Requires="a14">
            <p:sp>
              <p:nvSpPr>
                <p:cNvPr id="11" name="Object 13">
                  <a:extLst>
                    <a:ext uri="{FF2B5EF4-FFF2-40B4-BE49-F238E27FC236}">
                      <a16:creationId xmlns:a16="http://schemas.microsoft.com/office/drawing/2014/main" id="{4343486A-A268-4FF4-B5D0-B40C38106B53}"/>
                    </a:ext>
                  </a:extLst>
                </p:cNvPr>
                <p:cNvSpPr txBox="1"/>
                <p:nvPr/>
              </p:nvSpPr>
              <p:spPr bwMode="auto">
                <a:xfrm>
                  <a:off x="-1979788" y="4339124"/>
                  <a:ext cx="1900237" cy="452437"/>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r>
                          <m:rPr>
                            <m:sty m:val="p"/>
                          </m:rPr>
                          <a:rPr lang="zh-TW" altLang="en-US" i="1">
                            <a:solidFill>
                              <a:srgbClr val="000000"/>
                            </a:solidFill>
                            <a:latin typeface="Cambria Math" panose="02040503050406030204" pitchFamily="18" charset="0"/>
                          </a:rPr>
                          <m:t>Δ</m:t>
                        </m:r>
                        <m:r>
                          <a:rPr lang="zh-TW" altLang="en-US" i="1">
                            <a:solidFill>
                              <a:srgbClr val="000000"/>
                            </a:solidFill>
                            <a:latin typeface="Cambria Math" panose="02040503050406030204" pitchFamily="18" charset="0"/>
                          </a:rPr>
                          <m:t>𝑘</m:t>
                        </m:r>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r>
                              <a:rPr lang="zh-TW" altLang="en-US" i="1">
                                <a:solidFill>
                                  <a:srgbClr val="000000"/>
                                </a:solidFill>
                                <a:latin typeface="Cambria Math" panose="02040503050406030204" pitchFamily="18" charset="0"/>
                              </a:rPr>
                              <m:t>𝑘</m:t>
                            </m:r>
                          </m:e>
                          <m:sub>
                            <m:r>
                              <a:rPr lang="zh-TW" altLang="en-US" i="1">
                                <a:solidFill>
                                  <a:srgbClr val="000000"/>
                                </a:solidFill>
                                <a:latin typeface="Cambria Math" panose="02040503050406030204" pitchFamily="18" charset="0"/>
                              </a:rPr>
                              <m:t>𝑝</m:t>
                            </m:r>
                          </m:sub>
                        </m:sSub>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r>
                              <a:rPr lang="zh-TW" altLang="en-US" i="1">
                                <a:solidFill>
                                  <a:srgbClr val="000000"/>
                                </a:solidFill>
                                <a:latin typeface="Cambria Math" panose="02040503050406030204" pitchFamily="18" charset="0"/>
                              </a:rPr>
                              <m:t>𝑘</m:t>
                            </m:r>
                          </m:e>
                          <m:sub>
                            <m:r>
                              <a:rPr lang="zh-TW" altLang="en-US" i="1">
                                <a:solidFill>
                                  <a:srgbClr val="000000"/>
                                </a:solidFill>
                                <a:latin typeface="Cambria Math" panose="02040503050406030204" pitchFamily="18" charset="0"/>
                              </a:rPr>
                              <m:t>𝑠</m:t>
                            </m:r>
                          </m:sub>
                        </m:sSub>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r>
                              <a:rPr lang="zh-TW" altLang="en-US" i="1">
                                <a:solidFill>
                                  <a:srgbClr val="000000"/>
                                </a:solidFill>
                                <a:latin typeface="Cambria Math" panose="02040503050406030204" pitchFamily="18" charset="0"/>
                              </a:rPr>
                              <m:t>𝑘</m:t>
                            </m:r>
                          </m:e>
                          <m:sub>
                            <m:r>
                              <a:rPr lang="zh-TW" altLang="en-US" i="1">
                                <a:solidFill>
                                  <a:srgbClr val="000000"/>
                                </a:solidFill>
                                <a:latin typeface="Cambria Math" panose="02040503050406030204" pitchFamily="18" charset="0"/>
                              </a:rPr>
                              <m:t>𝑖</m:t>
                            </m:r>
                          </m:sub>
                        </m:sSub>
                      </m:oMath>
                    </m:oMathPara>
                  </a14:m>
                  <a:endParaRPr lang="zh-TW" altLang="en-US" dirty="0"/>
                </a:p>
              </p:txBody>
            </p:sp>
          </mc:Choice>
          <mc:Fallback xmlns="">
            <p:sp>
              <p:nvSpPr>
                <p:cNvPr id="11" name="Object 13">
                  <a:extLst>
                    <a:ext uri="{FF2B5EF4-FFF2-40B4-BE49-F238E27FC236}">
                      <a16:creationId xmlns:a16="http://schemas.microsoft.com/office/drawing/2014/main" id="{4343486A-A268-4FF4-B5D0-B40C38106B53}"/>
                    </a:ext>
                  </a:extLst>
                </p:cNvPr>
                <p:cNvSpPr txBox="1">
                  <a:spLocks noRot="1" noChangeAspect="1" noMove="1" noResize="1" noEditPoints="1" noAdjustHandles="1" noChangeArrowheads="1" noChangeShapeType="1" noTextEdit="1"/>
                </p:cNvSpPr>
                <p:nvPr/>
              </p:nvSpPr>
              <p:spPr bwMode="auto">
                <a:xfrm>
                  <a:off x="-1979788" y="4339124"/>
                  <a:ext cx="1900237" cy="452437"/>
                </a:xfrm>
                <a:prstGeom prst="rect">
                  <a:avLst/>
                </a:prstGeom>
                <a:blipFill>
                  <a:blip r:embed="rId3"/>
                  <a:stretch>
                    <a:fillRect/>
                  </a:stretch>
                </a:blipFill>
              </p:spPr>
              <p:txBody>
                <a:bodyPr/>
                <a:lstStyle/>
                <a:p>
                  <a:r>
                    <a:rPr lang="zh-TW" altLang="en-US">
                      <a:noFill/>
                    </a:rPr>
                    <a:t> </a:t>
                  </a:r>
                </a:p>
              </p:txBody>
            </p:sp>
          </mc:Fallback>
        </mc:AlternateContent>
        <p:sp>
          <p:nvSpPr>
            <p:cNvPr id="12" name="Text Box 3">
              <a:extLst>
                <a:ext uri="{FF2B5EF4-FFF2-40B4-BE49-F238E27FC236}">
                  <a16:creationId xmlns:a16="http://schemas.microsoft.com/office/drawing/2014/main" id="{8483AA5C-4B8B-41A1-BC63-F3070EF09C79}"/>
                </a:ext>
              </a:extLst>
            </p:cNvPr>
            <p:cNvSpPr txBox="1">
              <a:spLocks noChangeArrowheads="1"/>
            </p:cNvSpPr>
            <p:nvPr/>
          </p:nvSpPr>
          <p:spPr bwMode="auto">
            <a:xfrm>
              <a:off x="-1829197" y="3859514"/>
              <a:ext cx="2376264" cy="373063"/>
            </a:xfrm>
            <a:prstGeom prst="rect">
              <a:avLst/>
            </a:prstGeom>
            <a:noFill/>
            <a:ln w="9525">
              <a:noFill/>
              <a:round/>
              <a:headEnd/>
              <a:tailEnd/>
            </a:ln>
            <a:effectLst/>
          </p:spPr>
          <p:txBody>
            <a:bodyPr wrap="none" lIns="90000" tIns="45000" rIns="90000" bIns="45000"/>
            <a:lstStyle/>
            <a:p>
              <a:pPr algn="just">
                <a:lnSpc>
                  <a:spcPct val="93000"/>
                </a:lnSpc>
                <a:tabLst>
                  <a:tab pos="2984500" algn="ctr"/>
                  <a:tab pos="3619500" algn="l"/>
                  <a:tab pos="4343400" algn="l"/>
                  <a:tab pos="5067300" algn="l"/>
                  <a:tab pos="5791200" algn="l"/>
                </a:tabLst>
              </a:pPr>
              <a:r>
                <a:rPr lang="en-US" altLang="zh-TW" b="1" i="1" dirty="0">
                  <a:solidFill>
                    <a:srgbClr val="000000"/>
                  </a:solidFill>
                  <a:latin typeface="Times New Roman" pitchFamily="18" charset="0"/>
                  <a:cs typeface="Times New Roman" pitchFamily="18" charset="0"/>
                </a:rPr>
                <a:t>Phase Mismatch</a:t>
              </a:r>
            </a:p>
          </p:txBody>
        </p:sp>
      </p:grpSp>
      <p:grpSp>
        <p:nvGrpSpPr>
          <p:cNvPr id="19" name="群組 18">
            <a:extLst>
              <a:ext uri="{FF2B5EF4-FFF2-40B4-BE49-F238E27FC236}">
                <a16:creationId xmlns:a16="http://schemas.microsoft.com/office/drawing/2014/main" id="{3E61DAD7-FB48-4465-A643-9E7AF1C0C18D}"/>
              </a:ext>
            </a:extLst>
          </p:cNvPr>
          <p:cNvGrpSpPr/>
          <p:nvPr/>
        </p:nvGrpSpPr>
        <p:grpSpPr>
          <a:xfrm>
            <a:off x="1564479" y="1174843"/>
            <a:ext cx="3603462" cy="1023953"/>
            <a:chOff x="2787911" y="1564121"/>
            <a:chExt cx="6628001" cy="2087727"/>
          </a:xfrm>
        </p:grpSpPr>
        <p:grpSp>
          <p:nvGrpSpPr>
            <p:cNvPr id="20" name="群組 19">
              <a:extLst>
                <a:ext uri="{FF2B5EF4-FFF2-40B4-BE49-F238E27FC236}">
                  <a16:creationId xmlns:a16="http://schemas.microsoft.com/office/drawing/2014/main" id="{B1871717-C8FE-4B6E-B239-9E22AB33FF57}"/>
                </a:ext>
              </a:extLst>
            </p:cNvPr>
            <p:cNvGrpSpPr/>
            <p:nvPr/>
          </p:nvGrpSpPr>
          <p:grpSpPr>
            <a:xfrm>
              <a:off x="3681491" y="1678655"/>
              <a:ext cx="4773215" cy="1659148"/>
              <a:chOff x="0" y="-99642"/>
              <a:chExt cx="4168646" cy="1339507"/>
            </a:xfrm>
          </p:grpSpPr>
          <p:sp>
            <p:nvSpPr>
              <p:cNvPr id="23" name="箭號: 向右 22">
                <a:extLst>
                  <a:ext uri="{FF2B5EF4-FFF2-40B4-BE49-F238E27FC236}">
                    <a16:creationId xmlns:a16="http://schemas.microsoft.com/office/drawing/2014/main" id="{B327DD61-FFF5-4B00-B606-72F4B9AC1F2E}"/>
                  </a:ext>
                </a:extLst>
              </p:cNvPr>
              <p:cNvSpPr/>
              <p:nvPr/>
            </p:nvSpPr>
            <p:spPr>
              <a:xfrm>
                <a:off x="0" y="445254"/>
                <a:ext cx="1162050" cy="44577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24" name="矩形 23">
                <a:extLst>
                  <a:ext uri="{FF2B5EF4-FFF2-40B4-BE49-F238E27FC236}">
                    <a16:creationId xmlns:a16="http://schemas.microsoft.com/office/drawing/2014/main" id="{92958779-C625-4D07-B5EE-9468C366A1B9}"/>
                  </a:ext>
                </a:extLst>
              </p:cNvPr>
              <p:cNvSpPr/>
              <p:nvPr/>
            </p:nvSpPr>
            <p:spPr>
              <a:xfrm>
                <a:off x="1232114" y="15499"/>
                <a:ext cx="1836549" cy="1224366"/>
              </a:xfrm>
              <a:prstGeom prst="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25" name="箭號: 向右 24">
                <a:extLst>
                  <a:ext uri="{FF2B5EF4-FFF2-40B4-BE49-F238E27FC236}">
                    <a16:creationId xmlns:a16="http://schemas.microsoft.com/office/drawing/2014/main" id="{1E510FF2-01B9-4D8C-B74F-7591247ADD97}"/>
                  </a:ext>
                </a:extLst>
              </p:cNvPr>
              <p:cNvSpPr/>
              <p:nvPr/>
            </p:nvSpPr>
            <p:spPr>
              <a:xfrm>
                <a:off x="3169403" y="243776"/>
                <a:ext cx="975995" cy="18146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26" name="箭號: 向右 25">
                <a:extLst>
                  <a:ext uri="{FF2B5EF4-FFF2-40B4-BE49-F238E27FC236}">
                    <a16:creationId xmlns:a16="http://schemas.microsoft.com/office/drawing/2014/main" id="{51471D79-2CC8-486E-9D93-AE075E7ED16D}"/>
                  </a:ext>
                </a:extLst>
              </p:cNvPr>
              <p:cNvSpPr/>
              <p:nvPr/>
            </p:nvSpPr>
            <p:spPr>
              <a:xfrm>
                <a:off x="3192651" y="778467"/>
                <a:ext cx="975995" cy="18146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mc:AlternateContent xmlns:mc="http://schemas.openxmlformats.org/markup-compatibility/2006" xmlns:a14="http://schemas.microsoft.com/office/drawing/2010/main">
            <mc:Choice Requires="a14">
              <p:sp>
                <p:nvSpPr>
                  <p:cNvPr id="27" name="文字方塊 15">
                    <a:extLst>
                      <a:ext uri="{FF2B5EF4-FFF2-40B4-BE49-F238E27FC236}">
                        <a16:creationId xmlns:a16="http://schemas.microsoft.com/office/drawing/2014/main" id="{4E005FB8-D678-49D4-AB51-3E569E433091}"/>
                      </a:ext>
                    </a:extLst>
                  </p:cNvPr>
                  <p:cNvSpPr txBox="1"/>
                  <p:nvPr/>
                </p:nvSpPr>
                <p:spPr>
                  <a:xfrm>
                    <a:off x="145136" y="152615"/>
                    <a:ext cx="759408" cy="3218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𝜔</m:t>
                              </m:r>
                            </m:e>
                            <m:sub>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3</m:t>
                              </m:r>
                            </m:sub>
                          </m:sSub>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27" name="文字方塊 15">
                    <a:extLst>
                      <a:ext uri="{FF2B5EF4-FFF2-40B4-BE49-F238E27FC236}">
                        <a16:creationId xmlns:a16="http://schemas.microsoft.com/office/drawing/2014/main" id="{4E005FB8-D678-49D4-AB51-3E569E433091}"/>
                      </a:ext>
                    </a:extLst>
                  </p:cNvPr>
                  <p:cNvSpPr txBox="1">
                    <a:spLocks noRot="1" noChangeAspect="1" noMove="1" noResize="1" noEditPoints="1" noAdjustHandles="1" noChangeArrowheads="1" noChangeShapeType="1" noTextEdit="1"/>
                  </p:cNvSpPr>
                  <p:nvPr/>
                </p:nvSpPr>
                <p:spPr>
                  <a:xfrm>
                    <a:off x="145136" y="152615"/>
                    <a:ext cx="759408" cy="321875"/>
                  </a:xfrm>
                  <a:prstGeom prst="rect">
                    <a:avLst/>
                  </a:prstGeom>
                  <a:blipFill>
                    <a:blip r:embed="rId5"/>
                    <a:stretch>
                      <a:fillRect b="-31250"/>
                    </a:stretch>
                  </a:blipFill>
                  <a:ln w="6350">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40">
                    <a:extLst>
                      <a:ext uri="{FF2B5EF4-FFF2-40B4-BE49-F238E27FC236}">
                        <a16:creationId xmlns:a16="http://schemas.microsoft.com/office/drawing/2014/main" id="{A84AE090-A510-4A7A-B7E1-0B2D62843568}"/>
                      </a:ext>
                    </a:extLst>
                  </p:cNvPr>
                  <p:cNvSpPr txBox="1"/>
                  <p:nvPr/>
                </p:nvSpPr>
                <p:spPr>
                  <a:xfrm>
                    <a:off x="1891402" y="372709"/>
                    <a:ext cx="759408" cy="3218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p>
                            <m:sSupPr>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𝜒</m:t>
                              </m:r>
                            </m:e>
                            <m:sup>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(2)</m:t>
                              </m:r>
                            </m:sup>
                          </m:sSup>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28" name="文字方塊 240">
                    <a:extLst>
                      <a:ext uri="{FF2B5EF4-FFF2-40B4-BE49-F238E27FC236}">
                        <a16:creationId xmlns:a16="http://schemas.microsoft.com/office/drawing/2014/main" id="{A84AE090-A510-4A7A-B7E1-0B2D62843568}"/>
                      </a:ext>
                    </a:extLst>
                  </p:cNvPr>
                  <p:cNvSpPr txBox="1">
                    <a:spLocks noRot="1" noChangeAspect="1" noMove="1" noResize="1" noEditPoints="1" noAdjustHandles="1" noChangeArrowheads="1" noChangeShapeType="1" noTextEdit="1"/>
                  </p:cNvSpPr>
                  <p:nvPr/>
                </p:nvSpPr>
                <p:spPr>
                  <a:xfrm>
                    <a:off x="1891402" y="372709"/>
                    <a:ext cx="759408" cy="321875"/>
                  </a:xfrm>
                  <a:prstGeom prst="rect">
                    <a:avLst/>
                  </a:prstGeom>
                  <a:blipFill>
                    <a:blip r:embed="rId6"/>
                    <a:stretch>
                      <a:fillRect b="-40625"/>
                    </a:stretch>
                  </a:blipFill>
                  <a:ln w="6350">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43">
                    <a:extLst>
                      <a:ext uri="{FF2B5EF4-FFF2-40B4-BE49-F238E27FC236}">
                        <a16:creationId xmlns:a16="http://schemas.microsoft.com/office/drawing/2014/main" id="{18E46E8E-A70F-4510-BE40-C020A1BDEE56}"/>
                      </a:ext>
                    </a:extLst>
                  </p:cNvPr>
                  <p:cNvSpPr txBox="1"/>
                  <p:nvPr/>
                </p:nvSpPr>
                <p:spPr>
                  <a:xfrm>
                    <a:off x="3278771" y="-99642"/>
                    <a:ext cx="759408" cy="3218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𝜔</m:t>
                              </m:r>
                            </m:e>
                            <m:sub>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1</m:t>
                              </m:r>
                            </m:sub>
                          </m:sSub>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a:spcAft>
                        <a:spcPts val="0"/>
                      </a:spcAft>
                    </a:pPr>
                    <a:r>
                      <a:rPr lang="en-US" sz="1200" i="1"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29" name="文字方塊 243">
                    <a:extLst>
                      <a:ext uri="{FF2B5EF4-FFF2-40B4-BE49-F238E27FC236}">
                        <a16:creationId xmlns:a16="http://schemas.microsoft.com/office/drawing/2014/main" id="{18E46E8E-A70F-4510-BE40-C020A1BDEE56}"/>
                      </a:ext>
                    </a:extLst>
                  </p:cNvPr>
                  <p:cNvSpPr txBox="1">
                    <a:spLocks noRot="1" noChangeAspect="1" noMove="1" noResize="1" noEditPoints="1" noAdjustHandles="1" noChangeArrowheads="1" noChangeShapeType="1" noTextEdit="1"/>
                  </p:cNvSpPr>
                  <p:nvPr/>
                </p:nvSpPr>
                <p:spPr>
                  <a:xfrm>
                    <a:off x="3278771" y="-99642"/>
                    <a:ext cx="759408" cy="321875"/>
                  </a:xfrm>
                  <a:prstGeom prst="rect">
                    <a:avLst/>
                  </a:prstGeom>
                  <a:blipFill>
                    <a:blip r:embed="rId7"/>
                    <a:stretch>
                      <a:fillRect b="-31250"/>
                    </a:stretch>
                  </a:blipFill>
                  <a:ln w="6350">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44">
                    <a:extLst>
                      <a:ext uri="{FF2B5EF4-FFF2-40B4-BE49-F238E27FC236}">
                        <a16:creationId xmlns:a16="http://schemas.microsoft.com/office/drawing/2014/main" id="{1E5D1E64-842C-42D8-8522-ACBB7513B736}"/>
                      </a:ext>
                    </a:extLst>
                  </p:cNvPr>
                  <p:cNvSpPr txBox="1"/>
                  <p:nvPr/>
                </p:nvSpPr>
                <p:spPr>
                  <a:xfrm>
                    <a:off x="3300942" y="422262"/>
                    <a:ext cx="759408" cy="3218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𝜔</m:t>
                              </m:r>
                            </m:e>
                            <m:sub>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2</m:t>
                              </m:r>
                            </m:sub>
                          </m:sSub>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a:spcAft>
                        <a:spcPts val="0"/>
                      </a:spcAft>
                    </a:pPr>
                    <a:r>
                      <a:rPr lang="en-US" sz="1200" i="1"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30" name="文字方塊 244">
                    <a:extLst>
                      <a:ext uri="{FF2B5EF4-FFF2-40B4-BE49-F238E27FC236}">
                        <a16:creationId xmlns:a16="http://schemas.microsoft.com/office/drawing/2014/main" id="{1E5D1E64-842C-42D8-8522-ACBB7513B736}"/>
                      </a:ext>
                    </a:extLst>
                  </p:cNvPr>
                  <p:cNvSpPr txBox="1">
                    <a:spLocks noRot="1" noChangeAspect="1" noMove="1" noResize="1" noEditPoints="1" noAdjustHandles="1" noChangeArrowheads="1" noChangeShapeType="1" noTextEdit="1"/>
                  </p:cNvSpPr>
                  <p:nvPr/>
                </p:nvSpPr>
                <p:spPr>
                  <a:xfrm>
                    <a:off x="3300942" y="422262"/>
                    <a:ext cx="759408" cy="321875"/>
                  </a:xfrm>
                  <a:prstGeom prst="rect">
                    <a:avLst/>
                  </a:prstGeom>
                  <a:blipFill>
                    <a:blip r:embed="rId8"/>
                    <a:stretch>
                      <a:fillRect b="-31250"/>
                    </a:stretch>
                  </a:blipFill>
                  <a:ln w="6350">
                    <a:noFill/>
                  </a:ln>
                </p:spPr>
                <p:txBody>
                  <a:bodyPr/>
                  <a:lstStyle/>
                  <a:p>
                    <a:r>
                      <a:rPr lang="zh-TW" altLang="en-US">
                        <a:noFill/>
                      </a:rPr>
                      <a:t> </a:t>
                    </a:r>
                  </a:p>
                </p:txBody>
              </p:sp>
            </mc:Fallback>
          </mc:AlternateContent>
        </p:grpSp>
        <p:sp>
          <p:nvSpPr>
            <p:cNvPr id="21" name="月亮 20">
              <a:extLst>
                <a:ext uri="{FF2B5EF4-FFF2-40B4-BE49-F238E27FC236}">
                  <a16:creationId xmlns:a16="http://schemas.microsoft.com/office/drawing/2014/main" id="{F3BB79EE-88F2-473E-B11E-D941EE43D4EA}"/>
                </a:ext>
              </a:extLst>
            </p:cNvPr>
            <p:cNvSpPr/>
            <p:nvPr/>
          </p:nvSpPr>
          <p:spPr>
            <a:xfrm>
              <a:off x="2787911" y="1564121"/>
              <a:ext cx="775798" cy="2064778"/>
            </a:xfrm>
            <a:prstGeom prst="mo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 name="月亮 21">
              <a:extLst>
                <a:ext uri="{FF2B5EF4-FFF2-40B4-BE49-F238E27FC236}">
                  <a16:creationId xmlns:a16="http://schemas.microsoft.com/office/drawing/2014/main" id="{5B04CF69-1DE6-4E0D-8797-9E7B5D53DB53}"/>
                </a:ext>
              </a:extLst>
            </p:cNvPr>
            <p:cNvSpPr/>
            <p:nvPr/>
          </p:nvSpPr>
          <p:spPr>
            <a:xfrm rot="10800000">
              <a:off x="8640114" y="1587070"/>
              <a:ext cx="775798" cy="2064778"/>
            </a:xfrm>
            <a:prstGeom prst="mo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8" name="群組 37">
            <a:extLst>
              <a:ext uri="{FF2B5EF4-FFF2-40B4-BE49-F238E27FC236}">
                <a16:creationId xmlns:a16="http://schemas.microsoft.com/office/drawing/2014/main" id="{AF419085-9316-4939-8F5E-CB7904C83727}"/>
              </a:ext>
            </a:extLst>
          </p:cNvPr>
          <p:cNvGrpSpPr/>
          <p:nvPr/>
        </p:nvGrpSpPr>
        <p:grpSpPr>
          <a:xfrm>
            <a:off x="1741125" y="5012399"/>
            <a:ext cx="2315454" cy="1330856"/>
            <a:chOff x="0" y="0"/>
            <a:chExt cx="1751843" cy="1055599"/>
          </a:xfrm>
        </p:grpSpPr>
        <p:cxnSp>
          <p:nvCxnSpPr>
            <p:cNvPr id="39" name="直線接點 38">
              <a:extLst>
                <a:ext uri="{FF2B5EF4-FFF2-40B4-BE49-F238E27FC236}">
                  <a16:creationId xmlns:a16="http://schemas.microsoft.com/office/drawing/2014/main" id="{17A80CD5-9C14-4A43-A58E-4F53EDE84553}"/>
                </a:ext>
              </a:extLst>
            </p:cNvPr>
            <p:cNvCxnSpPr/>
            <p:nvPr/>
          </p:nvCxnSpPr>
          <p:spPr>
            <a:xfrm>
              <a:off x="296672" y="8128"/>
              <a:ext cx="1197735"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0" name="直線接點 39">
              <a:extLst>
                <a:ext uri="{FF2B5EF4-FFF2-40B4-BE49-F238E27FC236}">
                  <a16:creationId xmlns:a16="http://schemas.microsoft.com/office/drawing/2014/main" id="{4CC8CDF7-97B6-4C3D-8182-4D0C08820B37}"/>
                </a:ext>
              </a:extLst>
            </p:cNvPr>
            <p:cNvCxnSpPr/>
            <p:nvPr/>
          </p:nvCxnSpPr>
          <p:spPr>
            <a:xfrm>
              <a:off x="316992" y="922528"/>
              <a:ext cx="1191296" cy="6440"/>
            </a:xfrm>
            <a:prstGeom prst="line">
              <a:avLst/>
            </a:prstGeom>
            <a:ln w="12700"/>
          </p:spPr>
          <p:style>
            <a:lnRef idx="1">
              <a:schemeClr val="dk1"/>
            </a:lnRef>
            <a:fillRef idx="0">
              <a:schemeClr val="dk1"/>
            </a:fillRef>
            <a:effectRef idx="0">
              <a:schemeClr val="dk1"/>
            </a:effectRef>
            <a:fontRef idx="minor">
              <a:schemeClr val="tx1"/>
            </a:fontRef>
          </p:style>
        </p:cxnSp>
        <p:cxnSp>
          <p:nvCxnSpPr>
            <p:cNvPr id="41" name="直線接點 40">
              <a:extLst>
                <a:ext uri="{FF2B5EF4-FFF2-40B4-BE49-F238E27FC236}">
                  <a16:creationId xmlns:a16="http://schemas.microsoft.com/office/drawing/2014/main" id="{5353EFF6-D772-475E-A461-4DB8C25C8BBF}"/>
                </a:ext>
              </a:extLst>
            </p:cNvPr>
            <p:cNvCxnSpPr/>
            <p:nvPr/>
          </p:nvCxnSpPr>
          <p:spPr>
            <a:xfrm>
              <a:off x="963168" y="325120"/>
              <a:ext cx="540876" cy="0"/>
            </a:xfrm>
            <a:prstGeom prst="line">
              <a:avLst/>
            </a:prstGeom>
            <a:ln w="12700"/>
          </p:spPr>
          <p:style>
            <a:lnRef idx="1">
              <a:schemeClr val="dk1"/>
            </a:lnRef>
            <a:fillRef idx="0">
              <a:schemeClr val="dk1"/>
            </a:fillRef>
            <a:effectRef idx="0">
              <a:schemeClr val="dk1"/>
            </a:effectRef>
            <a:fontRef idx="minor">
              <a:schemeClr val="tx1"/>
            </a:fontRef>
          </p:style>
        </p:cxnSp>
        <p:sp>
          <p:nvSpPr>
            <p:cNvPr id="42" name="箭號: 向上 41">
              <a:extLst>
                <a:ext uri="{FF2B5EF4-FFF2-40B4-BE49-F238E27FC236}">
                  <a16:creationId xmlns:a16="http://schemas.microsoft.com/office/drawing/2014/main" id="{42064DF9-8E8F-4589-9EEC-6BBF214BF22F}"/>
                </a:ext>
              </a:extLst>
            </p:cNvPr>
            <p:cNvSpPr/>
            <p:nvPr/>
          </p:nvSpPr>
          <p:spPr>
            <a:xfrm>
              <a:off x="425450" y="14986"/>
              <a:ext cx="244699" cy="90796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3" name="箭號: 向上 42">
              <a:extLst>
                <a:ext uri="{FF2B5EF4-FFF2-40B4-BE49-F238E27FC236}">
                  <a16:creationId xmlns:a16="http://schemas.microsoft.com/office/drawing/2014/main" id="{7B60F9C0-7AEE-460F-AD36-EB4BEB7BCB65}"/>
                </a:ext>
              </a:extLst>
            </p:cNvPr>
            <p:cNvSpPr/>
            <p:nvPr/>
          </p:nvSpPr>
          <p:spPr>
            <a:xfrm rot="10800000">
              <a:off x="1083818" y="24384"/>
              <a:ext cx="173990" cy="291494"/>
            </a:xfrm>
            <a:prstGeom prst="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4" name="箭號: 向上 43">
              <a:extLst>
                <a:ext uri="{FF2B5EF4-FFF2-40B4-BE49-F238E27FC236}">
                  <a16:creationId xmlns:a16="http://schemas.microsoft.com/office/drawing/2014/main" id="{5F4F3CDC-89C5-4B7E-AA74-14FEDB3788CA}"/>
                </a:ext>
              </a:extLst>
            </p:cNvPr>
            <p:cNvSpPr/>
            <p:nvPr/>
          </p:nvSpPr>
          <p:spPr>
            <a:xfrm rot="10800000">
              <a:off x="1083818" y="337312"/>
              <a:ext cx="173990" cy="573110"/>
            </a:xfrm>
            <a:prstGeom prst="upArrow">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mc:AlternateContent xmlns:mc="http://schemas.openxmlformats.org/markup-compatibility/2006" xmlns:a14="http://schemas.microsoft.com/office/drawing/2010/main">
          <mc:Choice Requires="a14">
            <p:sp>
              <p:nvSpPr>
                <p:cNvPr id="45" name="文字方塊 203">
                  <a:extLst>
                    <a:ext uri="{FF2B5EF4-FFF2-40B4-BE49-F238E27FC236}">
                      <a16:creationId xmlns:a16="http://schemas.microsoft.com/office/drawing/2014/main" id="{C769A9C3-C589-4F3C-9082-ADD06234D2EF}"/>
                    </a:ext>
                  </a:extLst>
                </p:cNvPr>
                <p:cNvSpPr txBox="1"/>
                <p:nvPr/>
              </p:nvSpPr>
              <p:spPr>
                <a:xfrm>
                  <a:off x="0" y="272288"/>
                  <a:ext cx="463555" cy="59230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𝜔</m:t>
                            </m:r>
                          </m:e>
                          <m:sub>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3</m:t>
                            </m:r>
                          </m:sub>
                        </m:sSub>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23" name="文字方塊 203">
                  <a:extLst>
                    <a:ext uri="{FF2B5EF4-FFF2-40B4-BE49-F238E27FC236}">
                      <a16:creationId xmlns:a16="http://schemas.microsoft.com/office/drawing/2014/main" id="{ABF7C65B-63F7-4D5D-9988-7031D7D5AB95}"/>
                    </a:ext>
                  </a:extLst>
                </p:cNvPr>
                <p:cNvSpPr txBox="1">
                  <a:spLocks noRot="1" noChangeAspect="1" noMove="1" noResize="1" noEditPoints="1" noAdjustHandles="1" noChangeArrowheads="1" noChangeShapeType="1" noTextEdit="1"/>
                </p:cNvSpPr>
                <p:nvPr/>
              </p:nvSpPr>
              <p:spPr>
                <a:xfrm>
                  <a:off x="0" y="272288"/>
                  <a:ext cx="463555" cy="592303"/>
                </a:xfrm>
                <a:prstGeom prst="rect">
                  <a:avLst/>
                </a:prstGeom>
                <a:blipFill>
                  <a:blip r:embed="rId12"/>
                  <a:stretch>
                    <a:fillRect/>
                  </a:stretch>
                </a:blipFill>
                <a:ln w="6350">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204">
                  <a:extLst>
                    <a:ext uri="{FF2B5EF4-FFF2-40B4-BE49-F238E27FC236}">
                      <a16:creationId xmlns:a16="http://schemas.microsoft.com/office/drawing/2014/main" id="{7EBEC0F8-C3F6-4F80-896C-CEEEF228710C}"/>
                    </a:ext>
                  </a:extLst>
                </p:cNvPr>
                <p:cNvSpPr txBox="1"/>
                <p:nvPr/>
              </p:nvSpPr>
              <p:spPr>
                <a:xfrm>
                  <a:off x="1263904" y="0"/>
                  <a:ext cx="463555" cy="59230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𝜔</m:t>
                            </m:r>
                          </m:e>
                          <m:sub>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1</m:t>
                            </m:r>
                          </m:sub>
                        </m:sSub>
                      </m:oMath>
                    </m:oMathPara>
                  </a14:m>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24" name="文字方塊 204">
                  <a:extLst>
                    <a:ext uri="{FF2B5EF4-FFF2-40B4-BE49-F238E27FC236}">
                      <a16:creationId xmlns:a16="http://schemas.microsoft.com/office/drawing/2014/main" id="{9BAD6618-3661-46B5-A82F-5AB6B066F9FF}"/>
                    </a:ext>
                  </a:extLst>
                </p:cNvPr>
                <p:cNvSpPr txBox="1">
                  <a:spLocks noRot="1" noChangeAspect="1" noMove="1" noResize="1" noEditPoints="1" noAdjustHandles="1" noChangeArrowheads="1" noChangeShapeType="1" noTextEdit="1"/>
                </p:cNvSpPr>
                <p:nvPr/>
              </p:nvSpPr>
              <p:spPr>
                <a:xfrm>
                  <a:off x="1263904" y="0"/>
                  <a:ext cx="463555" cy="592303"/>
                </a:xfrm>
                <a:prstGeom prst="rect">
                  <a:avLst/>
                </a:prstGeom>
                <a:blipFill>
                  <a:blip r:embed="rId13"/>
                  <a:stretch>
                    <a:fillRect/>
                  </a:stretch>
                </a:blipFill>
                <a:ln w="6350">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205">
                  <a:extLst>
                    <a:ext uri="{FF2B5EF4-FFF2-40B4-BE49-F238E27FC236}">
                      <a16:creationId xmlns:a16="http://schemas.microsoft.com/office/drawing/2014/main" id="{7AAD91E4-6EA3-44D7-B274-D5042C90F55F}"/>
                    </a:ext>
                  </a:extLst>
                </p:cNvPr>
                <p:cNvSpPr txBox="1"/>
                <p:nvPr/>
              </p:nvSpPr>
              <p:spPr>
                <a:xfrm>
                  <a:off x="1288288" y="463296"/>
                  <a:ext cx="463555" cy="59230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𝜔</m:t>
                            </m:r>
                          </m:e>
                          <m:sub>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2</m:t>
                            </m:r>
                          </m:sub>
                        </m:sSub>
                      </m:oMath>
                    </m:oMathPara>
                  </a14:m>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25" name="文字方塊 205">
                  <a:extLst>
                    <a:ext uri="{FF2B5EF4-FFF2-40B4-BE49-F238E27FC236}">
                      <a16:creationId xmlns:a16="http://schemas.microsoft.com/office/drawing/2014/main" id="{D81C0654-0F94-457D-B1EA-88C762CC9D58}"/>
                    </a:ext>
                  </a:extLst>
                </p:cNvPr>
                <p:cNvSpPr txBox="1">
                  <a:spLocks noRot="1" noChangeAspect="1" noMove="1" noResize="1" noEditPoints="1" noAdjustHandles="1" noChangeArrowheads="1" noChangeShapeType="1" noTextEdit="1"/>
                </p:cNvSpPr>
                <p:nvPr/>
              </p:nvSpPr>
              <p:spPr>
                <a:xfrm>
                  <a:off x="1288288" y="463296"/>
                  <a:ext cx="463555" cy="592303"/>
                </a:xfrm>
                <a:prstGeom prst="rect">
                  <a:avLst/>
                </a:prstGeom>
                <a:blipFill>
                  <a:blip r:embed="rId14"/>
                  <a:stretch>
                    <a:fillRect/>
                  </a:stretch>
                </a:blipFill>
                <a:ln w="6350">
                  <a:noFill/>
                </a:ln>
              </p:spPr>
              <p:txBody>
                <a:bodyPr/>
                <a:lstStyle/>
                <a:p>
                  <a:r>
                    <a:rPr lang="zh-TW" altLang="en-US">
                      <a:noFill/>
                    </a:rPr>
                    <a:t> </a:t>
                  </a:r>
                </a:p>
              </p:txBody>
            </p:sp>
          </mc:Fallback>
        </mc:AlternateContent>
      </p:grpSp>
      <p:sp>
        <p:nvSpPr>
          <p:cNvPr id="48" name="矩形 47">
            <a:extLst>
              <a:ext uri="{FF2B5EF4-FFF2-40B4-BE49-F238E27FC236}">
                <a16:creationId xmlns:a16="http://schemas.microsoft.com/office/drawing/2014/main" id="{79C88702-B5ED-4064-8F0B-C720E282C65E}"/>
              </a:ext>
            </a:extLst>
          </p:cNvPr>
          <p:cNvSpPr/>
          <p:nvPr/>
        </p:nvSpPr>
        <p:spPr>
          <a:xfrm>
            <a:off x="2056271" y="2735982"/>
            <a:ext cx="2608406" cy="369332"/>
          </a:xfrm>
          <a:prstGeom prst="rect">
            <a:avLst/>
          </a:prstGeom>
        </p:spPr>
        <p:txBody>
          <a:bodyPr wrap="none">
            <a:spAutoFit/>
          </a:bodyPr>
          <a:lstStyle/>
          <a:p>
            <a:r>
              <a:rPr lang="en-US" altLang="zh-TW" dirty="0">
                <a:latin typeface="標楷體" panose="03000509000000000000" pitchFamily="65" charset="-120"/>
                <a:cs typeface="Times New Roman" panose="02020603050405020304" pitchFamily="18" charset="0"/>
              </a:rPr>
              <a:t>1.Energy Conservation</a:t>
            </a:r>
            <a:endParaRPr lang="zh-TW" altLang="en-US" dirty="0"/>
          </a:p>
        </p:txBody>
      </p:sp>
      <p:sp>
        <p:nvSpPr>
          <p:cNvPr id="49" name="矩形 48">
            <a:extLst>
              <a:ext uri="{FF2B5EF4-FFF2-40B4-BE49-F238E27FC236}">
                <a16:creationId xmlns:a16="http://schemas.microsoft.com/office/drawing/2014/main" id="{6F13E478-202B-4EE9-93E9-B604BE0DF4C9}"/>
              </a:ext>
            </a:extLst>
          </p:cNvPr>
          <p:cNvSpPr/>
          <p:nvPr/>
        </p:nvSpPr>
        <p:spPr>
          <a:xfrm>
            <a:off x="2044483" y="3705448"/>
            <a:ext cx="2839239" cy="369332"/>
          </a:xfrm>
          <a:prstGeom prst="rect">
            <a:avLst/>
          </a:prstGeom>
        </p:spPr>
        <p:txBody>
          <a:bodyPr wrap="none">
            <a:spAutoFit/>
          </a:bodyPr>
          <a:lstStyle/>
          <a:p>
            <a:r>
              <a:rPr lang="en-US" altLang="zh-TW" dirty="0">
                <a:latin typeface="標楷體" panose="03000509000000000000" pitchFamily="65" charset="-120"/>
                <a:cs typeface="Times New Roman" panose="02020603050405020304" pitchFamily="18" charset="0"/>
              </a:rPr>
              <a:t>2.Momentum Conservation</a:t>
            </a:r>
            <a:endParaRPr lang="zh-TW" altLang="en-US" dirty="0"/>
          </a:p>
        </p:txBody>
      </p:sp>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EDD9E6A2-4BB6-4982-A880-AFD8C7CD5C33}"/>
                  </a:ext>
                </a:extLst>
              </p:cNvPr>
              <p:cNvSpPr/>
              <p:nvPr/>
            </p:nvSpPr>
            <p:spPr>
              <a:xfrm>
                <a:off x="2044483" y="3183930"/>
                <a:ext cx="16314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latin typeface="Cambria Math" panose="02040503050406030204" pitchFamily="18" charset="0"/>
                            </a:rPr>
                          </m:ctrlPr>
                        </m:sSubPr>
                        <m:e>
                          <m:r>
                            <a:rPr lang="zh-TW" altLang="en-US" i="1">
                              <a:latin typeface="Cambria Math" panose="02040503050406030204" pitchFamily="18" charset="0"/>
                            </a:rPr>
                            <m:t>𝜔</m:t>
                          </m:r>
                        </m:e>
                        <m:sub>
                          <m:r>
                            <a:rPr lang="zh-TW" altLang="en-US" i="0">
                              <a:latin typeface="Cambria Math" panose="02040503050406030204" pitchFamily="18" charset="0"/>
                            </a:rPr>
                            <m:t>3</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𝜔</m:t>
                          </m:r>
                        </m:e>
                        <m:sub>
                          <m:r>
                            <a:rPr lang="zh-TW" altLang="en-US" i="0">
                              <a:latin typeface="Cambria Math" panose="02040503050406030204" pitchFamily="18" charset="0"/>
                            </a:rPr>
                            <m:t>1</m:t>
                          </m:r>
                        </m:sub>
                      </m:sSub>
                      <m:r>
                        <a:rPr lang="zh-TW" altLang="en-US" i="0">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𝜔</m:t>
                          </m:r>
                        </m:e>
                        <m:sub>
                          <m:r>
                            <a:rPr lang="zh-TW" altLang="en-US" i="0">
                              <a:latin typeface="Cambria Math" panose="02040503050406030204" pitchFamily="18" charset="0"/>
                            </a:rPr>
                            <m:t>2</m:t>
                          </m:r>
                        </m:sub>
                      </m:sSub>
                    </m:oMath>
                  </m:oMathPara>
                </a14:m>
                <a:endParaRPr lang="zh-TW" altLang="en-US" dirty="0"/>
              </a:p>
            </p:txBody>
          </p:sp>
        </mc:Choice>
        <mc:Fallback xmlns="">
          <p:sp>
            <p:nvSpPr>
              <p:cNvPr id="50" name="矩形 49">
                <a:extLst>
                  <a:ext uri="{FF2B5EF4-FFF2-40B4-BE49-F238E27FC236}">
                    <a16:creationId xmlns:a16="http://schemas.microsoft.com/office/drawing/2014/main" id="{EDD9E6A2-4BB6-4982-A880-AFD8C7CD5C33}"/>
                  </a:ext>
                </a:extLst>
              </p:cNvPr>
              <p:cNvSpPr>
                <a:spLocks noRot="1" noChangeAspect="1" noMove="1" noResize="1" noEditPoints="1" noAdjustHandles="1" noChangeArrowheads="1" noChangeShapeType="1" noTextEdit="1"/>
              </p:cNvSpPr>
              <p:nvPr/>
            </p:nvSpPr>
            <p:spPr>
              <a:xfrm>
                <a:off x="2044483" y="3183930"/>
                <a:ext cx="1631472" cy="369332"/>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矩形 50">
                <a:extLst>
                  <a:ext uri="{FF2B5EF4-FFF2-40B4-BE49-F238E27FC236}">
                    <a16:creationId xmlns:a16="http://schemas.microsoft.com/office/drawing/2014/main" id="{55A0633A-CBD6-446C-85DE-CAF2E9EA4F35}"/>
                  </a:ext>
                </a:extLst>
              </p:cNvPr>
              <p:cNvSpPr/>
              <p:nvPr/>
            </p:nvSpPr>
            <p:spPr>
              <a:xfrm>
                <a:off x="2050358" y="4212976"/>
                <a:ext cx="1928670" cy="441724"/>
              </a:xfrm>
              <a:prstGeom prst="rect">
                <a:avLst/>
              </a:prstGeom>
            </p:spPr>
            <p:txBody>
              <a:bodyPr wrap="none">
                <a:spAutoFit/>
              </a:bodyPr>
              <a:lstStyle/>
              <a:p>
                <a14:m>
                  <m:oMath xmlns:m="http://schemas.openxmlformats.org/officeDocument/2006/math">
                    <m:box>
                      <m:boxPr>
                        <m:ctrlPr>
                          <a:rPr lang="zh-TW" altLang="zh-TW" i="1" smtClean="0">
                            <a:effectLst/>
                            <a:latin typeface="Cambria Math" panose="02040503050406030204" pitchFamily="18" charset="0"/>
                            <a:ea typeface="Cambria Math" panose="02040503050406030204" pitchFamily="18" charset="0"/>
                          </a:rPr>
                        </m:ctrlPr>
                      </m:boxPr>
                      <m:e>
                        <m:acc>
                          <m:accPr>
                            <m:chr m:val="⃑"/>
                            <m:ctrlPr>
                              <a:rPr lang="zh-TW" altLang="zh-TW" i="1">
                                <a:effectLst/>
                                <a:latin typeface="Cambria Math" panose="02040503050406030204" pitchFamily="18" charset="0"/>
                                <a:ea typeface="Cambria Math" panose="02040503050406030204" pitchFamily="18" charset="0"/>
                              </a:rPr>
                            </m:ctrlPr>
                          </m:accPr>
                          <m:e>
                            <m:sSub>
                              <m:sSubPr>
                                <m:ctrlPr>
                                  <a:rPr lang="zh-TW" altLang="zh-TW" i="1">
                                    <a:effectLst/>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𝑘</m:t>
                                </m:r>
                              </m:e>
                              <m:sub>
                                <m:sSub>
                                  <m:sSubPr>
                                    <m:ctrlPr>
                                      <a:rPr lang="zh-TW" altLang="zh-TW" i="1">
                                        <a:effectLst/>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𝜔</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3</m:t>
                                    </m:r>
                                  </m:sub>
                                </m:sSub>
                              </m:sub>
                            </m:sSub>
                          </m:e>
                        </m:acc>
                      </m:e>
                    </m:box>
                    <m:r>
                      <a:rPr lang="en-US" altLang="zh-TW" i="1">
                        <a:latin typeface="Cambria Math" panose="02040503050406030204" pitchFamily="18" charset="0"/>
                        <a:ea typeface="標楷體" panose="03000509000000000000" pitchFamily="65" charset="-120"/>
                        <a:cs typeface="Times New Roman" panose="02020603050405020304" pitchFamily="18" charset="0"/>
                      </a:rPr>
                      <m:t> </m:t>
                    </m:r>
                  </m:oMath>
                </a14:m>
                <a:r>
                  <a:rPr lang="en-US" altLang="zh-TW" dirty="0">
                    <a:latin typeface="標楷體" panose="03000509000000000000" pitchFamily="65" charset="-120"/>
                    <a:cs typeface="Times New Roman" panose="02020603050405020304" pitchFamily="18" charset="0"/>
                  </a:rPr>
                  <a:t>=</a:t>
                </a:r>
                <a14:m>
                  <m:oMath xmlns:m="http://schemas.openxmlformats.org/officeDocument/2006/math">
                    <m:r>
                      <a:rPr lang="en-US" altLang="zh-TW">
                        <a:latin typeface="Cambria Math" panose="02040503050406030204" pitchFamily="18" charset="0"/>
                        <a:ea typeface="標楷體" panose="03000509000000000000" pitchFamily="65" charset="-120"/>
                        <a:cs typeface="Times New Roman" panose="02020603050405020304" pitchFamily="18" charset="0"/>
                      </a:rPr>
                      <m:t> </m:t>
                    </m:r>
                    <m:box>
                      <m:boxPr>
                        <m:ctrlPr>
                          <a:rPr lang="zh-TW" altLang="zh-TW" i="1">
                            <a:effectLst/>
                            <a:latin typeface="Cambria Math" panose="02040503050406030204" pitchFamily="18" charset="0"/>
                            <a:ea typeface="Cambria Math" panose="02040503050406030204" pitchFamily="18" charset="0"/>
                          </a:rPr>
                        </m:ctrlPr>
                      </m:boxPr>
                      <m:e>
                        <m:acc>
                          <m:accPr>
                            <m:chr m:val="⃑"/>
                            <m:ctrlPr>
                              <a:rPr lang="zh-TW" altLang="zh-TW" i="1">
                                <a:effectLst/>
                                <a:latin typeface="Cambria Math" panose="02040503050406030204" pitchFamily="18" charset="0"/>
                                <a:ea typeface="Cambria Math" panose="02040503050406030204" pitchFamily="18" charset="0"/>
                              </a:rPr>
                            </m:ctrlPr>
                          </m:accPr>
                          <m:e>
                            <m:sSub>
                              <m:sSubPr>
                                <m:ctrlPr>
                                  <a:rPr lang="zh-TW" altLang="zh-TW" i="1">
                                    <a:effectLst/>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𝑘</m:t>
                                </m:r>
                              </m:e>
                              <m:sub>
                                <m:sSub>
                                  <m:sSubPr>
                                    <m:ctrlPr>
                                      <a:rPr lang="zh-TW" altLang="zh-TW" i="1">
                                        <a:effectLst/>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𝜔</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1</m:t>
                                    </m:r>
                                  </m:sub>
                                </m:sSub>
                              </m:sub>
                            </m:sSub>
                          </m:e>
                        </m:acc>
                      </m:e>
                    </m:box>
                    <m:r>
                      <a:rPr lang="en-US" altLang="zh-TW" i="1">
                        <a:latin typeface="Cambria Math" panose="02040503050406030204" pitchFamily="18" charset="0"/>
                        <a:ea typeface="標楷體" panose="03000509000000000000" pitchFamily="65" charset="-120"/>
                        <a:cs typeface="Times New Roman" panose="02020603050405020304" pitchFamily="18" charset="0"/>
                      </a:rPr>
                      <m:t>+ </m:t>
                    </m:r>
                    <m:box>
                      <m:boxPr>
                        <m:ctrlPr>
                          <a:rPr lang="zh-TW" altLang="zh-TW" i="1">
                            <a:effectLst/>
                            <a:latin typeface="Cambria Math" panose="02040503050406030204" pitchFamily="18" charset="0"/>
                            <a:ea typeface="Cambria Math" panose="02040503050406030204" pitchFamily="18" charset="0"/>
                          </a:rPr>
                        </m:ctrlPr>
                      </m:boxPr>
                      <m:e>
                        <m:acc>
                          <m:accPr>
                            <m:chr m:val="⃑"/>
                            <m:ctrlPr>
                              <a:rPr lang="zh-TW" altLang="zh-TW" i="1">
                                <a:effectLst/>
                                <a:latin typeface="Cambria Math" panose="02040503050406030204" pitchFamily="18" charset="0"/>
                                <a:ea typeface="Cambria Math" panose="02040503050406030204" pitchFamily="18" charset="0"/>
                              </a:rPr>
                            </m:ctrlPr>
                          </m:accPr>
                          <m:e>
                            <m:sSub>
                              <m:sSubPr>
                                <m:ctrlPr>
                                  <a:rPr lang="zh-TW" altLang="zh-TW" i="1">
                                    <a:effectLst/>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𝑘</m:t>
                                </m:r>
                              </m:e>
                              <m:sub>
                                <m:sSub>
                                  <m:sSubPr>
                                    <m:ctrlPr>
                                      <a:rPr lang="zh-TW" altLang="zh-TW" i="1">
                                        <a:effectLst/>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標楷體" panose="03000509000000000000" pitchFamily="65" charset="-120"/>
                                        <a:cs typeface="Times New Roman" panose="02020603050405020304" pitchFamily="18" charset="0"/>
                                      </a:rPr>
                                      <m:t>𝜔</m:t>
                                    </m:r>
                                  </m:e>
                                  <m:sub>
                                    <m:r>
                                      <a:rPr lang="en-US" altLang="zh-TW" i="1">
                                        <a:latin typeface="Cambria Math" panose="02040503050406030204" pitchFamily="18" charset="0"/>
                                        <a:ea typeface="標楷體" panose="03000509000000000000" pitchFamily="65" charset="-120"/>
                                        <a:cs typeface="Times New Roman" panose="02020603050405020304" pitchFamily="18" charset="0"/>
                                      </a:rPr>
                                      <m:t>2</m:t>
                                    </m:r>
                                  </m:sub>
                                </m:sSub>
                              </m:sub>
                            </m:sSub>
                          </m:e>
                        </m:acc>
                      </m:e>
                    </m:box>
                  </m:oMath>
                </a14:m>
                <a:r>
                  <a:rPr lang="en-US" altLang="zh-TW" dirty="0">
                    <a:latin typeface="標楷體" panose="03000509000000000000" pitchFamily="65" charset="-120"/>
                    <a:cs typeface="Times New Roman" panose="02020603050405020304" pitchFamily="18" charset="0"/>
                  </a:rPr>
                  <a:t> </a:t>
                </a:r>
                <a:endParaRPr lang="zh-TW" altLang="en-US" dirty="0"/>
              </a:p>
            </p:txBody>
          </p:sp>
        </mc:Choice>
        <mc:Fallback xmlns="">
          <p:sp>
            <p:nvSpPr>
              <p:cNvPr id="51" name="矩形 50">
                <a:extLst>
                  <a:ext uri="{FF2B5EF4-FFF2-40B4-BE49-F238E27FC236}">
                    <a16:creationId xmlns:a16="http://schemas.microsoft.com/office/drawing/2014/main" id="{55A0633A-CBD6-446C-85DE-CAF2E9EA4F35}"/>
                  </a:ext>
                </a:extLst>
              </p:cNvPr>
              <p:cNvSpPr>
                <a:spLocks noRot="1" noChangeAspect="1" noMove="1" noResize="1" noEditPoints="1" noAdjustHandles="1" noChangeArrowheads="1" noChangeShapeType="1" noTextEdit="1"/>
              </p:cNvSpPr>
              <p:nvPr/>
            </p:nvSpPr>
            <p:spPr>
              <a:xfrm>
                <a:off x="2050358" y="4212976"/>
                <a:ext cx="1928670" cy="441724"/>
              </a:xfrm>
              <a:prstGeom prst="rect">
                <a:avLst/>
              </a:prstGeom>
              <a:blipFill>
                <a:blip r:embed="rId16"/>
                <a:stretch>
                  <a:fillRect b="-15068"/>
                </a:stretch>
              </a:blipFill>
            </p:spPr>
            <p:txBody>
              <a:bodyPr/>
              <a:lstStyle/>
              <a:p>
                <a:r>
                  <a:rPr lang="zh-TW" altLang="en-US">
                    <a:noFill/>
                  </a:rPr>
                  <a:t> </a:t>
                </a:r>
              </a:p>
            </p:txBody>
          </p:sp>
        </mc:Fallback>
      </mc:AlternateContent>
      <p:sp>
        <p:nvSpPr>
          <p:cNvPr id="3" name="投影片編號版面配置區 2">
            <a:extLst>
              <a:ext uri="{FF2B5EF4-FFF2-40B4-BE49-F238E27FC236}">
                <a16:creationId xmlns:a16="http://schemas.microsoft.com/office/drawing/2014/main" id="{35DE9686-1356-4549-A525-15751D9BEDEE}"/>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11</a:t>
            </a:fld>
            <a:endParaRPr lang="zh-TW" altLang="en-US"/>
          </a:p>
        </p:txBody>
      </p:sp>
      <p:grpSp>
        <p:nvGrpSpPr>
          <p:cNvPr id="52" name="群組 51"/>
          <p:cNvGrpSpPr/>
          <p:nvPr/>
        </p:nvGrpSpPr>
        <p:grpSpPr>
          <a:xfrm>
            <a:off x="7574827" y="5508323"/>
            <a:ext cx="3015228" cy="970632"/>
            <a:chOff x="0" y="119641"/>
            <a:chExt cx="3452883" cy="860748"/>
          </a:xfrm>
        </p:grpSpPr>
        <p:sp>
          <p:nvSpPr>
            <p:cNvPr id="53" name="箭號: 向右 216"/>
            <p:cNvSpPr/>
            <p:nvPr/>
          </p:nvSpPr>
          <p:spPr>
            <a:xfrm>
              <a:off x="0" y="711259"/>
              <a:ext cx="3452883" cy="764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nvGrpSpPr>
            <p:cNvPr id="54" name="群組 53"/>
            <p:cNvGrpSpPr/>
            <p:nvPr/>
          </p:nvGrpSpPr>
          <p:grpSpPr>
            <a:xfrm>
              <a:off x="17092" y="403611"/>
              <a:ext cx="3430137" cy="58316"/>
              <a:chOff x="0" y="0"/>
              <a:chExt cx="3430137" cy="58316"/>
            </a:xfrm>
            <a:solidFill>
              <a:schemeClr val="accent1">
                <a:lumMod val="50000"/>
              </a:schemeClr>
            </a:solidFill>
          </p:grpSpPr>
          <p:sp>
            <p:nvSpPr>
              <p:cNvPr id="59" name="箭號: 向右 223"/>
              <p:cNvSpPr/>
              <p:nvPr/>
            </p:nvSpPr>
            <p:spPr>
              <a:xfrm>
                <a:off x="1806053" y="0"/>
                <a:ext cx="1624084" cy="58316"/>
              </a:xfrm>
              <a:prstGeom prst="rightArrow">
                <a:avLst/>
              </a:prstGeom>
              <a:solidFill>
                <a:schemeClr val="accent1">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60" name="箭號: 向右 222"/>
              <p:cNvSpPr/>
              <p:nvPr/>
            </p:nvSpPr>
            <p:spPr>
              <a:xfrm>
                <a:off x="1182806" y="0"/>
                <a:ext cx="1624084" cy="58316"/>
              </a:xfrm>
              <a:prstGeom prst="rightArrow">
                <a:avLst/>
              </a:prstGeom>
              <a:solidFill>
                <a:schemeClr val="accent1">
                  <a:lumMod val="60000"/>
                  <a:lumOff val="4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61" name="箭號: 向右 219"/>
              <p:cNvSpPr/>
              <p:nvPr/>
            </p:nvSpPr>
            <p:spPr>
              <a:xfrm>
                <a:off x="0" y="0"/>
                <a:ext cx="1624084" cy="58316"/>
              </a:xfrm>
              <a:prstGeom prst="rightArrow">
                <a:avLst/>
              </a:prstGeom>
              <a:grp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mc:AlternateContent xmlns:mc="http://schemas.openxmlformats.org/markup-compatibility/2006" xmlns:a14="http://schemas.microsoft.com/office/drawing/2010/main">
          <mc:Choice Requires="a14">
            <p:sp>
              <p:nvSpPr>
                <p:cNvPr id="55" name="文字方塊 226"/>
                <p:cNvSpPr txBox="1"/>
                <p:nvPr/>
              </p:nvSpPr>
              <p:spPr>
                <a:xfrm>
                  <a:off x="596818" y="119641"/>
                  <a:ext cx="463555" cy="59195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acc>
                          <m:accPr>
                            <m:chr m:val="⃑"/>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𝑘</m:t>
                                </m:r>
                              </m:e>
                              <m:sub>
                                <m:sSub>
                                  <m:sSubPr>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𝜔</m:t>
                                    </m:r>
                                  </m:e>
                                  <m:sub>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1</m:t>
                                    </m:r>
                                  </m:sub>
                                </m:sSub>
                              </m:sub>
                            </m:sSub>
                          </m:e>
                        </m:acc>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55" name="文字方塊 226"/>
                <p:cNvSpPr txBox="1">
                  <a:spLocks noRot="1" noChangeAspect="1" noMove="1" noResize="1" noEditPoints="1" noAdjustHandles="1" noChangeArrowheads="1" noChangeShapeType="1" noTextEdit="1"/>
                </p:cNvSpPr>
                <p:nvPr/>
              </p:nvSpPr>
              <p:spPr>
                <a:xfrm>
                  <a:off x="596818" y="119641"/>
                  <a:ext cx="463555" cy="591954"/>
                </a:xfrm>
                <a:prstGeom prst="rect">
                  <a:avLst/>
                </a:prstGeom>
                <a:blipFill>
                  <a:blip r:embed="rId17"/>
                  <a:stretch>
                    <a:fillRect/>
                  </a:stretch>
                </a:blipFill>
                <a:ln w="6350">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227"/>
                <p:cNvSpPr txBox="1"/>
                <p:nvPr/>
              </p:nvSpPr>
              <p:spPr>
                <a:xfrm>
                  <a:off x="1970059" y="119641"/>
                  <a:ext cx="463555" cy="59195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acc>
                          <m:accPr>
                            <m:chr m:val="⃑"/>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𝑘</m:t>
                                </m:r>
                              </m:e>
                              <m:sub>
                                <m:sSub>
                                  <m:sSubPr>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𝜔</m:t>
                                    </m:r>
                                  </m:e>
                                  <m:sub>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2</m:t>
                                    </m:r>
                                  </m:sub>
                                </m:sSub>
                              </m:sub>
                            </m:sSub>
                          </m:e>
                        </m:acc>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56" name="文字方塊 227"/>
                <p:cNvSpPr txBox="1">
                  <a:spLocks noRot="1" noChangeAspect="1" noMove="1" noResize="1" noEditPoints="1" noAdjustHandles="1" noChangeArrowheads="1" noChangeShapeType="1" noTextEdit="1"/>
                </p:cNvSpPr>
                <p:nvPr/>
              </p:nvSpPr>
              <p:spPr>
                <a:xfrm>
                  <a:off x="1970059" y="119641"/>
                  <a:ext cx="463555" cy="591954"/>
                </a:xfrm>
                <a:prstGeom prst="rect">
                  <a:avLst/>
                </a:prstGeom>
                <a:blipFill>
                  <a:blip r:embed="rId18"/>
                  <a:stretch>
                    <a:fillRect/>
                  </a:stretch>
                </a:blipFill>
                <a:ln w="6350">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7" name="文字方塊 228"/>
                <p:cNvSpPr txBox="1"/>
                <p:nvPr/>
              </p:nvSpPr>
              <p:spPr>
                <a:xfrm>
                  <a:off x="2888479" y="119641"/>
                  <a:ext cx="463555" cy="307648"/>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acc>
                          <m:accPr>
                            <m:chr m:val="⃑"/>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m:rPr>
                                <m:sty m:val="p"/>
                              </m:rPr>
                              <a:rPr lang="en-US" sz="1200" kern="100">
                                <a:effectLst/>
                                <a:latin typeface="Cambria Math" panose="02040503050406030204" pitchFamily="18" charset="0"/>
                                <a:ea typeface="標楷體" panose="03000509000000000000" pitchFamily="65" charset="-120"/>
                                <a:cs typeface="Times New Roman" panose="02020603050405020304" pitchFamily="18" charset="0"/>
                              </a:rPr>
                              <m:t>Δ</m:t>
                            </m:r>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𝑘</m:t>
                            </m:r>
                          </m:e>
                        </m:acc>
                      </m:oMath>
                    </m:oMathPara>
                  </a14:m>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57" name="文字方塊 228"/>
                <p:cNvSpPr txBox="1">
                  <a:spLocks noRot="1" noChangeAspect="1" noMove="1" noResize="1" noEditPoints="1" noAdjustHandles="1" noChangeArrowheads="1" noChangeShapeType="1" noTextEdit="1"/>
                </p:cNvSpPr>
                <p:nvPr/>
              </p:nvSpPr>
              <p:spPr>
                <a:xfrm>
                  <a:off x="2888479" y="119641"/>
                  <a:ext cx="463555" cy="307648"/>
                </a:xfrm>
                <a:prstGeom prst="rect">
                  <a:avLst/>
                </a:prstGeom>
                <a:blipFill>
                  <a:blip r:embed="rId19"/>
                  <a:stretch>
                    <a:fillRect/>
                  </a:stretch>
                </a:blipFill>
                <a:ln w="6350">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文字方塊 229"/>
                <p:cNvSpPr txBox="1"/>
                <p:nvPr/>
              </p:nvSpPr>
              <p:spPr>
                <a:xfrm>
                  <a:off x="1510007" y="446345"/>
                  <a:ext cx="618072" cy="53404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acc>
                          <m:accPr>
                            <m:chr m:val="⃑"/>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𝑘</m:t>
                                </m:r>
                              </m:e>
                              <m:sub>
                                <m:sSub>
                                  <m:sSubPr>
                                    <m:ctrlPr>
                                      <a:rPr lang="zh-TW" sz="12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𝜔</m:t>
                                    </m:r>
                                  </m:e>
                                  <m:sub>
                                    <m:r>
                                      <a:rPr lang="en-US" sz="1200" i="1" kern="100">
                                        <a:effectLst/>
                                        <a:latin typeface="Cambria Math" panose="02040503050406030204" pitchFamily="18" charset="0"/>
                                        <a:ea typeface="標楷體" panose="03000509000000000000" pitchFamily="65" charset="-120"/>
                                        <a:cs typeface="Times New Roman" panose="02020603050405020304" pitchFamily="18" charset="0"/>
                                      </a:rPr>
                                      <m:t>3</m:t>
                                    </m:r>
                                  </m:sub>
                                </m:sSub>
                              </m:sub>
                            </m:sSub>
                          </m:e>
                        </m:acc>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58" name="文字方塊 229"/>
                <p:cNvSpPr txBox="1">
                  <a:spLocks noRot="1" noChangeAspect="1" noMove="1" noResize="1" noEditPoints="1" noAdjustHandles="1" noChangeArrowheads="1" noChangeShapeType="1" noTextEdit="1"/>
                </p:cNvSpPr>
                <p:nvPr/>
              </p:nvSpPr>
              <p:spPr>
                <a:xfrm>
                  <a:off x="1510007" y="446345"/>
                  <a:ext cx="618072" cy="534044"/>
                </a:xfrm>
                <a:prstGeom prst="rect">
                  <a:avLst/>
                </a:prstGeom>
                <a:blipFill>
                  <a:blip r:embed="rId20"/>
                  <a:stretch>
                    <a:fillRect/>
                  </a:stretch>
                </a:blipFill>
                <a:ln w="6350">
                  <a:noFill/>
                </a:ln>
              </p:spPr>
              <p:txBody>
                <a:bodyPr/>
                <a:lstStyle/>
                <a:p>
                  <a:r>
                    <a:rPr lang="zh-TW" altLang="en-US">
                      <a:noFill/>
                    </a:rPr>
                    <a:t> </a:t>
                  </a:r>
                </a:p>
              </p:txBody>
            </p:sp>
          </mc:Fallback>
        </mc:AlternateContent>
      </p:grpSp>
      <p:grpSp>
        <p:nvGrpSpPr>
          <p:cNvPr id="62" name="群組 61">
            <a:extLst>
              <a:ext uri="{FF2B5EF4-FFF2-40B4-BE49-F238E27FC236}">
                <a16:creationId xmlns:a16="http://schemas.microsoft.com/office/drawing/2014/main" id="{60EFD949-2B64-4C36-BAE5-F5A41FA45BF8}"/>
              </a:ext>
            </a:extLst>
          </p:cNvPr>
          <p:cNvGrpSpPr/>
          <p:nvPr/>
        </p:nvGrpSpPr>
        <p:grpSpPr>
          <a:xfrm>
            <a:off x="7202749" y="998183"/>
            <a:ext cx="4447541" cy="3512185"/>
            <a:chOff x="0" y="0"/>
            <a:chExt cx="4765472" cy="4188429"/>
          </a:xfrm>
        </p:grpSpPr>
        <p:grpSp>
          <p:nvGrpSpPr>
            <p:cNvPr id="63" name="群組 62">
              <a:extLst>
                <a:ext uri="{FF2B5EF4-FFF2-40B4-BE49-F238E27FC236}">
                  <a16:creationId xmlns:a16="http://schemas.microsoft.com/office/drawing/2014/main" id="{B4F0C784-6DD1-4D61-9DC4-A328576301F9}"/>
                </a:ext>
              </a:extLst>
            </p:cNvPr>
            <p:cNvGrpSpPr/>
            <p:nvPr/>
          </p:nvGrpSpPr>
          <p:grpSpPr>
            <a:xfrm>
              <a:off x="339671" y="348066"/>
              <a:ext cx="3853666" cy="3840363"/>
              <a:chOff x="0" y="0"/>
              <a:chExt cx="3853666" cy="3840363"/>
            </a:xfrm>
          </p:grpSpPr>
          <p:grpSp>
            <p:nvGrpSpPr>
              <p:cNvPr id="69" name="群組 68">
                <a:extLst>
                  <a:ext uri="{FF2B5EF4-FFF2-40B4-BE49-F238E27FC236}">
                    <a16:creationId xmlns:a16="http://schemas.microsoft.com/office/drawing/2014/main" id="{AA039A97-6146-4CA9-882D-719B7B92F3E3}"/>
                  </a:ext>
                </a:extLst>
              </p:cNvPr>
              <p:cNvGrpSpPr/>
              <p:nvPr/>
            </p:nvGrpSpPr>
            <p:grpSpPr>
              <a:xfrm>
                <a:off x="0" y="0"/>
                <a:ext cx="3853666" cy="3840363"/>
                <a:chOff x="0" y="0"/>
                <a:chExt cx="3853666" cy="3840363"/>
              </a:xfrm>
            </p:grpSpPr>
            <p:grpSp>
              <p:nvGrpSpPr>
                <p:cNvPr id="78" name="群組 77">
                  <a:extLst>
                    <a:ext uri="{FF2B5EF4-FFF2-40B4-BE49-F238E27FC236}">
                      <a16:creationId xmlns:a16="http://schemas.microsoft.com/office/drawing/2014/main" id="{4A0654BC-D3D2-46E2-B3A6-D4D684D82C5D}"/>
                    </a:ext>
                  </a:extLst>
                </p:cNvPr>
                <p:cNvGrpSpPr/>
                <p:nvPr/>
              </p:nvGrpSpPr>
              <p:grpSpPr>
                <a:xfrm>
                  <a:off x="8106" y="0"/>
                  <a:ext cx="3845560" cy="3517519"/>
                  <a:chOff x="0" y="0"/>
                  <a:chExt cx="3845560" cy="3517519"/>
                </a:xfrm>
              </p:grpSpPr>
              <p:grpSp>
                <p:nvGrpSpPr>
                  <p:cNvPr id="98" name="群組 97">
                    <a:extLst>
                      <a:ext uri="{FF2B5EF4-FFF2-40B4-BE49-F238E27FC236}">
                        <a16:creationId xmlns:a16="http://schemas.microsoft.com/office/drawing/2014/main" id="{28A11ADB-DECA-4391-BFCE-99CD2D8F3160}"/>
                      </a:ext>
                    </a:extLst>
                  </p:cNvPr>
                  <p:cNvGrpSpPr/>
                  <p:nvPr/>
                </p:nvGrpSpPr>
                <p:grpSpPr>
                  <a:xfrm>
                    <a:off x="0" y="0"/>
                    <a:ext cx="3845560" cy="3510915"/>
                    <a:chOff x="0" y="7034"/>
                    <a:chExt cx="3845657" cy="3511022"/>
                  </a:xfrm>
                </p:grpSpPr>
                <p:grpSp>
                  <p:nvGrpSpPr>
                    <p:cNvPr id="100" name="群組 99">
                      <a:extLst>
                        <a:ext uri="{FF2B5EF4-FFF2-40B4-BE49-F238E27FC236}">
                          <a16:creationId xmlns:a16="http://schemas.microsoft.com/office/drawing/2014/main" id="{95B2E468-D922-4D4B-A712-4C5F7A737CCB}"/>
                        </a:ext>
                      </a:extLst>
                    </p:cNvPr>
                    <p:cNvGrpSpPr/>
                    <p:nvPr/>
                  </p:nvGrpSpPr>
                  <p:grpSpPr>
                    <a:xfrm>
                      <a:off x="0" y="45134"/>
                      <a:ext cx="3845657" cy="3052322"/>
                      <a:chOff x="0" y="0"/>
                      <a:chExt cx="3845657" cy="3052322"/>
                    </a:xfrm>
                  </p:grpSpPr>
                  <p:cxnSp>
                    <p:nvCxnSpPr>
                      <p:cNvPr id="107" name="直線單箭頭接點 106">
                        <a:extLst>
                          <a:ext uri="{FF2B5EF4-FFF2-40B4-BE49-F238E27FC236}">
                            <a16:creationId xmlns:a16="http://schemas.microsoft.com/office/drawing/2014/main" id="{E3012439-11CF-4889-BBA1-2E2C08569D85}"/>
                          </a:ext>
                        </a:extLst>
                      </p:cNvPr>
                      <p:cNvCxnSpPr/>
                      <p:nvPr/>
                    </p:nvCxnSpPr>
                    <p:spPr>
                      <a:xfrm flipV="1">
                        <a:off x="0" y="0"/>
                        <a:ext cx="0" cy="30456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E2BDCC54-E678-4B8F-942E-CDC3844C2E86}"/>
                          </a:ext>
                        </a:extLst>
                      </p:cNvPr>
                      <p:cNvCxnSpPr/>
                      <p:nvPr/>
                    </p:nvCxnSpPr>
                    <p:spPr>
                      <a:xfrm>
                        <a:off x="0" y="3045656"/>
                        <a:ext cx="3845657" cy="66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01" name="直線接點 100">
                      <a:extLst>
                        <a:ext uri="{FF2B5EF4-FFF2-40B4-BE49-F238E27FC236}">
                          <a16:creationId xmlns:a16="http://schemas.microsoft.com/office/drawing/2014/main" id="{7E2379C2-74BA-4102-B73E-22FAE3F707A7}"/>
                        </a:ext>
                      </a:extLst>
                    </p:cNvPr>
                    <p:cNvCxnSpPr/>
                    <p:nvPr/>
                  </p:nvCxnSpPr>
                  <p:spPr>
                    <a:xfrm>
                      <a:off x="479474" y="7034"/>
                      <a:ext cx="7034" cy="346426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2" name="直線接點 101">
                      <a:extLst>
                        <a:ext uri="{FF2B5EF4-FFF2-40B4-BE49-F238E27FC236}">
                          <a16:creationId xmlns:a16="http://schemas.microsoft.com/office/drawing/2014/main" id="{7763FE6E-0D41-40EB-995D-475E9A221325}"/>
                        </a:ext>
                      </a:extLst>
                    </p:cNvPr>
                    <p:cNvCxnSpPr/>
                    <p:nvPr/>
                  </p:nvCxnSpPr>
                  <p:spPr>
                    <a:xfrm>
                      <a:off x="980821" y="11098"/>
                      <a:ext cx="0" cy="350695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3" name="直線接點 102">
                      <a:extLst>
                        <a:ext uri="{FF2B5EF4-FFF2-40B4-BE49-F238E27FC236}">
                          <a16:creationId xmlns:a16="http://schemas.microsoft.com/office/drawing/2014/main" id="{00C04352-F415-4356-BEBC-C061AF6BA02E}"/>
                        </a:ext>
                      </a:extLst>
                    </p:cNvPr>
                    <p:cNvCxnSpPr/>
                    <p:nvPr/>
                  </p:nvCxnSpPr>
                  <p:spPr>
                    <a:xfrm>
                      <a:off x="1480312" y="7034"/>
                      <a:ext cx="0" cy="350695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4" name="直線接點 103">
                      <a:extLst>
                        <a:ext uri="{FF2B5EF4-FFF2-40B4-BE49-F238E27FC236}">
                          <a16:creationId xmlns:a16="http://schemas.microsoft.com/office/drawing/2014/main" id="{8F8799CF-66E0-4306-82AE-ABF9FF37BB11}"/>
                        </a:ext>
                      </a:extLst>
                    </p:cNvPr>
                    <p:cNvCxnSpPr/>
                    <p:nvPr/>
                  </p:nvCxnSpPr>
                  <p:spPr>
                    <a:xfrm>
                      <a:off x="1976120" y="7034"/>
                      <a:ext cx="0" cy="350695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5" name="直線接點 104">
                      <a:extLst>
                        <a:ext uri="{FF2B5EF4-FFF2-40B4-BE49-F238E27FC236}">
                          <a16:creationId xmlns:a16="http://schemas.microsoft.com/office/drawing/2014/main" id="{F6A9600A-509B-42A3-96D3-F7428D9019E7}"/>
                        </a:ext>
                      </a:extLst>
                    </p:cNvPr>
                    <p:cNvCxnSpPr/>
                    <p:nvPr/>
                  </p:nvCxnSpPr>
                  <p:spPr>
                    <a:xfrm>
                      <a:off x="2471928" y="11098"/>
                      <a:ext cx="0" cy="350695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6" name="直線接點 105">
                      <a:extLst>
                        <a:ext uri="{FF2B5EF4-FFF2-40B4-BE49-F238E27FC236}">
                          <a16:creationId xmlns:a16="http://schemas.microsoft.com/office/drawing/2014/main" id="{DE4582E4-621F-4F3D-9A64-784AFA18B7C2}"/>
                        </a:ext>
                      </a:extLst>
                    </p:cNvPr>
                    <p:cNvCxnSpPr/>
                    <p:nvPr/>
                  </p:nvCxnSpPr>
                  <p:spPr>
                    <a:xfrm>
                      <a:off x="2964053" y="11098"/>
                      <a:ext cx="0" cy="350695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99" name="直線接點 98">
                    <a:extLst>
                      <a:ext uri="{FF2B5EF4-FFF2-40B4-BE49-F238E27FC236}">
                        <a16:creationId xmlns:a16="http://schemas.microsoft.com/office/drawing/2014/main" id="{547FBA91-454B-47F0-B0F8-9CDFF896303D}"/>
                      </a:ext>
                    </a:extLst>
                  </p:cNvPr>
                  <p:cNvCxnSpPr/>
                  <p:nvPr/>
                </p:nvCxnSpPr>
                <p:spPr>
                  <a:xfrm>
                    <a:off x="3455416" y="10668"/>
                    <a:ext cx="0" cy="350685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9" name="群組 78">
                  <a:extLst>
                    <a:ext uri="{FF2B5EF4-FFF2-40B4-BE49-F238E27FC236}">
                      <a16:creationId xmlns:a16="http://schemas.microsoft.com/office/drawing/2014/main" id="{0D047E44-F541-45E2-BDA7-C915A7390414}"/>
                    </a:ext>
                  </a:extLst>
                </p:cNvPr>
                <p:cNvGrpSpPr/>
                <p:nvPr/>
              </p:nvGrpSpPr>
              <p:grpSpPr>
                <a:xfrm>
                  <a:off x="0" y="3473585"/>
                  <a:ext cx="3467442" cy="366778"/>
                  <a:chOff x="0" y="0"/>
                  <a:chExt cx="3467442" cy="366778"/>
                </a:xfrm>
              </p:grpSpPr>
              <p:sp>
                <p:nvSpPr>
                  <p:cNvPr id="91" name="矩形 90">
                    <a:extLst>
                      <a:ext uri="{FF2B5EF4-FFF2-40B4-BE49-F238E27FC236}">
                        <a16:creationId xmlns:a16="http://schemas.microsoft.com/office/drawing/2014/main" id="{754BD711-E216-41F3-9F76-6EA7DB5F2606}"/>
                      </a:ext>
                    </a:extLst>
                  </p:cNvPr>
                  <p:cNvSpPr/>
                  <p:nvPr/>
                </p:nvSpPr>
                <p:spPr>
                  <a:xfrm>
                    <a:off x="0" y="0"/>
                    <a:ext cx="492369" cy="36677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92" name="矩形 91">
                    <a:extLst>
                      <a:ext uri="{FF2B5EF4-FFF2-40B4-BE49-F238E27FC236}">
                        <a16:creationId xmlns:a16="http://schemas.microsoft.com/office/drawing/2014/main" id="{92AEFA62-90B2-41B6-992F-AD6064D56A42}"/>
                      </a:ext>
                    </a:extLst>
                  </p:cNvPr>
                  <p:cNvSpPr/>
                  <p:nvPr/>
                </p:nvSpPr>
                <p:spPr>
                  <a:xfrm>
                    <a:off x="497059" y="0"/>
                    <a:ext cx="492369" cy="36677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93" name="矩形 92">
                    <a:extLst>
                      <a:ext uri="{FF2B5EF4-FFF2-40B4-BE49-F238E27FC236}">
                        <a16:creationId xmlns:a16="http://schemas.microsoft.com/office/drawing/2014/main" id="{4DF15D8E-D303-442E-8840-FA9411189C94}"/>
                      </a:ext>
                    </a:extLst>
                  </p:cNvPr>
                  <p:cNvSpPr/>
                  <p:nvPr/>
                </p:nvSpPr>
                <p:spPr>
                  <a:xfrm>
                    <a:off x="994117" y="0"/>
                    <a:ext cx="492125" cy="36639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94" name="矩形 93">
                    <a:extLst>
                      <a:ext uri="{FF2B5EF4-FFF2-40B4-BE49-F238E27FC236}">
                        <a16:creationId xmlns:a16="http://schemas.microsoft.com/office/drawing/2014/main" id="{278CDB6A-AD12-445D-A0D9-82D73133C984}"/>
                      </a:ext>
                    </a:extLst>
                  </p:cNvPr>
                  <p:cNvSpPr/>
                  <p:nvPr/>
                </p:nvSpPr>
                <p:spPr>
                  <a:xfrm>
                    <a:off x="1488831" y="0"/>
                    <a:ext cx="492125" cy="36639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95" name="矩形 94">
                    <a:extLst>
                      <a:ext uri="{FF2B5EF4-FFF2-40B4-BE49-F238E27FC236}">
                        <a16:creationId xmlns:a16="http://schemas.microsoft.com/office/drawing/2014/main" id="{5B222C29-CB58-46E1-9A02-52DC82F40C18}"/>
                      </a:ext>
                    </a:extLst>
                  </p:cNvPr>
                  <p:cNvSpPr/>
                  <p:nvPr/>
                </p:nvSpPr>
                <p:spPr>
                  <a:xfrm>
                    <a:off x="1985890" y="0"/>
                    <a:ext cx="492125" cy="36639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96" name="矩形 95">
                    <a:extLst>
                      <a:ext uri="{FF2B5EF4-FFF2-40B4-BE49-F238E27FC236}">
                        <a16:creationId xmlns:a16="http://schemas.microsoft.com/office/drawing/2014/main" id="{272A1846-7B49-415B-B032-BCB98D07048C}"/>
                      </a:ext>
                    </a:extLst>
                  </p:cNvPr>
                  <p:cNvSpPr/>
                  <p:nvPr/>
                </p:nvSpPr>
                <p:spPr>
                  <a:xfrm>
                    <a:off x="2480603" y="0"/>
                    <a:ext cx="492125" cy="36639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97" name="矩形 96">
                    <a:extLst>
                      <a:ext uri="{FF2B5EF4-FFF2-40B4-BE49-F238E27FC236}">
                        <a16:creationId xmlns:a16="http://schemas.microsoft.com/office/drawing/2014/main" id="{DA0AB446-2752-4B75-9695-E8AD131FD2F7}"/>
                      </a:ext>
                    </a:extLst>
                  </p:cNvPr>
                  <p:cNvSpPr/>
                  <p:nvPr/>
                </p:nvSpPr>
                <p:spPr>
                  <a:xfrm>
                    <a:off x="2975317" y="0"/>
                    <a:ext cx="492125" cy="36639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80" name="手繪多邊形: 圖案 79">
                  <a:extLst>
                    <a:ext uri="{FF2B5EF4-FFF2-40B4-BE49-F238E27FC236}">
                      <a16:creationId xmlns:a16="http://schemas.microsoft.com/office/drawing/2014/main" id="{E37E562F-87D5-4DE7-A45C-73C003F97752}"/>
                    </a:ext>
                  </a:extLst>
                </p:cNvPr>
                <p:cNvSpPr/>
                <p:nvPr/>
              </p:nvSpPr>
              <p:spPr>
                <a:xfrm>
                  <a:off x="6577" y="2682356"/>
                  <a:ext cx="3812419" cy="396726"/>
                </a:xfrm>
                <a:custGeom>
                  <a:avLst/>
                  <a:gdLst>
                    <a:gd name="connsiteX0" fmla="*/ 0 w 3812419"/>
                    <a:gd name="connsiteY0" fmla="*/ 396725 h 396726"/>
                    <a:gd name="connsiteX1" fmla="*/ 493486 w 3812419"/>
                    <a:gd name="connsiteY1" fmla="*/ 1 h 396726"/>
                    <a:gd name="connsiteX2" fmla="*/ 991810 w 3812419"/>
                    <a:gd name="connsiteY2" fmla="*/ 396725 h 396726"/>
                    <a:gd name="connsiteX3" fmla="*/ 1490134 w 3812419"/>
                    <a:gd name="connsiteY3" fmla="*/ 4839 h 396726"/>
                    <a:gd name="connsiteX4" fmla="*/ 1988457 w 3812419"/>
                    <a:gd name="connsiteY4" fmla="*/ 396725 h 396726"/>
                    <a:gd name="connsiteX5" fmla="*/ 2486781 w 3812419"/>
                    <a:gd name="connsiteY5" fmla="*/ 1 h 396726"/>
                    <a:gd name="connsiteX6" fmla="*/ 2970591 w 3812419"/>
                    <a:gd name="connsiteY6" fmla="*/ 391887 h 396726"/>
                    <a:gd name="connsiteX7" fmla="*/ 3468915 w 3812419"/>
                    <a:gd name="connsiteY7" fmla="*/ 4839 h 396726"/>
                    <a:gd name="connsiteX8" fmla="*/ 3812419 w 3812419"/>
                    <a:gd name="connsiteY8" fmla="*/ 212877 h 396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12419" h="396726">
                      <a:moveTo>
                        <a:pt x="0" y="396725"/>
                      </a:moveTo>
                      <a:cubicBezTo>
                        <a:pt x="164092" y="198363"/>
                        <a:pt x="328184" y="1"/>
                        <a:pt x="493486" y="1"/>
                      </a:cubicBezTo>
                      <a:cubicBezTo>
                        <a:pt x="658788" y="1"/>
                        <a:pt x="825702" y="395919"/>
                        <a:pt x="991810" y="396725"/>
                      </a:cubicBezTo>
                      <a:cubicBezTo>
                        <a:pt x="1157918" y="397531"/>
                        <a:pt x="1324026" y="4839"/>
                        <a:pt x="1490134" y="4839"/>
                      </a:cubicBezTo>
                      <a:cubicBezTo>
                        <a:pt x="1656242" y="4839"/>
                        <a:pt x="1822349" y="397531"/>
                        <a:pt x="1988457" y="396725"/>
                      </a:cubicBezTo>
                      <a:cubicBezTo>
                        <a:pt x="2154565" y="395919"/>
                        <a:pt x="2323092" y="807"/>
                        <a:pt x="2486781" y="1"/>
                      </a:cubicBezTo>
                      <a:cubicBezTo>
                        <a:pt x="2650470" y="-805"/>
                        <a:pt x="2806902" y="391081"/>
                        <a:pt x="2970591" y="391887"/>
                      </a:cubicBezTo>
                      <a:cubicBezTo>
                        <a:pt x="3134280" y="392693"/>
                        <a:pt x="3328610" y="34674"/>
                        <a:pt x="3468915" y="4839"/>
                      </a:cubicBezTo>
                      <a:cubicBezTo>
                        <a:pt x="3609220" y="-24996"/>
                        <a:pt x="3753556" y="177398"/>
                        <a:pt x="3812419" y="212877"/>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nvGrpSpPr>
                <p:cNvPr id="81" name="群組 80">
                  <a:extLst>
                    <a:ext uri="{FF2B5EF4-FFF2-40B4-BE49-F238E27FC236}">
                      <a16:creationId xmlns:a16="http://schemas.microsoft.com/office/drawing/2014/main" id="{AF5C2DB4-5BD8-45F9-BE62-854F61402EF8}"/>
                    </a:ext>
                  </a:extLst>
                </p:cNvPr>
                <p:cNvGrpSpPr/>
                <p:nvPr/>
              </p:nvGrpSpPr>
              <p:grpSpPr>
                <a:xfrm>
                  <a:off x="500631" y="1877320"/>
                  <a:ext cx="996520" cy="805034"/>
                  <a:chOff x="4520" y="-929"/>
                  <a:chExt cx="996520" cy="805034"/>
                </a:xfrm>
              </p:grpSpPr>
              <p:sp>
                <p:nvSpPr>
                  <p:cNvPr id="89" name="手繪多邊形: 圖案 88">
                    <a:extLst>
                      <a:ext uri="{FF2B5EF4-FFF2-40B4-BE49-F238E27FC236}">
                        <a16:creationId xmlns:a16="http://schemas.microsoft.com/office/drawing/2014/main" id="{94BE7496-6EAB-4DF1-B60D-8FB7B0CCC762}"/>
                      </a:ext>
                    </a:extLst>
                  </p:cNvPr>
                  <p:cNvSpPr/>
                  <p:nvPr/>
                </p:nvSpPr>
                <p:spPr>
                  <a:xfrm rot="10800000">
                    <a:off x="4520" y="407381"/>
                    <a:ext cx="493486" cy="396724"/>
                  </a:xfrm>
                  <a:custGeom>
                    <a:avLst/>
                    <a:gdLst>
                      <a:gd name="connsiteX0" fmla="*/ 0 w 3812419"/>
                      <a:gd name="connsiteY0" fmla="*/ 396725 h 396726"/>
                      <a:gd name="connsiteX1" fmla="*/ 493486 w 3812419"/>
                      <a:gd name="connsiteY1" fmla="*/ 1 h 396726"/>
                      <a:gd name="connsiteX2" fmla="*/ 991810 w 3812419"/>
                      <a:gd name="connsiteY2" fmla="*/ 396725 h 396726"/>
                      <a:gd name="connsiteX3" fmla="*/ 1490134 w 3812419"/>
                      <a:gd name="connsiteY3" fmla="*/ 4839 h 396726"/>
                      <a:gd name="connsiteX4" fmla="*/ 1988457 w 3812419"/>
                      <a:gd name="connsiteY4" fmla="*/ 396725 h 396726"/>
                      <a:gd name="connsiteX5" fmla="*/ 2486781 w 3812419"/>
                      <a:gd name="connsiteY5" fmla="*/ 1 h 396726"/>
                      <a:gd name="connsiteX6" fmla="*/ 2970591 w 3812419"/>
                      <a:gd name="connsiteY6" fmla="*/ 391887 h 396726"/>
                      <a:gd name="connsiteX7" fmla="*/ 3468915 w 3812419"/>
                      <a:gd name="connsiteY7" fmla="*/ 4839 h 396726"/>
                      <a:gd name="connsiteX8" fmla="*/ 3812419 w 3812419"/>
                      <a:gd name="connsiteY8" fmla="*/ 212877 h 396726"/>
                      <a:gd name="connsiteX0" fmla="*/ 0 w 3468915"/>
                      <a:gd name="connsiteY0" fmla="*/ 396725 h 396726"/>
                      <a:gd name="connsiteX1" fmla="*/ 493486 w 3468915"/>
                      <a:gd name="connsiteY1" fmla="*/ 1 h 396726"/>
                      <a:gd name="connsiteX2" fmla="*/ 991810 w 3468915"/>
                      <a:gd name="connsiteY2" fmla="*/ 396725 h 396726"/>
                      <a:gd name="connsiteX3" fmla="*/ 1490134 w 3468915"/>
                      <a:gd name="connsiteY3" fmla="*/ 4839 h 396726"/>
                      <a:gd name="connsiteX4" fmla="*/ 1988457 w 3468915"/>
                      <a:gd name="connsiteY4" fmla="*/ 396725 h 396726"/>
                      <a:gd name="connsiteX5" fmla="*/ 2486781 w 3468915"/>
                      <a:gd name="connsiteY5" fmla="*/ 1 h 396726"/>
                      <a:gd name="connsiteX6" fmla="*/ 2970591 w 3468915"/>
                      <a:gd name="connsiteY6" fmla="*/ 391887 h 396726"/>
                      <a:gd name="connsiteX7" fmla="*/ 3468915 w 3468915"/>
                      <a:gd name="connsiteY7" fmla="*/ 4839 h 396726"/>
                      <a:gd name="connsiteX0" fmla="*/ 0 w 2970591"/>
                      <a:gd name="connsiteY0" fmla="*/ 396725 h 396726"/>
                      <a:gd name="connsiteX1" fmla="*/ 493486 w 2970591"/>
                      <a:gd name="connsiteY1" fmla="*/ 1 h 396726"/>
                      <a:gd name="connsiteX2" fmla="*/ 991810 w 2970591"/>
                      <a:gd name="connsiteY2" fmla="*/ 396725 h 396726"/>
                      <a:gd name="connsiteX3" fmla="*/ 1490134 w 2970591"/>
                      <a:gd name="connsiteY3" fmla="*/ 4839 h 396726"/>
                      <a:gd name="connsiteX4" fmla="*/ 1988457 w 2970591"/>
                      <a:gd name="connsiteY4" fmla="*/ 396725 h 396726"/>
                      <a:gd name="connsiteX5" fmla="*/ 2486781 w 2970591"/>
                      <a:gd name="connsiteY5" fmla="*/ 1 h 396726"/>
                      <a:gd name="connsiteX6" fmla="*/ 2970591 w 2970591"/>
                      <a:gd name="connsiteY6" fmla="*/ 391887 h 396726"/>
                      <a:gd name="connsiteX0" fmla="*/ 0 w 2486781"/>
                      <a:gd name="connsiteY0" fmla="*/ 396724 h 396725"/>
                      <a:gd name="connsiteX1" fmla="*/ 493486 w 2486781"/>
                      <a:gd name="connsiteY1" fmla="*/ 0 h 396725"/>
                      <a:gd name="connsiteX2" fmla="*/ 991810 w 2486781"/>
                      <a:gd name="connsiteY2" fmla="*/ 396724 h 396725"/>
                      <a:gd name="connsiteX3" fmla="*/ 1490134 w 2486781"/>
                      <a:gd name="connsiteY3" fmla="*/ 4838 h 396725"/>
                      <a:gd name="connsiteX4" fmla="*/ 1988457 w 2486781"/>
                      <a:gd name="connsiteY4" fmla="*/ 396724 h 396725"/>
                      <a:gd name="connsiteX5" fmla="*/ 2486781 w 2486781"/>
                      <a:gd name="connsiteY5" fmla="*/ 0 h 396725"/>
                      <a:gd name="connsiteX0" fmla="*/ 0 w 1988457"/>
                      <a:gd name="connsiteY0" fmla="*/ 396724 h 396725"/>
                      <a:gd name="connsiteX1" fmla="*/ 493486 w 1988457"/>
                      <a:gd name="connsiteY1" fmla="*/ 0 h 396725"/>
                      <a:gd name="connsiteX2" fmla="*/ 991810 w 1988457"/>
                      <a:gd name="connsiteY2" fmla="*/ 396724 h 396725"/>
                      <a:gd name="connsiteX3" fmla="*/ 1490134 w 1988457"/>
                      <a:gd name="connsiteY3" fmla="*/ 4838 h 396725"/>
                      <a:gd name="connsiteX4" fmla="*/ 1988457 w 1988457"/>
                      <a:gd name="connsiteY4" fmla="*/ 396724 h 396725"/>
                      <a:gd name="connsiteX0" fmla="*/ 0 w 1490134"/>
                      <a:gd name="connsiteY0" fmla="*/ 396724 h 396725"/>
                      <a:gd name="connsiteX1" fmla="*/ 493486 w 1490134"/>
                      <a:gd name="connsiteY1" fmla="*/ 0 h 396725"/>
                      <a:gd name="connsiteX2" fmla="*/ 991810 w 1490134"/>
                      <a:gd name="connsiteY2" fmla="*/ 396724 h 396725"/>
                      <a:gd name="connsiteX3" fmla="*/ 1490134 w 1490134"/>
                      <a:gd name="connsiteY3" fmla="*/ 4838 h 396725"/>
                      <a:gd name="connsiteX0" fmla="*/ 0 w 991810"/>
                      <a:gd name="connsiteY0" fmla="*/ 396724 h 396724"/>
                      <a:gd name="connsiteX1" fmla="*/ 493486 w 991810"/>
                      <a:gd name="connsiteY1" fmla="*/ 0 h 396724"/>
                      <a:gd name="connsiteX2" fmla="*/ 991810 w 991810"/>
                      <a:gd name="connsiteY2" fmla="*/ 396724 h 396724"/>
                      <a:gd name="connsiteX0" fmla="*/ 0 w 493486"/>
                      <a:gd name="connsiteY0" fmla="*/ 396724 h 396724"/>
                      <a:gd name="connsiteX1" fmla="*/ 493486 w 493486"/>
                      <a:gd name="connsiteY1" fmla="*/ 0 h 396724"/>
                    </a:gdLst>
                    <a:ahLst/>
                    <a:cxnLst>
                      <a:cxn ang="0">
                        <a:pos x="connsiteX0" y="connsiteY0"/>
                      </a:cxn>
                      <a:cxn ang="0">
                        <a:pos x="connsiteX1" y="connsiteY1"/>
                      </a:cxn>
                    </a:cxnLst>
                    <a:rect l="l" t="t" r="r" b="b"/>
                    <a:pathLst>
                      <a:path w="493486" h="396724">
                        <a:moveTo>
                          <a:pt x="0" y="396724"/>
                        </a:moveTo>
                        <a:cubicBezTo>
                          <a:pt x="164092" y="198362"/>
                          <a:pt x="328184" y="0"/>
                          <a:pt x="493486"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90" name="手繪多邊形: 圖案 89">
                    <a:extLst>
                      <a:ext uri="{FF2B5EF4-FFF2-40B4-BE49-F238E27FC236}">
                        <a16:creationId xmlns:a16="http://schemas.microsoft.com/office/drawing/2014/main" id="{2EF5EB00-6E81-4214-B309-832D342F70B0}"/>
                      </a:ext>
                    </a:extLst>
                  </p:cNvPr>
                  <p:cNvSpPr/>
                  <p:nvPr/>
                </p:nvSpPr>
                <p:spPr>
                  <a:xfrm>
                    <a:off x="507554" y="-929"/>
                    <a:ext cx="493486" cy="396724"/>
                  </a:xfrm>
                  <a:custGeom>
                    <a:avLst/>
                    <a:gdLst>
                      <a:gd name="connsiteX0" fmla="*/ 0 w 3812419"/>
                      <a:gd name="connsiteY0" fmla="*/ 396725 h 396726"/>
                      <a:gd name="connsiteX1" fmla="*/ 493486 w 3812419"/>
                      <a:gd name="connsiteY1" fmla="*/ 1 h 396726"/>
                      <a:gd name="connsiteX2" fmla="*/ 991810 w 3812419"/>
                      <a:gd name="connsiteY2" fmla="*/ 396725 h 396726"/>
                      <a:gd name="connsiteX3" fmla="*/ 1490134 w 3812419"/>
                      <a:gd name="connsiteY3" fmla="*/ 4839 h 396726"/>
                      <a:gd name="connsiteX4" fmla="*/ 1988457 w 3812419"/>
                      <a:gd name="connsiteY4" fmla="*/ 396725 h 396726"/>
                      <a:gd name="connsiteX5" fmla="*/ 2486781 w 3812419"/>
                      <a:gd name="connsiteY5" fmla="*/ 1 h 396726"/>
                      <a:gd name="connsiteX6" fmla="*/ 2970591 w 3812419"/>
                      <a:gd name="connsiteY6" fmla="*/ 391887 h 396726"/>
                      <a:gd name="connsiteX7" fmla="*/ 3468915 w 3812419"/>
                      <a:gd name="connsiteY7" fmla="*/ 4839 h 396726"/>
                      <a:gd name="connsiteX8" fmla="*/ 3812419 w 3812419"/>
                      <a:gd name="connsiteY8" fmla="*/ 212877 h 396726"/>
                      <a:gd name="connsiteX0" fmla="*/ 0 w 3468915"/>
                      <a:gd name="connsiteY0" fmla="*/ 396725 h 396726"/>
                      <a:gd name="connsiteX1" fmla="*/ 493486 w 3468915"/>
                      <a:gd name="connsiteY1" fmla="*/ 1 h 396726"/>
                      <a:gd name="connsiteX2" fmla="*/ 991810 w 3468915"/>
                      <a:gd name="connsiteY2" fmla="*/ 396725 h 396726"/>
                      <a:gd name="connsiteX3" fmla="*/ 1490134 w 3468915"/>
                      <a:gd name="connsiteY3" fmla="*/ 4839 h 396726"/>
                      <a:gd name="connsiteX4" fmla="*/ 1988457 w 3468915"/>
                      <a:gd name="connsiteY4" fmla="*/ 396725 h 396726"/>
                      <a:gd name="connsiteX5" fmla="*/ 2486781 w 3468915"/>
                      <a:gd name="connsiteY5" fmla="*/ 1 h 396726"/>
                      <a:gd name="connsiteX6" fmla="*/ 2970591 w 3468915"/>
                      <a:gd name="connsiteY6" fmla="*/ 391887 h 396726"/>
                      <a:gd name="connsiteX7" fmla="*/ 3468915 w 3468915"/>
                      <a:gd name="connsiteY7" fmla="*/ 4839 h 396726"/>
                      <a:gd name="connsiteX0" fmla="*/ 0 w 2970591"/>
                      <a:gd name="connsiteY0" fmla="*/ 396725 h 396726"/>
                      <a:gd name="connsiteX1" fmla="*/ 493486 w 2970591"/>
                      <a:gd name="connsiteY1" fmla="*/ 1 h 396726"/>
                      <a:gd name="connsiteX2" fmla="*/ 991810 w 2970591"/>
                      <a:gd name="connsiteY2" fmla="*/ 396725 h 396726"/>
                      <a:gd name="connsiteX3" fmla="*/ 1490134 w 2970591"/>
                      <a:gd name="connsiteY3" fmla="*/ 4839 h 396726"/>
                      <a:gd name="connsiteX4" fmla="*/ 1988457 w 2970591"/>
                      <a:gd name="connsiteY4" fmla="*/ 396725 h 396726"/>
                      <a:gd name="connsiteX5" fmla="*/ 2486781 w 2970591"/>
                      <a:gd name="connsiteY5" fmla="*/ 1 h 396726"/>
                      <a:gd name="connsiteX6" fmla="*/ 2970591 w 2970591"/>
                      <a:gd name="connsiteY6" fmla="*/ 391887 h 396726"/>
                      <a:gd name="connsiteX0" fmla="*/ 0 w 2486781"/>
                      <a:gd name="connsiteY0" fmla="*/ 396724 h 396725"/>
                      <a:gd name="connsiteX1" fmla="*/ 493486 w 2486781"/>
                      <a:gd name="connsiteY1" fmla="*/ 0 h 396725"/>
                      <a:gd name="connsiteX2" fmla="*/ 991810 w 2486781"/>
                      <a:gd name="connsiteY2" fmla="*/ 396724 h 396725"/>
                      <a:gd name="connsiteX3" fmla="*/ 1490134 w 2486781"/>
                      <a:gd name="connsiteY3" fmla="*/ 4838 h 396725"/>
                      <a:gd name="connsiteX4" fmla="*/ 1988457 w 2486781"/>
                      <a:gd name="connsiteY4" fmla="*/ 396724 h 396725"/>
                      <a:gd name="connsiteX5" fmla="*/ 2486781 w 2486781"/>
                      <a:gd name="connsiteY5" fmla="*/ 0 h 396725"/>
                      <a:gd name="connsiteX0" fmla="*/ 0 w 1988457"/>
                      <a:gd name="connsiteY0" fmla="*/ 396724 h 396725"/>
                      <a:gd name="connsiteX1" fmla="*/ 493486 w 1988457"/>
                      <a:gd name="connsiteY1" fmla="*/ 0 h 396725"/>
                      <a:gd name="connsiteX2" fmla="*/ 991810 w 1988457"/>
                      <a:gd name="connsiteY2" fmla="*/ 396724 h 396725"/>
                      <a:gd name="connsiteX3" fmla="*/ 1490134 w 1988457"/>
                      <a:gd name="connsiteY3" fmla="*/ 4838 h 396725"/>
                      <a:gd name="connsiteX4" fmla="*/ 1988457 w 1988457"/>
                      <a:gd name="connsiteY4" fmla="*/ 396724 h 396725"/>
                      <a:gd name="connsiteX0" fmla="*/ 0 w 1490134"/>
                      <a:gd name="connsiteY0" fmla="*/ 396724 h 396725"/>
                      <a:gd name="connsiteX1" fmla="*/ 493486 w 1490134"/>
                      <a:gd name="connsiteY1" fmla="*/ 0 h 396725"/>
                      <a:gd name="connsiteX2" fmla="*/ 991810 w 1490134"/>
                      <a:gd name="connsiteY2" fmla="*/ 396724 h 396725"/>
                      <a:gd name="connsiteX3" fmla="*/ 1490134 w 1490134"/>
                      <a:gd name="connsiteY3" fmla="*/ 4838 h 396725"/>
                      <a:gd name="connsiteX0" fmla="*/ 0 w 991810"/>
                      <a:gd name="connsiteY0" fmla="*/ 396724 h 396724"/>
                      <a:gd name="connsiteX1" fmla="*/ 493486 w 991810"/>
                      <a:gd name="connsiteY1" fmla="*/ 0 h 396724"/>
                      <a:gd name="connsiteX2" fmla="*/ 991810 w 991810"/>
                      <a:gd name="connsiteY2" fmla="*/ 396724 h 396724"/>
                      <a:gd name="connsiteX0" fmla="*/ 0 w 493486"/>
                      <a:gd name="connsiteY0" fmla="*/ 396724 h 396724"/>
                      <a:gd name="connsiteX1" fmla="*/ 493486 w 493486"/>
                      <a:gd name="connsiteY1" fmla="*/ 0 h 396724"/>
                    </a:gdLst>
                    <a:ahLst/>
                    <a:cxnLst>
                      <a:cxn ang="0">
                        <a:pos x="connsiteX0" y="connsiteY0"/>
                      </a:cxn>
                      <a:cxn ang="0">
                        <a:pos x="connsiteX1" y="connsiteY1"/>
                      </a:cxn>
                    </a:cxnLst>
                    <a:rect l="l" t="t" r="r" b="b"/>
                    <a:pathLst>
                      <a:path w="493486" h="396724">
                        <a:moveTo>
                          <a:pt x="0" y="396724"/>
                        </a:moveTo>
                        <a:cubicBezTo>
                          <a:pt x="164092" y="198362"/>
                          <a:pt x="328184" y="0"/>
                          <a:pt x="493486"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82" name="群組 81">
                  <a:extLst>
                    <a:ext uri="{FF2B5EF4-FFF2-40B4-BE49-F238E27FC236}">
                      <a16:creationId xmlns:a16="http://schemas.microsoft.com/office/drawing/2014/main" id="{701EFF61-7ACE-410F-9926-1F825E871AEA}"/>
                    </a:ext>
                  </a:extLst>
                </p:cNvPr>
                <p:cNvGrpSpPr/>
                <p:nvPr/>
              </p:nvGrpSpPr>
              <p:grpSpPr>
                <a:xfrm>
                  <a:off x="1481892" y="1083870"/>
                  <a:ext cx="993412" cy="793450"/>
                  <a:chOff x="-6440" y="-6439"/>
                  <a:chExt cx="993412" cy="793450"/>
                </a:xfrm>
              </p:grpSpPr>
              <p:sp>
                <p:nvSpPr>
                  <p:cNvPr id="87" name="手繪多邊形: 圖案 86">
                    <a:extLst>
                      <a:ext uri="{FF2B5EF4-FFF2-40B4-BE49-F238E27FC236}">
                        <a16:creationId xmlns:a16="http://schemas.microsoft.com/office/drawing/2014/main" id="{AB604CD7-99DB-4EAD-8A5C-20B3665AB7B7}"/>
                      </a:ext>
                    </a:extLst>
                  </p:cNvPr>
                  <p:cNvSpPr/>
                  <p:nvPr/>
                </p:nvSpPr>
                <p:spPr>
                  <a:xfrm rot="10800000">
                    <a:off x="-6440" y="390287"/>
                    <a:ext cx="493486" cy="396724"/>
                  </a:xfrm>
                  <a:custGeom>
                    <a:avLst/>
                    <a:gdLst>
                      <a:gd name="connsiteX0" fmla="*/ 0 w 3812419"/>
                      <a:gd name="connsiteY0" fmla="*/ 396725 h 396726"/>
                      <a:gd name="connsiteX1" fmla="*/ 493486 w 3812419"/>
                      <a:gd name="connsiteY1" fmla="*/ 1 h 396726"/>
                      <a:gd name="connsiteX2" fmla="*/ 991810 w 3812419"/>
                      <a:gd name="connsiteY2" fmla="*/ 396725 h 396726"/>
                      <a:gd name="connsiteX3" fmla="*/ 1490134 w 3812419"/>
                      <a:gd name="connsiteY3" fmla="*/ 4839 h 396726"/>
                      <a:gd name="connsiteX4" fmla="*/ 1988457 w 3812419"/>
                      <a:gd name="connsiteY4" fmla="*/ 396725 h 396726"/>
                      <a:gd name="connsiteX5" fmla="*/ 2486781 w 3812419"/>
                      <a:gd name="connsiteY5" fmla="*/ 1 h 396726"/>
                      <a:gd name="connsiteX6" fmla="*/ 2970591 w 3812419"/>
                      <a:gd name="connsiteY6" fmla="*/ 391887 h 396726"/>
                      <a:gd name="connsiteX7" fmla="*/ 3468915 w 3812419"/>
                      <a:gd name="connsiteY7" fmla="*/ 4839 h 396726"/>
                      <a:gd name="connsiteX8" fmla="*/ 3812419 w 3812419"/>
                      <a:gd name="connsiteY8" fmla="*/ 212877 h 396726"/>
                      <a:gd name="connsiteX0" fmla="*/ 0 w 3468915"/>
                      <a:gd name="connsiteY0" fmla="*/ 396725 h 396726"/>
                      <a:gd name="connsiteX1" fmla="*/ 493486 w 3468915"/>
                      <a:gd name="connsiteY1" fmla="*/ 1 h 396726"/>
                      <a:gd name="connsiteX2" fmla="*/ 991810 w 3468915"/>
                      <a:gd name="connsiteY2" fmla="*/ 396725 h 396726"/>
                      <a:gd name="connsiteX3" fmla="*/ 1490134 w 3468915"/>
                      <a:gd name="connsiteY3" fmla="*/ 4839 h 396726"/>
                      <a:gd name="connsiteX4" fmla="*/ 1988457 w 3468915"/>
                      <a:gd name="connsiteY4" fmla="*/ 396725 h 396726"/>
                      <a:gd name="connsiteX5" fmla="*/ 2486781 w 3468915"/>
                      <a:gd name="connsiteY5" fmla="*/ 1 h 396726"/>
                      <a:gd name="connsiteX6" fmla="*/ 2970591 w 3468915"/>
                      <a:gd name="connsiteY6" fmla="*/ 391887 h 396726"/>
                      <a:gd name="connsiteX7" fmla="*/ 3468915 w 3468915"/>
                      <a:gd name="connsiteY7" fmla="*/ 4839 h 396726"/>
                      <a:gd name="connsiteX0" fmla="*/ 0 w 2970591"/>
                      <a:gd name="connsiteY0" fmla="*/ 396725 h 396726"/>
                      <a:gd name="connsiteX1" fmla="*/ 493486 w 2970591"/>
                      <a:gd name="connsiteY1" fmla="*/ 1 h 396726"/>
                      <a:gd name="connsiteX2" fmla="*/ 991810 w 2970591"/>
                      <a:gd name="connsiteY2" fmla="*/ 396725 h 396726"/>
                      <a:gd name="connsiteX3" fmla="*/ 1490134 w 2970591"/>
                      <a:gd name="connsiteY3" fmla="*/ 4839 h 396726"/>
                      <a:gd name="connsiteX4" fmla="*/ 1988457 w 2970591"/>
                      <a:gd name="connsiteY4" fmla="*/ 396725 h 396726"/>
                      <a:gd name="connsiteX5" fmla="*/ 2486781 w 2970591"/>
                      <a:gd name="connsiteY5" fmla="*/ 1 h 396726"/>
                      <a:gd name="connsiteX6" fmla="*/ 2970591 w 2970591"/>
                      <a:gd name="connsiteY6" fmla="*/ 391887 h 396726"/>
                      <a:gd name="connsiteX0" fmla="*/ 0 w 2486781"/>
                      <a:gd name="connsiteY0" fmla="*/ 396724 h 396725"/>
                      <a:gd name="connsiteX1" fmla="*/ 493486 w 2486781"/>
                      <a:gd name="connsiteY1" fmla="*/ 0 h 396725"/>
                      <a:gd name="connsiteX2" fmla="*/ 991810 w 2486781"/>
                      <a:gd name="connsiteY2" fmla="*/ 396724 h 396725"/>
                      <a:gd name="connsiteX3" fmla="*/ 1490134 w 2486781"/>
                      <a:gd name="connsiteY3" fmla="*/ 4838 h 396725"/>
                      <a:gd name="connsiteX4" fmla="*/ 1988457 w 2486781"/>
                      <a:gd name="connsiteY4" fmla="*/ 396724 h 396725"/>
                      <a:gd name="connsiteX5" fmla="*/ 2486781 w 2486781"/>
                      <a:gd name="connsiteY5" fmla="*/ 0 h 396725"/>
                      <a:gd name="connsiteX0" fmla="*/ 0 w 1988457"/>
                      <a:gd name="connsiteY0" fmla="*/ 396724 h 396725"/>
                      <a:gd name="connsiteX1" fmla="*/ 493486 w 1988457"/>
                      <a:gd name="connsiteY1" fmla="*/ 0 h 396725"/>
                      <a:gd name="connsiteX2" fmla="*/ 991810 w 1988457"/>
                      <a:gd name="connsiteY2" fmla="*/ 396724 h 396725"/>
                      <a:gd name="connsiteX3" fmla="*/ 1490134 w 1988457"/>
                      <a:gd name="connsiteY3" fmla="*/ 4838 h 396725"/>
                      <a:gd name="connsiteX4" fmla="*/ 1988457 w 1988457"/>
                      <a:gd name="connsiteY4" fmla="*/ 396724 h 396725"/>
                      <a:gd name="connsiteX0" fmla="*/ 0 w 1490134"/>
                      <a:gd name="connsiteY0" fmla="*/ 396724 h 396725"/>
                      <a:gd name="connsiteX1" fmla="*/ 493486 w 1490134"/>
                      <a:gd name="connsiteY1" fmla="*/ 0 h 396725"/>
                      <a:gd name="connsiteX2" fmla="*/ 991810 w 1490134"/>
                      <a:gd name="connsiteY2" fmla="*/ 396724 h 396725"/>
                      <a:gd name="connsiteX3" fmla="*/ 1490134 w 1490134"/>
                      <a:gd name="connsiteY3" fmla="*/ 4838 h 396725"/>
                      <a:gd name="connsiteX0" fmla="*/ 0 w 991810"/>
                      <a:gd name="connsiteY0" fmla="*/ 396724 h 396724"/>
                      <a:gd name="connsiteX1" fmla="*/ 493486 w 991810"/>
                      <a:gd name="connsiteY1" fmla="*/ 0 h 396724"/>
                      <a:gd name="connsiteX2" fmla="*/ 991810 w 991810"/>
                      <a:gd name="connsiteY2" fmla="*/ 396724 h 396724"/>
                      <a:gd name="connsiteX0" fmla="*/ 0 w 493486"/>
                      <a:gd name="connsiteY0" fmla="*/ 396724 h 396724"/>
                      <a:gd name="connsiteX1" fmla="*/ 493486 w 493486"/>
                      <a:gd name="connsiteY1" fmla="*/ 0 h 396724"/>
                    </a:gdLst>
                    <a:ahLst/>
                    <a:cxnLst>
                      <a:cxn ang="0">
                        <a:pos x="connsiteX0" y="connsiteY0"/>
                      </a:cxn>
                      <a:cxn ang="0">
                        <a:pos x="connsiteX1" y="connsiteY1"/>
                      </a:cxn>
                    </a:cxnLst>
                    <a:rect l="l" t="t" r="r" b="b"/>
                    <a:pathLst>
                      <a:path w="493486" h="396724">
                        <a:moveTo>
                          <a:pt x="0" y="396724"/>
                        </a:moveTo>
                        <a:cubicBezTo>
                          <a:pt x="164092" y="198362"/>
                          <a:pt x="328184" y="0"/>
                          <a:pt x="493486"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88" name="手繪多邊形: 圖案 87">
                    <a:extLst>
                      <a:ext uri="{FF2B5EF4-FFF2-40B4-BE49-F238E27FC236}">
                        <a16:creationId xmlns:a16="http://schemas.microsoft.com/office/drawing/2014/main" id="{E82FD2C2-DE87-48EE-BDF3-84F715BF310C}"/>
                      </a:ext>
                    </a:extLst>
                  </p:cNvPr>
                  <p:cNvSpPr/>
                  <p:nvPr/>
                </p:nvSpPr>
                <p:spPr>
                  <a:xfrm>
                    <a:off x="493486" y="-6439"/>
                    <a:ext cx="493486" cy="396724"/>
                  </a:xfrm>
                  <a:custGeom>
                    <a:avLst/>
                    <a:gdLst>
                      <a:gd name="connsiteX0" fmla="*/ 0 w 3812419"/>
                      <a:gd name="connsiteY0" fmla="*/ 396725 h 396726"/>
                      <a:gd name="connsiteX1" fmla="*/ 493486 w 3812419"/>
                      <a:gd name="connsiteY1" fmla="*/ 1 h 396726"/>
                      <a:gd name="connsiteX2" fmla="*/ 991810 w 3812419"/>
                      <a:gd name="connsiteY2" fmla="*/ 396725 h 396726"/>
                      <a:gd name="connsiteX3" fmla="*/ 1490134 w 3812419"/>
                      <a:gd name="connsiteY3" fmla="*/ 4839 h 396726"/>
                      <a:gd name="connsiteX4" fmla="*/ 1988457 w 3812419"/>
                      <a:gd name="connsiteY4" fmla="*/ 396725 h 396726"/>
                      <a:gd name="connsiteX5" fmla="*/ 2486781 w 3812419"/>
                      <a:gd name="connsiteY5" fmla="*/ 1 h 396726"/>
                      <a:gd name="connsiteX6" fmla="*/ 2970591 w 3812419"/>
                      <a:gd name="connsiteY6" fmla="*/ 391887 h 396726"/>
                      <a:gd name="connsiteX7" fmla="*/ 3468915 w 3812419"/>
                      <a:gd name="connsiteY7" fmla="*/ 4839 h 396726"/>
                      <a:gd name="connsiteX8" fmla="*/ 3812419 w 3812419"/>
                      <a:gd name="connsiteY8" fmla="*/ 212877 h 396726"/>
                      <a:gd name="connsiteX0" fmla="*/ 0 w 3468915"/>
                      <a:gd name="connsiteY0" fmla="*/ 396725 h 396726"/>
                      <a:gd name="connsiteX1" fmla="*/ 493486 w 3468915"/>
                      <a:gd name="connsiteY1" fmla="*/ 1 h 396726"/>
                      <a:gd name="connsiteX2" fmla="*/ 991810 w 3468915"/>
                      <a:gd name="connsiteY2" fmla="*/ 396725 h 396726"/>
                      <a:gd name="connsiteX3" fmla="*/ 1490134 w 3468915"/>
                      <a:gd name="connsiteY3" fmla="*/ 4839 h 396726"/>
                      <a:gd name="connsiteX4" fmla="*/ 1988457 w 3468915"/>
                      <a:gd name="connsiteY4" fmla="*/ 396725 h 396726"/>
                      <a:gd name="connsiteX5" fmla="*/ 2486781 w 3468915"/>
                      <a:gd name="connsiteY5" fmla="*/ 1 h 396726"/>
                      <a:gd name="connsiteX6" fmla="*/ 2970591 w 3468915"/>
                      <a:gd name="connsiteY6" fmla="*/ 391887 h 396726"/>
                      <a:gd name="connsiteX7" fmla="*/ 3468915 w 3468915"/>
                      <a:gd name="connsiteY7" fmla="*/ 4839 h 396726"/>
                      <a:gd name="connsiteX0" fmla="*/ 0 w 2970591"/>
                      <a:gd name="connsiteY0" fmla="*/ 396725 h 396726"/>
                      <a:gd name="connsiteX1" fmla="*/ 493486 w 2970591"/>
                      <a:gd name="connsiteY1" fmla="*/ 1 h 396726"/>
                      <a:gd name="connsiteX2" fmla="*/ 991810 w 2970591"/>
                      <a:gd name="connsiteY2" fmla="*/ 396725 h 396726"/>
                      <a:gd name="connsiteX3" fmla="*/ 1490134 w 2970591"/>
                      <a:gd name="connsiteY3" fmla="*/ 4839 h 396726"/>
                      <a:gd name="connsiteX4" fmla="*/ 1988457 w 2970591"/>
                      <a:gd name="connsiteY4" fmla="*/ 396725 h 396726"/>
                      <a:gd name="connsiteX5" fmla="*/ 2486781 w 2970591"/>
                      <a:gd name="connsiteY5" fmla="*/ 1 h 396726"/>
                      <a:gd name="connsiteX6" fmla="*/ 2970591 w 2970591"/>
                      <a:gd name="connsiteY6" fmla="*/ 391887 h 396726"/>
                      <a:gd name="connsiteX0" fmla="*/ 0 w 2486781"/>
                      <a:gd name="connsiteY0" fmla="*/ 396724 h 396725"/>
                      <a:gd name="connsiteX1" fmla="*/ 493486 w 2486781"/>
                      <a:gd name="connsiteY1" fmla="*/ 0 h 396725"/>
                      <a:gd name="connsiteX2" fmla="*/ 991810 w 2486781"/>
                      <a:gd name="connsiteY2" fmla="*/ 396724 h 396725"/>
                      <a:gd name="connsiteX3" fmla="*/ 1490134 w 2486781"/>
                      <a:gd name="connsiteY3" fmla="*/ 4838 h 396725"/>
                      <a:gd name="connsiteX4" fmla="*/ 1988457 w 2486781"/>
                      <a:gd name="connsiteY4" fmla="*/ 396724 h 396725"/>
                      <a:gd name="connsiteX5" fmla="*/ 2486781 w 2486781"/>
                      <a:gd name="connsiteY5" fmla="*/ 0 h 396725"/>
                      <a:gd name="connsiteX0" fmla="*/ 0 w 1988457"/>
                      <a:gd name="connsiteY0" fmla="*/ 396724 h 396725"/>
                      <a:gd name="connsiteX1" fmla="*/ 493486 w 1988457"/>
                      <a:gd name="connsiteY1" fmla="*/ 0 h 396725"/>
                      <a:gd name="connsiteX2" fmla="*/ 991810 w 1988457"/>
                      <a:gd name="connsiteY2" fmla="*/ 396724 h 396725"/>
                      <a:gd name="connsiteX3" fmla="*/ 1490134 w 1988457"/>
                      <a:gd name="connsiteY3" fmla="*/ 4838 h 396725"/>
                      <a:gd name="connsiteX4" fmla="*/ 1988457 w 1988457"/>
                      <a:gd name="connsiteY4" fmla="*/ 396724 h 396725"/>
                      <a:gd name="connsiteX0" fmla="*/ 0 w 1490134"/>
                      <a:gd name="connsiteY0" fmla="*/ 396724 h 396725"/>
                      <a:gd name="connsiteX1" fmla="*/ 493486 w 1490134"/>
                      <a:gd name="connsiteY1" fmla="*/ 0 h 396725"/>
                      <a:gd name="connsiteX2" fmla="*/ 991810 w 1490134"/>
                      <a:gd name="connsiteY2" fmla="*/ 396724 h 396725"/>
                      <a:gd name="connsiteX3" fmla="*/ 1490134 w 1490134"/>
                      <a:gd name="connsiteY3" fmla="*/ 4838 h 396725"/>
                      <a:gd name="connsiteX0" fmla="*/ 0 w 991810"/>
                      <a:gd name="connsiteY0" fmla="*/ 396724 h 396724"/>
                      <a:gd name="connsiteX1" fmla="*/ 493486 w 991810"/>
                      <a:gd name="connsiteY1" fmla="*/ 0 h 396724"/>
                      <a:gd name="connsiteX2" fmla="*/ 991810 w 991810"/>
                      <a:gd name="connsiteY2" fmla="*/ 396724 h 396724"/>
                      <a:gd name="connsiteX0" fmla="*/ 0 w 493486"/>
                      <a:gd name="connsiteY0" fmla="*/ 396724 h 396724"/>
                      <a:gd name="connsiteX1" fmla="*/ 493486 w 493486"/>
                      <a:gd name="connsiteY1" fmla="*/ 0 h 396724"/>
                    </a:gdLst>
                    <a:ahLst/>
                    <a:cxnLst>
                      <a:cxn ang="0">
                        <a:pos x="connsiteX0" y="connsiteY0"/>
                      </a:cxn>
                      <a:cxn ang="0">
                        <a:pos x="connsiteX1" y="connsiteY1"/>
                      </a:cxn>
                    </a:cxnLst>
                    <a:rect l="l" t="t" r="r" b="b"/>
                    <a:pathLst>
                      <a:path w="493486" h="396724">
                        <a:moveTo>
                          <a:pt x="0" y="396724"/>
                        </a:moveTo>
                        <a:cubicBezTo>
                          <a:pt x="164092" y="198362"/>
                          <a:pt x="328184" y="0"/>
                          <a:pt x="493486"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spcAft>
                        <a:spcPts val="0"/>
                      </a:spcAft>
                    </a:pPr>
                    <a:r>
                      <a:rPr lang="en-US" sz="1200" kern="100">
                        <a:effectLst/>
                        <a:ea typeface="新細明體" panose="02020500000000000000" pitchFamily="18" charset="-120"/>
                        <a:cs typeface="Times New Roman" panose="02020603050405020304" pitchFamily="18" charset="0"/>
                      </a:rPr>
                      <a:t> </a:t>
                    </a:r>
                    <a:endParaRPr lang="zh-TW" sz="1200" kern="100">
                      <a:effectLst/>
                      <a:ea typeface="新細明體" panose="02020500000000000000" pitchFamily="18" charset="-120"/>
                      <a:cs typeface="Times New Roman" panose="02020603050405020304" pitchFamily="18" charset="0"/>
                    </a:endParaRPr>
                  </a:p>
                </p:txBody>
              </p:sp>
            </p:grpSp>
            <p:grpSp>
              <p:nvGrpSpPr>
                <p:cNvPr id="83" name="群組 82">
                  <a:extLst>
                    <a:ext uri="{FF2B5EF4-FFF2-40B4-BE49-F238E27FC236}">
                      <a16:creationId xmlns:a16="http://schemas.microsoft.com/office/drawing/2014/main" id="{279C4406-FD9D-4A3A-8183-269DFF3EB230}"/>
                    </a:ext>
                  </a:extLst>
                </p:cNvPr>
                <p:cNvGrpSpPr/>
                <p:nvPr/>
              </p:nvGrpSpPr>
              <p:grpSpPr>
                <a:xfrm>
                  <a:off x="2461098" y="286202"/>
                  <a:ext cx="986972" cy="793447"/>
                  <a:chOff x="0" y="-6439"/>
                  <a:chExt cx="986972" cy="793447"/>
                </a:xfrm>
              </p:grpSpPr>
              <p:sp>
                <p:nvSpPr>
                  <p:cNvPr id="85" name="手繪多邊形: 圖案 84">
                    <a:extLst>
                      <a:ext uri="{FF2B5EF4-FFF2-40B4-BE49-F238E27FC236}">
                        <a16:creationId xmlns:a16="http://schemas.microsoft.com/office/drawing/2014/main" id="{5586BCF2-5763-41E1-A88E-547E3F8052F2}"/>
                      </a:ext>
                    </a:extLst>
                  </p:cNvPr>
                  <p:cNvSpPr/>
                  <p:nvPr/>
                </p:nvSpPr>
                <p:spPr>
                  <a:xfrm rot="10800000">
                    <a:off x="0" y="390284"/>
                    <a:ext cx="493486" cy="396724"/>
                  </a:xfrm>
                  <a:custGeom>
                    <a:avLst/>
                    <a:gdLst>
                      <a:gd name="connsiteX0" fmla="*/ 0 w 3812419"/>
                      <a:gd name="connsiteY0" fmla="*/ 396725 h 396726"/>
                      <a:gd name="connsiteX1" fmla="*/ 493486 w 3812419"/>
                      <a:gd name="connsiteY1" fmla="*/ 1 h 396726"/>
                      <a:gd name="connsiteX2" fmla="*/ 991810 w 3812419"/>
                      <a:gd name="connsiteY2" fmla="*/ 396725 h 396726"/>
                      <a:gd name="connsiteX3" fmla="*/ 1490134 w 3812419"/>
                      <a:gd name="connsiteY3" fmla="*/ 4839 h 396726"/>
                      <a:gd name="connsiteX4" fmla="*/ 1988457 w 3812419"/>
                      <a:gd name="connsiteY4" fmla="*/ 396725 h 396726"/>
                      <a:gd name="connsiteX5" fmla="*/ 2486781 w 3812419"/>
                      <a:gd name="connsiteY5" fmla="*/ 1 h 396726"/>
                      <a:gd name="connsiteX6" fmla="*/ 2970591 w 3812419"/>
                      <a:gd name="connsiteY6" fmla="*/ 391887 h 396726"/>
                      <a:gd name="connsiteX7" fmla="*/ 3468915 w 3812419"/>
                      <a:gd name="connsiteY7" fmla="*/ 4839 h 396726"/>
                      <a:gd name="connsiteX8" fmla="*/ 3812419 w 3812419"/>
                      <a:gd name="connsiteY8" fmla="*/ 212877 h 396726"/>
                      <a:gd name="connsiteX0" fmla="*/ 0 w 3468915"/>
                      <a:gd name="connsiteY0" fmla="*/ 396725 h 396726"/>
                      <a:gd name="connsiteX1" fmla="*/ 493486 w 3468915"/>
                      <a:gd name="connsiteY1" fmla="*/ 1 h 396726"/>
                      <a:gd name="connsiteX2" fmla="*/ 991810 w 3468915"/>
                      <a:gd name="connsiteY2" fmla="*/ 396725 h 396726"/>
                      <a:gd name="connsiteX3" fmla="*/ 1490134 w 3468915"/>
                      <a:gd name="connsiteY3" fmla="*/ 4839 h 396726"/>
                      <a:gd name="connsiteX4" fmla="*/ 1988457 w 3468915"/>
                      <a:gd name="connsiteY4" fmla="*/ 396725 h 396726"/>
                      <a:gd name="connsiteX5" fmla="*/ 2486781 w 3468915"/>
                      <a:gd name="connsiteY5" fmla="*/ 1 h 396726"/>
                      <a:gd name="connsiteX6" fmla="*/ 2970591 w 3468915"/>
                      <a:gd name="connsiteY6" fmla="*/ 391887 h 396726"/>
                      <a:gd name="connsiteX7" fmla="*/ 3468915 w 3468915"/>
                      <a:gd name="connsiteY7" fmla="*/ 4839 h 396726"/>
                      <a:gd name="connsiteX0" fmla="*/ 0 w 2970591"/>
                      <a:gd name="connsiteY0" fmla="*/ 396725 h 396726"/>
                      <a:gd name="connsiteX1" fmla="*/ 493486 w 2970591"/>
                      <a:gd name="connsiteY1" fmla="*/ 1 h 396726"/>
                      <a:gd name="connsiteX2" fmla="*/ 991810 w 2970591"/>
                      <a:gd name="connsiteY2" fmla="*/ 396725 h 396726"/>
                      <a:gd name="connsiteX3" fmla="*/ 1490134 w 2970591"/>
                      <a:gd name="connsiteY3" fmla="*/ 4839 h 396726"/>
                      <a:gd name="connsiteX4" fmla="*/ 1988457 w 2970591"/>
                      <a:gd name="connsiteY4" fmla="*/ 396725 h 396726"/>
                      <a:gd name="connsiteX5" fmla="*/ 2486781 w 2970591"/>
                      <a:gd name="connsiteY5" fmla="*/ 1 h 396726"/>
                      <a:gd name="connsiteX6" fmla="*/ 2970591 w 2970591"/>
                      <a:gd name="connsiteY6" fmla="*/ 391887 h 396726"/>
                      <a:gd name="connsiteX0" fmla="*/ 0 w 2486781"/>
                      <a:gd name="connsiteY0" fmla="*/ 396724 h 396725"/>
                      <a:gd name="connsiteX1" fmla="*/ 493486 w 2486781"/>
                      <a:gd name="connsiteY1" fmla="*/ 0 h 396725"/>
                      <a:gd name="connsiteX2" fmla="*/ 991810 w 2486781"/>
                      <a:gd name="connsiteY2" fmla="*/ 396724 h 396725"/>
                      <a:gd name="connsiteX3" fmla="*/ 1490134 w 2486781"/>
                      <a:gd name="connsiteY3" fmla="*/ 4838 h 396725"/>
                      <a:gd name="connsiteX4" fmla="*/ 1988457 w 2486781"/>
                      <a:gd name="connsiteY4" fmla="*/ 396724 h 396725"/>
                      <a:gd name="connsiteX5" fmla="*/ 2486781 w 2486781"/>
                      <a:gd name="connsiteY5" fmla="*/ 0 h 396725"/>
                      <a:gd name="connsiteX0" fmla="*/ 0 w 1988457"/>
                      <a:gd name="connsiteY0" fmla="*/ 396724 h 396725"/>
                      <a:gd name="connsiteX1" fmla="*/ 493486 w 1988457"/>
                      <a:gd name="connsiteY1" fmla="*/ 0 h 396725"/>
                      <a:gd name="connsiteX2" fmla="*/ 991810 w 1988457"/>
                      <a:gd name="connsiteY2" fmla="*/ 396724 h 396725"/>
                      <a:gd name="connsiteX3" fmla="*/ 1490134 w 1988457"/>
                      <a:gd name="connsiteY3" fmla="*/ 4838 h 396725"/>
                      <a:gd name="connsiteX4" fmla="*/ 1988457 w 1988457"/>
                      <a:gd name="connsiteY4" fmla="*/ 396724 h 396725"/>
                      <a:gd name="connsiteX0" fmla="*/ 0 w 1490134"/>
                      <a:gd name="connsiteY0" fmla="*/ 396724 h 396725"/>
                      <a:gd name="connsiteX1" fmla="*/ 493486 w 1490134"/>
                      <a:gd name="connsiteY1" fmla="*/ 0 h 396725"/>
                      <a:gd name="connsiteX2" fmla="*/ 991810 w 1490134"/>
                      <a:gd name="connsiteY2" fmla="*/ 396724 h 396725"/>
                      <a:gd name="connsiteX3" fmla="*/ 1490134 w 1490134"/>
                      <a:gd name="connsiteY3" fmla="*/ 4838 h 396725"/>
                      <a:gd name="connsiteX0" fmla="*/ 0 w 991810"/>
                      <a:gd name="connsiteY0" fmla="*/ 396724 h 396724"/>
                      <a:gd name="connsiteX1" fmla="*/ 493486 w 991810"/>
                      <a:gd name="connsiteY1" fmla="*/ 0 h 396724"/>
                      <a:gd name="connsiteX2" fmla="*/ 991810 w 991810"/>
                      <a:gd name="connsiteY2" fmla="*/ 396724 h 396724"/>
                      <a:gd name="connsiteX0" fmla="*/ 0 w 493486"/>
                      <a:gd name="connsiteY0" fmla="*/ 396724 h 396724"/>
                      <a:gd name="connsiteX1" fmla="*/ 493486 w 493486"/>
                      <a:gd name="connsiteY1" fmla="*/ 0 h 396724"/>
                    </a:gdLst>
                    <a:ahLst/>
                    <a:cxnLst>
                      <a:cxn ang="0">
                        <a:pos x="connsiteX0" y="connsiteY0"/>
                      </a:cxn>
                      <a:cxn ang="0">
                        <a:pos x="connsiteX1" y="connsiteY1"/>
                      </a:cxn>
                    </a:cxnLst>
                    <a:rect l="l" t="t" r="r" b="b"/>
                    <a:pathLst>
                      <a:path w="493486" h="396724">
                        <a:moveTo>
                          <a:pt x="0" y="396724"/>
                        </a:moveTo>
                        <a:cubicBezTo>
                          <a:pt x="164092" y="198362"/>
                          <a:pt x="328184" y="0"/>
                          <a:pt x="493486"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86" name="手繪多邊形: 圖案 85">
                    <a:extLst>
                      <a:ext uri="{FF2B5EF4-FFF2-40B4-BE49-F238E27FC236}">
                        <a16:creationId xmlns:a16="http://schemas.microsoft.com/office/drawing/2014/main" id="{28B31A95-25A6-42FF-BF68-6DB7ACADA48C}"/>
                      </a:ext>
                    </a:extLst>
                  </p:cNvPr>
                  <p:cNvSpPr/>
                  <p:nvPr/>
                </p:nvSpPr>
                <p:spPr>
                  <a:xfrm>
                    <a:off x="493486" y="-6439"/>
                    <a:ext cx="493486" cy="396724"/>
                  </a:xfrm>
                  <a:custGeom>
                    <a:avLst/>
                    <a:gdLst>
                      <a:gd name="connsiteX0" fmla="*/ 0 w 3812419"/>
                      <a:gd name="connsiteY0" fmla="*/ 396725 h 396726"/>
                      <a:gd name="connsiteX1" fmla="*/ 493486 w 3812419"/>
                      <a:gd name="connsiteY1" fmla="*/ 1 h 396726"/>
                      <a:gd name="connsiteX2" fmla="*/ 991810 w 3812419"/>
                      <a:gd name="connsiteY2" fmla="*/ 396725 h 396726"/>
                      <a:gd name="connsiteX3" fmla="*/ 1490134 w 3812419"/>
                      <a:gd name="connsiteY3" fmla="*/ 4839 h 396726"/>
                      <a:gd name="connsiteX4" fmla="*/ 1988457 w 3812419"/>
                      <a:gd name="connsiteY4" fmla="*/ 396725 h 396726"/>
                      <a:gd name="connsiteX5" fmla="*/ 2486781 w 3812419"/>
                      <a:gd name="connsiteY5" fmla="*/ 1 h 396726"/>
                      <a:gd name="connsiteX6" fmla="*/ 2970591 w 3812419"/>
                      <a:gd name="connsiteY6" fmla="*/ 391887 h 396726"/>
                      <a:gd name="connsiteX7" fmla="*/ 3468915 w 3812419"/>
                      <a:gd name="connsiteY7" fmla="*/ 4839 h 396726"/>
                      <a:gd name="connsiteX8" fmla="*/ 3812419 w 3812419"/>
                      <a:gd name="connsiteY8" fmla="*/ 212877 h 396726"/>
                      <a:gd name="connsiteX0" fmla="*/ 0 w 3468915"/>
                      <a:gd name="connsiteY0" fmla="*/ 396725 h 396726"/>
                      <a:gd name="connsiteX1" fmla="*/ 493486 w 3468915"/>
                      <a:gd name="connsiteY1" fmla="*/ 1 h 396726"/>
                      <a:gd name="connsiteX2" fmla="*/ 991810 w 3468915"/>
                      <a:gd name="connsiteY2" fmla="*/ 396725 h 396726"/>
                      <a:gd name="connsiteX3" fmla="*/ 1490134 w 3468915"/>
                      <a:gd name="connsiteY3" fmla="*/ 4839 h 396726"/>
                      <a:gd name="connsiteX4" fmla="*/ 1988457 w 3468915"/>
                      <a:gd name="connsiteY4" fmla="*/ 396725 h 396726"/>
                      <a:gd name="connsiteX5" fmla="*/ 2486781 w 3468915"/>
                      <a:gd name="connsiteY5" fmla="*/ 1 h 396726"/>
                      <a:gd name="connsiteX6" fmla="*/ 2970591 w 3468915"/>
                      <a:gd name="connsiteY6" fmla="*/ 391887 h 396726"/>
                      <a:gd name="connsiteX7" fmla="*/ 3468915 w 3468915"/>
                      <a:gd name="connsiteY7" fmla="*/ 4839 h 396726"/>
                      <a:gd name="connsiteX0" fmla="*/ 0 w 2970591"/>
                      <a:gd name="connsiteY0" fmla="*/ 396725 h 396726"/>
                      <a:gd name="connsiteX1" fmla="*/ 493486 w 2970591"/>
                      <a:gd name="connsiteY1" fmla="*/ 1 h 396726"/>
                      <a:gd name="connsiteX2" fmla="*/ 991810 w 2970591"/>
                      <a:gd name="connsiteY2" fmla="*/ 396725 h 396726"/>
                      <a:gd name="connsiteX3" fmla="*/ 1490134 w 2970591"/>
                      <a:gd name="connsiteY3" fmla="*/ 4839 h 396726"/>
                      <a:gd name="connsiteX4" fmla="*/ 1988457 w 2970591"/>
                      <a:gd name="connsiteY4" fmla="*/ 396725 h 396726"/>
                      <a:gd name="connsiteX5" fmla="*/ 2486781 w 2970591"/>
                      <a:gd name="connsiteY5" fmla="*/ 1 h 396726"/>
                      <a:gd name="connsiteX6" fmla="*/ 2970591 w 2970591"/>
                      <a:gd name="connsiteY6" fmla="*/ 391887 h 396726"/>
                      <a:gd name="connsiteX0" fmla="*/ 0 w 2486781"/>
                      <a:gd name="connsiteY0" fmla="*/ 396724 h 396725"/>
                      <a:gd name="connsiteX1" fmla="*/ 493486 w 2486781"/>
                      <a:gd name="connsiteY1" fmla="*/ 0 h 396725"/>
                      <a:gd name="connsiteX2" fmla="*/ 991810 w 2486781"/>
                      <a:gd name="connsiteY2" fmla="*/ 396724 h 396725"/>
                      <a:gd name="connsiteX3" fmla="*/ 1490134 w 2486781"/>
                      <a:gd name="connsiteY3" fmla="*/ 4838 h 396725"/>
                      <a:gd name="connsiteX4" fmla="*/ 1988457 w 2486781"/>
                      <a:gd name="connsiteY4" fmla="*/ 396724 h 396725"/>
                      <a:gd name="connsiteX5" fmla="*/ 2486781 w 2486781"/>
                      <a:gd name="connsiteY5" fmla="*/ 0 h 396725"/>
                      <a:gd name="connsiteX0" fmla="*/ 0 w 1988457"/>
                      <a:gd name="connsiteY0" fmla="*/ 396724 h 396725"/>
                      <a:gd name="connsiteX1" fmla="*/ 493486 w 1988457"/>
                      <a:gd name="connsiteY1" fmla="*/ 0 h 396725"/>
                      <a:gd name="connsiteX2" fmla="*/ 991810 w 1988457"/>
                      <a:gd name="connsiteY2" fmla="*/ 396724 h 396725"/>
                      <a:gd name="connsiteX3" fmla="*/ 1490134 w 1988457"/>
                      <a:gd name="connsiteY3" fmla="*/ 4838 h 396725"/>
                      <a:gd name="connsiteX4" fmla="*/ 1988457 w 1988457"/>
                      <a:gd name="connsiteY4" fmla="*/ 396724 h 396725"/>
                      <a:gd name="connsiteX0" fmla="*/ 0 w 1490134"/>
                      <a:gd name="connsiteY0" fmla="*/ 396724 h 396725"/>
                      <a:gd name="connsiteX1" fmla="*/ 493486 w 1490134"/>
                      <a:gd name="connsiteY1" fmla="*/ 0 h 396725"/>
                      <a:gd name="connsiteX2" fmla="*/ 991810 w 1490134"/>
                      <a:gd name="connsiteY2" fmla="*/ 396724 h 396725"/>
                      <a:gd name="connsiteX3" fmla="*/ 1490134 w 1490134"/>
                      <a:gd name="connsiteY3" fmla="*/ 4838 h 396725"/>
                      <a:gd name="connsiteX0" fmla="*/ 0 w 991810"/>
                      <a:gd name="connsiteY0" fmla="*/ 396724 h 396724"/>
                      <a:gd name="connsiteX1" fmla="*/ 493486 w 991810"/>
                      <a:gd name="connsiteY1" fmla="*/ 0 h 396724"/>
                      <a:gd name="connsiteX2" fmla="*/ 991810 w 991810"/>
                      <a:gd name="connsiteY2" fmla="*/ 396724 h 396724"/>
                      <a:gd name="connsiteX0" fmla="*/ 0 w 493486"/>
                      <a:gd name="connsiteY0" fmla="*/ 396724 h 396724"/>
                      <a:gd name="connsiteX1" fmla="*/ 493486 w 493486"/>
                      <a:gd name="connsiteY1" fmla="*/ 0 h 396724"/>
                    </a:gdLst>
                    <a:ahLst/>
                    <a:cxnLst>
                      <a:cxn ang="0">
                        <a:pos x="connsiteX0" y="connsiteY0"/>
                      </a:cxn>
                      <a:cxn ang="0">
                        <a:pos x="connsiteX1" y="connsiteY1"/>
                      </a:cxn>
                    </a:cxnLst>
                    <a:rect l="l" t="t" r="r" b="b"/>
                    <a:pathLst>
                      <a:path w="493486" h="396724">
                        <a:moveTo>
                          <a:pt x="0" y="396724"/>
                        </a:moveTo>
                        <a:cubicBezTo>
                          <a:pt x="164092" y="198362"/>
                          <a:pt x="328184" y="0"/>
                          <a:pt x="493486"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84" name="手繪多邊形: 圖案 83">
                  <a:extLst>
                    <a:ext uri="{FF2B5EF4-FFF2-40B4-BE49-F238E27FC236}">
                      <a16:creationId xmlns:a16="http://schemas.microsoft.com/office/drawing/2014/main" id="{69821D68-4B64-4E96-A34C-D9E386DEC583}"/>
                    </a:ext>
                  </a:extLst>
                </p:cNvPr>
                <p:cNvSpPr/>
                <p:nvPr/>
              </p:nvSpPr>
              <p:spPr>
                <a:xfrm>
                  <a:off x="13015" y="31656"/>
                  <a:ext cx="1661374" cy="3052293"/>
                </a:xfrm>
                <a:custGeom>
                  <a:avLst/>
                  <a:gdLst>
                    <a:gd name="connsiteX0" fmla="*/ 0 w 1661374"/>
                    <a:gd name="connsiteY0" fmla="*/ 3052293 h 3052293"/>
                    <a:gd name="connsiteX1" fmla="*/ 489397 w 1661374"/>
                    <a:gd name="connsiteY1" fmla="*/ 2511380 h 3052293"/>
                    <a:gd name="connsiteX2" fmla="*/ 978794 w 1661374"/>
                    <a:gd name="connsiteY2" fmla="*/ 1693571 h 3052293"/>
                    <a:gd name="connsiteX3" fmla="*/ 1493949 w 1661374"/>
                    <a:gd name="connsiteY3" fmla="*/ 502276 h 3052293"/>
                    <a:gd name="connsiteX4" fmla="*/ 1661374 w 1661374"/>
                    <a:gd name="connsiteY4" fmla="*/ 0 h 305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1374" h="3052293">
                      <a:moveTo>
                        <a:pt x="0" y="3052293"/>
                      </a:moveTo>
                      <a:cubicBezTo>
                        <a:pt x="163132" y="2895063"/>
                        <a:pt x="326265" y="2737834"/>
                        <a:pt x="489397" y="2511380"/>
                      </a:cubicBezTo>
                      <a:cubicBezTo>
                        <a:pt x="652529" y="2284926"/>
                        <a:pt x="811369" y="2028422"/>
                        <a:pt x="978794" y="1693571"/>
                      </a:cubicBezTo>
                      <a:cubicBezTo>
                        <a:pt x="1146219" y="1358720"/>
                        <a:pt x="1380186" y="784538"/>
                        <a:pt x="1493949" y="502276"/>
                      </a:cubicBezTo>
                      <a:cubicBezTo>
                        <a:pt x="1607712" y="220014"/>
                        <a:pt x="1634543" y="110007"/>
                        <a:pt x="1661374"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70" name="群組 69">
                <a:extLst>
                  <a:ext uri="{FF2B5EF4-FFF2-40B4-BE49-F238E27FC236}">
                    <a16:creationId xmlns:a16="http://schemas.microsoft.com/office/drawing/2014/main" id="{4D2B3B10-6CA6-49A4-AB5D-1DD147A6404C}"/>
                  </a:ext>
                </a:extLst>
              </p:cNvPr>
              <p:cNvGrpSpPr/>
              <p:nvPr/>
            </p:nvGrpSpPr>
            <p:grpSpPr>
              <a:xfrm>
                <a:off x="159826" y="3522313"/>
                <a:ext cx="3150300" cy="260490"/>
                <a:chOff x="0" y="0"/>
                <a:chExt cx="3150300" cy="260490"/>
              </a:xfrm>
            </p:grpSpPr>
            <p:sp>
              <p:nvSpPr>
                <p:cNvPr id="71" name="箭號: 向下 70">
                  <a:extLst>
                    <a:ext uri="{FF2B5EF4-FFF2-40B4-BE49-F238E27FC236}">
                      <a16:creationId xmlns:a16="http://schemas.microsoft.com/office/drawing/2014/main" id="{A403D221-7D11-4FD2-BE66-E5564BF011AA}"/>
                    </a:ext>
                  </a:extLst>
                </p:cNvPr>
                <p:cNvSpPr/>
                <p:nvPr/>
              </p:nvSpPr>
              <p:spPr>
                <a:xfrm>
                  <a:off x="488197" y="27445"/>
                  <a:ext cx="174625" cy="233045"/>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72" name="箭號: 向下 71">
                  <a:extLst>
                    <a:ext uri="{FF2B5EF4-FFF2-40B4-BE49-F238E27FC236}">
                      <a16:creationId xmlns:a16="http://schemas.microsoft.com/office/drawing/2014/main" id="{4459FD1C-1606-4DDA-B0A5-BAB0BE1CD5AD}"/>
                    </a:ext>
                  </a:extLst>
                </p:cNvPr>
                <p:cNvSpPr/>
                <p:nvPr/>
              </p:nvSpPr>
              <p:spPr>
                <a:xfrm>
                  <a:off x="1480088" y="27445"/>
                  <a:ext cx="174625" cy="233045"/>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73" name="箭號: 向下 72">
                  <a:extLst>
                    <a:ext uri="{FF2B5EF4-FFF2-40B4-BE49-F238E27FC236}">
                      <a16:creationId xmlns:a16="http://schemas.microsoft.com/office/drawing/2014/main" id="{617E79AC-E3A3-439C-A6FD-368617A7BFE5}"/>
                    </a:ext>
                  </a:extLst>
                </p:cNvPr>
                <p:cNvSpPr/>
                <p:nvPr/>
              </p:nvSpPr>
              <p:spPr>
                <a:xfrm>
                  <a:off x="2479729" y="11947"/>
                  <a:ext cx="174625" cy="233045"/>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74" name="箭號: 向下 73">
                  <a:extLst>
                    <a:ext uri="{FF2B5EF4-FFF2-40B4-BE49-F238E27FC236}">
                      <a16:creationId xmlns:a16="http://schemas.microsoft.com/office/drawing/2014/main" id="{97FE3953-A520-4A02-AAEA-0A965D1F0A77}"/>
                    </a:ext>
                  </a:extLst>
                </p:cNvPr>
                <p:cNvSpPr/>
                <p:nvPr/>
              </p:nvSpPr>
              <p:spPr>
                <a:xfrm rot="10800000">
                  <a:off x="0" y="0"/>
                  <a:ext cx="175098" cy="233463"/>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75" name="箭號: 向下 74">
                  <a:extLst>
                    <a:ext uri="{FF2B5EF4-FFF2-40B4-BE49-F238E27FC236}">
                      <a16:creationId xmlns:a16="http://schemas.microsoft.com/office/drawing/2014/main" id="{1F6B3705-3B83-4C23-A543-F6FE1E87E845}"/>
                    </a:ext>
                  </a:extLst>
                </p:cNvPr>
                <p:cNvSpPr/>
                <p:nvPr/>
              </p:nvSpPr>
              <p:spPr>
                <a:xfrm rot="10800000">
                  <a:off x="991892" y="7749"/>
                  <a:ext cx="174625" cy="233045"/>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76" name="箭號: 向下 75">
                  <a:extLst>
                    <a:ext uri="{FF2B5EF4-FFF2-40B4-BE49-F238E27FC236}">
                      <a16:creationId xmlns:a16="http://schemas.microsoft.com/office/drawing/2014/main" id="{9DA781CE-6194-4522-B71C-4DA65FE9A7A8}"/>
                    </a:ext>
                  </a:extLst>
                </p:cNvPr>
                <p:cNvSpPr/>
                <p:nvPr/>
              </p:nvSpPr>
              <p:spPr>
                <a:xfrm rot="10800000">
                  <a:off x="1983783" y="7749"/>
                  <a:ext cx="174625" cy="233045"/>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77" name="箭號: 向下 76">
                  <a:extLst>
                    <a:ext uri="{FF2B5EF4-FFF2-40B4-BE49-F238E27FC236}">
                      <a16:creationId xmlns:a16="http://schemas.microsoft.com/office/drawing/2014/main" id="{E7DB7EAC-E342-464A-A4D8-7A4E4C4AC15B}"/>
                    </a:ext>
                  </a:extLst>
                </p:cNvPr>
                <p:cNvSpPr/>
                <p:nvPr/>
              </p:nvSpPr>
              <p:spPr>
                <a:xfrm rot="10800000">
                  <a:off x="2975675" y="15498"/>
                  <a:ext cx="174625" cy="233045"/>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mc:AlternateContent xmlns:mc="http://schemas.openxmlformats.org/markup-compatibility/2006" xmlns:a14="http://schemas.microsoft.com/office/drawing/2010/main">
          <mc:Choice Requires="a14">
            <p:sp>
              <p:nvSpPr>
                <p:cNvPr id="64" name="文字方塊 221">
                  <a:extLst>
                    <a:ext uri="{FF2B5EF4-FFF2-40B4-BE49-F238E27FC236}">
                      <a16:creationId xmlns:a16="http://schemas.microsoft.com/office/drawing/2014/main" id="{35838628-BD6A-4BB8-A173-ED263730A3C0}"/>
                    </a:ext>
                  </a:extLst>
                </p:cNvPr>
                <p:cNvSpPr txBox="1"/>
                <p:nvPr/>
              </p:nvSpPr>
              <p:spPr>
                <a:xfrm>
                  <a:off x="0" y="0"/>
                  <a:ext cx="759417" cy="321921"/>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r>
                          <a:rPr lang="en-US" sz="1200" i="1" kern="100" smtClean="0">
                            <a:effectLst/>
                            <a:latin typeface="Cambria Math" panose="02040503050406030204" pitchFamily="18" charset="0"/>
                            <a:ea typeface="新細明體" panose="02020500000000000000" pitchFamily="18" charset="-120"/>
                            <a:cs typeface="Times New Roman" panose="02020603050405020304" pitchFamily="18" charset="0"/>
                          </a:rPr>
                          <m:t>𝐼</m:t>
                        </m:r>
                      </m:oMath>
                    </m:oMathPara>
                  </a14:m>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64" name="文字方塊 221">
                  <a:extLst>
                    <a:ext uri="{FF2B5EF4-FFF2-40B4-BE49-F238E27FC236}">
                      <a16:creationId xmlns:a16="http://schemas.microsoft.com/office/drawing/2014/main" id="{35838628-BD6A-4BB8-A173-ED263730A3C0}"/>
                    </a:ext>
                  </a:extLst>
                </p:cNvPr>
                <p:cNvSpPr txBox="1">
                  <a:spLocks noRot="1" noChangeAspect="1" noMove="1" noResize="1" noEditPoints="1" noAdjustHandles="1" noChangeArrowheads="1" noChangeShapeType="1" noTextEdit="1"/>
                </p:cNvSpPr>
                <p:nvPr/>
              </p:nvSpPr>
              <p:spPr>
                <a:xfrm>
                  <a:off x="0" y="0"/>
                  <a:ext cx="759417" cy="321921"/>
                </a:xfrm>
                <a:prstGeom prst="rect">
                  <a:avLst/>
                </a:prstGeom>
                <a:blipFill>
                  <a:blip r:embed="rId21"/>
                  <a:stretch>
                    <a:fillRect/>
                  </a:stretch>
                </a:blipFill>
                <a:ln w="6350">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5" name="文字方塊 257">
                  <a:extLst>
                    <a:ext uri="{FF2B5EF4-FFF2-40B4-BE49-F238E27FC236}">
                      <a16:creationId xmlns:a16="http://schemas.microsoft.com/office/drawing/2014/main" id="{AD9E2793-E5EB-471B-B512-709332664D23}"/>
                    </a:ext>
                  </a:extLst>
                </p:cNvPr>
                <p:cNvSpPr txBox="1"/>
                <p:nvPr/>
              </p:nvSpPr>
              <p:spPr>
                <a:xfrm>
                  <a:off x="4006055" y="3269473"/>
                  <a:ext cx="759417" cy="55139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r>
                          <a:rPr lang="en-US" sz="1200" i="1" kern="100">
                            <a:effectLst/>
                            <a:latin typeface="Cambria Math" panose="02040503050406030204" pitchFamily="18" charset="0"/>
                            <a:ea typeface="新細明體" panose="02020500000000000000" pitchFamily="18" charset="-120"/>
                            <a:cs typeface="Times New Roman" panose="02020603050405020304" pitchFamily="18" charset="0"/>
                          </a:rPr>
                          <m:t>𝑑</m:t>
                        </m:r>
                        <m:r>
                          <a:rPr lang="en-US" sz="12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200" i="1" kern="100">
                            <a:effectLst/>
                            <a:latin typeface="Cambria Math" panose="02040503050406030204" pitchFamily="18" charset="0"/>
                            <a:ea typeface="新細明體" panose="02020500000000000000" pitchFamily="18" charset="-120"/>
                            <a:cs typeface="Times New Roman" panose="02020603050405020304" pitchFamily="18" charset="0"/>
                          </a:rPr>
                          <m:t>𝑙𝑐</m:t>
                        </m:r>
                      </m:oMath>
                    </m:oMathPara>
                  </a14:m>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65" name="文字方塊 257">
                  <a:extLst>
                    <a:ext uri="{FF2B5EF4-FFF2-40B4-BE49-F238E27FC236}">
                      <a16:creationId xmlns:a16="http://schemas.microsoft.com/office/drawing/2014/main" id="{AD9E2793-E5EB-471B-B512-709332664D23}"/>
                    </a:ext>
                  </a:extLst>
                </p:cNvPr>
                <p:cNvSpPr txBox="1">
                  <a:spLocks noRot="1" noChangeAspect="1" noMove="1" noResize="1" noEditPoints="1" noAdjustHandles="1" noChangeArrowheads="1" noChangeShapeType="1" noTextEdit="1"/>
                </p:cNvSpPr>
                <p:nvPr/>
              </p:nvSpPr>
              <p:spPr>
                <a:xfrm>
                  <a:off x="4006055" y="3269473"/>
                  <a:ext cx="759417" cy="551395"/>
                </a:xfrm>
                <a:prstGeom prst="rect">
                  <a:avLst/>
                </a:prstGeom>
                <a:blipFill>
                  <a:blip r:embed="rId22"/>
                  <a:stretch>
                    <a:fillRect/>
                  </a:stretch>
                </a:blipFill>
                <a:ln w="6350">
                  <a:noFill/>
                </a:ln>
              </p:spPr>
              <p:txBody>
                <a:bodyPr/>
                <a:lstStyle/>
                <a:p>
                  <a:r>
                    <a:rPr lang="zh-TW" altLang="en-US">
                      <a:noFill/>
                    </a:rPr>
                    <a:t> </a:t>
                  </a:r>
                </a:p>
              </p:txBody>
            </p:sp>
          </mc:Fallback>
        </mc:AlternateContent>
        <p:sp>
          <p:nvSpPr>
            <p:cNvPr id="66" name="文字方塊 258">
              <a:extLst>
                <a:ext uri="{FF2B5EF4-FFF2-40B4-BE49-F238E27FC236}">
                  <a16:creationId xmlns:a16="http://schemas.microsoft.com/office/drawing/2014/main" id="{EF14D5A1-5962-46E1-94C0-EE2D3506033B}"/>
                </a:ext>
              </a:extLst>
            </p:cNvPr>
            <p:cNvSpPr txBox="1"/>
            <p:nvPr/>
          </p:nvSpPr>
          <p:spPr>
            <a:xfrm>
              <a:off x="1294094" y="511340"/>
              <a:ext cx="759417" cy="51943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US" sz="1200" i="1" kern="100">
                  <a:effectLst/>
                  <a:latin typeface="Calibri" panose="020F0502020204030204" pitchFamily="34" charset="0"/>
                  <a:ea typeface="新細明體" panose="02020500000000000000" pitchFamily="18" charset="-120"/>
                  <a:cs typeface="Times New Roman" panose="02020603050405020304" pitchFamily="18" charset="0"/>
                </a:rPr>
                <a:t>BPM</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7" name="文字方塊 259">
              <a:extLst>
                <a:ext uri="{FF2B5EF4-FFF2-40B4-BE49-F238E27FC236}">
                  <a16:creationId xmlns:a16="http://schemas.microsoft.com/office/drawing/2014/main" id="{0739908A-0A85-4E34-8E31-4F877DAF4645}"/>
                </a:ext>
              </a:extLst>
            </p:cNvPr>
            <p:cNvSpPr txBox="1"/>
            <p:nvPr/>
          </p:nvSpPr>
          <p:spPr>
            <a:xfrm>
              <a:off x="2588191" y="767008"/>
              <a:ext cx="759417" cy="56318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US" sz="1200" i="1" kern="100">
                  <a:effectLst/>
                  <a:latin typeface="Calibri" panose="020F0502020204030204" pitchFamily="34" charset="0"/>
                  <a:ea typeface="新細明體" panose="02020500000000000000" pitchFamily="18" charset="-120"/>
                  <a:cs typeface="Times New Roman" panose="02020603050405020304" pitchFamily="18" charset="0"/>
                </a:rPr>
                <a:t>QPM</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8" name="文字方塊 260">
              <a:extLst>
                <a:ext uri="{FF2B5EF4-FFF2-40B4-BE49-F238E27FC236}">
                  <a16:creationId xmlns:a16="http://schemas.microsoft.com/office/drawing/2014/main" id="{FCE7A528-AA47-4D1E-9911-8528B542DA61}"/>
                </a:ext>
              </a:extLst>
            </p:cNvPr>
            <p:cNvSpPr txBox="1"/>
            <p:nvPr/>
          </p:nvSpPr>
          <p:spPr>
            <a:xfrm>
              <a:off x="2905931" y="2640010"/>
              <a:ext cx="1774556" cy="42620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n-US" sz="1200" i="1" kern="100">
                  <a:effectLst/>
                  <a:latin typeface="Calibri" panose="020F0502020204030204" pitchFamily="34" charset="0"/>
                  <a:ea typeface="新細明體" panose="02020500000000000000" pitchFamily="18" charset="-120"/>
                  <a:cs typeface="Times New Roman" panose="02020603050405020304" pitchFamily="18" charset="0"/>
                </a:rPr>
                <a:t>Non – phase - matching</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p>
              <a:pPr>
                <a:spcAft>
                  <a:spcPts val="0"/>
                </a:spcAft>
              </a:pPr>
              <a:r>
                <a:rPr lang="en-US"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2405333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1202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In this work  :  Electro-optically spectrum selectable APPLN OPOs</a:t>
            </a:r>
            <a:endParaRPr lang="zh-TW" altLang="en-US" sz="2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70B96780-C5C9-41D7-AAA8-C7C06F3B7A9B}"/>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12</a:t>
            </a:fld>
            <a:endParaRPr lang="zh-TW" altLang="en-US" dirty="0"/>
          </a:p>
        </p:txBody>
      </p:sp>
      <p:sp>
        <p:nvSpPr>
          <p:cNvPr id="9" name="矩形 8"/>
          <p:cNvSpPr/>
          <p:nvPr/>
        </p:nvSpPr>
        <p:spPr>
          <a:xfrm>
            <a:off x="2923083" y="1182125"/>
            <a:ext cx="2904321" cy="461665"/>
          </a:xfrm>
          <a:prstGeom prst="rect">
            <a:avLst/>
          </a:prstGeom>
        </p:spPr>
        <p:txBody>
          <a:bodyPr wrap="none">
            <a:spAutoFit/>
          </a:bodyPr>
          <a:lstStyle/>
          <a:p>
            <a:pPr lvl="0">
              <a:lnSpc>
                <a:spcPct val="150000"/>
              </a:lnSpc>
              <a:defRPr/>
            </a:pPr>
            <a:r>
              <a:rPr lang="en-US" altLang="zh-TW" sz="1600" b="1" dirty="0">
                <a:solidFill>
                  <a:prstClr val="white"/>
                </a:solidFill>
                <a:latin typeface="Times New Roman" panose="02020603050405020304" pitchFamily="18" charset="0"/>
                <a:cs typeface="Times New Roman" panose="02020603050405020304" pitchFamily="18" charset="0"/>
              </a:rPr>
              <a:t>Prior works EO –OPO APPLN</a:t>
            </a:r>
            <a:endParaRPr lang="zh-TW" altLang="en-US" sz="1600" b="1" dirty="0">
              <a:solidFill>
                <a:prstClr val="white"/>
              </a:solidFill>
              <a:latin typeface="Times New Roman" panose="02020603050405020304" pitchFamily="18" charset="0"/>
              <a:cs typeface="Times New Roman" panose="02020603050405020304" pitchFamily="18" charset="0"/>
            </a:endParaRPr>
          </a:p>
        </p:txBody>
      </p:sp>
      <p:sp>
        <p:nvSpPr>
          <p:cNvPr id="11" name="矩形 10"/>
          <p:cNvSpPr/>
          <p:nvPr/>
        </p:nvSpPr>
        <p:spPr>
          <a:xfrm>
            <a:off x="5903977" y="1178328"/>
            <a:ext cx="2904321" cy="461665"/>
          </a:xfrm>
          <a:prstGeom prst="rect">
            <a:avLst/>
          </a:prstGeom>
        </p:spPr>
        <p:txBody>
          <a:bodyPr wrap="none">
            <a:spAutoFit/>
          </a:bodyPr>
          <a:lstStyle/>
          <a:p>
            <a:pPr lvl="0">
              <a:lnSpc>
                <a:spcPct val="150000"/>
              </a:lnSpc>
              <a:defRPr/>
            </a:pPr>
            <a:r>
              <a:rPr lang="en-US" altLang="zh-TW" sz="1600" b="1" dirty="0">
                <a:solidFill>
                  <a:prstClr val="white"/>
                </a:solidFill>
                <a:latin typeface="Times New Roman" panose="02020603050405020304" pitchFamily="18" charset="0"/>
                <a:cs typeface="Times New Roman" panose="02020603050405020304" pitchFamily="18" charset="0"/>
              </a:rPr>
              <a:t>Prior works EO –OPO APPLN</a:t>
            </a:r>
            <a:endParaRPr lang="zh-TW" altLang="en-US" sz="1600" b="1" dirty="0">
              <a:solidFill>
                <a:prstClr val="white"/>
              </a:solidFill>
              <a:latin typeface="Times New Roman" panose="02020603050405020304" pitchFamily="18" charset="0"/>
              <a:cs typeface="Times New Roman" panose="02020603050405020304" pitchFamily="18" charset="0"/>
            </a:endParaRPr>
          </a:p>
        </p:txBody>
      </p:sp>
      <p:sp>
        <p:nvSpPr>
          <p:cNvPr id="53" name="矩形 52">
            <a:extLst>
              <a:ext uri="{FF2B5EF4-FFF2-40B4-BE49-F238E27FC236}">
                <a16:creationId xmlns:a16="http://schemas.microsoft.com/office/drawing/2014/main" id="{4C3000A7-A30E-404C-9C6F-BE18E02A3123}"/>
              </a:ext>
            </a:extLst>
          </p:cNvPr>
          <p:cNvSpPr/>
          <p:nvPr/>
        </p:nvSpPr>
        <p:spPr>
          <a:xfrm>
            <a:off x="2042272" y="5144359"/>
            <a:ext cx="1973617" cy="369332"/>
          </a:xfrm>
          <a:prstGeom prst="rect">
            <a:avLst/>
          </a:prstGeom>
        </p:spPr>
        <p:txBody>
          <a:bodyPr wrap="none">
            <a:spAutoFit/>
          </a:bodyPr>
          <a:lstStyle/>
          <a:p>
            <a:pPr>
              <a:spcBef>
                <a:spcPct val="50000"/>
              </a:spcBef>
            </a:pPr>
            <a:r>
              <a:rPr lang="en-US" altLang="zh-TW" b="1" i="1" u="sng" dirty="0">
                <a:latin typeface="Times New Roman" pitchFamily="18" charset="0"/>
                <a:ea typeface="微軟正黑體" pitchFamily="34" charset="-120"/>
                <a:cs typeface="Times New Roman" pitchFamily="18" charset="0"/>
              </a:rPr>
              <a:t>Design parameters</a:t>
            </a:r>
          </a:p>
        </p:txBody>
      </p:sp>
      <p:sp>
        <p:nvSpPr>
          <p:cNvPr id="54" name="文字方塊 53">
            <a:extLst>
              <a:ext uri="{FF2B5EF4-FFF2-40B4-BE49-F238E27FC236}">
                <a16:creationId xmlns:a16="http://schemas.microsoft.com/office/drawing/2014/main" id="{A880B9E2-CDE2-44B0-8909-EB4E1EE60AD6}"/>
              </a:ext>
            </a:extLst>
          </p:cNvPr>
          <p:cNvSpPr txBox="1"/>
          <p:nvPr/>
        </p:nvSpPr>
        <p:spPr>
          <a:xfrm>
            <a:off x="2030900" y="5546874"/>
            <a:ext cx="5897550" cy="1015663"/>
          </a:xfrm>
          <a:prstGeom prst="rect">
            <a:avLst/>
          </a:prstGeom>
          <a:noFill/>
        </p:spPr>
        <p:txBody>
          <a:bodyPr wrap="square" rtlCol="0">
            <a:spAutoFit/>
          </a:bodyPr>
          <a:lstStyle/>
          <a:p>
            <a:pPr>
              <a:lnSpc>
                <a:spcPct val="150000"/>
              </a:lnSpc>
            </a:pPr>
            <a:r>
              <a:rPr lang="en-US" altLang="zh-TW" b="1" i="1" dirty="0">
                <a:latin typeface="Times New Roman" pitchFamily="18" charset="0"/>
                <a:cs typeface="Times New Roman" pitchFamily="18" charset="0"/>
              </a:rPr>
              <a:t>Crystal Length = 3cm</a:t>
            </a:r>
          </a:p>
          <a:p>
            <a:pPr>
              <a:lnSpc>
                <a:spcPct val="150000"/>
              </a:lnSpc>
            </a:pPr>
            <a:endParaRPr lang="en-US" altLang="zh-TW" sz="200" b="1" i="1" dirty="0">
              <a:latin typeface="Times New Roman" pitchFamily="18" charset="0"/>
              <a:cs typeface="Times New Roman" pitchFamily="18" charset="0"/>
            </a:endParaRPr>
          </a:p>
          <a:p>
            <a:pPr>
              <a:lnSpc>
                <a:spcPct val="150000"/>
              </a:lnSpc>
            </a:pPr>
            <a:r>
              <a:rPr lang="en-US" altLang="zh-TW" b="1" i="1" dirty="0">
                <a:latin typeface="Times New Roman" pitchFamily="18" charset="0"/>
                <a:cs typeface="Times New Roman" pitchFamily="18" charset="0"/>
              </a:rPr>
              <a:t>Phase Matching Temperature = 34 ℃</a:t>
            </a:r>
            <a:endParaRPr lang="en-US" altLang="zh-TW" sz="200" b="1" i="1" dirty="0">
              <a:latin typeface="Times New Roman" pitchFamily="18" charset="0"/>
              <a:cs typeface="Times New Roman" pitchFamily="18" charset="0"/>
            </a:endParaRPr>
          </a:p>
          <a:p>
            <a:pPr>
              <a:lnSpc>
                <a:spcPct val="150000"/>
              </a:lnSpc>
            </a:pPr>
            <a:r>
              <a:rPr lang="en-US" altLang="zh-TW" sz="200" b="1" i="1" dirty="0">
                <a:latin typeface="Times New Roman" pitchFamily="18" charset="0"/>
                <a:cs typeface="Times New Roman" pitchFamily="18" charset="0"/>
              </a:rPr>
              <a:t>un</a:t>
            </a:r>
          </a:p>
        </p:txBody>
      </p:sp>
      <p:grpSp>
        <p:nvGrpSpPr>
          <p:cNvPr id="23" name="群組 22"/>
          <p:cNvGrpSpPr/>
          <p:nvPr/>
        </p:nvGrpSpPr>
        <p:grpSpPr>
          <a:xfrm>
            <a:off x="1101459" y="1833738"/>
            <a:ext cx="11316636" cy="3300691"/>
            <a:chOff x="889719" y="816374"/>
            <a:chExt cx="11233049" cy="3090228"/>
          </a:xfrm>
        </p:grpSpPr>
        <p:cxnSp>
          <p:nvCxnSpPr>
            <p:cNvPr id="63" name="直線接點 62"/>
            <p:cNvCxnSpPr/>
            <p:nvPr/>
          </p:nvCxnSpPr>
          <p:spPr>
            <a:xfrm>
              <a:off x="5415559" y="3129637"/>
              <a:ext cx="0" cy="740585"/>
            </a:xfrm>
            <a:prstGeom prst="line">
              <a:avLst/>
            </a:prstGeom>
            <a:ln w="19050"/>
          </p:spPr>
          <p:style>
            <a:lnRef idx="1">
              <a:schemeClr val="dk1"/>
            </a:lnRef>
            <a:fillRef idx="0">
              <a:schemeClr val="dk1"/>
            </a:fillRef>
            <a:effectRef idx="0">
              <a:schemeClr val="dk1"/>
            </a:effectRef>
            <a:fontRef idx="minor">
              <a:schemeClr val="tx1"/>
            </a:fontRef>
          </p:style>
        </p:cxnSp>
        <p:grpSp>
          <p:nvGrpSpPr>
            <p:cNvPr id="7" name="群組 6"/>
            <p:cNvGrpSpPr/>
            <p:nvPr/>
          </p:nvGrpSpPr>
          <p:grpSpPr>
            <a:xfrm>
              <a:off x="889719" y="1042526"/>
              <a:ext cx="11233049" cy="2515486"/>
              <a:chOff x="889719" y="1042526"/>
              <a:chExt cx="11233049" cy="2515486"/>
            </a:xfrm>
          </p:grpSpPr>
          <p:grpSp>
            <p:nvGrpSpPr>
              <p:cNvPr id="5" name="群組 4"/>
              <p:cNvGrpSpPr/>
              <p:nvPr/>
            </p:nvGrpSpPr>
            <p:grpSpPr>
              <a:xfrm>
                <a:off x="889719" y="1042526"/>
                <a:ext cx="11233049" cy="2515486"/>
                <a:chOff x="564727" y="2052509"/>
                <a:chExt cx="12383842" cy="2784496"/>
              </a:xfrm>
            </p:grpSpPr>
            <p:grpSp>
              <p:nvGrpSpPr>
                <p:cNvPr id="113" name="群組 112">
                  <a:extLst>
                    <a:ext uri="{FF2B5EF4-FFF2-40B4-BE49-F238E27FC236}">
                      <a16:creationId xmlns:a16="http://schemas.microsoft.com/office/drawing/2014/main" id="{28BCBD96-3B1A-455B-A807-BEED123A31A4}"/>
                    </a:ext>
                  </a:extLst>
                </p:cNvPr>
                <p:cNvGrpSpPr/>
                <p:nvPr/>
              </p:nvGrpSpPr>
              <p:grpSpPr>
                <a:xfrm>
                  <a:off x="564727" y="2052509"/>
                  <a:ext cx="11171641" cy="2784496"/>
                  <a:chOff x="85501" y="120001"/>
                  <a:chExt cx="5955709" cy="1159165"/>
                </a:xfrm>
              </p:grpSpPr>
              <p:grpSp>
                <p:nvGrpSpPr>
                  <p:cNvPr id="114" name="群組 113">
                    <a:extLst>
                      <a:ext uri="{FF2B5EF4-FFF2-40B4-BE49-F238E27FC236}">
                        <a16:creationId xmlns:a16="http://schemas.microsoft.com/office/drawing/2014/main" id="{40D0CE31-A402-49F8-A549-E263124598C9}"/>
                      </a:ext>
                    </a:extLst>
                  </p:cNvPr>
                  <p:cNvGrpSpPr/>
                  <p:nvPr/>
                </p:nvGrpSpPr>
                <p:grpSpPr>
                  <a:xfrm>
                    <a:off x="85501" y="150504"/>
                    <a:ext cx="5955709" cy="1128662"/>
                    <a:chOff x="85501" y="-30471"/>
                    <a:chExt cx="5955710" cy="1128661"/>
                  </a:xfrm>
                </p:grpSpPr>
                <p:grpSp>
                  <p:nvGrpSpPr>
                    <p:cNvPr id="117" name="群組 116">
                      <a:extLst>
                        <a:ext uri="{FF2B5EF4-FFF2-40B4-BE49-F238E27FC236}">
                          <a16:creationId xmlns:a16="http://schemas.microsoft.com/office/drawing/2014/main" id="{13F4B299-107F-4F76-8962-EB9ACBF4E936}"/>
                        </a:ext>
                      </a:extLst>
                    </p:cNvPr>
                    <p:cNvGrpSpPr/>
                    <p:nvPr/>
                  </p:nvGrpSpPr>
                  <p:grpSpPr>
                    <a:xfrm>
                      <a:off x="85501" y="102227"/>
                      <a:ext cx="5810255" cy="995963"/>
                      <a:chOff x="85501" y="102227"/>
                      <a:chExt cx="5810255" cy="995963"/>
                    </a:xfrm>
                  </p:grpSpPr>
                  <p:grpSp>
                    <p:nvGrpSpPr>
                      <p:cNvPr id="122" name="群組 121">
                        <a:extLst>
                          <a:ext uri="{FF2B5EF4-FFF2-40B4-BE49-F238E27FC236}">
                            <a16:creationId xmlns:a16="http://schemas.microsoft.com/office/drawing/2014/main" id="{56B8720F-F0A4-43D9-9225-936FDC76F995}"/>
                          </a:ext>
                        </a:extLst>
                      </p:cNvPr>
                      <p:cNvGrpSpPr/>
                      <p:nvPr/>
                    </p:nvGrpSpPr>
                    <p:grpSpPr>
                      <a:xfrm>
                        <a:off x="85501" y="102227"/>
                        <a:ext cx="5810255" cy="995963"/>
                        <a:chOff x="85501" y="102227"/>
                        <a:chExt cx="5810255" cy="995963"/>
                      </a:xfrm>
                    </p:grpSpPr>
                    <p:sp>
                      <p:nvSpPr>
                        <p:cNvPr id="123" name="矩形 122">
                          <a:extLst>
                            <a:ext uri="{FF2B5EF4-FFF2-40B4-BE49-F238E27FC236}">
                              <a16:creationId xmlns:a16="http://schemas.microsoft.com/office/drawing/2014/main" id="{6F9DCF7B-0A45-422B-97E1-A7BF723366F9}"/>
                            </a:ext>
                          </a:extLst>
                        </p:cNvPr>
                        <p:cNvSpPr/>
                        <p:nvPr/>
                      </p:nvSpPr>
                      <p:spPr>
                        <a:xfrm>
                          <a:off x="4610100" y="106878"/>
                          <a:ext cx="162370" cy="991312"/>
                        </a:xfrm>
                        <a:prstGeom prst="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24" name="矩形 123">
                          <a:extLst>
                            <a:ext uri="{FF2B5EF4-FFF2-40B4-BE49-F238E27FC236}">
                              <a16:creationId xmlns:a16="http://schemas.microsoft.com/office/drawing/2014/main" id="{D9E85350-C944-40EB-A4CC-80147C9097FA}"/>
                            </a:ext>
                          </a:extLst>
                        </p:cNvPr>
                        <p:cNvSpPr/>
                        <p:nvPr/>
                      </p:nvSpPr>
                      <p:spPr>
                        <a:xfrm>
                          <a:off x="988213" y="268791"/>
                          <a:ext cx="3514477" cy="626913"/>
                        </a:xfrm>
                        <a:prstGeom prst="rect">
                          <a:avLst/>
                        </a:prstGeom>
                        <a:solidFill>
                          <a:schemeClr val="bg2">
                            <a:lumMod val="75000"/>
                          </a:schemeClr>
                        </a:solidFill>
                        <a:ln>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dirty="0"/>
                        </a:p>
                      </p:txBody>
                    </p:sp>
                    <p:sp>
                      <p:nvSpPr>
                        <p:cNvPr id="125" name="矩形 124">
                          <a:extLst>
                            <a:ext uri="{FF2B5EF4-FFF2-40B4-BE49-F238E27FC236}">
                              <a16:creationId xmlns:a16="http://schemas.microsoft.com/office/drawing/2014/main" id="{E7F47C5C-27CE-4CA3-9D75-AF58E0505A8D}"/>
                            </a:ext>
                          </a:extLst>
                        </p:cNvPr>
                        <p:cNvSpPr/>
                        <p:nvPr/>
                      </p:nvSpPr>
                      <p:spPr>
                        <a:xfrm>
                          <a:off x="739999" y="102227"/>
                          <a:ext cx="162370" cy="991312"/>
                        </a:xfrm>
                        <a:prstGeom prst="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nvGrpSpPr>
                        <p:cNvPr id="126" name="群組 125">
                          <a:extLst>
                            <a:ext uri="{FF2B5EF4-FFF2-40B4-BE49-F238E27FC236}">
                              <a16:creationId xmlns:a16="http://schemas.microsoft.com/office/drawing/2014/main" id="{CA9DE4F3-C4A7-4923-BB5B-A1DDE1103D45}"/>
                            </a:ext>
                          </a:extLst>
                        </p:cNvPr>
                        <p:cNvGrpSpPr/>
                        <p:nvPr/>
                      </p:nvGrpSpPr>
                      <p:grpSpPr>
                        <a:xfrm>
                          <a:off x="1340466" y="274158"/>
                          <a:ext cx="3004173" cy="626702"/>
                          <a:chOff x="103825" y="126050"/>
                          <a:chExt cx="3004173" cy="626702"/>
                        </a:xfrm>
                      </p:grpSpPr>
                      <p:sp>
                        <p:nvSpPr>
                          <p:cNvPr id="136" name="矩形 135">
                            <a:extLst>
                              <a:ext uri="{FF2B5EF4-FFF2-40B4-BE49-F238E27FC236}">
                                <a16:creationId xmlns:a16="http://schemas.microsoft.com/office/drawing/2014/main" id="{CFDFAFA4-B92A-4066-9D91-A7DB401FC789}"/>
                              </a:ext>
                            </a:extLst>
                          </p:cNvPr>
                          <p:cNvSpPr/>
                          <p:nvPr/>
                        </p:nvSpPr>
                        <p:spPr>
                          <a:xfrm>
                            <a:off x="406043" y="126051"/>
                            <a:ext cx="162388"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37" name="矩形 136">
                            <a:extLst>
                              <a:ext uri="{FF2B5EF4-FFF2-40B4-BE49-F238E27FC236}">
                                <a16:creationId xmlns:a16="http://schemas.microsoft.com/office/drawing/2014/main" id="{A8BDE69B-F017-4B51-A308-F51C5A66F0BA}"/>
                              </a:ext>
                            </a:extLst>
                          </p:cNvPr>
                          <p:cNvSpPr/>
                          <p:nvPr/>
                        </p:nvSpPr>
                        <p:spPr>
                          <a:xfrm>
                            <a:off x="103825" y="126050"/>
                            <a:ext cx="162388"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38" name="矩形 137">
                            <a:extLst>
                              <a:ext uri="{FF2B5EF4-FFF2-40B4-BE49-F238E27FC236}">
                                <a16:creationId xmlns:a16="http://schemas.microsoft.com/office/drawing/2014/main" id="{33A89D08-ADF3-48BC-B305-809A075B0412}"/>
                              </a:ext>
                            </a:extLst>
                          </p:cNvPr>
                          <p:cNvSpPr/>
                          <p:nvPr/>
                        </p:nvSpPr>
                        <p:spPr>
                          <a:xfrm>
                            <a:off x="561026" y="126051"/>
                            <a:ext cx="162388"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39" name="矩形 138">
                            <a:extLst>
                              <a:ext uri="{FF2B5EF4-FFF2-40B4-BE49-F238E27FC236}">
                                <a16:creationId xmlns:a16="http://schemas.microsoft.com/office/drawing/2014/main" id="{C96D9D14-5F62-4261-A00B-FCB87DDA1108}"/>
                              </a:ext>
                            </a:extLst>
                          </p:cNvPr>
                          <p:cNvSpPr/>
                          <p:nvPr/>
                        </p:nvSpPr>
                        <p:spPr>
                          <a:xfrm>
                            <a:off x="1165461" y="126120"/>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0" name="矩形 139">
                            <a:extLst>
                              <a:ext uri="{FF2B5EF4-FFF2-40B4-BE49-F238E27FC236}">
                                <a16:creationId xmlns:a16="http://schemas.microsoft.com/office/drawing/2014/main" id="{9882EA07-5F6C-46BE-B524-5D18A7DECB1B}"/>
                              </a:ext>
                            </a:extLst>
                          </p:cNvPr>
                          <p:cNvSpPr/>
                          <p:nvPr/>
                        </p:nvSpPr>
                        <p:spPr>
                          <a:xfrm>
                            <a:off x="1302808" y="126120"/>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1" name="矩形 140">
                            <a:extLst>
                              <a:ext uri="{FF2B5EF4-FFF2-40B4-BE49-F238E27FC236}">
                                <a16:creationId xmlns:a16="http://schemas.microsoft.com/office/drawing/2014/main" id="{DB386221-63E3-491E-A76A-96DF1BD04B0F}"/>
                              </a:ext>
                            </a:extLst>
                          </p:cNvPr>
                          <p:cNvSpPr/>
                          <p:nvPr/>
                        </p:nvSpPr>
                        <p:spPr>
                          <a:xfrm>
                            <a:off x="1457791" y="126120"/>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2" name="矩形 141">
                            <a:extLst>
                              <a:ext uri="{FF2B5EF4-FFF2-40B4-BE49-F238E27FC236}">
                                <a16:creationId xmlns:a16="http://schemas.microsoft.com/office/drawing/2014/main" id="{A50CCBCB-D06D-4535-A5D4-7B29CD64444A}"/>
                              </a:ext>
                            </a:extLst>
                          </p:cNvPr>
                          <p:cNvSpPr/>
                          <p:nvPr/>
                        </p:nvSpPr>
                        <p:spPr>
                          <a:xfrm>
                            <a:off x="2403185" y="126051"/>
                            <a:ext cx="162388"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3" name="矩形 142">
                            <a:extLst>
                              <a:ext uri="{FF2B5EF4-FFF2-40B4-BE49-F238E27FC236}">
                                <a16:creationId xmlns:a16="http://schemas.microsoft.com/office/drawing/2014/main" id="{18FF9374-A83F-472E-A62D-BBE2F8E97F97}"/>
                              </a:ext>
                            </a:extLst>
                          </p:cNvPr>
                          <p:cNvSpPr/>
                          <p:nvPr/>
                        </p:nvSpPr>
                        <p:spPr>
                          <a:xfrm>
                            <a:off x="2248204" y="126051"/>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4" name="矩形 143">
                            <a:extLst>
                              <a:ext uri="{FF2B5EF4-FFF2-40B4-BE49-F238E27FC236}">
                                <a16:creationId xmlns:a16="http://schemas.microsoft.com/office/drawing/2014/main" id="{21B4254A-3FE7-4412-9182-A04470F7A627}"/>
                              </a:ext>
                            </a:extLst>
                          </p:cNvPr>
                          <p:cNvSpPr/>
                          <p:nvPr/>
                        </p:nvSpPr>
                        <p:spPr>
                          <a:xfrm>
                            <a:off x="2945628" y="126051"/>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5" name="矩形 144">
                            <a:extLst>
                              <a:ext uri="{FF2B5EF4-FFF2-40B4-BE49-F238E27FC236}">
                                <a16:creationId xmlns:a16="http://schemas.microsoft.com/office/drawing/2014/main" id="{3ED66B08-5068-4EA0-B919-3AE92D257341}"/>
                              </a:ext>
                            </a:extLst>
                          </p:cNvPr>
                          <p:cNvSpPr/>
                          <p:nvPr/>
                        </p:nvSpPr>
                        <p:spPr>
                          <a:xfrm>
                            <a:off x="2790645" y="126051"/>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6" name="矩形 145">
                            <a:extLst>
                              <a:ext uri="{FF2B5EF4-FFF2-40B4-BE49-F238E27FC236}">
                                <a16:creationId xmlns:a16="http://schemas.microsoft.com/office/drawing/2014/main" id="{B73729C5-DE5F-4911-942D-797D5BAE5DCF}"/>
                              </a:ext>
                            </a:extLst>
                          </p:cNvPr>
                          <p:cNvSpPr/>
                          <p:nvPr/>
                        </p:nvSpPr>
                        <p:spPr>
                          <a:xfrm>
                            <a:off x="1883994" y="126051"/>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127" name="群組 126">
                          <a:extLst>
                            <a:ext uri="{FF2B5EF4-FFF2-40B4-BE49-F238E27FC236}">
                              <a16:creationId xmlns:a16="http://schemas.microsoft.com/office/drawing/2014/main" id="{3EC62733-BB5F-4208-85EA-5075CA33E181}"/>
                            </a:ext>
                          </a:extLst>
                        </p:cNvPr>
                        <p:cNvGrpSpPr/>
                        <p:nvPr/>
                      </p:nvGrpSpPr>
                      <p:grpSpPr>
                        <a:xfrm>
                          <a:off x="85501" y="127118"/>
                          <a:ext cx="5810255" cy="865717"/>
                          <a:chOff x="85501" y="127118"/>
                          <a:chExt cx="5810255" cy="865717"/>
                        </a:xfrm>
                      </p:grpSpPr>
                      <p:sp>
                        <p:nvSpPr>
                          <p:cNvPr id="135" name="箭號: 向右 134">
                            <a:extLst>
                              <a:ext uri="{FF2B5EF4-FFF2-40B4-BE49-F238E27FC236}">
                                <a16:creationId xmlns:a16="http://schemas.microsoft.com/office/drawing/2014/main" id="{B8EEBC97-3A3E-47CF-BF76-BF4848498EBA}"/>
                              </a:ext>
                            </a:extLst>
                          </p:cNvPr>
                          <p:cNvSpPr/>
                          <p:nvPr/>
                        </p:nvSpPr>
                        <p:spPr>
                          <a:xfrm>
                            <a:off x="4267105" y="262460"/>
                            <a:ext cx="1016904" cy="200832"/>
                          </a:xfrm>
                          <a:prstGeom prst="rightArrow">
                            <a:avLst/>
                          </a:prstGeom>
                          <a:solidFill>
                            <a:srgbClr val="FFFF00"/>
                          </a:solidFill>
                          <a:ln>
                            <a:solidFill>
                              <a:srgbClr val="FFFF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dirty="0"/>
                          </a:p>
                        </p:txBody>
                      </p:sp>
                      <p:sp>
                        <p:nvSpPr>
                          <p:cNvPr id="129" name="箭號: 向右 128">
                            <a:extLst>
                              <a:ext uri="{FF2B5EF4-FFF2-40B4-BE49-F238E27FC236}">
                                <a16:creationId xmlns:a16="http://schemas.microsoft.com/office/drawing/2014/main" id="{5DEB5399-17CA-4258-AA23-0D021F808C56}"/>
                              </a:ext>
                            </a:extLst>
                          </p:cNvPr>
                          <p:cNvSpPr/>
                          <p:nvPr/>
                        </p:nvSpPr>
                        <p:spPr>
                          <a:xfrm>
                            <a:off x="3723282" y="545095"/>
                            <a:ext cx="1572260" cy="114300"/>
                          </a:xfrm>
                          <a:prstGeom prst="rightArrow">
                            <a:avLst/>
                          </a:prstGeom>
                          <a:solidFill>
                            <a:srgbClr val="FFC000"/>
                          </a:solidFill>
                          <a:ln>
                            <a:solidFill>
                              <a:srgbClr val="FFC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effectLst>
                                <a:outerShdw blurRad="38100" dist="38100" dir="2700000" algn="tl">
                                  <a:srgbClr val="000000">
                                    <a:alpha val="43137"/>
                                  </a:srgbClr>
                                </a:outerShdw>
                              </a:effectLst>
                            </a:endParaRPr>
                          </a:p>
                        </p:txBody>
                      </p:sp>
                      <p:sp>
                        <p:nvSpPr>
                          <p:cNvPr id="130" name="文字方塊 2">
                            <a:extLst>
                              <a:ext uri="{FF2B5EF4-FFF2-40B4-BE49-F238E27FC236}">
                                <a16:creationId xmlns:a16="http://schemas.microsoft.com/office/drawing/2014/main" id="{865850A5-BE43-4621-8AAB-E4D5A58BFA3E}"/>
                              </a:ext>
                            </a:extLst>
                          </p:cNvPr>
                          <p:cNvSpPr txBox="1">
                            <a:spLocks noChangeArrowheads="1"/>
                          </p:cNvSpPr>
                          <p:nvPr/>
                        </p:nvSpPr>
                        <p:spPr bwMode="auto">
                          <a:xfrm>
                            <a:off x="4834251" y="127118"/>
                            <a:ext cx="1061505" cy="328196"/>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00" b="1" kern="100">
                                <a:effectLst/>
                                <a:latin typeface="標楷體" panose="03000509000000000000" pitchFamily="65" charset="-120"/>
                                <a:ea typeface="新細明體" panose="02020500000000000000" pitchFamily="18" charset="-120"/>
                                <a:cs typeface="Times New Roman" panose="02020603050405020304" pitchFamily="18" charset="0"/>
                              </a:rPr>
                              <a:t>idlers</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131" name="文字方塊 2">
                            <a:extLst>
                              <a:ext uri="{FF2B5EF4-FFF2-40B4-BE49-F238E27FC236}">
                                <a16:creationId xmlns:a16="http://schemas.microsoft.com/office/drawing/2014/main" id="{CF0A95EE-8279-4D68-9560-580C3295F209}"/>
                              </a:ext>
                            </a:extLst>
                          </p:cNvPr>
                          <p:cNvSpPr txBox="1">
                            <a:spLocks noChangeArrowheads="1"/>
                          </p:cNvSpPr>
                          <p:nvPr/>
                        </p:nvSpPr>
                        <p:spPr bwMode="auto">
                          <a:xfrm>
                            <a:off x="4824447" y="442366"/>
                            <a:ext cx="1061506" cy="328196"/>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00" b="1" kern="100" dirty="0">
                                <a:effectLst/>
                                <a:latin typeface="標楷體" panose="03000509000000000000" pitchFamily="65" charset="-120"/>
                                <a:ea typeface="新細明體" panose="02020500000000000000" pitchFamily="18" charset="-120"/>
                                <a:cs typeface="Times New Roman" panose="02020603050405020304" pitchFamily="18" charset="0"/>
                              </a:rPr>
                              <a:t>signals</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132" name="箭號: 向右 131">
                            <a:extLst>
                              <a:ext uri="{FF2B5EF4-FFF2-40B4-BE49-F238E27FC236}">
                                <a16:creationId xmlns:a16="http://schemas.microsoft.com/office/drawing/2014/main" id="{9AD0B2A3-9851-46C4-AD78-AD86E0D07050}"/>
                              </a:ext>
                            </a:extLst>
                          </p:cNvPr>
                          <p:cNvSpPr/>
                          <p:nvPr/>
                        </p:nvSpPr>
                        <p:spPr>
                          <a:xfrm rot="10800000">
                            <a:off x="921461" y="435649"/>
                            <a:ext cx="3509010" cy="341630"/>
                          </a:xfrm>
                          <a:prstGeom prst="rightArrow">
                            <a:avLst/>
                          </a:prstGeom>
                          <a:solidFill>
                            <a:srgbClr val="FFC000"/>
                          </a:solidFill>
                          <a:ln>
                            <a:solidFill>
                              <a:srgbClr val="FFC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effectLst>
                                <a:outerShdw blurRad="38100" dist="38100" dir="2700000" algn="tl">
                                  <a:srgbClr val="000000">
                                    <a:alpha val="43137"/>
                                  </a:srgbClr>
                                </a:outerShdw>
                              </a:effectLst>
                            </a:endParaRPr>
                          </a:p>
                        </p:txBody>
                      </p:sp>
                      <p:sp>
                        <p:nvSpPr>
                          <p:cNvPr id="133" name="箭號: 向右 132">
                            <a:extLst>
                              <a:ext uri="{FF2B5EF4-FFF2-40B4-BE49-F238E27FC236}">
                                <a16:creationId xmlns:a16="http://schemas.microsoft.com/office/drawing/2014/main" id="{7FED1A8E-5F39-4DC2-86EB-AFC37F3CD8FB}"/>
                              </a:ext>
                            </a:extLst>
                          </p:cNvPr>
                          <p:cNvSpPr/>
                          <p:nvPr/>
                        </p:nvSpPr>
                        <p:spPr>
                          <a:xfrm>
                            <a:off x="3468104" y="435849"/>
                            <a:ext cx="1133475" cy="341630"/>
                          </a:xfrm>
                          <a:prstGeom prst="rightArrow">
                            <a:avLst/>
                          </a:prstGeom>
                          <a:solidFill>
                            <a:srgbClr val="FFC000"/>
                          </a:solidFill>
                          <a:ln>
                            <a:solidFill>
                              <a:srgbClr val="FFC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effectLst>
                                <a:outerShdw blurRad="38100" dist="38100" dir="2700000" algn="tl">
                                  <a:srgbClr val="000000">
                                    <a:alpha val="43137"/>
                                  </a:srgbClr>
                                </a:outerShdw>
                              </a:effectLst>
                            </a:endParaRPr>
                          </a:p>
                        </p:txBody>
                      </p:sp>
                      <p:sp>
                        <p:nvSpPr>
                          <p:cNvPr id="134" name="箭號: 向右 133">
                            <a:extLst>
                              <a:ext uri="{FF2B5EF4-FFF2-40B4-BE49-F238E27FC236}">
                                <a16:creationId xmlns:a16="http://schemas.microsoft.com/office/drawing/2014/main" id="{4927ECE5-A4C0-4722-B681-C0D9702F96DF}"/>
                              </a:ext>
                            </a:extLst>
                          </p:cNvPr>
                          <p:cNvSpPr/>
                          <p:nvPr/>
                        </p:nvSpPr>
                        <p:spPr>
                          <a:xfrm>
                            <a:off x="85501" y="625805"/>
                            <a:ext cx="5353050" cy="367030"/>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dirty="0"/>
                          </a:p>
                        </p:txBody>
                      </p:sp>
                    </p:grpSp>
                    <p:sp>
                      <p:nvSpPr>
                        <p:cNvPr id="128" name="文字方塊 2">
                          <a:extLst>
                            <a:ext uri="{FF2B5EF4-FFF2-40B4-BE49-F238E27FC236}">
                              <a16:creationId xmlns:a16="http://schemas.microsoft.com/office/drawing/2014/main" id="{BE699D16-6796-429B-B855-150614D49696}"/>
                            </a:ext>
                          </a:extLst>
                        </p:cNvPr>
                        <p:cNvSpPr txBox="1">
                          <a:spLocks noChangeArrowheads="1"/>
                        </p:cNvSpPr>
                        <p:nvPr/>
                      </p:nvSpPr>
                      <p:spPr bwMode="auto">
                        <a:xfrm>
                          <a:off x="2323581" y="530045"/>
                          <a:ext cx="1950367" cy="328196"/>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600" kern="100" dirty="0">
                              <a:ln>
                                <a:noFill/>
                              </a:ln>
                              <a:solidFill>
                                <a:srgbClr val="000000"/>
                              </a:solidFill>
                              <a:effectLst>
                                <a:outerShdw blurRad="38100" dist="19050" dir="2700000" algn="tl">
                                  <a:schemeClr val="dk1">
                                    <a:alpha val="40000"/>
                                  </a:schemeClr>
                                </a:outerShdw>
                              </a:effectLst>
                              <a:latin typeface="標楷體" panose="03000509000000000000" pitchFamily="65" charset="-120"/>
                              <a:ea typeface="新細明體" panose="02020500000000000000" pitchFamily="18" charset="-120"/>
                              <a:cs typeface="Times New Roman" panose="02020603050405020304" pitchFamily="18" charset="0"/>
                            </a:rPr>
                            <a:t>EO OPO - APPLN</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sp>
                    <p:nvSpPr>
                      <p:cNvPr id="121" name="文字方塊 2">
                        <a:extLst>
                          <a:ext uri="{FF2B5EF4-FFF2-40B4-BE49-F238E27FC236}">
                            <a16:creationId xmlns:a16="http://schemas.microsoft.com/office/drawing/2014/main" id="{964A72F8-5358-401D-9681-75EC3D99F72E}"/>
                          </a:ext>
                        </a:extLst>
                      </p:cNvPr>
                      <p:cNvSpPr txBox="1">
                        <a:spLocks noChangeArrowheads="1"/>
                      </p:cNvSpPr>
                      <p:nvPr/>
                    </p:nvSpPr>
                    <p:spPr bwMode="auto">
                      <a:xfrm>
                        <a:off x="96430" y="745399"/>
                        <a:ext cx="1061505" cy="328196"/>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200" b="1" i="1" kern="100" dirty="0">
                            <a:latin typeface="Times New Roman" panose="02020603050405020304" pitchFamily="18" charset="0"/>
                            <a:ea typeface="新細明體" panose="02020500000000000000" pitchFamily="18" charset="-120"/>
                            <a:cs typeface="Times New Roman" panose="02020603050405020304" pitchFamily="18" charset="0"/>
                          </a:rPr>
                          <a:t>Pump:1064nm</a:t>
                        </a:r>
                        <a:endParaRPr lang="zh-TW" sz="1200" i="1" kern="100" dirty="0">
                          <a:latin typeface="Times New Roman" panose="02020603050405020304" pitchFamily="18" charset="0"/>
                          <a:ea typeface="新細明體" panose="02020500000000000000" pitchFamily="18" charset="-120"/>
                          <a:cs typeface="Times New Roman" panose="02020603050405020304" pitchFamily="18" charset="0"/>
                        </a:endParaRPr>
                      </a:p>
                    </p:txBody>
                  </p:sp>
                </p:grpSp>
                <p:sp>
                  <p:nvSpPr>
                    <p:cNvPr id="118" name="手繪多邊形: 圖案 117">
                      <a:extLst>
                        <a:ext uri="{FF2B5EF4-FFF2-40B4-BE49-F238E27FC236}">
                          <a16:creationId xmlns:a16="http://schemas.microsoft.com/office/drawing/2014/main" id="{2623F062-E333-4CB1-9528-09C91805208A}"/>
                        </a:ext>
                      </a:extLst>
                    </p:cNvPr>
                    <p:cNvSpPr/>
                    <p:nvPr/>
                  </p:nvSpPr>
                  <p:spPr>
                    <a:xfrm>
                      <a:off x="5458194" y="446030"/>
                      <a:ext cx="526165" cy="236395"/>
                    </a:xfrm>
                    <a:custGeom>
                      <a:avLst/>
                      <a:gdLst>
                        <a:gd name="connsiteX0" fmla="*/ 0 w 742208"/>
                        <a:gd name="connsiteY0" fmla="*/ 445331 h 483814"/>
                        <a:gd name="connsiteX1" fmla="*/ 89065 w 742208"/>
                        <a:gd name="connsiteY1" fmla="*/ 421581 h 483814"/>
                        <a:gd name="connsiteX2" fmla="*/ 178130 w 742208"/>
                        <a:gd name="connsiteY2" fmla="*/ 445331 h 483814"/>
                        <a:gd name="connsiteX3" fmla="*/ 243445 w 742208"/>
                        <a:gd name="connsiteY3" fmla="*/ 7 h 483814"/>
                        <a:gd name="connsiteX4" fmla="*/ 326572 w 742208"/>
                        <a:gd name="connsiteY4" fmla="*/ 457207 h 483814"/>
                        <a:gd name="connsiteX5" fmla="*/ 427512 w 742208"/>
                        <a:gd name="connsiteY5" fmla="*/ 433456 h 483814"/>
                        <a:gd name="connsiteX6" fmla="*/ 546265 w 742208"/>
                        <a:gd name="connsiteY6" fmla="*/ 469082 h 483814"/>
                        <a:gd name="connsiteX7" fmla="*/ 629393 w 742208"/>
                        <a:gd name="connsiteY7" fmla="*/ 451269 h 483814"/>
                        <a:gd name="connsiteX8" fmla="*/ 742208 w 742208"/>
                        <a:gd name="connsiteY8" fmla="*/ 463144 h 48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2208" h="483814">
                          <a:moveTo>
                            <a:pt x="0" y="445331"/>
                          </a:moveTo>
                          <a:cubicBezTo>
                            <a:pt x="29688" y="433456"/>
                            <a:pt x="59377" y="421581"/>
                            <a:pt x="89065" y="421581"/>
                          </a:cubicBezTo>
                          <a:cubicBezTo>
                            <a:pt x="118753" y="421581"/>
                            <a:pt x="152400" y="515593"/>
                            <a:pt x="178130" y="445331"/>
                          </a:cubicBezTo>
                          <a:cubicBezTo>
                            <a:pt x="203860" y="375069"/>
                            <a:pt x="218705" y="-1972"/>
                            <a:pt x="243445" y="7"/>
                          </a:cubicBezTo>
                          <a:cubicBezTo>
                            <a:pt x="268185" y="1986"/>
                            <a:pt x="295894" y="384965"/>
                            <a:pt x="326572" y="457207"/>
                          </a:cubicBezTo>
                          <a:cubicBezTo>
                            <a:pt x="357250" y="529449"/>
                            <a:pt x="390897" y="431477"/>
                            <a:pt x="427512" y="433456"/>
                          </a:cubicBezTo>
                          <a:cubicBezTo>
                            <a:pt x="464127" y="435435"/>
                            <a:pt x="512618" y="466113"/>
                            <a:pt x="546265" y="469082"/>
                          </a:cubicBezTo>
                          <a:cubicBezTo>
                            <a:pt x="579912" y="472051"/>
                            <a:pt x="596736" y="452259"/>
                            <a:pt x="629393" y="451269"/>
                          </a:cubicBezTo>
                          <a:cubicBezTo>
                            <a:pt x="662050" y="450279"/>
                            <a:pt x="713509" y="466113"/>
                            <a:pt x="742208" y="46314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19" name="手繪多邊形: 圖案 118">
                      <a:extLst>
                        <a:ext uri="{FF2B5EF4-FFF2-40B4-BE49-F238E27FC236}">
                          <a16:creationId xmlns:a16="http://schemas.microsoft.com/office/drawing/2014/main" id="{A077DC91-CF5B-480E-9B2E-8937160A130F}"/>
                        </a:ext>
                      </a:extLst>
                    </p:cNvPr>
                    <p:cNvSpPr/>
                    <p:nvPr/>
                  </p:nvSpPr>
                  <p:spPr>
                    <a:xfrm>
                      <a:off x="5471679" y="759204"/>
                      <a:ext cx="569532" cy="247768"/>
                    </a:xfrm>
                    <a:custGeom>
                      <a:avLst/>
                      <a:gdLst>
                        <a:gd name="connsiteX0" fmla="*/ 0 w 748146"/>
                        <a:gd name="connsiteY0" fmla="*/ 575959 h 586516"/>
                        <a:gd name="connsiteX1" fmla="*/ 112816 w 748146"/>
                        <a:gd name="connsiteY1" fmla="*/ 528458 h 586516"/>
                        <a:gd name="connsiteX2" fmla="*/ 273133 w 748146"/>
                        <a:gd name="connsiteY2" fmla="*/ 564084 h 586516"/>
                        <a:gd name="connsiteX3" fmla="*/ 338447 w 748146"/>
                        <a:gd name="connsiteY3" fmla="*/ 510645 h 586516"/>
                        <a:gd name="connsiteX4" fmla="*/ 415637 w 748146"/>
                        <a:gd name="connsiteY4" fmla="*/ 558146 h 586516"/>
                        <a:gd name="connsiteX5" fmla="*/ 498764 w 748146"/>
                        <a:gd name="connsiteY5" fmla="*/ 6 h 586516"/>
                        <a:gd name="connsiteX6" fmla="*/ 587829 w 748146"/>
                        <a:gd name="connsiteY6" fmla="*/ 546271 h 586516"/>
                        <a:gd name="connsiteX7" fmla="*/ 641268 w 748146"/>
                        <a:gd name="connsiteY7" fmla="*/ 534396 h 586516"/>
                        <a:gd name="connsiteX8" fmla="*/ 748146 w 748146"/>
                        <a:gd name="connsiteY8" fmla="*/ 564084 h 58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8146" h="586516">
                          <a:moveTo>
                            <a:pt x="0" y="575959"/>
                          </a:moveTo>
                          <a:cubicBezTo>
                            <a:pt x="33647" y="553198"/>
                            <a:pt x="67294" y="530437"/>
                            <a:pt x="112816" y="528458"/>
                          </a:cubicBezTo>
                          <a:cubicBezTo>
                            <a:pt x="158338" y="526479"/>
                            <a:pt x="235528" y="567053"/>
                            <a:pt x="273133" y="564084"/>
                          </a:cubicBezTo>
                          <a:cubicBezTo>
                            <a:pt x="310738" y="561115"/>
                            <a:pt x="314696" y="511635"/>
                            <a:pt x="338447" y="510645"/>
                          </a:cubicBezTo>
                          <a:cubicBezTo>
                            <a:pt x="362198" y="509655"/>
                            <a:pt x="388918" y="643253"/>
                            <a:pt x="415637" y="558146"/>
                          </a:cubicBezTo>
                          <a:cubicBezTo>
                            <a:pt x="442357" y="473039"/>
                            <a:pt x="470065" y="1985"/>
                            <a:pt x="498764" y="6"/>
                          </a:cubicBezTo>
                          <a:cubicBezTo>
                            <a:pt x="527463" y="-1973"/>
                            <a:pt x="564078" y="457206"/>
                            <a:pt x="587829" y="546271"/>
                          </a:cubicBezTo>
                          <a:cubicBezTo>
                            <a:pt x="611580" y="635336"/>
                            <a:pt x="614549" y="531427"/>
                            <a:pt x="641268" y="534396"/>
                          </a:cubicBezTo>
                          <a:cubicBezTo>
                            <a:pt x="667987" y="537365"/>
                            <a:pt x="708066" y="550724"/>
                            <a:pt x="748146" y="56408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20" name="手繪多邊形: 圖案 119">
                      <a:extLst>
                        <a:ext uri="{FF2B5EF4-FFF2-40B4-BE49-F238E27FC236}">
                          <a16:creationId xmlns:a16="http://schemas.microsoft.com/office/drawing/2014/main" id="{8DA82DFF-53C6-4D81-9047-C4F2634DEB6A}"/>
                        </a:ext>
                      </a:extLst>
                    </p:cNvPr>
                    <p:cNvSpPr/>
                    <p:nvPr/>
                  </p:nvSpPr>
                  <p:spPr>
                    <a:xfrm>
                      <a:off x="5525736" y="-30471"/>
                      <a:ext cx="468416" cy="262460"/>
                    </a:xfrm>
                    <a:custGeom>
                      <a:avLst/>
                      <a:gdLst>
                        <a:gd name="connsiteX0" fmla="*/ 0 w 700644"/>
                        <a:gd name="connsiteY0" fmla="*/ 486890 h 553690"/>
                        <a:gd name="connsiteX1" fmla="*/ 136566 w 700644"/>
                        <a:gd name="connsiteY1" fmla="*/ 486890 h 553690"/>
                        <a:gd name="connsiteX2" fmla="*/ 207818 w 700644"/>
                        <a:gd name="connsiteY2" fmla="*/ 11877 h 553690"/>
                        <a:gd name="connsiteX3" fmla="*/ 290946 w 700644"/>
                        <a:gd name="connsiteY3" fmla="*/ 492827 h 553690"/>
                        <a:gd name="connsiteX4" fmla="*/ 368135 w 700644"/>
                        <a:gd name="connsiteY4" fmla="*/ 492827 h 553690"/>
                        <a:gd name="connsiteX5" fmla="*/ 445325 w 700644"/>
                        <a:gd name="connsiteY5" fmla="*/ 1 h 553690"/>
                        <a:gd name="connsiteX6" fmla="*/ 528452 w 700644"/>
                        <a:gd name="connsiteY6" fmla="*/ 498765 h 553690"/>
                        <a:gd name="connsiteX7" fmla="*/ 623455 w 700644"/>
                        <a:gd name="connsiteY7" fmla="*/ 492827 h 553690"/>
                        <a:gd name="connsiteX8" fmla="*/ 700644 w 700644"/>
                        <a:gd name="connsiteY8" fmla="*/ 504703 h 553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0644" h="553690">
                          <a:moveTo>
                            <a:pt x="0" y="486890"/>
                          </a:moveTo>
                          <a:cubicBezTo>
                            <a:pt x="50965" y="526474"/>
                            <a:pt x="101930" y="566059"/>
                            <a:pt x="136566" y="486890"/>
                          </a:cubicBezTo>
                          <a:cubicBezTo>
                            <a:pt x="171202" y="407721"/>
                            <a:pt x="182088" y="10887"/>
                            <a:pt x="207818" y="11877"/>
                          </a:cubicBezTo>
                          <a:cubicBezTo>
                            <a:pt x="233548" y="12866"/>
                            <a:pt x="264227" y="412669"/>
                            <a:pt x="290946" y="492827"/>
                          </a:cubicBezTo>
                          <a:cubicBezTo>
                            <a:pt x="317665" y="572985"/>
                            <a:pt x="342405" y="574965"/>
                            <a:pt x="368135" y="492827"/>
                          </a:cubicBezTo>
                          <a:cubicBezTo>
                            <a:pt x="393865" y="410689"/>
                            <a:pt x="418606" y="-989"/>
                            <a:pt x="445325" y="1"/>
                          </a:cubicBezTo>
                          <a:cubicBezTo>
                            <a:pt x="472044" y="991"/>
                            <a:pt x="498764" y="416627"/>
                            <a:pt x="528452" y="498765"/>
                          </a:cubicBezTo>
                          <a:cubicBezTo>
                            <a:pt x="558140" y="580903"/>
                            <a:pt x="594756" y="491837"/>
                            <a:pt x="623455" y="492827"/>
                          </a:cubicBezTo>
                          <a:cubicBezTo>
                            <a:pt x="652154" y="493817"/>
                            <a:pt x="676399" y="499260"/>
                            <a:pt x="700644" y="50470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115" name="文字方塊 2">
                    <a:extLst>
                      <a:ext uri="{FF2B5EF4-FFF2-40B4-BE49-F238E27FC236}">
                        <a16:creationId xmlns:a16="http://schemas.microsoft.com/office/drawing/2014/main" id="{43F1106B-743D-401D-9ECB-1CB34FD534FE}"/>
                      </a:ext>
                    </a:extLst>
                  </p:cNvPr>
                  <p:cNvSpPr txBox="1">
                    <a:spLocks noChangeArrowheads="1"/>
                  </p:cNvSpPr>
                  <p:nvPr/>
                </p:nvSpPr>
                <p:spPr bwMode="auto">
                  <a:xfrm>
                    <a:off x="593429" y="120001"/>
                    <a:ext cx="754912" cy="32766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400" b="1" kern="100" dirty="0">
                        <a:effectLst/>
                        <a:latin typeface="標楷體" panose="03000509000000000000" pitchFamily="65" charset="-120"/>
                        <a:ea typeface="新細明體" panose="02020500000000000000" pitchFamily="18" charset="-120"/>
                        <a:cs typeface="Times New Roman" panose="02020603050405020304" pitchFamily="18" charset="0"/>
                      </a:rPr>
                      <a:t>Mirror1</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116" name="文字方塊 2">
                    <a:extLst>
                      <a:ext uri="{FF2B5EF4-FFF2-40B4-BE49-F238E27FC236}">
                        <a16:creationId xmlns:a16="http://schemas.microsoft.com/office/drawing/2014/main" id="{8AF804F9-73AF-4825-B290-DA4A5ED596BD}"/>
                      </a:ext>
                    </a:extLst>
                  </p:cNvPr>
                  <p:cNvSpPr txBox="1">
                    <a:spLocks noChangeArrowheads="1"/>
                  </p:cNvSpPr>
                  <p:nvPr/>
                </p:nvSpPr>
                <p:spPr bwMode="auto">
                  <a:xfrm>
                    <a:off x="4462479" y="133196"/>
                    <a:ext cx="1063256" cy="328179"/>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400" b="1" kern="100" dirty="0">
                        <a:effectLst/>
                        <a:latin typeface="標楷體" panose="03000509000000000000" pitchFamily="65" charset="-120"/>
                        <a:ea typeface="新細明體" panose="02020500000000000000" pitchFamily="18" charset="-120"/>
                        <a:cs typeface="Times New Roman" panose="02020603050405020304" pitchFamily="18" charset="0"/>
                      </a:rPr>
                      <a:t>Mirror2</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sp>
              <p:nvSpPr>
                <p:cNvPr id="50" name="文字方塊 2">
                  <a:extLst>
                    <a:ext uri="{FF2B5EF4-FFF2-40B4-BE49-F238E27FC236}">
                      <a16:creationId xmlns:a16="http://schemas.microsoft.com/office/drawing/2014/main" id="{8AF804F9-73AF-4825-B290-DA4A5ED596BD}"/>
                    </a:ext>
                  </a:extLst>
                </p:cNvPr>
                <p:cNvSpPr txBox="1">
                  <a:spLocks noChangeArrowheads="1"/>
                </p:cNvSpPr>
                <p:nvPr/>
              </p:nvSpPr>
              <p:spPr bwMode="auto">
                <a:xfrm>
                  <a:off x="10493051" y="2699466"/>
                  <a:ext cx="2455518" cy="590474"/>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200" b="1" i="1" u="sng" kern="100" dirty="0">
                      <a:solidFill>
                        <a:srgbClr val="FF0000"/>
                      </a:solidFill>
                      <a:effectLst>
                        <a:outerShdw blurRad="38100" dist="38100" dir="2700000" algn="tl">
                          <a:srgbClr val="000000">
                            <a:alpha val="43137"/>
                          </a:srgbClr>
                        </a:outerShdw>
                      </a:effectLst>
                      <a:latin typeface="Times New Roman" panose="02020603050405020304" pitchFamily="18" charset="0"/>
                      <a:ea typeface="新細明體" panose="02020500000000000000" pitchFamily="18" charset="-120"/>
                      <a:cs typeface="Times New Roman" panose="02020603050405020304" pitchFamily="18" charset="0"/>
                    </a:rPr>
                    <a:t>1540 nm &amp; 1550 nm</a:t>
                  </a:r>
                  <a:endParaRPr lang="zh-TW" sz="1200" b="1" i="1" u="sng" kern="100" dirty="0">
                    <a:solidFill>
                      <a:srgbClr val="FF0000"/>
                    </a:solidFill>
                    <a:effectLst>
                      <a:outerShdw blurRad="38100" dist="38100" dir="2700000" algn="tl">
                        <a:srgbClr val="000000">
                          <a:alpha val="43137"/>
                        </a:srgbClr>
                      </a:outerShdw>
                    </a:effectLst>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12" name="矩形 11"/>
                <p:cNvSpPr/>
                <p:nvPr/>
              </p:nvSpPr>
              <p:spPr>
                <a:xfrm>
                  <a:off x="11123656" y="3458509"/>
                  <a:ext cx="811510" cy="306622"/>
                </a:xfrm>
                <a:prstGeom prst="rect">
                  <a:avLst/>
                </a:prstGeom>
                <a:ln>
                  <a:noFill/>
                </a:ln>
              </p:spPr>
              <p:txBody>
                <a:bodyPr wrap="none">
                  <a:spAutoFit/>
                </a:bodyPr>
                <a:lstStyle/>
                <a:p>
                  <a:r>
                    <a:rPr lang="en-US" altLang="zh-TW" sz="1200" b="1" i="1" u="sng" kern="1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1540 nm</a:t>
                  </a:r>
                  <a:endParaRPr lang="zh-TW" altLang="en-US" sz="1200" b="1" i="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2" name="矩形 51"/>
                <p:cNvSpPr/>
                <p:nvPr/>
              </p:nvSpPr>
              <p:spPr>
                <a:xfrm>
                  <a:off x="10569658" y="4229776"/>
                  <a:ext cx="744114" cy="276999"/>
                </a:xfrm>
                <a:prstGeom prst="rect">
                  <a:avLst/>
                </a:prstGeom>
              </p:spPr>
              <p:txBody>
                <a:bodyPr wrap="none">
                  <a:spAutoFit/>
                </a:bodyPr>
                <a:lstStyle/>
                <a:p>
                  <a:r>
                    <a:rPr lang="en-US" altLang="zh-TW" sz="1200" b="1" i="1" u="sng" kern="1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1550 nm</a:t>
                  </a:r>
                  <a:endParaRPr lang="zh-TW" altLang="en-US" sz="1200" i="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
            <p:nvSpPr>
              <p:cNvPr id="51" name="矩形 50"/>
              <p:cNvSpPr/>
              <p:nvPr/>
            </p:nvSpPr>
            <p:spPr>
              <a:xfrm>
                <a:off x="6328926" y="2306628"/>
                <a:ext cx="706170" cy="363832"/>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6" name="矩形 5"/>
              <p:cNvSpPr/>
              <p:nvPr/>
            </p:nvSpPr>
            <p:spPr>
              <a:xfrm>
                <a:off x="6376244" y="2309935"/>
                <a:ext cx="706170" cy="363832"/>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grpSp>
        <p:sp>
          <p:nvSpPr>
            <p:cNvPr id="16" name="橢圓 15"/>
            <p:cNvSpPr/>
            <p:nvPr/>
          </p:nvSpPr>
          <p:spPr>
            <a:xfrm>
              <a:off x="5350472" y="889433"/>
              <a:ext cx="139700" cy="12812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 name="直線接點 17"/>
            <p:cNvCxnSpPr>
              <a:stCxn id="16" idx="4"/>
              <a:endCxn id="124" idx="0"/>
            </p:cNvCxnSpPr>
            <p:nvPr/>
          </p:nvCxnSpPr>
          <p:spPr>
            <a:xfrm flipH="1">
              <a:off x="5415559" y="1017559"/>
              <a:ext cx="4763" cy="740585"/>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直線接點 20"/>
            <p:cNvCxnSpPr/>
            <p:nvPr/>
          </p:nvCxnSpPr>
          <p:spPr>
            <a:xfrm>
              <a:off x="5203185" y="3870222"/>
              <a:ext cx="40183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7" name="直線接點 66"/>
            <p:cNvCxnSpPr/>
            <p:nvPr/>
          </p:nvCxnSpPr>
          <p:spPr>
            <a:xfrm flipV="1">
              <a:off x="5301937" y="3906580"/>
              <a:ext cx="229811" cy="22"/>
            </a:xfrm>
            <a:prstGeom prst="line">
              <a:avLst/>
            </a:prstGeom>
            <a:ln w="19050"/>
          </p:spPr>
          <p:style>
            <a:lnRef idx="1">
              <a:schemeClr val="dk1"/>
            </a:lnRef>
            <a:fillRef idx="0">
              <a:schemeClr val="dk1"/>
            </a:fillRef>
            <a:effectRef idx="0">
              <a:schemeClr val="dk1"/>
            </a:effectRef>
            <a:fontRef idx="minor">
              <a:schemeClr val="tx1"/>
            </a:fontRef>
          </p:style>
        </p:cxnSp>
        <p:sp>
          <p:nvSpPr>
            <p:cNvPr id="69" name="文字方塊 2">
              <a:extLst>
                <a:ext uri="{FF2B5EF4-FFF2-40B4-BE49-F238E27FC236}">
                  <a16:creationId xmlns:a16="http://schemas.microsoft.com/office/drawing/2014/main" id="{8AF804F9-73AF-4825-B290-DA4A5ED596BD}"/>
                </a:ext>
              </a:extLst>
            </p:cNvPr>
            <p:cNvSpPr txBox="1">
              <a:spLocks noChangeArrowheads="1"/>
            </p:cNvSpPr>
            <p:nvPr/>
          </p:nvSpPr>
          <p:spPr bwMode="auto">
            <a:xfrm>
              <a:off x="5591776" y="816374"/>
              <a:ext cx="1809104" cy="712176"/>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altLang="zh-TW" sz="1400" b="1" kern="100" dirty="0">
                  <a:effectLst/>
                  <a:latin typeface="Times New Roman" panose="02020603050405020304" pitchFamily="18" charset="0"/>
                  <a:ea typeface="新細明體" panose="02020500000000000000" pitchFamily="18" charset="-120"/>
                  <a:cs typeface="Times New Roman" panose="02020603050405020304" pitchFamily="18" charset="0"/>
                </a:rPr>
                <a:t>Voltage</a:t>
              </a:r>
              <a:endParaRPr lang="zh-TW" sz="1400" b="1"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p:grpSp>
      <p:sp>
        <p:nvSpPr>
          <p:cNvPr id="24" name="矩形 23"/>
          <p:cNvSpPr/>
          <p:nvPr/>
        </p:nvSpPr>
        <p:spPr>
          <a:xfrm>
            <a:off x="6322095" y="5558073"/>
            <a:ext cx="6096000" cy="969496"/>
          </a:xfrm>
          <a:prstGeom prst="rect">
            <a:avLst/>
          </a:prstGeom>
        </p:spPr>
        <p:txBody>
          <a:bodyPr>
            <a:spAutoFit/>
          </a:bodyPr>
          <a:lstStyle/>
          <a:p>
            <a:pPr>
              <a:lnSpc>
                <a:spcPct val="150000"/>
              </a:lnSpc>
            </a:pPr>
            <a:r>
              <a:rPr lang="en-US" altLang="zh-TW" b="1" i="1" dirty="0">
                <a:latin typeface="Times New Roman" pitchFamily="18" charset="0"/>
                <a:cs typeface="Times New Roman" pitchFamily="18" charset="0"/>
              </a:rPr>
              <a:t>Pump Wavelength = 1064nm</a:t>
            </a:r>
          </a:p>
          <a:p>
            <a:pPr>
              <a:lnSpc>
                <a:spcPct val="150000"/>
              </a:lnSpc>
            </a:pPr>
            <a:endParaRPr lang="en-US" altLang="zh-TW" sz="200" b="1" i="1" dirty="0">
              <a:latin typeface="Times New Roman" pitchFamily="18" charset="0"/>
              <a:cs typeface="Times New Roman" pitchFamily="18" charset="0"/>
            </a:endParaRPr>
          </a:p>
          <a:p>
            <a:pPr>
              <a:lnSpc>
                <a:spcPct val="150000"/>
              </a:lnSpc>
            </a:pPr>
            <a:r>
              <a:rPr lang="en-US" altLang="zh-TW" b="1" i="1" dirty="0">
                <a:latin typeface="Times New Roman" pitchFamily="18" charset="0"/>
                <a:cs typeface="Times New Roman" pitchFamily="18" charset="0"/>
              </a:rPr>
              <a:t>Signal Wavelengths = 1540nm&amp;1550nm</a:t>
            </a:r>
          </a:p>
        </p:txBody>
      </p:sp>
    </p:spTree>
    <p:extLst>
      <p:ext uri="{BB962C8B-B14F-4D97-AF65-F5344CB8AC3E}">
        <p14:creationId xmlns:p14="http://schemas.microsoft.com/office/powerpoint/2010/main" val="1149560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63051"/>
            <a:ext cx="11152166" cy="584775"/>
          </a:xfrm>
          <a:prstGeom prst="rect">
            <a:avLst/>
          </a:prstGeom>
          <a:solidFill>
            <a:srgbClr val="FFFFD8"/>
          </a:solidFill>
          <a:ln w="38100">
            <a:solidFill>
              <a:srgbClr val="8F9DFE"/>
            </a:solidFill>
          </a:ln>
        </p:spPr>
        <p:txBody>
          <a:bodyPr wrap="square" rtlCol="0">
            <a:spAutoFit/>
          </a:bodyPr>
          <a:lstStyle/>
          <a:p>
            <a:pPr algn="ctr"/>
            <a:r>
              <a:rPr lang="en-US" altLang="zh-TW" sz="3200" b="1" dirty="0">
                <a:latin typeface="Times New Roman" panose="02020603050405020304" pitchFamily="18" charset="0"/>
                <a:cs typeface="Times New Roman" panose="02020603050405020304" pitchFamily="18" charset="0"/>
              </a:rPr>
              <a:t>Outline</a:t>
            </a:r>
            <a:endParaRPr lang="zh-TW" altLang="en-US" sz="3200" b="1" dirty="0">
              <a:latin typeface="Times New Roman" panose="02020603050405020304" pitchFamily="18" charset="0"/>
              <a:cs typeface="Times New Roman" panose="02020603050405020304" pitchFamily="18" charset="0"/>
            </a:endParaRPr>
          </a:p>
        </p:txBody>
      </p:sp>
      <p:sp>
        <p:nvSpPr>
          <p:cNvPr id="3" name="矩形 2"/>
          <p:cNvSpPr/>
          <p:nvPr/>
        </p:nvSpPr>
        <p:spPr>
          <a:xfrm>
            <a:off x="554143" y="1452347"/>
            <a:ext cx="6096000" cy="4216539"/>
          </a:xfrm>
          <a:prstGeom prst="rect">
            <a:avLst/>
          </a:prstGeom>
        </p:spPr>
        <p:txBody>
          <a:bodyPr>
            <a:spAutoFit/>
          </a:bodyPr>
          <a:lstStyle/>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Introduction</a:t>
            </a:r>
            <a:endParaRPr lang="en-US" altLang="zh-TW" sz="1400" b="1" dirty="0">
              <a:latin typeface="Times New Roman" panose="02020603050405020304" pitchFamily="18" charset="0"/>
              <a:cs typeface="Times New Roman" panose="02020603050405020304" pitchFamily="18" charset="0"/>
            </a:endParaRPr>
          </a:p>
          <a:p>
            <a:pPr lvl="2">
              <a:lnSpc>
                <a:spcPct val="100000"/>
              </a:lnSpc>
            </a:pPr>
            <a:r>
              <a:rPr lang="en-US" altLang="zh-TW" sz="1400" b="1" dirty="0">
                <a:latin typeface="Times New Roman" panose="02020603050405020304" pitchFamily="18" charset="0"/>
                <a:cs typeface="Times New Roman" panose="02020603050405020304" pitchFamily="18" charset="0"/>
              </a:rPr>
              <a:t>Motivation </a:t>
            </a:r>
          </a:p>
          <a:p>
            <a:pPr lvl="2"/>
            <a:r>
              <a:rPr lang="en-US" altLang="zh-TW" sz="1400" b="1" dirty="0">
                <a:latin typeface="Times New Roman" panose="02020603050405020304" pitchFamily="18" charset="0"/>
                <a:cs typeface="Times New Roman" panose="02020603050405020304" pitchFamily="18" charset="0"/>
              </a:rPr>
              <a:t>Electro-optically spectrum tailorable APPLN IOPOs</a:t>
            </a:r>
          </a:p>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Working principles</a:t>
            </a:r>
          </a:p>
          <a:p>
            <a:pPr lvl="2">
              <a:lnSpc>
                <a:spcPct val="100000"/>
              </a:lnSpc>
            </a:pPr>
            <a:r>
              <a:rPr lang="en-US" altLang="zh-TW" sz="1400" b="1" dirty="0">
                <a:latin typeface="Times New Roman" panose="02020603050405020304" pitchFamily="18" charset="0"/>
                <a:cs typeface="Times New Roman" panose="02020603050405020304" pitchFamily="18" charset="0"/>
              </a:rPr>
              <a:t>Electro-Optic Polarization Mode Converters</a:t>
            </a:r>
            <a:r>
              <a:rPr lang="zh-TW" altLang="en-US" sz="1400" b="1" dirty="0">
                <a:latin typeface="Times New Roman" panose="02020603050405020304" pitchFamily="18" charset="0"/>
                <a:cs typeface="Times New Roman" panose="02020603050405020304" pitchFamily="18" charset="0"/>
              </a:rPr>
              <a:t> </a:t>
            </a:r>
            <a:endParaRPr lang="en-US" altLang="zh-TW" sz="1400" b="1" dirty="0">
              <a:latin typeface="Times New Roman" panose="02020603050405020304" pitchFamily="18" charset="0"/>
              <a:cs typeface="Times New Roman" panose="02020603050405020304" pitchFamily="18" charset="0"/>
            </a:endParaRPr>
          </a:p>
          <a:p>
            <a:pPr lvl="2">
              <a:lnSpc>
                <a:spcPct val="100000"/>
              </a:lnSpc>
            </a:pPr>
            <a:r>
              <a:rPr lang="en-US" altLang="zh-TW" sz="1400" b="1" dirty="0">
                <a:latin typeface="Times New Roman" panose="02020603050405020304" pitchFamily="18" charset="0"/>
                <a:cs typeface="Times New Roman" panose="02020603050405020304" pitchFamily="18" charset="0"/>
              </a:rPr>
              <a:t>Optical Parametric Oscillators</a:t>
            </a:r>
          </a:p>
          <a:p>
            <a:pPr marL="571500" indent="-571500">
              <a:lnSpc>
                <a:spcPct val="100000"/>
              </a:lnSpc>
              <a:buAutoNum type="romanUcPeriod"/>
            </a:pPr>
            <a:r>
              <a:rPr lang="en-US" altLang="zh-TW" sz="2000" b="1" dirty="0">
                <a:solidFill>
                  <a:srgbClr val="FF0000"/>
                </a:solidFill>
                <a:latin typeface="Times New Roman" panose="02020603050405020304" pitchFamily="18" charset="0"/>
                <a:cs typeface="Times New Roman" panose="02020603050405020304" pitchFamily="18" charset="0"/>
              </a:rPr>
              <a:t>Design and Fabrication</a:t>
            </a:r>
          </a:p>
          <a:p>
            <a:pPr lvl="2"/>
            <a:r>
              <a:rPr lang="en-US" altLang="zh-TW" sz="1400" b="1" dirty="0">
                <a:solidFill>
                  <a:srgbClr val="FF0000"/>
                </a:solidFill>
                <a:latin typeface="Times New Roman" panose="02020603050405020304" pitchFamily="18" charset="0"/>
                <a:cs typeface="Times New Roman" panose="02020603050405020304" pitchFamily="18" charset="0"/>
              </a:rPr>
              <a:t>Simulated Annealing Method</a:t>
            </a:r>
          </a:p>
          <a:p>
            <a:pPr lvl="2"/>
            <a:r>
              <a:rPr lang="en-US" altLang="zh-TW" sz="1400" b="1" dirty="0" err="1">
                <a:solidFill>
                  <a:srgbClr val="FF0000"/>
                </a:solidFill>
                <a:latin typeface="Times New Roman" panose="02020603050405020304" pitchFamily="18" charset="0"/>
                <a:cs typeface="Times New Roman" panose="02020603050405020304" pitchFamily="18" charset="0"/>
              </a:rPr>
              <a:t>Mutil</a:t>
            </a:r>
            <a:r>
              <a:rPr lang="en-US" altLang="zh-TW" sz="1400" b="1" dirty="0">
                <a:solidFill>
                  <a:srgbClr val="FF0000"/>
                </a:solidFill>
                <a:latin typeface="Times New Roman" panose="02020603050405020304" pitchFamily="18" charset="0"/>
                <a:cs typeface="Times New Roman" panose="02020603050405020304" pitchFamily="18" charset="0"/>
              </a:rPr>
              <a:t>-line OPO design</a:t>
            </a:r>
          </a:p>
          <a:p>
            <a:pPr lvl="2"/>
            <a:r>
              <a:rPr lang="en-US" altLang="zh-TW" sz="1400" b="1" dirty="0" err="1">
                <a:solidFill>
                  <a:srgbClr val="FF0000"/>
                </a:solidFill>
                <a:latin typeface="Times New Roman" panose="02020603050405020304" pitchFamily="18" charset="0"/>
                <a:cs typeface="Times New Roman" panose="02020603050405020304" pitchFamily="18" charset="0"/>
              </a:rPr>
              <a:t>Mutil</a:t>
            </a:r>
            <a:r>
              <a:rPr lang="en-US" altLang="zh-TW" sz="1400" b="1" dirty="0">
                <a:solidFill>
                  <a:srgbClr val="FF0000"/>
                </a:solidFill>
                <a:latin typeface="Times New Roman" panose="02020603050405020304" pitchFamily="18" charset="0"/>
                <a:cs typeface="Times New Roman" panose="02020603050405020304" pitchFamily="18" charset="0"/>
              </a:rPr>
              <a:t>-line EO PMC design</a:t>
            </a:r>
            <a:endParaRPr lang="en-US" altLang="zh-TW" sz="2000" b="1" dirty="0">
              <a:solidFill>
                <a:srgbClr val="FF0000"/>
              </a:solidFill>
              <a:latin typeface="Times New Roman" panose="02020603050405020304" pitchFamily="18" charset="0"/>
              <a:cs typeface="Times New Roman" panose="02020603050405020304" pitchFamily="18" charset="0"/>
            </a:endParaRPr>
          </a:p>
          <a:p>
            <a:pPr lvl="2">
              <a:lnSpc>
                <a:spcPct val="100000"/>
              </a:lnSpc>
            </a:pPr>
            <a:r>
              <a:rPr lang="en-US" altLang="zh-TW" sz="1400" b="1" dirty="0">
                <a:solidFill>
                  <a:srgbClr val="FF0000"/>
                </a:solidFill>
                <a:latin typeface="Times New Roman" panose="02020603050405020304" pitchFamily="18" charset="0"/>
                <a:cs typeface="Times New Roman" panose="02020603050405020304" pitchFamily="18" charset="0"/>
              </a:rPr>
              <a:t>Fabrication process</a:t>
            </a:r>
            <a:endParaRPr lang="en-US" altLang="zh-TW" sz="1400" dirty="0">
              <a:solidFill>
                <a:srgbClr val="FF0000"/>
              </a:solidFill>
              <a:latin typeface="Times New Roman" panose="02020603050405020304" pitchFamily="18" charset="0"/>
              <a:cs typeface="Times New Roman" panose="02020603050405020304" pitchFamily="18" charset="0"/>
            </a:endParaRP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Experimental Results and Analysis </a:t>
            </a:r>
          </a:p>
          <a:p>
            <a:pPr lvl="2"/>
            <a:r>
              <a:rPr lang="en-US" altLang="zh-TW" sz="1400" b="1" dirty="0">
                <a:latin typeface="Times New Roman" panose="02020603050405020304" pitchFamily="18" charset="0"/>
                <a:cs typeface="Times New Roman" panose="02020603050405020304" pitchFamily="18" charset="0"/>
              </a:rPr>
              <a:t>EO PMC Experimental set-up</a:t>
            </a:r>
          </a:p>
          <a:p>
            <a:pPr lvl="2"/>
            <a:r>
              <a:rPr lang="en-US" altLang="zh-TW" sz="1400" b="1" dirty="0">
                <a:latin typeface="Times New Roman" pitchFamily="18" charset="0"/>
              </a:rPr>
              <a:t>Measurement Results I</a:t>
            </a:r>
          </a:p>
          <a:p>
            <a:pPr lvl="2"/>
            <a:r>
              <a:rPr lang="en-US" altLang="zh-TW" sz="1400" b="1" dirty="0">
                <a:latin typeface="Times New Roman" panose="02020603050405020304" pitchFamily="18" charset="0"/>
                <a:cs typeface="Times New Roman" panose="02020603050405020304" pitchFamily="18" charset="0"/>
              </a:rPr>
              <a:t>EO OPO APPLN Experimental set-up</a:t>
            </a:r>
          </a:p>
          <a:p>
            <a:pPr lvl="2"/>
            <a:r>
              <a:rPr lang="en-US" altLang="zh-TW" sz="1400" b="1" dirty="0">
                <a:latin typeface="Times New Roman" panose="02020603050405020304" pitchFamily="18" charset="0"/>
                <a:cs typeface="Times New Roman" panose="02020603050405020304" pitchFamily="18" charset="0"/>
              </a:rPr>
              <a:t>Measurement Results II</a:t>
            </a:r>
          </a:p>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Conclusions and future work</a:t>
            </a:r>
            <a:endParaRPr lang="zh-TW" altLang="en-US" sz="2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A52E435-1973-4E96-B2FF-A8951FBF242E}"/>
              </a:ext>
            </a:extLst>
          </p:cNvPr>
          <p:cNvSpPr>
            <a:spLocks noGrp="1"/>
          </p:cNvSpPr>
          <p:nvPr>
            <p:ph type="sldNum" sz="quarter" idx="12"/>
          </p:nvPr>
        </p:nvSpPr>
        <p:spPr/>
        <p:txBody>
          <a:bodyPr/>
          <a:lstStyle/>
          <a:p>
            <a:fld id="{29723A01-8C65-4E4C-95BB-6D96843E9278}" type="slidenum">
              <a:rPr lang="zh-TW" altLang="en-US" smtClean="0"/>
              <a:t>13</a:t>
            </a:fld>
            <a:endParaRPr lang="zh-TW" altLang="en-US"/>
          </a:p>
        </p:txBody>
      </p:sp>
      <p:pic>
        <p:nvPicPr>
          <p:cNvPr id="7" name="圖片 6">
            <a:extLst>
              <a:ext uri="{FF2B5EF4-FFF2-40B4-BE49-F238E27FC236}">
                <a16:creationId xmlns:a16="http://schemas.microsoft.com/office/drawing/2014/main" id="{9652B326-C213-47EC-807A-00D14A669B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5133" y="1452347"/>
            <a:ext cx="5688131" cy="4264174"/>
          </a:xfrm>
          <a:prstGeom prst="rect">
            <a:avLst/>
          </a:prstGeom>
        </p:spPr>
      </p:pic>
    </p:spTree>
    <p:extLst>
      <p:ext uri="{BB962C8B-B14F-4D97-AF65-F5344CB8AC3E}">
        <p14:creationId xmlns:p14="http://schemas.microsoft.com/office/powerpoint/2010/main" val="770723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6" name="流程圖: 程序 15">
            <a:extLst>
              <a:ext uri="{FF2B5EF4-FFF2-40B4-BE49-F238E27FC236}">
                <a16:creationId xmlns:a16="http://schemas.microsoft.com/office/drawing/2014/main" id="{09E24450-2C74-4FF3-BDA1-FD6716419DA4}"/>
              </a:ext>
            </a:extLst>
          </p:cNvPr>
          <p:cNvSpPr/>
          <p:nvPr/>
        </p:nvSpPr>
        <p:spPr>
          <a:xfrm>
            <a:off x="650846" y="857826"/>
            <a:ext cx="8272287" cy="5803061"/>
          </a:xfrm>
          <a:prstGeom prst="flowChartProcess">
            <a:avLst/>
          </a:prstGeom>
          <a:solidFill>
            <a:schemeClr val="accent4">
              <a:lumMod val="40000"/>
              <a:lumOff val="60000"/>
            </a:schemeClr>
          </a:solid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流程圖: 程序 16">
            <a:extLst>
              <a:ext uri="{FF2B5EF4-FFF2-40B4-BE49-F238E27FC236}">
                <a16:creationId xmlns:a16="http://schemas.microsoft.com/office/drawing/2014/main" id="{C762BE28-4CA4-49A6-B61F-099C40D52F06}"/>
              </a:ext>
            </a:extLst>
          </p:cNvPr>
          <p:cNvSpPr/>
          <p:nvPr/>
        </p:nvSpPr>
        <p:spPr>
          <a:xfrm>
            <a:off x="9295529" y="842833"/>
            <a:ext cx="2274425" cy="5803061"/>
          </a:xfrm>
          <a:prstGeom prst="flowChartProcess">
            <a:avLst/>
          </a:prstGeom>
          <a:solidFill>
            <a:schemeClr val="accent4">
              <a:lumMod val="40000"/>
              <a:lumOff val="6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8" name="群組 17">
            <a:extLst>
              <a:ext uri="{FF2B5EF4-FFF2-40B4-BE49-F238E27FC236}">
                <a16:creationId xmlns:a16="http://schemas.microsoft.com/office/drawing/2014/main" id="{3CCA465B-8F44-4C6C-A2E0-2A2C69D16D02}"/>
              </a:ext>
            </a:extLst>
          </p:cNvPr>
          <p:cNvGrpSpPr/>
          <p:nvPr/>
        </p:nvGrpSpPr>
        <p:grpSpPr>
          <a:xfrm>
            <a:off x="712261" y="1469260"/>
            <a:ext cx="10706464" cy="5047528"/>
            <a:chOff x="756799" y="1263039"/>
            <a:chExt cx="10706464" cy="4848090"/>
          </a:xfrm>
        </p:grpSpPr>
        <p:sp>
          <p:nvSpPr>
            <p:cNvPr id="19" name="矩形 18">
              <a:extLst>
                <a:ext uri="{FF2B5EF4-FFF2-40B4-BE49-F238E27FC236}">
                  <a16:creationId xmlns:a16="http://schemas.microsoft.com/office/drawing/2014/main" id="{0BAF6CD1-986E-4F68-8FDC-BFAC5376B4F5}"/>
                </a:ext>
              </a:extLst>
            </p:cNvPr>
            <p:cNvSpPr/>
            <p:nvPr/>
          </p:nvSpPr>
          <p:spPr>
            <a:xfrm>
              <a:off x="3105524" y="4008229"/>
              <a:ext cx="2095983" cy="696390"/>
            </a:xfrm>
            <a:prstGeom prst="rect">
              <a:avLst/>
            </a:prstGeom>
            <a:solidFill>
              <a:srgbClr val="8F9DFE"/>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solidFill>
                    <a:schemeClr val="tx1"/>
                  </a:solidFill>
                  <a:latin typeface="Times New Roman" panose="02020603050405020304" pitchFamily="18" charset="0"/>
                  <a:cs typeface="Times New Roman" panose="02020603050405020304" pitchFamily="18" charset="0"/>
                </a:rPr>
                <a:t>The EO OPO Spectrum  Intra-cavity  Simulation</a:t>
              </a:r>
              <a:endParaRPr lang="zh-TW" altLang="en-US" sz="1400" dirty="0">
                <a:solidFill>
                  <a:schemeClr val="tx1"/>
                </a:solidFill>
                <a:latin typeface="Times New Roman" panose="02020603050405020304" pitchFamily="18" charset="0"/>
                <a:cs typeface="Times New Roman" panose="02020603050405020304" pitchFamily="18" charset="0"/>
              </a:endParaRPr>
            </a:p>
          </p:txBody>
        </p:sp>
        <p:sp>
          <p:nvSpPr>
            <p:cNvPr id="20" name="矩形 19">
              <a:extLst>
                <a:ext uri="{FF2B5EF4-FFF2-40B4-BE49-F238E27FC236}">
                  <a16:creationId xmlns:a16="http://schemas.microsoft.com/office/drawing/2014/main" id="{79D31A01-4853-4E59-B854-A3B1067CC5EC}"/>
                </a:ext>
              </a:extLst>
            </p:cNvPr>
            <p:cNvSpPr/>
            <p:nvPr/>
          </p:nvSpPr>
          <p:spPr>
            <a:xfrm>
              <a:off x="2656356" y="1263039"/>
              <a:ext cx="3127924" cy="628378"/>
            </a:xfrm>
            <a:prstGeom prst="rect">
              <a:avLst/>
            </a:prstGeom>
            <a:solidFill>
              <a:srgbClr val="DFA0FF"/>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latin typeface="Times New Roman" panose="02020603050405020304" pitchFamily="18" charset="0"/>
                  <a:cs typeface="Times New Roman" panose="02020603050405020304" pitchFamily="18" charset="0"/>
                </a:rPr>
                <a:t>Initial Multi</a:t>
              </a:r>
              <a:r>
                <a:rPr lang="en-US" altLang="zh-TW" b="1" i="1" dirty="0">
                  <a:solidFill>
                    <a:schemeClr val="tx1"/>
                  </a:solidFill>
                  <a:latin typeface="Times New Roman" panose="02020603050405020304" pitchFamily="18" charset="0"/>
                  <a:cs typeface="Times New Roman" panose="02020603050405020304" pitchFamily="18" charset="0"/>
                </a:rPr>
                <a:t>- </a:t>
              </a:r>
              <a:r>
                <a:rPr lang="el-GR" altLang="zh-TW" b="1" i="1" dirty="0">
                  <a:solidFill>
                    <a:schemeClr val="tx1"/>
                  </a:solidFill>
                  <a:latin typeface="Times New Roman" panose="02020603050405020304" pitchFamily="18" charset="0"/>
                  <a:cs typeface="Times New Roman" panose="02020603050405020304" pitchFamily="18" charset="0"/>
                </a:rPr>
                <a:t>λ</a:t>
              </a:r>
              <a:r>
                <a:rPr lang="en-US" altLang="zh-TW" b="1" i="1" dirty="0">
                  <a:solidFill>
                    <a:schemeClr val="tx1"/>
                  </a:solidFill>
                  <a:latin typeface="Times New Roman" panose="02020603050405020304" pitchFamily="18" charset="0"/>
                  <a:cs typeface="Times New Roman" panose="02020603050405020304" pitchFamily="18" charset="0"/>
                </a:rPr>
                <a:t> </a:t>
              </a:r>
              <a:r>
                <a:rPr lang="en-US" altLang="zh-TW" b="1" dirty="0">
                  <a:solidFill>
                    <a:schemeClr val="tx1"/>
                  </a:solidFill>
                  <a:latin typeface="Times New Roman" panose="02020603050405020304" pitchFamily="18" charset="0"/>
                  <a:cs typeface="Times New Roman" panose="02020603050405020304" pitchFamily="18" charset="0"/>
                </a:rPr>
                <a:t>EO OPO setting</a:t>
              </a:r>
              <a:r>
                <a:rPr lang="en-US" altLang="zh-TW" sz="1600" b="1" dirty="0">
                  <a:solidFill>
                    <a:schemeClr val="tx1"/>
                  </a:solidFill>
                  <a:latin typeface="Times New Roman" panose="02020603050405020304" pitchFamily="18" charset="0"/>
                  <a:cs typeface="Times New Roman" panose="02020603050405020304" pitchFamily="18" charset="0"/>
                </a:rPr>
                <a:t>(under 1064 nm pump)</a:t>
              </a:r>
            </a:p>
          </p:txBody>
        </p:sp>
        <p:sp>
          <p:nvSpPr>
            <p:cNvPr id="21" name="矩形 20">
              <a:extLst>
                <a:ext uri="{FF2B5EF4-FFF2-40B4-BE49-F238E27FC236}">
                  <a16:creationId xmlns:a16="http://schemas.microsoft.com/office/drawing/2014/main" id="{34981072-484A-4C9C-A558-6B4C21126867}"/>
                </a:ext>
              </a:extLst>
            </p:cNvPr>
            <p:cNvSpPr/>
            <p:nvPr/>
          </p:nvSpPr>
          <p:spPr>
            <a:xfrm>
              <a:off x="6620669" y="2528123"/>
              <a:ext cx="2303261" cy="689436"/>
            </a:xfrm>
            <a:prstGeom prst="rect">
              <a:avLst/>
            </a:prstGeom>
            <a:solidFill>
              <a:srgbClr val="8F9DFE"/>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latin typeface="Times New Roman" panose="02020603050405020304" pitchFamily="18" charset="0"/>
                  <a:cs typeface="Times New Roman" panose="02020603050405020304" pitchFamily="18" charset="0"/>
                </a:rPr>
                <a:t>Simulated Annealing algorithm (SA)</a:t>
              </a:r>
              <a:endParaRPr lang="zh-TW" altLang="en-US" b="1" dirty="0">
                <a:solidFill>
                  <a:schemeClr val="tx1"/>
                </a:solidFill>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id="{9A6F492E-D455-4A38-8EC0-4DF32F1E0A24}"/>
                </a:ext>
              </a:extLst>
            </p:cNvPr>
            <p:cNvSpPr/>
            <p:nvPr/>
          </p:nvSpPr>
          <p:spPr>
            <a:xfrm>
              <a:off x="2828074" y="2528155"/>
              <a:ext cx="2784488" cy="689436"/>
            </a:xfrm>
            <a:prstGeom prst="rect">
              <a:avLst/>
            </a:prstGeom>
            <a:solidFill>
              <a:srgbClr val="FFFFFF"/>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latin typeface="Times New Roman" panose="02020603050405020304" pitchFamily="18" charset="0"/>
                  <a:cs typeface="Times New Roman" panose="02020603050405020304" pitchFamily="18" charset="0"/>
                </a:rPr>
                <a:t>New MEO Filter setting</a:t>
              </a:r>
            </a:p>
            <a:p>
              <a:pPr algn="ctr"/>
              <a:r>
                <a:rPr lang="en-US" altLang="zh-TW" dirty="0">
                  <a:solidFill>
                    <a:schemeClr val="tx1"/>
                  </a:solidFill>
                  <a:latin typeface="Times New Roman" panose="02020603050405020304" pitchFamily="18" charset="0"/>
                  <a:cs typeface="Times New Roman" panose="02020603050405020304" pitchFamily="18" charset="0"/>
                </a:rPr>
                <a:t>(Number / </a:t>
              </a:r>
              <a:r>
                <a:rPr lang="el-GR" altLang="zh-TW" dirty="0">
                  <a:solidFill>
                    <a:schemeClr val="tx1"/>
                  </a:solidFill>
                  <a:latin typeface="Times New Roman" panose="02020603050405020304" pitchFamily="18" charset="0"/>
                  <a:cs typeface="Times New Roman" panose="02020603050405020304" pitchFamily="18" charset="0"/>
                </a:rPr>
                <a:t>λ</a:t>
              </a:r>
              <a:r>
                <a:rPr lang="en-US" altLang="zh-TW" dirty="0">
                  <a:solidFill>
                    <a:schemeClr val="tx1"/>
                  </a:solidFill>
                  <a:latin typeface="Times New Roman" panose="02020603050405020304" pitchFamily="18" charset="0"/>
                  <a:cs typeface="Times New Roman" panose="02020603050405020304" pitchFamily="18" charset="0"/>
                </a:rPr>
                <a:t>j / weighting)</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DDC3EA5A-F9FC-4E3C-89EE-18AAA17A392E}"/>
                </a:ext>
              </a:extLst>
            </p:cNvPr>
            <p:cNvSpPr/>
            <p:nvPr/>
          </p:nvSpPr>
          <p:spPr>
            <a:xfrm>
              <a:off x="6690985" y="4011706"/>
              <a:ext cx="2162629" cy="689436"/>
            </a:xfrm>
            <a:prstGeom prst="rect">
              <a:avLst/>
            </a:prstGeom>
            <a:solidFill>
              <a:srgbClr val="FFFFFF"/>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Optimal Aperiodic Structure</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25" name="肘形接點 25">
              <a:extLst>
                <a:ext uri="{FF2B5EF4-FFF2-40B4-BE49-F238E27FC236}">
                  <a16:creationId xmlns:a16="http://schemas.microsoft.com/office/drawing/2014/main" id="{CD591CFB-4C10-4177-9E1C-6C86C6607506}"/>
                </a:ext>
              </a:extLst>
            </p:cNvPr>
            <p:cNvCxnSpPr>
              <a:cxnSpLocks/>
              <a:stCxn id="20" idx="3"/>
              <a:endCxn id="21" idx="0"/>
            </p:cNvCxnSpPr>
            <p:nvPr/>
          </p:nvCxnSpPr>
          <p:spPr>
            <a:xfrm>
              <a:off x="5784280" y="1577228"/>
              <a:ext cx="1988020" cy="950895"/>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直線單箭頭接點 26">
              <a:extLst>
                <a:ext uri="{FF2B5EF4-FFF2-40B4-BE49-F238E27FC236}">
                  <a16:creationId xmlns:a16="http://schemas.microsoft.com/office/drawing/2014/main" id="{89276E93-A54D-4930-8FD0-8FD096CF90F5}"/>
                </a:ext>
              </a:extLst>
            </p:cNvPr>
            <p:cNvCxnSpPr>
              <a:stCxn id="21" idx="2"/>
              <a:endCxn id="24" idx="0"/>
            </p:cNvCxnSpPr>
            <p:nvPr/>
          </p:nvCxnSpPr>
          <p:spPr>
            <a:xfrm>
              <a:off x="7772300" y="3217559"/>
              <a:ext cx="0" cy="79414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8" name="矩形 27">
              <a:extLst>
                <a:ext uri="{FF2B5EF4-FFF2-40B4-BE49-F238E27FC236}">
                  <a16:creationId xmlns:a16="http://schemas.microsoft.com/office/drawing/2014/main" id="{5779196A-41FA-436A-9E3C-A7A059B7E6DD}"/>
                </a:ext>
              </a:extLst>
            </p:cNvPr>
            <p:cNvSpPr/>
            <p:nvPr/>
          </p:nvSpPr>
          <p:spPr>
            <a:xfrm>
              <a:off x="3105524" y="5113299"/>
              <a:ext cx="2095983" cy="689436"/>
            </a:xfrm>
            <a:prstGeom prst="rect">
              <a:avLst/>
            </a:prstGeom>
            <a:solidFill>
              <a:srgbClr val="FFFFFF"/>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EO OPO spectrum output</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29" name="直線單箭頭接點 28">
              <a:extLst>
                <a:ext uri="{FF2B5EF4-FFF2-40B4-BE49-F238E27FC236}">
                  <a16:creationId xmlns:a16="http://schemas.microsoft.com/office/drawing/2014/main" id="{FABD97EC-781B-432A-82B8-E66B25CB1F84}"/>
                </a:ext>
              </a:extLst>
            </p:cNvPr>
            <p:cNvCxnSpPr>
              <a:stCxn id="24" idx="1"/>
              <a:endCxn id="19" idx="3"/>
            </p:cNvCxnSpPr>
            <p:nvPr/>
          </p:nvCxnSpPr>
          <p:spPr>
            <a:xfrm flipH="1">
              <a:off x="5201507" y="4356424"/>
              <a:ext cx="1489478"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0" name="直線單箭頭接點 29">
              <a:extLst>
                <a:ext uri="{FF2B5EF4-FFF2-40B4-BE49-F238E27FC236}">
                  <a16:creationId xmlns:a16="http://schemas.microsoft.com/office/drawing/2014/main" id="{748C6DDD-AFE0-48C6-A35C-28916A846B05}"/>
                </a:ext>
              </a:extLst>
            </p:cNvPr>
            <p:cNvCxnSpPr>
              <a:cxnSpLocks/>
              <a:stCxn id="19" idx="2"/>
              <a:endCxn id="28" idx="0"/>
            </p:cNvCxnSpPr>
            <p:nvPr/>
          </p:nvCxnSpPr>
          <p:spPr>
            <a:xfrm>
              <a:off x="4153516" y="4704619"/>
              <a:ext cx="0" cy="40868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1" name="肘形接點 42">
              <a:extLst>
                <a:ext uri="{FF2B5EF4-FFF2-40B4-BE49-F238E27FC236}">
                  <a16:creationId xmlns:a16="http://schemas.microsoft.com/office/drawing/2014/main" id="{1BE01C1B-1484-4681-A6F5-BD7E023AE0D6}"/>
                </a:ext>
              </a:extLst>
            </p:cNvPr>
            <p:cNvCxnSpPr>
              <a:cxnSpLocks/>
              <a:stCxn id="28" idx="1"/>
              <a:endCxn id="23" idx="1"/>
            </p:cNvCxnSpPr>
            <p:nvPr/>
          </p:nvCxnSpPr>
          <p:spPr>
            <a:xfrm rot="10800000">
              <a:off x="2828074" y="2872874"/>
              <a:ext cx="277450" cy="2585144"/>
            </a:xfrm>
            <a:prstGeom prst="bentConnector3">
              <a:avLst>
                <a:gd name="adj1" fmla="val 841539"/>
              </a:avLst>
            </a:prstGeom>
            <a:ln w="38100">
              <a:tailEnd type="triangle"/>
            </a:ln>
          </p:spPr>
          <p:style>
            <a:lnRef idx="1">
              <a:schemeClr val="dk1"/>
            </a:lnRef>
            <a:fillRef idx="0">
              <a:schemeClr val="dk1"/>
            </a:fillRef>
            <a:effectRef idx="0">
              <a:schemeClr val="dk1"/>
            </a:effectRef>
            <a:fontRef idx="minor">
              <a:schemeClr val="tx1"/>
            </a:fontRef>
          </p:style>
        </p:cxnSp>
        <p:sp>
          <p:nvSpPr>
            <p:cNvPr id="32" name="文字方塊 31">
              <a:extLst>
                <a:ext uri="{FF2B5EF4-FFF2-40B4-BE49-F238E27FC236}">
                  <a16:creationId xmlns:a16="http://schemas.microsoft.com/office/drawing/2014/main" id="{A4F20F56-A877-4EB7-A7DD-7611DB99B539}"/>
                </a:ext>
              </a:extLst>
            </p:cNvPr>
            <p:cNvSpPr txBox="1"/>
            <p:nvPr/>
          </p:nvSpPr>
          <p:spPr>
            <a:xfrm>
              <a:off x="756799" y="5088686"/>
              <a:ext cx="2584669"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Doesn’t meet the design</a:t>
              </a:r>
              <a:endParaRPr lang="zh-TW" altLang="en-US" dirty="0">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id="{09C69A13-C77A-4825-8FC8-F789D02568D7}"/>
                </a:ext>
              </a:extLst>
            </p:cNvPr>
            <p:cNvSpPr/>
            <p:nvPr/>
          </p:nvSpPr>
          <p:spPr>
            <a:xfrm>
              <a:off x="6872708" y="5113299"/>
              <a:ext cx="1799184" cy="689436"/>
            </a:xfrm>
            <a:prstGeom prst="rect">
              <a:avLst/>
            </a:prstGeom>
            <a:solidFill>
              <a:srgbClr val="FFFFFF"/>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Final aperiodic Structure output</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34" name="直線單箭頭接點 33">
              <a:extLst>
                <a:ext uri="{FF2B5EF4-FFF2-40B4-BE49-F238E27FC236}">
                  <a16:creationId xmlns:a16="http://schemas.microsoft.com/office/drawing/2014/main" id="{B68099C8-20D7-4E42-A376-17AE44965BC6}"/>
                </a:ext>
              </a:extLst>
            </p:cNvPr>
            <p:cNvCxnSpPr>
              <a:stCxn id="28" idx="3"/>
              <a:endCxn id="33" idx="1"/>
            </p:cNvCxnSpPr>
            <p:nvPr/>
          </p:nvCxnSpPr>
          <p:spPr>
            <a:xfrm>
              <a:off x="5201507" y="5458017"/>
              <a:ext cx="167120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5" name="文字方塊 34">
              <a:extLst>
                <a:ext uri="{FF2B5EF4-FFF2-40B4-BE49-F238E27FC236}">
                  <a16:creationId xmlns:a16="http://schemas.microsoft.com/office/drawing/2014/main" id="{358ED917-0ADE-43FB-A393-500ABA71BC36}"/>
                </a:ext>
              </a:extLst>
            </p:cNvPr>
            <p:cNvSpPr txBox="1"/>
            <p:nvPr/>
          </p:nvSpPr>
          <p:spPr>
            <a:xfrm>
              <a:off x="5201507" y="5100068"/>
              <a:ext cx="2000710" cy="369332"/>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Meets the design</a:t>
              </a:r>
              <a:endParaRPr lang="zh-TW" altLang="en-US" dirty="0">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72C193E1-3D70-4368-B161-BFE4ACDD1A1E}"/>
                </a:ext>
              </a:extLst>
            </p:cNvPr>
            <p:cNvSpPr/>
            <p:nvPr/>
          </p:nvSpPr>
          <p:spPr>
            <a:xfrm>
              <a:off x="9451376" y="3456260"/>
              <a:ext cx="2010816" cy="689436"/>
            </a:xfrm>
            <a:prstGeom prst="rect">
              <a:avLst/>
            </a:prstGeom>
            <a:solidFill>
              <a:schemeClr val="bg1"/>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Electric-field poling</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37" name="矩形 36">
              <a:extLst>
                <a:ext uri="{FF2B5EF4-FFF2-40B4-BE49-F238E27FC236}">
                  <a16:creationId xmlns:a16="http://schemas.microsoft.com/office/drawing/2014/main" id="{67E51FEE-50BE-450A-B402-08E31502F1A5}"/>
                </a:ext>
              </a:extLst>
            </p:cNvPr>
            <p:cNvSpPr/>
            <p:nvPr/>
          </p:nvSpPr>
          <p:spPr>
            <a:xfrm>
              <a:off x="9451376" y="1311833"/>
              <a:ext cx="2010816" cy="689436"/>
            </a:xfrm>
            <a:prstGeom prst="rect">
              <a:avLst/>
            </a:prstGeom>
            <a:solidFill>
              <a:srgbClr val="FFFFFF"/>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Mask  </a:t>
              </a:r>
              <a:endParaRPr lang="zh-TW" altLang="en-US" dirty="0">
                <a:solidFill>
                  <a:schemeClr val="tx1"/>
                </a:solidFill>
                <a:latin typeface="Times New Roman" panose="02020603050405020304" pitchFamily="18" charset="0"/>
                <a:cs typeface="Times New Roman" panose="02020603050405020304" pitchFamily="18" charset="0"/>
              </a:endParaRPr>
            </a:p>
          </p:txBody>
        </p:sp>
        <p:sp>
          <p:nvSpPr>
            <p:cNvPr id="38" name="矩形 37">
              <a:extLst>
                <a:ext uri="{FF2B5EF4-FFF2-40B4-BE49-F238E27FC236}">
                  <a16:creationId xmlns:a16="http://schemas.microsoft.com/office/drawing/2014/main" id="{31C22ED0-0F2E-4791-8865-A0A85D9F8A7F}"/>
                </a:ext>
              </a:extLst>
            </p:cNvPr>
            <p:cNvSpPr/>
            <p:nvPr/>
          </p:nvSpPr>
          <p:spPr>
            <a:xfrm>
              <a:off x="9452447" y="2398125"/>
              <a:ext cx="2010816" cy="689436"/>
            </a:xfrm>
            <a:prstGeom prst="rect">
              <a:avLst/>
            </a:prstGeom>
            <a:solidFill>
              <a:srgbClr val="FFFFFF"/>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Lithography</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39" name="肘形接點 66">
              <a:extLst>
                <a:ext uri="{FF2B5EF4-FFF2-40B4-BE49-F238E27FC236}">
                  <a16:creationId xmlns:a16="http://schemas.microsoft.com/office/drawing/2014/main" id="{593E75BB-436B-4735-80E3-42142A92D678}"/>
                </a:ext>
              </a:extLst>
            </p:cNvPr>
            <p:cNvCxnSpPr>
              <a:stCxn id="33" idx="3"/>
              <a:endCxn id="37" idx="1"/>
            </p:cNvCxnSpPr>
            <p:nvPr/>
          </p:nvCxnSpPr>
          <p:spPr>
            <a:xfrm flipV="1">
              <a:off x="8671892" y="1656551"/>
              <a:ext cx="779484" cy="3801466"/>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40" name="直線單箭頭接點 39">
              <a:extLst>
                <a:ext uri="{FF2B5EF4-FFF2-40B4-BE49-F238E27FC236}">
                  <a16:creationId xmlns:a16="http://schemas.microsoft.com/office/drawing/2014/main" id="{E75AC73C-B314-4F6F-A2FD-AD075C100F7B}"/>
                </a:ext>
              </a:extLst>
            </p:cNvPr>
            <p:cNvCxnSpPr>
              <a:stCxn id="37" idx="2"/>
              <a:endCxn id="38" idx="0"/>
            </p:cNvCxnSpPr>
            <p:nvPr/>
          </p:nvCxnSpPr>
          <p:spPr>
            <a:xfrm>
              <a:off x="10456784" y="2001269"/>
              <a:ext cx="1071" cy="39685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直線單箭頭接點 40">
              <a:extLst>
                <a:ext uri="{FF2B5EF4-FFF2-40B4-BE49-F238E27FC236}">
                  <a16:creationId xmlns:a16="http://schemas.microsoft.com/office/drawing/2014/main" id="{37CD0C06-D128-4C4E-9896-808F01CE255F}"/>
                </a:ext>
              </a:extLst>
            </p:cNvPr>
            <p:cNvCxnSpPr>
              <a:stCxn id="38" idx="2"/>
              <a:endCxn id="36" idx="0"/>
            </p:cNvCxnSpPr>
            <p:nvPr/>
          </p:nvCxnSpPr>
          <p:spPr>
            <a:xfrm flipH="1">
              <a:off x="10456784" y="3087562"/>
              <a:ext cx="1071" cy="36869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42" name="矩形 41">
              <a:extLst>
                <a:ext uri="{FF2B5EF4-FFF2-40B4-BE49-F238E27FC236}">
                  <a16:creationId xmlns:a16="http://schemas.microsoft.com/office/drawing/2014/main" id="{11D68F49-891D-41A0-BCB6-270D0DA7271F}"/>
                </a:ext>
              </a:extLst>
            </p:cNvPr>
            <p:cNvSpPr/>
            <p:nvPr/>
          </p:nvSpPr>
          <p:spPr>
            <a:xfrm>
              <a:off x="9451376" y="4564802"/>
              <a:ext cx="2010816" cy="689436"/>
            </a:xfrm>
            <a:prstGeom prst="rect">
              <a:avLst/>
            </a:prstGeom>
            <a:solidFill>
              <a:srgbClr val="FFFFFF"/>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End-face polishing</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43" name="直線單箭頭接點 42">
              <a:extLst>
                <a:ext uri="{FF2B5EF4-FFF2-40B4-BE49-F238E27FC236}">
                  <a16:creationId xmlns:a16="http://schemas.microsoft.com/office/drawing/2014/main" id="{179DCA30-3D30-4A7F-AA05-4B5A3243DDEF}"/>
                </a:ext>
              </a:extLst>
            </p:cNvPr>
            <p:cNvCxnSpPr>
              <a:stCxn id="36" idx="2"/>
              <a:endCxn id="42" idx="0"/>
            </p:cNvCxnSpPr>
            <p:nvPr/>
          </p:nvCxnSpPr>
          <p:spPr>
            <a:xfrm>
              <a:off x="10456784" y="4145696"/>
              <a:ext cx="0" cy="41910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44" name="矩形 43">
              <a:extLst>
                <a:ext uri="{FF2B5EF4-FFF2-40B4-BE49-F238E27FC236}">
                  <a16:creationId xmlns:a16="http://schemas.microsoft.com/office/drawing/2014/main" id="{8AFF237E-3748-4BE4-AF8C-8C7C495B6B9D}"/>
                </a:ext>
              </a:extLst>
            </p:cNvPr>
            <p:cNvSpPr/>
            <p:nvPr/>
          </p:nvSpPr>
          <p:spPr>
            <a:xfrm>
              <a:off x="10017909" y="5689633"/>
              <a:ext cx="864775" cy="421496"/>
            </a:xfrm>
            <a:prstGeom prst="rect">
              <a:avLst/>
            </a:prstGeom>
            <a:solidFill>
              <a:srgbClr val="FFFFFF"/>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End</a:t>
              </a:r>
              <a:endParaRPr lang="zh-TW" altLang="en-US" dirty="0">
                <a:solidFill>
                  <a:schemeClr val="tx1"/>
                </a:solidFill>
                <a:latin typeface="Times New Roman" panose="02020603050405020304" pitchFamily="18" charset="0"/>
                <a:cs typeface="Times New Roman" panose="02020603050405020304" pitchFamily="18" charset="0"/>
              </a:endParaRPr>
            </a:p>
          </p:txBody>
        </p:sp>
        <p:cxnSp>
          <p:nvCxnSpPr>
            <p:cNvPr id="45" name="直線單箭頭接點 44">
              <a:extLst>
                <a:ext uri="{FF2B5EF4-FFF2-40B4-BE49-F238E27FC236}">
                  <a16:creationId xmlns:a16="http://schemas.microsoft.com/office/drawing/2014/main" id="{D8E27A77-0754-4FAC-8C02-01A7B2C9DC1B}"/>
                </a:ext>
              </a:extLst>
            </p:cNvPr>
            <p:cNvCxnSpPr>
              <a:stCxn id="42" idx="2"/>
              <a:endCxn id="44" idx="0"/>
            </p:cNvCxnSpPr>
            <p:nvPr/>
          </p:nvCxnSpPr>
          <p:spPr>
            <a:xfrm flipH="1">
              <a:off x="10450297" y="5254238"/>
              <a:ext cx="6487" cy="43539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46" name="矩形 45">
              <a:extLst>
                <a:ext uri="{FF2B5EF4-FFF2-40B4-BE49-F238E27FC236}">
                  <a16:creationId xmlns:a16="http://schemas.microsoft.com/office/drawing/2014/main" id="{70FE0E08-5AD0-4D42-8DD1-6E6E3F2E1B04}"/>
                </a:ext>
              </a:extLst>
            </p:cNvPr>
            <p:cNvSpPr/>
            <p:nvPr/>
          </p:nvSpPr>
          <p:spPr>
            <a:xfrm>
              <a:off x="1116864" y="1297031"/>
              <a:ext cx="864775" cy="563263"/>
            </a:xfrm>
            <a:prstGeom prst="rect">
              <a:avLst/>
            </a:prstGeom>
            <a:solidFill>
              <a:srgbClr val="FFFFFF"/>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Times New Roman" panose="02020603050405020304" pitchFamily="18" charset="0"/>
                  <a:cs typeface="Times New Roman" panose="02020603050405020304" pitchFamily="18" charset="0"/>
                </a:rPr>
                <a:t>Start</a:t>
              </a:r>
              <a:endParaRPr lang="zh-TW" altLang="en-US" dirty="0">
                <a:solidFill>
                  <a:schemeClr val="tx1"/>
                </a:solidFill>
                <a:latin typeface="Times New Roman" panose="02020603050405020304" pitchFamily="18" charset="0"/>
                <a:cs typeface="Times New Roman" panose="02020603050405020304" pitchFamily="18" charset="0"/>
              </a:endParaRPr>
            </a:p>
          </p:txBody>
        </p:sp>
      </p:grpSp>
      <p:sp>
        <p:nvSpPr>
          <p:cNvPr id="47" name="文字方塊 46">
            <a:extLst>
              <a:ext uri="{FF2B5EF4-FFF2-40B4-BE49-F238E27FC236}">
                <a16:creationId xmlns:a16="http://schemas.microsoft.com/office/drawing/2014/main" id="{C0254016-51B4-43A5-A7A6-D6E6ED876A6A}"/>
              </a:ext>
            </a:extLst>
          </p:cNvPr>
          <p:cNvSpPr txBox="1"/>
          <p:nvPr/>
        </p:nvSpPr>
        <p:spPr>
          <a:xfrm>
            <a:off x="9482937" y="842833"/>
            <a:ext cx="1845645" cy="461665"/>
          </a:xfrm>
          <a:prstGeom prst="rect">
            <a:avLst/>
          </a:prstGeom>
          <a:noFill/>
        </p:spPr>
        <p:txBody>
          <a:bodyPr wrap="square" rtlCol="0">
            <a:spAutoFit/>
          </a:bodyPr>
          <a:lstStyle/>
          <a:p>
            <a:pPr algn="ctr"/>
            <a:r>
              <a:rPr lang="en-US" altLang="zh-TW" sz="2400" b="1" dirty="0">
                <a:latin typeface="Times New Roman" panose="02020603050405020304" pitchFamily="18" charset="0"/>
                <a:cs typeface="Times New Roman" panose="02020603050405020304" pitchFamily="18" charset="0"/>
              </a:rPr>
              <a:t>Fabrication</a:t>
            </a:r>
            <a:endParaRPr lang="zh-TW" altLang="en-US" sz="2400" b="1" dirty="0">
              <a:latin typeface="Times New Roman" panose="02020603050405020304" pitchFamily="18" charset="0"/>
              <a:cs typeface="Times New Roman" panose="02020603050405020304" pitchFamily="18" charset="0"/>
            </a:endParaRPr>
          </a:p>
        </p:txBody>
      </p:sp>
      <p:sp>
        <p:nvSpPr>
          <p:cNvPr id="48" name="文字方塊 47">
            <a:extLst>
              <a:ext uri="{FF2B5EF4-FFF2-40B4-BE49-F238E27FC236}">
                <a16:creationId xmlns:a16="http://schemas.microsoft.com/office/drawing/2014/main" id="{74793CBA-4320-4049-A61B-F9CFCE26A9C3}"/>
              </a:ext>
            </a:extLst>
          </p:cNvPr>
          <p:cNvSpPr txBox="1"/>
          <p:nvPr/>
        </p:nvSpPr>
        <p:spPr>
          <a:xfrm>
            <a:off x="3763029" y="842834"/>
            <a:ext cx="2754675" cy="461665"/>
          </a:xfrm>
          <a:prstGeom prst="rect">
            <a:avLst/>
          </a:prstGeom>
          <a:noFill/>
        </p:spPr>
        <p:txBody>
          <a:bodyPr wrap="square" rtlCol="0">
            <a:spAutoFit/>
          </a:bodyPr>
          <a:lstStyle/>
          <a:p>
            <a:pPr algn="ctr"/>
            <a:r>
              <a:rPr lang="en-US" altLang="zh-TW" sz="2400" b="1" dirty="0">
                <a:latin typeface="Times New Roman" panose="02020603050405020304" pitchFamily="18" charset="0"/>
                <a:cs typeface="Times New Roman" panose="02020603050405020304" pitchFamily="18" charset="0"/>
              </a:rPr>
              <a:t>Design</a:t>
            </a:r>
            <a:endParaRPr lang="zh-TW" altLang="en-US" sz="2400" b="1" dirty="0">
              <a:latin typeface="Times New Roman" panose="02020603050405020304" pitchFamily="18" charset="0"/>
              <a:cs typeface="Times New Roman" panose="02020603050405020304" pitchFamily="18" charset="0"/>
            </a:endParaRPr>
          </a:p>
        </p:txBody>
      </p:sp>
      <p:cxnSp>
        <p:nvCxnSpPr>
          <p:cNvPr id="49" name="直線接點 48">
            <a:extLst>
              <a:ext uri="{FF2B5EF4-FFF2-40B4-BE49-F238E27FC236}">
                <a16:creationId xmlns:a16="http://schemas.microsoft.com/office/drawing/2014/main" id="{DB80A2A3-9AF6-4D03-9E00-124BCDA0FBE0}"/>
              </a:ext>
            </a:extLst>
          </p:cNvPr>
          <p:cNvCxnSpPr/>
          <p:nvPr/>
        </p:nvCxnSpPr>
        <p:spPr>
          <a:xfrm>
            <a:off x="651040" y="1304498"/>
            <a:ext cx="8272287"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089BD013-CA5C-4FAB-B1B5-F71A3199FA4B}"/>
              </a:ext>
            </a:extLst>
          </p:cNvPr>
          <p:cNvCxnSpPr/>
          <p:nvPr/>
        </p:nvCxnSpPr>
        <p:spPr>
          <a:xfrm>
            <a:off x="9293888" y="1304498"/>
            <a:ext cx="2274425"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1" name="直線單箭頭接點 50">
            <a:extLst>
              <a:ext uri="{FF2B5EF4-FFF2-40B4-BE49-F238E27FC236}">
                <a16:creationId xmlns:a16="http://schemas.microsoft.com/office/drawing/2014/main" id="{63BE4275-5ACB-4296-95F4-711CB58B4A49}"/>
              </a:ext>
            </a:extLst>
          </p:cNvPr>
          <p:cNvCxnSpPr>
            <a:cxnSpLocks/>
            <a:stCxn id="46" idx="3"/>
            <a:endCxn id="20" idx="1"/>
          </p:cNvCxnSpPr>
          <p:nvPr/>
        </p:nvCxnSpPr>
        <p:spPr>
          <a:xfrm flipV="1">
            <a:off x="1937101" y="1796374"/>
            <a:ext cx="674717" cy="1493"/>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2" name="直線單箭頭接點 51">
            <a:extLst>
              <a:ext uri="{FF2B5EF4-FFF2-40B4-BE49-F238E27FC236}">
                <a16:creationId xmlns:a16="http://schemas.microsoft.com/office/drawing/2014/main" id="{4C9C577E-B5B9-4720-814A-0FF803E39023}"/>
              </a:ext>
            </a:extLst>
          </p:cNvPr>
          <p:cNvCxnSpPr>
            <a:stCxn id="23" idx="3"/>
            <a:endCxn id="21" idx="1"/>
          </p:cNvCxnSpPr>
          <p:nvPr/>
        </p:nvCxnSpPr>
        <p:spPr>
          <a:xfrm flipV="1">
            <a:off x="5568024" y="3145285"/>
            <a:ext cx="1008107" cy="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53" name="文字方塊 52">
            <a:extLst>
              <a:ext uri="{FF2B5EF4-FFF2-40B4-BE49-F238E27FC236}">
                <a16:creationId xmlns:a16="http://schemas.microsoft.com/office/drawing/2014/main" id="{8FD4315A-75C8-4194-BE51-CAF73422D67E}"/>
              </a:ext>
            </a:extLst>
          </p:cNvPr>
          <p:cNvSpPr txBox="1"/>
          <p:nvPr/>
        </p:nvSpPr>
        <p:spPr>
          <a:xfrm>
            <a:off x="581241" y="53183"/>
            <a:ext cx="11152166" cy="584775"/>
          </a:xfrm>
          <a:prstGeom prst="rect">
            <a:avLst/>
          </a:prstGeom>
          <a:solidFill>
            <a:srgbClr val="FFFFD8"/>
          </a:solidFill>
          <a:ln w="38100">
            <a:solidFill>
              <a:srgbClr val="8F9DFE"/>
            </a:solidFill>
          </a:ln>
        </p:spPr>
        <p:txBody>
          <a:bodyPr wrap="square" rtlCol="0">
            <a:spAutoFit/>
          </a:bodyPr>
          <a:lstStyle/>
          <a:p>
            <a:pPr algn="ctr"/>
            <a:r>
              <a:rPr lang="en-US" altLang="zh-TW" sz="3200" dirty="0">
                <a:latin typeface="Times New Roman" panose="02020603050405020304" pitchFamily="18" charset="0"/>
                <a:cs typeface="Times New Roman" panose="02020603050405020304" pitchFamily="18" charset="0"/>
              </a:rPr>
              <a:t>Design and Fabrication</a:t>
            </a:r>
            <a:endParaRPr lang="zh-TW" altLang="en-US" sz="3200" b="1" dirty="0">
              <a:latin typeface="Times New Roman" panose="02020603050405020304" pitchFamily="18" charset="0"/>
              <a:cs typeface="Times New Roman" panose="02020603050405020304" pitchFamily="18" charset="0"/>
            </a:endParaRPr>
          </a:p>
        </p:txBody>
      </p:sp>
      <p:sp>
        <p:nvSpPr>
          <p:cNvPr id="2" name="投影片編號版面配置區 1">
            <a:extLst>
              <a:ext uri="{FF2B5EF4-FFF2-40B4-BE49-F238E27FC236}">
                <a16:creationId xmlns:a16="http://schemas.microsoft.com/office/drawing/2014/main" id="{CABCC274-D370-418B-B82F-6F750D78B2CF}"/>
              </a:ext>
            </a:extLst>
          </p:cNvPr>
          <p:cNvSpPr>
            <a:spLocks noGrp="1"/>
          </p:cNvSpPr>
          <p:nvPr>
            <p:ph type="sldNum" sz="quarter" idx="12"/>
          </p:nvPr>
        </p:nvSpPr>
        <p:spPr>
          <a:xfrm>
            <a:off x="9448800" y="6498942"/>
            <a:ext cx="2743200" cy="365125"/>
          </a:xfrm>
        </p:spPr>
        <p:txBody>
          <a:bodyPr/>
          <a:lstStyle/>
          <a:p>
            <a:fld id="{29723A01-8C65-4E4C-95BB-6D96843E9278}" type="slidenum">
              <a:rPr lang="zh-TW" altLang="en-US" smtClean="0"/>
              <a:t>14</a:t>
            </a:fld>
            <a:endParaRPr lang="zh-TW" altLang="en-US" dirty="0"/>
          </a:p>
        </p:txBody>
      </p:sp>
    </p:spTree>
    <p:extLst>
      <p:ext uri="{BB962C8B-B14F-4D97-AF65-F5344CB8AC3E}">
        <p14:creationId xmlns:p14="http://schemas.microsoft.com/office/powerpoint/2010/main" val="2033240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63668" y="821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Simulated Annealing Method (SA)</a:t>
            </a:r>
            <a:endParaRPr lang="zh-TW" altLang="en-US" sz="2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A63A8A5E-C176-465E-BB2F-49745495FBC7}"/>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15</a:t>
            </a:fld>
            <a:endParaRPr lang="zh-TW" altLang="en-US" dirty="0"/>
          </a:p>
        </p:txBody>
      </p:sp>
      <p:grpSp>
        <p:nvGrpSpPr>
          <p:cNvPr id="211" name="群組 210"/>
          <p:cNvGrpSpPr/>
          <p:nvPr/>
        </p:nvGrpSpPr>
        <p:grpSpPr>
          <a:xfrm>
            <a:off x="3436658" y="3307978"/>
            <a:ext cx="5559369" cy="2760998"/>
            <a:chOff x="1317361" y="2101850"/>
            <a:chExt cx="4903212" cy="2374444"/>
          </a:xfrm>
        </p:grpSpPr>
        <p:sp>
          <p:nvSpPr>
            <p:cNvPr id="98" name="橢圓 97"/>
            <p:cNvSpPr/>
            <p:nvPr/>
          </p:nvSpPr>
          <p:spPr>
            <a:xfrm>
              <a:off x="5229668" y="3134739"/>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10" name="群組 209"/>
            <p:cNvGrpSpPr/>
            <p:nvPr/>
          </p:nvGrpSpPr>
          <p:grpSpPr>
            <a:xfrm>
              <a:off x="1317361" y="2101850"/>
              <a:ext cx="4903212" cy="2374444"/>
              <a:chOff x="1317361" y="2101850"/>
              <a:chExt cx="4903212" cy="2374444"/>
            </a:xfrm>
          </p:grpSpPr>
          <p:grpSp>
            <p:nvGrpSpPr>
              <p:cNvPr id="209" name="群組 208"/>
              <p:cNvGrpSpPr/>
              <p:nvPr/>
            </p:nvGrpSpPr>
            <p:grpSpPr>
              <a:xfrm>
                <a:off x="1464497" y="2101850"/>
                <a:ext cx="4205954" cy="1610559"/>
                <a:chOff x="1464497" y="2101850"/>
                <a:chExt cx="4205954" cy="1610559"/>
              </a:xfrm>
            </p:grpSpPr>
            <p:sp>
              <p:nvSpPr>
                <p:cNvPr id="5" name="橢圓 4"/>
                <p:cNvSpPr/>
                <p:nvPr/>
              </p:nvSpPr>
              <p:spPr>
                <a:xfrm>
                  <a:off x="1969771" y="2427428"/>
                  <a:ext cx="219201" cy="220584"/>
                </a:xfrm>
                <a:prstGeom prst="ellipse">
                  <a:avLst/>
                </a:prstGeom>
                <a:solidFill>
                  <a:srgbClr val="FFFF00"/>
                </a:solidFill>
                <a:ln>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橢圓 79"/>
                <p:cNvSpPr/>
                <p:nvPr/>
              </p:nvSpPr>
              <p:spPr>
                <a:xfrm>
                  <a:off x="2499961" y="2587596"/>
                  <a:ext cx="219201" cy="220584"/>
                </a:xfrm>
                <a:prstGeom prst="ellipse">
                  <a:avLst/>
                </a:prstGeom>
                <a:solidFill>
                  <a:srgbClr val="FFFF00"/>
                </a:solidFill>
                <a:ln>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橢圓 98"/>
                <p:cNvSpPr/>
                <p:nvPr/>
              </p:nvSpPr>
              <p:spPr>
                <a:xfrm>
                  <a:off x="5007761" y="3134739"/>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p:cNvSpPr/>
                <p:nvPr/>
              </p:nvSpPr>
              <p:spPr>
                <a:xfrm>
                  <a:off x="2097052" y="2980597"/>
                  <a:ext cx="219201" cy="220584"/>
                </a:xfrm>
                <a:prstGeom prst="ellipse">
                  <a:avLst/>
                </a:prstGeom>
                <a:solidFill>
                  <a:srgbClr val="FFFF00"/>
                </a:solidFill>
                <a:ln>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橢圓 81"/>
                <p:cNvSpPr/>
                <p:nvPr/>
              </p:nvSpPr>
              <p:spPr>
                <a:xfrm>
                  <a:off x="1640970" y="2846449"/>
                  <a:ext cx="219201" cy="220584"/>
                </a:xfrm>
                <a:prstGeom prst="ellipse">
                  <a:avLst/>
                </a:prstGeom>
                <a:solidFill>
                  <a:srgbClr val="FFFF00"/>
                </a:solidFill>
                <a:ln>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橢圓 82"/>
                <p:cNvSpPr/>
                <p:nvPr/>
              </p:nvSpPr>
              <p:spPr>
                <a:xfrm>
                  <a:off x="2506434" y="3360605"/>
                  <a:ext cx="219201" cy="220584"/>
                </a:xfrm>
                <a:prstGeom prst="ellipse">
                  <a:avLst/>
                </a:prstGeom>
                <a:solidFill>
                  <a:srgbClr val="FFFF00"/>
                </a:solidFill>
                <a:ln>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橢圓 84"/>
                <p:cNvSpPr/>
                <p:nvPr/>
              </p:nvSpPr>
              <p:spPr>
                <a:xfrm>
                  <a:off x="1836419" y="3372385"/>
                  <a:ext cx="219201" cy="220584"/>
                </a:xfrm>
                <a:prstGeom prst="ellipse">
                  <a:avLst/>
                </a:prstGeom>
                <a:solidFill>
                  <a:srgbClr val="FFFF00"/>
                </a:solidFill>
                <a:ln>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橢圓 86"/>
                <p:cNvSpPr/>
                <p:nvPr/>
              </p:nvSpPr>
              <p:spPr>
                <a:xfrm>
                  <a:off x="3416173" y="3209728"/>
                  <a:ext cx="219201" cy="220584"/>
                </a:xfrm>
                <a:prstGeom prst="ellipse">
                  <a:avLst/>
                </a:prstGeom>
                <a:solidFill>
                  <a:srgbClr val="FFFFB4"/>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橢圓 88"/>
                <p:cNvSpPr/>
                <p:nvPr/>
              </p:nvSpPr>
              <p:spPr>
                <a:xfrm>
                  <a:off x="3577623" y="3009624"/>
                  <a:ext cx="219201" cy="220584"/>
                </a:xfrm>
                <a:prstGeom prst="ellipse">
                  <a:avLst/>
                </a:prstGeom>
                <a:solidFill>
                  <a:srgbClr val="FFFFB4"/>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橢圓 89"/>
                <p:cNvSpPr/>
                <p:nvPr/>
              </p:nvSpPr>
              <p:spPr>
                <a:xfrm>
                  <a:off x="3680093" y="2760013"/>
                  <a:ext cx="219201" cy="220584"/>
                </a:xfrm>
                <a:prstGeom prst="ellipse">
                  <a:avLst/>
                </a:prstGeom>
                <a:solidFill>
                  <a:srgbClr val="FFFFB4"/>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橢圓 90"/>
                <p:cNvSpPr/>
                <p:nvPr/>
              </p:nvSpPr>
              <p:spPr>
                <a:xfrm>
                  <a:off x="3876394" y="3140021"/>
                  <a:ext cx="219201" cy="220584"/>
                </a:xfrm>
                <a:prstGeom prst="ellipse">
                  <a:avLst/>
                </a:prstGeom>
                <a:solidFill>
                  <a:srgbClr val="FFFFB4"/>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2" name="橢圓 91"/>
                <p:cNvSpPr/>
                <p:nvPr/>
              </p:nvSpPr>
              <p:spPr>
                <a:xfrm>
                  <a:off x="3455805" y="2587596"/>
                  <a:ext cx="219201" cy="220584"/>
                </a:xfrm>
                <a:prstGeom prst="ellipse">
                  <a:avLst/>
                </a:prstGeom>
                <a:solidFill>
                  <a:srgbClr val="FFFFB4"/>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橢圓 92"/>
                <p:cNvSpPr/>
                <p:nvPr/>
              </p:nvSpPr>
              <p:spPr>
                <a:xfrm>
                  <a:off x="3985995" y="2781041"/>
                  <a:ext cx="219201" cy="220584"/>
                </a:xfrm>
                <a:prstGeom prst="ellipse">
                  <a:avLst/>
                </a:prstGeom>
                <a:solidFill>
                  <a:srgbClr val="FFFFB4"/>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橢圓 93"/>
                <p:cNvSpPr/>
                <p:nvPr/>
              </p:nvSpPr>
              <p:spPr>
                <a:xfrm>
                  <a:off x="5012848" y="2905265"/>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橢圓 94"/>
                <p:cNvSpPr/>
                <p:nvPr/>
              </p:nvSpPr>
              <p:spPr>
                <a:xfrm>
                  <a:off x="5232049" y="2908458"/>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橢圓 95"/>
                <p:cNvSpPr/>
                <p:nvPr/>
              </p:nvSpPr>
              <p:spPr>
                <a:xfrm>
                  <a:off x="5451250" y="2916040"/>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橢圓 96"/>
                <p:cNvSpPr/>
                <p:nvPr/>
              </p:nvSpPr>
              <p:spPr>
                <a:xfrm>
                  <a:off x="5446163" y="3134739"/>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0" name="直線單箭頭接點 39"/>
                <p:cNvCxnSpPr>
                  <a:stCxn id="5" idx="0"/>
                </p:cNvCxnSpPr>
                <p:nvPr/>
              </p:nvCxnSpPr>
              <p:spPr>
                <a:xfrm flipH="1" flipV="1">
                  <a:off x="2079371" y="2101850"/>
                  <a:ext cx="1" cy="325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直線單箭頭接點 104"/>
                <p:cNvCxnSpPr>
                  <a:stCxn id="82" idx="1"/>
                </p:cNvCxnSpPr>
                <p:nvPr/>
              </p:nvCxnSpPr>
              <p:spPr>
                <a:xfrm flipH="1" flipV="1">
                  <a:off x="1464497" y="2648012"/>
                  <a:ext cx="208574" cy="230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線單箭頭接點 107"/>
                <p:cNvCxnSpPr>
                  <a:stCxn id="80" idx="7"/>
                </p:cNvCxnSpPr>
                <p:nvPr/>
              </p:nvCxnSpPr>
              <p:spPr>
                <a:xfrm flipV="1">
                  <a:off x="2687061" y="2427428"/>
                  <a:ext cx="219201" cy="1924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直線單箭頭接點 110"/>
                <p:cNvCxnSpPr>
                  <a:stCxn id="85" idx="2"/>
                </p:cNvCxnSpPr>
                <p:nvPr/>
              </p:nvCxnSpPr>
              <p:spPr>
                <a:xfrm flipH="1">
                  <a:off x="1605384" y="3482677"/>
                  <a:ext cx="2310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直線單箭頭接點 113"/>
                <p:cNvCxnSpPr>
                  <a:stCxn id="83" idx="5"/>
                </p:cNvCxnSpPr>
                <p:nvPr/>
              </p:nvCxnSpPr>
              <p:spPr>
                <a:xfrm>
                  <a:off x="2693534" y="3548885"/>
                  <a:ext cx="152909" cy="1635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直線單箭頭接點 116"/>
                <p:cNvCxnSpPr>
                  <a:stCxn id="81" idx="6"/>
                </p:cNvCxnSpPr>
                <p:nvPr/>
              </p:nvCxnSpPr>
              <p:spPr>
                <a:xfrm>
                  <a:off x="2316253" y="3090889"/>
                  <a:ext cx="269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0"/>
                <p:cNvCxnSpPr>
                  <a:stCxn id="92" idx="0"/>
                </p:cNvCxnSpPr>
                <p:nvPr/>
              </p:nvCxnSpPr>
              <p:spPr>
                <a:xfrm flipH="1" flipV="1">
                  <a:off x="3565405" y="2427428"/>
                  <a:ext cx="1" cy="1601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直線單箭頭接點 121"/>
                <p:cNvCxnSpPr>
                  <a:stCxn id="93" idx="7"/>
                </p:cNvCxnSpPr>
                <p:nvPr/>
              </p:nvCxnSpPr>
              <p:spPr>
                <a:xfrm flipV="1">
                  <a:off x="4173095" y="2693298"/>
                  <a:ext cx="91430" cy="120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直線單箭頭接點 126"/>
                <p:cNvCxnSpPr>
                  <a:stCxn id="90" idx="7"/>
                </p:cNvCxnSpPr>
                <p:nvPr/>
              </p:nvCxnSpPr>
              <p:spPr>
                <a:xfrm flipV="1">
                  <a:off x="3867193" y="2696659"/>
                  <a:ext cx="65563" cy="95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9" name="直線單箭頭接點 128"/>
                <p:cNvCxnSpPr>
                  <a:stCxn id="91" idx="6"/>
                </p:cNvCxnSpPr>
                <p:nvPr/>
              </p:nvCxnSpPr>
              <p:spPr>
                <a:xfrm flipV="1">
                  <a:off x="4095595" y="3245031"/>
                  <a:ext cx="109601" cy="5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2" name="直線單箭頭接點 131"/>
                <p:cNvCxnSpPr>
                  <a:stCxn id="87" idx="3"/>
                </p:cNvCxnSpPr>
                <p:nvPr/>
              </p:nvCxnSpPr>
              <p:spPr>
                <a:xfrm flipH="1">
                  <a:off x="3363432" y="3398008"/>
                  <a:ext cx="84842" cy="84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7" name="直線單箭頭接點 136"/>
                <p:cNvCxnSpPr>
                  <a:stCxn id="89" idx="4"/>
                </p:cNvCxnSpPr>
                <p:nvPr/>
              </p:nvCxnSpPr>
              <p:spPr>
                <a:xfrm flipH="1">
                  <a:off x="3680093" y="3230208"/>
                  <a:ext cx="7131" cy="978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42" name="向右箭號 141"/>
              <p:cNvSpPr/>
              <p:nvPr/>
            </p:nvSpPr>
            <p:spPr>
              <a:xfrm>
                <a:off x="2703699" y="3918804"/>
                <a:ext cx="2152961" cy="160721"/>
              </a:xfrm>
              <a:prstGeom prst="rightArrow">
                <a:avLst/>
              </a:prstGeom>
              <a:gradFill flip="none" rotWithShape="1">
                <a:gsLst>
                  <a:gs pos="0">
                    <a:srgbClr val="0070C0"/>
                  </a:gs>
                  <a:gs pos="24000">
                    <a:srgbClr val="00B0F0"/>
                  </a:gs>
                  <a:gs pos="52000">
                    <a:schemeClr val="bg1"/>
                  </a:gs>
                  <a:gs pos="78000">
                    <a:srgbClr val="FFC000"/>
                  </a:gs>
                  <a:gs pos="100000">
                    <a:srgbClr val="FF0000"/>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0" name="文字方塊 2">
                <a:extLst>
                  <a:ext uri="{FF2B5EF4-FFF2-40B4-BE49-F238E27FC236}">
                    <a16:creationId xmlns:a16="http://schemas.microsoft.com/office/drawing/2014/main" id="{3787A6C6-B139-48AE-9EB3-012BD6E74ECB}"/>
                  </a:ext>
                </a:extLst>
              </p:cNvPr>
              <p:cNvSpPr txBox="1">
                <a:spLocks noChangeArrowheads="1"/>
              </p:cNvSpPr>
              <p:nvPr/>
            </p:nvSpPr>
            <p:spPr bwMode="auto">
              <a:xfrm>
                <a:off x="1317361" y="3840908"/>
                <a:ext cx="1642356" cy="335408"/>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altLang="zh-TW" sz="1400" b="1" kern="100" dirty="0">
                    <a:solidFill>
                      <a:srgbClr val="FF0000"/>
                    </a:solidFill>
                    <a:latin typeface="Times New Roman" panose="02020603050405020304" pitchFamily="18" charset="0"/>
                    <a:cs typeface="Times New Roman" panose="02020603050405020304" pitchFamily="18" charset="0"/>
                  </a:rPr>
                  <a:t>High temperature</a:t>
                </a:r>
                <a:endParaRPr lang="zh-TW" sz="1400" b="1" kern="100" dirty="0">
                  <a:solidFill>
                    <a:srgbClr val="FF0000"/>
                  </a:solidFill>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144" name="矩形 143"/>
              <p:cNvSpPr/>
              <p:nvPr/>
            </p:nvSpPr>
            <p:spPr>
              <a:xfrm>
                <a:off x="4877232" y="3860664"/>
                <a:ext cx="1343341" cy="264687"/>
              </a:xfrm>
              <a:prstGeom prst="rect">
                <a:avLst/>
              </a:prstGeom>
              <a:ln>
                <a:noFill/>
              </a:ln>
            </p:spPr>
            <p:txBody>
              <a:bodyPr wrap="none">
                <a:spAutoFit/>
              </a:bodyPr>
              <a:lstStyle/>
              <a:p>
                <a:r>
                  <a:rPr lang="en-US" altLang="zh-TW" sz="1400" b="1"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Low</a:t>
                </a:r>
                <a:r>
                  <a:rPr lang="zh-TW" altLang="en-US" sz="1400" b="1"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 temperature</a:t>
                </a:r>
              </a:p>
            </p:txBody>
          </p:sp>
          <p:sp>
            <p:nvSpPr>
              <p:cNvPr id="145" name="矩形 144"/>
              <p:cNvSpPr/>
              <p:nvPr/>
            </p:nvSpPr>
            <p:spPr>
              <a:xfrm>
                <a:off x="1660680" y="4199933"/>
                <a:ext cx="1029533" cy="264687"/>
              </a:xfrm>
              <a:prstGeom prst="rect">
                <a:avLst/>
              </a:prstGeom>
            </p:spPr>
            <p:txBody>
              <a:bodyPr wrap="none">
                <a:spAutoFit/>
              </a:bodyPr>
              <a:lstStyle/>
              <a:p>
                <a:r>
                  <a:rPr lang="en-US"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H</a:t>
                </a:r>
                <a:r>
                  <a:rPr lang="zh-TW" altLang="en-US"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igh </a:t>
                </a:r>
                <a:r>
                  <a:rPr lang="en-US" altLang="zh-TW"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Energy</a:t>
                </a:r>
                <a:endParaRPr lang="zh-TW" altLang="en-US" sz="1400" b="1"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2" name="矩形 151"/>
              <p:cNvSpPr/>
              <p:nvPr/>
            </p:nvSpPr>
            <p:spPr>
              <a:xfrm>
                <a:off x="4882134" y="4211607"/>
                <a:ext cx="995602" cy="264687"/>
              </a:xfrm>
              <a:prstGeom prst="rect">
                <a:avLst/>
              </a:prstGeom>
            </p:spPr>
            <p:txBody>
              <a:bodyPr wrap="none">
                <a:spAutoFit/>
              </a:bodyPr>
              <a:lstStyle/>
              <a:p>
                <a:r>
                  <a:rPr lang="en-US" altLang="zh-TW" sz="1400" b="1"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Low Energy</a:t>
                </a:r>
                <a:endParaRPr lang="zh-TW" altLang="en-US" sz="1400" b="1"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3" name="向右箭號 152"/>
              <p:cNvSpPr/>
              <p:nvPr/>
            </p:nvSpPr>
            <p:spPr>
              <a:xfrm>
                <a:off x="2694168" y="4267130"/>
                <a:ext cx="2152961" cy="160721"/>
              </a:xfrm>
              <a:prstGeom prst="rightArrow">
                <a:avLst/>
              </a:prstGeom>
              <a:gradFill flip="none" rotWithShape="1">
                <a:gsLst>
                  <a:gs pos="0">
                    <a:schemeClr val="bg1"/>
                  </a:gs>
                  <a:gs pos="100000">
                    <a:srgbClr val="FFFF00"/>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grpSp>
        <p:nvGrpSpPr>
          <p:cNvPr id="212" name="群組 211"/>
          <p:cNvGrpSpPr/>
          <p:nvPr/>
        </p:nvGrpSpPr>
        <p:grpSpPr>
          <a:xfrm>
            <a:off x="3603485" y="1478659"/>
            <a:ext cx="5205618" cy="1277589"/>
            <a:chOff x="1659392" y="976139"/>
            <a:chExt cx="4500100" cy="977462"/>
          </a:xfrm>
        </p:grpSpPr>
        <p:sp>
          <p:nvSpPr>
            <p:cNvPr id="183" name="橢圓 182"/>
            <p:cNvSpPr/>
            <p:nvPr/>
          </p:nvSpPr>
          <p:spPr>
            <a:xfrm>
              <a:off x="2762865" y="1055113"/>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99" name="橢圓 198"/>
            <p:cNvSpPr/>
            <p:nvPr/>
          </p:nvSpPr>
          <p:spPr>
            <a:xfrm>
              <a:off x="5720155" y="1501973"/>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4" name="向下箭號 203"/>
            <p:cNvSpPr/>
            <p:nvPr/>
          </p:nvSpPr>
          <p:spPr>
            <a:xfrm rot="16200000">
              <a:off x="3688084" y="708219"/>
              <a:ext cx="498871" cy="1623524"/>
            </a:xfrm>
            <a:prstGeom prst="downArrow">
              <a:avLst/>
            </a:prstGeom>
            <a:solidFill>
              <a:schemeClr val="accent1">
                <a:lumMod val="75000"/>
              </a:schemeClr>
            </a:solidFill>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08" name="群組 207"/>
            <p:cNvGrpSpPr/>
            <p:nvPr/>
          </p:nvGrpSpPr>
          <p:grpSpPr>
            <a:xfrm>
              <a:off x="1659392" y="976139"/>
              <a:ext cx="4500100" cy="977462"/>
              <a:chOff x="1659392" y="976139"/>
              <a:chExt cx="4500100" cy="977462"/>
            </a:xfrm>
          </p:grpSpPr>
          <p:grpSp>
            <p:nvGrpSpPr>
              <p:cNvPr id="206" name="群組 205"/>
              <p:cNvGrpSpPr/>
              <p:nvPr/>
            </p:nvGrpSpPr>
            <p:grpSpPr>
              <a:xfrm>
                <a:off x="1659392" y="976139"/>
                <a:ext cx="1387895" cy="973383"/>
                <a:chOff x="1659392" y="976139"/>
                <a:chExt cx="1387895" cy="973383"/>
              </a:xfrm>
            </p:grpSpPr>
            <p:sp>
              <p:nvSpPr>
                <p:cNvPr id="156" name="橢圓 155"/>
                <p:cNvSpPr/>
                <p:nvPr/>
              </p:nvSpPr>
              <p:spPr>
                <a:xfrm>
                  <a:off x="1659392" y="1205613"/>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7" name="橢圓 156"/>
                <p:cNvSpPr/>
                <p:nvPr/>
              </p:nvSpPr>
              <p:spPr>
                <a:xfrm>
                  <a:off x="1664479" y="976139"/>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8" name="橢圓 157"/>
                <p:cNvSpPr/>
                <p:nvPr/>
              </p:nvSpPr>
              <p:spPr>
                <a:xfrm>
                  <a:off x="1883680" y="979332"/>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9" name="橢圓 158"/>
                <p:cNvSpPr/>
                <p:nvPr/>
              </p:nvSpPr>
              <p:spPr>
                <a:xfrm>
                  <a:off x="2102881" y="986914"/>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0" name="橢圓 159"/>
                <p:cNvSpPr/>
                <p:nvPr/>
              </p:nvSpPr>
              <p:spPr>
                <a:xfrm>
                  <a:off x="2097794" y="1205613"/>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1" name="橢圓 160"/>
                <p:cNvSpPr/>
                <p:nvPr/>
              </p:nvSpPr>
              <p:spPr>
                <a:xfrm>
                  <a:off x="1881299" y="1205613"/>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8" name="橢圓 167"/>
                <p:cNvSpPr/>
                <p:nvPr/>
              </p:nvSpPr>
              <p:spPr>
                <a:xfrm>
                  <a:off x="1659979" y="1663761"/>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69" name="橢圓 168"/>
                <p:cNvSpPr/>
                <p:nvPr/>
              </p:nvSpPr>
              <p:spPr>
                <a:xfrm>
                  <a:off x="1665066" y="1434287"/>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71" name="橢圓 170"/>
                <p:cNvSpPr/>
                <p:nvPr/>
              </p:nvSpPr>
              <p:spPr>
                <a:xfrm>
                  <a:off x="2103468" y="1445062"/>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72" name="橢圓 171"/>
                <p:cNvSpPr/>
                <p:nvPr/>
              </p:nvSpPr>
              <p:spPr>
                <a:xfrm>
                  <a:off x="2098381" y="1663761"/>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73" name="橢圓 172"/>
                <p:cNvSpPr/>
                <p:nvPr/>
              </p:nvSpPr>
              <p:spPr>
                <a:xfrm>
                  <a:off x="1881886" y="1663761"/>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80" name="橢圓 179"/>
                <p:cNvSpPr/>
                <p:nvPr/>
              </p:nvSpPr>
              <p:spPr>
                <a:xfrm>
                  <a:off x="2396783" y="1268092"/>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81" name="橢圓 180"/>
                <p:cNvSpPr/>
                <p:nvPr/>
              </p:nvSpPr>
              <p:spPr>
                <a:xfrm>
                  <a:off x="2324463" y="1044338"/>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82" name="橢圓 181"/>
                <p:cNvSpPr/>
                <p:nvPr/>
              </p:nvSpPr>
              <p:spPr>
                <a:xfrm>
                  <a:off x="2543664" y="1047531"/>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84" name="橢圓 183"/>
                <p:cNvSpPr/>
                <p:nvPr/>
              </p:nvSpPr>
              <p:spPr>
                <a:xfrm>
                  <a:off x="2828086" y="1273812"/>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85" name="橢圓 184"/>
                <p:cNvSpPr/>
                <p:nvPr/>
              </p:nvSpPr>
              <p:spPr>
                <a:xfrm>
                  <a:off x="2604427" y="1274152"/>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86" name="橢圓 185"/>
                <p:cNvSpPr/>
                <p:nvPr/>
              </p:nvSpPr>
              <p:spPr>
                <a:xfrm>
                  <a:off x="2323204" y="1728938"/>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87" name="橢圓 186"/>
                <p:cNvSpPr/>
                <p:nvPr/>
              </p:nvSpPr>
              <p:spPr>
                <a:xfrm>
                  <a:off x="2328291" y="1499464"/>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88" name="橢圓 187"/>
                <p:cNvSpPr/>
                <p:nvPr/>
              </p:nvSpPr>
              <p:spPr>
                <a:xfrm>
                  <a:off x="2547492" y="1502657"/>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89" name="橢圓 188"/>
                <p:cNvSpPr/>
                <p:nvPr/>
              </p:nvSpPr>
              <p:spPr>
                <a:xfrm>
                  <a:off x="2766693" y="1510239"/>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90" name="橢圓 189"/>
                <p:cNvSpPr/>
                <p:nvPr/>
              </p:nvSpPr>
              <p:spPr>
                <a:xfrm>
                  <a:off x="2761606" y="1728938"/>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sp>
              <p:nvSpPr>
                <p:cNvPr id="191" name="橢圓 190"/>
                <p:cNvSpPr/>
                <p:nvPr/>
              </p:nvSpPr>
              <p:spPr>
                <a:xfrm>
                  <a:off x="2545111" y="1728938"/>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p>
              </p:txBody>
            </p:sp>
          </p:grpSp>
          <p:grpSp>
            <p:nvGrpSpPr>
              <p:cNvPr id="207" name="群組 206"/>
              <p:cNvGrpSpPr/>
              <p:nvPr/>
            </p:nvGrpSpPr>
            <p:grpSpPr>
              <a:xfrm>
                <a:off x="3459139" y="1049666"/>
                <a:ext cx="2700353" cy="903935"/>
                <a:chOff x="3459139" y="1049666"/>
                <a:chExt cx="2700353" cy="903935"/>
              </a:xfrm>
            </p:grpSpPr>
            <p:sp>
              <p:nvSpPr>
                <p:cNvPr id="162" name="橢圓 161"/>
                <p:cNvSpPr/>
                <p:nvPr/>
              </p:nvSpPr>
              <p:spPr>
                <a:xfrm>
                  <a:off x="4833638" y="1277255"/>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3" name="橢圓 162"/>
                <p:cNvSpPr/>
                <p:nvPr/>
              </p:nvSpPr>
              <p:spPr>
                <a:xfrm>
                  <a:off x="4833962" y="1052544"/>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4" name="橢圓 163"/>
                <p:cNvSpPr/>
                <p:nvPr/>
              </p:nvSpPr>
              <p:spPr>
                <a:xfrm>
                  <a:off x="5053163" y="1050974"/>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5" name="橢圓 164"/>
                <p:cNvSpPr/>
                <p:nvPr/>
              </p:nvSpPr>
              <p:spPr>
                <a:xfrm>
                  <a:off x="5272364" y="1053793"/>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6" name="橢圓 165"/>
                <p:cNvSpPr/>
                <p:nvPr/>
              </p:nvSpPr>
              <p:spPr>
                <a:xfrm>
                  <a:off x="5276803" y="1272492"/>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7" name="橢圓 166"/>
                <p:cNvSpPr/>
                <p:nvPr/>
              </p:nvSpPr>
              <p:spPr>
                <a:xfrm>
                  <a:off x="5055545" y="1272492"/>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4" name="橢圓 173"/>
                <p:cNvSpPr/>
                <p:nvPr/>
              </p:nvSpPr>
              <p:spPr>
                <a:xfrm>
                  <a:off x="4837466" y="1722855"/>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5" name="橢圓 174"/>
                <p:cNvSpPr/>
                <p:nvPr/>
              </p:nvSpPr>
              <p:spPr>
                <a:xfrm>
                  <a:off x="4837790" y="1502907"/>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6" name="橢圓 175"/>
                <p:cNvSpPr/>
                <p:nvPr/>
              </p:nvSpPr>
              <p:spPr>
                <a:xfrm>
                  <a:off x="5061754" y="1496574"/>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7" name="橢圓 176"/>
                <p:cNvSpPr/>
                <p:nvPr/>
              </p:nvSpPr>
              <p:spPr>
                <a:xfrm>
                  <a:off x="5280955" y="1508919"/>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8" name="橢圓 177"/>
                <p:cNvSpPr/>
                <p:nvPr/>
              </p:nvSpPr>
              <p:spPr>
                <a:xfrm>
                  <a:off x="5280631" y="1727618"/>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9" name="橢圓 178"/>
                <p:cNvSpPr/>
                <p:nvPr/>
              </p:nvSpPr>
              <p:spPr>
                <a:xfrm>
                  <a:off x="5064136" y="1722855"/>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2" name="橢圓 191"/>
                <p:cNvSpPr/>
                <p:nvPr/>
              </p:nvSpPr>
              <p:spPr>
                <a:xfrm>
                  <a:off x="5496802" y="1277891"/>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3" name="橢圓 192"/>
                <p:cNvSpPr/>
                <p:nvPr/>
              </p:nvSpPr>
              <p:spPr>
                <a:xfrm>
                  <a:off x="5497126" y="1053180"/>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4" name="橢圓 193"/>
                <p:cNvSpPr/>
                <p:nvPr/>
              </p:nvSpPr>
              <p:spPr>
                <a:xfrm>
                  <a:off x="5940291" y="1049666"/>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5" name="橢圓 194"/>
                <p:cNvSpPr/>
                <p:nvPr/>
              </p:nvSpPr>
              <p:spPr>
                <a:xfrm>
                  <a:off x="5939967" y="1277891"/>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6" name="橢圓 195"/>
                <p:cNvSpPr/>
                <p:nvPr/>
              </p:nvSpPr>
              <p:spPr>
                <a:xfrm>
                  <a:off x="5718709" y="1277891"/>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7" name="橢圓 196"/>
                <p:cNvSpPr/>
                <p:nvPr/>
              </p:nvSpPr>
              <p:spPr>
                <a:xfrm>
                  <a:off x="5495867" y="1733017"/>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8" name="橢圓 197"/>
                <p:cNvSpPr/>
                <p:nvPr/>
              </p:nvSpPr>
              <p:spPr>
                <a:xfrm>
                  <a:off x="5500954" y="1503543"/>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0" name="橢圓 199"/>
                <p:cNvSpPr/>
                <p:nvPr/>
              </p:nvSpPr>
              <p:spPr>
                <a:xfrm>
                  <a:off x="5939356" y="1500029"/>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1" name="橢圓 200"/>
                <p:cNvSpPr/>
                <p:nvPr/>
              </p:nvSpPr>
              <p:spPr>
                <a:xfrm>
                  <a:off x="5939032" y="1718728"/>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2" name="橢圓 201"/>
                <p:cNvSpPr/>
                <p:nvPr/>
              </p:nvSpPr>
              <p:spPr>
                <a:xfrm>
                  <a:off x="5717774" y="1728254"/>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3" name="橢圓 202"/>
                <p:cNvSpPr/>
                <p:nvPr/>
              </p:nvSpPr>
              <p:spPr>
                <a:xfrm>
                  <a:off x="5717807" y="1050700"/>
                  <a:ext cx="219201" cy="220584"/>
                </a:xfrm>
                <a:prstGeom prst="ellipse">
                  <a:avLst/>
                </a:prstGeom>
                <a:solidFill>
                  <a:schemeClr val="bg1"/>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5" name="矩形 204"/>
                <p:cNvSpPr/>
                <p:nvPr/>
              </p:nvSpPr>
              <p:spPr>
                <a:xfrm>
                  <a:off x="3459139" y="1163919"/>
                  <a:ext cx="840041" cy="235475"/>
                </a:xfrm>
                <a:prstGeom prst="rect">
                  <a:avLst/>
                </a:prstGeom>
              </p:spPr>
              <p:txBody>
                <a:bodyPr wrap="none">
                  <a:spAutoFit/>
                </a:bodyPr>
                <a:lstStyle/>
                <a:p>
                  <a:r>
                    <a:rPr lang="en-US" altLang="zh-TW" sz="1400" b="1" dirty="0">
                      <a:latin typeface="Times New Roman" panose="02020603050405020304" pitchFamily="18" charset="0"/>
                      <a:ea typeface="標楷體" panose="03000509000000000000" pitchFamily="65" charset="-120"/>
                      <a:cs typeface="Times New Roman" panose="02020603050405020304" pitchFamily="18" charset="0"/>
                    </a:rPr>
                    <a:t>Annealing</a:t>
                  </a:r>
                  <a:endParaRPr lang="zh-TW" altLang="en-US" sz="1400" b="1" dirty="0">
                    <a:latin typeface="Times New Roman" panose="02020603050405020304" pitchFamily="18" charset="0"/>
                    <a:ea typeface="標楷體" panose="03000509000000000000" pitchFamily="65" charset="-120"/>
                    <a:cs typeface="Times New Roman" panose="02020603050405020304" pitchFamily="18" charset="0"/>
                  </a:endParaRPr>
                </a:p>
              </p:txBody>
            </p:sp>
          </p:grpSp>
        </p:grpSp>
      </p:grpSp>
      <p:sp>
        <p:nvSpPr>
          <p:cNvPr id="213" name="矩形 212"/>
          <p:cNvSpPr/>
          <p:nvPr/>
        </p:nvSpPr>
        <p:spPr>
          <a:xfrm>
            <a:off x="303855" y="885899"/>
            <a:ext cx="1399742" cy="523220"/>
          </a:xfrm>
          <a:prstGeom prst="rect">
            <a:avLst/>
          </a:prstGeom>
        </p:spPr>
        <p:txBody>
          <a:bodyPr wrap="none">
            <a:spAutoFit/>
          </a:bodyPr>
          <a:lstStyle/>
          <a:p>
            <a:r>
              <a:rPr lang="en-US" altLang="zh-TW"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t>
            </a:r>
            <a:r>
              <a:rPr lang="zh-TW" altLang="en-US" sz="28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oncept</a:t>
            </a:r>
          </a:p>
        </p:txBody>
      </p:sp>
    </p:spTree>
    <p:extLst>
      <p:ext uri="{BB962C8B-B14F-4D97-AF65-F5344CB8AC3E}">
        <p14:creationId xmlns:p14="http://schemas.microsoft.com/office/powerpoint/2010/main" val="3166690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63668" y="821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Simulated Annealing Method (SA)</a:t>
            </a:r>
            <a:endParaRPr lang="zh-TW" altLang="en-US" sz="2800" b="1" dirty="0">
              <a:latin typeface="Times New Roman" panose="02020603050405020304" pitchFamily="18" charset="0"/>
              <a:cs typeface="Times New Roman" panose="02020603050405020304" pitchFamily="18" charset="0"/>
            </a:endParaRPr>
          </a:p>
        </p:txBody>
      </p:sp>
      <p:grpSp>
        <p:nvGrpSpPr>
          <p:cNvPr id="6" name="群組 5">
            <a:extLst>
              <a:ext uri="{FF2B5EF4-FFF2-40B4-BE49-F238E27FC236}">
                <a16:creationId xmlns:a16="http://schemas.microsoft.com/office/drawing/2014/main" id="{E751ABAE-5F3F-4111-BBAD-E1D54E8BB97E}"/>
              </a:ext>
            </a:extLst>
          </p:cNvPr>
          <p:cNvGrpSpPr/>
          <p:nvPr/>
        </p:nvGrpSpPr>
        <p:grpSpPr>
          <a:xfrm>
            <a:off x="5288390" y="1089458"/>
            <a:ext cx="6809159" cy="5616466"/>
            <a:chOff x="0" y="72043"/>
            <a:chExt cx="4463043" cy="4933799"/>
          </a:xfrm>
        </p:grpSpPr>
        <p:grpSp>
          <p:nvGrpSpPr>
            <p:cNvPr id="7" name="群組 6">
              <a:extLst>
                <a:ext uri="{FF2B5EF4-FFF2-40B4-BE49-F238E27FC236}">
                  <a16:creationId xmlns:a16="http://schemas.microsoft.com/office/drawing/2014/main" id="{9AA4C8B9-31DD-451C-9425-FCE4AB435069}"/>
                </a:ext>
              </a:extLst>
            </p:cNvPr>
            <p:cNvGrpSpPr/>
            <p:nvPr/>
          </p:nvGrpSpPr>
          <p:grpSpPr>
            <a:xfrm>
              <a:off x="222531" y="76171"/>
              <a:ext cx="4240512" cy="4929671"/>
              <a:chOff x="39651" y="76171"/>
              <a:chExt cx="4240512" cy="4929671"/>
            </a:xfrm>
          </p:grpSpPr>
          <p:cxnSp>
            <p:nvCxnSpPr>
              <p:cNvPr id="59" name="直線單箭頭接點 141">
                <a:extLst>
                  <a:ext uri="{FF2B5EF4-FFF2-40B4-BE49-F238E27FC236}">
                    <a16:creationId xmlns:a16="http://schemas.microsoft.com/office/drawing/2014/main" id="{CF068A29-0E86-4D5A-B988-54B5FE74622E}"/>
                  </a:ext>
                </a:extLst>
              </p:cNvPr>
              <p:cNvCxnSpPr/>
              <p:nvPr/>
            </p:nvCxnSpPr>
            <p:spPr>
              <a:xfrm rot="5400000" flipH="1">
                <a:off x="2336806" y="1061748"/>
                <a:ext cx="111501" cy="1418339"/>
              </a:xfrm>
              <a:prstGeom prst="bentConnector3">
                <a:avLst>
                  <a:gd name="adj1" fmla="val 99919"/>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接點: 肘形 59">
                <a:extLst>
                  <a:ext uri="{FF2B5EF4-FFF2-40B4-BE49-F238E27FC236}">
                    <a16:creationId xmlns:a16="http://schemas.microsoft.com/office/drawing/2014/main" id="{9688A03F-2A99-4DDE-B07B-2EB1FF251C1B}"/>
                  </a:ext>
                </a:extLst>
              </p:cNvPr>
              <p:cNvCxnSpPr/>
              <p:nvPr/>
            </p:nvCxnSpPr>
            <p:spPr>
              <a:xfrm>
                <a:off x="2266305" y="1720312"/>
                <a:ext cx="200167" cy="774838"/>
              </a:xfrm>
              <a:prstGeom prst="bentConnector3">
                <a:avLst>
                  <a:gd name="adj1" fmla="val -355"/>
                </a:avLst>
              </a:prstGeom>
            </p:spPr>
            <p:style>
              <a:lnRef idx="2">
                <a:schemeClr val="dk1"/>
              </a:lnRef>
              <a:fillRef idx="0">
                <a:schemeClr val="dk1"/>
              </a:fillRef>
              <a:effectRef idx="1">
                <a:schemeClr val="dk1"/>
              </a:effectRef>
              <a:fontRef idx="minor">
                <a:schemeClr val="tx1"/>
              </a:fontRef>
            </p:style>
          </p:cxnSp>
          <p:sp>
            <p:nvSpPr>
              <p:cNvPr id="61" name="文字方塊 2">
                <a:extLst>
                  <a:ext uri="{FF2B5EF4-FFF2-40B4-BE49-F238E27FC236}">
                    <a16:creationId xmlns:a16="http://schemas.microsoft.com/office/drawing/2014/main" id="{7516B9F6-C522-4307-B967-DE9E5348FE0E}"/>
                  </a:ext>
                </a:extLst>
              </p:cNvPr>
              <p:cNvSpPr txBox="1">
                <a:spLocks noChangeArrowheads="1"/>
              </p:cNvSpPr>
              <p:nvPr/>
            </p:nvSpPr>
            <p:spPr bwMode="auto">
              <a:xfrm>
                <a:off x="1342079" y="76171"/>
                <a:ext cx="559581" cy="294933"/>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start</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2" name="文字方塊 2">
                <a:extLst>
                  <a:ext uri="{FF2B5EF4-FFF2-40B4-BE49-F238E27FC236}">
                    <a16:creationId xmlns:a16="http://schemas.microsoft.com/office/drawing/2014/main" id="{61253B2D-AEC4-4CD4-BA8C-F1A2763CAA2D}"/>
                  </a:ext>
                </a:extLst>
              </p:cNvPr>
              <p:cNvSpPr txBox="1">
                <a:spLocks noChangeArrowheads="1"/>
              </p:cNvSpPr>
              <p:nvPr/>
            </p:nvSpPr>
            <p:spPr bwMode="auto">
              <a:xfrm>
                <a:off x="1135078" y="407643"/>
                <a:ext cx="934687" cy="294933"/>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err="1">
                    <a:effectLst/>
                    <a:latin typeface="Calibri" panose="020F0502020204030204" pitchFamily="34" charset="0"/>
                    <a:ea typeface="新細明體" panose="02020500000000000000" pitchFamily="18" charset="-120"/>
                    <a:cs typeface="Times New Roman" panose="02020603050405020304" pitchFamily="18" charset="0"/>
                  </a:rPr>
                  <a:t>Intitial</a:t>
                </a: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 Condition</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3" name="文字方塊 2">
                <a:extLst>
                  <a:ext uri="{FF2B5EF4-FFF2-40B4-BE49-F238E27FC236}">
                    <a16:creationId xmlns:a16="http://schemas.microsoft.com/office/drawing/2014/main" id="{73F36D2D-F6B9-440E-97B4-2D2F20A8C6CC}"/>
                  </a:ext>
                </a:extLst>
              </p:cNvPr>
              <p:cNvSpPr txBox="1">
                <a:spLocks noChangeArrowheads="1"/>
              </p:cNvSpPr>
              <p:nvPr/>
            </p:nvSpPr>
            <p:spPr bwMode="auto">
              <a:xfrm>
                <a:off x="1049814" y="699990"/>
                <a:ext cx="1478478"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Domain(j)=-1, for all 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4" name="文字方塊 2">
                <a:extLst>
                  <a:ext uri="{FF2B5EF4-FFF2-40B4-BE49-F238E27FC236}">
                    <a16:creationId xmlns:a16="http://schemas.microsoft.com/office/drawing/2014/main" id="{8E691769-29B5-42B2-B5BF-B61E4DA69E30}"/>
                  </a:ext>
                </a:extLst>
              </p:cNvPr>
              <p:cNvSpPr txBox="1">
                <a:spLocks noChangeArrowheads="1"/>
              </p:cNvSpPr>
              <p:nvPr/>
            </p:nvSpPr>
            <p:spPr bwMode="auto">
              <a:xfrm>
                <a:off x="1146151" y="990174"/>
                <a:ext cx="1478478"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 j=0</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5" name="文字方塊 2">
                <a:extLst>
                  <a:ext uri="{FF2B5EF4-FFF2-40B4-BE49-F238E27FC236}">
                    <a16:creationId xmlns:a16="http://schemas.microsoft.com/office/drawing/2014/main" id="{085C3149-7DF6-4EDF-9F18-ACC0AE0A6B24}"/>
                  </a:ext>
                </a:extLst>
              </p:cNvPr>
              <p:cNvSpPr txBox="1">
                <a:spLocks noChangeArrowheads="1"/>
              </p:cNvSpPr>
              <p:nvPr/>
            </p:nvSpPr>
            <p:spPr bwMode="auto">
              <a:xfrm>
                <a:off x="683838" y="1308663"/>
                <a:ext cx="2707574"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Objective Function(Ob) Calculation, Ob(0)</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6" name="文字方塊 2">
                <a:extLst>
                  <a:ext uri="{FF2B5EF4-FFF2-40B4-BE49-F238E27FC236}">
                    <a16:creationId xmlns:a16="http://schemas.microsoft.com/office/drawing/2014/main" id="{21E72962-C2C8-4C9A-AB51-9E8EFAA5BA38}"/>
                  </a:ext>
                </a:extLst>
              </p:cNvPr>
              <p:cNvSpPr txBox="1">
                <a:spLocks noChangeArrowheads="1"/>
              </p:cNvSpPr>
              <p:nvPr/>
            </p:nvSpPr>
            <p:spPr bwMode="auto">
              <a:xfrm>
                <a:off x="1340296" y="1614923"/>
                <a:ext cx="504190"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J=j+1</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7" name="文字方塊 2">
                <a:extLst>
                  <a:ext uri="{FF2B5EF4-FFF2-40B4-BE49-F238E27FC236}">
                    <a16:creationId xmlns:a16="http://schemas.microsoft.com/office/drawing/2014/main" id="{3787A6C6-B139-48AE-9EB3-012BD6E74ECB}"/>
                  </a:ext>
                </a:extLst>
              </p:cNvPr>
              <p:cNvSpPr txBox="1">
                <a:spLocks noChangeArrowheads="1"/>
              </p:cNvSpPr>
              <p:nvPr/>
            </p:nvSpPr>
            <p:spPr bwMode="auto">
              <a:xfrm>
                <a:off x="1029432" y="2389348"/>
                <a:ext cx="1727860"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Domain(j)=-domain(j)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8" name="文字方塊 2">
                <a:extLst>
                  <a:ext uri="{FF2B5EF4-FFF2-40B4-BE49-F238E27FC236}">
                    <a16:creationId xmlns:a16="http://schemas.microsoft.com/office/drawing/2014/main" id="{8BDBA1DA-92D2-446A-9419-A1BBA1748D0D}"/>
                  </a:ext>
                </a:extLst>
              </p:cNvPr>
              <p:cNvSpPr txBox="1">
                <a:spLocks noChangeArrowheads="1"/>
              </p:cNvSpPr>
              <p:nvPr/>
            </p:nvSpPr>
            <p:spPr bwMode="auto">
              <a:xfrm>
                <a:off x="1366931" y="3288081"/>
                <a:ext cx="500945"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j&gt;N</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9" name="文字方塊 2">
                <a:extLst>
                  <a:ext uri="{FF2B5EF4-FFF2-40B4-BE49-F238E27FC236}">
                    <a16:creationId xmlns:a16="http://schemas.microsoft.com/office/drawing/2014/main" id="{22ABD185-D787-4A8F-AF2E-AC90FD40F76F}"/>
                  </a:ext>
                </a:extLst>
              </p:cNvPr>
              <p:cNvSpPr txBox="1">
                <a:spLocks noChangeArrowheads="1"/>
              </p:cNvSpPr>
              <p:nvPr/>
            </p:nvSpPr>
            <p:spPr bwMode="auto">
              <a:xfrm>
                <a:off x="196424" y="2968099"/>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J=1</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0" name="文字方塊 2">
                <a:extLst>
                  <a:ext uri="{FF2B5EF4-FFF2-40B4-BE49-F238E27FC236}">
                    <a16:creationId xmlns:a16="http://schemas.microsoft.com/office/drawing/2014/main" id="{8543219C-8532-45F0-B97F-56AFA9BFEA0E}"/>
                  </a:ext>
                </a:extLst>
              </p:cNvPr>
              <p:cNvSpPr txBox="1">
                <a:spLocks noChangeArrowheads="1"/>
              </p:cNvSpPr>
              <p:nvPr/>
            </p:nvSpPr>
            <p:spPr bwMode="auto">
              <a:xfrm>
                <a:off x="961432" y="3782095"/>
                <a:ext cx="1402525"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Does any domain change?</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2" name="文字方塊 2">
                <a:extLst>
                  <a:ext uri="{FF2B5EF4-FFF2-40B4-BE49-F238E27FC236}">
                    <a16:creationId xmlns:a16="http://schemas.microsoft.com/office/drawing/2014/main" id="{39E43755-B1CA-4589-B15E-841EEF56C837}"/>
                  </a:ext>
                </a:extLst>
              </p:cNvPr>
              <p:cNvSpPr txBox="1">
                <a:spLocks noChangeArrowheads="1"/>
              </p:cNvSpPr>
              <p:nvPr/>
            </p:nvSpPr>
            <p:spPr bwMode="auto">
              <a:xfrm>
                <a:off x="39651" y="3262740"/>
                <a:ext cx="1246909"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Ob(0)=Ob(j)</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3" name="文字方塊 2">
                    <a:extLst>
                      <a:ext uri="{FF2B5EF4-FFF2-40B4-BE49-F238E27FC236}">
                        <a16:creationId xmlns:a16="http://schemas.microsoft.com/office/drawing/2014/main" id="{EBCA4B7F-7D03-411E-AA5B-9A3363D18C17}"/>
                      </a:ext>
                    </a:extLst>
                  </p:cNvPr>
                  <p:cNvSpPr txBox="1">
                    <a:spLocks noChangeArrowheads="1"/>
                  </p:cNvSpPr>
                  <p:nvPr/>
                </p:nvSpPr>
                <p:spPr bwMode="auto">
                  <a:xfrm>
                    <a:off x="92346" y="3792845"/>
                    <a:ext cx="1246909"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T=T</a:t>
                    </a:r>
                    <a14:m>
                      <m:oMath xmlns:m="http://schemas.openxmlformats.org/officeDocument/2006/math">
                        <m:r>
                          <a:rPr lang="en-US" sz="1050" b="1"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kern="100">
                            <a:effectLst/>
                            <a:latin typeface="Cambria Math" panose="02040503050406030204" pitchFamily="18" charset="0"/>
                            <a:ea typeface="新細明體" panose="02020500000000000000" pitchFamily="18" charset="-120"/>
                            <a:cs typeface="Times New Roman" panose="02020603050405020304" pitchFamily="18" charset="0"/>
                          </a:rPr>
                          <m:t>𝑻𝒓𝒆</m:t>
                        </m:r>
                      </m:oMath>
                    </a14:m>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73" name="文字方塊 2">
                    <a:extLst>
                      <a:ext uri="{FF2B5EF4-FFF2-40B4-BE49-F238E27FC236}">
                        <a16:creationId xmlns:a16="http://schemas.microsoft.com/office/drawing/2014/main" id="{EBCA4B7F-7D03-411E-AA5B-9A3363D18C17}"/>
                      </a:ext>
                    </a:extLst>
                  </p:cNvPr>
                  <p:cNvSpPr txBox="1">
                    <a:spLocks noRot="1" noChangeAspect="1" noMove="1" noResize="1" noEditPoints="1" noAdjustHandles="1" noChangeArrowheads="1" noChangeShapeType="1" noTextEdit="1"/>
                  </p:cNvSpPr>
                  <p:nvPr/>
                </p:nvSpPr>
                <p:spPr bwMode="auto">
                  <a:xfrm>
                    <a:off x="92346" y="3792845"/>
                    <a:ext cx="1246909" cy="294640"/>
                  </a:xfrm>
                  <a:prstGeom prst="rect">
                    <a:avLst/>
                  </a:prstGeom>
                  <a:blipFill>
                    <a:blip r:embed="rId2"/>
                    <a:stretch>
                      <a:fillRect/>
                    </a:stretch>
                  </a:blipFill>
                  <a:ln w="9525">
                    <a:noFill/>
                    <a:miter lim="800000"/>
                    <a:headEnd/>
                    <a:tailEnd/>
                  </a:ln>
                </p:spPr>
                <p:txBody>
                  <a:bodyPr/>
                  <a:lstStyle/>
                  <a:p>
                    <a:r>
                      <a:rPr lang="zh-TW" altLang="en-US">
                        <a:noFill/>
                      </a:rPr>
                      <a:t> </a:t>
                    </a:r>
                  </a:p>
                </p:txBody>
              </p:sp>
            </mc:Fallback>
          </mc:AlternateContent>
          <p:sp>
            <p:nvSpPr>
              <p:cNvPr id="74" name="文字方塊 2">
                <a:extLst>
                  <a:ext uri="{FF2B5EF4-FFF2-40B4-BE49-F238E27FC236}">
                    <a16:creationId xmlns:a16="http://schemas.microsoft.com/office/drawing/2014/main" id="{6E5847B9-34D9-4E3D-AFE5-0034080A3324}"/>
                  </a:ext>
                </a:extLst>
              </p:cNvPr>
              <p:cNvSpPr txBox="1">
                <a:spLocks noChangeArrowheads="1"/>
              </p:cNvSpPr>
              <p:nvPr/>
            </p:nvSpPr>
            <p:spPr bwMode="auto">
              <a:xfrm>
                <a:off x="1347528" y="4711202"/>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End</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5" name="文字方塊 2">
                <a:extLst>
                  <a:ext uri="{FF2B5EF4-FFF2-40B4-BE49-F238E27FC236}">
                    <a16:creationId xmlns:a16="http://schemas.microsoft.com/office/drawing/2014/main" id="{8D3BA051-F449-4344-AFC3-DFE558C71418}"/>
                  </a:ext>
                </a:extLst>
              </p:cNvPr>
              <p:cNvSpPr txBox="1">
                <a:spLocks noChangeArrowheads="1"/>
              </p:cNvSpPr>
              <p:nvPr/>
            </p:nvSpPr>
            <p:spPr bwMode="auto">
              <a:xfrm>
                <a:off x="2652007" y="1824683"/>
                <a:ext cx="114003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Domain(j)=-domain(j)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6" name="文字方塊 2">
                <a:extLst>
                  <a:ext uri="{FF2B5EF4-FFF2-40B4-BE49-F238E27FC236}">
                    <a16:creationId xmlns:a16="http://schemas.microsoft.com/office/drawing/2014/main" id="{2504BFFE-4317-4A24-A565-34E169F21C51}"/>
                  </a:ext>
                </a:extLst>
              </p:cNvPr>
              <p:cNvSpPr txBox="1">
                <a:spLocks noChangeArrowheads="1"/>
              </p:cNvSpPr>
              <p:nvPr/>
            </p:nvSpPr>
            <p:spPr bwMode="auto">
              <a:xfrm>
                <a:off x="2849187" y="2335048"/>
                <a:ext cx="1430976" cy="320040"/>
              </a:xfrm>
              <a:prstGeom prst="rect">
                <a:avLst/>
              </a:prstGeom>
              <a:noFill/>
              <a:ln w="9525">
                <a:noFill/>
                <a:miter lim="800000"/>
                <a:headEnd/>
                <a:tailEnd/>
              </a:ln>
            </p:spPr>
            <p:txBody>
              <a:bodyPr rot="0" vert="horz" wrap="square" lIns="91440" tIns="45720" rIns="91440" bIns="45720" anchor="t" anchorCtr="0">
                <a:noAutofit/>
              </a:bodyPr>
              <a:lstStyle/>
              <a:p>
                <a:pPr marL="228600">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or</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7" name="文字方塊 2">
                <a:extLst>
                  <a:ext uri="{FF2B5EF4-FFF2-40B4-BE49-F238E27FC236}">
                    <a16:creationId xmlns:a16="http://schemas.microsoft.com/office/drawing/2014/main" id="{2E6366E2-D312-4DFD-93A0-EAC98B989308}"/>
                  </a:ext>
                </a:extLst>
              </p:cNvPr>
              <p:cNvSpPr txBox="1">
                <a:spLocks noChangeArrowheads="1"/>
              </p:cNvSpPr>
              <p:nvPr/>
            </p:nvSpPr>
            <p:spPr bwMode="auto">
              <a:xfrm>
                <a:off x="2742773" y="2968431"/>
                <a:ext cx="1430976" cy="3200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Cp=Ob(j)-Ob(j-1)</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8" name="文字方塊 2">
                <a:extLst>
                  <a:ext uri="{FF2B5EF4-FFF2-40B4-BE49-F238E27FC236}">
                    <a16:creationId xmlns:a16="http://schemas.microsoft.com/office/drawing/2014/main" id="{1A42DF36-81E4-4767-BCAF-F518EDE42DCE}"/>
                  </a:ext>
                </a:extLst>
              </p:cNvPr>
              <p:cNvSpPr txBox="1">
                <a:spLocks noChangeArrowheads="1"/>
              </p:cNvSpPr>
              <p:nvPr/>
            </p:nvSpPr>
            <p:spPr bwMode="auto">
              <a:xfrm>
                <a:off x="2285584" y="3262184"/>
                <a:ext cx="1973260" cy="3200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Objective Function(Ob) Calculation, Ob(j)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nvGrpSpPr>
            <p:cNvPr id="8" name="群組 7">
              <a:extLst>
                <a:ext uri="{FF2B5EF4-FFF2-40B4-BE49-F238E27FC236}">
                  <a16:creationId xmlns:a16="http://schemas.microsoft.com/office/drawing/2014/main" id="{90D76031-B84D-477E-986F-D830D333B34F}"/>
                </a:ext>
              </a:extLst>
            </p:cNvPr>
            <p:cNvGrpSpPr/>
            <p:nvPr/>
          </p:nvGrpSpPr>
          <p:grpSpPr>
            <a:xfrm>
              <a:off x="0" y="72043"/>
              <a:ext cx="4152158" cy="4870978"/>
              <a:chOff x="0" y="0"/>
              <a:chExt cx="4152158" cy="4870978"/>
            </a:xfrm>
          </p:grpSpPr>
          <p:grpSp>
            <p:nvGrpSpPr>
              <p:cNvPr id="9" name="群組 8">
                <a:extLst>
                  <a:ext uri="{FF2B5EF4-FFF2-40B4-BE49-F238E27FC236}">
                    <a16:creationId xmlns:a16="http://schemas.microsoft.com/office/drawing/2014/main" id="{75A21F52-1E1C-4979-8FF6-2920393347B4}"/>
                  </a:ext>
                </a:extLst>
              </p:cNvPr>
              <p:cNvGrpSpPr/>
              <p:nvPr/>
            </p:nvGrpSpPr>
            <p:grpSpPr>
              <a:xfrm>
                <a:off x="1647859" y="1938152"/>
                <a:ext cx="1605869" cy="2701008"/>
                <a:chOff x="703771" y="0"/>
                <a:chExt cx="1605869" cy="2701008"/>
              </a:xfrm>
            </p:grpSpPr>
            <p:cxnSp>
              <p:nvCxnSpPr>
                <p:cNvPr id="52" name="直線單箭頭接點 51">
                  <a:extLst>
                    <a:ext uri="{FF2B5EF4-FFF2-40B4-BE49-F238E27FC236}">
                      <a16:creationId xmlns:a16="http://schemas.microsoft.com/office/drawing/2014/main" id="{20C4C601-934B-422C-9CE4-55535AE4971F}"/>
                    </a:ext>
                  </a:extLst>
                </p:cNvPr>
                <p:cNvCxnSpPr/>
                <p:nvPr/>
              </p:nvCxnSpPr>
              <p:spPr>
                <a:xfrm>
                  <a:off x="723211" y="1581379"/>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3" name="直線單箭頭接點 52">
                  <a:extLst>
                    <a:ext uri="{FF2B5EF4-FFF2-40B4-BE49-F238E27FC236}">
                      <a16:creationId xmlns:a16="http://schemas.microsoft.com/office/drawing/2014/main" id="{B94E98C7-1691-4DAC-BA3B-25B4D535DADE}"/>
                    </a:ext>
                  </a:extLst>
                </p:cNvPr>
                <p:cNvCxnSpPr>
                  <a:endCxn id="28" idx="0"/>
                </p:cNvCxnSpPr>
                <p:nvPr/>
              </p:nvCxnSpPr>
              <p:spPr>
                <a:xfrm>
                  <a:off x="723211" y="2088155"/>
                  <a:ext cx="3771" cy="61285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5" name="直線單箭頭接點 54">
                  <a:extLst>
                    <a:ext uri="{FF2B5EF4-FFF2-40B4-BE49-F238E27FC236}">
                      <a16:creationId xmlns:a16="http://schemas.microsoft.com/office/drawing/2014/main" id="{6A5CE208-BDBE-41EC-B927-B2F75801732B}"/>
                    </a:ext>
                  </a:extLst>
                </p:cNvPr>
                <p:cNvCxnSpPr/>
                <p:nvPr/>
              </p:nvCxnSpPr>
              <p:spPr>
                <a:xfrm>
                  <a:off x="1002535" y="1382157"/>
                  <a:ext cx="424288"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6" name="直線單箭頭接點 55">
                  <a:extLst>
                    <a:ext uri="{FF2B5EF4-FFF2-40B4-BE49-F238E27FC236}">
                      <a16:creationId xmlns:a16="http://schemas.microsoft.com/office/drawing/2014/main" id="{8C0FBB72-99DB-4939-B339-1DD7157984F5}"/>
                    </a:ext>
                  </a:extLst>
                </p:cNvPr>
                <p:cNvCxnSpPr/>
                <p:nvPr/>
              </p:nvCxnSpPr>
              <p:spPr>
                <a:xfrm flipV="1">
                  <a:off x="2309640" y="0"/>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7" name="文字方塊 2">
                  <a:extLst>
                    <a:ext uri="{FF2B5EF4-FFF2-40B4-BE49-F238E27FC236}">
                      <a16:creationId xmlns:a16="http://schemas.microsoft.com/office/drawing/2014/main" id="{5C23EDFF-A3D0-488E-9A64-803942D932C6}"/>
                    </a:ext>
                  </a:extLst>
                </p:cNvPr>
                <p:cNvSpPr txBox="1">
                  <a:spLocks noChangeArrowheads="1"/>
                </p:cNvSpPr>
                <p:nvPr/>
              </p:nvSpPr>
              <p:spPr bwMode="auto">
                <a:xfrm>
                  <a:off x="703771" y="2213532"/>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no</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nvGrpSpPr>
              <p:cNvPr id="10" name="群組 9">
                <a:extLst>
                  <a:ext uri="{FF2B5EF4-FFF2-40B4-BE49-F238E27FC236}">
                    <a16:creationId xmlns:a16="http://schemas.microsoft.com/office/drawing/2014/main" id="{B54AFF03-18AD-4704-922C-5FEF8335F5CA}"/>
                  </a:ext>
                </a:extLst>
              </p:cNvPr>
              <p:cNvGrpSpPr/>
              <p:nvPr/>
            </p:nvGrpSpPr>
            <p:grpSpPr>
              <a:xfrm>
                <a:off x="0" y="0"/>
                <a:ext cx="4152158" cy="4870978"/>
                <a:chOff x="0" y="0"/>
                <a:chExt cx="4152158" cy="4870978"/>
              </a:xfrm>
            </p:grpSpPr>
            <p:sp>
              <p:nvSpPr>
                <p:cNvPr id="11" name="橢圓 10">
                  <a:extLst>
                    <a:ext uri="{FF2B5EF4-FFF2-40B4-BE49-F238E27FC236}">
                      <a16:creationId xmlns:a16="http://schemas.microsoft.com/office/drawing/2014/main" id="{F0F3DC9A-9C42-4BF1-8E0A-74E35ABDF141}"/>
                    </a:ext>
                  </a:extLst>
                </p:cNvPr>
                <p:cNvSpPr/>
                <p:nvPr/>
              </p:nvSpPr>
              <p:spPr>
                <a:xfrm>
                  <a:off x="1389681" y="0"/>
                  <a:ext cx="573110" cy="2318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2" name="矩形: 圓角 11">
                  <a:extLst>
                    <a:ext uri="{FF2B5EF4-FFF2-40B4-BE49-F238E27FC236}">
                      <a16:creationId xmlns:a16="http://schemas.microsoft.com/office/drawing/2014/main" id="{8F8D8572-F955-44C5-93A9-21500111F6DF}"/>
                    </a:ext>
                  </a:extLst>
                </p:cNvPr>
                <p:cNvSpPr/>
                <p:nvPr/>
              </p:nvSpPr>
              <p:spPr>
                <a:xfrm>
                  <a:off x="1250197" y="361627"/>
                  <a:ext cx="836930" cy="16031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spcAft>
                      <a:spcPts val="0"/>
                    </a:spcAft>
                  </a:pPr>
                  <a:endParaRPr lang="zh-TW" sz="1050" kern="100" dirty="0">
                    <a:effectLst/>
                    <a:ea typeface="新細明體" panose="02020500000000000000" pitchFamily="18" charset="-120"/>
                    <a:cs typeface="Times New Roman" panose="02020603050405020304" pitchFamily="18" charset="0"/>
                  </a:endParaRPr>
                </a:p>
              </p:txBody>
            </p:sp>
            <p:sp>
              <p:nvSpPr>
                <p:cNvPr id="13" name="矩形: 圓角 12">
                  <a:extLst>
                    <a:ext uri="{FF2B5EF4-FFF2-40B4-BE49-F238E27FC236}">
                      <a16:creationId xmlns:a16="http://schemas.microsoft.com/office/drawing/2014/main" id="{A6A23C3D-2BA4-42EE-9881-70C6F666F1B8}"/>
                    </a:ext>
                  </a:extLst>
                </p:cNvPr>
                <p:cNvSpPr/>
                <p:nvPr/>
              </p:nvSpPr>
              <p:spPr>
                <a:xfrm>
                  <a:off x="1141708" y="656095"/>
                  <a:ext cx="1067435" cy="17068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4" name="矩形: 圓角 13">
                  <a:extLst>
                    <a:ext uri="{FF2B5EF4-FFF2-40B4-BE49-F238E27FC236}">
                      <a16:creationId xmlns:a16="http://schemas.microsoft.com/office/drawing/2014/main" id="{6A546BCA-7DE0-4709-9997-92CBF06A9D6F}"/>
                    </a:ext>
                  </a:extLst>
                </p:cNvPr>
                <p:cNvSpPr/>
                <p:nvPr/>
              </p:nvSpPr>
              <p:spPr>
                <a:xfrm>
                  <a:off x="1245030" y="955729"/>
                  <a:ext cx="836930" cy="16294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5" name="矩形: 圓角 14">
                  <a:extLst>
                    <a:ext uri="{FF2B5EF4-FFF2-40B4-BE49-F238E27FC236}">
                      <a16:creationId xmlns:a16="http://schemas.microsoft.com/office/drawing/2014/main" id="{656CFF56-F9D1-4DE4-BE5C-94244B5644C2}"/>
                    </a:ext>
                  </a:extLst>
                </p:cNvPr>
                <p:cNvSpPr/>
                <p:nvPr/>
              </p:nvSpPr>
              <p:spPr>
                <a:xfrm>
                  <a:off x="780081" y="1260529"/>
                  <a:ext cx="1783080" cy="15443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6" name="矩形: 圓角 15">
                  <a:extLst>
                    <a:ext uri="{FF2B5EF4-FFF2-40B4-BE49-F238E27FC236}">
                      <a16:creationId xmlns:a16="http://schemas.microsoft.com/office/drawing/2014/main" id="{18AB0E48-51E6-41B1-BB20-4A221ED91508}"/>
                    </a:ext>
                  </a:extLst>
                </p:cNvPr>
                <p:cNvSpPr/>
                <p:nvPr/>
              </p:nvSpPr>
              <p:spPr>
                <a:xfrm>
                  <a:off x="1467173" y="1570495"/>
                  <a:ext cx="393700" cy="167005"/>
                </a:xfrm>
                <a:prstGeom prst="roundRect">
                  <a:avLst>
                    <a:gd name="adj" fmla="val 1656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7" name="矩形: 圓角 16">
                  <a:extLst>
                    <a:ext uri="{FF2B5EF4-FFF2-40B4-BE49-F238E27FC236}">
                      <a16:creationId xmlns:a16="http://schemas.microsoft.com/office/drawing/2014/main" id="{44570AB4-3271-43DA-90EF-098AF5834CB0}"/>
                    </a:ext>
                  </a:extLst>
                </p:cNvPr>
                <p:cNvSpPr/>
                <p:nvPr/>
              </p:nvSpPr>
              <p:spPr>
                <a:xfrm>
                  <a:off x="1119017" y="2350576"/>
                  <a:ext cx="1087568"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8" name="矩形: 圓角 17">
                  <a:extLst>
                    <a:ext uri="{FF2B5EF4-FFF2-40B4-BE49-F238E27FC236}">
                      <a16:creationId xmlns:a16="http://schemas.microsoft.com/office/drawing/2014/main" id="{8B0FD7FE-28E4-470A-8698-6BEBCA13D166}"/>
                    </a:ext>
                  </a:extLst>
                </p:cNvPr>
                <p:cNvSpPr/>
                <p:nvPr/>
              </p:nvSpPr>
              <p:spPr>
                <a:xfrm>
                  <a:off x="2712203" y="1766806"/>
                  <a:ext cx="1087568"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9" name="矩形: 圓角 18">
                  <a:extLst>
                    <a:ext uri="{FF2B5EF4-FFF2-40B4-BE49-F238E27FC236}">
                      <a16:creationId xmlns:a16="http://schemas.microsoft.com/office/drawing/2014/main" id="{C1E5BB3E-B98A-4A96-9E96-7E3B62A41ACD}"/>
                    </a:ext>
                  </a:extLst>
                </p:cNvPr>
                <p:cNvSpPr/>
                <p:nvPr/>
              </p:nvSpPr>
              <p:spPr>
                <a:xfrm>
                  <a:off x="2748366" y="2934345"/>
                  <a:ext cx="1054923"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0" name="矩形: 圓角 19">
                  <a:extLst>
                    <a:ext uri="{FF2B5EF4-FFF2-40B4-BE49-F238E27FC236}">
                      <a16:creationId xmlns:a16="http://schemas.microsoft.com/office/drawing/2014/main" id="{AE4438C7-2E52-4CDD-838C-C74BC4F8CD1B}"/>
                    </a:ext>
                  </a:extLst>
                </p:cNvPr>
                <p:cNvSpPr/>
                <p:nvPr/>
              </p:nvSpPr>
              <p:spPr>
                <a:xfrm>
                  <a:off x="2381573" y="3233979"/>
                  <a:ext cx="1770585" cy="160986"/>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1" name="矩形: 圓角 20">
                  <a:extLst>
                    <a:ext uri="{FF2B5EF4-FFF2-40B4-BE49-F238E27FC236}">
                      <a16:creationId xmlns:a16="http://schemas.microsoft.com/office/drawing/2014/main" id="{81FECF50-F3F0-49D0-9613-93E556D2FBCF}"/>
                    </a:ext>
                  </a:extLst>
                </p:cNvPr>
                <p:cNvSpPr/>
                <p:nvPr/>
              </p:nvSpPr>
              <p:spPr>
                <a:xfrm>
                  <a:off x="346129" y="2934345"/>
                  <a:ext cx="321658"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2" name="矩形: 圓角 21">
                  <a:extLst>
                    <a:ext uri="{FF2B5EF4-FFF2-40B4-BE49-F238E27FC236}">
                      <a16:creationId xmlns:a16="http://schemas.microsoft.com/office/drawing/2014/main" id="{6EB832CA-33FA-4875-9023-3E599728F8A0}"/>
                    </a:ext>
                  </a:extLst>
                </p:cNvPr>
                <p:cNvSpPr/>
                <p:nvPr/>
              </p:nvSpPr>
              <p:spPr>
                <a:xfrm>
                  <a:off x="0" y="3223647"/>
                  <a:ext cx="1054923" cy="16709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3" name="矩形: 圓角 22">
                  <a:extLst>
                    <a:ext uri="{FF2B5EF4-FFF2-40B4-BE49-F238E27FC236}">
                      <a16:creationId xmlns:a16="http://schemas.microsoft.com/office/drawing/2014/main" id="{BEBFCEF4-8FAC-4EAF-9AF2-176B17782C6D}"/>
                    </a:ext>
                  </a:extLst>
                </p:cNvPr>
                <p:cNvSpPr/>
                <p:nvPr/>
              </p:nvSpPr>
              <p:spPr>
                <a:xfrm>
                  <a:off x="193731" y="3744925"/>
                  <a:ext cx="669514"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4" name="流程圖: 決策 23">
                  <a:extLst>
                    <a:ext uri="{FF2B5EF4-FFF2-40B4-BE49-F238E27FC236}">
                      <a16:creationId xmlns:a16="http://schemas.microsoft.com/office/drawing/2014/main" id="{97786454-CD3E-4CD1-B25C-FC2F48E9ED97}"/>
                    </a:ext>
                  </a:extLst>
                </p:cNvPr>
                <p:cNvSpPr/>
                <p:nvPr/>
              </p:nvSpPr>
              <p:spPr>
                <a:xfrm>
                  <a:off x="1377909" y="3125133"/>
                  <a:ext cx="569541" cy="386080"/>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5" name="流程圖: 決策 24">
                  <a:extLst>
                    <a:ext uri="{FF2B5EF4-FFF2-40B4-BE49-F238E27FC236}">
                      <a16:creationId xmlns:a16="http://schemas.microsoft.com/office/drawing/2014/main" id="{4D31D40A-A971-47EA-829D-2C89F59BA1B2}"/>
                    </a:ext>
                  </a:extLst>
                </p:cNvPr>
                <p:cNvSpPr/>
                <p:nvPr/>
              </p:nvSpPr>
              <p:spPr>
                <a:xfrm>
                  <a:off x="978330" y="3635321"/>
                  <a:ext cx="1377412" cy="386634"/>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7" name="流程圖: 決策 26">
                  <a:extLst>
                    <a:ext uri="{FF2B5EF4-FFF2-40B4-BE49-F238E27FC236}">
                      <a16:creationId xmlns:a16="http://schemas.microsoft.com/office/drawing/2014/main" id="{B1E2F42F-8315-448D-891E-D8CAC5D4305C}"/>
                    </a:ext>
                  </a:extLst>
                </p:cNvPr>
                <p:cNvSpPr/>
                <p:nvPr/>
              </p:nvSpPr>
              <p:spPr>
                <a:xfrm>
                  <a:off x="2648596" y="2059660"/>
                  <a:ext cx="1240894" cy="746931"/>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8" name="橢圓 27">
                  <a:extLst>
                    <a:ext uri="{FF2B5EF4-FFF2-40B4-BE49-F238E27FC236}">
                      <a16:creationId xmlns:a16="http://schemas.microsoft.com/office/drawing/2014/main" id="{D532C4C6-8478-462D-ADAE-6163FEF84C45}"/>
                    </a:ext>
                  </a:extLst>
                </p:cNvPr>
                <p:cNvSpPr/>
                <p:nvPr/>
              </p:nvSpPr>
              <p:spPr>
                <a:xfrm>
                  <a:off x="1384515" y="4639159"/>
                  <a:ext cx="573110" cy="2318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cxnSp>
              <p:nvCxnSpPr>
                <p:cNvPr id="29" name="直線單箭頭接點 28">
                  <a:extLst>
                    <a:ext uri="{FF2B5EF4-FFF2-40B4-BE49-F238E27FC236}">
                      <a16:creationId xmlns:a16="http://schemas.microsoft.com/office/drawing/2014/main" id="{5EC861CD-1C49-4DFE-ADA5-7C2BC5D2F9E3}"/>
                    </a:ext>
                  </a:extLst>
                </p:cNvPr>
                <p:cNvCxnSpPr/>
                <p:nvPr/>
              </p:nvCxnSpPr>
              <p:spPr>
                <a:xfrm>
                  <a:off x="1665745" y="232474"/>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直線單箭頭接點 29">
                  <a:extLst>
                    <a:ext uri="{FF2B5EF4-FFF2-40B4-BE49-F238E27FC236}">
                      <a16:creationId xmlns:a16="http://schemas.microsoft.com/office/drawing/2014/main" id="{94F23EA4-FF93-4F6A-857D-7D5F3ABEAF8F}"/>
                    </a:ext>
                  </a:extLst>
                </p:cNvPr>
                <p:cNvCxnSpPr/>
                <p:nvPr/>
              </p:nvCxnSpPr>
              <p:spPr>
                <a:xfrm>
                  <a:off x="1660579" y="526942"/>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直線單箭頭接點 30">
                  <a:extLst>
                    <a:ext uri="{FF2B5EF4-FFF2-40B4-BE49-F238E27FC236}">
                      <a16:creationId xmlns:a16="http://schemas.microsoft.com/office/drawing/2014/main" id="{CF7D8C73-994E-4BD4-8781-57089FB50187}"/>
                    </a:ext>
                  </a:extLst>
                </p:cNvPr>
                <p:cNvCxnSpPr/>
                <p:nvPr/>
              </p:nvCxnSpPr>
              <p:spPr>
                <a:xfrm>
                  <a:off x="1665745" y="831742"/>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直線單箭頭接點 31">
                  <a:extLst>
                    <a:ext uri="{FF2B5EF4-FFF2-40B4-BE49-F238E27FC236}">
                      <a16:creationId xmlns:a16="http://schemas.microsoft.com/office/drawing/2014/main" id="{9EF61CF3-DEAF-4568-AD5A-8D399912E698}"/>
                    </a:ext>
                  </a:extLst>
                </p:cNvPr>
                <p:cNvCxnSpPr/>
                <p:nvPr/>
              </p:nvCxnSpPr>
              <p:spPr>
                <a:xfrm>
                  <a:off x="1665745" y="1131376"/>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直線單箭頭接點 32">
                  <a:extLst>
                    <a:ext uri="{FF2B5EF4-FFF2-40B4-BE49-F238E27FC236}">
                      <a16:creationId xmlns:a16="http://schemas.microsoft.com/office/drawing/2014/main" id="{1F252B6C-FCA2-46EF-9167-A752B8687466}"/>
                    </a:ext>
                  </a:extLst>
                </p:cNvPr>
                <p:cNvCxnSpPr/>
                <p:nvPr/>
              </p:nvCxnSpPr>
              <p:spPr>
                <a:xfrm>
                  <a:off x="1665745" y="1441342"/>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直線單箭頭接點 33">
                  <a:extLst>
                    <a:ext uri="{FF2B5EF4-FFF2-40B4-BE49-F238E27FC236}">
                      <a16:creationId xmlns:a16="http://schemas.microsoft.com/office/drawing/2014/main" id="{A7177AD6-AAE1-4DFB-AFF7-40A28875396B}"/>
                    </a:ext>
                  </a:extLst>
                </p:cNvPr>
                <p:cNvCxnSpPr>
                  <a:cxnSpLocks/>
                  <a:stCxn id="16" idx="2"/>
                  <a:endCxn id="17" idx="0"/>
                </p:cNvCxnSpPr>
                <p:nvPr/>
              </p:nvCxnSpPr>
              <p:spPr>
                <a:xfrm flipH="1">
                  <a:off x="1662801" y="1737501"/>
                  <a:ext cx="1222" cy="613075"/>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直線單箭頭接點 34">
                  <a:extLst>
                    <a:ext uri="{FF2B5EF4-FFF2-40B4-BE49-F238E27FC236}">
                      <a16:creationId xmlns:a16="http://schemas.microsoft.com/office/drawing/2014/main" id="{304782C8-00DD-4366-A084-030FC6055FC7}"/>
                    </a:ext>
                  </a:extLst>
                </p:cNvPr>
                <p:cNvCxnSpPr>
                  <a:cxnSpLocks/>
                  <a:stCxn id="17" idx="2"/>
                  <a:endCxn id="24" idx="0"/>
                </p:cNvCxnSpPr>
                <p:nvPr/>
              </p:nvCxnSpPr>
              <p:spPr>
                <a:xfrm flipH="1">
                  <a:off x="1662679" y="2518001"/>
                  <a:ext cx="122" cy="60713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直線單箭頭接點 141">
                  <a:extLst>
                    <a:ext uri="{FF2B5EF4-FFF2-40B4-BE49-F238E27FC236}">
                      <a16:creationId xmlns:a16="http://schemas.microsoft.com/office/drawing/2014/main" id="{CFF15E2F-B001-45D9-869A-1333E0C9F245}"/>
                    </a:ext>
                  </a:extLst>
                </p:cNvPr>
                <p:cNvCxnSpPr/>
                <p:nvPr/>
              </p:nvCxnSpPr>
              <p:spPr>
                <a:xfrm rot="5400000" flipH="1" flipV="1">
                  <a:off x="566877" y="2374260"/>
                  <a:ext cx="506035" cy="611761"/>
                </a:xfrm>
                <a:prstGeom prst="bentConnector3">
                  <a:avLst>
                    <a:gd name="adj1" fmla="val 100252"/>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直線單箭頭接點 36">
                  <a:extLst>
                    <a:ext uri="{FF2B5EF4-FFF2-40B4-BE49-F238E27FC236}">
                      <a16:creationId xmlns:a16="http://schemas.microsoft.com/office/drawing/2014/main" id="{87097A04-989D-4536-B8A7-0D51896EEDED}"/>
                    </a:ext>
                  </a:extLst>
                </p:cNvPr>
                <p:cNvCxnSpPr/>
                <p:nvPr/>
              </p:nvCxnSpPr>
              <p:spPr>
                <a:xfrm flipV="1">
                  <a:off x="513704" y="3101598"/>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直線單箭頭接點 37">
                  <a:extLst>
                    <a:ext uri="{FF2B5EF4-FFF2-40B4-BE49-F238E27FC236}">
                      <a16:creationId xmlns:a16="http://schemas.microsoft.com/office/drawing/2014/main" id="{E77317CD-A6B0-4EE6-A7EE-2212D2EFD9A4}"/>
                    </a:ext>
                  </a:extLst>
                </p:cNvPr>
                <p:cNvCxnSpPr>
                  <a:stCxn id="23" idx="0"/>
                </p:cNvCxnSpPr>
                <p:nvPr/>
              </p:nvCxnSpPr>
              <p:spPr>
                <a:xfrm flipH="1" flipV="1">
                  <a:off x="525273" y="3390742"/>
                  <a:ext cx="3215" cy="35418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直線單箭頭接點 141">
                  <a:extLst>
                    <a:ext uri="{FF2B5EF4-FFF2-40B4-BE49-F238E27FC236}">
                      <a16:creationId xmlns:a16="http://schemas.microsoft.com/office/drawing/2014/main" id="{6B5B2DBD-0D3B-417E-A3A4-883A51DD5ECC}"/>
                    </a:ext>
                  </a:extLst>
                </p:cNvPr>
                <p:cNvCxnSpPr>
                  <a:stCxn id="25" idx="1"/>
                  <a:endCxn id="23" idx="3"/>
                </p:cNvCxnSpPr>
                <p:nvPr/>
              </p:nvCxnSpPr>
              <p:spPr>
                <a:xfrm rot="10800000">
                  <a:off x="863245" y="3828639"/>
                  <a:ext cx="115085" cy="1"/>
                </a:xfrm>
                <a:prstGeom prst="bentConnector3">
                  <a:avLst>
                    <a:gd name="adj1" fmla="val 50000"/>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直線單箭頭接點 40">
                  <a:extLst>
                    <a:ext uri="{FF2B5EF4-FFF2-40B4-BE49-F238E27FC236}">
                      <a16:creationId xmlns:a16="http://schemas.microsoft.com/office/drawing/2014/main" id="{DDE2268F-1C77-4D50-BB4C-DC073D2BA2C3}"/>
                    </a:ext>
                  </a:extLst>
                </p:cNvPr>
                <p:cNvCxnSpPr/>
                <p:nvPr/>
              </p:nvCxnSpPr>
              <p:spPr>
                <a:xfrm flipV="1">
                  <a:off x="3277569" y="2807130"/>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2" name="直線單箭頭接點 41">
                  <a:extLst>
                    <a:ext uri="{FF2B5EF4-FFF2-40B4-BE49-F238E27FC236}">
                      <a16:creationId xmlns:a16="http://schemas.microsoft.com/office/drawing/2014/main" id="{B2233D26-A663-4087-B0B6-899005706880}"/>
                    </a:ext>
                  </a:extLst>
                </p:cNvPr>
                <p:cNvCxnSpPr/>
                <p:nvPr/>
              </p:nvCxnSpPr>
              <p:spPr>
                <a:xfrm flipV="1">
                  <a:off x="3277569" y="3111930"/>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3" name="文字方塊 2">
                  <a:extLst>
                    <a:ext uri="{FF2B5EF4-FFF2-40B4-BE49-F238E27FC236}">
                      <a16:creationId xmlns:a16="http://schemas.microsoft.com/office/drawing/2014/main" id="{B6482EFB-B89E-4E76-9073-BCEDBEF604C5}"/>
                    </a:ext>
                  </a:extLst>
                </p:cNvPr>
                <p:cNvSpPr txBox="1">
                  <a:spLocks noChangeArrowheads="1"/>
                </p:cNvSpPr>
                <p:nvPr/>
              </p:nvSpPr>
              <p:spPr bwMode="auto">
                <a:xfrm>
                  <a:off x="2927490" y="2106621"/>
                  <a:ext cx="879021" cy="193791"/>
                </a:xfrm>
                <a:prstGeom prst="rect">
                  <a:avLst/>
                </a:prstGeom>
                <a:noFill/>
                <a:ln w="9525">
                  <a:noFill/>
                  <a:miter lim="800000"/>
                  <a:headEnd/>
                  <a:tailEnd/>
                </a:ln>
              </p:spPr>
              <p:txBody>
                <a:bodyPr rot="0" vert="horz" wrap="square" lIns="91440" tIns="45720" rIns="91440" bIns="45720" anchor="t" anchorCtr="0">
                  <a:noAutofit/>
                </a:bodyPr>
                <a:lstStyle/>
                <a:p>
                  <a:pPr marL="226695">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1.Cp&lt;0</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4" name="文字方塊 2">
                      <a:extLst>
                        <a:ext uri="{FF2B5EF4-FFF2-40B4-BE49-F238E27FC236}">
                          <a16:creationId xmlns:a16="http://schemas.microsoft.com/office/drawing/2014/main" id="{21600491-3553-433F-8135-B76BE97CB798}"/>
                        </a:ext>
                      </a:extLst>
                    </p:cNvPr>
                    <p:cNvSpPr txBox="1">
                      <a:spLocks noChangeArrowheads="1"/>
                    </p:cNvSpPr>
                    <p:nvPr/>
                  </p:nvSpPr>
                  <p:spPr bwMode="auto">
                    <a:xfrm>
                      <a:off x="2643599" y="2374859"/>
                      <a:ext cx="1430976" cy="245141"/>
                    </a:xfrm>
                    <a:prstGeom prst="rect">
                      <a:avLst/>
                    </a:prstGeom>
                    <a:noFill/>
                    <a:ln w="9525">
                      <a:noFill/>
                      <a:miter lim="800000"/>
                      <a:headEnd/>
                      <a:tailEnd/>
                    </a:ln>
                  </p:spPr>
                  <p:txBody>
                    <a:bodyPr rot="0" vert="horz" wrap="square" lIns="91440" tIns="45720" rIns="91440" bIns="45720" anchor="t" anchorCtr="0">
                      <a:noAutofit/>
                    </a:bodyPr>
                    <a:lstStyle/>
                    <a:p>
                      <a:pPr marL="228600">
                        <a:spcAft>
                          <a:spcPts val="0"/>
                        </a:spcAft>
                      </a:pPr>
                      <a14:m>
                        <m:oMathPara xmlns:m="http://schemas.openxmlformats.org/officeDocument/2006/math">
                          <m:oMathParaPr>
                            <m:jc m:val="centerGroup"/>
                          </m:oMathParaPr>
                          <m:oMath xmlns:m="http://schemas.openxmlformats.org/officeDocument/2006/math">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𝟐</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𝝆</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&lt;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𝒆𝒙𝒑</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𝑪𝒑</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𝑻</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oMath>
                        </m:oMathPara>
                      </a14:m>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44" name="文字方塊 2">
                      <a:extLst>
                        <a:ext uri="{FF2B5EF4-FFF2-40B4-BE49-F238E27FC236}">
                          <a16:creationId xmlns:a16="http://schemas.microsoft.com/office/drawing/2014/main" id="{21600491-3553-433F-8135-B76BE97CB798}"/>
                        </a:ext>
                      </a:extLst>
                    </p:cNvPr>
                    <p:cNvSpPr txBox="1">
                      <a:spLocks noRot="1" noChangeAspect="1" noMove="1" noResize="1" noEditPoints="1" noAdjustHandles="1" noChangeArrowheads="1" noChangeShapeType="1" noTextEdit="1"/>
                    </p:cNvSpPr>
                    <p:nvPr/>
                  </p:nvSpPr>
                  <p:spPr bwMode="auto">
                    <a:xfrm>
                      <a:off x="2643599" y="2374859"/>
                      <a:ext cx="1430976" cy="245141"/>
                    </a:xfrm>
                    <a:prstGeom prst="rect">
                      <a:avLst/>
                    </a:prstGeom>
                    <a:blipFill>
                      <a:blip r:embed="rId3"/>
                      <a:stretch>
                        <a:fillRect/>
                      </a:stretch>
                    </a:blipFill>
                    <a:ln w="9525">
                      <a:noFill/>
                      <a:miter lim="800000"/>
                      <a:headEnd/>
                      <a:tailEnd/>
                    </a:ln>
                  </p:spPr>
                  <p:txBody>
                    <a:bodyPr/>
                    <a:lstStyle/>
                    <a:p>
                      <a:r>
                        <a:rPr lang="zh-TW" altLang="en-US">
                          <a:noFill/>
                        </a:rPr>
                        <a:t> </a:t>
                      </a:r>
                    </a:p>
                  </p:txBody>
                </p:sp>
              </mc:Fallback>
            </mc:AlternateContent>
            <p:sp>
              <p:nvSpPr>
                <p:cNvPr id="45" name="文字方塊 2">
                  <a:extLst>
                    <a:ext uri="{FF2B5EF4-FFF2-40B4-BE49-F238E27FC236}">
                      <a16:creationId xmlns:a16="http://schemas.microsoft.com/office/drawing/2014/main" id="{E866DDE4-1569-4AFF-B68E-1747CFC22442}"/>
                    </a:ext>
                  </a:extLst>
                </p:cNvPr>
                <p:cNvSpPr txBox="1">
                  <a:spLocks noChangeArrowheads="1"/>
                </p:cNvSpPr>
                <p:nvPr/>
              </p:nvSpPr>
              <p:spPr bwMode="auto">
                <a:xfrm>
                  <a:off x="2398115" y="2223798"/>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yes</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7" name="文字方塊 2">
                  <a:extLst>
                    <a:ext uri="{FF2B5EF4-FFF2-40B4-BE49-F238E27FC236}">
                      <a16:creationId xmlns:a16="http://schemas.microsoft.com/office/drawing/2014/main" id="{AD900190-027D-42E6-9363-58644F9BEC69}"/>
                    </a:ext>
                  </a:extLst>
                </p:cNvPr>
                <p:cNvSpPr txBox="1">
                  <a:spLocks noChangeArrowheads="1"/>
                </p:cNvSpPr>
                <p:nvPr/>
              </p:nvSpPr>
              <p:spPr bwMode="auto">
                <a:xfrm>
                  <a:off x="706442" y="3582171"/>
                  <a:ext cx="504701" cy="29464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yes</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8" name="文字方塊 2">
                  <a:extLst>
                    <a:ext uri="{FF2B5EF4-FFF2-40B4-BE49-F238E27FC236}">
                      <a16:creationId xmlns:a16="http://schemas.microsoft.com/office/drawing/2014/main" id="{8B0705FA-6F74-4AF8-92F9-E8B6D7EA8601}"/>
                    </a:ext>
                  </a:extLst>
                </p:cNvPr>
                <p:cNvSpPr txBox="1">
                  <a:spLocks noChangeArrowheads="1"/>
                </p:cNvSpPr>
                <p:nvPr/>
              </p:nvSpPr>
              <p:spPr bwMode="auto">
                <a:xfrm>
                  <a:off x="1994115" y="3128065"/>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no</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9" name="文字方塊 2">
                  <a:extLst>
                    <a:ext uri="{FF2B5EF4-FFF2-40B4-BE49-F238E27FC236}">
                      <a16:creationId xmlns:a16="http://schemas.microsoft.com/office/drawing/2014/main" id="{C82F339A-189B-46B9-B17C-BB309AE03E0B}"/>
                    </a:ext>
                  </a:extLst>
                </p:cNvPr>
                <p:cNvSpPr txBox="1">
                  <a:spLocks noChangeArrowheads="1"/>
                </p:cNvSpPr>
                <p:nvPr/>
              </p:nvSpPr>
              <p:spPr bwMode="auto">
                <a:xfrm>
                  <a:off x="1440784" y="3447549"/>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yes</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50" name="文字方塊 2">
                  <a:extLst>
                    <a:ext uri="{FF2B5EF4-FFF2-40B4-BE49-F238E27FC236}">
                      <a16:creationId xmlns:a16="http://schemas.microsoft.com/office/drawing/2014/main" id="{69FF2820-9B4E-441A-8D86-50A2E69401F2}"/>
                    </a:ext>
                  </a:extLst>
                </p:cNvPr>
                <p:cNvSpPr txBox="1">
                  <a:spLocks noChangeArrowheads="1"/>
                </p:cNvSpPr>
                <p:nvPr/>
              </p:nvSpPr>
              <p:spPr bwMode="auto">
                <a:xfrm>
                  <a:off x="2989265" y="1914638"/>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no</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grpSp>
      <p:sp>
        <p:nvSpPr>
          <p:cNvPr id="134" name="Text Box 162">
            <a:extLst>
              <a:ext uri="{FF2B5EF4-FFF2-40B4-BE49-F238E27FC236}">
                <a16:creationId xmlns:a16="http://schemas.microsoft.com/office/drawing/2014/main" id="{69693BB7-D73A-4E87-B2A0-13801D0FDFAD}"/>
              </a:ext>
            </a:extLst>
          </p:cNvPr>
          <p:cNvSpPr txBox="1">
            <a:spLocks noChangeArrowheads="1"/>
          </p:cNvSpPr>
          <p:nvPr/>
        </p:nvSpPr>
        <p:spPr bwMode="auto">
          <a:xfrm>
            <a:off x="1381890" y="980178"/>
            <a:ext cx="2705100" cy="369332"/>
          </a:xfrm>
          <a:prstGeom prst="rect">
            <a:avLst/>
          </a:prstGeom>
          <a:noFill/>
          <a:ln w="9525">
            <a:noFill/>
            <a:miter lim="800000"/>
            <a:headEnd/>
            <a:tailEnd/>
          </a:ln>
        </p:spPr>
        <p:txBody>
          <a:bodyPr>
            <a:spAutoFit/>
          </a:bodyPr>
          <a:lstStyle/>
          <a:p>
            <a:pPr>
              <a:spcBef>
                <a:spcPct val="50000"/>
              </a:spcBef>
            </a:pPr>
            <a:r>
              <a:rPr kumimoji="0" lang="en-US" altLang="zh-TW" b="1" i="1" u="sng" dirty="0">
                <a:latin typeface="Times New Roman" pitchFamily="18" charset="0"/>
                <a:cs typeface="Times New Roman" pitchFamily="18" charset="0"/>
              </a:rPr>
              <a:t>Initial Condition:</a:t>
            </a:r>
          </a:p>
        </p:txBody>
      </p:sp>
      <p:sp>
        <p:nvSpPr>
          <p:cNvPr id="135" name="文字方塊 134">
            <a:extLst>
              <a:ext uri="{FF2B5EF4-FFF2-40B4-BE49-F238E27FC236}">
                <a16:creationId xmlns:a16="http://schemas.microsoft.com/office/drawing/2014/main" id="{939A596A-E0FD-4446-BD26-B969D9CB6205}"/>
              </a:ext>
            </a:extLst>
          </p:cNvPr>
          <p:cNvSpPr txBox="1"/>
          <p:nvPr/>
        </p:nvSpPr>
        <p:spPr>
          <a:xfrm>
            <a:off x="1381890" y="1275359"/>
            <a:ext cx="2448272" cy="1023165"/>
          </a:xfrm>
          <a:prstGeom prst="rect">
            <a:avLst/>
          </a:prstGeom>
          <a:noFill/>
        </p:spPr>
        <p:txBody>
          <a:bodyPr wrap="square" rtlCol="0">
            <a:spAutoFit/>
          </a:bodyPr>
          <a:lstStyle/>
          <a:p>
            <a:pPr>
              <a:lnSpc>
                <a:spcPct val="150000"/>
              </a:lnSpc>
            </a:pPr>
            <a:r>
              <a:rPr lang="en-US" altLang="zh-TW" sz="1400" i="1" dirty="0">
                <a:latin typeface="Times New Roman" pitchFamily="18" charset="0"/>
                <a:cs typeface="Times New Roman" pitchFamily="18" charset="0"/>
              </a:rPr>
              <a:t>N=Block Number</a:t>
            </a:r>
          </a:p>
          <a:p>
            <a:pPr>
              <a:lnSpc>
                <a:spcPct val="150000"/>
              </a:lnSpc>
            </a:pPr>
            <a:r>
              <a:rPr lang="en-US" altLang="zh-TW" sz="1400" i="1" dirty="0">
                <a:latin typeface="Times New Roman" pitchFamily="18" charset="0"/>
                <a:cs typeface="Times New Roman" pitchFamily="18" charset="0"/>
              </a:rPr>
              <a:t>T=Annealing Temperature</a:t>
            </a:r>
          </a:p>
          <a:p>
            <a:pPr>
              <a:lnSpc>
                <a:spcPct val="150000"/>
              </a:lnSpc>
            </a:pPr>
            <a:r>
              <a:rPr lang="en-US" altLang="zh-TW" sz="1400" i="1" dirty="0">
                <a:latin typeface="Times New Roman" pitchFamily="18" charset="0"/>
                <a:cs typeface="Times New Roman" pitchFamily="18" charset="0"/>
              </a:rPr>
              <a:t>Tre=Reduction Factor for T</a:t>
            </a:r>
          </a:p>
        </p:txBody>
      </p:sp>
      <p:sp>
        <p:nvSpPr>
          <p:cNvPr id="3" name="投影片編號版面配置區 2">
            <a:extLst>
              <a:ext uri="{FF2B5EF4-FFF2-40B4-BE49-F238E27FC236}">
                <a16:creationId xmlns:a16="http://schemas.microsoft.com/office/drawing/2014/main" id="{A63A8A5E-C176-465E-BB2F-49745495FBC7}"/>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16</a:t>
            </a:fld>
            <a:endParaRPr lang="zh-TW" altLang="en-US" dirty="0"/>
          </a:p>
        </p:txBody>
      </p:sp>
      <p:pic>
        <p:nvPicPr>
          <p:cNvPr id="79" name="圖片 78">
            <a:extLst>
              <a:ext uri="{FF2B5EF4-FFF2-40B4-BE49-F238E27FC236}">
                <a16:creationId xmlns:a16="http://schemas.microsoft.com/office/drawing/2014/main" id="{86CD117F-519C-48E9-BC29-9BE806CF72DA}"/>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203561" y="3859244"/>
            <a:ext cx="3623310" cy="2985135"/>
          </a:xfrm>
          <a:prstGeom prst="rect">
            <a:avLst/>
          </a:prstGeom>
          <a:noFill/>
        </p:spPr>
      </p:pic>
      <p:pic>
        <p:nvPicPr>
          <p:cNvPr id="80" name="圖片 79"/>
          <p:cNvPicPr>
            <a:picLocks noChangeAspect="1"/>
          </p:cNvPicPr>
          <p:nvPr/>
        </p:nvPicPr>
        <p:blipFill>
          <a:blip r:embed="rId5"/>
          <a:stretch>
            <a:fillRect/>
          </a:stretch>
        </p:blipFill>
        <p:spPr>
          <a:xfrm>
            <a:off x="1278238" y="2430336"/>
            <a:ext cx="4841317" cy="1280685"/>
          </a:xfrm>
          <a:prstGeom prst="rect">
            <a:avLst/>
          </a:prstGeom>
        </p:spPr>
      </p:pic>
    </p:spTree>
    <p:extLst>
      <p:ext uri="{BB962C8B-B14F-4D97-AF65-F5344CB8AC3E}">
        <p14:creationId xmlns:p14="http://schemas.microsoft.com/office/powerpoint/2010/main" val="3024901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63668" y="821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Simulated Annealing Method (SA)</a:t>
            </a:r>
            <a:endParaRPr lang="zh-TW" altLang="en-US" sz="2800" b="1" dirty="0">
              <a:latin typeface="Times New Roman" panose="02020603050405020304" pitchFamily="18" charset="0"/>
              <a:cs typeface="Times New Roman" panose="02020603050405020304" pitchFamily="18" charset="0"/>
            </a:endParaRPr>
          </a:p>
        </p:txBody>
      </p:sp>
      <p:grpSp>
        <p:nvGrpSpPr>
          <p:cNvPr id="6" name="群組 5">
            <a:extLst>
              <a:ext uri="{FF2B5EF4-FFF2-40B4-BE49-F238E27FC236}">
                <a16:creationId xmlns:a16="http://schemas.microsoft.com/office/drawing/2014/main" id="{E751ABAE-5F3F-4111-BBAD-E1D54E8BB97E}"/>
              </a:ext>
            </a:extLst>
          </p:cNvPr>
          <p:cNvGrpSpPr/>
          <p:nvPr/>
        </p:nvGrpSpPr>
        <p:grpSpPr>
          <a:xfrm>
            <a:off x="5288390" y="1089458"/>
            <a:ext cx="6809159" cy="5616466"/>
            <a:chOff x="0" y="72043"/>
            <a:chExt cx="4463043" cy="4933799"/>
          </a:xfrm>
        </p:grpSpPr>
        <p:grpSp>
          <p:nvGrpSpPr>
            <p:cNvPr id="7" name="群組 6">
              <a:extLst>
                <a:ext uri="{FF2B5EF4-FFF2-40B4-BE49-F238E27FC236}">
                  <a16:creationId xmlns:a16="http://schemas.microsoft.com/office/drawing/2014/main" id="{9AA4C8B9-31DD-451C-9425-FCE4AB435069}"/>
                </a:ext>
              </a:extLst>
            </p:cNvPr>
            <p:cNvGrpSpPr/>
            <p:nvPr/>
          </p:nvGrpSpPr>
          <p:grpSpPr>
            <a:xfrm>
              <a:off x="222531" y="76171"/>
              <a:ext cx="4240512" cy="4929671"/>
              <a:chOff x="39651" y="76171"/>
              <a:chExt cx="4240512" cy="4929680"/>
            </a:xfrm>
          </p:grpSpPr>
          <p:cxnSp>
            <p:nvCxnSpPr>
              <p:cNvPr id="59" name="直線單箭頭接點 141">
                <a:extLst>
                  <a:ext uri="{FF2B5EF4-FFF2-40B4-BE49-F238E27FC236}">
                    <a16:creationId xmlns:a16="http://schemas.microsoft.com/office/drawing/2014/main" id="{CF068A29-0E86-4D5A-B988-54B5FE74622E}"/>
                  </a:ext>
                </a:extLst>
              </p:cNvPr>
              <p:cNvCxnSpPr/>
              <p:nvPr/>
            </p:nvCxnSpPr>
            <p:spPr>
              <a:xfrm rot="5400000" flipH="1">
                <a:off x="2336806" y="1061751"/>
                <a:ext cx="111501" cy="1418339"/>
              </a:xfrm>
              <a:prstGeom prst="bentConnector3">
                <a:avLst>
                  <a:gd name="adj1" fmla="val 99919"/>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接點: 肘形 59">
                <a:extLst>
                  <a:ext uri="{FF2B5EF4-FFF2-40B4-BE49-F238E27FC236}">
                    <a16:creationId xmlns:a16="http://schemas.microsoft.com/office/drawing/2014/main" id="{9688A03F-2A99-4DDE-B07B-2EB1FF251C1B}"/>
                  </a:ext>
                </a:extLst>
              </p:cNvPr>
              <p:cNvCxnSpPr/>
              <p:nvPr/>
            </p:nvCxnSpPr>
            <p:spPr>
              <a:xfrm>
                <a:off x="2266305" y="1720315"/>
                <a:ext cx="200167" cy="774840"/>
              </a:xfrm>
              <a:prstGeom prst="bentConnector3">
                <a:avLst>
                  <a:gd name="adj1" fmla="val -355"/>
                </a:avLst>
              </a:prstGeom>
            </p:spPr>
            <p:style>
              <a:lnRef idx="2">
                <a:schemeClr val="dk1"/>
              </a:lnRef>
              <a:fillRef idx="0">
                <a:schemeClr val="dk1"/>
              </a:fillRef>
              <a:effectRef idx="1">
                <a:schemeClr val="dk1"/>
              </a:effectRef>
              <a:fontRef idx="minor">
                <a:schemeClr val="tx1"/>
              </a:fontRef>
            </p:style>
          </p:cxnSp>
          <p:sp>
            <p:nvSpPr>
              <p:cNvPr id="61" name="文字方塊 2">
                <a:extLst>
                  <a:ext uri="{FF2B5EF4-FFF2-40B4-BE49-F238E27FC236}">
                    <a16:creationId xmlns:a16="http://schemas.microsoft.com/office/drawing/2014/main" id="{7516B9F6-C522-4307-B967-DE9E5348FE0E}"/>
                  </a:ext>
                </a:extLst>
              </p:cNvPr>
              <p:cNvSpPr txBox="1">
                <a:spLocks noChangeArrowheads="1"/>
              </p:cNvSpPr>
              <p:nvPr/>
            </p:nvSpPr>
            <p:spPr bwMode="auto">
              <a:xfrm>
                <a:off x="1342080" y="76171"/>
                <a:ext cx="559581" cy="294934"/>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start</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2" name="文字方塊 2">
                <a:extLst>
                  <a:ext uri="{FF2B5EF4-FFF2-40B4-BE49-F238E27FC236}">
                    <a16:creationId xmlns:a16="http://schemas.microsoft.com/office/drawing/2014/main" id="{61253B2D-AEC4-4CD4-BA8C-F1A2763CAA2D}"/>
                  </a:ext>
                </a:extLst>
              </p:cNvPr>
              <p:cNvSpPr txBox="1">
                <a:spLocks noChangeArrowheads="1"/>
              </p:cNvSpPr>
              <p:nvPr/>
            </p:nvSpPr>
            <p:spPr bwMode="auto">
              <a:xfrm>
                <a:off x="1135078" y="407643"/>
                <a:ext cx="934687" cy="294934"/>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err="1">
                    <a:effectLst/>
                    <a:latin typeface="Calibri" panose="020F0502020204030204" pitchFamily="34" charset="0"/>
                    <a:ea typeface="新細明體" panose="02020500000000000000" pitchFamily="18" charset="-120"/>
                    <a:cs typeface="Times New Roman" panose="02020603050405020304" pitchFamily="18" charset="0"/>
                  </a:rPr>
                  <a:t>Intitial</a:t>
                </a: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 Condition</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3" name="文字方塊 2">
                <a:extLst>
                  <a:ext uri="{FF2B5EF4-FFF2-40B4-BE49-F238E27FC236}">
                    <a16:creationId xmlns:a16="http://schemas.microsoft.com/office/drawing/2014/main" id="{73F36D2D-F6B9-440E-97B4-2D2F20A8C6CC}"/>
                  </a:ext>
                </a:extLst>
              </p:cNvPr>
              <p:cNvSpPr txBox="1">
                <a:spLocks noChangeArrowheads="1"/>
              </p:cNvSpPr>
              <p:nvPr/>
            </p:nvSpPr>
            <p:spPr bwMode="auto">
              <a:xfrm>
                <a:off x="1049815" y="699991"/>
                <a:ext cx="1478478" cy="294641"/>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Domain(j)=-1, for all 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4" name="文字方塊 2">
                <a:extLst>
                  <a:ext uri="{FF2B5EF4-FFF2-40B4-BE49-F238E27FC236}">
                    <a16:creationId xmlns:a16="http://schemas.microsoft.com/office/drawing/2014/main" id="{8E691769-29B5-42B2-B5BF-B61E4DA69E30}"/>
                  </a:ext>
                </a:extLst>
              </p:cNvPr>
              <p:cNvSpPr txBox="1">
                <a:spLocks noChangeArrowheads="1"/>
              </p:cNvSpPr>
              <p:nvPr/>
            </p:nvSpPr>
            <p:spPr bwMode="auto">
              <a:xfrm>
                <a:off x="1146152" y="990175"/>
                <a:ext cx="1478478" cy="294641"/>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 j=0</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5" name="文字方塊 2">
                <a:extLst>
                  <a:ext uri="{FF2B5EF4-FFF2-40B4-BE49-F238E27FC236}">
                    <a16:creationId xmlns:a16="http://schemas.microsoft.com/office/drawing/2014/main" id="{085C3149-7DF6-4EDF-9F18-ACC0AE0A6B24}"/>
                  </a:ext>
                </a:extLst>
              </p:cNvPr>
              <p:cNvSpPr txBox="1">
                <a:spLocks noChangeArrowheads="1"/>
              </p:cNvSpPr>
              <p:nvPr/>
            </p:nvSpPr>
            <p:spPr bwMode="auto">
              <a:xfrm>
                <a:off x="683839" y="1308665"/>
                <a:ext cx="2707574" cy="294641"/>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Objective Function(Ob) Calculation, Ob(0)</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6" name="文字方塊 2">
                <a:extLst>
                  <a:ext uri="{FF2B5EF4-FFF2-40B4-BE49-F238E27FC236}">
                    <a16:creationId xmlns:a16="http://schemas.microsoft.com/office/drawing/2014/main" id="{21E72962-C2C8-4C9A-AB51-9E8EFAA5BA38}"/>
                  </a:ext>
                </a:extLst>
              </p:cNvPr>
              <p:cNvSpPr txBox="1">
                <a:spLocks noChangeArrowheads="1"/>
              </p:cNvSpPr>
              <p:nvPr/>
            </p:nvSpPr>
            <p:spPr bwMode="auto">
              <a:xfrm>
                <a:off x="1340296" y="1614926"/>
                <a:ext cx="504190" cy="294641"/>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J=j+1</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7" name="文字方塊 2">
                <a:extLst>
                  <a:ext uri="{FF2B5EF4-FFF2-40B4-BE49-F238E27FC236}">
                    <a16:creationId xmlns:a16="http://schemas.microsoft.com/office/drawing/2014/main" id="{3787A6C6-B139-48AE-9EB3-012BD6E74ECB}"/>
                  </a:ext>
                </a:extLst>
              </p:cNvPr>
              <p:cNvSpPr txBox="1">
                <a:spLocks noChangeArrowheads="1"/>
              </p:cNvSpPr>
              <p:nvPr/>
            </p:nvSpPr>
            <p:spPr bwMode="auto">
              <a:xfrm>
                <a:off x="1029432" y="2389353"/>
                <a:ext cx="1727860" cy="294641"/>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Domain(j)=-domain(j)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8" name="文字方塊 2">
                <a:extLst>
                  <a:ext uri="{FF2B5EF4-FFF2-40B4-BE49-F238E27FC236}">
                    <a16:creationId xmlns:a16="http://schemas.microsoft.com/office/drawing/2014/main" id="{8BDBA1DA-92D2-446A-9419-A1BBA1748D0D}"/>
                  </a:ext>
                </a:extLst>
              </p:cNvPr>
              <p:cNvSpPr txBox="1">
                <a:spLocks noChangeArrowheads="1"/>
              </p:cNvSpPr>
              <p:nvPr/>
            </p:nvSpPr>
            <p:spPr bwMode="auto">
              <a:xfrm>
                <a:off x="1366932" y="3288087"/>
                <a:ext cx="500945" cy="294641"/>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j&gt;N</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9" name="文字方塊 2">
                <a:extLst>
                  <a:ext uri="{FF2B5EF4-FFF2-40B4-BE49-F238E27FC236}">
                    <a16:creationId xmlns:a16="http://schemas.microsoft.com/office/drawing/2014/main" id="{22ABD185-D787-4A8F-AF2E-AC90FD40F76F}"/>
                  </a:ext>
                </a:extLst>
              </p:cNvPr>
              <p:cNvSpPr txBox="1">
                <a:spLocks noChangeArrowheads="1"/>
              </p:cNvSpPr>
              <p:nvPr/>
            </p:nvSpPr>
            <p:spPr bwMode="auto">
              <a:xfrm>
                <a:off x="196425" y="2968105"/>
                <a:ext cx="504701" cy="294641"/>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J=1</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0" name="文字方塊 2">
                <a:extLst>
                  <a:ext uri="{FF2B5EF4-FFF2-40B4-BE49-F238E27FC236}">
                    <a16:creationId xmlns:a16="http://schemas.microsoft.com/office/drawing/2014/main" id="{8543219C-8532-45F0-B97F-56AFA9BFEA0E}"/>
                  </a:ext>
                </a:extLst>
              </p:cNvPr>
              <p:cNvSpPr txBox="1">
                <a:spLocks noChangeArrowheads="1"/>
              </p:cNvSpPr>
              <p:nvPr/>
            </p:nvSpPr>
            <p:spPr bwMode="auto">
              <a:xfrm>
                <a:off x="961432" y="3782102"/>
                <a:ext cx="1402525" cy="294641"/>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Does any domain change?</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2" name="文字方塊 2">
                <a:extLst>
                  <a:ext uri="{FF2B5EF4-FFF2-40B4-BE49-F238E27FC236}">
                    <a16:creationId xmlns:a16="http://schemas.microsoft.com/office/drawing/2014/main" id="{39E43755-B1CA-4589-B15E-841EEF56C837}"/>
                  </a:ext>
                </a:extLst>
              </p:cNvPr>
              <p:cNvSpPr txBox="1">
                <a:spLocks noChangeArrowheads="1"/>
              </p:cNvSpPr>
              <p:nvPr/>
            </p:nvSpPr>
            <p:spPr bwMode="auto">
              <a:xfrm>
                <a:off x="39651" y="3262746"/>
                <a:ext cx="1246909" cy="294641"/>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Ob(0)=Ob(j)</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3" name="文字方塊 2">
                    <a:extLst>
                      <a:ext uri="{FF2B5EF4-FFF2-40B4-BE49-F238E27FC236}">
                        <a16:creationId xmlns:a16="http://schemas.microsoft.com/office/drawing/2014/main" id="{EBCA4B7F-7D03-411E-AA5B-9A3363D18C17}"/>
                      </a:ext>
                    </a:extLst>
                  </p:cNvPr>
                  <p:cNvSpPr txBox="1">
                    <a:spLocks noChangeArrowheads="1"/>
                  </p:cNvSpPr>
                  <p:nvPr/>
                </p:nvSpPr>
                <p:spPr bwMode="auto">
                  <a:xfrm>
                    <a:off x="92346" y="3792852"/>
                    <a:ext cx="1246909" cy="294641"/>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T=T</a:t>
                    </a:r>
                    <a14:m>
                      <m:oMath xmlns:m="http://schemas.openxmlformats.org/officeDocument/2006/math">
                        <m:r>
                          <a:rPr lang="en-US" sz="1050" b="1"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kern="100">
                            <a:effectLst/>
                            <a:latin typeface="Cambria Math" panose="02040503050406030204" pitchFamily="18" charset="0"/>
                            <a:ea typeface="新細明體" panose="02020500000000000000" pitchFamily="18" charset="-120"/>
                            <a:cs typeface="Times New Roman" panose="02020603050405020304" pitchFamily="18" charset="0"/>
                          </a:rPr>
                          <m:t>𝑻𝒓𝒆</m:t>
                        </m:r>
                      </m:oMath>
                    </a14:m>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73" name="文字方塊 2">
                    <a:extLst>
                      <a:ext uri="{FF2B5EF4-FFF2-40B4-BE49-F238E27FC236}">
                        <a16:creationId xmlns:a16="http://schemas.microsoft.com/office/drawing/2014/main" id="{EBCA4B7F-7D03-411E-AA5B-9A3363D18C17}"/>
                      </a:ext>
                    </a:extLst>
                  </p:cNvPr>
                  <p:cNvSpPr txBox="1">
                    <a:spLocks noRot="1" noChangeAspect="1" noMove="1" noResize="1" noEditPoints="1" noAdjustHandles="1" noChangeArrowheads="1" noChangeShapeType="1" noTextEdit="1"/>
                  </p:cNvSpPr>
                  <p:nvPr/>
                </p:nvSpPr>
                <p:spPr bwMode="auto">
                  <a:xfrm>
                    <a:off x="92346" y="3792852"/>
                    <a:ext cx="1246909" cy="294641"/>
                  </a:xfrm>
                  <a:prstGeom prst="rect">
                    <a:avLst/>
                  </a:prstGeom>
                  <a:blipFill>
                    <a:blip r:embed="rId2"/>
                    <a:stretch>
                      <a:fillRect/>
                    </a:stretch>
                  </a:blipFill>
                  <a:ln w="9525">
                    <a:noFill/>
                    <a:miter lim="800000"/>
                    <a:headEnd/>
                    <a:tailEnd/>
                  </a:ln>
                </p:spPr>
                <p:txBody>
                  <a:bodyPr/>
                  <a:lstStyle/>
                  <a:p>
                    <a:r>
                      <a:rPr lang="zh-TW" altLang="en-US">
                        <a:noFill/>
                      </a:rPr>
                      <a:t> </a:t>
                    </a:r>
                  </a:p>
                </p:txBody>
              </p:sp>
            </mc:Fallback>
          </mc:AlternateContent>
          <p:sp>
            <p:nvSpPr>
              <p:cNvPr id="74" name="文字方塊 2">
                <a:extLst>
                  <a:ext uri="{FF2B5EF4-FFF2-40B4-BE49-F238E27FC236}">
                    <a16:creationId xmlns:a16="http://schemas.microsoft.com/office/drawing/2014/main" id="{6E5847B9-34D9-4E3D-AFE5-0034080A3324}"/>
                  </a:ext>
                </a:extLst>
              </p:cNvPr>
              <p:cNvSpPr txBox="1">
                <a:spLocks noChangeArrowheads="1"/>
              </p:cNvSpPr>
              <p:nvPr/>
            </p:nvSpPr>
            <p:spPr bwMode="auto">
              <a:xfrm>
                <a:off x="1347528" y="4711210"/>
                <a:ext cx="504701" cy="294641"/>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End</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5" name="文字方塊 2">
                <a:extLst>
                  <a:ext uri="{FF2B5EF4-FFF2-40B4-BE49-F238E27FC236}">
                    <a16:creationId xmlns:a16="http://schemas.microsoft.com/office/drawing/2014/main" id="{8D3BA051-F449-4344-AFC3-DFE558C71418}"/>
                  </a:ext>
                </a:extLst>
              </p:cNvPr>
              <p:cNvSpPr txBox="1">
                <a:spLocks noChangeArrowheads="1"/>
              </p:cNvSpPr>
              <p:nvPr/>
            </p:nvSpPr>
            <p:spPr bwMode="auto">
              <a:xfrm>
                <a:off x="2652007" y="1824687"/>
                <a:ext cx="1140031" cy="294641"/>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Domain(j)=-domain(j)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6" name="文字方塊 2">
                <a:extLst>
                  <a:ext uri="{FF2B5EF4-FFF2-40B4-BE49-F238E27FC236}">
                    <a16:creationId xmlns:a16="http://schemas.microsoft.com/office/drawing/2014/main" id="{2504BFFE-4317-4A24-A565-34E169F21C51}"/>
                  </a:ext>
                </a:extLst>
              </p:cNvPr>
              <p:cNvSpPr txBox="1">
                <a:spLocks noChangeArrowheads="1"/>
              </p:cNvSpPr>
              <p:nvPr/>
            </p:nvSpPr>
            <p:spPr bwMode="auto">
              <a:xfrm>
                <a:off x="2849187" y="2335052"/>
                <a:ext cx="1430976" cy="320040"/>
              </a:xfrm>
              <a:prstGeom prst="rect">
                <a:avLst/>
              </a:prstGeom>
              <a:noFill/>
              <a:ln w="9525">
                <a:noFill/>
                <a:miter lim="800000"/>
                <a:headEnd/>
                <a:tailEnd/>
              </a:ln>
            </p:spPr>
            <p:txBody>
              <a:bodyPr rot="0" vert="horz" wrap="square" lIns="91440" tIns="45720" rIns="91440" bIns="45720" anchor="t" anchorCtr="0">
                <a:noAutofit/>
              </a:bodyPr>
              <a:lstStyle/>
              <a:p>
                <a:pPr marL="228600">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or</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7" name="文字方塊 2">
                <a:extLst>
                  <a:ext uri="{FF2B5EF4-FFF2-40B4-BE49-F238E27FC236}">
                    <a16:creationId xmlns:a16="http://schemas.microsoft.com/office/drawing/2014/main" id="{2E6366E2-D312-4DFD-93A0-EAC98B989308}"/>
                  </a:ext>
                </a:extLst>
              </p:cNvPr>
              <p:cNvSpPr txBox="1">
                <a:spLocks noChangeArrowheads="1"/>
              </p:cNvSpPr>
              <p:nvPr/>
            </p:nvSpPr>
            <p:spPr bwMode="auto">
              <a:xfrm>
                <a:off x="2742773" y="2968435"/>
                <a:ext cx="1430976" cy="3200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Cp=Ob(j)-Ob(j-1)</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8" name="文字方塊 2">
                <a:extLst>
                  <a:ext uri="{FF2B5EF4-FFF2-40B4-BE49-F238E27FC236}">
                    <a16:creationId xmlns:a16="http://schemas.microsoft.com/office/drawing/2014/main" id="{1A42DF36-81E4-4767-BCAF-F518EDE42DCE}"/>
                  </a:ext>
                </a:extLst>
              </p:cNvPr>
              <p:cNvSpPr txBox="1">
                <a:spLocks noChangeArrowheads="1"/>
              </p:cNvSpPr>
              <p:nvPr/>
            </p:nvSpPr>
            <p:spPr bwMode="auto">
              <a:xfrm>
                <a:off x="2285584" y="3262184"/>
                <a:ext cx="1973260" cy="3200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Objective Function(Ob) Calculation, Ob(j)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nvGrpSpPr>
            <p:cNvPr id="8" name="群組 7">
              <a:extLst>
                <a:ext uri="{FF2B5EF4-FFF2-40B4-BE49-F238E27FC236}">
                  <a16:creationId xmlns:a16="http://schemas.microsoft.com/office/drawing/2014/main" id="{90D76031-B84D-477E-986F-D830D333B34F}"/>
                </a:ext>
              </a:extLst>
            </p:cNvPr>
            <p:cNvGrpSpPr/>
            <p:nvPr/>
          </p:nvGrpSpPr>
          <p:grpSpPr>
            <a:xfrm>
              <a:off x="0" y="72043"/>
              <a:ext cx="4152158" cy="4870978"/>
              <a:chOff x="0" y="0"/>
              <a:chExt cx="4152158" cy="4870978"/>
            </a:xfrm>
          </p:grpSpPr>
          <p:grpSp>
            <p:nvGrpSpPr>
              <p:cNvPr id="9" name="群組 8">
                <a:extLst>
                  <a:ext uri="{FF2B5EF4-FFF2-40B4-BE49-F238E27FC236}">
                    <a16:creationId xmlns:a16="http://schemas.microsoft.com/office/drawing/2014/main" id="{75A21F52-1E1C-4979-8FF6-2920393347B4}"/>
                  </a:ext>
                </a:extLst>
              </p:cNvPr>
              <p:cNvGrpSpPr/>
              <p:nvPr/>
            </p:nvGrpSpPr>
            <p:grpSpPr>
              <a:xfrm>
                <a:off x="1647859" y="1938152"/>
                <a:ext cx="1605869" cy="2701008"/>
                <a:chOff x="703771" y="0"/>
                <a:chExt cx="1605869" cy="2701008"/>
              </a:xfrm>
            </p:grpSpPr>
            <p:cxnSp>
              <p:nvCxnSpPr>
                <p:cNvPr id="52" name="直線單箭頭接點 51">
                  <a:extLst>
                    <a:ext uri="{FF2B5EF4-FFF2-40B4-BE49-F238E27FC236}">
                      <a16:creationId xmlns:a16="http://schemas.microsoft.com/office/drawing/2014/main" id="{20C4C601-934B-422C-9CE4-55535AE4971F}"/>
                    </a:ext>
                  </a:extLst>
                </p:cNvPr>
                <p:cNvCxnSpPr/>
                <p:nvPr/>
              </p:nvCxnSpPr>
              <p:spPr>
                <a:xfrm>
                  <a:off x="723211" y="1581379"/>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3" name="直線單箭頭接點 52">
                  <a:extLst>
                    <a:ext uri="{FF2B5EF4-FFF2-40B4-BE49-F238E27FC236}">
                      <a16:creationId xmlns:a16="http://schemas.microsoft.com/office/drawing/2014/main" id="{B94E98C7-1691-4DAC-BA3B-25B4D535DADE}"/>
                    </a:ext>
                  </a:extLst>
                </p:cNvPr>
                <p:cNvCxnSpPr>
                  <a:cxnSpLocks/>
                  <a:endCxn id="28" idx="0"/>
                </p:cNvCxnSpPr>
                <p:nvPr/>
              </p:nvCxnSpPr>
              <p:spPr>
                <a:xfrm>
                  <a:off x="723211" y="2088155"/>
                  <a:ext cx="3771" cy="61285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5" name="直線單箭頭接點 54">
                  <a:extLst>
                    <a:ext uri="{FF2B5EF4-FFF2-40B4-BE49-F238E27FC236}">
                      <a16:creationId xmlns:a16="http://schemas.microsoft.com/office/drawing/2014/main" id="{6A5CE208-BDBE-41EC-B927-B2F75801732B}"/>
                    </a:ext>
                  </a:extLst>
                </p:cNvPr>
                <p:cNvCxnSpPr/>
                <p:nvPr/>
              </p:nvCxnSpPr>
              <p:spPr>
                <a:xfrm>
                  <a:off x="1002535" y="1382157"/>
                  <a:ext cx="424288"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6" name="直線單箭頭接點 55">
                  <a:extLst>
                    <a:ext uri="{FF2B5EF4-FFF2-40B4-BE49-F238E27FC236}">
                      <a16:creationId xmlns:a16="http://schemas.microsoft.com/office/drawing/2014/main" id="{8C0FBB72-99DB-4939-B339-1DD7157984F5}"/>
                    </a:ext>
                  </a:extLst>
                </p:cNvPr>
                <p:cNvCxnSpPr/>
                <p:nvPr/>
              </p:nvCxnSpPr>
              <p:spPr>
                <a:xfrm flipV="1">
                  <a:off x="2309640" y="0"/>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7" name="文字方塊 2">
                  <a:extLst>
                    <a:ext uri="{FF2B5EF4-FFF2-40B4-BE49-F238E27FC236}">
                      <a16:creationId xmlns:a16="http://schemas.microsoft.com/office/drawing/2014/main" id="{5C23EDFF-A3D0-488E-9A64-803942D932C6}"/>
                    </a:ext>
                  </a:extLst>
                </p:cNvPr>
                <p:cNvSpPr txBox="1">
                  <a:spLocks noChangeArrowheads="1"/>
                </p:cNvSpPr>
                <p:nvPr/>
              </p:nvSpPr>
              <p:spPr bwMode="auto">
                <a:xfrm>
                  <a:off x="703771" y="2213532"/>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no</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nvGrpSpPr>
              <p:cNvPr id="10" name="群組 9">
                <a:extLst>
                  <a:ext uri="{FF2B5EF4-FFF2-40B4-BE49-F238E27FC236}">
                    <a16:creationId xmlns:a16="http://schemas.microsoft.com/office/drawing/2014/main" id="{B54AFF03-18AD-4704-922C-5FEF8335F5CA}"/>
                  </a:ext>
                </a:extLst>
              </p:cNvPr>
              <p:cNvGrpSpPr/>
              <p:nvPr/>
            </p:nvGrpSpPr>
            <p:grpSpPr>
              <a:xfrm>
                <a:off x="0" y="0"/>
                <a:ext cx="4152158" cy="4870978"/>
                <a:chOff x="-1" y="0"/>
                <a:chExt cx="4152160" cy="4870978"/>
              </a:xfrm>
            </p:grpSpPr>
            <p:sp>
              <p:nvSpPr>
                <p:cNvPr id="11" name="橢圓 10">
                  <a:extLst>
                    <a:ext uri="{FF2B5EF4-FFF2-40B4-BE49-F238E27FC236}">
                      <a16:creationId xmlns:a16="http://schemas.microsoft.com/office/drawing/2014/main" id="{F0F3DC9A-9C42-4BF1-8E0A-74E35ABDF141}"/>
                    </a:ext>
                  </a:extLst>
                </p:cNvPr>
                <p:cNvSpPr/>
                <p:nvPr/>
              </p:nvSpPr>
              <p:spPr>
                <a:xfrm>
                  <a:off x="1389681" y="0"/>
                  <a:ext cx="573110" cy="2318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2" name="矩形: 圓角 11">
                  <a:extLst>
                    <a:ext uri="{FF2B5EF4-FFF2-40B4-BE49-F238E27FC236}">
                      <a16:creationId xmlns:a16="http://schemas.microsoft.com/office/drawing/2014/main" id="{8F8D8572-F955-44C5-93A9-21500111F6DF}"/>
                    </a:ext>
                  </a:extLst>
                </p:cNvPr>
                <p:cNvSpPr/>
                <p:nvPr/>
              </p:nvSpPr>
              <p:spPr>
                <a:xfrm>
                  <a:off x="1250197" y="361628"/>
                  <a:ext cx="836930" cy="16031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spcAft>
                      <a:spcPts val="0"/>
                    </a:spcAft>
                  </a:pPr>
                  <a:endParaRPr lang="zh-TW" sz="1050" kern="100" dirty="0">
                    <a:effectLst/>
                    <a:ea typeface="新細明體" panose="02020500000000000000" pitchFamily="18" charset="-120"/>
                    <a:cs typeface="Times New Roman" panose="02020603050405020304" pitchFamily="18" charset="0"/>
                  </a:endParaRPr>
                </a:p>
              </p:txBody>
            </p:sp>
            <p:sp>
              <p:nvSpPr>
                <p:cNvPr id="13" name="矩形: 圓角 12">
                  <a:extLst>
                    <a:ext uri="{FF2B5EF4-FFF2-40B4-BE49-F238E27FC236}">
                      <a16:creationId xmlns:a16="http://schemas.microsoft.com/office/drawing/2014/main" id="{A6A23C3D-2BA4-42EE-9881-70C6F666F1B8}"/>
                    </a:ext>
                  </a:extLst>
                </p:cNvPr>
                <p:cNvSpPr/>
                <p:nvPr/>
              </p:nvSpPr>
              <p:spPr>
                <a:xfrm>
                  <a:off x="1141708" y="656095"/>
                  <a:ext cx="1067435" cy="17068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4" name="矩形: 圓角 13">
                  <a:extLst>
                    <a:ext uri="{FF2B5EF4-FFF2-40B4-BE49-F238E27FC236}">
                      <a16:creationId xmlns:a16="http://schemas.microsoft.com/office/drawing/2014/main" id="{6A546BCA-7DE0-4709-9997-92CBF06A9D6F}"/>
                    </a:ext>
                  </a:extLst>
                </p:cNvPr>
                <p:cNvSpPr/>
                <p:nvPr/>
              </p:nvSpPr>
              <p:spPr>
                <a:xfrm>
                  <a:off x="1245030" y="955730"/>
                  <a:ext cx="836930" cy="16294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5" name="矩形: 圓角 14">
                  <a:extLst>
                    <a:ext uri="{FF2B5EF4-FFF2-40B4-BE49-F238E27FC236}">
                      <a16:creationId xmlns:a16="http://schemas.microsoft.com/office/drawing/2014/main" id="{656CFF56-F9D1-4DE4-BE5C-94244B5644C2}"/>
                    </a:ext>
                  </a:extLst>
                </p:cNvPr>
                <p:cNvSpPr/>
                <p:nvPr/>
              </p:nvSpPr>
              <p:spPr>
                <a:xfrm>
                  <a:off x="780081" y="1260530"/>
                  <a:ext cx="1783080" cy="15443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6" name="矩形: 圓角 15">
                  <a:extLst>
                    <a:ext uri="{FF2B5EF4-FFF2-40B4-BE49-F238E27FC236}">
                      <a16:creationId xmlns:a16="http://schemas.microsoft.com/office/drawing/2014/main" id="{18AB0E48-51E6-41B1-BB20-4A221ED91508}"/>
                    </a:ext>
                  </a:extLst>
                </p:cNvPr>
                <p:cNvSpPr/>
                <p:nvPr/>
              </p:nvSpPr>
              <p:spPr>
                <a:xfrm>
                  <a:off x="1467173" y="1570495"/>
                  <a:ext cx="393700" cy="167005"/>
                </a:xfrm>
                <a:prstGeom prst="roundRect">
                  <a:avLst>
                    <a:gd name="adj" fmla="val 1656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7" name="矩形: 圓角 16">
                  <a:extLst>
                    <a:ext uri="{FF2B5EF4-FFF2-40B4-BE49-F238E27FC236}">
                      <a16:creationId xmlns:a16="http://schemas.microsoft.com/office/drawing/2014/main" id="{44570AB4-3271-43DA-90EF-098AF5834CB0}"/>
                    </a:ext>
                  </a:extLst>
                </p:cNvPr>
                <p:cNvSpPr/>
                <p:nvPr/>
              </p:nvSpPr>
              <p:spPr>
                <a:xfrm>
                  <a:off x="1119017" y="2350576"/>
                  <a:ext cx="1087568"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8" name="矩形: 圓角 17">
                  <a:extLst>
                    <a:ext uri="{FF2B5EF4-FFF2-40B4-BE49-F238E27FC236}">
                      <a16:creationId xmlns:a16="http://schemas.microsoft.com/office/drawing/2014/main" id="{8B0FD7FE-28E4-470A-8698-6BEBCA13D166}"/>
                    </a:ext>
                  </a:extLst>
                </p:cNvPr>
                <p:cNvSpPr/>
                <p:nvPr/>
              </p:nvSpPr>
              <p:spPr>
                <a:xfrm>
                  <a:off x="2712203" y="1766807"/>
                  <a:ext cx="1087568"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9" name="矩形: 圓角 18">
                  <a:extLst>
                    <a:ext uri="{FF2B5EF4-FFF2-40B4-BE49-F238E27FC236}">
                      <a16:creationId xmlns:a16="http://schemas.microsoft.com/office/drawing/2014/main" id="{C1E5BB3E-B98A-4A96-9E96-7E3B62A41ACD}"/>
                    </a:ext>
                  </a:extLst>
                </p:cNvPr>
                <p:cNvSpPr/>
                <p:nvPr/>
              </p:nvSpPr>
              <p:spPr>
                <a:xfrm>
                  <a:off x="2748366" y="2934346"/>
                  <a:ext cx="1054923"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0" name="矩形: 圓角 19">
                  <a:extLst>
                    <a:ext uri="{FF2B5EF4-FFF2-40B4-BE49-F238E27FC236}">
                      <a16:creationId xmlns:a16="http://schemas.microsoft.com/office/drawing/2014/main" id="{AE4438C7-2E52-4CDD-838C-C74BC4F8CD1B}"/>
                    </a:ext>
                  </a:extLst>
                </p:cNvPr>
                <p:cNvSpPr/>
                <p:nvPr/>
              </p:nvSpPr>
              <p:spPr>
                <a:xfrm>
                  <a:off x="2381573" y="3233980"/>
                  <a:ext cx="1770586" cy="160986"/>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1" name="矩形: 圓角 20">
                  <a:extLst>
                    <a:ext uri="{FF2B5EF4-FFF2-40B4-BE49-F238E27FC236}">
                      <a16:creationId xmlns:a16="http://schemas.microsoft.com/office/drawing/2014/main" id="{81FECF50-F3F0-49D0-9613-93E556D2FBCF}"/>
                    </a:ext>
                  </a:extLst>
                </p:cNvPr>
                <p:cNvSpPr/>
                <p:nvPr/>
              </p:nvSpPr>
              <p:spPr>
                <a:xfrm>
                  <a:off x="346129" y="2934346"/>
                  <a:ext cx="321658"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2" name="矩形: 圓角 21">
                  <a:extLst>
                    <a:ext uri="{FF2B5EF4-FFF2-40B4-BE49-F238E27FC236}">
                      <a16:creationId xmlns:a16="http://schemas.microsoft.com/office/drawing/2014/main" id="{6EB832CA-33FA-4875-9023-3E599728F8A0}"/>
                    </a:ext>
                  </a:extLst>
                </p:cNvPr>
                <p:cNvSpPr/>
                <p:nvPr/>
              </p:nvSpPr>
              <p:spPr>
                <a:xfrm>
                  <a:off x="-1" y="3223647"/>
                  <a:ext cx="1054923" cy="16709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3" name="矩形: 圓角 22">
                  <a:extLst>
                    <a:ext uri="{FF2B5EF4-FFF2-40B4-BE49-F238E27FC236}">
                      <a16:creationId xmlns:a16="http://schemas.microsoft.com/office/drawing/2014/main" id="{BEBFCEF4-8FAC-4EAF-9AF2-176B17782C6D}"/>
                    </a:ext>
                  </a:extLst>
                </p:cNvPr>
                <p:cNvSpPr/>
                <p:nvPr/>
              </p:nvSpPr>
              <p:spPr>
                <a:xfrm>
                  <a:off x="193730" y="3744926"/>
                  <a:ext cx="669514"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4" name="流程圖: 決策 23">
                  <a:extLst>
                    <a:ext uri="{FF2B5EF4-FFF2-40B4-BE49-F238E27FC236}">
                      <a16:creationId xmlns:a16="http://schemas.microsoft.com/office/drawing/2014/main" id="{97786454-CD3E-4CD1-B25C-FC2F48E9ED97}"/>
                    </a:ext>
                  </a:extLst>
                </p:cNvPr>
                <p:cNvSpPr/>
                <p:nvPr/>
              </p:nvSpPr>
              <p:spPr>
                <a:xfrm>
                  <a:off x="1377909" y="3125133"/>
                  <a:ext cx="569541" cy="386080"/>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5" name="流程圖: 決策 24">
                  <a:extLst>
                    <a:ext uri="{FF2B5EF4-FFF2-40B4-BE49-F238E27FC236}">
                      <a16:creationId xmlns:a16="http://schemas.microsoft.com/office/drawing/2014/main" id="{4D31D40A-A971-47EA-829D-2C89F59BA1B2}"/>
                    </a:ext>
                  </a:extLst>
                </p:cNvPr>
                <p:cNvSpPr/>
                <p:nvPr/>
              </p:nvSpPr>
              <p:spPr>
                <a:xfrm>
                  <a:off x="978330" y="3635322"/>
                  <a:ext cx="1377412" cy="386634"/>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7" name="流程圖: 決策 26">
                  <a:extLst>
                    <a:ext uri="{FF2B5EF4-FFF2-40B4-BE49-F238E27FC236}">
                      <a16:creationId xmlns:a16="http://schemas.microsoft.com/office/drawing/2014/main" id="{B1E2F42F-8315-448D-891E-D8CAC5D4305C}"/>
                    </a:ext>
                  </a:extLst>
                </p:cNvPr>
                <p:cNvSpPr/>
                <p:nvPr/>
              </p:nvSpPr>
              <p:spPr>
                <a:xfrm>
                  <a:off x="2648596" y="2059661"/>
                  <a:ext cx="1240895" cy="746931"/>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8" name="橢圓 27">
                  <a:extLst>
                    <a:ext uri="{FF2B5EF4-FFF2-40B4-BE49-F238E27FC236}">
                      <a16:creationId xmlns:a16="http://schemas.microsoft.com/office/drawing/2014/main" id="{D532C4C6-8478-462D-ADAE-6163FEF84C45}"/>
                    </a:ext>
                  </a:extLst>
                </p:cNvPr>
                <p:cNvSpPr/>
                <p:nvPr/>
              </p:nvSpPr>
              <p:spPr>
                <a:xfrm>
                  <a:off x="1384515" y="4639159"/>
                  <a:ext cx="573110" cy="2318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cxnSp>
              <p:nvCxnSpPr>
                <p:cNvPr id="29" name="直線單箭頭接點 28">
                  <a:extLst>
                    <a:ext uri="{FF2B5EF4-FFF2-40B4-BE49-F238E27FC236}">
                      <a16:creationId xmlns:a16="http://schemas.microsoft.com/office/drawing/2014/main" id="{5EC861CD-1C49-4DFE-ADA5-7C2BC5D2F9E3}"/>
                    </a:ext>
                  </a:extLst>
                </p:cNvPr>
                <p:cNvCxnSpPr/>
                <p:nvPr/>
              </p:nvCxnSpPr>
              <p:spPr>
                <a:xfrm>
                  <a:off x="1665745" y="232474"/>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直線單箭頭接點 29">
                  <a:extLst>
                    <a:ext uri="{FF2B5EF4-FFF2-40B4-BE49-F238E27FC236}">
                      <a16:creationId xmlns:a16="http://schemas.microsoft.com/office/drawing/2014/main" id="{94F23EA4-FF93-4F6A-857D-7D5F3ABEAF8F}"/>
                    </a:ext>
                  </a:extLst>
                </p:cNvPr>
                <p:cNvCxnSpPr/>
                <p:nvPr/>
              </p:nvCxnSpPr>
              <p:spPr>
                <a:xfrm>
                  <a:off x="1660579" y="526943"/>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直線單箭頭接點 30">
                  <a:extLst>
                    <a:ext uri="{FF2B5EF4-FFF2-40B4-BE49-F238E27FC236}">
                      <a16:creationId xmlns:a16="http://schemas.microsoft.com/office/drawing/2014/main" id="{CF7D8C73-994E-4BD4-8781-57089FB50187}"/>
                    </a:ext>
                  </a:extLst>
                </p:cNvPr>
                <p:cNvCxnSpPr/>
                <p:nvPr/>
              </p:nvCxnSpPr>
              <p:spPr>
                <a:xfrm>
                  <a:off x="1665745" y="831742"/>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直線單箭頭接點 31">
                  <a:extLst>
                    <a:ext uri="{FF2B5EF4-FFF2-40B4-BE49-F238E27FC236}">
                      <a16:creationId xmlns:a16="http://schemas.microsoft.com/office/drawing/2014/main" id="{9EF61CF3-DEAF-4568-AD5A-8D399912E698}"/>
                    </a:ext>
                  </a:extLst>
                </p:cNvPr>
                <p:cNvCxnSpPr/>
                <p:nvPr/>
              </p:nvCxnSpPr>
              <p:spPr>
                <a:xfrm>
                  <a:off x="1665745" y="1131376"/>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直線單箭頭接點 32">
                  <a:extLst>
                    <a:ext uri="{FF2B5EF4-FFF2-40B4-BE49-F238E27FC236}">
                      <a16:creationId xmlns:a16="http://schemas.microsoft.com/office/drawing/2014/main" id="{1F252B6C-FCA2-46EF-9167-A752B8687466}"/>
                    </a:ext>
                  </a:extLst>
                </p:cNvPr>
                <p:cNvCxnSpPr/>
                <p:nvPr/>
              </p:nvCxnSpPr>
              <p:spPr>
                <a:xfrm>
                  <a:off x="1665745" y="1441341"/>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直線單箭頭接點 33">
                  <a:extLst>
                    <a:ext uri="{FF2B5EF4-FFF2-40B4-BE49-F238E27FC236}">
                      <a16:creationId xmlns:a16="http://schemas.microsoft.com/office/drawing/2014/main" id="{A7177AD6-AAE1-4DFB-AFF7-40A28875396B}"/>
                    </a:ext>
                  </a:extLst>
                </p:cNvPr>
                <p:cNvCxnSpPr>
                  <a:cxnSpLocks/>
                  <a:stCxn id="16" idx="2"/>
                  <a:endCxn id="17" idx="0"/>
                </p:cNvCxnSpPr>
                <p:nvPr/>
              </p:nvCxnSpPr>
              <p:spPr>
                <a:xfrm flipH="1">
                  <a:off x="1662801" y="1737501"/>
                  <a:ext cx="1222" cy="613075"/>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直線單箭頭接點 34">
                  <a:extLst>
                    <a:ext uri="{FF2B5EF4-FFF2-40B4-BE49-F238E27FC236}">
                      <a16:creationId xmlns:a16="http://schemas.microsoft.com/office/drawing/2014/main" id="{304782C8-00DD-4366-A084-030FC6055FC7}"/>
                    </a:ext>
                  </a:extLst>
                </p:cNvPr>
                <p:cNvCxnSpPr>
                  <a:cxnSpLocks/>
                  <a:stCxn id="17" idx="2"/>
                  <a:endCxn id="24" idx="0"/>
                </p:cNvCxnSpPr>
                <p:nvPr/>
              </p:nvCxnSpPr>
              <p:spPr>
                <a:xfrm flipH="1">
                  <a:off x="1662679" y="2518000"/>
                  <a:ext cx="122" cy="60713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直線單箭頭接點 141">
                  <a:extLst>
                    <a:ext uri="{FF2B5EF4-FFF2-40B4-BE49-F238E27FC236}">
                      <a16:creationId xmlns:a16="http://schemas.microsoft.com/office/drawing/2014/main" id="{CFF15E2F-B001-45D9-869A-1333E0C9F245}"/>
                    </a:ext>
                  </a:extLst>
                </p:cNvPr>
                <p:cNvCxnSpPr/>
                <p:nvPr/>
              </p:nvCxnSpPr>
              <p:spPr>
                <a:xfrm rot="5400000" flipH="1" flipV="1">
                  <a:off x="566876" y="2374260"/>
                  <a:ext cx="506035" cy="611761"/>
                </a:xfrm>
                <a:prstGeom prst="bentConnector3">
                  <a:avLst>
                    <a:gd name="adj1" fmla="val 100252"/>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直線單箭頭接點 36">
                  <a:extLst>
                    <a:ext uri="{FF2B5EF4-FFF2-40B4-BE49-F238E27FC236}">
                      <a16:creationId xmlns:a16="http://schemas.microsoft.com/office/drawing/2014/main" id="{87097A04-989D-4536-B8A7-0D51896EEDED}"/>
                    </a:ext>
                  </a:extLst>
                </p:cNvPr>
                <p:cNvCxnSpPr/>
                <p:nvPr/>
              </p:nvCxnSpPr>
              <p:spPr>
                <a:xfrm flipV="1">
                  <a:off x="513704" y="3101598"/>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直線單箭頭接點 37">
                  <a:extLst>
                    <a:ext uri="{FF2B5EF4-FFF2-40B4-BE49-F238E27FC236}">
                      <a16:creationId xmlns:a16="http://schemas.microsoft.com/office/drawing/2014/main" id="{E77317CD-A6B0-4EE6-A7EE-2212D2EFD9A4}"/>
                    </a:ext>
                  </a:extLst>
                </p:cNvPr>
                <p:cNvCxnSpPr>
                  <a:stCxn id="23" idx="0"/>
                </p:cNvCxnSpPr>
                <p:nvPr/>
              </p:nvCxnSpPr>
              <p:spPr>
                <a:xfrm flipH="1" flipV="1">
                  <a:off x="525273" y="3390741"/>
                  <a:ext cx="3215" cy="35418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直線單箭頭接點 141">
                  <a:extLst>
                    <a:ext uri="{FF2B5EF4-FFF2-40B4-BE49-F238E27FC236}">
                      <a16:creationId xmlns:a16="http://schemas.microsoft.com/office/drawing/2014/main" id="{6B5B2DBD-0D3B-417E-A3A4-883A51DD5ECC}"/>
                    </a:ext>
                  </a:extLst>
                </p:cNvPr>
                <p:cNvCxnSpPr>
                  <a:stCxn id="25" idx="1"/>
                  <a:endCxn id="23" idx="3"/>
                </p:cNvCxnSpPr>
                <p:nvPr/>
              </p:nvCxnSpPr>
              <p:spPr>
                <a:xfrm rot="10800000">
                  <a:off x="863245" y="3828638"/>
                  <a:ext cx="115085" cy="1"/>
                </a:xfrm>
                <a:prstGeom prst="bentConnector3">
                  <a:avLst>
                    <a:gd name="adj1" fmla="val 50000"/>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直線單箭頭接點 40">
                  <a:extLst>
                    <a:ext uri="{FF2B5EF4-FFF2-40B4-BE49-F238E27FC236}">
                      <a16:creationId xmlns:a16="http://schemas.microsoft.com/office/drawing/2014/main" id="{DDE2268F-1C77-4D50-BB4C-DC073D2BA2C3}"/>
                    </a:ext>
                  </a:extLst>
                </p:cNvPr>
                <p:cNvCxnSpPr/>
                <p:nvPr/>
              </p:nvCxnSpPr>
              <p:spPr>
                <a:xfrm flipV="1">
                  <a:off x="3277570" y="2807130"/>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2" name="直線單箭頭接點 41">
                  <a:extLst>
                    <a:ext uri="{FF2B5EF4-FFF2-40B4-BE49-F238E27FC236}">
                      <a16:creationId xmlns:a16="http://schemas.microsoft.com/office/drawing/2014/main" id="{B2233D26-A663-4087-B0B6-899005706880}"/>
                    </a:ext>
                  </a:extLst>
                </p:cNvPr>
                <p:cNvCxnSpPr/>
                <p:nvPr/>
              </p:nvCxnSpPr>
              <p:spPr>
                <a:xfrm flipV="1">
                  <a:off x="3277570" y="3111930"/>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3" name="文字方塊 2">
                  <a:extLst>
                    <a:ext uri="{FF2B5EF4-FFF2-40B4-BE49-F238E27FC236}">
                      <a16:creationId xmlns:a16="http://schemas.microsoft.com/office/drawing/2014/main" id="{B6482EFB-B89E-4E76-9073-BCEDBEF604C5}"/>
                    </a:ext>
                  </a:extLst>
                </p:cNvPr>
                <p:cNvSpPr txBox="1">
                  <a:spLocks noChangeArrowheads="1"/>
                </p:cNvSpPr>
                <p:nvPr/>
              </p:nvSpPr>
              <p:spPr bwMode="auto">
                <a:xfrm>
                  <a:off x="2927491" y="2106621"/>
                  <a:ext cx="879021" cy="193791"/>
                </a:xfrm>
                <a:prstGeom prst="rect">
                  <a:avLst/>
                </a:prstGeom>
                <a:noFill/>
                <a:ln w="9525">
                  <a:noFill/>
                  <a:miter lim="800000"/>
                  <a:headEnd/>
                  <a:tailEnd/>
                </a:ln>
              </p:spPr>
              <p:txBody>
                <a:bodyPr rot="0" vert="horz" wrap="square" lIns="91440" tIns="45720" rIns="91440" bIns="45720" anchor="t" anchorCtr="0">
                  <a:noAutofit/>
                </a:bodyPr>
                <a:lstStyle/>
                <a:p>
                  <a:pPr marL="226695">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1.Cp&lt;0</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4" name="文字方塊 2">
                      <a:extLst>
                        <a:ext uri="{FF2B5EF4-FFF2-40B4-BE49-F238E27FC236}">
                          <a16:creationId xmlns:a16="http://schemas.microsoft.com/office/drawing/2014/main" id="{21600491-3553-433F-8135-B76BE97CB798}"/>
                        </a:ext>
                      </a:extLst>
                    </p:cNvPr>
                    <p:cNvSpPr txBox="1">
                      <a:spLocks noChangeArrowheads="1"/>
                    </p:cNvSpPr>
                    <p:nvPr/>
                  </p:nvSpPr>
                  <p:spPr bwMode="auto">
                    <a:xfrm>
                      <a:off x="2643599" y="2374858"/>
                      <a:ext cx="1430976" cy="245141"/>
                    </a:xfrm>
                    <a:prstGeom prst="rect">
                      <a:avLst/>
                    </a:prstGeom>
                    <a:noFill/>
                    <a:ln w="9525">
                      <a:noFill/>
                      <a:miter lim="800000"/>
                      <a:headEnd/>
                      <a:tailEnd/>
                    </a:ln>
                  </p:spPr>
                  <p:txBody>
                    <a:bodyPr rot="0" vert="horz" wrap="square" lIns="91440" tIns="45720" rIns="91440" bIns="45720" anchor="t" anchorCtr="0">
                      <a:noAutofit/>
                    </a:bodyPr>
                    <a:lstStyle/>
                    <a:p>
                      <a:pPr marL="228600">
                        <a:spcAft>
                          <a:spcPts val="0"/>
                        </a:spcAft>
                      </a:pPr>
                      <a14:m>
                        <m:oMathPara xmlns:m="http://schemas.openxmlformats.org/officeDocument/2006/math">
                          <m:oMathParaPr>
                            <m:jc m:val="centerGroup"/>
                          </m:oMathParaPr>
                          <m:oMath xmlns:m="http://schemas.openxmlformats.org/officeDocument/2006/math">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𝟐</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𝝆</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&lt;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𝒆𝒙𝒑</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𝑪𝒑</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𝑻</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oMath>
                        </m:oMathPara>
                      </a14:m>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44" name="文字方塊 2">
                      <a:extLst>
                        <a:ext uri="{FF2B5EF4-FFF2-40B4-BE49-F238E27FC236}">
                          <a16:creationId xmlns:a16="http://schemas.microsoft.com/office/drawing/2014/main" id="{21600491-3553-433F-8135-B76BE97CB798}"/>
                        </a:ext>
                      </a:extLst>
                    </p:cNvPr>
                    <p:cNvSpPr txBox="1">
                      <a:spLocks noRot="1" noChangeAspect="1" noMove="1" noResize="1" noEditPoints="1" noAdjustHandles="1" noChangeArrowheads="1" noChangeShapeType="1" noTextEdit="1"/>
                    </p:cNvSpPr>
                    <p:nvPr/>
                  </p:nvSpPr>
                  <p:spPr bwMode="auto">
                    <a:xfrm>
                      <a:off x="2643599" y="2374858"/>
                      <a:ext cx="1430976" cy="245141"/>
                    </a:xfrm>
                    <a:prstGeom prst="rect">
                      <a:avLst/>
                    </a:prstGeom>
                    <a:blipFill>
                      <a:blip r:embed="rId3"/>
                      <a:stretch>
                        <a:fillRect/>
                      </a:stretch>
                    </a:blipFill>
                    <a:ln w="9525">
                      <a:noFill/>
                      <a:miter lim="800000"/>
                      <a:headEnd/>
                      <a:tailEnd/>
                    </a:ln>
                  </p:spPr>
                  <p:txBody>
                    <a:bodyPr/>
                    <a:lstStyle/>
                    <a:p>
                      <a:r>
                        <a:rPr lang="zh-TW" altLang="en-US">
                          <a:noFill/>
                        </a:rPr>
                        <a:t> </a:t>
                      </a:r>
                    </a:p>
                  </p:txBody>
                </p:sp>
              </mc:Fallback>
            </mc:AlternateContent>
            <p:sp>
              <p:nvSpPr>
                <p:cNvPr id="45" name="文字方塊 2">
                  <a:extLst>
                    <a:ext uri="{FF2B5EF4-FFF2-40B4-BE49-F238E27FC236}">
                      <a16:creationId xmlns:a16="http://schemas.microsoft.com/office/drawing/2014/main" id="{E866DDE4-1569-4AFF-B68E-1747CFC22442}"/>
                    </a:ext>
                  </a:extLst>
                </p:cNvPr>
                <p:cNvSpPr txBox="1">
                  <a:spLocks noChangeArrowheads="1"/>
                </p:cNvSpPr>
                <p:nvPr/>
              </p:nvSpPr>
              <p:spPr bwMode="auto">
                <a:xfrm>
                  <a:off x="2398115" y="2223798"/>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yes</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7" name="文字方塊 2">
                  <a:extLst>
                    <a:ext uri="{FF2B5EF4-FFF2-40B4-BE49-F238E27FC236}">
                      <a16:creationId xmlns:a16="http://schemas.microsoft.com/office/drawing/2014/main" id="{AD900190-027D-42E6-9363-58644F9BEC69}"/>
                    </a:ext>
                  </a:extLst>
                </p:cNvPr>
                <p:cNvSpPr txBox="1">
                  <a:spLocks noChangeArrowheads="1"/>
                </p:cNvSpPr>
                <p:nvPr/>
              </p:nvSpPr>
              <p:spPr bwMode="auto">
                <a:xfrm>
                  <a:off x="706442" y="3582171"/>
                  <a:ext cx="504701" cy="29464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yes</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8" name="文字方塊 2">
                  <a:extLst>
                    <a:ext uri="{FF2B5EF4-FFF2-40B4-BE49-F238E27FC236}">
                      <a16:creationId xmlns:a16="http://schemas.microsoft.com/office/drawing/2014/main" id="{8B0705FA-6F74-4AF8-92F9-E8B6D7EA8601}"/>
                    </a:ext>
                  </a:extLst>
                </p:cNvPr>
                <p:cNvSpPr txBox="1">
                  <a:spLocks noChangeArrowheads="1"/>
                </p:cNvSpPr>
                <p:nvPr/>
              </p:nvSpPr>
              <p:spPr bwMode="auto">
                <a:xfrm>
                  <a:off x="1994115" y="3128065"/>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no</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9" name="文字方塊 2">
                  <a:extLst>
                    <a:ext uri="{FF2B5EF4-FFF2-40B4-BE49-F238E27FC236}">
                      <a16:creationId xmlns:a16="http://schemas.microsoft.com/office/drawing/2014/main" id="{C82F339A-189B-46B9-B17C-BB309AE03E0B}"/>
                    </a:ext>
                  </a:extLst>
                </p:cNvPr>
                <p:cNvSpPr txBox="1">
                  <a:spLocks noChangeArrowheads="1"/>
                </p:cNvSpPr>
                <p:nvPr/>
              </p:nvSpPr>
              <p:spPr bwMode="auto">
                <a:xfrm>
                  <a:off x="1440784" y="3447549"/>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yes</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50" name="文字方塊 2">
                  <a:extLst>
                    <a:ext uri="{FF2B5EF4-FFF2-40B4-BE49-F238E27FC236}">
                      <a16:creationId xmlns:a16="http://schemas.microsoft.com/office/drawing/2014/main" id="{69FF2820-9B4E-441A-8D86-50A2E69401F2}"/>
                    </a:ext>
                  </a:extLst>
                </p:cNvPr>
                <p:cNvSpPr txBox="1">
                  <a:spLocks noChangeArrowheads="1"/>
                </p:cNvSpPr>
                <p:nvPr/>
              </p:nvSpPr>
              <p:spPr bwMode="auto">
                <a:xfrm>
                  <a:off x="2989265" y="1914638"/>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no</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grpSp>
      <p:sp>
        <p:nvSpPr>
          <p:cNvPr id="134" name="Text Box 162">
            <a:extLst>
              <a:ext uri="{FF2B5EF4-FFF2-40B4-BE49-F238E27FC236}">
                <a16:creationId xmlns:a16="http://schemas.microsoft.com/office/drawing/2014/main" id="{69693BB7-D73A-4E87-B2A0-13801D0FDFAD}"/>
              </a:ext>
            </a:extLst>
          </p:cNvPr>
          <p:cNvSpPr txBox="1">
            <a:spLocks noChangeArrowheads="1"/>
          </p:cNvSpPr>
          <p:nvPr/>
        </p:nvSpPr>
        <p:spPr bwMode="auto">
          <a:xfrm>
            <a:off x="1381890" y="980178"/>
            <a:ext cx="2705100" cy="369332"/>
          </a:xfrm>
          <a:prstGeom prst="rect">
            <a:avLst/>
          </a:prstGeom>
          <a:noFill/>
          <a:ln w="9525">
            <a:noFill/>
            <a:miter lim="800000"/>
            <a:headEnd/>
            <a:tailEnd/>
          </a:ln>
        </p:spPr>
        <p:txBody>
          <a:bodyPr>
            <a:spAutoFit/>
          </a:bodyPr>
          <a:lstStyle/>
          <a:p>
            <a:pPr>
              <a:spcBef>
                <a:spcPct val="50000"/>
              </a:spcBef>
            </a:pPr>
            <a:r>
              <a:rPr kumimoji="0" lang="en-US" altLang="zh-TW" b="1" i="1" u="sng" dirty="0">
                <a:latin typeface="Times New Roman" pitchFamily="18" charset="0"/>
                <a:cs typeface="Times New Roman" pitchFamily="18" charset="0"/>
              </a:rPr>
              <a:t>Initial Condition:</a:t>
            </a:r>
          </a:p>
        </p:txBody>
      </p:sp>
      <p:sp>
        <p:nvSpPr>
          <p:cNvPr id="135" name="文字方塊 134">
            <a:extLst>
              <a:ext uri="{FF2B5EF4-FFF2-40B4-BE49-F238E27FC236}">
                <a16:creationId xmlns:a16="http://schemas.microsoft.com/office/drawing/2014/main" id="{939A596A-E0FD-4446-BD26-B969D9CB6205}"/>
              </a:ext>
            </a:extLst>
          </p:cNvPr>
          <p:cNvSpPr txBox="1"/>
          <p:nvPr/>
        </p:nvSpPr>
        <p:spPr>
          <a:xfrm>
            <a:off x="1381890" y="1275359"/>
            <a:ext cx="2448272" cy="1023165"/>
          </a:xfrm>
          <a:prstGeom prst="rect">
            <a:avLst/>
          </a:prstGeom>
          <a:noFill/>
        </p:spPr>
        <p:txBody>
          <a:bodyPr wrap="square" rtlCol="0">
            <a:spAutoFit/>
          </a:bodyPr>
          <a:lstStyle/>
          <a:p>
            <a:pPr>
              <a:lnSpc>
                <a:spcPct val="150000"/>
              </a:lnSpc>
            </a:pPr>
            <a:r>
              <a:rPr lang="en-US" altLang="zh-TW" sz="1400" i="1" dirty="0">
                <a:latin typeface="Times New Roman" pitchFamily="18" charset="0"/>
                <a:cs typeface="Times New Roman" pitchFamily="18" charset="0"/>
              </a:rPr>
              <a:t>N=Block Number</a:t>
            </a:r>
          </a:p>
          <a:p>
            <a:pPr>
              <a:lnSpc>
                <a:spcPct val="150000"/>
              </a:lnSpc>
            </a:pPr>
            <a:r>
              <a:rPr lang="en-US" altLang="zh-TW" sz="1400" i="1" dirty="0">
                <a:latin typeface="Times New Roman" pitchFamily="18" charset="0"/>
                <a:cs typeface="Times New Roman" pitchFamily="18" charset="0"/>
              </a:rPr>
              <a:t>T=Annealing Temperature</a:t>
            </a:r>
          </a:p>
          <a:p>
            <a:pPr>
              <a:lnSpc>
                <a:spcPct val="150000"/>
              </a:lnSpc>
            </a:pPr>
            <a:r>
              <a:rPr lang="en-US" altLang="zh-TW" sz="1400" i="1" dirty="0">
                <a:latin typeface="Times New Roman" pitchFamily="18" charset="0"/>
                <a:cs typeface="Times New Roman" pitchFamily="18" charset="0"/>
              </a:rPr>
              <a:t>Tre=Reduction Factor for T</a:t>
            </a:r>
          </a:p>
        </p:txBody>
      </p:sp>
      <p:sp>
        <p:nvSpPr>
          <p:cNvPr id="3" name="投影片編號版面配置區 2">
            <a:extLst>
              <a:ext uri="{FF2B5EF4-FFF2-40B4-BE49-F238E27FC236}">
                <a16:creationId xmlns:a16="http://schemas.microsoft.com/office/drawing/2014/main" id="{A63A8A5E-C176-465E-BB2F-49745495FBC7}"/>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17</a:t>
            </a:fld>
            <a:endParaRPr lang="zh-TW" altLang="en-US" dirty="0"/>
          </a:p>
        </p:txBody>
      </p:sp>
      <p:sp>
        <p:nvSpPr>
          <p:cNvPr id="4" name="矩形 3">
            <a:extLst>
              <a:ext uri="{FF2B5EF4-FFF2-40B4-BE49-F238E27FC236}">
                <a16:creationId xmlns:a16="http://schemas.microsoft.com/office/drawing/2014/main" id="{1AD6F3BF-3D44-4950-8661-EB3AF4C6C5DC}"/>
              </a:ext>
            </a:extLst>
          </p:cNvPr>
          <p:cNvSpPr/>
          <p:nvPr/>
        </p:nvSpPr>
        <p:spPr>
          <a:xfrm>
            <a:off x="5102942" y="2720397"/>
            <a:ext cx="6832253" cy="41376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9" name="圖片 78">
            <a:extLst>
              <a:ext uri="{FF2B5EF4-FFF2-40B4-BE49-F238E27FC236}">
                <a16:creationId xmlns:a16="http://schemas.microsoft.com/office/drawing/2014/main" id="{C7F01EA5-E175-4005-AAF5-765FA955B901}"/>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203561" y="3859244"/>
            <a:ext cx="3623310" cy="2985135"/>
          </a:xfrm>
          <a:prstGeom prst="rect">
            <a:avLst/>
          </a:prstGeom>
          <a:noFill/>
        </p:spPr>
      </p:pic>
      <p:pic>
        <p:nvPicPr>
          <p:cNvPr id="80" name="圖片 79">
            <a:extLst>
              <a:ext uri="{FF2B5EF4-FFF2-40B4-BE49-F238E27FC236}">
                <a16:creationId xmlns:a16="http://schemas.microsoft.com/office/drawing/2014/main" id="{F1CC6222-E3A4-4E3B-B2FB-F29E95D815D4}"/>
              </a:ext>
            </a:extLst>
          </p:cNvPr>
          <p:cNvPicPr>
            <a:picLocks noChangeAspect="1"/>
          </p:cNvPicPr>
          <p:nvPr/>
        </p:nvPicPr>
        <p:blipFill>
          <a:blip r:embed="rId5"/>
          <a:stretch>
            <a:fillRect/>
          </a:stretch>
        </p:blipFill>
        <p:spPr>
          <a:xfrm>
            <a:off x="1278238" y="2430336"/>
            <a:ext cx="4841317" cy="1280685"/>
          </a:xfrm>
          <a:prstGeom prst="rect">
            <a:avLst/>
          </a:prstGeom>
        </p:spPr>
      </p:pic>
    </p:spTree>
    <p:extLst>
      <p:ext uri="{BB962C8B-B14F-4D97-AF65-F5344CB8AC3E}">
        <p14:creationId xmlns:p14="http://schemas.microsoft.com/office/powerpoint/2010/main" val="11397276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63668" y="821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Simulated Annealing Method (SA)</a:t>
            </a:r>
            <a:endParaRPr lang="zh-TW" altLang="en-US" sz="2800" b="1" dirty="0">
              <a:latin typeface="Times New Roman" panose="02020603050405020304" pitchFamily="18" charset="0"/>
              <a:cs typeface="Times New Roman" panose="02020603050405020304" pitchFamily="18" charset="0"/>
            </a:endParaRPr>
          </a:p>
        </p:txBody>
      </p:sp>
      <p:grpSp>
        <p:nvGrpSpPr>
          <p:cNvPr id="6" name="群組 5">
            <a:extLst>
              <a:ext uri="{FF2B5EF4-FFF2-40B4-BE49-F238E27FC236}">
                <a16:creationId xmlns:a16="http://schemas.microsoft.com/office/drawing/2014/main" id="{E751ABAE-5F3F-4111-BBAD-E1D54E8BB97E}"/>
              </a:ext>
            </a:extLst>
          </p:cNvPr>
          <p:cNvGrpSpPr/>
          <p:nvPr/>
        </p:nvGrpSpPr>
        <p:grpSpPr>
          <a:xfrm>
            <a:off x="5284515" y="1089458"/>
            <a:ext cx="6809159" cy="5616466"/>
            <a:chOff x="0" y="72043"/>
            <a:chExt cx="4463043" cy="4933799"/>
          </a:xfrm>
        </p:grpSpPr>
        <p:grpSp>
          <p:nvGrpSpPr>
            <p:cNvPr id="7" name="群組 6">
              <a:extLst>
                <a:ext uri="{FF2B5EF4-FFF2-40B4-BE49-F238E27FC236}">
                  <a16:creationId xmlns:a16="http://schemas.microsoft.com/office/drawing/2014/main" id="{9AA4C8B9-31DD-451C-9425-FCE4AB435069}"/>
                </a:ext>
              </a:extLst>
            </p:cNvPr>
            <p:cNvGrpSpPr/>
            <p:nvPr/>
          </p:nvGrpSpPr>
          <p:grpSpPr>
            <a:xfrm>
              <a:off x="222531" y="76171"/>
              <a:ext cx="4240512" cy="4929671"/>
              <a:chOff x="39651" y="76171"/>
              <a:chExt cx="4240512" cy="4929671"/>
            </a:xfrm>
          </p:grpSpPr>
          <p:cxnSp>
            <p:nvCxnSpPr>
              <p:cNvPr id="59" name="直線單箭頭接點 141">
                <a:extLst>
                  <a:ext uri="{FF2B5EF4-FFF2-40B4-BE49-F238E27FC236}">
                    <a16:creationId xmlns:a16="http://schemas.microsoft.com/office/drawing/2014/main" id="{CF068A29-0E86-4D5A-B988-54B5FE74622E}"/>
                  </a:ext>
                </a:extLst>
              </p:cNvPr>
              <p:cNvCxnSpPr/>
              <p:nvPr/>
            </p:nvCxnSpPr>
            <p:spPr>
              <a:xfrm rot="5400000" flipH="1">
                <a:off x="2336806" y="1061748"/>
                <a:ext cx="111501" cy="1418339"/>
              </a:xfrm>
              <a:prstGeom prst="bentConnector3">
                <a:avLst>
                  <a:gd name="adj1" fmla="val 99919"/>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接點: 肘形 59">
                <a:extLst>
                  <a:ext uri="{FF2B5EF4-FFF2-40B4-BE49-F238E27FC236}">
                    <a16:creationId xmlns:a16="http://schemas.microsoft.com/office/drawing/2014/main" id="{9688A03F-2A99-4DDE-B07B-2EB1FF251C1B}"/>
                  </a:ext>
                </a:extLst>
              </p:cNvPr>
              <p:cNvCxnSpPr/>
              <p:nvPr/>
            </p:nvCxnSpPr>
            <p:spPr>
              <a:xfrm>
                <a:off x="2266305" y="1720312"/>
                <a:ext cx="200167" cy="774838"/>
              </a:xfrm>
              <a:prstGeom prst="bentConnector3">
                <a:avLst>
                  <a:gd name="adj1" fmla="val -355"/>
                </a:avLst>
              </a:prstGeom>
            </p:spPr>
            <p:style>
              <a:lnRef idx="2">
                <a:schemeClr val="dk1"/>
              </a:lnRef>
              <a:fillRef idx="0">
                <a:schemeClr val="dk1"/>
              </a:fillRef>
              <a:effectRef idx="1">
                <a:schemeClr val="dk1"/>
              </a:effectRef>
              <a:fontRef idx="minor">
                <a:schemeClr val="tx1"/>
              </a:fontRef>
            </p:style>
          </p:cxnSp>
          <p:sp>
            <p:nvSpPr>
              <p:cNvPr id="61" name="文字方塊 2">
                <a:extLst>
                  <a:ext uri="{FF2B5EF4-FFF2-40B4-BE49-F238E27FC236}">
                    <a16:creationId xmlns:a16="http://schemas.microsoft.com/office/drawing/2014/main" id="{7516B9F6-C522-4307-B967-DE9E5348FE0E}"/>
                  </a:ext>
                </a:extLst>
              </p:cNvPr>
              <p:cNvSpPr txBox="1">
                <a:spLocks noChangeArrowheads="1"/>
              </p:cNvSpPr>
              <p:nvPr/>
            </p:nvSpPr>
            <p:spPr bwMode="auto">
              <a:xfrm>
                <a:off x="1342079" y="76171"/>
                <a:ext cx="559581" cy="294933"/>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start</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2" name="文字方塊 2">
                <a:extLst>
                  <a:ext uri="{FF2B5EF4-FFF2-40B4-BE49-F238E27FC236}">
                    <a16:creationId xmlns:a16="http://schemas.microsoft.com/office/drawing/2014/main" id="{61253B2D-AEC4-4CD4-BA8C-F1A2763CAA2D}"/>
                  </a:ext>
                </a:extLst>
              </p:cNvPr>
              <p:cNvSpPr txBox="1">
                <a:spLocks noChangeArrowheads="1"/>
              </p:cNvSpPr>
              <p:nvPr/>
            </p:nvSpPr>
            <p:spPr bwMode="auto">
              <a:xfrm>
                <a:off x="1135078" y="407643"/>
                <a:ext cx="934687" cy="294933"/>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err="1">
                    <a:effectLst/>
                    <a:latin typeface="Calibri" panose="020F0502020204030204" pitchFamily="34" charset="0"/>
                    <a:ea typeface="新細明體" panose="02020500000000000000" pitchFamily="18" charset="-120"/>
                    <a:cs typeface="Times New Roman" panose="02020603050405020304" pitchFamily="18" charset="0"/>
                  </a:rPr>
                  <a:t>Intitial</a:t>
                </a: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 Condition</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3" name="文字方塊 2">
                <a:extLst>
                  <a:ext uri="{FF2B5EF4-FFF2-40B4-BE49-F238E27FC236}">
                    <a16:creationId xmlns:a16="http://schemas.microsoft.com/office/drawing/2014/main" id="{73F36D2D-F6B9-440E-97B4-2D2F20A8C6CC}"/>
                  </a:ext>
                </a:extLst>
              </p:cNvPr>
              <p:cNvSpPr txBox="1">
                <a:spLocks noChangeArrowheads="1"/>
              </p:cNvSpPr>
              <p:nvPr/>
            </p:nvSpPr>
            <p:spPr bwMode="auto">
              <a:xfrm>
                <a:off x="1049814" y="699990"/>
                <a:ext cx="1478478"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Domain(j)=-1, for all 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4" name="文字方塊 2">
                <a:extLst>
                  <a:ext uri="{FF2B5EF4-FFF2-40B4-BE49-F238E27FC236}">
                    <a16:creationId xmlns:a16="http://schemas.microsoft.com/office/drawing/2014/main" id="{8E691769-29B5-42B2-B5BF-B61E4DA69E30}"/>
                  </a:ext>
                </a:extLst>
              </p:cNvPr>
              <p:cNvSpPr txBox="1">
                <a:spLocks noChangeArrowheads="1"/>
              </p:cNvSpPr>
              <p:nvPr/>
            </p:nvSpPr>
            <p:spPr bwMode="auto">
              <a:xfrm>
                <a:off x="1146151" y="990174"/>
                <a:ext cx="1478478"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 j=0</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5" name="文字方塊 2">
                <a:extLst>
                  <a:ext uri="{FF2B5EF4-FFF2-40B4-BE49-F238E27FC236}">
                    <a16:creationId xmlns:a16="http://schemas.microsoft.com/office/drawing/2014/main" id="{085C3149-7DF6-4EDF-9F18-ACC0AE0A6B24}"/>
                  </a:ext>
                </a:extLst>
              </p:cNvPr>
              <p:cNvSpPr txBox="1">
                <a:spLocks noChangeArrowheads="1"/>
              </p:cNvSpPr>
              <p:nvPr/>
            </p:nvSpPr>
            <p:spPr bwMode="auto">
              <a:xfrm>
                <a:off x="683838" y="1308663"/>
                <a:ext cx="2707574"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Objective Function(Ob) Calculation, Ob(0)</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6" name="文字方塊 2">
                <a:extLst>
                  <a:ext uri="{FF2B5EF4-FFF2-40B4-BE49-F238E27FC236}">
                    <a16:creationId xmlns:a16="http://schemas.microsoft.com/office/drawing/2014/main" id="{21E72962-C2C8-4C9A-AB51-9E8EFAA5BA38}"/>
                  </a:ext>
                </a:extLst>
              </p:cNvPr>
              <p:cNvSpPr txBox="1">
                <a:spLocks noChangeArrowheads="1"/>
              </p:cNvSpPr>
              <p:nvPr/>
            </p:nvSpPr>
            <p:spPr bwMode="auto">
              <a:xfrm>
                <a:off x="1340296" y="1614923"/>
                <a:ext cx="504190"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J=j+1</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7" name="文字方塊 2">
                <a:extLst>
                  <a:ext uri="{FF2B5EF4-FFF2-40B4-BE49-F238E27FC236}">
                    <a16:creationId xmlns:a16="http://schemas.microsoft.com/office/drawing/2014/main" id="{3787A6C6-B139-48AE-9EB3-012BD6E74ECB}"/>
                  </a:ext>
                </a:extLst>
              </p:cNvPr>
              <p:cNvSpPr txBox="1">
                <a:spLocks noChangeArrowheads="1"/>
              </p:cNvSpPr>
              <p:nvPr/>
            </p:nvSpPr>
            <p:spPr bwMode="auto">
              <a:xfrm>
                <a:off x="1029432" y="2389348"/>
                <a:ext cx="1727860"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Domain(j)=-domain(j)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8" name="文字方塊 2">
                <a:extLst>
                  <a:ext uri="{FF2B5EF4-FFF2-40B4-BE49-F238E27FC236}">
                    <a16:creationId xmlns:a16="http://schemas.microsoft.com/office/drawing/2014/main" id="{8BDBA1DA-92D2-446A-9419-A1BBA1748D0D}"/>
                  </a:ext>
                </a:extLst>
              </p:cNvPr>
              <p:cNvSpPr txBox="1">
                <a:spLocks noChangeArrowheads="1"/>
              </p:cNvSpPr>
              <p:nvPr/>
            </p:nvSpPr>
            <p:spPr bwMode="auto">
              <a:xfrm>
                <a:off x="1366931" y="3288081"/>
                <a:ext cx="500945"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j&gt;N</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9" name="文字方塊 2">
                <a:extLst>
                  <a:ext uri="{FF2B5EF4-FFF2-40B4-BE49-F238E27FC236}">
                    <a16:creationId xmlns:a16="http://schemas.microsoft.com/office/drawing/2014/main" id="{22ABD185-D787-4A8F-AF2E-AC90FD40F76F}"/>
                  </a:ext>
                </a:extLst>
              </p:cNvPr>
              <p:cNvSpPr txBox="1">
                <a:spLocks noChangeArrowheads="1"/>
              </p:cNvSpPr>
              <p:nvPr/>
            </p:nvSpPr>
            <p:spPr bwMode="auto">
              <a:xfrm>
                <a:off x="196424" y="2968099"/>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J=1</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0" name="文字方塊 2">
                <a:extLst>
                  <a:ext uri="{FF2B5EF4-FFF2-40B4-BE49-F238E27FC236}">
                    <a16:creationId xmlns:a16="http://schemas.microsoft.com/office/drawing/2014/main" id="{8543219C-8532-45F0-B97F-56AFA9BFEA0E}"/>
                  </a:ext>
                </a:extLst>
              </p:cNvPr>
              <p:cNvSpPr txBox="1">
                <a:spLocks noChangeArrowheads="1"/>
              </p:cNvSpPr>
              <p:nvPr/>
            </p:nvSpPr>
            <p:spPr bwMode="auto">
              <a:xfrm>
                <a:off x="961432" y="3782095"/>
                <a:ext cx="1402525"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Does any domain change?</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2" name="文字方塊 2">
                <a:extLst>
                  <a:ext uri="{FF2B5EF4-FFF2-40B4-BE49-F238E27FC236}">
                    <a16:creationId xmlns:a16="http://schemas.microsoft.com/office/drawing/2014/main" id="{39E43755-B1CA-4589-B15E-841EEF56C837}"/>
                  </a:ext>
                </a:extLst>
              </p:cNvPr>
              <p:cNvSpPr txBox="1">
                <a:spLocks noChangeArrowheads="1"/>
              </p:cNvSpPr>
              <p:nvPr/>
            </p:nvSpPr>
            <p:spPr bwMode="auto">
              <a:xfrm>
                <a:off x="39651" y="3262740"/>
                <a:ext cx="1246909"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Ob(0)=Ob(j)</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3" name="文字方塊 2">
                    <a:extLst>
                      <a:ext uri="{FF2B5EF4-FFF2-40B4-BE49-F238E27FC236}">
                        <a16:creationId xmlns:a16="http://schemas.microsoft.com/office/drawing/2014/main" id="{EBCA4B7F-7D03-411E-AA5B-9A3363D18C17}"/>
                      </a:ext>
                    </a:extLst>
                  </p:cNvPr>
                  <p:cNvSpPr txBox="1">
                    <a:spLocks noChangeArrowheads="1"/>
                  </p:cNvSpPr>
                  <p:nvPr/>
                </p:nvSpPr>
                <p:spPr bwMode="auto">
                  <a:xfrm>
                    <a:off x="92346" y="3792845"/>
                    <a:ext cx="1246909"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T=T</a:t>
                    </a:r>
                    <a14:m>
                      <m:oMath xmlns:m="http://schemas.openxmlformats.org/officeDocument/2006/math">
                        <m:r>
                          <a:rPr lang="en-US" sz="1050" b="1"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kern="100">
                            <a:effectLst/>
                            <a:latin typeface="Cambria Math" panose="02040503050406030204" pitchFamily="18" charset="0"/>
                            <a:ea typeface="新細明體" panose="02020500000000000000" pitchFamily="18" charset="-120"/>
                            <a:cs typeface="Times New Roman" panose="02020603050405020304" pitchFamily="18" charset="0"/>
                          </a:rPr>
                          <m:t>𝑻𝒓𝒆</m:t>
                        </m:r>
                      </m:oMath>
                    </a14:m>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73" name="文字方塊 2">
                    <a:extLst>
                      <a:ext uri="{FF2B5EF4-FFF2-40B4-BE49-F238E27FC236}">
                        <a16:creationId xmlns:a16="http://schemas.microsoft.com/office/drawing/2014/main" id="{EBCA4B7F-7D03-411E-AA5B-9A3363D18C17}"/>
                      </a:ext>
                    </a:extLst>
                  </p:cNvPr>
                  <p:cNvSpPr txBox="1">
                    <a:spLocks noRot="1" noChangeAspect="1" noMove="1" noResize="1" noEditPoints="1" noAdjustHandles="1" noChangeArrowheads="1" noChangeShapeType="1" noTextEdit="1"/>
                  </p:cNvSpPr>
                  <p:nvPr/>
                </p:nvSpPr>
                <p:spPr bwMode="auto">
                  <a:xfrm>
                    <a:off x="92346" y="3792845"/>
                    <a:ext cx="1246909" cy="294640"/>
                  </a:xfrm>
                  <a:prstGeom prst="rect">
                    <a:avLst/>
                  </a:prstGeom>
                  <a:blipFill>
                    <a:blip r:embed="rId2"/>
                    <a:stretch>
                      <a:fillRect/>
                    </a:stretch>
                  </a:blipFill>
                  <a:ln w="9525">
                    <a:noFill/>
                    <a:miter lim="800000"/>
                    <a:headEnd/>
                    <a:tailEnd/>
                  </a:ln>
                </p:spPr>
                <p:txBody>
                  <a:bodyPr/>
                  <a:lstStyle/>
                  <a:p>
                    <a:r>
                      <a:rPr lang="zh-TW" altLang="en-US">
                        <a:noFill/>
                      </a:rPr>
                      <a:t> </a:t>
                    </a:r>
                  </a:p>
                </p:txBody>
              </p:sp>
            </mc:Fallback>
          </mc:AlternateContent>
          <p:sp>
            <p:nvSpPr>
              <p:cNvPr id="74" name="文字方塊 2">
                <a:extLst>
                  <a:ext uri="{FF2B5EF4-FFF2-40B4-BE49-F238E27FC236}">
                    <a16:creationId xmlns:a16="http://schemas.microsoft.com/office/drawing/2014/main" id="{6E5847B9-34D9-4E3D-AFE5-0034080A3324}"/>
                  </a:ext>
                </a:extLst>
              </p:cNvPr>
              <p:cNvSpPr txBox="1">
                <a:spLocks noChangeArrowheads="1"/>
              </p:cNvSpPr>
              <p:nvPr/>
            </p:nvSpPr>
            <p:spPr bwMode="auto">
              <a:xfrm>
                <a:off x="1347528" y="4711202"/>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End</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5" name="文字方塊 2">
                <a:extLst>
                  <a:ext uri="{FF2B5EF4-FFF2-40B4-BE49-F238E27FC236}">
                    <a16:creationId xmlns:a16="http://schemas.microsoft.com/office/drawing/2014/main" id="{8D3BA051-F449-4344-AFC3-DFE558C71418}"/>
                  </a:ext>
                </a:extLst>
              </p:cNvPr>
              <p:cNvSpPr txBox="1">
                <a:spLocks noChangeArrowheads="1"/>
              </p:cNvSpPr>
              <p:nvPr/>
            </p:nvSpPr>
            <p:spPr bwMode="auto">
              <a:xfrm>
                <a:off x="2652007" y="1824683"/>
                <a:ext cx="114003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Domain(j)=-domain(j)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6" name="文字方塊 2">
                <a:extLst>
                  <a:ext uri="{FF2B5EF4-FFF2-40B4-BE49-F238E27FC236}">
                    <a16:creationId xmlns:a16="http://schemas.microsoft.com/office/drawing/2014/main" id="{2504BFFE-4317-4A24-A565-34E169F21C51}"/>
                  </a:ext>
                </a:extLst>
              </p:cNvPr>
              <p:cNvSpPr txBox="1">
                <a:spLocks noChangeArrowheads="1"/>
              </p:cNvSpPr>
              <p:nvPr/>
            </p:nvSpPr>
            <p:spPr bwMode="auto">
              <a:xfrm>
                <a:off x="2849187" y="2335048"/>
                <a:ext cx="1430976" cy="320040"/>
              </a:xfrm>
              <a:prstGeom prst="rect">
                <a:avLst/>
              </a:prstGeom>
              <a:noFill/>
              <a:ln w="9525">
                <a:noFill/>
                <a:miter lim="800000"/>
                <a:headEnd/>
                <a:tailEnd/>
              </a:ln>
            </p:spPr>
            <p:txBody>
              <a:bodyPr rot="0" vert="horz" wrap="square" lIns="91440" tIns="45720" rIns="91440" bIns="45720" anchor="t" anchorCtr="0">
                <a:noAutofit/>
              </a:bodyPr>
              <a:lstStyle/>
              <a:p>
                <a:pPr marL="228600">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or</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7" name="文字方塊 2">
                <a:extLst>
                  <a:ext uri="{FF2B5EF4-FFF2-40B4-BE49-F238E27FC236}">
                    <a16:creationId xmlns:a16="http://schemas.microsoft.com/office/drawing/2014/main" id="{2E6366E2-D312-4DFD-93A0-EAC98B989308}"/>
                  </a:ext>
                </a:extLst>
              </p:cNvPr>
              <p:cNvSpPr txBox="1">
                <a:spLocks noChangeArrowheads="1"/>
              </p:cNvSpPr>
              <p:nvPr/>
            </p:nvSpPr>
            <p:spPr bwMode="auto">
              <a:xfrm>
                <a:off x="2742773" y="2968431"/>
                <a:ext cx="1430976" cy="3200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Cp=Ob(j)-Ob(j-1)</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8" name="文字方塊 2">
                <a:extLst>
                  <a:ext uri="{FF2B5EF4-FFF2-40B4-BE49-F238E27FC236}">
                    <a16:creationId xmlns:a16="http://schemas.microsoft.com/office/drawing/2014/main" id="{1A42DF36-81E4-4767-BCAF-F518EDE42DCE}"/>
                  </a:ext>
                </a:extLst>
              </p:cNvPr>
              <p:cNvSpPr txBox="1">
                <a:spLocks noChangeArrowheads="1"/>
              </p:cNvSpPr>
              <p:nvPr/>
            </p:nvSpPr>
            <p:spPr bwMode="auto">
              <a:xfrm>
                <a:off x="2285584" y="3262184"/>
                <a:ext cx="1973260" cy="3200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Objective Function(Ob) Calculation, Ob(j)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nvGrpSpPr>
            <p:cNvPr id="8" name="群組 7">
              <a:extLst>
                <a:ext uri="{FF2B5EF4-FFF2-40B4-BE49-F238E27FC236}">
                  <a16:creationId xmlns:a16="http://schemas.microsoft.com/office/drawing/2014/main" id="{90D76031-B84D-477E-986F-D830D333B34F}"/>
                </a:ext>
              </a:extLst>
            </p:cNvPr>
            <p:cNvGrpSpPr/>
            <p:nvPr/>
          </p:nvGrpSpPr>
          <p:grpSpPr>
            <a:xfrm>
              <a:off x="0" y="72043"/>
              <a:ext cx="4152158" cy="4870978"/>
              <a:chOff x="0" y="0"/>
              <a:chExt cx="4152158" cy="4870978"/>
            </a:xfrm>
          </p:grpSpPr>
          <p:grpSp>
            <p:nvGrpSpPr>
              <p:cNvPr id="9" name="群組 8">
                <a:extLst>
                  <a:ext uri="{FF2B5EF4-FFF2-40B4-BE49-F238E27FC236}">
                    <a16:creationId xmlns:a16="http://schemas.microsoft.com/office/drawing/2014/main" id="{75A21F52-1E1C-4979-8FF6-2920393347B4}"/>
                  </a:ext>
                </a:extLst>
              </p:cNvPr>
              <p:cNvGrpSpPr/>
              <p:nvPr/>
            </p:nvGrpSpPr>
            <p:grpSpPr>
              <a:xfrm>
                <a:off x="1647859" y="1938152"/>
                <a:ext cx="1605869" cy="2701008"/>
                <a:chOff x="703771" y="0"/>
                <a:chExt cx="1605869" cy="2701008"/>
              </a:xfrm>
            </p:grpSpPr>
            <p:cxnSp>
              <p:nvCxnSpPr>
                <p:cNvPr id="52" name="直線單箭頭接點 51">
                  <a:extLst>
                    <a:ext uri="{FF2B5EF4-FFF2-40B4-BE49-F238E27FC236}">
                      <a16:creationId xmlns:a16="http://schemas.microsoft.com/office/drawing/2014/main" id="{20C4C601-934B-422C-9CE4-55535AE4971F}"/>
                    </a:ext>
                  </a:extLst>
                </p:cNvPr>
                <p:cNvCxnSpPr/>
                <p:nvPr/>
              </p:nvCxnSpPr>
              <p:spPr>
                <a:xfrm>
                  <a:off x="723211" y="1581379"/>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3" name="直線單箭頭接點 52">
                  <a:extLst>
                    <a:ext uri="{FF2B5EF4-FFF2-40B4-BE49-F238E27FC236}">
                      <a16:creationId xmlns:a16="http://schemas.microsoft.com/office/drawing/2014/main" id="{B94E98C7-1691-4DAC-BA3B-25B4D535DADE}"/>
                    </a:ext>
                  </a:extLst>
                </p:cNvPr>
                <p:cNvCxnSpPr>
                  <a:endCxn id="28" idx="0"/>
                </p:cNvCxnSpPr>
                <p:nvPr/>
              </p:nvCxnSpPr>
              <p:spPr>
                <a:xfrm>
                  <a:off x="723211" y="2088155"/>
                  <a:ext cx="3771" cy="61285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5" name="直線單箭頭接點 54">
                  <a:extLst>
                    <a:ext uri="{FF2B5EF4-FFF2-40B4-BE49-F238E27FC236}">
                      <a16:creationId xmlns:a16="http://schemas.microsoft.com/office/drawing/2014/main" id="{6A5CE208-BDBE-41EC-B927-B2F75801732B}"/>
                    </a:ext>
                  </a:extLst>
                </p:cNvPr>
                <p:cNvCxnSpPr/>
                <p:nvPr/>
              </p:nvCxnSpPr>
              <p:spPr>
                <a:xfrm>
                  <a:off x="1002535" y="1382157"/>
                  <a:ext cx="424288"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6" name="直線單箭頭接點 55">
                  <a:extLst>
                    <a:ext uri="{FF2B5EF4-FFF2-40B4-BE49-F238E27FC236}">
                      <a16:creationId xmlns:a16="http://schemas.microsoft.com/office/drawing/2014/main" id="{8C0FBB72-99DB-4939-B339-1DD7157984F5}"/>
                    </a:ext>
                  </a:extLst>
                </p:cNvPr>
                <p:cNvCxnSpPr/>
                <p:nvPr/>
              </p:nvCxnSpPr>
              <p:spPr>
                <a:xfrm flipV="1">
                  <a:off x="2309640" y="0"/>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7" name="文字方塊 2">
                  <a:extLst>
                    <a:ext uri="{FF2B5EF4-FFF2-40B4-BE49-F238E27FC236}">
                      <a16:creationId xmlns:a16="http://schemas.microsoft.com/office/drawing/2014/main" id="{5C23EDFF-A3D0-488E-9A64-803942D932C6}"/>
                    </a:ext>
                  </a:extLst>
                </p:cNvPr>
                <p:cNvSpPr txBox="1">
                  <a:spLocks noChangeArrowheads="1"/>
                </p:cNvSpPr>
                <p:nvPr/>
              </p:nvSpPr>
              <p:spPr bwMode="auto">
                <a:xfrm>
                  <a:off x="703771" y="2213532"/>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no</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nvGrpSpPr>
              <p:cNvPr id="10" name="群組 9">
                <a:extLst>
                  <a:ext uri="{FF2B5EF4-FFF2-40B4-BE49-F238E27FC236}">
                    <a16:creationId xmlns:a16="http://schemas.microsoft.com/office/drawing/2014/main" id="{B54AFF03-18AD-4704-922C-5FEF8335F5CA}"/>
                  </a:ext>
                </a:extLst>
              </p:cNvPr>
              <p:cNvGrpSpPr/>
              <p:nvPr/>
            </p:nvGrpSpPr>
            <p:grpSpPr>
              <a:xfrm>
                <a:off x="0" y="0"/>
                <a:ext cx="4152158" cy="4870978"/>
                <a:chOff x="0" y="0"/>
                <a:chExt cx="4152158" cy="4870978"/>
              </a:xfrm>
            </p:grpSpPr>
            <p:sp>
              <p:nvSpPr>
                <p:cNvPr id="11" name="橢圓 10">
                  <a:extLst>
                    <a:ext uri="{FF2B5EF4-FFF2-40B4-BE49-F238E27FC236}">
                      <a16:creationId xmlns:a16="http://schemas.microsoft.com/office/drawing/2014/main" id="{F0F3DC9A-9C42-4BF1-8E0A-74E35ABDF141}"/>
                    </a:ext>
                  </a:extLst>
                </p:cNvPr>
                <p:cNvSpPr/>
                <p:nvPr/>
              </p:nvSpPr>
              <p:spPr>
                <a:xfrm>
                  <a:off x="1389681" y="0"/>
                  <a:ext cx="573110" cy="2318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2" name="矩形: 圓角 11">
                  <a:extLst>
                    <a:ext uri="{FF2B5EF4-FFF2-40B4-BE49-F238E27FC236}">
                      <a16:creationId xmlns:a16="http://schemas.microsoft.com/office/drawing/2014/main" id="{8F8D8572-F955-44C5-93A9-21500111F6DF}"/>
                    </a:ext>
                  </a:extLst>
                </p:cNvPr>
                <p:cNvSpPr/>
                <p:nvPr/>
              </p:nvSpPr>
              <p:spPr>
                <a:xfrm>
                  <a:off x="1250197" y="361627"/>
                  <a:ext cx="836930" cy="16031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spcAft>
                      <a:spcPts val="0"/>
                    </a:spcAft>
                  </a:pPr>
                  <a:endParaRPr lang="zh-TW" sz="1050" kern="100" dirty="0">
                    <a:effectLst/>
                    <a:ea typeface="新細明體" panose="02020500000000000000" pitchFamily="18" charset="-120"/>
                    <a:cs typeface="Times New Roman" panose="02020603050405020304" pitchFamily="18" charset="0"/>
                  </a:endParaRPr>
                </a:p>
              </p:txBody>
            </p:sp>
            <p:sp>
              <p:nvSpPr>
                <p:cNvPr id="13" name="矩形: 圓角 12">
                  <a:extLst>
                    <a:ext uri="{FF2B5EF4-FFF2-40B4-BE49-F238E27FC236}">
                      <a16:creationId xmlns:a16="http://schemas.microsoft.com/office/drawing/2014/main" id="{A6A23C3D-2BA4-42EE-9881-70C6F666F1B8}"/>
                    </a:ext>
                  </a:extLst>
                </p:cNvPr>
                <p:cNvSpPr/>
                <p:nvPr/>
              </p:nvSpPr>
              <p:spPr>
                <a:xfrm>
                  <a:off x="1141708" y="656095"/>
                  <a:ext cx="1067435" cy="17068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4" name="矩形: 圓角 13">
                  <a:extLst>
                    <a:ext uri="{FF2B5EF4-FFF2-40B4-BE49-F238E27FC236}">
                      <a16:creationId xmlns:a16="http://schemas.microsoft.com/office/drawing/2014/main" id="{6A546BCA-7DE0-4709-9997-92CBF06A9D6F}"/>
                    </a:ext>
                  </a:extLst>
                </p:cNvPr>
                <p:cNvSpPr/>
                <p:nvPr/>
              </p:nvSpPr>
              <p:spPr>
                <a:xfrm>
                  <a:off x="1245030" y="955729"/>
                  <a:ext cx="836930" cy="16294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5" name="矩形: 圓角 14">
                  <a:extLst>
                    <a:ext uri="{FF2B5EF4-FFF2-40B4-BE49-F238E27FC236}">
                      <a16:creationId xmlns:a16="http://schemas.microsoft.com/office/drawing/2014/main" id="{656CFF56-F9D1-4DE4-BE5C-94244B5644C2}"/>
                    </a:ext>
                  </a:extLst>
                </p:cNvPr>
                <p:cNvSpPr/>
                <p:nvPr/>
              </p:nvSpPr>
              <p:spPr>
                <a:xfrm>
                  <a:off x="780081" y="1260529"/>
                  <a:ext cx="1783080" cy="15443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6" name="矩形: 圓角 15">
                  <a:extLst>
                    <a:ext uri="{FF2B5EF4-FFF2-40B4-BE49-F238E27FC236}">
                      <a16:creationId xmlns:a16="http://schemas.microsoft.com/office/drawing/2014/main" id="{18AB0E48-51E6-41B1-BB20-4A221ED91508}"/>
                    </a:ext>
                  </a:extLst>
                </p:cNvPr>
                <p:cNvSpPr/>
                <p:nvPr/>
              </p:nvSpPr>
              <p:spPr>
                <a:xfrm>
                  <a:off x="1467173" y="1570495"/>
                  <a:ext cx="393700" cy="167005"/>
                </a:xfrm>
                <a:prstGeom prst="roundRect">
                  <a:avLst>
                    <a:gd name="adj" fmla="val 1656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7" name="矩形: 圓角 16">
                  <a:extLst>
                    <a:ext uri="{FF2B5EF4-FFF2-40B4-BE49-F238E27FC236}">
                      <a16:creationId xmlns:a16="http://schemas.microsoft.com/office/drawing/2014/main" id="{44570AB4-3271-43DA-90EF-098AF5834CB0}"/>
                    </a:ext>
                  </a:extLst>
                </p:cNvPr>
                <p:cNvSpPr/>
                <p:nvPr/>
              </p:nvSpPr>
              <p:spPr>
                <a:xfrm>
                  <a:off x="1119017" y="2350576"/>
                  <a:ext cx="1087568"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8" name="矩形: 圓角 17">
                  <a:extLst>
                    <a:ext uri="{FF2B5EF4-FFF2-40B4-BE49-F238E27FC236}">
                      <a16:creationId xmlns:a16="http://schemas.microsoft.com/office/drawing/2014/main" id="{8B0FD7FE-28E4-470A-8698-6BEBCA13D166}"/>
                    </a:ext>
                  </a:extLst>
                </p:cNvPr>
                <p:cNvSpPr/>
                <p:nvPr/>
              </p:nvSpPr>
              <p:spPr>
                <a:xfrm>
                  <a:off x="2712203" y="1766806"/>
                  <a:ext cx="1087568"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9" name="矩形: 圓角 18">
                  <a:extLst>
                    <a:ext uri="{FF2B5EF4-FFF2-40B4-BE49-F238E27FC236}">
                      <a16:creationId xmlns:a16="http://schemas.microsoft.com/office/drawing/2014/main" id="{C1E5BB3E-B98A-4A96-9E96-7E3B62A41ACD}"/>
                    </a:ext>
                  </a:extLst>
                </p:cNvPr>
                <p:cNvSpPr/>
                <p:nvPr/>
              </p:nvSpPr>
              <p:spPr>
                <a:xfrm>
                  <a:off x="2748366" y="2934345"/>
                  <a:ext cx="1054923"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0" name="矩形: 圓角 19">
                  <a:extLst>
                    <a:ext uri="{FF2B5EF4-FFF2-40B4-BE49-F238E27FC236}">
                      <a16:creationId xmlns:a16="http://schemas.microsoft.com/office/drawing/2014/main" id="{AE4438C7-2E52-4CDD-838C-C74BC4F8CD1B}"/>
                    </a:ext>
                  </a:extLst>
                </p:cNvPr>
                <p:cNvSpPr/>
                <p:nvPr/>
              </p:nvSpPr>
              <p:spPr>
                <a:xfrm>
                  <a:off x="2381573" y="3233979"/>
                  <a:ext cx="1770585" cy="160986"/>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1" name="矩形: 圓角 20">
                  <a:extLst>
                    <a:ext uri="{FF2B5EF4-FFF2-40B4-BE49-F238E27FC236}">
                      <a16:creationId xmlns:a16="http://schemas.microsoft.com/office/drawing/2014/main" id="{81FECF50-F3F0-49D0-9613-93E556D2FBCF}"/>
                    </a:ext>
                  </a:extLst>
                </p:cNvPr>
                <p:cNvSpPr/>
                <p:nvPr/>
              </p:nvSpPr>
              <p:spPr>
                <a:xfrm>
                  <a:off x="346129" y="2934345"/>
                  <a:ext cx="321658"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2" name="矩形: 圓角 21">
                  <a:extLst>
                    <a:ext uri="{FF2B5EF4-FFF2-40B4-BE49-F238E27FC236}">
                      <a16:creationId xmlns:a16="http://schemas.microsoft.com/office/drawing/2014/main" id="{6EB832CA-33FA-4875-9023-3E599728F8A0}"/>
                    </a:ext>
                  </a:extLst>
                </p:cNvPr>
                <p:cNvSpPr/>
                <p:nvPr/>
              </p:nvSpPr>
              <p:spPr>
                <a:xfrm>
                  <a:off x="0" y="3223647"/>
                  <a:ext cx="1054923" cy="16709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3" name="矩形: 圓角 22">
                  <a:extLst>
                    <a:ext uri="{FF2B5EF4-FFF2-40B4-BE49-F238E27FC236}">
                      <a16:creationId xmlns:a16="http://schemas.microsoft.com/office/drawing/2014/main" id="{BEBFCEF4-8FAC-4EAF-9AF2-176B17782C6D}"/>
                    </a:ext>
                  </a:extLst>
                </p:cNvPr>
                <p:cNvSpPr/>
                <p:nvPr/>
              </p:nvSpPr>
              <p:spPr>
                <a:xfrm>
                  <a:off x="193731" y="3744925"/>
                  <a:ext cx="669514"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4" name="流程圖: 決策 23">
                  <a:extLst>
                    <a:ext uri="{FF2B5EF4-FFF2-40B4-BE49-F238E27FC236}">
                      <a16:creationId xmlns:a16="http://schemas.microsoft.com/office/drawing/2014/main" id="{97786454-CD3E-4CD1-B25C-FC2F48E9ED97}"/>
                    </a:ext>
                  </a:extLst>
                </p:cNvPr>
                <p:cNvSpPr/>
                <p:nvPr/>
              </p:nvSpPr>
              <p:spPr>
                <a:xfrm>
                  <a:off x="1377909" y="3125133"/>
                  <a:ext cx="569541" cy="386080"/>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5" name="流程圖: 決策 24">
                  <a:extLst>
                    <a:ext uri="{FF2B5EF4-FFF2-40B4-BE49-F238E27FC236}">
                      <a16:creationId xmlns:a16="http://schemas.microsoft.com/office/drawing/2014/main" id="{4D31D40A-A971-47EA-829D-2C89F59BA1B2}"/>
                    </a:ext>
                  </a:extLst>
                </p:cNvPr>
                <p:cNvSpPr/>
                <p:nvPr/>
              </p:nvSpPr>
              <p:spPr>
                <a:xfrm>
                  <a:off x="978330" y="3635321"/>
                  <a:ext cx="1377412" cy="386634"/>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7" name="流程圖: 決策 26">
                  <a:extLst>
                    <a:ext uri="{FF2B5EF4-FFF2-40B4-BE49-F238E27FC236}">
                      <a16:creationId xmlns:a16="http://schemas.microsoft.com/office/drawing/2014/main" id="{B1E2F42F-8315-448D-891E-D8CAC5D4305C}"/>
                    </a:ext>
                  </a:extLst>
                </p:cNvPr>
                <p:cNvSpPr/>
                <p:nvPr/>
              </p:nvSpPr>
              <p:spPr>
                <a:xfrm>
                  <a:off x="2648596" y="2059660"/>
                  <a:ext cx="1240894" cy="746931"/>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8" name="橢圓 27">
                  <a:extLst>
                    <a:ext uri="{FF2B5EF4-FFF2-40B4-BE49-F238E27FC236}">
                      <a16:creationId xmlns:a16="http://schemas.microsoft.com/office/drawing/2014/main" id="{D532C4C6-8478-462D-ADAE-6163FEF84C45}"/>
                    </a:ext>
                  </a:extLst>
                </p:cNvPr>
                <p:cNvSpPr/>
                <p:nvPr/>
              </p:nvSpPr>
              <p:spPr>
                <a:xfrm>
                  <a:off x="1384515" y="4639159"/>
                  <a:ext cx="573110" cy="2318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cxnSp>
              <p:nvCxnSpPr>
                <p:cNvPr id="29" name="直線單箭頭接點 28">
                  <a:extLst>
                    <a:ext uri="{FF2B5EF4-FFF2-40B4-BE49-F238E27FC236}">
                      <a16:creationId xmlns:a16="http://schemas.microsoft.com/office/drawing/2014/main" id="{5EC861CD-1C49-4DFE-ADA5-7C2BC5D2F9E3}"/>
                    </a:ext>
                  </a:extLst>
                </p:cNvPr>
                <p:cNvCxnSpPr/>
                <p:nvPr/>
              </p:nvCxnSpPr>
              <p:spPr>
                <a:xfrm>
                  <a:off x="1665745" y="232474"/>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直線單箭頭接點 29">
                  <a:extLst>
                    <a:ext uri="{FF2B5EF4-FFF2-40B4-BE49-F238E27FC236}">
                      <a16:creationId xmlns:a16="http://schemas.microsoft.com/office/drawing/2014/main" id="{94F23EA4-FF93-4F6A-857D-7D5F3ABEAF8F}"/>
                    </a:ext>
                  </a:extLst>
                </p:cNvPr>
                <p:cNvCxnSpPr/>
                <p:nvPr/>
              </p:nvCxnSpPr>
              <p:spPr>
                <a:xfrm>
                  <a:off x="1660579" y="526942"/>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直線單箭頭接點 30">
                  <a:extLst>
                    <a:ext uri="{FF2B5EF4-FFF2-40B4-BE49-F238E27FC236}">
                      <a16:creationId xmlns:a16="http://schemas.microsoft.com/office/drawing/2014/main" id="{CF7D8C73-994E-4BD4-8781-57089FB50187}"/>
                    </a:ext>
                  </a:extLst>
                </p:cNvPr>
                <p:cNvCxnSpPr/>
                <p:nvPr/>
              </p:nvCxnSpPr>
              <p:spPr>
                <a:xfrm>
                  <a:off x="1665745" y="831742"/>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直線單箭頭接點 31">
                  <a:extLst>
                    <a:ext uri="{FF2B5EF4-FFF2-40B4-BE49-F238E27FC236}">
                      <a16:creationId xmlns:a16="http://schemas.microsoft.com/office/drawing/2014/main" id="{9EF61CF3-DEAF-4568-AD5A-8D399912E698}"/>
                    </a:ext>
                  </a:extLst>
                </p:cNvPr>
                <p:cNvCxnSpPr/>
                <p:nvPr/>
              </p:nvCxnSpPr>
              <p:spPr>
                <a:xfrm>
                  <a:off x="1665745" y="1131376"/>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直線單箭頭接點 32">
                  <a:extLst>
                    <a:ext uri="{FF2B5EF4-FFF2-40B4-BE49-F238E27FC236}">
                      <a16:creationId xmlns:a16="http://schemas.microsoft.com/office/drawing/2014/main" id="{1F252B6C-FCA2-46EF-9167-A752B8687466}"/>
                    </a:ext>
                  </a:extLst>
                </p:cNvPr>
                <p:cNvCxnSpPr/>
                <p:nvPr/>
              </p:nvCxnSpPr>
              <p:spPr>
                <a:xfrm>
                  <a:off x="1665745" y="1441342"/>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直線單箭頭接點 33">
                  <a:extLst>
                    <a:ext uri="{FF2B5EF4-FFF2-40B4-BE49-F238E27FC236}">
                      <a16:creationId xmlns:a16="http://schemas.microsoft.com/office/drawing/2014/main" id="{A7177AD6-AAE1-4DFB-AFF7-40A28875396B}"/>
                    </a:ext>
                  </a:extLst>
                </p:cNvPr>
                <p:cNvCxnSpPr>
                  <a:cxnSpLocks/>
                  <a:stCxn id="16" idx="2"/>
                  <a:endCxn id="17" idx="0"/>
                </p:cNvCxnSpPr>
                <p:nvPr/>
              </p:nvCxnSpPr>
              <p:spPr>
                <a:xfrm flipH="1">
                  <a:off x="1662801" y="1737501"/>
                  <a:ext cx="1222" cy="613075"/>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直線單箭頭接點 34">
                  <a:extLst>
                    <a:ext uri="{FF2B5EF4-FFF2-40B4-BE49-F238E27FC236}">
                      <a16:creationId xmlns:a16="http://schemas.microsoft.com/office/drawing/2014/main" id="{304782C8-00DD-4366-A084-030FC6055FC7}"/>
                    </a:ext>
                  </a:extLst>
                </p:cNvPr>
                <p:cNvCxnSpPr>
                  <a:cxnSpLocks/>
                  <a:stCxn id="17" idx="2"/>
                  <a:endCxn id="24" idx="0"/>
                </p:cNvCxnSpPr>
                <p:nvPr/>
              </p:nvCxnSpPr>
              <p:spPr>
                <a:xfrm flipH="1">
                  <a:off x="1662679" y="2518001"/>
                  <a:ext cx="122" cy="60713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直線單箭頭接點 141">
                  <a:extLst>
                    <a:ext uri="{FF2B5EF4-FFF2-40B4-BE49-F238E27FC236}">
                      <a16:creationId xmlns:a16="http://schemas.microsoft.com/office/drawing/2014/main" id="{CFF15E2F-B001-45D9-869A-1333E0C9F245}"/>
                    </a:ext>
                  </a:extLst>
                </p:cNvPr>
                <p:cNvCxnSpPr/>
                <p:nvPr/>
              </p:nvCxnSpPr>
              <p:spPr>
                <a:xfrm rot="5400000" flipH="1" flipV="1">
                  <a:off x="566877" y="2374260"/>
                  <a:ext cx="506035" cy="611761"/>
                </a:xfrm>
                <a:prstGeom prst="bentConnector3">
                  <a:avLst>
                    <a:gd name="adj1" fmla="val 100252"/>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直線單箭頭接點 36">
                  <a:extLst>
                    <a:ext uri="{FF2B5EF4-FFF2-40B4-BE49-F238E27FC236}">
                      <a16:creationId xmlns:a16="http://schemas.microsoft.com/office/drawing/2014/main" id="{87097A04-989D-4536-B8A7-0D51896EEDED}"/>
                    </a:ext>
                  </a:extLst>
                </p:cNvPr>
                <p:cNvCxnSpPr/>
                <p:nvPr/>
              </p:nvCxnSpPr>
              <p:spPr>
                <a:xfrm flipV="1">
                  <a:off x="513704" y="3101598"/>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直線單箭頭接點 37">
                  <a:extLst>
                    <a:ext uri="{FF2B5EF4-FFF2-40B4-BE49-F238E27FC236}">
                      <a16:creationId xmlns:a16="http://schemas.microsoft.com/office/drawing/2014/main" id="{E77317CD-A6B0-4EE6-A7EE-2212D2EFD9A4}"/>
                    </a:ext>
                  </a:extLst>
                </p:cNvPr>
                <p:cNvCxnSpPr>
                  <a:stCxn id="23" idx="0"/>
                </p:cNvCxnSpPr>
                <p:nvPr/>
              </p:nvCxnSpPr>
              <p:spPr>
                <a:xfrm flipH="1" flipV="1">
                  <a:off x="525273" y="3390742"/>
                  <a:ext cx="3215" cy="35418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直線單箭頭接點 141">
                  <a:extLst>
                    <a:ext uri="{FF2B5EF4-FFF2-40B4-BE49-F238E27FC236}">
                      <a16:creationId xmlns:a16="http://schemas.microsoft.com/office/drawing/2014/main" id="{6B5B2DBD-0D3B-417E-A3A4-883A51DD5ECC}"/>
                    </a:ext>
                  </a:extLst>
                </p:cNvPr>
                <p:cNvCxnSpPr>
                  <a:stCxn id="25" idx="1"/>
                  <a:endCxn id="23" idx="3"/>
                </p:cNvCxnSpPr>
                <p:nvPr/>
              </p:nvCxnSpPr>
              <p:spPr>
                <a:xfrm rot="10800000">
                  <a:off x="863245" y="3828639"/>
                  <a:ext cx="115085" cy="1"/>
                </a:xfrm>
                <a:prstGeom prst="bentConnector3">
                  <a:avLst>
                    <a:gd name="adj1" fmla="val 50000"/>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直線單箭頭接點 40">
                  <a:extLst>
                    <a:ext uri="{FF2B5EF4-FFF2-40B4-BE49-F238E27FC236}">
                      <a16:creationId xmlns:a16="http://schemas.microsoft.com/office/drawing/2014/main" id="{DDE2268F-1C77-4D50-BB4C-DC073D2BA2C3}"/>
                    </a:ext>
                  </a:extLst>
                </p:cNvPr>
                <p:cNvCxnSpPr/>
                <p:nvPr/>
              </p:nvCxnSpPr>
              <p:spPr>
                <a:xfrm flipV="1">
                  <a:off x="3277569" y="2807130"/>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2" name="直線單箭頭接點 41">
                  <a:extLst>
                    <a:ext uri="{FF2B5EF4-FFF2-40B4-BE49-F238E27FC236}">
                      <a16:creationId xmlns:a16="http://schemas.microsoft.com/office/drawing/2014/main" id="{B2233D26-A663-4087-B0B6-899005706880}"/>
                    </a:ext>
                  </a:extLst>
                </p:cNvPr>
                <p:cNvCxnSpPr/>
                <p:nvPr/>
              </p:nvCxnSpPr>
              <p:spPr>
                <a:xfrm flipV="1">
                  <a:off x="3277569" y="3111930"/>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3" name="文字方塊 2">
                  <a:extLst>
                    <a:ext uri="{FF2B5EF4-FFF2-40B4-BE49-F238E27FC236}">
                      <a16:creationId xmlns:a16="http://schemas.microsoft.com/office/drawing/2014/main" id="{B6482EFB-B89E-4E76-9073-BCEDBEF604C5}"/>
                    </a:ext>
                  </a:extLst>
                </p:cNvPr>
                <p:cNvSpPr txBox="1">
                  <a:spLocks noChangeArrowheads="1"/>
                </p:cNvSpPr>
                <p:nvPr/>
              </p:nvSpPr>
              <p:spPr bwMode="auto">
                <a:xfrm>
                  <a:off x="2927490" y="2106621"/>
                  <a:ext cx="879021" cy="193791"/>
                </a:xfrm>
                <a:prstGeom prst="rect">
                  <a:avLst/>
                </a:prstGeom>
                <a:noFill/>
                <a:ln w="9525">
                  <a:noFill/>
                  <a:miter lim="800000"/>
                  <a:headEnd/>
                  <a:tailEnd/>
                </a:ln>
              </p:spPr>
              <p:txBody>
                <a:bodyPr rot="0" vert="horz" wrap="square" lIns="91440" tIns="45720" rIns="91440" bIns="45720" anchor="t" anchorCtr="0">
                  <a:noAutofit/>
                </a:bodyPr>
                <a:lstStyle/>
                <a:p>
                  <a:pPr marL="226695">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1.Cp&lt;0</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4" name="文字方塊 2">
                      <a:extLst>
                        <a:ext uri="{FF2B5EF4-FFF2-40B4-BE49-F238E27FC236}">
                          <a16:creationId xmlns:a16="http://schemas.microsoft.com/office/drawing/2014/main" id="{21600491-3553-433F-8135-B76BE97CB798}"/>
                        </a:ext>
                      </a:extLst>
                    </p:cNvPr>
                    <p:cNvSpPr txBox="1">
                      <a:spLocks noChangeArrowheads="1"/>
                    </p:cNvSpPr>
                    <p:nvPr/>
                  </p:nvSpPr>
                  <p:spPr bwMode="auto">
                    <a:xfrm>
                      <a:off x="2643599" y="2374859"/>
                      <a:ext cx="1430976" cy="245141"/>
                    </a:xfrm>
                    <a:prstGeom prst="rect">
                      <a:avLst/>
                    </a:prstGeom>
                    <a:noFill/>
                    <a:ln w="9525">
                      <a:noFill/>
                      <a:miter lim="800000"/>
                      <a:headEnd/>
                      <a:tailEnd/>
                    </a:ln>
                  </p:spPr>
                  <p:txBody>
                    <a:bodyPr rot="0" vert="horz" wrap="square" lIns="91440" tIns="45720" rIns="91440" bIns="45720" anchor="t" anchorCtr="0">
                      <a:noAutofit/>
                    </a:bodyPr>
                    <a:lstStyle/>
                    <a:p>
                      <a:pPr marL="228600">
                        <a:spcAft>
                          <a:spcPts val="0"/>
                        </a:spcAft>
                      </a:pPr>
                      <a14:m>
                        <m:oMathPara xmlns:m="http://schemas.openxmlformats.org/officeDocument/2006/math">
                          <m:oMathParaPr>
                            <m:jc m:val="centerGroup"/>
                          </m:oMathParaPr>
                          <m:oMath xmlns:m="http://schemas.openxmlformats.org/officeDocument/2006/math">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𝟐</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𝝆</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&lt;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𝒆𝒙𝒑</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𝑪𝒑</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𝑻</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oMath>
                        </m:oMathPara>
                      </a14:m>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44" name="文字方塊 2">
                      <a:extLst>
                        <a:ext uri="{FF2B5EF4-FFF2-40B4-BE49-F238E27FC236}">
                          <a16:creationId xmlns:a16="http://schemas.microsoft.com/office/drawing/2014/main" id="{21600491-3553-433F-8135-B76BE97CB798}"/>
                        </a:ext>
                      </a:extLst>
                    </p:cNvPr>
                    <p:cNvSpPr txBox="1">
                      <a:spLocks noRot="1" noChangeAspect="1" noMove="1" noResize="1" noEditPoints="1" noAdjustHandles="1" noChangeArrowheads="1" noChangeShapeType="1" noTextEdit="1"/>
                    </p:cNvSpPr>
                    <p:nvPr/>
                  </p:nvSpPr>
                  <p:spPr bwMode="auto">
                    <a:xfrm>
                      <a:off x="2643599" y="2374859"/>
                      <a:ext cx="1430976" cy="245141"/>
                    </a:xfrm>
                    <a:prstGeom prst="rect">
                      <a:avLst/>
                    </a:prstGeom>
                    <a:blipFill>
                      <a:blip r:embed="rId3"/>
                      <a:stretch>
                        <a:fillRect/>
                      </a:stretch>
                    </a:blipFill>
                    <a:ln w="9525">
                      <a:noFill/>
                      <a:miter lim="800000"/>
                      <a:headEnd/>
                      <a:tailEnd/>
                    </a:ln>
                  </p:spPr>
                  <p:txBody>
                    <a:bodyPr/>
                    <a:lstStyle/>
                    <a:p>
                      <a:r>
                        <a:rPr lang="zh-TW" altLang="en-US">
                          <a:noFill/>
                        </a:rPr>
                        <a:t> </a:t>
                      </a:r>
                    </a:p>
                  </p:txBody>
                </p:sp>
              </mc:Fallback>
            </mc:AlternateContent>
            <p:sp>
              <p:nvSpPr>
                <p:cNvPr id="45" name="文字方塊 2">
                  <a:extLst>
                    <a:ext uri="{FF2B5EF4-FFF2-40B4-BE49-F238E27FC236}">
                      <a16:creationId xmlns:a16="http://schemas.microsoft.com/office/drawing/2014/main" id="{E866DDE4-1569-4AFF-B68E-1747CFC22442}"/>
                    </a:ext>
                  </a:extLst>
                </p:cNvPr>
                <p:cNvSpPr txBox="1">
                  <a:spLocks noChangeArrowheads="1"/>
                </p:cNvSpPr>
                <p:nvPr/>
              </p:nvSpPr>
              <p:spPr bwMode="auto">
                <a:xfrm>
                  <a:off x="2398115" y="2223798"/>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yes</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7" name="文字方塊 2">
                  <a:extLst>
                    <a:ext uri="{FF2B5EF4-FFF2-40B4-BE49-F238E27FC236}">
                      <a16:creationId xmlns:a16="http://schemas.microsoft.com/office/drawing/2014/main" id="{AD900190-027D-42E6-9363-58644F9BEC69}"/>
                    </a:ext>
                  </a:extLst>
                </p:cNvPr>
                <p:cNvSpPr txBox="1">
                  <a:spLocks noChangeArrowheads="1"/>
                </p:cNvSpPr>
                <p:nvPr/>
              </p:nvSpPr>
              <p:spPr bwMode="auto">
                <a:xfrm>
                  <a:off x="706442" y="3582171"/>
                  <a:ext cx="504701" cy="29464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yes</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8" name="文字方塊 2">
                  <a:extLst>
                    <a:ext uri="{FF2B5EF4-FFF2-40B4-BE49-F238E27FC236}">
                      <a16:creationId xmlns:a16="http://schemas.microsoft.com/office/drawing/2014/main" id="{8B0705FA-6F74-4AF8-92F9-E8B6D7EA8601}"/>
                    </a:ext>
                  </a:extLst>
                </p:cNvPr>
                <p:cNvSpPr txBox="1">
                  <a:spLocks noChangeArrowheads="1"/>
                </p:cNvSpPr>
                <p:nvPr/>
              </p:nvSpPr>
              <p:spPr bwMode="auto">
                <a:xfrm>
                  <a:off x="1994115" y="3128065"/>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no</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9" name="文字方塊 2">
                  <a:extLst>
                    <a:ext uri="{FF2B5EF4-FFF2-40B4-BE49-F238E27FC236}">
                      <a16:creationId xmlns:a16="http://schemas.microsoft.com/office/drawing/2014/main" id="{C82F339A-189B-46B9-B17C-BB309AE03E0B}"/>
                    </a:ext>
                  </a:extLst>
                </p:cNvPr>
                <p:cNvSpPr txBox="1">
                  <a:spLocks noChangeArrowheads="1"/>
                </p:cNvSpPr>
                <p:nvPr/>
              </p:nvSpPr>
              <p:spPr bwMode="auto">
                <a:xfrm>
                  <a:off x="1440784" y="3447549"/>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yes</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50" name="文字方塊 2">
                  <a:extLst>
                    <a:ext uri="{FF2B5EF4-FFF2-40B4-BE49-F238E27FC236}">
                      <a16:creationId xmlns:a16="http://schemas.microsoft.com/office/drawing/2014/main" id="{69FF2820-9B4E-441A-8D86-50A2E69401F2}"/>
                    </a:ext>
                  </a:extLst>
                </p:cNvPr>
                <p:cNvSpPr txBox="1">
                  <a:spLocks noChangeArrowheads="1"/>
                </p:cNvSpPr>
                <p:nvPr/>
              </p:nvSpPr>
              <p:spPr bwMode="auto">
                <a:xfrm>
                  <a:off x="2989265" y="1914638"/>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no</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grpSp>
      <p:sp>
        <p:nvSpPr>
          <p:cNvPr id="134" name="Text Box 162">
            <a:extLst>
              <a:ext uri="{FF2B5EF4-FFF2-40B4-BE49-F238E27FC236}">
                <a16:creationId xmlns:a16="http://schemas.microsoft.com/office/drawing/2014/main" id="{69693BB7-D73A-4E87-B2A0-13801D0FDFAD}"/>
              </a:ext>
            </a:extLst>
          </p:cNvPr>
          <p:cNvSpPr txBox="1">
            <a:spLocks noChangeArrowheads="1"/>
          </p:cNvSpPr>
          <p:nvPr/>
        </p:nvSpPr>
        <p:spPr bwMode="auto">
          <a:xfrm>
            <a:off x="1381890" y="980178"/>
            <a:ext cx="2705100" cy="369332"/>
          </a:xfrm>
          <a:prstGeom prst="rect">
            <a:avLst/>
          </a:prstGeom>
          <a:noFill/>
          <a:ln w="9525">
            <a:noFill/>
            <a:miter lim="800000"/>
            <a:headEnd/>
            <a:tailEnd/>
          </a:ln>
        </p:spPr>
        <p:txBody>
          <a:bodyPr>
            <a:spAutoFit/>
          </a:bodyPr>
          <a:lstStyle/>
          <a:p>
            <a:pPr>
              <a:spcBef>
                <a:spcPct val="50000"/>
              </a:spcBef>
            </a:pPr>
            <a:r>
              <a:rPr kumimoji="0" lang="en-US" altLang="zh-TW" b="1" i="1" u="sng" dirty="0">
                <a:latin typeface="Times New Roman" pitchFamily="18" charset="0"/>
                <a:cs typeface="Times New Roman" pitchFamily="18" charset="0"/>
              </a:rPr>
              <a:t>Initial Condition:</a:t>
            </a:r>
          </a:p>
        </p:txBody>
      </p:sp>
      <p:sp>
        <p:nvSpPr>
          <p:cNvPr id="135" name="文字方塊 134">
            <a:extLst>
              <a:ext uri="{FF2B5EF4-FFF2-40B4-BE49-F238E27FC236}">
                <a16:creationId xmlns:a16="http://schemas.microsoft.com/office/drawing/2014/main" id="{939A596A-E0FD-4446-BD26-B969D9CB6205}"/>
              </a:ext>
            </a:extLst>
          </p:cNvPr>
          <p:cNvSpPr txBox="1"/>
          <p:nvPr/>
        </p:nvSpPr>
        <p:spPr>
          <a:xfrm>
            <a:off x="1381890" y="1275359"/>
            <a:ext cx="2448272" cy="1023165"/>
          </a:xfrm>
          <a:prstGeom prst="rect">
            <a:avLst/>
          </a:prstGeom>
          <a:noFill/>
        </p:spPr>
        <p:txBody>
          <a:bodyPr wrap="square" rtlCol="0">
            <a:spAutoFit/>
          </a:bodyPr>
          <a:lstStyle/>
          <a:p>
            <a:pPr>
              <a:lnSpc>
                <a:spcPct val="150000"/>
              </a:lnSpc>
            </a:pPr>
            <a:r>
              <a:rPr lang="en-US" altLang="zh-TW" sz="1400" i="1" dirty="0">
                <a:latin typeface="Times New Roman" pitchFamily="18" charset="0"/>
                <a:cs typeface="Times New Roman" pitchFamily="18" charset="0"/>
              </a:rPr>
              <a:t>N=Block Number</a:t>
            </a:r>
          </a:p>
          <a:p>
            <a:pPr>
              <a:lnSpc>
                <a:spcPct val="150000"/>
              </a:lnSpc>
            </a:pPr>
            <a:r>
              <a:rPr lang="en-US" altLang="zh-TW" sz="1400" i="1" dirty="0">
                <a:latin typeface="Times New Roman" pitchFamily="18" charset="0"/>
                <a:cs typeface="Times New Roman" pitchFamily="18" charset="0"/>
              </a:rPr>
              <a:t>T=Annealing Temperature</a:t>
            </a:r>
          </a:p>
          <a:p>
            <a:pPr>
              <a:lnSpc>
                <a:spcPct val="150000"/>
              </a:lnSpc>
            </a:pPr>
            <a:r>
              <a:rPr lang="en-US" altLang="zh-TW" sz="1400" i="1" dirty="0">
                <a:latin typeface="Times New Roman" pitchFamily="18" charset="0"/>
                <a:cs typeface="Times New Roman" pitchFamily="18" charset="0"/>
              </a:rPr>
              <a:t>Tre=Reduction Factor for T</a:t>
            </a:r>
          </a:p>
        </p:txBody>
      </p:sp>
      <p:sp>
        <p:nvSpPr>
          <p:cNvPr id="3" name="投影片編號版面配置區 2">
            <a:extLst>
              <a:ext uri="{FF2B5EF4-FFF2-40B4-BE49-F238E27FC236}">
                <a16:creationId xmlns:a16="http://schemas.microsoft.com/office/drawing/2014/main" id="{A63A8A5E-C176-465E-BB2F-49745495FBC7}"/>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18</a:t>
            </a:fld>
            <a:endParaRPr lang="zh-TW" altLang="en-US" dirty="0"/>
          </a:p>
        </p:txBody>
      </p:sp>
      <p:sp>
        <p:nvSpPr>
          <p:cNvPr id="4" name="矩形 3">
            <a:extLst>
              <a:ext uri="{FF2B5EF4-FFF2-40B4-BE49-F238E27FC236}">
                <a16:creationId xmlns:a16="http://schemas.microsoft.com/office/drawing/2014/main" id="{AE12BD26-CA71-48FC-B78F-75E681735043}"/>
              </a:ext>
            </a:extLst>
          </p:cNvPr>
          <p:cNvSpPr/>
          <p:nvPr/>
        </p:nvSpPr>
        <p:spPr>
          <a:xfrm>
            <a:off x="5407742" y="5095970"/>
            <a:ext cx="6430297" cy="16099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n>
                <a:solidFill>
                  <a:schemeClr val="bg1"/>
                </a:solidFill>
              </a:ln>
              <a:solidFill>
                <a:schemeClr val="bg1"/>
              </a:solidFill>
            </a:endParaRPr>
          </a:p>
        </p:txBody>
      </p:sp>
      <p:sp>
        <p:nvSpPr>
          <p:cNvPr id="79" name="矩形 78">
            <a:extLst>
              <a:ext uri="{FF2B5EF4-FFF2-40B4-BE49-F238E27FC236}">
                <a16:creationId xmlns:a16="http://schemas.microsoft.com/office/drawing/2014/main" id="{9A59F930-B28F-4C34-9B04-B02F9BEABA3E}"/>
              </a:ext>
            </a:extLst>
          </p:cNvPr>
          <p:cNvSpPr/>
          <p:nvPr/>
        </p:nvSpPr>
        <p:spPr>
          <a:xfrm rot="16200000">
            <a:off x="4328366" y="4044391"/>
            <a:ext cx="3285913" cy="20371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0" name="圖片 79">
            <a:extLst>
              <a:ext uri="{FF2B5EF4-FFF2-40B4-BE49-F238E27FC236}">
                <a16:creationId xmlns:a16="http://schemas.microsoft.com/office/drawing/2014/main" id="{86CD117F-519C-48E9-BC29-9BE806CF72DA}"/>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203561" y="3859244"/>
            <a:ext cx="3623310" cy="2985135"/>
          </a:xfrm>
          <a:prstGeom prst="rect">
            <a:avLst/>
          </a:prstGeom>
          <a:noFill/>
        </p:spPr>
      </p:pic>
      <p:pic>
        <p:nvPicPr>
          <p:cNvPr id="81" name="圖片 80"/>
          <p:cNvPicPr>
            <a:picLocks noChangeAspect="1"/>
          </p:cNvPicPr>
          <p:nvPr/>
        </p:nvPicPr>
        <p:blipFill>
          <a:blip r:embed="rId5"/>
          <a:stretch>
            <a:fillRect/>
          </a:stretch>
        </p:blipFill>
        <p:spPr>
          <a:xfrm>
            <a:off x="1278238" y="2430336"/>
            <a:ext cx="4841317" cy="1280685"/>
          </a:xfrm>
          <a:prstGeom prst="rect">
            <a:avLst/>
          </a:prstGeom>
        </p:spPr>
      </p:pic>
    </p:spTree>
    <p:extLst>
      <p:ext uri="{BB962C8B-B14F-4D97-AF65-F5344CB8AC3E}">
        <p14:creationId xmlns:p14="http://schemas.microsoft.com/office/powerpoint/2010/main" val="3420645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63668" y="821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Simulated Annealing Method (SA)</a:t>
            </a:r>
            <a:endParaRPr lang="zh-TW" altLang="en-US" sz="2800" b="1" dirty="0">
              <a:latin typeface="Times New Roman" panose="02020603050405020304" pitchFamily="18" charset="0"/>
              <a:cs typeface="Times New Roman" panose="02020603050405020304" pitchFamily="18" charset="0"/>
            </a:endParaRPr>
          </a:p>
        </p:txBody>
      </p:sp>
      <p:grpSp>
        <p:nvGrpSpPr>
          <p:cNvPr id="6" name="群組 5">
            <a:extLst>
              <a:ext uri="{FF2B5EF4-FFF2-40B4-BE49-F238E27FC236}">
                <a16:creationId xmlns:a16="http://schemas.microsoft.com/office/drawing/2014/main" id="{E751ABAE-5F3F-4111-BBAD-E1D54E8BB97E}"/>
              </a:ext>
            </a:extLst>
          </p:cNvPr>
          <p:cNvGrpSpPr/>
          <p:nvPr/>
        </p:nvGrpSpPr>
        <p:grpSpPr>
          <a:xfrm>
            <a:off x="5288390" y="1089458"/>
            <a:ext cx="6809159" cy="5616466"/>
            <a:chOff x="0" y="72043"/>
            <a:chExt cx="4463043" cy="4933799"/>
          </a:xfrm>
        </p:grpSpPr>
        <p:grpSp>
          <p:nvGrpSpPr>
            <p:cNvPr id="7" name="群組 6">
              <a:extLst>
                <a:ext uri="{FF2B5EF4-FFF2-40B4-BE49-F238E27FC236}">
                  <a16:creationId xmlns:a16="http://schemas.microsoft.com/office/drawing/2014/main" id="{9AA4C8B9-31DD-451C-9425-FCE4AB435069}"/>
                </a:ext>
              </a:extLst>
            </p:cNvPr>
            <p:cNvGrpSpPr/>
            <p:nvPr/>
          </p:nvGrpSpPr>
          <p:grpSpPr>
            <a:xfrm>
              <a:off x="222531" y="76171"/>
              <a:ext cx="4240512" cy="4929671"/>
              <a:chOff x="39651" y="76171"/>
              <a:chExt cx="4240512" cy="4929671"/>
            </a:xfrm>
          </p:grpSpPr>
          <p:cxnSp>
            <p:nvCxnSpPr>
              <p:cNvPr id="59" name="直線單箭頭接點 141">
                <a:extLst>
                  <a:ext uri="{FF2B5EF4-FFF2-40B4-BE49-F238E27FC236}">
                    <a16:creationId xmlns:a16="http://schemas.microsoft.com/office/drawing/2014/main" id="{CF068A29-0E86-4D5A-B988-54B5FE74622E}"/>
                  </a:ext>
                </a:extLst>
              </p:cNvPr>
              <p:cNvCxnSpPr/>
              <p:nvPr/>
            </p:nvCxnSpPr>
            <p:spPr>
              <a:xfrm rot="5400000" flipH="1">
                <a:off x="2336806" y="1061748"/>
                <a:ext cx="111501" cy="1418339"/>
              </a:xfrm>
              <a:prstGeom prst="bentConnector3">
                <a:avLst>
                  <a:gd name="adj1" fmla="val 99919"/>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接點: 肘形 59">
                <a:extLst>
                  <a:ext uri="{FF2B5EF4-FFF2-40B4-BE49-F238E27FC236}">
                    <a16:creationId xmlns:a16="http://schemas.microsoft.com/office/drawing/2014/main" id="{9688A03F-2A99-4DDE-B07B-2EB1FF251C1B}"/>
                  </a:ext>
                </a:extLst>
              </p:cNvPr>
              <p:cNvCxnSpPr/>
              <p:nvPr/>
            </p:nvCxnSpPr>
            <p:spPr>
              <a:xfrm>
                <a:off x="2266305" y="1720312"/>
                <a:ext cx="200167" cy="774838"/>
              </a:xfrm>
              <a:prstGeom prst="bentConnector3">
                <a:avLst>
                  <a:gd name="adj1" fmla="val -355"/>
                </a:avLst>
              </a:prstGeom>
            </p:spPr>
            <p:style>
              <a:lnRef idx="2">
                <a:schemeClr val="dk1"/>
              </a:lnRef>
              <a:fillRef idx="0">
                <a:schemeClr val="dk1"/>
              </a:fillRef>
              <a:effectRef idx="1">
                <a:schemeClr val="dk1"/>
              </a:effectRef>
              <a:fontRef idx="minor">
                <a:schemeClr val="tx1"/>
              </a:fontRef>
            </p:style>
          </p:cxnSp>
          <p:sp>
            <p:nvSpPr>
              <p:cNvPr id="61" name="文字方塊 2">
                <a:extLst>
                  <a:ext uri="{FF2B5EF4-FFF2-40B4-BE49-F238E27FC236}">
                    <a16:creationId xmlns:a16="http://schemas.microsoft.com/office/drawing/2014/main" id="{7516B9F6-C522-4307-B967-DE9E5348FE0E}"/>
                  </a:ext>
                </a:extLst>
              </p:cNvPr>
              <p:cNvSpPr txBox="1">
                <a:spLocks noChangeArrowheads="1"/>
              </p:cNvSpPr>
              <p:nvPr/>
            </p:nvSpPr>
            <p:spPr bwMode="auto">
              <a:xfrm>
                <a:off x="1342079" y="76171"/>
                <a:ext cx="559581" cy="294933"/>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start</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2" name="文字方塊 2">
                <a:extLst>
                  <a:ext uri="{FF2B5EF4-FFF2-40B4-BE49-F238E27FC236}">
                    <a16:creationId xmlns:a16="http://schemas.microsoft.com/office/drawing/2014/main" id="{61253B2D-AEC4-4CD4-BA8C-F1A2763CAA2D}"/>
                  </a:ext>
                </a:extLst>
              </p:cNvPr>
              <p:cNvSpPr txBox="1">
                <a:spLocks noChangeArrowheads="1"/>
              </p:cNvSpPr>
              <p:nvPr/>
            </p:nvSpPr>
            <p:spPr bwMode="auto">
              <a:xfrm>
                <a:off x="1135078" y="407643"/>
                <a:ext cx="934687" cy="294933"/>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err="1">
                    <a:effectLst/>
                    <a:latin typeface="Calibri" panose="020F0502020204030204" pitchFamily="34" charset="0"/>
                    <a:ea typeface="新細明體" panose="02020500000000000000" pitchFamily="18" charset="-120"/>
                    <a:cs typeface="Times New Roman" panose="02020603050405020304" pitchFamily="18" charset="0"/>
                  </a:rPr>
                  <a:t>Intitial</a:t>
                </a: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 Condition</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3" name="文字方塊 2">
                <a:extLst>
                  <a:ext uri="{FF2B5EF4-FFF2-40B4-BE49-F238E27FC236}">
                    <a16:creationId xmlns:a16="http://schemas.microsoft.com/office/drawing/2014/main" id="{73F36D2D-F6B9-440E-97B4-2D2F20A8C6CC}"/>
                  </a:ext>
                </a:extLst>
              </p:cNvPr>
              <p:cNvSpPr txBox="1">
                <a:spLocks noChangeArrowheads="1"/>
              </p:cNvSpPr>
              <p:nvPr/>
            </p:nvSpPr>
            <p:spPr bwMode="auto">
              <a:xfrm>
                <a:off x="1049814" y="699990"/>
                <a:ext cx="1478478"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Domain(j)=-1, for all 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4" name="文字方塊 2">
                <a:extLst>
                  <a:ext uri="{FF2B5EF4-FFF2-40B4-BE49-F238E27FC236}">
                    <a16:creationId xmlns:a16="http://schemas.microsoft.com/office/drawing/2014/main" id="{8E691769-29B5-42B2-B5BF-B61E4DA69E30}"/>
                  </a:ext>
                </a:extLst>
              </p:cNvPr>
              <p:cNvSpPr txBox="1">
                <a:spLocks noChangeArrowheads="1"/>
              </p:cNvSpPr>
              <p:nvPr/>
            </p:nvSpPr>
            <p:spPr bwMode="auto">
              <a:xfrm>
                <a:off x="1146151" y="990174"/>
                <a:ext cx="1478478"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 j=0</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5" name="文字方塊 2">
                <a:extLst>
                  <a:ext uri="{FF2B5EF4-FFF2-40B4-BE49-F238E27FC236}">
                    <a16:creationId xmlns:a16="http://schemas.microsoft.com/office/drawing/2014/main" id="{085C3149-7DF6-4EDF-9F18-ACC0AE0A6B24}"/>
                  </a:ext>
                </a:extLst>
              </p:cNvPr>
              <p:cNvSpPr txBox="1">
                <a:spLocks noChangeArrowheads="1"/>
              </p:cNvSpPr>
              <p:nvPr/>
            </p:nvSpPr>
            <p:spPr bwMode="auto">
              <a:xfrm>
                <a:off x="683838" y="1308663"/>
                <a:ext cx="2707574"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Objective Function(Ob) Calculation, Ob(0)</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6" name="文字方塊 2">
                <a:extLst>
                  <a:ext uri="{FF2B5EF4-FFF2-40B4-BE49-F238E27FC236}">
                    <a16:creationId xmlns:a16="http://schemas.microsoft.com/office/drawing/2014/main" id="{21E72962-C2C8-4C9A-AB51-9E8EFAA5BA38}"/>
                  </a:ext>
                </a:extLst>
              </p:cNvPr>
              <p:cNvSpPr txBox="1">
                <a:spLocks noChangeArrowheads="1"/>
              </p:cNvSpPr>
              <p:nvPr/>
            </p:nvSpPr>
            <p:spPr bwMode="auto">
              <a:xfrm>
                <a:off x="1340296" y="1614923"/>
                <a:ext cx="504190"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J=j+1</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7" name="文字方塊 2">
                <a:extLst>
                  <a:ext uri="{FF2B5EF4-FFF2-40B4-BE49-F238E27FC236}">
                    <a16:creationId xmlns:a16="http://schemas.microsoft.com/office/drawing/2014/main" id="{3787A6C6-B139-48AE-9EB3-012BD6E74ECB}"/>
                  </a:ext>
                </a:extLst>
              </p:cNvPr>
              <p:cNvSpPr txBox="1">
                <a:spLocks noChangeArrowheads="1"/>
              </p:cNvSpPr>
              <p:nvPr/>
            </p:nvSpPr>
            <p:spPr bwMode="auto">
              <a:xfrm>
                <a:off x="1029432" y="2389348"/>
                <a:ext cx="1727860"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Domain(j)=-domain(j)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8" name="文字方塊 2">
                <a:extLst>
                  <a:ext uri="{FF2B5EF4-FFF2-40B4-BE49-F238E27FC236}">
                    <a16:creationId xmlns:a16="http://schemas.microsoft.com/office/drawing/2014/main" id="{8BDBA1DA-92D2-446A-9419-A1BBA1748D0D}"/>
                  </a:ext>
                </a:extLst>
              </p:cNvPr>
              <p:cNvSpPr txBox="1">
                <a:spLocks noChangeArrowheads="1"/>
              </p:cNvSpPr>
              <p:nvPr/>
            </p:nvSpPr>
            <p:spPr bwMode="auto">
              <a:xfrm>
                <a:off x="1366931" y="3288081"/>
                <a:ext cx="500945"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j&gt;N</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69" name="文字方塊 2">
                <a:extLst>
                  <a:ext uri="{FF2B5EF4-FFF2-40B4-BE49-F238E27FC236}">
                    <a16:creationId xmlns:a16="http://schemas.microsoft.com/office/drawing/2014/main" id="{22ABD185-D787-4A8F-AF2E-AC90FD40F76F}"/>
                  </a:ext>
                </a:extLst>
              </p:cNvPr>
              <p:cNvSpPr txBox="1">
                <a:spLocks noChangeArrowheads="1"/>
              </p:cNvSpPr>
              <p:nvPr/>
            </p:nvSpPr>
            <p:spPr bwMode="auto">
              <a:xfrm>
                <a:off x="196424" y="2968099"/>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J=1</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0" name="文字方塊 2">
                <a:extLst>
                  <a:ext uri="{FF2B5EF4-FFF2-40B4-BE49-F238E27FC236}">
                    <a16:creationId xmlns:a16="http://schemas.microsoft.com/office/drawing/2014/main" id="{8543219C-8532-45F0-B97F-56AFA9BFEA0E}"/>
                  </a:ext>
                </a:extLst>
              </p:cNvPr>
              <p:cNvSpPr txBox="1">
                <a:spLocks noChangeArrowheads="1"/>
              </p:cNvSpPr>
              <p:nvPr/>
            </p:nvSpPr>
            <p:spPr bwMode="auto">
              <a:xfrm>
                <a:off x="961432" y="3782095"/>
                <a:ext cx="1402525"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Does any domain change?</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2" name="文字方塊 2">
                <a:extLst>
                  <a:ext uri="{FF2B5EF4-FFF2-40B4-BE49-F238E27FC236}">
                    <a16:creationId xmlns:a16="http://schemas.microsoft.com/office/drawing/2014/main" id="{39E43755-B1CA-4589-B15E-841EEF56C837}"/>
                  </a:ext>
                </a:extLst>
              </p:cNvPr>
              <p:cNvSpPr txBox="1">
                <a:spLocks noChangeArrowheads="1"/>
              </p:cNvSpPr>
              <p:nvPr/>
            </p:nvSpPr>
            <p:spPr bwMode="auto">
              <a:xfrm>
                <a:off x="39651" y="3262740"/>
                <a:ext cx="1246909"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Ob(0)=Ob(j)</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3" name="文字方塊 2">
                    <a:extLst>
                      <a:ext uri="{FF2B5EF4-FFF2-40B4-BE49-F238E27FC236}">
                        <a16:creationId xmlns:a16="http://schemas.microsoft.com/office/drawing/2014/main" id="{EBCA4B7F-7D03-411E-AA5B-9A3363D18C17}"/>
                      </a:ext>
                    </a:extLst>
                  </p:cNvPr>
                  <p:cNvSpPr txBox="1">
                    <a:spLocks noChangeArrowheads="1"/>
                  </p:cNvSpPr>
                  <p:nvPr/>
                </p:nvSpPr>
                <p:spPr bwMode="auto">
                  <a:xfrm>
                    <a:off x="92346" y="3792845"/>
                    <a:ext cx="1246909"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T=T</a:t>
                    </a:r>
                    <a14:m>
                      <m:oMath xmlns:m="http://schemas.openxmlformats.org/officeDocument/2006/math">
                        <m:r>
                          <a:rPr lang="en-US" sz="1050" b="1"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kern="100">
                            <a:effectLst/>
                            <a:latin typeface="Cambria Math" panose="02040503050406030204" pitchFamily="18" charset="0"/>
                            <a:ea typeface="新細明體" panose="02020500000000000000" pitchFamily="18" charset="-120"/>
                            <a:cs typeface="Times New Roman" panose="02020603050405020304" pitchFamily="18" charset="0"/>
                          </a:rPr>
                          <m:t>𝑻𝒓𝒆</m:t>
                        </m:r>
                      </m:oMath>
                    </a14:m>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73" name="文字方塊 2">
                    <a:extLst>
                      <a:ext uri="{FF2B5EF4-FFF2-40B4-BE49-F238E27FC236}">
                        <a16:creationId xmlns:a16="http://schemas.microsoft.com/office/drawing/2014/main" id="{EBCA4B7F-7D03-411E-AA5B-9A3363D18C17}"/>
                      </a:ext>
                    </a:extLst>
                  </p:cNvPr>
                  <p:cNvSpPr txBox="1">
                    <a:spLocks noRot="1" noChangeAspect="1" noMove="1" noResize="1" noEditPoints="1" noAdjustHandles="1" noChangeArrowheads="1" noChangeShapeType="1" noTextEdit="1"/>
                  </p:cNvSpPr>
                  <p:nvPr/>
                </p:nvSpPr>
                <p:spPr bwMode="auto">
                  <a:xfrm>
                    <a:off x="92346" y="3792845"/>
                    <a:ext cx="1246909" cy="294640"/>
                  </a:xfrm>
                  <a:prstGeom prst="rect">
                    <a:avLst/>
                  </a:prstGeom>
                  <a:blipFill>
                    <a:blip r:embed="rId2"/>
                    <a:stretch>
                      <a:fillRect/>
                    </a:stretch>
                  </a:blipFill>
                  <a:ln w="9525">
                    <a:noFill/>
                    <a:miter lim="800000"/>
                    <a:headEnd/>
                    <a:tailEnd/>
                  </a:ln>
                </p:spPr>
                <p:txBody>
                  <a:bodyPr/>
                  <a:lstStyle/>
                  <a:p>
                    <a:r>
                      <a:rPr lang="zh-TW" altLang="en-US">
                        <a:noFill/>
                      </a:rPr>
                      <a:t> </a:t>
                    </a:r>
                  </a:p>
                </p:txBody>
              </p:sp>
            </mc:Fallback>
          </mc:AlternateContent>
          <p:sp>
            <p:nvSpPr>
              <p:cNvPr id="74" name="文字方塊 2">
                <a:extLst>
                  <a:ext uri="{FF2B5EF4-FFF2-40B4-BE49-F238E27FC236}">
                    <a16:creationId xmlns:a16="http://schemas.microsoft.com/office/drawing/2014/main" id="{6E5847B9-34D9-4E3D-AFE5-0034080A3324}"/>
                  </a:ext>
                </a:extLst>
              </p:cNvPr>
              <p:cNvSpPr txBox="1">
                <a:spLocks noChangeArrowheads="1"/>
              </p:cNvSpPr>
              <p:nvPr/>
            </p:nvSpPr>
            <p:spPr bwMode="auto">
              <a:xfrm>
                <a:off x="1347528" y="4711202"/>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End</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5" name="文字方塊 2">
                <a:extLst>
                  <a:ext uri="{FF2B5EF4-FFF2-40B4-BE49-F238E27FC236}">
                    <a16:creationId xmlns:a16="http://schemas.microsoft.com/office/drawing/2014/main" id="{8D3BA051-F449-4344-AFC3-DFE558C71418}"/>
                  </a:ext>
                </a:extLst>
              </p:cNvPr>
              <p:cNvSpPr txBox="1">
                <a:spLocks noChangeArrowheads="1"/>
              </p:cNvSpPr>
              <p:nvPr/>
            </p:nvSpPr>
            <p:spPr bwMode="auto">
              <a:xfrm>
                <a:off x="2652007" y="1824683"/>
                <a:ext cx="114003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Domain(j)=-domain(j)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6" name="文字方塊 2">
                <a:extLst>
                  <a:ext uri="{FF2B5EF4-FFF2-40B4-BE49-F238E27FC236}">
                    <a16:creationId xmlns:a16="http://schemas.microsoft.com/office/drawing/2014/main" id="{2504BFFE-4317-4A24-A565-34E169F21C51}"/>
                  </a:ext>
                </a:extLst>
              </p:cNvPr>
              <p:cNvSpPr txBox="1">
                <a:spLocks noChangeArrowheads="1"/>
              </p:cNvSpPr>
              <p:nvPr/>
            </p:nvSpPr>
            <p:spPr bwMode="auto">
              <a:xfrm>
                <a:off x="2849187" y="2335048"/>
                <a:ext cx="1430976" cy="320040"/>
              </a:xfrm>
              <a:prstGeom prst="rect">
                <a:avLst/>
              </a:prstGeom>
              <a:noFill/>
              <a:ln w="9525">
                <a:noFill/>
                <a:miter lim="800000"/>
                <a:headEnd/>
                <a:tailEnd/>
              </a:ln>
            </p:spPr>
            <p:txBody>
              <a:bodyPr rot="0" vert="horz" wrap="square" lIns="91440" tIns="45720" rIns="91440" bIns="45720" anchor="t" anchorCtr="0">
                <a:noAutofit/>
              </a:bodyPr>
              <a:lstStyle/>
              <a:p>
                <a:pPr marL="228600">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or</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7" name="文字方塊 2">
                <a:extLst>
                  <a:ext uri="{FF2B5EF4-FFF2-40B4-BE49-F238E27FC236}">
                    <a16:creationId xmlns:a16="http://schemas.microsoft.com/office/drawing/2014/main" id="{2E6366E2-D312-4DFD-93A0-EAC98B989308}"/>
                  </a:ext>
                </a:extLst>
              </p:cNvPr>
              <p:cNvSpPr txBox="1">
                <a:spLocks noChangeArrowheads="1"/>
              </p:cNvSpPr>
              <p:nvPr/>
            </p:nvSpPr>
            <p:spPr bwMode="auto">
              <a:xfrm>
                <a:off x="2742773" y="2968431"/>
                <a:ext cx="1430976" cy="3200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Cp=Ob(j)-Ob(j-1)</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78" name="文字方塊 2">
                <a:extLst>
                  <a:ext uri="{FF2B5EF4-FFF2-40B4-BE49-F238E27FC236}">
                    <a16:creationId xmlns:a16="http://schemas.microsoft.com/office/drawing/2014/main" id="{1A42DF36-81E4-4767-BCAF-F518EDE42DCE}"/>
                  </a:ext>
                </a:extLst>
              </p:cNvPr>
              <p:cNvSpPr txBox="1">
                <a:spLocks noChangeArrowheads="1"/>
              </p:cNvSpPr>
              <p:nvPr/>
            </p:nvSpPr>
            <p:spPr bwMode="auto">
              <a:xfrm>
                <a:off x="2285584" y="3262184"/>
                <a:ext cx="1973260" cy="3200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Objective Function(Ob) Calculation, Ob(j)</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nvGrpSpPr>
            <p:cNvPr id="8" name="群組 7">
              <a:extLst>
                <a:ext uri="{FF2B5EF4-FFF2-40B4-BE49-F238E27FC236}">
                  <a16:creationId xmlns:a16="http://schemas.microsoft.com/office/drawing/2014/main" id="{90D76031-B84D-477E-986F-D830D333B34F}"/>
                </a:ext>
              </a:extLst>
            </p:cNvPr>
            <p:cNvGrpSpPr/>
            <p:nvPr/>
          </p:nvGrpSpPr>
          <p:grpSpPr>
            <a:xfrm>
              <a:off x="0" y="72043"/>
              <a:ext cx="4152158" cy="4870978"/>
              <a:chOff x="0" y="0"/>
              <a:chExt cx="4152158" cy="4870978"/>
            </a:xfrm>
          </p:grpSpPr>
          <p:grpSp>
            <p:nvGrpSpPr>
              <p:cNvPr id="9" name="群組 8">
                <a:extLst>
                  <a:ext uri="{FF2B5EF4-FFF2-40B4-BE49-F238E27FC236}">
                    <a16:creationId xmlns:a16="http://schemas.microsoft.com/office/drawing/2014/main" id="{75A21F52-1E1C-4979-8FF6-2920393347B4}"/>
                  </a:ext>
                </a:extLst>
              </p:cNvPr>
              <p:cNvGrpSpPr/>
              <p:nvPr/>
            </p:nvGrpSpPr>
            <p:grpSpPr>
              <a:xfrm>
                <a:off x="1647859" y="1938152"/>
                <a:ext cx="1605869" cy="2701008"/>
                <a:chOff x="703771" y="0"/>
                <a:chExt cx="1605869" cy="2701008"/>
              </a:xfrm>
            </p:grpSpPr>
            <p:cxnSp>
              <p:nvCxnSpPr>
                <p:cNvPr id="52" name="直線單箭頭接點 51">
                  <a:extLst>
                    <a:ext uri="{FF2B5EF4-FFF2-40B4-BE49-F238E27FC236}">
                      <a16:creationId xmlns:a16="http://schemas.microsoft.com/office/drawing/2014/main" id="{20C4C601-934B-422C-9CE4-55535AE4971F}"/>
                    </a:ext>
                  </a:extLst>
                </p:cNvPr>
                <p:cNvCxnSpPr/>
                <p:nvPr/>
              </p:nvCxnSpPr>
              <p:spPr>
                <a:xfrm>
                  <a:off x="723211" y="1581379"/>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3" name="直線單箭頭接點 52">
                  <a:extLst>
                    <a:ext uri="{FF2B5EF4-FFF2-40B4-BE49-F238E27FC236}">
                      <a16:creationId xmlns:a16="http://schemas.microsoft.com/office/drawing/2014/main" id="{B94E98C7-1691-4DAC-BA3B-25B4D535DADE}"/>
                    </a:ext>
                  </a:extLst>
                </p:cNvPr>
                <p:cNvCxnSpPr>
                  <a:endCxn id="28" idx="0"/>
                </p:cNvCxnSpPr>
                <p:nvPr/>
              </p:nvCxnSpPr>
              <p:spPr>
                <a:xfrm>
                  <a:off x="723211" y="2088155"/>
                  <a:ext cx="3771" cy="61285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5" name="直線單箭頭接點 54">
                  <a:extLst>
                    <a:ext uri="{FF2B5EF4-FFF2-40B4-BE49-F238E27FC236}">
                      <a16:creationId xmlns:a16="http://schemas.microsoft.com/office/drawing/2014/main" id="{6A5CE208-BDBE-41EC-B927-B2F75801732B}"/>
                    </a:ext>
                  </a:extLst>
                </p:cNvPr>
                <p:cNvCxnSpPr/>
                <p:nvPr/>
              </p:nvCxnSpPr>
              <p:spPr>
                <a:xfrm>
                  <a:off x="1002535" y="1382157"/>
                  <a:ext cx="424288"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6" name="直線單箭頭接點 55">
                  <a:extLst>
                    <a:ext uri="{FF2B5EF4-FFF2-40B4-BE49-F238E27FC236}">
                      <a16:creationId xmlns:a16="http://schemas.microsoft.com/office/drawing/2014/main" id="{8C0FBB72-99DB-4939-B339-1DD7157984F5}"/>
                    </a:ext>
                  </a:extLst>
                </p:cNvPr>
                <p:cNvCxnSpPr/>
                <p:nvPr/>
              </p:nvCxnSpPr>
              <p:spPr>
                <a:xfrm flipV="1">
                  <a:off x="2309640" y="0"/>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7" name="文字方塊 2">
                  <a:extLst>
                    <a:ext uri="{FF2B5EF4-FFF2-40B4-BE49-F238E27FC236}">
                      <a16:creationId xmlns:a16="http://schemas.microsoft.com/office/drawing/2014/main" id="{5C23EDFF-A3D0-488E-9A64-803942D932C6}"/>
                    </a:ext>
                  </a:extLst>
                </p:cNvPr>
                <p:cNvSpPr txBox="1">
                  <a:spLocks noChangeArrowheads="1"/>
                </p:cNvSpPr>
                <p:nvPr/>
              </p:nvSpPr>
              <p:spPr bwMode="auto">
                <a:xfrm>
                  <a:off x="703771" y="2213532"/>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no</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nvGrpSpPr>
              <p:cNvPr id="10" name="群組 9">
                <a:extLst>
                  <a:ext uri="{FF2B5EF4-FFF2-40B4-BE49-F238E27FC236}">
                    <a16:creationId xmlns:a16="http://schemas.microsoft.com/office/drawing/2014/main" id="{B54AFF03-18AD-4704-922C-5FEF8335F5CA}"/>
                  </a:ext>
                </a:extLst>
              </p:cNvPr>
              <p:cNvGrpSpPr/>
              <p:nvPr/>
            </p:nvGrpSpPr>
            <p:grpSpPr>
              <a:xfrm>
                <a:off x="0" y="0"/>
                <a:ext cx="4152158" cy="4870978"/>
                <a:chOff x="0" y="0"/>
                <a:chExt cx="4152158" cy="4870978"/>
              </a:xfrm>
            </p:grpSpPr>
            <p:sp>
              <p:nvSpPr>
                <p:cNvPr id="11" name="橢圓 10">
                  <a:extLst>
                    <a:ext uri="{FF2B5EF4-FFF2-40B4-BE49-F238E27FC236}">
                      <a16:creationId xmlns:a16="http://schemas.microsoft.com/office/drawing/2014/main" id="{F0F3DC9A-9C42-4BF1-8E0A-74E35ABDF141}"/>
                    </a:ext>
                  </a:extLst>
                </p:cNvPr>
                <p:cNvSpPr/>
                <p:nvPr/>
              </p:nvSpPr>
              <p:spPr>
                <a:xfrm>
                  <a:off x="1389681" y="0"/>
                  <a:ext cx="573110" cy="2318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2" name="矩形: 圓角 11">
                  <a:extLst>
                    <a:ext uri="{FF2B5EF4-FFF2-40B4-BE49-F238E27FC236}">
                      <a16:creationId xmlns:a16="http://schemas.microsoft.com/office/drawing/2014/main" id="{8F8D8572-F955-44C5-93A9-21500111F6DF}"/>
                    </a:ext>
                  </a:extLst>
                </p:cNvPr>
                <p:cNvSpPr/>
                <p:nvPr/>
              </p:nvSpPr>
              <p:spPr>
                <a:xfrm>
                  <a:off x="1250197" y="361627"/>
                  <a:ext cx="836930" cy="16031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spcAft>
                      <a:spcPts val="0"/>
                    </a:spcAft>
                  </a:pPr>
                  <a:endParaRPr lang="zh-TW" sz="1050" kern="100" dirty="0">
                    <a:effectLst/>
                    <a:ea typeface="新細明體" panose="02020500000000000000" pitchFamily="18" charset="-120"/>
                    <a:cs typeface="Times New Roman" panose="02020603050405020304" pitchFamily="18" charset="0"/>
                  </a:endParaRPr>
                </a:p>
              </p:txBody>
            </p:sp>
            <p:sp>
              <p:nvSpPr>
                <p:cNvPr id="13" name="矩形: 圓角 12">
                  <a:extLst>
                    <a:ext uri="{FF2B5EF4-FFF2-40B4-BE49-F238E27FC236}">
                      <a16:creationId xmlns:a16="http://schemas.microsoft.com/office/drawing/2014/main" id="{A6A23C3D-2BA4-42EE-9881-70C6F666F1B8}"/>
                    </a:ext>
                  </a:extLst>
                </p:cNvPr>
                <p:cNvSpPr/>
                <p:nvPr/>
              </p:nvSpPr>
              <p:spPr>
                <a:xfrm>
                  <a:off x="1141708" y="656095"/>
                  <a:ext cx="1067435" cy="17068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4" name="矩形: 圓角 13">
                  <a:extLst>
                    <a:ext uri="{FF2B5EF4-FFF2-40B4-BE49-F238E27FC236}">
                      <a16:creationId xmlns:a16="http://schemas.microsoft.com/office/drawing/2014/main" id="{6A546BCA-7DE0-4709-9997-92CBF06A9D6F}"/>
                    </a:ext>
                  </a:extLst>
                </p:cNvPr>
                <p:cNvSpPr/>
                <p:nvPr/>
              </p:nvSpPr>
              <p:spPr>
                <a:xfrm>
                  <a:off x="1245030" y="955729"/>
                  <a:ext cx="836930" cy="16294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5" name="矩形: 圓角 14">
                  <a:extLst>
                    <a:ext uri="{FF2B5EF4-FFF2-40B4-BE49-F238E27FC236}">
                      <a16:creationId xmlns:a16="http://schemas.microsoft.com/office/drawing/2014/main" id="{656CFF56-F9D1-4DE4-BE5C-94244B5644C2}"/>
                    </a:ext>
                  </a:extLst>
                </p:cNvPr>
                <p:cNvSpPr/>
                <p:nvPr/>
              </p:nvSpPr>
              <p:spPr>
                <a:xfrm>
                  <a:off x="780081" y="1260529"/>
                  <a:ext cx="1783080" cy="15443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6" name="矩形: 圓角 15">
                  <a:extLst>
                    <a:ext uri="{FF2B5EF4-FFF2-40B4-BE49-F238E27FC236}">
                      <a16:creationId xmlns:a16="http://schemas.microsoft.com/office/drawing/2014/main" id="{18AB0E48-51E6-41B1-BB20-4A221ED91508}"/>
                    </a:ext>
                  </a:extLst>
                </p:cNvPr>
                <p:cNvSpPr/>
                <p:nvPr/>
              </p:nvSpPr>
              <p:spPr>
                <a:xfrm>
                  <a:off x="1467173" y="1570495"/>
                  <a:ext cx="393700" cy="167005"/>
                </a:xfrm>
                <a:prstGeom prst="roundRect">
                  <a:avLst>
                    <a:gd name="adj" fmla="val 1656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7" name="矩形: 圓角 16">
                  <a:extLst>
                    <a:ext uri="{FF2B5EF4-FFF2-40B4-BE49-F238E27FC236}">
                      <a16:creationId xmlns:a16="http://schemas.microsoft.com/office/drawing/2014/main" id="{44570AB4-3271-43DA-90EF-098AF5834CB0}"/>
                    </a:ext>
                  </a:extLst>
                </p:cNvPr>
                <p:cNvSpPr/>
                <p:nvPr/>
              </p:nvSpPr>
              <p:spPr>
                <a:xfrm>
                  <a:off x="1119017" y="2350576"/>
                  <a:ext cx="1087568"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8" name="矩形: 圓角 17">
                  <a:extLst>
                    <a:ext uri="{FF2B5EF4-FFF2-40B4-BE49-F238E27FC236}">
                      <a16:creationId xmlns:a16="http://schemas.microsoft.com/office/drawing/2014/main" id="{8B0FD7FE-28E4-470A-8698-6BEBCA13D166}"/>
                    </a:ext>
                  </a:extLst>
                </p:cNvPr>
                <p:cNvSpPr/>
                <p:nvPr/>
              </p:nvSpPr>
              <p:spPr>
                <a:xfrm>
                  <a:off x="2712203" y="1766806"/>
                  <a:ext cx="1087568"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19" name="矩形: 圓角 18">
                  <a:extLst>
                    <a:ext uri="{FF2B5EF4-FFF2-40B4-BE49-F238E27FC236}">
                      <a16:creationId xmlns:a16="http://schemas.microsoft.com/office/drawing/2014/main" id="{C1E5BB3E-B98A-4A96-9E96-7E3B62A41ACD}"/>
                    </a:ext>
                  </a:extLst>
                </p:cNvPr>
                <p:cNvSpPr/>
                <p:nvPr/>
              </p:nvSpPr>
              <p:spPr>
                <a:xfrm>
                  <a:off x="2748366" y="2934345"/>
                  <a:ext cx="1054923"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0" name="矩形: 圓角 19">
                  <a:extLst>
                    <a:ext uri="{FF2B5EF4-FFF2-40B4-BE49-F238E27FC236}">
                      <a16:creationId xmlns:a16="http://schemas.microsoft.com/office/drawing/2014/main" id="{AE4438C7-2E52-4CDD-838C-C74BC4F8CD1B}"/>
                    </a:ext>
                  </a:extLst>
                </p:cNvPr>
                <p:cNvSpPr/>
                <p:nvPr/>
              </p:nvSpPr>
              <p:spPr>
                <a:xfrm>
                  <a:off x="2381573" y="3233979"/>
                  <a:ext cx="1770585" cy="160986"/>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1" name="矩形: 圓角 20">
                  <a:extLst>
                    <a:ext uri="{FF2B5EF4-FFF2-40B4-BE49-F238E27FC236}">
                      <a16:creationId xmlns:a16="http://schemas.microsoft.com/office/drawing/2014/main" id="{81FECF50-F3F0-49D0-9613-93E556D2FBCF}"/>
                    </a:ext>
                  </a:extLst>
                </p:cNvPr>
                <p:cNvSpPr/>
                <p:nvPr/>
              </p:nvSpPr>
              <p:spPr>
                <a:xfrm>
                  <a:off x="346129" y="2934345"/>
                  <a:ext cx="321658"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2" name="矩形: 圓角 21">
                  <a:extLst>
                    <a:ext uri="{FF2B5EF4-FFF2-40B4-BE49-F238E27FC236}">
                      <a16:creationId xmlns:a16="http://schemas.microsoft.com/office/drawing/2014/main" id="{6EB832CA-33FA-4875-9023-3E599728F8A0}"/>
                    </a:ext>
                  </a:extLst>
                </p:cNvPr>
                <p:cNvSpPr/>
                <p:nvPr/>
              </p:nvSpPr>
              <p:spPr>
                <a:xfrm>
                  <a:off x="0" y="3223647"/>
                  <a:ext cx="1054923" cy="16709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3" name="矩形: 圓角 22">
                  <a:extLst>
                    <a:ext uri="{FF2B5EF4-FFF2-40B4-BE49-F238E27FC236}">
                      <a16:creationId xmlns:a16="http://schemas.microsoft.com/office/drawing/2014/main" id="{BEBFCEF4-8FAC-4EAF-9AF2-176B17782C6D}"/>
                    </a:ext>
                  </a:extLst>
                </p:cNvPr>
                <p:cNvSpPr/>
                <p:nvPr/>
              </p:nvSpPr>
              <p:spPr>
                <a:xfrm>
                  <a:off x="193731" y="3744925"/>
                  <a:ext cx="669514" cy="167425"/>
                </a:xfrm>
                <a:prstGeom prst="roundRect">
                  <a:avLst>
                    <a:gd name="adj" fmla="val 245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4" name="流程圖: 決策 23">
                  <a:extLst>
                    <a:ext uri="{FF2B5EF4-FFF2-40B4-BE49-F238E27FC236}">
                      <a16:creationId xmlns:a16="http://schemas.microsoft.com/office/drawing/2014/main" id="{97786454-CD3E-4CD1-B25C-FC2F48E9ED97}"/>
                    </a:ext>
                  </a:extLst>
                </p:cNvPr>
                <p:cNvSpPr/>
                <p:nvPr/>
              </p:nvSpPr>
              <p:spPr>
                <a:xfrm>
                  <a:off x="1377909" y="3125133"/>
                  <a:ext cx="569541" cy="386080"/>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5" name="流程圖: 決策 24">
                  <a:extLst>
                    <a:ext uri="{FF2B5EF4-FFF2-40B4-BE49-F238E27FC236}">
                      <a16:creationId xmlns:a16="http://schemas.microsoft.com/office/drawing/2014/main" id="{4D31D40A-A971-47EA-829D-2C89F59BA1B2}"/>
                    </a:ext>
                  </a:extLst>
                </p:cNvPr>
                <p:cNvSpPr/>
                <p:nvPr/>
              </p:nvSpPr>
              <p:spPr>
                <a:xfrm>
                  <a:off x="978330" y="3635321"/>
                  <a:ext cx="1377412" cy="386634"/>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7" name="流程圖: 決策 26">
                  <a:extLst>
                    <a:ext uri="{FF2B5EF4-FFF2-40B4-BE49-F238E27FC236}">
                      <a16:creationId xmlns:a16="http://schemas.microsoft.com/office/drawing/2014/main" id="{B1E2F42F-8315-448D-891E-D8CAC5D4305C}"/>
                    </a:ext>
                  </a:extLst>
                </p:cNvPr>
                <p:cNvSpPr/>
                <p:nvPr/>
              </p:nvSpPr>
              <p:spPr>
                <a:xfrm>
                  <a:off x="2648596" y="2059660"/>
                  <a:ext cx="1240894" cy="746931"/>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sp>
              <p:nvSpPr>
                <p:cNvPr id="28" name="橢圓 27">
                  <a:extLst>
                    <a:ext uri="{FF2B5EF4-FFF2-40B4-BE49-F238E27FC236}">
                      <a16:creationId xmlns:a16="http://schemas.microsoft.com/office/drawing/2014/main" id="{D532C4C6-8478-462D-ADAE-6163FEF84C45}"/>
                    </a:ext>
                  </a:extLst>
                </p:cNvPr>
                <p:cNvSpPr/>
                <p:nvPr/>
              </p:nvSpPr>
              <p:spPr>
                <a:xfrm>
                  <a:off x="1384515" y="4639159"/>
                  <a:ext cx="573110" cy="23181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sz="1050"/>
                </a:p>
              </p:txBody>
            </p:sp>
            <p:cxnSp>
              <p:nvCxnSpPr>
                <p:cNvPr id="29" name="直線單箭頭接點 28">
                  <a:extLst>
                    <a:ext uri="{FF2B5EF4-FFF2-40B4-BE49-F238E27FC236}">
                      <a16:creationId xmlns:a16="http://schemas.microsoft.com/office/drawing/2014/main" id="{5EC861CD-1C49-4DFE-ADA5-7C2BC5D2F9E3}"/>
                    </a:ext>
                  </a:extLst>
                </p:cNvPr>
                <p:cNvCxnSpPr/>
                <p:nvPr/>
              </p:nvCxnSpPr>
              <p:spPr>
                <a:xfrm>
                  <a:off x="1665745" y="232474"/>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直線單箭頭接點 29">
                  <a:extLst>
                    <a:ext uri="{FF2B5EF4-FFF2-40B4-BE49-F238E27FC236}">
                      <a16:creationId xmlns:a16="http://schemas.microsoft.com/office/drawing/2014/main" id="{94F23EA4-FF93-4F6A-857D-7D5F3ABEAF8F}"/>
                    </a:ext>
                  </a:extLst>
                </p:cNvPr>
                <p:cNvCxnSpPr/>
                <p:nvPr/>
              </p:nvCxnSpPr>
              <p:spPr>
                <a:xfrm>
                  <a:off x="1660579" y="526942"/>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直線單箭頭接點 30">
                  <a:extLst>
                    <a:ext uri="{FF2B5EF4-FFF2-40B4-BE49-F238E27FC236}">
                      <a16:creationId xmlns:a16="http://schemas.microsoft.com/office/drawing/2014/main" id="{CF7D8C73-994E-4BD4-8781-57089FB50187}"/>
                    </a:ext>
                  </a:extLst>
                </p:cNvPr>
                <p:cNvCxnSpPr/>
                <p:nvPr/>
              </p:nvCxnSpPr>
              <p:spPr>
                <a:xfrm>
                  <a:off x="1665745" y="831742"/>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直線單箭頭接點 31">
                  <a:extLst>
                    <a:ext uri="{FF2B5EF4-FFF2-40B4-BE49-F238E27FC236}">
                      <a16:creationId xmlns:a16="http://schemas.microsoft.com/office/drawing/2014/main" id="{9EF61CF3-DEAF-4568-AD5A-8D399912E698}"/>
                    </a:ext>
                  </a:extLst>
                </p:cNvPr>
                <p:cNvCxnSpPr/>
                <p:nvPr/>
              </p:nvCxnSpPr>
              <p:spPr>
                <a:xfrm>
                  <a:off x="1665745" y="1131376"/>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直線單箭頭接點 32">
                  <a:extLst>
                    <a:ext uri="{FF2B5EF4-FFF2-40B4-BE49-F238E27FC236}">
                      <a16:creationId xmlns:a16="http://schemas.microsoft.com/office/drawing/2014/main" id="{1F252B6C-FCA2-46EF-9167-A752B8687466}"/>
                    </a:ext>
                  </a:extLst>
                </p:cNvPr>
                <p:cNvCxnSpPr/>
                <p:nvPr/>
              </p:nvCxnSpPr>
              <p:spPr>
                <a:xfrm>
                  <a:off x="1665745" y="1441342"/>
                  <a:ext cx="0" cy="128833"/>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直線單箭頭接點 33">
                  <a:extLst>
                    <a:ext uri="{FF2B5EF4-FFF2-40B4-BE49-F238E27FC236}">
                      <a16:creationId xmlns:a16="http://schemas.microsoft.com/office/drawing/2014/main" id="{A7177AD6-AAE1-4DFB-AFF7-40A28875396B}"/>
                    </a:ext>
                  </a:extLst>
                </p:cNvPr>
                <p:cNvCxnSpPr>
                  <a:cxnSpLocks/>
                  <a:stCxn id="16" idx="2"/>
                  <a:endCxn id="17" idx="0"/>
                </p:cNvCxnSpPr>
                <p:nvPr/>
              </p:nvCxnSpPr>
              <p:spPr>
                <a:xfrm flipH="1">
                  <a:off x="1662801" y="1737501"/>
                  <a:ext cx="1222" cy="613075"/>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直線單箭頭接點 34">
                  <a:extLst>
                    <a:ext uri="{FF2B5EF4-FFF2-40B4-BE49-F238E27FC236}">
                      <a16:creationId xmlns:a16="http://schemas.microsoft.com/office/drawing/2014/main" id="{304782C8-00DD-4366-A084-030FC6055FC7}"/>
                    </a:ext>
                  </a:extLst>
                </p:cNvPr>
                <p:cNvCxnSpPr>
                  <a:cxnSpLocks/>
                  <a:stCxn id="17" idx="2"/>
                  <a:endCxn id="24" idx="0"/>
                </p:cNvCxnSpPr>
                <p:nvPr/>
              </p:nvCxnSpPr>
              <p:spPr>
                <a:xfrm flipH="1">
                  <a:off x="1662679" y="2518001"/>
                  <a:ext cx="122" cy="60713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直線單箭頭接點 141">
                  <a:extLst>
                    <a:ext uri="{FF2B5EF4-FFF2-40B4-BE49-F238E27FC236}">
                      <a16:creationId xmlns:a16="http://schemas.microsoft.com/office/drawing/2014/main" id="{CFF15E2F-B001-45D9-869A-1333E0C9F245}"/>
                    </a:ext>
                  </a:extLst>
                </p:cNvPr>
                <p:cNvCxnSpPr/>
                <p:nvPr/>
              </p:nvCxnSpPr>
              <p:spPr>
                <a:xfrm rot="5400000" flipH="1" flipV="1">
                  <a:off x="566877" y="2374260"/>
                  <a:ext cx="506035" cy="611761"/>
                </a:xfrm>
                <a:prstGeom prst="bentConnector3">
                  <a:avLst>
                    <a:gd name="adj1" fmla="val 100252"/>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直線單箭頭接點 36">
                  <a:extLst>
                    <a:ext uri="{FF2B5EF4-FFF2-40B4-BE49-F238E27FC236}">
                      <a16:creationId xmlns:a16="http://schemas.microsoft.com/office/drawing/2014/main" id="{87097A04-989D-4536-B8A7-0D51896EEDED}"/>
                    </a:ext>
                  </a:extLst>
                </p:cNvPr>
                <p:cNvCxnSpPr/>
                <p:nvPr/>
              </p:nvCxnSpPr>
              <p:spPr>
                <a:xfrm flipV="1">
                  <a:off x="513704" y="3101598"/>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直線單箭頭接點 37">
                  <a:extLst>
                    <a:ext uri="{FF2B5EF4-FFF2-40B4-BE49-F238E27FC236}">
                      <a16:creationId xmlns:a16="http://schemas.microsoft.com/office/drawing/2014/main" id="{E77317CD-A6B0-4EE6-A7EE-2212D2EFD9A4}"/>
                    </a:ext>
                  </a:extLst>
                </p:cNvPr>
                <p:cNvCxnSpPr>
                  <a:stCxn id="23" idx="0"/>
                </p:cNvCxnSpPr>
                <p:nvPr/>
              </p:nvCxnSpPr>
              <p:spPr>
                <a:xfrm flipH="1" flipV="1">
                  <a:off x="525273" y="3390742"/>
                  <a:ext cx="3215" cy="35418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直線單箭頭接點 141">
                  <a:extLst>
                    <a:ext uri="{FF2B5EF4-FFF2-40B4-BE49-F238E27FC236}">
                      <a16:creationId xmlns:a16="http://schemas.microsoft.com/office/drawing/2014/main" id="{6B5B2DBD-0D3B-417E-A3A4-883A51DD5ECC}"/>
                    </a:ext>
                  </a:extLst>
                </p:cNvPr>
                <p:cNvCxnSpPr>
                  <a:stCxn id="25" idx="1"/>
                  <a:endCxn id="23" idx="3"/>
                </p:cNvCxnSpPr>
                <p:nvPr/>
              </p:nvCxnSpPr>
              <p:spPr>
                <a:xfrm rot="10800000">
                  <a:off x="863245" y="3828639"/>
                  <a:ext cx="115085" cy="1"/>
                </a:xfrm>
                <a:prstGeom prst="bentConnector3">
                  <a:avLst>
                    <a:gd name="adj1" fmla="val 50000"/>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直線單箭頭接點 40">
                  <a:extLst>
                    <a:ext uri="{FF2B5EF4-FFF2-40B4-BE49-F238E27FC236}">
                      <a16:creationId xmlns:a16="http://schemas.microsoft.com/office/drawing/2014/main" id="{DDE2268F-1C77-4D50-BB4C-DC073D2BA2C3}"/>
                    </a:ext>
                  </a:extLst>
                </p:cNvPr>
                <p:cNvCxnSpPr/>
                <p:nvPr/>
              </p:nvCxnSpPr>
              <p:spPr>
                <a:xfrm flipV="1">
                  <a:off x="3277569" y="2807130"/>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2" name="直線單箭頭接點 41">
                  <a:extLst>
                    <a:ext uri="{FF2B5EF4-FFF2-40B4-BE49-F238E27FC236}">
                      <a16:creationId xmlns:a16="http://schemas.microsoft.com/office/drawing/2014/main" id="{B2233D26-A663-4087-B0B6-899005706880}"/>
                    </a:ext>
                  </a:extLst>
                </p:cNvPr>
                <p:cNvCxnSpPr/>
                <p:nvPr/>
              </p:nvCxnSpPr>
              <p:spPr>
                <a:xfrm flipV="1">
                  <a:off x="3277569" y="3111930"/>
                  <a:ext cx="0" cy="12229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3" name="文字方塊 2">
                  <a:extLst>
                    <a:ext uri="{FF2B5EF4-FFF2-40B4-BE49-F238E27FC236}">
                      <a16:creationId xmlns:a16="http://schemas.microsoft.com/office/drawing/2014/main" id="{B6482EFB-B89E-4E76-9073-BCEDBEF604C5}"/>
                    </a:ext>
                  </a:extLst>
                </p:cNvPr>
                <p:cNvSpPr txBox="1">
                  <a:spLocks noChangeArrowheads="1"/>
                </p:cNvSpPr>
                <p:nvPr/>
              </p:nvSpPr>
              <p:spPr bwMode="auto">
                <a:xfrm>
                  <a:off x="2927490" y="2106621"/>
                  <a:ext cx="879021" cy="193791"/>
                </a:xfrm>
                <a:prstGeom prst="rect">
                  <a:avLst/>
                </a:prstGeom>
                <a:noFill/>
                <a:ln w="9525">
                  <a:noFill/>
                  <a:miter lim="800000"/>
                  <a:headEnd/>
                  <a:tailEnd/>
                </a:ln>
              </p:spPr>
              <p:txBody>
                <a:bodyPr rot="0" vert="horz" wrap="square" lIns="91440" tIns="45720" rIns="91440" bIns="45720" anchor="t" anchorCtr="0">
                  <a:noAutofit/>
                </a:bodyPr>
                <a:lstStyle/>
                <a:p>
                  <a:pPr marL="226695">
                    <a:spcAft>
                      <a:spcPts val="0"/>
                    </a:spcAft>
                  </a:pPr>
                  <a:r>
                    <a:rPr lang="en-US" sz="1050" b="1" i="1" u="sng" kern="100" dirty="0">
                      <a:effectLst/>
                      <a:latin typeface="Calibri" panose="020F0502020204030204" pitchFamily="34" charset="0"/>
                      <a:ea typeface="新細明體" panose="02020500000000000000" pitchFamily="18" charset="-120"/>
                      <a:cs typeface="Times New Roman" panose="02020603050405020304" pitchFamily="18" charset="0"/>
                    </a:rPr>
                    <a:t>1.Cp&lt;0</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4" name="文字方塊 2">
                      <a:extLst>
                        <a:ext uri="{FF2B5EF4-FFF2-40B4-BE49-F238E27FC236}">
                          <a16:creationId xmlns:a16="http://schemas.microsoft.com/office/drawing/2014/main" id="{21600491-3553-433F-8135-B76BE97CB798}"/>
                        </a:ext>
                      </a:extLst>
                    </p:cNvPr>
                    <p:cNvSpPr txBox="1">
                      <a:spLocks noChangeArrowheads="1"/>
                    </p:cNvSpPr>
                    <p:nvPr/>
                  </p:nvSpPr>
                  <p:spPr bwMode="auto">
                    <a:xfrm>
                      <a:off x="2643599" y="2374859"/>
                      <a:ext cx="1430976" cy="245141"/>
                    </a:xfrm>
                    <a:prstGeom prst="rect">
                      <a:avLst/>
                    </a:prstGeom>
                    <a:noFill/>
                    <a:ln w="9525">
                      <a:noFill/>
                      <a:miter lim="800000"/>
                      <a:headEnd/>
                      <a:tailEnd/>
                    </a:ln>
                  </p:spPr>
                  <p:txBody>
                    <a:bodyPr rot="0" vert="horz" wrap="square" lIns="91440" tIns="45720" rIns="91440" bIns="45720" anchor="t" anchorCtr="0">
                      <a:noAutofit/>
                    </a:bodyPr>
                    <a:lstStyle/>
                    <a:p>
                      <a:pPr marL="228600">
                        <a:spcAft>
                          <a:spcPts val="0"/>
                        </a:spcAft>
                      </a:pPr>
                      <a14:m>
                        <m:oMathPara xmlns:m="http://schemas.openxmlformats.org/officeDocument/2006/math">
                          <m:oMathParaPr>
                            <m:jc m:val="centerGroup"/>
                          </m:oMathParaPr>
                          <m:oMath xmlns:m="http://schemas.openxmlformats.org/officeDocument/2006/math">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𝟐</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𝝆</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&lt;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𝒆𝒙𝒑</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𝑪𝒑</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𝑻</m:t>
                            </m:r>
                            <m:r>
                              <a:rPr lang="en-US" sz="1050" b="1" i="1" u="sng" kern="100">
                                <a:effectLst/>
                                <a:latin typeface="Cambria Math" panose="02040503050406030204" pitchFamily="18" charset="0"/>
                                <a:ea typeface="新細明體" panose="02020500000000000000" pitchFamily="18" charset="-120"/>
                                <a:cs typeface="Times New Roman" panose="02020603050405020304" pitchFamily="18" charset="0"/>
                              </a:rPr>
                              <m:t>)</m:t>
                            </m:r>
                          </m:oMath>
                        </m:oMathPara>
                      </a14:m>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26695">
                        <a:spcAft>
                          <a:spcPts val="0"/>
                        </a:spcAft>
                      </a:pPr>
                      <a:r>
                        <a:rPr lang="en-US" sz="1050" b="1" i="1" u="none" strike="noStrike" kern="100" dirty="0">
                          <a:effectLst/>
                          <a:latin typeface="Calibri" panose="020F0502020204030204" pitchFamily="34" charset="0"/>
                          <a:ea typeface="新細明體" panose="02020500000000000000" pitchFamily="18" charset="-120"/>
                          <a:cs typeface="Times New Roman" panose="02020603050405020304" pitchFamily="18" charset="0"/>
                        </a:rPr>
                        <a:t> </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44" name="文字方塊 2">
                      <a:extLst>
                        <a:ext uri="{FF2B5EF4-FFF2-40B4-BE49-F238E27FC236}">
                          <a16:creationId xmlns:a16="http://schemas.microsoft.com/office/drawing/2014/main" id="{21600491-3553-433F-8135-B76BE97CB798}"/>
                        </a:ext>
                      </a:extLst>
                    </p:cNvPr>
                    <p:cNvSpPr txBox="1">
                      <a:spLocks noRot="1" noChangeAspect="1" noMove="1" noResize="1" noEditPoints="1" noAdjustHandles="1" noChangeArrowheads="1" noChangeShapeType="1" noTextEdit="1"/>
                    </p:cNvSpPr>
                    <p:nvPr/>
                  </p:nvSpPr>
                  <p:spPr bwMode="auto">
                    <a:xfrm>
                      <a:off x="2643599" y="2374859"/>
                      <a:ext cx="1430976" cy="245141"/>
                    </a:xfrm>
                    <a:prstGeom prst="rect">
                      <a:avLst/>
                    </a:prstGeom>
                    <a:blipFill>
                      <a:blip r:embed="rId3"/>
                      <a:stretch>
                        <a:fillRect/>
                      </a:stretch>
                    </a:blipFill>
                    <a:ln w="9525">
                      <a:noFill/>
                      <a:miter lim="800000"/>
                      <a:headEnd/>
                      <a:tailEnd/>
                    </a:ln>
                  </p:spPr>
                  <p:txBody>
                    <a:bodyPr/>
                    <a:lstStyle/>
                    <a:p>
                      <a:r>
                        <a:rPr lang="zh-TW" altLang="en-US">
                          <a:noFill/>
                        </a:rPr>
                        <a:t> </a:t>
                      </a:r>
                    </a:p>
                  </p:txBody>
                </p:sp>
              </mc:Fallback>
            </mc:AlternateContent>
            <p:sp>
              <p:nvSpPr>
                <p:cNvPr id="45" name="文字方塊 2">
                  <a:extLst>
                    <a:ext uri="{FF2B5EF4-FFF2-40B4-BE49-F238E27FC236}">
                      <a16:creationId xmlns:a16="http://schemas.microsoft.com/office/drawing/2014/main" id="{E866DDE4-1569-4AFF-B68E-1747CFC22442}"/>
                    </a:ext>
                  </a:extLst>
                </p:cNvPr>
                <p:cNvSpPr txBox="1">
                  <a:spLocks noChangeArrowheads="1"/>
                </p:cNvSpPr>
                <p:nvPr/>
              </p:nvSpPr>
              <p:spPr bwMode="auto">
                <a:xfrm>
                  <a:off x="2398115" y="2223798"/>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yes</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7" name="文字方塊 2">
                  <a:extLst>
                    <a:ext uri="{FF2B5EF4-FFF2-40B4-BE49-F238E27FC236}">
                      <a16:creationId xmlns:a16="http://schemas.microsoft.com/office/drawing/2014/main" id="{AD900190-027D-42E6-9363-58644F9BEC69}"/>
                    </a:ext>
                  </a:extLst>
                </p:cNvPr>
                <p:cNvSpPr txBox="1">
                  <a:spLocks noChangeArrowheads="1"/>
                </p:cNvSpPr>
                <p:nvPr/>
              </p:nvSpPr>
              <p:spPr bwMode="auto">
                <a:xfrm>
                  <a:off x="706442" y="3582171"/>
                  <a:ext cx="504701" cy="294640"/>
                </a:xfrm>
                <a:prstGeom prst="rect">
                  <a:avLst/>
                </a:prstGeom>
                <a:noFill/>
                <a:ln w="9525">
                  <a:noFill/>
                  <a:miter lim="800000"/>
                  <a:headEnd/>
                  <a:tailEnd/>
                </a:ln>
              </p:spPr>
              <p:txBody>
                <a:bodyPr rot="0" vert="horz" wrap="square" lIns="91440" tIns="45720" rIns="91440" bIns="45720" anchor="t" anchorCtr="0">
                  <a:noAutofit/>
                </a:bodyPr>
                <a:lstStyle/>
                <a:p>
                  <a:pPr algn="ct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yes</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8" name="文字方塊 2">
                  <a:extLst>
                    <a:ext uri="{FF2B5EF4-FFF2-40B4-BE49-F238E27FC236}">
                      <a16:creationId xmlns:a16="http://schemas.microsoft.com/office/drawing/2014/main" id="{8B0705FA-6F74-4AF8-92F9-E8B6D7EA8601}"/>
                    </a:ext>
                  </a:extLst>
                </p:cNvPr>
                <p:cNvSpPr txBox="1">
                  <a:spLocks noChangeArrowheads="1"/>
                </p:cNvSpPr>
                <p:nvPr/>
              </p:nvSpPr>
              <p:spPr bwMode="auto">
                <a:xfrm>
                  <a:off x="1994115" y="3128065"/>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no</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9" name="文字方塊 2">
                  <a:extLst>
                    <a:ext uri="{FF2B5EF4-FFF2-40B4-BE49-F238E27FC236}">
                      <a16:creationId xmlns:a16="http://schemas.microsoft.com/office/drawing/2014/main" id="{C82F339A-189B-46B9-B17C-BB309AE03E0B}"/>
                    </a:ext>
                  </a:extLst>
                </p:cNvPr>
                <p:cNvSpPr txBox="1">
                  <a:spLocks noChangeArrowheads="1"/>
                </p:cNvSpPr>
                <p:nvPr/>
              </p:nvSpPr>
              <p:spPr bwMode="auto">
                <a:xfrm>
                  <a:off x="1440784" y="3447549"/>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dirty="0">
                      <a:effectLst/>
                      <a:latin typeface="Calibri" panose="020F0502020204030204" pitchFamily="34" charset="0"/>
                      <a:ea typeface="新細明體" panose="02020500000000000000" pitchFamily="18" charset="-120"/>
                      <a:cs typeface="Times New Roman" panose="02020603050405020304" pitchFamily="18" charset="0"/>
                    </a:rPr>
                    <a:t>yes</a:t>
                  </a:r>
                  <a:endParaRPr lang="zh-TW" sz="105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50" name="文字方塊 2">
                  <a:extLst>
                    <a:ext uri="{FF2B5EF4-FFF2-40B4-BE49-F238E27FC236}">
                      <a16:creationId xmlns:a16="http://schemas.microsoft.com/office/drawing/2014/main" id="{69FF2820-9B4E-441A-8D86-50A2E69401F2}"/>
                    </a:ext>
                  </a:extLst>
                </p:cNvPr>
                <p:cNvSpPr txBox="1">
                  <a:spLocks noChangeArrowheads="1"/>
                </p:cNvSpPr>
                <p:nvPr/>
              </p:nvSpPr>
              <p:spPr bwMode="auto">
                <a:xfrm>
                  <a:off x="2989265" y="1914638"/>
                  <a:ext cx="504701" cy="29464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50" b="1" i="1" kern="100">
                      <a:effectLst/>
                      <a:latin typeface="Calibri" panose="020F0502020204030204" pitchFamily="34" charset="0"/>
                      <a:ea typeface="新細明體" panose="02020500000000000000" pitchFamily="18" charset="-120"/>
                      <a:cs typeface="Times New Roman" panose="02020603050405020304" pitchFamily="18" charset="0"/>
                    </a:rPr>
                    <a:t>no</a:t>
                  </a:r>
                  <a:endParaRPr lang="zh-TW" sz="1050" kern="10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grpSp>
      <p:sp>
        <p:nvSpPr>
          <p:cNvPr id="134" name="Text Box 162">
            <a:extLst>
              <a:ext uri="{FF2B5EF4-FFF2-40B4-BE49-F238E27FC236}">
                <a16:creationId xmlns:a16="http://schemas.microsoft.com/office/drawing/2014/main" id="{69693BB7-D73A-4E87-B2A0-13801D0FDFAD}"/>
              </a:ext>
            </a:extLst>
          </p:cNvPr>
          <p:cNvSpPr txBox="1">
            <a:spLocks noChangeArrowheads="1"/>
          </p:cNvSpPr>
          <p:nvPr/>
        </p:nvSpPr>
        <p:spPr bwMode="auto">
          <a:xfrm>
            <a:off x="1381890" y="980178"/>
            <a:ext cx="2705100" cy="369332"/>
          </a:xfrm>
          <a:prstGeom prst="rect">
            <a:avLst/>
          </a:prstGeom>
          <a:noFill/>
          <a:ln w="9525">
            <a:noFill/>
            <a:miter lim="800000"/>
            <a:headEnd/>
            <a:tailEnd/>
          </a:ln>
        </p:spPr>
        <p:txBody>
          <a:bodyPr>
            <a:spAutoFit/>
          </a:bodyPr>
          <a:lstStyle/>
          <a:p>
            <a:pPr>
              <a:spcBef>
                <a:spcPct val="50000"/>
              </a:spcBef>
            </a:pPr>
            <a:r>
              <a:rPr kumimoji="0" lang="en-US" altLang="zh-TW" b="1" i="1" u="sng" dirty="0">
                <a:latin typeface="Times New Roman" pitchFamily="18" charset="0"/>
                <a:cs typeface="Times New Roman" pitchFamily="18" charset="0"/>
              </a:rPr>
              <a:t>Initial Condition:</a:t>
            </a:r>
          </a:p>
        </p:txBody>
      </p:sp>
      <p:sp>
        <p:nvSpPr>
          <p:cNvPr id="135" name="文字方塊 134">
            <a:extLst>
              <a:ext uri="{FF2B5EF4-FFF2-40B4-BE49-F238E27FC236}">
                <a16:creationId xmlns:a16="http://schemas.microsoft.com/office/drawing/2014/main" id="{939A596A-E0FD-4446-BD26-B969D9CB6205}"/>
              </a:ext>
            </a:extLst>
          </p:cNvPr>
          <p:cNvSpPr txBox="1"/>
          <p:nvPr/>
        </p:nvSpPr>
        <p:spPr>
          <a:xfrm>
            <a:off x="1381890" y="1275359"/>
            <a:ext cx="2448272" cy="1023165"/>
          </a:xfrm>
          <a:prstGeom prst="rect">
            <a:avLst/>
          </a:prstGeom>
          <a:noFill/>
        </p:spPr>
        <p:txBody>
          <a:bodyPr wrap="square" rtlCol="0">
            <a:spAutoFit/>
          </a:bodyPr>
          <a:lstStyle/>
          <a:p>
            <a:pPr>
              <a:lnSpc>
                <a:spcPct val="150000"/>
              </a:lnSpc>
            </a:pPr>
            <a:r>
              <a:rPr lang="en-US" altLang="zh-TW" sz="1400" i="1" dirty="0">
                <a:latin typeface="Times New Roman" pitchFamily="18" charset="0"/>
                <a:cs typeface="Times New Roman" pitchFamily="18" charset="0"/>
              </a:rPr>
              <a:t>N=Block Number</a:t>
            </a:r>
          </a:p>
          <a:p>
            <a:pPr>
              <a:lnSpc>
                <a:spcPct val="150000"/>
              </a:lnSpc>
            </a:pPr>
            <a:r>
              <a:rPr lang="en-US" altLang="zh-TW" sz="1400" i="1" dirty="0">
                <a:latin typeface="Times New Roman" pitchFamily="18" charset="0"/>
                <a:cs typeface="Times New Roman" pitchFamily="18" charset="0"/>
              </a:rPr>
              <a:t>T=Annealing Temperature</a:t>
            </a:r>
          </a:p>
          <a:p>
            <a:pPr>
              <a:lnSpc>
                <a:spcPct val="150000"/>
              </a:lnSpc>
            </a:pPr>
            <a:r>
              <a:rPr lang="en-US" altLang="zh-TW" sz="1400" i="1" dirty="0">
                <a:latin typeface="Times New Roman" pitchFamily="18" charset="0"/>
                <a:cs typeface="Times New Roman" pitchFamily="18" charset="0"/>
              </a:rPr>
              <a:t>Tre=Reduction Factor for T</a:t>
            </a:r>
          </a:p>
        </p:txBody>
      </p:sp>
      <p:sp>
        <p:nvSpPr>
          <p:cNvPr id="3" name="投影片編號版面配置區 2">
            <a:extLst>
              <a:ext uri="{FF2B5EF4-FFF2-40B4-BE49-F238E27FC236}">
                <a16:creationId xmlns:a16="http://schemas.microsoft.com/office/drawing/2014/main" id="{A63A8A5E-C176-465E-BB2F-49745495FBC7}"/>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19</a:t>
            </a:fld>
            <a:endParaRPr lang="zh-TW" altLang="en-US" dirty="0"/>
          </a:p>
        </p:txBody>
      </p:sp>
      <p:pic>
        <p:nvPicPr>
          <p:cNvPr id="79" name="圖片 78">
            <a:extLst>
              <a:ext uri="{FF2B5EF4-FFF2-40B4-BE49-F238E27FC236}">
                <a16:creationId xmlns:a16="http://schemas.microsoft.com/office/drawing/2014/main" id="{86CD117F-519C-48E9-BC29-9BE806CF72DA}"/>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203561" y="3859244"/>
            <a:ext cx="3623310" cy="2985135"/>
          </a:xfrm>
          <a:prstGeom prst="rect">
            <a:avLst/>
          </a:prstGeom>
          <a:noFill/>
        </p:spPr>
      </p:pic>
      <p:pic>
        <p:nvPicPr>
          <p:cNvPr id="80" name="圖片 79"/>
          <p:cNvPicPr>
            <a:picLocks noChangeAspect="1"/>
          </p:cNvPicPr>
          <p:nvPr/>
        </p:nvPicPr>
        <p:blipFill>
          <a:blip r:embed="rId5"/>
          <a:stretch>
            <a:fillRect/>
          </a:stretch>
        </p:blipFill>
        <p:spPr>
          <a:xfrm>
            <a:off x="1278238" y="2430336"/>
            <a:ext cx="4841317" cy="1280685"/>
          </a:xfrm>
          <a:prstGeom prst="rect">
            <a:avLst/>
          </a:prstGeom>
        </p:spPr>
      </p:pic>
    </p:spTree>
    <p:extLst>
      <p:ext uri="{BB962C8B-B14F-4D97-AF65-F5344CB8AC3E}">
        <p14:creationId xmlns:p14="http://schemas.microsoft.com/office/powerpoint/2010/main" val="138461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82101"/>
            <a:ext cx="11152166" cy="523220"/>
          </a:xfrm>
          <a:prstGeom prst="rect">
            <a:avLst/>
          </a:prstGeom>
          <a:solidFill>
            <a:srgbClr val="FFFFD8"/>
          </a:solidFill>
          <a:ln w="38100">
            <a:solidFill>
              <a:srgbClr val="8F9DFE"/>
            </a:solidFill>
          </a:ln>
        </p:spPr>
        <p:txBody>
          <a:bodyPr wrap="square" rtlCol="0">
            <a:spAutoFit/>
          </a:bodyPr>
          <a:lstStyle/>
          <a:p>
            <a:pPr algn="ctr">
              <a:spcBef>
                <a:spcPct val="50000"/>
              </a:spcBef>
            </a:pPr>
            <a:r>
              <a:rPr lang="en-US" altLang="zh-TW" sz="2800" b="1" dirty="0">
                <a:latin typeface="Times New Roman" pitchFamily="18" charset="0"/>
              </a:rPr>
              <a:t>APPLN Optical Parametric </a:t>
            </a:r>
            <a:r>
              <a:rPr lang="en-US" altLang="zh-TW" sz="2800" b="1" dirty="0">
                <a:latin typeface="Times New Roman" panose="02020603050405020304" pitchFamily="18" charset="0"/>
                <a:cs typeface="Times New Roman" panose="02020603050405020304" pitchFamily="18" charset="0"/>
              </a:rPr>
              <a:t>Oscillator</a:t>
            </a:r>
            <a:endParaRPr lang="en-US" altLang="zh-TW" sz="2800" b="1" dirty="0">
              <a:latin typeface="Times New Roman" pitchFamily="18" charset="0"/>
            </a:endParaRPr>
          </a:p>
        </p:txBody>
      </p:sp>
      <mc:AlternateContent xmlns:mc="http://schemas.openxmlformats.org/markup-compatibility/2006" xmlns:a14="http://schemas.microsoft.com/office/drawing/2010/main">
        <mc:Choice Requires="a14">
          <p:sp>
            <p:nvSpPr>
              <p:cNvPr id="14" name="Object 8">
                <a:extLst>
                  <a:ext uri="{FF2B5EF4-FFF2-40B4-BE49-F238E27FC236}">
                    <a16:creationId xmlns:a16="http://schemas.microsoft.com/office/drawing/2014/main" id="{38C067A4-8A52-4DD6-9073-C87CA30FBE96}"/>
                  </a:ext>
                </a:extLst>
              </p:cNvPr>
              <p:cNvSpPr txBox="1"/>
              <p:nvPr/>
            </p:nvSpPr>
            <p:spPr bwMode="auto">
              <a:xfrm>
                <a:off x="433635" y="1518978"/>
                <a:ext cx="8842129" cy="158591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TW" altLang="zh-TW" sz="1600" i="1">
                              <a:latin typeface="Cambria Math" panose="02040503050406030204" pitchFamily="18" charset="0"/>
                            </a:rPr>
                          </m:ctrlPr>
                        </m:sSubPr>
                        <m:e>
                          <m:r>
                            <a:rPr lang="en-US" altLang="zh-TW" sz="1600" i="1">
                              <a:latin typeface="Cambria Math" panose="02040503050406030204" pitchFamily="18" charset="0"/>
                            </a:rPr>
                            <m:t>𝐺</m:t>
                          </m:r>
                        </m:e>
                        <m:sub>
                          <m:r>
                            <a:rPr lang="en-US" altLang="zh-TW" sz="1600" i="1">
                              <a:latin typeface="Cambria Math" panose="02040503050406030204" pitchFamily="18" charset="0"/>
                            </a:rPr>
                            <m:t>𝑚</m:t>
                          </m:r>
                        </m:sub>
                      </m:sSub>
                      <m:r>
                        <a:rPr lang="en-US" altLang="zh-TW" sz="1600">
                          <a:latin typeface="Cambria Math" panose="02040503050406030204" pitchFamily="18" charset="0"/>
                        </a:rPr>
                        <m:t>=</m:t>
                      </m:r>
                      <m:f>
                        <m:fPr>
                          <m:ctrlPr>
                            <a:rPr lang="zh-TW" altLang="zh-TW" sz="1600" i="1">
                              <a:latin typeface="Cambria Math" panose="02040503050406030204" pitchFamily="18" charset="0"/>
                            </a:rPr>
                          </m:ctrlPr>
                        </m:fPr>
                        <m:num>
                          <m:r>
                            <a:rPr lang="en-US" altLang="zh-TW" sz="1600" i="1">
                              <a:latin typeface="Cambria Math" panose="02040503050406030204" pitchFamily="18" charset="0"/>
                            </a:rPr>
                            <m:t>1</m:t>
                          </m:r>
                        </m:num>
                        <m:den>
                          <m:r>
                            <a:rPr lang="en-US" altLang="zh-TW" sz="1600" i="1">
                              <a:latin typeface="Cambria Math" panose="02040503050406030204" pitchFamily="18" charset="0"/>
                            </a:rPr>
                            <m:t>𝐿</m:t>
                          </m:r>
                        </m:den>
                      </m:f>
                      <m:d>
                        <m:dPr>
                          <m:begChr m:val="|"/>
                          <m:endChr m:val="|"/>
                          <m:ctrlPr>
                            <a:rPr lang="zh-TW" altLang="zh-TW" sz="1600" i="1">
                              <a:latin typeface="Cambria Math" panose="02040503050406030204" pitchFamily="18" charset="0"/>
                            </a:rPr>
                          </m:ctrlPr>
                        </m:dPr>
                        <m:e>
                          <m:nary>
                            <m:naryPr>
                              <m:limLoc m:val="subSup"/>
                              <m:ctrlPr>
                                <a:rPr lang="zh-TW" altLang="zh-TW" sz="1600" i="1">
                                  <a:latin typeface="Cambria Math" panose="02040503050406030204" pitchFamily="18" charset="0"/>
                                </a:rPr>
                              </m:ctrlPr>
                            </m:naryPr>
                            <m:sub>
                              <m:r>
                                <a:rPr lang="en-US" altLang="zh-TW" sz="1600" i="1">
                                  <a:latin typeface="Cambria Math" panose="02040503050406030204" pitchFamily="18" charset="0"/>
                                </a:rPr>
                                <m:t>0</m:t>
                              </m:r>
                            </m:sub>
                            <m:sup>
                              <m:r>
                                <a:rPr lang="en-US" altLang="zh-TW" sz="1600" i="1">
                                  <a:latin typeface="Cambria Math" panose="02040503050406030204" pitchFamily="18" charset="0"/>
                                </a:rPr>
                                <m:t>𝐿</m:t>
                              </m:r>
                            </m:sup>
                            <m:e>
                              <m:r>
                                <a:rPr lang="en-US" altLang="zh-TW" sz="1600" i="1">
                                  <a:latin typeface="Cambria Math" panose="02040503050406030204" pitchFamily="18" charset="0"/>
                                </a:rPr>
                                <m:t>𝑑𝑥</m:t>
                              </m:r>
                            </m:e>
                          </m:nary>
                          <m:r>
                            <a:rPr lang="en-US" altLang="zh-TW" sz="1600" i="1">
                              <a:latin typeface="Cambria Math" panose="02040503050406030204" pitchFamily="18" charset="0"/>
                            </a:rPr>
                            <m:t>𝑒𝑥𝑝</m:t>
                          </m:r>
                          <m:d>
                            <m:dPr>
                              <m:begChr m:val="["/>
                              <m:endChr m:val="]"/>
                              <m:ctrlPr>
                                <a:rPr lang="zh-TW" altLang="zh-TW" sz="1600" i="1">
                                  <a:latin typeface="Cambria Math" panose="02040503050406030204" pitchFamily="18" charset="0"/>
                                </a:rPr>
                              </m:ctrlPr>
                            </m:dPr>
                            <m:e>
                              <m:r>
                                <a:rPr lang="en-US" altLang="zh-TW" sz="1600" i="1">
                                  <a:latin typeface="Cambria Math" panose="02040503050406030204" pitchFamily="18" charset="0"/>
                                </a:rPr>
                                <m:t>𝑗</m:t>
                              </m:r>
                              <m:d>
                                <m:dPr>
                                  <m:ctrlPr>
                                    <a:rPr lang="zh-TW" altLang="zh-TW" sz="1600" i="1">
                                      <a:latin typeface="Cambria Math" panose="02040503050406030204" pitchFamily="18" charset="0"/>
                                    </a:rPr>
                                  </m:ctrlPr>
                                </m:dPr>
                                <m:e>
                                  <m:sSub>
                                    <m:sSubPr>
                                      <m:ctrlPr>
                                        <a:rPr lang="zh-TW" altLang="zh-TW" sz="1600" i="1">
                                          <a:latin typeface="Cambria Math" panose="02040503050406030204" pitchFamily="18" charset="0"/>
                                        </a:rPr>
                                      </m:ctrlPr>
                                    </m:sSubPr>
                                    <m:e>
                                      <m:r>
                                        <a:rPr lang="en-US" altLang="zh-TW" sz="1600" i="1">
                                          <a:latin typeface="Cambria Math" panose="02040503050406030204" pitchFamily="18" charset="0"/>
                                        </a:rPr>
                                        <m:t>𝑘</m:t>
                                      </m:r>
                                    </m:e>
                                    <m:sub>
                                      <m:r>
                                        <a:rPr lang="en-US" altLang="zh-TW" sz="1600" i="1">
                                          <a:latin typeface="Cambria Math" panose="02040503050406030204" pitchFamily="18" charset="0"/>
                                        </a:rPr>
                                        <m:t>𝜔</m:t>
                                      </m:r>
                                      <m:r>
                                        <a:rPr lang="en-US" altLang="zh-TW" sz="1600" i="1">
                                          <a:latin typeface="Cambria Math" panose="02040503050406030204" pitchFamily="18" charset="0"/>
                                        </a:rPr>
                                        <m:t>3</m:t>
                                      </m:r>
                                    </m:sub>
                                  </m:sSub>
                                  <m:r>
                                    <a:rPr lang="en-US" altLang="zh-TW" sz="1600" i="1">
                                      <a:latin typeface="Cambria Math" panose="02040503050406030204" pitchFamily="18" charset="0"/>
                                    </a:rPr>
                                    <m:t>−</m:t>
                                  </m:r>
                                  <m:sSub>
                                    <m:sSubPr>
                                      <m:ctrlPr>
                                        <a:rPr lang="zh-TW" altLang="zh-TW" sz="1600" i="1">
                                          <a:latin typeface="Cambria Math" panose="02040503050406030204" pitchFamily="18" charset="0"/>
                                        </a:rPr>
                                      </m:ctrlPr>
                                    </m:sSubPr>
                                    <m:e>
                                      <m:r>
                                        <a:rPr lang="en-US" altLang="zh-TW" sz="1600" i="1">
                                          <a:latin typeface="Cambria Math" panose="02040503050406030204" pitchFamily="18" charset="0"/>
                                        </a:rPr>
                                        <m:t>𝑘</m:t>
                                      </m:r>
                                    </m:e>
                                    <m:sub>
                                      <m:r>
                                        <a:rPr lang="en-US" altLang="zh-TW" sz="1600" i="1">
                                          <a:latin typeface="Cambria Math" panose="02040503050406030204" pitchFamily="18" charset="0"/>
                                        </a:rPr>
                                        <m:t>𝜔</m:t>
                                      </m:r>
                                      <m:r>
                                        <a:rPr lang="en-US" altLang="zh-TW" sz="1600" i="1">
                                          <a:latin typeface="Cambria Math" panose="02040503050406030204" pitchFamily="18" charset="0"/>
                                        </a:rPr>
                                        <m:t>1</m:t>
                                      </m:r>
                                    </m:sub>
                                  </m:sSub>
                                  <m:r>
                                    <a:rPr lang="en-US" altLang="zh-TW" sz="1600" i="1">
                                      <a:latin typeface="Cambria Math" panose="02040503050406030204" pitchFamily="18" charset="0"/>
                                    </a:rPr>
                                    <m:t>−</m:t>
                                  </m:r>
                                  <m:sSub>
                                    <m:sSubPr>
                                      <m:ctrlPr>
                                        <a:rPr lang="zh-TW" altLang="zh-TW" sz="1600" i="1">
                                          <a:latin typeface="Cambria Math" panose="02040503050406030204" pitchFamily="18" charset="0"/>
                                        </a:rPr>
                                      </m:ctrlPr>
                                    </m:sSubPr>
                                    <m:e>
                                      <m:r>
                                        <a:rPr lang="en-US" altLang="zh-TW" sz="1600" i="1">
                                          <a:latin typeface="Cambria Math" panose="02040503050406030204" pitchFamily="18" charset="0"/>
                                        </a:rPr>
                                        <m:t>𝑘</m:t>
                                      </m:r>
                                    </m:e>
                                    <m:sub>
                                      <m:r>
                                        <a:rPr lang="en-US" altLang="zh-TW" sz="1600" i="1">
                                          <a:latin typeface="Cambria Math" panose="02040503050406030204" pitchFamily="18" charset="0"/>
                                        </a:rPr>
                                        <m:t>𝜔</m:t>
                                      </m:r>
                                      <m:r>
                                        <a:rPr lang="en-US" altLang="zh-TW" sz="1600" i="1">
                                          <a:latin typeface="Cambria Math" panose="02040503050406030204" pitchFamily="18" charset="0"/>
                                        </a:rPr>
                                        <m:t>2</m:t>
                                      </m:r>
                                    </m:sub>
                                  </m:sSub>
                                </m:e>
                              </m:d>
                              <m:r>
                                <a:rPr lang="en-US" altLang="zh-TW" sz="1600" i="1">
                                  <a:latin typeface="Cambria Math" panose="02040503050406030204" pitchFamily="18" charset="0"/>
                                </a:rPr>
                                <m:t>𝑥</m:t>
                              </m:r>
                            </m:e>
                          </m:d>
                          <m:r>
                            <m:rPr>
                              <m:sty m:val="p"/>
                            </m:rPr>
                            <a:rPr lang="en-US" altLang="zh-TW" sz="1600">
                              <a:latin typeface="Cambria Math" panose="02040503050406030204" pitchFamily="18" charset="0"/>
                            </a:rPr>
                            <m:t>Φ</m:t>
                          </m:r>
                          <m:r>
                            <a:rPr lang="en-US" altLang="zh-TW" sz="1600" i="1">
                              <a:latin typeface="Cambria Math" panose="02040503050406030204" pitchFamily="18" charset="0"/>
                            </a:rPr>
                            <m:t>(</m:t>
                          </m:r>
                          <m:r>
                            <a:rPr lang="en-US" altLang="zh-TW" sz="1600" i="1">
                              <a:latin typeface="Cambria Math" panose="02040503050406030204" pitchFamily="18" charset="0"/>
                            </a:rPr>
                            <m:t>𝑥</m:t>
                          </m:r>
                          <m:r>
                            <a:rPr lang="en-US" altLang="zh-TW" sz="1600" i="1">
                              <a:latin typeface="Cambria Math" panose="02040503050406030204" pitchFamily="18" charset="0"/>
                            </a:rPr>
                            <m:t>)</m:t>
                          </m:r>
                        </m:e>
                      </m:d>
                      <m:r>
                        <a:rPr lang="en-US" altLang="zh-TW" sz="1600" i="1">
                          <a:latin typeface="Cambria Math" panose="02040503050406030204" pitchFamily="18" charset="0"/>
                        </a:rPr>
                        <m:t>=</m:t>
                      </m:r>
                      <m:f>
                        <m:fPr>
                          <m:ctrlPr>
                            <a:rPr lang="zh-TW" altLang="zh-TW" sz="1600" i="1">
                              <a:latin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1</m:t>
                          </m:r>
                        </m:num>
                        <m:den>
                          <m:r>
                            <a:rPr lang="en-US" altLang="zh-TW" sz="1600" i="1">
                              <a:latin typeface="Cambria Math" panose="02040503050406030204" pitchFamily="18" charset="0"/>
                              <a:ea typeface="Cambria Math" panose="02040503050406030204" pitchFamily="18" charset="0"/>
                            </a:rPr>
                            <m:t>𝑁</m:t>
                          </m:r>
                        </m:den>
                      </m:f>
                      <m:d>
                        <m:dPr>
                          <m:begChr m:val="|"/>
                          <m:endChr m:val="|"/>
                          <m:ctrlPr>
                            <a:rPr lang="zh-TW" altLang="zh-TW" sz="1600" i="1">
                              <a:latin typeface="Cambria Math" panose="02040503050406030204" pitchFamily="18" charset="0"/>
                            </a:rPr>
                          </m:ctrlPr>
                        </m:dPr>
                        <m:e>
                          <m:func>
                            <m:funcPr>
                              <m:ctrlPr>
                                <a:rPr lang="zh-TW" altLang="zh-TW" sz="1600" i="1">
                                  <a:latin typeface="Cambria Math" panose="02040503050406030204" pitchFamily="18" charset="0"/>
                                </a:rPr>
                              </m:ctrlPr>
                            </m:funcPr>
                            <m:fName>
                              <m:r>
                                <m:rPr>
                                  <m:sty m:val="p"/>
                                </m:rPr>
                                <a:rPr lang="en-US" altLang="zh-TW" sz="1600">
                                  <a:latin typeface="Cambria Math" panose="02040503050406030204" pitchFamily="18" charset="0"/>
                                  <a:ea typeface="Cambria Math" panose="02040503050406030204" pitchFamily="18" charset="0"/>
                                </a:rPr>
                                <m:t>sinc</m:t>
                              </m:r>
                            </m:fName>
                            <m:e>
                              <m:r>
                                <a:rPr lang="en-US" altLang="zh-TW" sz="1600" i="1">
                                  <a:latin typeface="Cambria Math" panose="02040503050406030204" pitchFamily="18" charset="0"/>
                                  <a:ea typeface="Cambria Math" panose="02040503050406030204" pitchFamily="18" charset="0"/>
                                </a:rPr>
                                <m:t>(</m:t>
                              </m:r>
                              <m:f>
                                <m:fPr>
                                  <m:ctrlPr>
                                    <a:rPr lang="zh-TW" altLang="zh-TW" sz="1600" i="1">
                                      <a:latin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1</m:t>
                                  </m:r>
                                </m:num>
                                <m:den>
                                  <m:r>
                                    <a:rPr lang="en-US" altLang="zh-TW" sz="1600" i="1">
                                      <a:latin typeface="Cambria Math" panose="02040503050406030204" pitchFamily="18" charset="0"/>
                                      <a:ea typeface="Cambria Math" panose="02040503050406030204" pitchFamily="18" charset="0"/>
                                    </a:rPr>
                                    <m:t>2</m:t>
                                  </m:r>
                                  <m:sSub>
                                    <m:sSubPr>
                                      <m:ctrlPr>
                                        <a:rPr lang="zh-TW" altLang="zh-TW" sz="1600" i="1">
                                          <a:latin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𝐿</m:t>
                                      </m:r>
                                    </m:e>
                                    <m:sub>
                                      <m:r>
                                        <a:rPr lang="en-US" altLang="zh-TW" sz="1600" i="1">
                                          <a:latin typeface="Cambria Math" panose="02040503050406030204" pitchFamily="18" charset="0"/>
                                          <a:ea typeface="Cambria Math" panose="02040503050406030204" pitchFamily="18" charset="0"/>
                                        </a:rPr>
                                        <m:t>𝐶</m:t>
                                      </m:r>
                                    </m:sub>
                                  </m:sSub>
                                </m:den>
                              </m:f>
                              <m:r>
                                <a:rPr lang="en-US" altLang="zh-TW" sz="1600" i="1">
                                  <a:latin typeface="Cambria Math" panose="02040503050406030204" pitchFamily="18" charset="0"/>
                                  <a:ea typeface="Cambria Math" panose="02040503050406030204" pitchFamily="18" charset="0"/>
                                </a:rPr>
                                <m:t>∆</m:t>
                              </m:r>
                              <m:r>
                                <a:rPr lang="en-US" altLang="zh-TW" sz="1600" i="1">
                                  <a:latin typeface="Cambria Math" panose="02040503050406030204" pitchFamily="18" charset="0"/>
                                  <a:ea typeface="Cambria Math" panose="02040503050406030204" pitchFamily="18" charset="0"/>
                                </a:rPr>
                                <m:t>𝑥</m:t>
                              </m:r>
                              <m:r>
                                <a:rPr lang="en-US" altLang="zh-TW" sz="1600" i="1">
                                  <a:latin typeface="Cambria Math" panose="02040503050406030204" pitchFamily="18" charset="0"/>
                                  <a:ea typeface="Cambria Math" panose="02040503050406030204" pitchFamily="18" charset="0"/>
                                </a:rPr>
                                <m:t>)×</m:t>
                              </m:r>
                              <m:nary>
                                <m:naryPr>
                                  <m:chr m:val="∑"/>
                                  <m:limLoc m:val="undOvr"/>
                                  <m:ctrlPr>
                                    <a:rPr lang="zh-TW" altLang="zh-TW" sz="1600" i="1">
                                      <a:latin typeface="Cambria Math" panose="02040503050406030204" pitchFamily="18" charset="0"/>
                                    </a:rPr>
                                  </m:ctrlPr>
                                </m:naryPr>
                                <m:sub>
                                  <m:r>
                                    <a:rPr lang="en-US" altLang="zh-TW" sz="1600" i="1">
                                      <a:latin typeface="Cambria Math" panose="02040503050406030204" pitchFamily="18" charset="0"/>
                                      <a:ea typeface="Cambria Math" panose="02040503050406030204" pitchFamily="18" charset="0"/>
                                    </a:rPr>
                                    <m:t>𝑞</m:t>
                                  </m:r>
                                  <m:r>
                                    <a:rPr lang="en-US" altLang="zh-TW" sz="1600" i="1">
                                      <a:latin typeface="Cambria Math" panose="02040503050406030204" pitchFamily="18" charset="0"/>
                                      <a:ea typeface="Cambria Math" panose="02040503050406030204" pitchFamily="18" charset="0"/>
                                    </a:rPr>
                                    <m:t>=0</m:t>
                                  </m:r>
                                </m:sub>
                                <m:sup>
                                  <m:r>
                                    <a:rPr lang="en-US" altLang="zh-TW" sz="1600" i="1">
                                      <a:latin typeface="Cambria Math" panose="02040503050406030204" pitchFamily="18" charset="0"/>
                                      <a:ea typeface="Cambria Math" panose="02040503050406030204" pitchFamily="18" charset="0"/>
                                    </a:rPr>
                                    <m:t>𝑁</m:t>
                                  </m:r>
                                  <m:r>
                                    <a:rPr lang="en-US" altLang="zh-TW" sz="1600" i="1">
                                      <a:latin typeface="Cambria Math" panose="02040503050406030204" pitchFamily="18" charset="0"/>
                                      <a:ea typeface="Cambria Math" panose="02040503050406030204" pitchFamily="18" charset="0"/>
                                    </a:rPr>
                                    <m:t>−1</m:t>
                                  </m:r>
                                </m:sup>
                                <m:e>
                                  <m:r>
                                    <m:rPr>
                                      <m:sty m:val="p"/>
                                    </m:rPr>
                                    <a:rPr lang="en-US" altLang="zh-TW" sz="1600">
                                      <a:latin typeface="Cambria Math" panose="02040503050406030204" pitchFamily="18" charset="0"/>
                                      <a:ea typeface="Cambria Math" panose="02040503050406030204" pitchFamily="18" charset="0"/>
                                    </a:rPr>
                                    <m:t>Φ</m:t>
                                  </m:r>
                                  <m:r>
                                    <a:rPr lang="en-US" altLang="zh-TW" sz="1600" i="1">
                                      <a:latin typeface="Cambria Math" panose="02040503050406030204" pitchFamily="18" charset="0"/>
                                      <a:ea typeface="Cambria Math" panose="02040503050406030204" pitchFamily="18" charset="0"/>
                                    </a:rPr>
                                    <m:t>(</m:t>
                                  </m:r>
                                  <m:sSub>
                                    <m:sSubPr>
                                      <m:ctrlPr>
                                        <a:rPr lang="zh-TW" altLang="zh-TW" sz="1600" i="1">
                                          <a:latin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𝑥</m:t>
                                      </m:r>
                                    </m:e>
                                    <m:sub>
                                      <m:r>
                                        <a:rPr lang="en-US" altLang="zh-TW" sz="1600" i="1">
                                          <a:latin typeface="Cambria Math" panose="02040503050406030204" pitchFamily="18" charset="0"/>
                                          <a:ea typeface="Cambria Math" panose="02040503050406030204" pitchFamily="18" charset="0"/>
                                        </a:rPr>
                                        <m:t>𝑞</m:t>
                                      </m:r>
                                    </m:sub>
                                  </m:sSub>
                                  <m:r>
                                    <a:rPr lang="en-US" altLang="zh-TW" sz="1600" i="1">
                                      <a:latin typeface="Cambria Math" panose="02040503050406030204" pitchFamily="18" charset="0"/>
                                      <a:ea typeface="Cambria Math" panose="02040503050406030204" pitchFamily="18" charset="0"/>
                                    </a:rPr>
                                    <m:t>)</m:t>
                                  </m:r>
                                  <m:r>
                                    <m:rPr>
                                      <m:sty m:val="p"/>
                                    </m:rPr>
                                    <a:rPr lang="en-US" altLang="zh-TW" sz="1600">
                                      <a:latin typeface="Cambria Math" panose="02040503050406030204" pitchFamily="18" charset="0"/>
                                      <a:ea typeface="Cambria Math" panose="02040503050406030204" pitchFamily="18" charset="0"/>
                                    </a:rPr>
                                    <m:t>exp</m:t>
                                  </m:r>
                                  <m:r>
                                    <a:rPr lang="en-US" altLang="zh-TW" sz="1600">
                                      <a:latin typeface="Cambria Math" panose="02040503050406030204" pitchFamily="18" charset="0"/>
                                      <a:ea typeface="Cambria Math" panose="02040503050406030204" pitchFamily="18" charset="0"/>
                                    </a:rPr>
                                    <m:t>⁡</m:t>
                                  </m:r>
                                  <m:d>
                                    <m:dPr>
                                      <m:begChr m:val="["/>
                                      <m:endChr m:val="]"/>
                                      <m:ctrlPr>
                                        <a:rPr lang="zh-TW" altLang="zh-TW" sz="1600" i="1">
                                          <a:latin typeface="Cambria Math" panose="02040503050406030204" pitchFamily="18" charset="0"/>
                                        </a:rPr>
                                      </m:ctrlPr>
                                    </m:dPr>
                                    <m:e>
                                      <m:r>
                                        <a:rPr lang="en-US" altLang="zh-TW" sz="1600" i="1">
                                          <a:latin typeface="Cambria Math" panose="02040503050406030204" pitchFamily="18" charset="0"/>
                                          <a:ea typeface="Cambria Math" panose="02040503050406030204" pitchFamily="18" charset="0"/>
                                        </a:rPr>
                                        <m:t>𝑗</m:t>
                                      </m:r>
                                      <m:r>
                                        <a:rPr lang="en-US" altLang="zh-TW" sz="1600" i="1">
                                          <a:latin typeface="Cambria Math" panose="02040503050406030204" pitchFamily="18" charset="0"/>
                                          <a:ea typeface="Cambria Math" panose="02040503050406030204" pitchFamily="18" charset="0"/>
                                        </a:rPr>
                                        <m:t>2</m:t>
                                      </m:r>
                                      <m:r>
                                        <a:rPr lang="en-US" altLang="zh-TW" sz="1600" i="1">
                                          <a:latin typeface="Cambria Math" panose="02040503050406030204" pitchFamily="18" charset="0"/>
                                          <a:ea typeface="Cambria Math" panose="02040503050406030204" pitchFamily="18" charset="0"/>
                                        </a:rPr>
                                        <m:t>𝜋</m:t>
                                      </m:r>
                                      <m:f>
                                        <m:fPr>
                                          <m:ctrlPr>
                                            <a:rPr lang="zh-TW" altLang="zh-TW" sz="1600" i="1">
                                              <a:latin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1</m:t>
                                          </m:r>
                                        </m:num>
                                        <m:den>
                                          <m:r>
                                            <a:rPr lang="en-US" altLang="zh-TW" sz="1600" i="1">
                                              <a:latin typeface="Cambria Math" panose="02040503050406030204" pitchFamily="18" charset="0"/>
                                              <a:ea typeface="Cambria Math" panose="02040503050406030204" pitchFamily="18" charset="0"/>
                                            </a:rPr>
                                            <m:t>2</m:t>
                                          </m:r>
                                          <m:sSub>
                                            <m:sSubPr>
                                              <m:ctrlPr>
                                                <a:rPr lang="zh-TW" altLang="zh-TW" sz="1600" i="1">
                                                  <a:latin typeface="Cambria Math" panose="02040503050406030204" pitchFamily="18" charset="0"/>
                                                </a:rPr>
                                              </m:ctrlPr>
                                            </m:sSubPr>
                                            <m:e>
                                              <m:r>
                                                <a:rPr lang="en-US" altLang="zh-TW" sz="1600" i="1">
                                                  <a:latin typeface="Cambria Math" panose="02040503050406030204" pitchFamily="18" charset="0"/>
                                                  <a:ea typeface="Cambria Math" panose="02040503050406030204" pitchFamily="18" charset="0"/>
                                                </a:rPr>
                                                <m:t>𝐿</m:t>
                                              </m:r>
                                            </m:e>
                                            <m:sub>
                                              <m:r>
                                                <a:rPr lang="en-US" altLang="zh-TW" sz="1600" i="1">
                                                  <a:latin typeface="Cambria Math" panose="02040503050406030204" pitchFamily="18" charset="0"/>
                                                  <a:ea typeface="Cambria Math" panose="02040503050406030204" pitchFamily="18" charset="0"/>
                                                </a:rPr>
                                                <m:t>𝐶</m:t>
                                              </m:r>
                                            </m:sub>
                                          </m:sSub>
                                        </m:den>
                                      </m:f>
                                      <m:r>
                                        <a:rPr lang="en-US" altLang="zh-TW" sz="1600" i="1">
                                          <a:latin typeface="Cambria Math" panose="02040503050406030204" pitchFamily="18" charset="0"/>
                                          <a:ea typeface="Cambria Math" panose="02040503050406030204" pitchFamily="18" charset="0"/>
                                        </a:rPr>
                                        <m:t>(</m:t>
                                      </m:r>
                                      <m:r>
                                        <a:rPr lang="en-US" altLang="zh-TW" sz="1600" i="1">
                                          <a:latin typeface="Cambria Math" panose="02040503050406030204" pitchFamily="18" charset="0"/>
                                          <a:ea typeface="Cambria Math" panose="02040503050406030204" pitchFamily="18" charset="0"/>
                                        </a:rPr>
                                        <m:t>𝑞</m:t>
                                      </m:r>
                                      <m:r>
                                        <a:rPr lang="en-US" altLang="zh-TW" sz="1600" i="1">
                                          <a:latin typeface="Cambria Math" panose="02040503050406030204" pitchFamily="18" charset="0"/>
                                          <a:ea typeface="Cambria Math" panose="02040503050406030204" pitchFamily="18" charset="0"/>
                                        </a:rPr>
                                        <m:t>+0.5)∆</m:t>
                                      </m:r>
                                      <m:r>
                                        <a:rPr lang="en-US" altLang="zh-TW" sz="1600" i="1">
                                          <a:latin typeface="Cambria Math" panose="02040503050406030204" pitchFamily="18" charset="0"/>
                                          <a:ea typeface="Cambria Math" panose="02040503050406030204" pitchFamily="18" charset="0"/>
                                        </a:rPr>
                                        <m:t>𝑥</m:t>
                                      </m:r>
                                    </m:e>
                                  </m:d>
                                </m:e>
                              </m:nary>
                            </m:e>
                          </m:func>
                        </m:e>
                      </m:d>
                    </m:oMath>
                  </m:oMathPara>
                </a14:m>
                <a:endParaRPr lang="zh-TW" altLang="en-US" sz="1600" dirty="0">
                  <a:latin typeface="Cambria Math" panose="02040503050406030204" pitchFamily="18" charset="0"/>
                  <a:cs typeface="Times New Roman" panose="02020603050405020304" pitchFamily="18" charset="0"/>
                </a:endParaRPr>
              </a:p>
            </p:txBody>
          </p:sp>
        </mc:Choice>
        <mc:Fallback xmlns="">
          <p:sp>
            <p:nvSpPr>
              <p:cNvPr id="14" name="Object 8">
                <a:extLst>
                  <a:ext uri="{FF2B5EF4-FFF2-40B4-BE49-F238E27FC236}">
                    <a16:creationId xmlns:a16="http://schemas.microsoft.com/office/drawing/2014/main" id="{38C067A4-8A52-4DD6-9073-C87CA30FBE96}"/>
                  </a:ext>
                </a:extLst>
              </p:cNvPr>
              <p:cNvSpPr txBox="1">
                <a:spLocks noRot="1" noChangeAspect="1" noMove="1" noResize="1" noEditPoints="1" noAdjustHandles="1" noChangeArrowheads="1" noChangeShapeType="1" noTextEdit="1"/>
              </p:cNvSpPr>
              <p:nvPr/>
            </p:nvSpPr>
            <p:spPr bwMode="auto">
              <a:xfrm>
                <a:off x="433635" y="1518978"/>
                <a:ext cx="8842129" cy="1585913"/>
              </a:xfrm>
              <a:prstGeom prst="rect">
                <a:avLst/>
              </a:prstGeom>
              <a:blipFill>
                <a:blip r:embed="rId2"/>
                <a:stretch>
                  <a:fillRect l="-345" t="-60000" b="-31538"/>
                </a:stretch>
              </a:blipFill>
              <a:ln>
                <a:noFill/>
              </a:ln>
              <a:effectLst/>
            </p:spPr>
            <p:txBody>
              <a:bodyPr/>
              <a:lstStyle/>
              <a:p>
                <a:r>
                  <a:rPr lang="zh-TW" altLang="en-US">
                    <a:noFill/>
                  </a:rPr>
                  <a:t> </a:t>
                </a:r>
              </a:p>
            </p:txBody>
          </p:sp>
        </mc:Fallback>
      </mc:AlternateContent>
      <p:sp>
        <p:nvSpPr>
          <p:cNvPr id="15" name="Text Box 125">
            <a:extLst>
              <a:ext uri="{FF2B5EF4-FFF2-40B4-BE49-F238E27FC236}">
                <a16:creationId xmlns:a16="http://schemas.microsoft.com/office/drawing/2014/main" id="{3B6E4F4F-F51D-49CB-88FB-D42FDBAA4987}"/>
              </a:ext>
            </a:extLst>
          </p:cNvPr>
          <p:cNvSpPr txBox="1">
            <a:spLocks noChangeArrowheads="1"/>
          </p:cNvSpPr>
          <p:nvPr/>
        </p:nvSpPr>
        <p:spPr bwMode="auto">
          <a:xfrm>
            <a:off x="1550261" y="1062396"/>
            <a:ext cx="3372541" cy="369332"/>
          </a:xfrm>
          <a:prstGeom prst="rect">
            <a:avLst/>
          </a:prstGeom>
          <a:noFill/>
          <a:ln w="9525">
            <a:noFill/>
            <a:miter lim="800000"/>
            <a:headEnd/>
            <a:tailEnd/>
          </a:ln>
          <a:effectLst/>
        </p:spPr>
        <p:txBody>
          <a:bodyPr wrap="square">
            <a:spAutoFit/>
          </a:bodyPr>
          <a:lstStyle/>
          <a:p>
            <a:pPr>
              <a:spcBef>
                <a:spcPct val="50000"/>
              </a:spcBef>
            </a:pPr>
            <a:r>
              <a:rPr lang="en-US" altLang="zh-TW" b="1" i="1" u="sng" dirty="0">
                <a:latin typeface="Times New Roman" pitchFamily="18" charset="0"/>
                <a:cs typeface="Times New Roman" pitchFamily="18" charset="0"/>
              </a:rPr>
              <a:t>Effective </a:t>
            </a:r>
            <a:r>
              <a:rPr lang="en-US" altLang="zh-TW" b="1" i="1" u="sng">
                <a:latin typeface="Times New Roman" pitchFamily="18" charset="0"/>
                <a:cs typeface="Times New Roman" pitchFamily="18" charset="0"/>
              </a:rPr>
              <a:t>Nonlinear Coefficient </a:t>
            </a:r>
            <a:endParaRPr lang="en-US" altLang="zh-TW" b="1" i="1" u="sng" dirty="0">
              <a:latin typeface="Times New Roman" pitchFamily="18" charset="0"/>
              <a:cs typeface="Times New Roman" pitchFamily="18" charset="0"/>
            </a:endParaRPr>
          </a:p>
        </p:txBody>
      </p:sp>
      <p:pic>
        <p:nvPicPr>
          <p:cNvPr id="12" name="圖片 11">
            <a:extLst>
              <a:ext uri="{FF2B5EF4-FFF2-40B4-BE49-F238E27FC236}">
                <a16:creationId xmlns:a16="http://schemas.microsoft.com/office/drawing/2014/main" id="{53C1C920-9CB3-48F4-B672-4EFA6B55D60A}"/>
              </a:ext>
            </a:extLst>
          </p:cNvPr>
          <p:cNvPicPr>
            <a:picLocks noChangeAspect="1"/>
          </p:cNvPicPr>
          <p:nvPr/>
        </p:nvPicPr>
        <p:blipFill>
          <a:blip r:embed="rId3"/>
          <a:stretch>
            <a:fillRect/>
          </a:stretch>
        </p:blipFill>
        <p:spPr>
          <a:xfrm>
            <a:off x="7416723" y="2959176"/>
            <a:ext cx="4345658" cy="3441335"/>
          </a:xfrm>
          <a:prstGeom prst="rect">
            <a:avLst/>
          </a:prstGeom>
        </p:spPr>
      </p:pic>
      <p:sp>
        <p:nvSpPr>
          <p:cNvPr id="18" name="文字方塊 17">
            <a:extLst>
              <a:ext uri="{FF2B5EF4-FFF2-40B4-BE49-F238E27FC236}">
                <a16:creationId xmlns:a16="http://schemas.microsoft.com/office/drawing/2014/main" id="{6783F679-53EC-44B6-B881-B31AD7BA7038}"/>
              </a:ext>
            </a:extLst>
          </p:cNvPr>
          <p:cNvSpPr txBox="1"/>
          <p:nvPr/>
        </p:nvSpPr>
        <p:spPr>
          <a:xfrm>
            <a:off x="7202380" y="1072685"/>
            <a:ext cx="3744416" cy="1750287"/>
          </a:xfrm>
          <a:prstGeom prst="rect">
            <a:avLst/>
          </a:prstGeom>
          <a:noFill/>
        </p:spPr>
        <p:txBody>
          <a:bodyPr wrap="square" rtlCol="0">
            <a:spAutoFit/>
          </a:bodyPr>
          <a:lstStyle/>
          <a:p>
            <a:pPr>
              <a:lnSpc>
                <a:spcPct val="200000"/>
              </a:lnSpc>
            </a:pPr>
            <a:r>
              <a:rPr lang="en-US" altLang="zh-TW" sz="1400" i="1" dirty="0">
                <a:latin typeface="Times New Roman" pitchFamily="18" charset="0"/>
                <a:cs typeface="Times New Roman" pitchFamily="18" charset="0"/>
              </a:rPr>
              <a:t> N  : unit block number</a:t>
            </a:r>
          </a:p>
          <a:p>
            <a:pPr>
              <a:lnSpc>
                <a:spcPct val="200000"/>
              </a:lnSpc>
            </a:pPr>
            <a:r>
              <a:rPr lang="en-US" altLang="zh-TW" sz="1400" i="1" dirty="0">
                <a:latin typeface="Times New Roman" pitchFamily="18" charset="0"/>
                <a:cs typeface="Times New Roman" pitchFamily="18" charset="0"/>
              </a:rPr>
              <a:t> </a:t>
            </a:r>
            <a:r>
              <a:rPr lang="en-US" altLang="zh-TW" sz="1400" i="1" dirty="0" err="1">
                <a:latin typeface="Times New Roman" pitchFamily="18" charset="0"/>
                <a:cs typeface="Times New Roman" pitchFamily="18" charset="0"/>
              </a:rPr>
              <a:t>L</a:t>
            </a:r>
            <a:r>
              <a:rPr lang="en-US" altLang="zh-TW" sz="1400" i="1" baseline="-25000" dirty="0" err="1">
                <a:latin typeface="Times New Roman" pitchFamily="18" charset="0"/>
                <a:cs typeface="Times New Roman" pitchFamily="18" charset="0"/>
              </a:rPr>
              <a:t>c</a:t>
            </a:r>
            <a:r>
              <a:rPr lang="en-US" altLang="zh-TW" sz="1400" i="1" dirty="0">
                <a:latin typeface="Times New Roman" pitchFamily="18" charset="0"/>
                <a:cs typeface="Times New Roman" pitchFamily="18" charset="0"/>
              </a:rPr>
              <a:t>  : coherence length</a:t>
            </a:r>
          </a:p>
          <a:p>
            <a:pPr>
              <a:lnSpc>
                <a:spcPct val="200000"/>
              </a:lnSpc>
            </a:pPr>
            <a:r>
              <a:rPr lang="en-US" altLang="zh-TW" sz="1400" i="1" dirty="0">
                <a:latin typeface="Times New Roman" pitchFamily="18" charset="0"/>
                <a:cs typeface="Times New Roman" pitchFamily="18" charset="0"/>
              </a:rPr>
              <a:t> L  : crystal length</a:t>
            </a:r>
          </a:p>
          <a:p>
            <a:pPr>
              <a:lnSpc>
                <a:spcPct val="200000"/>
              </a:lnSpc>
            </a:pPr>
            <a:r>
              <a:rPr lang="en-US" altLang="zh-TW" sz="1400" i="1" dirty="0">
                <a:latin typeface="Times New Roman" pitchFamily="18" charset="0"/>
                <a:cs typeface="Times New Roman" pitchFamily="18" charset="0"/>
              </a:rPr>
              <a:t> </a:t>
            </a:r>
            <a:r>
              <a:rPr lang="el-GR" altLang="zh-TW" sz="1400" i="1" dirty="0">
                <a:latin typeface="Times New Roman" pitchFamily="18" charset="0"/>
                <a:cs typeface="Times New Roman" pitchFamily="18" charset="0"/>
              </a:rPr>
              <a:t>Δ</a:t>
            </a:r>
            <a:r>
              <a:rPr lang="en-US" altLang="zh-TW" sz="1400" i="1" dirty="0">
                <a:latin typeface="Times New Roman" pitchFamily="18" charset="0"/>
                <a:cs typeface="Times New Roman" pitchFamily="18" charset="0"/>
              </a:rPr>
              <a:t>x : unit block length</a:t>
            </a:r>
            <a:endParaRPr lang="zh-TW" altLang="en-US" sz="1400" i="1" dirty="0">
              <a:latin typeface="Times New Roman" pitchFamily="18" charset="0"/>
              <a:cs typeface="Times New Roman" pitchFamily="18" charset="0"/>
            </a:endParaRPr>
          </a:p>
        </p:txBody>
      </p:sp>
      <p:sp>
        <p:nvSpPr>
          <p:cNvPr id="3" name="投影片編號版面配置區 2">
            <a:extLst>
              <a:ext uri="{FF2B5EF4-FFF2-40B4-BE49-F238E27FC236}">
                <a16:creationId xmlns:a16="http://schemas.microsoft.com/office/drawing/2014/main" id="{D614D896-5B9D-4900-A8E1-8946D72C02ED}"/>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20</a:t>
            </a:fld>
            <a:endParaRPr lang="zh-TW" altLang="en-US" dirty="0"/>
          </a:p>
        </p:txBody>
      </p:sp>
      <mc:AlternateContent xmlns:mc="http://schemas.openxmlformats.org/markup-compatibility/2006" xmlns:a14="http://schemas.microsoft.com/office/drawing/2010/main">
        <mc:Choice Requires="a14">
          <p:sp>
            <p:nvSpPr>
              <p:cNvPr id="16" name="矩形 15"/>
              <p:cNvSpPr/>
              <p:nvPr/>
            </p:nvSpPr>
            <p:spPr>
              <a:xfrm>
                <a:off x="-933385" y="3239745"/>
                <a:ext cx="9717128" cy="126765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smtClean="0">
                              <a:latin typeface="Cambria Math" panose="02040503050406030204" pitchFamily="18" charset="0"/>
                            </a:rPr>
                          </m:ctrlPr>
                        </m:sSubPr>
                        <m:e>
                          <m:r>
                            <m:rPr>
                              <m:sty m:val="p"/>
                            </m:rPr>
                            <a:rPr lang="en-US" altLang="zh-TW" sz="1400">
                              <a:latin typeface="Cambria Math" panose="02040503050406030204" pitchFamily="18" charset="0"/>
                              <a:ea typeface="Cambria Math" panose="02040503050406030204" pitchFamily="18" charset="0"/>
                            </a:rPr>
                            <m:t>Ob</m:t>
                          </m:r>
                        </m:e>
                        <m:sub>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𝐺</m:t>
                              </m:r>
                            </m:e>
                            <m:sub>
                              <m:r>
                                <a:rPr lang="en-US" altLang="zh-TW" sz="1400" i="1">
                                  <a:latin typeface="Cambria Math" panose="02040503050406030204" pitchFamily="18" charset="0"/>
                                </a:rPr>
                                <m:t>𝑚</m:t>
                              </m:r>
                            </m:sub>
                          </m:sSub>
                        </m:sub>
                      </m:sSub>
                      <m:r>
                        <a:rPr lang="en-US" altLang="zh-TW" sz="1400" smtClean="0">
                          <a:latin typeface="Cambria Math" panose="02040503050406030204" pitchFamily="18" charset="0"/>
                          <a:ea typeface="Cambria Math" panose="02040503050406030204" pitchFamily="18" charset="0"/>
                        </a:rPr>
                        <m:t>=</m:t>
                      </m:r>
                      <m:nary>
                        <m:naryPr>
                          <m:chr m:val="∑"/>
                          <m:limLoc m:val="undOvr"/>
                          <m:ctrlPr>
                            <a:rPr lang="zh-TW" altLang="zh-TW" sz="1400" i="1">
                              <a:latin typeface="Cambria Math" panose="02040503050406030204" pitchFamily="18" charset="0"/>
                            </a:rPr>
                          </m:ctrlPr>
                        </m:naryPr>
                        <m:sub>
                          <m:r>
                            <a:rPr lang="en-US" altLang="zh-TW" sz="1400" i="1">
                              <a:latin typeface="Cambria Math" panose="02040503050406030204" pitchFamily="18" charset="0"/>
                              <a:ea typeface="Cambria Math" panose="02040503050406030204" pitchFamily="18" charset="0"/>
                            </a:rPr>
                            <m:t>𝑗</m:t>
                          </m:r>
                          <m:r>
                            <a:rPr lang="en-US" altLang="zh-TW" sz="1400" i="1">
                              <a:latin typeface="Cambria Math" panose="02040503050406030204" pitchFamily="18" charset="0"/>
                              <a:ea typeface="Cambria Math" panose="02040503050406030204" pitchFamily="18" charset="0"/>
                            </a:rPr>
                            <m:t>=1</m:t>
                          </m:r>
                        </m:sub>
                        <m:sup>
                          <m:r>
                            <a:rPr lang="en-US" altLang="zh-TW" sz="1400" i="1">
                              <a:latin typeface="Cambria Math" panose="02040503050406030204" pitchFamily="18" charset="0"/>
                              <a:ea typeface="Cambria Math" panose="02040503050406030204" pitchFamily="18" charset="0"/>
                            </a:rPr>
                            <m:t>𝑛</m:t>
                          </m:r>
                        </m:sup>
                        <m:e>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𝐺</m:t>
                                      </m:r>
                                    </m:e>
                                    <m:sub>
                                      <m:r>
                                        <a:rPr lang="en-US" altLang="zh-TW" sz="1400" i="1">
                                          <a:latin typeface="Cambria Math" panose="02040503050406030204" pitchFamily="18" charset="0"/>
                                        </a:rPr>
                                        <m:t>𝑚</m:t>
                                      </m:r>
                                    </m:sub>
                                  </m:sSub>
                                </m:e>
                                <m:sub>
                                  <m:r>
                                    <a:rPr lang="en-US" altLang="zh-TW" sz="1400" i="1">
                                      <a:latin typeface="Cambria Math" panose="02040503050406030204" pitchFamily="18" charset="0"/>
                                      <a:ea typeface="Cambria Math" panose="02040503050406030204" pitchFamily="18" charset="0"/>
                                    </a:rPr>
                                    <m:t>𝑚𝑎𝑥</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rPr>
                                        <m:t>1540</m:t>
                                      </m:r>
                                      <m:r>
                                        <a:rPr lang="en-US" altLang="zh-TW" sz="1400" b="0" i="1" smtClean="0">
                                          <a:latin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r>
                                <a:rPr lang="en-US" altLang="zh-TW" sz="1400" i="1">
                                  <a:latin typeface="Cambria Math" panose="02040503050406030204" pitchFamily="18" charset="0"/>
                                  <a:ea typeface="Cambria Math" panose="02040503050406030204" pitchFamily="18" charset="0"/>
                                </a:rPr>
                                <m:t>−</m:t>
                              </m:r>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𝐺</m:t>
                                      </m:r>
                                    </m:e>
                                    <m:sub>
                                      <m:r>
                                        <a:rPr lang="en-US" altLang="zh-TW" sz="1400" i="1">
                                          <a:latin typeface="Cambria Math" panose="02040503050406030204" pitchFamily="18" charset="0"/>
                                        </a:rPr>
                                        <m:t>𝑚</m:t>
                                      </m:r>
                                    </m:sub>
                                  </m:sSub>
                                </m:e>
                                <m:sub>
                                  <m:r>
                                    <a:rPr lang="en-US" altLang="zh-TW" sz="1400" i="1">
                                      <a:latin typeface="Cambria Math" panose="02040503050406030204" pitchFamily="18" charset="0"/>
                                      <a:ea typeface="Cambria Math" panose="02040503050406030204" pitchFamily="18" charset="0"/>
                                    </a:rPr>
                                    <m:t>𝑐𝑎𝑙</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rPr>
                                        <m:t>1540</m:t>
                                      </m:r>
                                      <m:r>
                                        <a:rPr lang="en-US" altLang="zh-TW" sz="1400" b="0" i="1" smtClean="0">
                                          <a:latin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e>
                          </m:d>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𝑊</m:t>
                          </m:r>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rPr>
                                    <m:t>1540</m:t>
                                  </m:r>
                                  <m:r>
                                    <a:rPr lang="en-US" altLang="zh-TW" sz="1400" b="0" i="1" smtClean="0">
                                      <a:latin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r>
                            <a:rPr lang="en-US" altLang="zh-TW" sz="1400" b="0" i="1" smtClean="0">
                              <a:latin typeface="Cambria Math" panose="02040503050406030204" pitchFamily="18" charset="0"/>
                              <a:ea typeface="Cambria Math" panose="02040503050406030204" pitchFamily="18" charset="0"/>
                            </a:rPr>
                            <m:t>+</m:t>
                          </m:r>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𝐺</m:t>
                                      </m:r>
                                    </m:e>
                                    <m:sub>
                                      <m:r>
                                        <a:rPr lang="en-US" altLang="zh-TW" sz="1400" i="1">
                                          <a:latin typeface="Cambria Math" panose="02040503050406030204" pitchFamily="18" charset="0"/>
                                        </a:rPr>
                                        <m:t>𝑚</m:t>
                                      </m:r>
                                    </m:sub>
                                  </m:sSub>
                                </m:e>
                                <m:sub>
                                  <m:r>
                                    <a:rPr lang="en-US" altLang="zh-TW" sz="1400" i="1">
                                      <a:latin typeface="Cambria Math" panose="02040503050406030204" pitchFamily="18" charset="0"/>
                                      <a:ea typeface="Cambria Math" panose="02040503050406030204" pitchFamily="18" charset="0"/>
                                    </a:rPr>
                                    <m:t>𝑚𝑎𝑥</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rPr>
                                        <m:t>1550</m:t>
                                      </m:r>
                                      <m:r>
                                        <a:rPr lang="en-US" altLang="zh-TW" sz="1400" b="0" i="1" smtClean="0">
                                          <a:latin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r>
                                <a:rPr lang="en-US" altLang="zh-TW" sz="1400" i="1">
                                  <a:latin typeface="Cambria Math" panose="02040503050406030204" pitchFamily="18" charset="0"/>
                                  <a:ea typeface="Cambria Math" panose="02040503050406030204" pitchFamily="18" charset="0"/>
                                </a:rPr>
                                <m:t>−</m:t>
                              </m:r>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𝐺</m:t>
                                      </m:r>
                                    </m:e>
                                    <m:sub>
                                      <m:r>
                                        <a:rPr lang="en-US" altLang="zh-TW" sz="1400" i="1">
                                          <a:latin typeface="Cambria Math" panose="02040503050406030204" pitchFamily="18" charset="0"/>
                                        </a:rPr>
                                        <m:t>𝑚</m:t>
                                      </m:r>
                                    </m:sub>
                                  </m:sSub>
                                </m:e>
                                <m:sub>
                                  <m:r>
                                    <a:rPr lang="en-US" altLang="zh-TW" sz="1400" i="1">
                                      <a:latin typeface="Cambria Math" panose="02040503050406030204" pitchFamily="18" charset="0"/>
                                      <a:ea typeface="Cambria Math" panose="02040503050406030204" pitchFamily="18" charset="0"/>
                                    </a:rPr>
                                    <m:t>𝑐𝑎𝑙</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rPr>
                                        <m:t>1550</m:t>
                                      </m:r>
                                      <m:r>
                                        <a:rPr lang="en-US" altLang="zh-TW" sz="1400" b="0" i="1" smtClean="0">
                                          <a:latin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e>
                          </m:d>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𝑊</m:t>
                          </m:r>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rPr>
                                    <m:t>1550</m:t>
                                  </m:r>
                                  <m:r>
                                    <a:rPr lang="en-US" altLang="zh-TW" sz="1400" b="0" i="1" smtClean="0">
                                      <a:latin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r>
                            <a:rPr lang="en-US" altLang="zh-TW" sz="1400" i="1">
                              <a:latin typeface="Cambria Math" panose="02040503050406030204" pitchFamily="18" charset="0"/>
                              <a:ea typeface="Cambria Math" panose="02040503050406030204" pitchFamily="18" charset="0"/>
                            </a:rPr>
                            <m:t>+</m:t>
                          </m:r>
                        </m:e>
                      </m:nary>
                      <m:r>
                        <m:rPr>
                          <m:sty m:val="p"/>
                        </m:rPr>
                        <a:rPr lang="en-US" altLang="zh-TW" sz="1400">
                          <a:latin typeface="Cambria Math" panose="02040503050406030204" pitchFamily="18" charset="0"/>
                          <a:ea typeface="Cambria Math" panose="02040503050406030204" pitchFamily="18" charset="0"/>
                        </a:rPr>
                        <m:t>β</m:t>
                      </m:r>
                      <m:r>
                        <a:rPr lang="en-US" altLang="zh-TW" sz="1400">
                          <a:latin typeface="Cambria Math" panose="02040503050406030204" pitchFamily="18" charset="0"/>
                          <a:ea typeface="Cambria Math" panose="02040503050406030204" pitchFamily="18" charset="0"/>
                        </a:rPr>
                        <m:t>(</m:t>
                      </m:r>
                      <m:func>
                        <m:funcPr>
                          <m:ctrlPr>
                            <a:rPr lang="zh-TW" altLang="zh-TW" sz="1400" i="1">
                              <a:latin typeface="Cambria Math" panose="02040503050406030204" pitchFamily="18" charset="0"/>
                            </a:rPr>
                          </m:ctrlPr>
                        </m:funcPr>
                        <m:fName>
                          <m:r>
                            <m:rPr>
                              <m:sty m:val="p"/>
                            </m:rPr>
                            <a:rPr lang="en-US" altLang="zh-TW" sz="1400">
                              <a:latin typeface="Cambria Math" panose="02040503050406030204" pitchFamily="18" charset="0"/>
                              <a:ea typeface="Cambria Math" panose="02040503050406030204" pitchFamily="18" charset="0"/>
                            </a:rPr>
                            <m:t>max</m:t>
                          </m:r>
                        </m:fName>
                        <m:e>
                          <m:d>
                            <m:dPr>
                              <m:begChr m:val="["/>
                              <m:endChr m:val="]"/>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𝐺</m:t>
                                      </m:r>
                                    </m:e>
                                    <m:sub>
                                      <m:r>
                                        <a:rPr lang="en-US" altLang="zh-TW" sz="1400" i="1">
                                          <a:latin typeface="Cambria Math" panose="02040503050406030204" pitchFamily="18" charset="0"/>
                                        </a:rPr>
                                        <m:t>𝑚</m:t>
                                      </m:r>
                                    </m:sub>
                                  </m:sSub>
                                </m:e>
                                <m:sub>
                                  <m:r>
                                    <a:rPr lang="en-US" altLang="zh-TW" sz="1400" i="1">
                                      <a:latin typeface="Cambria Math" panose="02040503050406030204" pitchFamily="18" charset="0"/>
                                      <a:ea typeface="Cambria Math" panose="02040503050406030204" pitchFamily="18" charset="0"/>
                                    </a:rPr>
                                    <m:t>𝑐𝑎𝑙</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rPr>
                                        <m:t>1540</m:t>
                                      </m:r>
                                      <m:r>
                                        <a:rPr lang="en-US" altLang="zh-TW" sz="1400" b="0" i="1" smtClean="0">
                                          <a:latin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e>
                          </m:d>
                        </m:e>
                      </m:func>
                      <m:r>
                        <a:rPr lang="en-US" altLang="zh-TW" sz="1400" i="1">
                          <a:latin typeface="Cambria Math" panose="02040503050406030204" pitchFamily="18" charset="0"/>
                          <a:ea typeface="Cambria Math" panose="02040503050406030204" pitchFamily="18" charset="0"/>
                        </a:rPr>
                        <m:t>−</m:t>
                      </m:r>
                      <m:r>
                        <m:rPr>
                          <m:sty m:val="p"/>
                        </m:rPr>
                        <a:rPr lang="en-US" altLang="zh-TW" sz="1400">
                          <a:latin typeface="Cambria Math" panose="02040503050406030204" pitchFamily="18" charset="0"/>
                          <a:ea typeface="Cambria Math" panose="02040503050406030204" pitchFamily="18" charset="0"/>
                        </a:rPr>
                        <m:t>min</m:t>
                      </m:r>
                      <m:r>
                        <a:rPr lang="en-US" altLang="zh-TW" sz="1400">
                          <a:latin typeface="Cambria Math" panose="02040503050406030204" pitchFamily="18" charset="0"/>
                          <a:ea typeface="Cambria Math" panose="02040503050406030204" pitchFamily="18" charset="0"/>
                        </a:rPr>
                        <m:t>[</m:t>
                      </m:r>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𝐺</m:t>
                              </m:r>
                            </m:e>
                            <m:sub>
                              <m:r>
                                <a:rPr lang="en-US" altLang="zh-TW" sz="1400" i="1">
                                  <a:latin typeface="Cambria Math" panose="02040503050406030204" pitchFamily="18" charset="0"/>
                                </a:rPr>
                                <m:t>𝑚</m:t>
                              </m:r>
                            </m:sub>
                          </m:sSub>
                        </m:e>
                        <m:sub>
                          <m:r>
                            <a:rPr lang="en-US" altLang="zh-TW" sz="1400" i="1">
                              <a:latin typeface="Cambria Math" panose="02040503050406030204" pitchFamily="18" charset="0"/>
                              <a:ea typeface="Cambria Math" panose="02040503050406030204" pitchFamily="18" charset="0"/>
                            </a:rPr>
                            <m:t>𝑐𝑎𝑙</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rPr>
                                <m:t>1550</m:t>
                              </m:r>
                              <m:r>
                                <a:rPr lang="en-US" altLang="zh-TW" sz="1400" b="0" i="1" smtClean="0">
                                  <a:latin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r>
                        <a:rPr lang="en-US" altLang="zh-TW" sz="1400">
                          <a:latin typeface="Cambria Math" panose="02040503050406030204" pitchFamily="18" charset="0"/>
                          <a:ea typeface="Cambria Math" panose="02040503050406030204" pitchFamily="18" charset="0"/>
                        </a:rPr>
                        <m:t>])</m:t>
                      </m:r>
                    </m:oMath>
                  </m:oMathPara>
                </a14:m>
                <a:endParaRPr lang="zh-TW" altLang="en-US" sz="1400" dirty="0">
                  <a:latin typeface="Cambria Math" panose="02040503050406030204" pitchFamily="18" charset="0"/>
                  <a:cs typeface="Times New Roman" panose="02020603050405020304" pitchFamily="18" charset="0"/>
                </a:endParaRPr>
              </a:p>
            </p:txBody>
          </p:sp>
        </mc:Choice>
        <mc:Fallback xmlns="">
          <p:sp>
            <p:nvSpPr>
              <p:cNvPr id="16" name="矩形 15"/>
              <p:cNvSpPr>
                <a:spLocks noRot="1" noChangeAspect="1" noMove="1" noResize="1" noEditPoints="1" noAdjustHandles="1" noChangeArrowheads="1" noChangeShapeType="1" noTextEdit="1"/>
              </p:cNvSpPr>
              <p:nvPr/>
            </p:nvSpPr>
            <p:spPr>
              <a:xfrm>
                <a:off x="-933385" y="3239745"/>
                <a:ext cx="9717128" cy="1267655"/>
              </a:xfrm>
              <a:prstGeom prst="rect">
                <a:avLst/>
              </a:prstGeom>
              <a:blipFill>
                <a:blip r:embed="rId4"/>
                <a:stretch>
                  <a:fillRect b="-783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29619" y="4743073"/>
                <a:ext cx="6096000" cy="1421864"/>
              </a:xfrm>
              <a:prstGeom prst="rect">
                <a:avLst/>
              </a:prstGeom>
            </p:spPr>
            <p:txBody>
              <a:bodyPr>
                <a:spAutoFit/>
              </a:bodyPr>
              <a:lstStyle/>
              <a:p>
                <a:pPr>
                  <a:lnSpc>
                    <a:spcPct val="150000"/>
                  </a:lnSpc>
                </a:pPr>
                <a:r>
                  <a:rPr lang="en-US" altLang="zh-TW" sz="1400" i="1" dirty="0">
                    <a:latin typeface="Times New Roman" pitchFamily="18" charset="0"/>
                    <a:cs typeface="Times New Roman" pitchFamily="18" charset="0"/>
                  </a:rPr>
                  <a:t>w  : efficiency weighting</a:t>
                </a:r>
              </a:p>
              <a:p>
                <a:pPr>
                  <a:lnSpc>
                    <a:spcPct val="150000"/>
                  </a:lnSpc>
                </a:pPr>
                <a:r>
                  <a:rPr lang="en-US" altLang="zh-TW" sz="1400" i="1" dirty="0">
                    <a:latin typeface="Times New Roman" pitchFamily="18" charset="0"/>
                    <a:cs typeface="Times New Roman" pitchFamily="18" charset="0"/>
                  </a:rPr>
                  <a:t> </a:t>
                </a:r>
                <a14:m>
                  <m:oMath xmlns:m="http://schemas.openxmlformats.org/officeDocument/2006/math">
                    <m:sSub>
                      <m:sSubPr>
                        <m:ctrlPr>
                          <a:rPr lang="zh-TW" altLang="en-US" sz="1400" i="1">
                            <a:latin typeface="Cambria Math" panose="02040503050406030204" pitchFamily="18" charset="0"/>
                          </a:rPr>
                        </m:ctrlPr>
                      </m:sSubP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𝐺</m:t>
                            </m:r>
                          </m:e>
                          <m:sub>
                            <m:r>
                              <a:rPr lang="en-US" altLang="zh-TW" sz="1400" i="1">
                                <a:latin typeface="Cambria Math" panose="02040503050406030204" pitchFamily="18" charset="0"/>
                              </a:rPr>
                              <m:t>𝑚</m:t>
                            </m:r>
                          </m:sub>
                        </m:sSub>
                      </m:e>
                      <m:sub>
                        <m:r>
                          <a:rPr lang="zh-TW" altLang="en-US" sz="1400" i="1">
                            <a:latin typeface="Cambria Math" panose="02040503050406030204" pitchFamily="18" charset="0"/>
                          </a:rPr>
                          <m:t>𝑚𝑎𝑥</m:t>
                        </m:r>
                      </m:sub>
                    </m:sSub>
                  </m:oMath>
                </a14:m>
                <a:r>
                  <a:rPr lang="en-US" altLang="zh-TW" sz="1400" i="1" baseline="-25000" dirty="0">
                    <a:latin typeface="Times New Roman" pitchFamily="18" charset="0"/>
                    <a:cs typeface="Times New Roman" pitchFamily="18" charset="0"/>
                  </a:rPr>
                  <a:t>  </a:t>
                </a:r>
                <a:r>
                  <a:rPr lang="en-US" altLang="zh-TW" sz="1400" i="1" dirty="0">
                    <a:latin typeface="Times New Roman" pitchFamily="18" charset="0"/>
                    <a:cs typeface="Times New Roman" pitchFamily="18" charset="0"/>
                  </a:rPr>
                  <a:t> : efficiency target</a:t>
                </a:r>
              </a:p>
              <a:p>
                <a:pPr>
                  <a:lnSpc>
                    <a:spcPct val="150000"/>
                  </a:lnSpc>
                </a:pPr>
                <a:r>
                  <a:rPr lang="en-US" altLang="zh-TW" sz="1400" i="1" dirty="0">
                    <a:latin typeface="Times New Roman" pitchFamily="18" charset="0"/>
                    <a:cs typeface="Times New Roman" pitchFamily="18" charset="0"/>
                  </a:rPr>
                  <a:t> </a:t>
                </a:r>
                <a:r>
                  <a:rPr lang="el-GR" altLang="zh-TW" sz="1400" i="1" dirty="0">
                    <a:latin typeface="Times New Roman" pitchFamily="18" charset="0"/>
                    <a:cs typeface="Times New Roman" pitchFamily="18" charset="0"/>
                  </a:rPr>
                  <a:t>β</a:t>
                </a:r>
                <a:r>
                  <a:rPr lang="en-US" altLang="zh-TW" sz="1400" i="1" dirty="0">
                    <a:latin typeface="Times New Roman" pitchFamily="18" charset="0"/>
                    <a:cs typeface="Times New Roman" pitchFamily="18" charset="0"/>
                  </a:rPr>
                  <a:t>  : equalization weighting</a:t>
                </a:r>
              </a:p>
              <a:p>
                <a:pPr>
                  <a:lnSpc>
                    <a:spcPct val="150000"/>
                  </a:lnSpc>
                </a:pPr>
                <a14:m>
                  <m:oMath xmlns:m="http://schemas.openxmlformats.org/officeDocument/2006/math">
                    <m:sSub>
                      <m:sSubPr>
                        <m:ctrlPr>
                          <a:rPr lang="zh-TW" altLang="en-US" sz="1400" i="1">
                            <a:latin typeface="Cambria Math" panose="02040503050406030204" pitchFamily="18" charset="0"/>
                          </a:rPr>
                        </m:ctrlPr>
                      </m:sSubP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rPr>
                              <m:t>𝐺</m:t>
                            </m:r>
                          </m:e>
                          <m:sub>
                            <m:r>
                              <a:rPr lang="en-US" altLang="zh-TW" sz="1400" i="1">
                                <a:latin typeface="Cambria Math" panose="02040503050406030204" pitchFamily="18" charset="0"/>
                              </a:rPr>
                              <m:t>𝑚</m:t>
                            </m:r>
                          </m:sub>
                        </m:sSub>
                      </m:e>
                      <m:sub>
                        <m:r>
                          <a:rPr lang="zh-TW" altLang="en-US" sz="1400" i="1">
                            <a:latin typeface="Cambria Math" panose="02040503050406030204" pitchFamily="18" charset="0"/>
                          </a:rPr>
                          <m:t>𝑐𝑎𝑙</m:t>
                        </m:r>
                      </m:sub>
                    </m:sSub>
                  </m:oMath>
                </a14:m>
                <a:r>
                  <a:rPr lang="en-US" altLang="zh-TW" sz="1400" i="1" baseline="-25000" dirty="0">
                    <a:latin typeface="Times New Roman" pitchFamily="18" charset="0"/>
                    <a:cs typeface="Times New Roman" pitchFamily="18" charset="0"/>
                  </a:rPr>
                  <a:t>  </a:t>
                </a:r>
                <a:r>
                  <a:rPr lang="en-US" altLang="zh-TW" sz="1400" i="1" dirty="0">
                    <a:latin typeface="Times New Roman" pitchFamily="18" charset="0"/>
                    <a:cs typeface="Times New Roman" pitchFamily="18" charset="0"/>
                  </a:rPr>
                  <a:t> : efficiency</a:t>
                </a:r>
                <a:endParaRPr lang="zh-TW" altLang="en-US" sz="1400" dirty="0">
                  <a:latin typeface="Times New Roman" panose="02020603050405020304" pitchFamily="18" charset="0"/>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429619" y="4743073"/>
                <a:ext cx="6096000" cy="1421864"/>
              </a:xfrm>
              <a:prstGeom prst="rect">
                <a:avLst/>
              </a:prstGeom>
              <a:blipFill>
                <a:blip r:embed="rId5"/>
                <a:stretch>
                  <a:fillRect l="-300" b="-214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7552626" y="6285400"/>
                <a:ext cx="6096000" cy="380682"/>
              </a:xfrm>
              <a:prstGeom prst="rect">
                <a:avLst/>
              </a:prstGeom>
            </p:spPr>
            <p:txBody>
              <a:bodyPr>
                <a:spAutoFit/>
              </a:bodyPr>
              <a:lstStyle/>
              <a:p>
                <a:pPr>
                  <a:lnSpc>
                    <a:spcPct val="150000"/>
                  </a:lnSpc>
                </a:pPr>
                <a14:m>
                  <m:oMath xmlns:m="http://schemas.openxmlformats.org/officeDocument/2006/math">
                    <m:sSub>
                      <m:sSubPr>
                        <m:ctrlPr>
                          <a:rPr lang="zh-TW" altLang="zh-TW" sz="1400" i="1" smtClean="0">
                            <a:latin typeface="Cambria Math" panose="02040503050406030204" pitchFamily="18" charset="0"/>
                          </a:rPr>
                        </m:ctrlPr>
                      </m:sSubPr>
                      <m:e>
                        <m:r>
                          <a:rPr lang="en-US" altLang="zh-TW" sz="1400" b="0" i="1" smtClean="0">
                            <a:latin typeface="Cambria Math" panose="02040503050406030204" pitchFamily="18" charset="0"/>
                          </a:rPr>
                          <m:t>       </m:t>
                        </m:r>
                        <m:r>
                          <a:rPr lang="en-US" altLang="zh-TW" sz="1400" i="1">
                            <a:latin typeface="Cambria Math" panose="02040503050406030204" pitchFamily="18" charset="0"/>
                          </a:rPr>
                          <m:t>𝐺</m:t>
                        </m:r>
                        <m:r>
                          <a:rPr lang="en-US" altLang="zh-TW" sz="1400" b="0" i="1" smtClean="0">
                            <a:latin typeface="Cambria Math" panose="02040503050406030204" pitchFamily="18" charset="0"/>
                          </a:rPr>
                          <m:t>𝑚</m:t>
                        </m:r>
                      </m:e>
                      <m:sub>
                        <m:r>
                          <a:rPr lang="en-US" altLang="zh-TW" sz="1400" b="0" i="1" smtClean="0">
                            <a:latin typeface="Cambria Math" panose="02040503050406030204" pitchFamily="18" charset="0"/>
                          </a:rPr>
                          <m:t>1540</m:t>
                        </m:r>
                        <m:r>
                          <a:rPr lang="en-US" altLang="zh-TW" sz="1400" b="0" i="1" smtClean="0">
                            <a:latin typeface="Cambria Math" panose="02040503050406030204" pitchFamily="18" charset="0"/>
                          </a:rPr>
                          <m:t>𝑛𝑚</m:t>
                        </m:r>
                      </m:sub>
                    </m:sSub>
                    <m:r>
                      <a:rPr lang="en-US" altLang="zh-TW" sz="1400" b="0" i="1" smtClean="0">
                        <a:latin typeface="Cambria Math" panose="02040503050406030204" pitchFamily="18" charset="0"/>
                      </a:rPr>
                      <m:t> </m:t>
                    </m:r>
                  </m:oMath>
                </a14:m>
                <a:r>
                  <a:rPr lang="en-US" altLang="zh-TW" sz="1400" dirty="0">
                    <a:latin typeface="標楷體" panose="03000509000000000000" pitchFamily="65" charset="-120"/>
                    <a:cs typeface="Times New Roman" panose="02020603050405020304" pitchFamily="18" charset="0"/>
                  </a:rPr>
                  <a:t>= </a:t>
                </a:r>
                <a:r>
                  <a:rPr lang="en-US" altLang="zh-TW" sz="1400"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a:t>0.2822</a:t>
                </a:r>
                <a14:m>
                  <m:oMath xmlns:m="http://schemas.openxmlformats.org/officeDocument/2006/math">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rPr>
                          <m:t>        </m:t>
                        </m:r>
                        <m:r>
                          <a:rPr lang="en-US" altLang="zh-TW" sz="1400" i="1">
                            <a:latin typeface="Cambria Math" panose="02040503050406030204" pitchFamily="18" charset="0"/>
                          </a:rPr>
                          <m:t>𝐺𝑚</m:t>
                        </m:r>
                      </m:e>
                      <m:sub>
                        <m:r>
                          <a:rPr lang="en-US" altLang="zh-TW" sz="1400" i="1">
                            <a:latin typeface="Cambria Math" panose="02040503050406030204" pitchFamily="18" charset="0"/>
                          </a:rPr>
                          <m:t>15</m:t>
                        </m:r>
                        <m:r>
                          <a:rPr lang="en-US" altLang="zh-TW" sz="1400" b="0" i="1" smtClean="0">
                            <a:latin typeface="Cambria Math" panose="02040503050406030204" pitchFamily="18" charset="0"/>
                          </a:rPr>
                          <m:t>5</m:t>
                        </m:r>
                        <m:r>
                          <a:rPr lang="en-US" altLang="zh-TW" sz="1400" i="1">
                            <a:latin typeface="Cambria Math" panose="02040503050406030204" pitchFamily="18" charset="0"/>
                          </a:rPr>
                          <m:t>0</m:t>
                        </m:r>
                        <m:r>
                          <a:rPr lang="en-US" altLang="zh-TW" sz="1400" i="1">
                            <a:latin typeface="Cambria Math" panose="02040503050406030204" pitchFamily="18" charset="0"/>
                          </a:rPr>
                          <m:t>𝑛𝑚</m:t>
                        </m:r>
                      </m:sub>
                    </m:sSub>
                  </m:oMath>
                </a14:m>
                <a:r>
                  <a:rPr lang="en-US" altLang="zh-TW" sz="1400" dirty="0">
                    <a:ea typeface="標楷體" panose="03000509000000000000" pitchFamily="65" charset="-120"/>
                    <a:cs typeface="Times New Roman" panose="02020603050405020304" pitchFamily="18" charset="0"/>
                  </a:rPr>
                  <a:t> =  </a:t>
                </a:r>
                <a:r>
                  <a:rPr lang="en-US" altLang="zh-TW" sz="1400" dirty="0">
                    <a:solidFill>
                      <a:srgbClr val="FF0000"/>
                    </a:solidFill>
                    <a:latin typeface="Cambria Math" panose="02040503050406030204" pitchFamily="18" charset="0"/>
                    <a:ea typeface="Cambria Math" panose="02040503050406030204" pitchFamily="18" charset="0"/>
                    <a:cs typeface="Times New Roman" panose="02020603050405020304" pitchFamily="18" charset="0"/>
                  </a:rPr>
                  <a:t>0.2828</a:t>
                </a:r>
                <a:endParaRPr lang="zh-TW" altLang="en-US" dirty="0">
                  <a:solidFill>
                    <a:srgbClr val="FF0000"/>
                  </a:solidFill>
                  <a:latin typeface="Cambria Math" panose="02040503050406030204" pitchFamily="18" charset="0"/>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7552626" y="6285400"/>
                <a:ext cx="6096000" cy="380682"/>
              </a:xfrm>
              <a:prstGeom prst="rect">
                <a:avLst/>
              </a:prstGeom>
              <a:blipFill>
                <a:blip r:embed="rId7"/>
                <a:stretch>
                  <a:fillRect b="-1587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86591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73193" y="821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APPLN Electro-Optic Polarization Mode Converter</a:t>
            </a:r>
            <a:endParaRPr lang="en-US" altLang="zh-TW" sz="2800" b="1" dirty="0"/>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EA7BBC9F-07EA-4A04-9816-E7C818674DCD}"/>
                  </a:ext>
                </a:extLst>
              </p:cNvPr>
              <p:cNvSpPr/>
              <p:nvPr/>
            </p:nvSpPr>
            <p:spPr>
              <a:xfrm>
                <a:off x="369894" y="1474602"/>
                <a:ext cx="11349236" cy="128625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𝑜</m:t>
                          </m:r>
                        </m:sub>
                      </m:sSub>
                      <m:d>
                        <m:d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e>
                      </m:d>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p>
                        <m:sSup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𝑒</m:t>
                          </m:r>
                        </m:e>
                        <m:sup>
                          <m:f>
                            <m:f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𝑖</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2</m:t>
                              </m:r>
                            </m:den>
                          </m:f>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sup>
                      </m:sSup>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func>
                        <m:func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600" kern="100">
                              <a:latin typeface="Cambria Math" panose="02040503050406030204" pitchFamily="18" charset="0"/>
                              <a:ea typeface="標楷體" panose="03000509000000000000" pitchFamily="65" charset="-120"/>
                              <a:cs typeface="Times New Roman" panose="02020603050405020304" pitchFamily="18" charset="0"/>
                            </a:rPr>
                            <m:t>cos</m:t>
                          </m:r>
                        </m:fName>
                        <m:e>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e>
                      </m:func>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2</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func>
                        <m:func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600" kern="100">
                              <a:latin typeface="Cambria Math" panose="02040503050406030204" pitchFamily="18" charset="0"/>
                              <a:ea typeface="標楷體" panose="03000509000000000000" pitchFamily="65" charset="-120"/>
                              <a:cs typeface="Times New Roman" panose="02020603050405020304" pitchFamily="18" charset="0"/>
                            </a:rPr>
                            <m:t>sin</m:t>
                          </m:r>
                        </m:fName>
                        <m:e>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e>
                      </m:func>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altLang="zh-TW" sz="1600" kern="100" dirty="0">
                  <a:latin typeface="Calibri" panose="020F0502020204030204" pitchFamily="34" charset="0"/>
                  <a:cs typeface="Times New Roman" panose="02020603050405020304" pitchFamily="18" charset="0"/>
                </a:endParaRPr>
              </a:p>
              <a:p>
                <a:endParaRPr lang="en-US" altLang="zh-TW" sz="1600" i="1" dirty="0">
                  <a:latin typeface="Cambria Math" panose="020405030504060302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𝑒</m:t>
                          </m:r>
                        </m:sub>
                      </m:sSub>
                      <m:d>
                        <m:d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smtClean="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e>
                      </m:d>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p>
                        <m:sSup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𝑒</m:t>
                          </m:r>
                        </m:e>
                        <m:sup>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𝑖</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2</m:t>
                              </m:r>
                            </m:den>
                          </m:f>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sup>
                      </m:sSup>
                      <m:d>
                        <m:dPr>
                          <m:begChr m:val="{"/>
                          <m:endChr m:val="}"/>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d>
                            <m:d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sub>
                              </m:sSub>
                            </m:e>
                          </m:d>
                          <m:d>
                            <m:dPr>
                              <m:begChr m:val="["/>
                              <m:endChr m:val="]"/>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uncPr>
                                <m:fName>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2</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en>
                                  </m:f>
                                  <m:r>
                                    <m:rPr>
                                      <m:sty m:val="p"/>
                                    </m:rPr>
                                    <a:rPr lang="en-US" altLang="zh-TW" sz="1600">
                                      <a:latin typeface="Cambria Math" panose="02040503050406030204" pitchFamily="18" charset="0"/>
                                      <a:ea typeface="標楷體" panose="03000509000000000000" pitchFamily="65" charset="-120"/>
                                      <a:cs typeface="Times New Roman" panose="02020603050405020304" pitchFamily="18" charset="0"/>
                                    </a:rPr>
                                    <m:t>cos</m:t>
                                  </m:r>
                                </m:fName>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𝑖𝑟</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𝜒</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en>
                                  </m:f>
                                  <m:func>
                                    <m:func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600">
                                          <a:latin typeface="Cambria Math" panose="02040503050406030204" pitchFamily="18" charset="0"/>
                                          <a:ea typeface="標楷體" panose="03000509000000000000" pitchFamily="65" charset="-120"/>
                                          <a:cs typeface="Times New Roman" panose="02020603050405020304" pitchFamily="18" charset="0"/>
                                        </a:rPr>
                                        <m:t>sin</m:t>
                                      </m:r>
                                    </m:fName>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e>
                                  </m:func>
                                </m:e>
                              </m:func>
                            </m:e>
                          </m:d>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2</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
                            <m:dPr>
                              <m:begChr m:val="["/>
                              <m:endChr m:val="]"/>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uncPr>
                                <m:fName>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2</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en>
                                  </m:f>
                                  <m:r>
                                    <m:rPr>
                                      <m:sty m:val="p"/>
                                    </m:rPr>
                                    <a:rPr lang="en-US" altLang="zh-TW" sz="1600">
                                      <a:latin typeface="Cambria Math" panose="02040503050406030204" pitchFamily="18" charset="0"/>
                                      <a:ea typeface="標楷體" panose="03000509000000000000" pitchFamily="65" charset="-120"/>
                                      <a:cs typeface="Times New Roman" panose="02020603050405020304" pitchFamily="18" charset="0"/>
                                    </a:rPr>
                                    <m:t>sin</m:t>
                                  </m:r>
                                </m:fName>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𝑖𝑟</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𝜒</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en>
                                  </m:f>
                                  <m:func>
                                    <m:func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600">
                                          <a:latin typeface="Cambria Math" panose="02040503050406030204" pitchFamily="18" charset="0"/>
                                          <a:ea typeface="標楷體" panose="03000509000000000000" pitchFamily="65" charset="-120"/>
                                          <a:cs typeface="Times New Roman" panose="02020603050405020304" pitchFamily="18" charset="0"/>
                                        </a:rPr>
                                        <m:t>cos</m:t>
                                      </m:r>
                                    </m:fName>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e>
                                  </m:func>
                                </m:e>
                              </m:func>
                            </m:e>
                          </m:d>
                        </m:e>
                      </m:d>
                    </m:oMath>
                  </m:oMathPara>
                </a14:m>
                <a:endParaRPr lang="zh-TW" altLang="en-US" sz="1600" dirty="0"/>
              </a:p>
            </p:txBody>
          </p:sp>
        </mc:Choice>
        <mc:Fallback xmlns="">
          <p:sp>
            <p:nvSpPr>
              <p:cNvPr id="6" name="矩形 5">
                <a:extLst>
                  <a:ext uri="{FF2B5EF4-FFF2-40B4-BE49-F238E27FC236}">
                    <a16:creationId xmlns:a16="http://schemas.microsoft.com/office/drawing/2014/main" id="{EA7BBC9F-07EA-4A04-9816-E7C818674DCD}"/>
                  </a:ext>
                </a:extLst>
              </p:cNvPr>
              <p:cNvSpPr>
                <a:spLocks noRot="1" noChangeAspect="1" noMove="1" noResize="1" noEditPoints="1" noAdjustHandles="1" noChangeArrowheads="1" noChangeShapeType="1" noTextEdit="1"/>
              </p:cNvSpPr>
              <p:nvPr/>
            </p:nvSpPr>
            <p:spPr>
              <a:xfrm>
                <a:off x="369894" y="1474602"/>
                <a:ext cx="11349236" cy="1286250"/>
              </a:xfrm>
              <a:prstGeom prst="rect">
                <a:avLst/>
              </a:prstGeom>
              <a:blipFill>
                <a:blip r:embed="rId3"/>
                <a:stretch>
                  <a:fillRect/>
                </a:stretch>
              </a:blipFill>
            </p:spPr>
            <p:txBody>
              <a:bodyPr/>
              <a:lstStyle/>
              <a:p>
                <a:r>
                  <a:rPr lang="zh-TW" altLang="en-US">
                    <a:noFill/>
                  </a:rPr>
                  <a:t> </a:t>
                </a:r>
              </a:p>
            </p:txBody>
          </p:sp>
        </mc:Fallback>
      </mc:AlternateContent>
      <p:sp>
        <p:nvSpPr>
          <p:cNvPr id="18" name="矩形 17">
            <a:extLst>
              <a:ext uri="{FF2B5EF4-FFF2-40B4-BE49-F238E27FC236}">
                <a16:creationId xmlns:a16="http://schemas.microsoft.com/office/drawing/2014/main" id="{720418BD-3068-4563-A632-36E5569FFA0F}"/>
              </a:ext>
            </a:extLst>
          </p:cNvPr>
          <p:cNvSpPr/>
          <p:nvPr/>
        </p:nvSpPr>
        <p:spPr>
          <a:xfrm>
            <a:off x="420792" y="941930"/>
            <a:ext cx="3910045" cy="369332"/>
          </a:xfrm>
          <a:prstGeom prst="rect">
            <a:avLst/>
          </a:prstGeom>
        </p:spPr>
        <p:txBody>
          <a:bodyPr wrap="none">
            <a:spAutoFit/>
          </a:bodyPr>
          <a:lstStyle/>
          <a:p>
            <a:r>
              <a:rPr lang="en-US" altLang="zh-TW" b="1" i="1" u="sng" dirty="0">
                <a:latin typeface="Times New Roman" panose="02020603050405020304" pitchFamily="18" charset="0"/>
                <a:cs typeface="Times New Roman" panose="02020603050405020304" pitchFamily="18" charset="0"/>
              </a:rPr>
              <a:t>C</a:t>
            </a:r>
            <a:r>
              <a:rPr lang="zh-TW" altLang="en-US" b="1" i="1" u="sng" dirty="0">
                <a:latin typeface="Times New Roman" panose="02020603050405020304" pitchFamily="18" charset="0"/>
                <a:cs typeface="Times New Roman" panose="02020603050405020304" pitchFamily="18" charset="0"/>
              </a:rPr>
              <a:t>o-directional coupled mode equations</a:t>
            </a:r>
          </a:p>
        </p:txBody>
      </p:sp>
      <p:sp>
        <p:nvSpPr>
          <p:cNvPr id="3" name="投影片編號版面配置區 2">
            <a:extLst>
              <a:ext uri="{FF2B5EF4-FFF2-40B4-BE49-F238E27FC236}">
                <a16:creationId xmlns:a16="http://schemas.microsoft.com/office/drawing/2014/main" id="{6C7CFDCC-8037-45F2-9052-DAC728E76819}"/>
              </a:ext>
            </a:extLst>
          </p:cNvPr>
          <p:cNvSpPr>
            <a:spLocks noGrp="1"/>
          </p:cNvSpPr>
          <p:nvPr>
            <p:ph type="sldNum" sz="quarter" idx="12"/>
          </p:nvPr>
        </p:nvSpPr>
        <p:spPr>
          <a:xfrm>
            <a:off x="9458506" y="6492875"/>
            <a:ext cx="2743200" cy="365125"/>
          </a:xfrm>
        </p:spPr>
        <p:txBody>
          <a:bodyPr/>
          <a:lstStyle/>
          <a:p>
            <a:fld id="{29723A01-8C65-4E4C-95BB-6D96843E9278}" type="slidenum">
              <a:rPr lang="zh-TW" altLang="en-US" smtClean="0"/>
              <a:t>21</a:t>
            </a:fld>
            <a:endParaRPr lang="zh-TW" altLang="en-US" dirty="0"/>
          </a:p>
        </p:txBody>
      </p:sp>
      <p:grpSp>
        <p:nvGrpSpPr>
          <p:cNvPr id="13" name="群組 12"/>
          <p:cNvGrpSpPr/>
          <p:nvPr/>
        </p:nvGrpSpPr>
        <p:grpSpPr>
          <a:xfrm>
            <a:off x="8749744" y="1032305"/>
            <a:ext cx="3249978" cy="884593"/>
            <a:chOff x="8237692" y="1178843"/>
            <a:chExt cx="3249978" cy="884593"/>
          </a:xfrm>
        </p:grpSpPr>
        <mc:AlternateContent xmlns:mc="http://schemas.openxmlformats.org/markup-compatibility/2006" xmlns:a14="http://schemas.microsoft.com/office/drawing/2010/main">
          <mc:Choice Requires="a14">
            <p:sp>
              <p:nvSpPr>
                <p:cNvPr id="11" name="矩形 10"/>
                <p:cNvSpPr/>
                <p:nvPr/>
              </p:nvSpPr>
              <p:spPr>
                <a:xfrm>
                  <a:off x="8237692" y="1738347"/>
                  <a:ext cx="1152944" cy="3250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zh-TW" altLang="en-US"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𝑗</m:t>
                            </m:r>
                          </m:sub>
                        </m:sSub>
                      </m:oMath>
                    </m:oMathPara>
                  </a14:m>
                  <a:endParaRPr lang="zh-TW" altLang="en-US" sz="1400" dirty="0"/>
                </a:p>
              </p:txBody>
            </p:sp>
          </mc:Choice>
          <mc:Fallback xmlns="">
            <p:sp>
              <p:nvSpPr>
                <p:cNvPr id="11" name="矩形 10"/>
                <p:cNvSpPr>
                  <a:spLocks noRot="1" noChangeAspect="1" noMove="1" noResize="1" noEditPoints="1" noAdjustHandles="1" noChangeArrowheads="1" noChangeShapeType="1" noTextEdit="1"/>
                </p:cNvSpPr>
                <p:nvPr/>
              </p:nvSpPr>
              <p:spPr>
                <a:xfrm>
                  <a:off x="8237692" y="1738347"/>
                  <a:ext cx="1152944" cy="325089"/>
                </a:xfrm>
                <a:prstGeom prst="rect">
                  <a:avLst/>
                </a:prstGeom>
                <a:blipFill>
                  <a:blip r:embed="rId7"/>
                  <a:stretch>
                    <a:fillRect b="-1852"/>
                  </a:stretch>
                </a:blipFill>
              </p:spPr>
              <p:txBody>
                <a:bodyPr/>
                <a:lstStyle/>
                <a:p>
                  <a:r>
                    <a:rPr lang="zh-TW" altLang="en-US">
                      <a:noFill/>
                    </a:rPr>
                    <a:t> </a:t>
                  </a:r>
                </a:p>
              </p:txBody>
            </p:sp>
          </mc:Fallback>
        </mc:AlternateContent>
        <p:grpSp>
          <p:nvGrpSpPr>
            <p:cNvPr id="12" name="群組 11"/>
            <p:cNvGrpSpPr/>
            <p:nvPr/>
          </p:nvGrpSpPr>
          <p:grpSpPr>
            <a:xfrm>
              <a:off x="8496802" y="1178843"/>
              <a:ext cx="2990868" cy="853962"/>
              <a:chOff x="8496802" y="1178843"/>
              <a:chExt cx="2990868" cy="853962"/>
            </a:xfrm>
          </p:grpSpPr>
          <p:sp>
            <p:nvSpPr>
              <p:cNvPr id="5" name="矩形 4"/>
              <p:cNvSpPr/>
              <p:nvPr/>
            </p:nvSpPr>
            <p:spPr>
              <a:xfrm>
                <a:off x="9189267" y="1230857"/>
                <a:ext cx="1412341" cy="5641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向右箭號 8"/>
              <p:cNvSpPr/>
              <p:nvPr/>
            </p:nvSpPr>
            <p:spPr>
              <a:xfrm>
                <a:off x="9472820" y="1367521"/>
                <a:ext cx="845234" cy="290833"/>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0" name="矩形 9"/>
                  <p:cNvSpPr/>
                  <p:nvPr/>
                </p:nvSpPr>
                <p:spPr>
                  <a:xfrm>
                    <a:off x="8496802" y="1178843"/>
                    <a:ext cx="738472" cy="3404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𝑜</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e>
                          </m:d>
                        </m:oMath>
                      </m:oMathPara>
                    </a14:m>
                    <a:endParaRPr lang="zh-TW" altLang="en-US" sz="1400" dirty="0"/>
                  </a:p>
                </p:txBody>
              </p:sp>
            </mc:Choice>
            <mc:Fallback xmlns="">
              <p:sp>
                <p:nvSpPr>
                  <p:cNvPr id="10" name="矩形 9"/>
                  <p:cNvSpPr>
                    <a:spLocks noRot="1" noChangeAspect="1" noMove="1" noResize="1" noEditPoints="1" noAdjustHandles="1" noChangeArrowheads="1" noChangeShapeType="1" noTextEdit="1"/>
                  </p:cNvSpPr>
                  <p:nvPr/>
                </p:nvSpPr>
                <p:spPr>
                  <a:xfrm>
                    <a:off x="8496802" y="1178843"/>
                    <a:ext cx="738472" cy="340478"/>
                  </a:xfrm>
                  <a:prstGeom prst="rect">
                    <a:avLst/>
                  </a:prstGeom>
                  <a:blipFill>
                    <a:blip r:embed="rId8"/>
                    <a:stretch>
                      <a:fillRect b="-17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8508792" y="1490777"/>
                    <a:ext cx="733149" cy="3404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b="0" i="1" kern="100" smtClean="0">
                                  <a:latin typeface="Cambria Math" panose="02040503050406030204" pitchFamily="18" charset="0"/>
                                  <a:ea typeface="標楷體" panose="03000509000000000000" pitchFamily="65" charset="-120"/>
                                  <a:cs typeface="Times New Roman" panose="02020603050405020304" pitchFamily="18" charset="0"/>
                                </a:rPr>
                                <m:t>𝑒</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smtClean="0">
                                      <a:latin typeface="Cambria Math" panose="02040503050406030204" pitchFamily="18" charset="0"/>
                                      <a:ea typeface="標楷體" panose="03000509000000000000" pitchFamily="65" charset="-120"/>
                                      <a:cs typeface="Times New Roman" panose="02020603050405020304" pitchFamily="18" charset="0"/>
                                    </a:rPr>
                                    <m:t>𝑗</m:t>
                                  </m:r>
                                </m:sub>
                              </m:sSub>
                            </m:e>
                          </m:d>
                        </m:oMath>
                      </m:oMathPara>
                    </a14:m>
                    <a:endParaRPr lang="zh-TW" altLang="en-US" sz="1400" dirty="0"/>
                  </a:p>
                </p:txBody>
              </p:sp>
            </mc:Choice>
            <mc:Fallback xmlns="">
              <p:sp>
                <p:nvSpPr>
                  <p:cNvPr id="16" name="矩形 15"/>
                  <p:cNvSpPr>
                    <a:spLocks noRot="1" noChangeAspect="1" noMove="1" noResize="1" noEditPoints="1" noAdjustHandles="1" noChangeArrowheads="1" noChangeShapeType="1" noTextEdit="1"/>
                  </p:cNvSpPr>
                  <p:nvPr/>
                </p:nvSpPr>
                <p:spPr>
                  <a:xfrm>
                    <a:off x="8508792" y="1490777"/>
                    <a:ext cx="733149" cy="340478"/>
                  </a:xfrm>
                  <a:prstGeom prst="rect">
                    <a:avLst/>
                  </a:prstGeom>
                  <a:blipFill>
                    <a:blip r:embed="rId9"/>
                    <a:stretch>
                      <a:fillRect b="-17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10584602" y="1480975"/>
                    <a:ext cx="903068" cy="3404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b="0" i="1" kern="100" smtClean="0">
                                  <a:latin typeface="Cambria Math" panose="02040503050406030204" pitchFamily="18" charset="0"/>
                                  <a:ea typeface="標楷體" panose="03000509000000000000" pitchFamily="65" charset="-120"/>
                                  <a:cs typeface="Times New Roman" panose="02020603050405020304" pitchFamily="18" charset="0"/>
                                </a:rPr>
                                <m:t>𝑒</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+1</m:t>
                                  </m:r>
                                </m:sub>
                              </m:sSub>
                            </m:e>
                          </m:d>
                        </m:oMath>
                      </m:oMathPara>
                    </a14:m>
                    <a:endParaRPr lang="zh-TW" altLang="en-US" sz="1400" dirty="0"/>
                  </a:p>
                </p:txBody>
              </p:sp>
            </mc:Choice>
            <mc:Fallback xmlns="">
              <p:sp>
                <p:nvSpPr>
                  <p:cNvPr id="19" name="矩形 18"/>
                  <p:cNvSpPr>
                    <a:spLocks noRot="1" noChangeAspect="1" noMove="1" noResize="1" noEditPoints="1" noAdjustHandles="1" noChangeArrowheads="1" noChangeShapeType="1" noTextEdit="1"/>
                  </p:cNvSpPr>
                  <p:nvPr/>
                </p:nvSpPr>
                <p:spPr>
                  <a:xfrm>
                    <a:off x="10584602" y="1480975"/>
                    <a:ext cx="903068" cy="340478"/>
                  </a:xfrm>
                  <a:prstGeom prst="rect">
                    <a:avLst/>
                  </a:prstGeom>
                  <a:blipFill>
                    <a:blip r:embed="rId10"/>
                    <a:stretch>
                      <a:fillRect b="-17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10577933" y="1187678"/>
                    <a:ext cx="908389" cy="3404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𝑜</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+1</m:t>
                                  </m:r>
                                </m:sub>
                              </m:sSub>
                            </m:e>
                          </m:d>
                        </m:oMath>
                      </m:oMathPara>
                    </a14:m>
                    <a:endParaRPr lang="zh-TW" altLang="en-US" sz="1400" dirty="0"/>
                  </a:p>
                </p:txBody>
              </p:sp>
            </mc:Choice>
            <mc:Fallback xmlns="">
              <p:sp>
                <p:nvSpPr>
                  <p:cNvPr id="20" name="矩形 19"/>
                  <p:cNvSpPr>
                    <a:spLocks noRot="1" noChangeAspect="1" noMove="1" noResize="1" noEditPoints="1" noAdjustHandles="1" noChangeArrowheads="1" noChangeShapeType="1" noTextEdit="1"/>
                  </p:cNvSpPr>
                  <p:nvPr/>
                </p:nvSpPr>
                <p:spPr>
                  <a:xfrm>
                    <a:off x="10577933" y="1187678"/>
                    <a:ext cx="908389" cy="340478"/>
                  </a:xfrm>
                  <a:prstGeom prst="rect">
                    <a:avLst/>
                  </a:prstGeom>
                  <a:blipFill>
                    <a:blip r:embed="rId11"/>
                    <a:stretch>
                      <a:fillRect b="-17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9764314" y="1707716"/>
                    <a:ext cx="1322863" cy="3250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zh-TW" altLang="en-US"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𝑗</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m:t>
                              </m:r>
                            </m:sub>
                          </m:sSub>
                        </m:oMath>
                      </m:oMathPara>
                    </a14:m>
                    <a:endParaRPr lang="zh-TW" altLang="en-US" sz="1400" dirty="0"/>
                  </a:p>
                </p:txBody>
              </p:sp>
            </mc:Choice>
            <mc:Fallback xmlns="">
              <p:sp>
                <p:nvSpPr>
                  <p:cNvPr id="21" name="矩形 20"/>
                  <p:cNvSpPr>
                    <a:spLocks noRot="1" noChangeAspect="1" noMove="1" noResize="1" noEditPoints="1" noAdjustHandles="1" noChangeArrowheads="1" noChangeShapeType="1" noTextEdit="1"/>
                  </p:cNvSpPr>
                  <p:nvPr/>
                </p:nvSpPr>
                <p:spPr>
                  <a:xfrm>
                    <a:off x="9764314" y="1707716"/>
                    <a:ext cx="1322863" cy="325089"/>
                  </a:xfrm>
                  <a:prstGeom prst="rect">
                    <a:avLst/>
                  </a:prstGeom>
                  <a:blipFill>
                    <a:blip r:embed="rId12"/>
                    <a:stretch>
                      <a:fillRect b="-1852"/>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E54C0CD2-A913-4253-9B59-2AA15E82BBD9}"/>
                  </a:ext>
                </a:extLst>
              </p:cNvPr>
              <p:cNvSpPr txBox="1"/>
              <p:nvPr/>
            </p:nvSpPr>
            <p:spPr>
              <a:xfrm>
                <a:off x="369894" y="4547177"/>
                <a:ext cx="3744416" cy="1473993"/>
              </a:xfrm>
              <a:prstGeom prst="rect">
                <a:avLst/>
              </a:prstGeom>
              <a:noFill/>
            </p:spPr>
            <p:txBody>
              <a:bodyPr wrap="square" rtlCol="0">
                <a:spAutoFit/>
              </a:bodyPr>
              <a:lstStyle/>
              <a:p>
                <a:pPr lvl="0">
                  <a:lnSpc>
                    <a:spcPct val="200000"/>
                  </a:lnSpc>
                </a:pPr>
                <a:r>
                  <a:rPr lang="en-US" altLang="zh-TW" sz="1400" i="1" dirty="0">
                    <a:solidFill>
                      <a:prstClr val="black"/>
                    </a:solidFill>
                    <a:latin typeface="Times New Roman" pitchFamily="18" charset="0"/>
                    <a:cs typeface="Times New Roman" pitchFamily="18" charset="0"/>
                  </a:rPr>
                  <a:t> w  : efficiency weighting</a:t>
                </a:r>
              </a:p>
              <a:p>
                <a:pPr lvl="0">
                  <a:lnSpc>
                    <a:spcPct val="200000"/>
                  </a:lnSpc>
                </a:pPr>
                <a:r>
                  <a:rPr lang="en-US" altLang="zh-TW" sz="1400" i="1" dirty="0">
                    <a:solidFill>
                      <a:prstClr val="black"/>
                    </a:solidFill>
                    <a:latin typeface="Times New Roman" pitchFamily="18" charset="0"/>
                    <a:cs typeface="Times New Roman" pitchFamily="18" charset="0"/>
                  </a:rPr>
                  <a:t> </a:t>
                </a:r>
                <a14:m>
                  <m:oMath xmlns:m="http://schemas.openxmlformats.org/officeDocument/2006/math">
                    <m:sSub>
                      <m:sSubPr>
                        <m:ctrlPr>
                          <a:rPr lang="zh-TW" altLang="en-US" sz="1400" i="1">
                            <a:solidFill>
                              <a:prstClr val="black"/>
                            </a:solidFill>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zh-TW" altLang="en-US" sz="1400" i="1">
                            <a:solidFill>
                              <a:prstClr val="black"/>
                            </a:solidFill>
                            <a:latin typeface="Cambria Math" panose="02040503050406030204" pitchFamily="18" charset="0"/>
                          </a:rPr>
                          <m:t>𝑚𝑎𝑥</m:t>
                        </m:r>
                      </m:sub>
                    </m:sSub>
                  </m:oMath>
                </a14:m>
                <a:r>
                  <a:rPr lang="en-US" altLang="zh-TW" sz="1400" i="1" baseline="-25000" dirty="0">
                    <a:solidFill>
                      <a:prstClr val="black"/>
                    </a:solidFill>
                    <a:latin typeface="Times New Roman" pitchFamily="18" charset="0"/>
                    <a:cs typeface="Times New Roman" pitchFamily="18" charset="0"/>
                  </a:rPr>
                  <a:t>  </a:t>
                </a:r>
                <a:r>
                  <a:rPr lang="en-US" altLang="zh-TW" sz="1400" i="1" dirty="0">
                    <a:solidFill>
                      <a:prstClr val="black"/>
                    </a:solidFill>
                    <a:latin typeface="Times New Roman" pitchFamily="18" charset="0"/>
                    <a:cs typeface="Times New Roman" pitchFamily="18" charset="0"/>
                  </a:rPr>
                  <a:t> : efficiency target</a:t>
                </a:r>
              </a:p>
              <a:p>
                <a:pPr lvl="0">
                  <a:lnSpc>
                    <a:spcPct val="200000"/>
                  </a:lnSpc>
                </a:pPr>
                <a14:m>
                  <m:oMath xmlns:m="http://schemas.openxmlformats.org/officeDocument/2006/math">
                    <m:sSub>
                      <m:sSubPr>
                        <m:ctrlPr>
                          <a:rPr lang="zh-TW" altLang="en-US" sz="1400" i="1">
                            <a:solidFill>
                              <a:prstClr val="black"/>
                            </a:solidFill>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zh-TW" altLang="en-US" sz="1400" i="1">
                            <a:solidFill>
                              <a:prstClr val="black"/>
                            </a:solidFill>
                            <a:latin typeface="Cambria Math" panose="02040503050406030204" pitchFamily="18" charset="0"/>
                          </a:rPr>
                          <m:t>𝑐𝑎𝑙</m:t>
                        </m:r>
                      </m:sub>
                    </m:sSub>
                  </m:oMath>
                </a14:m>
                <a:r>
                  <a:rPr lang="en-US" altLang="zh-TW" sz="1400" i="1" baseline="-25000" dirty="0">
                    <a:solidFill>
                      <a:prstClr val="black"/>
                    </a:solidFill>
                    <a:latin typeface="Times New Roman" pitchFamily="18" charset="0"/>
                    <a:cs typeface="Times New Roman" pitchFamily="18" charset="0"/>
                  </a:rPr>
                  <a:t>  </a:t>
                </a:r>
                <a:r>
                  <a:rPr lang="en-US" altLang="zh-TW" sz="1400" i="1" dirty="0">
                    <a:solidFill>
                      <a:prstClr val="black"/>
                    </a:solidFill>
                    <a:latin typeface="Times New Roman" pitchFamily="18" charset="0"/>
                    <a:cs typeface="Times New Roman" pitchFamily="18" charset="0"/>
                  </a:rPr>
                  <a:t> : efficiency</a:t>
                </a:r>
                <a:endParaRPr lang="zh-TW" altLang="en-US" sz="1400" i="1" dirty="0">
                  <a:solidFill>
                    <a:prstClr val="black"/>
                  </a:solidFill>
                  <a:latin typeface="Times New Roman" pitchFamily="18" charset="0"/>
                  <a:cs typeface="Times New Roman" pitchFamily="18" charset="0"/>
                </a:endParaRPr>
              </a:p>
            </p:txBody>
          </p:sp>
        </mc:Choice>
        <mc:Fallback xmlns="">
          <p:sp>
            <p:nvSpPr>
              <p:cNvPr id="24" name="文字方塊 23">
                <a:extLst>
                  <a:ext uri="{FF2B5EF4-FFF2-40B4-BE49-F238E27FC236}">
                    <a16:creationId xmlns:a16="http://schemas.microsoft.com/office/drawing/2014/main" id="{E54C0CD2-A913-4253-9B59-2AA15E82BBD9}"/>
                  </a:ext>
                </a:extLst>
              </p:cNvPr>
              <p:cNvSpPr txBox="1">
                <a:spLocks noRot="1" noChangeAspect="1" noMove="1" noResize="1" noEditPoints="1" noAdjustHandles="1" noChangeArrowheads="1" noChangeShapeType="1" noTextEdit="1"/>
              </p:cNvSpPr>
              <p:nvPr/>
            </p:nvSpPr>
            <p:spPr>
              <a:xfrm>
                <a:off x="369894" y="4547177"/>
                <a:ext cx="3744416" cy="1473993"/>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145886" y="3646443"/>
                <a:ext cx="6389738" cy="76809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smtClean="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TW" sz="1400">
                              <a:latin typeface="Cambria Math" panose="02040503050406030204" pitchFamily="18" charset="0"/>
                              <a:ea typeface="Cambria Math" panose="02040503050406030204" pitchFamily="18" charset="0"/>
                            </a:rPr>
                            <m:t>Ob</m:t>
                          </m:r>
                        </m:e>
                        <m:sub>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sub>
                      </m:sSub>
                      <m:r>
                        <a:rPr lang="en-US" altLang="zh-TW" sz="1400" smtClean="0">
                          <a:latin typeface="Cambria Math" panose="02040503050406030204" pitchFamily="18" charset="0"/>
                          <a:ea typeface="Cambria Math" panose="02040503050406030204" pitchFamily="18" charset="0"/>
                        </a:rPr>
                        <m:t>=</m:t>
                      </m:r>
                      <m:nary>
                        <m:naryPr>
                          <m:chr m:val="∑"/>
                          <m:limLoc m:val="undOvr"/>
                          <m:ctrlPr>
                            <a:rPr lang="zh-TW" altLang="zh-TW" sz="1400" i="1">
                              <a:latin typeface="Cambria Math" panose="02040503050406030204" pitchFamily="18" charset="0"/>
                            </a:rPr>
                          </m:ctrlPr>
                        </m:naryPr>
                        <m:sub>
                          <m:r>
                            <a:rPr lang="en-US" altLang="zh-TW" sz="1400" i="1">
                              <a:latin typeface="Cambria Math" panose="02040503050406030204" pitchFamily="18" charset="0"/>
                              <a:ea typeface="Cambria Math" panose="02040503050406030204" pitchFamily="18" charset="0"/>
                            </a:rPr>
                            <m:t>𝑗</m:t>
                          </m:r>
                          <m:r>
                            <a:rPr lang="en-US" altLang="zh-TW" sz="1400" i="1">
                              <a:latin typeface="Cambria Math" panose="02040503050406030204" pitchFamily="18" charset="0"/>
                              <a:ea typeface="Cambria Math" panose="02040503050406030204" pitchFamily="18" charset="0"/>
                            </a:rPr>
                            <m:t>=1</m:t>
                          </m:r>
                        </m:sub>
                        <m:sup>
                          <m:r>
                            <a:rPr lang="en-US" altLang="zh-TW" sz="1400" i="1">
                              <a:latin typeface="Cambria Math" panose="02040503050406030204" pitchFamily="18" charset="0"/>
                              <a:ea typeface="Cambria Math" panose="02040503050406030204" pitchFamily="18" charset="0"/>
                            </a:rPr>
                            <m:t>𝑛</m:t>
                          </m:r>
                        </m:sup>
                        <m:e>
                          <m:eqArr>
                            <m:eqArrPr>
                              <m:ctrlPr>
                                <a:rPr lang="zh-TW" altLang="zh-TW" sz="1400" i="1">
                                  <a:latin typeface="Cambria Math" panose="02040503050406030204" pitchFamily="18" charset="0"/>
                                </a:rPr>
                              </m:ctrlPr>
                            </m:eqArrPr>
                            <m:e>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en-US" altLang="zh-TW" sz="1400" i="1">
                                          <a:latin typeface="Cambria Math" panose="02040503050406030204" pitchFamily="18" charset="0"/>
                                          <a:ea typeface="Cambria Math" panose="02040503050406030204" pitchFamily="18" charset="0"/>
                                        </a:rPr>
                                        <m:t>𝑚𝑎𝑥</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1540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r>
                                    <a:rPr lang="en-US" altLang="zh-TW" sz="1400" i="1">
                                      <a:latin typeface="Cambria Math" panose="02040503050406030204" pitchFamily="18" charset="0"/>
                                      <a:ea typeface="Cambria Math" panose="02040503050406030204" pitchFamily="18" charset="0"/>
                                    </a:rPr>
                                    <m:t>−</m:t>
                                  </m:r>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en-US" altLang="zh-TW" sz="1400" i="1">
                                          <a:latin typeface="Cambria Math" panose="02040503050406030204" pitchFamily="18" charset="0"/>
                                          <a:ea typeface="Cambria Math" panose="02040503050406030204" pitchFamily="18" charset="0"/>
                                        </a:rPr>
                                        <m:t>𝑐𝑎𝑙</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1540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e>
                              </m:d>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𝑊</m:t>
                              </m:r>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1540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e>
                            <m:e>
                              <m:r>
                                <a:rPr lang="en-US" altLang="zh-TW" sz="1400" b="0" i="1" smtClean="0">
                                  <a:latin typeface="Cambria Math" panose="02040503050406030204" pitchFamily="18" charset="0"/>
                                  <a:ea typeface="Cambria Math" panose="02040503050406030204" pitchFamily="18" charset="0"/>
                                </a:rPr>
                                <m:t>+</m:t>
                              </m:r>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en-US" altLang="zh-TW" sz="1400" i="1">
                                          <a:latin typeface="Cambria Math" panose="02040503050406030204" pitchFamily="18" charset="0"/>
                                          <a:ea typeface="Cambria Math" panose="02040503050406030204" pitchFamily="18" charset="0"/>
                                        </a:rPr>
                                        <m:t>𝑚𝑎𝑥</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1550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r>
                                    <a:rPr lang="en-US" altLang="zh-TW" sz="1400" i="1">
                                      <a:latin typeface="Cambria Math" panose="02040503050406030204" pitchFamily="18" charset="0"/>
                                      <a:ea typeface="Cambria Math" panose="02040503050406030204" pitchFamily="18" charset="0"/>
                                    </a:rPr>
                                    <m:t>−</m:t>
                                  </m:r>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en-US" altLang="zh-TW" sz="1400" i="1">
                                          <a:latin typeface="Cambria Math" panose="02040503050406030204" pitchFamily="18" charset="0"/>
                                          <a:ea typeface="Cambria Math" panose="02040503050406030204" pitchFamily="18" charset="0"/>
                                        </a:rPr>
                                        <m:t>𝑐𝑎𝑙</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1550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𝑊</m:t>
                                  </m:r>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15</m:t>
                                          </m:r>
                                          <m:r>
                                            <a:rPr lang="en-US" altLang="zh-TW" sz="1400" b="0" i="1" smtClean="0">
                                              <a:latin typeface="Cambria Math" panose="02040503050406030204" pitchFamily="18" charset="0"/>
                                              <a:ea typeface="Cambria Math" panose="02040503050406030204" pitchFamily="18" charset="0"/>
                                            </a:rPr>
                                            <m:t>5</m:t>
                                          </m:r>
                                          <m:r>
                                            <a:rPr lang="en-US" altLang="zh-TW" sz="1400" i="1">
                                              <a:latin typeface="Cambria Math" panose="02040503050406030204" pitchFamily="18" charset="0"/>
                                              <a:ea typeface="Cambria Math" panose="02040503050406030204" pitchFamily="18" charset="0"/>
                                            </a:rPr>
                                            <m:t>0</m:t>
                                          </m:r>
                                          <m:r>
                                            <a:rPr lang="en-US" altLang="zh-TW" sz="1400" i="1">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e>
                              </m:d>
                            </m:e>
                          </m:eqArr>
                        </m:e>
                      </m:nary>
                    </m:oMath>
                  </m:oMathPara>
                </a14:m>
                <a:endParaRPr lang="zh-TW" altLang="en-US" sz="1400" dirty="0">
                  <a:latin typeface="Cambria Math" panose="02040503050406030204" pitchFamily="18" charset="0"/>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145886" y="3646443"/>
                <a:ext cx="6389738" cy="768095"/>
              </a:xfrm>
              <a:prstGeom prst="rect">
                <a:avLst/>
              </a:prstGeom>
              <a:blipFill>
                <a:blip r:embed="rId14"/>
                <a:stretch>
                  <a:fillRect/>
                </a:stretch>
              </a:blipFill>
            </p:spPr>
            <p:txBody>
              <a:bodyPr/>
              <a:lstStyle/>
              <a:p>
                <a:r>
                  <a:rPr lang="zh-TW" altLang="en-US">
                    <a:noFill/>
                  </a:rPr>
                  <a:t> </a:t>
                </a:r>
              </a:p>
            </p:txBody>
          </p:sp>
        </mc:Fallback>
      </mc:AlternateContent>
      <p:pic>
        <p:nvPicPr>
          <p:cNvPr id="14" name="圖片 13">
            <a:extLst>
              <a:ext uri="{FF2B5EF4-FFF2-40B4-BE49-F238E27FC236}">
                <a16:creationId xmlns:a16="http://schemas.microsoft.com/office/drawing/2014/main" id="{2FB3798E-BF65-4632-AE75-406FE306E975}"/>
              </a:ext>
            </a:extLst>
          </p:cNvPr>
          <p:cNvPicPr>
            <a:picLocks noChangeAspect="1"/>
          </p:cNvPicPr>
          <p:nvPr/>
        </p:nvPicPr>
        <p:blipFill rotWithShape="1">
          <a:blip r:embed="rId15"/>
          <a:srcRect r="3318"/>
          <a:stretch/>
        </p:blipFill>
        <p:spPr>
          <a:xfrm>
            <a:off x="6149276" y="3014471"/>
            <a:ext cx="4986561" cy="3639627"/>
          </a:xfrm>
          <a:prstGeom prst="rect">
            <a:avLst/>
          </a:prstGeom>
        </p:spPr>
      </p:pic>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1E92CF03-E4A3-432C-B1EC-A6B42BA201CF}"/>
                  </a:ext>
                </a:extLst>
              </p:cNvPr>
              <p:cNvSpPr/>
              <p:nvPr/>
            </p:nvSpPr>
            <p:spPr>
              <a:xfrm>
                <a:off x="369894" y="6153809"/>
                <a:ext cx="3514424" cy="394532"/>
              </a:xfrm>
              <a:prstGeom prst="rect">
                <a:avLst/>
              </a:prstGeom>
            </p:spPr>
            <p:txBody>
              <a:bodyPr wrap="none">
                <a:spAutoFit/>
              </a:bodyPr>
              <a:lstStyle/>
              <a:p>
                <a14:m>
                  <m:oMath xmlns:m="http://schemas.openxmlformats.org/officeDocument/2006/math">
                    <m:sSub>
                      <m:sSubPr>
                        <m:ctrlPr>
                          <a:rPr lang="zh-TW" altLang="zh-TW" i="1" smtClean="0">
                            <a:latin typeface="Cambria Math" panose="02040503050406030204" pitchFamily="18" charset="0"/>
                          </a:rPr>
                        </m:ctrlPr>
                      </m:sSubPr>
                      <m:e>
                        <m:r>
                          <m:rPr>
                            <m:sty m:val="p"/>
                          </m:rPr>
                          <a:rPr lang="en-US" altLang="zh-TW">
                            <a:latin typeface="Cambria Math" panose="02040503050406030204" pitchFamily="18" charset="0"/>
                            <a:ea typeface="Cambria Math" panose="02040503050406030204" pitchFamily="18" charset="0"/>
                          </a:rPr>
                          <m:t>Ob</m:t>
                        </m:r>
                      </m:e>
                      <m:sub>
                        <m:r>
                          <a:rPr lang="en-US" altLang="zh-TW" b="0" i="1" smtClean="0">
                            <a:latin typeface="Cambria Math" panose="02040503050406030204" pitchFamily="18" charset="0"/>
                            <a:ea typeface="Cambria Math" panose="02040503050406030204" pitchFamily="18" charset="0"/>
                          </a:rPr>
                          <m:t>𝑡𝑜𝑡𝑎𝑙</m:t>
                        </m:r>
                      </m:sub>
                    </m:sSub>
                    <m:r>
                      <a:rPr lang="en-US" altLang="zh-TW" b="0" i="1" smtClean="0">
                        <a:latin typeface="Cambria Math" panose="02040503050406030204" pitchFamily="18" charset="0"/>
                      </a:rPr>
                      <m:t>=</m:t>
                    </m:r>
                    <m:sSub>
                      <m:sSubPr>
                        <m:ctrlPr>
                          <a:rPr lang="zh-TW" altLang="zh-TW" i="1">
                            <a:latin typeface="Cambria Math" panose="02040503050406030204" pitchFamily="18" charset="0"/>
                          </a:rPr>
                        </m:ctrlPr>
                      </m:sSubPr>
                      <m:e>
                        <m:sSub>
                          <m:sSubPr>
                            <m:ctrlPr>
                              <a:rPr lang="zh-TW" altLang="zh-TW" i="1">
                                <a:latin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𝑊</m:t>
                            </m:r>
                          </m:e>
                          <m:sub>
                            <m:r>
                              <a:rPr lang="en-US" altLang="zh-TW" b="0" i="1" smtClean="0">
                                <a:latin typeface="Cambria Math" panose="02040503050406030204" pitchFamily="18" charset="0"/>
                              </a:rPr>
                              <m:t>𝑂𝑃𝑂</m:t>
                            </m:r>
                          </m:sub>
                        </m:sSub>
                        <m:r>
                          <a:rPr lang="en-US" altLang="zh-TW" i="1">
                            <a:latin typeface="Cambria Math" panose="02040503050406030204" pitchFamily="18" charset="0"/>
                            <a:ea typeface="Cambria Math" panose="02040503050406030204" pitchFamily="18" charset="0"/>
                          </a:rPr>
                          <m:t>.</m:t>
                        </m:r>
                        <m:r>
                          <m:rPr>
                            <m:sty m:val="p"/>
                          </m:rPr>
                          <a:rPr lang="en-US" altLang="zh-TW">
                            <a:latin typeface="Cambria Math" panose="02040503050406030204" pitchFamily="18" charset="0"/>
                            <a:ea typeface="Cambria Math" panose="02040503050406030204" pitchFamily="18" charset="0"/>
                          </a:rPr>
                          <m:t>Ob</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𝐺</m:t>
                            </m:r>
                          </m:e>
                          <m:sub>
                            <m:r>
                              <a:rPr lang="en-US" altLang="zh-TW" i="1">
                                <a:latin typeface="Cambria Math" panose="02040503050406030204" pitchFamily="18" charset="0"/>
                              </a:rPr>
                              <m:t>𝑚</m:t>
                            </m:r>
                          </m:sub>
                        </m:sSub>
                      </m:sub>
                    </m:sSub>
                  </m:oMath>
                </a14:m>
                <a:r>
                  <a:rPr lang="en-US" altLang="zh-TW" dirty="0"/>
                  <a:t>+</a:t>
                </a:r>
                <a:r>
                  <a:rPr lang="en-US" altLang="zh-TW" dirty="0">
                    <a:ea typeface="Cambria Math" panose="02040503050406030204" pitchFamily="18" charset="0"/>
                  </a:rPr>
                  <a:t> </a:t>
                </a:r>
                <a14:m>
                  <m:oMath xmlns:m="http://schemas.openxmlformats.org/officeDocument/2006/math">
                    <m:sSub>
                      <m:sSubPr>
                        <m:ctrlPr>
                          <a:rPr lang="zh-TW" altLang="zh-TW" i="1">
                            <a:latin typeface="Cambria Math" panose="02040503050406030204" pitchFamily="18" charset="0"/>
                          </a:rPr>
                        </m:ctrlPr>
                      </m:sSubPr>
                      <m:e>
                        <m:r>
                          <a:rPr lang="en-US" altLang="zh-TW" b="0" i="1" smtClean="0">
                            <a:latin typeface="Cambria Math" panose="02040503050406030204" pitchFamily="18" charset="0"/>
                          </a:rPr>
                          <m:t>𝑊</m:t>
                        </m:r>
                      </m:e>
                      <m:sub>
                        <m:r>
                          <a:rPr lang="en-US" altLang="zh-TW" b="0" i="1" smtClean="0">
                            <a:latin typeface="Cambria Math" panose="02040503050406030204" pitchFamily="18" charset="0"/>
                          </a:rPr>
                          <m:t>𝐸𝑂</m:t>
                        </m:r>
                      </m:sub>
                    </m:sSub>
                    <m:r>
                      <a:rPr lang="en-US" altLang="zh-TW" i="1">
                        <a:latin typeface="Cambria Math" panose="02040503050406030204" pitchFamily="18" charset="0"/>
                        <a:ea typeface="Cambria Math" panose="02040503050406030204" pitchFamily="18" charset="0"/>
                      </a:rPr>
                      <m:t>. </m:t>
                    </m:r>
                    <m:sSub>
                      <m:sSubPr>
                        <m:ctrlPr>
                          <a:rPr lang="zh-TW" altLang="zh-TW" i="1">
                            <a:latin typeface="Cambria Math" panose="02040503050406030204" pitchFamily="18" charset="0"/>
                          </a:rPr>
                        </m:ctrlPr>
                      </m:sSubPr>
                      <m:e>
                        <m:r>
                          <m:rPr>
                            <m:sty m:val="p"/>
                          </m:rPr>
                          <a:rPr lang="en-US" altLang="zh-TW">
                            <a:latin typeface="Cambria Math" panose="02040503050406030204" pitchFamily="18" charset="0"/>
                            <a:ea typeface="Cambria Math" panose="02040503050406030204" pitchFamily="18" charset="0"/>
                          </a:rPr>
                          <m:t>Ob</m:t>
                        </m:r>
                      </m:e>
                      <m:sub>
                        <m:sSub>
                          <m:sSubPr>
                            <m:ctrlPr>
                              <a:rPr lang="zh-TW" altLang="zh-TW" i="1">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𝑒</m:t>
                            </m:r>
                          </m:sub>
                        </m:sSub>
                      </m:sub>
                    </m:sSub>
                  </m:oMath>
                </a14:m>
                <a:endParaRPr lang="zh-TW" altLang="en-US" dirty="0"/>
              </a:p>
            </p:txBody>
          </p:sp>
        </mc:Choice>
        <mc:Fallback xmlns="">
          <p:sp>
            <p:nvSpPr>
              <p:cNvPr id="38" name="矩形 37">
                <a:extLst>
                  <a:ext uri="{FF2B5EF4-FFF2-40B4-BE49-F238E27FC236}">
                    <a16:creationId xmlns:a16="http://schemas.microsoft.com/office/drawing/2014/main" id="{1E92CF03-E4A3-432C-B1EC-A6B42BA201CF}"/>
                  </a:ext>
                </a:extLst>
              </p:cNvPr>
              <p:cNvSpPr>
                <a:spLocks noRot="1" noChangeAspect="1" noMove="1" noResize="1" noEditPoints="1" noAdjustHandles="1" noChangeArrowheads="1" noChangeShapeType="1" noTextEdit="1"/>
              </p:cNvSpPr>
              <p:nvPr/>
            </p:nvSpPr>
            <p:spPr>
              <a:xfrm>
                <a:off x="369894" y="6153809"/>
                <a:ext cx="3514424" cy="394532"/>
              </a:xfrm>
              <a:prstGeom prst="rect">
                <a:avLst/>
              </a:prstGeom>
              <a:blipFill>
                <a:blip r:embed="rId16"/>
                <a:stretch>
                  <a:fillRect t="-6154" b="-18462"/>
                </a:stretch>
              </a:blipFill>
            </p:spPr>
            <p:txBody>
              <a:bodyPr/>
              <a:lstStyle/>
              <a:p>
                <a:r>
                  <a:rPr lang="zh-TW" altLang="en-US">
                    <a:noFill/>
                  </a:rPr>
                  <a:t> </a:t>
                </a:r>
              </a:p>
            </p:txBody>
          </p:sp>
        </mc:Fallback>
      </mc:AlternateContent>
      <p:sp>
        <p:nvSpPr>
          <p:cNvPr id="39" name="Text Box 125">
            <a:extLst>
              <a:ext uri="{FF2B5EF4-FFF2-40B4-BE49-F238E27FC236}">
                <a16:creationId xmlns:a16="http://schemas.microsoft.com/office/drawing/2014/main" id="{08467CEC-57A1-44D6-B27B-8219A7C414AB}"/>
              </a:ext>
            </a:extLst>
          </p:cNvPr>
          <p:cNvSpPr txBox="1">
            <a:spLocks noChangeArrowheads="1"/>
          </p:cNvSpPr>
          <p:nvPr/>
        </p:nvSpPr>
        <p:spPr bwMode="auto">
          <a:xfrm>
            <a:off x="573192" y="3321441"/>
            <a:ext cx="3456384" cy="369332"/>
          </a:xfrm>
          <a:prstGeom prst="rect">
            <a:avLst/>
          </a:prstGeom>
          <a:noFill/>
          <a:ln w="9525">
            <a:noFill/>
            <a:miter lim="800000"/>
            <a:headEnd/>
            <a:tailEnd/>
          </a:ln>
          <a:effectLst/>
        </p:spPr>
        <p:txBody>
          <a:bodyPr wrap="square">
            <a:spAutoFit/>
          </a:bodyPr>
          <a:lstStyle/>
          <a:p>
            <a:pPr>
              <a:spcBef>
                <a:spcPct val="50000"/>
              </a:spcBef>
            </a:pPr>
            <a:r>
              <a:rPr lang="en-US" altLang="zh-TW" b="1" i="1" u="sng" dirty="0">
                <a:latin typeface="Times New Roman" pitchFamily="18" charset="0"/>
                <a:cs typeface="Times New Roman" pitchFamily="18" charset="0"/>
              </a:rPr>
              <a:t>Objective Function</a:t>
            </a:r>
          </a:p>
        </p:txBody>
      </p:sp>
    </p:spTree>
    <p:extLst>
      <p:ext uri="{BB962C8B-B14F-4D97-AF65-F5344CB8AC3E}">
        <p14:creationId xmlns:p14="http://schemas.microsoft.com/office/powerpoint/2010/main" val="711497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73193" y="821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APPLN Electro-Optic Polarization Mode Converter</a:t>
            </a:r>
            <a:endParaRPr lang="en-US" altLang="zh-TW" sz="2800" b="1" dirty="0"/>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EA7BBC9F-07EA-4A04-9816-E7C818674DCD}"/>
                  </a:ext>
                </a:extLst>
              </p:cNvPr>
              <p:cNvSpPr/>
              <p:nvPr/>
            </p:nvSpPr>
            <p:spPr>
              <a:xfrm>
                <a:off x="369894" y="1474602"/>
                <a:ext cx="11349236" cy="128625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𝑜</m:t>
                          </m:r>
                        </m:sub>
                      </m:sSub>
                      <m:d>
                        <m:d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e>
                      </m:d>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p>
                        <m:sSup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𝑒</m:t>
                          </m:r>
                        </m:e>
                        <m:sup>
                          <m:f>
                            <m:f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𝑖</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2</m:t>
                              </m:r>
                            </m:den>
                          </m:f>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sup>
                      </m:sSup>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func>
                        <m:func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600" kern="100">
                              <a:latin typeface="Cambria Math" panose="02040503050406030204" pitchFamily="18" charset="0"/>
                              <a:ea typeface="標楷體" panose="03000509000000000000" pitchFamily="65" charset="-120"/>
                              <a:cs typeface="Times New Roman" panose="02020603050405020304" pitchFamily="18" charset="0"/>
                            </a:rPr>
                            <m:t>cos</m:t>
                          </m:r>
                        </m:fName>
                        <m:e>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e>
                      </m:func>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2</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func>
                        <m:func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600" kern="100">
                              <a:latin typeface="Cambria Math" panose="02040503050406030204" pitchFamily="18" charset="0"/>
                              <a:ea typeface="標楷體" panose="03000509000000000000" pitchFamily="65" charset="-120"/>
                              <a:cs typeface="Times New Roman" panose="02020603050405020304" pitchFamily="18" charset="0"/>
                            </a:rPr>
                            <m:t>sin</m:t>
                          </m:r>
                        </m:fName>
                        <m:e>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e>
                      </m:func>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altLang="zh-TW" sz="1600" kern="100" dirty="0">
                  <a:latin typeface="Calibri" panose="020F0502020204030204" pitchFamily="34" charset="0"/>
                  <a:cs typeface="Times New Roman" panose="02020603050405020304" pitchFamily="18" charset="0"/>
                </a:endParaRPr>
              </a:p>
              <a:p>
                <a:endParaRPr lang="en-US" altLang="zh-TW" sz="1600" i="1" dirty="0">
                  <a:latin typeface="Cambria Math" panose="020405030504060302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𝑒</m:t>
                          </m:r>
                        </m:sub>
                      </m:sSub>
                      <m:d>
                        <m:d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smtClean="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e>
                      </m:d>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p>
                        <m:sSup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𝑒</m:t>
                          </m:r>
                        </m:e>
                        <m:sup>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𝑖</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2</m:t>
                              </m:r>
                            </m:den>
                          </m:f>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sup>
                      </m:sSup>
                      <m:d>
                        <m:dPr>
                          <m:begChr m:val="{"/>
                          <m:endChr m:val="}"/>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d>
                            <m:d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sub>
                              </m:sSub>
                            </m:e>
                          </m:d>
                          <m:d>
                            <m:dPr>
                              <m:begChr m:val="["/>
                              <m:endChr m:val="]"/>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uncPr>
                                <m:fName>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2</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en>
                                  </m:f>
                                  <m:r>
                                    <m:rPr>
                                      <m:sty m:val="p"/>
                                    </m:rPr>
                                    <a:rPr lang="en-US" altLang="zh-TW" sz="1600">
                                      <a:latin typeface="Cambria Math" panose="02040503050406030204" pitchFamily="18" charset="0"/>
                                      <a:ea typeface="標楷體" panose="03000509000000000000" pitchFamily="65" charset="-120"/>
                                      <a:cs typeface="Times New Roman" panose="02020603050405020304" pitchFamily="18" charset="0"/>
                                    </a:rPr>
                                    <m:t>cos</m:t>
                                  </m:r>
                                </m:fName>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𝑖𝑟</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𝜒</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en>
                                  </m:f>
                                  <m:func>
                                    <m:func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600">
                                          <a:latin typeface="Cambria Math" panose="02040503050406030204" pitchFamily="18" charset="0"/>
                                          <a:ea typeface="標楷體" panose="03000509000000000000" pitchFamily="65" charset="-120"/>
                                          <a:cs typeface="Times New Roman" panose="02020603050405020304" pitchFamily="18" charset="0"/>
                                        </a:rPr>
                                        <m:t>sin</m:t>
                                      </m:r>
                                    </m:fName>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e>
                                  </m:func>
                                </m:e>
                              </m:func>
                            </m:e>
                          </m:d>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2</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
                            <m:dPr>
                              <m:begChr m:val="["/>
                              <m:endChr m:val="]"/>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uncPr>
                                <m:fName>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2</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en>
                                  </m:f>
                                  <m:r>
                                    <m:rPr>
                                      <m:sty m:val="p"/>
                                    </m:rPr>
                                    <a:rPr lang="en-US" altLang="zh-TW" sz="1600">
                                      <a:latin typeface="Cambria Math" panose="02040503050406030204" pitchFamily="18" charset="0"/>
                                      <a:ea typeface="標楷體" panose="03000509000000000000" pitchFamily="65" charset="-120"/>
                                      <a:cs typeface="Times New Roman" panose="02020603050405020304" pitchFamily="18" charset="0"/>
                                    </a:rPr>
                                    <m:t>sin</m:t>
                                  </m:r>
                                </m:fName>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𝑖𝑟</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𝜒</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en>
                                  </m:f>
                                  <m:func>
                                    <m:func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600">
                                          <a:latin typeface="Cambria Math" panose="02040503050406030204" pitchFamily="18" charset="0"/>
                                          <a:ea typeface="標楷體" panose="03000509000000000000" pitchFamily="65" charset="-120"/>
                                          <a:cs typeface="Times New Roman" panose="02020603050405020304" pitchFamily="18" charset="0"/>
                                        </a:rPr>
                                        <m:t>cos</m:t>
                                      </m:r>
                                    </m:fName>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e>
                                  </m:func>
                                </m:e>
                              </m:func>
                            </m:e>
                          </m:d>
                        </m:e>
                      </m:d>
                    </m:oMath>
                  </m:oMathPara>
                </a14:m>
                <a:endParaRPr lang="zh-TW" altLang="en-US" sz="1600" dirty="0"/>
              </a:p>
            </p:txBody>
          </p:sp>
        </mc:Choice>
        <mc:Fallback xmlns="">
          <p:sp>
            <p:nvSpPr>
              <p:cNvPr id="6" name="矩形 5">
                <a:extLst>
                  <a:ext uri="{FF2B5EF4-FFF2-40B4-BE49-F238E27FC236}">
                    <a16:creationId xmlns:a16="http://schemas.microsoft.com/office/drawing/2014/main" id="{EA7BBC9F-07EA-4A04-9816-E7C818674DCD}"/>
                  </a:ext>
                </a:extLst>
              </p:cNvPr>
              <p:cNvSpPr>
                <a:spLocks noRot="1" noChangeAspect="1" noMove="1" noResize="1" noEditPoints="1" noAdjustHandles="1" noChangeArrowheads="1" noChangeShapeType="1" noTextEdit="1"/>
              </p:cNvSpPr>
              <p:nvPr/>
            </p:nvSpPr>
            <p:spPr>
              <a:xfrm>
                <a:off x="369894" y="1474602"/>
                <a:ext cx="11349236" cy="1286250"/>
              </a:xfrm>
              <a:prstGeom prst="rect">
                <a:avLst/>
              </a:prstGeom>
              <a:blipFill>
                <a:blip r:embed="rId3"/>
                <a:stretch>
                  <a:fillRect/>
                </a:stretch>
              </a:blipFill>
            </p:spPr>
            <p:txBody>
              <a:bodyPr/>
              <a:lstStyle/>
              <a:p>
                <a:r>
                  <a:rPr lang="zh-TW" altLang="en-US">
                    <a:noFill/>
                  </a:rPr>
                  <a:t> </a:t>
                </a:r>
              </a:p>
            </p:txBody>
          </p:sp>
        </mc:Fallback>
      </mc:AlternateContent>
      <p:sp>
        <p:nvSpPr>
          <p:cNvPr id="18" name="矩形 17">
            <a:extLst>
              <a:ext uri="{FF2B5EF4-FFF2-40B4-BE49-F238E27FC236}">
                <a16:creationId xmlns:a16="http://schemas.microsoft.com/office/drawing/2014/main" id="{720418BD-3068-4563-A632-36E5569FFA0F}"/>
              </a:ext>
            </a:extLst>
          </p:cNvPr>
          <p:cNvSpPr/>
          <p:nvPr/>
        </p:nvSpPr>
        <p:spPr>
          <a:xfrm>
            <a:off x="420792" y="941930"/>
            <a:ext cx="3910045" cy="369332"/>
          </a:xfrm>
          <a:prstGeom prst="rect">
            <a:avLst/>
          </a:prstGeom>
        </p:spPr>
        <p:txBody>
          <a:bodyPr wrap="none">
            <a:spAutoFit/>
          </a:bodyPr>
          <a:lstStyle/>
          <a:p>
            <a:r>
              <a:rPr lang="en-US" altLang="zh-TW" b="1" i="1" u="sng" dirty="0">
                <a:latin typeface="Times New Roman" panose="02020603050405020304" pitchFamily="18" charset="0"/>
                <a:cs typeface="Times New Roman" panose="02020603050405020304" pitchFamily="18" charset="0"/>
              </a:rPr>
              <a:t>C</a:t>
            </a:r>
            <a:r>
              <a:rPr lang="zh-TW" altLang="en-US" b="1" i="1" u="sng" dirty="0">
                <a:latin typeface="Times New Roman" panose="02020603050405020304" pitchFamily="18" charset="0"/>
                <a:cs typeface="Times New Roman" panose="02020603050405020304" pitchFamily="18" charset="0"/>
              </a:rPr>
              <a:t>o-directional coupled mode equations</a:t>
            </a:r>
          </a:p>
        </p:txBody>
      </p:sp>
      <p:sp>
        <p:nvSpPr>
          <p:cNvPr id="3" name="投影片編號版面配置區 2">
            <a:extLst>
              <a:ext uri="{FF2B5EF4-FFF2-40B4-BE49-F238E27FC236}">
                <a16:creationId xmlns:a16="http://schemas.microsoft.com/office/drawing/2014/main" id="{6C7CFDCC-8037-45F2-9052-DAC728E76819}"/>
              </a:ext>
            </a:extLst>
          </p:cNvPr>
          <p:cNvSpPr>
            <a:spLocks noGrp="1"/>
          </p:cNvSpPr>
          <p:nvPr>
            <p:ph type="sldNum" sz="quarter" idx="12"/>
          </p:nvPr>
        </p:nvSpPr>
        <p:spPr>
          <a:xfrm>
            <a:off x="9458506" y="6492875"/>
            <a:ext cx="2743200" cy="365125"/>
          </a:xfrm>
        </p:spPr>
        <p:txBody>
          <a:bodyPr/>
          <a:lstStyle/>
          <a:p>
            <a:fld id="{29723A01-8C65-4E4C-95BB-6D96843E9278}" type="slidenum">
              <a:rPr lang="zh-TW" altLang="en-US" smtClean="0"/>
              <a:t>22</a:t>
            </a:fld>
            <a:endParaRPr lang="zh-TW" altLang="en-US" dirty="0"/>
          </a:p>
        </p:txBody>
      </p:sp>
      <p:grpSp>
        <p:nvGrpSpPr>
          <p:cNvPr id="13" name="群組 12"/>
          <p:cNvGrpSpPr/>
          <p:nvPr/>
        </p:nvGrpSpPr>
        <p:grpSpPr>
          <a:xfrm>
            <a:off x="8749744" y="1032305"/>
            <a:ext cx="3249978" cy="884593"/>
            <a:chOff x="8237692" y="1178843"/>
            <a:chExt cx="3249978" cy="884593"/>
          </a:xfrm>
        </p:grpSpPr>
        <mc:AlternateContent xmlns:mc="http://schemas.openxmlformats.org/markup-compatibility/2006" xmlns:a14="http://schemas.microsoft.com/office/drawing/2010/main">
          <mc:Choice Requires="a14">
            <p:sp>
              <p:nvSpPr>
                <p:cNvPr id="11" name="矩形 10"/>
                <p:cNvSpPr/>
                <p:nvPr/>
              </p:nvSpPr>
              <p:spPr>
                <a:xfrm>
                  <a:off x="8237692" y="1738347"/>
                  <a:ext cx="1152944" cy="3250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zh-TW" altLang="en-US"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𝑗</m:t>
                            </m:r>
                          </m:sub>
                        </m:sSub>
                      </m:oMath>
                    </m:oMathPara>
                  </a14:m>
                  <a:endParaRPr lang="zh-TW" altLang="en-US" sz="1400" dirty="0"/>
                </a:p>
              </p:txBody>
            </p:sp>
          </mc:Choice>
          <mc:Fallback xmlns="">
            <p:sp>
              <p:nvSpPr>
                <p:cNvPr id="11" name="矩形 10"/>
                <p:cNvSpPr>
                  <a:spLocks noRot="1" noChangeAspect="1" noMove="1" noResize="1" noEditPoints="1" noAdjustHandles="1" noChangeArrowheads="1" noChangeShapeType="1" noTextEdit="1"/>
                </p:cNvSpPr>
                <p:nvPr/>
              </p:nvSpPr>
              <p:spPr>
                <a:xfrm>
                  <a:off x="8237692" y="1738347"/>
                  <a:ext cx="1152944" cy="325089"/>
                </a:xfrm>
                <a:prstGeom prst="rect">
                  <a:avLst/>
                </a:prstGeom>
                <a:blipFill>
                  <a:blip r:embed="rId7"/>
                  <a:stretch>
                    <a:fillRect b="-1852"/>
                  </a:stretch>
                </a:blipFill>
              </p:spPr>
              <p:txBody>
                <a:bodyPr/>
                <a:lstStyle/>
                <a:p>
                  <a:r>
                    <a:rPr lang="zh-TW" altLang="en-US">
                      <a:noFill/>
                    </a:rPr>
                    <a:t> </a:t>
                  </a:r>
                </a:p>
              </p:txBody>
            </p:sp>
          </mc:Fallback>
        </mc:AlternateContent>
        <p:grpSp>
          <p:nvGrpSpPr>
            <p:cNvPr id="12" name="群組 11"/>
            <p:cNvGrpSpPr/>
            <p:nvPr/>
          </p:nvGrpSpPr>
          <p:grpSpPr>
            <a:xfrm>
              <a:off x="8496802" y="1178843"/>
              <a:ext cx="2990868" cy="853962"/>
              <a:chOff x="8496802" y="1178843"/>
              <a:chExt cx="2990868" cy="853962"/>
            </a:xfrm>
          </p:grpSpPr>
          <p:sp>
            <p:nvSpPr>
              <p:cNvPr id="5" name="矩形 4"/>
              <p:cNvSpPr/>
              <p:nvPr/>
            </p:nvSpPr>
            <p:spPr>
              <a:xfrm>
                <a:off x="9189267" y="1230857"/>
                <a:ext cx="1412341" cy="5641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向右箭號 8"/>
              <p:cNvSpPr/>
              <p:nvPr/>
            </p:nvSpPr>
            <p:spPr>
              <a:xfrm>
                <a:off x="9472820" y="1367521"/>
                <a:ext cx="845234" cy="290833"/>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0" name="矩形 9"/>
                  <p:cNvSpPr/>
                  <p:nvPr/>
                </p:nvSpPr>
                <p:spPr>
                  <a:xfrm>
                    <a:off x="8496802" y="1178843"/>
                    <a:ext cx="738472" cy="3404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𝑜</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e>
                          </m:d>
                        </m:oMath>
                      </m:oMathPara>
                    </a14:m>
                    <a:endParaRPr lang="zh-TW" altLang="en-US" sz="1400" dirty="0"/>
                  </a:p>
                </p:txBody>
              </p:sp>
            </mc:Choice>
            <mc:Fallback xmlns="">
              <p:sp>
                <p:nvSpPr>
                  <p:cNvPr id="10" name="矩形 9"/>
                  <p:cNvSpPr>
                    <a:spLocks noRot="1" noChangeAspect="1" noMove="1" noResize="1" noEditPoints="1" noAdjustHandles="1" noChangeArrowheads="1" noChangeShapeType="1" noTextEdit="1"/>
                  </p:cNvSpPr>
                  <p:nvPr/>
                </p:nvSpPr>
                <p:spPr>
                  <a:xfrm>
                    <a:off x="8496802" y="1178843"/>
                    <a:ext cx="738472" cy="340478"/>
                  </a:xfrm>
                  <a:prstGeom prst="rect">
                    <a:avLst/>
                  </a:prstGeom>
                  <a:blipFill>
                    <a:blip r:embed="rId8"/>
                    <a:stretch>
                      <a:fillRect b="-17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8508792" y="1490777"/>
                    <a:ext cx="733149" cy="3404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b="0" i="1" kern="100" smtClean="0">
                                  <a:latin typeface="Cambria Math" panose="02040503050406030204" pitchFamily="18" charset="0"/>
                                  <a:ea typeface="標楷體" panose="03000509000000000000" pitchFamily="65" charset="-120"/>
                                  <a:cs typeface="Times New Roman" panose="02020603050405020304" pitchFamily="18" charset="0"/>
                                </a:rPr>
                                <m:t>𝑒</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smtClean="0">
                                      <a:latin typeface="Cambria Math" panose="02040503050406030204" pitchFamily="18" charset="0"/>
                                      <a:ea typeface="標楷體" panose="03000509000000000000" pitchFamily="65" charset="-120"/>
                                      <a:cs typeface="Times New Roman" panose="02020603050405020304" pitchFamily="18" charset="0"/>
                                    </a:rPr>
                                    <m:t>𝑗</m:t>
                                  </m:r>
                                </m:sub>
                              </m:sSub>
                            </m:e>
                          </m:d>
                        </m:oMath>
                      </m:oMathPara>
                    </a14:m>
                    <a:endParaRPr lang="zh-TW" altLang="en-US" sz="1400" dirty="0"/>
                  </a:p>
                </p:txBody>
              </p:sp>
            </mc:Choice>
            <mc:Fallback xmlns="">
              <p:sp>
                <p:nvSpPr>
                  <p:cNvPr id="16" name="矩形 15"/>
                  <p:cNvSpPr>
                    <a:spLocks noRot="1" noChangeAspect="1" noMove="1" noResize="1" noEditPoints="1" noAdjustHandles="1" noChangeArrowheads="1" noChangeShapeType="1" noTextEdit="1"/>
                  </p:cNvSpPr>
                  <p:nvPr/>
                </p:nvSpPr>
                <p:spPr>
                  <a:xfrm>
                    <a:off x="8508792" y="1490777"/>
                    <a:ext cx="733149" cy="340478"/>
                  </a:xfrm>
                  <a:prstGeom prst="rect">
                    <a:avLst/>
                  </a:prstGeom>
                  <a:blipFill>
                    <a:blip r:embed="rId9"/>
                    <a:stretch>
                      <a:fillRect b="-17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10584602" y="1480975"/>
                    <a:ext cx="903068" cy="3404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b="0" i="1" kern="100" smtClean="0">
                                  <a:latin typeface="Cambria Math" panose="02040503050406030204" pitchFamily="18" charset="0"/>
                                  <a:ea typeface="標楷體" panose="03000509000000000000" pitchFamily="65" charset="-120"/>
                                  <a:cs typeface="Times New Roman" panose="02020603050405020304" pitchFamily="18" charset="0"/>
                                </a:rPr>
                                <m:t>𝑒</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+1</m:t>
                                  </m:r>
                                </m:sub>
                              </m:sSub>
                            </m:e>
                          </m:d>
                        </m:oMath>
                      </m:oMathPara>
                    </a14:m>
                    <a:endParaRPr lang="zh-TW" altLang="en-US" sz="1400" dirty="0"/>
                  </a:p>
                </p:txBody>
              </p:sp>
            </mc:Choice>
            <mc:Fallback xmlns="">
              <p:sp>
                <p:nvSpPr>
                  <p:cNvPr id="19" name="矩形 18"/>
                  <p:cNvSpPr>
                    <a:spLocks noRot="1" noChangeAspect="1" noMove="1" noResize="1" noEditPoints="1" noAdjustHandles="1" noChangeArrowheads="1" noChangeShapeType="1" noTextEdit="1"/>
                  </p:cNvSpPr>
                  <p:nvPr/>
                </p:nvSpPr>
                <p:spPr>
                  <a:xfrm>
                    <a:off x="10584602" y="1480975"/>
                    <a:ext cx="903068" cy="340478"/>
                  </a:xfrm>
                  <a:prstGeom prst="rect">
                    <a:avLst/>
                  </a:prstGeom>
                  <a:blipFill>
                    <a:blip r:embed="rId10"/>
                    <a:stretch>
                      <a:fillRect b="-17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10577933" y="1187678"/>
                    <a:ext cx="908389" cy="3404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𝑜</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+1</m:t>
                                  </m:r>
                                </m:sub>
                              </m:sSub>
                            </m:e>
                          </m:d>
                        </m:oMath>
                      </m:oMathPara>
                    </a14:m>
                    <a:endParaRPr lang="zh-TW" altLang="en-US" sz="1400" dirty="0"/>
                  </a:p>
                </p:txBody>
              </p:sp>
            </mc:Choice>
            <mc:Fallback xmlns="">
              <p:sp>
                <p:nvSpPr>
                  <p:cNvPr id="20" name="矩形 19"/>
                  <p:cNvSpPr>
                    <a:spLocks noRot="1" noChangeAspect="1" noMove="1" noResize="1" noEditPoints="1" noAdjustHandles="1" noChangeArrowheads="1" noChangeShapeType="1" noTextEdit="1"/>
                  </p:cNvSpPr>
                  <p:nvPr/>
                </p:nvSpPr>
                <p:spPr>
                  <a:xfrm>
                    <a:off x="10577933" y="1187678"/>
                    <a:ext cx="908389" cy="340478"/>
                  </a:xfrm>
                  <a:prstGeom prst="rect">
                    <a:avLst/>
                  </a:prstGeom>
                  <a:blipFill>
                    <a:blip r:embed="rId11"/>
                    <a:stretch>
                      <a:fillRect b="-17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9764314" y="1707716"/>
                    <a:ext cx="1322863" cy="3250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zh-TW" altLang="en-US"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𝑗</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m:t>
                              </m:r>
                            </m:sub>
                          </m:sSub>
                        </m:oMath>
                      </m:oMathPara>
                    </a14:m>
                    <a:endParaRPr lang="zh-TW" altLang="en-US" sz="1400" dirty="0"/>
                  </a:p>
                </p:txBody>
              </p:sp>
            </mc:Choice>
            <mc:Fallback xmlns="">
              <p:sp>
                <p:nvSpPr>
                  <p:cNvPr id="21" name="矩形 20"/>
                  <p:cNvSpPr>
                    <a:spLocks noRot="1" noChangeAspect="1" noMove="1" noResize="1" noEditPoints="1" noAdjustHandles="1" noChangeArrowheads="1" noChangeShapeType="1" noTextEdit="1"/>
                  </p:cNvSpPr>
                  <p:nvPr/>
                </p:nvSpPr>
                <p:spPr>
                  <a:xfrm>
                    <a:off x="9764314" y="1707716"/>
                    <a:ext cx="1322863" cy="325089"/>
                  </a:xfrm>
                  <a:prstGeom prst="rect">
                    <a:avLst/>
                  </a:prstGeom>
                  <a:blipFill>
                    <a:blip r:embed="rId12"/>
                    <a:stretch>
                      <a:fillRect b="-1852"/>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E54C0CD2-A913-4253-9B59-2AA15E82BBD9}"/>
                  </a:ext>
                </a:extLst>
              </p:cNvPr>
              <p:cNvSpPr txBox="1"/>
              <p:nvPr/>
            </p:nvSpPr>
            <p:spPr>
              <a:xfrm>
                <a:off x="369894" y="4547177"/>
                <a:ext cx="3744416" cy="1473993"/>
              </a:xfrm>
              <a:prstGeom prst="rect">
                <a:avLst/>
              </a:prstGeom>
              <a:noFill/>
            </p:spPr>
            <p:txBody>
              <a:bodyPr wrap="square" rtlCol="0">
                <a:spAutoFit/>
              </a:bodyPr>
              <a:lstStyle/>
              <a:p>
                <a:pPr lvl="0">
                  <a:lnSpc>
                    <a:spcPct val="200000"/>
                  </a:lnSpc>
                </a:pPr>
                <a:r>
                  <a:rPr lang="en-US" altLang="zh-TW" sz="1400" i="1" dirty="0">
                    <a:solidFill>
                      <a:prstClr val="black"/>
                    </a:solidFill>
                    <a:latin typeface="Times New Roman" pitchFamily="18" charset="0"/>
                    <a:cs typeface="Times New Roman" pitchFamily="18" charset="0"/>
                  </a:rPr>
                  <a:t> w  : efficiency weighting</a:t>
                </a:r>
              </a:p>
              <a:p>
                <a:pPr lvl="0">
                  <a:lnSpc>
                    <a:spcPct val="200000"/>
                  </a:lnSpc>
                </a:pPr>
                <a:r>
                  <a:rPr lang="en-US" altLang="zh-TW" sz="1400" i="1" dirty="0">
                    <a:solidFill>
                      <a:prstClr val="black"/>
                    </a:solidFill>
                    <a:latin typeface="Times New Roman" pitchFamily="18" charset="0"/>
                    <a:cs typeface="Times New Roman" pitchFamily="18" charset="0"/>
                  </a:rPr>
                  <a:t> </a:t>
                </a:r>
                <a14:m>
                  <m:oMath xmlns:m="http://schemas.openxmlformats.org/officeDocument/2006/math">
                    <m:sSub>
                      <m:sSubPr>
                        <m:ctrlPr>
                          <a:rPr lang="zh-TW" altLang="en-US" sz="1400" i="1">
                            <a:solidFill>
                              <a:prstClr val="black"/>
                            </a:solidFill>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zh-TW" altLang="en-US" sz="1400" i="1">
                            <a:solidFill>
                              <a:prstClr val="black"/>
                            </a:solidFill>
                            <a:latin typeface="Cambria Math" panose="02040503050406030204" pitchFamily="18" charset="0"/>
                          </a:rPr>
                          <m:t>𝑚𝑎𝑥</m:t>
                        </m:r>
                      </m:sub>
                    </m:sSub>
                  </m:oMath>
                </a14:m>
                <a:r>
                  <a:rPr lang="en-US" altLang="zh-TW" sz="1400" i="1" baseline="-25000" dirty="0">
                    <a:solidFill>
                      <a:prstClr val="black"/>
                    </a:solidFill>
                    <a:latin typeface="Times New Roman" pitchFamily="18" charset="0"/>
                    <a:cs typeface="Times New Roman" pitchFamily="18" charset="0"/>
                  </a:rPr>
                  <a:t>  </a:t>
                </a:r>
                <a:r>
                  <a:rPr lang="en-US" altLang="zh-TW" sz="1400" i="1" dirty="0">
                    <a:solidFill>
                      <a:prstClr val="black"/>
                    </a:solidFill>
                    <a:latin typeface="Times New Roman" pitchFamily="18" charset="0"/>
                    <a:cs typeface="Times New Roman" pitchFamily="18" charset="0"/>
                  </a:rPr>
                  <a:t> : efficiency target</a:t>
                </a:r>
              </a:p>
              <a:p>
                <a:pPr lvl="0">
                  <a:lnSpc>
                    <a:spcPct val="200000"/>
                  </a:lnSpc>
                </a:pPr>
                <a14:m>
                  <m:oMath xmlns:m="http://schemas.openxmlformats.org/officeDocument/2006/math">
                    <m:sSub>
                      <m:sSubPr>
                        <m:ctrlPr>
                          <a:rPr lang="zh-TW" altLang="en-US" sz="1400" i="1">
                            <a:solidFill>
                              <a:prstClr val="black"/>
                            </a:solidFill>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zh-TW" altLang="en-US" sz="1400" i="1">
                            <a:solidFill>
                              <a:prstClr val="black"/>
                            </a:solidFill>
                            <a:latin typeface="Cambria Math" panose="02040503050406030204" pitchFamily="18" charset="0"/>
                          </a:rPr>
                          <m:t>𝑐𝑎𝑙</m:t>
                        </m:r>
                      </m:sub>
                    </m:sSub>
                  </m:oMath>
                </a14:m>
                <a:r>
                  <a:rPr lang="en-US" altLang="zh-TW" sz="1400" i="1" baseline="-25000" dirty="0">
                    <a:solidFill>
                      <a:prstClr val="black"/>
                    </a:solidFill>
                    <a:latin typeface="Times New Roman" pitchFamily="18" charset="0"/>
                    <a:cs typeface="Times New Roman" pitchFamily="18" charset="0"/>
                  </a:rPr>
                  <a:t>  </a:t>
                </a:r>
                <a:r>
                  <a:rPr lang="en-US" altLang="zh-TW" sz="1400" i="1" dirty="0">
                    <a:solidFill>
                      <a:prstClr val="black"/>
                    </a:solidFill>
                    <a:latin typeface="Times New Roman" pitchFamily="18" charset="0"/>
                    <a:cs typeface="Times New Roman" pitchFamily="18" charset="0"/>
                  </a:rPr>
                  <a:t> : efficiency</a:t>
                </a:r>
                <a:endParaRPr lang="zh-TW" altLang="en-US" sz="1400" i="1" dirty="0">
                  <a:solidFill>
                    <a:prstClr val="black"/>
                  </a:solidFill>
                  <a:latin typeface="Times New Roman" pitchFamily="18" charset="0"/>
                  <a:cs typeface="Times New Roman" pitchFamily="18" charset="0"/>
                </a:endParaRPr>
              </a:p>
            </p:txBody>
          </p:sp>
        </mc:Choice>
        <mc:Fallback xmlns="">
          <p:sp>
            <p:nvSpPr>
              <p:cNvPr id="24" name="文字方塊 23">
                <a:extLst>
                  <a:ext uri="{FF2B5EF4-FFF2-40B4-BE49-F238E27FC236}">
                    <a16:creationId xmlns:a16="http://schemas.microsoft.com/office/drawing/2014/main" id="{E54C0CD2-A913-4253-9B59-2AA15E82BBD9}"/>
                  </a:ext>
                </a:extLst>
              </p:cNvPr>
              <p:cNvSpPr txBox="1">
                <a:spLocks noRot="1" noChangeAspect="1" noMove="1" noResize="1" noEditPoints="1" noAdjustHandles="1" noChangeArrowheads="1" noChangeShapeType="1" noTextEdit="1"/>
              </p:cNvSpPr>
              <p:nvPr/>
            </p:nvSpPr>
            <p:spPr>
              <a:xfrm>
                <a:off x="369894" y="4547177"/>
                <a:ext cx="3744416" cy="1473993"/>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145886" y="3646443"/>
                <a:ext cx="6389738" cy="76809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smtClean="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TW" sz="1400">
                              <a:latin typeface="Cambria Math" panose="02040503050406030204" pitchFamily="18" charset="0"/>
                              <a:ea typeface="Cambria Math" panose="02040503050406030204" pitchFamily="18" charset="0"/>
                            </a:rPr>
                            <m:t>Ob</m:t>
                          </m:r>
                        </m:e>
                        <m:sub>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sub>
                      </m:sSub>
                      <m:r>
                        <a:rPr lang="en-US" altLang="zh-TW" sz="1400" smtClean="0">
                          <a:latin typeface="Cambria Math" panose="02040503050406030204" pitchFamily="18" charset="0"/>
                          <a:ea typeface="Cambria Math" panose="02040503050406030204" pitchFamily="18" charset="0"/>
                        </a:rPr>
                        <m:t>=</m:t>
                      </m:r>
                      <m:nary>
                        <m:naryPr>
                          <m:chr m:val="∑"/>
                          <m:limLoc m:val="undOvr"/>
                          <m:ctrlPr>
                            <a:rPr lang="zh-TW" altLang="zh-TW" sz="1400" i="1">
                              <a:latin typeface="Cambria Math" panose="02040503050406030204" pitchFamily="18" charset="0"/>
                            </a:rPr>
                          </m:ctrlPr>
                        </m:naryPr>
                        <m:sub>
                          <m:r>
                            <a:rPr lang="en-US" altLang="zh-TW" sz="1400" i="1">
                              <a:latin typeface="Cambria Math" panose="02040503050406030204" pitchFamily="18" charset="0"/>
                              <a:ea typeface="Cambria Math" panose="02040503050406030204" pitchFamily="18" charset="0"/>
                            </a:rPr>
                            <m:t>𝑗</m:t>
                          </m:r>
                          <m:r>
                            <a:rPr lang="en-US" altLang="zh-TW" sz="1400" i="1">
                              <a:latin typeface="Cambria Math" panose="02040503050406030204" pitchFamily="18" charset="0"/>
                              <a:ea typeface="Cambria Math" panose="02040503050406030204" pitchFamily="18" charset="0"/>
                            </a:rPr>
                            <m:t>=1</m:t>
                          </m:r>
                        </m:sub>
                        <m:sup>
                          <m:r>
                            <a:rPr lang="en-US" altLang="zh-TW" sz="1400" i="1">
                              <a:latin typeface="Cambria Math" panose="02040503050406030204" pitchFamily="18" charset="0"/>
                              <a:ea typeface="Cambria Math" panose="02040503050406030204" pitchFamily="18" charset="0"/>
                            </a:rPr>
                            <m:t>𝑛</m:t>
                          </m:r>
                        </m:sup>
                        <m:e>
                          <m:eqArr>
                            <m:eqArrPr>
                              <m:ctrlPr>
                                <a:rPr lang="zh-TW" altLang="zh-TW" sz="1400" i="1">
                                  <a:latin typeface="Cambria Math" panose="02040503050406030204" pitchFamily="18" charset="0"/>
                                </a:rPr>
                              </m:ctrlPr>
                            </m:eqArrPr>
                            <m:e>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en-US" altLang="zh-TW" sz="1400" i="1">
                                          <a:latin typeface="Cambria Math" panose="02040503050406030204" pitchFamily="18" charset="0"/>
                                          <a:ea typeface="Cambria Math" panose="02040503050406030204" pitchFamily="18" charset="0"/>
                                        </a:rPr>
                                        <m:t>𝑚𝑎𝑥</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1540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r>
                                    <a:rPr lang="en-US" altLang="zh-TW" sz="1400" i="1">
                                      <a:latin typeface="Cambria Math" panose="02040503050406030204" pitchFamily="18" charset="0"/>
                                      <a:ea typeface="Cambria Math" panose="02040503050406030204" pitchFamily="18" charset="0"/>
                                    </a:rPr>
                                    <m:t>−</m:t>
                                  </m:r>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en-US" altLang="zh-TW" sz="1400" i="1">
                                          <a:latin typeface="Cambria Math" panose="02040503050406030204" pitchFamily="18" charset="0"/>
                                          <a:ea typeface="Cambria Math" panose="02040503050406030204" pitchFamily="18" charset="0"/>
                                        </a:rPr>
                                        <m:t>𝑐𝑎𝑙</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1540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e>
                              </m:d>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𝑊</m:t>
                              </m:r>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1540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e>
                            <m:e>
                              <m:r>
                                <a:rPr lang="en-US" altLang="zh-TW" sz="1400" b="0" i="1" smtClean="0">
                                  <a:latin typeface="Cambria Math" panose="02040503050406030204" pitchFamily="18" charset="0"/>
                                  <a:ea typeface="Cambria Math" panose="02040503050406030204" pitchFamily="18" charset="0"/>
                                </a:rPr>
                                <m:t>+</m:t>
                              </m:r>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en-US" altLang="zh-TW" sz="1400" i="1">
                                          <a:latin typeface="Cambria Math" panose="02040503050406030204" pitchFamily="18" charset="0"/>
                                          <a:ea typeface="Cambria Math" panose="02040503050406030204" pitchFamily="18" charset="0"/>
                                        </a:rPr>
                                        <m:t>𝑚𝑎𝑥</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1550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r>
                                    <a:rPr lang="en-US" altLang="zh-TW" sz="1400" i="1">
                                      <a:latin typeface="Cambria Math" panose="02040503050406030204" pitchFamily="18" charset="0"/>
                                      <a:ea typeface="Cambria Math" panose="02040503050406030204" pitchFamily="18" charset="0"/>
                                    </a:rPr>
                                    <m:t>−</m:t>
                                  </m:r>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en-US" altLang="zh-TW" sz="1400" i="1">
                                          <a:latin typeface="Cambria Math" panose="02040503050406030204" pitchFamily="18" charset="0"/>
                                          <a:ea typeface="Cambria Math" panose="02040503050406030204" pitchFamily="18" charset="0"/>
                                        </a:rPr>
                                        <m:t>𝑐𝑎𝑙</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1550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𝑊</m:t>
                                  </m:r>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15</m:t>
                                          </m:r>
                                          <m:r>
                                            <a:rPr lang="en-US" altLang="zh-TW" sz="1400" b="0" i="1" smtClean="0">
                                              <a:latin typeface="Cambria Math" panose="02040503050406030204" pitchFamily="18" charset="0"/>
                                              <a:ea typeface="Cambria Math" panose="02040503050406030204" pitchFamily="18" charset="0"/>
                                            </a:rPr>
                                            <m:t>5</m:t>
                                          </m:r>
                                          <m:r>
                                            <a:rPr lang="en-US" altLang="zh-TW" sz="1400" i="1">
                                              <a:latin typeface="Cambria Math" panose="02040503050406030204" pitchFamily="18" charset="0"/>
                                              <a:ea typeface="Cambria Math" panose="02040503050406030204" pitchFamily="18" charset="0"/>
                                            </a:rPr>
                                            <m:t>0</m:t>
                                          </m:r>
                                          <m:r>
                                            <a:rPr lang="en-US" altLang="zh-TW" sz="1400" i="1">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e>
                              </m:d>
                            </m:e>
                          </m:eqArr>
                        </m:e>
                      </m:nary>
                    </m:oMath>
                  </m:oMathPara>
                </a14:m>
                <a:endParaRPr lang="zh-TW" altLang="en-US" sz="1400" dirty="0">
                  <a:latin typeface="Cambria Math" panose="02040503050406030204" pitchFamily="18" charset="0"/>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145886" y="3646443"/>
                <a:ext cx="6389738" cy="768095"/>
              </a:xfrm>
              <a:prstGeom prst="rect">
                <a:avLst/>
              </a:prstGeom>
              <a:blipFill>
                <a:blip r:embed="rId14"/>
                <a:stretch>
                  <a:fillRect/>
                </a:stretch>
              </a:blipFill>
            </p:spPr>
            <p:txBody>
              <a:bodyPr/>
              <a:lstStyle/>
              <a:p>
                <a:r>
                  <a:rPr lang="zh-TW" altLang="en-US">
                    <a:noFill/>
                  </a:rPr>
                  <a:t> </a:t>
                </a:r>
              </a:p>
            </p:txBody>
          </p:sp>
        </mc:Fallback>
      </mc:AlternateContent>
      <p:pic>
        <p:nvPicPr>
          <p:cNvPr id="14" name="圖片 13">
            <a:extLst>
              <a:ext uri="{FF2B5EF4-FFF2-40B4-BE49-F238E27FC236}">
                <a16:creationId xmlns:a16="http://schemas.microsoft.com/office/drawing/2014/main" id="{2FB3798E-BF65-4632-AE75-406FE306E975}"/>
              </a:ext>
            </a:extLst>
          </p:cNvPr>
          <p:cNvPicPr>
            <a:picLocks noChangeAspect="1"/>
          </p:cNvPicPr>
          <p:nvPr/>
        </p:nvPicPr>
        <p:blipFill rotWithShape="1">
          <a:blip r:embed="rId15"/>
          <a:srcRect r="3318"/>
          <a:stretch/>
        </p:blipFill>
        <p:spPr>
          <a:xfrm>
            <a:off x="6149276" y="3014471"/>
            <a:ext cx="4986561" cy="3639627"/>
          </a:xfrm>
          <a:prstGeom prst="rect">
            <a:avLst/>
          </a:prstGeom>
        </p:spPr>
      </p:pic>
      <p:sp>
        <p:nvSpPr>
          <p:cNvPr id="26" name="矩形 25"/>
          <p:cNvSpPr/>
          <p:nvPr/>
        </p:nvSpPr>
        <p:spPr>
          <a:xfrm>
            <a:off x="7403263" y="5507955"/>
            <a:ext cx="615874" cy="276999"/>
          </a:xfrm>
          <a:prstGeom prst="rect">
            <a:avLst/>
          </a:prstGeom>
        </p:spPr>
        <p:txBody>
          <a:bodyPr wrap="none">
            <a:spAutoFit/>
          </a:bodyPr>
          <a:lstStyle/>
          <a:p>
            <a:r>
              <a:rPr lang="en-US" altLang="zh-TW" sz="1200" dirty="0"/>
              <a:t>0.1047</a:t>
            </a:r>
            <a:endParaRPr lang="zh-TW" altLang="en-US" sz="1200" dirty="0"/>
          </a:p>
        </p:txBody>
      </p:sp>
      <p:sp>
        <p:nvSpPr>
          <p:cNvPr id="29" name="矩形 28"/>
          <p:cNvSpPr/>
          <p:nvPr/>
        </p:nvSpPr>
        <p:spPr>
          <a:xfrm>
            <a:off x="7424220" y="3768281"/>
            <a:ext cx="615874" cy="276999"/>
          </a:xfrm>
          <a:prstGeom prst="rect">
            <a:avLst/>
          </a:prstGeom>
        </p:spPr>
        <p:txBody>
          <a:bodyPr wrap="none">
            <a:spAutoFit/>
          </a:bodyPr>
          <a:lstStyle/>
          <a:p>
            <a:r>
              <a:rPr lang="en-US" altLang="zh-TW" sz="1200" dirty="0"/>
              <a:t>0.7579</a:t>
            </a:r>
            <a:endParaRPr lang="zh-TW" altLang="en-US" sz="1200" dirty="0"/>
          </a:p>
        </p:txBody>
      </p:sp>
      <p:cxnSp>
        <p:nvCxnSpPr>
          <p:cNvPr id="28" name="直線接點 27"/>
          <p:cNvCxnSpPr/>
          <p:nvPr/>
        </p:nvCxnSpPr>
        <p:spPr>
          <a:xfrm>
            <a:off x="7396913" y="3457613"/>
            <a:ext cx="21812" cy="2579899"/>
          </a:xfrm>
          <a:prstGeom prst="line">
            <a:avLst/>
          </a:prstGeom>
          <a:ln w="3175">
            <a:solidFill>
              <a:srgbClr val="00B0F0"/>
            </a:solidFill>
            <a:prstDash val="lgDash"/>
          </a:ln>
        </p:spPr>
        <p:style>
          <a:lnRef idx="1">
            <a:schemeClr val="dk1"/>
          </a:lnRef>
          <a:fillRef idx="0">
            <a:schemeClr val="dk1"/>
          </a:fillRef>
          <a:effectRef idx="0">
            <a:schemeClr val="dk1"/>
          </a:effectRef>
          <a:fontRef idx="minor">
            <a:schemeClr val="tx1"/>
          </a:fontRef>
        </p:style>
      </p:cxnSp>
      <p:sp>
        <p:nvSpPr>
          <p:cNvPr id="33" name="橢圓 32"/>
          <p:cNvSpPr/>
          <p:nvPr/>
        </p:nvSpPr>
        <p:spPr>
          <a:xfrm>
            <a:off x="7285007" y="3912723"/>
            <a:ext cx="265726" cy="265113"/>
          </a:xfrm>
          <a:prstGeom prst="ellipse">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p:cNvSpPr/>
          <p:nvPr/>
        </p:nvSpPr>
        <p:spPr>
          <a:xfrm>
            <a:off x="7276750" y="5639770"/>
            <a:ext cx="265726" cy="265113"/>
          </a:xfrm>
          <a:prstGeom prst="ellipse">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1E92CF03-E4A3-432C-B1EC-A6B42BA201CF}"/>
                  </a:ext>
                </a:extLst>
              </p:cNvPr>
              <p:cNvSpPr/>
              <p:nvPr/>
            </p:nvSpPr>
            <p:spPr>
              <a:xfrm>
                <a:off x="369894" y="6153809"/>
                <a:ext cx="3514424" cy="394532"/>
              </a:xfrm>
              <a:prstGeom prst="rect">
                <a:avLst/>
              </a:prstGeom>
            </p:spPr>
            <p:txBody>
              <a:bodyPr wrap="none">
                <a:spAutoFit/>
              </a:bodyPr>
              <a:lstStyle/>
              <a:p>
                <a14:m>
                  <m:oMath xmlns:m="http://schemas.openxmlformats.org/officeDocument/2006/math">
                    <m:sSub>
                      <m:sSubPr>
                        <m:ctrlPr>
                          <a:rPr lang="zh-TW" altLang="zh-TW" i="1" smtClean="0">
                            <a:latin typeface="Cambria Math" panose="02040503050406030204" pitchFamily="18" charset="0"/>
                          </a:rPr>
                        </m:ctrlPr>
                      </m:sSubPr>
                      <m:e>
                        <m:r>
                          <m:rPr>
                            <m:sty m:val="p"/>
                          </m:rPr>
                          <a:rPr lang="en-US" altLang="zh-TW">
                            <a:latin typeface="Cambria Math" panose="02040503050406030204" pitchFamily="18" charset="0"/>
                            <a:ea typeface="Cambria Math" panose="02040503050406030204" pitchFamily="18" charset="0"/>
                          </a:rPr>
                          <m:t>Ob</m:t>
                        </m:r>
                      </m:e>
                      <m:sub>
                        <m:r>
                          <a:rPr lang="en-US" altLang="zh-TW" b="0" i="1" smtClean="0">
                            <a:latin typeface="Cambria Math" panose="02040503050406030204" pitchFamily="18" charset="0"/>
                            <a:ea typeface="Cambria Math" panose="02040503050406030204" pitchFamily="18" charset="0"/>
                          </a:rPr>
                          <m:t>𝑡𝑜𝑡𝑎𝑙</m:t>
                        </m:r>
                      </m:sub>
                    </m:sSub>
                    <m:r>
                      <a:rPr lang="en-US" altLang="zh-TW" b="0" i="1" smtClean="0">
                        <a:latin typeface="Cambria Math" panose="02040503050406030204" pitchFamily="18" charset="0"/>
                      </a:rPr>
                      <m:t>=</m:t>
                    </m:r>
                    <m:sSub>
                      <m:sSubPr>
                        <m:ctrlPr>
                          <a:rPr lang="zh-TW" altLang="zh-TW" i="1">
                            <a:latin typeface="Cambria Math" panose="02040503050406030204" pitchFamily="18" charset="0"/>
                          </a:rPr>
                        </m:ctrlPr>
                      </m:sSubPr>
                      <m:e>
                        <m:sSub>
                          <m:sSubPr>
                            <m:ctrlPr>
                              <a:rPr lang="zh-TW" altLang="zh-TW" i="1">
                                <a:latin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𝑊</m:t>
                            </m:r>
                          </m:e>
                          <m:sub>
                            <m:r>
                              <a:rPr lang="en-US" altLang="zh-TW" b="0" i="1" smtClean="0">
                                <a:latin typeface="Cambria Math" panose="02040503050406030204" pitchFamily="18" charset="0"/>
                              </a:rPr>
                              <m:t>𝑂𝑃𝑂</m:t>
                            </m:r>
                          </m:sub>
                        </m:sSub>
                        <m:r>
                          <a:rPr lang="en-US" altLang="zh-TW" i="1">
                            <a:latin typeface="Cambria Math" panose="02040503050406030204" pitchFamily="18" charset="0"/>
                            <a:ea typeface="Cambria Math" panose="02040503050406030204" pitchFamily="18" charset="0"/>
                          </a:rPr>
                          <m:t>.</m:t>
                        </m:r>
                        <m:r>
                          <m:rPr>
                            <m:sty m:val="p"/>
                          </m:rPr>
                          <a:rPr lang="en-US" altLang="zh-TW">
                            <a:latin typeface="Cambria Math" panose="02040503050406030204" pitchFamily="18" charset="0"/>
                            <a:ea typeface="Cambria Math" panose="02040503050406030204" pitchFamily="18" charset="0"/>
                          </a:rPr>
                          <m:t>Ob</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𝐺</m:t>
                            </m:r>
                          </m:e>
                          <m:sub>
                            <m:r>
                              <a:rPr lang="en-US" altLang="zh-TW" i="1">
                                <a:latin typeface="Cambria Math" panose="02040503050406030204" pitchFamily="18" charset="0"/>
                              </a:rPr>
                              <m:t>𝑚</m:t>
                            </m:r>
                          </m:sub>
                        </m:sSub>
                      </m:sub>
                    </m:sSub>
                  </m:oMath>
                </a14:m>
                <a:r>
                  <a:rPr lang="en-US" altLang="zh-TW" dirty="0"/>
                  <a:t>+</a:t>
                </a:r>
                <a:r>
                  <a:rPr lang="en-US" altLang="zh-TW" dirty="0">
                    <a:ea typeface="Cambria Math" panose="02040503050406030204" pitchFamily="18" charset="0"/>
                  </a:rPr>
                  <a:t> </a:t>
                </a:r>
                <a14:m>
                  <m:oMath xmlns:m="http://schemas.openxmlformats.org/officeDocument/2006/math">
                    <m:sSub>
                      <m:sSubPr>
                        <m:ctrlPr>
                          <a:rPr lang="zh-TW" altLang="zh-TW" i="1">
                            <a:latin typeface="Cambria Math" panose="02040503050406030204" pitchFamily="18" charset="0"/>
                          </a:rPr>
                        </m:ctrlPr>
                      </m:sSubPr>
                      <m:e>
                        <m:r>
                          <a:rPr lang="en-US" altLang="zh-TW" b="0" i="1" smtClean="0">
                            <a:latin typeface="Cambria Math" panose="02040503050406030204" pitchFamily="18" charset="0"/>
                          </a:rPr>
                          <m:t>𝑊</m:t>
                        </m:r>
                      </m:e>
                      <m:sub>
                        <m:r>
                          <a:rPr lang="en-US" altLang="zh-TW" b="0" i="1" smtClean="0">
                            <a:latin typeface="Cambria Math" panose="02040503050406030204" pitchFamily="18" charset="0"/>
                          </a:rPr>
                          <m:t>𝐸𝑂</m:t>
                        </m:r>
                      </m:sub>
                    </m:sSub>
                    <m:r>
                      <a:rPr lang="en-US" altLang="zh-TW" i="1">
                        <a:latin typeface="Cambria Math" panose="02040503050406030204" pitchFamily="18" charset="0"/>
                        <a:ea typeface="Cambria Math" panose="02040503050406030204" pitchFamily="18" charset="0"/>
                      </a:rPr>
                      <m:t>. </m:t>
                    </m:r>
                    <m:sSub>
                      <m:sSubPr>
                        <m:ctrlPr>
                          <a:rPr lang="zh-TW" altLang="zh-TW" i="1">
                            <a:latin typeface="Cambria Math" panose="02040503050406030204" pitchFamily="18" charset="0"/>
                          </a:rPr>
                        </m:ctrlPr>
                      </m:sSubPr>
                      <m:e>
                        <m:r>
                          <m:rPr>
                            <m:sty m:val="p"/>
                          </m:rPr>
                          <a:rPr lang="en-US" altLang="zh-TW">
                            <a:latin typeface="Cambria Math" panose="02040503050406030204" pitchFamily="18" charset="0"/>
                            <a:ea typeface="Cambria Math" panose="02040503050406030204" pitchFamily="18" charset="0"/>
                          </a:rPr>
                          <m:t>Ob</m:t>
                        </m:r>
                      </m:e>
                      <m:sub>
                        <m:sSub>
                          <m:sSubPr>
                            <m:ctrlPr>
                              <a:rPr lang="zh-TW" altLang="zh-TW" i="1">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𝑒</m:t>
                            </m:r>
                          </m:sub>
                        </m:sSub>
                      </m:sub>
                    </m:sSub>
                  </m:oMath>
                </a14:m>
                <a:endParaRPr lang="zh-TW" altLang="en-US" dirty="0"/>
              </a:p>
            </p:txBody>
          </p:sp>
        </mc:Choice>
        <mc:Fallback xmlns="">
          <p:sp>
            <p:nvSpPr>
              <p:cNvPr id="38" name="矩形 37">
                <a:extLst>
                  <a:ext uri="{FF2B5EF4-FFF2-40B4-BE49-F238E27FC236}">
                    <a16:creationId xmlns:a16="http://schemas.microsoft.com/office/drawing/2014/main" id="{1E92CF03-E4A3-432C-B1EC-A6B42BA201CF}"/>
                  </a:ext>
                </a:extLst>
              </p:cNvPr>
              <p:cNvSpPr>
                <a:spLocks noRot="1" noChangeAspect="1" noMove="1" noResize="1" noEditPoints="1" noAdjustHandles="1" noChangeArrowheads="1" noChangeShapeType="1" noTextEdit="1"/>
              </p:cNvSpPr>
              <p:nvPr/>
            </p:nvSpPr>
            <p:spPr>
              <a:xfrm>
                <a:off x="369894" y="6153809"/>
                <a:ext cx="3514424" cy="394532"/>
              </a:xfrm>
              <a:prstGeom prst="rect">
                <a:avLst/>
              </a:prstGeom>
              <a:blipFill>
                <a:blip r:embed="rId16"/>
                <a:stretch>
                  <a:fillRect t="-6154" b="-18462"/>
                </a:stretch>
              </a:blipFill>
            </p:spPr>
            <p:txBody>
              <a:bodyPr/>
              <a:lstStyle/>
              <a:p>
                <a:r>
                  <a:rPr lang="zh-TW" altLang="en-US">
                    <a:noFill/>
                  </a:rPr>
                  <a:t> </a:t>
                </a:r>
              </a:p>
            </p:txBody>
          </p:sp>
        </mc:Fallback>
      </mc:AlternateContent>
      <p:sp>
        <p:nvSpPr>
          <p:cNvPr id="39" name="Text Box 125">
            <a:extLst>
              <a:ext uri="{FF2B5EF4-FFF2-40B4-BE49-F238E27FC236}">
                <a16:creationId xmlns:a16="http://schemas.microsoft.com/office/drawing/2014/main" id="{08467CEC-57A1-44D6-B27B-8219A7C414AB}"/>
              </a:ext>
            </a:extLst>
          </p:cNvPr>
          <p:cNvSpPr txBox="1">
            <a:spLocks noChangeArrowheads="1"/>
          </p:cNvSpPr>
          <p:nvPr/>
        </p:nvSpPr>
        <p:spPr bwMode="auto">
          <a:xfrm>
            <a:off x="573192" y="3321441"/>
            <a:ext cx="3456384" cy="369332"/>
          </a:xfrm>
          <a:prstGeom prst="rect">
            <a:avLst/>
          </a:prstGeom>
          <a:noFill/>
          <a:ln w="9525">
            <a:noFill/>
            <a:miter lim="800000"/>
            <a:headEnd/>
            <a:tailEnd/>
          </a:ln>
          <a:effectLst/>
        </p:spPr>
        <p:txBody>
          <a:bodyPr wrap="square">
            <a:spAutoFit/>
          </a:bodyPr>
          <a:lstStyle/>
          <a:p>
            <a:pPr>
              <a:spcBef>
                <a:spcPct val="50000"/>
              </a:spcBef>
            </a:pPr>
            <a:r>
              <a:rPr lang="en-US" altLang="zh-TW" b="1" i="1" u="sng" dirty="0">
                <a:latin typeface="Times New Roman" pitchFamily="18" charset="0"/>
                <a:cs typeface="Times New Roman" pitchFamily="18" charset="0"/>
              </a:rPr>
              <a:t>Objective Function</a:t>
            </a:r>
          </a:p>
        </p:txBody>
      </p:sp>
      <p:cxnSp>
        <p:nvCxnSpPr>
          <p:cNvPr id="40" name="接點: 弧形 39">
            <a:extLst>
              <a:ext uri="{FF2B5EF4-FFF2-40B4-BE49-F238E27FC236}">
                <a16:creationId xmlns:a16="http://schemas.microsoft.com/office/drawing/2014/main" id="{F69FA134-8585-405C-86FA-C4878A500AD9}"/>
              </a:ext>
            </a:extLst>
          </p:cNvPr>
          <p:cNvCxnSpPr>
            <a:cxnSpLocks/>
          </p:cNvCxnSpPr>
          <p:nvPr/>
        </p:nvCxnSpPr>
        <p:spPr>
          <a:xfrm>
            <a:off x="6404647" y="3159093"/>
            <a:ext cx="815450" cy="766593"/>
          </a:xfrm>
          <a:prstGeom prst="curvedConnector3">
            <a:avLst>
              <a:gd name="adj1" fmla="val 48794"/>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125">
            <a:extLst>
              <a:ext uri="{FF2B5EF4-FFF2-40B4-BE49-F238E27FC236}">
                <a16:creationId xmlns:a16="http://schemas.microsoft.com/office/drawing/2014/main" id="{27B6855C-EEDE-4FF5-B075-74118AF67939}"/>
              </a:ext>
            </a:extLst>
          </p:cNvPr>
          <p:cNvSpPr txBox="1">
            <a:spLocks noChangeArrowheads="1"/>
          </p:cNvSpPr>
          <p:nvPr/>
        </p:nvSpPr>
        <p:spPr bwMode="auto">
          <a:xfrm>
            <a:off x="5330047" y="2924192"/>
            <a:ext cx="1102256" cy="338554"/>
          </a:xfrm>
          <a:prstGeom prst="rect">
            <a:avLst/>
          </a:prstGeom>
          <a:noFill/>
          <a:ln w="9525">
            <a:noFill/>
            <a:miter lim="800000"/>
            <a:headEnd/>
            <a:tailEnd/>
          </a:ln>
          <a:effectLst/>
        </p:spPr>
        <p:txBody>
          <a:bodyPr wrap="square">
            <a:spAutoFit/>
          </a:bodyPr>
          <a:lstStyle/>
          <a:p>
            <a:pPr>
              <a:spcBef>
                <a:spcPct val="50000"/>
              </a:spcBef>
            </a:pPr>
            <a:r>
              <a:rPr lang="en-US" altLang="zh-TW" sz="1600" b="1" i="1" dirty="0">
                <a:latin typeface="Times New Roman" pitchFamily="18" charset="0"/>
                <a:cs typeface="Times New Roman" pitchFamily="18" charset="0"/>
              </a:rPr>
              <a:t>Ob Setting</a:t>
            </a:r>
          </a:p>
        </p:txBody>
      </p:sp>
    </p:spTree>
    <p:extLst>
      <p:ext uri="{BB962C8B-B14F-4D97-AF65-F5344CB8AC3E}">
        <p14:creationId xmlns:p14="http://schemas.microsoft.com/office/powerpoint/2010/main" val="326861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73193" y="821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APPLN Electro-Optic Polarization Mode Converter</a:t>
            </a:r>
            <a:endParaRPr lang="en-US" altLang="zh-TW" sz="2800" b="1" dirty="0"/>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EA7BBC9F-07EA-4A04-9816-E7C818674DCD}"/>
                  </a:ext>
                </a:extLst>
              </p:cNvPr>
              <p:cNvSpPr/>
              <p:nvPr/>
            </p:nvSpPr>
            <p:spPr>
              <a:xfrm>
                <a:off x="369894" y="1474602"/>
                <a:ext cx="11349236" cy="128625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𝑜</m:t>
                          </m:r>
                        </m:sub>
                      </m:sSub>
                      <m:d>
                        <m:d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e>
                      </m:d>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p>
                        <m:sSup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𝑒</m:t>
                          </m:r>
                        </m:e>
                        <m:sup>
                          <m:f>
                            <m:f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𝑖</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2</m:t>
                              </m:r>
                            </m:den>
                          </m:f>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sup>
                      </m:sSup>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func>
                        <m:func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600" kern="100">
                              <a:latin typeface="Cambria Math" panose="02040503050406030204" pitchFamily="18" charset="0"/>
                              <a:ea typeface="標楷體" panose="03000509000000000000" pitchFamily="65" charset="-120"/>
                              <a:cs typeface="Times New Roman" panose="02020603050405020304" pitchFamily="18" charset="0"/>
                            </a:rPr>
                            <m:t>cos</m:t>
                          </m:r>
                        </m:fName>
                        <m:e>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e>
                      </m:func>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2</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func>
                        <m:func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600" kern="100">
                              <a:latin typeface="Cambria Math" panose="02040503050406030204" pitchFamily="18" charset="0"/>
                              <a:ea typeface="標楷體" panose="03000509000000000000" pitchFamily="65" charset="-120"/>
                              <a:cs typeface="Times New Roman" panose="02020603050405020304" pitchFamily="18" charset="0"/>
                            </a:rPr>
                            <m:t>sin</m:t>
                          </m:r>
                        </m:fName>
                        <m:e>
                          <m:sSub>
                            <m:sSubPr>
                              <m:ctrlPr>
                                <a:rPr lang="zh-TW" altLang="zh-TW"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+1</m:t>
                              </m:r>
                            </m:sub>
                          </m:sSub>
                        </m:e>
                      </m:func>
                      <m:r>
                        <a:rPr lang="en-US" altLang="zh-TW" sz="1600" i="1" kern="100">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altLang="zh-TW" sz="1600" kern="100" dirty="0">
                  <a:latin typeface="Calibri" panose="020F0502020204030204" pitchFamily="34" charset="0"/>
                  <a:cs typeface="Times New Roman" panose="02020603050405020304" pitchFamily="18" charset="0"/>
                </a:endParaRPr>
              </a:p>
              <a:p>
                <a:endParaRPr lang="en-US" altLang="zh-TW" sz="1600" i="1" dirty="0">
                  <a:latin typeface="Cambria Math" panose="020405030504060302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𝑒</m:t>
                          </m:r>
                        </m:sub>
                      </m:sSub>
                      <m:d>
                        <m:d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smtClean="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e>
                      </m:d>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p>
                        <m:sSup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𝑒</m:t>
                          </m:r>
                        </m:e>
                        <m:sup>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𝑖</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2</m:t>
                              </m:r>
                            </m:den>
                          </m:f>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sup>
                      </m:sSup>
                      <m:d>
                        <m:dPr>
                          <m:begChr m:val="{"/>
                          <m:endChr m:val="}"/>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d>
                            <m:d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sub>
                              </m:sSub>
                            </m:e>
                          </m:d>
                          <m:d>
                            <m:dPr>
                              <m:begChr m:val="["/>
                              <m:endChr m:val="]"/>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uncPr>
                                <m:fName>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2</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en>
                                  </m:f>
                                  <m:r>
                                    <m:rPr>
                                      <m:sty m:val="p"/>
                                    </m:rPr>
                                    <a:rPr lang="en-US" altLang="zh-TW" sz="1600">
                                      <a:latin typeface="Cambria Math" panose="02040503050406030204" pitchFamily="18" charset="0"/>
                                      <a:ea typeface="標楷體" panose="03000509000000000000" pitchFamily="65" charset="-120"/>
                                      <a:cs typeface="Times New Roman" panose="02020603050405020304" pitchFamily="18" charset="0"/>
                                    </a:rPr>
                                    <m:t>cos</m:t>
                                  </m:r>
                                </m:fName>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𝑖𝑟</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𝜒</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en>
                                  </m:f>
                                  <m:func>
                                    <m:func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600">
                                          <a:latin typeface="Cambria Math" panose="02040503050406030204" pitchFamily="18" charset="0"/>
                                          <a:ea typeface="標楷體" panose="03000509000000000000" pitchFamily="65" charset="-120"/>
                                          <a:cs typeface="Times New Roman" panose="02020603050405020304" pitchFamily="18" charset="0"/>
                                        </a:rPr>
                                        <m:t>sin</m:t>
                                      </m:r>
                                    </m:fName>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e>
                                  </m:func>
                                </m:e>
                              </m:func>
                            </m:e>
                          </m:d>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2</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
                            <m:dPr>
                              <m:begChr m:val="["/>
                              <m:endChr m:val="]"/>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uncPr>
                                <m:fName>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2</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en>
                                  </m:f>
                                  <m:r>
                                    <m:rPr>
                                      <m:sty m:val="p"/>
                                    </m:rPr>
                                    <a:rPr lang="en-US" altLang="zh-TW" sz="1600">
                                      <a:latin typeface="Cambria Math" panose="02040503050406030204" pitchFamily="18" charset="0"/>
                                      <a:ea typeface="標楷體" panose="03000509000000000000" pitchFamily="65" charset="-120"/>
                                      <a:cs typeface="Times New Roman" panose="02020603050405020304" pitchFamily="18" charset="0"/>
                                    </a:rPr>
                                    <m:t>sin</m:t>
                                  </m:r>
                                </m:fName>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f>
                                    <m:f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𝑖𝑟</m:t>
                                      </m:r>
                                    </m:num>
                                    <m:den>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𝜒</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m:t>
                                      </m:r>
                                    </m:den>
                                  </m:f>
                                  <m:func>
                                    <m:func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600">
                                          <a:latin typeface="Cambria Math" panose="02040503050406030204" pitchFamily="18" charset="0"/>
                                          <a:ea typeface="標楷體" panose="03000509000000000000" pitchFamily="65" charset="-120"/>
                                          <a:cs typeface="Times New Roman" panose="02020603050405020304" pitchFamily="18" charset="0"/>
                                        </a:rPr>
                                        <m:t>cos</m:t>
                                      </m:r>
                                    </m:fName>
                                    <m:e>
                                      <m:sSub>
                                        <m:sSubPr>
                                          <m:ctrlPr>
                                            <a:rPr lang="zh-TW" altLang="zh-TW"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6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600" i="1">
                                              <a:latin typeface="Cambria Math" panose="02040503050406030204" pitchFamily="18" charset="0"/>
                                              <a:ea typeface="標楷體" panose="03000509000000000000" pitchFamily="65" charset="-120"/>
                                              <a:cs typeface="Times New Roman" panose="02020603050405020304" pitchFamily="18" charset="0"/>
                                            </a:rPr>
                                            <m:t>+1</m:t>
                                          </m:r>
                                        </m:sub>
                                      </m:sSub>
                                    </m:e>
                                  </m:func>
                                </m:e>
                              </m:func>
                            </m:e>
                          </m:d>
                        </m:e>
                      </m:d>
                    </m:oMath>
                  </m:oMathPara>
                </a14:m>
                <a:endParaRPr lang="zh-TW" altLang="en-US" sz="1600" dirty="0"/>
              </a:p>
            </p:txBody>
          </p:sp>
        </mc:Choice>
        <mc:Fallback xmlns="">
          <p:sp>
            <p:nvSpPr>
              <p:cNvPr id="6" name="矩形 5">
                <a:extLst>
                  <a:ext uri="{FF2B5EF4-FFF2-40B4-BE49-F238E27FC236}">
                    <a16:creationId xmlns:a16="http://schemas.microsoft.com/office/drawing/2014/main" id="{EA7BBC9F-07EA-4A04-9816-E7C818674DCD}"/>
                  </a:ext>
                </a:extLst>
              </p:cNvPr>
              <p:cNvSpPr>
                <a:spLocks noRot="1" noChangeAspect="1" noMove="1" noResize="1" noEditPoints="1" noAdjustHandles="1" noChangeArrowheads="1" noChangeShapeType="1" noTextEdit="1"/>
              </p:cNvSpPr>
              <p:nvPr/>
            </p:nvSpPr>
            <p:spPr>
              <a:xfrm>
                <a:off x="369894" y="1474602"/>
                <a:ext cx="11349236" cy="1286250"/>
              </a:xfrm>
              <a:prstGeom prst="rect">
                <a:avLst/>
              </a:prstGeom>
              <a:blipFill>
                <a:blip r:embed="rId3"/>
                <a:stretch>
                  <a:fillRect/>
                </a:stretch>
              </a:blipFill>
            </p:spPr>
            <p:txBody>
              <a:bodyPr/>
              <a:lstStyle/>
              <a:p>
                <a:r>
                  <a:rPr lang="zh-TW" altLang="en-US">
                    <a:noFill/>
                  </a:rPr>
                  <a:t> </a:t>
                </a:r>
              </a:p>
            </p:txBody>
          </p:sp>
        </mc:Fallback>
      </mc:AlternateContent>
      <p:sp>
        <p:nvSpPr>
          <p:cNvPr id="18" name="矩形 17">
            <a:extLst>
              <a:ext uri="{FF2B5EF4-FFF2-40B4-BE49-F238E27FC236}">
                <a16:creationId xmlns:a16="http://schemas.microsoft.com/office/drawing/2014/main" id="{720418BD-3068-4563-A632-36E5569FFA0F}"/>
              </a:ext>
            </a:extLst>
          </p:cNvPr>
          <p:cNvSpPr/>
          <p:nvPr/>
        </p:nvSpPr>
        <p:spPr>
          <a:xfrm>
            <a:off x="420792" y="941930"/>
            <a:ext cx="3910045" cy="369332"/>
          </a:xfrm>
          <a:prstGeom prst="rect">
            <a:avLst/>
          </a:prstGeom>
        </p:spPr>
        <p:txBody>
          <a:bodyPr wrap="none">
            <a:spAutoFit/>
          </a:bodyPr>
          <a:lstStyle/>
          <a:p>
            <a:r>
              <a:rPr lang="en-US" altLang="zh-TW" b="1" i="1" u="sng" dirty="0">
                <a:latin typeface="Times New Roman" panose="02020603050405020304" pitchFamily="18" charset="0"/>
                <a:cs typeface="Times New Roman" panose="02020603050405020304" pitchFamily="18" charset="0"/>
              </a:rPr>
              <a:t>C</a:t>
            </a:r>
            <a:r>
              <a:rPr lang="zh-TW" altLang="en-US" b="1" i="1" u="sng" dirty="0">
                <a:latin typeface="Times New Roman" panose="02020603050405020304" pitchFamily="18" charset="0"/>
                <a:cs typeface="Times New Roman" panose="02020603050405020304" pitchFamily="18" charset="0"/>
              </a:rPr>
              <a:t>o-directional coupled mode equations</a:t>
            </a:r>
          </a:p>
        </p:txBody>
      </p:sp>
      <p:sp>
        <p:nvSpPr>
          <p:cNvPr id="3" name="投影片編號版面配置區 2">
            <a:extLst>
              <a:ext uri="{FF2B5EF4-FFF2-40B4-BE49-F238E27FC236}">
                <a16:creationId xmlns:a16="http://schemas.microsoft.com/office/drawing/2014/main" id="{6C7CFDCC-8037-45F2-9052-DAC728E76819}"/>
              </a:ext>
            </a:extLst>
          </p:cNvPr>
          <p:cNvSpPr>
            <a:spLocks noGrp="1"/>
          </p:cNvSpPr>
          <p:nvPr>
            <p:ph type="sldNum" sz="quarter" idx="12"/>
          </p:nvPr>
        </p:nvSpPr>
        <p:spPr>
          <a:xfrm>
            <a:off x="9458506" y="6492875"/>
            <a:ext cx="2743200" cy="365125"/>
          </a:xfrm>
        </p:spPr>
        <p:txBody>
          <a:bodyPr/>
          <a:lstStyle/>
          <a:p>
            <a:fld id="{29723A01-8C65-4E4C-95BB-6D96843E9278}" type="slidenum">
              <a:rPr lang="zh-TW" altLang="en-US" smtClean="0"/>
              <a:t>23</a:t>
            </a:fld>
            <a:endParaRPr lang="zh-TW" altLang="en-US" dirty="0"/>
          </a:p>
        </p:txBody>
      </p:sp>
      <p:grpSp>
        <p:nvGrpSpPr>
          <p:cNvPr id="13" name="群組 12"/>
          <p:cNvGrpSpPr/>
          <p:nvPr/>
        </p:nvGrpSpPr>
        <p:grpSpPr>
          <a:xfrm>
            <a:off x="8749744" y="1032305"/>
            <a:ext cx="3249978" cy="884593"/>
            <a:chOff x="8237692" y="1178843"/>
            <a:chExt cx="3249978" cy="884593"/>
          </a:xfrm>
        </p:grpSpPr>
        <mc:AlternateContent xmlns:mc="http://schemas.openxmlformats.org/markup-compatibility/2006" xmlns:a14="http://schemas.microsoft.com/office/drawing/2010/main">
          <mc:Choice Requires="a14">
            <p:sp>
              <p:nvSpPr>
                <p:cNvPr id="11" name="矩形 10"/>
                <p:cNvSpPr/>
                <p:nvPr/>
              </p:nvSpPr>
              <p:spPr>
                <a:xfrm>
                  <a:off x="8237692" y="1738347"/>
                  <a:ext cx="1152944" cy="3250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zh-TW" altLang="en-US"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𝑗</m:t>
                            </m:r>
                          </m:sub>
                        </m:sSub>
                      </m:oMath>
                    </m:oMathPara>
                  </a14:m>
                  <a:endParaRPr lang="zh-TW" altLang="en-US" sz="1400" dirty="0"/>
                </a:p>
              </p:txBody>
            </p:sp>
          </mc:Choice>
          <mc:Fallback xmlns="">
            <p:sp>
              <p:nvSpPr>
                <p:cNvPr id="11" name="矩形 10"/>
                <p:cNvSpPr>
                  <a:spLocks noRot="1" noChangeAspect="1" noMove="1" noResize="1" noEditPoints="1" noAdjustHandles="1" noChangeArrowheads="1" noChangeShapeType="1" noTextEdit="1"/>
                </p:cNvSpPr>
                <p:nvPr/>
              </p:nvSpPr>
              <p:spPr>
                <a:xfrm>
                  <a:off x="8237692" y="1738347"/>
                  <a:ext cx="1152944" cy="325089"/>
                </a:xfrm>
                <a:prstGeom prst="rect">
                  <a:avLst/>
                </a:prstGeom>
                <a:blipFill>
                  <a:blip r:embed="rId7"/>
                  <a:stretch>
                    <a:fillRect b="-1852"/>
                  </a:stretch>
                </a:blipFill>
              </p:spPr>
              <p:txBody>
                <a:bodyPr/>
                <a:lstStyle/>
                <a:p>
                  <a:r>
                    <a:rPr lang="zh-TW" altLang="en-US">
                      <a:noFill/>
                    </a:rPr>
                    <a:t> </a:t>
                  </a:r>
                </a:p>
              </p:txBody>
            </p:sp>
          </mc:Fallback>
        </mc:AlternateContent>
        <p:grpSp>
          <p:nvGrpSpPr>
            <p:cNvPr id="12" name="群組 11"/>
            <p:cNvGrpSpPr/>
            <p:nvPr/>
          </p:nvGrpSpPr>
          <p:grpSpPr>
            <a:xfrm>
              <a:off x="8496802" y="1178843"/>
              <a:ext cx="2990868" cy="853962"/>
              <a:chOff x="8496802" y="1178843"/>
              <a:chExt cx="2990868" cy="853962"/>
            </a:xfrm>
          </p:grpSpPr>
          <p:sp>
            <p:nvSpPr>
              <p:cNvPr id="5" name="矩形 4"/>
              <p:cNvSpPr/>
              <p:nvPr/>
            </p:nvSpPr>
            <p:spPr>
              <a:xfrm>
                <a:off x="9189267" y="1230857"/>
                <a:ext cx="1412341" cy="5641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向右箭號 8"/>
              <p:cNvSpPr/>
              <p:nvPr/>
            </p:nvSpPr>
            <p:spPr>
              <a:xfrm>
                <a:off x="9472820" y="1367521"/>
                <a:ext cx="845234" cy="290833"/>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0" name="矩形 9"/>
                  <p:cNvSpPr/>
                  <p:nvPr/>
                </p:nvSpPr>
                <p:spPr>
                  <a:xfrm>
                    <a:off x="8496802" y="1178843"/>
                    <a:ext cx="738472" cy="3404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𝑜</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e>
                          </m:d>
                        </m:oMath>
                      </m:oMathPara>
                    </a14:m>
                    <a:endParaRPr lang="zh-TW" altLang="en-US" sz="1400" dirty="0"/>
                  </a:p>
                </p:txBody>
              </p:sp>
            </mc:Choice>
            <mc:Fallback xmlns="">
              <p:sp>
                <p:nvSpPr>
                  <p:cNvPr id="10" name="矩形 9"/>
                  <p:cNvSpPr>
                    <a:spLocks noRot="1" noChangeAspect="1" noMove="1" noResize="1" noEditPoints="1" noAdjustHandles="1" noChangeArrowheads="1" noChangeShapeType="1" noTextEdit="1"/>
                  </p:cNvSpPr>
                  <p:nvPr/>
                </p:nvSpPr>
                <p:spPr>
                  <a:xfrm>
                    <a:off x="8496802" y="1178843"/>
                    <a:ext cx="738472" cy="340478"/>
                  </a:xfrm>
                  <a:prstGeom prst="rect">
                    <a:avLst/>
                  </a:prstGeom>
                  <a:blipFill>
                    <a:blip r:embed="rId8"/>
                    <a:stretch>
                      <a:fillRect b="-17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8508792" y="1490777"/>
                    <a:ext cx="733149" cy="3404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b="0" i="1" kern="100" smtClean="0">
                                  <a:latin typeface="Cambria Math" panose="02040503050406030204" pitchFamily="18" charset="0"/>
                                  <a:ea typeface="標楷體" panose="03000509000000000000" pitchFamily="65" charset="-120"/>
                                  <a:cs typeface="Times New Roman" panose="02020603050405020304" pitchFamily="18" charset="0"/>
                                </a:rPr>
                                <m:t>𝑒</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smtClean="0">
                                      <a:latin typeface="Cambria Math" panose="02040503050406030204" pitchFamily="18" charset="0"/>
                                      <a:ea typeface="標楷體" panose="03000509000000000000" pitchFamily="65" charset="-120"/>
                                      <a:cs typeface="Times New Roman" panose="02020603050405020304" pitchFamily="18" charset="0"/>
                                    </a:rPr>
                                    <m:t>𝑗</m:t>
                                  </m:r>
                                </m:sub>
                              </m:sSub>
                            </m:e>
                          </m:d>
                        </m:oMath>
                      </m:oMathPara>
                    </a14:m>
                    <a:endParaRPr lang="zh-TW" altLang="en-US" sz="1400" dirty="0"/>
                  </a:p>
                </p:txBody>
              </p:sp>
            </mc:Choice>
            <mc:Fallback xmlns="">
              <p:sp>
                <p:nvSpPr>
                  <p:cNvPr id="16" name="矩形 15"/>
                  <p:cNvSpPr>
                    <a:spLocks noRot="1" noChangeAspect="1" noMove="1" noResize="1" noEditPoints="1" noAdjustHandles="1" noChangeArrowheads="1" noChangeShapeType="1" noTextEdit="1"/>
                  </p:cNvSpPr>
                  <p:nvPr/>
                </p:nvSpPr>
                <p:spPr>
                  <a:xfrm>
                    <a:off x="8508792" y="1490777"/>
                    <a:ext cx="733149" cy="340478"/>
                  </a:xfrm>
                  <a:prstGeom prst="rect">
                    <a:avLst/>
                  </a:prstGeom>
                  <a:blipFill>
                    <a:blip r:embed="rId9"/>
                    <a:stretch>
                      <a:fillRect b="-17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10584602" y="1480975"/>
                    <a:ext cx="903068" cy="3404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b="0" i="1" kern="100" smtClean="0">
                                  <a:latin typeface="Cambria Math" panose="02040503050406030204" pitchFamily="18" charset="0"/>
                                  <a:ea typeface="標楷體" panose="03000509000000000000" pitchFamily="65" charset="-120"/>
                                  <a:cs typeface="Times New Roman" panose="02020603050405020304" pitchFamily="18" charset="0"/>
                                </a:rPr>
                                <m:t>𝑒</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+1</m:t>
                                  </m:r>
                                </m:sub>
                              </m:sSub>
                            </m:e>
                          </m:d>
                        </m:oMath>
                      </m:oMathPara>
                    </a14:m>
                    <a:endParaRPr lang="zh-TW" altLang="en-US" sz="1400" dirty="0"/>
                  </a:p>
                </p:txBody>
              </p:sp>
            </mc:Choice>
            <mc:Fallback xmlns="">
              <p:sp>
                <p:nvSpPr>
                  <p:cNvPr id="19" name="矩形 18"/>
                  <p:cNvSpPr>
                    <a:spLocks noRot="1" noChangeAspect="1" noMove="1" noResize="1" noEditPoints="1" noAdjustHandles="1" noChangeArrowheads="1" noChangeShapeType="1" noTextEdit="1"/>
                  </p:cNvSpPr>
                  <p:nvPr/>
                </p:nvSpPr>
                <p:spPr>
                  <a:xfrm>
                    <a:off x="10584602" y="1480975"/>
                    <a:ext cx="903068" cy="340478"/>
                  </a:xfrm>
                  <a:prstGeom prst="rect">
                    <a:avLst/>
                  </a:prstGeom>
                  <a:blipFill>
                    <a:blip r:embed="rId10"/>
                    <a:stretch>
                      <a:fillRect b="-17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10577933" y="1187678"/>
                    <a:ext cx="908389" cy="3404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𝑜</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+1</m:t>
                                  </m:r>
                                </m:sub>
                              </m:sSub>
                            </m:e>
                          </m:d>
                        </m:oMath>
                      </m:oMathPara>
                    </a14:m>
                    <a:endParaRPr lang="zh-TW" altLang="en-US" sz="1400" dirty="0"/>
                  </a:p>
                </p:txBody>
              </p:sp>
            </mc:Choice>
            <mc:Fallback xmlns="">
              <p:sp>
                <p:nvSpPr>
                  <p:cNvPr id="20" name="矩形 19"/>
                  <p:cNvSpPr>
                    <a:spLocks noRot="1" noChangeAspect="1" noMove="1" noResize="1" noEditPoints="1" noAdjustHandles="1" noChangeArrowheads="1" noChangeShapeType="1" noTextEdit="1"/>
                  </p:cNvSpPr>
                  <p:nvPr/>
                </p:nvSpPr>
                <p:spPr>
                  <a:xfrm>
                    <a:off x="10577933" y="1187678"/>
                    <a:ext cx="908389" cy="340478"/>
                  </a:xfrm>
                  <a:prstGeom prst="rect">
                    <a:avLst/>
                  </a:prstGeom>
                  <a:blipFill>
                    <a:blip r:embed="rId11"/>
                    <a:stretch>
                      <a:fillRect b="-17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9764314" y="1707716"/>
                    <a:ext cx="1322863" cy="3250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zh-TW" altLang="en-US"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𝑗</m:t>
                              </m:r>
                              <m:r>
                                <a:rPr lang="en-US" altLang="zh-TW" sz="14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m:t>
                              </m:r>
                            </m:sub>
                          </m:sSub>
                        </m:oMath>
                      </m:oMathPara>
                    </a14:m>
                    <a:endParaRPr lang="zh-TW" altLang="en-US" sz="1400" dirty="0"/>
                  </a:p>
                </p:txBody>
              </p:sp>
            </mc:Choice>
            <mc:Fallback xmlns="">
              <p:sp>
                <p:nvSpPr>
                  <p:cNvPr id="21" name="矩形 20"/>
                  <p:cNvSpPr>
                    <a:spLocks noRot="1" noChangeAspect="1" noMove="1" noResize="1" noEditPoints="1" noAdjustHandles="1" noChangeArrowheads="1" noChangeShapeType="1" noTextEdit="1"/>
                  </p:cNvSpPr>
                  <p:nvPr/>
                </p:nvSpPr>
                <p:spPr>
                  <a:xfrm>
                    <a:off x="9764314" y="1707716"/>
                    <a:ext cx="1322863" cy="325089"/>
                  </a:xfrm>
                  <a:prstGeom prst="rect">
                    <a:avLst/>
                  </a:prstGeom>
                  <a:blipFill>
                    <a:blip r:embed="rId12"/>
                    <a:stretch>
                      <a:fillRect b="-1852"/>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E54C0CD2-A913-4253-9B59-2AA15E82BBD9}"/>
                  </a:ext>
                </a:extLst>
              </p:cNvPr>
              <p:cNvSpPr txBox="1"/>
              <p:nvPr/>
            </p:nvSpPr>
            <p:spPr>
              <a:xfrm>
                <a:off x="369894" y="4547177"/>
                <a:ext cx="3744416" cy="1473993"/>
              </a:xfrm>
              <a:prstGeom prst="rect">
                <a:avLst/>
              </a:prstGeom>
              <a:noFill/>
            </p:spPr>
            <p:txBody>
              <a:bodyPr wrap="square" rtlCol="0">
                <a:spAutoFit/>
              </a:bodyPr>
              <a:lstStyle/>
              <a:p>
                <a:pPr lvl="0">
                  <a:lnSpc>
                    <a:spcPct val="200000"/>
                  </a:lnSpc>
                </a:pPr>
                <a:r>
                  <a:rPr lang="en-US" altLang="zh-TW" sz="1400" i="1" dirty="0">
                    <a:solidFill>
                      <a:prstClr val="black"/>
                    </a:solidFill>
                    <a:latin typeface="Times New Roman" pitchFamily="18" charset="0"/>
                    <a:cs typeface="Times New Roman" pitchFamily="18" charset="0"/>
                  </a:rPr>
                  <a:t> w  : efficiency weighting</a:t>
                </a:r>
              </a:p>
              <a:p>
                <a:pPr lvl="0">
                  <a:lnSpc>
                    <a:spcPct val="200000"/>
                  </a:lnSpc>
                </a:pPr>
                <a:r>
                  <a:rPr lang="en-US" altLang="zh-TW" sz="1400" i="1" dirty="0">
                    <a:solidFill>
                      <a:prstClr val="black"/>
                    </a:solidFill>
                    <a:latin typeface="Times New Roman" pitchFamily="18" charset="0"/>
                    <a:cs typeface="Times New Roman" pitchFamily="18" charset="0"/>
                  </a:rPr>
                  <a:t> </a:t>
                </a:r>
                <a14:m>
                  <m:oMath xmlns:m="http://schemas.openxmlformats.org/officeDocument/2006/math">
                    <m:sSub>
                      <m:sSubPr>
                        <m:ctrlPr>
                          <a:rPr lang="zh-TW" altLang="en-US" sz="1400" i="1">
                            <a:solidFill>
                              <a:prstClr val="black"/>
                            </a:solidFill>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zh-TW" altLang="en-US" sz="1400" i="1">
                            <a:solidFill>
                              <a:prstClr val="black"/>
                            </a:solidFill>
                            <a:latin typeface="Cambria Math" panose="02040503050406030204" pitchFamily="18" charset="0"/>
                          </a:rPr>
                          <m:t>𝑚𝑎𝑥</m:t>
                        </m:r>
                      </m:sub>
                    </m:sSub>
                  </m:oMath>
                </a14:m>
                <a:r>
                  <a:rPr lang="en-US" altLang="zh-TW" sz="1400" i="1" baseline="-25000" dirty="0">
                    <a:solidFill>
                      <a:prstClr val="black"/>
                    </a:solidFill>
                    <a:latin typeface="Times New Roman" pitchFamily="18" charset="0"/>
                    <a:cs typeface="Times New Roman" pitchFamily="18" charset="0"/>
                  </a:rPr>
                  <a:t>  </a:t>
                </a:r>
                <a:r>
                  <a:rPr lang="en-US" altLang="zh-TW" sz="1400" i="1" dirty="0">
                    <a:solidFill>
                      <a:prstClr val="black"/>
                    </a:solidFill>
                    <a:latin typeface="Times New Roman" pitchFamily="18" charset="0"/>
                    <a:cs typeface="Times New Roman" pitchFamily="18" charset="0"/>
                  </a:rPr>
                  <a:t> : efficiency target</a:t>
                </a:r>
              </a:p>
              <a:p>
                <a:pPr lvl="0">
                  <a:lnSpc>
                    <a:spcPct val="200000"/>
                  </a:lnSpc>
                </a:pPr>
                <a14:m>
                  <m:oMath xmlns:m="http://schemas.openxmlformats.org/officeDocument/2006/math">
                    <m:sSub>
                      <m:sSubPr>
                        <m:ctrlPr>
                          <a:rPr lang="zh-TW" altLang="en-US" sz="1400" i="1">
                            <a:solidFill>
                              <a:prstClr val="black"/>
                            </a:solidFill>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zh-TW" altLang="en-US" sz="1400" i="1">
                            <a:solidFill>
                              <a:prstClr val="black"/>
                            </a:solidFill>
                            <a:latin typeface="Cambria Math" panose="02040503050406030204" pitchFamily="18" charset="0"/>
                          </a:rPr>
                          <m:t>𝑐𝑎𝑙</m:t>
                        </m:r>
                      </m:sub>
                    </m:sSub>
                  </m:oMath>
                </a14:m>
                <a:r>
                  <a:rPr lang="en-US" altLang="zh-TW" sz="1400" i="1" baseline="-25000" dirty="0">
                    <a:solidFill>
                      <a:prstClr val="black"/>
                    </a:solidFill>
                    <a:latin typeface="Times New Roman" pitchFamily="18" charset="0"/>
                    <a:cs typeface="Times New Roman" pitchFamily="18" charset="0"/>
                  </a:rPr>
                  <a:t>  </a:t>
                </a:r>
                <a:r>
                  <a:rPr lang="en-US" altLang="zh-TW" sz="1400" i="1" dirty="0">
                    <a:solidFill>
                      <a:prstClr val="black"/>
                    </a:solidFill>
                    <a:latin typeface="Times New Roman" pitchFamily="18" charset="0"/>
                    <a:cs typeface="Times New Roman" pitchFamily="18" charset="0"/>
                  </a:rPr>
                  <a:t> : efficiency</a:t>
                </a:r>
                <a:endParaRPr lang="zh-TW" altLang="en-US" sz="1400" i="1" dirty="0">
                  <a:solidFill>
                    <a:prstClr val="black"/>
                  </a:solidFill>
                  <a:latin typeface="Times New Roman" pitchFamily="18" charset="0"/>
                  <a:cs typeface="Times New Roman" pitchFamily="18" charset="0"/>
                </a:endParaRPr>
              </a:p>
            </p:txBody>
          </p:sp>
        </mc:Choice>
        <mc:Fallback xmlns="">
          <p:sp>
            <p:nvSpPr>
              <p:cNvPr id="24" name="文字方塊 23">
                <a:extLst>
                  <a:ext uri="{FF2B5EF4-FFF2-40B4-BE49-F238E27FC236}">
                    <a16:creationId xmlns:a16="http://schemas.microsoft.com/office/drawing/2014/main" id="{E54C0CD2-A913-4253-9B59-2AA15E82BBD9}"/>
                  </a:ext>
                </a:extLst>
              </p:cNvPr>
              <p:cNvSpPr txBox="1">
                <a:spLocks noRot="1" noChangeAspect="1" noMove="1" noResize="1" noEditPoints="1" noAdjustHandles="1" noChangeArrowheads="1" noChangeShapeType="1" noTextEdit="1"/>
              </p:cNvSpPr>
              <p:nvPr/>
            </p:nvSpPr>
            <p:spPr>
              <a:xfrm>
                <a:off x="369894" y="4547177"/>
                <a:ext cx="3744416" cy="1473993"/>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145886" y="3646443"/>
                <a:ext cx="6389738" cy="76809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zh-TW" sz="1400" i="1" smtClean="0">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TW" sz="1400">
                              <a:latin typeface="Cambria Math" panose="02040503050406030204" pitchFamily="18" charset="0"/>
                              <a:ea typeface="Cambria Math" panose="02040503050406030204" pitchFamily="18" charset="0"/>
                            </a:rPr>
                            <m:t>Ob</m:t>
                          </m:r>
                        </m:e>
                        <m:sub>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sub>
                      </m:sSub>
                      <m:r>
                        <a:rPr lang="en-US" altLang="zh-TW" sz="1400" smtClean="0">
                          <a:latin typeface="Cambria Math" panose="02040503050406030204" pitchFamily="18" charset="0"/>
                          <a:ea typeface="Cambria Math" panose="02040503050406030204" pitchFamily="18" charset="0"/>
                        </a:rPr>
                        <m:t>=</m:t>
                      </m:r>
                      <m:nary>
                        <m:naryPr>
                          <m:chr m:val="∑"/>
                          <m:limLoc m:val="undOvr"/>
                          <m:ctrlPr>
                            <a:rPr lang="zh-TW" altLang="zh-TW" sz="1400" i="1">
                              <a:latin typeface="Cambria Math" panose="02040503050406030204" pitchFamily="18" charset="0"/>
                            </a:rPr>
                          </m:ctrlPr>
                        </m:naryPr>
                        <m:sub>
                          <m:r>
                            <a:rPr lang="en-US" altLang="zh-TW" sz="1400" i="1">
                              <a:latin typeface="Cambria Math" panose="02040503050406030204" pitchFamily="18" charset="0"/>
                              <a:ea typeface="Cambria Math" panose="02040503050406030204" pitchFamily="18" charset="0"/>
                            </a:rPr>
                            <m:t>𝑗</m:t>
                          </m:r>
                          <m:r>
                            <a:rPr lang="en-US" altLang="zh-TW" sz="1400" i="1">
                              <a:latin typeface="Cambria Math" panose="02040503050406030204" pitchFamily="18" charset="0"/>
                              <a:ea typeface="Cambria Math" panose="02040503050406030204" pitchFamily="18" charset="0"/>
                            </a:rPr>
                            <m:t>=1</m:t>
                          </m:r>
                        </m:sub>
                        <m:sup>
                          <m:r>
                            <a:rPr lang="en-US" altLang="zh-TW" sz="1400" i="1">
                              <a:latin typeface="Cambria Math" panose="02040503050406030204" pitchFamily="18" charset="0"/>
                              <a:ea typeface="Cambria Math" panose="02040503050406030204" pitchFamily="18" charset="0"/>
                            </a:rPr>
                            <m:t>𝑛</m:t>
                          </m:r>
                        </m:sup>
                        <m:e>
                          <m:eqArr>
                            <m:eqArrPr>
                              <m:ctrlPr>
                                <a:rPr lang="zh-TW" altLang="zh-TW" sz="1400" i="1">
                                  <a:latin typeface="Cambria Math" panose="02040503050406030204" pitchFamily="18" charset="0"/>
                                </a:rPr>
                              </m:ctrlPr>
                            </m:eqArrPr>
                            <m:e>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en-US" altLang="zh-TW" sz="1400" i="1">
                                          <a:latin typeface="Cambria Math" panose="02040503050406030204" pitchFamily="18" charset="0"/>
                                          <a:ea typeface="Cambria Math" panose="02040503050406030204" pitchFamily="18" charset="0"/>
                                        </a:rPr>
                                        <m:t>𝑚𝑎𝑥</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1540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r>
                                    <a:rPr lang="en-US" altLang="zh-TW" sz="1400" i="1">
                                      <a:latin typeface="Cambria Math" panose="02040503050406030204" pitchFamily="18" charset="0"/>
                                      <a:ea typeface="Cambria Math" panose="02040503050406030204" pitchFamily="18" charset="0"/>
                                    </a:rPr>
                                    <m:t>−</m:t>
                                  </m:r>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en-US" altLang="zh-TW" sz="1400" i="1">
                                          <a:latin typeface="Cambria Math" panose="02040503050406030204" pitchFamily="18" charset="0"/>
                                          <a:ea typeface="Cambria Math" panose="02040503050406030204" pitchFamily="18" charset="0"/>
                                        </a:rPr>
                                        <m:t>𝑐𝑎𝑙</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1540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e>
                              </m:d>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𝑊</m:t>
                              </m:r>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1540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e>
                            <m:e>
                              <m:r>
                                <a:rPr lang="en-US" altLang="zh-TW" sz="1400" b="0" i="1" smtClean="0">
                                  <a:latin typeface="Cambria Math" panose="02040503050406030204" pitchFamily="18" charset="0"/>
                                  <a:ea typeface="Cambria Math" panose="02040503050406030204" pitchFamily="18" charset="0"/>
                                </a:rPr>
                                <m:t>+</m:t>
                              </m:r>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en-US" altLang="zh-TW" sz="1400" i="1">
                                          <a:latin typeface="Cambria Math" panose="02040503050406030204" pitchFamily="18" charset="0"/>
                                          <a:ea typeface="Cambria Math" panose="02040503050406030204" pitchFamily="18" charset="0"/>
                                        </a:rPr>
                                        <m:t>𝑚𝑎𝑥</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1550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r>
                                    <a:rPr lang="en-US" altLang="zh-TW" sz="1400" i="1">
                                      <a:latin typeface="Cambria Math" panose="02040503050406030204" pitchFamily="18" charset="0"/>
                                      <a:ea typeface="Cambria Math" panose="02040503050406030204" pitchFamily="18" charset="0"/>
                                    </a:rPr>
                                    <m:t>−</m:t>
                                  </m:r>
                                  <m:sSub>
                                    <m:sSubPr>
                                      <m:ctrlPr>
                                        <a:rPr lang="zh-TW" altLang="zh-TW" sz="1400" i="1">
                                          <a:latin typeface="Cambria Math" panose="02040503050406030204" pitchFamily="18" charset="0"/>
                                        </a:rPr>
                                      </m:ctrlPr>
                                    </m:sSubPr>
                                    <m:e>
                                      <m:sSub>
                                        <m:sSubPr>
                                          <m:ctrlPr>
                                            <a:rPr lang="zh-TW" altLang="zh-TW" sz="1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𝑒</m:t>
                                          </m:r>
                                        </m:sub>
                                      </m:sSub>
                                    </m:e>
                                    <m:sub>
                                      <m:r>
                                        <a:rPr lang="en-US" altLang="zh-TW" sz="1400" i="1">
                                          <a:latin typeface="Cambria Math" panose="02040503050406030204" pitchFamily="18" charset="0"/>
                                          <a:ea typeface="Cambria Math" panose="02040503050406030204" pitchFamily="18" charset="0"/>
                                        </a:rPr>
                                        <m:t>𝑐𝑎𝑙</m:t>
                                      </m:r>
                                    </m:sub>
                                  </m:sSub>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b="0" i="1" smtClean="0">
                                              <a:latin typeface="Cambria Math" panose="02040503050406030204" pitchFamily="18" charset="0"/>
                                              <a:ea typeface="Cambria Math" panose="02040503050406030204" pitchFamily="18" charset="0"/>
                                            </a:rPr>
                                            <m:t>1550</m:t>
                                          </m:r>
                                          <m:r>
                                            <a:rPr lang="en-US" altLang="zh-TW" sz="1400" b="0" i="1" smtClean="0">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𝑊</m:t>
                                  </m:r>
                                  <m:d>
                                    <m:dPr>
                                      <m:ctrlPr>
                                        <a:rPr lang="zh-TW" altLang="zh-TW" sz="1400" i="1">
                                          <a:latin typeface="Cambria Math" panose="02040503050406030204" pitchFamily="18" charset="0"/>
                                        </a:rPr>
                                      </m:ctrlPr>
                                    </m:dPr>
                                    <m:e>
                                      <m:sSub>
                                        <m:sSubPr>
                                          <m:ctrlPr>
                                            <a:rPr lang="zh-TW" altLang="zh-TW" sz="1400" i="1">
                                              <a:latin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15</m:t>
                                          </m:r>
                                          <m:r>
                                            <a:rPr lang="en-US" altLang="zh-TW" sz="1400" b="0" i="1" smtClean="0">
                                              <a:latin typeface="Cambria Math" panose="02040503050406030204" pitchFamily="18" charset="0"/>
                                              <a:ea typeface="Cambria Math" panose="02040503050406030204" pitchFamily="18" charset="0"/>
                                            </a:rPr>
                                            <m:t>5</m:t>
                                          </m:r>
                                          <m:r>
                                            <a:rPr lang="en-US" altLang="zh-TW" sz="1400" i="1">
                                              <a:latin typeface="Cambria Math" panose="02040503050406030204" pitchFamily="18" charset="0"/>
                                              <a:ea typeface="Cambria Math" panose="02040503050406030204" pitchFamily="18" charset="0"/>
                                            </a:rPr>
                                            <m:t>0</m:t>
                                          </m:r>
                                          <m:r>
                                            <a:rPr lang="en-US" altLang="zh-TW" sz="1400" i="1">
                                              <a:latin typeface="Cambria Math" panose="02040503050406030204" pitchFamily="18" charset="0"/>
                                              <a:ea typeface="Cambria Math" panose="02040503050406030204" pitchFamily="18" charset="0"/>
                                            </a:rPr>
                                            <m:t>𝑛𝑚</m:t>
                                          </m:r>
                                        </m:e>
                                        <m:sub>
                                          <m:r>
                                            <a:rPr lang="en-US" altLang="zh-TW" sz="1400" i="1">
                                              <a:latin typeface="Cambria Math" panose="02040503050406030204" pitchFamily="18" charset="0"/>
                                              <a:ea typeface="Cambria Math" panose="02040503050406030204" pitchFamily="18" charset="0"/>
                                            </a:rPr>
                                            <m:t>𝑗</m:t>
                                          </m:r>
                                        </m:sub>
                                      </m:sSub>
                                    </m:e>
                                  </m:d>
                                </m:e>
                              </m:d>
                            </m:e>
                          </m:eqArr>
                        </m:e>
                      </m:nary>
                    </m:oMath>
                  </m:oMathPara>
                </a14:m>
                <a:endParaRPr lang="zh-TW" altLang="en-US" sz="1400" dirty="0">
                  <a:latin typeface="Cambria Math" panose="02040503050406030204" pitchFamily="18" charset="0"/>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145886" y="3646443"/>
                <a:ext cx="6389738" cy="768095"/>
              </a:xfrm>
              <a:prstGeom prst="rect">
                <a:avLst/>
              </a:prstGeom>
              <a:blipFill>
                <a:blip r:embed="rId14"/>
                <a:stretch>
                  <a:fillRect/>
                </a:stretch>
              </a:blipFill>
            </p:spPr>
            <p:txBody>
              <a:bodyPr/>
              <a:lstStyle/>
              <a:p>
                <a:r>
                  <a:rPr lang="zh-TW" altLang="en-US">
                    <a:noFill/>
                  </a:rPr>
                  <a:t> </a:t>
                </a:r>
              </a:p>
            </p:txBody>
          </p:sp>
        </mc:Fallback>
      </mc:AlternateContent>
      <p:pic>
        <p:nvPicPr>
          <p:cNvPr id="14" name="圖片 13">
            <a:extLst>
              <a:ext uri="{FF2B5EF4-FFF2-40B4-BE49-F238E27FC236}">
                <a16:creationId xmlns:a16="http://schemas.microsoft.com/office/drawing/2014/main" id="{2FB3798E-BF65-4632-AE75-406FE306E975}"/>
              </a:ext>
            </a:extLst>
          </p:cNvPr>
          <p:cNvPicPr>
            <a:picLocks noChangeAspect="1"/>
          </p:cNvPicPr>
          <p:nvPr/>
        </p:nvPicPr>
        <p:blipFill rotWithShape="1">
          <a:blip r:embed="rId15"/>
          <a:srcRect r="3318"/>
          <a:stretch/>
        </p:blipFill>
        <p:spPr>
          <a:xfrm>
            <a:off x="6149276" y="3014471"/>
            <a:ext cx="4986561" cy="3639627"/>
          </a:xfrm>
          <a:prstGeom prst="rect">
            <a:avLst/>
          </a:prstGeom>
        </p:spPr>
      </p:pic>
      <p:sp>
        <p:nvSpPr>
          <p:cNvPr id="48" name="矩形 47"/>
          <p:cNvSpPr/>
          <p:nvPr/>
        </p:nvSpPr>
        <p:spPr>
          <a:xfrm>
            <a:off x="8033006" y="5624344"/>
            <a:ext cx="615874" cy="276999"/>
          </a:xfrm>
          <a:prstGeom prst="rect">
            <a:avLst/>
          </a:prstGeom>
        </p:spPr>
        <p:txBody>
          <a:bodyPr wrap="square">
            <a:spAutoFit/>
          </a:bodyPr>
          <a:lstStyle/>
          <a:p>
            <a:r>
              <a:rPr lang="en-US" altLang="zh-TW" sz="1200" dirty="0"/>
              <a:t>0.07</a:t>
            </a:r>
            <a:endParaRPr lang="zh-TW" altLang="en-US" sz="1200" dirty="0"/>
          </a:p>
        </p:txBody>
      </p:sp>
      <p:sp>
        <p:nvSpPr>
          <p:cNvPr id="49" name="矩形 48"/>
          <p:cNvSpPr/>
          <p:nvPr/>
        </p:nvSpPr>
        <p:spPr>
          <a:xfrm>
            <a:off x="8000914" y="3197306"/>
            <a:ext cx="615874" cy="276999"/>
          </a:xfrm>
          <a:prstGeom prst="rect">
            <a:avLst/>
          </a:prstGeom>
        </p:spPr>
        <p:txBody>
          <a:bodyPr wrap="square">
            <a:spAutoFit/>
          </a:bodyPr>
          <a:lstStyle/>
          <a:p>
            <a:r>
              <a:rPr lang="en-US" altLang="zh-TW" sz="1200" dirty="0"/>
              <a:t>1</a:t>
            </a:r>
            <a:endParaRPr lang="zh-TW" altLang="en-US" sz="1200" dirty="0"/>
          </a:p>
        </p:txBody>
      </p:sp>
      <p:cxnSp>
        <p:nvCxnSpPr>
          <p:cNvPr id="50" name="直線接點 49"/>
          <p:cNvCxnSpPr/>
          <p:nvPr/>
        </p:nvCxnSpPr>
        <p:spPr>
          <a:xfrm>
            <a:off x="7954500" y="3256454"/>
            <a:ext cx="39796" cy="2781058"/>
          </a:xfrm>
          <a:prstGeom prst="line">
            <a:avLst/>
          </a:prstGeom>
          <a:ln w="3175">
            <a:solidFill>
              <a:srgbClr val="FF0000"/>
            </a:solidFill>
            <a:prstDash val="lgDash"/>
          </a:ln>
        </p:spPr>
        <p:style>
          <a:lnRef idx="1">
            <a:schemeClr val="dk1"/>
          </a:lnRef>
          <a:fillRef idx="0">
            <a:schemeClr val="dk1"/>
          </a:fillRef>
          <a:effectRef idx="0">
            <a:schemeClr val="dk1"/>
          </a:effectRef>
          <a:fontRef idx="minor">
            <a:schemeClr val="tx1"/>
          </a:fontRef>
        </p:style>
      </p:cxnSp>
      <p:sp>
        <p:nvSpPr>
          <p:cNvPr id="51" name="橢圓 50"/>
          <p:cNvSpPr/>
          <p:nvPr/>
        </p:nvSpPr>
        <p:spPr>
          <a:xfrm>
            <a:off x="7821637" y="3329862"/>
            <a:ext cx="265726" cy="265113"/>
          </a:xfrm>
          <a:prstGeom prst="ellipse">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橢圓 51"/>
          <p:cNvSpPr/>
          <p:nvPr/>
        </p:nvSpPr>
        <p:spPr>
          <a:xfrm>
            <a:off x="7868051" y="5779613"/>
            <a:ext cx="265726" cy="265113"/>
          </a:xfrm>
          <a:prstGeom prst="ellipse">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p:cNvSpPr/>
          <p:nvPr/>
        </p:nvSpPr>
        <p:spPr>
          <a:xfrm>
            <a:off x="9271661" y="5635356"/>
            <a:ext cx="615874" cy="276999"/>
          </a:xfrm>
          <a:prstGeom prst="rect">
            <a:avLst/>
          </a:prstGeom>
        </p:spPr>
        <p:txBody>
          <a:bodyPr wrap="square">
            <a:spAutoFit/>
          </a:bodyPr>
          <a:lstStyle/>
          <a:p>
            <a:r>
              <a:rPr lang="en-US" altLang="zh-TW" sz="1200" dirty="0"/>
              <a:t>0.1108</a:t>
            </a:r>
            <a:endParaRPr lang="zh-TW" altLang="en-US" sz="1200" dirty="0"/>
          </a:p>
        </p:txBody>
      </p:sp>
      <p:sp>
        <p:nvSpPr>
          <p:cNvPr id="55" name="矩形 54"/>
          <p:cNvSpPr/>
          <p:nvPr/>
        </p:nvSpPr>
        <p:spPr>
          <a:xfrm>
            <a:off x="9239569" y="3208318"/>
            <a:ext cx="615874" cy="276999"/>
          </a:xfrm>
          <a:prstGeom prst="rect">
            <a:avLst/>
          </a:prstGeom>
        </p:spPr>
        <p:txBody>
          <a:bodyPr wrap="square">
            <a:spAutoFit/>
          </a:bodyPr>
          <a:lstStyle/>
          <a:p>
            <a:r>
              <a:rPr lang="en-US" altLang="zh-TW" sz="1200" dirty="0"/>
              <a:t>1</a:t>
            </a:r>
            <a:endParaRPr lang="zh-TW" altLang="en-US" sz="1200" dirty="0"/>
          </a:p>
        </p:txBody>
      </p:sp>
      <p:cxnSp>
        <p:nvCxnSpPr>
          <p:cNvPr id="56" name="直線接點 55"/>
          <p:cNvCxnSpPr/>
          <p:nvPr/>
        </p:nvCxnSpPr>
        <p:spPr>
          <a:xfrm>
            <a:off x="9193155" y="3267466"/>
            <a:ext cx="39796" cy="2781058"/>
          </a:xfrm>
          <a:prstGeom prst="line">
            <a:avLst/>
          </a:prstGeom>
          <a:ln w="3175">
            <a:solidFill>
              <a:srgbClr val="FF0000"/>
            </a:solidFill>
            <a:prstDash val="lgDash"/>
          </a:ln>
        </p:spPr>
        <p:style>
          <a:lnRef idx="1">
            <a:schemeClr val="dk1"/>
          </a:lnRef>
          <a:fillRef idx="0">
            <a:schemeClr val="dk1"/>
          </a:fillRef>
          <a:effectRef idx="0">
            <a:schemeClr val="dk1"/>
          </a:effectRef>
          <a:fontRef idx="minor">
            <a:schemeClr val="tx1"/>
          </a:fontRef>
        </p:style>
      </p:cxnSp>
      <p:sp>
        <p:nvSpPr>
          <p:cNvPr id="57" name="橢圓 56"/>
          <p:cNvSpPr/>
          <p:nvPr/>
        </p:nvSpPr>
        <p:spPr>
          <a:xfrm>
            <a:off x="9060292" y="3340874"/>
            <a:ext cx="265726" cy="265113"/>
          </a:xfrm>
          <a:prstGeom prst="ellipse">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橢圓 57"/>
          <p:cNvSpPr/>
          <p:nvPr/>
        </p:nvSpPr>
        <p:spPr>
          <a:xfrm>
            <a:off x="9106706" y="5790625"/>
            <a:ext cx="265726" cy="265113"/>
          </a:xfrm>
          <a:prstGeom prst="ellipse">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1E92CF03-E4A3-432C-B1EC-A6B42BA201CF}"/>
                  </a:ext>
                </a:extLst>
              </p:cNvPr>
              <p:cNvSpPr/>
              <p:nvPr/>
            </p:nvSpPr>
            <p:spPr>
              <a:xfrm>
                <a:off x="369894" y="6153809"/>
                <a:ext cx="3514424" cy="394532"/>
              </a:xfrm>
              <a:prstGeom prst="rect">
                <a:avLst/>
              </a:prstGeom>
            </p:spPr>
            <p:txBody>
              <a:bodyPr wrap="none">
                <a:spAutoFit/>
              </a:bodyPr>
              <a:lstStyle/>
              <a:p>
                <a14:m>
                  <m:oMath xmlns:m="http://schemas.openxmlformats.org/officeDocument/2006/math">
                    <m:sSub>
                      <m:sSubPr>
                        <m:ctrlPr>
                          <a:rPr lang="zh-TW" altLang="zh-TW" i="1" smtClean="0">
                            <a:latin typeface="Cambria Math" panose="02040503050406030204" pitchFamily="18" charset="0"/>
                          </a:rPr>
                        </m:ctrlPr>
                      </m:sSubPr>
                      <m:e>
                        <m:r>
                          <m:rPr>
                            <m:sty m:val="p"/>
                          </m:rPr>
                          <a:rPr lang="en-US" altLang="zh-TW">
                            <a:latin typeface="Cambria Math" panose="02040503050406030204" pitchFamily="18" charset="0"/>
                            <a:ea typeface="Cambria Math" panose="02040503050406030204" pitchFamily="18" charset="0"/>
                          </a:rPr>
                          <m:t>Ob</m:t>
                        </m:r>
                      </m:e>
                      <m:sub>
                        <m:r>
                          <a:rPr lang="en-US" altLang="zh-TW" b="0" i="1" smtClean="0">
                            <a:latin typeface="Cambria Math" panose="02040503050406030204" pitchFamily="18" charset="0"/>
                            <a:ea typeface="Cambria Math" panose="02040503050406030204" pitchFamily="18" charset="0"/>
                          </a:rPr>
                          <m:t>𝑡𝑜𝑡𝑎𝑙</m:t>
                        </m:r>
                      </m:sub>
                    </m:sSub>
                    <m:r>
                      <a:rPr lang="en-US" altLang="zh-TW" b="0" i="1" smtClean="0">
                        <a:latin typeface="Cambria Math" panose="02040503050406030204" pitchFamily="18" charset="0"/>
                      </a:rPr>
                      <m:t>=</m:t>
                    </m:r>
                    <m:sSub>
                      <m:sSubPr>
                        <m:ctrlPr>
                          <a:rPr lang="zh-TW" altLang="zh-TW" i="1">
                            <a:latin typeface="Cambria Math" panose="02040503050406030204" pitchFamily="18" charset="0"/>
                          </a:rPr>
                        </m:ctrlPr>
                      </m:sSubPr>
                      <m:e>
                        <m:sSub>
                          <m:sSubPr>
                            <m:ctrlPr>
                              <a:rPr lang="zh-TW" altLang="zh-TW" i="1">
                                <a:latin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𝑊</m:t>
                            </m:r>
                          </m:e>
                          <m:sub>
                            <m:r>
                              <a:rPr lang="en-US" altLang="zh-TW" b="0" i="1" smtClean="0">
                                <a:latin typeface="Cambria Math" panose="02040503050406030204" pitchFamily="18" charset="0"/>
                              </a:rPr>
                              <m:t>𝑂𝑃𝑂</m:t>
                            </m:r>
                          </m:sub>
                        </m:sSub>
                        <m:r>
                          <a:rPr lang="en-US" altLang="zh-TW" i="1">
                            <a:latin typeface="Cambria Math" panose="02040503050406030204" pitchFamily="18" charset="0"/>
                            <a:ea typeface="Cambria Math" panose="02040503050406030204" pitchFamily="18" charset="0"/>
                          </a:rPr>
                          <m:t>.</m:t>
                        </m:r>
                        <m:r>
                          <m:rPr>
                            <m:sty m:val="p"/>
                          </m:rPr>
                          <a:rPr lang="en-US" altLang="zh-TW">
                            <a:latin typeface="Cambria Math" panose="02040503050406030204" pitchFamily="18" charset="0"/>
                            <a:ea typeface="Cambria Math" panose="02040503050406030204" pitchFamily="18" charset="0"/>
                          </a:rPr>
                          <m:t>Ob</m:t>
                        </m:r>
                      </m:e>
                      <m:sub>
                        <m:sSub>
                          <m:sSubPr>
                            <m:ctrlPr>
                              <a:rPr lang="zh-TW" altLang="zh-TW" i="1">
                                <a:latin typeface="Cambria Math" panose="02040503050406030204" pitchFamily="18" charset="0"/>
                              </a:rPr>
                            </m:ctrlPr>
                          </m:sSubPr>
                          <m:e>
                            <m:r>
                              <a:rPr lang="en-US" altLang="zh-TW" i="1">
                                <a:latin typeface="Cambria Math" panose="02040503050406030204" pitchFamily="18" charset="0"/>
                              </a:rPr>
                              <m:t>𝐺</m:t>
                            </m:r>
                          </m:e>
                          <m:sub>
                            <m:r>
                              <a:rPr lang="en-US" altLang="zh-TW" i="1">
                                <a:latin typeface="Cambria Math" panose="02040503050406030204" pitchFamily="18" charset="0"/>
                              </a:rPr>
                              <m:t>𝑚</m:t>
                            </m:r>
                          </m:sub>
                        </m:sSub>
                      </m:sub>
                    </m:sSub>
                  </m:oMath>
                </a14:m>
                <a:r>
                  <a:rPr lang="en-US" altLang="zh-TW" dirty="0"/>
                  <a:t>+</a:t>
                </a:r>
                <a:r>
                  <a:rPr lang="en-US" altLang="zh-TW" dirty="0">
                    <a:ea typeface="Cambria Math" panose="02040503050406030204" pitchFamily="18" charset="0"/>
                  </a:rPr>
                  <a:t> </a:t>
                </a:r>
                <a14:m>
                  <m:oMath xmlns:m="http://schemas.openxmlformats.org/officeDocument/2006/math">
                    <m:sSub>
                      <m:sSubPr>
                        <m:ctrlPr>
                          <a:rPr lang="zh-TW" altLang="zh-TW" i="1">
                            <a:latin typeface="Cambria Math" panose="02040503050406030204" pitchFamily="18" charset="0"/>
                          </a:rPr>
                        </m:ctrlPr>
                      </m:sSubPr>
                      <m:e>
                        <m:r>
                          <a:rPr lang="en-US" altLang="zh-TW" b="0" i="1" smtClean="0">
                            <a:latin typeface="Cambria Math" panose="02040503050406030204" pitchFamily="18" charset="0"/>
                          </a:rPr>
                          <m:t>𝑊</m:t>
                        </m:r>
                      </m:e>
                      <m:sub>
                        <m:r>
                          <a:rPr lang="en-US" altLang="zh-TW" b="0" i="1" smtClean="0">
                            <a:latin typeface="Cambria Math" panose="02040503050406030204" pitchFamily="18" charset="0"/>
                          </a:rPr>
                          <m:t>𝐸𝑂</m:t>
                        </m:r>
                      </m:sub>
                    </m:sSub>
                    <m:r>
                      <a:rPr lang="en-US" altLang="zh-TW" i="1">
                        <a:latin typeface="Cambria Math" panose="02040503050406030204" pitchFamily="18" charset="0"/>
                        <a:ea typeface="Cambria Math" panose="02040503050406030204" pitchFamily="18" charset="0"/>
                      </a:rPr>
                      <m:t>. </m:t>
                    </m:r>
                    <m:sSub>
                      <m:sSubPr>
                        <m:ctrlPr>
                          <a:rPr lang="zh-TW" altLang="zh-TW" i="1">
                            <a:latin typeface="Cambria Math" panose="02040503050406030204" pitchFamily="18" charset="0"/>
                          </a:rPr>
                        </m:ctrlPr>
                      </m:sSubPr>
                      <m:e>
                        <m:r>
                          <m:rPr>
                            <m:sty m:val="p"/>
                          </m:rPr>
                          <a:rPr lang="en-US" altLang="zh-TW">
                            <a:latin typeface="Cambria Math" panose="02040503050406030204" pitchFamily="18" charset="0"/>
                            <a:ea typeface="Cambria Math" panose="02040503050406030204" pitchFamily="18" charset="0"/>
                          </a:rPr>
                          <m:t>Ob</m:t>
                        </m:r>
                      </m:e>
                      <m:sub>
                        <m:sSub>
                          <m:sSubPr>
                            <m:ctrlPr>
                              <a:rPr lang="zh-TW" altLang="zh-TW" i="1">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𝑒</m:t>
                            </m:r>
                          </m:sub>
                        </m:sSub>
                      </m:sub>
                    </m:sSub>
                  </m:oMath>
                </a14:m>
                <a:endParaRPr lang="zh-TW" altLang="en-US" dirty="0"/>
              </a:p>
            </p:txBody>
          </p:sp>
        </mc:Choice>
        <mc:Fallback xmlns="">
          <p:sp>
            <p:nvSpPr>
              <p:cNvPr id="38" name="矩形 37">
                <a:extLst>
                  <a:ext uri="{FF2B5EF4-FFF2-40B4-BE49-F238E27FC236}">
                    <a16:creationId xmlns:a16="http://schemas.microsoft.com/office/drawing/2014/main" id="{1E92CF03-E4A3-432C-B1EC-A6B42BA201CF}"/>
                  </a:ext>
                </a:extLst>
              </p:cNvPr>
              <p:cNvSpPr>
                <a:spLocks noRot="1" noChangeAspect="1" noMove="1" noResize="1" noEditPoints="1" noAdjustHandles="1" noChangeArrowheads="1" noChangeShapeType="1" noTextEdit="1"/>
              </p:cNvSpPr>
              <p:nvPr/>
            </p:nvSpPr>
            <p:spPr>
              <a:xfrm>
                <a:off x="369894" y="6153809"/>
                <a:ext cx="3514424" cy="394532"/>
              </a:xfrm>
              <a:prstGeom prst="rect">
                <a:avLst/>
              </a:prstGeom>
              <a:blipFill>
                <a:blip r:embed="rId16"/>
                <a:stretch>
                  <a:fillRect t="-6154" b="-18462"/>
                </a:stretch>
              </a:blipFill>
            </p:spPr>
            <p:txBody>
              <a:bodyPr/>
              <a:lstStyle/>
              <a:p>
                <a:r>
                  <a:rPr lang="zh-TW" altLang="en-US">
                    <a:noFill/>
                  </a:rPr>
                  <a:t> </a:t>
                </a:r>
              </a:p>
            </p:txBody>
          </p:sp>
        </mc:Fallback>
      </mc:AlternateContent>
      <p:sp>
        <p:nvSpPr>
          <p:cNvPr id="39" name="Text Box 125">
            <a:extLst>
              <a:ext uri="{FF2B5EF4-FFF2-40B4-BE49-F238E27FC236}">
                <a16:creationId xmlns:a16="http://schemas.microsoft.com/office/drawing/2014/main" id="{08467CEC-57A1-44D6-B27B-8219A7C414AB}"/>
              </a:ext>
            </a:extLst>
          </p:cNvPr>
          <p:cNvSpPr txBox="1">
            <a:spLocks noChangeArrowheads="1"/>
          </p:cNvSpPr>
          <p:nvPr/>
        </p:nvSpPr>
        <p:spPr bwMode="auto">
          <a:xfrm>
            <a:off x="573192" y="3321441"/>
            <a:ext cx="3456384" cy="369332"/>
          </a:xfrm>
          <a:prstGeom prst="rect">
            <a:avLst/>
          </a:prstGeom>
          <a:noFill/>
          <a:ln w="9525">
            <a:noFill/>
            <a:miter lim="800000"/>
            <a:headEnd/>
            <a:tailEnd/>
          </a:ln>
          <a:effectLst/>
        </p:spPr>
        <p:txBody>
          <a:bodyPr wrap="square">
            <a:spAutoFit/>
          </a:bodyPr>
          <a:lstStyle/>
          <a:p>
            <a:pPr>
              <a:spcBef>
                <a:spcPct val="50000"/>
              </a:spcBef>
            </a:pPr>
            <a:r>
              <a:rPr lang="en-US" altLang="zh-TW" b="1" i="1" u="sng" dirty="0">
                <a:latin typeface="Times New Roman" pitchFamily="18" charset="0"/>
                <a:cs typeface="Times New Roman" pitchFamily="18" charset="0"/>
              </a:rPr>
              <a:t>Objective Function</a:t>
            </a:r>
          </a:p>
        </p:txBody>
      </p:sp>
    </p:spTree>
    <p:extLst>
      <p:ext uri="{BB962C8B-B14F-4D97-AF65-F5344CB8AC3E}">
        <p14:creationId xmlns:p14="http://schemas.microsoft.com/office/powerpoint/2010/main" val="4139668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821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EO OPO Cavity Simulation</a:t>
            </a:r>
            <a:endParaRPr lang="zh-TW" altLang="en-US" sz="2800" b="1" dirty="0"/>
          </a:p>
        </p:txBody>
      </p:sp>
      <p:pic>
        <p:nvPicPr>
          <p:cNvPr id="6" name="圖片 5"/>
          <p:cNvPicPr>
            <a:picLocks noChangeAspect="1"/>
          </p:cNvPicPr>
          <p:nvPr/>
        </p:nvPicPr>
        <p:blipFill rotWithShape="1">
          <a:blip r:embed="rId3" cstate="hqprint">
            <a:extLst>
              <a:ext uri="{28A0092B-C50C-407E-A947-70E740481C1C}">
                <a14:useLocalDpi xmlns:a14="http://schemas.microsoft.com/office/drawing/2010/main" val="0"/>
              </a:ext>
            </a:extLst>
          </a:blip>
          <a:srcRect l="5661"/>
          <a:stretch/>
        </p:blipFill>
        <p:spPr>
          <a:xfrm>
            <a:off x="434100" y="3811634"/>
            <a:ext cx="3935056" cy="2948494"/>
          </a:xfrm>
          <a:prstGeom prst="rect">
            <a:avLst/>
          </a:prstGeom>
        </p:spPr>
      </p:pic>
      <p:pic>
        <p:nvPicPr>
          <p:cNvPr id="3" name="圖片 2"/>
          <p:cNvPicPr>
            <a:picLocks noChangeAspect="1"/>
          </p:cNvPicPr>
          <p:nvPr/>
        </p:nvPicPr>
        <p:blipFill rotWithShape="1">
          <a:blip r:embed="rId4" cstate="hqprint">
            <a:extLst>
              <a:ext uri="{28A0092B-C50C-407E-A947-70E740481C1C}">
                <a14:useLocalDpi xmlns:a14="http://schemas.microsoft.com/office/drawing/2010/main" val="0"/>
              </a:ext>
            </a:extLst>
          </a:blip>
          <a:srcRect l="6390" r="1666"/>
          <a:stretch/>
        </p:blipFill>
        <p:spPr>
          <a:xfrm>
            <a:off x="8025207" y="3831208"/>
            <a:ext cx="3505435" cy="2946092"/>
          </a:xfrm>
          <a:prstGeom prst="rect">
            <a:avLst/>
          </a:prstGeom>
        </p:spPr>
      </p:pic>
      <p:pic>
        <p:nvPicPr>
          <p:cNvPr id="5" name="圖片 4"/>
          <p:cNvPicPr>
            <a:picLocks noChangeAspect="1"/>
          </p:cNvPicPr>
          <p:nvPr/>
        </p:nvPicPr>
        <p:blipFill rotWithShape="1">
          <a:blip r:embed="rId5" cstate="hqprint">
            <a:extLst>
              <a:ext uri="{28A0092B-C50C-407E-A947-70E740481C1C}">
                <a14:useLocalDpi xmlns:a14="http://schemas.microsoft.com/office/drawing/2010/main" val="0"/>
              </a:ext>
            </a:extLst>
          </a:blip>
          <a:srcRect l="5773"/>
          <a:stretch/>
        </p:blipFill>
        <p:spPr>
          <a:xfrm>
            <a:off x="4330559" y="3808863"/>
            <a:ext cx="3645528" cy="2989584"/>
          </a:xfrm>
          <a:prstGeom prst="rect">
            <a:avLst/>
          </a:prstGeom>
        </p:spPr>
      </p:pic>
      <p:sp>
        <p:nvSpPr>
          <p:cNvPr id="10" name="Rectangle 2"/>
          <p:cNvSpPr>
            <a:spLocks noChangeArrowheads="1"/>
          </p:cNvSpPr>
          <p:nvPr/>
        </p:nvSpPr>
        <p:spPr bwMode="auto">
          <a:xfrm>
            <a:off x="3190865" y="-146540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solidFill>
                <a:prstClr val="black"/>
              </a:solidFill>
            </a:endParaRPr>
          </a:p>
        </p:txBody>
      </p:sp>
      <p:sp>
        <p:nvSpPr>
          <p:cNvPr id="52" name="文字方塊 51"/>
          <p:cNvSpPr txBox="1"/>
          <p:nvPr/>
        </p:nvSpPr>
        <p:spPr>
          <a:xfrm>
            <a:off x="8260619" y="781519"/>
            <a:ext cx="1212372" cy="369332"/>
          </a:xfrm>
          <a:prstGeom prst="rect">
            <a:avLst/>
          </a:prstGeom>
          <a:noFill/>
        </p:spPr>
        <p:txBody>
          <a:bodyPr wrap="square" rtlCol="0">
            <a:spAutoFit/>
          </a:bodyPr>
          <a:lstStyle/>
          <a:p>
            <a:r>
              <a:rPr lang="en-US" altLang="zh-TW" dirty="0">
                <a:solidFill>
                  <a:prstClr val="black"/>
                </a:solidFill>
                <a:latin typeface="Times New Roman" panose="02020603050405020304" pitchFamily="18" charset="0"/>
                <a:cs typeface="Times New Roman" panose="02020603050405020304" pitchFamily="18" charset="0"/>
              </a:rPr>
              <a:t>Mirror  2</a:t>
            </a:r>
            <a:endParaRPr lang="zh-TW" altLang="en-US" dirty="0">
              <a:solidFill>
                <a:prstClr val="black"/>
              </a:solidFill>
              <a:latin typeface="Times New Roman" panose="02020603050405020304" pitchFamily="18" charset="0"/>
              <a:cs typeface="Times New Roman" panose="02020603050405020304" pitchFamily="18" charset="0"/>
            </a:endParaRPr>
          </a:p>
        </p:txBody>
      </p:sp>
      <p:sp>
        <p:nvSpPr>
          <p:cNvPr id="53" name="文字方塊 52"/>
          <p:cNvSpPr txBox="1"/>
          <p:nvPr/>
        </p:nvSpPr>
        <p:spPr>
          <a:xfrm>
            <a:off x="2706310" y="793235"/>
            <a:ext cx="969109" cy="369332"/>
          </a:xfrm>
          <a:prstGeom prst="rect">
            <a:avLst/>
          </a:prstGeom>
          <a:noFill/>
        </p:spPr>
        <p:txBody>
          <a:bodyPr wrap="square" rtlCol="0">
            <a:spAutoFit/>
          </a:bodyPr>
          <a:lstStyle/>
          <a:p>
            <a:r>
              <a:rPr lang="en-US" altLang="zh-TW" dirty="0">
                <a:solidFill>
                  <a:prstClr val="black"/>
                </a:solidFill>
                <a:latin typeface="Times New Roman" panose="02020603050405020304" pitchFamily="18" charset="0"/>
                <a:cs typeface="Times New Roman" panose="02020603050405020304" pitchFamily="18" charset="0"/>
              </a:rPr>
              <a:t>Mirror 1</a:t>
            </a:r>
            <a:endParaRPr lang="zh-TW" altLang="en-US" dirty="0">
              <a:solidFill>
                <a:prstClr val="black"/>
              </a:solidFill>
              <a:latin typeface="Times New Roman" panose="02020603050405020304" pitchFamily="18" charset="0"/>
              <a:cs typeface="Times New Roman" panose="02020603050405020304" pitchFamily="18" charset="0"/>
            </a:endParaRPr>
          </a:p>
        </p:txBody>
      </p:sp>
      <p:sp>
        <p:nvSpPr>
          <p:cNvPr id="91" name="文字方塊 90"/>
          <p:cNvSpPr txBox="1"/>
          <p:nvPr/>
        </p:nvSpPr>
        <p:spPr>
          <a:xfrm>
            <a:off x="3899745" y="928564"/>
            <a:ext cx="4086539" cy="369332"/>
          </a:xfrm>
          <a:prstGeom prst="rect">
            <a:avLst/>
          </a:prstGeom>
          <a:noFill/>
        </p:spPr>
        <p:txBody>
          <a:bodyPr wrap="square" rtlCol="0">
            <a:spAutoFit/>
          </a:bodyPr>
          <a:lstStyle/>
          <a:p>
            <a:r>
              <a:rPr lang="en-US" altLang="zh-TW" b="1" dirty="0">
                <a:solidFill>
                  <a:prstClr val="black"/>
                </a:solidFill>
                <a:latin typeface="Times New Roman" panose="02020603050405020304" pitchFamily="18" charset="0"/>
                <a:cs typeface="Times New Roman" panose="02020603050405020304" pitchFamily="18" charset="0"/>
              </a:rPr>
              <a:t>Multi-OPO</a:t>
            </a:r>
            <a:r>
              <a:rPr lang="en-US" altLang="zh-TW" dirty="0">
                <a:solidFill>
                  <a:prstClr val="black"/>
                </a:solidFill>
                <a:latin typeface="Times New Roman" panose="02020603050405020304" pitchFamily="18" charset="0"/>
                <a:cs typeface="Times New Roman" panose="02020603050405020304" pitchFamily="18" charset="0"/>
              </a:rPr>
              <a:t> and </a:t>
            </a:r>
            <a:r>
              <a:rPr lang="en-US" altLang="zh-TW" b="1" dirty="0">
                <a:solidFill>
                  <a:prstClr val="black"/>
                </a:solidFill>
                <a:latin typeface="Times New Roman" panose="02020603050405020304" pitchFamily="18" charset="0"/>
                <a:cs typeface="Times New Roman" panose="02020603050405020304" pitchFamily="18" charset="0"/>
              </a:rPr>
              <a:t>Multi-EO PMC </a:t>
            </a:r>
            <a:r>
              <a:rPr lang="en-US" altLang="zh-TW" dirty="0">
                <a:solidFill>
                  <a:prstClr val="black"/>
                </a:solidFill>
                <a:latin typeface="Times New Roman" panose="02020603050405020304" pitchFamily="18" charset="0"/>
                <a:cs typeface="Times New Roman" panose="02020603050405020304" pitchFamily="18" charset="0"/>
              </a:rPr>
              <a:t>APPLN</a:t>
            </a:r>
            <a:endParaRPr lang="zh-TW" altLang="en-US" dirty="0">
              <a:solidFill>
                <a:prstClr val="black"/>
              </a:solidFill>
              <a:latin typeface="Times New Roman" panose="02020603050405020304" pitchFamily="18" charset="0"/>
              <a:cs typeface="Times New Roman" panose="02020603050405020304" pitchFamily="18" charset="0"/>
            </a:endParaRPr>
          </a:p>
        </p:txBody>
      </p:sp>
      <p:sp>
        <p:nvSpPr>
          <p:cNvPr id="50" name="向右箭號 49"/>
          <p:cNvSpPr/>
          <p:nvPr/>
        </p:nvSpPr>
        <p:spPr>
          <a:xfrm>
            <a:off x="270270" y="1234479"/>
            <a:ext cx="2050816" cy="353504"/>
          </a:xfrm>
          <a:prstGeom prst="rightArrow">
            <a:avLst/>
          </a:prstGeom>
          <a:solidFill>
            <a:srgbClr val="FF6864"/>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prstClr val="white"/>
              </a:solidFill>
            </a:endParaRPr>
          </a:p>
        </p:txBody>
      </p:sp>
      <p:sp>
        <p:nvSpPr>
          <p:cNvPr id="51" name="文字方塊 50"/>
          <p:cNvSpPr txBox="1"/>
          <p:nvPr/>
        </p:nvSpPr>
        <p:spPr>
          <a:xfrm>
            <a:off x="388372" y="1226565"/>
            <a:ext cx="1753769" cy="369332"/>
          </a:xfrm>
          <a:prstGeom prst="rect">
            <a:avLst/>
          </a:prstGeom>
          <a:noFill/>
        </p:spPr>
        <p:txBody>
          <a:bodyPr wrap="square" rtlCol="0">
            <a:spAutoFit/>
          </a:bodyPr>
          <a:lstStyle/>
          <a:p>
            <a:r>
              <a:rPr lang="en-US" altLang="zh-TW" dirty="0">
                <a:solidFill>
                  <a:prstClr val="black"/>
                </a:solidFill>
                <a:latin typeface="Times New Roman" panose="02020603050405020304" pitchFamily="18" charset="0"/>
                <a:cs typeface="Times New Roman" panose="02020603050405020304" pitchFamily="18" charset="0"/>
              </a:rPr>
              <a:t>1064 nm pump</a:t>
            </a:r>
            <a:endParaRPr lang="zh-TW" altLang="en-US" dirty="0">
              <a:solidFill>
                <a:prstClr val="black"/>
              </a:solidFill>
              <a:latin typeface="Times New Roman" panose="02020603050405020304" pitchFamily="18" charset="0"/>
              <a:cs typeface="Times New Roman" panose="02020603050405020304" pitchFamily="18" charset="0"/>
            </a:endParaRPr>
          </a:p>
        </p:txBody>
      </p:sp>
      <p:sp>
        <p:nvSpPr>
          <p:cNvPr id="54" name="向右箭號 53"/>
          <p:cNvSpPr/>
          <p:nvPr/>
        </p:nvSpPr>
        <p:spPr>
          <a:xfrm>
            <a:off x="9464693" y="1234479"/>
            <a:ext cx="2496163" cy="353504"/>
          </a:xfrm>
          <a:prstGeom prst="rightArrow">
            <a:avLst/>
          </a:prstGeom>
          <a:solidFill>
            <a:srgbClr val="FFC000"/>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prstClr val="white"/>
              </a:solidFill>
            </a:endParaRPr>
          </a:p>
        </p:txBody>
      </p:sp>
      <p:sp>
        <p:nvSpPr>
          <p:cNvPr id="55" name="文字方塊 54"/>
          <p:cNvSpPr txBox="1"/>
          <p:nvPr/>
        </p:nvSpPr>
        <p:spPr>
          <a:xfrm>
            <a:off x="9418978" y="1218170"/>
            <a:ext cx="1993679" cy="369332"/>
          </a:xfrm>
          <a:prstGeom prst="rect">
            <a:avLst/>
          </a:prstGeom>
          <a:noFill/>
        </p:spPr>
        <p:txBody>
          <a:bodyPr wrap="square" rtlCol="0">
            <a:spAutoFit/>
          </a:bodyPr>
          <a:lstStyle/>
          <a:p>
            <a:r>
              <a:rPr lang="en-US" altLang="zh-TW" dirty="0">
                <a:solidFill>
                  <a:prstClr val="black"/>
                </a:solidFill>
                <a:latin typeface="Times New Roman" panose="02020603050405020304" pitchFamily="18" charset="0"/>
                <a:cs typeface="Times New Roman" panose="02020603050405020304" pitchFamily="18" charset="0"/>
              </a:rPr>
              <a:t>OPO  signal</a:t>
            </a:r>
            <a:endParaRPr lang="zh-TW" altLang="en-US" dirty="0">
              <a:solidFill>
                <a:prstClr val="black"/>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6" name="文字方塊 55"/>
              <p:cNvSpPr txBox="1"/>
              <p:nvPr/>
            </p:nvSpPr>
            <p:spPr>
              <a:xfrm>
                <a:off x="3401093" y="2410350"/>
                <a:ext cx="916085" cy="11946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solidFill>
                                <a:prstClr val="black"/>
                              </a:solidFill>
                              <a:latin typeface="Cambria Math" panose="02040503050406030204" pitchFamily="18" charset="0"/>
                            </a:rPr>
                          </m:ctrlPr>
                        </m:dPr>
                        <m:e>
                          <m:m>
                            <m:mPr>
                              <m:mcs>
                                <m:mc>
                                  <m:mcPr>
                                    <m:count m:val="1"/>
                                    <m:mcJc m:val="center"/>
                                  </m:mcPr>
                                </m:mc>
                              </m:mcs>
                              <m:ctrlPr>
                                <a:rPr lang="en-US" altLang="zh-TW" i="1" smtClean="0">
                                  <a:solidFill>
                                    <a:prstClr val="black"/>
                                  </a:solidFill>
                                  <a:latin typeface="Cambria Math" panose="02040503050406030204" pitchFamily="18" charset="0"/>
                                </a:rPr>
                              </m:ctrlPr>
                            </m:mPr>
                            <m:m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𝑠</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𝑜</m:t>
                                    </m:r>
                                  </m:sub>
                                </m:sSub>
                                <m:r>
                                  <m:rPr>
                                    <m:brk m:alnAt="7"/>
                                  </m:rP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0)</m:t>
                                </m:r>
                              </m:e>
                            </m:mr>
                            <m:m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𝑠</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𝑒</m:t>
                                    </m:r>
                                  </m:sub>
                                </m:sSub>
                                <m:r>
                                  <a:rPr lang="en-US" altLang="zh-TW" i="1" smtClean="0">
                                    <a:solidFill>
                                      <a:prstClr val="black"/>
                                    </a:solidFill>
                                    <a:latin typeface="Cambria Math" panose="02040503050406030204" pitchFamily="18" charset="0"/>
                                  </a:rPr>
                                  <m:t>(0)</m:t>
                                </m:r>
                              </m:e>
                            </m:mr>
                            <m:m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𝑖</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𝑒</m:t>
                                    </m:r>
                                  </m:sub>
                                </m:sSub>
                                <m:r>
                                  <a:rPr lang="en-US" altLang="zh-TW" i="1" smtClean="0">
                                    <a:solidFill>
                                      <a:prstClr val="black"/>
                                    </a:solidFill>
                                    <a:latin typeface="Cambria Math" panose="02040503050406030204" pitchFamily="18" charset="0"/>
                                  </a:rPr>
                                  <m:t>(0)</m:t>
                                </m:r>
                              </m:e>
                            </m:mr>
                            <m:m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𝑝</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𝑒</m:t>
                                    </m:r>
                                  </m:sub>
                                </m:sSub>
                                <m:r>
                                  <a:rPr lang="en-US" altLang="zh-TW" i="1" smtClean="0">
                                    <a:solidFill>
                                      <a:prstClr val="black"/>
                                    </a:solidFill>
                                    <a:latin typeface="Cambria Math" panose="02040503050406030204" pitchFamily="18" charset="0"/>
                                  </a:rPr>
                                  <m:t>(0)</m:t>
                                </m:r>
                              </m:e>
                            </m:mr>
                          </m:m>
                        </m:e>
                      </m:d>
                    </m:oMath>
                  </m:oMathPara>
                </a14:m>
                <a:endParaRPr lang="zh-TW" altLang="en-US" dirty="0">
                  <a:solidFill>
                    <a:prstClr val="black"/>
                  </a:solidFill>
                </a:endParaRPr>
              </a:p>
            </p:txBody>
          </p:sp>
        </mc:Choice>
        <mc:Fallback xmlns="">
          <p:sp>
            <p:nvSpPr>
              <p:cNvPr id="56" name="文字方塊 55"/>
              <p:cNvSpPr txBox="1">
                <a:spLocks noRot="1" noChangeAspect="1" noMove="1" noResize="1" noEditPoints="1" noAdjustHandles="1" noChangeArrowheads="1" noChangeShapeType="1" noTextEdit="1"/>
              </p:cNvSpPr>
              <p:nvPr/>
            </p:nvSpPr>
            <p:spPr>
              <a:xfrm>
                <a:off x="3401093" y="2410350"/>
                <a:ext cx="916085" cy="1194622"/>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7" name="文字方塊 56"/>
              <p:cNvSpPr txBox="1"/>
              <p:nvPr/>
            </p:nvSpPr>
            <p:spPr>
              <a:xfrm>
                <a:off x="4813866" y="2379059"/>
                <a:ext cx="1753685" cy="12259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solidFill>
                                <a:prstClr val="black"/>
                              </a:solidFill>
                              <a:latin typeface="Cambria Math" panose="02040503050406030204" pitchFamily="18" charset="0"/>
                            </a:rPr>
                          </m:ctrlPr>
                        </m:dPr>
                        <m:e>
                          <m:m>
                            <m:mPr>
                              <m:mcs>
                                <m:mc>
                                  <m:mcPr>
                                    <m:count m:val="1"/>
                                    <m:mcJc m:val="center"/>
                                  </m:mcPr>
                                </m:mc>
                              </m:mcs>
                              <m:ctrlPr>
                                <a:rPr lang="en-US" altLang="zh-TW" i="1" smtClean="0">
                                  <a:solidFill>
                                    <a:prstClr val="black"/>
                                  </a:solidFill>
                                  <a:latin typeface="Cambria Math" panose="02040503050406030204" pitchFamily="18" charset="0"/>
                                </a:rPr>
                              </m:ctrlPr>
                            </m:mPr>
                            <m:m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𝑠</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𝑜</m:t>
                                    </m:r>
                                  </m:sub>
                                </m:sSub>
                                <m:r>
                                  <m:rPr>
                                    <m:brk m:alnAt="7"/>
                                  </m:rP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𝑥</m:t>
                                </m:r>
                                <m:r>
                                  <a:rPr lang="en-US" altLang="zh-TW" i="1" smtClean="0">
                                    <a:solidFill>
                                      <a:prstClr val="black"/>
                                    </a:solidFill>
                                    <a:latin typeface="Cambria Math" panose="02040503050406030204" pitchFamily="18" charset="0"/>
                                  </a:rPr>
                                  <m:t>=</m:t>
                                </m:r>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𝑥</m:t>
                                    </m:r>
                                  </m:e>
                                  <m:sub>
                                    <m:r>
                                      <a:rPr lang="en-US" altLang="zh-TW" i="1" smtClean="0">
                                        <a:solidFill>
                                          <a:prstClr val="black"/>
                                        </a:solidFill>
                                        <a:latin typeface="Cambria Math" panose="02040503050406030204" pitchFamily="18" charset="0"/>
                                      </a:rPr>
                                      <m:t>𝑗</m:t>
                                    </m:r>
                                  </m:sub>
                                </m:sSub>
                                <m:r>
                                  <m:rPr>
                                    <m:brk m:alnAt="7"/>
                                  </m:rPr>
                                  <a:rPr lang="en-US" altLang="zh-TW" i="1" smtClean="0">
                                    <a:solidFill>
                                      <a:prstClr val="black"/>
                                    </a:solidFill>
                                    <a:latin typeface="Cambria Math" panose="02040503050406030204" pitchFamily="18" charset="0"/>
                                  </a:rPr>
                                  <m:t>,</m:t>
                                </m:r>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𝑦</m:t>
                                    </m:r>
                                  </m:sub>
                                </m:sSub>
                                <m:r>
                                  <m:rPr>
                                    <m:brk m:alnAt="7"/>
                                  </m:rPr>
                                  <a:rPr lang="en-US" altLang="zh-TW" i="1" smtClean="0">
                                    <a:solidFill>
                                      <a:prstClr val="black"/>
                                    </a:solidFill>
                                    <a:latin typeface="Cambria Math" panose="02040503050406030204" pitchFamily="18" charset="0"/>
                                  </a:rPr>
                                  <m:t>)</m:t>
                                </m:r>
                              </m:e>
                            </m:mr>
                            <m:m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𝑠</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𝑒</m:t>
                                    </m:r>
                                  </m:sub>
                                </m:sSub>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𝑥</m:t>
                                </m:r>
                                <m:r>
                                  <a:rPr lang="en-US" altLang="zh-TW" i="1" smtClean="0">
                                    <a:solidFill>
                                      <a:prstClr val="black"/>
                                    </a:solidFill>
                                    <a:latin typeface="Cambria Math" panose="02040503050406030204" pitchFamily="18" charset="0"/>
                                  </a:rPr>
                                  <m:t>=</m:t>
                                </m:r>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𝑥</m:t>
                                    </m:r>
                                  </m:e>
                                  <m:sub>
                                    <m:r>
                                      <a:rPr lang="en-US" altLang="zh-TW" i="1" smtClean="0">
                                        <a:solidFill>
                                          <a:prstClr val="black"/>
                                        </a:solidFill>
                                        <a:latin typeface="Cambria Math" panose="02040503050406030204" pitchFamily="18" charset="0"/>
                                      </a:rPr>
                                      <m:t>𝑗</m:t>
                                    </m:r>
                                  </m:sub>
                                </m:sSub>
                                <m:r>
                                  <a:rPr lang="en-US" altLang="zh-TW" i="1" smtClean="0">
                                    <a:solidFill>
                                      <a:prstClr val="black"/>
                                    </a:solidFill>
                                    <a:latin typeface="Cambria Math" panose="02040503050406030204" pitchFamily="18" charset="0"/>
                                  </a:rPr>
                                  <m:t>,</m:t>
                                </m:r>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𝑦</m:t>
                                    </m:r>
                                  </m:sub>
                                </m:sSub>
                                <m:r>
                                  <a:rPr lang="en-US" altLang="zh-TW" i="1" smtClean="0">
                                    <a:solidFill>
                                      <a:prstClr val="black"/>
                                    </a:solidFill>
                                    <a:latin typeface="Cambria Math" panose="02040503050406030204" pitchFamily="18" charset="0"/>
                                  </a:rPr>
                                  <m:t>)</m:t>
                                </m:r>
                              </m:e>
                            </m:mr>
                            <m:m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𝑖</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𝑒</m:t>
                                    </m:r>
                                  </m:sub>
                                </m:sSub>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𝑥</m:t>
                                </m:r>
                                <m:r>
                                  <a:rPr lang="en-US" altLang="zh-TW" i="1" smtClean="0">
                                    <a:solidFill>
                                      <a:prstClr val="black"/>
                                    </a:solidFill>
                                    <a:latin typeface="Cambria Math" panose="02040503050406030204" pitchFamily="18" charset="0"/>
                                  </a:rPr>
                                  <m:t>=</m:t>
                                </m:r>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𝑥</m:t>
                                    </m:r>
                                  </m:e>
                                  <m:sub>
                                    <m:r>
                                      <a:rPr lang="en-US" altLang="zh-TW" i="1" smtClean="0">
                                        <a:solidFill>
                                          <a:prstClr val="black"/>
                                        </a:solidFill>
                                        <a:latin typeface="Cambria Math" panose="02040503050406030204" pitchFamily="18" charset="0"/>
                                      </a:rPr>
                                      <m:t>𝑗</m:t>
                                    </m:r>
                                  </m:sub>
                                </m:sSub>
                                <m:r>
                                  <a:rPr lang="en-US" altLang="zh-TW" i="1" smtClean="0">
                                    <a:solidFill>
                                      <a:prstClr val="black"/>
                                    </a:solidFill>
                                    <a:latin typeface="Cambria Math" panose="02040503050406030204" pitchFamily="18" charset="0"/>
                                  </a:rPr>
                                  <m:t>,</m:t>
                                </m:r>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𝑦</m:t>
                                    </m:r>
                                  </m:sub>
                                </m:sSub>
                                <m:r>
                                  <a:rPr lang="en-US" altLang="zh-TW" i="1" smtClean="0">
                                    <a:solidFill>
                                      <a:prstClr val="black"/>
                                    </a:solidFill>
                                    <a:latin typeface="Cambria Math" panose="02040503050406030204" pitchFamily="18" charset="0"/>
                                  </a:rPr>
                                  <m:t>)</m:t>
                                </m:r>
                              </m:e>
                            </m:mr>
                            <m:m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𝑝</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𝑒</m:t>
                                    </m:r>
                                  </m:sub>
                                </m:sSub>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𝑥</m:t>
                                </m:r>
                                <m:r>
                                  <a:rPr lang="en-US" altLang="zh-TW" i="1" smtClean="0">
                                    <a:solidFill>
                                      <a:prstClr val="black"/>
                                    </a:solidFill>
                                    <a:latin typeface="Cambria Math" panose="02040503050406030204" pitchFamily="18" charset="0"/>
                                  </a:rPr>
                                  <m:t>=</m:t>
                                </m:r>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𝑥</m:t>
                                    </m:r>
                                  </m:e>
                                  <m:sub>
                                    <m:r>
                                      <a:rPr lang="en-US" altLang="zh-TW" i="1" smtClean="0">
                                        <a:solidFill>
                                          <a:prstClr val="black"/>
                                        </a:solidFill>
                                        <a:latin typeface="Cambria Math" panose="02040503050406030204" pitchFamily="18" charset="0"/>
                                      </a:rPr>
                                      <m:t>𝑗</m:t>
                                    </m:r>
                                  </m:sub>
                                </m:sSub>
                                <m:r>
                                  <a:rPr lang="en-US" altLang="zh-TW" i="1" smtClean="0">
                                    <a:solidFill>
                                      <a:prstClr val="black"/>
                                    </a:solidFill>
                                    <a:latin typeface="Cambria Math" panose="02040503050406030204" pitchFamily="18" charset="0"/>
                                  </a:rPr>
                                  <m:t>,</m:t>
                                </m:r>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𝑦</m:t>
                                    </m:r>
                                  </m:sub>
                                </m:sSub>
                                <m:r>
                                  <a:rPr lang="en-US" altLang="zh-TW" i="1" smtClean="0">
                                    <a:solidFill>
                                      <a:prstClr val="black"/>
                                    </a:solidFill>
                                    <a:latin typeface="Cambria Math" panose="02040503050406030204" pitchFamily="18" charset="0"/>
                                  </a:rPr>
                                  <m:t>)</m:t>
                                </m:r>
                              </m:e>
                            </m:mr>
                          </m:m>
                        </m:e>
                      </m:d>
                    </m:oMath>
                  </m:oMathPara>
                </a14:m>
                <a:endParaRPr lang="zh-TW" altLang="en-US" dirty="0">
                  <a:solidFill>
                    <a:prstClr val="black"/>
                  </a:solidFill>
                </a:endParaRPr>
              </a:p>
            </p:txBody>
          </p:sp>
        </mc:Choice>
        <mc:Fallback xmlns="">
          <p:sp>
            <p:nvSpPr>
              <p:cNvPr id="57" name="文字方塊 56"/>
              <p:cNvSpPr txBox="1">
                <a:spLocks noRot="1" noChangeAspect="1" noMove="1" noResize="1" noEditPoints="1" noAdjustHandles="1" noChangeArrowheads="1" noChangeShapeType="1" noTextEdit="1"/>
              </p:cNvSpPr>
              <p:nvPr/>
            </p:nvSpPr>
            <p:spPr>
              <a:xfrm>
                <a:off x="4813866" y="2379059"/>
                <a:ext cx="1753685" cy="1225913"/>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文字方塊 57"/>
              <p:cNvSpPr txBox="1"/>
              <p:nvPr/>
            </p:nvSpPr>
            <p:spPr>
              <a:xfrm>
                <a:off x="7116408" y="2397776"/>
                <a:ext cx="1347805" cy="11946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solidFill>
                                <a:prstClr val="black"/>
                              </a:solidFill>
                              <a:latin typeface="Cambria Math" panose="02040503050406030204" pitchFamily="18" charset="0"/>
                            </a:rPr>
                          </m:ctrlPr>
                        </m:dPr>
                        <m:e>
                          <m:m>
                            <m:mPr>
                              <m:mcs>
                                <m:mc>
                                  <m:mcPr>
                                    <m:count m:val="1"/>
                                    <m:mcJc m:val="center"/>
                                  </m:mcPr>
                                </m:mc>
                              </m:mcs>
                              <m:ctrlPr>
                                <a:rPr lang="en-US" altLang="zh-TW" i="1" smtClean="0">
                                  <a:solidFill>
                                    <a:prstClr val="black"/>
                                  </a:solidFill>
                                  <a:latin typeface="Cambria Math" panose="02040503050406030204" pitchFamily="18" charset="0"/>
                                </a:rPr>
                              </m:ctrlPr>
                            </m:mPr>
                            <m:m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𝑠</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𝑜</m:t>
                                    </m:r>
                                  </m:sub>
                                </m:sSub>
                                <m:r>
                                  <m:rPr>
                                    <m:brk m:alnAt="7"/>
                                  </m:rP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𝑥</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𝐿</m:t>
                                </m:r>
                                <m:r>
                                  <a:rPr lang="en-US" altLang="zh-TW" i="1" smtClean="0">
                                    <a:solidFill>
                                      <a:prstClr val="black"/>
                                    </a:solidFill>
                                    <a:latin typeface="Cambria Math" panose="02040503050406030204" pitchFamily="18" charset="0"/>
                                  </a:rPr>
                                  <m:t>)</m:t>
                                </m:r>
                              </m:e>
                            </m:mr>
                            <m:m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𝑠</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𝑒</m:t>
                                    </m:r>
                                  </m:sub>
                                </m:sSub>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𝑥</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𝐿</m:t>
                                </m:r>
                                <m:r>
                                  <a:rPr lang="en-US" altLang="zh-TW" i="1" smtClean="0">
                                    <a:solidFill>
                                      <a:prstClr val="black"/>
                                    </a:solidFill>
                                    <a:latin typeface="Cambria Math" panose="02040503050406030204" pitchFamily="18" charset="0"/>
                                  </a:rPr>
                                  <m:t>)</m:t>
                                </m:r>
                              </m:e>
                            </m:mr>
                            <m:m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𝑖</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𝑒</m:t>
                                    </m:r>
                                  </m:sub>
                                </m:sSub>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𝑥</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𝐿</m:t>
                                </m:r>
                                <m:r>
                                  <a:rPr lang="en-US" altLang="zh-TW" i="1" smtClean="0">
                                    <a:solidFill>
                                      <a:prstClr val="black"/>
                                    </a:solidFill>
                                    <a:latin typeface="Cambria Math" panose="02040503050406030204" pitchFamily="18" charset="0"/>
                                  </a:rPr>
                                  <m:t>)</m:t>
                                </m:r>
                              </m:e>
                            </m:mr>
                            <m:m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𝑝</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𝑒</m:t>
                                    </m:r>
                                  </m:sub>
                                </m:sSub>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𝑥</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𝐿</m:t>
                                </m:r>
                                <m:r>
                                  <a:rPr lang="en-US" altLang="zh-TW" i="1" smtClean="0">
                                    <a:solidFill>
                                      <a:prstClr val="black"/>
                                    </a:solidFill>
                                    <a:latin typeface="Cambria Math" panose="02040503050406030204" pitchFamily="18" charset="0"/>
                                  </a:rPr>
                                  <m:t>)</m:t>
                                </m:r>
                              </m:e>
                            </m:mr>
                          </m:m>
                        </m:e>
                      </m:d>
                    </m:oMath>
                  </m:oMathPara>
                </a14:m>
                <a:endParaRPr lang="zh-TW" altLang="en-US" dirty="0">
                  <a:solidFill>
                    <a:prstClr val="black"/>
                  </a:solidFill>
                </a:endParaRPr>
              </a:p>
            </p:txBody>
          </p:sp>
        </mc:Choice>
        <mc:Fallback xmlns="">
          <p:sp>
            <p:nvSpPr>
              <p:cNvPr id="58" name="文字方塊 57"/>
              <p:cNvSpPr txBox="1">
                <a:spLocks noRot="1" noChangeAspect="1" noMove="1" noResize="1" noEditPoints="1" noAdjustHandles="1" noChangeArrowheads="1" noChangeShapeType="1" noTextEdit="1"/>
              </p:cNvSpPr>
              <p:nvPr/>
            </p:nvSpPr>
            <p:spPr>
              <a:xfrm>
                <a:off x="7116408" y="2397776"/>
                <a:ext cx="1347805" cy="1194622"/>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0" name="文字方塊 59"/>
              <p:cNvSpPr txBox="1"/>
              <p:nvPr/>
            </p:nvSpPr>
            <p:spPr>
              <a:xfrm>
                <a:off x="8981737" y="2306144"/>
                <a:ext cx="1307794" cy="13642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solidFill>
                                <a:prstClr val="black"/>
                              </a:solidFill>
                              <a:latin typeface="Cambria Math" panose="02040503050406030204" pitchFamily="18" charset="0"/>
                            </a:rPr>
                          </m:ctrlPr>
                        </m:dPr>
                        <m:e>
                          <m:r>
                            <a:rPr lang="en-US" altLang="zh-TW" b="0" i="1" smtClean="0">
                              <a:solidFill>
                                <a:prstClr val="black"/>
                              </a:solidFill>
                              <a:latin typeface="Cambria Math" panose="02040503050406030204" pitchFamily="18" charset="0"/>
                            </a:rPr>
                            <m:t> </m:t>
                          </m:r>
                          <m:m>
                            <m:mPr>
                              <m:mcs>
                                <m:mc>
                                  <m:mcPr>
                                    <m:count m:val="1"/>
                                    <m:mcJc m:val="center"/>
                                  </m:mcPr>
                                </m:mc>
                              </m:mcs>
                              <m:ctrlPr>
                                <a:rPr lang="en-US" altLang="zh-TW" i="1" smtClean="0">
                                  <a:solidFill>
                                    <a:prstClr val="black"/>
                                  </a:solidFill>
                                  <a:latin typeface="Cambria Math" panose="02040503050406030204" pitchFamily="18" charset="0"/>
                                </a:rPr>
                              </m:ctrlPr>
                            </m:mPr>
                            <m:mr>
                              <m:e>
                                <m:sSub>
                                  <m:sSubPr>
                                    <m:ctrlPr>
                                      <a:rPr lang="en-US" altLang="zh-TW" i="1">
                                        <a:solidFill>
                                          <a:prstClr val="black"/>
                                        </a:solidFill>
                                        <a:latin typeface="Cambria Math" panose="02040503050406030204" pitchFamily="18" charset="0"/>
                                      </a:rPr>
                                    </m:ctrlPr>
                                  </m:sSubPr>
                                  <m:e>
                                    <m:r>
                                      <a:rPr lang="en-US" altLang="zh-TW" b="0" i="1" smtClean="0">
                                        <a:solidFill>
                                          <a:prstClr val="black"/>
                                        </a:solidFill>
                                        <a:latin typeface="Cambria Math" panose="02040503050406030204" pitchFamily="18" charset="0"/>
                                      </a:rPr>
                                      <m:t>𝑅</m:t>
                                    </m:r>
                                    <m:r>
                                      <a:rPr lang="en-US" altLang="zh-TW" i="1">
                                        <a:solidFill>
                                          <a:prstClr val="black"/>
                                        </a:solidFill>
                                        <a:latin typeface="Cambria Math" panose="02040503050406030204" pitchFamily="18" charset="0"/>
                                      </a:rPr>
                                      <m:t>2</m:t>
                                    </m:r>
                                  </m:e>
                                  <m:sub>
                                    <m:r>
                                      <a:rPr lang="en-US" altLang="zh-TW" i="1" smtClean="0">
                                        <a:solidFill>
                                          <a:prstClr val="black"/>
                                        </a:solidFill>
                                        <a:latin typeface="Cambria Math" panose="02040503050406030204" pitchFamily="18" charset="0"/>
                                      </a:rPr>
                                      <m:t>𝑠</m:t>
                                    </m:r>
                                    <m:r>
                                      <a:rPr lang="en-US" altLang="zh-TW" i="1">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𝑜</m:t>
                                    </m:r>
                                  </m:sub>
                                </m:sSub>
                                <m:sSup>
                                  <m:sSupPr>
                                    <m:ctrlPr>
                                      <a:rPr lang="en-US" altLang="zh-TW" i="1">
                                        <a:solidFill>
                                          <a:prstClr val="black"/>
                                        </a:solidFill>
                                        <a:latin typeface="Cambria Math" panose="02040503050406030204" pitchFamily="18" charset="0"/>
                                      </a:rPr>
                                    </m:ctrlPr>
                                  </m:sSupPr>
                                  <m:e>
                                    <m:r>
                                      <a:rPr lang="en-US" altLang="zh-TW" i="1">
                                        <a:solidFill>
                                          <a:prstClr val="black"/>
                                        </a:solidFill>
                                        <a:latin typeface="Cambria Math" panose="02040503050406030204" pitchFamily="18" charset="0"/>
                                      </a:rPr>
                                      <m:t>𝑒</m:t>
                                    </m:r>
                                  </m:e>
                                  <m:sup>
                                    <m:r>
                                      <a:rPr lang="en-US" altLang="zh-TW" i="1">
                                        <a:solidFill>
                                          <a:prstClr val="black"/>
                                        </a:solidFill>
                                        <a:latin typeface="Cambria Math" panose="02040503050406030204" pitchFamily="18" charset="0"/>
                                      </a:rPr>
                                      <m:t>𝑖</m:t>
                                    </m:r>
                                    <m:sSub>
                                      <m:sSubPr>
                                        <m:ctrlPr>
                                          <a:rPr lang="en-US" altLang="zh-TW" i="1">
                                            <a:solidFill>
                                              <a:prstClr val="black"/>
                                            </a:solidFill>
                                            <a:latin typeface="Cambria Math" panose="02040503050406030204" pitchFamily="18" charset="0"/>
                                          </a:rPr>
                                        </m:ctrlPr>
                                      </m:sSubPr>
                                      <m:e>
                                        <m:r>
                                          <a:rPr lang="en-US" altLang="zh-TW" i="1">
                                            <a:solidFill>
                                              <a:prstClr val="black"/>
                                            </a:solidFill>
                                            <a:latin typeface="Cambria Math" panose="02040503050406030204" pitchFamily="18" charset="0"/>
                                            <a:ea typeface="Cambria Math" panose="02040503050406030204" pitchFamily="18" charset="0"/>
                                          </a:rPr>
                                          <m:t>∅</m:t>
                                        </m:r>
                                      </m:e>
                                      <m:sub>
                                        <m:r>
                                          <a:rPr lang="en-US" altLang="zh-TW" i="1" smtClean="0">
                                            <a:solidFill>
                                              <a:prstClr val="black"/>
                                            </a:solidFill>
                                            <a:latin typeface="Cambria Math" panose="02040503050406030204" pitchFamily="18" charset="0"/>
                                            <a:ea typeface="Cambria Math" panose="02040503050406030204" pitchFamily="18" charset="0"/>
                                          </a:rPr>
                                          <m:t>𝑠</m:t>
                                        </m:r>
                                        <m:r>
                                          <a:rPr lang="en-US" altLang="zh-TW" i="1">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𝑜</m:t>
                                        </m:r>
                                      </m:sub>
                                    </m:sSub>
                                  </m:sup>
                                </m:sSup>
                              </m:e>
                            </m:mr>
                            <m:mr>
                              <m:e>
                                <m:sSub>
                                  <m:sSubPr>
                                    <m:ctrlPr>
                                      <a:rPr lang="en-US" altLang="zh-TW" i="1">
                                        <a:solidFill>
                                          <a:prstClr val="black"/>
                                        </a:solidFill>
                                        <a:latin typeface="Cambria Math" panose="02040503050406030204" pitchFamily="18" charset="0"/>
                                      </a:rPr>
                                    </m:ctrlPr>
                                  </m:sSubPr>
                                  <m:e>
                                    <m:r>
                                      <a:rPr lang="en-US" altLang="zh-TW" b="0" i="1" smtClean="0">
                                        <a:solidFill>
                                          <a:prstClr val="black"/>
                                        </a:solidFill>
                                        <a:latin typeface="Cambria Math" panose="02040503050406030204" pitchFamily="18" charset="0"/>
                                      </a:rPr>
                                      <m:t>𝑅</m:t>
                                    </m:r>
                                    <m:r>
                                      <a:rPr lang="en-US" altLang="zh-TW" i="1">
                                        <a:solidFill>
                                          <a:prstClr val="black"/>
                                        </a:solidFill>
                                        <a:latin typeface="Cambria Math" panose="02040503050406030204" pitchFamily="18" charset="0"/>
                                      </a:rPr>
                                      <m:t>2</m:t>
                                    </m:r>
                                  </m:e>
                                  <m:sub>
                                    <m:r>
                                      <a:rPr lang="en-US" altLang="zh-TW" i="1" smtClean="0">
                                        <a:solidFill>
                                          <a:prstClr val="black"/>
                                        </a:solidFill>
                                        <a:latin typeface="Cambria Math" panose="02040503050406030204" pitchFamily="18" charset="0"/>
                                      </a:rPr>
                                      <m:t>𝑠</m:t>
                                    </m:r>
                                    <m:r>
                                      <a:rPr lang="en-US" altLang="zh-TW" i="1">
                                        <a:solidFill>
                                          <a:prstClr val="black"/>
                                        </a:solidFill>
                                        <a:latin typeface="Cambria Math" panose="02040503050406030204" pitchFamily="18" charset="0"/>
                                      </a:rPr>
                                      <m:t>,</m:t>
                                    </m:r>
                                    <m:r>
                                      <a:rPr lang="en-US" altLang="zh-TW" i="1">
                                        <a:solidFill>
                                          <a:prstClr val="black"/>
                                        </a:solidFill>
                                        <a:latin typeface="Cambria Math" panose="02040503050406030204" pitchFamily="18" charset="0"/>
                                      </a:rPr>
                                      <m:t>𝑒</m:t>
                                    </m:r>
                                  </m:sub>
                                </m:sSub>
                                <m:sSup>
                                  <m:sSupPr>
                                    <m:ctrlPr>
                                      <a:rPr lang="en-US" altLang="zh-TW" i="1">
                                        <a:solidFill>
                                          <a:prstClr val="black"/>
                                        </a:solidFill>
                                        <a:latin typeface="Cambria Math" panose="02040503050406030204" pitchFamily="18" charset="0"/>
                                      </a:rPr>
                                    </m:ctrlPr>
                                  </m:sSupPr>
                                  <m:e>
                                    <m:r>
                                      <a:rPr lang="en-US" altLang="zh-TW" i="1">
                                        <a:solidFill>
                                          <a:prstClr val="black"/>
                                        </a:solidFill>
                                        <a:latin typeface="Cambria Math" panose="02040503050406030204" pitchFamily="18" charset="0"/>
                                      </a:rPr>
                                      <m:t>𝑒</m:t>
                                    </m:r>
                                  </m:e>
                                  <m:sup>
                                    <m:r>
                                      <a:rPr lang="en-US" altLang="zh-TW" i="1">
                                        <a:solidFill>
                                          <a:prstClr val="black"/>
                                        </a:solidFill>
                                        <a:latin typeface="Cambria Math" panose="02040503050406030204" pitchFamily="18" charset="0"/>
                                      </a:rPr>
                                      <m:t>𝑖</m:t>
                                    </m:r>
                                    <m:sSub>
                                      <m:sSubPr>
                                        <m:ctrlPr>
                                          <a:rPr lang="en-US" altLang="zh-TW" i="1">
                                            <a:solidFill>
                                              <a:prstClr val="black"/>
                                            </a:solidFill>
                                            <a:latin typeface="Cambria Math" panose="02040503050406030204" pitchFamily="18" charset="0"/>
                                          </a:rPr>
                                        </m:ctrlPr>
                                      </m:sSubPr>
                                      <m:e>
                                        <m:r>
                                          <a:rPr lang="en-US" altLang="zh-TW" i="1">
                                            <a:solidFill>
                                              <a:prstClr val="black"/>
                                            </a:solidFill>
                                            <a:latin typeface="Cambria Math" panose="02040503050406030204" pitchFamily="18" charset="0"/>
                                            <a:ea typeface="Cambria Math" panose="02040503050406030204" pitchFamily="18" charset="0"/>
                                          </a:rPr>
                                          <m:t>∅</m:t>
                                        </m:r>
                                      </m:e>
                                      <m:sub>
                                        <m:r>
                                          <a:rPr lang="en-US" altLang="zh-TW" i="1" smtClean="0">
                                            <a:solidFill>
                                              <a:prstClr val="black"/>
                                            </a:solidFill>
                                            <a:latin typeface="Cambria Math" panose="02040503050406030204" pitchFamily="18" charset="0"/>
                                            <a:ea typeface="Cambria Math" panose="02040503050406030204" pitchFamily="18" charset="0"/>
                                          </a:rPr>
                                          <m:t>𝑠</m:t>
                                        </m:r>
                                        <m:r>
                                          <a:rPr lang="en-US" altLang="zh-TW" i="1">
                                            <a:solidFill>
                                              <a:prstClr val="black"/>
                                            </a:solidFill>
                                            <a:latin typeface="Cambria Math" panose="02040503050406030204" pitchFamily="18" charset="0"/>
                                          </a:rPr>
                                          <m:t>,</m:t>
                                        </m:r>
                                        <m:r>
                                          <a:rPr lang="en-US" altLang="zh-TW" i="1">
                                            <a:solidFill>
                                              <a:prstClr val="black"/>
                                            </a:solidFill>
                                            <a:latin typeface="Cambria Math" panose="02040503050406030204" pitchFamily="18" charset="0"/>
                                          </a:rPr>
                                          <m:t>𝑒</m:t>
                                        </m:r>
                                      </m:sub>
                                    </m:sSub>
                                  </m:sup>
                                </m:sSup>
                              </m:e>
                            </m:mr>
                            <m:mr>
                              <m:e>
                                <m:sSub>
                                  <m:sSubPr>
                                    <m:ctrlPr>
                                      <a:rPr lang="en-US" altLang="zh-TW" i="1">
                                        <a:solidFill>
                                          <a:prstClr val="black"/>
                                        </a:solidFill>
                                        <a:latin typeface="Cambria Math" panose="02040503050406030204" pitchFamily="18" charset="0"/>
                                      </a:rPr>
                                    </m:ctrlPr>
                                  </m:sSubPr>
                                  <m:e>
                                    <m:r>
                                      <a:rPr lang="en-US" altLang="zh-TW" b="0" i="1" smtClean="0">
                                        <a:solidFill>
                                          <a:prstClr val="black"/>
                                        </a:solidFill>
                                        <a:latin typeface="Cambria Math" panose="02040503050406030204" pitchFamily="18" charset="0"/>
                                      </a:rPr>
                                      <m:t>𝑅</m:t>
                                    </m:r>
                                    <m:r>
                                      <a:rPr lang="en-US" altLang="zh-TW" i="1">
                                        <a:solidFill>
                                          <a:prstClr val="black"/>
                                        </a:solidFill>
                                        <a:latin typeface="Cambria Math" panose="02040503050406030204" pitchFamily="18" charset="0"/>
                                      </a:rPr>
                                      <m:t>2</m:t>
                                    </m:r>
                                  </m:e>
                                  <m:sub>
                                    <m:r>
                                      <a:rPr lang="en-US" altLang="zh-TW" i="1">
                                        <a:solidFill>
                                          <a:prstClr val="black"/>
                                        </a:solidFill>
                                        <a:latin typeface="Cambria Math" panose="02040503050406030204" pitchFamily="18" charset="0"/>
                                      </a:rPr>
                                      <m:t>𝑖</m:t>
                                    </m:r>
                                    <m:r>
                                      <a:rPr lang="en-US" altLang="zh-TW" i="1">
                                        <a:solidFill>
                                          <a:prstClr val="black"/>
                                        </a:solidFill>
                                        <a:latin typeface="Cambria Math" panose="02040503050406030204" pitchFamily="18" charset="0"/>
                                      </a:rPr>
                                      <m:t>,</m:t>
                                    </m:r>
                                    <m:r>
                                      <a:rPr lang="en-US" altLang="zh-TW" i="1">
                                        <a:solidFill>
                                          <a:prstClr val="black"/>
                                        </a:solidFill>
                                        <a:latin typeface="Cambria Math" panose="02040503050406030204" pitchFamily="18" charset="0"/>
                                      </a:rPr>
                                      <m:t>𝑒</m:t>
                                    </m:r>
                                  </m:sub>
                                </m:sSub>
                                <m:sSup>
                                  <m:sSupPr>
                                    <m:ctrlPr>
                                      <a:rPr lang="en-US" altLang="zh-TW" i="1">
                                        <a:solidFill>
                                          <a:prstClr val="black"/>
                                        </a:solidFill>
                                        <a:latin typeface="Cambria Math" panose="02040503050406030204" pitchFamily="18" charset="0"/>
                                      </a:rPr>
                                    </m:ctrlPr>
                                  </m:sSupPr>
                                  <m:e>
                                    <m:r>
                                      <a:rPr lang="en-US" altLang="zh-TW" i="1">
                                        <a:solidFill>
                                          <a:prstClr val="black"/>
                                        </a:solidFill>
                                        <a:latin typeface="Cambria Math" panose="02040503050406030204" pitchFamily="18" charset="0"/>
                                      </a:rPr>
                                      <m:t>𝑒</m:t>
                                    </m:r>
                                  </m:e>
                                  <m:sup>
                                    <m:r>
                                      <a:rPr lang="en-US" altLang="zh-TW" i="1">
                                        <a:solidFill>
                                          <a:prstClr val="black"/>
                                        </a:solidFill>
                                        <a:latin typeface="Cambria Math" panose="02040503050406030204" pitchFamily="18" charset="0"/>
                                      </a:rPr>
                                      <m:t>𝑖</m:t>
                                    </m:r>
                                    <m:sSub>
                                      <m:sSubPr>
                                        <m:ctrlPr>
                                          <a:rPr lang="en-US" altLang="zh-TW" i="1">
                                            <a:solidFill>
                                              <a:prstClr val="black"/>
                                            </a:solidFill>
                                            <a:latin typeface="Cambria Math" panose="02040503050406030204" pitchFamily="18" charset="0"/>
                                          </a:rPr>
                                        </m:ctrlPr>
                                      </m:sSubPr>
                                      <m:e>
                                        <m:r>
                                          <a:rPr lang="en-US" altLang="zh-TW" i="1">
                                            <a:solidFill>
                                              <a:prstClr val="black"/>
                                            </a:solidFill>
                                            <a:latin typeface="Cambria Math" panose="02040503050406030204" pitchFamily="18" charset="0"/>
                                            <a:ea typeface="Cambria Math" panose="02040503050406030204" pitchFamily="18" charset="0"/>
                                          </a:rPr>
                                          <m:t>∅</m:t>
                                        </m:r>
                                      </m:e>
                                      <m:sub>
                                        <m:r>
                                          <a:rPr lang="en-US" altLang="zh-TW" i="1" smtClean="0">
                                            <a:solidFill>
                                              <a:prstClr val="black"/>
                                            </a:solidFill>
                                            <a:latin typeface="Cambria Math" panose="02040503050406030204" pitchFamily="18" charset="0"/>
                                            <a:ea typeface="Cambria Math" panose="02040503050406030204" pitchFamily="18" charset="0"/>
                                          </a:rPr>
                                          <m:t>𝑖</m:t>
                                        </m:r>
                                        <m:r>
                                          <a:rPr lang="en-US" altLang="zh-TW" i="1">
                                            <a:solidFill>
                                              <a:prstClr val="black"/>
                                            </a:solidFill>
                                            <a:latin typeface="Cambria Math" panose="02040503050406030204" pitchFamily="18" charset="0"/>
                                          </a:rPr>
                                          <m:t>,</m:t>
                                        </m:r>
                                        <m:r>
                                          <a:rPr lang="en-US" altLang="zh-TW" i="1">
                                            <a:solidFill>
                                              <a:prstClr val="black"/>
                                            </a:solidFill>
                                            <a:latin typeface="Cambria Math" panose="02040503050406030204" pitchFamily="18" charset="0"/>
                                          </a:rPr>
                                          <m:t>𝑒</m:t>
                                        </m:r>
                                      </m:sub>
                                    </m:sSub>
                                  </m:sup>
                                </m:sSup>
                              </m:e>
                            </m:mr>
                            <m:mr>
                              <m:e>
                                <m:sSub>
                                  <m:sSubPr>
                                    <m:ctrlPr>
                                      <a:rPr lang="en-US" altLang="zh-TW" i="1" smtClean="0">
                                        <a:solidFill>
                                          <a:prstClr val="black"/>
                                        </a:solidFill>
                                        <a:latin typeface="Cambria Math" panose="02040503050406030204" pitchFamily="18" charset="0"/>
                                      </a:rPr>
                                    </m:ctrlPr>
                                  </m:sSubPr>
                                  <m:e>
                                    <m:r>
                                      <a:rPr lang="en-US" altLang="zh-TW" b="0" i="1" smtClean="0">
                                        <a:solidFill>
                                          <a:prstClr val="black"/>
                                        </a:solidFill>
                                        <a:latin typeface="Cambria Math" panose="02040503050406030204" pitchFamily="18" charset="0"/>
                                      </a:rPr>
                                      <m:t>𝑅</m:t>
                                    </m:r>
                                    <m:r>
                                      <a:rPr lang="en-US" altLang="zh-TW" i="1" smtClean="0">
                                        <a:solidFill>
                                          <a:prstClr val="black"/>
                                        </a:solidFill>
                                        <a:latin typeface="Cambria Math" panose="02040503050406030204" pitchFamily="18" charset="0"/>
                                      </a:rPr>
                                      <m:t>2</m:t>
                                    </m:r>
                                  </m:e>
                                  <m:sub>
                                    <m:r>
                                      <a:rPr lang="en-US" altLang="zh-TW" i="1" smtClean="0">
                                        <a:solidFill>
                                          <a:prstClr val="black"/>
                                        </a:solidFill>
                                        <a:latin typeface="Cambria Math" panose="02040503050406030204" pitchFamily="18" charset="0"/>
                                      </a:rPr>
                                      <m:t>𝑝</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𝑒</m:t>
                                    </m:r>
                                  </m:sub>
                                </m:sSub>
                                <m:sSup>
                                  <m:sSupPr>
                                    <m:ctrlPr>
                                      <a:rPr lang="en-US" altLang="zh-TW" i="1" smtClean="0">
                                        <a:solidFill>
                                          <a:prstClr val="black"/>
                                        </a:solidFill>
                                        <a:latin typeface="Cambria Math" panose="02040503050406030204" pitchFamily="18" charset="0"/>
                                      </a:rPr>
                                    </m:ctrlPr>
                                  </m:sSupPr>
                                  <m:e>
                                    <m:r>
                                      <a:rPr lang="en-US" altLang="zh-TW" i="1" smtClean="0">
                                        <a:solidFill>
                                          <a:prstClr val="black"/>
                                        </a:solidFill>
                                        <a:latin typeface="Cambria Math" panose="02040503050406030204" pitchFamily="18" charset="0"/>
                                      </a:rPr>
                                      <m:t>𝑒</m:t>
                                    </m:r>
                                  </m:e>
                                  <m:sup>
                                    <m:r>
                                      <a:rPr lang="en-US" altLang="zh-TW" i="1" smtClean="0">
                                        <a:solidFill>
                                          <a:prstClr val="black"/>
                                        </a:solidFill>
                                        <a:latin typeface="Cambria Math" panose="02040503050406030204" pitchFamily="18" charset="0"/>
                                      </a:rPr>
                                      <m:t>𝑖</m:t>
                                    </m:r>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ea typeface="Cambria Math" panose="02040503050406030204" pitchFamily="18" charset="0"/>
                                          </a:rPr>
                                          <m:t>∅</m:t>
                                        </m:r>
                                      </m:e>
                                      <m:sub>
                                        <m:r>
                                          <a:rPr lang="en-US" altLang="zh-TW" i="1" smtClean="0">
                                            <a:solidFill>
                                              <a:prstClr val="black"/>
                                            </a:solidFill>
                                            <a:latin typeface="Cambria Math" panose="02040503050406030204" pitchFamily="18" charset="0"/>
                                          </a:rPr>
                                          <m:t>𝑝</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𝑒</m:t>
                                        </m:r>
                                      </m:sub>
                                    </m:sSub>
                                  </m:sup>
                                </m:sSup>
                              </m:e>
                            </m:mr>
                          </m:m>
                        </m:e>
                      </m:d>
                    </m:oMath>
                  </m:oMathPara>
                </a14:m>
                <a:endParaRPr lang="zh-TW" altLang="en-US" dirty="0">
                  <a:solidFill>
                    <a:prstClr val="black"/>
                  </a:solidFill>
                </a:endParaRPr>
              </a:p>
            </p:txBody>
          </p:sp>
        </mc:Choice>
        <mc:Fallback xmlns="">
          <p:sp>
            <p:nvSpPr>
              <p:cNvPr id="60" name="文字方塊 59"/>
              <p:cNvSpPr txBox="1">
                <a:spLocks noRot="1" noChangeAspect="1" noMove="1" noResize="1" noEditPoints="1" noAdjustHandles="1" noChangeArrowheads="1" noChangeShapeType="1" noTextEdit="1"/>
              </p:cNvSpPr>
              <p:nvPr/>
            </p:nvSpPr>
            <p:spPr>
              <a:xfrm>
                <a:off x="8981737" y="2306144"/>
                <a:ext cx="1307794" cy="1364220"/>
              </a:xfrm>
              <a:prstGeom prst="rect">
                <a:avLst/>
              </a:prstGeom>
              <a:blipFill>
                <a:blip r:embed="rId9"/>
                <a:stretch>
                  <a:fillRect/>
                </a:stretch>
              </a:blipFill>
            </p:spPr>
            <p:txBody>
              <a:bodyPr/>
              <a:lstStyle/>
              <a:p>
                <a:r>
                  <a:rPr lang="zh-TW" altLang="en-US">
                    <a:noFill/>
                  </a:rPr>
                  <a:t> </a:t>
                </a:r>
              </a:p>
            </p:txBody>
          </p:sp>
        </mc:Fallback>
      </mc:AlternateContent>
      <p:sp>
        <p:nvSpPr>
          <p:cNvPr id="61" name="向右箭號 60"/>
          <p:cNvSpPr/>
          <p:nvPr/>
        </p:nvSpPr>
        <p:spPr>
          <a:xfrm>
            <a:off x="4361117" y="2593703"/>
            <a:ext cx="460979" cy="235131"/>
          </a:xfrm>
          <a:prstGeom prst="rightArrow">
            <a:avLst/>
          </a:prstGeom>
          <a:solidFill>
            <a:schemeClr val="tx1"/>
          </a:solidFill>
          <a:ln>
            <a:solidFill>
              <a:schemeClr val="tx1">
                <a:lumMod val="85000"/>
                <a:lumOff val="1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p:sp>
        <p:nvSpPr>
          <p:cNvPr id="62" name="向右箭號 61"/>
          <p:cNvSpPr/>
          <p:nvPr/>
        </p:nvSpPr>
        <p:spPr>
          <a:xfrm>
            <a:off x="6613708" y="2587422"/>
            <a:ext cx="460979" cy="235131"/>
          </a:xfrm>
          <a:prstGeom prst="rightArrow">
            <a:avLst/>
          </a:prstGeom>
          <a:solidFill>
            <a:schemeClr val="tx1"/>
          </a:solidFill>
          <a:ln>
            <a:solidFill>
              <a:schemeClr val="tx1">
                <a:lumMod val="85000"/>
                <a:lumOff val="1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p:sp>
        <p:nvSpPr>
          <p:cNvPr id="63" name="向右箭號 62"/>
          <p:cNvSpPr/>
          <p:nvPr/>
        </p:nvSpPr>
        <p:spPr>
          <a:xfrm>
            <a:off x="8516583" y="2586761"/>
            <a:ext cx="460979" cy="235131"/>
          </a:xfrm>
          <a:prstGeom prst="rightArrow">
            <a:avLst/>
          </a:prstGeom>
          <a:solidFill>
            <a:schemeClr val="tx1"/>
          </a:solidFill>
          <a:ln>
            <a:solidFill>
              <a:schemeClr val="tx1">
                <a:lumMod val="85000"/>
                <a:lumOff val="1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p:sp>
        <p:nvSpPr>
          <p:cNvPr id="64" name="向右箭號 63"/>
          <p:cNvSpPr/>
          <p:nvPr/>
        </p:nvSpPr>
        <p:spPr>
          <a:xfrm flipH="1">
            <a:off x="4326259" y="2906031"/>
            <a:ext cx="460979" cy="235131"/>
          </a:xfrm>
          <a:prstGeom prst="rightArrow">
            <a:avLst/>
          </a:prstGeom>
          <a:solidFill>
            <a:schemeClr val="tx1"/>
          </a:solidFill>
          <a:ln>
            <a:solidFill>
              <a:schemeClr val="tx1">
                <a:lumMod val="85000"/>
                <a:lumOff val="1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p:sp>
        <p:nvSpPr>
          <p:cNvPr id="65" name="向右箭號 64"/>
          <p:cNvSpPr/>
          <p:nvPr/>
        </p:nvSpPr>
        <p:spPr>
          <a:xfrm flipH="1">
            <a:off x="6585414" y="2915873"/>
            <a:ext cx="460979" cy="235131"/>
          </a:xfrm>
          <a:prstGeom prst="rightArrow">
            <a:avLst/>
          </a:prstGeom>
          <a:solidFill>
            <a:schemeClr val="tx1"/>
          </a:solidFill>
          <a:ln>
            <a:solidFill>
              <a:schemeClr val="tx1">
                <a:lumMod val="85000"/>
                <a:lumOff val="1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p:sp>
        <p:nvSpPr>
          <p:cNvPr id="66" name="向右箭號 65"/>
          <p:cNvSpPr/>
          <p:nvPr/>
        </p:nvSpPr>
        <p:spPr>
          <a:xfrm flipH="1">
            <a:off x="8485250" y="2913050"/>
            <a:ext cx="460979" cy="235131"/>
          </a:xfrm>
          <a:prstGeom prst="rightArrow">
            <a:avLst/>
          </a:prstGeom>
          <a:solidFill>
            <a:schemeClr val="tx1"/>
          </a:solidFill>
          <a:ln>
            <a:solidFill>
              <a:schemeClr val="tx1">
                <a:lumMod val="85000"/>
                <a:lumOff val="1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p:sp>
        <p:nvSpPr>
          <p:cNvPr id="67" name="向右箭號 66"/>
          <p:cNvSpPr/>
          <p:nvPr/>
        </p:nvSpPr>
        <p:spPr>
          <a:xfrm flipH="1">
            <a:off x="2883569" y="2908204"/>
            <a:ext cx="460979" cy="235131"/>
          </a:xfrm>
          <a:prstGeom prst="rightArrow">
            <a:avLst/>
          </a:prstGeom>
          <a:solidFill>
            <a:schemeClr val="tx1"/>
          </a:solidFill>
          <a:ln>
            <a:solidFill>
              <a:schemeClr val="tx1">
                <a:lumMod val="85000"/>
                <a:lumOff val="1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p:sp>
        <p:nvSpPr>
          <p:cNvPr id="68" name="向右箭號 67"/>
          <p:cNvSpPr/>
          <p:nvPr/>
        </p:nvSpPr>
        <p:spPr>
          <a:xfrm>
            <a:off x="2919253" y="3209155"/>
            <a:ext cx="460979" cy="235131"/>
          </a:xfrm>
          <a:prstGeom prst="rightArrow">
            <a:avLst/>
          </a:prstGeom>
          <a:solidFill>
            <a:schemeClr val="tx1"/>
          </a:solidFill>
          <a:ln>
            <a:solidFill>
              <a:schemeClr val="tx1">
                <a:lumMod val="85000"/>
                <a:lumOff val="1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p:sp>
        <p:nvSpPr>
          <p:cNvPr id="69" name="向右箭號 68"/>
          <p:cNvSpPr/>
          <p:nvPr/>
        </p:nvSpPr>
        <p:spPr>
          <a:xfrm>
            <a:off x="4334829" y="3209156"/>
            <a:ext cx="460979" cy="235131"/>
          </a:xfrm>
          <a:prstGeom prst="rightArrow">
            <a:avLst/>
          </a:prstGeom>
          <a:solidFill>
            <a:schemeClr val="tx1"/>
          </a:solidFill>
          <a:ln>
            <a:solidFill>
              <a:schemeClr val="tx1">
                <a:lumMod val="85000"/>
                <a:lumOff val="1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p:sp>
        <p:nvSpPr>
          <p:cNvPr id="70" name="向右箭號 69"/>
          <p:cNvSpPr/>
          <p:nvPr/>
        </p:nvSpPr>
        <p:spPr>
          <a:xfrm>
            <a:off x="6600856" y="3265632"/>
            <a:ext cx="460979" cy="194837"/>
          </a:xfrm>
          <a:prstGeom prst="rightArrow">
            <a:avLst/>
          </a:prstGeom>
          <a:solidFill>
            <a:schemeClr val="tx1"/>
          </a:solidFill>
          <a:ln>
            <a:solidFill>
              <a:schemeClr val="tx1">
                <a:lumMod val="85000"/>
                <a:lumOff val="1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p:sp>
        <p:nvSpPr>
          <p:cNvPr id="71" name="向右箭號 70"/>
          <p:cNvSpPr/>
          <p:nvPr/>
        </p:nvSpPr>
        <p:spPr>
          <a:xfrm>
            <a:off x="8516583" y="3247054"/>
            <a:ext cx="460979" cy="194837"/>
          </a:xfrm>
          <a:prstGeom prst="rightArrow">
            <a:avLst/>
          </a:prstGeom>
          <a:solidFill>
            <a:schemeClr val="tx1"/>
          </a:solidFill>
          <a:ln>
            <a:solidFill>
              <a:schemeClr val="tx1">
                <a:lumMod val="85000"/>
                <a:lumOff val="1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mc:AlternateContent xmlns:mc="http://schemas.openxmlformats.org/markup-compatibility/2006" xmlns:a14="http://schemas.microsoft.com/office/drawing/2010/main">
        <mc:Choice Requires="a14">
          <p:sp>
            <p:nvSpPr>
              <p:cNvPr id="72" name="文字方塊 71"/>
              <p:cNvSpPr txBox="1"/>
              <p:nvPr/>
            </p:nvSpPr>
            <p:spPr>
              <a:xfrm>
                <a:off x="2131771" y="1676046"/>
                <a:ext cx="825995" cy="318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solidFill>
                                <a:prstClr val="black"/>
                              </a:solidFill>
                              <a:latin typeface="Cambria Math" panose="02040503050406030204" pitchFamily="18" charset="0"/>
                            </a:rPr>
                          </m:ctrlPr>
                        </m:dPr>
                        <m:e>
                          <m:sSub>
                            <m:sSubPr>
                              <m:ctrlPr>
                                <a:rPr lang="en-US" altLang="zh-TW" i="1" smtClean="0">
                                  <a:solidFill>
                                    <a:prstClr val="black"/>
                                  </a:solidFill>
                                  <a:latin typeface="Cambria Math" panose="02040503050406030204" pitchFamily="18" charset="0"/>
                                </a:rPr>
                              </m:ctrlPr>
                            </m:sSubPr>
                            <m:e>
                              <m:r>
                                <m:rPr>
                                  <m:sty m:val="p"/>
                                </m:rPr>
                                <a:rPr lang="en-US" altLang="zh-TW" smtClean="0">
                                  <a:solidFill>
                                    <a:prstClr val="black"/>
                                  </a:solidFill>
                                  <a:latin typeface="Cambria Math" panose="02040503050406030204" pitchFamily="18" charset="0"/>
                                </a:rPr>
                                <m:t>M</m:t>
                              </m:r>
                              <m:r>
                                <a:rPr lang="en-US" altLang="zh-TW" i="1" smtClean="0">
                                  <a:solidFill>
                                    <a:prstClr val="black"/>
                                  </a:solidFill>
                                  <a:latin typeface="Cambria Math" panose="02040503050406030204" pitchFamily="18" charset="0"/>
                                </a:rPr>
                                <m:t>1</m:t>
                              </m:r>
                            </m:e>
                            <m:sub>
                              <m:r>
                                <a:rPr lang="en-US" altLang="zh-TW" i="1" smtClean="0">
                                  <a:solidFill>
                                    <a:prstClr val="black"/>
                                  </a:solidFill>
                                  <a:latin typeface="Cambria Math" panose="02040503050406030204" pitchFamily="18" charset="0"/>
                                </a:rPr>
                                <m:t>𝑤</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𝑞</m:t>
                              </m:r>
                            </m:sub>
                          </m:sSub>
                        </m:e>
                      </m:d>
                    </m:oMath>
                  </m:oMathPara>
                </a14:m>
                <a:endParaRPr lang="zh-TW" altLang="en-US" dirty="0">
                  <a:solidFill>
                    <a:prstClr val="black"/>
                  </a:solidFill>
                </a:endParaRPr>
              </a:p>
            </p:txBody>
          </p:sp>
        </mc:Choice>
        <mc:Fallback xmlns="">
          <p:sp>
            <p:nvSpPr>
              <p:cNvPr id="72" name="文字方塊 71"/>
              <p:cNvSpPr txBox="1">
                <a:spLocks noRot="1" noChangeAspect="1" noMove="1" noResize="1" noEditPoints="1" noAdjustHandles="1" noChangeArrowheads="1" noChangeShapeType="1" noTextEdit="1"/>
              </p:cNvSpPr>
              <p:nvPr/>
            </p:nvSpPr>
            <p:spPr>
              <a:xfrm>
                <a:off x="2131771" y="1676046"/>
                <a:ext cx="825995" cy="318164"/>
              </a:xfrm>
              <a:prstGeom prst="rect">
                <a:avLst/>
              </a:prstGeom>
              <a:blipFill>
                <a:blip r:embed="rId10"/>
                <a:stretch>
                  <a:fillRect b="-1923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3" name="文字方塊 72"/>
              <p:cNvSpPr txBox="1"/>
              <p:nvPr/>
            </p:nvSpPr>
            <p:spPr>
              <a:xfrm>
                <a:off x="4867274" y="1676046"/>
                <a:ext cx="1800301" cy="3190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solidFill>
                                <a:prstClr val="black"/>
                              </a:solidFill>
                              <a:latin typeface="Cambria Math" panose="02040503050406030204" pitchFamily="18" charset="0"/>
                            </a:rPr>
                          </m:ctrlPr>
                        </m:dP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𝑤</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𝑞</m:t>
                              </m:r>
                            </m:sub>
                          </m:sSub>
                          <m:r>
                            <a:rPr lang="en-US" altLang="zh-TW" smtClean="0">
                              <a:solidFill>
                                <a:prstClr val="black"/>
                              </a:solidFill>
                              <a:latin typeface="Cambria Math" panose="02040503050406030204" pitchFamily="18" charset="0"/>
                            </a:rPr>
                            <m:t>(</m:t>
                          </m:r>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𝑥</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𝑥</m:t>
                              </m:r>
                            </m:e>
                            <m:sub>
                              <m:r>
                                <a:rPr lang="en-US" altLang="zh-TW" i="1" smtClean="0">
                                  <a:solidFill>
                                    <a:prstClr val="black"/>
                                  </a:solidFill>
                                  <a:latin typeface="Cambria Math" panose="02040503050406030204" pitchFamily="18" charset="0"/>
                                </a:rPr>
                                <m:t>𝑗</m:t>
                              </m:r>
                            </m:sub>
                          </m:sSub>
                          <m:r>
                            <a:rPr lang="en-US" altLang="zh-TW" i="1" smtClean="0">
                              <a:solidFill>
                                <a:prstClr val="black"/>
                              </a:solidFill>
                              <a:latin typeface="Cambria Math" panose="02040503050406030204" pitchFamily="18" charset="0"/>
                            </a:rPr>
                            <m:t>,</m:t>
                          </m:r>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𝑦</m:t>
                              </m:r>
                            </m:sub>
                          </m:sSub>
                          <m:r>
                            <a:rPr lang="en-US" altLang="zh-TW" smtClean="0">
                              <a:solidFill>
                                <a:prstClr val="black"/>
                              </a:solidFill>
                              <a:latin typeface="Cambria Math" panose="02040503050406030204" pitchFamily="18" charset="0"/>
                            </a:rPr>
                            <m:t>)</m:t>
                          </m:r>
                        </m:e>
                      </m:d>
                    </m:oMath>
                  </m:oMathPara>
                </a14:m>
                <a:endParaRPr lang="zh-TW" altLang="en-US" dirty="0">
                  <a:solidFill>
                    <a:prstClr val="black"/>
                  </a:solidFill>
                </a:endParaRPr>
              </a:p>
            </p:txBody>
          </p:sp>
        </mc:Choice>
        <mc:Fallback xmlns="">
          <p:sp>
            <p:nvSpPr>
              <p:cNvPr id="73" name="文字方塊 72"/>
              <p:cNvSpPr txBox="1">
                <a:spLocks noRot="1" noChangeAspect="1" noMove="1" noResize="1" noEditPoints="1" noAdjustHandles="1" noChangeArrowheads="1" noChangeShapeType="1" noTextEdit="1"/>
              </p:cNvSpPr>
              <p:nvPr/>
            </p:nvSpPr>
            <p:spPr>
              <a:xfrm>
                <a:off x="4867274" y="1676046"/>
                <a:ext cx="1800301" cy="319062"/>
              </a:xfrm>
              <a:prstGeom prst="rect">
                <a:avLst/>
              </a:prstGeom>
              <a:blipFill>
                <a:blip r:embed="rId11"/>
                <a:stretch>
                  <a:fillRect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4" name="文字方塊 73"/>
              <p:cNvSpPr txBox="1"/>
              <p:nvPr/>
            </p:nvSpPr>
            <p:spPr>
              <a:xfrm>
                <a:off x="3372130" y="1676046"/>
                <a:ext cx="962699" cy="318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solidFill>
                                <a:prstClr val="black"/>
                              </a:solidFill>
                              <a:latin typeface="Cambria Math" panose="02040503050406030204" pitchFamily="18" charset="0"/>
                            </a:rPr>
                          </m:ctrlPr>
                        </m:dP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𝑤</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𝑞</m:t>
                              </m:r>
                            </m:sub>
                          </m:sSub>
                          <m:r>
                            <a:rPr lang="en-US" altLang="zh-TW" i="1" smtClean="0">
                              <a:solidFill>
                                <a:prstClr val="black"/>
                              </a:solidFill>
                              <a:latin typeface="Cambria Math" panose="02040503050406030204" pitchFamily="18" charset="0"/>
                            </a:rPr>
                            <m:t>(0</m:t>
                          </m:r>
                          <m:r>
                            <a:rPr lang="en-US" altLang="zh-TW" smtClean="0">
                              <a:solidFill>
                                <a:prstClr val="black"/>
                              </a:solidFill>
                              <a:latin typeface="Cambria Math" panose="02040503050406030204" pitchFamily="18" charset="0"/>
                            </a:rPr>
                            <m:t>)</m:t>
                          </m:r>
                        </m:e>
                      </m:d>
                    </m:oMath>
                  </m:oMathPara>
                </a14:m>
                <a:endParaRPr lang="zh-TW" altLang="en-US" dirty="0">
                  <a:solidFill>
                    <a:prstClr val="black"/>
                  </a:solidFill>
                </a:endParaRPr>
              </a:p>
            </p:txBody>
          </p:sp>
        </mc:Choice>
        <mc:Fallback xmlns="">
          <p:sp>
            <p:nvSpPr>
              <p:cNvPr id="74" name="文字方塊 73"/>
              <p:cNvSpPr txBox="1">
                <a:spLocks noRot="1" noChangeAspect="1" noMove="1" noResize="1" noEditPoints="1" noAdjustHandles="1" noChangeArrowheads="1" noChangeShapeType="1" noTextEdit="1"/>
              </p:cNvSpPr>
              <p:nvPr/>
            </p:nvSpPr>
            <p:spPr>
              <a:xfrm>
                <a:off x="3372130" y="1676046"/>
                <a:ext cx="962699" cy="318164"/>
              </a:xfrm>
              <a:prstGeom prst="rect">
                <a:avLst/>
              </a:prstGeom>
              <a:blipFill>
                <a:blip r:embed="rId12"/>
                <a:stretch>
                  <a:fillRect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5" name="文字方塊 74"/>
              <p:cNvSpPr txBox="1"/>
              <p:nvPr/>
            </p:nvSpPr>
            <p:spPr>
              <a:xfrm>
                <a:off x="7162324" y="1676046"/>
                <a:ext cx="1394421" cy="318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solidFill>
                                <a:prstClr val="black"/>
                              </a:solidFill>
                              <a:latin typeface="Cambria Math" panose="02040503050406030204" pitchFamily="18" charset="0"/>
                            </a:rPr>
                          </m:ctrlPr>
                        </m:dPr>
                        <m:e>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rPr>
                                <m:t>𝐸</m:t>
                              </m:r>
                            </m:e>
                            <m:sub>
                              <m:r>
                                <a:rPr lang="en-US" altLang="zh-TW" i="1" smtClean="0">
                                  <a:solidFill>
                                    <a:prstClr val="black"/>
                                  </a:solidFill>
                                  <a:latin typeface="Cambria Math" panose="02040503050406030204" pitchFamily="18" charset="0"/>
                                </a:rPr>
                                <m:t>𝑤</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𝑞</m:t>
                              </m:r>
                            </m:sub>
                          </m:sSub>
                          <m:r>
                            <a:rPr lang="en-US" altLang="zh-TW"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𝑥</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𝐿</m:t>
                          </m:r>
                          <m:r>
                            <a:rPr lang="en-US" altLang="zh-TW" smtClean="0">
                              <a:solidFill>
                                <a:prstClr val="black"/>
                              </a:solidFill>
                              <a:latin typeface="Cambria Math" panose="02040503050406030204" pitchFamily="18" charset="0"/>
                            </a:rPr>
                            <m:t>)</m:t>
                          </m:r>
                        </m:e>
                      </m:d>
                    </m:oMath>
                  </m:oMathPara>
                </a14:m>
                <a:endParaRPr lang="zh-TW" altLang="en-US" dirty="0">
                  <a:solidFill>
                    <a:prstClr val="black"/>
                  </a:solidFill>
                </a:endParaRPr>
              </a:p>
            </p:txBody>
          </p:sp>
        </mc:Choice>
        <mc:Fallback xmlns="">
          <p:sp>
            <p:nvSpPr>
              <p:cNvPr id="75" name="文字方塊 74"/>
              <p:cNvSpPr txBox="1">
                <a:spLocks noRot="1" noChangeAspect="1" noMove="1" noResize="1" noEditPoints="1" noAdjustHandles="1" noChangeArrowheads="1" noChangeShapeType="1" noTextEdit="1"/>
              </p:cNvSpPr>
              <p:nvPr/>
            </p:nvSpPr>
            <p:spPr>
              <a:xfrm>
                <a:off x="7162324" y="1676046"/>
                <a:ext cx="1394421" cy="318164"/>
              </a:xfrm>
              <a:prstGeom prst="rect">
                <a:avLst/>
              </a:prstGeom>
              <a:blipFill>
                <a:blip r:embed="rId13"/>
                <a:stretch>
                  <a:fillRect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6" name="文字方塊 75"/>
              <p:cNvSpPr txBox="1"/>
              <p:nvPr/>
            </p:nvSpPr>
            <p:spPr>
              <a:xfrm>
                <a:off x="8819335" y="1676046"/>
                <a:ext cx="825995" cy="318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solidFill>
                                <a:prstClr val="black"/>
                              </a:solidFill>
                              <a:latin typeface="Cambria Math" panose="02040503050406030204" pitchFamily="18" charset="0"/>
                            </a:rPr>
                          </m:ctrlPr>
                        </m:dPr>
                        <m:e>
                          <m:sSub>
                            <m:sSubPr>
                              <m:ctrlPr>
                                <a:rPr lang="en-US" altLang="zh-TW" i="1" smtClean="0">
                                  <a:solidFill>
                                    <a:prstClr val="black"/>
                                  </a:solidFill>
                                  <a:latin typeface="Cambria Math" panose="02040503050406030204" pitchFamily="18" charset="0"/>
                                </a:rPr>
                              </m:ctrlPr>
                            </m:sSubPr>
                            <m:e>
                              <m:r>
                                <m:rPr>
                                  <m:sty m:val="p"/>
                                </m:rPr>
                                <a:rPr lang="en-US" altLang="zh-TW" smtClean="0">
                                  <a:solidFill>
                                    <a:prstClr val="black"/>
                                  </a:solidFill>
                                  <a:latin typeface="Cambria Math" panose="02040503050406030204" pitchFamily="18" charset="0"/>
                                </a:rPr>
                                <m:t>M</m:t>
                              </m:r>
                              <m:r>
                                <a:rPr lang="en-US" altLang="zh-TW" i="1" smtClean="0">
                                  <a:solidFill>
                                    <a:prstClr val="black"/>
                                  </a:solidFill>
                                  <a:latin typeface="Cambria Math" panose="02040503050406030204" pitchFamily="18" charset="0"/>
                                </a:rPr>
                                <m:t>2</m:t>
                              </m:r>
                            </m:e>
                            <m:sub>
                              <m:r>
                                <a:rPr lang="en-US" altLang="zh-TW" i="1" smtClean="0">
                                  <a:solidFill>
                                    <a:prstClr val="black"/>
                                  </a:solidFill>
                                  <a:latin typeface="Cambria Math" panose="02040503050406030204" pitchFamily="18" charset="0"/>
                                </a:rPr>
                                <m:t>𝑤</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𝑞</m:t>
                              </m:r>
                            </m:sub>
                          </m:sSub>
                        </m:e>
                      </m:d>
                    </m:oMath>
                  </m:oMathPara>
                </a14:m>
                <a:endParaRPr lang="zh-TW" altLang="en-US" dirty="0">
                  <a:solidFill>
                    <a:prstClr val="black"/>
                  </a:solidFill>
                </a:endParaRPr>
              </a:p>
            </p:txBody>
          </p:sp>
        </mc:Choice>
        <mc:Fallback xmlns="">
          <p:sp>
            <p:nvSpPr>
              <p:cNvPr id="76" name="文字方塊 75"/>
              <p:cNvSpPr txBox="1">
                <a:spLocks noRot="1" noChangeAspect="1" noMove="1" noResize="1" noEditPoints="1" noAdjustHandles="1" noChangeArrowheads="1" noChangeShapeType="1" noTextEdit="1"/>
              </p:cNvSpPr>
              <p:nvPr/>
            </p:nvSpPr>
            <p:spPr>
              <a:xfrm>
                <a:off x="8819335" y="1676046"/>
                <a:ext cx="825995" cy="318164"/>
              </a:xfrm>
              <a:prstGeom prst="rect">
                <a:avLst/>
              </a:prstGeom>
              <a:blipFill>
                <a:blip r:embed="rId14"/>
                <a:stretch>
                  <a:fillRect b="-1923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p:cNvSpPr txBox="1"/>
              <p:nvPr/>
            </p:nvSpPr>
            <p:spPr>
              <a:xfrm>
                <a:off x="10320214" y="1669232"/>
                <a:ext cx="1640642"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200" i="1" smtClean="0">
                          <a:solidFill>
                            <a:prstClr val="black"/>
                          </a:solidFill>
                          <a:latin typeface="Cambria Math" panose="02040503050406030204" pitchFamily="18" charset="0"/>
                        </a:rPr>
                        <m:t>𝑤</m:t>
                      </m:r>
                      <m:r>
                        <a:rPr lang="en-US" altLang="zh-TW" sz="1200" i="1" smtClean="0">
                          <a:solidFill>
                            <a:prstClr val="black"/>
                          </a:solidFill>
                          <a:latin typeface="Cambria Math" panose="02040503050406030204" pitchFamily="18" charset="0"/>
                        </a:rPr>
                        <m:t>=</m:t>
                      </m:r>
                      <m:r>
                        <a:rPr lang="en-US" altLang="zh-TW" sz="1200" i="1" smtClean="0">
                          <a:solidFill>
                            <a:prstClr val="black"/>
                          </a:solidFill>
                          <a:latin typeface="Cambria Math" panose="02040503050406030204" pitchFamily="18" charset="0"/>
                        </a:rPr>
                        <m:t>𝑠𝑖𝑔𝑛𝑎𝑙</m:t>
                      </m:r>
                      <m:r>
                        <a:rPr lang="en-US" altLang="zh-TW" sz="1200" i="1" smtClean="0">
                          <a:solidFill>
                            <a:prstClr val="black"/>
                          </a:solidFill>
                          <a:latin typeface="Cambria Math" panose="02040503050406030204" pitchFamily="18" charset="0"/>
                        </a:rPr>
                        <m:t>,</m:t>
                      </m:r>
                      <m:r>
                        <a:rPr lang="en-US" altLang="zh-TW" sz="1200" i="1" smtClean="0">
                          <a:solidFill>
                            <a:prstClr val="black"/>
                          </a:solidFill>
                          <a:latin typeface="Cambria Math" panose="02040503050406030204" pitchFamily="18" charset="0"/>
                        </a:rPr>
                        <m:t>𝑖𝑑𝑙𝑒𝑟</m:t>
                      </m:r>
                      <m:r>
                        <a:rPr lang="en-US" altLang="zh-TW" sz="1200" i="1" smtClean="0">
                          <a:solidFill>
                            <a:prstClr val="black"/>
                          </a:solidFill>
                          <a:latin typeface="Cambria Math" panose="02040503050406030204" pitchFamily="18" charset="0"/>
                        </a:rPr>
                        <m:t>,</m:t>
                      </m:r>
                      <m:r>
                        <a:rPr lang="en-US" altLang="zh-TW" sz="1200" i="1" smtClean="0">
                          <a:solidFill>
                            <a:prstClr val="black"/>
                          </a:solidFill>
                          <a:latin typeface="Cambria Math" panose="02040503050406030204" pitchFamily="18" charset="0"/>
                        </a:rPr>
                        <m:t>𝑝𝑢𝑚𝑝</m:t>
                      </m:r>
                    </m:oMath>
                  </m:oMathPara>
                </a14:m>
                <a:endParaRPr lang="zh-TW" altLang="en-US" sz="1200" dirty="0">
                  <a:solidFill>
                    <a:prstClr val="black"/>
                  </a:solidFill>
                </a:endParaRPr>
              </a:p>
            </p:txBody>
          </p:sp>
        </mc:Choice>
        <mc:Fallback xmlns="">
          <p:sp>
            <p:nvSpPr>
              <p:cNvPr id="77" name="文字方塊 76"/>
              <p:cNvSpPr txBox="1">
                <a:spLocks noRot="1" noChangeAspect="1" noMove="1" noResize="1" noEditPoints="1" noAdjustHandles="1" noChangeArrowheads="1" noChangeShapeType="1" noTextEdit="1"/>
              </p:cNvSpPr>
              <p:nvPr/>
            </p:nvSpPr>
            <p:spPr>
              <a:xfrm>
                <a:off x="10320214" y="1669232"/>
                <a:ext cx="1640642" cy="184666"/>
              </a:xfrm>
              <a:prstGeom prst="rect">
                <a:avLst/>
              </a:prstGeom>
              <a:blipFill>
                <a:blip r:embed="rId15"/>
                <a:stretch>
                  <a:fillRect l="-1115" t="-3333" r="-1487" b="-3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8" name="文字方塊 77"/>
              <p:cNvSpPr txBox="1"/>
              <p:nvPr/>
            </p:nvSpPr>
            <p:spPr>
              <a:xfrm>
                <a:off x="10320214" y="1838412"/>
                <a:ext cx="547458"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200" i="1" smtClean="0">
                          <a:solidFill>
                            <a:prstClr val="black"/>
                          </a:solidFill>
                          <a:latin typeface="Cambria Math" panose="02040503050406030204" pitchFamily="18" charset="0"/>
                        </a:rPr>
                        <m:t>𝑞</m:t>
                      </m:r>
                      <m:r>
                        <a:rPr lang="en-US" altLang="zh-TW" sz="1200" i="1" smtClean="0">
                          <a:solidFill>
                            <a:prstClr val="black"/>
                          </a:solidFill>
                          <a:latin typeface="Cambria Math" panose="02040503050406030204" pitchFamily="18" charset="0"/>
                        </a:rPr>
                        <m:t>=</m:t>
                      </m:r>
                      <m:r>
                        <a:rPr lang="en-US" altLang="zh-TW" sz="1200" i="1" smtClean="0">
                          <a:solidFill>
                            <a:prstClr val="black"/>
                          </a:solidFill>
                          <a:latin typeface="Cambria Math" panose="02040503050406030204" pitchFamily="18" charset="0"/>
                        </a:rPr>
                        <m:t>𝑜</m:t>
                      </m:r>
                      <m:r>
                        <a:rPr lang="en-US" altLang="zh-TW" sz="1200" i="1" smtClean="0">
                          <a:solidFill>
                            <a:prstClr val="black"/>
                          </a:solidFill>
                          <a:latin typeface="Cambria Math" panose="02040503050406030204" pitchFamily="18" charset="0"/>
                        </a:rPr>
                        <m:t>,</m:t>
                      </m:r>
                      <m:r>
                        <a:rPr lang="en-US" altLang="zh-TW" sz="1200" i="1" smtClean="0">
                          <a:solidFill>
                            <a:prstClr val="black"/>
                          </a:solidFill>
                          <a:latin typeface="Cambria Math" panose="02040503050406030204" pitchFamily="18" charset="0"/>
                        </a:rPr>
                        <m:t>𝑒</m:t>
                      </m:r>
                    </m:oMath>
                  </m:oMathPara>
                </a14:m>
                <a:endParaRPr lang="zh-TW" altLang="en-US" sz="1200" dirty="0">
                  <a:solidFill>
                    <a:prstClr val="black"/>
                  </a:solidFill>
                </a:endParaRPr>
              </a:p>
            </p:txBody>
          </p:sp>
        </mc:Choice>
        <mc:Fallback xmlns="">
          <p:sp>
            <p:nvSpPr>
              <p:cNvPr id="78" name="文字方塊 77"/>
              <p:cNvSpPr txBox="1">
                <a:spLocks noRot="1" noChangeAspect="1" noMove="1" noResize="1" noEditPoints="1" noAdjustHandles="1" noChangeArrowheads="1" noChangeShapeType="1" noTextEdit="1"/>
              </p:cNvSpPr>
              <p:nvPr/>
            </p:nvSpPr>
            <p:spPr>
              <a:xfrm>
                <a:off x="10320214" y="1838412"/>
                <a:ext cx="547458" cy="184666"/>
              </a:xfrm>
              <a:prstGeom prst="rect">
                <a:avLst/>
              </a:prstGeom>
              <a:blipFill>
                <a:blip r:embed="rId16"/>
                <a:stretch>
                  <a:fillRect l="-6667" r="-1111" b="-23333"/>
                </a:stretch>
              </a:blipFill>
            </p:spPr>
            <p:txBody>
              <a:bodyPr/>
              <a:lstStyle/>
              <a:p>
                <a:r>
                  <a:rPr lang="zh-TW" altLang="en-US">
                    <a:noFill/>
                  </a:rPr>
                  <a:t> </a:t>
                </a:r>
              </a:p>
            </p:txBody>
          </p:sp>
        </mc:Fallback>
      </mc:AlternateContent>
      <p:sp>
        <p:nvSpPr>
          <p:cNvPr id="79" name="文字方塊 78"/>
          <p:cNvSpPr txBox="1"/>
          <p:nvPr/>
        </p:nvSpPr>
        <p:spPr>
          <a:xfrm>
            <a:off x="25494" y="1895408"/>
            <a:ext cx="2341866" cy="369332"/>
          </a:xfrm>
          <a:prstGeom prst="rect">
            <a:avLst/>
          </a:prstGeom>
          <a:noFill/>
        </p:spPr>
        <p:txBody>
          <a:bodyPr wrap="square" rtlCol="0">
            <a:spAutoFit/>
          </a:bodyPr>
          <a:lstStyle/>
          <a:p>
            <a:r>
              <a:rPr lang="en-US" altLang="zh-TW" b="1" i="1" u="sng" dirty="0">
                <a:solidFill>
                  <a:prstClr val="black"/>
                </a:solidFill>
                <a:latin typeface="Times New Roman" panose="02020603050405020304" pitchFamily="18" charset="0"/>
                <a:cs typeface="Times New Roman" panose="02020603050405020304" pitchFamily="18" charset="0"/>
              </a:rPr>
              <a:t>For one Round-Trip </a:t>
            </a:r>
            <a:r>
              <a:rPr lang="en-US" altLang="zh-TW" b="1" i="1" dirty="0">
                <a:solidFill>
                  <a:prstClr val="black"/>
                </a:solidFill>
                <a:latin typeface="Times New Roman" panose="02020603050405020304" pitchFamily="18" charset="0"/>
                <a:cs typeface="Times New Roman" panose="02020603050405020304" pitchFamily="18" charset="0"/>
              </a:rPr>
              <a:t>:</a:t>
            </a:r>
            <a:endParaRPr lang="zh-TW" altLang="en-US" b="1" i="1" dirty="0">
              <a:solidFill>
                <a:prstClr val="black"/>
              </a:solidFill>
              <a:latin typeface="Times New Roman" panose="02020603050405020304" pitchFamily="18" charset="0"/>
              <a:cs typeface="Times New Roman" panose="02020603050405020304" pitchFamily="18" charset="0"/>
            </a:endParaRPr>
          </a:p>
        </p:txBody>
      </p:sp>
      <p:sp>
        <p:nvSpPr>
          <p:cNvPr id="92" name="向右箭號 91"/>
          <p:cNvSpPr/>
          <p:nvPr/>
        </p:nvSpPr>
        <p:spPr>
          <a:xfrm>
            <a:off x="10320214" y="2797589"/>
            <a:ext cx="999003" cy="353504"/>
          </a:xfrm>
          <a:prstGeom prst="rightArrow">
            <a:avLst/>
          </a:prstGeom>
          <a:solidFill>
            <a:schemeClr val="tx1"/>
          </a:solidFill>
          <a:ln>
            <a:solidFill>
              <a:schemeClr val="tx1">
                <a:lumMod val="85000"/>
                <a:lumOff val="15000"/>
              </a:schemeClr>
            </a:solidFill>
          </a:ln>
          <a:effectLst>
            <a:outerShdw blurRad="44450" dist="27940" dir="5400000" algn="ctr">
              <a:srgbClr val="000000">
                <a:alpha val="32000"/>
              </a:srgbClr>
            </a:outerShdw>
          </a:effectLst>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solidFill>
                <a:schemeClr val="tx1"/>
              </a:solidFill>
            </a:endParaRPr>
          </a:p>
        </p:txBody>
      </p:sp>
      <mc:AlternateContent xmlns:mc="http://schemas.openxmlformats.org/markup-compatibility/2006" xmlns:a14="http://schemas.microsoft.com/office/drawing/2010/main">
        <mc:Choice Requires="a14">
          <p:sp>
            <p:nvSpPr>
              <p:cNvPr id="93" name="文字方塊 92"/>
              <p:cNvSpPr txBox="1"/>
              <p:nvPr/>
            </p:nvSpPr>
            <p:spPr>
              <a:xfrm>
                <a:off x="1657472" y="2312977"/>
                <a:ext cx="1272592" cy="13642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i="1" smtClean="0">
                              <a:solidFill>
                                <a:prstClr val="black"/>
                              </a:solidFill>
                              <a:latin typeface="Cambria Math" panose="02040503050406030204" pitchFamily="18" charset="0"/>
                            </a:rPr>
                          </m:ctrlPr>
                        </m:dPr>
                        <m:e>
                          <m:m>
                            <m:mPr>
                              <m:mcs>
                                <m:mc>
                                  <m:mcPr>
                                    <m:count m:val="1"/>
                                    <m:mcJc m:val="center"/>
                                  </m:mcPr>
                                </m:mc>
                              </m:mcs>
                              <m:ctrlPr>
                                <a:rPr lang="en-US" altLang="zh-TW" i="1" smtClean="0">
                                  <a:solidFill>
                                    <a:prstClr val="black"/>
                                  </a:solidFill>
                                  <a:latin typeface="Cambria Math" panose="02040503050406030204" pitchFamily="18" charset="0"/>
                                </a:rPr>
                              </m:ctrlPr>
                            </m:mPr>
                            <m:mr>
                              <m:e>
                                <m:sSub>
                                  <m:sSubPr>
                                    <m:ctrlPr>
                                      <a:rPr lang="en-US" altLang="zh-TW" i="1">
                                        <a:solidFill>
                                          <a:prstClr val="black"/>
                                        </a:solidFill>
                                        <a:latin typeface="Cambria Math" panose="02040503050406030204" pitchFamily="18" charset="0"/>
                                      </a:rPr>
                                    </m:ctrlPr>
                                  </m:sSubPr>
                                  <m:e>
                                    <m:r>
                                      <a:rPr lang="en-US" altLang="zh-TW" b="0" i="1" smtClean="0">
                                        <a:solidFill>
                                          <a:prstClr val="black"/>
                                        </a:solidFill>
                                        <a:latin typeface="Cambria Math" panose="02040503050406030204" pitchFamily="18" charset="0"/>
                                      </a:rPr>
                                      <m:t> </m:t>
                                    </m:r>
                                    <m:r>
                                      <a:rPr lang="en-US" altLang="zh-TW" b="0" i="1" smtClean="0">
                                        <a:solidFill>
                                          <a:prstClr val="black"/>
                                        </a:solidFill>
                                        <a:latin typeface="Cambria Math" panose="02040503050406030204" pitchFamily="18" charset="0"/>
                                      </a:rPr>
                                      <m:t>𝑅</m:t>
                                    </m:r>
                                    <m:r>
                                      <a:rPr lang="en-US" altLang="zh-TW" i="1" smtClean="0">
                                        <a:solidFill>
                                          <a:prstClr val="black"/>
                                        </a:solidFill>
                                        <a:latin typeface="Cambria Math" panose="02040503050406030204" pitchFamily="18" charset="0"/>
                                      </a:rPr>
                                      <m:t>1</m:t>
                                    </m:r>
                                  </m:e>
                                  <m:sub>
                                    <m:r>
                                      <a:rPr lang="en-US" altLang="zh-TW" i="1" smtClean="0">
                                        <a:solidFill>
                                          <a:prstClr val="black"/>
                                        </a:solidFill>
                                        <a:latin typeface="Cambria Math" panose="02040503050406030204" pitchFamily="18" charset="0"/>
                                      </a:rPr>
                                      <m:t>𝑠</m:t>
                                    </m:r>
                                    <m:r>
                                      <a:rPr lang="en-US" altLang="zh-TW" i="1">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𝑜</m:t>
                                    </m:r>
                                  </m:sub>
                                </m:sSub>
                                <m:sSup>
                                  <m:sSupPr>
                                    <m:ctrlPr>
                                      <a:rPr lang="en-US" altLang="zh-TW" i="1">
                                        <a:solidFill>
                                          <a:prstClr val="black"/>
                                        </a:solidFill>
                                        <a:latin typeface="Cambria Math" panose="02040503050406030204" pitchFamily="18" charset="0"/>
                                      </a:rPr>
                                    </m:ctrlPr>
                                  </m:sSupPr>
                                  <m:e>
                                    <m:r>
                                      <a:rPr lang="en-US" altLang="zh-TW" i="1">
                                        <a:solidFill>
                                          <a:prstClr val="black"/>
                                        </a:solidFill>
                                        <a:latin typeface="Cambria Math" panose="02040503050406030204" pitchFamily="18" charset="0"/>
                                      </a:rPr>
                                      <m:t>𝑒</m:t>
                                    </m:r>
                                  </m:e>
                                  <m:sup>
                                    <m:r>
                                      <a:rPr lang="en-US" altLang="zh-TW" i="1">
                                        <a:solidFill>
                                          <a:prstClr val="black"/>
                                        </a:solidFill>
                                        <a:latin typeface="Cambria Math" panose="02040503050406030204" pitchFamily="18" charset="0"/>
                                      </a:rPr>
                                      <m:t>𝑖</m:t>
                                    </m:r>
                                    <m:sSub>
                                      <m:sSubPr>
                                        <m:ctrlPr>
                                          <a:rPr lang="en-US" altLang="zh-TW" i="1">
                                            <a:solidFill>
                                              <a:prstClr val="black"/>
                                            </a:solidFill>
                                            <a:latin typeface="Cambria Math" panose="02040503050406030204" pitchFamily="18" charset="0"/>
                                          </a:rPr>
                                        </m:ctrlPr>
                                      </m:sSubPr>
                                      <m:e>
                                        <m:r>
                                          <a:rPr lang="en-US" altLang="zh-TW" i="1">
                                            <a:solidFill>
                                              <a:prstClr val="black"/>
                                            </a:solidFill>
                                            <a:latin typeface="Cambria Math" panose="02040503050406030204" pitchFamily="18" charset="0"/>
                                            <a:ea typeface="Cambria Math" panose="02040503050406030204" pitchFamily="18" charset="0"/>
                                          </a:rPr>
                                          <m:t>∅</m:t>
                                        </m:r>
                                      </m:e>
                                      <m:sub>
                                        <m:r>
                                          <a:rPr lang="en-US" altLang="zh-TW" i="1" smtClean="0">
                                            <a:solidFill>
                                              <a:prstClr val="black"/>
                                            </a:solidFill>
                                            <a:latin typeface="Cambria Math" panose="02040503050406030204" pitchFamily="18" charset="0"/>
                                            <a:ea typeface="Cambria Math" panose="02040503050406030204" pitchFamily="18" charset="0"/>
                                          </a:rPr>
                                          <m:t>𝑠</m:t>
                                        </m:r>
                                        <m:r>
                                          <a:rPr lang="en-US" altLang="zh-TW" i="1">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𝑜</m:t>
                                        </m:r>
                                      </m:sub>
                                    </m:sSub>
                                  </m:sup>
                                </m:sSup>
                              </m:e>
                            </m:mr>
                            <m:mr>
                              <m:e>
                                <m:sSub>
                                  <m:sSubPr>
                                    <m:ctrlPr>
                                      <a:rPr lang="en-US" altLang="zh-TW" i="1">
                                        <a:solidFill>
                                          <a:prstClr val="black"/>
                                        </a:solidFill>
                                        <a:latin typeface="Cambria Math" panose="02040503050406030204" pitchFamily="18" charset="0"/>
                                      </a:rPr>
                                    </m:ctrlPr>
                                  </m:sSubPr>
                                  <m:e>
                                    <m:r>
                                      <a:rPr lang="en-US" altLang="zh-TW" b="0" i="1" smtClean="0">
                                        <a:solidFill>
                                          <a:prstClr val="black"/>
                                        </a:solidFill>
                                        <a:latin typeface="Cambria Math" panose="02040503050406030204" pitchFamily="18" charset="0"/>
                                      </a:rPr>
                                      <m:t>𝑅</m:t>
                                    </m:r>
                                    <m:r>
                                      <a:rPr lang="en-US" altLang="zh-TW" i="1" smtClean="0">
                                        <a:solidFill>
                                          <a:prstClr val="black"/>
                                        </a:solidFill>
                                        <a:latin typeface="Cambria Math" panose="02040503050406030204" pitchFamily="18" charset="0"/>
                                      </a:rPr>
                                      <m:t>1</m:t>
                                    </m:r>
                                  </m:e>
                                  <m:sub>
                                    <m:r>
                                      <a:rPr lang="en-US" altLang="zh-TW" i="1" smtClean="0">
                                        <a:solidFill>
                                          <a:prstClr val="black"/>
                                        </a:solidFill>
                                        <a:latin typeface="Cambria Math" panose="02040503050406030204" pitchFamily="18" charset="0"/>
                                      </a:rPr>
                                      <m:t>𝑠</m:t>
                                    </m:r>
                                    <m:r>
                                      <a:rPr lang="en-US" altLang="zh-TW" i="1">
                                        <a:solidFill>
                                          <a:prstClr val="black"/>
                                        </a:solidFill>
                                        <a:latin typeface="Cambria Math" panose="02040503050406030204" pitchFamily="18" charset="0"/>
                                      </a:rPr>
                                      <m:t>,</m:t>
                                    </m:r>
                                    <m:r>
                                      <a:rPr lang="en-US" altLang="zh-TW" i="1">
                                        <a:solidFill>
                                          <a:prstClr val="black"/>
                                        </a:solidFill>
                                        <a:latin typeface="Cambria Math" panose="02040503050406030204" pitchFamily="18" charset="0"/>
                                      </a:rPr>
                                      <m:t>𝑒</m:t>
                                    </m:r>
                                  </m:sub>
                                </m:sSub>
                                <m:sSup>
                                  <m:sSupPr>
                                    <m:ctrlPr>
                                      <a:rPr lang="en-US" altLang="zh-TW" i="1">
                                        <a:solidFill>
                                          <a:prstClr val="black"/>
                                        </a:solidFill>
                                        <a:latin typeface="Cambria Math" panose="02040503050406030204" pitchFamily="18" charset="0"/>
                                      </a:rPr>
                                    </m:ctrlPr>
                                  </m:sSupPr>
                                  <m:e>
                                    <m:r>
                                      <a:rPr lang="en-US" altLang="zh-TW" i="1">
                                        <a:solidFill>
                                          <a:prstClr val="black"/>
                                        </a:solidFill>
                                        <a:latin typeface="Cambria Math" panose="02040503050406030204" pitchFamily="18" charset="0"/>
                                      </a:rPr>
                                      <m:t>𝑒</m:t>
                                    </m:r>
                                  </m:e>
                                  <m:sup>
                                    <m:r>
                                      <a:rPr lang="en-US" altLang="zh-TW" i="1">
                                        <a:solidFill>
                                          <a:prstClr val="black"/>
                                        </a:solidFill>
                                        <a:latin typeface="Cambria Math" panose="02040503050406030204" pitchFamily="18" charset="0"/>
                                      </a:rPr>
                                      <m:t>𝑖</m:t>
                                    </m:r>
                                    <m:sSub>
                                      <m:sSubPr>
                                        <m:ctrlPr>
                                          <a:rPr lang="en-US" altLang="zh-TW" i="1">
                                            <a:solidFill>
                                              <a:prstClr val="black"/>
                                            </a:solidFill>
                                            <a:latin typeface="Cambria Math" panose="02040503050406030204" pitchFamily="18" charset="0"/>
                                          </a:rPr>
                                        </m:ctrlPr>
                                      </m:sSubPr>
                                      <m:e>
                                        <m:r>
                                          <a:rPr lang="en-US" altLang="zh-TW" i="1">
                                            <a:solidFill>
                                              <a:prstClr val="black"/>
                                            </a:solidFill>
                                            <a:latin typeface="Cambria Math" panose="02040503050406030204" pitchFamily="18" charset="0"/>
                                            <a:ea typeface="Cambria Math" panose="02040503050406030204" pitchFamily="18" charset="0"/>
                                          </a:rPr>
                                          <m:t>∅</m:t>
                                        </m:r>
                                      </m:e>
                                      <m:sub>
                                        <m:r>
                                          <a:rPr lang="en-US" altLang="zh-TW" i="1" smtClean="0">
                                            <a:solidFill>
                                              <a:prstClr val="black"/>
                                            </a:solidFill>
                                            <a:latin typeface="Cambria Math" panose="02040503050406030204" pitchFamily="18" charset="0"/>
                                            <a:ea typeface="Cambria Math" panose="02040503050406030204" pitchFamily="18" charset="0"/>
                                          </a:rPr>
                                          <m:t>𝑠</m:t>
                                        </m:r>
                                        <m:r>
                                          <a:rPr lang="en-US" altLang="zh-TW" i="1">
                                            <a:solidFill>
                                              <a:prstClr val="black"/>
                                            </a:solidFill>
                                            <a:latin typeface="Cambria Math" panose="02040503050406030204" pitchFamily="18" charset="0"/>
                                          </a:rPr>
                                          <m:t>,</m:t>
                                        </m:r>
                                        <m:r>
                                          <a:rPr lang="en-US" altLang="zh-TW" i="1">
                                            <a:solidFill>
                                              <a:prstClr val="black"/>
                                            </a:solidFill>
                                            <a:latin typeface="Cambria Math" panose="02040503050406030204" pitchFamily="18" charset="0"/>
                                          </a:rPr>
                                          <m:t>𝑒</m:t>
                                        </m:r>
                                      </m:sub>
                                    </m:sSub>
                                  </m:sup>
                                </m:sSup>
                              </m:e>
                            </m:mr>
                            <m:mr>
                              <m:e>
                                <m:sSub>
                                  <m:sSubPr>
                                    <m:ctrlPr>
                                      <a:rPr lang="en-US" altLang="zh-TW" i="1">
                                        <a:solidFill>
                                          <a:prstClr val="black"/>
                                        </a:solidFill>
                                        <a:latin typeface="Cambria Math" panose="02040503050406030204" pitchFamily="18" charset="0"/>
                                      </a:rPr>
                                    </m:ctrlPr>
                                  </m:sSubPr>
                                  <m:e>
                                    <m:r>
                                      <a:rPr lang="en-US" altLang="zh-TW" b="0" i="1" smtClean="0">
                                        <a:solidFill>
                                          <a:prstClr val="black"/>
                                        </a:solidFill>
                                        <a:latin typeface="Cambria Math" panose="02040503050406030204" pitchFamily="18" charset="0"/>
                                      </a:rPr>
                                      <m:t>𝑅</m:t>
                                    </m:r>
                                    <m:r>
                                      <a:rPr lang="en-US" altLang="zh-TW" i="1" smtClean="0">
                                        <a:solidFill>
                                          <a:prstClr val="black"/>
                                        </a:solidFill>
                                        <a:latin typeface="Cambria Math" panose="02040503050406030204" pitchFamily="18" charset="0"/>
                                      </a:rPr>
                                      <m:t>1</m:t>
                                    </m:r>
                                  </m:e>
                                  <m:sub>
                                    <m:r>
                                      <a:rPr lang="en-US" altLang="zh-TW" i="1">
                                        <a:solidFill>
                                          <a:prstClr val="black"/>
                                        </a:solidFill>
                                        <a:latin typeface="Cambria Math" panose="02040503050406030204" pitchFamily="18" charset="0"/>
                                      </a:rPr>
                                      <m:t>𝑖</m:t>
                                    </m:r>
                                    <m:r>
                                      <a:rPr lang="en-US" altLang="zh-TW" i="1">
                                        <a:solidFill>
                                          <a:prstClr val="black"/>
                                        </a:solidFill>
                                        <a:latin typeface="Cambria Math" panose="02040503050406030204" pitchFamily="18" charset="0"/>
                                      </a:rPr>
                                      <m:t>,</m:t>
                                    </m:r>
                                    <m:r>
                                      <a:rPr lang="en-US" altLang="zh-TW" i="1">
                                        <a:solidFill>
                                          <a:prstClr val="black"/>
                                        </a:solidFill>
                                        <a:latin typeface="Cambria Math" panose="02040503050406030204" pitchFamily="18" charset="0"/>
                                      </a:rPr>
                                      <m:t>𝑒</m:t>
                                    </m:r>
                                  </m:sub>
                                </m:sSub>
                                <m:sSup>
                                  <m:sSupPr>
                                    <m:ctrlPr>
                                      <a:rPr lang="en-US" altLang="zh-TW" i="1">
                                        <a:solidFill>
                                          <a:prstClr val="black"/>
                                        </a:solidFill>
                                        <a:latin typeface="Cambria Math" panose="02040503050406030204" pitchFamily="18" charset="0"/>
                                      </a:rPr>
                                    </m:ctrlPr>
                                  </m:sSupPr>
                                  <m:e>
                                    <m:r>
                                      <a:rPr lang="en-US" altLang="zh-TW" i="1">
                                        <a:solidFill>
                                          <a:prstClr val="black"/>
                                        </a:solidFill>
                                        <a:latin typeface="Cambria Math" panose="02040503050406030204" pitchFamily="18" charset="0"/>
                                      </a:rPr>
                                      <m:t>𝑒</m:t>
                                    </m:r>
                                  </m:e>
                                  <m:sup>
                                    <m:r>
                                      <a:rPr lang="en-US" altLang="zh-TW" i="1">
                                        <a:solidFill>
                                          <a:prstClr val="black"/>
                                        </a:solidFill>
                                        <a:latin typeface="Cambria Math" panose="02040503050406030204" pitchFamily="18" charset="0"/>
                                      </a:rPr>
                                      <m:t>𝑖</m:t>
                                    </m:r>
                                    <m:sSub>
                                      <m:sSubPr>
                                        <m:ctrlPr>
                                          <a:rPr lang="en-US" altLang="zh-TW" i="1">
                                            <a:solidFill>
                                              <a:prstClr val="black"/>
                                            </a:solidFill>
                                            <a:latin typeface="Cambria Math" panose="02040503050406030204" pitchFamily="18" charset="0"/>
                                          </a:rPr>
                                        </m:ctrlPr>
                                      </m:sSubPr>
                                      <m:e>
                                        <m:r>
                                          <a:rPr lang="en-US" altLang="zh-TW" i="1">
                                            <a:solidFill>
                                              <a:prstClr val="black"/>
                                            </a:solidFill>
                                            <a:latin typeface="Cambria Math" panose="02040503050406030204" pitchFamily="18" charset="0"/>
                                            <a:ea typeface="Cambria Math" panose="02040503050406030204" pitchFamily="18" charset="0"/>
                                          </a:rPr>
                                          <m:t>∅</m:t>
                                        </m:r>
                                      </m:e>
                                      <m:sub>
                                        <m:r>
                                          <a:rPr lang="en-US" altLang="zh-TW" i="1" smtClean="0">
                                            <a:solidFill>
                                              <a:prstClr val="black"/>
                                            </a:solidFill>
                                            <a:latin typeface="Cambria Math" panose="02040503050406030204" pitchFamily="18" charset="0"/>
                                            <a:ea typeface="Cambria Math" panose="02040503050406030204" pitchFamily="18" charset="0"/>
                                          </a:rPr>
                                          <m:t>𝑖</m:t>
                                        </m:r>
                                        <m:r>
                                          <a:rPr lang="en-US" altLang="zh-TW" i="1">
                                            <a:solidFill>
                                              <a:prstClr val="black"/>
                                            </a:solidFill>
                                            <a:latin typeface="Cambria Math" panose="02040503050406030204" pitchFamily="18" charset="0"/>
                                          </a:rPr>
                                          <m:t>,</m:t>
                                        </m:r>
                                        <m:r>
                                          <a:rPr lang="en-US" altLang="zh-TW" i="1">
                                            <a:solidFill>
                                              <a:prstClr val="black"/>
                                            </a:solidFill>
                                            <a:latin typeface="Cambria Math" panose="02040503050406030204" pitchFamily="18" charset="0"/>
                                          </a:rPr>
                                          <m:t>𝑒</m:t>
                                        </m:r>
                                      </m:sub>
                                    </m:sSub>
                                  </m:sup>
                                </m:sSup>
                              </m:e>
                            </m:mr>
                            <m:mr>
                              <m:e>
                                <m:sSub>
                                  <m:sSubPr>
                                    <m:ctrlPr>
                                      <a:rPr lang="en-US" altLang="zh-TW" i="1" smtClean="0">
                                        <a:solidFill>
                                          <a:prstClr val="black"/>
                                        </a:solidFill>
                                        <a:latin typeface="Cambria Math" panose="02040503050406030204" pitchFamily="18" charset="0"/>
                                      </a:rPr>
                                    </m:ctrlPr>
                                  </m:sSubPr>
                                  <m:e>
                                    <m:r>
                                      <a:rPr lang="en-US" altLang="zh-TW" b="0" i="1" smtClean="0">
                                        <a:solidFill>
                                          <a:prstClr val="black"/>
                                        </a:solidFill>
                                        <a:latin typeface="Cambria Math" panose="02040503050406030204" pitchFamily="18" charset="0"/>
                                      </a:rPr>
                                      <m:t>𝑅</m:t>
                                    </m:r>
                                    <m:r>
                                      <a:rPr lang="en-US" altLang="zh-TW" i="1" smtClean="0">
                                        <a:solidFill>
                                          <a:prstClr val="black"/>
                                        </a:solidFill>
                                        <a:latin typeface="Cambria Math" panose="02040503050406030204" pitchFamily="18" charset="0"/>
                                      </a:rPr>
                                      <m:t>1</m:t>
                                    </m:r>
                                  </m:e>
                                  <m:sub>
                                    <m:r>
                                      <a:rPr lang="en-US" altLang="zh-TW" i="1" smtClean="0">
                                        <a:solidFill>
                                          <a:prstClr val="black"/>
                                        </a:solidFill>
                                        <a:latin typeface="Cambria Math" panose="02040503050406030204" pitchFamily="18" charset="0"/>
                                      </a:rPr>
                                      <m:t>𝑝</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𝑒</m:t>
                                    </m:r>
                                  </m:sub>
                                </m:sSub>
                                <m:sSup>
                                  <m:sSupPr>
                                    <m:ctrlPr>
                                      <a:rPr lang="en-US" altLang="zh-TW" i="1" smtClean="0">
                                        <a:solidFill>
                                          <a:prstClr val="black"/>
                                        </a:solidFill>
                                        <a:latin typeface="Cambria Math" panose="02040503050406030204" pitchFamily="18" charset="0"/>
                                      </a:rPr>
                                    </m:ctrlPr>
                                  </m:sSupPr>
                                  <m:e>
                                    <m:r>
                                      <a:rPr lang="en-US" altLang="zh-TW" i="1" smtClean="0">
                                        <a:solidFill>
                                          <a:prstClr val="black"/>
                                        </a:solidFill>
                                        <a:latin typeface="Cambria Math" panose="02040503050406030204" pitchFamily="18" charset="0"/>
                                      </a:rPr>
                                      <m:t>𝑒</m:t>
                                    </m:r>
                                  </m:e>
                                  <m:sup>
                                    <m:r>
                                      <a:rPr lang="en-US" altLang="zh-TW" i="1" smtClean="0">
                                        <a:solidFill>
                                          <a:prstClr val="black"/>
                                        </a:solidFill>
                                        <a:latin typeface="Cambria Math" panose="02040503050406030204" pitchFamily="18" charset="0"/>
                                      </a:rPr>
                                      <m:t>𝑖</m:t>
                                    </m:r>
                                    <m:sSub>
                                      <m:sSubPr>
                                        <m:ctrlPr>
                                          <a:rPr lang="en-US" altLang="zh-TW" i="1" smtClean="0">
                                            <a:solidFill>
                                              <a:prstClr val="black"/>
                                            </a:solidFill>
                                            <a:latin typeface="Cambria Math" panose="02040503050406030204" pitchFamily="18" charset="0"/>
                                          </a:rPr>
                                        </m:ctrlPr>
                                      </m:sSubPr>
                                      <m:e>
                                        <m:r>
                                          <a:rPr lang="en-US" altLang="zh-TW" i="1" smtClean="0">
                                            <a:solidFill>
                                              <a:prstClr val="black"/>
                                            </a:solidFill>
                                            <a:latin typeface="Cambria Math" panose="02040503050406030204" pitchFamily="18" charset="0"/>
                                            <a:ea typeface="Cambria Math" panose="02040503050406030204" pitchFamily="18" charset="0"/>
                                          </a:rPr>
                                          <m:t>∅</m:t>
                                        </m:r>
                                      </m:e>
                                      <m:sub>
                                        <m:r>
                                          <a:rPr lang="en-US" altLang="zh-TW" i="1" smtClean="0">
                                            <a:solidFill>
                                              <a:prstClr val="black"/>
                                            </a:solidFill>
                                            <a:latin typeface="Cambria Math" panose="02040503050406030204" pitchFamily="18" charset="0"/>
                                          </a:rPr>
                                          <m:t>𝑝</m:t>
                                        </m:r>
                                        <m:r>
                                          <a:rPr lang="en-US" altLang="zh-TW" i="1" smtClean="0">
                                            <a:solidFill>
                                              <a:prstClr val="black"/>
                                            </a:solidFill>
                                            <a:latin typeface="Cambria Math" panose="02040503050406030204" pitchFamily="18" charset="0"/>
                                          </a:rPr>
                                          <m:t>,</m:t>
                                        </m:r>
                                        <m:r>
                                          <a:rPr lang="en-US" altLang="zh-TW" i="1" smtClean="0">
                                            <a:solidFill>
                                              <a:prstClr val="black"/>
                                            </a:solidFill>
                                            <a:latin typeface="Cambria Math" panose="02040503050406030204" pitchFamily="18" charset="0"/>
                                          </a:rPr>
                                          <m:t>𝑒</m:t>
                                        </m:r>
                                      </m:sub>
                                    </m:sSub>
                                  </m:sup>
                                </m:sSup>
                              </m:e>
                            </m:mr>
                          </m:m>
                        </m:e>
                      </m:d>
                    </m:oMath>
                  </m:oMathPara>
                </a14:m>
                <a:endParaRPr lang="zh-TW" altLang="en-US" dirty="0">
                  <a:solidFill>
                    <a:prstClr val="black"/>
                  </a:solidFill>
                </a:endParaRPr>
              </a:p>
            </p:txBody>
          </p:sp>
        </mc:Choice>
        <mc:Fallback xmlns="">
          <p:sp>
            <p:nvSpPr>
              <p:cNvPr id="93" name="文字方塊 92"/>
              <p:cNvSpPr txBox="1">
                <a:spLocks noRot="1" noChangeAspect="1" noMove="1" noResize="1" noEditPoints="1" noAdjustHandles="1" noChangeArrowheads="1" noChangeShapeType="1" noTextEdit="1"/>
              </p:cNvSpPr>
              <p:nvPr/>
            </p:nvSpPr>
            <p:spPr>
              <a:xfrm>
                <a:off x="1657472" y="2312977"/>
                <a:ext cx="1272592" cy="1364220"/>
              </a:xfrm>
              <a:prstGeom prst="rect">
                <a:avLst/>
              </a:prstGeom>
              <a:blipFill>
                <a:blip r:embed="rId17"/>
                <a:stretch>
                  <a:fillRect/>
                </a:stretch>
              </a:blipFill>
            </p:spPr>
            <p:txBody>
              <a:bodyPr/>
              <a:lstStyle/>
              <a:p>
                <a:r>
                  <a:rPr lang="zh-TW" altLang="en-US">
                    <a:noFill/>
                  </a:rPr>
                  <a:t> </a:t>
                </a:r>
              </a:p>
            </p:txBody>
          </p:sp>
        </mc:Fallback>
      </mc:AlternateContent>
      <p:sp>
        <p:nvSpPr>
          <p:cNvPr id="96" name="矩形 95">
            <a:extLst>
              <a:ext uri="{FF2B5EF4-FFF2-40B4-BE49-F238E27FC236}">
                <a16:creationId xmlns:a16="http://schemas.microsoft.com/office/drawing/2014/main" id="{6F9DCF7B-0A45-422B-97E1-A7BF723366F9}"/>
              </a:ext>
            </a:extLst>
          </p:cNvPr>
          <p:cNvSpPr/>
          <p:nvPr/>
        </p:nvSpPr>
        <p:spPr>
          <a:xfrm>
            <a:off x="8614622" y="1111300"/>
            <a:ext cx="125561" cy="551866"/>
          </a:xfrm>
          <a:prstGeom prst="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97" name="矩形 96">
            <a:extLst>
              <a:ext uri="{FF2B5EF4-FFF2-40B4-BE49-F238E27FC236}">
                <a16:creationId xmlns:a16="http://schemas.microsoft.com/office/drawing/2014/main" id="{E7F47C5C-27CE-4CA3-9D75-AF58E0505A8D}"/>
              </a:ext>
            </a:extLst>
          </p:cNvPr>
          <p:cNvSpPr/>
          <p:nvPr/>
        </p:nvSpPr>
        <p:spPr>
          <a:xfrm>
            <a:off x="3059889" y="1121456"/>
            <a:ext cx="141423" cy="551866"/>
          </a:xfrm>
          <a:prstGeom prst="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nvGrpSpPr>
          <p:cNvPr id="183" name="群組 182"/>
          <p:cNvGrpSpPr/>
          <p:nvPr/>
        </p:nvGrpSpPr>
        <p:grpSpPr>
          <a:xfrm>
            <a:off x="3727191" y="1257579"/>
            <a:ext cx="4533428" cy="371088"/>
            <a:chOff x="5258280" y="2307837"/>
            <a:chExt cx="2902071" cy="892428"/>
          </a:xfrm>
        </p:grpSpPr>
        <p:sp>
          <p:nvSpPr>
            <p:cNvPr id="184" name="矩形 183"/>
            <p:cNvSpPr/>
            <p:nvPr/>
          </p:nvSpPr>
          <p:spPr>
            <a:xfrm>
              <a:off x="5258280" y="2311543"/>
              <a:ext cx="2902071" cy="888722"/>
            </a:xfrm>
            <a:prstGeom prst="rect">
              <a:avLst/>
            </a:prstGeom>
            <a:solidFill>
              <a:schemeClr val="bg2">
                <a:lumMod val="9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nvGrpSpPr>
            <p:cNvPr id="185" name="群組 184"/>
            <p:cNvGrpSpPr/>
            <p:nvPr/>
          </p:nvGrpSpPr>
          <p:grpSpPr>
            <a:xfrm>
              <a:off x="5371585" y="2307837"/>
              <a:ext cx="2649718" cy="892030"/>
              <a:chOff x="0" y="-3706"/>
              <a:chExt cx="3011837" cy="892071"/>
            </a:xfrm>
          </p:grpSpPr>
          <p:sp>
            <p:nvSpPr>
              <p:cNvPr id="186" name="矩形 185"/>
              <p:cNvSpPr/>
              <p:nvPr/>
            </p:nvSpPr>
            <p:spPr>
              <a:xfrm>
                <a:off x="302217" y="0"/>
                <a:ext cx="152417" cy="888365"/>
              </a:xfrm>
              <a:prstGeom prst="rect">
                <a:avLst/>
              </a:prstGeom>
              <a:solidFill>
                <a:schemeClr val="tx1">
                  <a:lumMod val="75000"/>
                  <a:lumOff val="2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87" name="矩形 186"/>
              <p:cNvSpPr/>
              <p:nvPr/>
            </p:nvSpPr>
            <p:spPr>
              <a:xfrm>
                <a:off x="0" y="0"/>
                <a:ext cx="152417" cy="888365"/>
              </a:xfrm>
              <a:prstGeom prst="rect">
                <a:avLst/>
              </a:prstGeom>
              <a:solidFill>
                <a:schemeClr val="tx1">
                  <a:lumMod val="75000"/>
                  <a:lumOff val="2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88" name="矩形 187"/>
              <p:cNvSpPr/>
              <p:nvPr/>
            </p:nvSpPr>
            <p:spPr>
              <a:xfrm>
                <a:off x="457200" y="0"/>
                <a:ext cx="152417" cy="888365"/>
              </a:xfrm>
              <a:prstGeom prst="rect">
                <a:avLst/>
              </a:prstGeom>
              <a:solidFill>
                <a:schemeClr val="tx1">
                  <a:lumMod val="75000"/>
                  <a:lumOff val="2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89" name="矩形 188"/>
              <p:cNvSpPr/>
              <p:nvPr/>
            </p:nvSpPr>
            <p:spPr>
              <a:xfrm>
                <a:off x="1061634" y="-3706"/>
                <a:ext cx="152400" cy="888365"/>
              </a:xfrm>
              <a:prstGeom prst="rect">
                <a:avLst/>
              </a:prstGeom>
              <a:solidFill>
                <a:schemeClr val="tx1">
                  <a:lumMod val="75000"/>
                  <a:lumOff val="2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90" name="矩形 189"/>
              <p:cNvSpPr/>
              <p:nvPr/>
            </p:nvSpPr>
            <p:spPr>
              <a:xfrm>
                <a:off x="1216617" y="-3706"/>
                <a:ext cx="152400" cy="888365"/>
              </a:xfrm>
              <a:prstGeom prst="rect">
                <a:avLst/>
              </a:prstGeom>
              <a:solidFill>
                <a:schemeClr val="tx1">
                  <a:lumMod val="75000"/>
                  <a:lumOff val="2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91" name="矩形 190"/>
              <p:cNvSpPr/>
              <p:nvPr/>
            </p:nvSpPr>
            <p:spPr>
              <a:xfrm>
                <a:off x="1371600" y="-3706"/>
                <a:ext cx="152400" cy="888365"/>
              </a:xfrm>
              <a:prstGeom prst="rect">
                <a:avLst/>
              </a:prstGeom>
              <a:solidFill>
                <a:schemeClr val="tx1">
                  <a:lumMod val="75000"/>
                  <a:lumOff val="2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92" name="矩形 191"/>
              <p:cNvSpPr/>
              <p:nvPr/>
            </p:nvSpPr>
            <p:spPr>
              <a:xfrm>
                <a:off x="2316996" y="0"/>
                <a:ext cx="152417" cy="888365"/>
              </a:xfrm>
              <a:prstGeom prst="rect">
                <a:avLst/>
              </a:prstGeom>
              <a:solidFill>
                <a:schemeClr val="tx1">
                  <a:lumMod val="75000"/>
                  <a:lumOff val="2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93" name="矩形 192"/>
              <p:cNvSpPr/>
              <p:nvPr/>
            </p:nvSpPr>
            <p:spPr>
              <a:xfrm>
                <a:off x="2162013" y="0"/>
                <a:ext cx="152400" cy="888365"/>
              </a:xfrm>
              <a:prstGeom prst="rect">
                <a:avLst/>
              </a:prstGeom>
              <a:solidFill>
                <a:schemeClr val="tx1">
                  <a:lumMod val="75000"/>
                  <a:lumOff val="2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94" name="矩形 193"/>
              <p:cNvSpPr/>
              <p:nvPr/>
            </p:nvSpPr>
            <p:spPr>
              <a:xfrm>
                <a:off x="2859437" y="0"/>
                <a:ext cx="152400" cy="888365"/>
              </a:xfrm>
              <a:prstGeom prst="rect">
                <a:avLst/>
              </a:prstGeom>
              <a:solidFill>
                <a:schemeClr val="tx1">
                  <a:lumMod val="75000"/>
                  <a:lumOff val="2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95" name="矩形 194"/>
              <p:cNvSpPr/>
              <p:nvPr/>
            </p:nvSpPr>
            <p:spPr>
              <a:xfrm>
                <a:off x="2704454" y="0"/>
                <a:ext cx="152400" cy="888365"/>
              </a:xfrm>
              <a:prstGeom prst="rect">
                <a:avLst/>
              </a:prstGeom>
              <a:solidFill>
                <a:schemeClr val="tx1">
                  <a:lumMod val="75000"/>
                  <a:lumOff val="2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96" name="矩形 195"/>
              <p:cNvSpPr/>
              <p:nvPr/>
            </p:nvSpPr>
            <p:spPr>
              <a:xfrm>
                <a:off x="1797803" y="0"/>
                <a:ext cx="152400" cy="888365"/>
              </a:xfrm>
              <a:prstGeom prst="rect">
                <a:avLst/>
              </a:prstGeom>
              <a:solidFill>
                <a:schemeClr val="tx1">
                  <a:lumMod val="75000"/>
                  <a:lumOff val="2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cxnSp>
        <p:nvCxnSpPr>
          <p:cNvPr id="197" name="直線接點 196"/>
          <p:cNvCxnSpPr/>
          <p:nvPr/>
        </p:nvCxnSpPr>
        <p:spPr>
          <a:xfrm>
            <a:off x="0" y="3726724"/>
            <a:ext cx="12192000" cy="16916"/>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199" name="矩形 198"/>
          <p:cNvSpPr/>
          <p:nvPr/>
        </p:nvSpPr>
        <p:spPr>
          <a:xfrm>
            <a:off x="-67229" y="3687020"/>
            <a:ext cx="1879682" cy="369332"/>
          </a:xfrm>
          <a:prstGeom prst="rect">
            <a:avLst/>
          </a:prstGeom>
        </p:spPr>
        <p:txBody>
          <a:bodyPr wrap="none">
            <a:spAutoFit/>
          </a:bodyPr>
          <a:lstStyle/>
          <a:p>
            <a:pPr algn="ctr"/>
            <a:r>
              <a:rPr lang="en-US" altLang="zh-TW" b="1" i="1" u="sng" dirty="0">
                <a:latin typeface="Times New Roman" panose="02020603050405020304" pitchFamily="18" charset="0"/>
                <a:cs typeface="Times New Roman" panose="02020603050405020304" pitchFamily="18" charset="0"/>
              </a:rPr>
              <a:t>Simulation result</a:t>
            </a:r>
            <a:endParaRPr lang="zh-TW" altLang="en-US" b="1" i="1" u="sng" dirty="0"/>
          </a:p>
        </p:txBody>
      </p:sp>
      <p:sp>
        <p:nvSpPr>
          <p:cNvPr id="200" name="向右箭號 199"/>
          <p:cNvSpPr/>
          <p:nvPr/>
        </p:nvSpPr>
        <p:spPr>
          <a:xfrm>
            <a:off x="2925503" y="2577493"/>
            <a:ext cx="460979" cy="235131"/>
          </a:xfrm>
          <a:prstGeom prst="rightArrow">
            <a:avLst/>
          </a:prstGeom>
          <a:solidFill>
            <a:schemeClr val="tx1"/>
          </a:solidFill>
          <a:ln>
            <a:solidFill>
              <a:schemeClr val="tx1">
                <a:lumMod val="85000"/>
                <a:lumOff val="1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p:sp>
        <p:nvSpPr>
          <p:cNvPr id="4" name="投影片編號版面配置區 3">
            <a:extLst>
              <a:ext uri="{FF2B5EF4-FFF2-40B4-BE49-F238E27FC236}">
                <a16:creationId xmlns:a16="http://schemas.microsoft.com/office/drawing/2014/main" id="{66E13F63-DFB4-40F7-B075-5DF1C3FC030B}"/>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24</a:t>
            </a:fld>
            <a:endParaRPr lang="zh-TW" altLang="en-US" dirty="0"/>
          </a:p>
        </p:txBody>
      </p:sp>
      <p:sp>
        <p:nvSpPr>
          <p:cNvPr id="80" name="文字方塊 46">
            <a:extLst>
              <a:ext uri="{FF2B5EF4-FFF2-40B4-BE49-F238E27FC236}">
                <a16:creationId xmlns:a16="http://schemas.microsoft.com/office/drawing/2014/main" id="{2526427D-936D-4CC9-B586-FEA8B27D2DA0}"/>
              </a:ext>
            </a:extLst>
          </p:cNvPr>
          <p:cNvSpPr txBox="1">
            <a:spLocks noChangeArrowheads="1"/>
          </p:cNvSpPr>
          <p:nvPr/>
        </p:nvSpPr>
        <p:spPr bwMode="auto">
          <a:xfrm>
            <a:off x="9485690" y="705201"/>
            <a:ext cx="278794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zh-TW" altLang="en-US" sz="1400" dirty="0">
                <a:latin typeface="標楷體" panose="03000509000000000000" pitchFamily="65" charset="-120"/>
                <a:ea typeface="標楷體" panose="03000509000000000000" pitchFamily="65" charset="-120"/>
              </a:rPr>
              <a:t>中央大學光電所 鐘宏彬博士論文</a:t>
            </a:r>
          </a:p>
        </p:txBody>
      </p:sp>
      <p:pic>
        <p:nvPicPr>
          <p:cNvPr id="7" name="圖片 6"/>
          <p:cNvPicPr>
            <a:picLocks noChangeAspect="1"/>
          </p:cNvPicPr>
          <p:nvPr/>
        </p:nvPicPr>
        <p:blipFill>
          <a:blip r:embed="rId18"/>
          <a:stretch>
            <a:fillRect/>
          </a:stretch>
        </p:blipFill>
        <p:spPr>
          <a:xfrm>
            <a:off x="3547183" y="632651"/>
            <a:ext cx="5029636" cy="3084843"/>
          </a:xfrm>
          <a:prstGeom prst="rect">
            <a:avLst/>
          </a:prstGeom>
        </p:spPr>
      </p:pic>
    </p:spTree>
    <p:extLst>
      <p:ext uri="{BB962C8B-B14F-4D97-AF65-F5344CB8AC3E}">
        <p14:creationId xmlns:p14="http://schemas.microsoft.com/office/powerpoint/2010/main" val="2892689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91626"/>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Fabrication process</a:t>
            </a:r>
          </a:p>
        </p:txBody>
      </p:sp>
      <p:grpSp>
        <p:nvGrpSpPr>
          <p:cNvPr id="24" name="群組 23">
            <a:extLst>
              <a:ext uri="{FF2B5EF4-FFF2-40B4-BE49-F238E27FC236}">
                <a16:creationId xmlns:a16="http://schemas.microsoft.com/office/drawing/2014/main" id="{4392A6DB-3812-46BA-8C8A-602C7B1D09C7}"/>
              </a:ext>
            </a:extLst>
          </p:cNvPr>
          <p:cNvGrpSpPr/>
          <p:nvPr/>
        </p:nvGrpSpPr>
        <p:grpSpPr>
          <a:xfrm>
            <a:off x="2461385" y="2055418"/>
            <a:ext cx="7249361" cy="3451280"/>
            <a:chOff x="1066798" y="1865437"/>
            <a:chExt cx="7249361" cy="3451280"/>
          </a:xfrm>
        </p:grpSpPr>
        <p:grpSp>
          <p:nvGrpSpPr>
            <p:cNvPr id="10" name="群組 9">
              <a:extLst>
                <a:ext uri="{FF2B5EF4-FFF2-40B4-BE49-F238E27FC236}">
                  <a16:creationId xmlns:a16="http://schemas.microsoft.com/office/drawing/2014/main" id="{9FDBC022-18CA-4966-A06B-A396F06D03FA}"/>
                </a:ext>
              </a:extLst>
            </p:cNvPr>
            <p:cNvGrpSpPr/>
            <p:nvPr/>
          </p:nvGrpSpPr>
          <p:grpSpPr>
            <a:xfrm>
              <a:off x="1066798" y="1865437"/>
              <a:ext cx="7249361" cy="3451280"/>
              <a:chOff x="1066798" y="1865437"/>
              <a:chExt cx="7249361" cy="3451280"/>
            </a:xfrm>
          </p:grpSpPr>
          <p:grpSp>
            <p:nvGrpSpPr>
              <p:cNvPr id="12" name="群組 11">
                <a:extLst>
                  <a:ext uri="{FF2B5EF4-FFF2-40B4-BE49-F238E27FC236}">
                    <a16:creationId xmlns:a16="http://schemas.microsoft.com/office/drawing/2014/main" id="{18E19966-E764-4EA6-A1F5-A9843A03E2F9}"/>
                  </a:ext>
                </a:extLst>
              </p:cNvPr>
              <p:cNvGrpSpPr/>
              <p:nvPr/>
            </p:nvGrpSpPr>
            <p:grpSpPr>
              <a:xfrm>
                <a:off x="1066798" y="1865437"/>
                <a:ext cx="7249361" cy="3451280"/>
                <a:chOff x="28861" y="0"/>
                <a:chExt cx="5306938" cy="2127903"/>
              </a:xfrm>
            </p:grpSpPr>
            <p:sp>
              <p:nvSpPr>
                <p:cNvPr id="13" name="矩形: 圓角 12">
                  <a:extLst>
                    <a:ext uri="{FF2B5EF4-FFF2-40B4-BE49-F238E27FC236}">
                      <a16:creationId xmlns:a16="http://schemas.microsoft.com/office/drawing/2014/main" id="{D5548171-4A3C-4395-BAD5-D8D2A658DE7C}"/>
                    </a:ext>
                  </a:extLst>
                </p:cNvPr>
                <p:cNvSpPr/>
                <p:nvPr/>
              </p:nvSpPr>
              <p:spPr>
                <a:xfrm>
                  <a:off x="28861" y="0"/>
                  <a:ext cx="5306938" cy="2127903"/>
                </a:xfrm>
                <a:prstGeom prst="roundRect">
                  <a:avLst/>
                </a:prstGeom>
                <a:solidFill>
                  <a:schemeClr val="accent1">
                    <a:lumMod val="60000"/>
                    <a:lumOff val="4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 name="橢圓 13">
                  <a:extLst>
                    <a:ext uri="{FF2B5EF4-FFF2-40B4-BE49-F238E27FC236}">
                      <a16:creationId xmlns:a16="http://schemas.microsoft.com/office/drawing/2014/main" id="{D8604FDD-8CE6-4347-9C21-4E622DE6C855}"/>
                    </a:ext>
                  </a:extLst>
                </p:cNvPr>
                <p:cNvSpPr/>
                <p:nvPr/>
              </p:nvSpPr>
              <p:spPr>
                <a:xfrm>
                  <a:off x="457200" y="98474"/>
                  <a:ext cx="1093470" cy="717550"/>
                </a:xfrm>
                <a:prstGeom prst="ellipse">
                  <a:avLst/>
                </a:prstGeom>
                <a:solidFill>
                  <a:schemeClr val="accent4">
                    <a:lumMod val="60000"/>
                    <a:lumOff val="40000"/>
                  </a:schemeClr>
                </a:solidFill>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Clean the chip</a:t>
                  </a:r>
                  <a:endParaRPr lang="zh-TW" altLang="en-US" sz="1400" dirty="0">
                    <a:solidFill>
                      <a:schemeClr val="tx1"/>
                    </a:solidFill>
                    <a:latin typeface="Times New Roman" panose="02020603050405020304" pitchFamily="18" charset="0"/>
                    <a:cs typeface="Times New Roman" panose="02020603050405020304" pitchFamily="18" charset="0"/>
                  </a:endParaRPr>
                </a:p>
              </p:txBody>
            </p:sp>
            <p:sp>
              <p:nvSpPr>
                <p:cNvPr id="15" name="橢圓 14">
                  <a:extLst>
                    <a:ext uri="{FF2B5EF4-FFF2-40B4-BE49-F238E27FC236}">
                      <a16:creationId xmlns:a16="http://schemas.microsoft.com/office/drawing/2014/main" id="{C2C208E0-9BD1-41C3-84CE-36287139C96C}"/>
                    </a:ext>
                  </a:extLst>
                </p:cNvPr>
                <p:cNvSpPr/>
                <p:nvPr/>
              </p:nvSpPr>
              <p:spPr>
                <a:xfrm>
                  <a:off x="2117187" y="98474"/>
                  <a:ext cx="1093470" cy="717550"/>
                </a:xfrm>
                <a:prstGeom prst="ellipse">
                  <a:avLst/>
                </a:prstGeom>
                <a:solidFill>
                  <a:schemeClr val="accent4">
                    <a:lumMod val="60000"/>
                    <a:lumOff val="40000"/>
                  </a:schemeClr>
                </a:solidFill>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altLang="zh-TW" sz="1400" dirty="0">
                      <a:solidFill>
                        <a:schemeClr val="tx1"/>
                      </a:solidFill>
                      <a:latin typeface="Times New Roman" panose="02020603050405020304" pitchFamily="18" charset="0"/>
                      <a:cs typeface="Times New Roman" panose="02020603050405020304" pitchFamily="18" charset="0"/>
                    </a:rPr>
                    <a:t>PR coating</a:t>
                  </a:r>
                  <a:endParaRPr lang="zh-TW" altLang="en-US" sz="1400" dirty="0">
                    <a:solidFill>
                      <a:schemeClr val="tx1"/>
                    </a:solidFill>
                    <a:latin typeface="標楷體" panose="03000509000000000000" pitchFamily="65" charset="-120"/>
                    <a:ea typeface="標楷體" panose="03000509000000000000" pitchFamily="65" charset="-120"/>
                  </a:endParaRPr>
                </a:p>
              </p:txBody>
            </p:sp>
            <p:sp>
              <p:nvSpPr>
                <p:cNvPr id="16" name="橢圓 15">
                  <a:extLst>
                    <a:ext uri="{FF2B5EF4-FFF2-40B4-BE49-F238E27FC236}">
                      <a16:creationId xmlns:a16="http://schemas.microsoft.com/office/drawing/2014/main" id="{EB8B5E78-C457-4D78-B762-FBADFC55BBFC}"/>
                    </a:ext>
                  </a:extLst>
                </p:cNvPr>
                <p:cNvSpPr/>
                <p:nvPr/>
              </p:nvSpPr>
              <p:spPr>
                <a:xfrm>
                  <a:off x="3756074" y="98474"/>
                  <a:ext cx="1093470" cy="717550"/>
                </a:xfrm>
                <a:prstGeom prst="ellipse">
                  <a:avLst/>
                </a:prstGeom>
                <a:solidFill>
                  <a:schemeClr val="accent4">
                    <a:lumMod val="60000"/>
                    <a:lumOff val="40000"/>
                  </a:schemeClr>
                </a:solidFill>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Soft bake</a:t>
                  </a:r>
                  <a:endPar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7" name="橢圓 16">
                  <a:extLst>
                    <a:ext uri="{FF2B5EF4-FFF2-40B4-BE49-F238E27FC236}">
                      <a16:creationId xmlns:a16="http://schemas.microsoft.com/office/drawing/2014/main" id="{2E4BD5A0-30CF-4A2B-A40A-D295A35D7419}"/>
                    </a:ext>
                  </a:extLst>
                </p:cNvPr>
                <p:cNvSpPr/>
                <p:nvPr/>
              </p:nvSpPr>
              <p:spPr>
                <a:xfrm>
                  <a:off x="2116772" y="1329550"/>
                  <a:ext cx="1093470" cy="717550"/>
                </a:xfrm>
                <a:prstGeom prst="ellipse">
                  <a:avLst/>
                </a:prstGeom>
                <a:solidFill>
                  <a:schemeClr val="accent4">
                    <a:lumMod val="60000"/>
                    <a:lumOff val="40000"/>
                  </a:schemeClr>
                </a:solidFill>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altLang="zh-TW"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Hard bake</a:t>
                  </a:r>
                  <a:endParaRPr lang="zh-TW" altLang="en-US" sz="14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 name="橢圓 17">
                  <a:extLst>
                    <a:ext uri="{FF2B5EF4-FFF2-40B4-BE49-F238E27FC236}">
                      <a16:creationId xmlns:a16="http://schemas.microsoft.com/office/drawing/2014/main" id="{9B8BC898-9254-4C6F-A4B0-B9A0D253B6AB}"/>
                    </a:ext>
                  </a:extLst>
                </p:cNvPr>
                <p:cNvSpPr/>
                <p:nvPr/>
              </p:nvSpPr>
              <p:spPr>
                <a:xfrm>
                  <a:off x="3756074" y="1329550"/>
                  <a:ext cx="1093470" cy="717550"/>
                </a:xfrm>
                <a:prstGeom prst="ellipse">
                  <a:avLst/>
                </a:prstGeom>
                <a:solidFill>
                  <a:schemeClr val="accent4">
                    <a:lumMod val="60000"/>
                    <a:lumOff val="40000"/>
                  </a:schemeClr>
                </a:solidFill>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altLang="zh-TW" sz="1200" dirty="0">
                      <a:solidFill>
                        <a:schemeClr val="tx1"/>
                      </a:solidFill>
                      <a:latin typeface="Times New Roman" panose="02020603050405020304" pitchFamily="18" charset="0"/>
                      <a:cs typeface="Times New Roman" panose="02020603050405020304" pitchFamily="18" charset="0"/>
                    </a:rPr>
                    <a:t>Exposure and development</a:t>
                  </a:r>
                  <a:endParaRPr lang="zh-TW" altLang="en-US" sz="1200" dirty="0">
                    <a:solidFill>
                      <a:schemeClr val="tx1"/>
                    </a:solidFill>
                    <a:latin typeface="Times New Roman" panose="02020603050405020304" pitchFamily="18" charset="0"/>
                    <a:cs typeface="Times New Roman" panose="02020603050405020304" pitchFamily="18" charset="0"/>
                  </a:endParaRPr>
                </a:p>
              </p:txBody>
            </p:sp>
            <p:sp>
              <p:nvSpPr>
                <p:cNvPr id="19" name="箭號: 向右 18">
                  <a:extLst>
                    <a:ext uri="{FF2B5EF4-FFF2-40B4-BE49-F238E27FC236}">
                      <a16:creationId xmlns:a16="http://schemas.microsoft.com/office/drawing/2014/main" id="{40982E9C-C019-4441-8ADB-2623394678CD}"/>
                    </a:ext>
                  </a:extLst>
                </p:cNvPr>
                <p:cNvSpPr/>
                <p:nvPr/>
              </p:nvSpPr>
              <p:spPr>
                <a:xfrm>
                  <a:off x="1603717" y="335573"/>
                  <a:ext cx="452755" cy="271145"/>
                </a:xfrm>
                <a:prstGeom prst="rightArrow">
                  <a:avLst/>
                </a:prstGeom>
                <a:solidFill>
                  <a:schemeClr val="tx1">
                    <a:lumMod val="50000"/>
                    <a:lumOff val="50000"/>
                  </a:scheme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20" name="箭號: 向右 19">
                  <a:extLst>
                    <a:ext uri="{FF2B5EF4-FFF2-40B4-BE49-F238E27FC236}">
                      <a16:creationId xmlns:a16="http://schemas.microsoft.com/office/drawing/2014/main" id="{65AF20B5-6DED-440E-9945-D8372311D428}"/>
                    </a:ext>
                  </a:extLst>
                </p:cNvPr>
                <p:cNvSpPr/>
                <p:nvPr/>
              </p:nvSpPr>
              <p:spPr>
                <a:xfrm>
                  <a:off x="3263704" y="335573"/>
                  <a:ext cx="452755" cy="271145"/>
                </a:xfrm>
                <a:prstGeom prst="rightArrow">
                  <a:avLst/>
                </a:prstGeom>
                <a:solidFill>
                  <a:schemeClr val="tx1">
                    <a:lumMod val="50000"/>
                    <a:lumOff val="50000"/>
                  </a:scheme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21" name="箭號: 向右 20">
                  <a:extLst>
                    <a:ext uri="{FF2B5EF4-FFF2-40B4-BE49-F238E27FC236}">
                      <a16:creationId xmlns:a16="http://schemas.microsoft.com/office/drawing/2014/main" id="{0E95035F-4279-4CF9-A65E-F91CF00DCB91}"/>
                    </a:ext>
                  </a:extLst>
                </p:cNvPr>
                <p:cNvSpPr/>
                <p:nvPr/>
              </p:nvSpPr>
              <p:spPr>
                <a:xfrm rot="10800000">
                  <a:off x="3257764" y="1552753"/>
                  <a:ext cx="452755" cy="271145"/>
                </a:xfrm>
                <a:prstGeom prst="rightArrow">
                  <a:avLst/>
                </a:prstGeom>
                <a:solidFill>
                  <a:schemeClr val="tx1">
                    <a:lumMod val="50000"/>
                    <a:lumOff val="50000"/>
                  </a:scheme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dirty="0"/>
                </a:p>
              </p:txBody>
            </p:sp>
            <p:sp>
              <p:nvSpPr>
                <p:cNvPr id="22" name="箭號: 向右 21">
                  <a:extLst>
                    <a:ext uri="{FF2B5EF4-FFF2-40B4-BE49-F238E27FC236}">
                      <a16:creationId xmlns:a16="http://schemas.microsoft.com/office/drawing/2014/main" id="{2AE31F3C-38B4-4AD5-9411-56C99AD9BEB4}"/>
                    </a:ext>
                  </a:extLst>
                </p:cNvPr>
                <p:cNvSpPr/>
                <p:nvPr/>
              </p:nvSpPr>
              <p:spPr>
                <a:xfrm rot="5400000">
                  <a:off x="4076431" y="928379"/>
                  <a:ext cx="452755" cy="271145"/>
                </a:xfrm>
                <a:prstGeom prst="rightArrow">
                  <a:avLst/>
                </a:prstGeom>
                <a:solidFill>
                  <a:schemeClr val="tx1">
                    <a:lumMod val="50000"/>
                    <a:lumOff val="50000"/>
                  </a:scheme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23" name="橢圓 22">
                <a:extLst>
                  <a:ext uri="{FF2B5EF4-FFF2-40B4-BE49-F238E27FC236}">
                    <a16:creationId xmlns:a16="http://schemas.microsoft.com/office/drawing/2014/main" id="{ADE1B483-DCB7-4800-A283-42918E618908}"/>
                  </a:ext>
                </a:extLst>
              </p:cNvPr>
              <p:cNvSpPr/>
              <p:nvPr/>
            </p:nvSpPr>
            <p:spPr>
              <a:xfrm>
                <a:off x="1653088" y="4021855"/>
                <a:ext cx="1493697" cy="1163806"/>
              </a:xfrm>
              <a:prstGeom prst="ellipse">
                <a:avLst/>
              </a:prstGeom>
              <a:solidFill>
                <a:schemeClr val="accent4">
                  <a:lumMod val="60000"/>
                  <a:lumOff val="40000"/>
                </a:schemeClr>
              </a:solidFill>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US" altLang="zh-TW" sz="1400" kern="100" dirty="0">
                    <a:effectLst/>
                    <a:ea typeface="新細明體" panose="02020500000000000000" pitchFamily="18" charset="-120"/>
                    <a:cs typeface="Times New Roman" panose="02020603050405020304" pitchFamily="18" charset="0"/>
                  </a:rPr>
                  <a:t>Poling</a:t>
                </a:r>
                <a:endParaRPr lang="zh-TW" sz="1400" kern="100" dirty="0">
                  <a:effectLst/>
                  <a:ea typeface="新細明體" panose="02020500000000000000" pitchFamily="18" charset="-120"/>
                  <a:cs typeface="Times New Roman" panose="02020603050405020304" pitchFamily="18" charset="0"/>
                </a:endParaRPr>
              </a:p>
            </p:txBody>
          </p:sp>
        </p:grpSp>
        <p:sp>
          <p:nvSpPr>
            <p:cNvPr id="26" name="箭號: 向右 25">
              <a:extLst>
                <a:ext uri="{FF2B5EF4-FFF2-40B4-BE49-F238E27FC236}">
                  <a16:creationId xmlns:a16="http://schemas.microsoft.com/office/drawing/2014/main" id="{3A94B465-F5EB-4F91-AA2A-A2F5811A0AC6}"/>
                </a:ext>
              </a:extLst>
            </p:cNvPr>
            <p:cNvSpPr/>
            <p:nvPr/>
          </p:nvSpPr>
          <p:spPr>
            <a:xfrm rot="10800000">
              <a:off x="3188959" y="4383871"/>
              <a:ext cx="618470" cy="439774"/>
            </a:xfrm>
            <a:prstGeom prst="rightArrow">
              <a:avLst/>
            </a:prstGeom>
            <a:solidFill>
              <a:schemeClr val="tx1">
                <a:lumMod val="50000"/>
                <a:lumOff val="50000"/>
              </a:scheme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44" name="群組 43">
            <a:extLst>
              <a:ext uri="{FF2B5EF4-FFF2-40B4-BE49-F238E27FC236}">
                <a16:creationId xmlns:a16="http://schemas.microsoft.com/office/drawing/2014/main" id="{7D1680DE-9DCC-48AF-954E-07F08A6AC630}"/>
              </a:ext>
            </a:extLst>
          </p:cNvPr>
          <p:cNvGrpSpPr/>
          <p:nvPr/>
        </p:nvGrpSpPr>
        <p:grpSpPr>
          <a:xfrm>
            <a:off x="5531783" y="916431"/>
            <a:ext cx="1493698" cy="753037"/>
            <a:chOff x="554143" y="1007390"/>
            <a:chExt cx="2092751" cy="1198462"/>
          </a:xfrm>
          <a:solidFill>
            <a:schemeClr val="accent4">
              <a:lumMod val="40000"/>
              <a:lumOff val="60000"/>
            </a:schemeClr>
          </a:solidFill>
        </p:grpSpPr>
        <p:sp>
          <p:nvSpPr>
            <p:cNvPr id="45" name="立方體 44">
              <a:extLst>
                <a:ext uri="{FF2B5EF4-FFF2-40B4-BE49-F238E27FC236}">
                  <a16:creationId xmlns:a16="http://schemas.microsoft.com/office/drawing/2014/main" id="{C779701F-0E7F-4F54-B57E-0A10098A4178}"/>
                </a:ext>
              </a:extLst>
            </p:cNvPr>
            <p:cNvSpPr/>
            <p:nvPr/>
          </p:nvSpPr>
          <p:spPr>
            <a:xfrm>
              <a:off x="554143" y="1063746"/>
              <a:ext cx="2092750" cy="1142106"/>
            </a:xfrm>
            <a:prstGeom prst="cube">
              <a:avLst>
                <a:gd name="adj" fmla="val 81126"/>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立方體 45">
              <a:extLst>
                <a:ext uri="{FF2B5EF4-FFF2-40B4-BE49-F238E27FC236}">
                  <a16:creationId xmlns:a16="http://schemas.microsoft.com/office/drawing/2014/main" id="{CE6D9644-9018-4595-9D29-67711AD24D15}"/>
                </a:ext>
              </a:extLst>
            </p:cNvPr>
            <p:cNvSpPr/>
            <p:nvPr/>
          </p:nvSpPr>
          <p:spPr>
            <a:xfrm>
              <a:off x="554144" y="1007390"/>
              <a:ext cx="2092750" cy="973805"/>
            </a:xfrm>
            <a:prstGeom prst="cube">
              <a:avLst>
                <a:gd name="adj" fmla="val 94332"/>
              </a:avLst>
            </a:prstGeom>
            <a:grp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grpSp>
      <p:sp>
        <p:nvSpPr>
          <p:cNvPr id="60" name="立方體 59">
            <a:extLst>
              <a:ext uri="{FF2B5EF4-FFF2-40B4-BE49-F238E27FC236}">
                <a16:creationId xmlns:a16="http://schemas.microsoft.com/office/drawing/2014/main" id="{9174B711-5394-4EE0-B24F-D2B8A0622791}"/>
              </a:ext>
            </a:extLst>
          </p:cNvPr>
          <p:cNvSpPr/>
          <p:nvPr/>
        </p:nvSpPr>
        <p:spPr>
          <a:xfrm>
            <a:off x="1815561" y="955799"/>
            <a:ext cx="1493697" cy="717626"/>
          </a:xfrm>
          <a:prstGeom prst="cube">
            <a:avLst>
              <a:gd name="adj" fmla="val 81126"/>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62" name="群組 61">
            <a:extLst>
              <a:ext uri="{FF2B5EF4-FFF2-40B4-BE49-F238E27FC236}">
                <a16:creationId xmlns:a16="http://schemas.microsoft.com/office/drawing/2014/main" id="{FF2D9654-932E-4533-A534-519F3C05E04D}"/>
              </a:ext>
            </a:extLst>
          </p:cNvPr>
          <p:cNvGrpSpPr/>
          <p:nvPr/>
        </p:nvGrpSpPr>
        <p:grpSpPr>
          <a:xfrm>
            <a:off x="9417161" y="947462"/>
            <a:ext cx="1493698" cy="753037"/>
            <a:chOff x="554143" y="1007390"/>
            <a:chExt cx="2092751" cy="1198462"/>
          </a:xfrm>
        </p:grpSpPr>
        <p:sp>
          <p:nvSpPr>
            <p:cNvPr id="63" name="立方體 62">
              <a:extLst>
                <a:ext uri="{FF2B5EF4-FFF2-40B4-BE49-F238E27FC236}">
                  <a16:creationId xmlns:a16="http://schemas.microsoft.com/office/drawing/2014/main" id="{09BBFBC6-EAE5-40AC-881D-6CE71FA3A907}"/>
                </a:ext>
              </a:extLst>
            </p:cNvPr>
            <p:cNvSpPr/>
            <p:nvPr/>
          </p:nvSpPr>
          <p:spPr>
            <a:xfrm>
              <a:off x="554143" y="1063746"/>
              <a:ext cx="2092750" cy="1142106"/>
            </a:xfrm>
            <a:prstGeom prst="cube">
              <a:avLst>
                <a:gd name="adj" fmla="val 81126"/>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立方體 63">
              <a:extLst>
                <a:ext uri="{FF2B5EF4-FFF2-40B4-BE49-F238E27FC236}">
                  <a16:creationId xmlns:a16="http://schemas.microsoft.com/office/drawing/2014/main" id="{004B0E0D-DE37-4D2E-8210-B9583CE7884A}"/>
                </a:ext>
              </a:extLst>
            </p:cNvPr>
            <p:cNvSpPr/>
            <p:nvPr/>
          </p:nvSpPr>
          <p:spPr>
            <a:xfrm>
              <a:off x="554144" y="1007390"/>
              <a:ext cx="2092750" cy="973805"/>
            </a:xfrm>
            <a:prstGeom prst="cube">
              <a:avLst>
                <a:gd name="adj" fmla="val 94332"/>
              </a:avLst>
            </a:prstGeom>
            <a:solidFill>
              <a:schemeClr val="accent4">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grpSp>
      <p:grpSp>
        <p:nvGrpSpPr>
          <p:cNvPr id="94" name="群組 93">
            <a:extLst>
              <a:ext uri="{FF2B5EF4-FFF2-40B4-BE49-F238E27FC236}">
                <a16:creationId xmlns:a16="http://schemas.microsoft.com/office/drawing/2014/main" id="{C925BF07-A4CD-491F-8561-B553DD3301BC}"/>
              </a:ext>
            </a:extLst>
          </p:cNvPr>
          <p:cNvGrpSpPr/>
          <p:nvPr/>
        </p:nvGrpSpPr>
        <p:grpSpPr>
          <a:xfrm>
            <a:off x="5211950" y="5818363"/>
            <a:ext cx="1493697" cy="731859"/>
            <a:chOff x="5211280" y="5794559"/>
            <a:chExt cx="1493697" cy="731859"/>
          </a:xfrm>
        </p:grpSpPr>
        <p:sp>
          <p:nvSpPr>
            <p:cNvPr id="95" name="立方體 94">
              <a:extLst>
                <a:ext uri="{FF2B5EF4-FFF2-40B4-BE49-F238E27FC236}">
                  <a16:creationId xmlns:a16="http://schemas.microsoft.com/office/drawing/2014/main" id="{A473E731-F76A-4DE3-94EC-C31D0E79C9C1}"/>
                </a:ext>
              </a:extLst>
            </p:cNvPr>
            <p:cNvSpPr/>
            <p:nvPr/>
          </p:nvSpPr>
          <p:spPr>
            <a:xfrm>
              <a:off x="5211280" y="5808792"/>
              <a:ext cx="1493697" cy="717626"/>
            </a:xfrm>
            <a:prstGeom prst="cube">
              <a:avLst>
                <a:gd name="adj" fmla="val 81126"/>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6" name="群組 95">
              <a:extLst>
                <a:ext uri="{FF2B5EF4-FFF2-40B4-BE49-F238E27FC236}">
                  <a16:creationId xmlns:a16="http://schemas.microsoft.com/office/drawing/2014/main" id="{B3AEDAA6-CA19-466F-9918-8C345DBEA83B}"/>
                </a:ext>
              </a:extLst>
            </p:cNvPr>
            <p:cNvGrpSpPr/>
            <p:nvPr/>
          </p:nvGrpSpPr>
          <p:grpSpPr>
            <a:xfrm>
              <a:off x="5211282" y="5794559"/>
              <a:ext cx="1493695" cy="594062"/>
              <a:chOff x="5211282" y="5794559"/>
              <a:chExt cx="1493695" cy="594062"/>
            </a:xfrm>
          </p:grpSpPr>
          <p:sp>
            <p:nvSpPr>
              <p:cNvPr id="97" name="立方體 96">
                <a:extLst>
                  <a:ext uri="{FF2B5EF4-FFF2-40B4-BE49-F238E27FC236}">
                    <a16:creationId xmlns:a16="http://schemas.microsoft.com/office/drawing/2014/main" id="{FE5766EF-C452-4AEC-B29F-5E726765B742}"/>
                  </a:ext>
                </a:extLst>
              </p:cNvPr>
              <p:cNvSpPr/>
              <p:nvPr/>
            </p:nvSpPr>
            <p:spPr>
              <a:xfrm>
                <a:off x="5211282" y="6332705"/>
                <a:ext cx="953170" cy="55916"/>
              </a:xfrm>
              <a:prstGeom prst="cube">
                <a:avLst>
                  <a:gd name="adj" fmla="val 94332"/>
                </a:avLst>
              </a:prstGeom>
              <a:solidFill>
                <a:schemeClr val="accent4">
                  <a:lumMod val="75000"/>
                </a:schemeClr>
              </a:solidFill>
              <a:ln>
                <a:solidFill>
                  <a:schemeClr val="accent4">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98" name="立方體 97">
                <a:extLst>
                  <a:ext uri="{FF2B5EF4-FFF2-40B4-BE49-F238E27FC236}">
                    <a16:creationId xmlns:a16="http://schemas.microsoft.com/office/drawing/2014/main" id="{A16F2E00-8D61-4561-A8EF-DAC5D645673F}"/>
                  </a:ext>
                </a:extLst>
              </p:cNvPr>
              <p:cNvSpPr/>
              <p:nvPr/>
            </p:nvSpPr>
            <p:spPr>
              <a:xfrm>
                <a:off x="5301852" y="6181272"/>
                <a:ext cx="1015727" cy="108104"/>
              </a:xfrm>
              <a:prstGeom prst="cube">
                <a:avLst>
                  <a:gd name="adj" fmla="val 94332"/>
                </a:avLst>
              </a:prstGeom>
              <a:solidFill>
                <a:schemeClr val="accent4">
                  <a:lumMod val="75000"/>
                </a:schemeClr>
              </a:solidFill>
              <a:ln>
                <a:solidFill>
                  <a:schemeClr val="accent4">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99" name="立方體 98">
                <a:extLst>
                  <a:ext uri="{FF2B5EF4-FFF2-40B4-BE49-F238E27FC236}">
                    <a16:creationId xmlns:a16="http://schemas.microsoft.com/office/drawing/2014/main" id="{B94A88D3-F459-4D7E-97B7-9462E5EFB9E7}"/>
                  </a:ext>
                </a:extLst>
              </p:cNvPr>
              <p:cNvSpPr/>
              <p:nvPr/>
            </p:nvSpPr>
            <p:spPr>
              <a:xfrm>
                <a:off x="5455221" y="6029486"/>
                <a:ext cx="1010866" cy="108104"/>
              </a:xfrm>
              <a:prstGeom prst="cube">
                <a:avLst>
                  <a:gd name="adj" fmla="val 94332"/>
                </a:avLst>
              </a:prstGeom>
              <a:solidFill>
                <a:schemeClr val="accent4">
                  <a:lumMod val="75000"/>
                </a:schemeClr>
              </a:solidFill>
              <a:ln>
                <a:solidFill>
                  <a:schemeClr val="accent4">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dirty="0"/>
              </a:p>
            </p:txBody>
          </p:sp>
          <p:sp>
            <p:nvSpPr>
              <p:cNvPr id="100" name="立方體 99">
                <a:extLst>
                  <a:ext uri="{FF2B5EF4-FFF2-40B4-BE49-F238E27FC236}">
                    <a16:creationId xmlns:a16="http://schemas.microsoft.com/office/drawing/2014/main" id="{CF818A7E-2B8D-4CCC-8FD8-92AAB5D589A2}"/>
                  </a:ext>
                </a:extLst>
              </p:cNvPr>
              <p:cNvSpPr/>
              <p:nvPr/>
            </p:nvSpPr>
            <p:spPr>
              <a:xfrm>
                <a:off x="5629092" y="5910580"/>
                <a:ext cx="959625" cy="45719"/>
              </a:xfrm>
              <a:prstGeom prst="cube">
                <a:avLst>
                  <a:gd name="adj" fmla="val 94332"/>
                </a:avLst>
              </a:prstGeom>
              <a:solidFill>
                <a:schemeClr val="accent4">
                  <a:lumMod val="75000"/>
                </a:schemeClr>
              </a:solidFill>
              <a:ln>
                <a:solidFill>
                  <a:schemeClr val="accent4">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01" name="立方體 100">
                <a:extLst>
                  <a:ext uri="{FF2B5EF4-FFF2-40B4-BE49-F238E27FC236}">
                    <a16:creationId xmlns:a16="http://schemas.microsoft.com/office/drawing/2014/main" id="{153BE128-BA9E-434E-B876-5A39E6FD840F}"/>
                  </a:ext>
                </a:extLst>
              </p:cNvPr>
              <p:cNvSpPr/>
              <p:nvPr/>
            </p:nvSpPr>
            <p:spPr>
              <a:xfrm>
                <a:off x="5731163" y="5794559"/>
                <a:ext cx="973814" cy="59223"/>
              </a:xfrm>
              <a:prstGeom prst="cube">
                <a:avLst>
                  <a:gd name="adj" fmla="val 94332"/>
                </a:avLst>
              </a:prstGeom>
              <a:solidFill>
                <a:schemeClr val="accent4">
                  <a:lumMod val="75000"/>
                </a:schemeClr>
              </a:solidFill>
              <a:ln>
                <a:solidFill>
                  <a:schemeClr val="accent4">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grpSp>
      </p:grpSp>
      <p:grpSp>
        <p:nvGrpSpPr>
          <p:cNvPr id="103" name="群組 102">
            <a:extLst>
              <a:ext uri="{FF2B5EF4-FFF2-40B4-BE49-F238E27FC236}">
                <a16:creationId xmlns:a16="http://schemas.microsoft.com/office/drawing/2014/main" id="{19C34DDF-9D32-4F95-AA71-AAA02342A683}"/>
              </a:ext>
            </a:extLst>
          </p:cNvPr>
          <p:cNvGrpSpPr/>
          <p:nvPr/>
        </p:nvGrpSpPr>
        <p:grpSpPr>
          <a:xfrm>
            <a:off x="274031" y="4405061"/>
            <a:ext cx="2257564" cy="1955288"/>
            <a:chOff x="-90692" y="-117325"/>
            <a:chExt cx="5301353" cy="4637237"/>
          </a:xfrm>
        </p:grpSpPr>
        <p:grpSp>
          <p:nvGrpSpPr>
            <p:cNvPr id="104" name="群組 103">
              <a:extLst>
                <a:ext uri="{FF2B5EF4-FFF2-40B4-BE49-F238E27FC236}">
                  <a16:creationId xmlns:a16="http://schemas.microsoft.com/office/drawing/2014/main" id="{789D6832-0AAB-4CB6-B69E-A4D91906640E}"/>
                </a:ext>
              </a:extLst>
            </p:cNvPr>
            <p:cNvGrpSpPr/>
            <p:nvPr/>
          </p:nvGrpSpPr>
          <p:grpSpPr>
            <a:xfrm>
              <a:off x="3521008" y="2616741"/>
              <a:ext cx="1393825" cy="1577973"/>
              <a:chOff x="0" y="0"/>
              <a:chExt cx="3036570" cy="2950065"/>
            </a:xfrm>
          </p:grpSpPr>
          <p:grpSp>
            <p:nvGrpSpPr>
              <p:cNvPr id="116" name="群組 115">
                <a:extLst>
                  <a:ext uri="{FF2B5EF4-FFF2-40B4-BE49-F238E27FC236}">
                    <a16:creationId xmlns:a16="http://schemas.microsoft.com/office/drawing/2014/main" id="{FA0CA906-8A2A-4E2E-99C4-85F03060518C}"/>
                  </a:ext>
                </a:extLst>
              </p:cNvPr>
              <p:cNvGrpSpPr/>
              <p:nvPr/>
            </p:nvGrpSpPr>
            <p:grpSpPr>
              <a:xfrm>
                <a:off x="337411" y="1046136"/>
                <a:ext cx="2697919" cy="856326"/>
                <a:chOff x="0" y="0"/>
                <a:chExt cx="2697919" cy="856326"/>
              </a:xfrm>
            </p:grpSpPr>
            <p:grpSp>
              <p:nvGrpSpPr>
                <p:cNvPr id="148" name="群組 147">
                  <a:extLst>
                    <a:ext uri="{FF2B5EF4-FFF2-40B4-BE49-F238E27FC236}">
                      <a16:creationId xmlns:a16="http://schemas.microsoft.com/office/drawing/2014/main" id="{32AAC935-8108-4CDE-B197-63F38C5D674F}"/>
                    </a:ext>
                  </a:extLst>
                </p:cNvPr>
                <p:cNvGrpSpPr/>
                <p:nvPr/>
              </p:nvGrpSpPr>
              <p:grpSpPr>
                <a:xfrm>
                  <a:off x="0" y="0"/>
                  <a:ext cx="2697919" cy="856326"/>
                  <a:chOff x="0" y="0"/>
                  <a:chExt cx="2697919" cy="856326"/>
                </a:xfrm>
              </p:grpSpPr>
              <p:sp>
                <p:nvSpPr>
                  <p:cNvPr id="151" name="矩形 150">
                    <a:extLst>
                      <a:ext uri="{FF2B5EF4-FFF2-40B4-BE49-F238E27FC236}">
                        <a16:creationId xmlns:a16="http://schemas.microsoft.com/office/drawing/2014/main" id="{E9A07F89-4C00-496C-90F4-B0DB8C853FC4}"/>
                      </a:ext>
                    </a:extLst>
                  </p:cNvPr>
                  <p:cNvSpPr/>
                  <p:nvPr/>
                </p:nvSpPr>
                <p:spPr>
                  <a:xfrm>
                    <a:off x="1755476" y="763437"/>
                    <a:ext cx="933817" cy="45719"/>
                  </a:xfrm>
                  <a:prstGeom prst="rect">
                    <a:avLst/>
                  </a:prstGeom>
                  <a:solidFill>
                    <a:srgbClr val="4472C4"/>
                  </a:solidFill>
                  <a:ln w="1270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52" name="矩形 151">
                    <a:extLst>
                      <a:ext uri="{FF2B5EF4-FFF2-40B4-BE49-F238E27FC236}">
                        <a16:creationId xmlns:a16="http://schemas.microsoft.com/office/drawing/2014/main" id="{9F1D3461-D03D-442F-A8EB-D4A28C6CC2B1}"/>
                      </a:ext>
                    </a:extLst>
                  </p:cNvPr>
                  <p:cNvSpPr/>
                  <p:nvPr/>
                </p:nvSpPr>
                <p:spPr>
                  <a:xfrm>
                    <a:off x="599536" y="612475"/>
                    <a:ext cx="1165821" cy="243851"/>
                  </a:xfrm>
                  <a:prstGeom prst="rect">
                    <a:avLst/>
                  </a:prstGeom>
                  <a:solidFill>
                    <a:srgbClr val="4472C4"/>
                  </a:solidFill>
                  <a:ln w="1270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53" name="矩形 152">
                    <a:extLst>
                      <a:ext uri="{FF2B5EF4-FFF2-40B4-BE49-F238E27FC236}">
                        <a16:creationId xmlns:a16="http://schemas.microsoft.com/office/drawing/2014/main" id="{2E3F8258-6A48-4F69-BB6B-F30E87571518}"/>
                      </a:ext>
                    </a:extLst>
                  </p:cNvPr>
                  <p:cNvSpPr/>
                  <p:nvPr/>
                </p:nvSpPr>
                <p:spPr>
                  <a:xfrm>
                    <a:off x="280359" y="530524"/>
                    <a:ext cx="1761214" cy="82416"/>
                  </a:xfrm>
                  <a:prstGeom prst="rect">
                    <a:avLst/>
                  </a:prstGeom>
                  <a:solidFill>
                    <a:srgbClr val="4472C4"/>
                  </a:solidFill>
                  <a:ln w="1270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54" name="矩形 153">
                    <a:extLst>
                      <a:ext uri="{FF2B5EF4-FFF2-40B4-BE49-F238E27FC236}">
                        <a16:creationId xmlns:a16="http://schemas.microsoft.com/office/drawing/2014/main" id="{5BC67997-C6B5-42A2-A678-56A9349C9A09}"/>
                      </a:ext>
                    </a:extLst>
                  </p:cNvPr>
                  <p:cNvSpPr/>
                  <p:nvPr/>
                </p:nvSpPr>
                <p:spPr>
                  <a:xfrm>
                    <a:off x="1764102" y="47445"/>
                    <a:ext cx="933817" cy="45719"/>
                  </a:xfrm>
                  <a:prstGeom prst="rect">
                    <a:avLst/>
                  </a:prstGeom>
                  <a:solidFill>
                    <a:srgbClr val="4472C4"/>
                  </a:solidFill>
                  <a:ln w="1270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55" name="矩形 154">
                    <a:extLst>
                      <a:ext uri="{FF2B5EF4-FFF2-40B4-BE49-F238E27FC236}">
                        <a16:creationId xmlns:a16="http://schemas.microsoft.com/office/drawing/2014/main" id="{884CA6C6-1146-44BC-AA96-FF01E282A8F4}"/>
                      </a:ext>
                    </a:extLst>
                  </p:cNvPr>
                  <p:cNvSpPr/>
                  <p:nvPr/>
                </p:nvSpPr>
                <p:spPr>
                  <a:xfrm>
                    <a:off x="599536" y="0"/>
                    <a:ext cx="1165821" cy="243851"/>
                  </a:xfrm>
                  <a:prstGeom prst="rect">
                    <a:avLst/>
                  </a:prstGeom>
                  <a:solidFill>
                    <a:srgbClr val="4472C4"/>
                  </a:solidFill>
                  <a:ln w="1270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56" name="矩形 155">
                    <a:extLst>
                      <a:ext uri="{FF2B5EF4-FFF2-40B4-BE49-F238E27FC236}">
                        <a16:creationId xmlns:a16="http://schemas.microsoft.com/office/drawing/2014/main" id="{8F12A544-75BE-4356-B3BD-1AE9255BE0E6}"/>
                      </a:ext>
                    </a:extLst>
                  </p:cNvPr>
                  <p:cNvSpPr/>
                  <p:nvPr/>
                </p:nvSpPr>
                <p:spPr>
                  <a:xfrm>
                    <a:off x="280359" y="215660"/>
                    <a:ext cx="1761214" cy="232742"/>
                  </a:xfrm>
                  <a:prstGeom prst="rect">
                    <a:avLst/>
                  </a:prstGeom>
                  <a:solidFill>
                    <a:srgbClr val="4472C4"/>
                  </a:solidFill>
                  <a:ln w="1270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57" name="矩形 156">
                    <a:extLst>
                      <a:ext uri="{FF2B5EF4-FFF2-40B4-BE49-F238E27FC236}">
                        <a16:creationId xmlns:a16="http://schemas.microsoft.com/office/drawing/2014/main" id="{2C2B7FC8-FAE8-4F57-910C-774C817F7558}"/>
                      </a:ext>
                    </a:extLst>
                  </p:cNvPr>
                  <p:cNvSpPr/>
                  <p:nvPr/>
                </p:nvSpPr>
                <p:spPr>
                  <a:xfrm>
                    <a:off x="0" y="336430"/>
                    <a:ext cx="444300" cy="111949"/>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58" name="矩形 157">
                    <a:extLst>
                      <a:ext uri="{FF2B5EF4-FFF2-40B4-BE49-F238E27FC236}">
                        <a16:creationId xmlns:a16="http://schemas.microsoft.com/office/drawing/2014/main" id="{45A0BA71-BBC9-4BCF-8EC5-6A3DD6CA8528}"/>
                      </a:ext>
                    </a:extLst>
                  </p:cNvPr>
                  <p:cNvSpPr/>
                  <p:nvPr/>
                </p:nvSpPr>
                <p:spPr>
                  <a:xfrm>
                    <a:off x="1906438" y="336430"/>
                    <a:ext cx="455371"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59" name="矩形 158">
                    <a:extLst>
                      <a:ext uri="{FF2B5EF4-FFF2-40B4-BE49-F238E27FC236}">
                        <a16:creationId xmlns:a16="http://schemas.microsoft.com/office/drawing/2014/main" id="{8F216E04-1E67-490B-A158-6515FD0D430E}"/>
                      </a:ext>
                    </a:extLst>
                  </p:cNvPr>
                  <p:cNvSpPr/>
                  <p:nvPr/>
                </p:nvSpPr>
                <p:spPr>
                  <a:xfrm>
                    <a:off x="491706" y="336430"/>
                    <a:ext cx="45719"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60" name="矩形 159">
                    <a:extLst>
                      <a:ext uri="{FF2B5EF4-FFF2-40B4-BE49-F238E27FC236}">
                        <a16:creationId xmlns:a16="http://schemas.microsoft.com/office/drawing/2014/main" id="{25B52E4C-70BB-43D7-AAF8-2CE720F451E3}"/>
                      </a:ext>
                    </a:extLst>
                  </p:cNvPr>
                  <p:cNvSpPr/>
                  <p:nvPr/>
                </p:nvSpPr>
                <p:spPr>
                  <a:xfrm>
                    <a:off x="651295" y="336430"/>
                    <a:ext cx="97459"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61" name="矩形 160">
                    <a:extLst>
                      <a:ext uri="{FF2B5EF4-FFF2-40B4-BE49-F238E27FC236}">
                        <a16:creationId xmlns:a16="http://schemas.microsoft.com/office/drawing/2014/main" id="{5A458EB2-75B7-4BCD-A488-B20B222FC931}"/>
                      </a:ext>
                    </a:extLst>
                  </p:cNvPr>
                  <p:cNvSpPr/>
                  <p:nvPr/>
                </p:nvSpPr>
                <p:spPr>
                  <a:xfrm>
                    <a:off x="828136" y="336430"/>
                    <a:ext cx="455371"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62" name="矩形 161">
                    <a:extLst>
                      <a:ext uri="{FF2B5EF4-FFF2-40B4-BE49-F238E27FC236}">
                        <a16:creationId xmlns:a16="http://schemas.microsoft.com/office/drawing/2014/main" id="{4A877606-BE52-4379-BA76-47899C5FECFD}"/>
                      </a:ext>
                    </a:extLst>
                  </p:cNvPr>
                  <p:cNvSpPr/>
                  <p:nvPr/>
                </p:nvSpPr>
                <p:spPr>
                  <a:xfrm>
                    <a:off x="1341408" y="336430"/>
                    <a:ext cx="45719"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63" name="矩形 162">
                    <a:extLst>
                      <a:ext uri="{FF2B5EF4-FFF2-40B4-BE49-F238E27FC236}">
                        <a16:creationId xmlns:a16="http://schemas.microsoft.com/office/drawing/2014/main" id="{3B90507D-1ED2-4B4D-AA74-5B5C3EC6A694}"/>
                      </a:ext>
                    </a:extLst>
                  </p:cNvPr>
                  <p:cNvSpPr/>
                  <p:nvPr/>
                </p:nvSpPr>
                <p:spPr>
                  <a:xfrm>
                    <a:off x="1419045" y="336430"/>
                    <a:ext cx="45719"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64" name="矩形 163">
                    <a:extLst>
                      <a:ext uri="{FF2B5EF4-FFF2-40B4-BE49-F238E27FC236}">
                        <a16:creationId xmlns:a16="http://schemas.microsoft.com/office/drawing/2014/main" id="{AFA610A1-9344-49DC-8B2B-94340DE18436}"/>
                      </a:ext>
                    </a:extLst>
                  </p:cNvPr>
                  <p:cNvSpPr/>
                  <p:nvPr/>
                </p:nvSpPr>
                <p:spPr>
                  <a:xfrm>
                    <a:off x="1509623" y="332117"/>
                    <a:ext cx="45719"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65" name="矩形 164">
                    <a:extLst>
                      <a:ext uri="{FF2B5EF4-FFF2-40B4-BE49-F238E27FC236}">
                        <a16:creationId xmlns:a16="http://schemas.microsoft.com/office/drawing/2014/main" id="{EABC196E-7A44-4602-82CD-BE406B0811D0}"/>
                      </a:ext>
                    </a:extLst>
                  </p:cNvPr>
                  <p:cNvSpPr/>
                  <p:nvPr/>
                </p:nvSpPr>
                <p:spPr>
                  <a:xfrm>
                    <a:off x="1587261" y="332117"/>
                    <a:ext cx="111792"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66" name="矩形 165">
                    <a:extLst>
                      <a:ext uri="{FF2B5EF4-FFF2-40B4-BE49-F238E27FC236}">
                        <a16:creationId xmlns:a16="http://schemas.microsoft.com/office/drawing/2014/main" id="{68877FC0-6F5B-4DF0-B6DD-660AA1C2E9D3}"/>
                      </a:ext>
                    </a:extLst>
                  </p:cNvPr>
                  <p:cNvSpPr/>
                  <p:nvPr/>
                </p:nvSpPr>
                <p:spPr>
                  <a:xfrm>
                    <a:off x="1738223" y="336430"/>
                    <a:ext cx="117525"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150" name="矩形 149">
                  <a:extLst>
                    <a:ext uri="{FF2B5EF4-FFF2-40B4-BE49-F238E27FC236}">
                      <a16:creationId xmlns:a16="http://schemas.microsoft.com/office/drawing/2014/main" id="{62D50FDE-2BA2-46DC-805F-87DBBFD6963F}"/>
                    </a:ext>
                  </a:extLst>
                </p:cNvPr>
                <p:cNvSpPr/>
                <p:nvPr/>
              </p:nvSpPr>
              <p:spPr>
                <a:xfrm>
                  <a:off x="0" y="448573"/>
                  <a:ext cx="2361961" cy="77395"/>
                </a:xfrm>
                <a:prstGeom prst="rect">
                  <a:avLst/>
                </a:prstGeom>
                <a:solidFill>
                  <a:srgbClr val="E7E6E6">
                    <a:lumMod val="90000"/>
                  </a:srgbClr>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117" name="群組 116">
                <a:extLst>
                  <a:ext uri="{FF2B5EF4-FFF2-40B4-BE49-F238E27FC236}">
                    <a16:creationId xmlns:a16="http://schemas.microsoft.com/office/drawing/2014/main" id="{D49DC159-368B-4C02-ACFA-628D946C29C6}"/>
                  </a:ext>
                </a:extLst>
              </p:cNvPr>
              <p:cNvGrpSpPr/>
              <p:nvPr/>
            </p:nvGrpSpPr>
            <p:grpSpPr>
              <a:xfrm>
                <a:off x="0" y="0"/>
                <a:ext cx="3036570" cy="2950065"/>
                <a:chOff x="0" y="-2280"/>
                <a:chExt cx="3036570" cy="2950065"/>
              </a:xfrm>
            </p:grpSpPr>
            <p:grpSp>
              <p:nvGrpSpPr>
                <p:cNvPr id="118" name="群組 117">
                  <a:extLst>
                    <a:ext uri="{FF2B5EF4-FFF2-40B4-BE49-F238E27FC236}">
                      <a16:creationId xmlns:a16="http://schemas.microsoft.com/office/drawing/2014/main" id="{A7A6C140-06AB-4B99-8FD1-4C0758CEC0B7}"/>
                    </a:ext>
                  </a:extLst>
                </p:cNvPr>
                <p:cNvGrpSpPr/>
                <p:nvPr/>
              </p:nvGrpSpPr>
              <p:grpSpPr>
                <a:xfrm>
                  <a:off x="0" y="409754"/>
                  <a:ext cx="3036570" cy="2117089"/>
                  <a:chOff x="0" y="0"/>
                  <a:chExt cx="3036594" cy="2117714"/>
                </a:xfrm>
              </p:grpSpPr>
              <p:grpSp>
                <p:nvGrpSpPr>
                  <p:cNvPr id="129" name="群組 128">
                    <a:extLst>
                      <a:ext uri="{FF2B5EF4-FFF2-40B4-BE49-F238E27FC236}">
                        <a16:creationId xmlns:a16="http://schemas.microsoft.com/office/drawing/2014/main" id="{064A26A6-E2AA-4EA6-8E72-C429FC78C1AA}"/>
                      </a:ext>
                    </a:extLst>
                  </p:cNvPr>
                  <p:cNvGrpSpPr/>
                  <p:nvPr/>
                </p:nvGrpSpPr>
                <p:grpSpPr>
                  <a:xfrm>
                    <a:off x="0" y="0"/>
                    <a:ext cx="3036594" cy="843689"/>
                    <a:chOff x="0" y="0"/>
                    <a:chExt cx="3036594" cy="843689"/>
                  </a:xfrm>
                </p:grpSpPr>
                <p:grpSp>
                  <p:nvGrpSpPr>
                    <p:cNvPr id="141" name="群組 140">
                      <a:extLst>
                        <a:ext uri="{FF2B5EF4-FFF2-40B4-BE49-F238E27FC236}">
                          <a16:creationId xmlns:a16="http://schemas.microsoft.com/office/drawing/2014/main" id="{B3AB6A9B-5538-4F40-9181-10A69FB5D14D}"/>
                        </a:ext>
                      </a:extLst>
                    </p:cNvPr>
                    <p:cNvGrpSpPr/>
                    <p:nvPr/>
                  </p:nvGrpSpPr>
                  <p:grpSpPr>
                    <a:xfrm>
                      <a:off x="0" y="0"/>
                      <a:ext cx="2097809" cy="843689"/>
                      <a:chOff x="0" y="0"/>
                      <a:chExt cx="2097809" cy="843689"/>
                    </a:xfrm>
                  </p:grpSpPr>
                  <p:cxnSp>
                    <p:nvCxnSpPr>
                      <p:cNvPr id="145" name="接點: 肘形 144">
                        <a:extLst>
                          <a:ext uri="{FF2B5EF4-FFF2-40B4-BE49-F238E27FC236}">
                            <a16:creationId xmlns:a16="http://schemas.microsoft.com/office/drawing/2014/main" id="{D5B6DDB8-E52D-4474-A667-C68FF4C32E41}"/>
                          </a:ext>
                        </a:extLst>
                      </p:cNvPr>
                      <p:cNvCxnSpPr/>
                      <p:nvPr/>
                    </p:nvCxnSpPr>
                    <p:spPr>
                      <a:xfrm>
                        <a:off x="0" y="0"/>
                        <a:ext cx="2097809" cy="843087"/>
                      </a:xfrm>
                      <a:prstGeom prst="bentConnector3">
                        <a:avLst>
                          <a:gd name="adj1" fmla="val 144758"/>
                        </a:avLst>
                      </a:prstGeom>
                      <a:noFill/>
                      <a:ln w="19050" cap="flat" cmpd="sng" algn="ctr">
                        <a:solidFill>
                          <a:sysClr val="windowText" lastClr="000000"/>
                        </a:solidFill>
                        <a:prstDash val="solid"/>
                        <a:miter lim="800000"/>
                      </a:ln>
                      <a:effectLst/>
                    </p:spPr>
                  </p:cxnSp>
                  <p:cxnSp>
                    <p:nvCxnSpPr>
                      <p:cNvPr id="146" name="接點: 肘形 145">
                        <a:extLst>
                          <a:ext uri="{FF2B5EF4-FFF2-40B4-BE49-F238E27FC236}">
                            <a16:creationId xmlns:a16="http://schemas.microsoft.com/office/drawing/2014/main" id="{C4A89144-556B-4B06-B334-24D9938DB76F}"/>
                          </a:ext>
                        </a:extLst>
                      </p:cNvPr>
                      <p:cNvCxnSpPr/>
                      <p:nvPr/>
                    </p:nvCxnSpPr>
                    <p:spPr>
                      <a:xfrm>
                        <a:off x="12269" y="0"/>
                        <a:ext cx="922795" cy="843689"/>
                      </a:xfrm>
                      <a:prstGeom prst="bentConnector3">
                        <a:avLst>
                          <a:gd name="adj1" fmla="val -757"/>
                        </a:avLst>
                      </a:prstGeom>
                      <a:noFill/>
                      <a:ln w="19050" cap="flat" cmpd="sng" algn="ctr">
                        <a:solidFill>
                          <a:sysClr val="windowText" lastClr="000000"/>
                        </a:solidFill>
                        <a:prstDash val="solid"/>
                        <a:miter lim="800000"/>
                      </a:ln>
                      <a:effectLst/>
                    </p:spPr>
                  </p:cxnSp>
                </p:grpSp>
                <p:cxnSp>
                  <p:nvCxnSpPr>
                    <p:cNvPr id="142" name="接點: 肘形 141">
                      <a:extLst>
                        <a:ext uri="{FF2B5EF4-FFF2-40B4-BE49-F238E27FC236}">
                          <a16:creationId xmlns:a16="http://schemas.microsoft.com/office/drawing/2014/main" id="{AD918252-435E-433E-81AE-2C36B19105B2}"/>
                        </a:ext>
                      </a:extLst>
                    </p:cNvPr>
                    <p:cNvCxnSpPr/>
                    <p:nvPr/>
                  </p:nvCxnSpPr>
                  <p:spPr>
                    <a:xfrm rot="10800000" flipV="1">
                      <a:off x="926702" y="630616"/>
                      <a:ext cx="1184861" cy="213070"/>
                    </a:xfrm>
                    <a:prstGeom prst="bentConnector3">
                      <a:avLst>
                        <a:gd name="adj1" fmla="val 99967"/>
                      </a:avLst>
                    </a:prstGeom>
                    <a:noFill/>
                    <a:ln w="19050" cap="flat" cmpd="sng" algn="ctr">
                      <a:solidFill>
                        <a:sysClr val="windowText" lastClr="000000"/>
                      </a:solidFill>
                      <a:prstDash val="solid"/>
                      <a:miter lim="800000"/>
                    </a:ln>
                    <a:effectLst/>
                  </p:spPr>
                </p:cxnSp>
                <p:cxnSp>
                  <p:nvCxnSpPr>
                    <p:cNvPr id="143" name="接點: 肘形 142">
                      <a:extLst>
                        <a:ext uri="{FF2B5EF4-FFF2-40B4-BE49-F238E27FC236}">
                          <a16:creationId xmlns:a16="http://schemas.microsoft.com/office/drawing/2014/main" id="{60AF78AF-9758-47F2-81C5-9C30BF270E65}"/>
                        </a:ext>
                      </a:extLst>
                    </p:cNvPr>
                    <p:cNvCxnSpPr/>
                    <p:nvPr/>
                  </p:nvCxnSpPr>
                  <p:spPr>
                    <a:xfrm flipH="1" flipV="1">
                      <a:off x="2111564" y="630621"/>
                      <a:ext cx="925030" cy="45719"/>
                    </a:xfrm>
                    <a:prstGeom prst="bentConnector3">
                      <a:avLst>
                        <a:gd name="adj1" fmla="val 101031"/>
                      </a:avLst>
                    </a:prstGeom>
                    <a:noFill/>
                    <a:ln w="19050" cap="flat" cmpd="sng" algn="ctr">
                      <a:solidFill>
                        <a:sysClr val="windowText" lastClr="000000"/>
                      </a:solidFill>
                      <a:prstDash val="solid"/>
                      <a:miter lim="800000"/>
                    </a:ln>
                    <a:effectLst/>
                  </p:spPr>
                </p:cxnSp>
                <p:cxnSp>
                  <p:nvCxnSpPr>
                    <p:cNvPr id="144" name="接點: 肘形 143">
                      <a:extLst>
                        <a:ext uri="{FF2B5EF4-FFF2-40B4-BE49-F238E27FC236}">
                          <a16:creationId xmlns:a16="http://schemas.microsoft.com/office/drawing/2014/main" id="{A81BC592-C3A9-410F-8AF4-11E51C855C2F}"/>
                        </a:ext>
                      </a:extLst>
                    </p:cNvPr>
                    <p:cNvCxnSpPr/>
                    <p:nvPr/>
                  </p:nvCxnSpPr>
                  <p:spPr>
                    <a:xfrm rot="10800000" flipV="1">
                      <a:off x="2099084" y="733812"/>
                      <a:ext cx="937041" cy="109273"/>
                    </a:xfrm>
                    <a:prstGeom prst="bentConnector3">
                      <a:avLst>
                        <a:gd name="adj1" fmla="val 100065"/>
                      </a:avLst>
                    </a:prstGeom>
                    <a:noFill/>
                    <a:ln w="19050" cap="flat" cmpd="sng" algn="ctr">
                      <a:solidFill>
                        <a:sysClr val="windowText" lastClr="000000"/>
                      </a:solidFill>
                      <a:prstDash val="solid"/>
                      <a:miter lim="800000"/>
                    </a:ln>
                    <a:effectLst/>
                  </p:spPr>
                </p:cxnSp>
              </p:grpSp>
              <p:grpSp>
                <p:nvGrpSpPr>
                  <p:cNvPr id="130" name="群組 129">
                    <a:extLst>
                      <a:ext uri="{FF2B5EF4-FFF2-40B4-BE49-F238E27FC236}">
                        <a16:creationId xmlns:a16="http://schemas.microsoft.com/office/drawing/2014/main" id="{CCCE0066-D1D4-4E54-8462-68601C2AE0A5}"/>
                      </a:ext>
                    </a:extLst>
                  </p:cNvPr>
                  <p:cNvGrpSpPr/>
                  <p:nvPr/>
                </p:nvGrpSpPr>
                <p:grpSpPr>
                  <a:xfrm>
                    <a:off x="926702" y="1241175"/>
                    <a:ext cx="2107439" cy="876539"/>
                    <a:chOff x="10451" y="-1"/>
                    <a:chExt cx="2107439" cy="876539"/>
                  </a:xfrm>
                </p:grpSpPr>
                <p:grpSp>
                  <p:nvGrpSpPr>
                    <p:cNvPr id="135" name="群組 134">
                      <a:extLst>
                        <a:ext uri="{FF2B5EF4-FFF2-40B4-BE49-F238E27FC236}">
                          <a16:creationId xmlns:a16="http://schemas.microsoft.com/office/drawing/2014/main" id="{6C58FAD5-ED73-4BFB-A0D4-04624D63A458}"/>
                        </a:ext>
                      </a:extLst>
                    </p:cNvPr>
                    <p:cNvGrpSpPr/>
                    <p:nvPr/>
                  </p:nvGrpSpPr>
                  <p:grpSpPr>
                    <a:xfrm rot="10800000">
                      <a:off x="25619" y="1852"/>
                      <a:ext cx="2092271" cy="874686"/>
                      <a:chOff x="0" y="0"/>
                      <a:chExt cx="2092271" cy="874686"/>
                    </a:xfrm>
                  </p:grpSpPr>
                  <p:cxnSp>
                    <p:nvCxnSpPr>
                      <p:cNvPr id="139" name="接點: 肘形 138">
                        <a:extLst>
                          <a:ext uri="{FF2B5EF4-FFF2-40B4-BE49-F238E27FC236}">
                            <a16:creationId xmlns:a16="http://schemas.microsoft.com/office/drawing/2014/main" id="{CE261F85-2F5C-4766-AB5C-3FF4F36D75F7}"/>
                          </a:ext>
                        </a:extLst>
                      </p:cNvPr>
                      <p:cNvCxnSpPr/>
                      <p:nvPr/>
                    </p:nvCxnSpPr>
                    <p:spPr>
                      <a:xfrm>
                        <a:off x="0" y="0"/>
                        <a:ext cx="2092271" cy="874686"/>
                      </a:xfrm>
                      <a:prstGeom prst="bentConnector3">
                        <a:avLst>
                          <a:gd name="adj1" fmla="val 145209"/>
                        </a:avLst>
                      </a:prstGeom>
                      <a:noFill/>
                      <a:ln w="19050" cap="flat" cmpd="sng" algn="ctr">
                        <a:solidFill>
                          <a:sysClr val="windowText" lastClr="000000"/>
                        </a:solidFill>
                        <a:prstDash val="solid"/>
                        <a:miter lim="800000"/>
                      </a:ln>
                      <a:effectLst/>
                    </p:spPr>
                  </p:cxnSp>
                  <p:cxnSp>
                    <p:nvCxnSpPr>
                      <p:cNvPr id="140" name="接點: 肘形 139">
                        <a:extLst>
                          <a:ext uri="{FF2B5EF4-FFF2-40B4-BE49-F238E27FC236}">
                            <a16:creationId xmlns:a16="http://schemas.microsoft.com/office/drawing/2014/main" id="{186940B3-6AFB-4245-976F-931CD6BEEFE9}"/>
                          </a:ext>
                        </a:extLst>
                      </p:cNvPr>
                      <p:cNvCxnSpPr/>
                      <p:nvPr/>
                    </p:nvCxnSpPr>
                    <p:spPr>
                      <a:xfrm>
                        <a:off x="12265" y="30319"/>
                        <a:ext cx="929605" cy="844367"/>
                      </a:xfrm>
                      <a:prstGeom prst="bentConnector3">
                        <a:avLst>
                          <a:gd name="adj1" fmla="val -350"/>
                        </a:avLst>
                      </a:prstGeom>
                      <a:noFill/>
                      <a:ln w="19050" cap="flat" cmpd="sng" algn="ctr">
                        <a:solidFill>
                          <a:sysClr val="windowText" lastClr="000000"/>
                        </a:solidFill>
                        <a:prstDash val="solid"/>
                        <a:miter lim="800000"/>
                      </a:ln>
                      <a:effectLst/>
                    </p:spPr>
                  </p:cxnSp>
                </p:grpSp>
                <p:cxnSp>
                  <p:nvCxnSpPr>
                    <p:cNvPr id="136" name="接點: 肘形 135">
                      <a:extLst>
                        <a:ext uri="{FF2B5EF4-FFF2-40B4-BE49-F238E27FC236}">
                          <a16:creationId xmlns:a16="http://schemas.microsoft.com/office/drawing/2014/main" id="{7A9AEFE8-01CF-4093-A2FC-32749C344196}"/>
                        </a:ext>
                      </a:extLst>
                    </p:cNvPr>
                    <p:cNvCxnSpPr/>
                    <p:nvPr/>
                  </p:nvCxnSpPr>
                  <p:spPr>
                    <a:xfrm>
                      <a:off x="1182832" y="1852"/>
                      <a:ext cx="923617" cy="149770"/>
                    </a:xfrm>
                    <a:prstGeom prst="bentConnector3">
                      <a:avLst>
                        <a:gd name="adj1" fmla="val -119"/>
                      </a:avLst>
                    </a:prstGeom>
                    <a:noFill/>
                    <a:ln w="19050" cap="flat" cmpd="sng" algn="ctr">
                      <a:solidFill>
                        <a:sysClr val="windowText" lastClr="000000"/>
                      </a:solidFill>
                      <a:prstDash val="solid"/>
                      <a:miter lim="800000"/>
                    </a:ln>
                    <a:effectLst/>
                  </p:spPr>
                </p:cxnSp>
                <p:cxnSp>
                  <p:nvCxnSpPr>
                    <p:cNvPr id="137" name="接點: 肘形 136">
                      <a:extLst>
                        <a:ext uri="{FF2B5EF4-FFF2-40B4-BE49-F238E27FC236}">
                          <a16:creationId xmlns:a16="http://schemas.microsoft.com/office/drawing/2014/main" id="{FC1653B6-364A-45FF-AC2A-E30CDAB92332}"/>
                        </a:ext>
                      </a:extLst>
                    </p:cNvPr>
                    <p:cNvCxnSpPr/>
                    <p:nvPr/>
                  </p:nvCxnSpPr>
                  <p:spPr>
                    <a:xfrm flipV="1">
                      <a:off x="10451" y="202503"/>
                      <a:ext cx="2104931" cy="45719"/>
                    </a:xfrm>
                    <a:prstGeom prst="bentConnector3">
                      <a:avLst>
                        <a:gd name="adj1" fmla="val 55766"/>
                      </a:avLst>
                    </a:prstGeom>
                    <a:noFill/>
                    <a:ln w="19050" cap="flat" cmpd="sng" algn="ctr">
                      <a:solidFill>
                        <a:sysClr val="windowText" lastClr="000000"/>
                      </a:solidFill>
                      <a:prstDash val="solid"/>
                      <a:miter lim="800000"/>
                    </a:ln>
                    <a:effectLst/>
                  </p:spPr>
                </p:cxnSp>
                <p:cxnSp>
                  <p:nvCxnSpPr>
                    <p:cNvPr id="138" name="直線接點 137">
                      <a:extLst>
                        <a:ext uri="{FF2B5EF4-FFF2-40B4-BE49-F238E27FC236}">
                          <a16:creationId xmlns:a16="http://schemas.microsoft.com/office/drawing/2014/main" id="{72949DA6-E459-421D-B6FE-A1B59AC2E680}"/>
                        </a:ext>
                      </a:extLst>
                    </p:cNvPr>
                    <p:cNvCxnSpPr/>
                    <p:nvPr/>
                  </p:nvCxnSpPr>
                  <p:spPr>
                    <a:xfrm>
                      <a:off x="17000" y="-1"/>
                      <a:ext cx="0" cy="254001"/>
                    </a:xfrm>
                    <a:prstGeom prst="line">
                      <a:avLst/>
                    </a:prstGeom>
                    <a:noFill/>
                    <a:ln w="19050" cap="flat" cmpd="sng" algn="ctr">
                      <a:solidFill>
                        <a:sysClr val="windowText" lastClr="000000"/>
                      </a:solidFill>
                      <a:prstDash val="solid"/>
                      <a:miter lim="800000"/>
                    </a:ln>
                    <a:effectLst/>
                  </p:spPr>
                </p:cxnSp>
              </p:grpSp>
              <p:sp>
                <p:nvSpPr>
                  <p:cNvPr id="131" name="矩形 130">
                    <a:extLst>
                      <a:ext uri="{FF2B5EF4-FFF2-40B4-BE49-F238E27FC236}">
                        <a16:creationId xmlns:a16="http://schemas.microsoft.com/office/drawing/2014/main" id="{035250DA-1E2E-4EAC-B8A4-4879BD58B627}"/>
                      </a:ext>
                    </a:extLst>
                  </p:cNvPr>
                  <p:cNvSpPr/>
                  <p:nvPr/>
                </p:nvSpPr>
                <p:spPr>
                  <a:xfrm>
                    <a:off x="519844" y="788023"/>
                    <a:ext cx="220345" cy="60685"/>
                  </a:xfrm>
                  <a:prstGeom prst="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32" name="矩形 131">
                    <a:extLst>
                      <a:ext uri="{FF2B5EF4-FFF2-40B4-BE49-F238E27FC236}">
                        <a16:creationId xmlns:a16="http://schemas.microsoft.com/office/drawing/2014/main" id="{BA4F9203-F35D-4B72-A8CC-DBF6930831A6}"/>
                      </a:ext>
                    </a:extLst>
                  </p:cNvPr>
                  <p:cNvSpPr/>
                  <p:nvPr/>
                </p:nvSpPr>
                <p:spPr>
                  <a:xfrm>
                    <a:off x="2274098" y="788023"/>
                    <a:ext cx="220345" cy="55061"/>
                  </a:xfrm>
                  <a:prstGeom prst="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33" name="矩形 132">
                    <a:extLst>
                      <a:ext uri="{FF2B5EF4-FFF2-40B4-BE49-F238E27FC236}">
                        <a16:creationId xmlns:a16="http://schemas.microsoft.com/office/drawing/2014/main" id="{FBDAAFBC-AB21-4073-972C-B350E66C237D}"/>
                      </a:ext>
                    </a:extLst>
                  </p:cNvPr>
                  <p:cNvSpPr/>
                  <p:nvPr/>
                </p:nvSpPr>
                <p:spPr>
                  <a:xfrm>
                    <a:off x="519844" y="1249553"/>
                    <a:ext cx="220345" cy="87078"/>
                  </a:xfrm>
                  <a:prstGeom prst="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34" name="矩形 133">
                    <a:extLst>
                      <a:ext uri="{FF2B5EF4-FFF2-40B4-BE49-F238E27FC236}">
                        <a16:creationId xmlns:a16="http://schemas.microsoft.com/office/drawing/2014/main" id="{477D5FC4-FDC9-4C5C-8FE3-0BE7051E7134}"/>
                      </a:ext>
                    </a:extLst>
                  </p:cNvPr>
                  <p:cNvSpPr/>
                  <p:nvPr/>
                </p:nvSpPr>
                <p:spPr>
                  <a:xfrm>
                    <a:off x="2274098" y="1279701"/>
                    <a:ext cx="220345" cy="58787"/>
                  </a:xfrm>
                  <a:prstGeom prst="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119" name="群組 118">
                  <a:extLst>
                    <a:ext uri="{FF2B5EF4-FFF2-40B4-BE49-F238E27FC236}">
                      <a16:creationId xmlns:a16="http://schemas.microsoft.com/office/drawing/2014/main" id="{6171831C-DA9D-4CF9-BE08-60ACF249645D}"/>
                    </a:ext>
                  </a:extLst>
                </p:cNvPr>
                <p:cNvGrpSpPr/>
                <p:nvPr/>
              </p:nvGrpSpPr>
              <p:grpSpPr>
                <a:xfrm rot="10800000">
                  <a:off x="1365490" y="1785668"/>
                  <a:ext cx="286646" cy="1162117"/>
                  <a:chOff x="0" y="0"/>
                  <a:chExt cx="286646" cy="1162117"/>
                </a:xfrm>
              </p:grpSpPr>
              <p:sp>
                <p:nvSpPr>
                  <p:cNvPr id="127" name="矩形 126">
                    <a:extLst>
                      <a:ext uri="{FF2B5EF4-FFF2-40B4-BE49-F238E27FC236}">
                        <a16:creationId xmlns:a16="http://schemas.microsoft.com/office/drawing/2014/main" id="{837DC177-038F-4835-8EBB-BF0682D0823F}"/>
                      </a:ext>
                    </a:extLst>
                  </p:cNvPr>
                  <p:cNvSpPr/>
                  <p:nvPr/>
                </p:nvSpPr>
                <p:spPr>
                  <a:xfrm>
                    <a:off x="0" y="1043391"/>
                    <a:ext cx="286646" cy="118726"/>
                  </a:xfrm>
                  <a:prstGeom prst="rect">
                    <a:avLst/>
                  </a:prstGeom>
                  <a:solidFill>
                    <a:sysClr val="window" lastClr="FFFFFF">
                      <a:lumMod val="65000"/>
                    </a:sysClr>
                  </a:solidFill>
                  <a:ln w="12700" cap="flat" cmpd="sng" algn="ctr">
                    <a:solidFill>
                      <a:sysClr val="window" lastClr="FFFFFF">
                        <a:lumMod val="50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28" name="矩形 127">
                    <a:extLst>
                      <a:ext uri="{FF2B5EF4-FFF2-40B4-BE49-F238E27FC236}">
                        <a16:creationId xmlns:a16="http://schemas.microsoft.com/office/drawing/2014/main" id="{AC9FF3B8-CD88-48D0-96A2-EBCBF1BD31CD}"/>
                      </a:ext>
                    </a:extLst>
                  </p:cNvPr>
                  <p:cNvSpPr/>
                  <p:nvPr/>
                </p:nvSpPr>
                <p:spPr>
                  <a:xfrm>
                    <a:off x="83127" y="0"/>
                    <a:ext cx="126124" cy="1040524"/>
                  </a:xfrm>
                  <a:prstGeom prst="rect">
                    <a:avLst/>
                  </a:prstGeom>
                  <a:solidFill>
                    <a:sysClr val="window" lastClr="FFFFFF">
                      <a:lumMod val="65000"/>
                    </a:sysClr>
                  </a:solidFill>
                  <a:ln w="12700" cap="flat" cmpd="sng" algn="ctr">
                    <a:solidFill>
                      <a:sysClr val="window" lastClr="FFFFFF">
                        <a:lumMod val="50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120" name="群組 119">
                  <a:extLst>
                    <a:ext uri="{FF2B5EF4-FFF2-40B4-BE49-F238E27FC236}">
                      <a16:creationId xmlns:a16="http://schemas.microsoft.com/office/drawing/2014/main" id="{6EA86270-CDBB-4817-8F55-E9DD1626F014}"/>
                    </a:ext>
                  </a:extLst>
                </p:cNvPr>
                <p:cNvGrpSpPr/>
                <p:nvPr/>
              </p:nvGrpSpPr>
              <p:grpSpPr>
                <a:xfrm>
                  <a:off x="1361177" y="-2280"/>
                  <a:ext cx="286646" cy="1159250"/>
                  <a:chOff x="0" y="-2280"/>
                  <a:chExt cx="286646" cy="1159250"/>
                </a:xfrm>
              </p:grpSpPr>
              <p:sp>
                <p:nvSpPr>
                  <p:cNvPr id="125" name="矩形 124">
                    <a:extLst>
                      <a:ext uri="{FF2B5EF4-FFF2-40B4-BE49-F238E27FC236}">
                        <a16:creationId xmlns:a16="http://schemas.microsoft.com/office/drawing/2014/main" id="{C0E7F055-20A1-4E3F-9421-7F2487871648}"/>
                      </a:ext>
                    </a:extLst>
                  </p:cNvPr>
                  <p:cNvSpPr/>
                  <p:nvPr/>
                </p:nvSpPr>
                <p:spPr>
                  <a:xfrm>
                    <a:off x="0" y="1038244"/>
                    <a:ext cx="286646" cy="118726"/>
                  </a:xfrm>
                  <a:prstGeom prst="rect">
                    <a:avLst/>
                  </a:prstGeom>
                  <a:solidFill>
                    <a:sysClr val="window" lastClr="FFFFFF">
                      <a:lumMod val="65000"/>
                    </a:sysClr>
                  </a:solidFill>
                  <a:ln w="12700" cap="flat" cmpd="sng" algn="ctr">
                    <a:solidFill>
                      <a:sysClr val="window" lastClr="FFFFFF">
                        <a:lumMod val="50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26" name="矩形 125">
                    <a:extLst>
                      <a:ext uri="{FF2B5EF4-FFF2-40B4-BE49-F238E27FC236}">
                        <a16:creationId xmlns:a16="http://schemas.microsoft.com/office/drawing/2014/main" id="{E3C0D7CF-948C-493C-89CD-6655A59CA29D}"/>
                      </a:ext>
                    </a:extLst>
                  </p:cNvPr>
                  <p:cNvSpPr/>
                  <p:nvPr/>
                </p:nvSpPr>
                <p:spPr>
                  <a:xfrm>
                    <a:off x="83127" y="-2280"/>
                    <a:ext cx="126124" cy="1040524"/>
                  </a:xfrm>
                  <a:prstGeom prst="rect">
                    <a:avLst/>
                  </a:prstGeom>
                  <a:solidFill>
                    <a:sysClr val="window" lastClr="FFFFFF">
                      <a:lumMod val="65000"/>
                    </a:sysClr>
                  </a:solidFill>
                  <a:ln w="12700" cap="flat" cmpd="sng" algn="ctr">
                    <a:solidFill>
                      <a:sysClr val="window" lastClr="FFFFFF">
                        <a:lumMod val="50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121" name="橢圓 120">
                  <a:extLst>
                    <a:ext uri="{FF2B5EF4-FFF2-40B4-BE49-F238E27FC236}">
                      <a16:creationId xmlns:a16="http://schemas.microsoft.com/office/drawing/2014/main" id="{52829890-5C67-4407-BC4A-14A627BC5606}"/>
                    </a:ext>
                  </a:extLst>
                </p:cNvPr>
                <p:cNvSpPr/>
                <p:nvPr/>
              </p:nvSpPr>
              <p:spPr>
                <a:xfrm>
                  <a:off x="2275577" y="1212011"/>
                  <a:ext cx="219521" cy="161014"/>
                </a:xfrm>
                <a:prstGeom prst="ellipse">
                  <a:avLst/>
                </a:prstGeom>
                <a:solidFill>
                  <a:srgbClr val="FF0000"/>
                </a:solidFill>
                <a:ln w="12700"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22" name="橢圓 121">
                  <a:extLst>
                    <a:ext uri="{FF2B5EF4-FFF2-40B4-BE49-F238E27FC236}">
                      <a16:creationId xmlns:a16="http://schemas.microsoft.com/office/drawing/2014/main" id="{BD81E42D-58E7-4CFF-BF27-4D1C13402187}"/>
                    </a:ext>
                  </a:extLst>
                </p:cNvPr>
                <p:cNvSpPr/>
                <p:nvPr/>
              </p:nvSpPr>
              <p:spPr>
                <a:xfrm>
                  <a:off x="520101" y="1207945"/>
                  <a:ext cx="219521" cy="161014"/>
                </a:xfrm>
                <a:prstGeom prst="ellipse">
                  <a:avLst/>
                </a:prstGeom>
                <a:solidFill>
                  <a:srgbClr val="FF0000"/>
                </a:solidFill>
                <a:ln w="12700"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23" name="橢圓 122">
                  <a:extLst>
                    <a:ext uri="{FF2B5EF4-FFF2-40B4-BE49-F238E27FC236}">
                      <a16:creationId xmlns:a16="http://schemas.microsoft.com/office/drawing/2014/main" id="{3188D743-7EA3-4443-A299-B7266DAAF63B}"/>
                    </a:ext>
                  </a:extLst>
                </p:cNvPr>
                <p:cNvSpPr/>
                <p:nvPr/>
              </p:nvSpPr>
              <p:spPr>
                <a:xfrm>
                  <a:off x="520101" y="1576847"/>
                  <a:ext cx="219521" cy="161014"/>
                </a:xfrm>
                <a:prstGeom prst="ellipse">
                  <a:avLst/>
                </a:prstGeom>
                <a:solidFill>
                  <a:srgbClr val="FF0000"/>
                </a:solidFill>
                <a:ln w="12700"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24" name="橢圓 123">
                  <a:extLst>
                    <a:ext uri="{FF2B5EF4-FFF2-40B4-BE49-F238E27FC236}">
                      <a16:creationId xmlns:a16="http://schemas.microsoft.com/office/drawing/2014/main" id="{079A557C-E7C9-43B3-A158-EAAA03A762FC}"/>
                    </a:ext>
                  </a:extLst>
                </p:cNvPr>
                <p:cNvSpPr/>
                <p:nvPr/>
              </p:nvSpPr>
              <p:spPr>
                <a:xfrm>
                  <a:off x="2275577" y="1578634"/>
                  <a:ext cx="219521" cy="161014"/>
                </a:xfrm>
                <a:prstGeom prst="ellipse">
                  <a:avLst/>
                </a:prstGeom>
                <a:solidFill>
                  <a:srgbClr val="FF0000"/>
                </a:solidFill>
                <a:ln w="12700"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pic>
          <p:nvPicPr>
            <p:cNvPr id="105" name="圖片 104">
              <a:extLst>
                <a:ext uri="{FF2B5EF4-FFF2-40B4-BE49-F238E27FC236}">
                  <a16:creationId xmlns:a16="http://schemas.microsoft.com/office/drawing/2014/main" id="{420BECFE-4691-43D3-8AF7-D9E68537C01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59149" y="136187"/>
              <a:ext cx="1818640" cy="1818640"/>
            </a:xfrm>
            <a:prstGeom prst="rect">
              <a:avLst/>
            </a:prstGeom>
            <a:noFill/>
            <a:ln>
              <a:noFill/>
            </a:ln>
          </p:spPr>
        </p:pic>
        <p:pic>
          <p:nvPicPr>
            <p:cNvPr id="106" name="圖片 105">
              <a:extLst>
                <a:ext uri="{FF2B5EF4-FFF2-40B4-BE49-F238E27FC236}">
                  <a16:creationId xmlns:a16="http://schemas.microsoft.com/office/drawing/2014/main" id="{A738DD71-85CA-4B20-B7D6-77D6D0FBD34D}"/>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t="26383" b="25102"/>
            <a:stretch/>
          </p:blipFill>
          <p:spPr bwMode="auto">
            <a:xfrm>
              <a:off x="58366" y="2616741"/>
              <a:ext cx="1903095" cy="1303020"/>
            </a:xfrm>
            <a:prstGeom prst="rect">
              <a:avLst/>
            </a:prstGeom>
            <a:ln>
              <a:noFill/>
            </a:ln>
            <a:extLst>
              <a:ext uri="{53640926-AAD7-44D8-BBD7-CCE9431645EC}">
                <a14:shadowObscured xmlns:a14="http://schemas.microsoft.com/office/drawing/2010/main"/>
              </a:ext>
            </a:extLst>
          </p:spPr>
        </p:pic>
        <p:sp>
          <p:nvSpPr>
            <p:cNvPr id="107" name="矩形 106">
              <a:extLst>
                <a:ext uri="{FF2B5EF4-FFF2-40B4-BE49-F238E27FC236}">
                  <a16:creationId xmlns:a16="http://schemas.microsoft.com/office/drawing/2014/main" id="{9C837CD6-FCE9-47DC-A8C7-F8BADB68FAC4}"/>
                </a:ext>
              </a:extLst>
            </p:cNvPr>
            <p:cNvSpPr/>
            <p:nvPr/>
          </p:nvSpPr>
          <p:spPr>
            <a:xfrm>
              <a:off x="1459149" y="0"/>
              <a:ext cx="1955165" cy="1954827"/>
            </a:xfrm>
            <a:prstGeom prst="rect">
              <a:avLst/>
            </a:prstGeom>
            <a:noFill/>
            <a:ln w="19050">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08" name="矩形 107">
              <a:extLst>
                <a:ext uri="{FF2B5EF4-FFF2-40B4-BE49-F238E27FC236}">
                  <a16:creationId xmlns:a16="http://schemas.microsoft.com/office/drawing/2014/main" id="{E5E4CD57-8586-4FDC-8C9B-9F22DFDD96C9}"/>
                </a:ext>
              </a:extLst>
            </p:cNvPr>
            <p:cNvSpPr/>
            <p:nvPr/>
          </p:nvSpPr>
          <p:spPr>
            <a:xfrm>
              <a:off x="0" y="2256817"/>
              <a:ext cx="1955260" cy="1818640"/>
            </a:xfrm>
            <a:prstGeom prst="rect">
              <a:avLst/>
            </a:prstGeom>
            <a:noFill/>
            <a:ln w="19050">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109" name="接點: 肘形 108">
              <a:extLst>
                <a:ext uri="{FF2B5EF4-FFF2-40B4-BE49-F238E27FC236}">
                  <a16:creationId xmlns:a16="http://schemas.microsoft.com/office/drawing/2014/main" id="{F70363F2-DBD3-41CB-B437-DEAB6C915C18}"/>
                </a:ext>
              </a:extLst>
            </p:cNvPr>
            <p:cNvCxnSpPr/>
            <p:nvPr/>
          </p:nvCxnSpPr>
          <p:spPr>
            <a:xfrm flipH="1">
              <a:off x="923723" y="992222"/>
              <a:ext cx="533670" cy="1264595"/>
            </a:xfrm>
            <a:prstGeom prst="bentConnector3">
              <a:avLst>
                <a:gd name="adj1" fmla="val 100930"/>
              </a:avLst>
            </a:prstGeom>
            <a:ln w="19050">
              <a:prstDash val="sysDash"/>
            </a:ln>
          </p:spPr>
          <p:style>
            <a:lnRef idx="1">
              <a:schemeClr val="dk1"/>
            </a:lnRef>
            <a:fillRef idx="0">
              <a:schemeClr val="dk1"/>
            </a:fillRef>
            <a:effectRef idx="0">
              <a:schemeClr val="dk1"/>
            </a:effectRef>
            <a:fontRef idx="minor">
              <a:schemeClr val="tx1"/>
            </a:fontRef>
          </p:style>
        </p:cxnSp>
        <p:cxnSp>
          <p:nvCxnSpPr>
            <p:cNvPr id="110" name="接點: 肘形 109">
              <a:extLst>
                <a:ext uri="{FF2B5EF4-FFF2-40B4-BE49-F238E27FC236}">
                  <a16:creationId xmlns:a16="http://schemas.microsoft.com/office/drawing/2014/main" id="{7A203EBE-1FA9-45B9-B045-E282179D08B8}"/>
                </a:ext>
              </a:extLst>
            </p:cNvPr>
            <p:cNvCxnSpPr/>
            <p:nvPr/>
          </p:nvCxnSpPr>
          <p:spPr>
            <a:xfrm flipH="1" flipV="1">
              <a:off x="1964988" y="2461098"/>
              <a:ext cx="2279259" cy="159061"/>
            </a:xfrm>
            <a:prstGeom prst="bentConnector3">
              <a:avLst>
                <a:gd name="adj1" fmla="val 1154"/>
              </a:avLst>
            </a:prstGeom>
            <a:ln w="1905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11" name="接點: 肘形 110">
              <a:extLst>
                <a:ext uri="{FF2B5EF4-FFF2-40B4-BE49-F238E27FC236}">
                  <a16:creationId xmlns:a16="http://schemas.microsoft.com/office/drawing/2014/main" id="{7A58A0F8-D1D5-4A2F-BFE7-88BBEC82AF91}"/>
                </a:ext>
              </a:extLst>
            </p:cNvPr>
            <p:cNvCxnSpPr>
              <a:stCxn id="128" idx="0"/>
            </p:cNvCxnSpPr>
            <p:nvPr/>
          </p:nvCxnSpPr>
          <p:spPr>
            <a:xfrm rot="5400000" flipH="1">
              <a:off x="2671006" y="2653411"/>
              <a:ext cx="118810" cy="2962719"/>
            </a:xfrm>
            <a:prstGeom prst="bentConnector4">
              <a:avLst>
                <a:gd name="adj1" fmla="val -192408"/>
                <a:gd name="adj2" fmla="val 96329"/>
              </a:avLst>
            </a:prstGeom>
            <a:ln w="19050"/>
          </p:spPr>
          <p:style>
            <a:lnRef idx="1">
              <a:schemeClr val="dk1"/>
            </a:lnRef>
            <a:fillRef idx="0">
              <a:schemeClr val="dk1"/>
            </a:fillRef>
            <a:effectRef idx="0">
              <a:schemeClr val="dk1"/>
            </a:effectRef>
            <a:fontRef idx="minor">
              <a:schemeClr val="tx1"/>
            </a:fontRef>
          </p:style>
        </p:cxnSp>
        <p:sp>
          <p:nvSpPr>
            <p:cNvPr id="112" name="文字方塊 2">
              <a:extLst>
                <a:ext uri="{FF2B5EF4-FFF2-40B4-BE49-F238E27FC236}">
                  <a16:creationId xmlns:a16="http://schemas.microsoft.com/office/drawing/2014/main" id="{0B6D4921-12F5-4074-8C1C-A0BA1F943F37}"/>
                </a:ext>
              </a:extLst>
            </p:cNvPr>
            <p:cNvSpPr txBox="1">
              <a:spLocks noChangeArrowheads="1"/>
            </p:cNvSpPr>
            <p:nvPr/>
          </p:nvSpPr>
          <p:spPr bwMode="auto">
            <a:xfrm>
              <a:off x="3392023" y="-117325"/>
              <a:ext cx="1818638" cy="583947"/>
            </a:xfrm>
            <a:prstGeom prst="rect">
              <a:avLst/>
            </a:prstGeom>
            <a:noFill/>
            <a:ln w="9525">
              <a:noFill/>
              <a:miter lim="800000"/>
              <a:headEnd/>
              <a:tailEnd/>
            </a:ln>
          </p:spPr>
          <p:txBody>
            <a:bodyPr rot="0" vert="horz" wrap="square" lIns="91440" tIns="45720" rIns="91440" bIns="45720" anchor="t" anchorCtr="0">
              <a:spAutoFit/>
            </a:bodyPr>
            <a:lstStyle/>
            <a:p>
              <a:pPr>
                <a:spcAft>
                  <a:spcPts val="0"/>
                </a:spcAft>
              </a:pPr>
              <a:r>
                <a:rPr lang="en-US" sz="1000" b="1" kern="100" dirty="0">
                  <a:effectLst/>
                  <a:latin typeface="標楷體" panose="03000509000000000000" pitchFamily="65" charset="-120"/>
                  <a:ea typeface="新細明體" panose="02020500000000000000" pitchFamily="18" charset="-120"/>
                  <a:cs typeface="Times New Roman" panose="02020603050405020304" pitchFamily="18" charset="0"/>
                </a:rPr>
                <a:t>Computer</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113" name="文字方塊 2">
              <a:extLst>
                <a:ext uri="{FF2B5EF4-FFF2-40B4-BE49-F238E27FC236}">
                  <a16:creationId xmlns:a16="http://schemas.microsoft.com/office/drawing/2014/main" id="{CD808F2B-EAF5-4DCA-96E7-3A04DDEE3C6E}"/>
                </a:ext>
              </a:extLst>
            </p:cNvPr>
            <p:cNvSpPr txBox="1">
              <a:spLocks noChangeArrowheads="1"/>
            </p:cNvSpPr>
            <p:nvPr/>
          </p:nvSpPr>
          <p:spPr bwMode="auto">
            <a:xfrm>
              <a:off x="-90692" y="3613012"/>
              <a:ext cx="2791692" cy="583947"/>
            </a:xfrm>
            <a:prstGeom prst="rect">
              <a:avLst/>
            </a:prstGeom>
            <a:noFill/>
            <a:ln w="9525">
              <a:noFill/>
              <a:miter lim="800000"/>
              <a:headEnd/>
              <a:tailEnd/>
            </a:ln>
          </p:spPr>
          <p:txBody>
            <a:bodyPr rot="0" vert="horz" wrap="square" lIns="91440" tIns="45720" rIns="91440" bIns="45720" anchor="t" anchorCtr="0">
              <a:spAutoFit/>
            </a:bodyPr>
            <a:lstStyle/>
            <a:p>
              <a:pPr>
                <a:spcAft>
                  <a:spcPts val="0"/>
                </a:spcAft>
              </a:pPr>
              <a:r>
                <a:rPr lang="en-US" sz="1000" b="1" kern="100" dirty="0">
                  <a:effectLst/>
                  <a:latin typeface="標楷體" panose="03000509000000000000" pitchFamily="65" charset="-120"/>
                  <a:ea typeface="新細明體" panose="02020500000000000000" pitchFamily="18" charset="-120"/>
                  <a:cs typeface="Times New Roman" panose="02020603050405020304" pitchFamily="18" charset="0"/>
                </a:rPr>
                <a:t>Trek 20/20C</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114" name="文字方塊 2">
              <a:extLst>
                <a:ext uri="{FF2B5EF4-FFF2-40B4-BE49-F238E27FC236}">
                  <a16:creationId xmlns:a16="http://schemas.microsoft.com/office/drawing/2014/main" id="{7117E3D7-9116-4D5F-83CC-0C3BE30347DC}"/>
                </a:ext>
              </a:extLst>
            </p:cNvPr>
            <p:cNvSpPr txBox="1">
              <a:spLocks noChangeArrowheads="1"/>
            </p:cNvSpPr>
            <p:nvPr/>
          </p:nvSpPr>
          <p:spPr bwMode="auto">
            <a:xfrm>
              <a:off x="1893418" y="1931095"/>
              <a:ext cx="2779150" cy="583947"/>
            </a:xfrm>
            <a:prstGeom prst="rect">
              <a:avLst/>
            </a:prstGeom>
            <a:noFill/>
            <a:ln w="9525">
              <a:noFill/>
              <a:miter lim="800000"/>
              <a:headEnd/>
              <a:tailEnd/>
            </a:ln>
          </p:spPr>
          <p:txBody>
            <a:bodyPr rot="0" vert="horz" wrap="square" lIns="91440" tIns="45720" rIns="91440" bIns="45720" anchor="t" anchorCtr="0">
              <a:spAutoFit/>
            </a:bodyPr>
            <a:lstStyle/>
            <a:p>
              <a:pPr>
                <a:spcAft>
                  <a:spcPts val="0"/>
                </a:spcAft>
              </a:pPr>
              <a:r>
                <a:rPr lang="en-US" sz="1000" b="1" kern="100" dirty="0">
                  <a:effectLst/>
                  <a:latin typeface="標楷體" panose="03000509000000000000" pitchFamily="65" charset="-120"/>
                  <a:ea typeface="新細明體" panose="02020500000000000000" pitchFamily="18" charset="-120"/>
                  <a:cs typeface="Times New Roman" panose="02020603050405020304" pitchFamily="18" charset="0"/>
                </a:rPr>
                <a:t>High Voltage</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115" name="文字方塊 2">
              <a:extLst>
                <a:ext uri="{FF2B5EF4-FFF2-40B4-BE49-F238E27FC236}">
                  <a16:creationId xmlns:a16="http://schemas.microsoft.com/office/drawing/2014/main" id="{D493CB87-7560-4B6C-B473-DBDA5A937AC3}"/>
                </a:ext>
              </a:extLst>
            </p:cNvPr>
            <p:cNvSpPr txBox="1">
              <a:spLocks noChangeArrowheads="1"/>
            </p:cNvSpPr>
            <p:nvPr/>
          </p:nvSpPr>
          <p:spPr bwMode="auto">
            <a:xfrm>
              <a:off x="1926804" y="3935965"/>
              <a:ext cx="2129205" cy="583947"/>
            </a:xfrm>
            <a:prstGeom prst="rect">
              <a:avLst/>
            </a:prstGeom>
            <a:noFill/>
            <a:ln w="9525">
              <a:noFill/>
              <a:miter lim="800000"/>
              <a:headEnd/>
              <a:tailEnd/>
            </a:ln>
          </p:spPr>
          <p:txBody>
            <a:bodyPr rot="0" vert="horz" wrap="square" lIns="91440" tIns="45720" rIns="91440" bIns="45720" anchor="t" anchorCtr="0">
              <a:spAutoFit/>
            </a:bodyPr>
            <a:lstStyle/>
            <a:p>
              <a:pPr>
                <a:spcAft>
                  <a:spcPts val="0"/>
                </a:spcAft>
              </a:pPr>
              <a:r>
                <a:rPr lang="en-US" sz="1000" b="1" kern="100" dirty="0">
                  <a:effectLst/>
                  <a:latin typeface="標楷體" panose="03000509000000000000" pitchFamily="65" charset="-120"/>
                  <a:ea typeface="新細明體" panose="02020500000000000000" pitchFamily="18" charset="-120"/>
                  <a:cs typeface="Times New Roman" panose="02020603050405020304" pitchFamily="18" charset="0"/>
                </a:rPr>
                <a:t>Ground</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nvGrpSpPr>
          <p:cNvPr id="102" name="群組 101">
            <a:extLst>
              <a:ext uri="{FF2B5EF4-FFF2-40B4-BE49-F238E27FC236}">
                <a16:creationId xmlns:a16="http://schemas.microsoft.com/office/drawing/2014/main" id="{6F3FE5D9-F31E-43FF-B455-F706429A2382}"/>
              </a:ext>
            </a:extLst>
          </p:cNvPr>
          <p:cNvGrpSpPr/>
          <p:nvPr/>
        </p:nvGrpSpPr>
        <p:grpSpPr>
          <a:xfrm>
            <a:off x="9471023" y="4959856"/>
            <a:ext cx="1493698" cy="1617693"/>
            <a:chOff x="10291957" y="4734184"/>
            <a:chExt cx="1493698" cy="1617693"/>
          </a:xfrm>
        </p:grpSpPr>
        <p:grpSp>
          <p:nvGrpSpPr>
            <p:cNvPr id="92" name="群組 91">
              <a:extLst>
                <a:ext uri="{FF2B5EF4-FFF2-40B4-BE49-F238E27FC236}">
                  <a16:creationId xmlns:a16="http://schemas.microsoft.com/office/drawing/2014/main" id="{782F529F-84A7-45ED-AB26-C11611382D2A}"/>
                </a:ext>
              </a:extLst>
            </p:cNvPr>
            <p:cNvGrpSpPr/>
            <p:nvPr/>
          </p:nvGrpSpPr>
          <p:grpSpPr>
            <a:xfrm>
              <a:off x="10291957" y="5382705"/>
              <a:ext cx="1493698" cy="969172"/>
              <a:chOff x="9797672" y="5234728"/>
              <a:chExt cx="1493698" cy="969172"/>
            </a:xfrm>
          </p:grpSpPr>
          <p:grpSp>
            <p:nvGrpSpPr>
              <p:cNvPr id="65" name="群組 64">
                <a:extLst>
                  <a:ext uri="{FF2B5EF4-FFF2-40B4-BE49-F238E27FC236}">
                    <a16:creationId xmlns:a16="http://schemas.microsoft.com/office/drawing/2014/main" id="{4EC38036-510B-4061-9956-2A934B2309F6}"/>
                  </a:ext>
                </a:extLst>
              </p:cNvPr>
              <p:cNvGrpSpPr/>
              <p:nvPr/>
            </p:nvGrpSpPr>
            <p:grpSpPr>
              <a:xfrm>
                <a:off x="9797672" y="5450863"/>
                <a:ext cx="1493698" cy="753037"/>
                <a:chOff x="554143" y="1007390"/>
                <a:chExt cx="2092751" cy="1198462"/>
              </a:xfrm>
              <a:solidFill>
                <a:schemeClr val="accent4">
                  <a:lumMod val="60000"/>
                  <a:lumOff val="40000"/>
                </a:schemeClr>
              </a:solidFill>
            </p:grpSpPr>
            <p:sp>
              <p:nvSpPr>
                <p:cNvPr id="66" name="立方體 65">
                  <a:extLst>
                    <a:ext uri="{FF2B5EF4-FFF2-40B4-BE49-F238E27FC236}">
                      <a16:creationId xmlns:a16="http://schemas.microsoft.com/office/drawing/2014/main" id="{59C38708-BBFE-4B17-99ED-B45A7B0F9275}"/>
                    </a:ext>
                  </a:extLst>
                </p:cNvPr>
                <p:cNvSpPr/>
                <p:nvPr/>
              </p:nvSpPr>
              <p:spPr>
                <a:xfrm>
                  <a:off x="554143" y="1063746"/>
                  <a:ext cx="2092750" cy="1142106"/>
                </a:xfrm>
                <a:prstGeom prst="cube">
                  <a:avLst>
                    <a:gd name="adj" fmla="val 81126"/>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立方體 66">
                  <a:extLst>
                    <a:ext uri="{FF2B5EF4-FFF2-40B4-BE49-F238E27FC236}">
                      <a16:creationId xmlns:a16="http://schemas.microsoft.com/office/drawing/2014/main" id="{4D2138B3-3EC6-45A2-96C3-E0D81EF57B89}"/>
                    </a:ext>
                  </a:extLst>
                </p:cNvPr>
                <p:cNvSpPr/>
                <p:nvPr/>
              </p:nvSpPr>
              <p:spPr>
                <a:xfrm>
                  <a:off x="554144" y="1007390"/>
                  <a:ext cx="2092750" cy="973805"/>
                </a:xfrm>
                <a:prstGeom prst="cube">
                  <a:avLst>
                    <a:gd name="adj" fmla="val 94332"/>
                  </a:avLst>
                </a:prstGeom>
                <a:grp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grpSp>
          <p:grpSp>
            <p:nvGrpSpPr>
              <p:cNvPr id="81" name="群組 80">
                <a:extLst>
                  <a:ext uri="{FF2B5EF4-FFF2-40B4-BE49-F238E27FC236}">
                    <a16:creationId xmlns:a16="http://schemas.microsoft.com/office/drawing/2014/main" id="{91362224-EAB7-410E-B10F-379D764EB802}"/>
                  </a:ext>
                </a:extLst>
              </p:cNvPr>
              <p:cNvGrpSpPr/>
              <p:nvPr/>
            </p:nvGrpSpPr>
            <p:grpSpPr>
              <a:xfrm>
                <a:off x="9802064" y="5234728"/>
                <a:ext cx="1470538" cy="572370"/>
                <a:chOff x="9842581" y="1147668"/>
                <a:chExt cx="1470538" cy="572370"/>
              </a:xfrm>
              <a:solidFill>
                <a:schemeClr val="tx1"/>
              </a:solidFill>
            </p:grpSpPr>
            <p:sp>
              <p:nvSpPr>
                <p:cNvPr id="82" name="平行四邊形 81">
                  <a:extLst>
                    <a:ext uri="{FF2B5EF4-FFF2-40B4-BE49-F238E27FC236}">
                      <a16:creationId xmlns:a16="http://schemas.microsoft.com/office/drawing/2014/main" id="{FA8D7D4D-BF0E-4513-9217-EBB656E8F880}"/>
                    </a:ext>
                  </a:extLst>
                </p:cNvPr>
                <p:cNvSpPr/>
                <p:nvPr/>
              </p:nvSpPr>
              <p:spPr>
                <a:xfrm>
                  <a:off x="9842581" y="1674319"/>
                  <a:ext cx="944240" cy="45719"/>
                </a:xfrm>
                <a:prstGeom prst="parallelogram">
                  <a:avLst>
                    <a:gd name="adj" fmla="val 98823"/>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平行四邊形 82">
                  <a:extLst>
                    <a:ext uri="{FF2B5EF4-FFF2-40B4-BE49-F238E27FC236}">
                      <a16:creationId xmlns:a16="http://schemas.microsoft.com/office/drawing/2014/main" id="{CB82D064-0ABE-4EA4-AE93-DFCB194A7641}"/>
                    </a:ext>
                  </a:extLst>
                </p:cNvPr>
                <p:cNvSpPr/>
                <p:nvPr/>
              </p:nvSpPr>
              <p:spPr>
                <a:xfrm>
                  <a:off x="9930776" y="1510914"/>
                  <a:ext cx="1018777" cy="119897"/>
                </a:xfrm>
                <a:prstGeom prst="parallelogram">
                  <a:avLst>
                    <a:gd name="adj" fmla="val 98823"/>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平行四邊形 83">
                  <a:extLst>
                    <a:ext uri="{FF2B5EF4-FFF2-40B4-BE49-F238E27FC236}">
                      <a16:creationId xmlns:a16="http://schemas.microsoft.com/office/drawing/2014/main" id="{4EEC163B-EA6C-4125-BA11-1729A23C8B89}"/>
                    </a:ext>
                  </a:extLst>
                </p:cNvPr>
                <p:cNvSpPr/>
                <p:nvPr/>
              </p:nvSpPr>
              <p:spPr>
                <a:xfrm>
                  <a:off x="10085759" y="1363803"/>
                  <a:ext cx="1018776" cy="103603"/>
                </a:xfrm>
                <a:prstGeom prst="parallelogram">
                  <a:avLst>
                    <a:gd name="adj" fmla="val 98823"/>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平行四邊形 84">
                  <a:extLst>
                    <a:ext uri="{FF2B5EF4-FFF2-40B4-BE49-F238E27FC236}">
                      <a16:creationId xmlns:a16="http://schemas.microsoft.com/office/drawing/2014/main" id="{A2B5B7A2-630C-40E9-8296-18CD51E6F0F4}"/>
                    </a:ext>
                  </a:extLst>
                </p:cNvPr>
                <p:cNvSpPr/>
                <p:nvPr/>
              </p:nvSpPr>
              <p:spPr>
                <a:xfrm>
                  <a:off x="10349590" y="1147668"/>
                  <a:ext cx="963529" cy="66132"/>
                </a:xfrm>
                <a:prstGeom prst="parallelogram">
                  <a:avLst>
                    <a:gd name="adj" fmla="val 98823"/>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平行四邊形 85">
                  <a:extLst>
                    <a:ext uri="{FF2B5EF4-FFF2-40B4-BE49-F238E27FC236}">
                      <a16:creationId xmlns:a16="http://schemas.microsoft.com/office/drawing/2014/main" id="{B136D4B1-015B-477E-89AE-999C599B1BE1}"/>
                    </a:ext>
                  </a:extLst>
                </p:cNvPr>
                <p:cNvSpPr/>
                <p:nvPr/>
              </p:nvSpPr>
              <p:spPr>
                <a:xfrm>
                  <a:off x="10268868" y="1246370"/>
                  <a:ext cx="936407" cy="45719"/>
                </a:xfrm>
                <a:prstGeom prst="parallelogram">
                  <a:avLst>
                    <a:gd name="adj" fmla="val 98823"/>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grpSp>
          <p:nvGrpSpPr>
            <p:cNvPr id="93" name="群組 92">
              <a:extLst>
                <a:ext uri="{FF2B5EF4-FFF2-40B4-BE49-F238E27FC236}">
                  <a16:creationId xmlns:a16="http://schemas.microsoft.com/office/drawing/2014/main" id="{22F67567-E337-4DD3-AA48-6A1255EA177C}"/>
                </a:ext>
              </a:extLst>
            </p:cNvPr>
            <p:cNvGrpSpPr/>
            <p:nvPr/>
          </p:nvGrpSpPr>
          <p:grpSpPr>
            <a:xfrm>
              <a:off x="10657138" y="4734184"/>
              <a:ext cx="783553" cy="626767"/>
              <a:chOff x="10466849" y="4793324"/>
              <a:chExt cx="783553" cy="626767"/>
            </a:xfrm>
          </p:grpSpPr>
          <p:sp>
            <p:nvSpPr>
              <p:cNvPr id="171" name="向下箭號 379">
                <a:extLst>
                  <a:ext uri="{FF2B5EF4-FFF2-40B4-BE49-F238E27FC236}">
                    <a16:creationId xmlns:a16="http://schemas.microsoft.com/office/drawing/2014/main" id="{70FEF080-43EA-4785-B83A-D40E9F210E4D}"/>
                  </a:ext>
                </a:extLst>
              </p:cNvPr>
              <p:cNvSpPr/>
              <p:nvPr/>
            </p:nvSpPr>
            <p:spPr>
              <a:xfrm>
                <a:off x="10507289" y="5118757"/>
                <a:ext cx="196904" cy="301334"/>
              </a:xfrm>
              <a:prstGeom prst="downArrow">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172" name="向下箭號 380">
                <a:extLst>
                  <a:ext uri="{FF2B5EF4-FFF2-40B4-BE49-F238E27FC236}">
                    <a16:creationId xmlns:a16="http://schemas.microsoft.com/office/drawing/2014/main" id="{E4C6358A-FA07-43F2-9952-140F634B0765}"/>
                  </a:ext>
                </a:extLst>
              </p:cNvPr>
              <p:cNvSpPr/>
              <p:nvPr/>
            </p:nvSpPr>
            <p:spPr>
              <a:xfrm>
                <a:off x="10772573" y="5078604"/>
                <a:ext cx="196904" cy="301334"/>
              </a:xfrm>
              <a:prstGeom prst="downArrow">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173" name="向下箭號 381">
                <a:extLst>
                  <a:ext uri="{FF2B5EF4-FFF2-40B4-BE49-F238E27FC236}">
                    <a16:creationId xmlns:a16="http://schemas.microsoft.com/office/drawing/2014/main" id="{783FB8B4-1AE2-4363-BC4F-00288FFBD194}"/>
                  </a:ext>
                </a:extLst>
              </p:cNvPr>
              <p:cNvSpPr/>
              <p:nvPr/>
            </p:nvSpPr>
            <p:spPr>
              <a:xfrm>
                <a:off x="11053498" y="5037108"/>
                <a:ext cx="196904" cy="301334"/>
              </a:xfrm>
              <a:prstGeom prst="downArrow">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TW" altLang="en-US"/>
              </a:p>
            </p:txBody>
          </p:sp>
          <p:sp>
            <p:nvSpPr>
              <p:cNvPr id="174" name="文字方塊 173">
                <a:extLst>
                  <a:ext uri="{FF2B5EF4-FFF2-40B4-BE49-F238E27FC236}">
                    <a16:creationId xmlns:a16="http://schemas.microsoft.com/office/drawing/2014/main" id="{88678DAF-CBAF-4DB9-B27F-685A749C1D92}"/>
                  </a:ext>
                </a:extLst>
              </p:cNvPr>
              <p:cNvSpPr txBox="1"/>
              <p:nvPr/>
            </p:nvSpPr>
            <p:spPr>
              <a:xfrm>
                <a:off x="10466849" y="4793324"/>
                <a:ext cx="617316" cy="260134"/>
              </a:xfrm>
              <a:prstGeom prst="rect">
                <a:avLst/>
              </a:prstGeom>
              <a:noFill/>
            </p:spPr>
            <p:txBody>
              <a:bodyPr wrap="none" rtlCol="0">
                <a:spAutoFit/>
              </a:bodyPr>
              <a:lstStyle/>
              <a:p>
                <a:r>
                  <a:rPr lang="en-US" altLang="zh-TW" sz="1400" dirty="0">
                    <a:latin typeface="Times New Roman" panose="02020603050405020304" pitchFamily="18" charset="0"/>
                    <a:cs typeface="Times New Roman" panose="02020603050405020304" pitchFamily="18" charset="0"/>
                  </a:rPr>
                  <a:t>UV light</a:t>
                </a:r>
                <a:endParaRPr lang="zh-TW" altLang="en-US" sz="1400" dirty="0">
                  <a:latin typeface="Times New Roman" panose="02020603050405020304" pitchFamily="18" charset="0"/>
                  <a:cs typeface="Times New Roman" panose="02020603050405020304" pitchFamily="18" charset="0"/>
                </a:endParaRPr>
              </a:p>
            </p:txBody>
          </p:sp>
        </p:grpSp>
      </p:grpSp>
      <p:cxnSp>
        <p:nvCxnSpPr>
          <p:cNvPr id="176" name="接點: 弧形 175">
            <a:extLst>
              <a:ext uri="{FF2B5EF4-FFF2-40B4-BE49-F238E27FC236}">
                <a16:creationId xmlns:a16="http://schemas.microsoft.com/office/drawing/2014/main" id="{38F44914-5BD7-4402-AAAB-DCAED3367509}"/>
              </a:ext>
            </a:extLst>
          </p:cNvPr>
          <p:cNvCxnSpPr>
            <a:cxnSpLocks/>
          </p:cNvCxnSpPr>
          <p:nvPr/>
        </p:nvCxnSpPr>
        <p:spPr>
          <a:xfrm rot="16200000" flipV="1">
            <a:off x="2974842" y="1661967"/>
            <a:ext cx="641155" cy="497831"/>
          </a:xfrm>
          <a:prstGeom prst="curvedConnector3">
            <a:avLst>
              <a:gd name="adj1" fmla="val 38238"/>
            </a:avLst>
          </a:prstGeom>
          <a:ln>
            <a:tailEnd type="triangle"/>
          </a:ln>
        </p:spPr>
        <p:style>
          <a:lnRef idx="1">
            <a:schemeClr val="dk1"/>
          </a:lnRef>
          <a:fillRef idx="0">
            <a:schemeClr val="dk1"/>
          </a:fillRef>
          <a:effectRef idx="0">
            <a:schemeClr val="dk1"/>
          </a:effectRef>
          <a:fontRef idx="minor">
            <a:schemeClr val="tx1"/>
          </a:fontRef>
        </p:style>
      </p:cxnSp>
      <p:cxnSp>
        <p:nvCxnSpPr>
          <p:cNvPr id="177" name="接點: 弧形 176">
            <a:extLst>
              <a:ext uri="{FF2B5EF4-FFF2-40B4-BE49-F238E27FC236}">
                <a16:creationId xmlns:a16="http://schemas.microsoft.com/office/drawing/2014/main" id="{61598A65-4B5E-4FB8-A36D-1F73ED3E665C}"/>
              </a:ext>
            </a:extLst>
          </p:cNvPr>
          <p:cNvCxnSpPr>
            <a:cxnSpLocks/>
          </p:cNvCxnSpPr>
          <p:nvPr/>
        </p:nvCxnSpPr>
        <p:spPr>
          <a:xfrm rot="5400000" flipH="1" flipV="1">
            <a:off x="5856464" y="1933044"/>
            <a:ext cx="446970" cy="12700"/>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79" name="接點: 弧形 178">
            <a:extLst>
              <a:ext uri="{FF2B5EF4-FFF2-40B4-BE49-F238E27FC236}">
                <a16:creationId xmlns:a16="http://schemas.microsoft.com/office/drawing/2014/main" id="{D1FE8CF4-9FF5-4B01-BEFB-AA9A4BD7196C}"/>
              </a:ext>
            </a:extLst>
          </p:cNvPr>
          <p:cNvCxnSpPr>
            <a:cxnSpLocks/>
            <a:endCxn id="64" idx="2"/>
          </p:cNvCxnSpPr>
          <p:nvPr/>
        </p:nvCxnSpPr>
        <p:spPr>
          <a:xfrm flipV="1">
            <a:off x="8299664" y="1541998"/>
            <a:ext cx="1117498" cy="609525"/>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83" name="接點: 弧形 182">
            <a:extLst>
              <a:ext uri="{FF2B5EF4-FFF2-40B4-BE49-F238E27FC236}">
                <a16:creationId xmlns:a16="http://schemas.microsoft.com/office/drawing/2014/main" id="{A1A38B00-3C42-4AF6-9388-260B8A2ACA4C}"/>
              </a:ext>
            </a:extLst>
          </p:cNvPr>
          <p:cNvCxnSpPr>
            <a:cxnSpLocks/>
          </p:cNvCxnSpPr>
          <p:nvPr/>
        </p:nvCxnSpPr>
        <p:spPr>
          <a:xfrm rot="16200000" flipH="1">
            <a:off x="8919714" y="5216027"/>
            <a:ext cx="700860" cy="586936"/>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85" name="接點: 弧形 184">
            <a:extLst>
              <a:ext uri="{FF2B5EF4-FFF2-40B4-BE49-F238E27FC236}">
                <a16:creationId xmlns:a16="http://schemas.microsoft.com/office/drawing/2014/main" id="{655E0202-FFA0-4119-A6FE-5A5BBF814F17}"/>
              </a:ext>
            </a:extLst>
          </p:cNvPr>
          <p:cNvCxnSpPr>
            <a:cxnSpLocks/>
          </p:cNvCxnSpPr>
          <p:nvPr/>
        </p:nvCxnSpPr>
        <p:spPr>
          <a:xfrm rot="5400000">
            <a:off x="5919093" y="5570264"/>
            <a:ext cx="359512" cy="34898"/>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92" name="接點: 弧形 191">
            <a:extLst>
              <a:ext uri="{FF2B5EF4-FFF2-40B4-BE49-F238E27FC236}">
                <a16:creationId xmlns:a16="http://schemas.microsoft.com/office/drawing/2014/main" id="{D3AB64EB-E913-45A9-BB7E-8AF44F2F0E52}"/>
              </a:ext>
            </a:extLst>
          </p:cNvPr>
          <p:cNvCxnSpPr>
            <a:cxnSpLocks/>
          </p:cNvCxnSpPr>
          <p:nvPr/>
        </p:nvCxnSpPr>
        <p:spPr>
          <a:xfrm rot="10800000" flipV="1">
            <a:off x="2607313" y="5419818"/>
            <a:ext cx="913324" cy="276119"/>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3" name="投影片編號版面配置區 2">
            <a:extLst>
              <a:ext uri="{FF2B5EF4-FFF2-40B4-BE49-F238E27FC236}">
                <a16:creationId xmlns:a16="http://schemas.microsoft.com/office/drawing/2014/main" id="{611785E5-296D-4E1B-8401-01F4CE8C59DF}"/>
              </a:ext>
            </a:extLst>
          </p:cNvPr>
          <p:cNvSpPr>
            <a:spLocks noGrp="1"/>
          </p:cNvSpPr>
          <p:nvPr>
            <p:ph type="sldNum" sz="quarter" idx="12"/>
          </p:nvPr>
        </p:nvSpPr>
        <p:spPr>
          <a:xfrm>
            <a:off x="9448800" y="6489352"/>
            <a:ext cx="2743200" cy="365125"/>
          </a:xfrm>
        </p:spPr>
        <p:txBody>
          <a:bodyPr/>
          <a:lstStyle/>
          <a:p>
            <a:fld id="{29723A01-8C65-4E4C-95BB-6D96843E9278}" type="slidenum">
              <a:rPr lang="zh-TW" altLang="en-US" smtClean="0"/>
              <a:t>25</a:t>
            </a:fld>
            <a:endParaRPr lang="zh-TW" altLang="en-US"/>
          </a:p>
        </p:txBody>
      </p:sp>
    </p:spTree>
    <p:extLst>
      <p:ext uri="{BB962C8B-B14F-4D97-AF65-F5344CB8AC3E}">
        <p14:creationId xmlns:p14="http://schemas.microsoft.com/office/powerpoint/2010/main" val="3540564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1202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Poling Fabrication </a:t>
            </a:r>
            <a:endParaRPr lang="zh-TW" altLang="en-US" sz="2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9943717-266E-45CE-ADAF-8020BDE433FE}"/>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26</a:t>
            </a:fld>
            <a:endParaRPr lang="zh-TW" altLang="en-US" dirty="0"/>
          </a:p>
        </p:txBody>
      </p:sp>
      <p:grpSp>
        <p:nvGrpSpPr>
          <p:cNvPr id="6" name="群組 5">
            <a:extLst>
              <a:ext uri="{FF2B5EF4-FFF2-40B4-BE49-F238E27FC236}">
                <a16:creationId xmlns:a16="http://schemas.microsoft.com/office/drawing/2014/main" id="{19C34DDF-9D32-4F95-AA71-AAA02342A683}"/>
              </a:ext>
            </a:extLst>
          </p:cNvPr>
          <p:cNvGrpSpPr/>
          <p:nvPr/>
        </p:nvGrpSpPr>
        <p:grpSpPr>
          <a:xfrm>
            <a:off x="1180808" y="1699639"/>
            <a:ext cx="4888572" cy="4731865"/>
            <a:chOff x="0" y="0"/>
            <a:chExt cx="5145623" cy="4744043"/>
          </a:xfrm>
        </p:grpSpPr>
        <p:grpSp>
          <p:nvGrpSpPr>
            <p:cNvPr id="7" name="群組 6">
              <a:extLst>
                <a:ext uri="{FF2B5EF4-FFF2-40B4-BE49-F238E27FC236}">
                  <a16:creationId xmlns:a16="http://schemas.microsoft.com/office/drawing/2014/main" id="{789D6832-0AAB-4CB6-B69E-A4D91906640E}"/>
                </a:ext>
              </a:extLst>
            </p:cNvPr>
            <p:cNvGrpSpPr/>
            <p:nvPr/>
          </p:nvGrpSpPr>
          <p:grpSpPr>
            <a:xfrm>
              <a:off x="3521008" y="2616741"/>
              <a:ext cx="1393825" cy="1577973"/>
              <a:chOff x="0" y="0"/>
              <a:chExt cx="3036570" cy="2950065"/>
            </a:xfrm>
          </p:grpSpPr>
          <p:grpSp>
            <p:nvGrpSpPr>
              <p:cNvPr id="19" name="群組 18">
                <a:extLst>
                  <a:ext uri="{FF2B5EF4-FFF2-40B4-BE49-F238E27FC236}">
                    <a16:creationId xmlns:a16="http://schemas.microsoft.com/office/drawing/2014/main" id="{FA0CA906-8A2A-4E2E-99C4-85F03060518C}"/>
                  </a:ext>
                </a:extLst>
              </p:cNvPr>
              <p:cNvGrpSpPr/>
              <p:nvPr/>
            </p:nvGrpSpPr>
            <p:grpSpPr>
              <a:xfrm>
                <a:off x="337411" y="1046136"/>
                <a:ext cx="2697919" cy="856326"/>
                <a:chOff x="0" y="0"/>
                <a:chExt cx="2697919" cy="856326"/>
              </a:xfrm>
            </p:grpSpPr>
            <p:grpSp>
              <p:nvGrpSpPr>
                <p:cNvPr id="50" name="群組 49">
                  <a:extLst>
                    <a:ext uri="{FF2B5EF4-FFF2-40B4-BE49-F238E27FC236}">
                      <a16:creationId xmlns:a16="http://schemas.microsoft.com/office/drawing/2014/main" id="{32AAC935-8108-4CDE-B197-63F38C5D674F}"/>
                    </a:ext>
                  </a:extLst>
                </p:cNvPr>
                <p:cNvGrpSpPr/>
                <p:nvPr/>
              </p:nvGrpSpPr>
              <p:grpSpPr>
                <a:xfrm>
                  <a:off x="0" y="0"/>
                  <a:ext cx="2697919" cy="856326"/>
                  <a:chOff x="0" y="0"/>
                  <a:chExt cx="2697919" cy="856326"/>
                </a:xfrm>
              </p:grpSpPr>
              <p:sp>
                <p:nvSpPr>
                  <p:cNvPr id="52" name="矩形 51">
                    <a:extLst>
                      <a:ext uri="{FF2B5EF4-FFF2-40B4-BE49-F238E27FC236}">
                        <a16:creationId xmlns:a16="http://schemas.microsoft.com/office/drawing/2014/main" id="{E9A07F89-4C00-496C-90F4-B0DB8C853FC4}"/>
                      </a:ext>
                    </a:extLst>
                  </p:cNvPr>
                  <p:cNvSpPr/>
                  <p:nvPr/>
                </p:nvSpPr>
                <p:spPr>
                  <a:xfrm>
                    <a:off x="1755476" y="763437"/>
                    <a:ext cx="933817" cy="45719"/>
                  </a:xfrm>
                  <a:prstGeom prst="rect">
                    <a:avLst/>
                  </a:prstGeom>
                  <a:solidFill>
                    <a:srgbClr val="4472C4"/>
                  </a:solidFill>
                  <a:ln w="1270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53" name="矩形 52">
                    <a:extLst>
                      <a:ext uri="{FF2B5EF4-FFF2-40B4-BE49-F238E27FC236}">
                        <a16:creationId xmlns:a16="http://schemas.microsoft.com/office/drawing/2014/main" id="{9F1D3461-D03D-442F-A8EB-D4A28C6CC2B1}"/>
                      </a:ext>
                    </a:extLst>
                  </p:cNvPr>
                  <p:cNvSpPr/>
                  <p:nvPr/>
                </p:nvSpPr>
                <p:spPr>
                  <a:xfrm>
                    <a:off x="599536" y="612475"/>
                    <a:ext cx="1165821" cy="243851"/>
                  </a:xfrm>
                  <a:prstGeom prst="rect">
                    <a:avLst/>
                  </a:prstGeom>
                  <a:solidFill>
                    <a:srgbClr val="4472C4"/>
                  </a:solidFill>
                  <a:ln w="1270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54" name="矩形 53">
                    <a:extLst>
                      <a:ext uri="{FF2B5EF4-FFF2-40B4-BE49-F238E27FC236}">
                        <a16:creationId xmlns:a16="http://schemas.microsoft.com/office/drawing/2014/main" id="{2E3F8258-6A48-4F69-BB6B-F30E87571518}"/>
                      </a:ext>
                    </a:extLst>
                  </p:cNvPr>
                  <p:cNvSpPr/>
                  <p:nvPr/>
                </p:nvSpPr>
                <p:spPr>
                  <a:xfrm>
                    <a:off x="280359" y="530524"/>
                    <a:ext cx="1761214" cy="82416"/>
                  </a:xfrm>
                  <a:prstGeom prst="rect">
                    <a:avLst/>
                  </a:prstGeom>
                  <a:solidFill>
                    <a:srgbClr val="4472C4"/>
                  </a:solidFill>
                  <a:ln w="1270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55" name="矩形 54">
                    <a:extLst>
                      <a:ext uri="{FF2B5EF4-FFF2-40B4-BE49-F238E27FC236}">
                        <a16:creationId xmlns:a16="http://schemas.microsoft.com/office/drawing/2014/main" id="{5BC67997-C6B5-42A2-A678-56A9349C9A09}"/>
                      </a:ext>
                    </a:extLst>
                  </p:cNvPr>
                  <p:cNvSpPr/>
                  <p:nvPr/>
                </p:nvSpPr>
                <p:spPr>
                  <a:xfrm>
                    <a:off x="1764102" y="47445"/>
                    <a:ext cx="933817" cy="45719"/>
                  </a:xfrm>
                  <a:prstGeom prst="rect">
                    <a:avLst/>
                  </a:prstGeom>
                  <a:solidFill>
                    <a:srgbClr val="4472C4"/>
                  </a:solidFill>
                  <a:ln w="1270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56" name="矩形 55">
                    <a:extLst>
                      <a:ext uri="{FF2B5EF4-FFF2-40B4-BE49-F238E27FC236}">
                        <a16:creationId xmlns:a16="http://schemas.microsoft.com/office/drawing/2014/main" id="{884CA6C6-1146-44BC-AA96-FF01E282A8F4}"/>
                      </a:ext>
                    </a:extLst>
                  </p:cNvPr>
                  <p:cNvSpPr/>
                  <p:nvPr/>
                </p:nvSpPr>
                <p:spPr>
                  <a:xfrm>
                    <a:off x="599536" y="0"/>
                    <a:ext cx="1165821" cy="243851"/>
                  </a:xfrm>
                  <a:prstGeom prst="rect">
                    <a:avLst/>
                  </a:prstGeom>
                  <a:solidFill>
                    <a:srgbClr val="4472C4"/>
                  </a:solidFill>
                  <a:ln w="1270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57" name="矩形 56">
                    <a:extLst>
                      <a:ext uri="{FF2B5EF4-FFF2-40B4-BE49-F238E27FC236}">
                        <a16:creationId xmlns:a16="http://schemas.microsoft.com/office/drawing/2014/main" id="{8F12A544-75BE-4356-B3BD-1AE9255BE0E6}"/>
                      </a:ext>
                    </a:extLst>
                  </p:cNvPr>
                  <p:cNvSpPr/>
                  <p:nvPr/>
                </p:nvSpPr>
                <p:spPr>
                  <a:xfrm>
                    <a:off x="280359" y="215660"/>
                    <a:ext cx="1761214" cy="232742"/>
                  </a:xfrm>
                  <a:prstGeom prst="rect">
                    <a:avLst/>
                  </a:prstGeom>
                  <a:solidFill>
                    <a:srgbClr val="4472C4"/>
                  </a:solidFill>
                  <a:ln w="12700" cap="flat" cmpd="sng" algn="ctr">
                    <a:solidFill>
                      <a:srgbClr val="4472C4"/>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58" name="矩形 57">
                    <a:extLst>
                      <a:ext uri="{FF2B5EF4-FFF2-40B4-BE49-F238E27FC236}">
                        <a16:creationId xmlns:a16="http://schemas.microsoft.com/office/drawing/2014/main" id="{2C2B7FC8-FAE8-4F57-910C-774C817F7558}"/>
                      </a:ext>
                    </a:extLst>
                  </p:cNvPr>
                  <p:cNvSpPr/>
                  <p:nvPr/>
                </p:nvSpPr>
                <p:spPr>
                  <a:xfrm>
                    <a:off x="0" y="336430"/>
                    <a:ext cx="444300" cy="111949"/>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59" name="矩形 58">
                    <a:extLst>
                      <a:ext uri="{FF2B5EF4-FFF2-40B4-BE49-F238E27FC236}">
                        <a16:creationId xmlns:a16="http://schemas.microsoft.com/office/drawing/2014/main" id="{45A0BA71-BBC9-4BCF-8EC5-6A3DD6CA8528}"/>
                      </a:ext>
                    </a:extLst>
                  </p:cNvPr>
                  <p:cNvSpPr/>
                  <p:nvPr/>
                </p:nvSpPr>
                <p:spPr>
                  <a:xfrm>
                    <a:off x="1906438" y="336430"/>
                    <a:ext cx="455371"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60" name="矩形 59">
                    <a:extLst>
                      <a:ext uri="{FF2B5EF4-FFF2-40B4-BE49-F238E27FC236}">
                        <a16:creationId xmlns:a16="http://schemas.microsoft.com/office/drawing/2014/main" id="{8F216E04-1E67-490B-A158-6515FD0D430E}"/>
                      </a:ext>
                    </a:extLst>
                  </p:cNvPr>
                  <p:cNvSpPr/>
                  <p:nvPr/>
                </p:nvSpPr>
                <p:spPr>
                  <a:xfrm>
                    <a:off x="491706" y="336430"/>
                    <a:ext cx="45719"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61" name="矩形 60">
                    <a:extLst>
                      <a:ext uri="{FF2B5EF4-FFF2-40B4-BE49-F238E27FC236}">
                        <a16:creationId xmlns:a16="http://schemas.microsoft.com/office/drawing/2014/main" id="{25B52E4C-70BB-43D7-AAF8-2CE720F451E3}"/>
                      </a:ext>
                    </a:extLst>
                  </p:cNvPr>
                  <p:cNvSpPr/>
                  <p:nvPr/>
                </p:nvSpPr>
                <p:spPr>
                  <a:xfrm>
                    <a:off x="651295" y="336430"/>
                    <a:ext cx="97459"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62" name="矩形 61">
                    <a:extLst>
                      <a:ext uri="{FF2B5EF4-FFF2-40B4-BE49-F238E27FC236}">
                        <a16:creationId xmlns:a16="http://schemas.microsoft.com/office/drawing/2014/main" id="{5A458EB2-75B7-4BCD-A488-B20B222FC931}"/>
                      </a:ext>
                    </a:extLst>
                  </p:cNvPr>
                  <p:cNvSpPr/>
                  <p:nvPr/>
                </p:nvSpPr>
                <p:spPr>
                  <a:xfrm>
                    <a:off x="828136" y="336430"/>
                    <a:ext cx="455371"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63" name="矩形 62">
                    <a:extLst>
                      <a:ext uri="{FF2B5EF4-FFF2-40B4-BE49-F238E27FC236}">
                        <a16:creationId xmlns:a16="http://schemas.microsoft.com/office/drawing/2014/main" id="{4A877606-BE52-4379-BA76-47899C5FECFD}"/>
                      </a:ext>
                    </a:extLst>
                  </p:cNvPr>
                  <p:cNvSpPr/>
                  <p:nvPr/>
                </p:nvSpPr>
                <p:spPr>
                  <a:xfrm>
                    <a:off x="1341408" y="336430"/>
                    <a:ext cx="45719"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64" name="矩形 63">
                    <a:extLst>
                      <a:ext uri="{FF2B5EF4-FFF2-40B4-BE49-F238E27FC236}">
                        <a16:creationId xmlns:a16="http://schemas.microsoft.com/office/drawing/2014/main" id="{3B90507D-1ED2-4B4D-AA74-5B5C3EC6A694}"/>
                      </a:ext>
                    </a:extLst>
                  </p:cNvPr>
                  <p:cNvSpPr/>
                  <p:nvPr/>
                </p:nvSpPr>
                <p:spPr>
                  <a:xfrm>
                    <a:off x="1419045" y="336430"/>
                    <a:ext cx="45719"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65" name="矩形 64">
                    <a:extLst>
                      <a:ext uri="{FF2B5EF4-FFF2-40B4-BE49-F238E27FC236}">
                        <a16:creationId xmlns:a16="http://schemas.microsoft.com/office/drawing/2014/main" id="{AFA610A1-9344-49DC-8B2B-94340DE18436}"/>
                      </a:ext>
                    </a:extLst>
                  </p:cNvPr>
                  <p:cNvSpPr/>
                  <p:nvPr/>
                </p:nvSpPr>
                <p:spPr>
                  <a:xfrm>
                    <a:off x="1509623" y="332117"/>
                    <a:ext cx="45719"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66" name="矩形 65">
                    <a:extLst>
                      <a:ext uri="{FF2B5EF4-FFF2-40B4-BE49-F238E27FC236}">
                        <a16:creationId xmlns:a16="http://schemas.microsoft.com/office/drawing/2014/main" id="{EABC196E-7A44-4602-82CD-BE406B0811D0}"/>
                      </a:ext>
                    </a:extLst>
                  </p:cNvPr>
                  <p:cNvSpPr/>
                  <p:nvPr/>
                </p:nvSpPr>
                <p:spPr>
                  <a:xfrm>
                    <a:off x="1587261" y="332117"/>
                    <a:ext cx="111792"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67" name="矩形 66">
                    <a:extLst>
                      <a:ext uri="{FF2B5EF4-FFF2-40B4-BE49-F238E27FC236}">
                        <a16:creationId xmlns:a16="http://schemas.microsoft.com/office/drawing/2014/main" id="{68877FC0-6F5B-4DF0-B6DD-660AA1C2E9D3}"/>
                      </a:ext>
                    </a:extLst>
                  </p:cNvPr>
                  <p:cNvSpPr/>
                  <p:nvPr/>
                </p:nvSpPr>
                <p:spPr>
                  <a:xfrm>
                    <a:off x="1738223" y="336430"/>
                    <a:ext cx="117525" cy="111792"/>
                  </a:xfrm>
                  <a:prstGeom prst="rect">
                    <a:avLst/>
                  </a:prstGeom>
                  <a:solidFill>
                    <a:srgbClr val="FFC000"/>
                  </a:solidFill>
                  <a:ln w="1270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51" name="矩形 50">
                  <a:extLst>
                    <a:ext uri="{FF2B5EF4-FFF2-40B4-BE49-F238E27FC236}">
                      <a16:creationId xmlns:a16="http://schemas.microsoft.com/office/drawing/2014/main" id="{62D50FDE-2BA2-46DC-805F-87DBBFD6963F}"/>
                    </a:ext>
                  </a:extLst>
                </p:cNvPr>
                <p:cNvSpPr/>
                <p:nvPr/>
              </p:nvSpPr>
              <p:spPr>
                <a:xfrm>
                  <a:off x="0" y="448573"/>
                  <a:ext cx="2361961" cy="77395"/>
                </a:xfrm>
                <a:prstGeom prst="rect">
                  <a:avLst/>
                </a:prstGeom>
                <a:solidFill>
                  <a:srgbClr val="E7E6E6">
                    <a:lumMod val="90000"/>
                  </a:srgbClr>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20" name="群組 19">
                <a:extLst>
                  <a:ext uri="{FF2B5EF4-FFF2-40B4-BE49-F238E27FC236}">
                    <a16:creationId xmlns:a16="http://schemas.microsoft.com/office/drawing/2014/main" id="{D49DC159-368B-4C02-ACFA-628D946C29C6}"/>
                  </a:ext>
                </a:extLst>
              </p:cNvPr>
              <p:cNvGrpSpPr/>
              <p:nvPr/>
            </p:nvGrpSpPr>
            <p:grpSpPr>
              <a:xfrm>
                <a:off x="0" y="0"/>
                <a:ext cx="3036570" cy="2950065"/>
                <a:chOff x="0" y="-2280"/>
                <a:chExt cx="3036570" cy="2950065"/>
              </a:xfrm>
            </p:grpSpPr>
            <p:grpSp>
              <p:nvGrpSpPr>
                <p:cNvPr id="21" name="群組 20">
                  <a:extLst>
                    <a:ext uri="{FF2B5EF4-FFF2-40B4-BE49-F238E27FC236}">
                      <a16:creationId xmlns:a16="http://schemas.microsoft.com/office/drawing/2014/main" id="{A7A6C140-06AB-4B99-8FD1-4C0758CEC0B7}"/>
                    </a:ext>
                  </a:extLst>
                </p:cNvPr>
                <p:cNvGrpSpPr/>
                <p:nvPr/>
              </p:nvGrpSpPr>
              <p:grpSpPr>
                <a:xfrm>
                  <a:off x="0" y="409754"/>
                  <a:ext cx="3036570" cy="2117089"/>
                  <a:chOff x="0" y="0"/>
                  <a:chExt cx="3036594" cy="2117714"/>
                </a:xfrm>
              </p:grpSpPr>
              <p:grpSp>
                <p:nvGrpSpPr>
                  <p:cNvPr id="32" name="群組 31">
                    <a:extLst>
                      <a:ext uri="{FF2B5EF4-FFF2-40B4-BE49-F238E27FC236}">
                        <a16:creationId xmlns:a16="http://schemas.microsoft.com/office/drawing/2014/main" id="{064A26A6-E2AA-4EA6-8E72-C429FC78C1AA}"/>
                      </a:ext>
                    </a:extLst>
                  </p:cNvPr>
                  <p:cNvGrpSpPr/>
                  <p:nvPr/>
                </p:nvGrpSpPr>
                <p:grpSpPr>
                  <a:xfrm>
                    <a:off x="0" y="0"/>
                    <a:ext cx="3036594" cy="843689"/>
                    <a:chOff x="0" y="0"/>
                    <a:chExt cx="3036594" cy="843689"/>
                  </a:xfrm>
                </p:grpSpPr>
                <p:grpSp>
                  <p:nvGrpSpPr>
                    <p:cNvPr id="44" name="群組 43">
                      <a:extLst>
                        <a:ext uri="{FF2B5EF4-FFF2-40B4-BE49-F238E27FC236}">
                          <a16:creationId xmlns:a16="http://schemas.microsoft.com/office/drawing/2014/main" id="{B3AB6A9B-5538-4F40-9181-10A69FB5D14D}"/>
                        </a:ext>
                      </a:extLst>
                    </p:cNvPr>
                    <p:cNvGrpSpPr/>
                    <p:nvPr/>
                  </p:nvGrpSpPr>
                  <p:grpSpPr>
                    <a:xfrm>
                      <a:off x="0" y="0"/>
                      <a:ext cx="2097809" cy="843689"/>
                      <a:chOff x="0" y="0"/>
                      <a:chExt cx="2097809" cy="843689"/>
                    </a:xfrm>
                  </p:grpSpPr>
                  <p:cxnSp>
                    <p:nvCxnSpPr>
                      <p:cNvPr id="48" name="接點: 肘形 144">
                        <a:extLst>
                          <a:ext uri="{FF2B5EF4-FFF2-40B4-BE49-F238E27FC236}">
                            <a16:creationId xmlns:a16="http://schemas.microsoft.com/office/drawing/2014/main" id="{D5B6DDB8-E52D-4474-A667-C68FF4C32E41}"/>
                          </a:ext>
                        </a:extLst>
                      </p:cNvPr>
                      <p:cNvCxnSpPr/>
                      <p:nvPr/>
                    </p:nvCxnSpPr>
                    <p:spPr>
                      <a:xfrm>
                        <a:off x="0" y="0"/>
                        <a:ext cx="2097809" cy="843087"/>
                      </a:xfrm>
                      <a:prstGeom prst="bentConnector3">
                        <a:avLst>
                          <a:gd name="adj1" fmla="val 144758"/>
                        </a:avLst>
                      </a:prstGeom>
                      <a:noFill/>
                      <a:ln w="19050" cap="flat" cmpd="sng" algn="ctr">
                        <a:solidFill>
                          <a:sysClr val="windowText" lastClr="000000"/>
                        </a:solidFill>
                        <a:prstDash val="solid"/>
                        <a:miter lim="800000"/>
                      </a:ln>
                      <a:effectLst/>
                    </p:spPr>
                  </p:cxnSp>
                  <p:cxnSp>
                    <p:nvCxnSpPr>
                      <p:cNvPr id="49" name="接點: 肘形 145">
                        <a:extLst>
                          <a:ext uri="{FF2B5EF4-FFF2-40B4-BE49-F238E27FC236}">
                            <a16:creationId xmlns:a16="http://schemas.microsoft.com/office/drawing/2014/main" id="{C4A89144-556B-4B06-B334-24D9938DB76F}"/>
                          </a:ext>
                        </a:extLst>
                      </p:cNvPr>
                      <p:cNvCxnSpPr/>
                      <p:nvPr/>
                    </p:nvCxnSpPr>
                    <p:spPr>
                      <a:xfrm>
                        <a:off x="12269" y="0"/>
                        <a:ext cx="922795" cy="843689"/>
                      </a:xfrm>
                      <a:prstGeom prst="bentConnector3">
                        <a:avLst>
                          <a:gd name="adj1" fmla="val -757"/>
                        </a:avLst>
                      </a:prstGeom>
                      <a:noFill/>
                      <a:ln w="19050" cap="flat" cmpd="sng" algn="ctr">
                        <a:solidFill>
                          <a:sysClr val="windowText" lastClr="000000"/>
                        </a:solidFill>
                        <a:prstDash val="solid"/>
                        <a:miter lim="800000"/>
                      </a:ln>
                      <a:effectLst/>
                    </p:spPr>
                  </p:cxnSp>
                </p:grpSp>
                <p:cxnSp>
                  <p:nvCxnSpPr>
                    <p:cNvPr id="45" name="接點: 肘形 141">
                      <a:extLst>
                        <a:ext uri="{FF2B5EF4-FFF2-40B4-BE49-F238E27FC236}">
                          <a16:creationId xmlns:a16="http://schemas.microsoft.com/office/drawing/2014/main" id="{AD918252-435E-433E-81AE-2C36B19105B2}"/>
                        </a:ext>
                      </a:extLst>
                    </p:cNvPr>
                    <p:cNvCxnSpPr/>
                    <p:nvPr/>
                  </p:nvCxnSpPr>
                  <p:spPr>
                    <a:xfrm rot="10800000" flipV="1">
                      <a:off x="926702" y="630616"/>
                      <a:ext cx="1184861" cy="213070"/>
                    </a:xfrm>
                    <a:prstGeom prst="bentConnector3">
                      <a:avLst>
                        <a:gd name="adj1" fmla="val 99967"/>
                      </a:avLst>
                    </a:prstGeom>
                    <a:noFill/>
                    <a:ln w="19050" cap="flat" cmpd="sng" algn="ctr">
                      <a:solidFill>
                        <a:sysClr val="windowText" lastClr="000000"/>
                      </a:solidFill>
                      <a:prstDash val="solid"/>
                      <a:miter lim="800000"/>
                    </a:ln>
                    <a:effectLst/>
                  </p:spPr>
                </p:cxnSp>
                <p:cxnSp>
                  <p:nvCxnSpPr>
                    <p:cNvPr id="46" name="接點: 肘形 142">
                      <a:extLst>
                        <a:ext uri="{FF2B5EF4-FFF2-40B4-BE49-F238E27FC236}">
                          <a16:creationId xmlns:a16="http://schemas.microsoft.com/office/drawing/2014/main" id="{60AF78AF-9758-47F2-81C5-9C30BF270E65}"/>
                        </a:ext>
                      </a:extLst>
                    </p:cNvPr>
                    <p:cNvCxnSpPr/>
                    <p:nvPr/>
                  </p:nvCxnSpPr>
                  <p:spPr>
                    <a:xfrm flipH="1" flipV="1">
                      <a:off x="2111564" y="630621"/>
                      <a:ext cx="925030" cy="45719"/>
                    </a:xfrm>
                    <a:prstGeom prst="bentConnector3">
                      <a:avLst>
                        <a:gd name="adj1" fmla="val 101031"/>
                      </a:avLst>
                    </a:prstGeom>
                    <a:noFill/>
                    <a:ln w="19050" cap="flat" cmpd="sng" algn="ctr">
                      <a:solidFill>
                        <a:sysClr val="windowText" lastClr="000000"/>
                      </a:solidFill>
                      <a:prstDash val="solid"/>
                      <a:miter lim="800000"/>
                    </a:ln>
                    <a:effectLst/>
                  </p:spPr>
                </p:cxnSp>
                <p:cxnSp>
                  <p:nvCxnSpPr>
                    <p:cNvPr id="47" name="接點: 肘形 143">
                      <a:extLst>
                        <a:ext uri="{FF2B5EF4-FFF2-40B4-BE49-F238E27FC236}">
                          <a16:creationId xmlns:a16="http://schemas.microsoft.com/office/drawing/2014/main" id="{A81BC592-C3A9-410F-8AF4-11E51C855C2F}"/>
                        </a:ext>
                      </a:extLst>
                    </p:cNvPr>
                    <p:cNvCxnSpPr/>
                    <p:nvPr/>
                  </p:nvCxnSpPr>
                  <p:spPr>
                    <a:xfrm rot="10800000" flipV="1">
                      <a:off x="2099084" y="733812"/>
                      <a:ext cx="937041" cy="109273"/>
                    </a:xfrm>
                    <a:prstGeom prst="bentConnector3">
                      <a:avLst>
                        <a:gd name="adj1" fmla="val 100065"/>
                      </a:avLst>
                    </a:prstGeom>
                    <a:noFill/>
                    <a:ln w="19050" cap="flat" cmpd="sng" algn="ctr">
                      <a:solidFill>
                        <a:sysClr val="windowText" lastClr="000000"/>
                      </a:solidFill>
                      <a:prstDash val="solid"/>
                      <a:miter lim="800000"/>
                    </a:ln>
                    <a:effectLst/>
                  </p:spPr>
                </p:cxnSp>
              </p:grpSp>
              <p:grpSp>
                <p:nvGrpSpPr>
                  <p:cNvPr id="33" name="群組 32">
                    <a:extLst>
                      <a:ext uri="{FF2B5EF4-FFF2-40B4-BE49-F238E27FC236}">
                        <a16:creationId xmlns:a16="http://schemas.microsoft.com/office/drawing/2014/main" id="{CCCE0066-D1D4-4E54-8462-68601C2AE0A5}"/>
                      </a:ext>
                    </a:extLst>
                  </p:cNvPr>
                  <p:cNvGrpSpPr/>
                  <p:nvPr/>
                </p:nvGrpSpPr>
                <p:grpSpPr>
                  <a:xfrm>
                    <a:off x="926702" y="1241175"/>
                    <a:ext cx="2107439" cy="876539"/>
                    <a:chOff x="10451" y="-1"/>
                    <a:chExt cx="2107439" cy="876539"/>
                  </a:xfrm>
                </p:grpSpPr>
                <p:grpSp>
                  <p:nvGrpSpPr>
                    <p:cNvPr id="38" name="群組 37">
                      <a:extLst>
                        <a:ext uri="{FF2B5EF4-FFF2-40B4-BE49-F238E27FC236}">
                          <a16:creationId xmlns:a16="http://schemas.microsoft.com/office/drawing/2014/main" id="{6C58FAD5-ED73-4BFB-A0D4-04624D63A458}"/>
                        </a:ext>
                      </a:extLst>
                    </p:cNvPr>
                    <p:cNvGrpSpPr/>
                    <p:nvPr/>
                  </p:nvGrpSpPr>
                  <p:grpSpPr>
                    <a:xfrm rot="10800000">
                      <a:off x="25619" y="1852"/>
                      <a:ext cx="2092271" cy="874686"/>
                      <a:chOff x="0" y="0"/>
                      <a:chExt cx="2092271" cy="874686"/>
                    </a:xfrm>
                  </p:grpSpPr>
                  <p:cxnSp>
                    <p:nvCxnSpPr>
                      <p:cNvPr id="42" name="接點: 肘形 138">
                        <a:extLst>
                          <a:ext uri="{FF2B5EF4-FFF2-40B4-BE49-F238E27FC236}">
                            <a16:creationId xmlns:a16="http://schemas.microsoft.com/office/drawing/2014/main" id="{CE261F85-2F5C-4766-AB5C-3FF4F36D75F7}"/>
                          </a:ext>
                        </a:extLst>
                      </p:cNvPr>
                      <p:cNvCxnSpPr/>
                      <p:nvPr/>
                    </p:nvCxnSpPr>
                    <p:spPr>
                      <a:xfrm>
                        <a:off x="0" y="0"/>
                        <a:ext cx="2092271" cy="874686"/>
                      </a:xfrm>
                      <a:prstGeom prst="bentConnector3">
                        <a:avLst>
                          <a:gd name="adj1" fmla="val 145209"/>
                        </a:avLst>
                      </a:prstGeom>
                      <a:noFill/>
                      <a:ln w="19050" cap="flat" cmpd="sng" algn="ctr">
                        <a:solidFill>
                          <a:sysClr val="windowText" lastClr="000000"/>
                        </a:solidFill>
                        <a:prstDash val="solid"/>
                        <a:miter lim="800000"/>
                      </a:ln>
                      <a:effectLst/>
                    </p:spPr>
                  </p:cxnSp>
                  <p:cxnSp>
                    <p:nvCxnSpPr>
                      <p:cNvPr id="43" name="接點: 肘形 139">
                        <a:extLst>
                          <a:ext uri="{FF2B5EF4-FFF2-40B4-BE49-F238E27FC236}">
                            <a16:creationId xmlns:a16="http://schemas.microsoft.com/office/drawing/2014/main" id="{186940B3-6AFB-4245-976F-931CD6BEEFE9}"/>
                          </a:ext>
                        </a:extLst>
                      </p:cNvPr>
                      <p:cNvCxnSpPr/>
                      <p:nvPr/>
                    </p:nvCxnSpPr>
                    <p:spPr>
                      <a:xfrm>
                        <a:off x="12265" y="30319"/>
                        <a:ext cx="929605" cy="844367"/>
                      </a:xfrm>
                      <a:prstGeom prst="bentConnector3">
                        <a:avLst>
                          <a:gd name="adj1" fmla="val -350"/>
                        </a:avLst>
                      </a:prstGeom>
                      <a:noFill/>
                      <a:ln w="19050" cap="flat" cmpd="sng" algn="ctr">
                        <a:solidFill>
                          <a:sysClr val="windowText" lastClr="000000"/>
                        </a:solidFill>
                        <a:prstDash val="solid"/>
                        <a:miter lim="800000"/>
                      </a:ln>
                      <a:effectLst/>
                    </p:spPr>
                  </p:cxnSp>
                </p:grpSp>
                <p:cxnSp>
                  <p:nvCxnSpPr>
                    <p:cNvPr id="39" name="接點: 肘形 135">
                      <a:extLst>
                        <a:ext uri="{FF2B5EF4-FFF2-40B4-BE49-F238E27FC236}">
                          <a16:creationId xmlns:a16="http://schemas.microsoft.com/office/drawing/2014/main" id="{7A9AEFE8-01CF-4093-A2FC-32749C344196}"/>
                        </a:ext>
                      </a:extLst>
                    </p:cNvPr>
                    <p:cNvCxnSpPr/>
                    <p:nvPr/>
                  </p:nvCxnSpPr>
                  <p:spPr>
                    <a:xfrm>
                      <a:off x="1182832" y="1852"/>
                      <a:ext cx="923617" cy="149770"/>
                    </a:xfrm>
                    <a:prstGeom prst="bentConnector3">
                      <a:avLst>
                        <a:gd name="adj1" fmla="val -119"/>
                      </a:avLst>
                    </a:prstGeom>
                    <a:noFill/>
                    <a:ln w="19050" cap="flat" cmpd="sng" algn="ctr">
                      <a:solidFill>
                        <a:sysClr val="windowText" lastClr="000000"/>
                      </a:solidFill>
                      <a:prstDash val="solid"/>
                      <a:miter lim="800000"/>
                    </a:ln>
                    <a:effectLst/>
                  </p:spPr>
                </p:cxnSp>
                <p:cxnSp>
                  <p:nvCxnSpPr>
                    <p:cNvPr id="40" name="接點: 肘形 136">
                      <a:extLst>
                        <a:ext uri="{FF2B5EF4-FFF2-40B4-BE49-F238E27FC236}">
                          <a16:creationId xmlns:a16="http://schemas.microsoft.com/office/drawing/2014/main" id="{FC1653B6-364A-45FF-AC2A-E30CDAB92332}"/>
                        </a:ext>
                      </a:extLst>
                    </p:cNvPr>
                    <p:cNvCxnSpPr/>
                    <p:nvPr/>
                  </p:nvCxnSpPr>
                  <p:spPr>
                    <a:xfrm flipV="1">
                      <a:off x="10451" y="202503"/>
                      <a:ext cx="2104931" cy="45719"/>
                    </a:xfrm>
                    <a:prstGeom prst="bentConnector3">
                      <a:avLst>
                        <a:gd name="adj1" fmla="val 55766"/>
                      </a:avLst>
                    </a:prstGeom>
                    <a:noFill/>
                    <a:ln w="19050" cap="flat" cmpd="sng" algn="ctr">
                      <a:solidFill>
                        <a:sysClr val="windowText" lastClr="000000"/>
                      </a:solidFill>
                      <a:prstDash val="solid"/>
                      <a:miter lim="800000"/>
                    </a:ln>
                    <a:effectLst/>
                  </p:spPr>
                </p:cxnSp>
                <p:cxnSp>
                  <p:nvCxnSpPr>
                    <p:cNvPr id="41" name="直線接點 40">
                      <a:extLst>
                        <a:ext uri="{FF2B5EF4-FFF2-40B4-BE49-F238E27FC236}">
                          <a16:creationId xmlns:a16="http://schemas.microsoft.com/office/drawing/2014/main" id="{72949DA6-E459-421D-B6FE-A1B59AC2E680}"/>
                        </a:ext>
                      </a:extLst>
                    </p:cNvPr>
                    <p:cNvCxnSpPr/>
                    <p:nvPr/>
                  </p:nvCxnSpPr>
                  <p:spPr>
                    <a:xfrm>
                      <a:off x="17000" y="-1"/>
                      <a:ext cx="0" cy="254001"/>
                    </a:xfrm>
                    <a:prstGeom prst="line">
                      <a:avLst/>
                    </a:prstGeom>
                    <a:noFill/>
                    <a:ln w="19050" cap="flat" cmpd="sng" algn="ctr">
                      <a:solidFill>
                        <a:sysClr val="windowText" lastClr="000000"/>
                      </a:solidFill>
                      <a:prstDash val="solid"/>
                      <a:miter lim="800000"/>
                    </a:ln>
                    <a:effectLst/>
                  </p:spPr>
                </p:cxnSp>
              </p:grpSp>
              <p:sp>
                <p:nvSpPr>
                  <p:cNvPr id="34" name="矩形 33">
                    <a:extLst>
                      <a:ext uri="{FF2B5EF4-FFF2-40B4-BE49-F238E27FC236}">
                        <a16:creationId xmlns:a16="http://schemas.microsoft.com/office/drawing/2014/main" id="{035250DA-1E2E-4EAC-B8A4-4879BD58B627}"/>
                      </a:ext>
                    </a:extLst>
                  </p:cNvPr>
                  <p:cNvSpPr/>
                  <p:nvPr/>
                </p:nvSpPr>
                <p:spPr>
                  <a:xfrm>
                    <a:off x="519844" y="788023"/>
                    <a:ext cx="220345" cy="60685"/>
                  </a:xfrm>
                  <a:prstGeom prst="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5" name="矩形 34">
                    <a:extLst>
                      <a:ext uri="{FF2B5EF4-FFF2-40B4-BE49-F238E27FC236}">
                        <a16:creationId xmlns:a16="http://schemas.microsoft.com/office/drawing/2014/main" id="{BA4F9203-F35D-4B72-A8CC-DBF6930831A6}"/>
                      </a:ext>
                    </a:extLst>
                  </p:cNvPr>
                  <p:cNvSpPr/>
                  <p:nvPr/>
                </p:nvSpPr>
                <p:spPr>
                  <a:xfrm>
                    <a:off x="2274098" y="788023"/>
                    <a:ext cx="220345" cy="55061"/>
                  </a:xfrm>
                  <a:prstGeom prst="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6" name="矩形 35">
                    <a:extLst>
                      <a:ext uri="{FF2B5EF4-FFF2-40B4-BE49-F238E27FC236}">
                        <a16:creationId xmlns:a16="http://schemas.microsoft.com/office/drawing/2014/main" id="{FBDAAFBC-AB21-4073-972C-B350E66C237D}"/>
                      </a:ext>
                    </a:extLst>
                  </p:cNvPr>
                  <p:cNvSpPr/>
                  <p:nvPr/>
                </p:nvSpPr>
                <p:spPr>
                  <a:xfrm>
                    <a:off x="519844" y="1249553"/>
                    <a:ext cx="220345" cy="87078"/>
                  </a:xfrm>
                  <a:prstGeom prst="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7" name="矩形 36">
                    <a:extLst>
                      <a:ext uri="{FF2B5EF4-FFF2-40B4-BE49-F238E27FC236}">
                        <a16:creationId xmlns:a16="http://schemas.microsoft.com/office/drawing/2014/main" id="{477D5FC4-FDC9-4C5C-8FE3-0BE7051E7134}"/>
                      </a:ext>
                    </a:extLst>
                  </p:cNvPr>
                  <p:cNvSpPr/>
                  <p:nvPr/>
                </p:nvSpPr>
                <p:spPr>
                  <a:xfrm>
                    <a:off x="2274098" y="1279701"/>
                    <a:ext cx="220345" cy="58787"/>
                  </a:xfrm>
                  <a:prstGeom prst="rect">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22" name="群組 21">
                  <a:extLst>
                    <a:ext uri="{FF2B5EF4-FFF2-40B4-BE49-F238E27FC236}">
                      <a16:creationId xmlns:a16="http://schemas.microsoft.com/office/drawing/2014/main" id="{6171831C-DA9D-4CF9-BE08-60ACF249645D}"/>
                    </a:ext>
                  </a:extLst>
                </p:cNvPr>
                <p:cNvGrpSpPr/>
                <p:nvPr/>
              </p:nvGrpSpPr>
              <p:grpSpPr>
                <a:xfrm rot="10800000">
                  <a:off x="1365490" y="1785668"/>
                  <a:ext cx="286646" cy="1162117"/>
                  <a:chOff x="0" y="0"/>
                  <a:chExt cx="286646" cy="1162117"/>
                </a:xfrm>
              </p:grpSpPr>
              <p:sp>
                <p:nvSpPr>
                  <p:cNvPr id="30" name="矩形 29">
                    <a:extLst>
                      <a:ext uri="{FF2B5EF4-FFF2-40B4-BE49-F238E27FC236}">
                        <a16:creationId xmlns:a16="http://schemas.microsoft.com/office/drawing/2014/main" id="{837DC177-038F-4835-8EBB-BF0682D0823F}"/>
                      </a:ext>
                    </a:extLst>
                  </p:cNvPr>
                  <p:cNvSpPr/>
                  <p:nvPr/>
                </p:nvSpPr>
                <p:spPr>
                  <a:xfrm>
                    <a:off x="0" y="1043391"/>
                    <a:ext cx="286646" cy="118726"/>
                  </a:xfrm>
                  <a:prstGeom prst="rect">
                    <a:avLst/>
                  </a:prstGeom>
                  <a:solidFill>
                    <a:sysClr val="window" lastClr="FFFFFF">
                      <a:lumMod val="65000"/>
                    </a:sysClr>
                  </a:solidFill>
                  <a:ln w="12700" cap="flat" cmpd="sng" algn="ctr">
                    <a:solidFill>
                      <a:sysClr val="window" lastClr="FFFFFF">
                        <a:lumMod val="50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1" name="矩形 30">
                    <a:extLst>
                      <a:ext uri="{FF2B5EF4-FFF2-40B4-BE49-F238E27FC236}">
                        <a16:creationId xmlns:a16="http://schemas.microsoft.com/office/drawing/2014/main" id="{AC9FF3B8-CD88-48D0-96A2-EBCBF1BD31CD}"/>
                      </a:ext>
                    </a:extLst>
                  </p:cNvPr>
                  <p:cNvSpPr/>
                  <p:nvPr/>
                </p:nvSpPr>
                <p:spPr>
                  <a:xfrm>
                    <a:off x="83127" y="0"/>
                    <a:ext cx="126124" cy="1040524"/>
                  </a:xfrm>
                  <a:prstGeom prst="rect">
                    <a:avLst/>
                  </a:prstGeom>
                  <a:solidFill>
                    <a:sysClr val="window" lastClr="FFFFFF">
                      <a:lumMod val="65000"/>
                    </a:sysClr>
                  </a:solidFill>
                  <a:ln w="12700" cap="flat" cmpd="sng" algn="ctr">
                    <a:solidFill>
                      <a:sysClr val="window" lastClr="FFFFFF">
                        <a:lumMod val="50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23" name="群組 22">
                  <a:extLst>
                    <a:ext uri="{FF2B5EF4-FFF2-40B4-BE49-F238E27FC236}">
                      <a16:creationId xmlns:a16="http://schemas.microsoft.com/office/drawing/2014/main" id="{6EA86270-CDBB-4817-8F55-E9DD1626F014}"/>
                    </a:ext>
                  </a:extLst>
                </p:cNvPr>
                <p:cNvGrpSpPr/>
                <p:nvPr/>
              </p:nvGrpSpPr>
              <p:grpSpPr>
                <a:xfrm>
                  <a:off x="1361177" y="-2280"/>
                  <a:ext cx="286646" cy="1159250"/>
                  <a:chOff x="0" y="-2280"/>
                  <a:chExt cx="286646" cy="1159250"/>
                </a:xfrm>
              </p:grpSpPr>
              <p:sp>
                <p:nvSpPr>
                  <p:cNvPr id="28" name="矩形 27">
                    <a:extLst>
                      <a:ext uri="{FF2B5EF4-FFF2-40B4-BE49-F238E27FC236}">
                        <a16:creationId xmlns:a16="http://schemas.microsoft.com/office/drawing/2014/main" id="{C0E7F055-20A1-4E3F-9421-7F2487871648}"/>
                      </a:ext>
                    </a:extLst>
                  </p:cNvPr>
                  <p:cNvSpPr/>
                  <p:nvPr/>
                </p:nvSpPr>
                <p:spPr>
                  <a:xfrm>
                    <a:off x="0" y="1038244"/>
                    <a:ext cx="286646" cy="118726"/>
                  </a:xfrm>
                  <a:prstGeom prst="rect">
                    <a:avLst/>
                  </a:prstGeom>
                  <a:solidFill>
                    <a:sysClr val="window" lastClr="FFFFFF">
                      <a:lumMod val="65000"/>
                    </a:sysClr>
                  </a:solidFill>
                  <a:ln w="12700" cap="flat" cmpd="sng" algn="ctr">
                    <a:solidFill>
                      <a:sysClr val="window" lastClr="FFFFFF">
                        <a:lumMod val="50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29" name="矩形 28">
                    <a:extLst>
                      <a:ext uri="{FF2B5EF4-FFF2-40B4-BE49-F238E27FC236}">
                        <a16:creationId xmlns:a16="http://schemas.microsoft.com/office/drawing/2014/main" id="{E3C0D7CF-948C-493C-89CD-6655A59CA29D}"/>
                      </a:ext>
                    </a:extLst>
                  </p:cNvPr>
                  <p:cNvSpPr/>
                  <p:nvPr/>
                </p:nvSpPr>
                <p:spPr>
                  <a:xfrm>
                    <a:off x="83127" y="-2280"/>
                    <a:ext cx="126124" cy="1040524"/>
                  </a:xfrm>
                  <a:prstGeom prst="rect">
                    <a:avLst/>
                  </a:prstGeom>
                  <a:solidFill>
                    <a:sysClr val="window" lastClr="FFFFFF">
                      <a:lumMod val="65000"/>
                    </a:sysClr>
                  </a:solidFill>
                  <a:ln w="12700" cap="flat" cmpd="sng" algn="ctr">
                    <a:solidFill>
                      <a:sysClr val="window" lastClr="FFFFFF">
                        <a:lumMod val="50000"/>
                      </a:sys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24" name="橢圓 23">
                  <a:extLst>
                    <a:ext uri="{FF2B5EF4-FFF2-40B4-BE49-F238E27FC236}">
                      <a16:creationId xmlns:a16="http://schemas.microsoft.com/office/drawing/2014/main" id="{52829890-5C67-4407-BC4A-14A627BC5606}"/>
                    </a:ext>
                  </a:extLst>
                </p:cNvPr>
                <p:cNvSpPr/>
                <p:nvPr/>
              </p:nvSpPr>
              <p:spPr>
                <a:xfrm>
                  <a:off x="2275577" y="1212011"/>
                  <a:ext cx="219521" cy="161014"/>
                </a:xfrm>
                <a:prstGeom prst="ellipse">
                  <a:avLst/>
                </a:prstGeom>
                <a:solidFill>
                  <a:srgbClr val="FF0000"/>
                </a:solidFill>
                <a:ln w="12700"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25" name="橢圓 24">
                  <a:extLst>
                    <a:ext uri="{FF2B5EF4-FFF2-40B4-BE49-F238E27FC236}">
                      <a16:creationId xmlns:a16="http://schemas.microsoft.com/office/drawing/2014/main" id="{BD81E42D-58E7-4CFF-BF27-4D1C13402187}"/>
                    </a:ext>
                  </a:extLst>
                </p:cNvPr>
                <p:cNvSpPr/>
                <p:nvPr/>
              </p:nvSpPr>
              <p:spPr>
                <a:xfrm>
                  <a:off x="520101" y="1207945"/>
                  <a:ext cx="219521" cy="161014"/>
                </a:xfrm>
                <a:prstGeom prst="ellipse">
                  <a:avLst/>
                </a:prstGeom>
                <a:solidFill>
                  <a:srgbClr val="FF0000"/>
                </a:solidFill>
                <a:ln w="12700"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26" name="橢圓 25">
                  <a:extLst>
                    <a:ext uri="{FF2B5EF4-FFF2-40B4-BE49-F238E27FC236}">
                      <a16:creationId xmlns:a16="http://schemas.microsoft.com/office/drawing/2014/main" id="{3188D743-7EA3-4443-A299-B7266DAAF63B}"/>
                    </a:ext>
                  </a:extLst>
                </p:cNvPr>
                <p:cNvSpPr/>
                <p:nvPr/>
              </p:nvSpPr>
              <p:spPr>
                <a:xfrm>
                  <a:off x="520101" y="1576847"/>
                  <a:ext cx="219521" cy="161014"/>
                </a:xfrm>
                <a:prstGeom prst="ellipse">
                  <a:avLst/>
                </a:prstGeom>
                <a:solidFill>
                  <a:srgbClr val="FF0000"/>
                </a:solidFill>
                <a:ln w="12700"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27" name="橢圓 26">
                  <a:extLst>
                    <a:ext uri="{FF2B5EF4-FFF2-40B4-BE49-F238E27FC236}">
                      <a16:creationId xmlns:a16="http://schemas.microsoft.com/office/drawing/2014/main" id="{079A557C-E7C9-43B3-A158-EAAA03A762FC}"/>
                    </a:ext>
                  </a:extLst>
                </p:cNvPr>
                <p:cNvSpPr/>
                <p:nvPr/>
              </p:nvSpPr>
              <p:spPr>
                <a:xfrm>
                  <a:off x="2275577" y="1578634"/>
                  <a:ext cx="219521" cy="161014"/>
                </a:xfrm>
                <a:prstGeom prst="ellipse">
                  <a:avLst/>
                </a:prstGeom>
                <a:solidFill>
                  <a:srgbClr val="FF0000"/>
                </a:solidFill>
                <a:ln w="12700"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pic>
          <p:nvPicPr>
            <p:cNvPr id="8" name="圖片 7">
              <a:extLst>
                <a:ext uri="{FF2B5EF4-FFF2-40B4-BE49-F238E27FC236}">
                  <a16:creationId xmlns:a16="http://schemas.microsoft.com/office/drawing/2014/main" id="{420BECFE-4691-43D3-8AF7-D9E68537C01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59149" y="136187"/>
              <a:ext cx="1818640" cy="1818640"/>
            </a:xfrm>
            <a:prstGeom prst="rect">
              <a:avLst/>
            </a:prstGeom>
            <a:noFill/>
            <a:ln>
              <a:noFill/>
            </a:ln>
          </p:spPr>
        </p:pic>
        <p:pic>
          <p:nvPicPr>
            <p:cNvPr id="9" name="圖片 8">
              <a:extLst>
                <a:ext uri="{FF2B5EF4-FFF2-40B4-BE49-F238E27FC236}">
                  <a16:creationId xmlns:a16="http://schemas.microsoft.com/office/drawing/2014/main" id="{A738DD71-85CA-4B20-B7D6-77D6D0FBD34D}"/>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t="26383" b="25102"/>
            <a:stretch/>
          </p:blipFill>
          <p:spPr bwMode="auto">
            <a:xfrm>
              <a:off x="58366" y="2616741"/>
              <a:ext cx="1903095" cy="1303020"/>
            </a:xfrm>
            <a:prstGeom prst="rect">
              <a:avLst/>
            </a:prstGeom>
            <a:ln>
              <a:noFill/>
            </a:ln>
            <a:extLst>
              <a:ext uri="{53640926-AAD7-44D8-BBD7-CCE9431645EC}">
                <a14:shadowObscured xmlns:a14="http://schemas.microsoft.com/office/drawing/2010/main"/>
              </a:ext>
            </a:extLst>
          </p:spPr>
        </p:pic>
        <p:sp>
          <p:nvSpPr>
            <p:cNvPr id="10" name="矩形 9">
              <a:extLst>
                <a:ext uri="{FF2B5EF4-FFF2-40B4-BE49-F238E27FC236}">
                  <a16:creationId xmlns:a16="http://schemas.microsoft.com/office/drawing/2014/main" id="{9C837CD6-FCE9-47DC-A8C7-F8BADB68FAC4}"/>
                </a:ext>
              </a:extLst>
            </p:cNvPr>
            <p:cNvSpPr/>
            <p:nvPr/>
          </p:nvSpPr>
          <p:spPr>
            <a:xfrm>
              <a:off x="1459149" y="0"/>
              <a:ext cx="1955165" cy="1954827"/>
            </a:xfrm>
            <a:prstGeom prst="rect">
              <a:avLst/>
            </a:prstGeom>
            <a:noFill/>
            <a:ln w="19050">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1" name="矩形 10">
              <a:extLst>
                <a:ext uri="{FF2B5EF4-FFF2-40B4-BE49-F238E27FC236}">
                  <a16:creationId xmlns:a16="http://schemas.microsoft.com/office/drawing/2014/main" id="{E5E4CD57-8586-4FDC-8C9B-9F22DFDD96C9}"/>
                </a:ext>
              </a:extLst>
            </p:cNvPr>
            <p:cNvSpPr/>
            <p:nvPr/>
          </p:nvSpPr>
          <p:spPr>
            <a:xfrm>
              <a:off x="0" y="2256817"/>
              <a:ext cx="1955260" cy="1818640"/>
            </a:xfrm>
            <a:prstGeom prst="rect">
              <a:avLst/>
            </a:prstGeom>
            <a:noFill/>
            <a:ln w="19050">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12" name="接點: 肘形 108">
              <a:extLst>
                <a:ext uri="{FF2B5EF4-FFF2-40B4-BE49-F238E27FC236}">
                  <a16:creationId xmlns:a16="http://schemas.microsoft.com/office/drawing/2014/main" id="{F70363F2-DBD3-41CB-B437-DEAB6C915C18}"/>
                </a:ext>
              </a:extLst>
            </p:cNvPr>
            <p:cNvCxnSpPr/>
            <p:nvPr/>
          </p:nvCxnSpPr>
          <p:spPr>
            <a:xfrm flipH="1">
              <a:off x="923723" y="992222"/>
              <a:ext cx="533670" cy="1264595"/>
            </a:xfrm>
            <a:prstGeom prst="bentConnector3">
              <a:avLst>
                <a:gd name="adj1" fmla="val 100930"/>
              </a:avLst>
            </a:prstGeom>
            <a:ln w="19050">
              <a:prstDash val="sysDash"/>
            </a:ln>
          </p:spPr>
          <p:style>
            <a:lnRef idx="1">
              <a:schemeClr val="dk1"/>
            </a:lnRef>
            <a:fillRef idx="0">
              <a:schemeClr val="dk1"/>
            </a:fillRef>
            <a:effectRef idx="0">
              <a:schemeClr val="dk1"/>
            </a:effectRef>
            <a:fontRef idx="minor">
              <a:schemeClr val="tx1"/>
            </a:fontRef>
          </p:style>
        </p:cxnSp>
        <p:cxnSp>
          <p:nvCxnSpPr>
            <p:cNvPr id="13" name="接點: 肘形 109">
              <a:extLst>
                <a:ext uri="{FF2B5EF4-FFF2-40B4-BE49-F238E27FC236}">
                  <a16:creationId xmlns:a16="http://schemas.microsoft.com/office/drawing/2014/main" id="{7A203EBE-1FA9-45B9-B045-E282179D08B8}"/>
                </a:ext>
              </a:extLst>
            </p:cNvPr>
            <p:cNvCxnSpPr/>
            <p:nvPr/>
          </p:nvCxnSpPr>
          <p:spPr>
            <a:xfrm flipH="1" flipV="1">
              <a:off x="1964988" y="2461098"/>
              <a:ext cx="2279259" cy="159061"/>
            </a:xfrm>
            <a:prstGeom prst="bentConnector3">
              <a:avLst>
                <a:gd name="adj1" fmla="val 1154"/>
              </a:avLst>
            </a:prstGeom>
            <a:ln w="1905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4" name="接點: 肘形 110">
              <a:extLst>
                <a:ext uri="{FF2B5EF4-FFF2-40B4-BE49-F238E27FC236}">
                  <a16:creationId xmlns:a16="http://schemas.microsoft.com/office/drawing/2014/main" id="{7A58A0F8-D1D5-4A2F-BFE7-88BBEC82AF91}"/>
                </a:ext>
              </a:extLst>
            </p:cNvPr>
            <p:cNvCxnSpPr>
              <a:stCxn id="31" idx="0"/>
            </p:cNvCxnSpPr>
            <p:nvPr/>
          </p:nvCxnSpPr>
          <p:spPr>
            <a:xfrm rot="5400000" flipH="1">
              <a:off x="2671006" y="2653411"/>
              <a:ext cx="118810" cy="2962719"/>
            </a:xfrm>
            <a:prstGeom prst="bentConnector4">
              <a:avLst>
                <a:gd name="adj1" fmla="val -192408"/>
                <a:gd name="adj2" fmla="val 96329"/>
              </a:avLst>
            </a:prstGeom>
            <a:ln w="19050"/>
          </p:spPr>
          <p:style>
            <a:lnRef idx="1">
              <a:schemeClr val="dk1"/>
            </a:lnRef>
            <a:fillRef idx="0">
              <a:schemeClr val="dk1"/>
            </a:fillRef>
            <a:effectRef idx="0">
              <a:schemeClr val="dk1"/>
            </a:effectRef>
            <a:fontRef idx="minor">
              <a:schemeClr val="tx1"/>
            </a:fontRef>
          </p:style>
        </p:cxnSp>
        <p:sp>
          <p:nvSpPr>
            <p:cNvPr id="15" name="文字方塊 2">
              <a:extLst>
                <a:ext uri="{FF2B5EF4-FFF2-40B4-BE49-F238E27FC236}">
                  <a16:creationId xmlns:a16="http://schemas.microsoft.com/office/drawing/2014/main" id="{0B6D4921-12F5-4074-8C1C-A0BA1F943F37}"/>
                </a:ext>
              </a:extLst>
            </p:cNvPr>
            <p:cNvSpPr txBox="1">
              <a:spLocks noChangeArrowheads="1"/>
            </p:cNvSpPr>
            <p:nvPr/>
          </p:nvSpPr>
          <p:spPr bwMode="auto">
            <a:xfrm>
              <a:off x="2071220" y="11610"/>
              <a:ext cx="1818638" cy="583947"/>
            </a:xfrm>
            <a:prstGeom prst="rect">
              <a:avLst/>
            </a:prstGeom>
            <a:noFill/>
            <a:ln w="9525">
              <a:noFill/>
              <a:miter lim="800000"/>
              <a:headEnd/>
              <a:tailEnd/>
            </a:ln>
          </p:spPr>
          <p:txBody>
            <a:bodyPr rot="0" vert="horz" wrap="square" lIns="91440" tIns="45720" rIns="91440" bIns="45720" anchor="t" anchorCtr="0">
              <a:spAutoFit/>
            </a:bodyPr>
            <a:lstStyle/>
            <a:p>
              <a:pPr>
                <a:spcAft>
                  <a:spcPts val="0"/>
                </a:spcAft>
              </a:pPr>
              <a:r>
                <a:rPr lang="en-US" sz="1000" b="1" kern="100" dirty="0">
                  <a:effectLst/>
                  <a:latin typeface="標楷體" panose="03000509000000000000" pitchFamily="65" charset="-120"/>
                  <a:ea typeface="新細明體" panose="02020500000000000000" pitchFamily="18" charset="-120"/>
                  <a:cs typeface="Times New Roman" panose="02020603050405020304" pitchFamily="18" charset="0"/>
                </a:rPr>
                <a:t>Computer</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16" name="文字方塊 2">
              <a:extLst>
                <a:ext uri="{FF2B5EF4-FFF2-40B4-BE49-F238E27FC236}">
                  <a16:creationId xmlns:a16="http://schemas.microsoft.com/office/drawing/2014/main" id="{CD808F2B-EAF5-4DCA-96E7-3A04DDEE3C6E}"/>
                </a:ext>
              </a:extLst>
            </p:cNvPr>
            <p:cNvSpPr txBox="1">
              <a:spLocks noChangeArrowheads="1"/>
            </p:cNvSpPr>
            <p:nvPr/>
          </p:nvSpPr>
          <p:spPr bwMode="auto">
            <a:xfrm>
              <a:off x="400309" y="3787497"/>
              <a:ext cx="2791692" cy="583947"/>
            </a:xfrm>
            <a:prstGeom prst="rect">
              <a:avLst/>
            </a:prstGeom>
            <a:noFill/>
            <a:ln w="9525">
              <a:noFill/>
              <a:miter lim="800000"/>
              <a:headEnd/>
              <a:tailEnd/>
            </a:ln>
          </p:spPr>
          <p:txBody>
            <a:bodyPr rot="0" vert="horz" wrap="square" lIns="91440" tIns="45720" rIns="91440" bIns="45720" anchor="t" anchorCtr="0">
              <a:spAutoFit/>
            </a:bodyPr>
            <a:lstStyle/>
            <a:p>
              <a:pPr>
                <a:spcAft>
                  <a:spcPts val="0"/>
                </a:spcAft>
              </a:pPr>
              <a:r>
                <a:rPr lang="en-US" sz="1000" b="1" kern="100" dirty="0">
                  <a:effectLst/>
                  <a:latin typeface="標楷體" panose="03000509000000000000" pitchFamily="65" charset="-120"/>
                  <a:ea typeface="新細明體" panose="02020500000000000000" pitchFamily="18" charset="-120"/>
                  <a:cs typeface="Times New Roman" panose="02020603050405020304" pitchFamily="18" charset="0"/>
                </a:rPr>
                <a:t>Trek 20/20C</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17" name="文字方塊 2">
              <a:extLst>
                <a:ext uri="{FF2B5EF4-FFF2-40B4-BE49-F238E27FC236}">
                  <a16:creationId xmlns:a16="http://schemas.microsoft.com/office/drawing/2014/main" id="{7117E3D7-9116-4D5F-83CC-0C3BE30347DC}"/>
                </a:ext>
              </a:extLst>
            </p:cNvPr>
            <p:cNvSpPr txBox="1">
              <a:spLocks noChangeArrowheads="1"/>
            </p:cNvSpPr>
            <p:nvPr/>
          </p:nvSpPr>
          <p:spPr bwMode="auto">
            <a:xfrm>
              <a:off x="2366473" y="2165112"/>
              <a:ext cx="2779150" cy="583947"/>
            </a:xfrm>
            <a:prstGeom prst="rect">
              <a:avLst/>
            </a:prstGeom>
            <a:noFill/>
            <a:ln w="9525">
              <a:noFill/>
              <a:miter lim="800000"/>
              <a:headEnd/>
              <a:tailEnd/>
            </a:ln>
          </p:spPr>
          <p:txBody>
            <a:bodyPr rot="0" vert="horz" wrap="square" lIns="91440" tIns="45720" rIns="91440" bIns="45720" anchor="t" anchorCtr="0">
              <a:spAutoFit/>
            </a:bodyPr>
            <a:lstStyle/>
            <a:p>
              <a:pPr>
                <a:spcAft>
                  <a:spcPts val="0"/>
                </a:spcAft>
              </a:pPr>
              <a:r>
                <a:rPr lang="en-US" sz="1000" b="1" kern="100" dirty="0">
                  <a:effectLst/>
                  <a:latin typeface="標楷體" panose="03000509000000000000" pitchFamily="65" charset="-120"/>
                  <a:ea typeface="新細明體" panose="02020500000000000000" pitchFamily="18" charset="-120"/>
                  <a:cs typeface="Times New Roman" panose="02020603050405020304" pitchFamily="18" charset="0"/>
                </a:rPr>
                <a:t>High Voltage</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18" name="文字方塊 2">
              <a:extLst>
                <a:ext uri="{FF2B5EF4-FFF2-40B4-BE49-F238E27FC236}">
                  <a16:creationId xmlns:a16="http://schemas.microsoft.com/office/drawing/2014/main" id="{D493CB87-7560-4B6C-B473-DBDA5A937AC3}"/>
                </a:ext>
              </a:extLst>
            </p:cNvPr>
            <p:cNvSpPr txBox="1">
              <a:spLocks noChangeArrowheads="1"/>
            </p:cNvSpPr>
            <p:nvPr/>
          </p:nvSpPr>
          <p:spPr bwMode="auto">
            <a:xfrm>
              <a:off x="2531657" y="4160096"/>
              <a:ext cx="2129205" cy="583947"/>
            </a:xfrm>
            <a:prstGeom prst="rect">
              <a:avLst/>
            </a:prstGeom>
            <a:noFill/>
            <a:ln w="9525">
              <a:noFill/>
              <a:miter lim="800000"/>
              <a:headEnd/>
              <a:tailEnd/>
            </a:ln>
          </p:spPr>
          <p:txBody>
            <a:bodyPr rot="0" vert="horz" wrap="square" lIns="91440" tIns="45720" rIns="91440" bIns="45720" anchor="t" anchorCtr="0">
              <a:spAutoFit/>
            </a:bodyPr>
            <a:lstStyle/>
            <a:p>
              <a:pPr>
                <a:spcAft>
                  <a:spcPts val="0"/>
                </a:spcAft>
              </a:pPr>
              <a:r>
                <a:rPr lang="en-US" sz="1000" b="1" kern="100" dirty="0">
                  <a:effectLst/>
                  <a:latin typeface="標楷體" panose="03000509000000000000" pitchFamily="65" charset="-120"/>
                  <a:ea typeface="新細明體" panose="02020500000000000000" pitchFamily="18" charset="-120"/>
                  <a:cs typeface="Times New Roman" panose="02020603050405020304" pitchFamily="18" charset="0"/>
                </a:rPr>
                <a:t>Ground</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pic>
        <p:nvPicPr>
          <p:cNvPr id="68" name="圖片 67"/>
          <p:cNvPicPr/>
          <p:nvPr/>
        </p:nvPicPr>
        <p:blipFill rotWithShape="1">
          <a:blip r:embed="rId4">
            <a:extLst>
              <a:ext uri="{28A0092B-C50C-407E-A947-70E740481C1C}">
                <a14:useLocalDpi xmlns:a14="http://schemas.microsoft.com/office/drawing/2010/main" val="0"/>
              </a:ext>
            </a:extLst>
          </a:blip>
          <a:srcRect l="32237" t="16627" r="30652" b="42812"/>
          <a:stretch/>
        </p:blipFill>
        <p:spPr bwMode="auto">
          <a:xfrm>
            <a:off x="6761029" y="1200235"/>
            <a:ext cx="4097655" cy="2392680"/>
          </a:xfrm>
          <a:prstGeom prst="rect">
            <a:avLst/>
          </a:prstGeom>
          <a:noFill/>
          <a:ln>
            <a:noFill/>
          </a:ln>
          <a:extLst>
            <a:ext uri="{53640926-AAD7-44D8-BBD7-CCE9431645EC}">
              <a14:shadowObscured xmlns:a14="http://schemas.microsoft.com/office/drawing/2010/main"/>
            </a:ext>
          </a:extLst>
        </p:spPr>
      </p:pic>
      <p:pic>
        <p:nvPicPr>
          <p:cNvPr id="69" name="圖片 68"/>
          <p:cNvPicPr/>
          <p:nvPr/>
        </p:nvPicPr>
        <p:blipFill rotWithShape="1">
          <a:blip r:embed="rId5">
            <a:extLst>
              <a:ext uri="{BEBA8EAE-BF5A-486C-A8C5-ECC9F3942E4B}">
                <a14:imgProps xmlns:a14="http://schemas.microsoft.com/office/drawing/2010/main">
                  <a14:imgLayer r:embed="rId6">
                    <a14:imgEffect>
                      <a14:brightnessContrast bright="10000"/>
                    </a14:imgEffect>
                  </a14:imgLayer>
                </a14:imgProps>
              </a:ext>
              <a:ext uri="{28A0092B-C50C-407E-A947-70E740481C1C}">
                <a14:useLocalDpi xmlns:a14="http://schemas.microsoft.com/office/drawing/2010/main" val="0"/>
              </a:ext>
            </a:extLst>
          </a:blip>
          <a:srcRect t="11864" r="2072"/>
          <a:stretch/>
        </p:blipFill>
        <p:spPr bwMode="auto">
          <a:xfrm>
            <a:off x="7090475" y="4302840"/>
            <a:ext cx="3418474" cy="2229632"/>
          </a:xfrm>
          <a:prstGeom prst="rect">
            <a:avLst/>
          </a:prstGeom>
          <a:noFill/>
          <a:ln>
            <a:noFill/>
          </a:ln>
          <a:extLst>
            <a:ext uri="{53640926-AAD7-44D8-BBD7-CCE9431645EC}">
              <a14:shadowObscured xmlns:a14="http://schemas.microsoft.com/office/drawing/2010/main"/>
            </a:ext>
          </a:extLst>
        </p:spPr>
      </p:pic>
      <p:sp>
        <p:nvSpPr>
          <p:cNvPr id="70" name="矩形 69">
            <a:extLst>
              <a:ext uri="{FF2B5EF4-FFF2-40B4-BE49-F238E27FC236}">
                <a16:creationId xmlns:a16="http://schemas.microsoft.com/office/drawing/2014/main" id="{8CFE12BD-0F82-4410-A1FA-90A5C20DFC36}"/>
              </a:ext>
            </a:extLst>
          </p:cNvPr>
          <p:cNvSpPr/>
          <p:nvPr/>
        </p:nvSpPr>
        <p:spPr>
          <a:xfrm>
            <a:off x="7982745" y="3859193"/>
            <a:ext cx="1627370" cy="369332"/>
          </a:xfrm>
          <a:prstGeom prst="rect">
            <a:avLst/>
          </a:prstGeom>
        </p:spPr>
        <p:txBody>
          <a:bodyPr wrap="none">
            <a:spAutoFit/>
          </a:bodyPr>
          <a:lstStyle/>
          <a:p>
            <a:pPr algn="ctr"/>
            <a:r>
              <a:rPr lang="en-US" altLang="zh-TW" i="1" u="sng" dirty="0">
                <a:latin typeface="Times New Roman" panose="02020603050405020304" pitchFamily="18" charset="0"/>
                <a:cs typeface="Times New Roman" panose="02020603050405020304" pitchFamily="18" charset="0"/>
              </a:rPr>
              <a:t>APPLN etching</a:t>
            </a:r>
            <a:endParaRPr lang="zh-TW" altLang="en-US" i="1" u="sng" dirty="0"/>
          </a:p>
        </p:txBody>
      </p:sp>
      <p:sp>
        <p:nvSpPr>
          <p:cNvPr id="71" name="矩形 70">
            <a:extLst>
              <a:ext uri="{FF2B5EF4-FFF2-40B4-BE49-F238E27FC236}">
                <a16:creationId xmlns:a16="http://schemas.microsoft.com/office/drawing/2014/main" id="{8CFE12BD-0F82-4410-A1FA-90A5C20DFC36}"/>
              </a:ext>
            </a:extLst>
          </p:cNvPr>
          <p:cNvSpPr/>
          <p:nvPr/>
        </p:nvSpPr>
        <p:spPr>
          <a:xfrm>
            <a:off x="7490553" y="811626"/>
            <a:ext cx="2638607" cy="369332"/>
          </a:xfrm>
          <a:prstGeom prst="rect">
            <a:avLst/>
          </a:prstGeom>
        </p:spPr>
        <p:txBody>
          <a:bodyPr wrap="none">
            <a:spAutoFit/>
          </a:bodyPr>
          <a:lstStyle/>
          <a:p>
            <a:pPr algn="ctr"/>
            <a:r>
              <a:rPr lang="en-US" altLang="zh-TW" i="1" u="sng">
                <a:latin typeface="Times New Roman" panose="02020603050405020304" pitchFamily="18" charset="0"/>
                <a:cs typeface="Times New Roman" panose="02020603050405020304" pitchFamily="18" charset="0"/>
              </a:rPr>
              <a:t>Applied </a:t>
            </a:r>
            <a:r>
              <a:rPr lang="en-US" altLang="zh-TW" i="1" u="sng" dirty="0">
                <a:latin typeface="Times New Roman" panose="02020603050405020304" pitchFamily="18" charset="0"/>
                <a:cs typeface="Times New Roman" panose="02020603050405020304" pitchFamily="18" charset="0"/>
              </a:rPr>
              <a:t>Voltage Waveform</a:t>
            </a:r>
            <a:endParaRPr lang="zh-TW" altLang="en-US" i="1" u="sng" dirty="0"/>
          </a:p>
        </p:txBody>
      </p:sp>
      <p:sp>
        <p:nvSpPr>
          <p:cNvPr id="72" name="矩形 71">
            <a:extLst>
              <a:ext uri="{FF2B5EF4-FFF2-40B4-BE49-F238E27FC236}">
                <a16:creationId xmlns:a16="http://schemas.microsoft.com/office/drawing/2014/main" id="{8CFE12BD-0F82-4410-A1FA-90A5C20DFC36}"/>
              </a:ext>
            </a:extLst>
          </p:cNvPr>
          <p:cNvSpPr/>
          <p:nvPr/>
        </p:nvSpPr>
        <p:spPr>
          <a:xfrm>
            <a:off x="3113143" y="1225338"/>
            <a:ext cx="765338" cy="369332"/>
          </a:xfrm>
          <a:prstGeom prst="rect">
            <a:avLst/>
          </a:prstGeom>
        </p:spPr>
        <p:txBody>
          <a:bodyPr wrap="none">
            <a:spAutoFit/>
          </a:bodyPr>
          <a:lstStyle/>
          <a:p>
            <a:pPr algn="ctr"/>
            <a:r>
              <a:rPr lang="en-US" altLang="zh-TW" i="1" u="sng" dirty="0">
                <a:latin typeface="Times New Roman" panose="02020603050405020304" pitchFamily="18" charset="0"/>
                <a:cs typeface="Times New Roman" panose="02020603050405020304" pitchFamily="18" charset="0"/>
              </a:rPr>
              <a:t>Set up</a:t>
            </a:r>
            <a:endParaRPr lang="zh-TW" altLang="en-US" i="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0834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1202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Process</a:t>
            </a:r>
            <a:endParaRPr lang="zh-TW" altLang="en-US" sz="2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9943717-266E-45CE-ADAF-8020BDE433FE}"/>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27</a:t>
            </a:fld>
            <a:endParaRPr lang="zh-TW" altLang="en-US" dirty="0"/>
          </a:p>
        </p:txBody>
      </p:sp>
      <p:pic>
        <p:nvPicPr>
          <p:cNvPr id="6" name="圖片 5"/>
          <p:cNvPicPr/>
          <p:nvPr/>
        </p:nvPicPr>
        <p:blipFill rotWithShape="1">
          <a:blip r:embed="rId2" cstate="print">
            <a:extLst>
              <a:ext uri="{28A0092B-C50C-407E-A947-70E740481C1C}">
                <a14:useLocalDpi xmlns:a14="http://schemas.microsoft.com/office/drawing/2010/main" val="0"/>
              </a:ext>
            </a:extLst>
          </a:blip>
          <a:srcRect l="26701" t="38064" r="1931" b="44759"/>
          <a:stretch/>
        </p:blipFill>
        <p:spPr bwMode="auto">
          <a:xfrm>
            <a:off x="4104163" y="5648464"/>
            <a:ext cx="4107815" cy="741680"/>
          </a:xfrm>
          <a:prstGeom prst="rect">
            <a:avLst/>
          </a:prstGeom>
          <a:noFill/>
          <a:ln>
            <a:noFill/>
          </a:ln>
          <a:extLst>
            <a:ext uri="{53640926-AAD7-44D8-BBD7-CCE9431645EC}">
              <a14:shadowObscured xmlns:a14="http://schemas.microsoft.com/office/drawing/2010/main"/>
            </a:ext>
          </a:extLst>
        </p:spPr>
      </p:pic>
      <p:grpSp>
        <p:nvGrpSpPr>
          <p:cNvPr id="7" name="群組 6"/>
          <p:cNvGrpSpPr/>
          <p:nvPr/>
        </p:nvGrpSpPr>
        <p:grpSpPr>
          <a:xfrm>
            <a:off x="2256691" y="1192204"/>
            <a:ext cx="7678615" cy="3919058"/>
            <a:chOff x="-21341" y="0"/>
            <a:chExt cx="3956884" cy="2127903"/>
          </a:xfrm>
        </p:grpSpPr>
        <p:sp>
          <p:nvSpPr>
            <p:cNvPr id="8" name="矩形: 圓角 628"/>
            <p:cNvSpPr/>
            <p:nvPr/>
          </p:nvSpPr>
          <p:spPr>
            <a:xfrm>
              <a:off x="-21341" y="0"/>
              <a:ext cx="3956884" cy="2127903"/>
            </a:xfrm>
            <a:prstGeom prst="roundRect">
              <a:avLst/>
            </a:prstGeom>
            <a:solidFill>
              <a:schemeClr val="accent1">
                <a:lumMod val="60000"/>
                <a:lumOff val="4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9" name="橢圓 8"/>
            <p:cNvSpPr/>
            <p:nvPr/>
          </p:nvSpPr>
          <p:spPr>
            <a:xfrm>
              <a:off x="457200" y="60214"/>
              <a:ext cx="1093470" cy="717550"/>
            </a:xfrm>
            <a:prstGeom prst="ellipse">
              <a:avLst/>
            </a:prstGeom>
            <a:solidFill>
              <a:schemeClr val="accent4">
                <a:lumMod val="60000"/>
                <a:lumOff val="40000"/>
              </a:schemeClr>
            </a:solidFill>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zh-TW" b="1" kern="100" dirty="0">
                  <a:effectLst/>
                  <a:ea typeface="標楷體" panose="03000509000000000000" pitchFamily="65" charset="-120"/>
                  <a:cs typeface="Times New Roman" panose="02020603050405020304" pitchFamily="18" charset="0"/>
                </a:rPr>
                <a:t>晶片切割</a:t>
              </a:r>
              <a:endParaRPr lang="zh-TW" kern="100" dirty="0">
                <a:effectLst/>
                <a:ea typeface="新細明體" panose="02020500000000000000" pitchFamily="18" charset="-120"/>
                <a:cs typeface="Times New Roman" panose="02020603050405020304" pitchFamily="18" charset="0"/>
              </a:endParaRPr>
            </a:p>
          </p:txBody>
        </p:sp>
        <p:sp>
          <p:nvSpPr>
            <p:cNvPr id="10" name="橢圓 9"/>
            <p:cNvSpPr/>
            <p:nvPr/>
          </p:nvSpPr>
          <p:spPr>
            <a:xfrm>
              <a:off x="474857" y="1342645"/>
              <a:ext cx="1093470" cy="717550"/>
            </a:xfrm>
            <a:prstGeom prst="ellipse">
              <a:avLst/>
            </a:prstGeom>
            <a:solidFill>
              <a:schemeClr val="accent4">
                <a:lumMod val="60000"/>
                <a:lumOff val="40000"/>
              </a:schemeClr>
            </a:solidFill>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zh-TW" b="1" kern="100" dirty="0">
                  <a:effectLst/>
                  <a:ea typeface="標楷體" panose="03000509000000000000" pitchFamily="65" charset="-120"/>
                  <a:cs typeface="Times New Roman" panose="02020603050405020304" pitchFamily="18" charset="0"/>
                </a:rPr>
                <a:t>端面拋光研磨</a:t>
              </a:r>
              <a:endParaRPr lang="zh-TW" kern="100" dirty="0">
                <a:effectLst/>
                <a:ea typeface="新細明體" panose="02020500000000000000" pitchFamily="18" charset="-120"/>
                <a:cs typeface="Times New Roman" panose="02020603050405020304" pitchFamily="18" charset="0"/>
              </a:endParaRPr>
            </a:p>
          </p:txBody>
        </p:sp>
        <p:sp>
          <p:nvSpPr>
            <p:cNvPr id="11" name="橢圓 10"/>
            <p:cNvSpPr/>
            <p:nvPr/>
          </p:nvSpPr>
          <p:spPr>
            <a:xfrm>
              <a:off x="2372088" y="1342645"/>
              <a:ext cx="1093470" cy="717550"/>
            </a:xfrm>
            <a:prstGeom prst="ellipse">
              <a:avLst/>
            </a:prstGeom>
            <a:solidFill>
              <a:schemeClr val="accent4">
                <a:lumMod val="60000"/>
                <a:lumOff val="40000"/>
              </a:schemeClr>
            </a:solidFill>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zh-TW" b="1" kern="100" dirty="0">
                  <a:effectLst/>
                  <a:ea typeface="標楷體" panose="03000509000000000000" pitchFamily="65" charset="-120"/>
                  <a:cs typeface="Times New Roman" panose="02020603050405020304" pitchFamily="18" charset="0"/>
                </a:rPr>
                <a:t>鍍膜</a:t>
              </a:r>
              <a:endParaRPr lang="zh-TW" kern="100" dirty="0">
                <a:effectLst/>
                <a:ea typeface="新細明體" panose="02020500000000000000" pitchFamily="18" charset="-120"/>
                <a:cs typeface="Times New Roman" panose="02020603050405020304" pitchFamily="18" charset="0"/>
              </a:endParaRPr>
            </a:p>
          </p:txBody>
        </p:sp>
        <p:sp>
          <p:nvSpPr>
            <p:cNvPr id="12" name="橢圓 11"/>
            <p:cNvSpPr/>
            <p:nvPr/>
          </p:nvSpPr>
          <p:spPr>
            <a:xfrm>
              <a:off x="2372088" y="52592"/>
              <a:ext cx="1093470" cy="717550"/>
            </a:xfrm>
            <a:prstGeom prst="ellipse">
              <a:avLst/>
            </a:prstGeom>
            <a:solidFill>
              <a:schemeClr val="accent4">
                <a:lumMod val="60000"/>
                <a:lumOff val="40000"/>
              </a:schemeClr>
            </a:solidFill>
            <a:ln>
              <a:solidFill>
                <a:schemeClr val="accent1">
                  <a:lumMod val="50000"/>
                </a:schemeClr>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zh-TW" b="1" kern="100" dirty="0">
                  <a:effectLst/>
                  <a:ea typeface="標楷體" panose="03000509000000000000" pitchFamily="65" charset="-120"/>
                  <a:cs typeface="Times New Roman" panose="02020603050405020304" pitchFamily="18" charset="0"/>
                </a:rPr>
                <a:t>晶片切割</a:t>
              </a:r>
              <a:endParaRPr lang="zh-TW" kern="100" dirty="0">
                <a:effectLst/>
                <a:ea typeface="新細明體" panose="02020500000000000000" pitchFamily="18" charset="-120"/>
                <a:cs typeface="Times New Roman" panose="02020603050405020304" pitchFamily="18" charset="0"/>
              </a:endParaRPr>
            </a:p>
          </p:txBody>
        </p:sp>
        <p:sp>
          <p:nvSpPr>
            <p:cNvPr id="13" name="箭號: 向右 634"/>
            <p:cNvSpPr/>
            <p:nvPr/>
          </p:nvSpPr>
          <p:spPr>
            <a:xfrm>
              <a:off x="1748361" y="1575739"/>
              <a:ext cx="452755" cy="271145"/>
            </a:xfrm>
            <a:prstGeom prst="rightArrow">
              <a:avLst/>
            </a:prstGeom>
            <a:solidFill>
              <a:schemeClr val="tx1">
                <a:lumMod val="50000"/>
                <a:lumOff val="50000"/>
              </a:scheme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4" name="箭號: 向右 635"/>
            <p:cNvSpPr/>
            <p:nvPr/>
          </p:nvSpPr>
          <p:spPr>
            <a:xfrm rot="16200000">
              <a:off x="2680298" y="925976"/>
              <a:ext cx="477049" cy="257337"/>
            </a:xfrm>
            <a:prstGeom prst="rightArrow">
              <a:avLst/>
            </a:prstGeom>
            <a:solidFill>
              <a:schemeClr val="tx1">
                <a:lumMod val="50000"/>
                <a:lumOff val="50000"/>
              </a:scheme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5" name="箭號: 向右 637"/>
            <p:cNvSpPr/>
            <p:nvPr/>
          </p:nvSpPr>
          <p:spPr>
            <a:xfrm rot="5400000">
              <a:off x="781984" y="936646"/>
              <a:ext cx="452755" cy="271145"/>
            </a:xfrm>
            <a:prstGeom prst="rightArrow">
              <a:avLst/>
            </a:prstGeom>
            <a:solidFill>
              <a:schemeClr val="tx1">
                <a:lumMod val="50000"/>
                <a:lumOff val="50000"/>
              </a:schemeClr>
            </a:solidFill>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4" name="矩形 3"/>
          <p:cNvSpPr/>
          <p:nvPr/>
        </p:nvSpPr>
        <p:spPr>
          <a:xfrm>
            <a:off x="5367877" y="5179808"/>
            <a:ext cx="1643399" cy="400110"/>
          </a:xfrm>
          <a:prstGeom prst="rect">
            <a:avLst/>
          </a:prstGeom>
        </p:spPr>
        <p:txBody>
          <a:bodyPr wrap="none">
            <a:spAutoFit/>
          </a:bodyPr>
          <a:lstStyle/>
          <a:p>
            <a:r>
              <a:rPr lang="zh-TW" altLang="en-US" sz="2000" b="1" i="1" u="sng" dirty="0">
                <a:latin typeface="Times New Roman" panose="02020603050405020304" pitchFamily="18" charset="0"/>
                <a:cs typeface="Times New Roman" panose="02020603050405020304" pitchFamily="18" charset="0"/>
              </a:rPr>
              <a:t>Final product</a:t>
            </a:r>
          </a:p>
        </p:txBody>
      </p:sp>
    </p:spTree>
    <p:extLst>
      <p:ext uri="{BB962C8B-B14F-4D97-AF65-F5344CB8AC3E}">
        <p14:creationId xmlns:p14="http://schemas.microsoft.com/office/powerpoint/2010/main" val="4000872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63051"/>
            <a:ext cx="11152166" cy="584775"/>
          </a:xfrm>
          <a:prstGeom prst="rect">
            <a:avLst/>
          </a:prstGeom>
          <a:solidFill>
            <a:srgbClr val="FFFFD8"/>
          </a:solidFill>
          <a:ln w="38100">
            <a:solidFill>
              <a:srgbClr val="8F9DFE"/>
            </a:solidFill>
          </a:ln>
        </p:spPr>
        <p:txBody>
          <a:bodyPr wrap="square" rtlCol="0">
            <a:spAutoFit/>
          </a:bodyPr>
          <a:lstStyle/>
          <a:p>
            <a:pPr algn="ctr"/>
            <a:r>
              <a:rPr lang="en-US" altLang="zh-TW" sz="3200" b="1" dirty="0">
                <a:latin typeface="Times New Roman" panose="02020603050405020304" pitchFamily="18" charset="0"/>
                <a:cs typeface="Times New Roman" panose="02020603050405020304" pitchFamily="18" charset="0"/>
              </a:rPr>
              <a:t>Outline</a:t>
            </a:r>
            <a:endParaRPr lang="zh-TW" altLang="en-US" sz="3200" b="1" dirty="0">
              <a:latin typeface="Times New Roman" panose="02020603050405020304" pitchFamily="18" charset="0"/>
              <a:cs typeface="Times New Roman" panose="02020603050405020304" pitchFamily="18" charset="0"/>
            </a:endParaRPr>
          </a:p>
        </p:txBody>
      </p:sp>
      <p:sp>
        <p:nvSpPr>
          <p:cNvPr id="3" name="矩形 2"/>
          <p:cNvSpPr/>
          <p:nvPr/>
        </p:nvSpPr>
        <p:spPr>
          <a:xfrm>
            <a:off x="554143" y="1452347"/>
            <a:ext cx="6096000" cy="4216539"/>
          </a:xfrm>
          <a:prstGeom prst="rect">
            <a:avLst/>
          </a:prstGeom>
        </p:spPr>
        <p:txBody>
          <a:bodyPr>
            <a:spAutoFit/>
          </a:bodyPr>
          <a:lstStyle/>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Introduction</a:t>
            </a:r>
            <a:endParaRPr lang="en-US" altLang="zh-TW" sz="1400" b="1" dirty="0">
              <a:latin typeface="Times New Roman" panose="02020603050405020304" pitchFamily="18" charset="0"/>
              <a:cs typeface="Times New Roman" panose="02020603050405020304" pitchFamily="18" charset="0"/>
            </a:endParaRPr>
          </a:p>
          <a:p>
            <a:pPr lvl="2">
              <a:lnSpc>
                <a:spcPct val="100000"/>
              </a:lnSpc>
            </a:pPr>
            <a:r>
              <a:rPr lang="en-US" altLang="zh-TW" sz="1400" b="1" dirty="0">
                <a:latin typeface="Times New Roman" panose="02020603050405020304" pitchFamily="18" charset="0"/>
                <a:cs typeface="Times New Roman" panose="02020603050405020304" pitchFamily="18" charset="0"/>
              </a:rPr>
              <a:t>Motivation </a:t>
            </a:r>
          </a:p>
          <a:p>
            <a:pPr lvl="2"/>
            <a:r>
              <a:rPr lang="en-US" altLang="zh-TW" sz="1400" b="1" dirty="0">
                <a:latin typeface="Times New Roman" panose="02020603050405020304" pitchFamily="18" charset="0"/>
                <a:cs typeface="Times New Roman" panose="02020603050405020304" pitchFamily="18" charset="0"/>
              </a:rPr>
              <a:t>Electro-optically spectrum tailorable APPLN IOPOs</a:t>
            </a:r>
          </a:p>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Working principles</a:t>
            </a:r>
          </a:p>
          <a:p>
            <a:pPr lvl="2">
              <a:lnSpc>
                <a:spcPct val="100000"/>
              </a:lnSpc>
            </a:pPr>
            <a:r>
              <a:rPr lang="en-US" altLang="zh-TW" sz="1400" b="1" dirty="0">
                <a:latin typeface="Times New Roman" panose="02020603050405020304" pitchFamily="18" charset="0"/>
                <a:cs typeface="Times New Roman" panose="02020603050405020304" pitchFamily="18" charset="0"/>
              </a:rPr>
              <a:t>Electro-Optic Polarization Mode Converters</a:t>
            </a:r>
            <a:r>
              <a:rPr lang="zh-TW" altLang="en-US" sz="1400" b="1" dirty="0">
                <a:latin typeface="Times New Roman" panose="02020603050405020304" pitchFamily="18" charset="0"/>
                <a:cs typeface="Times New Roman" panose="02020603050405020304" pitchFamily="18" charset="0"/>
              </a:rPr>
              <a:t> </a:t>
            </a:r>
            <a:endParaRPr lang="en-US" altLang="zh-TW" sz="1400" b="1" dirty="0">
              <a:latin typeface="Times New Roman" panose="02020603050405020304" pitchFamily="18" charset="0"/>
              <a:cs typeface="Times New Roman" panose="02020603050405020304" pitchFamily="18" charset="0"/>
            </a:endParaRPr>
          </a:p>
          <a:p>
            <a:pPr lvl="2">
              <a:lnSpc>
                <a:spcPct val="100000"/>
              </a:lnSpc>
            </a:pPr>
            <a:r>
              <a:rPr lang="en-US" altLang="zh-TW" sz="1400" b="1" dirty="0">
                <a:latin typeface="Times New Roman" panose="02020603050405020304" pitchFamily="18" charset="0"/>
                <a:cs typeface="Times New Roman" panose="02020603050405020304" pitchFamily="18" charset="0"/>
              </a:rPr>
              <a:t>Optical Parametric Oscillators</a:t>
            </a:r>
          </a:p>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Design and Fabrication</a:t>
            </a:r>
          </a:p>
          <a:p>
            <a:pPr lvl="2"/>
            <a:r>
              <a:rPr lang="en-US" altLang="zh-TW" sz="1400" b="1" dirty="0">
                <a:latin typeface="Times New Roman" panose="02020603050405020304" pitchFamily="18" charset="0"/>
                <a:cs typeface="Times New Roman" panose="02020603050405020304" pitchFamily="18" charset="0"/>
              </a:rPr>
              <a:t>Simulated Annealing Method</a:t>
            </a:r>
          </a:p>
          <a:p>
            <a:pPr lvl="2"/>
            <a:r>
              <a:rPr lang="en-US" altLang="zh-TW" sz="1400" b="1" dirty="0" err="1">
                <a:latin typeface="Times New Roman" panose="02020603050405020304" pitchFamily="18" charset="0"/>
                <a:cs typeface="Times New Roman" panose="02020603050405020304" pitchFamily="18" charset="0"/>
              </a:rPr>
              <a:t>Mutil</a:t>
            </a:r>
            <a:r>
              <a:rPr lang="en-US" altLang="zh-TW" sz="1400" b="1" dirty="0">
                <a:latin typeface="Times New Roman" panose="02020603050405020304" pitchFamily="18" charset="0"/>
                <a:cs typeface="Times New Roman" panose="02020603050405020304" pitchFamily="18" charset="0"/>
              </a:rPr>
              <a:t>-line OPO design</a:t>
            </a:r>
          </a:p>
          <a:p>
            <a:pPr lvl="2"/>
            <a:r>
              <a:rPr lang="en-US" altLang="zh-TW" sz="1400" b="1" dirty="0" err="1">
                <a:latin typeface="Times New Roman" panose="02020603050405020304" pitchFamily="18" charset="0"/>
                <a:cs typeface="Times New Roman" panose="02020603050405020304" pitchFamily="18" charset="0"/>
              </a:rPr>
              <a:t>Mutil</a:t>
            </a:r>
            <a:r>
              <a:rPr lang="en-US" altLang="zh-TW" sz="1400" b="1" dirty="0">
                <a:latin typeface="Times New Roman" panose="02020603050405020304" pitchFamily="18" charset="0"/>
                <a:cs typeface="Times New Roman" panose="02020603050405020304" pitchFamily="18" charset="0"/>
              </a:rPr>
              <a:t>-line EO PMC design</a:t>
            </a:r>
            <a:endParaRPr lang="en-US" altLang="zh-TW" sz="2000" b="1" dirty="0">
              <a:latin typeface="Times New Roman" panose="02020603050405020304" pitchFamily="18" charset="0"/>
              <a:cs typeface="Times New Roman" panose="02020603050405020304" pitchFamily="18" charset="0"/>
            </a:endParaRPr>
          </a:p>
          <a:p>
            <a:pPr lvl="2">
              <a:lnSpc>
                <a:spcPct val="100000"/>
              </a:lnSpc>
            </a:pPr>
            <a:r>
              <a:rPr lang="en-US" altLang="zh-TW" sz="1400" b="1" dirty="0">
                <a:latin typeface="Times New Roman" panose="02020603050405020304" pitchFamily="18" charset="0"/>
                <a:cs typeface="Times New Roman" panose="02020603050405020304" pitchFamily="18" charset="0"/>
              </a:rPr>
              <a:t>Fabrication process</a:t>
            </a:r>
            <a:endParaRPr lang="en-US" altLang="zh-TW" sz="1400" dirty="0">
              <a:latin typeface="Times New Roman" panose="02020603050405020304" pitchFamily="18" charset="0"/>
              <a:cs typeface="Times New Roman" panose="02020603050405020304" pitchFamily="18" charset="0"/>
            </a:endParaRPr>
          </a:p>
          <a:p>
            <a:pPr marL="571500" indent="-571500">
              <a:lnSpc>
                <a:spcPct val="100000"/>
              </a:lnSpc>
              <a:buFont typeface="Arial" panose="020B0604020202020204" pitchFamily="34" charset="0"/>
              <a:buAutoNum type="romanUcPeriod"/>
            </a:pPr>
            <a:r>
              <a:rPr lang="en-US" altLang="zh-TW" sz="2000" b="1" dirty="0">
                <a:solidFill>
                  <a:srgbClr val="FF0000"/>
                </a:solidFill>
                <a:latin typeface="Times New Roman" panose="02020603050405020304" pitchFamily="18" charset="0"/>
                <a:cs typeface="Times New Roman" panose="02020603050405020304" pitchFamily="18" charset="0"/>
              </a:rPr>
              <a:t>Experimental Results and Analysis </a:t>
            </a:r>
          </a:p>
          <a:p>
            <a:pPr lvl="2"/>
            <a:r>
              <a:rPr lang="en-US" altLang="zh-TW" sz="1400" b="1" dirty="0">
                <a:solidFill>
                  <a:srgbClr val="FF0000"/>
                </a:solidFill>
                <a:latin typeface="Times New Roman" panose="02020603050405020304" pitchFamily="18" charset="0"/>
                <a:cs typeface="Times New Roman" panose="02020603050405020304" pitchFamily="18" charset="0"/>
              </a:rPr>
              <a:t>EO PMC Experimental set-up</a:t>
            </a:r>
          </a:p>
          <a:p>
            <a:pPr lvl="2"/>
            <a:r>
              <a:rPr lang="en-US" altLang="zh-TW" sz="1400" b="1" dirty="0">
                <a:solidFill>
                  <a:srgbClr val="FF0000"/>
                </a:solidFill>
                <a:latin typeface="Times New Roman" pitchFamily="18" charset="0"/>
              </a:rPr>
              <a:t>Measurement Results I</a:t>
            </a:r>
          </a:p>
          <a:p>
            <a:pPr lvl="2"/>
            <a:r>
              <a:rPr lang="en-US" altLang="zh-TW" sz="1400" b="1" dirty="0">
                <a:solidFill>
                  <a:srgbClr val="FF0000"/>
                </a:solidFill>
                <a:latin typeface="Times New Roman" panose="02020603050405020304" pitchFamily="18" charset="0"/>
                <a:cs typeface="Times New Roman" panose="02020603050405020304" pitchFamily="18" charset="0"/>
              </a:rPr>
              <a:t>EO OPO APPLN Experimental set-up</a:t>
            </a:r>
          </a:p>
          <a:p>
            <a:pPr lvl="2"/>
            <a:r>
              <a:rPr lang="en-US" altLang="zh-TW" sz="1400" b="1" dirty="0">
                <a:solidFill>
                  <a:srgbClr val="FF0000"/>
                </a:solidFill>
                <a:latin typeface="Times New Roman" panose="02020603050405020304" pitchFamily="18" charset="0"/>
                <a:cs typeface="Times New Roman" panose="02020603050405020304" pitchFamily="18" charset="0"/>
              </a:rPr>
              <a:t>Measurement Results II</a:t>
            </a:r>
          </a:p>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Conclusions and future work</a:t>
            </a:r>
            <a:endParaRPr lang="zh-TW" altLang="en-US" sz="2000"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A52E435-1973-4E96-B2FF-A8951FBF242E}"/>
              </a:ext>
            </a:extLst>
          </p:cNvPr>
          <p:cNvSpPr>
            <a:spLocks noGrp="1"/>
          </p:cNvSpPr>
          <p:nvPr>
            <p:ph type="sldNum" sz="quarter" idx="12"/>
          </p:nvPr>
        </p:nvSpPr>
        <p:spPr/>
        <p:txBody>
          <a:bodyPr/>
          <a:lstStyle/>
          <a:p>
            <a:fld id="{29723A01-8C65-4E4C-95BB-6D96843E9278}" type="slidenum">
              <a:rPr lang="zh-TW" altLang="en-US" smtClean="0"/>
              <a:t>28</a:t>
            </a:fld>
            <a:endParaRPr lang="zh-TW" altLang="en-US"/>
          </a:p>
        </p:txBody>
      </p:sp>
      <p:pic>
        <p:nvPicPr>
          <p:cNvPr id="7" name="圖片 6">
            <a:extLst>
              <a:ext uri="{FF2B5EF4-FFF2-40B4-BE49-F238E27FC236}">
                <a16:creationId xmlns:a16="http://schemas.microsoft.com/office/drawing/2014/main" id="{9652B326-C213-47EC-807A-00D14A669B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5133" y="1452347"/>
            <a:ext cx="5688131" cy="4264174"/>
          </a:xfrm>
          <a:prstGeom prst="rect">
            <a:avLst/>
          </a:prstGeom>
        </p:spPr>
      </p:pic>
    </p:spTree>
    <p:extLst>
      <p:ext uri="{BB962C8B-B14F-4D97-AF65-F5344CB8AC3E}">
        <p14:creationId xmlns:p14="http://schemas.microsoft.com/office/powerpoint/2010/main" val="30999903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82101"/>
            <a:ext cx="11152166" cy="523220"/>
          </a:xfrm>
          <a:prstGeom prst="rect">
            <a:avLst/>
          </a:prstGeom>
          <a:solidFill>
            <a:srgbClr val="FFFFD8"/>
          </a:solidFill>
          <a:ln w="38100">
            <a:solidFill>
              <a:srgbClr val="8F9DFE"/>
            </a:solidFill>
          </a:ln>
        </p:spPr>
        <p:txBody>
          <a:bodyPr wrap="square" rtlCol="0">
            <a:spAutoFit/>
          </a:bodyPr>
          <a:lstStyle/>
          <a:p>
            <a:pPr lvl="1" algn="ctr">
              <a:spcBef>
                <a:spcPct val="50000"/>
              </a:spcBef>
            </a:pPr>
            <a:r>
              <a:rPr lang="en-US" altLang="zh-TW" sz="2800" b="1" dirty="0">
                <a:latin typeface="Times New Roman" pitchFamily="18" charset="0"/>
              </a:rPr>
              <a:t>Single-pass experiment</a:t>
            </a:r>
            <a:endParaRPr lang="en-US" altLang="zh-TW" sz="2800" dirty="0">
              <a:latin typeface="Times New Roman" pitchFamily="18" charset="0"/>
            </a:endParaRPr>
          </a:p>
        </p:txBody>
      </p: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2D3949AD-3A9D-4115-9548-3594A352AEE2}"/>
                  </a:ext>
                </a:extLst>
              </p:cNvPr>
              <p:cNvSpPr txBox="1"/>
              <p:nvPr/>
            </p:nvSpPr>
            <p:spPr>
              <a:xfrm>
                <a:off x="1" y="3249445"/>
                <a:ext cx="3001388" cy="3139321"/>
              </a:xfrm>
              <a:prstGeom prst="rect">
                <a:avLst/>
              </a:prstGeom>
              <a:noFill/>
            </p:spPr>
            <p:txBody>
              <a:bodyPr wrap="square" rtlCol="0">
                <a:spAutoFit/>
              </a:bodyPr>
              <a:lstStyle/>
              <a:p>
                <a:pPr marL="342900" indent="-342900">
                  <a:lnSpc>
                    <a:spcPct val="200000"/>
                  </a:lnSpc>
                  <a:buFont typeface="+mj-lt"/>
                  <a:buAutoNum type="arabicPeriod"/>
                </a:pPr>
                <a:r>
                  <a:rPr lang="en-US" altLang="zh-TW" sz="1600" b="1" i="1" dirty="0">
                    <a:latin typeface="Times New Roman" pitchFamily="18" charset="0"/>
                    <a:cs typeface="Times New Roman" pitchFamily="18" charset="0"/>
                  </a:rPr>
                  <a:t>Add Poling error  under poled 2</a:t>
                </a:r>
                <a:r>
                  <a:rPr lang="el-GR" altLang="zh-TW" sz="1600" b="1" i="1" dirty="0">
                    <a:latin typeface="Times New Roman" pitchFamily="18" charset="0"/>
                    <a:cs typeface="Times New Roman" pitchFamily="18" charset="0"/>
                  </a:rPr>
                  <a:t> μ</a:t>
                </a:r>
                <a:r>
                  <a:rPr lang="en-US" altLang="zh-TW" sz="1600" b="1" i="1" dirty="0">
                    <a:latin typeface="Times New Roman" pitchFamily="18" charset="0"/>
                    <a:cs typeface="Times New Roman" pitchFamily="18" charset="0"/>
                  </a:rPr>
                  <a:t>m ~4</a:t>
                </a:r>
                <a:r>
                  <a:rPr lang="el-GR" altLang="zh-TW" sz="1600" b="1" i="1" dirty="0">
                    <a:latin typeface="Times New Roman" pitchFamily="18" charset="0"/>
                    <a:cs typeface="Times New Roman" pitchFamily="18" charset="0"/>
                  </a:rPr>
                  <a:t> μ</a:t>
                </a:r>
                <a:r>
                  <a:rPr lang="en-US" altLang="zh-TW" sz="1600" b="1" i="1" dirty="0">
                    <a:latin typeface="Times New Roman" pitchFamily="18" charset="0"/>
                    <a:cs typeface="Times New Roman" pitchFamily="18" charset="0"/>
                  </a:rPr>
                  <a:t>m</a:t>
                </a:r>
              </a:p>
              <a:p>
                <a:pPr marL="342900" indent="-342900">
                  <a:lnSpc>
                    <a:spcPct val="200000"/>
                  </a:lnSpc>
                  <a:buFont typeface="+mj-lt"/>
                  <a:buAutoNum type="arabicPeriod"/>
                </a:pPr>
                <a:r>
                  <a:rPr lang="en-US" altLang="zh-TW" sz="1600" b="1" i="1" dirty="0">
                    <a:latin typeface="Times New Roman" pitchFamily="18" charset="0"/>
                    <a:cs typeface="Times New Roman" pitchFamily="18" charset="0"/>
                  </a:rPr>
                  <a:t>Add Temperature difference ΔT=0.2 ℃</a:t>
                </a:r>
              </a:p>
              <a:p>
                <a:pPr marL="342900" indent="-342900">
                  <a:lnSpc>
                    <a:spcPct val="200000"/>
                  </a:lnSpc>
                  <a:buFont typeface="+mj-lt"/>
                  <a:buAutoNum type="arabicPeriod"/>
                </a:pPr>
                <a:r>
                  <a:rPr lang="en-US" altLang="zh-TW" sz="1600" b="1" i="1" dirty="0">
                    <a:latin typeface="Times New Roman" pitchFamily="18" charset="0"/>
                    <a:cs typeface="Times New Roman" pitchFamily="18" charset="0"/>
                  </a:rPr>
                  <a:t>Add Electro-Optic Coefficients </a:t>
                </a:r>
                <a14:m>
                  <m:oMath xmlns:m="http://schemas.openxmlformats.org/officeDocument/2006/math">
                    <m:sSub>
                      <m:sSubPr>
                        <m:ctrlPr>
                          <a:rPr lang="zh-TW" altLang="zh-TW" sz="1600" b="1"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600" b="1" i="1" smtClean="0">
                            <a:latin typeface="Cambria Math" panose="02040503050406030204" pitchFamily="18" charset="0"/>
                            <a:ea typeface="Cambria Math" panose="02040503050406030204" pitchFamily="18" charset="0"/>
                            <a:cs typeface="Times New Roman" panose="02020603050405020304" pitchFamily="18" charset="0"/>
                          </a:rPr>
                          <m:t>𝒓</m:t>
                        </m:r>
                      </m:e>
                      <m:sub>
                        <m:r>
                          <a:rPr lang="en-US" altLang="zh-TW" sz="1600" b="1" i="1" smtClean="0">
                            <a:latin typeface="Cambria Math" panose="02040503050406030204" pitchFamily="18" charset="0"/>
                            <a:ea typeface="標楷體" panose="03000509000000000000" pitchFamily="65" charset="-120"/>
                            <a:cs typeface="Times New Roman" panose="02020603050405020304" pitchFamily="18" charset="0"/>
                          </a:rPr>
                          <m:t>𝟓𝟏</m:t>
                        </m:r>
                      </m:sub>
                    </m:sSub>
                  </m:oMath>
                </a14:m>
                <a:r>
                  <a:rPr lang="en-US" altLang="zh-TW" sz="1600" b="1" i="1" dirty="0">
                    <a:latin typeface="Times New Roman" pitchFamily="18" charset="0"/>
                    <a:cs typeface="Times New Roman" pitchFamily="18" charset="0"/>
                  </a:rPr>
                  <a:t>=24pm/V</a:t>
                </a:r>
              </a:p>
              <a:p>
                <a:pPr>
                  <a:lnSpc>
                    <a:spcPct val="150000"/>
                  </a:lnSpc>
                </a:pPr>
                <a:endParaRPr lang="en-US" altLang="zh-TW" sz="200" b="1" i="1" dirty="0">
                  <a:latin typeface="Times New Roman" pitchFamily="18" charset="0"/>
                  <a:cs typeface="Times New Roman" pitchFamily="18" charset="0"/>
                </a:endParaRPr>
              </a:p>
              <a:p>
                <a:pPr>
                  <a:lnSpc>
                    <a:spcPct val="150000"/>
                  </a:lnSpc>
                </a:pPr>
                <a:r>
                  <a:rPr lang="en-US" altLang="zh-TW" sz="200" b="1" i="1" dirty="0">
                    <a:latin typeface="Times New Roman" pitchFamily="18" charset="0"/>
                    <a:cs typeface="Times New Roman" pitchFamily="18" charset="0"/>
                  </a:rPr>
                  <a:t>un</a:t>
                </a:r>
              </a:p>
            </p:txBody>
          </p:sp>
        </mc:Choice>
        <mc:Fallback xmlns="">
          <p:sp>
            <p:nvSpPr>
              <p:cNvPr id="9" name="文字方塊 8">
                <a:extLst>
                  <a:ext uri="{FF2B5EF4-FFF2-40B4-BE49-F238E27FC236}">
                    <a16:creationId xmlns:a16="http://schemas.microsoft.com/office/drawing/2014/main" id="{2D3949AD-3A9D-4115-9548-3594A352AEE2}"/>
                  </a:ext>
                </a:extLst>
              </p:cNvPr>
              <p:cNvSpPr txBox="1">
                <a:spLocks noRot="1" noChangeAspect="1" noMove="1" noResize="1" noEditPoints="1" noAdjustHandles="1" noChangeArrowheads="1" noChangeShapeType="1" noTextEdit="1"/>
              </p:cNvSpPr>
              <p:nvPr/>
            </p:nvSpPr>
            <p:spPr>
              <a:xfrm>
                <a:off x="1" y="3249445"/>
                <a:ext cx="3001388" cy="3139321"/>
              </a:xfrm>
              <a:prstGeom prst="rect">
                <a:avLst/>
              </a:prstGeom>
              <a:blipFill>
                <a:blip r:embed="rId2"/>
                <a:stretch>
                  <a:fillRect l="-610"/>
                </a:stretch>
              </a:blipFill>
            </p:spPr>
            <p:txBody>
              <a:bodyPr/>
              <a:lstStyle/>
              <a:p>
                <a:r>
                  <a:rPr lang="zh-TW" altLang="en-US">
                    <a:noFill/>
                  </a:rPr>
                  <a:t> </a:t>
                </a:r>
              </a:p>
            </p:txBody>
          </p:sp>
        </mc:Fallback>
      </mc:AlternateContent>
      <p:pic>
        <p:nvPicPr>
          <p:cNvPr id="13" name="圖片 12">
            <a:extLst>
              <a:ext uri="{FF2B5EF4-FFF2-40B4-BE49-F238E27FC236}">
                <a16:creationId xmlns:a16="http://schemas.microsoft.com/office/drawing/2014/main" id="{CF042A59-6D58-47C0-9849-E74C568822E0}"/>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l="6671"/>
          <a:stretch/>
        </p:blipFill>
        <p:spPr>
          <a:xfrm>
            <a:off x="3001388" y="2881413"/>
            <a:ext cx="4068702" cy="3247533"/>
          </a:xfrm>
          <a:prstGeom prst="rect">
            <a:avLst/>
          </a:prstGeom>
        </p:spPr>
      </p:pic>
      <p:sp>
        <p:nvSpPr>
          <p:cNvPr id="15" name="文字方塊 14">
            <a:extLst>
              <a:ext uri="{FF2B5EF4-FFF2-40B4-BE49-F238E27FC236}">
                <a16:creationId xmlns:a16="http://schemas.microsoft.com/office/drawing/2014/main" id="{49A94D48-633F-464D-BC32-EDEE9CB19170}"/>
              </a:ext>
            </a:extLst>
          </p:cNvPr>
          <p:cNvSpPr txBox="1"/>
          <p:nvPr/>
        </p:nvSpPr>
        <p:spPr>
          <a:xfrm>
            <a:off x="8393985" y="6079874"/>
            <a:ext cx="2246128" cy="646331"/>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V</a:t>
            </a:r>
            <a:r>
              <a:rPr lang="el-GR" altLang="zh-TW" baseline="-25000" dirty="0">
                <a:latin typeface="Times New Roman" panose="02020603050405020304" pitchFamily="18" charset="0"/>
                <a:cs typeface="Times New Roman" panose="02020603050405020304" pitchFamily="18" charset="0"/>
              </a:rPr>
              <a:t>π</a:t>
            </a:r>
            <a:r>
              <a:rPr lang="en-US" altLang="zh-TW" dirty="0">
                <a:latin typeface="Times New Roman" panose="02020603050405020304" pitchFamily="18" charset="0"/>
                <a:cs typeface="Times New Roman" panose="02020603050405020304" pitchFamily="18" charset="0"/>
              </a:rPr>
              <a:t>1540nm~350V/mm</a:t>
            </a:r>
          </a:p>
          <a:p>
            <a:r>
              <a:rPr lang="en-US" altLang="zh-TW" dirty="0">
                <a:latin typeface="Times New Roman" panose="02020603050405020304" pitchFamily="18" charset="0"/>
                <a:cs typeface="Times New Roman" panose="02020603050405020304" pitchFamily="18" charset="0"/>
              </a:rPr>
              <a:t>V</a:t>
            </a:r>
            <a:r>
              <a:rPr lang="el-GR" altLang="zh-TW" baseline="-25000" dirty="0">
                <a:latin typeface="Times New Roman" panose="02020603050405020304" pitchFamily="18" charset="0"/>
                <a:cs typeface="Times New Roman" panose="02020603050405020304" pitchFamily="18" charset="0"/>
              </a:rPr>
              <a:t>π</a:t>
            </a:r>
            <a:r>
              <a:rPr lang="en-US" altLang="zh-TW" dirty="0">
                <a:latin typeface="Times New Roman" panose="02020603050405020304" pitchFamily="18" charset="0"/>
                <a:cs typeface="Times New Roman" panose="02020603050405020304" pitchFamily="18" charset="0"/>
              </a:rPr>
              <a:t>1550nm~850V/mm</a:t>
            </a:r>
          </a:p>
        </p:txBody>
      </p:sp>
      <p:sp>
        <p:nvSpPr>
          <p:cNvPr id="17" name="矩形 16">
            <a:extLst>
              <a:ext uri="{FF2B5EF4-FFF2-40B4-BE49-F238E27FC236}">
                <a16:creationId xmlns:a16="http://schemas.microsoft.com/office/drawing/2014/main" id="{D328C6D8-5409-4542-9843-105B442406D9}"/>
              </a:ext>
            </a:extLst>
          </p:cNvPr>
          <p:cNvSpPr/>
          <p:nvPr/>
        </p:nvSpPr>
        <p:spPr>
          <a:xfrm>
            <a:off x="4417621" y="2571419"/>
            <a:ext cx="1236236" cy="369332"/>
          </a:xfrm>
          <a:prstGeom prst="rect">
            <a:avLst/>
          </a:prstGeom>
        </p:spPr>
        <p:txBody>
          <a:bodyPr wrap="none">
            <a:spAutoFit/>
          </a:bodyPr>
          <a:lstStyle/>
          <a:p>
            <a:r>
              <a:rPr lang="en-US" altLang="zh-TW" b="1" i="1" u="sng" dirty="0">
                <a:latin typeface="Times New Roman" panose="02020603050405020304" pitchFamily="18" charset="0"/>
                <a:cs typeface="Times New Roman" panose="02020603050405020304" pitchFamily="18" charset="0"/>
              </a:rPr>
              <a:t>Simulation</a:t>
            </a:r>
            <a:endParaRPr lang="zh-TW" altLang="en-US" b="1" i="1" u="sng" dirty="0">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77D1F237-1EDD-4592-856A-E4900C26121F}"/>
              </a:ext>
            </a:extLst>
          </p:cNvPr>
          <p:cNvSpPr txBox="1"/>
          <p:nvPr/>
        </p:nvSpPr>
        <p:spPr>
          <a:xfrm>
            <a:off x="3810283" y="6129568"/>
            <a:ext cx="2246128" cy="646331"/>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V</a:t>
            </a:r>
            <a:r>
              <a:rPr lang="el-GR" altLang="zh-TW" baseline="-25000" dirty="0">
                <a:latin typeface="Times New Roman" panose="02020603050405020304" pitchFamily="18" charset="0"/>
                <a:cs typeface="Times New Roman" panose="02020603050405020304" pitchFamily="18" charset="0"/>
              </a:rPr>
              <a:t>π</a:t>
            </a:r>
            <a:r>
              <a:rPr lang="en-US" altLang="zh-TW" dirty="0">
                <a:latin typeface="Times New Roman" panose="02020603050405020304" pitchFamily="18" charset="0"/>
                <a:cs typeface="Times New Roman" panose="02020603050405020304" pitchFamily="18" charset="0"/>
              </a:rPr>
              <a:t>1540nm~253V/mm</a:t>
            </a:r>
          </a:p>
          <a:p>
            <a:r>
              <a:rPr lang="en-US" altLang="zh-TW" dirty="0">
                <a:latin typeface="Times New Roman" panose="02020603050405020304" pitchFamily="18" charset="0"/>
                <a:cs typeface="Times New Roman" panose="02020603050405020304" pitchFamily="18" charset="0"/>
              </a:rPr>
              <a:t>V</a:t>
            </a:r>
            <a:r>
              <a:rPr lang="el-GR" altLang="zh-TW" baseline="-25000" dirty="0">
                <a:latin typeface="Times New Roman" panose="02020603050405020304" pitchFamily="18" charset="0"/>
                <a:cs typeface="Times New Roman" panose="02020603050405020304" pitchFamily="18" charset="0"/>
              </a:rPr>
              <a:t>π</a:t>
            </a:r>
            <a:r>
              <a:rPr lang="en-US" altLang="zh-TW" dirty="0">
                <a:latin typeface="Times New Roman" panose="02020603050405020304" pitchFamily="18" charset="0"/>
                <a:cs typeface="Times New Roman" panose="02020603050405020304" pitchFamily="18" charset="0"/>
              </a:rPr>
              <a:t>1550nm~606V/mm</a:t>
            </a:r>
          </a:p>
        </p:txBody>
      </p:sp>
      <p:pic>
        <p:nvPicPr>
          <p:cNvPr id="10" name="圖片 9">
            <a:extLst>
              <a:ext uri="{FF2B5EF4-FFF2-40B4-BE49-F238E27FC236}">
                <a16:creationId xmlns:a16="http://schemas.microsoft.com/office/drawing/2014/main" id="{454997B0-6321-458F-A153-9B5926E2157E}"/>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l="6572"/>
          <a:stretch/>
        </p:blipFill>
        <p:spPr>
          <a:xfrm>
            <a:off x="7624590" y="2649128"/>
            <a:ext cx="4249126" cy="3514373"/>
          </a:xfrm>
          <a:prstGeom prst="rect">
            <a:avLst/>
          </a:prstGeom>
        </p:spPr>
      </p:pic>
      <p:sp>
        <p:nvSpPr>
          <p:cNvPr id="11" name="矩形 10">
            <a:extLst>
              <a:ext uri="{FF2B5EF4-FFF2-40B4-BE49-F238E27FC236}">
                <a16:creationId xmlns:a16="http://schemas.microsoft.com/office/drawing/2014/main" id="{8CFE12BD-0F82-4410-A1FA-90A5C20DFC36}"/>
              </a:ext>
            </a:extLst>
          </p:cNvPr>
          <p:cNvSpPr/>
          <p:nvPr/>
        </p:nvSpPr>
        <p:spPr>
          <a:xfrm>
            <a:off x="547050" y="2571419"/>
            <a:ext cx="2076209" cy="369332"/>
          </a:xfrm>
          <a:prstGeom prst="rect">
            <a:avLst/>
          </a:prstGeom>
        </p:spPr>
        <p:txBody>
          <a:bodyPr wrap="none">
            <a:spAutoFit/>
          </a:bodyPr>
          <a:lstStyle/>
          <a:p>
            <a:pPr algn="ctr"/>
            <a:r>
              <a:rPr lang="en-US" altLang="zh-TW" b="1" i="1" u="sng" dirty="0">
                <a:latin typeface="Times New Roman" panose="02020603050405020304" pitchFamily="18" charset="0"/>
                <a:cs typeface="Times New Roman" panose="02020603050405020304" pitchFamily="18" charset="0"/>
              </a:rPr>
              <a:t>Experimental Error</a:t>
            </a:r>
            <a:endParaRPr lang="zh-TW" altLang="en-US" b="1" i="1" u="sng" dirty="0"/>
          </a:p>
        </p:txBody>
      </p:sp>
      <p:sp>
        <p:nvSpPr>
          <p:cNvPr id="3" name="投影片編號版面配置區 2">
            <a:extLst>
              <a:ext uri="{FF2B5EF4-FFF2-40B4-BE49-F238E27FC236}">
                <a16:creationId xmlns:a16="http://schemas.microsoft.com/office/drawing/2014/main" id="{4CBED061-CB54-4B8D-B08D-50CDF8A7777F}"/>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29</a:t>
            </a:fld>
            <a:endParaRPr lang="zh-TW" altLang="en-US"/>
          </a:p>
        </p:txBody>
      </p:sp>
      <p:grpSp>
        <p:nvGrpSpPr>
          <p:cNvPr id="14" name="群組 13">
            <a:extLst>
              <a:ext uri="{FF2B5EF4-FFF2-40B4-BE49-F238E27FC236}">
                <a16:creationId xmlns:a16="http://schemas.microsoft.com/office/drawing/2014/main" id="{BDC02CD2-F8AD-488B-BC0A-C70D9A05DB89}"/>
              </a:ext>
            </a:extLst>
          </p:cNvPr>
          <p:cNvGrpSpPr/>
          <p:nvPr/>
        </p:nvGrpSpPr>
        <p:grpSpPr>
          <a:xfrm>
            <a:off x="2783761" y="1023333"/>
            <a:ext cx="8581806" cy="1295525"/>
            <a:chOff x="0" y="0"/>
            <a:chExt cx="6096311" cy="1137043"/>
          </a:xfrm>
        </p:grpSpPr>
        <p:grpSp>
          <p:nvGrpSpPr>
            <p:cNvPr id="19" name="群組 18">
              <a:extLst>
                <a:ext uri="{FF2B5EF4-FFF2-40B4-BE49-F238E27FC236}">
                  <a16:creationId xmlns:a16="http://schemas.microsoft.com/office/drawing/2014/main" id="{6ABFF448-850E-46A2-A686-A224EE442B0D}"/>
                </a:ext>
              </a:extLst>
            </p:cNvPr>
            <p:cNvGrpSpPr/>
            <p:nvPr/>
          </p:nvGrpSpPr>
          <p:grpSpPr>
            <a:xfrm>
              <a:off x="0" y="0"/>
              <a:ext cx="5588000" cy="1137043"/>
              <a:chOff x="0" y="0"/>
              <a:chExt cx="4848585" cy="1030637"/>
            </a:xfrm>
          </p:grpSpPr>
          <p:sp>
            <p:nvSpPr>
              <p:cNvPr id="25" name="矩形 24">
                <a:extLst>
                  <a:ext uri="{FF2B5EF4-FFF2-40B4-BE49-F238E27FC236}">
                    <a16:creationId xmlns:a16="http://schemas.microsoft.com/office/drawing/2014/main" id="{F31CA9E3-E8FA-41CD-9FBB-F645D3970E9A}"/>
                  </a:ext>
                </a:extLst>
              </p:cNvPr>
              <p:cNvSpPr/>
              <p:nvPr/>
            </p:nvSpPr>
            <p:spPr>
              <a:xfrm>
                <a:off x="0" y="0"/>
                <a:ext cx="1503336" cy="10306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US" sz="2000"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ECL</a:t>
                </a:r>
                <a:endParaRPr lang="zh-TW" sz="20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p:grpSp>
            <p:nvGrpSpPr>
              <p:cNvPr id="26" name="群組 25">
                <a:extLst>
                  <a:ext uri="{FF2B5EF4-FFF2-40B4-BE49-F238E27FC236}">
                    <a16:creationId xmlns:a16="http://schemas.microsoft.com/office/drawing/2014/main" id="{90FBB250-95EF-4FD0-A759-17B57678B5D1}"/>
                  </a:ext>
                </a:extLst>
              </p:cNvPr>
              <p:cNvGrpSpPr/>
              <p:nvPr/>
            </p:nvGrpSpPr>
            <p:grpSpPr>
              <a:xfrm>
                <a:off x="1508023" y="398206"/>
                <a:ext cx="953437" cy="159821"/>
                <a:chOff x="0" y="-4674"/>
                <a:chExt cx="953437" cy="159821"/>
              </a:xfrm>
            </p:grpSpPr>
            <p:cxnSp>
              <p:nvCxnSpPr>
                <p:cNvPr id="46" name="直線接點 45">
                  <a:extLst>
                    <a:ext uri="{FF2B5EF4-FFF2-40B4-BE49-F238E27FC236}">
                      <a16:creationId xmlns:a16="http://schemas.microsoft.com/office/drawing/2014/main" id="{3E5FA1C1-26CE-42B9-981C-092D8B290E5E}"/>
                    </a:ext>
                  </a:extLst>
                </p:cNvPr>
                <p:cNvCxnSpPr/>
                <p:nvPr/>
              </p:nvCxnSpPr>
              <p:spPr>
                <a:xfrm>
                  <a:off x="0" y="154983"/>
                  <a:ext cx="95343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橢圓 46">
                  <a:extLst>
                    <a:ext uri="{FF2B5EF4-FFF2-40B4-BE49-F238E27FC236}">
                      <a16:creationId xmlns:a16="http://schemas.microsoft.com/office/drawing/2014/main" id="{B98BF7C4-D4DD-47B2-82B3-3ED81BC2ADAB}"/>
                    </a:ext>
                  </a:extLst>
                </p:cNvPr>
                <p:cNvSpPr/>
                <p:nvPr/>
              </p:nvSpPr>
              <p:spPr>
                <a:xfrm>
                  <a:off x="125790" y="164"/>
                  <a:ext cx="170482" cy="15498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8" name="橢圓 47">
                  <a:extLst>
                    <a:ext uri="{FF2B5EF4-FFF2-40B4-BE49-F238E27FC236}">
                      <a16:creationId xmlns:a16="http://schemas.microsoft.com/office/drawing/2014/main" id="{F16BE21F-859A-4889-BD11-25CD14E5E716}"/>
                    </a:ext>
                  </a:extLst>
                </p:cNvPr>
                <p:cNvSpPr/>
                <p:nvPr/>
              </p:nvSpPr>
              <p:spPr>
                <a:xfrm>
                  <a:off x="358019" y="-4674"/>
                  <a:ext cx="170482" cy="15498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9" name="橢圓 48">
                  <a:extLst>
                    <a:ext uri="{FF2B5EF4-FFF2-40B4-BE49-F238E27FC236}">
                      <a16:creationId xmlns:a16="http://schemas.microsoft.com/office/drawing/2014/main" id="{3297F81C-BD20-4E29-AC94-C87746E78307}"/>
                    </a:ext>
                  </a:extLst>
                </p:cNvPr>
                <p:cNvSpPr/>
                <p:nvPr/>
              </p:nvSpPr>
              <p:spPr>
                <a:xfrm>
                  <a:off x="590248" y="164"/>
                  <a:ext cx="170482" cy="15498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27" name="橢圓 26">
                <a:extLst>
                  <a:ext uri="{FF2B5EF4-FFF2-40B4-BE49-F238E27FC236}">
                    <a16:creationId xmlns:a16="http://schemas.microsoft.com/office/drawing/2014/main" id="{A65A3406-6775-4A50-992A-311A6E407885}"/>
                  </a:ext>
                </a:extLst>
              </p:cNvPr>
              <p:cNvSpPr/>
              <p:nvPr/>
            </p:nvSpPr>
            <p:spPr>
              <a:xfrm>
                <a:off x="2732139" y="239661"/>
                <a:ext cx="166641" cy="59893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nvGrpSpPr>
              <p:cNvPr id="28" name="群組 27">
                <a:extLst>
                  <a:ext uri="{FF2B5EF4-FFF2-40B4-BE49-F238E27FC236}">
                    <a16:creationId xmlns:a16="http://schemas.microsoft.com/office/drawing/2014/main" id="{F3401907-1A5C-4C71-833B-57E049E54A40}"/>
                  </a:ext>
                </a:extLst>
              </p:cNvPr>
              <p:cNvGrpSpPr/>
              <p:nvPr/>
            </p:nvGrpSpPr>
            <p:grpSpPr>
              <a:xfrm>
                <a:off x="2997610" y="420329"/>
                <a:ext cx="1345683" cy="263144"/>
                <a:chOff x="0" y="0"/>
                <a:chExt cx="3298362" cy="888716"/>
              </a:xfrm>
            </p:grpSpPr>
            <p:sp>
              <p:nvSpPr>
                <p:cNvPr id="34" name="矩形 33">
                  <a:extLst>
                    <a:ext uri="{FF2B5EF4-FFF2-40B4-BE49-F238E27FC236}">
                      <a16:creationId xmlns:a16="http://schemas.microsoft.com/office/drawing/2014/main" id="{83E4D1F2-4D73-4769-9DAF-B7CFF1E1C7CB}"/>
                    </a:ext>
                  </a:extLst>
                </p:cNvPr>
                <p:cNvSpPr/>
                <p:nvPr/>
              </p:nvSpPr>
              <p:spPr>
                <a:xfrm>
                  <a:off x="0" y="0"/>
                  <a:ext cx="3298362" cy="888716"/>
                </a:xfrm>
                <a:prstGeom prst="rect">
                  <a:avLst/>
                </a:prstGeom>
                <a:solidFill>
                  <a:srgbClr val="44546A">
                    <a:lumMod val="40000"/>
                    <a:lumOff val="60000"/>
                  </a:srgbClr>
                </a:solidFill>
                <a:ln w="12700" cap="flat" cmpd="sng" algn="ctr">
                  <a:solidFill>
                    <a:srgbClr val="44546A">
                      <a:lumMod val="7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5" name="矩形 34">
                  <a:extLst>
                    <a:ext uri="{FF2B5EF4-FFF2-40B4-BE49-F238E27FC236}">
                      <a16:creationId xmlns:a16="http://schemas.microsoft.com/office/drawing/2014/main" id="{4BE23AA0-90C4-41EE-9DCE-0DC86DD99CE5}"/>
                    </a:ext>
                  </a:extLst>
                </p:cNvPr>
                <p:cNvSpPr/>
                <p:nvPr/>
              </p:nvSpPr>
              <p:spPr>
                <a:xfrm>
                  <a:off x="433952" y="0"/>
                  <a:ext cx="152402" cy="888318"/>
                </a:xfrm>
                <a:prstGeom prst="rect">
                  <a:avLst/>
                </a:prstGeom>
                <a:solidFill>
                  <a:srgbClr val="4472C4">
                    <a:lumMod val="75000"/>
                  </a:srgbClr>
                </a:solidFill>
                <a:ln w="12700" cap="flat" cmpd="sng" algn="ctr">
                  <a:solidFill>
                    <a:srgbClr val="44546A">
                      <a:lumMod val="7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6" name="矩形 35">
                  <a:extLst>
                    <a:ext uri="{FF2B5EF4-FFF2-40B4-BE49-F238E27FC236}">
                      <a16:creationId xmlns:a16="http://schemas.microsoft.com/office/drawing/2014/main" id="{91DEA49D-8F09-4A45-9F1C-F49BA1FF6EAF}"/>
                    </a:ext>
                  </a:extLst>
                </p:cNvPr>
                <p:cNvSpPr/>
                <p:nvPr/>
              </p:nvSpPr>
              <p:spPr>
                <a:xfrm>
                  <a:off x="131735" y="0"/>
                  <a:ext cx="152402" cy="888318"/>
                </a:xfrm>
                <a:prstGeom prst="rect">
                  <a:avLst/>
                </a:prstGeom>
                <a:solidFill>
                  <a:srgbClr val="4472C4">
                    <a:lumMod val="75000"/>
                  </a:srgbClr>
                </a:solidFill>
                <a:ln w="12700" cap="flat" cmpd="sng" algn="ctr">
                  <a:solidFill>
                    <a:srgbClr val="44546A">
                      <a:lumMod val="7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7" name="矩形 36">
                  <a:extLst>
                    <a:ext uri="{FF2B5EF4-FFF2-40B4-BE49-F238E27FC236}">
                      <a16:creationId xmlns:a16="http://schemas.microsoft.com/office/drawing/2014/main" id="{894F2AB8-7949-4AD9-AB21-EAF8A52015CC}"/>
                    </a:ext>
                  </a:extLst>
                </p:cNvPr>
                <p:cNvSpPr/>
                <p:nvPr/>
              </p:nvSpPr>
              <p:spPr>
                <a:xfrm>
                  <a:off x="588935" y="0"/>
                  <a:ext cx="152402" cy="888318"/>
                </a:xfrm>
                <a:prstGeom prst="rect">
                  <a:avLst/>
                </a:prstGeom>
                <a:solidFill>
                  <a:srgbClr val="4472C4">
                    <a:lumMod val="75000"/>
                  </a:srgbClr>
                </a:solidFill>
                <a:ln w="12700" cap="flat" cmpd="sng" algn="ctr">
                  <a:solidFill>
                    <a:srgbClr val="44546A">
                      <a:lumMod val="7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8" name="矩形 37">
                  <a:extLst>
                    <a:ext uri="{FF2B5EF4-FFF2-40B4-BE49-F238E27FC236}">
                      <a16:creationId xmlns:a16="http://schemas.microsoft.com/office/drawing/2014/main" id="{7C62198C-631F-48B9-A762-998887FB5C2D}"/>
                    </a:ext>
                  </a:extLst>
                </p:cNvPr>
                <p:cNvSpPr/>
                <p:nvPr/>
              </p:nvSpPr>
              <p:spPr>
                <a:xfrm>
                  <a:off x="1193264" y="7734"/>
                  <a:ext cx="154854" cy="875960"/>
                </a:xfrm>
                <a:prstGeom prst="rect">
                  <a:avLst/>
                </a:prstGeom>
                <a:solidFill>
                  <a:srgbClr val="4472C4">
                    <a:lumMod val="75000"/>
                  </a:srgbClr>
                </a:solidFill>
                <a:ln w="12700" cap="flat" cmpd="sng" algn="ctr">
                  <a:solidFill>
                    <a:srgbClr val="44546A">
                      <a:lumMod val="7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9" name="矩形 38">
                  <a:extLst>
                    <a:ext uri="{FF2B5EF4-FFF2-40B4-BE49-F238E27FC236}">
                      <a16:creationId xmlns:a16="http://schemas.microsoft.com/office/drawing/2014/main" id="{303C641C-FF61-43A7-9506-3CF3931C6AD0}"/>
                    </a:ext>
                  </a:extLst>
                </p:cNvPr>
                <p:cNvSpPr/>
                <p:nvPr/>
              </p:nvSpPr>
              <p:spPr>
                <a:xfrm>
                  <a:off x="1348235" y="7742"/>
                  <a:ext cx="152385" cy="879469"/>
                </a:xfrm>
                <a:prstGeom prst="rect">
                  <a:avLst/>
                </a:prstGeom>
                <a:solidFill>
                  <a:srgbClr val="4472C4">
                    <a:lumMod val="75000"/>
                  </a:srgbClr>
                </a:solidFill>
                <a:ln w="12700" cap="flat" cmpd="sng" algn="ctr">
                  <a:solidFill>
                    <a:srgbClr val="44546A">
                      <a:lumMod val="7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0" name="矩形 39">
                  <a:extLst>
                    <a:ext uri="{FF2B5EF4-FFF2-40B4-BE49-F238E27FC236}">
                      <a16:creationId xmlns:a16="http://schemas.microsoft.com/office/drawing/2014/main" id="{B49A4D96-4AB3-4A55-98C2-453ECD1DAB51}"/>
                    </a:ext>
                  </a:extLst>
                </p:cNvPr>
                <p:cNvSpPr/>
                <p:nvPr/>
              </p:nvSpPr>
              <p:spPr>
                <a:xfrm>
                  <a:off x="1503202" y="7734"/>
                  <a:ext cx="152385" cy="877716"/>
                </a:xfrm>
                <a:prstGeom prst="rect">
                  <a:avLst/>
                </a:prstGeom>
                <a:solidFill>
                  <a:srgbClr val="4472C4">
                    <a:lumMod val="75000"/>
                  </a:srgbClr>
                </a:solidFill>
                <a:ln w="12700" cap="flat" cmpd="sng" algn="ctr">
                  <a:solidFill>
                    <a:srgbClr val="44546A">
                      <a:lumMod val="7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1" name="矩形 40">
                  <a:extLst>
                    <a:ext uri="{FF2B5EF4-FFF2-40B4-BE49-F238E27FC236}">
                      <a16:creationId xmlns:a16="http://schemas.microsoft.com/office/drawing/2014/main" id="{64F168D3-1B91-4B4C-92E1-13169098F60D}"/>
                    </a:ext>
                  </a:extLst>
                </p:cNvPr>
                <p:cNvSpPr/>
                <p:nvPr/>
              </p:nvSpPr>
              <p:spPr>
                <a:xfrm>
                  <a:off x="2448732" y="0"/>
                  <a:ext cx="152402" cy="888318"/>
                </a:xfrm>
                <a:prstGeom prst="rect">
                  <a:avLst/>
                </a:prstGeom>
                <a:solidFill>
                  <a:srgbClr val="4472C4">
                    <a:lumMod val="75000"/>
                  </a:srgbClr>
                </a:solidFill>
                <a:ln w="12700" cap="flat" cmpd="sng" algn="ctr">
                  <a:solidFill>
                    <a:srgbClr val="44546A">
                      <a:lumMod val="7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2" name="矩形 41">
                  <a:extLst>
                    <a:ext uri="{FF2B5EF4-FFF2-40B4-BE49-F238E27FC236}">
                      <a16:creationId xmlns:a16="http://schemas.microsoft.com/office/drawing/2014/main" id="{BD384DE0-15E3-4466-A600-C5193650917F}"/>
                    </a:ext>
                  </a:extLst>
                </p:cNvPr>
                <p:cNvSpPr/>
                <p:nvPr/>
              </p:nvSpPr>
              <p:spPr>
                <a:xfrm>
                  <a:off x="2293749" y="0"/>
                  <a:ext cx="152385" cy="888318"/>
                </a:xfrm>
                <a:prstGeom prst="rect">
                  <a:avLst/>
                </a:prstGeom>
                <a:solidFill>
                  <a:srgbClr val="4472C4">
                    <a:lumMod val="75000"/>
                  </a:srgbClr>
                </a:solidFill>
                <a:ln w="12700" cap="flat" cmpd="sng" algn="ctr">
                  <a:solidFill>
                    <a:srgbClr val="44546A">
                      <a:lumMod val="7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3" name="矩形 42">
                  <a:extLst>
                    <a:ext uri="{FF2B5EF4-FFF2-40B4-BE49-F238E27FC236}">
                      <a16:creationId xmlns:a16="http://schemas.microsoft.com/office/drawing/2014/main" id="{82D79837-08CC-410B-BD98-D0E3A54C4ED0}"/>
                    </a:ext>
                  </a:extLst>
                </p:cNvPr>
                <p:cNvSpPr/>
                <p:nvPr/>
              </p:nvSpPr>
              <p:spPr>
                <a:xfrm>
                  <a:off x="2991172" y="0"/>
                  <a:ext cx="152385" cy="888318"/>
                </a:xfrm>
                <a:prstGeom prst="rect">
                  <a:avLst/>
                </a:prstGeom>
                <a:solidFill>
                  <a:srgbClr val="4472C4">
                    <a:lumMod val="75000"/>
                  </a:srgbClr>
                </a:solidFill>
                <a:ln w="12700" cap="flat" cmpd="sng" algn="ctr">
                  <a:solidFill>
                    <a:srgbClr val="44546A">
                      <a:lumMod val="7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4" name="矩形 43">
                  <a:extLst>
                    <a:ext uri="{FF2B5EF4-FFF2-40B4-BE49-F238E27FC236}">
                      <a16:creationId xmlns:a16="http://schemas.microsoft.com/office/drawing/2014/main" id="{FF3A0AAD-D526-4FB2-BBBC-08DD7E10DB43}"/>
                    </a:ext>
                  </a:extLst>
                </p:cNvPr>
                <p:cNvSpPr/>
                <p:nvPr/>
              </p:nvSpPr>
              <p:spPr>
                <a:xfrm>
                  <a:off x="2836189" y="0"/>
                  <a:ext cx="152385" cy="888318"/>
                </a:xfrm>
                <a:prstGeom prst="rect">
                  <a:avLst/>
                </a:prstGeom>
                <a:solidFill>
                  <a:srgbClr val="4472C4">
                    <a:lumMod val="75000"/>
                  </a:srgbClr>
                </a:solidFill>
                <a:ln w="12700" cap="flat" cmpd="sng" algn="ctr">
                  <a:solidFill>
                    <a:srgbClr val="44546A">
                      <a:lumMod val="7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5" name="矩形 44">
                  <a:extLst>
                    <a:ext uri="{FF2B5EF4-FFF2-40B4-BE49-F238E27FC236}">
                      <a16:creationId xmlns:a16="http://schemas.microsoft.com/office/drawing/2014/main" id="{D11587A2-37A4-4AAD-AAEC-C5F2354B2BA0}"/>
                    </a:ext>
                  </a:extLst>
                </p:cNvPr>
                <p:cNvSpPr/>
                <p:nvPr/>
              </p:nvSpPr>
              <p:spPr>
                <a:xfrm>
                  <a:off x="1929539" y="0"/>
                  <a:ext cx="152385" cy="888318"/>
                </a:xfrm>
                <a:prstGeom prst="rect">
                  <a:avLst/>
                </a:prstGeom>
                <a:solidFill>
                  <a:srgbClr val="4472C4">
                    <a:lumMod val="75000"/>
                  </a:srgbClr>
                </a:solidFill>
                <a:ln w="12700" cap="flat" cmpd="sng" algn="ctr">
                  <a:solidFill>
                    <a:srgbClr val="44546A">
                      <a:lumMod val="7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29" name="群組 28">
                <a:extLst>
                  <a:ext uri="{FF2B5EF4-FFF2-40B4-BE49-F238E27FC236}">
                    <a16:creationId xmlns:a16="http://schemas.microsoft.com/office/drawing/2014/main" id="{876D9645-EBD6-4833-9551-80C796A0E917}"/>
                  </a:ext>
                </a:extLst>
              </p:cNvPr>
              <p:cNvGrpSpPr/>
              <p:nvPr/>
            </p:nvGrpSpPr>
            <p:grpSpPr>
              <a:xfrm>
                <a:off x="4472448" y="431390"/>
                <a:ext cx="290195" cy="260350"/>
                <a:chOff x="0" y="0"/>
                <a:chExt cx="290286" cy="260600"/>
              </a:xfrm>
            </p:grpSpPr>
            <p:sp>
              <p:nvSpPr>
                <p:cNvPr id="32" name="矩形 31">
                  <a:extLst>
                    <a:ext uri="{FF2B5EF4-FFF2-40B4-BE49-F238E27FC236}">
                      <a16:creationId xmlns:a16="http://schemas.microsoft.com/office/drawing/2014/main" id="{9FB01D30-5D9D-4896-A201-D1C627360683}"/>
                    </a:ext>
                  </a:extLst>
                </p:cNvPr>
                <p:cNvSpPr/>
                <p:nvPr/>
              </p:nvSpPr>
              <p:spPr>
                <a:xfrm>
                  <a:off x="0" y="0"/>
                  <a:ext cx="290286" cy="260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33" name="直線接點 32">
                  <a:extLst>
                    <a:ext uri="{FF2B5EF4-FFF2-40B4-BE49-F238E27FC236}">
                      <a16:creationId xmlns:a16="http://schemas.microsoft.com/office/drawing/2014/main" id="{78123983-CE3D-496A-B8FB-69FE349A8F11}"/>
                    </a:ext>
                  </a:extLst>
                </p:cNvPr>
                <p:cNvCxnSpPr/>
                <p:nvPr/>
              </p:nvCxnSpPr>
              <p:spPr>
                <a:xfrm>
                  <a:off x="0" y="4838"/>
                  <a:ext cx="290195" cy="255512"/>
                </a:xfrm>
                <a:prstGeom prst="line">
                  <a:avLst/>
                </a:prstGeom>
              </p:spPr>
              <p:style>
                <a:lnRef idx="1">
                  <a:schemeClr val="dk1"/>
                </a:lnRef>
                <a:fillRef idx="0">
                  <a:schemeClr val="dk1"/>
                </a:fillRef>
                <a:effectRef idx="0">
                  <a:schemeClr val="dk1"/>
                </a:effectRef>
                <a:fontRef idx="minor">
                  <a:schemeClr val="tx1"/>
                </a:fontRef>
              </p:style>
            </p:cxnSp>
          </p:grpSp>
          <p:sp>
            <p:nvSpPr>
              <p:cNvPr id="30" name="箭號: 向右 29">
                <a:extLst>
                  <a:ext uri="{FF2B5EF4-FFF2-40B4-BE49-F238E27FC236}">
                    <a16:creationId xmlns:a16="http://schemas.microsoft.com/office/drawing/2014/main" id="{5BD09C18-9F32-4508-BDF0-654795897742}"/>
                  </a:ext>
                </a:extLst>
              </p:cNvPr>
              <p:cNvSpPr/>
              <p:nvPr/>
            </p:nvSpPr>
            <p:spPr>
              <a:xfrm>
                <a:off x="2588342" y="490998"/>
                <a:ext cx="2260243" cy="124460"/>
              </a:xfrm>
              <a:prstGeom prst="righ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1" name="流程圖: 延遲 30">
                <a:extLst>
                  <a:ext uri="{FF2B5EF4-FFF2-40B4-BE49-F238E27FC236}">
                    <a16:creationId xmlns:a16="http://schemas.microsoft.com/office/drawing/2014/main" id="{6E7E1D2E-3038-4A75-B182-7042D7C56EAC}"/>
                  </a:ext>
                </a:extLst>
              </p:cNvPr>
              <p:cNvSpPr/>
              <p:nvPr/>
            </p:nvSpPr>
            <p:spPr>
              <a:xfrm>
                <a:off x="2459294" y="483010"/>
                <a:ext cx="178435" cy="131264"/>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20" name="文字方塊 2">
              <a:extLst>
                <a:ext uri="{FF2B5EF4-FFF2-40B4-BE49-F238E27FC236}">
                  <a16:creationId xmlns:a16="http://schemas.microsoft.com/office/drawing/2014/main" id="{A8BB2E4D-181A-4DBC-A282-FE5D0A75C7D7}"/>
                </a:ext>
              </a:extLst>
            </p:cNvPr>
            <p:cNvSpPr txBox="1">
              <a:spLocks noChangeArrowheads="1"/>
            </p:cNvSpPr>
            <p:nvPr/>
          </p:nvSpPr>
          <p:spPr bwMode="auto">
            <a:xfrm>
              <a:off x="3799140" y="228674"/>
              <a:ext cx="1139226" cy="328164"/>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400" b="1" kern="100" dirty="0">
                  <a:effectLst/>
                  <a:latin typeface="Times New Roman" panose="02020603050405020304" pitchFamily="18" charset="0"/>
                  <a:ea typeface="新細明體" panose="02020500000000000000" pitchFamily="18" charset="-120"/>
                  <a:cs typeface="Times New Roman" panose="02020603050405020304" pitchFamily="18" charset="0"/>
                </a:rPr>
                <a:t>EO OPO </a:t>
              </a:r>
              <a:r>
                <a:rPr lang="en-US" sz="1400" b="1" kern="100" dirty="0">
                  <a:latin typeface="Times New Roman" panose="02020603050405020304" pitchFamily="18" charset="0"/>
                  <a:ea typeface="新細明體" panose="02020500000000000000" pitchFamily="18" charset="-120"/>
                  <a:cs typeface="Times New Roman" panose="02020603050405020304" pitchFamily="18" charset="0"/>
                </a:rPr>
                <a:t>APPLN</a:t>
              </a:r>
              <a:endParaRPr lang="zh-TW" altLang="en-US" sz="1400" b="1" kern="100" dirty="0">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21" name="文字方塊 2">
              <a:extLst>
                <a:ext uri="{FF2B5EF4-FFF2-40B4-BE49-F238E27FC236}">
                  <a16:creationId xmlns:a16="http://schemas.microsoft.com/office/drawing/2014/main" id="{CC195349-F775-4062-B7DD-31EB9C8A2E9B}"/>
                </a:ext>
              </a:extLst>
            </p:cNvPr>
            <p:cNvSpPr txBox="1">
              <a:spLocks noChangeArrowheads="1"/>
            </p:cNvSpPr>
            <p:nvPr/>
          </p:nvSpPr>
          <p:spPr bwMode="auto">
            <a:xfrm>
              <a:off x="5160893" y="240357"/>
              <a:ext cx="935418" cy="328164"/>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400" b="1" kern="100" dirty="0">
                  <a:latin typeface="Times New Roman" panose="02020603050405020304" pitchFamily="18" charset="0"/>
                  <a:ea typeface="新細明體" panose="02020500000000000000" pitchFamily="18" charset="-120"/>
                  <a:cs typeface="Times New Roman" panose="02020603050405020304" pitchFamily="18" charset="0"/>
                </a:rPr>
                <a:t>PBS</a:t>
              </a:r>
              <a:endParaRPr lang="zh-TW" altLang="en-US" sz="1400" b="1" kern="100" dirty="0">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22" name="文字方塊 2">
              <a:extLst>
                <a:ext uri="{FF2B5EF4-FFF2-40B4-BE49-F238E27FC236}">
                  <a16:creationId xmlns:a16="http://schemas.microsoft.com/office/drawing/2014/main" id="{AFA32465-081D-47E5-8862-23E0776D0782}"/>
                </a:ext>
              </a:extLst>
            </p:cNvPr>
            <p:cNvSpPr txBox="1">
              <a:spLocks noChangeArrowheads="1"/>
            </p:cNvSpPr>
            <p:nvPr/>
          </p:nvSpPr>
          <p:spPr bwMode="auto">
            <a:xfrm>
              <a:off x="3048982" y="72446"/>
              <a:ext cx="935418" cy="328164"/>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400" b="1" kern="100" dirty="0">
                  <a:effectLst/>
                  <a:latin typeface="Times New Roman" panose="02020603050405020304" pitchFamily="18" charset="0"/>
                  <a:ea typeface="新細明體" panose="02020500000000000000" pitchFamily="18" charset="-120"/>
                  <a:cs typeface="Times New Roman" panose="02020603050405020304" pitchFamily="18" charset="0"/>
                </a:rPr>
                <a:t>f=</a:t>
              </a:r>
              <a:r>
                <a:rPr lang="en-US" sz="1400" b="1" kern="100" dirty="0">
                  <a:latin typeface="Times New Roman" panose="02020603050405020304" pitchFamily="18" charset="0"/>
                  <a:ea typeface="新細明體" panose="02020500000000000000" pitchFamily="18" charset="-120"/>
                  <a:cs typeface="Times New Roman" panose="02020603050405020304" pitchFamily="18" charset="0"/>
                </a:rPr>
                <a:t>150</a:t>
              </a:r>
              <a:endParaRPr lang="zh-TW" altLang="en-US" sz="1400" b="1" kern="100" dirty="0">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23" name="文字方塊 2">
              <a:extLst>
                <a:ext uri="{FF2B5EF4-FFF2-40B4-BE49-F238E27FC236}">
                  <a16:creationId xmlns:a16="http://schemas.microsoft.com/office/drawing/2014/main" id="{CAA74C5F-53AF-4A03-A958-B5FB31161BE1}"/>
                </a:ext>
              </a:extLst>
            </p:cNvPr>
            <p:cNvSpPr txBox="1">
              <a:spLocks noChangeArrowheads="1"/>
            </p:cNvSpPr>
            <p:nvPr/>
          </p:nvSpPr>
          <p:spPr bwMode="auto">
            <a:xfrm>
              <a:off x="2098819" y="198478"/>
              <a:ext cx="572568" cy="32766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400" b="1" kern="100" dirty="0">
                  <a:effectLst/>
                  <a:latin typeface="Times New Roman" panose="02020603050405020304" pitchFamily="18" charset="0"/>
                  <a:ea typeface="新細明體" panose="02020500000000000000" pitchFamily="18" charset="-120"/>
                  <a:cs typeface="Times New Roman" panose="02020603050405020304" pitchFamily="18" charset="0"/>
                </a:rPr>
                <a:t>PC</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24" name="文字方塊 2">
              <a:extLst>
                <a:ext uri="{FF2B5EF4-FFF2-40B4-BE49-F238E27FC236}">
                  <a16:creationId xmlns:a16="http://schemas.microsoft.com/office/drawing/2014/main" id="{4B7F529E-349D-4AA3-932E-2B03B9EFEC52}"/>
                </a:ext>
              </a:extLst>
            </p:cNvPr>
            <p:cNvSpPr txBox="1">
              <a:spLocks noChangeArrowheads="1"/>
            </p:cNvSpPr>
            <p:nvPr/>
          </p:nvSpPr>
          <p:spPr bwMode="auto">
            <a:xfrm>
              <a:off x="2308190" y="667919"/>
              <a:ext cx="1165981" cy="328164"/>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400" b="1" kern="100" dirty="0">
                  <a:latin typeface="Times New Roman" panose="02020603050405020304" pitchFamily="18" charset="0"/>
                  <a:ea typeface="新細明體" panose="02020500000000000000" pitchFamily="18" charset="-120"/>
                  <a:cs typeface="Times New Roman" panose="02020603050405020304" pitchFamily="18" charset="0"/>
                </a:rPr>
                <a:t>objectives</a:t>
              </a:r>
              <a:r>
                <a:rPr lang="en-US" sz="800" b="1" kern="100" dirty="0">
                  <a:effectLst/>
                  <a:latin typeface="標楷體" panose="03000509000000000000" pitchFamily="65" charset="-120"/>
                  <a:ea typeface="新細明體" panose="02020500000000000000" pitchFamily="18" charset="-120"/>
                  <a:cs typeface="Times New Roman" panose="02020603050405020304" pitchFamily="18" charset="0"/>
                </a:rPr>
                <a:t> </a:t>
              </a:r>
              <a:r>
                <a:rPr lang="en-US" sz="1400" b="1" kern="100" dirty="0">
                  <a:latin typeface="Times New Roman" panose="02020603050405020304" pitchFamily="18" charset="0"/>
                  <a:ea typeface="新細明體" panose="02020500000000000000" pitchFamily="18" charset="-120"/>
                  <a:cs typeface="Times New Roman" panose="02020603050405020304" pitchFamily="18" charset="0"/>
                </a:rPr>
                <a:t>lens</a:t>
              </a:r>
              <a:endParaRPr lang="zh-TW" altLang="en-US" sz="1400" b="1" kern="100" dirty="0">
                <a:latin typeface="Times New Roman" panose="02020603050405020304" pitchFamily="18" charset="0"/>
                <a:ea typeface="新細明體" panose="02020500000000000000" pitchFamily="18" charset="-120"/>
                <a:cs typeface="Times New Roman" panose="02020603050405020304" pitchFamily="18" charset="0"/>
              </a:endParaRPr>
            </a:p>
          </p:txBody>
        </p:sp>
      </p:grpSp>
      <p:sp>
        <p:nvSpPr>
          <p:cNvPr id="4" name="矩形 3">
            <a:extLst>
              <a:ext uri="{FF2B5EF4-FFF2-40B4-BE49-F238E27FC236}">
                <a16:creationId xmlns:a16="http://schemas.microsoft.com/office/drawing/2014/main" id="{A2BB03C6-38F9-43E8-AC5E-FAB25DB847CF}"/>
              </a:ext>
            </a:extLst>
          </p:cNvPr>
          <p:cNvSpPr/>
          <p:nvPr/>
        </p:nvSpPr>
        <p:spPr>
          <a:xfrm>
            <a:off x="304896" y="704602"/>
            <a:ext cx="2172390" cy="369332"/>
          </a:xfrm>
          <a:prstGeom prst="rect">
            <a:avLst/>
          </a:prstGeom>
        </p:spPr>
        <p:txBody>
          <a:bodyPr wrap="none">
            <a:spAutoFit/>
          </a:bodyPr>
          <a:lstStyle/>
          <a:p>
            <a:pPr algn="ctr"/>
            <a:r>
              <a:rPr lang="en-US" altLang="zh-TW" b="1" i="1" u="sng" dirty="0">
                <a:latin typeface="Times New Roman" panose="02020603050405020304" pitchFamily="18" charset="0"/>
                <a:cs typeface="Times New Roman" panose="02020603050405020304" pitchFamily="18" charset="0"/>
              </a:rPr>
              <a:t>Experimental set up</a:t>
            </a:r>
            <a:endParaRPr lang="zh-TW" altLang="en-US" i="1" u="sng" dirty="0"/>
          </a:p>
        </p:txBody>
      </p:sp>
      <p:sp>
        <p:nvSpPr>
          <p:cNvPr id="16" name="矩形 15">
            <a:extLst>
              <a:ext uri="{FF2B5EF4-FFF2-40B4-BE49-F238E27FC236}">
                <a16:creationId xmlns:a16="http://schemas.microsoft.com/office/drawing/2014/main" id="{C8573F38-DCDB-44A0-A11E-405C7E12537E}"/>
              </a:ext>
            </a:extLst>
          </p:cNvPr>
          <p:cNvSpPr/>
          <p:nvPr/>
        </p:nvSpPr>
        <p:spPr>
          <a:xfrm>
            <a:off x="8864452" y="2571419"/>
            <a:ext cx="1492716" cy="369332"/>
          </a:xfrm>
          <a:prstGeom prst="rect">
            <a:avLst/>
          </a:prstGeom>
        </p:spPr>
        <p:txBody>
          <a:bodyPr wrap="none">
            <a:spAutoFit/>
          </a:bodyPr>
          <a:lstStyle/>
          <a:p>
            <a:r>
              <a:rPr lang="en-US" altLang="zh-TW" b="1" i="1" u="sng" dirty="0">
                <a:latin typeface="Times New Roman" panose="02020603050405020304" pitchFamily="18" charset="0"/>
                <a:cs typeface="Times New Roman" panose="02020603050405020304" pitchFamily="18" charset="0"/>
              </a:rPr>
              <a:t>Measurement</a:t>
            </a:r>
            <a:endParaRPr lang="zh-TW" altLang="en-US" b="1" i="1" u="sng"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42002F3F-8BF8-4E9E-8E21-7A8F74CE75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83761" y="2518646"/>
            <a:ext cx="4748907" cy="3568582"/>
          </a:xfrm>
          <a:prstGeom prst="rect">
            <a:avLst/>
          </a:prstGeom>
        </p:spPr>
      </p:pic>
    </p:spTree>
    <p:extLst>
      <p:ext uri="{BB962C8B-B14F-4D97-AF65-F5344CB8AC3E}">
        <p14:creationId xmlns:p14="http://schemas.microsoft.com/office/powerpoint/2010/main" val="898488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19917" y="83268"/>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Experimental Setup</a:t>
            </a:r>
            <a:endParaRPr lang="zh-TW" altLang="en-US" sz="2800" dirty="0">
              <a:latin typeface="Times New Roman" panose="02020603050405020304" pitchFamily="18" charset="0"/>
              <a:cs typeface="Times New Roman" panose="02020603050405020304" pitchFamily="18" charset="0"/>
            </a:endParaRPr>
          </a:p>
        </p:txBody>
      </p:sp>
      <p:grpSp>
        <p:nvGrpSpPr>
          <p:cNvPr id="9" name="群組 8">
            <a:extLst>
              <a:ext uri="{FF2B5EF4-FFF2-40B4-BE49-F238E27FC236}">
                <a16:creationId xmlns:a16="http://schemas.microsoft.com/office/drawing/2014/main" id="{70ED0B03-BDFC-4AC4-BE6C-0D0B300D35DB}"/>
              </a:ext>
            </a:extLst>
          </p:cNvPr>
          <p:cNvGrpSpPr/>
          <p:nvPr/>
        </p:nvGrpSpPr>
        <p:grpSpPr>
          <a:xfrm>
            <a:off x="1411885" y="1069239"/>
            <a:ext cx="9994353" cy="4414527"/>
            <a:chOff x="0" y="0"/>
            <a:chExt cx="5612426" cy="2499788"/>
          </a:xfrm>
        </p:grpSpPr>
        <p:cxnSp>
          <p:nvCxnSpPr>
            <p:cNvPr id="10" name="直線接點 9">
              <a:extLst>
                <a:ext uri="{FF2B5EF4-FFF2-40B4-BE49-F238E27FC236}">
                  <a16:creationId xmlns:a16="http://schemas.microsoft.com/office/drawing/2014/main" id="{8012F46D-2F97-4D97-9B69-1185D71F4920}"/>
                </a:ext>
              </a:extLst>
            </p:cNvPr>
            <p:cNvCxnSpPr/>
            <p:nvPr/>
          </p:nvCxnSpPr>
          <p:spPr>
            <a:xfrm>
              <a:off x="834390" y="1478280"/>
              <a:ext cx="132248" cy="72997"/>
            </a:xfrm>
            <a:prstGeom prst="line">
              <a:avLst/>
            </a:prstGeom>
          </p:spPr>
          <p:style>
            <a:lnRef idx="1">
              <a:schemeClr val="dk1"/>
            </a:lnRef>
            <a:fillRef idx="0">
              <a:schemeClr val="dk1"/>
            </a:fillRef>
            <a:effectRef idx="0">
              <a:schemeClr val="dk1"/>
            </a:effectRef>
            <a:fontRef idx="minor">
              <a:schemeClr val="tx1"/>
            </a:fontRef>
          </p:style>
        </p:cxnSp>
        <p:grpSp>
          <p:nvGrpSpPr>
            <p:cNvPr id="11" name="群組 10">
              <a:extLst>
                <a:ext uri="{FF2B5EF4-FFF2-40B4-BE49-F238E27FC236}">
                  <a16:creationId xmlns:a16="http://schemas.microsoft.com/office/drawing/2014/main" id="{EBE04AF4-557B-4111-962D-C7C8278E8D56}"/>
                </a:ext>
              </a:extLst>
            </p:cNvPr>
            <p:cNvGrpSpPr/>
            <p:nvPr/>
          </p:nvGrpSpPr>
          <p:grpSpPr>
            <a:xfrm>
              <a:off x="0" y="0"/>
              <a:ext cx="5612426" cy="2499788"/>
              <a:chOff x="0" y="0"/>
              <a:chExt cx="5612426" cy="2499788"/>
            </a:xfrm>
          </p:grpSpPr>
          <p:cxnSp>
            <p:nvCxnSpPr>
              <p:cNvPr id="13" name="直線接點 12">
                <a:extLst>
                  <a:ext uri="{FF2B5EF4-FFF2-40B4-BE49-F238E27FC236}">
                    <a16:creationId xmlns:a16="http://schemas.microsoft.com/office/drawing/2014/main" id="{0750A60E-E598-466E-A1C6-863BCB9FA5CD}"/>
                  </a:ext>
                </a:extLst>
              </p:cNvPr>
              <p:cNvCxnSpPr/>
              <p:nvPr/>
            </p:nvCxnSpPr>
            <p:spPr>
              <a:xfrm>
                <a:off x="833933" y="1850745"/>
                <a:ext cx="253780" cy="144581"/>
              </a:xfrm>
              <a:prstGeom prst="line">
                <a:avLst/>
              </a:prstGeom>
            </p:spPr>
            <p:style>
              <a:lnRef idx="1">
                <a:schemeClr val="dk1"/>
              </a:lnRef>
              <a:fillRef idx="0">
                <a:schemeClr val="dk1"/>
              </a:fillRef>
              <a:effectRef idx="0">
                <a:schemeClr val="dk1"/>
              </a:effectRef>
              <a:fontRef idx="minor">
                <a:schemeClr val="tx1"/>
              </a:fontRef>
            </p:style>
          </p:cxnSp>
          <p:grpSp>
            <p:nvGrpSpPr>
              <p:cNvPr id="14" name="群組 13">
                <a:extLst>
                  <a:ext uri="{FF2B5EF4-FFF2-40B4-BE49-F238E27FC236}">
                    <a16:creationId xmlns:a16="http://schemas.microsoft.com/office/drawing/2014/main" id="{A113DE57-C10C-491C-8DA4-7051113C4128}"/>
                  </a:ext>
                </a:extLst>
              </p:cNvPr>
              <p:cNvGrpSpPr/>
              <p:nvPr/>
            </p:nvGrpSpPr>
            <p:grpSpPr>
              <a:xfrm>
                <a:off x="0" y="0"/>
                <a:ext cx="5612426" cy="2499788"/>
                <a:chOff x="0" y="0"/>
                <a:chExt cx="5612426" cy="2499788"/>
              </a:xfrm>
            </p:grpSpPr>
            <p:grpSp>
              <p:nvGrpSpPr>
                <p:cNvPr id="21" name="群組 20">
                  <a:extLst>
                    <a:ext uri="{FF2B5EF4-FFF2-40B4-BE49-F238E27FC236}">
                      <a16:creationId xmlns:a16="http://schemas.microsoft.com/office/drawing/2014/main" id="{E1FB7D4C-C29D-4118-BC21-DE527A920AD0}"/>
                    </a:ext>
                  </a:extLst>
                </p:cNvPr>
                <p:cNvGrpSpPr/>
                <p:nvPr/>
              </p:nvGrpSpPr>
              <p:grpSpPr>
                <a:xfrm>
                  <a:off x="0" y="0"/>
                  <a:ext cx="5607737" cy="2387601"/>
                  <a:chOff x="0" y="0"/>
                  <a:chExt cx="5608040" cy="2388190"/>
                </a:xfrm>
              </p:grpSpPr>
              <p:grpSp>
                <p:nvGrpSpPr>
                  <p:cNvPr id="34" name="群組 33">
                    <a:extLst>
                      <a:ext uri="{FF2B5EF4-FFF2-40B4-BE49-F238E27FC236}">
                        <a16:creationId xmlns:a16="http://schemas.microsoft.com/office/drawing/2014/main" id="{24F291DD-E29C-456E-940F-F890F18FD1FC}"/>
                      </a:ext>
                    </a:extLst>
                  </p:cNvPr>
                  <p:cNvGrpSpPr/>
                  <p:nvPr/>
                </p:nvGrpSpPr>
                <p:grpSpPr>
                  <a:xfrm rot="1477162">
                    <a:off x="0" y="1667901"/>
                    <a:ext cx="611505" cy="621030"/>
                    <a:chOff x="9675" y="0"/>
                    <a:chExt cx="799169" cy="750482"/>
                  </a:xfrm>
                  <a:solidFill>
                    <a:schemeClr val="bg1"/>
                  </a:solidFill>
                </p:grpSpPr>
                <p:sp>
                  <p:nvSpPr>
                    <p:cNvPr id="113" name="橢圓 112">
                      <a:extLst>
                        <a:ext uri="{FF2B5EF4-FFF2-40B4-BE49-F238E27FC236}">
                          <a16:creationId xmlns:a16="http://schemas.microsoft.com/office/drawing/2014/main" id="{F09C301F-8F80-4092-BDE6-1588AAC62425}"/>
                        </a:ext>
                      </a:extLst>
                    </p:cNvPr>
                    <p:cNvSpPr/>
                    <p:nvPr/>
                  </p:nvSpPr>
                  <p:spPr>
                    <a:xfrm>
                      <a:off x="48381" y="0"/>
                      <a:ext cx="760463" cy="731132"/>
                    </a:xfrm>
                    <a:prstGeom prst="ellipse">
                      <a:avLst/>
                    </a:prstGeom>
                    <a:solidFill>
                      <a:schemeClr val="bg2">
                        <a:lumMod val="90000"/>
                      </a:schemeClr>
                    </a:solidFill>
                    <a:ln>
                      <a:solidFill>
                        <a:schemeClr val="tx1"/>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14" name="橢圓 113">
                      <a:extLst>
                        <a:ext uri="{FF2B5EF4-FFF2-40B4-BE49-F238E27FC236}">
                          <a16:creationId xmlns:a16="http://schemas.microsoft.com/office/drawing/2014/main" id="{D4758816-7879-4F04-B722-9D04838EDEC4}"/>
                        </a:ext>
                      </a:extLst>
                    </p:cNvPr>
                    <p:cNvSpPr/>
                    <p:nvPr/>
                  </p:nvSpPr>
                  <p:spPr>
                    <a:xfrm>
                      <a:off x="9675" y="19352"/>
                      <a:ext cx="760461" cy="731130"/>
                    </a:xfrm>
                    <a:prstGeom prst="ellipse">
                      <a:avLst/>
                    </a:prstGeom>
                    <a:gradFill flip="none" rotWithShape="1">
                      <a:gsLst>
                        <a:gs pos="48000">
                          <a:schemeClr val="accent5">
                            <a:lumMod val="75000"/>
                          </a:schemeClr>
                        </a:gs>
                        <a:gs pos="0">
                          <a:srgbClr val="002060"/>
                        </a:gs>
                        <a:gs pos="100000">
                          <a:srgbClr val="0070C0">
                            <a:tint val="23500"/>
                            <a:satMod val="160000"/>
                          </a:srgbClr>
                        </a:gs>
                      </a:gsLst>
                      <a:lin ang="0" scaled="1"/>
                      <a:tileRect/>
                    </a:gradFill>
                    <a:ln>
                      <a:solidFill>
                        <a:schemeClr val="tx2">
                          <a:lumMod val="75000"/>
                        </a:schemeClr>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35" name="群組 34">
                    <a:extLst>
                      <a:ext uri="{FF2B5EF4-FFF2-40B4-BE49-F238E27FC236}">
                        <a16:creationId xmlns:a16="http://schemas.microsoft.com/office/drawing/2014/main" id="{3C466F1C-76F7-422D-A2E6-22187E454728}"/>
                      </a:ext>
                    </a:extLst>
                  </p:cNvPr>
                  <p:cNvGrpSpPr/>
                  <p:nvPr/>
                </p:nvGrpSpPr>
                <p:grpSpPr>
                  <a:xfrm>
                    <a:off x="50116" y="0"/>
                    <a:ext cx="5557924" cy="2388190"/>
                    <a:chOff x="0" y="0"/>
                    <a:chExt cx="5557924" cy="2388190"/>
                  </a:xfrm>
                </p:grpSpPr>
                <p:grpSp>
                  <p:nvGrpSpPr>
                    <p:cNvPr id="36" name="群組 35">
                      <a:extLst>
                        <a:ext uri="{FF2B5EF4-FFF2-40B4-BE49-F238E27FC236}">
                          <a16:creationId xmlns:a16="http://schemas.microsoft.com/office/drawing/2014/main" id="{AD0F54A0-D195-4A49-8A77-65F9C219F59D}"/>
                        </a:ext>
                      </a:extLst>
                    </p:cNvPr>
                    <p:cNvGrpSpPr/>
                    <p:nvPr/>
                  </p:nvGrpSpPr>
                  <p:grpSpPr>
                    <a:xfrm>
                      <a:off x="0" y="0"/>
                      <a:ext cx="5557924" cy="2388190"/>
                      <a:chOff x="0" y="0"/>
                      <a:chExt cx="5557924" cy="2388190"/>
                    </a:xfrm>
                  </p:grpSpPr>
                  <p:sp>
                    <p:nvSpPr>
                      <p:cNvPr id="40" name="橢圓 39">
                        <a:extLst>
                          <a:ext uri="{FF2B5EF4-FFF2-40B4-BE49-F238E27FC236}">
                            <a16:creationId xmlns:a16="http://schemas.microsoft.com/office/drawing/2014/main" id="{DA20AFCE-00E6-41BC-8752-5795BEA10011}"/>
                          </a:ext>
                        </a:extLst>
                      </p:cNvPr>
                      <p:cNvSpPr/>
                      <p:nvPr/>
                    </p:nvSpPr>
                    <p:spPr>
                      <a:xfrm>
                        <a:off x="2595630" y="1596980"/>
                        <a:ext cx="224155" cy="791210"/>
                      </a:xfrm>
                      <a:prstGeom prst="ellipse">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path path="circle">
                          <a:fillToRect l="100000" b="100000"/>
                        </a:path>
                        <a:tileRect t="-100000" r="-100000"/>
                      </a:gra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nvGrpSpPr>
                      <p:cNvPr id="41" name="群組 40">
                        <a:extLst>
                          <a:ext uri="{FF2B5EF4-FFF2-40B4-BE49-F238E27FC236}">
                            <a16:creationId xmlns:a16="http://schemas.microsoft.com/office/drawing/2014/main" id="{A7461681-CB3D-4F6A-B5D9-9614A9277935}"/>
                          </a:ext>
                        </a:extLst>
                      </p:cNvPr>
                      <p:cNvGrpSpPr/>
                      <p:nvPr/>
                    </p:nvGrpSpPr>
                    <p:grpSpPr>
                      <a:xfrm>
                        <a:off x="0" y="0"/>
                        <a:ext cx="1658620" cy="912495"/>
                        <a:chOff x="0" y="0"/>
                        <a:chExt cx="1658965" cy="912700"/>
                      </a:xfrm>
                    </p:grpSpPr>
                    <p:grpSp>
                      <p:nvGrpSpPr>
                        <p:cNvPr id="78" name="群組 77">
                          <a:extLst>
                            <a:ext uri="{FF2B5EF4-FFF2-40B4-BE49-F238E27FC236}">
                              <a16:creationId xmlns:a16="http://schemas.microsoft.com/office/drawing/2014/main" id="{EF481407-CF8E-4AB9-A674-06882F852550}"/>
                            </a:ext>
                          </a:extLst>
                        </p:cNvPr>
                        <p:cNvGrpSpPr/>
                        <p:nvPr/>
                      </p:nvGrpSpPr>
                      <p:grpSpPr>
                        <a:xfrm>
                          <a:off x="0" y="0"/>
                          <a:ext cx="1658965" cy="912700"/>
                          <a:chOff x="0" y="0"/>
                          <a:chExt cx="2389505" cy="1329690"/>
                        </a:xfrm>
                      </p:grpSpPr>
                      <p:grpSp>
                        <p:nvGrpSpPr>
                          <p:cNvPr id="84" name="群組 83">
                            <a:extLst>
                              <a:ext uri="{FF2B5EF4-FFF2-40B4-BE49-F238E27FC236}">
                                <a16:creationId xmlns:a16="http://schemas.microsoft.com/office/drawing/2014/main" id="{E8D529D2-2E6D-4788-9F3C-1E9C8CB78DA5}"/>
                              </a:ext>
                            </a:extLst>
                          </p:cNvPr>
                          <p:cNvGrpSpPr/>
                          <p:nvPr/>
                        </p:nvGrpSpPr>
                        <p:grpSpPr>
                          <a:xfrm>
                            <a:off x="0" y="0"/>
                            <a:ext cx="2389505" cy="1329690"/>
                            <a:chOff x="0" y="0"/>
                            <a:chExt cx="2389800" cy="1329853"/>
                          </a:xfrm>
                        </p:grpSpPr>
                        <p:sp>
                          <p:nvSpPr>
                            <p:cNvPr id="110" name="矩形 109">
                              <a:extLst>
                                <a:ext uri="{FF2B5EF4-FFF2-40B4-BE49-F238E27FC236}">
                                  <a16:creationId xmlns:a16="http://schemas.microsoft.com/office/drawing/2014/main" id="{228E17B8-17B2-4992-9211-49943D10CA59}"/>
                                </a:ext>
                              </a:extLst>
                            </p:cNvPr>
                            <p:cNvSpPr/>
                            <p:nvPr/>
                          </p:nvSpPr>
                          <p:spPr>
                            <a:xfrm>
                              <a:off x="0" y="701898"/>
                              <a:ext cx="1894840" cy="627955"/>
                            </a:xfrm>
                            <a:prstGeom prst="rect">
                              <a:avLst/>
                            </a:prstGeom>
                            <a:gradFill flip="none" rotWithShape="1">
                              <a:gsLst>
                                <a:gs pos="0">
                                  <a:schemeClr val="accent1">
                                    <a:lumMod val="5000"/>
                                    <a:lumOff val="95000"/>
                                  </a:schemeClr>
                                </a:gs>
                                <a:gs pos="74000">
                                  <a:schemeClr val="bg1">
                                    <a:lumMod val="75000"/>
                                  </a:schemeClr>
                                </a:gs>
                                <a:gs pos="83000">
                                  <a:schemeClr val="bg1">
                                    <a:lumMod val="65000"/>
                                  </a:schemeClr>
                                </a:gs>
                                <a:gs pos="100000">
                                  <a:schemeClr val="bg1">
                                    <a:lumMod val="50000"/>
                                  </a:schemeClr>
                                </a:gs>
                              </a:gsLst>
                              <a:lin ang="8100000" scaled="1"/>
                              <a:tileRect/>
                            </a:gra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11" name="矩形 110">
                              <a:extLst>
                                <a:ext uri="{FF2B5EF4-FFF2-40B4-BE49-F238E27FC236}">
                                  <a16:creationId xmlns:a16="http://schemas.microsoft.com/office/drawing/2014/main" id="{4027BA16-D96D-4D7F-8908-F0A4037C962A}"/>
                                </a:ext>
                              </a:extLst>
                            </p:cNvPr>
                            <p:cNvSpPr/>
                            <p:nvPr/>
                          </p:nvSpPr>
                          <p:spPr>
                            <a:xfrm>
                              <a:off x="113495" y="0"/>
                              <a:ext cx="1966392" cy="1218167"/>
                            </a:xfrm>
                            <a:prstGeom prst="rect">
                              <a:avLst/>
                            </a:prstGeom>
                            <a:gradFill flip="none" rotWithShape="1">
                              <a:gsLst>
                                <a:gs pos="0">
                                  <a:schemeClr val="accent1">
                                    <a:lumMod val="5000"/>
                                    <a:lumOff val="95000"/>
                                  </a:schemeClr>
                                </a:gs>
                                <a:gs pos="74000">
                                  <a:schemeClr val="bg1">
                                    <a:lumMod val="85000"/>
                                  </a:schemeClr>
                                </a:gs>
                                <a:gs pos="84000">
                                  <a:schemeClr val="bg1">
                                    <a:lumMod val="75000"/>
                                  </a:schemeClr>
                                </a:gs>
                                <a:gs pos="100000">
                                  <a:schemeClr val="bg1">
                                    <a:lumMod val="50000"/>
                                  </a:schemeClr>
                                </a:gs>
                              </a:gsLst>
                              <a:lin ang="8100000" scaled="1"/>
                              <a:tileRect/>
                            </a:gradFill>
                            <a:ln w="9525">
                              <a:solidFill>
                                <a:schemeClr val="bg1">
                                  <a:lumMod val="50000"/>
                                </a:schemeClr>
                              </a:solidFill>
                            </a:ln>
                            <a:scene3d>
                              <a:camera prst="isometricOffAxis2Top">
                                <a:rot lat="17232000" lon="3606000" rev="1806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12" name="矩形 111">
                              <a:extLst>
                                <a:ext uri="{FF2B5EF4-FFF2-40B4-BE49-F238E27FC236}">
                                  <a16:creationId xmlns:a16="http://schemas.microsoft.com/office/drawing/2014/main" id="{8C8A27D6-1860-40B5-B1B1-D991B345544C}"/>
                                </a:ext>
                              </a:extLst>
                            </p:cNvPr>
                            <p:cNvSpPr/>
                            <p:nvPr/>
                          </p:nvSpPr>
                          <p:spPr>
                            <a:xfrm>
                              <a:off x="1712890" y="596989"/>
                              <a:ext cx="676910" cy="658973"/>
                            </a:xfrm>
                            <a:prstGeom prst="rect">
                              <a:avLst/>
                            </a:prstGeom>
                            <a:gradFill flip="none" rotWithShape="1">
                              <a:gsLst>
                                <a:gs pos="66452">
                                  <a:schemeClr val="bg1">
                                    <a:lumMod val="75000"/>
                                  </a:schemeClr>
                                </a:gs>
                                <a:gs pos="0">
                                  <a:schemeClr val="bg1"/>
                                </a:gs>
                                <a:gs pos="52000">
                                  <a:schemeClr val="bg1">
                                    <a:lumMod val="85000"/>
                                  </a:schemeClr>
                                </a:gs>
                                <a:gs pos="83000">
                                  <a:schemeClr val="bg1">
                                    <a:lumMod val="65000"/>
                                  </a:schemeClr>
                                </a:gs>
                                <a:gs pos="100000">
                                  <a:schemeClr val="bg1">
                                    <a:lumMod val="50000"/>
                                  </a:schemeClr>
                                </a:gs>
                              </a:gsLst>
                              <a:lin ang="5400000" scaled="1"/>
                              <a:tileRect/>
                            </a:gradFill>
                            <a:ln w="9525">
                              <a:solidFill>
                                <a:schemeClr val="bg1">
                                  <a:lumMod val="50000"/>
                                </a:schemeClr>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85" name="群組 84">
                            <a:extLst>
                              <a:ext uri="{FF2B5EF4-FFF2-40B4-BE49-F238E27FC236}">
                                <a16:creationId xmlns:a16="http://schemas.microsoft.com/office/drawing/2014/main" id="{82E80E33-88D7-4339-B9A7-B9F12422A9C1}"/>
                              </a:ext>
                            </a:extLst>
                          </p:cNvPr>
                          <p:cNvGrpSpPr/>
                          <p:nvPr/>
                        </p:nvGrpSpPr>
                        <p:grpSpPr>
                          <a:xfrm>
                            <a:off x="247836" y="416990"/>
                            <a:ext cx="2097405" cy="628881"/>
                            <a:chOff x="0" y="0"/>
                            <a:chExt cx="2097405" cy="628881"/>
                          </a:xfrm>
                        </p:grpSpPr>
                        <p:sp>
                          <p:nvSpPr>
                            <p:cNvPr id="86" name="矩形: 圓角 85">
                              <a:extLst>
                                <a:ext uri="{FF2B5EF4-FFF2-40B4-BE49-F238E27FC236}">
                                  <a16:creationId xmlns:a16="http://schemas.microsoft.com/office/drawing/2014/main" id="{1C26E9B2-7511-4D27-B7A5-63F2BDB28016}"/>
                                </a:ext>
                              </a:extLst>
                            </p:cNvPr>
                            <p:cNvSpPr/>
                            <p:nvPr/>
                          </p:nvSpPr>
                          <p:spPr>
                            <a:xfrm>
                              <a:off x="290032" y="0"/>
                              <a:ext cx="277355" cy="426204"/>
                            </a:xfrm>
                            <a:prstGeom prst="roundRect">
                              <a:avLst/>
                            </a:prstGeom>
                            <a:solidFill>
                              <a:schemeClr val="bg1">
                                <a:lumMod val="75000"/>
                              </a:schemeClr>
                            </a:solidFill>
                            <a:ln>
                              <a:solidFill>
                                <a:schemeClr val="bg2">
                                  <a:lumMod val="50000"/>
                                </a:schemeClr>
                              </a:solidFill>
                            </a:ln>
                            <a:scene3d>
                              <a:camera prst="orthographicFront">
                                <a:rot lat="4021679" lon="17969257" rev="18083123"/>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nvGrpSpPr>
                            <p:cNvPr id="87" name="群組 86">
                              <a:extLst>
                                <a:ext uri="{FF2B5EF4-FFF2-40B4-BE49-F238E27FC236}">
                                  <a16:creationId xmlns:a16="http://schemas.microsoft.com/office/drawing/2014/main" id="{6E31D232-97AC-49EA-B844-00FE689A7E8E}"/>
                                </a:ext>
                              </a:extLst>
                            </p:cNvPr>
                            <p:cNvGrpSpPr/>
                            <p:nvPr/>
                          </p:nvGrpSpPr>
                          <p:grpSpPr>
                            <a:xfrm>
                              <a:off x="0" y="163197"/>
                              <a:ext cx="2097405" cy="465684"/>
                              <a:chOff x="0" y="0"/>
                              <a:chExt cx="2097405" cy="465684"/>
                            </a:xfrm>
                          </p:grpSpPr>
                          <p:grpSp>
                            <p:nvGrpSpPr>
                              <p:cNvPr id="88" name="群組 87">
                                <a:extLst>
                                  <a:ext uri="{FF2B5EF4-FFF2-40B4-BE49-F238E27FC236}">
                                    <a16:creationId xmlns:a16="http://schemas.microsoft.com/office/drawing/2014/main" id="{1B700326-AB56-4895-9FA9-6708F0721D5A}"/>
                                  </a:ext>
                                </a:extLst>
                              </p:cNvPr>
                              <p:cNvGrpSpPr/>
                              <p:nvPr/>
                            </p:nvGrpSpPr>
                            <p:grpSpPr>
                              <a:xfrm>
                                <a:off x="0" y="0"/>
                                <a:ext cx="1463323" cy="424648"/>
                                <a:chOff x="0" y="0"/>
                                <a:chExt cx="1463323" cy="424648"/>
                              </a:xfrm>
                            </p:grpSpPr>
                            <p:sp>
                              <p:nvSpPr>
                                <p:cNvPr id="103" name="矩形: 圓角 102">
                                  <a:extLst>
                                    <a:ext uri="{FF2B5EF4-FFF2-40B4-BE49-F238E27FC236}">
                                      <a16:creationId xmlns:a16="http://schemas.microsoft.com/office/drawing/2014/main" id="{E9829BEF-01A5-4DDF-9DA6-67AAE159A8CC}"/>
                                    </a:ext>
                                  </a:extLst>
                                </p:cNvPr>
                                <p:cNvSpPr/>
                                <p:nvPr/>
                              </p:nvSpPr>
                              <p:spPr>
                                <a:xfrm>
                                  <a:off x="643357" y="241879"/>
                                  <a:ext cx="819966" cy="182769"/>
                                </a:xfrm>
                                <a:prstGeom prst="roundRect">
                                  <a:avLst/>
                                </a:prstGeom>
                                <a:solidFill>
                                  <a:schemeClr val="bg1">
                                    <a:lumMod val="7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04" name="橢圓 103">
                                  <a:extLst>
                                    <a:ext uri="{FF2B5EF4-FFF2-40B4-BE49-F238E27FC236}">
                                      <a16:creationId xmlns:a16="http://schemas.microsoft.com/office/drawing/2014/main" id="{8F679884-45B5-4703-A17C-F44422D516BE}"/>
                                    </a:ext>
                                  </a:extLst>
                                </p:cNvPr>
                                <p:cNvSpPr/>
                                <p:nvPr/>
                              </p:nvSpPr>
                              <p:spPr>
                                <a:xfrm>
                                  <a:off x="0" y="24448"/>
                                  <a:ext cx="202500" cy="61762"/>
                                </a:xfrm>
                                <a:prstGeom prst="ellipse">
                                  <a:avLst/>
                                </a:prstGeom>
                                <a:solidFill>
                                  <a:schemeClr val="bg1">
                                    <a:lumMod val="7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05" name="橢圓 104">
                                  <a:extLst>
                                    <a:ext uri="{FF2B5EF4-FFF2-40B4-BE49-F238E27FC236}">
                                      <a16:creationId xmlns:a16="http://schemas.microsoft.com/office/drawing/2014/main" id="{A9772E80-6E39-4D7C-9B6D-F0A881D05F32}"/>
                                    </a:ext>
                                  </a:extLst>
                                </p:cNvPr>
                                <p:cNvSpPr/>
                                <p:nvPr/>
                              </p:nvSpPr>
                              <p:spPr>
                                <a:xfrm flipV="1">
                                  <a:off x="29785" y="39341"/>
                                  <a:ext cx="131928" cy="45719"/>
                                </a:xfrm>
                                <a:prstGeom prst="ellipse">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06" name="橢圓 105">
                                  <a:extLst>
                                    <a:ext uri="{FF2B5EF4-FFF2-40B4-BE49-F238E27FC236}">
                                      <a16:creationId xmlns:a16="http://schemas.microsoft.com/office/drawing/2014/main" id="{8D0A7412-BE3A-4810-82F1-93ED97B1F22E}"/>
                                    </a:ext>
                                  </a:extLst>
                                </p:cNvPr>
                                <p:cNvSpPr/>
                                <p:nvPr/>
                              </p:nvSpPr>
                              <p:spPr>
                                <a:xfrm>
                                  <a:off x="441377" y="50634"/>
                                  <a:ext cx="45085" cy="45085"/>
                                </a:xfrm>
                                <a:prstGeom prst="ellipse">
                                  <a:avLst/>
                                </a:prstGeom>
                                <a:solidFill>
                                  <a:schemeClr val="bg2">
                                    <a:lumMod val="75000"/>
                                  </a:schemeClr>
                                </a:solidFill>
                                <a:ln>
                                  <a:solidFill>
                                    <a:schemeClr val="tx1">
                                      <a:lumMod val="50000"/>
                                      <a:lumOff val="50000"/>
                                    </a:schemeClr>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07" name="橢圓 106">
                                  <a:extLst>
                                    <a:ext uri="{FF2B5EF4-FFF2-40B4-BE49-F238E27FC236}">
                                      <a16:creationId xmlns:a16="http://schemas.microsoft.com/office/drawing/2014/main" id="{DB9C5215-878D-4121-A771-446FB7E704CB}"/>
                                    </a:ext>
                                  </a:extLst>
                                </p:cNvPr>
                                <p:cNvSpPr/>
                                <p:nvPr/>
                              </p:nvSpPr>
                              <p:spPr>
                                <a:xfrm>
                                  <a:off x="274581" y="53613"/>
                                  <a:ext cx="45085" cy="45085"/>
                                </a:xfrm>
                                <a:prstGeom prst="ellipse">
                                  <a:avLst/>
                                </a:prstGeom>
                                <a:solidFill>
                                  <a:schemeClr val="bg2">
                                    <a:lumMod val="75000"/>
                                  </a:schemeClr>
                                </a:solidFill>
                                <a:ln>
                                  <a:solidFill>
                                    <a:schemeClr val="bg2">
                                      <a:lumMod val="50000"/>
                                    </a:schemeClr>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08" name="橢圓 107">
                                  <a:extLst>
                                    <a:ext uri="{FF2B5EF4-FFF2-40B4-BE49-F238E27FC236}">
                                      <a16:creationId xmlns:a16="http://schemas.microsoft.com/office/drawing/2014/main" id="{57BDDD9D-376C-4BE0-97DF-6B0221C647B2}"/>
                                    </a:ext>
                                  </a:extLst>
                                </p:cNvPr>
                                <p:cNvSpPr/>
                                <p:nvPr/>
                              </p:nvSpPr>
                              <p:spPr>
                                <a:xfrm>
                                  <a:off x="530732" y="0"/>
                                  <a:ext cx="45085" cy="45085"/>
                                </a:xfrm>
                                <a:prstGeom prst="ellipse">
                                  <a:avLst/>
                                </a:prstGeom>
                                <a:solidFill>
                                  <a:schemeClr val="bg2">
                                    <a:lumMod val="75000"/>
                                  </a:schemeClr>
                                </a:solidFill>
                                <a:ln>
                                  <a:solidFill>
                                    <a:schemeClr val="bg2">
                                      <a:lumMod val="50000"/>
                                    </a:schemeClr>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09" name="橢圓 108">
                                  <a:extLst>
                                    <a:ext uri="{FF2B5EF4-FFF2-40B4-BE49-F238E27FC236}">
                                      <a16:creationId xmlns:a16="http://schemas.microsoft.com/office/drawing/2014/main" id="{8113A4D5-CEF2-446C-9F8C-C3DB94ECE576}"/>
                                    </a:ext>
                                  </a:extLst>
                                </p:cNvPr>
                                <p:cNvSpPr/>
                                <p:nvPr/>
                              </p:nvSpPr>
                              <p:spPr>
                                <a:xfrm>
                                  <a:off x="357979" y="2978"/>
                                  <a:ext cx="45085" cy="45085"/>
                                </a:xfrm>
                                <a:prstGeom prst="ellipse">
                                  <a:avLst/>
                                </a:prstGeom>
                                <a:solidFill>
                                  <a:schemeClr val="bg2">
                                    <a:lumMod val="75000"/>
                                  </a:schemeClr>
                                </a:solidFill>
                                <a:ln>
                                  <a:solidFill>
                                    <a:schemeClr val="bg2">
                                      <a:lumMod val="50000"/>
                                    </a:schemeClr>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89" name="群組 88">
                                <a:extLst>
                                  <a:ext uri="{FF2B5EF4-FFF2-40B4-BE49-F238E27FC236}">
                                    <a16:creationId xmlns:a16="http://schemas.microsoft.com/office/drawing/2014/main" id="{29EAABDD-2FFC-4E82-9CC4-350E5A0DAA13}"/>
                                  </a:ext>
                                </a:extLst>
                              </p:cNvPr>
                              <p:cNvGrpSpPr/>
                              <p:nvPr/>
                            </p:nvGrpSpPr>
                            <p:grpSpPr>
                              <a:xfrm>
                                <a:off x="1524000" y="101266"/>
                                <a:ext cx="573405" cy="364418"/>
                                <a:chOff x="0" y="0"/>
                                <a:chExt cx="573405" cy="364418"/>
                              </a:xfrm>
                            </p:grpSpPr>
                            <p:grpSp>
                              <p:nvGrpSpPr>
                                <p:cNvPr id="90" name="群組 89">
                                  <a:extLst>
                                    <a:ext uri="{FF2B5EF4-FFF2-40B4-BE49-F238E27FC236}">
                                      <a16:creationId xmlns:a16="http://schemas.microsoft.com/office/drawing/2014/main" id="{D0485DDF-6C06-407A-AA0B-3E129A59AA0B}"/>
                                    </a:ext>
                                  </a:extLst>
                                </p:cNvPr>
                                <p:cNvGrpSpPr/>
                                <p:nvPr/>
                              </p:nvGrpSpPr>
                              <p:grpSpPr>
                                <a:xfrm>
                                  <a:off x="0" y="62832"/>
                                  <a:ext cx="573405" cy="301586"/>
                                  <a:chOff x="0" y="0"/>
                                  <a:chExt cx="573405" cy="301586"/>
                                </a:xfrm>
                              </p:grpSpPr>
                              <p:sp>
                                <p:nvSpPr>
                                  <p:cNvPr id="99" name="矩形: 圓角 98">
                                    <a:extLst>
                                      <a:ext uri="{FF2B5EF4-FFF2-40B4-BE49-F238E27FC236}">
                                        <a16:creationId xmlns:a16="http://schemas.microsoft.com/office/drawing/2014/main" id="{4FDF6C39-6468-47C2-A478-67D40F4630BE}"/>
                                      </a:ext>
                                    </a:extLst>
                                  </p:cNvPr>
                                  <p:cNvSpPr/>
                                  <p:nvPr/>
                                </p:nvSpPr>
                                <p:spPr>
                                  <a:xfrm>
                                    <a:off x="0" y="33392"/>
                                    <a:ext cx="573405" cy="246627"/>
                                  </a:xfrm>
                                  <a:prstGeom prst="roundRect">
                                    <a:avLst/>
                                  </a:prstGeom>
                                  <a:solidFill>
                                    <a:schemeClr val="bg2"/>
                                  </a:solidFill>
                                  <a:ln>
                                    <a:solidFill>
                                      <a:schemeClr val="tx1">
                                        <a:lumMod val="50000"/>
                                        <a:lumOff val="50000"/>
                                      </a:schemeClr>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00" name="橢圓 99">
                                    <a:extLst>
                                      <a:ext uri="{FF2B5EF4-FFF2-40B4-BE49-F238E27FC236}">
                                        <a16:creationId xmlns:a16="http://schemas.microsoft.com/office/drawing/2014/main" id="{5C75D2B5-BE9F-44FD-BB4B-AE697B97EC48}"/>
                                      </a:ext>
                                    </a:extLst>
                                  </p:cNvPr>
                                  <p:cNvSpPr/>
                                  <p:nvPr/>
                                </p:nvSpPr>
                                <p:spPr>
                                  <a:xfrm flipV="1">
                                    <a:off x="160218" y="256500"/>
                                    <a:ext cx="45085" cy="45086"/>
                                  </a:xfrm>
                                  <a:prstGeom prst="ellipse">
                                    <a:avLst/>
                                  </a:prstGeom>
                                  <a:solidFill>
                                    <a:schemeClr val="bg2"/>
                                  </a:solidFill>
                                  <a:ln w="6350">
                                    <a:solidFill>
                                      <a:schemeClr val="tx1"/>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01" name="橢圓 100">
                                    <a:extLst>
                                      <a:ext uri="{FF2B5EF4-FFF2-40B4-BE49-F238E27FC236}">
                                        <a16:creationId xmlns:a16="http://schemas.microsoft.com/office/drawing/2014/main" id="{420522C6-BD0F-4744-9599-E05D7367EAFD}"/>
                                      </a:ext>
                                    </a:extLst>
                                  </p:cNvPr>
                                  <p:cNvSpPr/>
                                  <p:nvPr/>
                                </p:nvSpPr>
                                <p:spPr>
                                  <a:xfrm flipV="1">
                                    <a:off x="368713" y="0"/>
                                    <a:ext cx="45085" cy="45085"/>
                                  </a:xfrm>
                                  <a:prstGeom prst="ellipse">
                                    <a:avLst/>
                                  </a:prstGeom>
                                  <a:solidFill>
                                    <a:schemeClr val="bg2"/>
                                  </a:solidFill>
                                  <a:ln w="6350">
                                    <a:solidFill>
                                      <a:schemeClr val="tx1"/>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102" name="橢圓 101">
                                    <a:extLst>
                                      <a:ext uri="{FF2B5EF4-FFF2-40B4-BE49-F238E27FC236}">
                                        <a16:creationId xmlns:a16="http://schemas.microsoft.com/office/drawing/2014/main" id="{FFDFE0F8-BB38-41CE-AEEC-9970ADBAAFC1}"/>
                                      </a:ext>
                                    </a:extLst>
                                  </p:cNvPr>
                                  <p:cNvSpPr/>
                                  <p:nvPr/>
                                </p:nvSpPr>
                                <p:spPr>
                                  <a:xfrm flipV="1">
                                    <a:off x="160218" y="131055"/>
                                    <a:ext cx="45085" cy="45085"/>
                                  </a:xfrm>
                                  <a:prstGeom prst="ellipse">
                                    <a:avLst/>
                                  </a:prstGeom>
                                  <a:solidFill>
                                    <a:schemeClr val="bg2"/>
                                  </a:solidFill>
                                  <a:ln w="6350">
                                    <a:solidFill>
                                      <a:schemeClr val="tx1"/>
                                    </a:solidFill>
                                  </a:ln>
                                  <a:scene3d>
                                    <a:camera prst="isometricOffAxis2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91" name="群組 90">
                                  <a:extLst>
                                    <a:ext uri="{FF2B5EF4-FFF2-40B4-BE49-F238E27FC236}">
                                      <a16:creationId xmlns:a16="http://schemas.microsoft.com/office/drawing/2014/main" id="{F03120C9-F637-44DE-8E4B-046F1FF376E5}"/>
                                    </a:ext>
                                  </a:extLst>
                                </p:cNvPr>
                                <p:cNvGrpSpPr/>
                                <p:nvPr/>
                              </p:nvGrpSpPr>
                              <p:grpSpPr>
                                <a:xfrm>
                                  <a:off x="246614" y="0"/>
                                  <a:ext cx="149257" cy="325347"/>
                                  <a:chOff x="-19083" y="0"/>
                                  <a:chExt cx="149257" cy="325347"/>
                                </a:xfrm>
                              </p:grpSpPr>
                              <p:grpSp>
                                <p:nvGrpSpPr>
                                  <p:cNvPr id="92" name="群組 91">
                                    <a:extLst>
                                      <a:ext uri="{FF2B5EF4-FFF2-40B4-BE49-F238E27FC236}">
                                        <a16:creationId xmlns:a16="http://schemas.microsoft.com/office/drawing/2014/main" id="{FF65952D-AC48-43E4-9689-CB568CC65ADA}"/>
                                      </a:ext>
                                    </a:extLst>
                                  </p:cNvPr>
                                  <p:cNvGrpSpPr/>
                                  <p:nvPr/>
                                </p:nvGrpSpPr>
                                <p:grpSpPr>
                                  <a:xfrm>
                                    <a:off x="-19083" y="0"/>
                                    <a:ext cx="149257" cy="325347"/>
                                    <a:chOff x="-851662" y="86882"/>
                                    <a:chExt cx="3835904" cy="1455766"/>
                                  </a:xfrm>
                                  <a:solidFill>
                                    <a:srgbClr val="FFFB03"/>
                                  </a:solidFill>
                                </p:grpSpPr>
                                <p:sp>
                                  <p:nvSpPr>
                                    <p:cNvPr id="96" name="矩形 95">
                                      <a:extLst>
                                        <a:ext uri="{FF2B5EF4-FFF2-40B4-BE49-F238E27FC236}">
                                          <a16:creationId xmlns:a16="http://schemas.microsoft.com/office/drawing/2014/main" id="{33AA5713-53AE-474B-8394-8A65AAC2C30A}"/>
                                        </a:ext>
                                      </a:extLst>
                                    </p:cNvPr>
                                    <p:cNvSpPr/>
                                    <p:nvPr/>
                                  </p:nvSpPr>
                                  <p:spPr>
                                    <a:xfrm>
                                      <a:off x="-851662" y="700654"/>
                                      <a:ext cx="1692731" cy="841994"/>
                                    </a:xfrm>
                                    <a:prstGeom prst="rect">
                                      <a:avLst/>
                                    </a:prstGeom>
                                    <a:grpFill/>
                                    <a:ln w="9525"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97" name="矩形 96">
                                      <a:extLst>
                                        <a:ext uri="{FF2B5EF4-FFF2-40B4-BE49-F238E27FC236}">
                                          <a16:creationId xmlns:a16="http://schemas.microsoft.com/office/drawing/2014/main" id="{D2367FDF-E954-4479-860E-A3ADACA3748F}"/>
                                        </a:ext>
                                      </a:extLst>
                                    </p:cNvPr>
                                    <p:cNvSpPr/>
                                    <p:nvPr/>
                                  </p:nvSpPr>
                                  <p:spPr>
                                    <a:xfrm>
                                      <a:off x="307210" y="86882"/>
                                      <a:ext cx="1172789" cy="1068874"/>
                                    </a:xfrm>
                                    <a:prstGeom prst="rect">
                                      <a:avLst/>
                                    </a:prstGeom>
                                    <a:grpFill/>
                                    <a:ln w="9525" cap="flat" cmpd="sng" algn="ctr">
                                      <a:solidFill>
                                        <a:srgbClr val="FFC000"/>
                                      </a:solidFill>
                                      <a:prstDash val="solid"/>
                                      <a:miter lim="800000"/>
                                    </a:ln>
                                    <a:effectLst/>
                                    <a:scene3d>
                                      <a:camera prst="isometricOffAxis2Top">
                                        <a:rot lat="17232000" lon="3606000" rev="18060000"/>
                                      </a:camera>
                                      <a:lightRig rig="threePt" dir="t"/>
                                    </a:scene3d>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98" name="矩形 97">
                                      <a:extLst>
                                        <a:ext uri="{FF2B5EF4-FFF2-40B4-BE49-F238E27FC236}">
                                          <a16:creationId xmlns:a16="http://schemas.microsoft.com/office/drawing/2014/main" id="{5739008B-7E5F-415E-A730-F6BCA61EB0E3}"/>
                                        </a:ext>
                                      </a:extLst>
                                    </p:cNvPr>
                                    <p:cNvSpPr/>
                                    <p:nvPr/>
                                  </p:nvSpPr>
                                  <p:spPr>
                                    <a:xfrm>
                                      <a:off x="245094" y="615670"/>
                                      <a:ext cx="2739148" cy="658893"/>
                                    </a:xfrm>
                                    <a:prstGeom prst="rect">
                                      <a:avLst/>
                                    </a:prstGeom>
                                    <a:grpFill/>
                                    <a:ln w="9525" cap="flat" cmpd="sng" algn="ctr">
                                      <a:solidFill>
                                        <a:srgbClr val="FFC000"/>
                                      </a:solidFill>
                                      <a:prstDash val="solid"/>
                                      <a:miter lim="800000"/>
                                    </a:ln>
                                    <a:effectLst/>
                                    <a:scene3d>
                                      <a:camera prst="isometricOffAxis2Right"/>
                                      <a:lightRig rig="threePt" dir="t"/>
                                    </a:scene3d>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93" name="群組 92">
                                    <a:extLst>
                                      <a:ext uri="{FF2B5EF4-FFF2-40B4-BE49-F238E27FC236}">
                                        <a16:creationId xmlns:a16="http://schemas.microsoft.com/office/drawing/2014/main" id="{FD36BB59-3498-4829-B34C-4D666FCA57A4}"/>
                                      </a:ext>
                                    </a:extLst>
                                  </p:cNvPr>
                                  <p:cNvGrpSpPr/>
                                  <p:nvPr/>
                                </p:nvGrpSpPr>
                                <p:grpSpPr>
                                  <a:xfrm>
                                    <a:off x="52841" y="135426"/>
                                    <a:ext cx="68088" cy="181116"/>
                                    <a:chOff x="-1352" y="-519"/>
                                    <a:chExt cx="211636" cy="508232"/>
                                  </a:xfrm>
                                  <a:gradFill>
                                    <a:gsLst>
                                      <a:gs pos="66452">
                                        <a:srgbClr val="F7FF4F"/>
                                      </a:gs>
                                      <a:gs pos="0">
                                        <a:schemeClr val="bg1"/>
                                      </a:gs>
                                      <a:gs pos="52000">
                                        <a:srgbClr val="FFFF8B"/>
                                      </a:gs>
                                      <a:gs pos="83000">
                                        <a:srgbClr val="FFFB03"/>
                                      </a:gs>
                                      <a:gs pos="100000">
                                        <a:srgbClr val="FFFF00"/>
                                      </a:gs>
                                    </a:gsLst>
                                    <a:lin ang="5400000" scaled="1"/>
                                  </a:gradFill>
                                </p:grpSpPr>
                                <p:sp>
                                  <p:nvSpPr>
                                    <p:cNvPr id="94" name="流程圖: 磁碟 93">
                                      <a:extLst>
                                        <a:ext uri="{FF2B5EF4-FFF2-40B4-BE49-F238E27FC236}">
                                          <a16:creationId xmlns:a16="http://schemas.microsoft.com/office/drawing/2014/main" id="{10B53956-4288-48DB-B449-05DE2A204154}"/>
                                        </a:ext>
                                      </a:extLst>
                                    </p:cNvPr>
                                    <p:cNvSpPr/>
                                    <p:nvPr/>
                                  </p:nvSpPr>
                                  <p:spPr>
                                    <a:xfrm rot="5400000">
                                      <a:off x="-153125" y="151254"/>
                                      <a:ext cx="508232" cy="204686"/>
                                    </a:xfrm>
                                    <a:prstGeom prst="flowChartMagneticDisk">
                                      <a:avLst/>
                                    </a:prstGeom>
                                    <a:grp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95" name="橢圓 94">
                                      <a:extLst>
                                        <a:ext uri="{FF2B5EF4-FFF2-40B4-BE49-F238E27FC236}">
                                          <a16:creationId xmlns:a16="http://schemas.microsoft.com/office/drawing/2014/main" id="{11E70734-9BB0-441C-996A-64646B9CB283}"/>
                                        </a:ext>
                                      </a:extLst>
                                    </p:cNvPr>
                                    <p:cNvSpPr/>
                                    <p:nvPr/>
                                  </p:nvSpPr>
                                  <p:spPr>
                                    <a:xfrm>
                                      <a:off x="165199" y="57559"/>
                                      <a:ext cx="45085" cy="248920"/>
                                    </a:xfrm>
                                    <a:prstGeom prst="ellipse">
                                      <a:avLst/>
                                    </a:prstGeom>
                                    <a:grp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grpSp>
                        </p:grpSp>
                      </p:grpSp>
                    </p:grpSp>
                    <p:grpSp>
                      <p:nvGrpSpPr>
                        <p:cNvPr id="79" name="群組 78">
                          <a:extLst>
                            <a:ext uri="{FF2B5EF4-FFF2-40B4-BE49-F238E27FC236}">
                              <a16:creationId xmlns:a16="http://schemas.microsoft.com/office/drawing/2014/main" id="{30D64652-A19E-41FC-B99E-D53EE500418F}"/>
                            </a:ext>
                          </a:extLst>
                        </p:cNvPr>
                        <p:cNvGrpSpPr/>
                        <p:nvPr/>
                      </p:nvGrpSpPr>
                      <p:grpSpPr>
                        <a:xfrm>
                          <a:off x="638384" y="573292"/>
                          <a:ext cx="535051" cy="111890"/>
                          <a:chOff x="0" y="0"/>
                          <a:chExt cx="781254" cy="153573"/>
                        </a:xfrm>
                      </p:grpSpPr>
                      <p:sp>
                        <p:nvSpPr>
                          <p:cNvPr id="80" name="橢圓 79">
                            <a:extLst>
                              <a:ext uri="{FF2B5EF4-FFF2-40B4-BE49-F238E27FC236}">
                                <a16:creationId xmlns:a16="http://schemas.microsoft.com/office/drawing/2014/main" id="{20901837-5FFC-4954-9588-C50AEBD00732}"/>
                              </a:ext>
                            </a:extLst>
                          </p:cNvPr>
                          <p:cNvSpPr/>
                          <p:nvPr/>
                        </p:nvSpPr>
                        <p:spPr>
                          <a:xfrm flipV="1">
                            <a:off x="0" y="0"/>
                            <a:ext cx="45085" cy="45085"/>
                          </a:xfrm>
                          <a:prstGeom prst="ellipse">
                            <a:avLst/>
                          </a:prstGeom>
                          <a:solidFill>
                            <a:schemeClr val="bg2"/>
                          </a:solidFill>
                          <a:ln w="63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81" name="橢圓 80">
                            <a:extLst>
                              <a:ext uri="{FF2B5EF4-FFF2-40B4-BE49-F238E27FC236}">
                                <a16:creationId xmlns:a16="http://schemas.microsoft.com/office/drawing/2014/main" id="{6E84D6A9-7EFD-4B5D-BDE2-62E89815F427}"/>
                              </a:ext>
                            </a:extLst>
                          </p:cNvPr>
                          <p:cNvSpPr/>
                          <p:nvPr/>
                        </p:nvSpPr>
                        <p:spPr>
                          <a:xfrm flipV="1">
                            <a:off x="736169" y="0"/>
                            <a:ext cx="45085" cy="45085"/>
                          </a:xfrm>
                          <a:prstGeom prst="ellipse">
                            <a:avLst/>
                          </a:prstGeom>
                          <a:solidFill>
                            <a:schemeClr val="bg2"/>
                          </a:solidFill>
                          <a:ln w="63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82" name="橢圓 81">
                            <a:extLst>
                              <a:ext uri="{FF2B5EF4-FFF2-40B4-BE49-F238E27FC236}">
                                <a16:creationId xmlns:a16="http://schemas.microsoft.com/office/drawing/2014/main" id="{7018C896-CE6C-46E7-9883-FEF4008B831E}"/>
                              </a:ext>
                            </a:extLst>
                          </p:cNvPr>
                          <p:cNvSpPr/>
                          <p:nvPr/>
                        </p:nvSpPr>
                        <p:spPr>
                          <a:xfrm flipV="1">
                            <a:off x="0" y="108488"/>
                            <a:ext cx="45085" cy="45085"/>
                          </a:xfrm>
                          <a:prstGeom prst="ellipse">
                            <a:avLst/>
                          </a:prstGeom>
                          <a:solidFill>
                            <a:schemeClr val="bg2"/>
                          </a:solidFill>
                          <a:ln w="63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83" name="橢圓 82">
                            <a:extLst>
                              <a:ext uri="{FF2B5EF4-FFF2-40B4-BE49-F238E27FC236}">
                                <a16:creationId xmlns:a16="http://schemas.microsoft.com/office/drawing/2014/main" id="{DD7DCBD9-6341-4385-A2AD-E7F419450918}"/>
                              </a:ext>
                            </a:extLst>
                          </p:cNvPr>
                          <p:cNvSpPr/>
                          <p:nvPr/>
                        </p:nvSpPr>
                        <p:spPr>
                          <a:xfrm flipV="1">
                            <a:off x="736169" y="108488"/>
                            <a:ext cx="45085" cy="45085"/>
                          </a:xfrm>
                          <a:prstGeom prst="ellipse">
                            <a:avLst/>
                          </a:prstGeom>
                          <a:solidFill>
                            <a:schemeClr val="bg2"/>
                          </a:solidFill>
                          <a:ln w="63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grpSp>
                    <p:nvGrpSpPr>
                      <p:cNvPr id="42" name="群組 41">
                        <a:extLst>
                          <a:ext uri="{FF2B5EF4-FFF2-40B4-BE49-F238E27FC236}">
                            <a16:creationId xmlns:a16="http://schemas.microsoft.com/office/drawing/2014/main" id="{D4407A69-5DE5-4F63-9E03-7863CADB7A52}"/>
                          </a:ext>
                        </a:extLst>
                      </p:cNvPr>
                      <p:cNvGrpSpPr/>
                      <p:nvPr/>
                    </p:nvGrpSpPr>
                    <p:grpSpPr>
                      <a:xfrm rot="1579723">
                        <a:off x="1475168" y="1673448"/>
                        <a:ext cx="611505" cy="621030"/>
                        <a:chOff x="9676" y="0"/>
                        <a:chExt cx="799168" cy="750485"/>
                      </a:xfrm>
                      <a:solidFill>
                        <a:schemeClr val="bg1"/>
                      </a:solidFill>
                    </p:grpSpPr>
                    <p:sp>
                      <p:nvSpPr>
                        <p:cNvPr id="76" name="橢圓 75">
                          <a:extLst>
                            <a:ext uri="{FF2B5EF4-FFF2-40B4-BE49-F238E27FC236}">
                              <a16:creationId xmlns:a16="http://schemas.microsoft.com/office/drawing/2014/main" id="{87AD32BA-405B-4336-84C1-3AD81BFB2B94}"/>
                            </a:ext>
                          </a:extLst>
                        </p:cNvPr>
                        <p:cNvSpPr/>
                        <p:nvPr/>
                      </p:nvSpPr>
                      <p:spPr>
                        <a:xfrm>
                          <a:off x="48381" y="0"/>
                          <a:ext cx="760463" cy="731132"/>
                        </a:xfrm>
                        <a:prstGeom prst="ellipse">
                          <a:avLst/>
                        </a:prstGeom>
                        <a:solidFill>
                          <a:schemeClr val="bg2">
                            <a:lumMod val="90000"/>
                          </a:schemeClr>
                        </a:solidFill>
                        <a:ln>
                          <a:solidFill>
                            <a:schemeClr val="tx1"/>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77" name="橢圓 76">
                          <a:extLst>
                            <a:ext uri="{FF2B5EF4-FFF2-40B4-BE49-F238E27FC236}">
                              <a16:creationId xmlns:a16="http://schemas.microsoft.com/office/drawing/2014/main" id="{6E07AD4F-5A03-4F08-866F-B386C280F276}"/>
                            </a:ext>
                          </a:extLst>
                        </p:cNvPr>
                        <p:cNvSpPr/>
                        <p:nvPr/>
                      </p:nvSpPr>
                      <p:spPr>
                        <a:xfrm>
                          <a:off x="9676" y="19353"/>
                          <a:ext cx="760463" cy="731132"/>
                        </a:xfrm>
                        <a:prstGeom prst="ellipse">
                          <a:avLst/>
                        </a:prstGeom>
                        <a:gradFill flip="none" rotWithShape="1">
                          <a:gsLst>
                            <a:gs pos="0">
                              <a:schemeClr val="accent1">
                                <a:lumMod val="0"/>
                                <a:lumOff val="100000"/>
                              </a:schemeClr>
                            </a:gs>
                            <a:gs pos="0">
                              <a:schemeClr val="accent1">
                                <a:lumMod val="0"/>
                                <a:lumOff val="100000"/>
                              </a:schemeClr>
                            </a:gs>
                            <a:gs pos="100000">
                              <a:schemeClr val="accent1">
                                <a:lumMod val="100000"/>
                              </a:schemeClr>
                            </a:gs>
                          </a:gsLst>
                          <a:path path="circle">
                            <a:fillToRect l="50000" t="50000" r="50000" b="50000"/>
                          </a:path>
                          <a:tileRect/>
                        </a:gradFill>
                        <a:ln>
                          <a:solidFill>
                            <a:schemeClr val="tx2">
                              <a:lumMod val="75000"/>
                            </a:schemeClr>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dirty="0"/>
                        </a:p>
                      </p:txBody>
                    </p:sp>
                  </p:grpSp>
                  <p:grpSp>
                    <p:nvGrpSpPr>
                      <p:cNvPr id="43" name="群組 42">
                        <a:extLst>
                          <a:ext uri="{FF2B5EF4-FFF2-40B4-BE49-F238E27FC236}">
                            <a16:creationId xmlns:a16="http://schemas.microsoft.com/office/drawing/2014/main" id="{7A673C96-FC2E-4739-84FD-7B5C0273AD7F}"/>
                          </a:ext>
                        </a:extLst>
                      </p:cNvPr>
                      <p:cNvGrpSpPr/>
                      <p:nvPr/>
                    </p:nvGrpSpPr>
                    <p:grpSpPr>
                      <a:xfrm>
                        <a:off x="1488048" y="327874"/>
                        <a:ext cx="4069876" cy="2026791"/>
                        <a:chOff x="1" y="0"/>
                        <a:chExt cx="4069876" cy="2026791"/>
                      </a:xfrm>
                    </p:grpSpPr>
                    <p:grpSp>
                      <p:nvGrpSpPr>
                        <p:cNvPr id="51" name="群組 50">
                          <a:extLst>
                            <a:ext uri="{FF2B5EF4-FFF2-40B4-BE49-F238E27FC236}">
                              <a16:creationId xmlns:a16="http://schemas.microsoft.com/office/drawing/2014/main" id="{B1D251ED-A5B9-4F53-BDBF-3372ADF08C22}"/>
                            </a:ext>
                          </a:extLst>
                        </p:cNvPr>
                        <p:cNvGrpSpPr/>
                        <p:nvPr/>
                      </p:nvGrpSpPr>
                      <p:grpSpPr>
                        <a:xfrm rot="20706789">
                          <a:off x="2157211" y="1429555"/>
                          <a:ext cx="342900" cy="480060"/>
                          <a:chOff x="3" y="0"/>
                          <a:chExt cx="615743" cy="605577"/>
                        </a:xfrm>
                      </p:grpSpPr>
                      <p:sp>
                        <p:nvSpPr>
                          <p:cNvPr id="74" name="橢圓 73">
                            <a:extLst>
                              <a:ext uri="{FF2B5EF4-FFF2-40B4-BE49-F238E27FC236}">
                                <a16:creationId xmlns:a16="http://schemas.microsoft.com/office/drawing/2014/main" id="{6B6215E0-A153-4F8F-87C5-738A84F2A7D5}"/>
                              </a:ext>
                            </a:extLst>
                          </p:cNvPr>
                          <p:cNvSpPr/>
                          <p:nvPr/>
                        </p:nvSpPr>
                        <p:spPr>
                          <a:xfrm rot="1579723">
                            <a:off x="33251" y="0"/>
                            <a:ext cx="582495" cy="605577"/>
                          </a:xfrm>
                          <a:prstGeom prst="ellipse">
                            <a:avLst/>
                          </a:prstGeom>
                          <a:solidFill>
                            <a:schemeClr val="tx1">
                              <a:lumMod val="65000"/>
                              <a:lumOff val="35000"/>
                            </a:schemeClr>
                          </a:solidFill>
                          <a:ln>
                            <a:solidFill>
                              <a:schemeClr val="tx1"/>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75" name="橢圓 74">
                            <a:extLst>
                              <a:ext uri="{FF2B5EF4-FFF2-40B4-BE49-F238E27FC236}">
                                <a16:creationId xmlns:a16="http://schemas.microsoft.com/office/drawing/2014/main" id="{2534F04B-9167-40B8-BCDE-6CB946508EB8}"/>
                              </a:ext>
                            </a:extLst>
                          </p:cNvPr>
                          <p:cNvSpPr/>
                          <p:nvPr/>
                        </p:nvSpPr>
                        <p:spPr>
                          <a:xfrm rot="1579723">
                            <a:off x="3" y="0"/>
                            <a:ext cx="582495" cy="605577"/>
                          </a:xfrm>
                          <a:prstGeom prst="ellipse">
                            <a:avLst/>
                          </a:prstGeom>
                          <a:solidFill>
                            <a:schemeClr val="bg1"/>
                          </a:solidFill>
                          <a:ln>
                            <a:solidFill>
                              <a:schemeClr val="tx2">
                                <a:lumMod val="75000"/>
                              </a:schemeClr>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52" name="群組 51">
                          <a:extLst>
                            <a:ext uri="{FF2B5EF4-FFF2-40B4-BE49-F238E27FC236}">
                              <a16:creationId xmlns:a16="http://schemas.microsoft.com/office/drawing/2014/main" id="{2473FEFD-0039-493B-90C8-24B90C6420DF}"/>
                            </a:ext>
                          </a:extLst>
                        </p:cNvPr>
                        <p:cNvGrpSpPr/>
                        <p:nvPr/>
                      </p:nvGrpSpPr>
                      <p:grpSpPr>
                        <a:xfrm>
                          <a:off x="1" y="0"/>
                          <a:ext cx="4069876" cy="2026791"/>
                          <a:chOff x="0" y="0"/>
                          <a:chExt cx="4070449" cy="2027349"/>
                        </a:xfrm>
                      </p:grpSpPr>
                      <p:grpSp>
                        <p:nvGrpSpPr>
                          <p:cNvPr id="53" name="群組 52">
                            <a:extLst>
                              <a:ext uri="{FF2B5EF4-FFF2-40B4-BE49-F238E27FC236}">
                                <a16:creationId xmlns:a16="http://schemas.microsoft.com/office/drawing/2014/main" id="{FAE60DB7-BBCF-4BD7-96D4-E3FBDF1D9077}"/>
                              </a:ext>
                            </a:extLst>
                          </p:cNvPr>
                          <p:cNvGrpSpPr/>
                          <p:nvPr/>
                        </p:nvGrpSpPr>
                        <p:grpSpPr>
                          <a:xfrm>
                            <a:off x="3396342" y="0"/>
                            <a:ext cx="612183" cy="621666"/>
                            <a:chOff x="9676" y="0"/>
                            <a:chExt cx="799168" cy="750485"/>
                          </a:xfrm>
                          <a:solidFill>
                            <a:schemeClr val="bg1"/>
                          </a:solidFill>
                        </p:grpSpPr>
                        <p:sp>
                          <p:nvSpPr>
                            <p:cNvPr id="72" name="橢圓 71">
                              <a:extLst>
                                <a:ext uri="{FF2B5EF4-FFF2-40B4-BE49-F238E27FC236}">
                                  <a16:creationId xmlns:a16="http://schemas.microsoft.com/office/drawing/2014/main" id="{89029F9C-49AC-4926-BD18-B400D5FE78B4}"/>
                                </a:ext>
                              </a:extLst>
                            </p:cNvPr>
                            <p:cNvSpPr/>
                            <p:nvPr/>
                          </p:nvSpPr>
                          <p:spPr>
                            <a:xfrm>
                              <a:off x="48381" y="0"/>
                              <a:ext cx="760463" cy="731132"/>
                            </a:xfrm>
                            <a:prstGeom prst="ellipse">
                              <a:avLst/>
                            </a:prstGeom>
                            <a:solidFill>
                              <a:schemeClr val="bg2">
                                <a:lumMod val="90000"/>
                              </a:schemeClr>
                            </a:solidFill>
                            <a:ln>
                              <a:solidFill>
                                <a:schemeClr val="tx1"/>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73" name="橢圓 72">
                              <a:extLst>
                                <a:ext uri="{FF2B5EF4-FFF2-40B4-BE49-F238E27FC236}">
                                  <a16:creationId xmlns:a16="http://schemas.microsoft.com/office/drawing/2014/main" id="{A5D7F7B0-64F7-4510-9D75-6C6A674A23C0}"/>
                                </a:ext>
                              </a:extLst>
                            </p:cNvPr>
                            <p:cNvSpPr/>
                            <p:nvPr/>
                          </p:nvSpPr>
                          <p:spPr>
                            <a:xfrm>
                              <a:off x="9676" y="19353"/>
                              <a:ext cx="760463" cy="731132"/>
                            </a:xfrm>
                            <a:prstGeom prst="ellipse">
                              <a:avLst/>
                            </a:prstGeom>
                            <a:gradFill flip="none" rotWithShape="1">
                              <a:gsLst>
                                <a:gs pos="0">
                                  <a:srgbClr val="0070C0">
                                    <a:tint val="66000"/>
                                    <a:satMod val="160000"/>
                                  </a:srgbClr>
                                </a:gs>
                                <a:gs pos="50000">
                                  <a:srgbClr val="0070C0">
                                    <a:tint val="44500"/>
                                    <a:satMod val="160000"/>
                                  </a:srgbClr>
                                </a:gs>
                                <a:gs pos="100000">
                                  <a:srgbClr val="0070C0">
                                    <a:tint val="23500"/>
                                    <a:satMod val="160000"/>
                                  </a:srgbClr>
                                </a:gs>
                              </a:gsLst>
                              <a:lin ang="0" scaled="1"/>
                              <a:tileRect/>
                            </a:gradFill>
                            <a:ln>
                              <a:solidFill>
                                <a:schemeClr val="tx2">
                                  <a:lumMod val="75000"/>
                                </a:schemeClr>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54" name="矩形 53">
                            <a:extLst>
                              <a:ext uri="{FF2B5EF4-FFF2-40B4-BE49-F238E27FC236}">
                                <a16:creationId xmlns:a16="http://schemas.microsoft.com/office/drawing/2014/main" id="{DFB3C56C-7AD6-4ABD-BD02-722C823F5E84}"/>
                              </a:ext>
                            </a:extLst>
                          </p:cNvPr>
                          <p:cNvSpPr/>
                          <p:nvPr/>
                        </p:nvSpPr>
                        <p:spPr>
                          <a:xfrm rot="5400000">
                            <a:off x="2977047" y="880664"/>
                            <a:ext cx="1399943" cy="104161"/>
                          </a:xfrm>
                          <a:prstGeom prst="rect">
                            <a:avLst/>
                          </a:prstGeom>
                          <a:solidFill>
                            <a:srgbClr val="FF0000">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55" name="矩形 54">
                            <a:extLst>
                              <a:ext uri="{FF2B5EF4-FFF2-40B4-BE49-F238E27FC236}">
                                <a16:creationId xmlns:a16="http://schemas.microsoft.com/office/drawing/2014/main" id="{A232B312-1D59-4E40-8448-50ADDDD49F03}"/>
                              </a:ext>
                            </a:extLst>
                          </p:cNvPr>
                          <p:cNvSpPr/>
                          <p:nvPr/>
                        </p:nvSpPr>
                        <p:spPr>
                          <a:xfrm flipV="1">
                            <a:off x="3304228" y="1622386"/>
                            <a:ext cx="374015" cy="108311"/>
                          </a:xfrm>
                          <a:prstGeom prst="rect">
                            <a:avLst/>
                          </a:prstGeom>
                          <a:solidFill>
                            <a:srgbClr val="FF0000">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nvGrpSpPr>
                          <p:cNvPr id="56" name="群組 55">
                            <a:extLst>
                              <a:ext uri="{FF2B5EF4-FFF2-40B4-BE49-F238E27FC236}">
                                <a16:creationId xmlns:a16="http://schemas.microsoft.com/office/drawing/2014/main" id="{D440129F-223C-4963-8547-A5307999F471}"/>
                              </a:ext>
                            </a:extLst>
                          </p:cNvPr>
                          <p:cNvGrpSpPr/>
                          <p:nvPr/>
                        </p:nvGrpSpPr>
                        <p:grpSpPr>
                          <a:xfrm>
                            <a:off x="3420234" y="1383708"/>
                            <a:ext cx="650215" cy="643641"/>
                            <a:chOff x="33866" y="127084"/>
                            <a:chExt cx="803018" cy="758781"/>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grpSpPr>
                        <p:sp>
                          <p:nvSpPr>
                            <p:cNvPr id="70" name="橢圓 69">
                              <a:extLst>
                                <a:ext uri="{FF2B5EF4-FFF2-40B4-BE49-F238E27FC236}">
                                  <a16:creationId xmlns:a16="http://schemas.microsoft.com/office/drawing/2014/main" id="{B56C712C-828F-4C65-A1EF-B82943EF616C}"/>
                                </a:ext>
                              </a:extLst>
                            </p:cNvPr>
                            <p:cNvSpPr/>
                            <p:nvPr/>
                          </p:nvSpPr>
                          <p:spPr>
                            <a:xfrm>
                              <a:off x="33866" y="127084"/>
                              <a:ext cx="760463" cy="731132"/>
                            </a:xfrm>
                            <a:prstGeom prst="ellipse">
                              <a:avLst/>
                            </a:prstGeom>
                            <a:solidFill>
                              <a:schemeClr val="bg2">
                                <a:lumMod val="75000"/>
                              </a:schemeClr>
                            </a:solidFill>
                            <a:ln>
                              <a:solidFill>
                                <a:schemeClr val="bg2">
                                  <a:lumMod val="25000"/>
                                </a:schemeClr>
                              </a:solid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71" name="橢圓 70">
                              <a:extLst>
                                <a:ext uri="{FF2B5EF4-FFF2-40B4-BE49-F238E27FC236}">
                                  <a16:creationId xmlns:a16="http://schemas.microsoft.com/office/drawing/2014/main" id="{648C06C2-D3D6-448C-8DB9-5A9DB1B62415}"/>
                                </a:ext>
                              </a:extLst>
                            </p:cNvPr>
                            <p:cNvSpPr/>
                            <p:nvPr/>
                          </p:nvSpPr>
                          <p:spPr>
                            <a:xfrm>
                              <a:off x="76421" y="154733"/>
                              <a:ext cx="760463" cy="731132"/>
                            </a:xfrm>
                            <a:prstGeom prst="ellipse">
                              <a:avLst/>
                            </a:prstGeom>
                            <a:grpFill/>
                            <a:ln>
                              <a:solidFill>
                                <a:schemeClr val="tx2">
                                  <a:lumMod val="75000"/>
                                </a:schemeClr>
                              </a:solid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57" name="群組 56">
                            <a:extLst>
                              <a:ext uri="{FF2B5EF4-FFF2-40B4-BE49-F238E27FC236}">
                                <a16:creationId xmlns:a16="http://schemas.microsoft.com/office/drawing/2014/main" id="{2EE12BA5-E9E2-4C77-9894-3D87A909A594}"/>
                              </a:ext>
                            </a:extLst>
                          </p:cNvPr>
                          <p:cNvGrpSpPr/>
                          <p:nvPr/>
                        </p:nvGrpSpPr>
                        <p:grpSpPr>
                          <a:xfrm>
                            <a:off x="3283366" y="1494137"/>
                            <a:ext cx="85344" cy="348488"/>
                            <a:chOff x="0" y="207352"/>
                            <a:chExt cx="443823" cy="428284"/>
                          </a:xfrm>
                        </p:grpSpPr>
                        <p:sp>
                          <p:nvSpPr>
                            <p:cNvPr id="68" name="橢圓 67">
                              <a:extLst>
                                <a:ext uri="{FF2B5EF4-FFF2-40B4-BE49-F238E27FC236}">
                                  <a16:creationId xmlns:a16="http://schemas.microsoft.com/office/drawing/2014/main" id="{95698BF7-B53C-4FB7-A47D-BB312A026D58}"/>
                                </a:ext>
                              </a:extLst>
                            </p:cNvPr>
                            <p:cNvSpPr/>
                            <p:nvPr/>
                          </p:nvSpPr>
                          <p:spPr>
                            <a:xfrm>
                              <a:off x="0" y="207352"/>
                              <a:ext cx="443823" cy="42828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69" name="橢圓 68">
                              <a:extLst>
                                <a:ext uri="{FF2B5EF4-FFF2-40B4-BE49-F238E27FC236}">
                                  <a16:creationId xmlns:a16="http://schemas.microsoft.com/office/drawing/2014/main" id="{6BB88D9C-5531-4B4B-96A4-A95FFC511C7F}"/>
                                </a:ext>
                              </a:extLst>
                            </p:cNvPr>
                            <p:cNvSpPr/>
                            <p:nvPr/>
                          </p:nvSpPr>
                          <p:spPr>
                            <a:xfrm flipH="1">
                              <a:off x="149343" y="390546"/>
                              <a:ext cx="92298" cy="7938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58" name="矩形 57">
                            <a:extLst>
                              <a:ext uri="{FF2B5EF4-FFF2-40B4-BE49-F238E27FC236}">
                                <a16:creationId xmlns:a16="http://schemas.microsoft.com/office/drawing/2014/main" id="{686C861D-A81A-4845-BFBF-83FF28FBF420}"/>
                              </a:ext>
                            </a:extLst>
                          </p:cNvPr>
                          <p:cNvSpPr/>
                          <p:nvPr/>
                        </p:nvSpPr>
                        <p:spPr>
                          <a:xfrm flipV="1">
                            <a:off x="2827932" y="1635357"/>
                            <a:ext cx="507365" cy="69215"/>
                          </a:xfrm>
                          <a:prstGeom prst="rect">
                            <a:avLst/>
                          </a:prstGeom>
                          <a:solidFill>
                            <a:srgbClr val="FF0000">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nvGrpSpPr>
                          <p:cNvPr id="59" name="群組 58">
                            <a:extLst>
                              <a:ext uri="{FF2B5EF4-FFF2-40B4-BE49-F238E27FC236}">
                                <a16:creationId xmlns:a16="http://schemas.microsoft.com/office/drawing/2014/main" id="{A3055866-618C-4AB0-B5A6-99BC47396F90}"/>
                              </a:ext>
                            </a:extLst>
                          </p:cNvPr>
                          <p:cNvGrpSpPr/>
                          <p:nvPr/>
                        </p:nvGrpSpPr>
                        <p:grpSpPr>
                          <a:xfrm>
                            <a:off x="0" y="233748"/>
                            <a:ext cx="3625215" cy="1578835"/>
                            <a:chOff x="0" y="0"/>
                            <a:chExt cx="3625215" cy="1578835"/>
                          </a:xfrm>
                        </p:grpSpPr>
                        <p:sp>
                          <p:nvSpPr>
                            <p:cNvPr id="60" name="矩形 59">
                              <a:extLst>
                                <a:ext uri="{FF2B5EF4-FFF2-40B4-BE49-F238E27FC236}">
                                  <a16:creationId xmlns:a16="http://schemas.microsoft.com/office/drawing/2014/main" id="{08FF0419-28C4-4029-9138-A3E7527AB23F}"/>
                                </a:ext>
                              </a:extLst>
                            </p:cNvPr>
                            <p:cNvSpPr/>
                            <p:nvPr/>
                          </p:nvSpPr>
                          <p:spPr>
                            <a:xfrm>
                              <a:off x="0" y="0"/>
                              <a:ext cx="3625215" cy="113372"/>
                            </a:xfrm>
                            <a:prstGeom prst="rect">
                              <a:avLst/>
                            </a:prstGeom>
                            <a:solidFill>
                              <a:srgbClr val="FF0000">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endParaRPr lang="zh-TW" sz="1200" kern="100" dirty="0">
                                <a:effectLst/>
                                <a:ea typeface="新細明體" panose="02020500000000000000" pitchFamily="18" charset="-120"/>
                                <a:cs typeface="Times New Roman" panose="02020603050405020304" pitchFamily="18" charset="0"/>
                              </a:endParaRPr>
                            </a:p>
                          </p:txBody>
                        </p:sp>
                        <p:grpSp>
                          <p:nvGrpSpPr>
                            <p:cNvPr id="61" name="群組 60">
                              <a:extLst>
                                <a:ext uri="{FF2B5EF4-FFF2-40B4-BE49-F238E27FC236}">
                                  <a16:creationId xmlns:a16="http://schemas.microsoft.com/office/drawing/2014/main" id="{EA83C352-D024-4289-ABE1-791051668999}"/>
                                </a:ext>
                              </a:extLst>
                            </p:cNvPr>
                            <p:cNvGrpSpPr/>
                            <p:nvPr/>
                          </p:nvGrpSpPr>
                          <p:grpSpPr>
                            <a:xfrm>
                              <a:off x="2495227" y="1270861"/>
                              <a:ext cx="706120" cy="307974"/>
                              <a:chOff x="0" y="0"/>
                              <a:chExt cx="1418175" cy="797560"/>
                            </a:xfrm>
                          </p:grpSpPr>
                          <p:sp>
                            <p:nvSpPr>
                              <p:cNvPr id="64" name="流程圖: 磁碟 63">
                                <a:extLst>
                                  <a:ext uri="{FF2B5EF4-FFF2-40B4-BE49-F238E27FC236}">
                                    <a16:creationId xmlns:a16="http://schemas.microsoft.com/office/drawing/2014/main" id="{C510A356-53B3-4493-970F-4FC99E54B1C7}"/>
                                  </a:ext>
                                </a:extLst>
                              </p:cNvPr>
                              <p:cNvSpPr/>
                              <p:nvPr/>
                            </p:nvSpPr>
                            <p:spPr>
                              <a:xfrm rot="16200000">
                                <a:off x="993042" y="248748"/>
                                <a:ext cx="498475" cy="351790"/>
                              </a:xfrm>
                              <a:prstGeom prst="flowChartMagneticDisk">
                                <a:avLst/>
                              </a:prstGeom>
                              <a:solidFill>
                                <a:schemeClr val="tx1">
                                  <a:lumMod val="85000"/>
                                  <a:lumOff val="1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US" sz="1200" kern="100">
                                    <a:effectLst/>
                                    <a:ea typeface="新細明體" panose="02020500000000000000" pitchFamily="18" charset="-120"/>
                                    <a:cs typeface="Times New Roman" panose="02020603050405020304" pitchFamily="18" charset="0"/>
                                  </a:rPr>
                                  <a:t> </a:t>
                                </a:r>
                                <a:endParaRPr lang="zh-TW" sz="1200" kern="100">
                                  <a:effectLst/>
                                  <a:ea typeface="新細明體" panose="02020500000000000000" pitchFamily="18" charset="-120"/>
                                  <a:cs typeface="Times New Roman" panose="02020603050405020304" pitchFamily="18" charset="0"/>
                                </a:endParaRPr>
                              </a:p>
                            </p:txBody>
                          </p:sp>
                          <p:sp>
                            <p:nvSpPr>
                              <p:cNvPr id="65" name="流程圖: 磁碟 64">
                                <a:extLst>
                                  <a:ext uri="{FF2B5EF4-FFF2-40B4-BE49-F238E27FC236}">
                                    <a16:creationId xmlns:a16="http://schemas.microsoft.com/office/drawing/2014/main" id="{A0C7652F-7E9D-4B28-9B09-AFC3BDA98CE0}"/>
                                  </a:ext>
                                </a:extLst>
                              </p:cNvPr>
                              <p:cNvSpPr/>
                              <p:nvPr/>
                            </p:nvSpPr>
                            <p:spPr>
                              <a:xfrm rot="16200000">
                                <a:off x="287137" y="-206963"/>
                                <a:ext cx="797560" cy="1211485"/>
                              </a:xfrm>
                              <a:prstGeom prst="flowChartMagneticDisk">
                                <a:avLst/>
                              </a:prstGeom>
                              <a:solidFill>
                                <a:schemeClr val="bg2">
                                  <a:lumMod val="2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66" name="流程圖: 磁碟 65">
                                <a:extLst>
                                  <a:ext uri="{FF2B5EF4-FFF2-40B4-BE49-F238E27FC236}">
                                    <a16:creationId xmlns:a16="http://schemas.microsoft.com/office/drawing/2014/main" id="{E1D4A4E5-9F2A-462E-A514-436A6052BB77}"/>
                                  </a:ext>
                                </a:extLst>
                              </p:cNvPr>
                              <p:cNvSpPr/>
                              <p:nvPr/>
                            </p:nvSpPr>
                            <p:spPr>
                              <a:xfrm rot="16200000">
                                <a:off x="-73263" y="221942"/>
                                <a:ext cx="498732" cy="352206"/>
                              </a:xfrm>
                              <a:prstGeom prst="flowChartMagneticDisk">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US" sz="1200" kern="100">
                                    <a:effectLst/>
                                    <a:ea typeface="新細明體" panose="02020500000000000000" pitchFamily="18" charset="-120"/>
                                    <a:cs typeface="Times New Roman" panose="02020603050405020304" pitchFamily="18" charset="0"/>
                                  </a:rPr>
                                  <a:t> </a:t>
                                </a:r>
                                <a:endParaRPr lang="zh-TW" sz="1200" kern="100">
                                  <a:effectLst/>
                                  <a:ea typeface="新細明體" panose="02020500000000000000" pitchFamily="18" charset="-120"/>
                                  <a:cs typeface="Times New Roman" panose="02020603050405020304" pitchFamily="18" charset="0"/>
                                </a:endParaRPr>
                              </a:p>
                            </p:txBody>
                          </p:sp>
                          <p:sp>
                            <p:nvSpPr>
                              <p:cNvPr id="67" name="橢圓 66">
                                <a:extLst>
                                  <a:ext uri="{FF2B5EF4-FFF2-40B4-BE49-F238E27FC236}">
                                    <a16:creationId xmlns:a16="http://schemas.microsoft.com/office/drawing/2014/main" id="{EF62BD0A-6E62-4046-BC99-9AE4DA4FD428}"/>
                                  </a:ext>
                                </a:extLst>
                              </p:cNvPr>
                              <p:cNvSpPr/>
                              <p:nvPr/>
                            </p:nvSpPr>
                            <p:spPr>
                              <a:xfrm>
                                <a:off x="17801" y="265349"/>
                                <a:ext cx="45719" cy="273803"/>
                              </a:xfrm>
                              <a:prstGeom prst="ellipse">
                                <a:avLst/>
                              </a:prstGeom>
                              <a:solidFill>
                                <a:schemeClr val="tx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sp>
                          <p:nvSpPr>
                            <p:cNvPr id="62" name="矩形 61">
                              <a:extLst>
                                <a:ext uri="{FF2B5EF4-FFF2-40B4-BE49-F238E27FC236}">
                                  <a16:creationId xmlns:a16="http://schemas.microsoft.com/office/drawing/2014/main" id="{49A10793-CAC7-4141-90FC-F9C8CE0F5417}"/>
                                </a:ext>
                              </a:extLst>
                            </p:cNvPr>
                            <p:cNvSpPr/>
                            <p:nvPr/>
                          </p:nvSpPr>
                          <p:spPr>
                            <a:xfrm flipV="1">
                              <a:off x="1209039" y="1402597"/>
                              <a:ext cx="1308404" cy="61595"/>
                            </a:xfrm>
                            <a:prstGeom prst="rect">
                              <a:avLst/>
                            </a:prstGeom>
                            <a:solidFill>
                              <a:srgbClr val="FF0000">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63" name="梯形 62">
                              <a:extLst>
                                <a:ext uri="{FF2B5EF4-FFF2-40B4-BE49-F238E27FC236}">
                                  <a16:creationId xmlns:a16="http://schemas.microsoft.com/office/drawing/2014/main" id="{5AF19605-2789-4EBD-AB7F-CFFC4E19F0E5}"/>
                                </a:ext>
                              </a:extLst>
                            </p:cNvPr>
                            <p:cNvSpPr/>
                            <p:nvPr/>
                          </p:nvSpPr>
                          <p:spPr>
                            <a:xfrm rot="16200000" flipH="1">
                              <a:off x="654144" y="909657"/>
                              <a:ext cx="61955" cy="1047836"/>
                            </a:xfrm>
                            <a:prstGeom prst="trapezoid">
                              <a:avLst/>
                            </a:prstGeom>
                            <a:solidFill>
                              <a:srgbClr val="FF0000">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grpSp>
                  <p:grpSp>
                    <p:nvGrpSpPr>
                      <p:cNvPr id="44" name="群組 43">
                        <a:extLst>
                          <a:ext uri="{FF2B5EF4-FFF2-40B4-BE49-F238E27FC236}">
                            <a16:creationId xmlns:a16="http://schemas.microsoft.com/office/drawing/2014/main" id="{8182427B-804C-41BB-A37F-217545E5097D}"/>
                          </a:ext>
                        </a:extLst>
                      </p:cNvPr>
                      <p:cNvGrpSpPr/>
                      <p:nvPr/>
                    </p:nvGrpSpPr>
                    <p:grpSpPr>
                      <a:xfrm>
                        <a:off x="476519" y="1860997"/>
                        <a:ext cx="1190625" cy="186690"/>
                        <a:chOff x="0" y="0"/>
                        <a:chExt cx="1191100" cy="186927"/>
                      </a:xfrm>
                    </p:grpSpPr>
                    <p:grpSp>
                      <p:nvGrpSpPr>
                        <p:cNvPr id="45" name="群組 44">
                          <a:extLst>
                            <a:ext uri="{FF2B5EF4-FFF2-40B4-BE49-F238E27FC236}">
                              <a16:creationId xmlns:a16="http://schemas.microsoft.com/office/drawing/2014/main" id="{CD56D525-31A9-4441-AB72-F7250AA4D2BC}"/>
                            </a:ext>
                          </a:extLst>
                        </p:cNvPr>
                        <p:cNvGrpSpPr/>
                        <p:nvPr/>
                      </p:nvGrpSpPr>
                      <p:grpSpPr>
                        <a:xfrm>
                          <a:off x="0" y="0"/>
                          <a:ext cx="1191100" cy="186927"/>
                          <a:chOff x="-3519" y="-22295"/>
                          <a:chExt cx="1153866" cy="186927"/>
                        </a:xfrm>
                      </p:grpSpPr>
                      <p:sp>
                        <p:nvSpPr>
                          <p:cNvPr id="47" name="矩形 46">
                            <a:extLst>
                              <a:ext uri="{FF2B5EF4-FFF2-40B4-BE49-F238E27FC236}">
                                <a16:creationId xmlns:a16="http://schemas.microsoft.com/office/drawing/2014/main" id="{896E9831-24CE-4678-BEE6-C85CB27D4150}"/>
                              </a:ext>
                            </a:extLst>
                          </p:cNvPr>
                          <p:cNvSpPr/>
                          <p:nvPr/>
                        </p:nvSpPr>
                        <p:spPr>
                          <a:xfrm>
                            <a:off x="81891" y="97122"/>
                            <a:ext cx="1051324" cy="67477"/>
                          </a:xfrm>
                          <a:prstGeom prst="rect">
                            <a:avLst/>
                          </a:prstGeom>
                          <a:gradFill>
                            <a:gsLst>
                              <a:gs pos="0">
                                <a:schemeClr val="accent3">
                                  <a:lumMod val="0"/>
                                  <a:lumOff val="100000"/>
                                </a:schemeClr>
                              </a:gs>
                              <a:gs pos="12000">
                                <a:schemeClr val="accent3">
                                  <a:lumMod val="0"/>
                                  <a:lumOff val="100000"/>
                                </a:schemeClr>
                              </a:gs>
                              <a:gs pos="100000">
                                <a:schemeClr val="accent3">
                                  <a:lumMod val="100000"/>
                                </a:schemeClr>
                              </a:gs>
                            </a:gsLst>
                            <a:path path="circle">
                              <a:fillToRect l="50000" t="-80000" r="50000" b="180000"/>
                            </a:path>
                          </a:gradFill>
                          <a:ln w="31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nvGrpSpPr>
                          <p:cNvPr id="48" name="群組 47">
                            <a:extLst>
                              <a:ext uri="{FF2B5EF4-FFF2-40B4-BE49-F238E27FC236}">
                                <a16:creationId xmlns:a16="http://schemas.microsoft.com/office/drawing/2014/main" id="{C96857C4-BD61-4C8D-97C2-FED083CF2FB1}"/>
                              </a:ext>
                            </a:extLst>
                          </p:cNvPr>
                          <p:cNvGrpSpPr/>
                          <p:nvPr/>
                        </p:nvGrpSpPr>
                        <p:grpSpPr>
                          <a:xfrm>
                            <a:off x="-3519" y="-22295"/>
                            <a:ext cx="1153866" cy="186927"/>
                            <a:chOff x="-3519" y="-22295"/>
                            <a:chExt cx="1153866" cy="186927"/>
                          </a:xfrm>
                        </p:grpSpPr>
                        <p:sp>
                          <p:nvSpPr>
                            <p:cNvPr id="49" name="矩形 48">
                              <a:extLst>
                                <a:ext uri="{FF2B5EF4-FFF2-40B4-BE49-F238E27FC236}">
                                  <a16:creationId xmlns:a16="http://schemas.microsoft.com/office/drawing/2014/main" id="{6FE07EF0-2D68-4957-8BDF-AB603844EF07}"/>
                                </a:ext>
                              </a:extLst>
                            </p:cNvPr>
                            <p:cNvSpPr/>
                            <p:nvPr/>
                          </p:nvSpPr>
                          <p:spPr>
                            <a:xfrm rot="514688">
                              <a:off x="-3519" y="-22295"/>
                              <a:ext cx="1153866" cy="177108"/>
                            </a:xfrm>
                            <a:prstGeom prst="rect">
                              <a:avLst/>
                            </a:prstGeom>
                            <a:pattFill prst="narVert">
                              <a:fgClr>
                                <a:schemeClr val="bg2">
                                  <a:lumMod val="75000"/>
                                </a:schemeClr>
                              </a:fgClr>
                              <a:bgClr>
                                <a:schemeClr val="bg1"/>
                              </a:bgClr>
                            </a:pattFill>
                            <a:ln w="3175">
                              <a:solidFill>
                                <a:schemeClr val="accent1">
                                  <a:lumMod val="75000"/>
                                </a:schemeClr>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50" name="平行四邊形 49">
                              <a:extLst>
                                <a:ext uri="{FF2B5EF4-FFF2-40B4-BE49-F238E27FC236}">
                                  <a16:creationId xmlns:a16="http://schemas.microsoft.com/office/drawing/2014/main" id="{FA14FBCC-9CEF-4765-9352-9D5E8AD8494B}"/>
                                </a:ext>
                              </a:extLst>
                            </p:cNvPr>
                            <p:cNvSpPr/>
                            <p:nvPr/>
                          </p:nvSpPr>
                          <p:spPr>
                            <a:xfrm rot="16200000">
                              <a:off x="-16719" y="67647"/>
                              <a:ext cx="127103" cy="66868"/>
                            </a:xfrm>
                            <a:prstGeom prst="parallelogram">
                              <a:avLst>
                                <a:gd name="adj" fmla="val 85204"/>
                              </a:avLst>
                            </a:prstGeom>
                            <a:gradFill flip="none" rotWithShape="1">
                              <a:gsLst>
                                <a:gs pos="46000">
                                  <a:srgbClr val="0070C0"/>
                                </a:gs>
                                <a:gs pos="27000">
                                  <a:srgbClr val="002060"/>
                                </a:gs>
                                <a:gs pos="84000">
                                  <a:srgbClr val="00B0F0"/>
                                </a:gs>
                                <a:gs pos="0">
                                  <a:srgbClr val="7030A0"/>
                                </a:gs>
                              </a:gsLst>
                              <a:path path="circle">
                                <a:fillToRect l="100000" t="100000"/>
                              </a:path>
                              <a:tileRect r="-100000" b="-100000"/>
                            </a:gradFill>
                            <a:ln w="31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sp>
                      <p:nvSpPr>
                        <p:cNvPr id="46" name="矩形 45">
                          <a:extLst>
                            <a:ext uri="{FF2B5EF4-FFF2-40B4-BE49-F238E27FC236}">
                              <a16:creationId xmlns:a16="http://schemas.microsoft.com/office/drawing/2014/main" id="{13ADAFC5-2EB0-4656-9B3E-4C73D8A33579}"/>
                            </a:ext>
                          </a:extLst>
                        </p:cNvPr>
                        <p:cNvSpPr/>
                        <p:nvPr/>
                      </p:nvSpPr>
                      <p:spPr>
                        <a:xfrm rot="514688">
                          <a:off x="0" y="0"/>
                          <a:ext cx="1190625" cy="176883"/>
                        </a:xfrm>
                        <a:prstGeom prst="rect">
                          <a:avLst/>
                        </a:prstGeom>
                        <a:gradFill flip="none" rotWithShape="1">
                          <a:gsLst>
                            <a:gs pos="0">
                              <a:srgbClr val="FF0000">
                                <a:alpha val="25000"/>
                              </a:srgbClr>
                            </a:gs>
                            <a:gs pos="19000">
                              <a:srgbClr val="FFC000">
                                <a:alpha val="25000"/>
                              </a:srgbClr>
                            </a:gs>
                            <a:gs pos="39000">
                              <a:srgbClr val="FFFF00">
                                <a:alpha val="25000"/>
                              </a:srgbClr>
                            </a:gs>
                            <a:gs pos="82000">
                              <a:srgbClr val="0070C0">
                                <a:alpha val="25000"/>
                              </a:srgbClr>
                            </a:gs>
                            <a:gs pos="96000">
                              <a:srgbClr val="7030A0">
                                <a:alpha val="25000"/>
                              </a:srgbClr>
                            </a:gs>
                            <a:gs pos="71000">
                              <a:srgbClr val="00B0F0">
                                <a:alpha val="25000"/>
                              </a:srgbClr>
                            </a:gs>
                            <a:gs pos="54000">
                              <a:srgbClr val="00B050">
                                <a:alpha val="25000"/>
                              </a:srgbClr>
                            </a:gs>
                          </a:gsLst>
                          <a:lin ang="0" scaled="1"/>
                          <a:tileRect/>
                        </a:gradFill>
                        <a:ln w="3175">
                          <a:solidFill>
                            <a:schemeClr val="accent1">
                              <a:lumMod val="75000"/>
                            </a:schemeClr>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grpSp>
                  <p:nvGrpSpPr>
                    <p:cNvPr id="37" name="群組 36">
                      <a:extLst>
                        <a:ext uri="{FF2B5EF4-FFF2-40B4-BE49-F238E27FC236}">
                          <a16:creationId xmlns:a16="http://schemas.microsoft.com/office/drawing/2014/main" id="{48EFA6E2-D64F-4BC1-81F8-8AFE8420848E}"/>
                        </a:ext>
                      </a:extLst>
                    </p:cNvPr>
                    <p:cNvGrpSpPr/>
                    <p:nvPr/>
                  </p:nvGrpSpPr>
                  <p:grpSpPr>
                    <a:xfrm>
                      <a:off x="3369212" y="1850781"/>
                      <a:ext cx="283210" cy="294640"/>
                      <a:chOff x="-592850" y="47494"/>
                      <a:chExt cx="596604" cy="541000"/>
                    </a:xfrm>
                    <a:noFill/>
                  </p:grpSpPr>
                  <p:sp>
                    <p:nvSpPr>
                      <p:cNvPr id="38" name="立方體 37">
                        <a:extLst>
                          <a:ext uri="{FF2B5EF4-FFF2-40B4-BE49-F238E27FC236}">
                            <a16:creationId xmlns:a16="http://schemas.microsoft.com/office/drawing/2014/main" id="{38A07EC3-C402-48D9-8E66-90A65ACE3A9C}"/>
                          </a:ext>
                        </a:extLst>
                      </p:cNvPr>
                      <p:cNvSpPr/>
                      <p:nvPr/>
                    </p:nvSpPr>
                    <p:spPr>
                      <a:xfrm>
                        <a:off x="-589136" y="47494"/>
                        <a:ext cx="592890" cy="541000"/>
                      </a:xfrm>
                      <a:prstGeom prst="cube">
                        <a:avLst>
                          <a:gd name="adj" fmla="val 28479"/>
                        </a:avLst>
                      </a:prstGeom>
                      <a:grpFill/>
                      <a:ln>
                        <a:solidFill>
                          <a:schemeClr val="tx1"/>
                        </a:solidFill>
                      </a:ln>
                      <a:scene3d>
                        <a:camera prst="orthographicFront">
                          <a:rot lat="0" lon="10799977"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cxnSp>
                    <p:nvCxnSpPr>
                      <p:cNvPr id="39" name="直線接點 38">
                        <a:extLst>
                          <a:ext uri="{FF2B5EF4-FFF2-40B4-BE49-F238E27FC236}">
                            <a16:creationId xmlns:a16="http://schemas.microsoft.com/office/drawing/2014/main" id="{4EFB0FD8-6EB5-4976-84B8-E00697D949FD}"/>
                          </a:ext>
                        </a:extLst>
                      </p:cNvPr>
                      <p:cNvCxnSpPr/>
                      <p:nvPr/>
                    </p:nvCxnSpPr>
                    <p:spPr>
                      <a:xfrm>
                        <a:off x="-592850" y="49720"/>
                        <a:ext cx="592375" cy="153906"/>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22" name="群組 21">
                  <a:extLst>
                    <a:ext uri="{FF2B5EF4-FFF2-40B4-BE49-F238E27FC236}">
                      <a16:creationId xmlns:a16="http://schemas.microsoft.com/office/drawing/2014/main" id="{6334C05D-2849-443A-B697-D3D8872E41A5}"/>
                    </a:ext>
                  </a:extLst>
                </p:cNvPr>
                <p:cNvGrpSpPr/>
                <p:nvPr/>
              </p:nvGrpSpPr>
              <p:grpSpPr>
                <a:xfrm>
                  <a:off x="120278" y="184771"/>
                  <a:ext cx="5492148" cy="2315017"/>
                  <a:chOff x="-6331" y="114432"/>
                  <a:chExt cx="5492148" cy="2315017"/>
                </a:xfrm>
              </p:grpSpPr>
              <p:sp>
                <p:nvSpPr>
                  <p:cNvPr id="23" name="文字方塊 34">
                    <a:extLst>
                      <a:ext uri="{FF2B5EF4-FFF2-40B4-BE49-F238E27FC236}">
                        <a16:creationId xmlns:a16="http://schemas.microsoft.com/office/drawing/2014/main" id="{B3DA0BB3-5E90-4D63-980A-86B492575C9B}"/>
                      </a:ext>
                    </a:extLst>
                  </p:cNvPr>
                  <p:cNvSpPr txBox="1"/>
                  <p:nvPr/>
                </p:nvSpPr>
                <p:spPr>
                  <a:xfrm>
                    <a:off x="4737963" y="197233"/>
                    <a:ext cx="646125" cy="531539"/>
                  </a:xfrm>
                  <a:prstGeom prst="rect">
                    <a:avLst/>
                  </a:prstGeom>
                  <a:noFill/>
                </p:spPr>
                <p:txBody>
                  <a:bodyPr wrap="square" rtlCol="0">
                    <a:noAutofit/>
                  </a:bodyPr>
                  <a:lstStyle/>
                  <a:p>
                    <a:pPr>
                      <a:spcAft>
                        <a:spcPts val="0"/>
                      </a:spcAft>
                    </a:pPr>
                    <a:r>
                      <a:rPr 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R1</a:t>
                    </a:r>
                    <a:endParaRPr lang="zh-TW" alt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24" name="文字方塊 34">
                    <a:extLst>
                      <a:ext uri="{FF2B5EF4-FFF2-40B4-BE49-F238E27FC236}">
                        <a16:creationId xmlns:a16="http://schemas.microsoft.com/office/drawing/2014/main" id="{F74AF6B0-7197-4A54-8EF1-09A12394CF0E}"/>
                      </a:ext>
                    </a:extLst>
                  </p:cNvPr>
                  <p:cNvSpPr txBox="1"/>
                  <p:nvPr/>
                </p:nvSpPr>
                <p:spPr>
                  <a:xfrm>
                    <a:off x="5133968" y="1485772"/>
                    <a:ext cx="351849" cy="280416"/>
                  </a:xfrm>
                  <a:prstGeom prst="rect">
                    <a:avLst/>
                  </a:prstGeom>
                  <a:noFill/>
                </p:spPr>
                <p:txBody>
                  <a:bodyPr wrap="square" rtlCol="0">
                    <a:noAutofit/>
                  </a:bodyPr>
                  <a:lstStyle/>
                  <a:p>
                    <a:pPr>
                      <a:spcAft>
                        <a:spcPts val="0"/>
                      </a:spcAft>
                    </a:pPr>
                    <a:r>
                      <a:rPr 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R2</a:t>
                    </a:r>
                    <a:endParaRPr lang="zh-TW" alt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25" name="文字方塊 34">
                    <a:extLst>
                      <a:ext uri="{FF2B5EF4-FFF2-40B4-BE49-F238E27FC236}">
                        <a16:creationId xmlns:a16="http://schemas.microsoft.com/office/drawing/2014/main" id="{F256C0EE-287E-41F1-BD92-C9F89438F7C7}"/>
                      </a:ext>
                    </a:extLst>
                  </p:cNvPr>
                  <p:cNvSpPr txBox="1"/>
                  <p:nvPr/>
                </p:nvSpPr>
                <p:spPr>
                  <a:xfrm>
                    <a:off x="4637890" y="1558936"/>
                    <a:ext cx="351849" cy="280416"/>
                  </a:xfrm>
                  <a:prstGeom prst="rect">
                    <a:avLst/>
                  </a:prstGeom>
                  <a:noFill/>
                </p:spPr>
                <p:txBody>
                  <a:bodyPr wrap="square" rtlCol="0">
                    <a:noAutofit/>
                  </a:bodyPr>
                  <a:lstStyle/>
                  <a:p>
                    <a:pPr>
                      <a:spcAft>
                        <a:spcPts val="0"/>
                      </a:spcAft>
                    </a:pPr>
                    <a:r>
                      <a:rPr 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Iris</a:t>
                    </a:r>
                    <a:endParaRPr lang="zh-TW" alt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26" name="文字方塊 57">
                    <a:extLst>
                      <a:ext uri="{FF2B5EF4-FFF2-40B4-BE49-F238E27FC236}">
                        <a16:creationId xmlns:a16="http://schemas.microsoft.com/office/drawing/2014/main" id="{D2492C87-A5D1-4EC1-A08E-A1D173F83C81}"/>
                      </a:ext>
                    </a:extLst>
                  </p:cNvPr>
                  <p:cNvSpPr txBox="1"/>
                  <p:nvPr/>
                </p:nvSpPr>
                <p:spPr>
                  <a:xfrm>
                    <a:off x="4061133" y="1583449"/>
                    <a:ext cx="603077" cy="309880"/>
                  </a:xfrm>
                  <a:prstGeom prst="rect">
                    <a:avLst/>
                  </a:prstGeom>
                  <a:noFill/>
                </p:spPr>
                <p:txBody>
                  <a:bodyPr wrap="square" rtlCol="0">
                    <a:noAutofit/>
                  </a:bodyPr>
                  <a:lstStyle/>
                  <a:p>
                    <a:pPr>
                      <a:spcAft>
                        <a:spcPts val="0"/>
                      </a:spcAft>
                    </a:pPr>
                    <a:r>
                      <a:rPr lang="en-US" sz="14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Isolator</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7" name="文字方塊 59">
                        <a:extLst>
                          <a:ext uri="{FF2B5EF4-FFF2-40B4-BE49-F238E27FC236}">
                            <a16:creationId xmlns:a16="http://schemas.microsoft.com/office/drawing/2014/main" id="{AEACAF8D-19E0-479F-9BFA-D167B2DE4844}"/>
                          </a:ext>
                        </a:extLst>
                      </p:cNvPr>
                      <p:cNvSpPr txBox="1"/>
                      <p:nvPr/>
                    </p:nvSpPr>
                    <p:spPr>
                      <a:xfrm>
                        <a:off x="3533800" y="2119385"/>
                        <a:ext cx="1054666" cy="310064"/>
                      </a:xfrm>
                      <a:prstGeom prst="rect">
                        <a:avLst/>
                      </a:prstGeom>
                      <a:noFill/>
                    </p:spPr>
                    <p:txBody>
                      <a:bodyPr wrap="square" rtlCol="0">
                        <a:noAutofit/>
                      </a:bodyPr>
                      <a:lstStyle/>
                      <a:p>
                        <a:pPr>
                          <a:spcAft>
                            <a:spcPts val="0"/>
                          </a:spcAft>
                        </a:pPr>
                        <a14:m>
                          <m:oMath xmlns:m="http://schemas.openxmlformats.org/officeDocument/2006/math">
                            <m:f>
                              <m:fPr>
                                <m:type m:val="lin"/>
                                <m:ctrlPr>
                                  <a:rPr lang="zh-TW" sz="1400" i="1">
                                    <a:solidFill>
                                      <a:srgbClr val="000000"/>
                                    </a:solidFill>
                                    <a:latin typeface="Cambria Math" panose="02040503050406030204" pitchFamily="18" charset="0"/>
                                    <a:ea typeface="新細明體" panose="02020500000000000000" pitchFamily="18" charset="-120"/>
                                    <a:cs typeface="Times New Roman" panose="02020603050405020304" pitchFamily="18" charset="0"/>
                                  </a:rPr>
                                </m:ctrlPr>
                              </m:fPr>
                              <m:num>
                                <m:r>
                                  <a:rPr lang="en-US" sz="1400">
                                    <a:solidFill>
                                      <a:srgbClr val="000000"/>
                                    </a:solidFill>
                                    <a:latin typeface="Cambria Math" panose="02040503050406030204" pitchFamily="18" charset="0"/>
                                    <a:ea typeface="新細明體" panose="02020500000000000000" pitchFamily="18" charset="-120"/>
                                    <a:cs typeface="Times New Roman" panose="02020603050405020304" pitchFamily="18" charset="0"/>
                                  </a:rPr>
                                  <m:t>𝜆</m:t>
                                </m:r>
                              </m:num>
                              <m:den>
                                <m:r>
                                  <a:rPr lang="en-US" sz="1400">
                                    <a:solidFill>
                                      <a:srgbClr val="000000"/>
                                    </a:solidFill>
                                    <a:latin typeface="Cambria Math" panose="02040503050406030204" pitchFamily="18" charset="0"/>
                                    <a:ea typeface="新細明體" panose="02020500000000000000" pitchFamily="18" charset="-120"/>
                                    <a:cs typeface="Times New Roman" panose="02020603050405020304" pitchFamily="18" charset="0"/>
                                  </a:rPr>
                                  <m:t>2</m:t>
                                </m:r>
                              </m:den>
                            </m:f>
                          </m:oMath>
                        </a14:m>
                        <a:r>
                          <a:rPr 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plate</a:t>
                        </a:r>
                        <a:endParaRPr lang="zh-TW"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endParaRPr>
                      </a:p>
                    </p:txBody>
                  </p:sp>
                </mc:Choice>
                <mc:Fallback xmlns="">
                  <p:sp>
                    <p:nvSpPr>
                      <p:cNvPr id="27" name="文字方塊 59">
                        <a:extLst>
                          <a:ext uri="{FF2B5EF4-FFF2-40B4-BE49-F238E27FC236}">
                            <a16:creationId xmlns:a16="http://schemas.microsoft.com/office/drawing/2014/main" id="{AEACAF8D-19E0-479F-9BFA-D167B2DE4844}"/>
                          </a:ext>
                        </a:extLst>
                      </p:cNvPr>
                      <p:cNvSpPr txBox="1">
                        <a:spLocks noRot="1" noChangeAspect="1" noMove="1" noResize="1" noEditPoints="1" noAdjustHandles="1" noChangeArrowheads="1" noChangeShapeType="1" noTextEdit="1"/>
                      </p:cNvSpPr>
                      <p:nvPr/>
                    </p:nvSpPr>
                    <p:spPr>
                      <a:xfrm>
                        <a:off x="3533800" y="2119385"/>
                        <a:ext cx="1054666" cy="310064"/>
                      </a:xfrm>
                      <a:prstGeom prst="rect">
                        <a:avLst/>
                      </a:prstGeom>
                      <a:blipFill>
                        <a:blip r:embed="rId2"/>
                        <a:stretch>
                          <a:fillRect l="-6494" t="-52222" b="-43333"/>
                        </a:stretch>
                      </a:blipFill>
                    </p:spPr>
                    <p:txBody>
                      <a:bodyPr/>
                      <a:lstStyle/>
                      <a:p>
                        <a:r>
                          <a:rPr lang="zh-TW" altLang="en-US">
                            <a:noFill/>
                          </a:rPr>
                          <a:t> </a:t>
                        </a:r>
                      </a:p>
                    </p:txBody>
                  </p:sp>
                </mc:Fallback>
              </mc:AlternateContent>
              <p:sp>
                <p:nvSpPr>
                  <p:cNvPr id="28" name="文字方塊 60">
                    <a:extLst>
                      <a:ext uri="{FF2B5EF4-FFF2-40B4-BE49-F238E27FC236}">
                        <a16:creationId xmlns:a16="http://schemas.microsoft.com/office/drawing/2014/main" id="{7E6648F1-5978-41DD-965C-4301EEEC5CBD}"/>
                      </a:ext>
                    </a:extLst>
                  </p:cNvPr>
                  <p:cNvSpPr txBox="1"/>
                  <p:nvPr/>
                </p:nvSpPr>
                <p:spPr>
                  <a:xfrm>
                    <a:off x="3288013" y="1599786"/>
                    <a:ext cx="568841" cy="309880"/>
                  </a:xfrm>
                  <a:prstGeom prst="rect">
                    <a:avLst/>
                  </a:prstGeom>
                  <a:noFill/>
                </p:spPr>
                <p:txBody>
                  <a:bodyPr wrap="square" rtlCol="0">
                    <a:noAutofit/>
                  </a:bodyPr>
                  <a:lstStyle/>
                  <a:p>
                    <a:r>
                      <a:rPr 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PBS</a:t>
                    </a:r>
                    <a:endParaRPr lang="zh-TW" alt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29" name="文字方塊 42">
                    <a:extLst>
                      <a:ext uri="{FF2B5EF4-FFF2-40B4-BE49-F238E27FC236}">
                        <a16:creationId xmlns:a16="http://schemas.microsoft.com/office/drawing/2014/main" id="{C93B9A07-F5E9-44DC-8FDE-5EBA591C0273}"/>
                      </a:ext>
                    </a:extLst>
                  </p:cNvPr>
                  <p:cNvSpPr txBox="1"/>
                  <p:nvPr/>
                </p:nvSpPr>
                <p:spPr>
                  <a:xfrm>
                    <a:off x="2421356" y="1346521"/>
                    <a:ext cx="1054666" cy="310064"/>
                  </a:xfrm>
                  <a:prstGeom prst="rect">
                    <a:avLst/>
                  </a:prstGeom>
                  <a:noFill/>
                </p:spPr>
                <p:txBody>
                  <a:bodyPr wrap="square" rtlCol="0">
                    <a:noAutofit/>
                  </a:bodyPr>
                  <a:lstStyle/>
                  <a:p>
                    <a:pPr>
                      <a:spcAft>
                        <a:spcPts val="0"/>
                      </a:spcAft>
                    </a:pPr>
                    <a:r>
                      <a:rPr 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f=250mm</a:t>
                    </a:r>
                    <a:endParaRPr lang="zh-TW" alt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30" name="文字方塊 30">
                    <a:extLst>
                      <a:ext uri="{FF2B5EF4-FFF2-40B4-BE49-F238E27FC236}">
                        <a16:creationId xmlns:a16="http://schemas.microsoft.com/office/drawing/2014/main" id="{E3C8E260-FEF4-40B0-8D66-4BB90BDED392}"/>
                      </a:ext>
                    </a:extLst>
                  </p:cNvPr>
                  <p:cNvSpPr txBox="1"/>
                  <p:nvPr/>
                </p:nvSpPr>
                <p:spPr>
                  <a:xfrm>
                    <a:off x="1601377" y="1428417"/>
                    <a:ext cx="504608" cy="310064"/>
                  </a:xfrm>
                  <a:prstGeom prst="rect">
                    <a:avLst/>
                  </a:prstGeom>
                  <a:noFill/>
                </p:spPr>
                <p:txBody>
                  <a:bodyPr wrap="square" rtlCol="0">
                    <a:noAutofit/>
                  </a:bodyPr>
                  <a:lstStyle/>
                  <a:p>
                    <a:pPr>
                      <a:spcAft>
                        <a:spcPts val="0"/>
                      </a:spcAft>
                    </a:pPr>
                    <a:r>
                      <a:rPr 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M1</a:t>
                    </a:r>
                    <a:endParaRPr lang="zh-TW" alt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31" name="文字方塊 30">
                    <a:extLst>
                      <a:ext uri="{FF2B5EF4-FFF2-40B4-BE49-F238E27FC236}">
                        <a16:creationId xmlns:a16="http://schemas.microsoft.com/office/drawing/2014/main" id="{61FD942E-E9C9-4347-B76D-9481B1161D57}"/>
                      </a:ext>
                    </a:extLst>
                  </p:cNvPr>
                  <p:cNvSpPr txBox="1"/>
                  <p:nvPr/>
                </p:nvSpPr>
                <p:spPr>
                  <a:xfrm>
                    <a:off x="59447" y="1410977"/>
                    <a:ext cx="504608" cy="310064"/>
                  </a:xfrm>
                  <a:prstGeom prst="rect">
                    <a:avLst/>
                  </a:prstGeom>
                  <a:noFill/>
                </p:spPr>
                <p:txBody>
                  <a:bodyPr wrap="square" rtlCol="0">
                    <a:noAutofit/>
                  </a:bodyPr>
                  <a:lstStyle/>
                  <a:p>
                    <a:pPr>
                      <a:spcAft>
                        <a:spcPts val="0"/>
                      </a:spcAft>
                    </a:pPr>
                    <a:r>
                      <a:rPr lang="en-US" sz="14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M2</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p:sp>
                <p:nvSpPr>
                  <p:cNvPr id="32" name="文字方塊 41">
                    <a:extLst>
                      <a:ext uri="{FF2B5EF4-FFF2-40B4-BE49-F238E27FC236}">
                        <a16:creationId xmlns:a16="http://schemas.microsoft.com/office/drawing/2014/main" id="{5BC30EC2-9C9C-4ECC-BDD6-86D2916721A5}"/>
                      </a:ext>
                    </a:extLst>
                  </p:cNvPr>
                  <p:cNvSpPr txBox="1"/>
                  <p:nvPr/>
                </p:nvSpPr>
                <p:spPr>
                  <a:xfrm>
                    <a:off x="545890" y="1941714"/>
                    <a:ext cx="1287194" cy="309880"/>
                  </a:xfrm>
                  <a:prstGeom prst="rect">
                    <a:avLst/>
                  </a:prstGeom>
                  <a:noFill/>
                </p:spPr>
                <p:txBody>
                  <a:bodyPr wrap="square" rtlCol="0">
                    <a:noAutofit/>
                  </a:bodyPr>
                  <a:lstStyle/>
                  <a:p>
                    <a:pPr>
                      <a:spcAft>
                        <a:spcPts val="0"/>
                      </a:spcAft>
                    </a:pPr>
                    <a:r>
                      <a:rPr lang="en-US" sz="1000" kern="1200" dirty="0">
                        <a:solidFill>
                          <a:srgbClr val="000000"/>
                        </a:solidFill>
                        <a:effectLst/>
                        <a:latin typeface="Calibri" panose="020F0502020204030204" pitchFamily="34" charset="0"/>
                        <a:ea typeface="新細明體" panose="02020500000000000000" pitchFamily="18" charset="-120"/>
                        <a:cs typeface="Times New Roman" panose="02020603050405020304" pitchFamily="18" charset="0"/>
                      </a:rPr>
                      <a:t>EO-OPO APPLN</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33" name="文字方塊 34">
                    <a:extLst>
                      <a:ext uri="{FF2B5EF4-FFF2-40B4-BE49-F238E27FC236}">
                        <a16:creationId xmlns:a16="http://schemas.microsoft.com/office/drawing/2014/main" id="{35AF94B6-B15A-4949-BC36-BE64B769D8B4}"/>
                      </a:ext>
                    </a:extLst>
                  </p:cNvPr>
                  <p:cNvSpPr txBox="1"/>
                  <p:nvPr/>
                </p:nvSpPr>
                <p:spPr>
                  <a:xfrm>
                    <a:off x="-6331" y="114432"/>
                    <a:ext cx="1681089" cy="231079"/>
                  </a:xfrm>
                  <a:prstGeom prst="rect">
                    <a:avLst/>
                  </a:prstGeom>
                  <a:noFill/>
                </p:spPr>
                <p:txBody>
                  <a:bodyPr wrap="square" rtlCol="0">
                    <a:noAutofit/>
                  </a:bodyPr>
                  <a:lstStyle/>
                  <a:p>
                    <a:pPr>
                      <a:spcAft>
                        <a:spcPts val="0"/>
                      </a:spcAft>
                    </a:pPr>
                    <a:r>
                      <a:rPr lang="en-US" sz="14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Q - switched 1064nm laser</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p:txBody>
              </p:sp>
            </p:grpSp>
          </p:grpSp>
          <p:sp>
            <p:nvSpPr>
              <p:cNvPr id="15" name="文字方塊 34">
                <a:extLst>
                  <a:ext uri="{FF2B5EF4-FFF2-40B4-BE49-F238E27FC236}">
                    <a16:creationId xmlns:a16="http://schemas.microsoft.com/office/drawing/2014/main" id="{921677F0-FDD3-4572-9814-514990D93CB3}"/>
                  </a:ext>
                </a:extLst>
              </p:cNvPr>
              <p:cNvSpPr txBox="1"/>
              <p:nvPr/>
            </p:nvSpPr>
            <p:spPr>
              <a:xfrm>
                <a:off x="807521" y="1516374"/>
                <a:ext cx="910338" cy="283512"/>
              </a:xfrm>
              <a:prstGeom prst="rect">
                <a:avLst/>
              </a:prstGeom>
              <a:noFill/>
            </p:spPr>
            <p:txBody>
              <a:bodyPr wrap="square" rtlCol="0">
                <a:noAutofit/>
              </a:bodyPr>
              <a:lstStyle/>
              <a:p>
                <a:r>
                  <a:rPr 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Power Supply</a:t>
                </a:r>
                <a:endParaRPr lang="zh-TW" altLang="en-US" sz="14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endParaRPr>
              </a:p>
            </p:txBody>
          </p:sp>
          <p:grpSp>
            <p:nvGrpSpPr>
              <p:cNvPr id="16" name="群組 15">
                <a:extLst>
                  <a:ext uri="{FF2B5EF4-FFF2-40B4-BE49-F238E27FC236}">
                    <a16:creationId xmlns:a16="http://schemas.microsoft.com/office/drawing/2014/main" id="{B5883A66-73F6-4480-AC7C-893AC1A05500}"/>
                  </a:ext>
                </a:extLst>
              </p:cNvPr>
              <p:cNvGrpSpPr/>
              <p:nvPr/>
            </p:nvGrpSpPr>
            <p:grpSpPr>
              <a:xfrm>
                <a:off x="833933" y="1477670"/>
                <a:ext cx="450215" cy="639445"/>
                <a:chOff x="-1890" y="-65592"/>
                <a:chExt cx="451069" cy="640090"/>
              </a:xfrm>
            </p:grpSpPr>
            <p:grpSp>
              <p:nvGrpSpPr>
                <p:cNvPr id="17" name="群組 16">
                  <a:extLst>
                    <a:ext uri="{FF2B5EF4-FFF2-40B4-BE49-F238E27FC236}">
                      <a16:creationId xmlns:a16="http://schemas.microsoft.com/office/drawing/2014/main" id="{1287EED0-38F2-4E0F-B01B-2819ED9E5049}"/>
                    </a:ext>
                  </a:extLst>
                </p:cNvPr>
                <p:cNvGrpSpPr/>
                <p:nvPr/>
              </p:nvGrpSpPr>
              <p:grpSpPr>
                <a:xfrm>
                  <a:off x="278063" y="160421"/>
                  <a:ext cx="171116" cy="414077"/>
                  <a:chOff x="0" y="0"/>
                  <a:chExt cx="171116" cy="414077"/>
                </a:xfrm>
              </p:grpSpPr>
              <p:cxnSp>
                <p:nvCxnSpPr>
                  <p:cNvPr id="19" name="直線接點 18">
                    <a:extLst>
                      <a:ext uri="{FF2B5EF4-FFF2-40B4-BE49-F238E27FC236}">
                        <a16:creationId xmlns:a16="http://schemas.microsoft.com/office/drawing/2014/main" id="{1D07D109-D492-43DA-8FB6-B77422664AF2}"/>
                      </a:ext>
                    </a:extLst>
                  </p:cNvPr>
                  <p:cNvCxnSpPr/>
                  <p:nvPr/>
                </p:nvCxnSpPr>
                <p:spPr>
                  <a:xfrm>
                    <a:off x="0" y="315495"/>
                    <a:ext cx="167806" cy="98010"/>
                  </a:xfrm>
                  <a:prstGeom prst="line">
                    <a:avLst/>
                  </a:prstGeom>
                </p:spPr>
                <p:style>
                  <a:lnRef idx="1">
                    <a:schemeClr val="dk1"/>
                  </a:lnRef>
                  <a:fillRef idx="0">
                    <a:schemeClr val="dk1"/>
                  </a:fillRef>
                  <a:effectRef idx="0">
                    <a:schemeClr val="dk1"/>
                  </a:effectRef>
                  <a:fontRef idx="minor">
                    <a:schemeClr val="tx1"/>
                  </a:fontRef>
                </p:style>
              </p:cxnSp>
              <p:cxnSp>
                <p:nvCxnSpPr>
                  <p:cNvPr id="20" name="直線接點 19">
                    <a:extLst>
                      <a:ext uri="{FF2B5EF4-FFF2-40B4-BE49-F238E27FC236}">
                        <a16:creationId xmlns:a16="http://schemas.microsoft.com/office/drawing/2014/main" id="{3A3A94BF-B035-4558-87FD-74285EE56BF5}"/>
                      </a:ext>
                    </a:extLst>
                  </p:cNvPr>
                  <p:cNvCxnSpPr/>
                  <p:nvPr/>
                </p:nvCxnSpPr>
                <p:spPr>
                  <a:xfrm flipV="1">
                    <a:off x="171116" y="0"/>
                    <a:ext cx="0" cy="414077"/>
                  </a:xfrm>
                  <a:prstGeom prst="line">
                    <a:avLst/>
                  </a:prstGeom>
                </p:spPr>
                <p:style>
                  <a:lnRef idx="1">
                    <a:schemeClr val="dk1"/>
                  </a:lnRef>
                  <a:fillRef idx="0">
                    <a:schemeClr val="dk1"/>
                  </a:fillRef>
                  <a:effectRef idx="0">
                    <a:schemeClr val="dk1"/>
                  </a:effectRef>
                  <a:fontRef idx="minor">
                    <a:schemeClr val="tx1"/>
                  </a:fontRef>
                </p:style>
              </p:cxnSp>
            </p:grpSp>
            <p:cxnSp>
              <p:nvCxnSpPr>
                <p:cNvPr id="18" name="直線接點 17">
                  <a:extLst>
                    <a:ext uri="{FF2B5EF4-FFF2-40B4-BE49-F238E27FC236}">
                      <a16:creationId xmlns:a16="http://schemas.microsoft.com/office/drawing/2014/main" id="{7DC39A0A-BBC7-49F8-83C5-F1CC2E3B1999}"/>
                    </a:ext>
                  </a:extLst>
                </p:cNvPr>
                <p:cNvCxnSpPr/>
                <p:nvPr/>
              </p:nvCxnSpPr>
              <p:spPr>
                <a:xfrm flipH="1" flipV="1">
                  <a:off x="-1890" y="-65592"/>
                  <a:ext cx="1890" cy="368135"/>
                </a:xfrm>
                <a:prstGeom prst="line">
                  <a:avLst/>
                </a:prstGeom>
              </p:spPr>
              <p:style>
                <a:lnRef idx="1">
                  <a:schemeClr val="dk1"/>
                </a:lnRef>
                <a:fillRef idx="0">
                  <a:schemeClr val="dk1"/>
                </a:fillRef>
                <a:effectRef idx="0">
                  <a:schemeClr val="dk1"/>
                </a:effectRef>
                <a:fontRef idx="minor">
                  <a:schemeClr val="tx1"/>
                </a:fontRef>
              </p:style>
            </p:cxnSp>
          </p:grpSp>
        </p:grpSp>
        <p:cxnSp>
          <p:nvCxnSpPr>
            <p:cNvPr id="12" name="直線接點 11">
              <a:extLst>
                <a:ext uri="{FF2B5EF4-FFF2-40B4-BE49-F238E27FC236}">
                  <a16:creationId xmlns:a16="http://schemas.microsoft.com/office/drawing/2014/main" id="{9BE5016A-D670-42E1-90D7-CDC89DF8BEA5}"/>
                </a:ext>
              </a:extLst>
            </p:cNvPr>
            <p:cNvCxnSpPr/>
            <p:nvPr/>
          </p:nvCxnSpPr>
          <p:spPr>
            <a:xfrm>
              <a:off x="1116330" y="1615440"/>
              <a:ext cx="171094" cy="90905"/>
            </a:xfrm>
            <a:prstGeom prst="line">
              <a:avLst/>
            </a:prstGeom>
          </p:spPr>
          <p:style>
            <a:lnRef idx="1">
              <a:schemeClr val="dk1"/>
            </a:lnRef>
            <a:fillRef idx="0">
              <a:schemeClr val="dk1"/>
            </a:fillRef>
            <a:effectRef idx="0">
              <a:schemeClr val="dk1"/>
            </a:effectRef>
            <a:fontRef idx="minor">
              <a:schemeClr val="tx1"/>
            </a:fontRef>
          </p:style>
        </p:cxnSp>
      </p:grpSp>
      <p:sp>
        <p:nvSpPr>
          <p:cNvPr id="117" name="文字方塊 116">
            <a:extLst>
              <a:ext uri="{FF2B5EF4-FFF2-40B4-BE49-F238E27FC236}">
                <a16:creationId xmlns:a16="http://schemas.microsoft.com/office/drawing/2014/main" id="{7DED57BA-BE97-4643-939F-61BE7674ACD4}"/>
              </a:ext>
            </a:extLst>
          </p:cNvPr>
          <p:cNvSpPr txBox="1"/>
          <p:nvPr/>
        </p:nvSpPr>
        <p:spPr>
          <a:xfrm>
            <a:off x="0" y="6187440"/>
            <a:ext cx="5775877" cy="523220"/>
          </a:xfrm>
          <a:prstGeom prst="rect">
            <a:avLst/>
          </a:prstGeom>
          <a:noFill/>
        </p:spPr>
        <p:txBody>
          <a:bodyPr wrap="none" rtlCol="0">
            <a:spAutoFit/>
          </a:bodyPr>
          <a:lstStyle/>
          <a:p>
            <a:r>
              <a:rPr lang="en-US" altLang="zh-TW" sz="1400" dirty="0">
                <a:latin typeface="Times New Roman" panose="02020603050405020304" pitchFamily="18" charset="0"/>
                <a:cs typeface="Times New Roman" panose="02020603050405020304" pitchFamily="18" charset="0"/>
              </a:rPr>
              <a:t>M1: Meniscus mirror; ROC=100mm</a:t>
            </a:r>
            <a:r>
              <a:rPr lang="zh-TW" altLang="en-US" sz="1400"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T~92%@1064nm,  HR~99%@1550nm </a:t>
            </a:r>
          </a:p>
          <a:p>
            <a:r>
              <a:rPr lang="en-US" altLang="zh-TW" sz="1400" dirty="0">
                <a:latin typeface="Times New Roman" panose="02020603050405020304" pitchFamily="18" charset="0"/>
                <a:cs typeface="Times New Roman" panose="02020603050405020304" pitchFamily="18" charset="0"/>
              </a:rPr>
              <a:t>M2</a:t>
            </a:r>
            <a:r>
              <a:rPr lang="en-US" altLang="zh-TW" sz="1400">
                <a:latin typeface="Times New Roman" panose="02020603050405020304" pitchFamily="18" charset="0"/>
                <a:cs typeface="Times New Roman" panose="02020603050405020304" pitchFamily="18" charset="0"/>
              </a:rPr>
              <a:t>: Pl/Pl </a:t>
            </a:r>
            <a:r>
              <a:rPr lang="en-US" altLang="zh-TW" sz="1400" dirty="0">
                <a:latin typeface="Times New Roman" panose="02020603050405020304" pitchFamily="18" charset="0"/>
                <a:cs typeface="Times New Roman" panose="02020603050405020304" pitchFamily="18" charset="0"/>
              </a:rPr>
              <a:t>mirror;  T~96%@1064nm</a:t>
            </a:r>
            <a:r>
              <a:rPr lang="en-US" altLang="zh-TW" sz="1400">
                <a:latin typeface="Times New Roman" panose="02020603050405020304" pitchFamily="18" charset="0"/>
                <a:cs typeface="Times New Roman" panose="02020603050405020304" pitchFamily="18" charset="0"/>
              </a:rPr>
              <a:t>,  PR</a:t>
            </a:r>
            <a:r>
              <a:rPr lang="en-US" altLang="zh-TW" sz="1400" dirty="0">
                <a:latin typeface="Times New Roman" panose="02020603050405020304" pitchFamily="18" charset="0"/>
                <a:cs typeface="Times New Roman" panose="02020603050405020304" pitchFamily="18" charset="0"/>
              </a:rPr>
              <a:t>~94%@1550nm</a:t>
            </a:r>
            <a:endParaRPr lang="zh-TW" altLang="en-US" sz="1400" dirty="0">
              <a:latin typeface="Times New Roman" panose="02020603050405020304" pitchFamily="18" charset="0"/>
              <a:cs typeface="Times New Roman" panose="02020603050405020304" pitchFamily="18" charset="0"/>
            </a:endParaRPr>
          </a:p>
        </p:txBody>
      </p:sp>
      <p:sp>
        <p:nvSpPr>
          <p:cNvPr id="2" name="投影片編號版面配置區 1">
            <a:extLst>
              <a:ext uri="{FF2B5EF4-FFF2-40B4-BE49-F238E27FC236}">
                <a16:creationId xmlns:a16="http://schemas.microsoft.com/office/drawing/2014/main" id="{589FF4C8-C880-49BC-BC14-B06C2D7AD081}"/>
              </a:ext>
            </a:extLst>
          </p:cNvPr>
          <p:cNvSpPr>
            <a:spLocks noGrp="1"/>
          </p:cNvSpPr>
          <p:nvPr>
            <p:ph type="sldNum" sz="quarter" idx="12"/>
          </p:nvPr>
        </p:nvSpPr>
        <p:spPr>
          <a:xfrm>
            <a:off x="9448800" y="6479827"/>
            <a:ext cx="2743200" cy="365125"/>
          </a:xfrm>
        </p:spPr>
        <p:txBody>
          <a:bodyPr/>
          <a:lstStyle/>
          <a:p>
            <a:fld id="{29723A01-8C65-4E4C-95BB-6D96843E9278}" type="slidenum">
              <a:rPr lang="zh-TW" altLang="en-US" smtClean="0"/>
              <a:t>30</a:t>
            </a:fld>
            <a:endParaRPr lang="zh-TW" altLang="en-US" dirty="0"/>
          </a:p>
        </p:txBody>
      </p:sp>
      <mc:AlternateContent xmlns:mc="http://schemas.openxmlformats.org/markup-compatibility/2006" xmlns:a14="http://schemas.microsoft.com/office/drawing/2010/main">
        <mc:Choice Requires="a14">
          <p:sp>
            <p:nvSpPr>
              <p:cNvPr id="116" name="文字方塊 115">
                <a:extLst>
                  <a:ext uri="{FF2B5EF4-FFF2-40B4-BE49-F238E27FC236}">
                    <a16:creationId xmlns:a16="http://schemas.microsoft.com/office/drawing/2014/main" id="{7DED57BA-BE97-4643-939F-61BE7674ACD4}"/>
                  </a:ext>
                </a:extLst>
              </p:cNvPr>
              <p:cNvSpPr txBox="1"/>
              <p:nvPr/>
            </p:nvSpPr>
            <p:spPr>
              <a:xfrm>
                <a:off x="7404773" y="5744665"/>
                <a:ext cx="4819931" cy="1200329"/>
              </a:xfrm>
              <a:prstGeom prst="rect">
                <a:avLst/>
              </a:prstGeom>
              <a:noFill/>
            </p:spPr>
            <p:txBody>
              <a:bodyPr wrap="square" rtlCol="0">
                <a:spAutoFit/>
              </a:bodyPr>
              <a:lstStyle/>
              <a:p>
                <a:r>
                  <a:rPr lang="en-US" altLang="zh-TW" sz="1400" dirty="0" err="1">
                    <a:latin typeface="Times New Roman" panose="02020603050405020304" pitchFamily="18" charset="0"/>
                    <a:cs typeface="Times New Roman" panose="02020603050405020304" pitchFamily="18" charset="0"/>
                  </a:rPr>
                  <a:t>InnoSlab</a:t>
                </a:r>
                <a:r>
                  <a:rPr lang="en-US" altLang="zh-TW" sz="1400" dirty="0">
                    <a:latin typeface="Times New Roman" panose="02020603050405020304" pitchFamily="18" charset="0"/>
                    <a:cs typeface="Times New Roman" panose="02020603050405020304" pitchFamily="18" charset="0"/>
                  </a:rPr>
                  <a:t> Q -Switched Laser (1064nm) </a:t>
                </a:r>
              </a:p>
              <a:p>
                <a:r>
                  <a:rPr lang="en-US" altLang="zh-TW" sz="1400" dirty="0">
                    <a:latin typeface="Times New Roman" panose="02020603050405020304" pitchFamily="18" charset="0"/>
                    <a:cs typeface="Times New Roman" panose="02020603050405020304" pitchFamily="18" charset="0"/>
                  </a:rPr>
                  <a:t>Highest beam quality</a:t>
                </a:r>
                <a:r>
                  <a:rPr lang="zh-TW" altLang="en-US" sz="14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zh-TW" altLang="en-US" sz="1400" i="1">
                            <a:solidFill>
                              <a:srgbClr val="000000"/>
                            </a:solidFill>
                            <a:latin typeface="Cambria Math" panose="02040503050406030204" pitchFamily="18" charset="0"/>
                          </a:rPr>
                        </m:ctrlPr>
                      </m:sSupPr>
                      <m:e>
                        <m:r>
                          <a:rPr lang="en-US" altLang="zh-TW" sz="1400" b="0" i="1" smtClean="0">
                            <a:solidFill>
                              <a:srgbClr val="000000"/>
                            </a:solidFill>
                            <a:latin typeface="Cambria Math" panose="02040503050406030204" pitchFamily="18" charset="0"/>
                          </a:rPr>
                          <m:t>𝑀</m:t>
                        </m:r>
                      </m:e>
                      <m:sup>
                        <m:r>
                          <a:rPr lang="en-US" altLang="zh-TW" sz="1400" b="0" i="1" smtClean="0">
                            <a:solidFill>
                              <a:srgbClr val="000000"/>
                            </a:solidFill>
                            <a:latin typeface="Cambria Math" panose="02040503050406030204" pitchFamily="18" charset="0"/>
                          </a:rPr>
                          <m:t>2</m:t>
                        </m:r>
                      </m:sup>
                    </m:sSup>
                    <m:r>
                      <a:rPr lang="en-US" altLang="zh-TW" sz="1400" b="0" i="1" smtClean="0">
                        <a:solidFill>
                          <a:srgbClr val="000000"/>
                        </a:solidFill>
                        <a:latin typeface="Cambria Math" panose="02040503050406030204" pitchFamily="18" charset="0"/>
                      </a:rPr>
                      <m:t>:1.1</m:t>
                    </m:r>
                  </m:oMath>
                </a14:m>
                <a:endParaRPr lang="en-US" altLang="zh-TW" sz="1400" b="0" dirty="0">
                  <a:solidFill>
                    <a:srgbClr val="000000"/>
                  </a:solidFill>
                  <a:latin typeface="Times New Roman" panose="02020603050405020304" pitchFamily="18" charset="0"/>
                  <a:cs typeface="Times New Roman" panose="02020603050405020304" pitchFamily="18" charset="0"/>
                </a:endParaRPr>
              </a:p>
              <a:p>
                <a:r>
                  <a:rPr lang="en-US" altLang="zh-TW" sz="1400" dirty="0">
                    <a:solidFill>
                      <a:srgbClr val="000000"/>
                    </a:solidFill>
                    <a:latin typeface="Times New Roman" panose="02020603050405020304" pitchFamily="18" charset="0"/>
                    <a:cs typeface="Times New Roman" panose="02020603050405020304" pitchFamily="18" charset="0"/>
                  </a:rPr>
                  <a:t>Pulse width : 13.6ns</a:t>
                </a:r>
              </a:p>
              <a:p>
                <a:r>
                  <a:rPr lang="en-US" altLang="zh-TW" sz="1400" dirty="0" err="1">
                    <a:solidFill>
                      <a:srgbClr val="000000"/>
                    </a:solidFill>
                    <a:latin typeface="Times New Roman" panose="02020603050405020304" pitchFamily="18" charset="0"/>
                    <a:cs typeface="Times New Roman" panose="02020603050405020304" pitchFamily="18" charset="0"/>
                  </a:rPr>
                  <a:t>Polarisation</a:t>
                </a:r>
                <a:r>
                  <a:rPr lang="en-US" altLang="zh-TW" sz="1400" dirty="0">
                    <a:solidFill>
                      <a:srgbClr val="000000"/>
                    </a:solidFill>
                    <a:latin typeface="Times New Roman" panose="02020603050405020304" pitchFamily="18" charset="0"/>
                    <a:cs typeface="Times New Roman" panose="02020603050405020304" pitchFamily="18" charset="0"/>
                  </a:rPr>
                  <a:t>: &gt;100:1</a:t>
                </a:r>
              </a:p>
              <a:p>
                <a:endParaRPr lang="en-US" altLang="zh-TW" sz="1600" dirty="0">
                  <a:latin typeface="Times New Roman" panose="02020603050405020304" pitchFamily="18" charset="0"/>
                  <a:cs typeface="Times New Roman" panose="02020603050405020304" pitchFamily="18" charset="0"/>
                </a:endParaRPr>
              </a:p>
            </p:txBody>
          </p:sp>
        </mc:Choice>
        <mc:Fallback xmlns="">
          <p:sp>
            <p:nvSpPr>
              <p:cNvPr id="116" name="文字方塊 115">
                <a:extLst>
                  <a:ext uri="{FF2B5EF4-FFF2-40B4-BE49-F238E27FC236}">
                    <a16:creationId xmlns:a16="http://schemas.microsoft.com/office/drawing/2014/main" id="{7DED57BA-BE97-4643-939F-61BE7674ACD4}"/>
                  </a:ext>
                </a:extLst>
              </p:cNvPr>
              <p:cNvSpPr txBox="1">
                <a:spLocks noRot="1" noChangeAspect="1" noMove="1" noResize="1" noEditPoints="1" noAdjustHandles="1" noChangeArrowheads="1" noChangeShapeType="1" noTextEdit="1"/>
              </p:cNvSpPr>
              <p:nvPr/>
            </p:nvSpPr>
            <p:spPr>
              <a:xfrm>
                <a:off x="7404773" y="5744665"/>
                <a:ext cx="4819931" cy="1200329"/>
              </a:xfrm>
              <a:prstGeom prst="rect">
                <a:avLst/>
              </a:prstGeom>
              <a:blipFill>
                <a:blip r:embed="rId3"/>
                <a:stretch>
                  <a:fillRect l="-380" t="-508"/>
                </a:stretch>
              </a:blipFill>
            </p:spPr>
            <p:txBody>
              <a:bodyPr/>
              <a:lstStyle/>
              <a:p>
                <a:r>
                  <a:rPr lang="zh-TW" altLang="en-US">
                    <a:noFill/>
                  </a:rPr>
                  <a:t> </a:t>
                </a:r>
              </a:p>
            </p:txBody>
          </p:sp>
        </mc:Fallback>
      </mc:AlternateContent>
      <p:sp>
        <p:nvSpPr>
          <p:cNvPr id="4" name="矩形 3"/>
          <p:cNvSpPr/>
          <p:nvPr/>
        </p:nvSpPr>
        <p:spPr>
          <a:xfrm>
            <a:off x="9780881" y="5958030"/>
            <a:ext cx="2361333" cy="738664"/>
          </a:xfrm>
          <a:prstGeom prst="rect">
            <a:avLst/>
          </a:prstGeom>
        </p:spPr>
        <p:txBody>
          <a:bodyPr wrap="square">
            <a:spAutoFit/>
          </a:bodyPr>
          <a:lstStyle/>
          <a:p>
            <a:r>
              <a:rPr lang="en-US" altLang="zh-TW" sz="1400" dirty="0">
                <a:solidFill>
                  <a:srgbClr val="000000"/>
                </a:solidFill>
                <a:latin typeface="Times New Roman" panose="02020603050405020304" pitchFamily="18" charset="0"/>
                <a:cs typeface="Times New Roman" panose="02020603050405020304" pitchFamily="18" charset="0"/>
              </a:rPr>
              <a:t>Time stability(ns): 5</a:t>
            </a:r>
          </a:p>
          <a:p>
            <a:r>
              <a:rPr lang="en-US" altLang="zh-TW" sz="1400" dirty="0">
                <a:solidFill>
                  <a:srgbClr val="000000"/>
                </a:solidFill>
                <a:latin typeface="Times New Roman" panose="02020603050405020304" pitchFamily="18" charset="0"/>
                <a:cs typeface="Times New Roman" panose="02020603050405020304" pitchFamily="18" charset="0"/>
              </a:rPr>
              <a:t>Energy stability(%) </a:t>
            </a:r>
            <a:r>
              <a:rPr lang="en-US" altLang="zh-TW" sz="1400" dirty="0" err="1">
                <a:solidFill>
                  <a:srgbClr val="000000"/>
                </a:solidFill>
                <a:latin typeface="Times New Roman" panose="02020603050405020304" pitchFamily="18" charset="0"/>
                <a:cs typeface="Times New Roman" panose="02020603050405020304" pitchFamily="18" charset="0"/>
              </a:rPr>
              <a:t>rms</a:t>
            </a:r>
            <a:r>
              <a:rPr lang="en-US" altLang="zh-TW" sz="1400" dirty="0">
                <a:solidFill>
                  <a:srgbClr val="000000"/>
                </a:solidFill>
                <a:latin typeface="Times New Roman" panose="02020603050405020304" pitchFamily="18" charset="0"/>
                <a:cs typeface="Times New Roman" panose="02020603050405020304" pitchFamily="18" charset="0"/>
              </a:rPr>
              <a:t> :1</a:t>
            </a:r>
          </a:p>
          <a:p>
            <a:r>
              <a:rPr lang="en-US" altLang="zh-TW" sz="1400" dirty="0">
                <a:solidFill>
                  <a:srgbClr val="000000"/>
                </a:solidFill>
                <a:latin typeface="Times New Roman" panose="02020603050405020304" pitchFamily="18" charset="0"/>
                <a:cs typeface="Times New Roman" panose="02020603050405020304" pitchFamily="18" charset="0"/>
              </a:rPr>
              <a:t>Repetition(kHz) : 1</a:t>
            </a:r>
            <a:r>
              <a:rPr lang="zh-TW" altLang="en-US" sz="1400" dirty="0">
                <a:solidFill>
                  <a:srgbClr val="000000"/>
                </a:solidFill>
                <a:latin typeface="Times New Roman" panose="02020603050405020304" pitchFamily="18" charset="0"/>
                <a:cs typeface="Times New Roman" panose="02020603050405020304" pitchFamily="18" charset="0"/>
              </a:rPr>
              <a:t> </a:t>
            </a:r>
            <a:endParaRPr lang="en-US" altLang="zh-TW" sz="1400" dirty="0">
              <a:solidFill>
                <a:srgbClr val="000000"/>
              </a:solidFill>
              <a:latin typeface="Times New Roman" panose="02020603050405020304" pitchFamily="18" charset="0"/>
              <a:cs typeface="Times New Roman" panose="02020603050405020304" pitchFamily="18" charset="0"/>
            </a:endParaRPr>
          </a:p>
        </p:txBody>
      </p:sp>
      <p:sp>
        <p:nvSpPr>
          <p:cNvPr id="5" name="矩形 4"/>
          <p:cNvSpPr/>
          <p:nvPr/>
        </p:nvSpPr>
        <p:spPr>
          <a:xfrm>
            <a:off x="7303353" y="5643997"/>
            <a:ext cx="4561748" cy="1163909"/>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9975896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a:extLst>
              <a:ext uri="{FF2B5EF4-FFF2-40B4-BE49-F238E27FC236}">
                <a16:creationId xmlns:a16="http://schemas.microsoft.com/office/drawing/2014/main" id="{5ED149C4-FA6A-4A57-A7FA-B26035176FB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8009204" y="1990005"/>
            <a:ext cx="3946401" cy="3049492"/>
          </a:xfrm>
          <a:prstGeom prst="rect">
            <a:avLst/>
          </a:prstGeom>
        </p:spPr>
      </p:pic>
      <p:pic>
        <p:nvPicPr>
          <p:cNvPr id="5" name="圖片 4">
            <a:extLst>
              <a:ext uri="{FF2B5EF4-FFF2-40B4-BE49-F238E27FC236}">
                <a16:creationId xmlns:a16="http://schemas.microsoft.com/office/drawing/2014/main" id="{0F0E3D5A-007C-4C03-A011-16C9C2A505DE}"/>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3480"/>
          <a:stretch/>
        </p:blipFill>
        <p:spPr>
          <a:xfrm>
            <a:off x="4317667" y="1906250"/>
            <a:ext cx="3809056" cy="3049492"/>
          </a:xfrm>
          <a:prstGeom prst="rect">
            <a:avLst/>
          </a:prstGeom>
        </p:spPr>
      </p:pic>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82718" y="91626"/>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EO OPO Spectrum measurements </a:t>
            </a:r>
            <a:endParaRPr lang="zh-TW" altLang="en-US" sz="2800" b="1" dirty="0"/>
          </a:p>
        </p:txBody>
      </p:sp>
      <p:pic>
        <p:nvPicPr>
          <p:cNvPr id="6" name="圖片 5"/>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3171" y="1975533"/>
            <a:ext cx="4314066" cy="3049492"/>
          </a:xfrm>
          <a:prstGeom prst="rect">
            <a:avLst/>
          </a:prstGeom>
        </p:spPr>
      </p:pic>
      <mc:AlternateContent xmlns:mc="http://schemas.openxmlformats.org/markup-compatibility/2006" xmlns:a14="http://schemas.microsoft.com/office/drawing/2010/main">
        <mc:Choice Requires="a14">
          <p:sp>
            <p:nvSpPr>
              <p:cNvPr id="9" name="矩形 8"/>
              <p:cNvSpPr/>
              <p:nvPr/>
            </p:nvSpPr>
            <p:spPr>
              <a:xfrm>
                <a:off x="554143" y="4958220"/>
                <a:ext cx="3809056" cy="1107996"/>
              </a:xfrm>
              <a:prstGeom prst="rect">
                <a:avLst/>
              </a:prstGeom>
            </p:spPr>
            <p:txBody>
              <a:bodyPr wrap="none">
                <a:spAutoFit/>
              </a:bodyPr>
              <a:lstStyle/>
              <a:p>
                <a:pPr>
                  <a:lnSpc>
                    <a:spcPct val="150000"/>
                  </a:lnSpc>
                </a:pPr>
                <a:r>
                  <a:rPr lang="en-US" altLang="zh-TW" sz="1600" dirty="0">
                    <a:latin typeface="Times New Roman" panose="02020603050405020304" pitchFamily="18" charset="0"/>
                    <a:cs typeface="Times New Roman" panose="02020603050405020304" pitchFamily="18" charset="0"/>
                  </a:rPr>
                  <a:t>Center wavelength:</a:t>
                </a:r>
                <a:r>
                  <a:rPr lang="en-US" altLang="zh-TW" sz="1600" dirty="0">
                    <a:solidFill>
                      <a:srgbClr val="FF0000"/>
                    </a:solidFill>
                    <a:latin typeface="Times New Roman" panose="02020603050405020304" pitchFamily="18" charset="0"/>
                    <a:cs typeface="Times New Roman" panose="02020603050405020304" pitchFamily="18" charset="0"/>
                  </a:rPr>
                  <a:t>1539.77</a:t>
                </a:r>
                <a:r>
                  <a:rPr lang="en-US" altLang="zh-TW" sz="1600" dirty="0">
                    <a:latin typeface="Times New Roman" panose="02020603050405020304" pitchFamily="18" charset="0"/>
                    <a:cs typeface="Times New Roman" panose="02020603050405020304" pitchFamily="18" charset="0"/>
                  </a:rPr>
                  <a:t>nm</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&amp;</a:t>
                </a:r>
                <a:r>
                  <a:rPr lang="en-US" altLang="zh-TW" sz="16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1549.95</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nm</a:t>
                </a:r>
              </a:p>
              <a:p>
                <a:pPr>
                  <a:lnSpc>
                    <a:spcPct val="150000"/>
                  </a:lnSpc>
                </a:pPr>
                <a:r>
                  <a:rPr lang="en-US" altLang="zh-TW" sz="1600" cap="all" dirty="0">
                    <a:latin typeface="Times New Roman" panose="02020603050405020304" pitchFamily="18" charset="0"/>
                    <a:cs typeface="Times New Roman" panose="02020603050405020304" pitchFamily="18" charset="0"/>
                  </a:rPr>
                  <a:t>FWHM:</a:t>
                </a:r>
                <a:r>
                  <a:rPr lang="en-US" altLang="zh-TW" sz="1600" dirty="0">
                    <a:solidFill>
                      <a:srgbClr val="FF0000"/>
                    </a:solidFill>
                    <a:latin typeface="Times New Roman" panose="02020603050405020304" pitchFamily="18" charset="0"/>
                    <a:cs typeface="Times New Roman" panose="02020603050405020304" pitchFamily="18" charset="0"/>
                  </a:rPr>
                  <a:t>0.58</a:t>
                </a:r>
                <a:r>
                  <a:rPr lang="en-US" altLang="zh-TW" sz="1600" dirty="0">
                    <a:latin typeface="Times New Roman" panose="02020603050405020304" pitchFamily="18" charset="0"/>
                    <a:cs typeface="Times New Roman" panose="02020603050405020304" pitchFamily="18" charset="0"/>
                  </a:rPr>
                  <a:t>nm</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&amp;</a:t>
                </a:r>
                <a:r>
                  <a:rPr lang="en-US" altLang="zh-TW" sz="16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0.44</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nm</a:t>
                </a:r>
                <a:endParaRPr lang="zh-TW" altLang="en-US" sz="1600" dirty="0">
                  <a:latin typeface="Times New Roman" panose="02020603050405020304" pitchFamily="18" charset="0"/>
                  <a:cs typeface="Times New Roman" panose="02020603050405020304" pitchFamily="18" charset="0"/>
                </a:endParaRPr>
              </a:p>
              <a:p>
                <a:r>
                  <a:rPr lang="en-US" altLang="zh-TW" sz="1600" dirty="0">
                    <a:latin typeface="Times New Roman" panose="02020603050405020304" pitchFamily="18" charset="0"/>
                    <a:ea typeface="Cambria Math" panose="02040503050406030204" pitchFamily="18" charset="0"/>
                    <a:cs typeface="Times New Roman" panose="02020603050405020304" pitchFamily="18" charset="0"/>
                  </a:rPr>
                  <a:t>Pulse energy :</a:t>
                </a:r>
                <a:r>
                  <a:rPr lang="en-US" altLang="zh-TW" sz="1600"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0.235</a:t>
                </a:r>
                <a14:m>
                  <m:oMath xmlns:m="http://schemas.openxmlformats.org/officeDocument/2006/math">
                    <m:r>
                      <a:rPr lang="zh-TW" altLang="en-US" sz="1600" i="1"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en-US" altLang="zh-TW" sz="1600" dirty="0">
                    <a:latin typeface="Times New Roman" panose="02020603050405020304" pitchFamily="18" charset="0"/>
                    <a:cs typeface="Times New Roman" panose="02020603050405020304" pitchFamily="18" charset="0"/>
                  </a:rPr>
                  <a:t>J</a:t>
                </a:r>
                <a:endParaRPr lang="zh-TW" altLang="en-US" sz="1600" dirty="0">
                  <a:latin typeface="Times New Roman" panose="02020603050405020304" pitchFamily="18" charset="0"/>
                  <a:cs typeface="Times New Roman" panose="02020603050405020304"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554143" y="4958220"/>
                <a:ext cx="3809056" cy="1107996"/>
              </a:xfrm>
              <a:prstGeom prst="rect">
                <a:avLst/>
              </a:prstGeom>
              <a:blipFill>
                <a:blip r:embed="rId5"/>
                <a:stretch>
                  <a:fillRect l="-960" b="-32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4753434" y="5023907"/>
                <a:ext cx="2719014" cy="1107996"/>
              </a:xfrm>
              <a:prstGeom prst="rect">
                <a:avLst/>
              </a:prstGeom>
            </p:spPr>
            <p:txBody>
              <a:bodyPr wrap="none">
                <a:spAutoFit/>
              </a:bodyPr>
              <a:lstStyle/>
              <a:p>
                <a:pPr>
                  <a:lnSpc>
                    <a:spcPct val="150000"/>
                  </a:lnSpc>
                </a:pPr>
                <a:r>
                  <a:rPr lang="en-US" altLang="zh-TW" sz="1600" dirty="0">
                    <a:latin typeface="Times New Roman" panose="02020603050405020304" pitchFamily="18" charset="0"/>
                    <a:cs typeface="Times New Roman" panose="02020603050405020304" pitchFamily="18" charset="0"/>
                  </a:rPr>
                  <a:t>Center wavelength:</a:t>
                </a:r>
                <a:r>
                  <a:rPr lang="en-US" altLang="zh-TW" sz="1600" dirty="0">
                    <a:solidFill>
                      <a:srgbClr val="FF0000"/>
                    </a:solidFill>
                    <a:latin typeface="Times New Roman" panose="02020603050405020304" pitchFamily="18" charset="0"/>
                    <a:cs typeface="Times New Roman" panose="02020603050405020304" pitchFamily="18" charset="0"/>
                  </a:rPr>
                  <a:t>1539.90</a:t>
                </a:r>
                <a:r>
                  <a:rPr lang="en-US" altLang="zh-TW" sz="1600" dirty="0">
                    <a:latin typeface="Times New Roman" panose="02020603050405020304" pitchFamily="18" charset="0"/>
                    <a:cs typeface="Times New Roman" panose="02020603050405020304" pitchFamily="18" charset="0"/>
                  </a:rPr>
                  <a:t>nm</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en-US" altLang="zh-TW" sz="1600" cap="all" dirty="0">
                    <a:latin typeface="Times New Roman" panose="02020603050405020304" pitchFamily="18" charset="0"/>
                    <a:cs typeface="Times New Roman" panose="02020603050405020304" pitchFamily="18" charset="0"/>
                  </a:rPr>
                  <a:t>FWHM:</a:t>
                </a:r>
                <a:r>
                  <a:rPr lang="en-US" altLang="zh-TW" sz="1600" dirty="0">
                    <a:solidFill>
                      <a:srgbClr val="FF0000"/>
                    </a:solidFill>
                    <a:latin typeface="Times New Roman" panose="02020603050405020304" pitchFamily="18" charset="0"/>
                    <a:cs typeface="Times New Roman" panose="02020603050405020304" pitchFamily="18" charset="0"/>
                  </a:rPr>
                  <a:t>0.09</a:t>
                </a:r>
                <a:r>
                  <a:rPr lang="en-US" altLang="zh-TW" sz="1600" dirty="0">
                    <a:latin typeface="Times New Roman" panose="02020603050405020304" pitchFamily="18" charset="0"/>
                    <a:cs typeface="Times New Roman" panose="02020603050405020304" pitchFamily="18" charset="0"/>
                  </a:rPr>
                  <a:t>nm</a:t>
                </a:r>
                <a:endParaRPr lang="zh-TW" altLang="en-US" sz="1600" dirty="0">
                  <a:latin typeface="Times New Roman" panose="02020603050405020304" pitchFamily="18" charset="0"/>
                  <a:cs typeface="Times New Roman" panose="02020603050405020304" pitchFamily="18" charset="0"/>
                </a:endParaRPr>
              </a:p>
              <a:p>
                <a:r>
                  <a:rPr lang="en-US" altLang="zh-TW" sz="1600" dirty="0">
                    <a:latin typeface="Times New Roman" panose="02020603050405020304" pitchFamily="18" charset="0"/>
                    <a:ea typeface="Cambria Math" panose="02040503050406030204" pitchFamily="18" charset="0"/>
                    <a:cs typeface="Times New Roman" panose="02020603050405020304" pitchFamily="18" charset="0"/>
                  </a:rPr>
                  <a:t>Pulse energy :</a:t>
                </a:r>
                <a:r>
                  <a:rPr lang="en-US" altLang="zh-TW" sz="1600"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0.254</a:t>
                </a:r>
                <a14:m>
                  <m:oMath xmlns:m="http://schemas.openxmlformats.org/officeDocument/2006/math">
                    <m:r>
                      <a:rPr lang="zh-TW" altLang="en-US" sz="1600" i="1">
                        <a:latin typeface="Cambria Math" panose="02040503050406030204" pitchFamily="18" charset="0"/>
                        <a:ea typeface="Cambria Math" panose="02040503050406030204" pitchFamily="18" charset="0"/>
                        <a:cs typeface="Times New Roman" panose="02020603050405020304" pitchFamily="18" charset="0"/>
                      </a:rPr>
                      <m:t>𝜇</m:t>
                    </m:r>
                  </m:oMath>
                </a14:m>
                <a:r>
                  <a:rPr lang="en-US" altLang="zh-TW" sz="1600" dirty="0">
                    <a:latin typeface="Times New Roman" panose="02020603050405020304" pitchFamily="18" charset="0"/>
                    <a:cs typeface="Times New Roman" panose="02020603050405020304" pitchFamily="18" charset="0"/>
                  </a:rPr>
                  <a:t>J</a:t>
                </a:r>
                <a:endParaRPr lang="zh-TW" altLang="en-US" sz="160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20" name="矩形 19"/>
              <p:cNvSpPr>
                <a:spLocks noRot="1" noChangeAspect="1" noMove="1" noResize="1" noEditPoints="1" noAdjustHandles="1" noChangeArrowheads="1" noChangeShapeType="1" noTextEdit="1"/>
              </p:cNvSpPr>
              <p:nvPr/>
            </p:nvSpPr>
            <p:spPr>
              <a:xfrm>
                <a:off x="4753434" y="5023907"/>
                <a:ext cx="2719014" cy="1107996"/>
              </a:xfrm>
              <a:prstGeom prst="rect">
                <a:avLst/>
              </a:prstGeom>
              <a:blipFill>
                <a:blip r:embed="rId6"/>
                <a:stretch>
                  <a:fillRect l="-1345" b="-32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8646514" y="5023907"/>
                <a:ext cx="2719014" cy="1107996"/>
              </a:xfrm>
              <a:prstGeom prst="rect">
                <a:avLst/>
              </a:prstGeom>
            </p:spPr>
            <p:txBody>
              <a:bodyPr wrap="none">
                <a:spAutoFit/>
              </a:bodyPr>
              <a:lstStyle/>
              <a:p>
                <a:pPr>
                  <a:lnSpc>
                    <a:spcPct val="150000"/>
                  </a:lnSpc>
                </a:pPr>
                <a:r>
                  <a:rPr lang="en-US" altLang="zh-TW" sz="1600" dirty="0">
                    <a:latin typeface="Times New Roman" panose="02020603050405020304" pitchFamily="18" charset="0"/>
                    <a:cs typeface="Times New Roman" panose="02020603050405020304" pitchFamily="18" charset="0"/>
                  </a:rPr>
                  <a:t>Center wavelength:</a:t>
                </a:r>
                <a:r>
                  <a:rPr lang="en-US" altLang="zh-TW" sz="1600" dirty="0">
                    <a:solidFill>
                      <a:srgbClr val="FF0000"/>
                    </a:solidFill>
                    <a:latin typeface="Times New Roman" panose="02020603050405020304" pitchFamily="18" charset="0"/>
                    <a:cs typeface="Times New Roman" panose="02020603050405020304" pitchFamily="18" charset="0"/>
                  </a:rPr>
                  <a:t>1549.87</a:t>
                </a:r>
                <a:r>
                  <a:rPr lang="en-US" altLang="zh-TW" sz="1600" dirty="0">
                    <a:latin typeface="Times New Roman" panose="02020603050405020304" pitchFamily="18" charset="0"/>
                    <a:cs typeface="Times New Roman" panose="02020603050405020304" pitchFamily="18" charset="0"/>
                  </a:rPr>
                  <a:t>nm</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en-US" altLang="zh-TW" sz="1600" cap="all" dirty="0">
                    <a:latin typeface="Times New Roman" panose="02020603050405020304" pitchFamily="18" charset="0"/>
                    <a:cs typeface="Times New Roman" panose="02020603050405020304" pitchFamily="18" charset="0"/>
                  </a:rPr>
                  <a:t>FWHM:</a:t>
                </a:r>
                <a:r>
                  <a:rPr lang="en-US" altLang="zh-TW" sz="1600" dirty="0">
                    <a:solidFill>
                      <a:srgbClr val="FF0000"/>
                    </a:solidFill>
                    <a:latin typeface="Times New Roman" panose="02020603050405020304" pitchFamily="18" charset="0"/>
                    <a:cs typeface="Times New Roman" panose="02020603050405020304" pitchFamily="18" charset="0"/>
                  </a:rPr>
                  <a:t>0.09</a:t>
                </a:r>
                <a:r>
                  <a:rPr lang="en-US" altLang="zh-TW" sz="1600" dirty="0">
                    <a:latin typeface="Times New Roman" panose="02020603050405020304" pitchFamily="18" charset="0"/>
                    <a:cs typeface="Times New Roman" panose="02020603050405020304" pitchFamily="18" charset="0"/>
                  </a:rPr>
                  <a:t>nm</a:t>
                </a:r>
                <a:endParaRPr lang="zh-TW" altLang="en-US" sz="1600" dirty="0">
                  <a:latin typeface="Times New Roman" panose="02020603050405020304" pitchFamily="18" charset="0"/>
                  <a:cs typeface="Times New Roman" panose="02020603050405020304" pitchFamily="18" charset="0"/>
                </a:endParaRPr>
              </a:p>
              <a:p>
                <a:r>
                  <a:rPr lang="en-US" altLang="zh-TW" sz="1600" dirty="0">
                    <a:latin typeface="Times New Roman" panose="02020603050405020304" pitchFamily="18" charset="0"/>
                    <a:ea typeface="Cambria Math" panose="02040503050406030204" pitchFamily="18" charset="0"/>
                    <a:cs typeface="Times New Roman" panose="02020603050405020304" pitchFamily="18" charset="0"/>
                  </a:rPr>
                  <a:t>Pulse energy :</a:t>
                </a:r>
                <a:r>
                  <a:rPr lang="en-US" altLang="zh-TW" sz="1600"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0.253</a:t>
                </a:r>
                <a14:m>
                  <m:oMath xmlns:m="http://schemas.openxmlformats.org/officeDocument/2006/math">
                    <m:r>
                      <a:rPr lang="zh-TW" altLang="en-US" sz="1600" i="1">
                        <a:latin typeface="Cambria Math" panose="02040503050406030204" pitchFamily="18" charset="0"/>
                        <a:ea typeface="Cambria Math" panose="02040503050406030204" pitchFamily="18" charset="0"/>
                        <a:cs typeface="Times New Roman" panose="02020603050405020304" pitchFamily="18" charset="0"/>
                      </a:rPr>
                      <m:t>𝜇</m:t>
                    </m:r>
                  </m:oMath>
                </a14:m>
                <a:r>
                  <a:rPr lang="en-US" altLang="zh-TW" sz="1600" dirty="0">
                    <a:latin typeface="Times New Roman" panose="02020603050405020304" pitchFamily="18" charset="0"/>
                    <a:cs typeface="Times New Roman" panose="02020603050405020304" pitchFamily="18" charset="0"/>
                  </a:rPr>
                  <a:t>J</a:t>
                </a:r>
                <a:endParaRPr lang="zh-TW" altLang="en-US" sz="160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21" name="矩形 20"/>
              <p:cNvSpPr>
                <a:spLocks noRot="1" noChangeAspect="1" noMove="1" noResize="1" noEditPoints="1" noAdjustHandles="1" noChangeArrowheads="1" noChangeShapeType="1" noTextEdit="1"/>
              </p:cNvSpPr>
              <p:nvPr/>
            </p:nvSpPr>
            <p:spPr>
              <a:xfrm>
                <a:off x="8646514" y="5023907"/>
                <a:ext cx="2719014" cy="1107996"/>
              </a:xfrm>
              <a:prstGeom prst="rect">
                <a:avLst/>
              </a:prstGeom>
              <a:blipFill>
                <a:blip r:embed="rId7"/>
                <a:stretch>
                  <a:fillRect l="-1121" b="-3297"/>
                </a:stretch>
              </a:blipFill>
            </p:spPr>
            <p:txBody>
              <a:bodyPr/>
              <a:lstStyle/>
              <a:p>
                <a:r>
                  <a:rPr lang="zh-TW" altLang="en-US">
                    <a:noFill/>
                  </a:rPr>
                  <a:t> </a:t>
                </a:r>
              </a:p>
            </p:txBody>
          </p:sp>
        </mc:Fallback>
      </mc:AlternateContent>
      <p:sp>
        <p:nvSpPr>
          <p:cNvPr id="23" name="矩形 22"/>
          <p:cNvSpPr/>
          <p:nvPr/>
        </p:nvSpPr>
        <p:spPr>
          <a:xfrm>
            <a:off x="609122" y="1499599"/>
            <a:ext cx="2225289" cy="738664"/>
          </a:xfrm>
          <a:prstGeom prst="rect">
            <a:avLst/>
          </a:prstGeom>
        </p:spPr>
        <p:txBody>
          <a:bodyPr wrap="none">
            <a:spAutoFit/>
          </a:bodyPr>
          <a:lstStyle/>
          <a:p>
            <a:pPr>
              <a:lnSpc>
                <a:spcPct val="150000"/>
              </a:lnSpc>
            </a:pPr>
            <a:r>
              <a:rPr lang="en-US" altLang="zh-TW" sz="1600" i="1" u="sng" dirty="0">
                <a:latin typeface="Times New Roman" panose="02020603050405020304" pitchFamily="18" charset="0"/>
                <a:cs typeface="Times New Roman" panose="02020603050405020304" pitchFamily="18" charset="0"/>
              </a:rPr>
              <a:t>NO applied electric field</a:t>
            </a:r>
            <a:endParaRPr lang="zh-TW" altLang="en-US" sz="1600" i="1" u="sng" dirty="0">
              <a:latin typeface="Times New Roman" panose="02020603050405020304" pitchFamily="18" charset="0"/>
              <a:cs typeface="Times New Roman" panose="02020603050405020304" pitchFamily="18" charset="0"/>
            </a:endParaRPr>
          </a:p>
          <a:p>
            <a:endParaRPr lang="zh-TW" altLang="en-US" dirty="0"/>
          </a:p>
        </p:txBody>
      </p:sp>
      <p:sp>
        <p:nvSpPr>
          <p:cNvPr id="24" name="矩形 23"/>
          <p:cNvSpPr/>
          <p:nvPr/>
        </p:nvSpPr>
        <p:spPr>
          <a:xfrm>
            <a:off x="4753434" y="1497121"/>
            <a:ext cx="2820003" cy="738664"/>
          </a:xfrm>
          <a:prstGeom prst="rect">
            <a:avLst/>
          </a:prstGeom>
        </p:spPr>
        <p:txBody>
          <a:bodyPr wrap="none">
            <a:spAutoFit/>
          </a:bodyPr>
          <a:lstStyle/>
          <a:p>
            <a:pPr>
              <a:lnSpc>
                <a:spcPct val="150000"/>
              </a:lnSpc>
            </a:pPr>
            <a:r>
              <a:rPr lang="en-US" altLang="zh-TW" sz="1600" i="1" u="sng" dirty="0">
                <a:latin typeface="Times New Roman" panose="02020603050405020304" pitchFamily="18" charset="0"/>
                <a:cs typeface="Times New Roman" panose="02020603050405020304" pitchFamily="18" charset="0"/>
              </a:rPr>
              <a:t>Applied electric field 360V/mm</a:t>
            </a:r>
            <a:endParaRPr lang="zh-TW" altLang="en-US" sz="1600" i="1" u="sng" dirty="0">
              <a:latin typeface="Times New Roman" panose="02020603050405020304" pitchFamily="18" charset="0"/>
              <a:cs typeface="Times New Roman" panose="02020603050405020304" pitchFamily="18" charset="0"/>
            </a:endParaRPr>
          </a:p>
          <a:p>
            <a:endParaRPr lang="zh-TW" altLang="en-US" dirty="0"/>
          </a:p>
        </p:txBody>
      </p:sp>
      <p:sp>
        <p:nvSpPr>
          <p:cNvPr id="25" name="矩形 24"/>
          <p:cNvSpPr/>
          <p:nvPr/>
        </p:nvSpPr>
        <p:spPr>
          <a:xfrm>
            <a:off x="8680001" y="1486646"/>
            <a:ext cx="2749471" cy="738664"/>
          </a:xfrm>
          <a:prstGeom prst="rect">
            <a:avLst/>
          </a:prstGeom>
        </p:spPr>
        <p:txBody>
          <a:bodyPr wrap="none">
            <a:spAutoFit/>
          </a:bodyPr>
          <a:lstStyle/>
          <a:p>
            <a:pPr>
              <a:lnSpc>
                <a:spcPct val="150000"/>
              </a:lnSpc>
            </a:pPr>
            <a:r>
              <a:rPr lang="en-US" altLang="zh-TW" sz="1600" i="1" u="sng" dirty="0">
                <a:latin typeface="Times New Roman" panose="02020603050405020304" pitchFamily="18" charset="0"/>
                <a:cs typeface="Times New Roman" panose="02020603050405020304" pitchFamily="18" charset="0"/>
              </a:rPr>
              <a:t>Applied electric field 790V/mm</a:t>
            </a:r>
            <a:endParaRPr lang="zh-TW" altLang="en-US" sz="1600" i="1" u="sng" dirty="0">
              <a:latin typeface="Times New Roman" panose="02020603050405020304" pitchFamily="18" charset="0"/>
              <a:cs typeface="Times New Roman" panose="02020603050405020304" pitchFamily="18" charset="0"/>
            </a:endParaRPr>
          </a:p>
          <a:p>
            <a:endParaRPr lang="zh-TW" altLang="en-US" dirty="0"/>
          </a:p>
        </p:txBody>
      </p:sp>
      <p:sp>
        <p:nvSpPr>
          <p:cNvPr id="26" name="矩形 25"/>
          <p:cNvSpPr/>
          <p:nvPr/>
        </p:nvSpPr>
        <p:spPr>
          <a:xfrm>
            <a:off x="557318" y="940379"/>
            <a:ext cx="2887714" cy="738664"/>
          </a:xfrm>
          <a:prstGeom prst="rect">
            <a:avLst/>
          </a:prstGeom>
        </p:spPr>
        <p:txBody>
          <a:bodyPr wrap="none">
            <a:spAutoFit/>
          </a:bodyPr>
          <a:lstStyle/>
          <a:p>
            <a:pPr>
              <a:lnSpc>
                <a:spcPct val="150000"/>
              </a:lnSpc>
            </a:pPr>
            <a:r>
              <a:rPr lang="en-US" altLang="zh-TW" sz="1600" b="1" i="1" dirty="0">
                <a:latin typeface="Times New Roman" panose="02020603050405020304" pitchFamily="18" charset="0"/>
                <a:cs typeface="Times New Roman" panose="02020603050405020304" pitchFamily="18" charset="0"/>
              </a:rPr>
              <a:t>Temperature Controller:</a:t>
            </a:r>
            <a:r>
              <a:rPr lang="en-US" altLang="zh-TW" sz="1600" b="1" i="1" dirty="0">
                <a:solidFill>
                  <a:srgbClr val="FF0000"/>
                </a:solidFill>
                <a:latin typeface="Times New Roman" panose="02020603050405020304" pitchFamily="18" charset="0"/>
                <a:cs typeface="Times New Roman" panose="02020603050405020304" pitchFamily="18" charset="0"/>
              </a:rPr>
              <a:t>34.9 ℃</a:t>
            </a:r>
            <a:endParaRPr lang="zh-TW" altLang="en-US" sz="1600" b="1" i="1" dirty="0">
              <a:solidFill>
                <a:srgbClr val="FF0000"/>
              </a:solidFill>
              <a:latin typeface="Times New Roman" panose="02020603050405020304" pitchFamily="18" charset="0"/>
              <a:cs typeface="Times New Roman" panose="02020603050405020304" pitchFamily="18" charset="0"/>
            </a:endParaRPr>
          </a:p>
          <a:p>
            <a:endParaRPr lang="zh-TW" altLang="en-US" dirty="0"/>
          </a:p>
        </p:txBody>
      </p:sp>
      <p:sp>
        <p:nvSpPr>
          <p:cNvPr id="3" name="投影片編號版面配置區 2">
            <a:extLst>
              <a:ext uri="{FF2B5EF4-FFF2-40B4-BE49-F238E27FC236}">
                <a16:creationId xmlns:a16="http://schemas.microsoft.com/office/drawing/2014/main" id="{EFB5EBF0-7111-4B5B-B9EE-678BDAE7FF0D}"/>
              </a:ext>
            </a:extLst>
          </p:cNvPr>
          <p:cNvSpPr>
            <a:spLocks noGrp="1"/>
          </p:cNvSpPr>
          <p:nvPr>
            <p:ph type="sldNum" sz="quarter" idx="12"/>
          </p:nvPr>
        </p:nvSpPr>
        <p:spPr>
          <a:xfrm>
            <a:off x="9458033" y="6492875"/>
            <a:ext cx="2743200" cy="365125"/>
          </a:xfrm>
        </p:spPr>
        <p:txBody>
          <a:bodyPr/>
          <a:lstStyle/>
          <a:p>
            <a:fld id="{29723A01-8C65-4E4C-95BB-6D96843E9278}" type="slidenum">
              <a:rPr lang="zh-TW" altLang="en-US" smtClean="0"/>
              <a:t>31</a:t>
            </a:fld>
            <a:endParaRPr lang="zh-TW" altLang="en-US" dirty="0"/>
          </a:p>
        </p:txBody>
      </p:sp>
    </p:spTree>
    <p:extLst>
      <p:ext uri="{BB962C8B-B14F-4D97-AF65-F5344CB8AC3E}">
        <p14:creationId xmlns:p14="http://schemas.microsoft.com/office/powerpoint/2010/main" val="17756533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63668" y="821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Simulation fitting</a:t>
            </a:r>
            <a:endParaRPr lang="zh-TW" altLang="en-US" sz="2800" b="1"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132034" y="1845755"/>
            <a:ext cx="5574275" cy="4307395"/>
          </a:xfrm>
          <a:prstGeom prst="rect">
            <a:avLst/>
          </a:prstGeom>
        </p:spPr>
      </p:pic>
      <p:pic>
        <p:nvPicPr>
          <p:cNvPr id="5" name="圖片 4"/>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26475" y="1845755"/>
            <a:ext cx="5574275" cy="4307395"/>
          </a:xfrm>
          <a:prstGeom prst="rect">
            <a:avLst/>
          </a:prstGeom>
        </p:spPr>
      </p:pic>
      <p:sp>
        <p:nvSpPr>
          <p:cNvPr id="8" name="矩形 7"/>
          <p:cNvSpPr/>
          <p:nvPr/>
        </p:nvSpPr>
        <p:spPr>
          <a:xfrm>
            <a:off x="7241194" y="6153150"/>
            <a:ext cx="3718775" cy="369332"/>
          </a:xfrm>
          <a:prstGeom prst="rect">
            <a:avLst/>
          </a:prstGeom>
        </p:spPr>
        <p:txBody>
          <a:bodyPr wrap="none">
            <a:spAutoFit/>
          </a:bodyPr>
          <a:lstStyle/>
          <a:p>
            <a:r>
              <a:rPr lang="en-US" altLang="zh-TW" dirty="0">
                <a:ea typeface="標楷體" panose="03000509000000000000" pitchFamily="65" charset="-120"/>
                <a:cs typeface="Times New Roman" panose="02020603050405020304" pitchFamily="18" charset="0"/>
              </a:rPr>
              <a:t>Center wavelength difference 0.42nm</a:t>
            </a:r>
            <a:endParaRPr lang="zh-TW" altLang="en-US" dirty="0"/>
          </a:p>
        </p:txBody>
      </p:sp>
      <p:sp>
        <p:nvSpPr>
          <p:cNvPr id="9" name="矩形 8"/>
          <p:cNvSpPr/>
          <p:nvPr/>
        </p:nvSpPr>
        <p:spPr>
          <a:xfrm>
            <a:off x="133939" y="972587"/>
            <a:ext cx="3735318" cy="646331"/>
          </a:xfrm>
          <a:prstGeom prst="rect">
            <a:avLst/>
          </a:prstGeom>
        </p:spPr>
        <p:txBody>
          <a:bodyPr wrap="none">
            <a:spAutoFit/>
          </a:bodyPr>
          <a:lstStyle/>
          <a:p>
            <a:r>
              <a:rPr lang="en-US" altLang="zh-TW" b="1" i="1" dirty="0">
                <a:latin typeface="Times New Roman" panose="02020603050405020304" pitchFamily="18" charset="0"/>
                <a:cs typeface="Times New Roman" panose="02020603050405020304" pitchFamily="18" charset="0"/>
              </a:rPr>
              <a:t>Simulation setting</a:t>
            </a:r>
            <a:r>
              <a:rPr lang="zh-TW" altLang="en-US" b="1" i="1" dirty="0"/>
              <a:t> </a:t>
            </a:r>
            <a:r>
              <a:rPr lang="en-US" altLang="zh-TW" b="1" i="1" dirty="0">
                <a:latin typeface="Times New Roman" pitchFamily="18" charset="0"/>
                <a:cs typeface="Times New Roman" pitchFamily="18" charset="0"/>
              </a:rPr>
              <a:t>temperature: </a:t>
            </a:r>
            <a:r>
              <a:rPr lang="en-US" altLang="zh-TW" b="1" i="1" dirty="0">
                <a:solidFill>
                  <a:srgbClr val="FF0000"/>
                </a:solidFill>
                <a:latin typeface="Times New Roman" panose="02020603050405020304" pitchFamily="18" charset="0"/>
                <a:cs typeface="Times New Roman" panose="02020603050405020304" pitchFamily="18" charset="0"/>
              </a:rPr>
              <a:t>34℃</a:t>
            </a:r>
            <a:endParaRPr lang="zh-TW" altLang="en-US" b="1" i="1" dirty="0">
              <a:solidFill>
                <a:srgbClr val="FF0000"/>
              </a:solidFill>
              <a:latin typeface="Times New Roman" panose="02020603050405020304" pitchFamily="18" charset="0"/>
              <a:cs typeface="Times New Roman" panose="02020603050405020304" pitchFamily="18" charset="0"/>
            </a:endParaRPr>
          </a:p>
          <a:p>
            <a:endParaRPr lang="zh-TW" altLang="en-US" b="1" dirty="0"/>
          </a:p>
        </p:txBody>
      </p:sp>
      <p:sp>
        <p:nvSpPr>
          <p:cNvPr id="10" name="矩形 9"/>
          <p:cNvSpPr/>
          <p:nvPr/>
        </p:nvSpPr>
        <p:spPr>
          <a:xfrm>
            <a:off x="133939" y="1434252"/>
            <a:ext cx="4514056" cy="646331"/>
          </a:xfrm>
          <a:prstGeom prst="rect">
            <a:avLst/>
          </a:prstGeom>
        </p:spPr>
        <p:txBody>
          <a:bodyPr wrap="none">
            <a:spAutoFit/>
          </a:bodyPr>
          <a:lstStyle/>
          <a:p>
            <a:r>
              <a:rPr lang="zh-TW" altLang="en-US" b="1" i="1" dirty="0">
                <a:latin typeface="Times New Roman" panose="02020603050405020304" pitchFamily="18" charset="0"/>
                <a:cs typeface="Times New Roman" panose="02020603050405020304" pitchFamily="18" charset="0"/>
              </a:rPr>
              <a:t>Simulation added </a:t>
            </a:r>
            <a:r>
              <a:rPr lang="en-US" altLang="zh-TW" b="1" i="1" dirty="0">
                <a:latin typeface="Times New Roman" panose="02020603050405020304" pitchFamily="18" charset="0"/>
                <a:cs typeface="Times New Roman" panose="02020603050405020304" pitchFamily="18" charset="0"/>
              </a:rPr>
              <a:t>poling</a:t>
            </a:r>
            <a:r>
              <a:rPr lang="zh-TW" altLang="en-US" b="1" i="1" dirty="0">
                <a:latin typeface="Times New Roman" panose="02020603050405020304" pitchFamily="18" charset="0"/>
                <a:cs typeface="Times New Roman" panose="02020603050405020304" pitchFamily="18" charset="0"/>
              </a:rPr>
              <a:t> error </a:t>
            </a:r>
            <a:r>
              <a:rPr lang="en-US" altLang="zh-TW" b="1" i="1" dirty="0">
                <a:latin typeface="Times New Roman" panose="02020603050405020304" pitchFamily="18" charset="0"/>
                <a:cs typeface="Times New Roman" panose="02020603050405020304" pitchFamily="18" charset="0"/>
              </a:rPr>
              <a:t>: 2</a:t>
            </a:r>
            <a:r>
              <a:rPr lang="el-GR" altLang="zh-TW" b="1" i="1" dirty="0">
                <a:latin typeface="Times New Roman" pitchFamily="18" charset="0"/>
                <a:cs typeface="Times New Roman" pitchFamily="18" charset="0"/>
              </a:rPr>
              <a:t> μ</a:t>
            </a:r>
            <a:r>
              <a:rPr lang="en-US" altLang="zh-TW" b="1" i="1" dirty="0">
                <a:latin typeface="Times New Roman" pitchFamily="18" charset="0"/>
                <a:cs typeface="Times New Roman" pitchFamily="18" charset="0"/>
              </a:rPr>
              <a:t>m ~4</a:t>
            </a:r>
            <a:r>
              <a:rPr lang="el-GR" altLang="zh-TW" b="1" i="1" dirty="0">
                <a:latin typeface="Times New Roman" pitchFamily="18" charset="0"/>
                <a:cs typeface="Times New Roman" pitchFamily="18" charset="0"/>
              </a:rPr>
              <a:t> μ</a:t>
            </a:r>
            <a:r>
              <a:rPr lang="en-US" altLang="zh-TW" b="1" i="1" dirty="0">
                <a:latin typeface="Times New Roman" pitchFamily="18" charset="0"/>
                <a:cs typeface="Times New Roman" pitchFamily="18" charset="0"/>
              </a:rPr>
              <a:t>m</a:t>
            </a:r>
          </a:p>
          <a:p>
            <a:r>
              <a:rPr lang="en-US"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9B5AFFD-C9D1-468A-AB68-762E9CCF19E4}"/>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32</a:t>
            </a:fld>
            <a:endParaRPr lang="zh-TW" altLang="en-US"/>
          </a:p>
        </p:txBody>
      </p:sp>
    </p:spTree>
    <p:extLst>
      <p:ext uri="{BB962C8B-B14F-4D97-AF65-F5344CB8AC3E}">
        <p14:creationId xmlns:p14="http://schemas.microsoft.com/office/powerpoint/2010/main" val="3544397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圖片 23" descr="D:\google雲端\中央光電\碩士論文\畢業論文相關\論文數據\EOOPO_360V_measurement_pump0.103mj.png"/>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8809081" y="1517745"/>
            <a:ext cx="3132440" cy="2507891"/>
          </a:xfrm>
          <a:prstGeom prst="rect">
            <a:avLst/>
          </a:prstGeom>
          <a:noFill/>
          <a:ln>
            <a:noFill/>
          </a:ln>
        </p:spPr>
      </p:pic>
      <p:pic>
        <p:nvPicPr>
          <p:cNvPr id="27" name="圖片 26" descr="D:\google雲端\中央光電\碩士論文\畢業論文相關\論文數據\EOOPO_790V_measurement_pump0.103mj.png"/>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8867859" y="4251874"/>
            <a:ext cx="3073662" cy="2393370"/>
          </a:xfrm>
          <a:prstGeom prst="rect">
            <a:avLst/>
          </a:prstGeom>
          <a:noFill/>
          <a:ln>
            <a:noFill/>
          </a:ln>
        </p:spPr>
      </p:pic>
      <p:pic>
        <p:nvPicPr>
          <p:cNvPr id="22" name="圖片 21" descr="D:\google雲端\中央光電\碩士論文\畢業論文相關\論文數據\EOOPO_790V_measurement_pump0.086mj.png"/>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585674" y="4251874"/>
            <a:ext cx="3051602" cy="2469601"/>
          </a:xfrm>
          <a:prstGeom prst="rect">
            <a:avLst/>
          </a:prstGeom>
          <a:noFill/>
          <a:ln>
            <a:noFill/>
          </a:ln>
        </p:spPr>
      </p:pic>
      <p:pic>
        <p:nvPicPr>
          <p:cNvPr id="31" name="圖片 30" descr="D:\google雲端\中央光電\碩士論文\畢業論文相關\論文數據\EOOPO_360V_measurement_pump0.086mj.png"/>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613623" y="1696680"/>
            <a:ext cx="3023653" cy="2328957"/>
          </a:xfrm>
          <a:prstGeom prst="rect">
            <a:avLst/>
          </a:prstGeom>
          <a:noFill/>
          <a:ln>
            <a:noFill/>
          </a:ln>
        </p:spPr>
      </p:pic>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73193" y="821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Pump power working range </a:t>
            </a:r>
            <a:endParaRPr lang="zh-TW" altLang="en-US" sz="2800" b="1" dirty="0">
              <a:solidFill>
                <a:srgbClr val="FF0000"/>
              </a:solidFill>
              <a:latin typeface="Times New Roman" panose="02020603050405020304" pitchFamily="18" charset="0"/>
              <a:cs typeface="Times New Roman" panose="02020603050405020304" pitchFamily="18" charset="0"/>
            </a:endParaRPr>
          </a:p>
        </p:txBody>
      </p:sp>
      <p:sp>
        <p:nvSpPr>
          <p:cNvPr id="10" name="矩形 9"/>
          <p:cNvSpPr/>
          <p:nvPr/>
        </p:nvSpPr>
        <p:spPr>
          <a:xfrm>
            <a:off x="1248246" y="1000261"/>
            <a:ext cx="2185214" cy="646331"/>
          </a:xfrm>
          <a:prstGeom prst="rect">
            <a:avLst/>
          </a:prstGeom>
        </p:spPr>
        <p:txBody>
          <a:bodyPr wrap="none">
            <a:spAutoFit/>
          </a:bodyPr>
          <a:lstStyle/>
          <a:p>
            <a:pPr algn="ctr"/>
            <a:r>
              <a:rPr lang="en-US" altLang="zh-TW" b="1" i="1" dirty="0">
                <a:latin typeface="Times New Roman" pitchFamily="18" charset="0"/>
                <a:cs typeface="Times New Roman" pitchFamily="18" charset="0"/>
              </a:rPr>
              <a:t>Pump power : </a:t>
            </a:r>
            <a:r>
              <a:rPr lang="en-US" altLang="zh-TW" b="1" i="1" dirty="0">
                <a:solidFill>
                  <a:srgbClr val="FF0000"/>
                </a:solidFill>
                <a:latin typeface="Times New Roman" pitchFamily="18" charset="0"/>
                <a:cs typeface="Times New Roman" pitchFamily="18" charset="0"/>
              </a:rPr>
              <a:t>6.3kW</a:t>
            </a:r>
            <a:endParaRPr lang="zh-TW" altLang="en-US" b="1" i="1" dirty="0">
              <a:solidFill>
                <a:srgbClr val="FF0000"/>
              </a:solidFill>
              <a:latin typeface="Times New Roman" panose="02020603050405020304" pitchFamily="18" charset="0"/>
              <a:cs typeface="Times New Roman" panose="02020603050405020304" pitchFamily="18" charset="0"/>
            </a:endParaRPr>
          </a:p>
          <a:p>
            <a:pPr algn="ctr"/>
            <a:endParaRPr lang="zh-TW" altLang="en-US" b="1" i="1" dirty="0">
              <a:solidFill>
                <a:srgbClr val="FF0000"/>
              </a:solidFill>
              <a:latin typeface="Times New Roman" panose="02020603050405020304" pitchFamily="18" charset="0"/>
              <a:cs typeface="Times New Roman" panose="02020603050405020304" pitchFamily="18" charset="0"/>
            </a:endParaRPr>
          </a:p>
        </p:txBody>
      </p:sp>
      <p:cxnSp>
        <p:nvCxnSpPr>
          <p:cNvPr id="13" name="直線接點 12"/>
          <p:cNvCxnSpPr/>
          <p:nvPr/>
        </p:nvCxnSpPr>
        <p:spPr>
          <a:xfrm flipH="1">
            <a:off x="59392" y="3991851"/>
            <a:ext cx="12141667" cy="33786"/>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17" name="直線接點 16"/>
          <p:cNvCxnSpPr/>
          <p:nvPr/>
        </p:nvCxnSpPr>
        <p:spPr>
          <a:xfrm>
            <a:off x="8283662" y="693063"/>
            <a:ext cx="0" cy="6164937"/>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18" name="直線接點 17"/>
          <p:cNvCxnSpPr/>
          <p:nvPr/>
        </p:nvCxnSpPr>
        <p:spPr>
          <a:xfrm>
            <a:off x="4322935" y="693062"/>
            <a:ext cx="0" cy="6164937"/>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21" name="直線接點 20"/>
          <p:cNvCxnSpPr/>
          <p:nvPr/>
        </p:nvCxnSpPr>
        <p:spPr>
          <a:xfrm flipH="1">
            <a:off x="1" y="1460405"/>
            <a:ext cx="12201058" cy="33125"/>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5" name="矩形 24"/>
          <p:cNvSpPr/>
          <p:nvPr/>
        </p:nvSpPr>
        <p:spPr>
          <a:xfrm>
            <a:off x="5372396" y="1000261"/>
            <a:ext cx="2185214" cy="646331"/>
          </a:xfrm>
          <a:prstGeom prst="rect">
            <a:avLst/>
          </a:prstGeom>
        </p:spPr>
        <p:txBody>
          <a:bodyPr wrap="none">
            <a:spAutoFit/>
          </a:bodyPr>
          <a:lstStyle/>
          <a:p>
            <a:pPr algn="ctr"/>
            <a:r>
              <a:rPr lang="en-US" altLang="zh-TW" b="1" i="1" dirty="0">
                <a:latin typeface="Times New Roman" pitchFamily="18" charset="0"/>
                <a:cs typeface="Times New Roman" pitchFamily="18" charset="0"/>
              </a:rPr>
              <a:t>Pump power : </a:t>
            </a:r>
            <a:r>
              <a:rPr lang="en-US" altLang="zh-TW" b="1" i="1" dirty="0">
                <a:solidFill>
                  <a:srgbClr val="FF0000"/>
                </a:solidFill>
                <a:latin typeface="Times New Roman" pitchFamily="18" charset="0"/>
                <a:cs typeface="Times New Roman" pitchFamily="18" charset="0"/>
              </a:rPr>
              <a:t>7.0kW</a:t>
            </a:r>
            <a:endParaRPr lang="zh-TW" altLang="en-US" b="1" i="1" dirty="0">
              <a:solidFill>
                <a:srgbClr val="FF0000"/>
              </a:solidFill>
              <a:latin typeface="Times New Roman" panose="02020603050405020304" pitchFamily="18" charset="0"/>
              <a:cs typeface="Times New Roman" panose="02020603050405020304" pitchFamily="18" charset="0"/>
            </a:endParaRPr>
          </a:p>
          <a:p>
            <a:pPr algn="ctr"/>
            <a:endParaRPr lang="zh-TW" altLang="en-US" b="1" i="1" dirty="0">
              <a:solidFill>
                <a:srgbClr val="FF0000"/>
              </a:solidFill>
              <a:latin typeface="Times New Roman" panose="02020603050405020304" pitchFamily="18" charset="0"/>
              <a:cs typeface="Times New Roman" panose="02020603050405020304" pitchFamily="18" charset="0"/>
            </a:endParaRPr>
          </a:p>
        </p:txBody>
      </p:sp>
      <p:sp>
        <p:nvSpPr>
          <p:cNvPr id="26" name="矩形 25"/>
          <p:cNvSpPr/>
          <p:nvPr/>
        </p:nvSpPr>
        <p:spPr>
          <a:xfrm>
            <a:off x="9196380" y="1001915"/>
            <a:ext cx="2185214" cy="646331"/>
          </a:xfrm>
          <a:prstGeom prst="rect">
            <a:avLst/>
          </a:prstGeom>
        </p:spPr>
        <p:txBody>
          <a:bodyPr wrap="none">
            <a:spAutoFit/>
          </a:bodyPr>
          <a:lstStyle/>
          <a:p>
            <a:pPr algn="ctr"/>
            <a:r>
              <a:rPr lang="en-US" altLang="zh-TW" b="1" i="1" dirty="0">
                <a:latin typeface="Times New Roman" pitchFamily="18" charset="0"/>
                <a:cs typeface="Times New Roman" pitchFamily="18" charset="0"/>
              </a:rPr>
              <a:t>Pump power : </a:t>
            </a:r>
            <a:r>
              <a:rPr lang="en-US" altLang="zh-TW" b="1" i="1" dirty="0">
                <a:solidFill>
                  <a:srgbClr val="FF0000"/>
                </a:solidFill>
                <a:latin typeface="Times New Roman" pitchFamily="18" charset="0"/>
                <a:cs typeface="Times New Roman" pitchFamily="18" charset="0"/>
              </a:rPr>
              <a:t>7.6kW</a:t>
            </a:r>
            <a:endParaRPr lang="zh-TW" altLang="en-US" b="1" i="1" dirty="0">
              <a:solidFill>
                <a:srgbClr val="FF0000"/>
              </a:solidFill>
              <a:latin typeface="Times New Roman" panose="02020603050405020304" pitchFamily="18" charset="0"/>
              <a:cs typeface="Times New Roman" panose="02020603050405020304" pitchFamily="18" charset="0"/>
            </a:endParaRPr>
          </a:p>
          <a:p>
            <a:pPr algn="ctr"/>
            <a:endParaRPr lang="zh-TW" altLang="en-US" b="1" i="1" dirty="0">
              <a:solidFill>
                <a:srgbClr val="FF0000"/>
              </a:solidFill>
              <a:latin typeface="Times New Roman" panose="02020603050405020304" pitchFamily="18" charset="0"/>
              <a:cs typeface="Times New Roman" panose="02020603050405020304" pitchFamily="18" charset="0"/>
            </a:endParaRPr>
          </a:p>
        </p:txBody>
      </p:sp>
      <p:sp>
        <p:nvSpPr>
          <p:cNvPr id="29" name="矩形 28"/>
          <p:cNvSpPr/>
          <p:nvPr/>
        </p:nvSpPr>
        <p:spPr>
          <a:xfrm>
            <a:off x="-16668" y="1460405"/>
            <a:ext cx="2111475" cy="646331"/>
          </a:xfrm>
          <a:prstGeom prst="rect">
            <a:avLst/>
          </a:prstGeom>
        </p:spPr>
        <p:txBody>
          <a:bodyPr wrap="none">
            <a:spAutoFit/>
          </a:bodyPr>
          <a:lstStyle/>
          <a:p>
            <a:pPr>
              <a:lnSpc>
                <a:spcPct val="150000"/>
              </a:lnSpc>
            </a:pPr>
            <a:r>
              <a:rPr lang="en-US" altLang="zh-TW" sz="1200" i="1" u="sng" dirty="0">
                <a:latin typeface="Times New Roman" panose="02020603050405020304" pitchFamily="18" charset="0"/>
                <a:cs typeface="Times New Roman" panose="02020603050405020304" pitchFamily="18" charset="0"/>
              </a:rPr>
              <a:t>Applied electric field 360V/mm</a:t>
            </a:r>
            <a:endParaRPr lang="zh-TW" altLang="en-US" sz="1200" i="1" u="sng" dirty="0">
              <a:latin typeface="Times New Roman" panose="02020603050405020304" pitchFamily="18" charset="0"/>
              <a:cs typeface="Times New Roman" panose="02020603050405020304" pitchFamily="18" charset="0"/>
            </a:endParaRPr>
          </a:p>
          <a:p>
            <a:endParaRPr lang="zh-TW" altLang="en-US" dirty="0"/>
          </a:p>
        </p:txBody>
      </p:sp>
      <p:sp>
        <p:nvSpPr>
          <p:cNvPr id="30" name="矩形 29"/>
          <p:cNvSpPr/>
          <p:nvPr/>
        </p:nvSpPr>
        <p:spPr>
          <a:xfrm>
            <a:off x="0" y="3991851"/>
            <a:ext cx="2111475" cy="646331"/>
          </a:xfrm>
          <a:prstGeom prst="rect">
            <a:avLst/>
          </a:prstGeom>
        </p:spPr>
        <p:txBody>
          <a:bodyPr wrap="none">
            <a:spAutoFit/>
          </a:bodyPr>
          <a:lstStyle/>
          <a:p>
            <a:pPr>
              <a:lnSpc>
                <a:spcPct val="150000"/>
              </a:lnSpc>
            </a:pPr>
            <a:r>
              <a:rPr lang="en-US" altLang="zh-TW" sz="1200" i="1" u="sng" dirty="0">
                <a:latin typeface="Times New Roman" panose="02020603050405020304" pitchFamily="18" charset="0"/>
                <a:cs typeface="Times New Roman" panose="02020603050405020304" pitchFamily="18" charset="0"/>
              </a:rPr>
              <a:t>Applied electric field 790V/mm</a:t>
            </a:r>
            <a:endParaRPr lang="zh-TW" altLang="en-US" sz="1200" i="1" u="sng" dirty="0">
              <a:latin typeface="Times New Roman" panose="02020603050405020304" pitchFamily="18" charset="0"/>
              <a:cs typeface="Times New Roman" panose="02020603050405020304" pitchFamily="18" charset="0"/>
            </a:endParaRPr>
          </a:p>
          <a:p>
            <a:endParaRPr lang="zh-TW" altLang="en-US" dirty="0"/>
          </a:p>
        </p:txBody>
      </p:sp>
      <p:sp>
        <p:nvSpPr>
          <p:cNvPr id="4" name="投影片編號版面配置區 3">
            <a:extLst>
              <a:ext uri="{FF2B5EF4-FFF2-40B4-BE49-F238E27FC236}">
                <a16:creationId xmlns:a16="http://schemas.microsoft.com/office/drawing/2014/main" id="{FD7A9C3F-D636-46E3-9A30-505F60F754DA}"/>
              </a:ext>
            </a:extLst>
          </p:cNvPr>
          <p:cNvSpPr>
            <a:spLocks noGrp="1"/>
          </p:cNvSpPr>
          <p:nvPr>
            <p:ph type="sldNum" sz="quarter" idx="12"/>
          </p:nvPr>
        </p:nvSpPr>
        <p:spPr>
          <a:xfrm>
            <a:off x="9448800" y="6492874"/>
            <a:ext cx="2743200" cy="365125"/>
          </a:xfrm>
        </p:spPr>
        <p:txBody>
          <a:bodyPr/>
          <a:lstStyle/>
          <a:p>
            <a:fld id="{29723A01-8C65-4E4C-95BB-6D96843E9278}" type="slidenum">
              <a:rPr lang="zh-TW" altLang="en-US" smtClean="0"/>
              <a:t>33</a:t>
            </a:fld>
            <a:endParaRPr lang="zh-TW" altLang="en-US" dirty="0"/>
          </a:p>
        </p:txBody>
      </p:sp>
      <p:pic>
        <p:nvPicPr>
          <p:cNvPr id="23" name="圖片 22" descr="D:\google雲端\中央光電\碩士論文\畢業論文相關\論文數據\EOOPO_360V_measurement_pump0.095mj.png"/>
          <p:cNvPicPr/>
          <p:nvPr/>
        </p:nvPicPr>
        <p:blipFill>
          <a:blip r:embed="rId6" cstate="hqprint">
            <a:extLst>
              <a:ext uri="{28A0092B-C50C-407E-A947-70E740481C1C}">
                <a14:useLocalDpi xmlns:a14="http://schemas.microsoft.com/office/drawing/2010/main" val="0"/>
              </a:ext>
            </a:extLst>
          </a:blip>
          <a:srcRect/>
          <a:stretch>
            <a:fillRect/>
          </a:stretch>
        </p:blipFill>
        <p:spPr bwMode="auto">
          <a:xfrm>
            <a:off x="4745077" y="1642207"/>
            <a:ext cx="3211648" cy="2347990"/>
          </a:xfrm>
          <a:prstGeom prst="rect">
            <a:avLst/>
          </a:prstGeom>
          <a:noFill/>
          <a:ln>
            <a:noFill/>
          </a:ln>
        </p:spPr>
      </p:pic>
      <p:pic>
        <p:nvPicPr>
          <p:cNvPr id="28" name="圖片 27" descr="D:\google雲端\中央光電\碩士論文\畢業論文相關\論文數據\EOOPO_780V_measurement_pump0.095mj.png"/>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4757143" y="4315015"/>
            <a:ext cx="3110318" cy="2406459"/>
          </a:xfrm>
          <a:prstGeom prst="rect">
            <a:avLst/>
          </a:prstGeom>
          <a:noFill/>
          <a:ln>
            <a:noFill/>
          </a:ln>
        </p:spPr>
      </p:pic>
      <p:sp>
        <p:nvSpPr>
          <p:cNvPr id="3" name="矩形 2"/>
          <p:cNvSpPr/>
          <p:nvPr/>
        </p:nvSpPr>
        <p:spPr>
          <a:xfrm>
            <a:off x="-62197" y="694479"/>
            <a:ext cx="2173672" cy="369332"/>
          </a:xfrm>
          <a:prstGeom prst="rect">
            <a:avLst/>
          </a:prstGeom>
        </p:spPr>
        <p:txBody>
          <a:bodyPr wrap="none">
            <a:spAutoFit/>
          </a:bodyPr>
          <a:lstStyle/>
          <a:p>
            <a:r>
              <a:rPr lang="en-US" altLang="zh-TW" b="1" i="1" dirty="0">
                <a:latin typeface="Times New Roman" pitchFamily="18" charset="0"/>
                <a:cs typeface="Times New Roman" pitchFamily="18" charset="0"/>
              </a:rPr>
              <a:t>Temperature: </a:t>
            </a:r>
            <a:r>
              <a:rPr lang="en-US" altLang="zh-TW" b="1" i="1" dirty="0">
                <a:solidFill>
                  <a:srgbClr val="FF0000"/>
                </a:solidFill>
                <a:latin typeface="Times New Roman" panose="02020603050405020304" pitchFamily="18" charset="0"/>
                <a:cs typeface="Times New Roman" panose="02020603050405020304" pitchFamily="18" charset="0"/>
              </a:rPr>
              <a:t>34.9℃</a:t>
            </a:r>
            <a:endParaRPr lang="zh-TW" altLang="en-US" b="1" i="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8754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94973" y="1199572"/>
            <a:ext cx="3656982" cy="2825849"/>
          </a:xfrm>
          <a:prstGeom prst="rect">
            <a:avLst/>
          </a:prstGeom>
        </p:spPr>
      </p:pic>
      <p:pic>
        <p:nvPicPr>
          <p:cNvPr id="9" name="圖片 8"/>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466411" y="1209850"/>
            <a:ext cx="3643680" cy="2815571"/>
          </a:xfrm>
          <a:prstGeom prst="rect">
            <a:avLst/>
          </a:prstGeom>
        </p:spPr>
      </p:pic>
      <p:pic>
        <p:nvPicPr>
          <p:cNvPr id="8" name="圖片 7"/>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435148" y="1168492"/>
            <a:ext cx="3675955" cy="2840512"/>
          </a:xfrm>
          <a:prstGeom prst="rect">
            <a:avLst/>
          </a:prstGeom>
        </p:spPr>
      </p:pic>
      <p:pic>
        <p:nvPicPr>
          <p:cNvPr id="7" name="圖片 6"/>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251409" y="4096508"/>
            <a:ext cx="3600545" cy="2782239"/>
          </a:xfrm>
          <a:prstGeom prst="rect">
            <a:avLst/>
          </a:prstGeom>
        </p:spPr>
      </p:pic>
      <p:pic>
        <p:nvPicPr>
          <p:cNvPr id="6" name="圖片 5"/>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4375989" y="4123701"/>
            <a:ext cx="3862507" cy="2730298"/>
          </a:xfrm>
          <a:prstGeom prst="rect">
            <a:avLst/>
          </a:prstGeom>
        </p:spPr>
      </p:pic>
      <p:pic>
        <p:nvPicPr>
          <p:cNvPr id="5" name="圖片 4"/>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8385857" y="4132464"/>
            <a:ext cx="3834252" cy="2710325"/>
          </a:xfrm>
          <a:prstGeom prst="rect">
            <a:avLst/>
          </a:prstGeom>
        </p:spPr>
      </p:pic>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73193" y="821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 Electric field working range </a:t>
            </a:r>
            <a:endParaRPr lang="zh-TW" altLang="en-US" sz="2800" b="1" dirty="0">
              <a:solidFill>
                <a:srgbClr val="FF0000"/>
              </a:solidFill>
              <a:latin typeface="Times New Roman" panose="02020603050405020304" pitchFamily="18" charset="0"/>
              <a:cs typeface="Times New Roman" panose="02020603050405020304" pitchFamily="18" charset="0"/>
            </a:endParaRPr>
          </a:p>
        </p:txBody>
      </p:sp>
      <p:sp>
        <p:nvSpPr>
          <p:cNvPr id="10" name="矩形 9"/>
          <p:cNvSpPr/>
          <p:nvPr/>
        </p:nvSpPr>
        <p:spPr>
          <a:xfrm>
            <a:off x="168900" y="759077"/>
            <a:ext cx="2173672" cy="646331"/>
          </a:xfrm>
          <a:prstGeom prst="rect">
            <a:avLst/>
          </a:prstGeom>
        </p:spPr>
        <p:txBody>
          <a:bodyPr wrap="none">
            <a:spAutoFit/>
          </a:bodyPr>
          <a:lstStyle/>
          <a:p>
            <a:r>
              <a:rPr lang="en-US" altLang="zh-TW" b="1" i="1" dirty="0">
                <a:latin typeface="Times New Roman" pitchFamily="18" charset="0"/>
                <a:cs typeface="Times New Roman" pitchFamily="18" charset="0"/>
              </a:rPr>
              <a:t>Temperature: </a:t>
            </a:r>
            <a:r>
              <a:rPr lang="en-US" altLang="zh-TW" b="1" i="1" dirty="0">
                <a:solidFill>
                  <a:srgbClr val="FF0000"/>
                </a:solidFill>
                <a:latin typeface="Times New Roman" panose="02020603050405020304" pitchFamily="18" charset="0"/>
                <a:cs typeface="Times New Roman" panose="02020603050405020304" pitchFamily="18" charset="0"/>
              </a:rPr>
              <a:t>34.9℃</a:t>
            </a:r>
            <a:endParaRPr lang="zh-TW" altLang="en-US" b="1" i="1" dirty="0">
              <a:solidFill>
                <a:srgbClr val="FF0000"/>
              </a:solidFill>
              <a:latin typeface="Times New Roman" panose="02020603050405020304" pitchFamily="18" charset="0"/>
              <a:cs typeface="Times New Roman" panose="02020603050405020304" pitchFamily="18" charset="0"/>
            </a:endParaRPr>
          </a:p>
          <a:p>
            <a:pPr algn="ctr"/>
            <a:endParaRPr lang="zh-TW" altLang="en-US" b="1" i="1" dirty="0">
              <a:solidFill>
                <a:srgbClr val="FF0000"/>
              </a:solidFill>
              <a:latin typeface="Times New Roman" panose="02020603050405020304" pitchFamily="18" charset="0"/>
              <a:cs typeface="Times New Roman" panose="02020603050405020304" pitchFamily="18" charset="0"/>
            </a:endParaRPr>
          </a:p>
        </p:txBody>
      </p:sp>
      <p:cxnSp>
        <p:nvCxnSpPr>
          <p:cNvPr id="13" name="直線接點 12"/>
          <p:cNvCxnSpPr/>
          <p:nvPr/>
        </p:nvCxnSpPr>
        <p:spPr>
          <a:xfrm flipH="1">
            <a:off x="78442" y="4057668"/>
            <a:ext cx="12141667" cy="33786"/>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17" name="直線接點 16"/>
          <p:cNvCxnSpPr/>
          <p:nvPr/>
        </p:nvCxnSpPr>
        <p:spPr>
          <a:xfrm>
            <a:off x="8227603" y="1150762"/>
            <a:ext cx="56060" cy="5707238"/>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18" name="直線接點 17"/>
          <p:cNvCxnSpPr/>
          <p:nvPr/>
        </p:nvCxnSpPr>
        <p:spPr>
          <a:xfrm>
            <a:off x="4274893" y="1134200"/>
            <a:ext cx="48042" cy="5723799"/>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21" name="直線接點 20"/>
          <p:cNvCxnSpPr/>
          <p:nvPr/>
        </p:nvCxnSpPr>
        <p:spPr>
          <a:xfrm flipH="1">
            <a:off x="1" y="1134200"/>
            <a:ext cx="12201058" cy="33125"/>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9" name="矩形 28"/>
          <p:cNvSpPr/>
          <p:nvPr/>
        </p:nvSpPr>
        <p:spPr>
          <a:xfrm>
            <a:off x="2363900" y="648077"/>
            <a:ext cx="2012089" cy="784830"/>
          </a:xfrm>
          <a:prstGeom prst="rect">
            <a:avLst/>
          </a:prstGeom>
        </p:spPr>
        <p:txBody>
          <a:bodyPr wrap="none">
            <a:spAutoFit/>
          </a:bodyPr>
          <a:lstStyle/>
          <a:p>
            <a:pPr>
              <a:lnSpc>
                <a:spcPct val="150000"/>
              </a:lnSpc>
            </a:pPr>
            <a:r>
              <a:rPr lang="en-US" altLang="zh-TW" b="1" i="1" dirty="0">
                <a:latin typeface="Times New Roman" panose="02020603050405020304" pitchFamily="18" charset="0"/>
                <a:cs typeface="Times New Roman" panose="02020603050405020304" pitchFamily="18" charset="0"/>
              </a:rPr>
              <a:t>Pump power : </a:t>
            </a:r>
            <a:r>
              <a:rPr lang="en-US" altLang="zh-TW" b="1" i="1" dirty="0">
                <a:solidFill>
                  <a:srgbClr val="FF0000"/>
                </a:solidFill>
                <a:latin typeface="Times New Roman" panose="02020603050405020304" pitchFamily="18" charset="0"/>
                <a:cs typeface="Times New Roman" panose="02020603050405020304" pitchFamily="18" charset="0"/>
              </a:rPr>
              <a:t>7kW</a:t>
            </a:r>
            <a:endParaRPr lang="zh-TW" altLang="en-US" b="1" i="1" dirty="0">
              <a:solidFill>
                <a:srgbClr val="FF0000"/>
              </a:solidFill>
              <a:latin typeface="Times New Roman" panose="02020603050405020304" pitchFamily="18" charset="0"/>
              <a:cs typeface="Times New Roman" panose="02020603050405020304" pitchFamily="18" charset="0"/>
            </a:endParaRPr>
          </a:p>
          <a:p>
            <a:endParaRPr lang="zh-TW" altLang="en-US" dirty="0"/>
          </a:p>
        </p:txBody>
      </p:sp>
      <p:sp>
        <p:nvSpPr>
          <p:cNvPr id="4" name="投影片編號版面配置區 3">
            <a:extLst>
              <a:ext uri="{FF2B5EF4-FFF2-40B4-BE49-F238E27FC236}">
                <a16:creationId xmlns:a16="http://schemas.microsoft.com/office/drawing/2014/main" id="{FD7A9C3F-D636-46E3-9A30-505F60F754DA}"/>
              </a:ext>
            </a:extLst>
          </p:cNvPr>
          <p:cNvSpPr>
            <a:spLocks noGrp="1"/>
          </p:cNvSpPr>
          <p:nvPr>
            <p:ph type="sldNum" sz="quarter" idx="12"/>
          </p:nvPr>
        </p:nvSpPr>
        <p:spPr>
          <a:xfrm>
            <a:off x="9476909" y="6492875"/>
            <a:ext cx="2743200" cy="365125"/>
          </a:xfrm>
        </p:spPr>
        <p:txBody>
          <a:bodyPr/>
          <a:lstStyle/>
          <a:p>
            <a:fld id="{29723A01-8C65-4E4C-95BB-6D96843E9278}" type="slidenum">
              <a:rPr lang="zh-TW" altLang="en-US" smtClean="0"/>
              <a:t>34</a:t>
            </a:fld>
            <a:endParaRPr lang="zh-TW" altLang="en-US" dirty="0"/>
          </a:p>
        </p:txBody>
      </p:sp>
      <p:sp>
        <p:nvSpPr>
          <p:cNvPr id="19" name="矩形 18"/>
          <p:cNvSpPr/>
          <p:nvPr/>
        </p:nvSpPr>
        <p:spPr>
          <a:xfrm>
            <a:off x="0" y="1151219"/>
            <a:ext cx="1385636" cy="339773"/>
          </a:xfrm>
          <a:prstGeom prst="rect">
            <a:avLst/>
          </a:prstGeom>
        </p:spPr>
        <p:txBody>
          <a:bodyPr wrap="none">
            <a:spAutoFit/>
          </a:bodyPr>
          <a:lstStyle/>
          <a:p>
            <a:pPr>
              <a:lnSpc>
                <a:spcPct val="150000"/>
              </a:lnSpc>
            </a:pPr>
            <a:r>
              <a:rPr lang="en-US" altLang="zh-TW" sz="1200" i="1" u="sng" dirty="0">
                <a:latin typeface="Times New Roman" panose="02020603050405020304" pitchFamily="18" charset="0"/>
                <a:cs typeface="Times New Roman" panose="02020603050405020304" pitchFamily="18" charset="0"/>
              </a:rPr>
              <a:t>Working range 50V</a:t>
            </a:r>
            <a:endParaRPr lang="zh-TW" altLang="en-US" dirty="0"/>
          </a:p>
        </p:txBody>
      </p:sp>
      <p:sp>
        <p:nvSpPr>
          <p:cNvPr id="20" name="矩形 19"/>
          <p:cNvSpPr/>
          <p:nvPr/>
        </p:nvSpPr>
        <p:spPr>
          <a:xfrm>
            <a:off x="0" y="4068169"/>
            <a:ext cx="1462580" cy="339773"/>
          </a:xfrm>
          <a:prstGeom prst="rect">
            <a:avLst/>
          </a:prstGeom>
        </p:spPr>
        <p:txBody>
          <a:bodyPr wrap="none">
            <a:spAutoFit/>
          </a:bodyPr>
          <a:lstStyle/>
          <a:p>
            <a:pPr>
              <a:lnSpc>
                <a:spcPct val="150000"/>
              </a:lnSpc>
            </a:pPr>
            <a:r>
              <a:rPr lang="en-US" altLang="zh-TW" sz="1200" i="1" u="sng" dirty="0">
                <a:latin typeface="Times New Roman" panose="02020603050405020304" pitchFamily="18" charset="0"/>
                <a:cs typeface="Times New Roman" panose="02020603050405020304" pitchFamily="18" charset="0"/>
              </a:rPr>
              <a:t>Working range 250V</a:t>
            </a:r>
            <a:endParaRPr lang="zh-TW" altLang="en-US" dirty="0"/>
          </a:p>
        </p:txBody>
      </p:sp>
    </p:spTree>
    <p:extLst>
      <p:ext uri="{BB962C8B-B14F-4D97-AF65-F5344CB8AC3E}">
        <p14:creationId xmlns:p14="http://schemas.microsoft.com/office/powerpoint/2010/main" val="204519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4254925" y="3886842"/>
            <a:ext cx="4054138" cy="2865756"/>
          </a:xfrm>
          <a:prstGeom prst="rect">
            <a:avLst/>
          </a:prstGeom>
        </p:spPr>
      </p:pic>
      <p:pic>
        <p:nvPicPr>
          <p:cNvPr id="7" name="圖片 6"/>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258817" y="3968741"/>
            <a:ext cx="3911544" cy="2764960"/>
          </a:xfrm>
          <a:prstGeom prst="rect">
            <a:avLst/>
          </a:prstGeom>
        </p:spPr>
      </p:pic>
      <p:pic>
        <p:nvPicPr>
          <p:cNvPr id="8" name="圖片 7"/>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36193" y="4109089"/>
            <a:ext cx="3795566" cy="2682979"/>
          </a:xfrm>
          <a:prstGeom prst="rect">
            <a:avLst/>
          </a:prstGeom>
        </p:spPr>
      </p:pic>
      <p:pic>
        <p:nvPicPr>
          <p:cNvPr id="3" name="圖片 2"/>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8290658" y="1212756"/>
            <a:ext cx="3872113" cy="2737088"/>
          </a:xfrm>
          <a:prstGeom prst="rect">
            <a:avLst/>
          </a:prstGeom>
        </p:spPr>
      </p:pic>
      <p:pic>
        <p:nvPicPr>
          <p:cNvPr id="6" name="圖片 5"/>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4337522" y="1191113"/>
            <a:ext cx="3792489" cy="2680804"/>
          </a:xfrm>
          <a:prstGeom prst="rect">
            <a:avLst/>
          </a:prstGeom>
        </p:spPr>
      </p:pic>
      <p:pic>
        <p:nvPicPr>
          <p:cNvPr id="5" name="圖片 4"/>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292400" y="1247009"/>
            <a:ext cx="3728623" cy="2635659"/>
          </a:xfrm>
          <a:prstGeom prst="rect">
            <a:avLst/>
          </a:prstGeom>
        </p:spPr>
      </p:pic>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73193" y="821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Temperature Tolerance </a:t>
            </a:r>
            <a:endParaRPr lang="zh-TW" altLang="en-US" sz="2800" b="1" dirty="0">
              <a:solidFill>
                <a:srgbClr val="FF0000"/>
              </a:solidFill>
              <a:latin typeface="Times New Roman" panose="02020603050405020304" pitchFamily="18" charset="0"/>
              <a:cs typeface="Times New Roman" panose="02020603050405020304" pitchFamily="18" charset="0"/>
            </a:endParaRPr>
          </a:p>
        </p:txBody>
      </p:sp>
      <p:cxnSp>
        <p:nvCxnSpPr>
          <p:cNvPr id="13" name="直線接點 12"/>
          <p:cNvCxnSpPr/>
          <p:nvPr/>
        </p:nvCxnSpPr>
        <p:spPr>
          <a:xfrm flipH="1">
            <a:off x="13027" y="3938007"/>
            <a:ext cx="12141667" cy="33786"/>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17" name="直線接點 16"/>
          <p:cNvCxnSpPr/>
          <p:nvPr/>
        </p:nvCxnSpPr>
        <p:spPr>
          <a:xfrm>
            <a:off x="8265814" y="1176050"/>
            <a:ext cx="17848" cy="568195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18" name="直線接點 17"/>
          <p:cNvCxnSpPr/>
          <p:nvPr/>
        </p:nvCxnSpPr>
        <p:spPr>
          <a:xfrm>
            <a:off x="4300396" y="1176050"/>
            <a:ext cx="22539" cy="5681949"/>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21" name="直線接點 20"/>
          <p:cNvCxnSpPr/>
          <p:nvPr/>
        </p:nvCxnSpPr>
        <p:spPr>
          <a:xfrm flipH="1">
            <a:off x="-16668" y="1159488"/>
            <a:ext cx="12201058" cy="33125"/>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9" name="矩形 28"/>
          <p:cNvSpPr/>
          <p:nvPr/>
        </p:nvSpPr>
        <p:spPr>
          <a:xfrm>
            <a:off x="0" y="1151219"/>
            <a:ext cx="3163045" cy="646331"/>
          </a:xfrm>
          <a:prstGeom prst="rect">
            <a:avLst/>
          </a:prstGeom>
        </p:spPr>
        <p:txBody>
          <a:bodyPr wrap="none">
            <a:spAutoFit/>
          </a:bodyPr>
          <a:lstStyle/>
          <a:p>
            <a:pPr>
              <a:lnSpc>
                <a:spcPct val="150000"/>
              </a:lnSpc>
            </a:pPr>
            <a:r>
              <a:rPr lang="en-US" altLang="zh-TW" sz="1200" i="1" u="sng" dirty="0">
                <a:latin typeface="Times New Roman" panose="02020603050405020304" pitchFamily="18" charset="0"/>
                <a:cs typeface="Times New Roman" panose="02020603050405020304" pitchFamily="18" charset="0"/>
              </a:rPr>
              <a:t>Applied electric field 360V/mm : 34.9℃~35.0℃</a:t>
            </a:r>
            <a:endParaRPr lang="zh-TW" altLang="en-US" sz="1200" i="1" u="sng" dirty="0">
              <a:latin typeface="Times New Roman" panose="02020603050405020304" pitchFamily="18" charset="0"/>
              <a:cs typeface="Times New Roman" panose="02020603050405020304" pitchFamily="18" charset="0"/>
            </a:endParaRPr>
          </a:p>
          <a:p>
            <a:endParaRPr lang="zh-TW" altLang="en-US" dirty="0"/>
          </a:p>
        </p:txBody>
      </p:sp>
      <p:sp>
        <p:nvSpPr>
          <p:cNvPr id="30" name="矩形 29"/>
          <p:cNvSpPr/>
          <p:nvPr/>
        </p:nvSpPr>
        <p:spPr>
          <a:xfrm>
            <a:off x="13027" y="3937064"/>
            <a:ext cx="3163045" cy="923330"/>
          </a:xfrm>
          <a:prstGeom prst="rect">
            <a:avLst/>
          </a:prstGeom>
        </p:spPr>
        <p:txBody>
          <a:bodyPr wrap="none">
            <a:spAutoFit/>
          </a:bodyPr>
          <a:lstStyle/>
          <a:p>
            <a:pPr>
              <a:lnSpc>
                <a:spcPct val="150000"/>
              </a:lnSpc>
            </a:pPr>
            <a:r>
              <a:rPr lang="en-US" altLang="zh-TW" sz="1200" i="1" u="sng" dirty="0">
                <a:latin typeface="Times New Roman" panose="02020603050405020304" pitchFamily="18" charset="0"/>
                <a:cs typeface="Times New Roman" panose="02020603050405020304" pitchFamily="18" charset="0"/>
              </a:rPr>
              <a:t>Applied electric field 790V/mm : 33.0℃~35.0℃</a:t>
            </a:r>
            <a:endParaRPr lang="zh-TW" altLang="en-US" sz="1200" i="1" u="sng" dirty="0">
              <a:latin typeface="Times New Roman" panose="02020603050405020304" pitchFamily="18" charset="0"/>
              <a:cs typeface="Times New Roman" panose="02020603050405020304" pitchFamily="18" charset="0"/>
            </a:endParaRPr>
          </a:p>
          <a:p>
            <a:pPr>
              <a:lnSpc>
                <a:spcPct val="150000"/>
              </a:lnSpc>
            </a:pPr>
            <a:endParaRPr lang="zh-TW" altLang="en-US" sz="1200" i="1" u="sng" dirty="0">
              <a:latin typeface="Times New Roman" panose="02020603050405020304" pitchFamily="18" charset="0"/>
              <a:cs typeface="Times New Roman" panose="02020603050405020304" pitchFamily="18" charset="0"/>
            </a:endParaRPr>
          </a:p>
          <a:p>
            <a:endParaRPr lang="zh-TW" altLang="en-US" dirty="0"/>
          </a:p>
        </p:txBody>
      </p:sp>
      <p:sp>
        <p:nvSpPr>
          <p:cNvPr id="4" name="投影片編號版面配置區 3">
            <a:extLst>
              <a:ext uri="{FF2B5EF4-FFF2-40B4-BE49-F238E27FC236}">
                <a16:creationId xmlns:a16="http://schemas.microsoft.com/office/drawing/2014/main" id="{FD7A9C3F-D636-46E3-9A30-505F60F754DA}"/>
              </a:ext>
            </a:extLst>
          </p:cNvPr>
          <p:cNvSpPr>
            <a:spLocks noGrp="1"/>
          </p:cNvSpPr>
          <p:nvPr>
            <p:ph type="sldNum" sz="quarter" idx="12"/>
          </p:nvPr>
        </p:nvSpPr>
        <p:spPr>
          <a:xfrm>
            <a:off x="9448800" y="6492532"/>
            <a:ext cx="2743200" cy="365125"/>
          </a:xfrm>
        </p:spPr>
        <p:txBody>
          <a:bodyPr/>
          <a:lstStyle/>
          <a:p>
            <a:fld id="{29723A01-8C65-4E4C-95BB-6D96843E9278}" type="slidenum">
              <a:rPr lang="zh-TW" altLang="en-US" smtClean="0"/>
              <a:t>35</a:t>
            </a:fld>
            <a:endParaRPr lang="zh-TW" altLang="en-US" dirty="0"/>
          </a:p>
        </p:txBody>
      </p:sp>
      <p:sp>
        <p:nvSpPr>
          <p:cNvPr id="34" name="矩形 33"/>
          <p:cNvSpPr/>
          <p:nvPr/>
        </p:nvSpPr>
        <p:spPr>
          <a:xfrm>
            <a:off x="99386" y="644700"/>
            <a:ext cx="2012089" cy="784830"/>
          </a:xfrm>
          <a:prstGeom prst="rect">
            <a:avLst/>
          </a:prstGeom>
        </p:spPr>
        <p:txBody>
          <a:bodyPr wrap="none">
            <a:spAutoFit/>
          </a:bodyPr>
          <a:lstStyle/>
          <a:p>
            <a:pPr>
              <a:lnSpc>
                <a:spcPct val="150000"/>
              </a:lnSpc>
            </a:pPr>
            <a:r>
              <a:rPr lang="en-US" altLang="zh-TW" b="1" i="1" dirty="0">
                <a:latin typeface="Times New Roman" panose="02020603050405020304" pitchFamily="18" charset="0"/>
                <a:cs typeface="Times New Roman" panose="02020603050405020304" pitchFamily="18" charset="0"/>
              </a:rPr>
              <a:t>Pump power : </a:t>
            </a:r>
            <a:r>
              <a:rPr lang="en-US" altLang="zh-TW" b="1" i="1" dirty="0">
                <a:solidFill>
                  <a:srgbClr val="FF0000"/>
                </a:solidFill>
                <a:latin typeface="Times New Roman" panose="02020603050405020304" pitchFamily="18" charset="0"/>
                <a:cs typeface="Times New Roman" panose="02020603050405020304" pitchFamily="18" charset="0"/>
              </a:rPr>
              <a:t>7kW</a:t>
            </a:r>
            <a:endParaRPr lang="zh-TW" altLang="en-US" b="1" i="1" dirty="0">
              <a:solidFill>
                <a:srgbClr val="FF0000"/>
              </a:solidFill>
              <a:latin typeface="Times New Roman" panose="02020603050405020304" pitchFamily="18" charset="0"/>
              <a:cs typeface="Times New Roman" panose="02020603050405020304" pitchFamily="18" charset="0"/>
            </a:endParaRPr>
          </a:p>
          <a:p>
            <a:endParaRPr lang="zh-TW" altLang="en-US" dirty="0"/>
          </a:p>
        </p:txBody>
      </p:sp>
    </p:spTree>
    <p:extLst>
      <p:ext uri="{BB962C8B-B14F-4D97-AF65-F5344CB8AC3E}">
        <p14:creationId xmlns:p14="http://schemas.microsoft.com/office/powerpoint/2010/main" val="40260423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63668" y="821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Time domain measurement results</a:t>
            </a:r>
          </a:p>
        </p:txBody>
      </p:sp>
      <p:pic>
        <p:nvPicPr>
          <p:cNvPr id="5" name="圖片 4"/>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707945" y="927936"/>
            <a:ext cx="3980528" cy="3075863"/>
          </a:xfrm>
          <a:prstGeom prst="rect">
            <a:avLst/>
          </a:prstGeom>
        </p:spPr>
      </p:pic>
      <p:pic>
        <p:nvPicPr>
          <p:cNvPr id="10" name="內容版面配置區 2"/>
          <p:cNvPicPr>
            <a:picLocks noGrp="1" noChangeAspect="1"/>
          </p:cNvPicPr>
          <p:nvPr>
            <p:ph idx="1"/>
          </p:nvPr>
        </p:nvPicPr>
        <p:blipFill rotWithShape="1">
          <a:blip r:embed="rId3" cstate="hqprint">
            <a:extLst>
              <a:ext uri="{28A0092B-C50C-407E-A947-70E740481C1C}">
                <a14:useLocalDpi xmlns:a14="http://schemas.microsoft.com/office/drawing/2010/main" val="0"/>
              </a:ext>
            </a:extLst>
          </a:blip>
          <a:srcRect t="317" b="4635"/>
          <a:stretch/>
        </p:blipFill>
        <p:spPr>
          <a:xfrm>
            <a:off x="1707945" y="4034961"/>
            <a:ext cx="3671514" cy="2696584"/>
          </a:xfrm>
        </p:spPr>
      </p:pic>
      <p:pic>
        <p:nvPicPr>
          <p:cNvPr id="3" name="圖片 2"/>
          <p:cNvPicPr>
            <a:picLocks noChangeAspect="1"/>
          </p:cNvPicPr>
          <p:nvPr/>
        </p:nvPicPr>
        <p:blipFill rotWithShape="1">
          <a:blip r:embed="rId4" cstate="hqprint">
            <a:extLst>
              <a:ext uri="{28A0092B-C50C-407E-A947-70E740481C1C}">
                <a14:useLocalDpi xmlns:a14="http://schemas.microsoft.com/office/drawing/2010/main" val="0"/>
              </a:ext>
            </a:extLst>
          </a:blip>
          <a:srcRect l="-928" t="-4806" r="928" b="4806"/>
          <a:stretch/>
        </p:blipFill>
        <p:spPr>
          <a:xfrm>
            <a:off x="6771784" y="780806"/>
            <a:ext cx="3854507" cy="2978483"/>
          </a:xfrm>
          <a:prstGeom prst="rect">
            <a:avLst/>
          </a:prstGeom>
        </p:spPr>
      </p:pic>
      <p:sp>
        <p:nvSpPr>
          <p:cNvPr id="11" name="矩形 10"/>
          <p:cNvSpPr/>
          <p:nvPr/>
        </p:nvSpPr>
        <p:spPr>
          <a:xfrm>
            <a:off x="1998758" y="720754"/>
            <a:ext cx="3666388" cy="646331"/>
          </a:xfrm>
          <a:prstGeom prst="rect">
            <a:avLst/>
          </a:prstGeom>
        </p:spPr>
        <p:txBody>
          <a:bodyPr wrap="none">
            <a:spAutoFit/>
          </a:bodyPr>
          <a:lstStyle/>
          <a:p>
            <a:r>
              <a:rPr lang="en-US" altLang="zh-TW" b="1" i="1" dirty="0">
                <a:latin typeface="Times New Roman" pitchFamily="18" charset="0"/>
                <a:cs typeface="Times New Roman" pitchFamily="18" charset="0"/>
              </a:rPr>
              <a:t>Pump pulse width is stable at 13.6ns</a:t>
            </a:r>
            <a:endParaRPr lang="zh-TW" altLang="en-US" b="1" i="1" dirty="0">
              <a:solidFill>
                <a:srgbClr val="FF0000"/>
              </a:solidFill>
              <a:latin typeface="Times New Roman" panose="02020603050405020304" pitchFamily="18" charset="0"/>
              <a:cs typeface="Times New Roman" panose="02020603050405020304" pitchFamily="18" charset="0"/>
            </a:endParaRPr>
          </a:p>
          <a:p>
            <a:endParaRPr lang="zh-TW" altLang="en-US" b="1" dirty="0"/>
          </a:p>
        </p:txBody>
      </p:sp>
      <p:sp>
        <p:nvSpPr>
          <p:cNvPr id="4" name="投影片編號版面配置區 3">
            <a:extLst>
              <a:ext uri="{FF2B5EF4-FFF2-40B4-BE49-F238E27FC236}">
                <a16:creationId xmlns:a16="http://schemas.microsoft.com/office/drawing/2014/main" id="{03C23701-CEBF-4FE5-A8ED-CF037AFDD767}"/>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36</a:t>
            </a:fld>
            <a:endParaRPr lang="zh-TW" altLang="en-US"/>
          </a:p>
        </p:txBody>
      </p:sp>
      <p:sp>
        <p:nvSpPr>
          <p:cNvPr id="12" name="矩形 11">
            <a:extLst>
              <a:ext uri="{FF2B5EF4-FFF2-40B4-BE49-F238E27FC236}">
                <a16:creationId xmlns:a16="http://schemas.microsoft.com/office/drawing/2014/main" id="{F08724B3-7F86-49DC-ADCB-6B0C80C8CFFF}"/>
              </a:ext>
            </a:extLst>
          </p:cNvPr>
          <p:cNvSpPr/>
          <p:nvPr/>
        </p:nvSpPr>
        <p:spPr>
          <a:xfrm>
            <a:off x="7878424" y="722713"/>
            <a:ext cx="1890261" cy="369332"/>
          </a:xfrm>
          <a:prstGeom prst="rect">
            <a:avLst/>
          </a:prstGeom>
        </p:spPr>
        <p:txBody>
          <a:bodyPr wrap="none">
            <a:spAutoFit/>
          </a:bodyPr>
          <a:lstStyle/>
          <a:p>
            <a:r>
              <a:rPr lang="en-US" altLang="zh-TW" b="1" i="1" dirty="0">
                <a:latin typeface="Times New Roman" panose="02020603050405020304" pitchFamily="18" charset="0"/>
                <a:cs typeface="Times New Roman" panose="02020603050405020304" pitchFamily="18" charset="0"/>
              </a:rPr>
              <a:t>OPOs pulse width</a:t>
            </a:r>
            <a:endParaRPr lang="zh-TW" altLang="en-US" b="1" i="1" dirty="0">
              <a:latin typeface="Times New Roman" panose="02020603050405020304" pitchFamily="18" charset="0"/>
              <a:cs typeface="Times New Roman" panose="02020603050405020304" pitchFamily="18" charset="0"/>
            </a:endParaRPr>
          </a:p>
        </p:txBody>
      </p:sp>
      <p:sp>
        <p:nvSpPr>
          <p:cNvPr id="13" name="矩形 12">
            <a:extLst>
              <a:ext uri="{FF2B5EF4-FFF2-40B4-BE49-F238E27FC236}">
                <a16:creationId xmlns:a16="http://schemas.microsoft.com/office/drawing/2014/main" id="{82B67FD5-6E5E-4537-8579-D0F96414E1DB}"/>
              </a:ext>
            </a:extLst>
          </p:cNvPr>
          <p:cNvSpPr/>
          <p:nvPr/>
        </p:nvSpPr>
        <p:spPr>
          <a:xfrm>
            <a:off x="2526687" y="3745817"/>
            <a:ext cx="2210862" cy="369332"/>
          </a:xfrm>
          <a:prstGeom prst="rect">
            <a:avLst/>
          </a:prstGeom>
        </p:spPr>
        <p:txBody>
          <a:bodyPr wrap="none">
            <a:spAutoFit/>
          </a:bodyPr>
          <a:lstStyle/>
          <a:p>
            <a:r>
              <a:rPr lang="en-US" altLang="zh-TW" b="1" i="1" dirty="0">
                <a:latin typeface="Times New Roman" panose="02020603050405020304" pitchFamily="18" charset="0"/>
                <a:cs typeface="Times New Roman" panose="02020603050405020304" pitchFamily="18" charset="0"/>
              </a:rPr>
              <a:t>OPOs Repetition rate</a:t>
            </a:r>
            <a:endParaRPr lang="zh-TW" altLang="en-US" b="1" i="1" dirty="0">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D4749A4D-F100-472A-942C-940C065B278D}"/>
              </a:ext>
            </a:extLst>
          </p:cNvPr>
          <p:cNvSpPr/>
          <p:nvPr/>
        </p:nvSpPr>
        <p:spPr>
          <a:xfrm>
            <a:off x="6983560" y="3745817"/>
            <a:ext cx="4051109" cy="369332"/>
          </a:xfrm>
          <a:prstGeom prst="rect">
            <a:avLst/>
          </a:prstGeom>
        </p:spPr>
        <p:txBody>
          <a:bodyPr wrap="none">
            <a:spAutoFit/>
          </a:bodyPr>
          <a:lstStyle/>
          <a:p>
            <a:r>
              <a:rPr lang="en-US" altLang="zh-TW" b="1" i="1" dirty="0">
                <a:latin typeface="Times New Roman" panose="02020603050405020304" pitchFamily="18" charset="0"/>
                <a:cs typeface="Times New Roman" panose="02020603050405020304" pitchFamily="18" charset="0"/>
              </a:rPr>
              <a:t>Pulse width and peak power relationship</a:t>
            </a:r>
            <a:endParaRPr lang="zh-TW" altLang="en-US" b="1" i="1" dirty="0">
              <a:latin typeface="Times New Roman" panose="02020603050405020304" pitchFamily="18" charset="0"/>
              <a:cs typeface="Times New Roman" panose="02020603050405020304" pitchFamily="18" charset="0"/>
            </a:endParaRPr>
          </a:p>
        </p:txBody>
      </p:sp>
      <p:pic>
        <p:nvPicPr>
          <p:cNvPr id="15" name="圖片 14">
            <a:extLst>
              <a:ext uri="{FF2B5EF4-FFF2-40B4-BE49-F238E27FC236}">
                <a16:creationId xmlns:a16="http://schemas.microsoft.com/office/drawing/2014/main" id="{789BAC36-0E41-401F-82F6-9BF903C4500E}"/>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098392" y="4075916"/>
            <a:ext cx="3540869" cy="2736126"/>
          </a:xfrm>
          <a:prstGeom prst="rect">
            <a:avLst/>
          </a:prstGeom>
        </p:spPr>
      </p:pic>
    </p:spTree>
    <p:extLst>
      <p:ext uri="{BB962C8B-B14F-4D97-AF65-F5344CB8AC3E}">
        <p14:creationId xmlns:p14="http://schemas.microsoft.com/office/powerpoint/2010/main" val="33199553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63051"/>
            <a:ext cx="11152166" cy="584775"/>
          </a:xfrm>
          <a:prstGeom prst="rect">
            <a:avLst/>
          </a:prstGeom>
          <a:solidFill>
            <a:srgbClr val="FFFFD8"/>
          </a:solidFill>
          <a:ln w="38100">
            <a:solidFill>
              <a:srgbClr val="8F9DFE"/>
            </a:solidFill>
          </a:ln>
        </p:spPr>
        <p:txBody>
          <a:bodyPr wrap="square" rtlCol="0">
            <a:spAutoFit/>
          </a:bodyPr>
          <a:lstStyle/>
          <a:p>
            <a:pPr algn="ctr"/>
            <a:r>
              <a:rPr lang="en-US" altLang="zh-TW" sz="3200" b="1" dirty="0">
                <a:latin typeface="Times New Roman" panose="02020603050405020304" pitchFamily="18" charset="0"/>
                <a:cs typeface="Times New Roman" panose="02020603050405020304" pitchFamily="18" charset="0"/>
              </a:rPr>
              <a:t>Outline</a:t>
            </a:r>
            <a:endParaRPr lang="zh-TW" altLang="en-US" sz="3200" b="1" dirty="0">
              <a:latin typeface="Times New Roman" panose="02020603050405020304" pitchFamily="18" charset="0"/>
              <a:cs typeface="Times New Roman" panose="02020603050405020304" pitchFamily="18" charset="0"/>
            </a:endParaRPr>
          </a:p>
        </p:txBody>
      </p:sp>
      <p:sp>
        <p:nvSpPr>
          <p:cNvPr id="3" name="矩形 2"/>
          <p:cNvSpPr/>
          <p:nvPr/>
        </p:nvSpPr>
        <p:spPr>
          <a:xfrm>
            <a:off x="554143" y="1452347"/>
            <a:ext cx="6096000" cy="4216539"/>
          </a:xfrm>
          <a:prstGeom prst="rect">
            <a:avLst/>
          </a:prstGeom>
        </p:spPr>
        <p:txBody>
          <a:bodyPr>
            <a:spAutoFit/>
          </a:bodyPr>
          <a:lstStyle/>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Introduction</a:t>
            </a:r>
            <a:endParaRPr lang="en-US" altLang="zh-TW" sz="1400" b="1" dirty="0">
              <a:latin typeface="Times New Roman" panose="02020603050405020304" pitchFamily="18" charset="0"/>
              <a:cs typeface="Times New Roman" panose="02020603050405020304" pitchFamily="18" charset="0"/>
            </a:endParaRPr>
          </a:p>
          <a:p>
            <a:pPr lvl="2">
              <a:lnSpc>
                <a:spcPct val="100000"/>
              </a:lnSpc>
            </a:pPr>
            <a:r>
              <a:rPr lang="en-US" altLang="zh-TW" sz="1400" b="1" dirty="0">
                <a:latin typeface="Times New Roman" panose="02020603050405020304" pitchFamily="18" charset="0"/>
                <a:cs typeface="Times New Roman" panose="02020603050405020304" pitchFamily="18" charset="0"/>
              </a:rPr>
              <a:t>Motivation </a:t>
            </a:r>
          </a:p>
          <a:p>
            <a:pPr lvl="2"/>
            <a:r>
              <a:rPr lang="en-US" altLang="zh-TW" sz="1400" b="1" dirty="0">
                <a:latin typeface="Times New Roman" panose="02020603050405020304" pitchFamily="18" charset="0"/>
                <a:cs typeface="Times New Roman" panose="02020603050405020304" pitchFamily="18" charset="0"/>
              </a:rPr>
              <a:t>Electro-optically spectrum tailorable APPLN IOPOs</a:t>
            </a:r>
          </a:p>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Working principles</a:t>
            </a:r>
          </a:p>
          <a:p>
            <a:pPr lvl="2">
              <a:lnSpc>
                <a:spcPct val="100000"/>
              </a:lnSpc>
            </a:pPr>
            <a:r>
              <a:rPr lang="en-US" altLang="zh-TW" sz="1400" b="1" dirty="0">
                <a:latin typeface="Times New Roman" panose="02020603050405020304" pitchFamily="18" charset="0"/>
                <a:cs typeface="Times New Roman" panose="02020603050405020304" pitchFamily="18" charset="0"/>
              </a:rPr>
              <a:t>Electro-Optic Polarization Mode Converters</a:t>
            </a:r>
            <a:r>
              <a:rPr lang="zh-TW" altLang="en-US" sz="1400" b="1" dirty="0">
                <a:latin typeface="Times New Roman" panose="02020603050405020304" pitchFamily="18" charset="0"/>
                <a:cs typeface="Times New Roman" panose="02020603050405020304" pitchFamily="18" charset="0"/>
              </a:rPr>
              <a:t> </a:t>
            </a:r>
            <a:endParaRPr lang="en-US" altLang="zh-TW" sz="1400" b="1" dirty="0">
              <a:latin typeface="Times New Roman" panose="02020603050405020304" pitchFamily="18" charset="0"/>
              <a:cs typeface="Times New Roman" panose="02020603050405020304" pitchFamily="18" charset="0"/>
            </a:endParaRPr>
          </a:p>
          <a:p>
            <a:pPr lvl="2">
              <a:lnSpc>
                <a:spcPct val="100000"/>
              </a:lnSpc>
            </a:pPr>
            <a:r>
              <a:rPr lang="en-US" altLang="zh-TW" sz="1400" b="1" dirty="0">
                <a:latin typeface="Times New Roman" panose="02020603050405020304" pitchFamily="18" charset="0"/>
                <a:cs typeface="Times New Roman" panose="02020603050405020304" pitchFamily="18" charset="0"/>
              </a:rPr>
              <a:t>Optical Parametric Oscillators</a:t>
            </a:r>
          </a:p>
          <a:p>
            <a:pPr marL="571500" indent="-571500">
              <a:lnSpc>
                <a:spcPct val="100000"/>
              </a:lnSpc>
              <a:buAutoNum type="romanUcPeriod"/>
            </a:pPr>
            <a:r>
              <a:rPr lang="en-US" altLang="zh-TW" sz="2000" b="1" dirty="0">
                <a:latin typeface="Times New Roman" panose="02020603050405020304" pitchFamily="18" charset="0"/>
                <a:cs typeface="Times New Roman" panose="02020603050405020304" pitchFamily="18" charset="0"/>
              </a:rPr>
              <a:t>Design and Fabrication</a:t>
            </a:r>
          </a:p>
          <a:p>
            <a:pPr lvl="2"/>
            <a:r>
              <a:rPr lang="en-US" altLang="zh-TW" sz="1400" b="1" dirty="0">
                <a:latin typeface="Times New Roman" panose="02020603050405020304" pitchFamily="18" charset="0"/>
                <a:cs typeface="Times New Roman" panose="02020603050405020304" pitchFamily="18" charset="0"/>
              </a:rPr>
              <a:t>Simulated Annealing Method</a:t>
            </a:r>
          </a:p>
          <a:p>
            <a:pPr lvl="2"/>
            <a:r>
              <a:rPr lang="en-US" altLang="zh-TW" sz="1400" b="1" dirty="0" err="1">
                <a:latin typeface="Times New Roman" panose="02020603050405020304" pitchFamily="18" charset="0"/>
                <a:cs typeface="Times New Roman" panose="02020603050405020304" pitchFamily="18" charset="0"/>
              </a:rPr>
              <a:t>Mutil</a:t>
            </a:r>
            <a:r>
              <a:rPr lang="en-US" altLang="zh-TW" sz="1400" b="1" dirty="0">
                <a:latin typeface="Times New Roman" panose="02020603050405020304" pitchFamily="18" charset="0"/>
                <a:cs typeface="Times New Roman" panose="02020603050405020304" pitchFamily="18" charset="0"/>
              </a:rPr>
              <a:t>-line OPO design</a:t>
            </a:r>
          </a:p>
          <a:p>
            <a:pPr lvl="2"/>
            <a:r>
              <a:rPr lang="en-US" altLang="zh-TW" sz="1400" b="1" dirty="0" err="1">
                <a:latin typeface="Times New Roman" panose="02020603050405020304" pitchFamily="18" charset="0"/>
                <a:cs typeface="Times New Roman" panose="02020603050405020304" pitchFamily="18" charset="0"/>
              </a:rPr>
              <a:t>Mutil</a:t>
            </a:r>
            <a:r>
              <a:rPr lang="en-US" altLang="zh-TW" sz="1400" b="1" dirty="0">
                <a:latin typeface="Times New Roman" panose="02020603050405020304" pitchFamily="18" charset="0"/>
                <a:cs typeface="Times New Roman" panose="02020603050405020304" pitchFamily="18" charset="0"/>
              </a:rPr>
              <a:t>-line EO PMC design</a:t>
            </a:r>
            <a:endParaRPr lang="en-US" altLang="zh-TW" sz="2000" b="1" dirty="0">
              <a:latin typeface="Times New Roman" panose="02020603050405020304" pitchFamily="18" charset="0"/>
              <a:cs typeface="Times New Roman" panose="02020603050405020304" pitchFamily="18" charset="0"/>
            </a:endParaRPr>
          </a:p>
          <a:p>
            <a:pPr lvl="2">
              <a:lnSpc>
                <a:spcPct val="100000"/>
              </a:lnSpc>
            </a:pPr>
            <a:r>
              <a:rPr lang="en-US" altLang="zh-TW" sz="1400" b="1" dirty="0">
                <a:latin typeface="Times New Roman" panose="02020603050405020304" pitchFamily="18" charset="0"/>
                <a:cs typeface="Times New Roman" panose="02020603050405020304" pitchFamily="18" charset="0"/>
              </a:rPr>
              <a:t>Fabrication process</a:t>
            </a:r>
            <a:endParaRPr lang="en-US" altLang="zh-TW" sz="1400" dirty="0">
              <a:latin typeface="Times New Roman" panose="02020603050405020304" pitchFamily="18" charset="0"/>
              <a:cs typeface="Times New Roman" panose="02020603050405020304" pitchFamily="18" charset="0"/>
            </a:endParaRPr>
          </a:p>
          <a:p>
            <a:pPr marL="571500" indent="-571500">
              <a:lnSpc>
                <a:spcPct val="100000"/>
              </a:lnSpc>
              <a:buFont typeface="Arial" panose="020B0604020202020204" pitchFamily="34" charset="0"/>
              <a:buAutoNum type="romanUcPeriod"/>
            </a:pPr>
            <a:r>
              <a:rPr lang="en-US" altLang="zh-TW" sz="2000" b="1" dirty="0">
                <a:latin typeface="Times New Roman" panose="02020603050405020304" pitchFamily="18" charset="0"/>
                <a:cs typeface="Times New Roman" panose="02020603050405020304" pitchFamily="18" charset="0"/>
              </a:rPr>
              <a:t>Experimental Results and Analysis </a:t>
            </a:r>
          </a:p>
          <a:p>
            <a:pPr lvl="2"/>
            <a:r>
              <a:rPr lang="en-US" altLang="zh-TW" sz="1400" b="1" dirty="0">
                <a:latin typeface="Times New Roman" panose="02020603050405020304" pitchFamily="18" charset="0"/>
                <a:cs typeface="Times New Roman" panose="02020603050405020304" pitchFamily="18" charset="0"/>
              </a:rPr>
              <a:t>EO PMC Experimental set-up</a:t>
            </a:r>
          </a:p>
          <a:p>
            <a:pPr lvl="2"/>
            <a:r>
              <a:rPr lang="en-US" altLang="zh-TW" sz="1400" b="1" dirty="0">
                <a:latin typeface="Times New Roman" pitchFamily="18" charset="0"/>
              </a:rPr>
              <a:t>Measurement Results I</a:t>
            </a:r>
          </a:p>
          <a:p>
            <a:pPr lvl="2"/>
            <a:r>
              <a:rPr lang="en-US" altLang="zh-TW" sz="1400" b="1" dirty="0">
                <a:latin typeface="Times New Roman" panose="02020603050405020304" pitchFamily="18" charset="0"/>
                <a:cs typeface="Times New Roman" panose="02020603050405020304" pitchFamily="18" charset="0"/>
              </a:rPr>
              <a:t>EO OPO APPLN Experimental set-up</a:t>
            </a:r>
          </a:p>
          <a:p>
            <a:pPr lvl="2"/>
            <a:r>
              <a:rPr lang="en-US" altLang="zh-TW" sz="1400" b="1" dirty="0">
                <a:latin typeface="Times New Roman" panose="02020603050405020304" pitchFamily="18" charset="0"/>
                <a:cs typeface="Times New Roman" panose="02020603050405020304" pitchFamily="18" charset="0"/>
              </a:rPr>
              <a:t>Measurement Results II</a:t>
            </a:r>
          </a:p>
          <a:p>
            <a:pPr marL="571500" indent="-571500">
              <a:lnSpc>
                <a:spcPct val="100000"/>
              </a:lnSpc>
              <a:buAutoNum type="romanUcPeriod"/>
            </a:pPr>
            <a:r>
              <a:rPr lang="en-US" altLang="zh-TW" sz="2000" b="1" dirty="0">
                <a:solidFill>
                  <a:srgbClr val="FF0000"/>
                </a:solidFill>
                <a:latin typeface="Times New Roman" panose="02020603050405020304" pitchFamily="18" charset="0"/>
                <a:cs typeface="Times New Roman" panose="02020603050405020304" pitchFamily="18" charset="0"/>
              </a:rPr>
              <a:t>Conclusions and future work</a:t>
            </a:r>
            <a:endParaRPr lang="zh-TW" altLang="en-US" sz="2000" b="1" dirty="0">
              <a:solidFill>
                <a:srgbClr val="FF0000"/>
              </a:solidFill>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A52E435-1973-4E96-B2FF-A8951FBF242E}"/>
              </a:ext>
            </a:extLst>
          </p:cNvPr>
          <p:cNvSpPr>
            <a:spLocks noGrp="1"/>
          </p:cNvSpPr>
          <p:nvPr>
            <p:ph type="sldNum" sz="quarter" idx="12"/>
          </p:nvPr>
        </p:nvSpPr>
        <p:spPr/>
        <p:txBody>
          <a:bodyPr/>
          <a:lstStyle/>
          <a:p>
            <a:fld id="{29723A01-8C65-4E4C-95BB-6D96843E9278}" type="slidenum">
              <a:rPr lang="zh-TW" altLang="en-US" smtClean="0"/>
              <a:t>37</a:t>
            </a:fld>
            <a:endParaRPr lang="zh-TW" altLang="en-US"/>
          </a:p>
        </p:txBody>
      </p:sp>
      <p:pic>
        <p:nvPicPr>
          <p:cNvPr id="7" name="圖片 6">
            <a:extLst>
              <a:ext uri="{FF2B5EF4-FFF2-40B4-BE49-F238E27FC236}">
                <a16:creationId xmlns:a16="http://schemas.microsoft.com/office/drawing/2014/main" id="{9652B326-C213-47EC-807A-00D14A669B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5133" y="1452347"/>
            <a:ext cx="5688131" cy="4264174"/>
          </a:xfrm>
          <a:prstGeom prst="rect">
            <a:avLst/>
          </a:prstGeom>
        </p:spPr>
      </p:pic>
    </p:spTree>
    <p:extLst>
      <p:ext uri="{BB962C8B-B14F-4D97-AF65-F5344CB8AC3E}">
        <p14:creationId xmlns:p14="http://schemas.microsoft.com/office/powerpoint/2010/main" val="27124745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1202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Conclusion</a:t>
            </a:r>
            <a:endParaRPr lang="zh-TW" altLang="en-US" sz="2800" b="1"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5D6A45FC-4D9F-46DB-AE21-60983AEBF6CE}"/>
              </a:ext>
            </a:extLst>
          </p:cNvPr>
          <p:cNvSpPr>
            <a:spLocks noGrp="1"/>
          </p:cNvSpPr>
          <p:nvPr>
            <p:ph idx="1"/>
          </p:nvPr>
        </p:nvSpPr>
        <p:spPr>
          <a:xfrm>
            <a:off x="885126" y="1770062"/>
            <a:ext cx="10515600" cy="4351338"/>
          </a:xfrm>
        </p:spPr>
        <p:txBody>
          <a:bodyPr>
            <a:noAutofit/>
          </a:bodyPr>
          <a:lstStyle/>
          <a:p>
            <a:pPr algn="just">
              <a:lnSpc>
                <a:spcPct val="100000"/>
              </a:lnSpc>
            </a:pPr>
            <a:r>
              <a:rPr lang="en-US" altLang="zh-TW" sz="2000" dirty="0">
                <a:latin typeface="Times New Roman" panose="02020603050405020304" pitchFamily="18" charset="0"/>
                <a:cs typeface="Times New Roman" panose="02020603050405020304" pitchFamily="18" charset="0"/>
              </a:rPr>
              <a:t>We have successfully realized an </a:t>
            </a:r>
            <a:r>
              <a:rPr lang="en-US" altLang="zh-TW" sz="2000" b="1" u="sng" dirty="0">
                <a:latin typeface="Times New Roman" panose="02020603050405020304" pitchFamily="18" charset="0"/>
                <a:cs typeface="Times New Roman" panose="02020603050405020304" pitchFamily="18" charset="0"/>
              </a:rPr>
              <a:t>electro-optically spectrum switchable dual-line optical parameter oscillator based on </a:t>
            </a:r>
            <a:r>
              <a:rPr lang="en-US" altLang="zh-TW" sz="2000" b="1" u="sng" dirty="0" err="1">
                <a:latin typeface="Times New Roman" panose="02020603050405020304" pitchFamily="18" charset="0"/>
                <a:cs typeface="Times New Roman" panose="02020603050405020304" pitchFamily="18" charset="0"/>
              </a:rPr>
              <a:t>aperiodically</a:t>
            </a:r>
            <a:r>
              <a:rPr lang="en-US" altLang="zh-TW" sz="2000" b="1" u="sng" dirty="0">
                <a:latin typeface="Times New Roman" panose="02020603050405020304" pitchFamily="18" charset="0"/>
                <a:cs typeface="Times New Roman" panose="02020603050405020304" pitchFamily="18" charset="0"/>
              </a:rPr>
              <a:t> poled lithium </a:t>
            </a:r>
            <a:r>
              <a:rPr lang="en-US" altLang="zh-TW" sz="2000" b="1" u="sng" dirty="0" err="1">
                <a:latin typeface="Times New Roman" panose="02020603050405020304" pitchFamily="18" charset="0"/>
                <a:cs typeface="Times New Roman" panose="02020603050405020304" pitchFamily="18" charset="0"/>
              </a:rPr>
              <a:t>niobate</a:t>
            </a:r>
            <a:r>
              <a:rPr lang="en-US" altLang="zh-TW" sz="2000" b="1" u="sng" dirty="0">
                <a:latin typeface="Times New Roman" panose="02020603050405020304" pitchFamily="18" charset="0"/>
                <a:cs typeface="Times New Roman" panose="02020603050405020304" pitchFamily="18" charset="0"/>
              </a:rPr>
              <a:t>.</a:t>
            </a:r>
          </a:p>
          <a:p>
            <a:pPr algn="just">
              <a:lnSpc>
                <a:spcPct val="100000"/>
              </a:lnSpc>
            </a:pPr>
            <a:r>
              <a:rPr lang="en-US" altLang="zh-TW" sz="2000" dirty="0">
                <a:latin typeface="Times New Roman" panose="02020603050405020304" pitchFamily="18" charset="0"/>
                <a:cs typeface="Times New Roman" panose="02020603050405020304" pitchFamily="18" charset="0"/>
              </a:rPr>
              <a:t>When no electric field along the crystal y direction is applied, the OPO signals at 1540 nm and 1550 nm can be simultaneously generated. When electric fields of 360 V/mm and 790 V/mm are applied, the OPO signal lines at 1540 nm and 1550 nm can be selected and generated, respectively, both with a bandwidth of 0.09nm.</a:t>
            </a:r>
          </a:p>
          <a:p>
            <a:pPr algn="just">
              <a:lnSpc>
                <a:spcPct val="100000"/>
              </a:lnSpc>
            </a:pPr>
            <a:r>
              <a:rPr lang="en-US" altLang="zh-TW" sz="2000" dirty="0">
                <a:latin typeface="Times New Roman" panose="02020603050405020304" pitchFamily="18" charset="0"/>
                <a:cs typeface="Times New Roman" panose="02020603050405020304" pitchFamily="18" charset="0"/>
              </a:rPr>
              <a:t> The experimental results are in good agreement with the simulations.</a:t>
            </a:r>
          </a:p>
        </p:txBody>
      </p:sp>
      <p:sp>
        <p:nvSpPr>
          <p:cNvPr id="3" name="投影片編號版面配置區 2">
            <a:extLst>
              <a:ext uri="{FF2B5EF4-FFF2-40B4-BE49-F238E27FC236}">
                <a16:creationId xmlns:a16="http://schemas.microsoft.com/office/drawing/2014/main" id="{9B97A2D9-087E-4DEA-9AA4-7F39942128EA}"/>
              </a:ext>
            </a:extLst>
          </p:cNvPr>
          <p:cNvSpPr>
            <a:spLocks noGrp="1"/>
          </p:cNvSpPr>
          <p:nvPr>
            <p:ph type="sldNum" sz="quarter" idx="12"/>
          </p:nvPr>
        </p:nvSpPr>
        <p:spPr>
          <a:xfrm>
            <a:off x="9448800" y="6486525"/>
            <a:ext cx="2743200" cy="365125"/>
          </a:xfrm>
        </p:spPr>
        <p:txBody>
          <a:bodyPr/>
          <a:lstStyle/>
          <a:p>
            <a:fld id="{29723A01-8C65-4E4C-95BB-6D96843E9278}" type="slidenum">
              <a:rPr lang="zh-TW" altLang="en-US" smtClean="0"/>
              <a:t>38</a:t>
            </a:fld>
            <a:endParaRPr lang="zh-TW" altLang="en-US" dirty="0"/>
          </a:p>
        </p:txBody>
      </p:sp>
      <p:pic>
        <p:nvPicPr>
          <p:cNvPr id="9" name="圖片 8">
            <a:extLst>
              <a:ext uri="{FF2B5EF4-FFF2-40B4-BE49-F238E27FC236}">
                <a16:creationId xmlns:a16="http://schemas.microsoft.com/office/drawing/2014/main" id="{B251EB38-2B1D-4CB3-B8AC-5C24E03D03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16" y="778018"/>
            <a:ext cx="4075084" cy="985258"/>
          </a:xfrm>
          <a:prstGeom prst="rect">
            <a:avLst/>
          </a:prstGeom>
        </p:spPr>
      </p:pic>
      <p:graphicFrame>
        <p:nvGraphicFramePr>
          <p:cNvPr id="10" name="表格 9"/>
          <p:cNvGraphicFramePr>
            <a:graphicFrameLocks noGrp="1"/>
          </p:cNvGraphicFramePr>
          <p:nvPr>
            <p:extLst>
              <p:ext uri="{D42A27DB-BD31-4B8C-83A1-F6EECF244321}">
                <p14:modId xmlns:p14="http://schemas.microsoft.com/office/powerpoint/2010/main" val="693630557"/>
              </p:ext>
            </p:extLst>
          </p:nvPr>
        </p:nvGraphicFramePr>
        <p:xfrm>
          <a:off x="1916999" y="4757478"/>
          <a:ext cx="8736348" cy="1463040"/>
        </p:xfrm>
        <a:graphic>
          <a:graphicData uri="http://schemas.openxmlformats.org/drawingml/2006/table">
            <a:tbl>
              <a:tblPr firstRow="1" bandRow="1">
                <a:tableStyleId>{5DA37D80-6434-44D0-A028-1B22A696006F}</a:tableStyleId>
              </a:tblPr>
              <a:tblGrid>
                <a:gridCol w="3394148">
                  <a:extLst>
                    <a:ext uri="{9D8B030D-6E8A-4147-A177-3AD203B41FA5}">
                      <a16:colId xmlns:a16="http://schemas.microsoft.com/office/drawing/2014/main" val="3978806706"/>
                    </a:ext>
                  </a:extLst>
                </a:gridCol>
                <a:gridCol w="2590800">
                  <a:extLst>
                    <a:ext uri="{9D8B030D-6E8A-4147-A177-3AD203B41FA5}">
                      <a16:colId xmlns:a16="http://schemas.microsoft.com/office/drawing/2014/main" val="2840078689"/>
                    </a:ext>
                  </a:extLst>
                </a:gridCol>
                <a:gridCol w="2751400">
                  <a:extLst>
                    <a:ext uri="{9D8B030D-6E8A-4147-A177-3AD203B41FA5}">
                      <a16:colId xmlns:a16="http://schemas.microsoft.com/office/drawing/2014/main" val="2164358267"/>
                    </a:ext>
                  </a:extLst>
                </a:gridCol>
              </a:tblGrid>
              <a:tr h="264930">
                <a:tc>
                  <a:txBody>
                    <a:bodyPr/>
                    <a:lstStyle/>
                    <a:p>
                      <a:pPr marL="0" algn="ctr" defTabSz="914400" rtl="0" eaLnBrk="1" latinLnBrk="0" hangingPunct="1"/>
                      <a:r>
                        <a:rPr lang="en-US" altLang="zh-TW" sz="1800" kern="1200" dirty="0">
                          <a:solidFill>
                            <a:schemeClr val="tx1"/>
                          </a:solidFill>
                          <a:latin typeface="Times New Roman" panose="02020603050405020304" pitchFamily="18" charset="0"/>
                          <a:ea typeface="+mn-ea"/>
                          <a:cs typeface="Times New Roman" panose="02020603050405020304" pitchFamily="18" charset="0"/>
                        </a:rPr>
                        <a:t>Items</a:t>
                      </a:r>
                      <a:endParaRPr lang="zh-TW" altLang="en-US" sz="1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kern="1200" dirty="0">
                          <a:solidFill>
                            <a:schemeClr val="tx1"/>
                          </a:solidFill>
                          <a:latin typeface="Times New Roman" panose="02020603050405020304" pitchFamily="18" charset="0"/>
                          <a:ea typeface="+mn-ea"/>
                          <a:cs typeface="Times New Roman" panose="02020603050405020304" pitchFamily="18" charset="0"/>
                        </a:rPr>
                        <a:t>Operating at 1540nm</a:t>
                      </a:r>
                      <a:endParaRPr lang="zh-TW" altLang="en-US" sz="1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kern="1200" dirty="0">
                          <a:solidFill>
                            <a:schemeClr val="tx1"/>
                          </a:solidFill>
                          <a:latin typeface="Times New Roman" panose="02020603050405020304" pitchFamily="18" charset="0"/>
                          <a:ea typeface="+mn-ea"/>
                          <a:cs typeface="Times New Roman" panose="02020603050405020304" pitchFamily="18" charset="0"/>
                        </a:rPr>
                        <a:t>Operating at 1550nm</a:t>
                      </a:r>
                      <a:endParaRPr lang="zh-TW" altLang="en-US" sz="1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8609378"/>
                  </a:ext>
                </a:extLst>
              </a:tr>
              <a:tr h="250761">
                <a:tc>
                  <a:txBody>
                    <a:bodyPr/>
                    <a:lstStyle/>
                    <a:p>
                      <a:pPr marL="0" algn="ctr" defTabSz="914400" rtl="0" eaLnBrk="1" latinLnBrk="0" hangingPunct="1"/>
                      <a:r>
                        <a:rPr lang="en-US" altLang="zh-TW" sz="1800" kern="1200" dirty="0">
                          <a:solidFill>
                            <a:schemeClr val="tx1"/>
                          </a:solidFill>
                          <a:latin typeface="Times New Roman" panose="02020603050405020304" pitchFamily="18" charset="0"/>
                          <a:ea typeface="+mn-ea"/>
                          <a:cs typeface="Times New Roman" panose="02020603050405020304" pitchFamily="18" charset="0"/>
                        </a:rPr>
                        <a:t>Temperature tolerance(℃)</a:t>
                      </a:r>
                      <a:endParaRPr lang="zh-TW" altLang="en-US" sz="1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marL="0" algn="ctr" defTabSz="914400" rtl="0" eaLnBrk="1" latinLnBrk="0" hangingPunct="1"/>
                      <a:r>
                        <a:rPr lang="en-US" altLang="zh-TW" sz="1800" kern="1200" dirty="0">
                          <a:solidFill>
                            <a:schemeClr val="tx1"/>
                          </a:solidFill>
                          <a:latin typeface="Times New Roman" panose="02020603050405020304" pitchFamily="18" charset="0"/>
                          <a:ea typeface="+mn-ea"/>
                          <a:cs typeface="Times New Roman" panose="02020603050405020304" pitchFamily="18" charset="0"/>
                        </a:rPr>
                        <a:t>34.9~35.0</a:t>
                      </a:r>
                      <a:endParaRPr lang="zh-TW" altLang="en-US" sz="1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kern="1200" dirty="0">
                          <a:solidFill>
                            <a:schemeClr val="tx1"/>
                          </a:solidFill>
                          <a:latin typeface="Times New Roman" panose="02020603050405020304" pitchFamily="18" charset="0"/>
                          <a:ea typeface="+mn-ea"/>
                          <a:cs typeface="Times New Roman" panose="02020603050405020304" pitchFamily="18" charset="0"/>
                        </a:rPr>
                        <a:t>33.0~35.0</a:t>
                      </a:r>
                      <a:endParaRPr lang="zh-TW" altLang="en-US" sz="1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580903809"/>
                  </a:ext>
                </a:extLst>
              </a:tr>
              <a:tr h="250761">
                <a:tc>
                  <a:txBody>
                    <a:bodyPr/>
                    <a:lstStyle/>
                    <a:p>
                      <a:pPr algn="ctr"/>
                      <a:r>
                        <a:rPr lang="en-US" altLang="zh-TW" sz="1800" dirty="0">
                          <a:latin typeface="Times New Roman" panose="02020603050405020304" pitchFamily="18" charset="0"/>
                          <a:cs typeface="Times New Roman" panose="02020603050405020304" pitchFamily="18" charset="0"/>
                        </a:rPr>
                        <a:t>Electric</a:t>
                      </a:r>
                      <a:r>
                        <a:rPr lang="en-US" altLang="zh-TW" sz="1800" baseline="0" dirty="0">
                          <a:latin typeface="Times New Roman" panose="02020603050405020304" pitchFamily="18" charset="0"/>
                          <a:cs typeface="Times New Roman" panose="02020603050405020304" pitchFamily="18" charset="0"/>
                        </a:rPr>
                        <a:t> field </a:t>
                      </a:r>
                      <a:r>
                        <a:rPr lang="en-US" altLang="zh-TW" sz="1800" dirty="0">
                          <a:latin typeface="Times New Roman" panose="02020603050405020304" pitchFamily="18" charset="0"/>
                          <a:cs typeface="Times New Roman" panose="02020603050405020304" pitchFamily="18" charset="0"/>
                        </a:rPr>
                        <a:t>tolerance(V/mm)</a:t>
                      </a:r>
                      <a:endParaRPr lang="zh-TW" altLang="en-US"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kern="1200" dirty="0">
                          <a:solidFill>
                            <a:schemeClr val="tx1"/>
                          </a:solidFill>
                          <a:latin typeface="Times New Roman" panose="02020603050405020304" pitchFamily="18" charset="0"/>
                          <a:ea typeface="+mn-ea"/>
                          <a:cs typeface="Times New Roman" panose="02020603050405020304" pitchFamily="18" charset="0"/>
                        </a:rPr>
                        <a:t>340~390</a:t>
                      </a:r>
                      <a:r>
                        <a:rPr lang="en-US" altLang="zh-TW" sz="1800" b="1" dirty="0">
                          <a:latin typeface="Times New Roman" panose="02020603050405020304" pitchFamily="18" charset="0"/>
                          <a:cs typeface="Times New Roman" panose="02020603050405020304" pitchFamily="18" charset="0"/>
                        </a:rPr>
                        <a:t> </a:t>
                      </a:r>
                      <a:endParaRPr lang="zh-TW"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kern="1200" dirty="0">
                          <a:solidFill>
                            <a:schemeClr val="tx1"/>
                          </a:solidFill>
                          <a:latin typeface="Times New Roman" panose="02020603050405020304" pitchFamily="18" charset="0"/>
                          <a:ea typeface="+mn-ea"/>
                          <a:cs typeface="Times New Roman" panose="02020603050405020304" pitchFamily="18" charset="0"/>
                        </a:rPr>
                        <a:t>750~1000</a:t>
                      </a:r>
                      <a:endParaRPr lang="zh-TW" altLang="en-US" sz="18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5361718"/>
                  </a:ext>
                </a:extLst>
              </a:tr>
              <a:tr h="250761">
                <a:tc>
                  <a:txBody>
                    <a:bodyPr/>
                    <a:lstStyle/>
                    <a:p>
                      <a:pPr algn="ctr"/>
                      <a:r>
                        <a:rPr lang="en-US" altLang="zh-TW" sz="1800" baseline="0" dirty="0">
                          <a:latin typeface="Times New Roman" panose="02020603050405020304" pitchFamily="18" charset="0"/>
                          <a:cs typeface="Times New Roman" panose="02020603050405020304" pitchFamily="18" charset="0"/>
                        </a:rPr>
                        <a:t>Pump Power </a:t>
                      </a:r>
                      <a:r>
                        <a:rPr lang="en-US" altLang="zh-TW" sz="1800" dirty="0">
                          <a:latin typeface="Times New Roman" panose="02020603050405020304" pitchFamily="18" charset="0"/>
                          <a:cs typeface="Times New Roman" panose="02020603050405020304" pitchFamily="18" charset="0"/>
                        </a:rPr>
                        <a:t>tolerance(kW)</a:t>
                      </a:r>
                      <a:endParaRPr lang="zh-TW" altLang="en-US"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kern="1200" dirty="0">
                          <a:solidFill>
                            <a:schemeClr val="tx1"/>
                          </a:solidFill>
                          <a:latin typeface="Times New Roman" panose="02020603050405020304" pitchFamily="18" charset="0"/>
                          <a:ea typeface="+mn-ea"/>
                          <a:cs typeface="Times New Roman" panose="02020603050405020304" pitchFamily="18" charset="0"/>
                        </a:rPr>
                        <a:t>6.3~7.0</a:t>
                      </a:r>
                      <a:endParaRPr lang="zh-TW" altLang="en-US" sz="1800"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kern="1200" dirty="0">
                          <a:solidFill>
                            <a:schemeClr val="tx1"/>
                          </a:solidFill>
                          <a:latin typeface="Times New Roman" panose="02020603050405020304" pitchFamily="18" charset="0"/>
                          <a:ea typeface="+mn-ea"/>
                          <a:cs typeface="Times New Roman" panose="02020603050405020304" pitchFamily="18" charset="0"/>
                        </a:rPr>
                        <a:t>6.3~7.0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444311503"/>
                  </a:ext>
                </a:extLst>
              </a:tr>
            </a:tbl>
          </a:graphicData>
        </a:graphic>
      </p:graphicFrame>
    </p:spTree>
    <p:extLst>
      <p:ext uri="{BB962C8B-B14F-4D97-AF65-F5344CB8AC3E}">
        <p14:creationId xmlns:p14="http://schemas.microsoft.com/office/powerpoint/2010/main" val="11496744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120201"/>
            <a:ext cx="11152166" cy="523220"/>
          </a:xfrm>
          <a:prstGeom prst="rect">
            <a:avLst/>
          </a:prstGeom>
          <a:solidFill>
            <a:srgbClr val="FFFFD8"/>
          </a:solidFill>
          <a:ln w="38100">
            <a:solidFill>
              <a:srgbClr val="8F9DFE"/>
            </a:solidFill>
          </a:ln>
        </p:spPr>
        <p:txBody>
          <a:bodyPr wrap="square" rtlCol="0">
            <a:spAutoFit/>
          </a:bodyPr>
          <a:lstStyle/>
          <a:p>
            <a:pPr algn="ctr"/>
            <a:r>
              <a:rPr lang="en-US" altLang="zh-TW" sz="2800" b="1" dirty="0">
                <a:latin typeface="Times New Roman" panose="02020603050405020304" pitchFamily="18" charset="0"/>
                <a:cs typeface="Times New Roman" panose="02020603050405020304" pitchFamily="18" charset="0"/>
              </a:rPr>
              <a:t>Future Work</a:t>
            </a:r>
            <a:endParaRPr lang="zh-TW" altLang="en-US" sz="2800" b="1" dirty="0">
              <a:latin typeface="Times New Roman" panose="02020603050405020304" pitchFamily="18" charset="0"/>
              <a:cs typeface="Times New Roman" panose="02020603050405020304" pitchFamily="18" charset="0"/>
            </a:endParaRPr>
          </a:p>
        </p:txBody>
      </p:sp>
      <p:pic>
        <p:nvPicPr>
          <p:cNvPr id="7" name="圖片 6"/>
          <p:cNvPicPr/>
          <p:nvPr/>
        </p:nvPicPr>
        <p:blipFill rotWithShape="1">
          <a:blip r:embed="rId2"/>
          <a:srcRect l="2922" t="2003" r="1946" b="1147"/>
          <a:stretch/>
        </p:blipFill>
        <p:spPr>
          <a:xfrm>
            <a:off x="9146027" y="3998617"/>
            <a:ext cx="2965478" cy="2357730"/>
          </a:xfrm>
          <a:prstGeom prst="rect">
            <a:avLst/>
          </a:prstGeom>
        </p:spPr>
      </p:pic>
      <p:pic>
        <p:nvPicPr>
          <p:cNvPr id="9" name="圖片 8"/>
          <p:cNvPicPr/>
          <p:nvPr/>
        </p:nvPicPr>
        <p:blipFill rotWithShape="1">
          <a:blip r:embed="rId3"/>
          <a:srcRect l="2471" t="2291" b="859"/>
          <a:stretch/>
        </p:blipFill>
        <p:spPr>
          <a:xfrm>
            <a:off x="6005353" y="3998617"/>
            <a:ext cx="3140674" cy="2329248"/>
          </a:xfrm>
          <a:prstGeom prst="rect">
            <a:avLst/>
          </a:prstGeom>
        </p:spPr>
      </p:pic>
      <p:pic>
        <p:nvPicPr>
          <p:cNvPr id="10" name="圖片 9">
            <a:extLst>
              <a:ext uri="{FF2B5EF4-FFF2-40B4-BE49-F238E27FC236}">
                <a16:creationId xmlns:a16="http://schemas.microsoft.com/office/drawing/2014/main" id="{E447A69A-8C94-4983-B541-725004E511B9}"/>
              </a:ext>
            </a:extLst>
          </p:cNvPr>
          <p:cNvPicPr/>
          <p:nvPr/>
        </p:nvPicPr>
        <p:blipFill rotWithShape="1">
          <a:blip r:embed="rId4" cstate="print">
            <a:extLst>
              <a:ext uri="{28A0092B-C50C-407E-A947-70E740481C1C}">
                <a14:useLocalDpi xmlns:a14="http://schemas.microsoft.com/office/drawing/2010/main" val="0"/>
              </a:ext>
            </a:extLst>
          </a:blip>
          <a:srcRect t="-1969" b="1"/>
          <a:stretch/>
        </p:blipFill>
        <p:spPr bwMode="auto">
          <a:xfrm>
            <a:off x="-19631" y="3877625"/>
            <a:ext cx="3140675" cy="2478726"/>
          </a:xfrm>
          <a:prstGeom prst="rect">
            <a:avLst/>
          </a:prstGeom>
          <a:ln>
            <a:noFill/>
          </a:ln>
          <a:extLst>
            <a:ext uri="{53640926-AAD7-44D8-BBD7-CCE9431645EC}">
              <a14:shadowObscured xmlns:a14="http://schemas.microsoft.com/office/drawing/2010/main"/>
            </a:ext>
          </a:extLst>
        </p:spPr>
      </p:pic>
      <p:pic>
        <p:nvPicPr>
          <p:cNvPr id="11" name="圖片 10">
            <a:extLst>
              <a:ext uri="{FF2B5EF4-FFF2-40B4-BE49-F238E27FC236}">
                <a16:creationId xmlns:a16="http://schemas.microsoft.com/office/drawing/2014/main" id="{08492E95-ABE5-4F72-AABA-EF7F4584E83F}"/>
              </a:ext>
            </a:extLst>
          </p:cNvPr>
          <p:cNvPicPr/>
          <p:nvPr/>
        </p:nvPicPr>
        <p:blipFill rotWithShape="1">
          <a:blip r:embed="rId5" cstate="print">
            <a:extLst>
              <a:ext uri="{28A0092B-C50C-407E-A947-70E740481C1C}">
                <a14:useLocalDpi xmlns:a14="http://schemas.microsoft.com/office/drawing/2010/main" val="0"/>
              </a:ext>
            </a:extLst>
          </a:blip>
          <a:srcRect t="304" b="5140"/>
          <a:stretch/>
        </p:blipFill>
        <p:spPr>
          <a:xfrm>
            <a:off x="3045973" y="3877624"/>
            <a:ext cx="3054445" cy="2464482"/>
          </a:xfrm>
          <a:prstGeom prst="rect">
            <a:avLst/>
          </a:prstGeom>
        </p:spPr>
      </p:pic>
      <p:sp>
        <p:nvSpPr>
          <p:cNvPr id="3" name="投影片編號版面配置區 2">
            <a:extLst>
              <a:ext uri="{FF2B5EF4-FFF2-40B4-BE49-F238E27FC236}">
                <a16:creationId xmlns:a16="http://schemas.microsoft.com/office/drawing/2014/main" id="{D7353EE7-455D-4D77-BCE2-3690B9C55C6E}"/>
              </a:ext>
            </a:extLst>
          </p:cNvPr>
          <p:cNvSpPr>
            <a:spLocks noGrp="1"/>
          </p:cNvSpPr>
          <p:nvPr>
            <p:ph type="sldNum" sz="quarter" idx="12"/>
          </p:nvPr>
        </p:nvSpPr>
        <p:spPr>
          <a:xfrm>
            <a:off x="9448800" y="6492875"/>
            <a:ext cx="2743200" cy="365125"/>
          </a:xfrm>
        </p:spPr>
        <p:txBody>
          <a:bodyPr/>
          <a:lstStyle/>
          <a:p>
            <a:fld id="{29723A01-8C65-4E4C-95BB-6D96843E9278}" type="slidenum">
              <a:rPr lang="zh-TW" altLang="en-US" smtClean="0"/>
              <a:t>39</a:t>
            </a:fld>
            <a:endParaRPr lang="zh-TW" altLang="en-US" dirty="0"/>
          </a:p>
        </p:txBody>
      </p:sp>
      <p:grpSp>
        <p:nvGrpSpPr>
          <p:cNvPr id="12" name="群組 11">
            <a:extLst>
              <a:ext uri="{FF2B5EF4-FFF2-40B4-BE49-F238E27FC236}">
                <a16:creationId xmlns:a16="http://schemas.microsoft.com/office/drawing/2014/main" id="{357861F9-D91C-40C0-AB1E-BBB42CEC304A}"/>
              </a:ext>
            </a:extLst>
          </p:cNvPr>
          <p:cNvGrpSpPr/>
          <p:nvPr/>
        </p:nvGrpSpPr>
        <p:grpSpPr>
          <a:xfrm>
            <a:off x="1908915" y="1540155"/>
            <a:ext cx="8374169" cy="1720576"/>
            <a:chOff x="85501" y="120001"/>
            <a:chExt cx="5810254" cy="1159165"/>
          </a:xfrm>
        </p:grpSpPr>
        <p:grpSp>
          <p:nvGrpSpPr>
            <p:cNvPr id="16" name="群組 15">
              <a:extLst>
                <a:ext uri="{FF2B5EF4-FFF2-40B4-BE49-F238E27FC236}">
                  <a16:creationId xmlns:a16="http://schemas.microsoft.com/office/drawing/2014/main" id="{1CD87FDB-25C4-42F3-A95E-08ED3424A81C}"/>
                </a:ext>
              </a:extLst>
            </p:cNvPr>
            <p:cNvGrpSpPr/>
            <p:nvPr/>
          </p:nvGrpSpPr>
          <p:grpSpPr>
            <a:xfrm>
              <a:off x="85501" y="283202"/>
              <a:ext cx="5810254" cy="995964"/>
              <a:chOff x="85501" y="102227"/>
              <a:chExt cx="5810255" cy="995963"/>
            </a:xfrm>
          </p:grpSpPr>
          <p:sp>
            <p:nvSpPr>
              <p:cNvPr id="20" name="文字方塊 2">
                <a:extLst>
                  <a:ext uri="{FF2B5EF4-FFF2-40B4-BE49-F238E27FC236}">
                    <a16:creationId xmlns:a16="http://schemas.microsoft.com/office/drawing/2014/main" id="{42CB4C14-08A6-40F4-BBFC-D0FDE5D300CE}"/>
                  </a:ext>
                </a:extLst>
              </p:cNvPr>
              <p:cNvSpPr txBox="1">
                <a:spLocks noChangeArrowheads="1"/>
              </p:cNvSpPr>
              <p:nvPr/>
            </p:nvSpPr>
            <p:spPr bwMode="auto">
              <a:xfrm>
                <a:off x="191410" y="709023"/>
                <a:ext cx="1061505" cy="328196"/>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400" b="1" kern="100" dirty="0">
                    <a:effectLst/>
                    <a:latin typeface="標楷體" panose="03000509000000000000" pitchFamily="65" charset="-120"/>
                    <a:ea typeface="新細明體" panose="02020500000000000000" pitchFamily="18" charset="-120"/>
                    <a:cs typeface="Times New Roman" panose="02020603050405020304" pitchFamily="18" charset="0"/>
                  </a:rPr>
                  <a:t>Pump</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nvGrpSpPr>
              <p:cNvPr id="21" name="群組 20">
                <a:extLst>
                  <a:ext uri="{FF2B5EF4-FFF2-40B4-BE49-F238E27FC236}">
                    <a16:creationId xmlns:a16="http://schemas.microsoft.com/office/drawing/2014/main" id="{F8BBD5AD-0ABD-4C9C-8EED-86997D194D34}"/>
                  </a:ext>
                </a:extLst>
              </p:cNvPr>
              <p:cNvGrpSpPr/>
              <p:nvPr/>
            </p:nvGrpSpPr>
            <p:grpSpPr>
              <a:xfrm>
                <a:off x="85501" y="102227"/>
                <a:ext cx="5810255" cy="995963"/>
                <a:chOff x="85501" y="102227"/>
                <a:chExt cx="5810255" cy="995963"/>
              </a:xfrm>
            </p:grpSpPr>
            <p:sp>
              <p:nvSpPr>
                <p:cNvPr id="22" name="矩形 21">
                  <a:extLst>
                    <a:ext uri="{FF2B5EF4-FFF2-40B4-BE49-F238E27FC236}">
                      <a16:creationId xmlns:a16="http://schemas.microsoft.com/office/drawing/2014/main" id="{56404990-C5BF-4BA7-B65F-1D782A42FF34}"/>
                    </a:ext>
                  </a:extLst>
                </p:cNvPr>
                <p:cNvSpPr/>
                <p:nvPr/>
              </p:nvSpPr>
              <p:spPr>
                <a:xfrm>
                  <a:off x="4610100" y="106878"/>
                  <a:ext cx="162370" cy="991312"/>
                </a:xfrm>
                <a:prstGeom prst="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23" name="矩形 22">
                  <a:extLst>
                    <a:ext uri="{FF2B5EF4-FFF2-40B4-BE49-F238E27FC236}">
                      <a16:creationId xmlns:a16="http://schemas.microsoft.com/office/drawing/2014/main" id="{B1133DB9-0999-4FAB-9EAB-51BFC55DFA6F}"/>
                    </a:ext>
                  </a:extLst>
                </p:cNvPr>
                <p:cNvSpPr/>
                <p:nvPr/>
              </p:nvSpPr>
              <p:spPr>
                <a:xfrm>
                  <a:off x="988213" y="268791"/>
                  <a:ext cx="3514477" cy="626913"/>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dirty="0"/>
                </a:p>
              </p:txBody>
            </p:sp>
            <p:sp>
              <p:nvSpPr>
                <p:cNvPr id="24" name="矩形 23">
                  <a:extLst>
                    <a:ext uri="{FF2B5EF4-FFF2-40B4-BE49-F238E27FC236}">
                      <a16:creationId xmlns:a16="http://schemas.microsoft.com/office/drawing/2014/main" id="{CF2447F3-1CA9-419A-8CAB-32B44044B90E}"/>
                    </a:ext>
                  </a:extLst>
                </p:cNvPr>
                <p:cNvSpPr/>
                <p:nvPr/>
              </p:nvSpPr>
              <p:spPr>
                <a:xfrm>
                  <a:off x="739999" y="102227"/>
                  <a:ext cx="162370" cy="991312"/>
                </a:xfrm>
                <a:prstGeom prst="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nvGrpSpPr>
                <p:cNvPr id="25" name="群組 24">
                  <a:extLst>
                    <a:ext uri="{FF2B5EF4-FFF2-40B4-BE49-F238E27FC236}">
                      <a16:creationId xmlns:a16="http://schemas.microsoft.com/office/drawing/2014/main" id="{F038C13A-3D09-4F40-B7DD-76B6D1A0B91A}"/>
                    </a:ext>
                  </a:extLst>
                </p:cNvPr>
                <p:cNvGrpSpPr/>
                <p:nvPr/>
              </p:nvGrpSpPr>
              <p:grpSpPr>
                <a:xfrm>
                  <a:off x="1340466" y="268673"/>
                  <a:ext cx="3004173" cy="634381"/>
                  <a:chOff x="103825" y="120565"/>
                  <a:chExt cx="3004173" cy="634381"/>
                </a:xfrm>
              </p:grpSpPr>
              <p:sp>
                <p:nvSpPr>
                  <p:cNvPr id="35" name="矩形 34">
                    <a:extLst>
                      <a:ext uri="{FF2B5EF4-FFF2-40B4-BE49-F238E27FC236}">
                        <a16:creationId xmlns:a16="http://schemas.microsoft.com/office/drawing/2014/main" id="{0215EE5D-0A67-4031-8701-3F5B76BA49D0}"/>
                      </a:ext>
                    </a:extLst>
                  </p:cNvPr>
                  <p:cNvSpPr/>
                  <p:nvPr/>
                </p:nvSpPr>
                <p:spPr>
                  <a:xfrm>
                    <a:off x="406043" y="120566"/>
                    <a:ext cx="162388"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6" name="矩形 35">
                    <a:extLst>
                      <a:ext uri="{FF2B5EF4-FFF2-40B4-BE49-F238E27FC236}">
                        <a16:creationId xmlns:a16="http://schemas.microsoft.com/office/drawing/2014/main" id="{AD8FB2DD-85C9-4988-B550-27218D90ADFB}"/>
                      </a:ext>
                    </a:extLst>
                  </p:cNvPr>
                  <p:cNvSpPr/>
                  <p:nvPr/>
                </p:nvSpPr>
                <p:spPr>
                  <a:xfrm>
                    <a:off x="103825" y="120565"/>
                    <a:ext cx="162388"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7" name="矩形 36">
                    <a:extLst>
                      <a:ext uri="{FF2B5EF4-FFF2-40B4-BE49-F238E27FC236}">
                        <a16:creationId xmlns:a16="http://schemas.microsoft.com/office/drawing/2014/main" id="{E370A4CA-B3D2-449D-9895-6B63691EA1B2}"/>
                      </a:ext>
                    </a:extLst>
                  </p:cNvPr>
                  <p:cNvSpPr/>
                  <p:nvPr/>
                </p:nvSpPr>
                <p:spPr>
                  <a:xfrm>
                    <a:off x="561026" y="120566"/>
                    <a:ext cx="162388"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8" name="矩形 37">
                    <a:extLst>
                      <a:ext uri="{FF2B5EF4-FFF2-40B4-BE49-F238E27FC236}">
                        <a16:creationId xmlns:a16="http://schemas.microsoft.com/office/drawing/2014/main" id="{3CA55D30-750B-47C0-AF78-E4950EA6AA0E}"/>
                      </a:ext>
                    </a:extLst>
                  </p:cNvPr>
                  <p:cNvSpPr/>
                  <p:nvPr/>
                </p:nvSpPr>
                <p:spPr>
                  <a:xfrm>
                    <a:off x="1165461" y="128314"/>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9" name="矩形 38">
                    <a:extLst>
                      <a:ext uri="{FF2B5EF4-FFF2-40B4-BE49-F238E27FC236}">
                        <a16:creationId xmlns:a16="http://schemas.microsoft.com/office/drawing/2014/main" id="{A332DBF4-9907-4E04-9745-1C9036112F4C}"/>
                      </a:ext>
                    </a:extLst>
                  </p:cNvPr>
                  <p:cNvSpPr/>
                  <p:nvPr/>
                </p:nvSpPr>
                <p:spPr>
                  <a:xfrm>
                    <a:off x="1302808" y="128314"/>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0" name="矩形 39">
                    <a:extLst>
                      <a:ext uri="{FF2B5EF4-FFF2-40B4-BE49-F238E27FC236}">
                        <a16:creationId xmlns:a16="http://schemas.microsoft.com/office/drawing/2014/main" id="{C3356D5E-9B2B-431A-A3A6-BE6BA19D9CB1}"/>
                      </a:ext>
                    </a:extLst>
                  </p:cNvPr>
                  <p:cNvSpPr/>
                  <p:nvPr/>
                </p:nvSpPr>
                <p:spPr>
                  <a:xfrm>
                    <a:off x="1457791" y="128314"/>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1" name="矩形 40">
                    <a:extLst>
                      <a:ext uri="{FF2B5EF4-FFF2-40B4-BE49-F238E27FC236}">
                        <a16:creationId xmlns:a16="http://schemas.microsoft.com/office/drawing/2014/main" id="{DF209819-70CF-4DBB-AD07-258B2F11443A}"/>
                      </a:ext>
                    </a:extLst>
                  </p:cNvPr>
                  <p:cNvSpPr/>
                  <p:nvPr/>
                </p:nvSpPr>
                <p:spPr>
                  <a:xfrm>
                    <a:off x="2403185" y="120566"/>
                    <a:ext cx="162388"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2" name="矩形 41">
                    <a:extLst>
                      <a:ext uri="{FF2B5EF4-FFF2-40B4-BE49-F238E27FC236}">
                        <a16:creationId xmlns:a16="http://schemas.microsoft.com/office/drawing/2014/main" id="{D6BD6444-5F18-4AF5-9D7A-066A906778B1}"/>
                      </a:ext>
                    </a:extLst>
                  </p:cNvPr>
                  <p:cNvSpPr/>
                  <p:nvPr/>
                </p:nvSpPr>
                <p:spPr>
                  <a:xfrm>
                    <a:off x="2248204" y="120566"/>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3" name="矩形 42">
                    <a:extLst>
                      <a:ext uri="{FF2B5EF4-FFF2-40B4-BE49-F238E27FC236}">
                        <a16:creationId xmlns:a16="http://schemas.microsoft.com/office/drawing/2014/main" id="{F99C81E5-1423-4CFE-8355-080FD2D79309}"/>
                      </a:ext>
                    </a:extLst>
                  </p:cNvPr>
                  <p:cNvSpPr/>
                  <p:nvPr/>
                </p:nvSpPr>
                <p:spPr>
                  <a:xfrm>
                    <a:off x="2945628" y="120566"/>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4" name="矩形 43">
                    <a:extLst>
                      <a:ext uri="{FF2B5EF4-FFF2-40B4-BE49-F238E27FC236}">
                        <a16:creationId xmlns:a16="http://schemas.microsoft.com/office/drawing/2014/main" id="{1D80F30D-43DA-4894-B304-E0C5C257E942}"/>
                      </a:ext>
                    </a:extLst>
                  </p:cNvPr>
                  <p:cNvSpPr/>
                  <p:nvPr/>
                </p:nvSpPr>
                <p:spPr>
                  <a:xfrm>
                    <a:off x="2790645" y="120566"/>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45" name="矩形 44">
                    <a:extLst>
                      <a:ext uri="{FF2B5EF4-FFF2-40B4-BE49-F238E27FC236}">
                        <a16:creationId xmlns:a16="http://schemas.microsoft.com/office/drawing/2014/main" id="{157A555A-A4D1-438F-AF09-CBED4FEC9B90}"/>
                      </a:ext>
                    </a:extLst>
                  </p:cNvPr>
                  <p:cNvSpPr/>
                  <p:nvPr/>
                </p:nvSpPr>
                <p:spPr>
                  <a:xfrm>
                    <a:off x="1883994" y="120566"/>
                    <a:ext cx="162370" cy="626632"/>
                  </a:xfrm>
                  <a:prstGeom prst="rect">
                    <a:avLst/>
                  </a:prstGeom>
                  <a:solidFill>
                    <a:schemeClr val="bg2">
                      <a:lumMod val="2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grpSp>
              <p:nvGrpSpPr>
                <p:cNvPr id="26" name="群組 25">
                  <a:extLst>
                    <a:ext uri="{FF2B5EF4-FFF2-40B4-BE49-F238E27FC236}">
                      <a16:creationId xmlns:a16="http://schemas.microsoft.com/office/drawing/2014/main" id="{DA68BC90-6274-45E4-B90B-ADD4DF13DA39}"/>
                    </a:ext>
                  </a:extLst>
                </p:cNvPr>
                <p:cNvGrpSpPr/>
                <p:nvPr/>
              </p:nvGrpSpPr>
              <p:grpSpPr>
                <a:xfrm>
                  <a:off x="85501" y="127118"/>
                  <a:ext cx="5810255" cy="865717"/>
                  <a:chOff x="85501" y="127118"/>
                  <a:chExt cx="5810255" cy="865717"/>
                </a:xfrm>
              </p:grpSpPr>
              <p:sp>
                <p:nvSpPr>
                  <p:cNvPr id="28" name="箭號: 向右 27">
                    <a:extLst>
                      <a:ext uri="{FF2B5EF4-FFF2-40B4-BE49-F238E27FC236}">
                        <a16:creationId xmlns:a16="http://schemas.microsoft.com/office/drawing/2014/main" id="{944C3520-5FD7-4736-ABBC-D3EA0DBDAB89}"/>
                      </a:ext>
                    </a:extLst>
                  </p:cNvPr>
                  <p:cNvSpPr/>
                  <p:nvPr/>
                </p:nvSpPr>
                <p:spPr>
                  <a:xfrm>
                    <a:off x="4267105" y="262460"/>
                    <a:ext cx="1016904" cy="200832"/>
                  </a:xfrm>
                  <a:prstGeom prst="rightArrow">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dirty="0"/>
                  </a:p>
                </p:txBody>
              </p:sp>
              <p:sp>
                <p:nvSpPr>
                  <p:cNvPr id="29" name="箭號: 向右 28">
                    <a:extLst>
                      <a:ext uri="{FF2B5EF4-FFF2-40B4-BE49-F238E27FC236}">
                        <a16:creationId xmlns:a16="http://schemas.microsoft.com/office/drawing/2014/main" id="{D0EA0FE5-A623-40DC-8789-0E64781DF968}"/>
                      </a:ext>
                    </a:extLst>
                  </p:cNvPr>
                  <p:cNvSpPr/>
                  <p:nvPr/>
                </p:nvSpPr>
                <p:spPr>
                  <a:xfrm>
                    <a:off x="3723282" y="545095"/>
                    <a:ext cx="1572260" cy="1143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0" name="文字方塊 2">
                    <a:extLst>
                      <a:ext uri="{FF2B5EF4-FFF2-40B4-BE49-F238E27FC236}">
                        <a16:creationId xmlns:a16="http://schemas.microsoft.com/office/drawing/2014/main" id="{EC259DC4-2CFF-4CD5-AD96-56A9ACABE8A4}"/>
                      </a:ext>
                    </a:extLst>
                  </p:cNvPr>
                  <p:cNvSpPr txBox="1">
                    <a:spLocks noChangeArrowheads="1"/>
                  </p:cNvSpPr>
                  <p:nvPr/>
                </p:nvSpPr>
                <p:spPr bwMode="auto">
                  <a:xfrm>
                    <a:off x="4834251" y="127118"/>
                    <a:ext cx="1061505" cy="328196"/>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00" b="1" kern="100">
                        <a:effectLst/>
                        <a:latin typeface="標楷體" panose="03000509000000000000" pitchFamily="65" charset="-120"/>
                        <a:ea typeface="新細明體" panose="02020500000000000000" pitchFamily="18" charset="-120"/>
                        <a:cs typeface="Times New Roman" panose="02020603050405020304" pitchFamily="18" charset="0"/>
                      </a:rPr>
                      <a:t>idlers</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31" name="文字方塊 2">
                    <a:extLst>
                      <a:ext uri="{FF2B5EF4-FFF2-40B4-BE49-F238E27FC236}">
                        <a16:creationId xmlns:a16="http://schemas.microsoft.com/office/drawing/2014/main" id="{ED0B1DA1-68B4-4D28-BD49-8A6FDBCEEAED}"/>
                      </a:ext>
                    </a:extLst>
                  </p:cNvPr>
                  <p:cNvSpPr txBox="1">
                    <a:spLocks noChangeArrowheads="1"/>
                  </p:cNvSpPr>
                  <p:nvPr/>
                </p:nvSpPr>
                <p:spPr bwMode="auto">
                  <a:xfrm>
                    <a:off x="4824447" y="442366"/>
                    <a:ext cx="1061506" cy="328196"/>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000" b="1" kern="100" dirty="0">
                        <a:effectLst/>
                        <a:latin typeface="標楷體" panose="03000509000000000000" pitchFamily="65" charset="-120"/>
                        <a:ea typeface="新細明體" panose="02020500000000000000" pitchFamily="18" charset="-120"/>
                        <a:cs typeface="Times New Roman" panose="02020603050405020304" pitchFamily="18" charset="0"/>
                      </a:rPr>
                      <a:t>signals</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32" name="箭號: 向右 31">
                    <a:extLst>
                      <a:ext uri="{FF2B5EF4-FFF2-40B4-BE49-F238E27FC236}">
                        <a16:creationId xmlns:a16="http://schemas.microsoft.com/office/drawing/2014/main" id="{9E0BA4C0-C4B4-418A-B2E9-3705CCBE1F03}"/>
                      </a:ext>
                    </a:extLst>
                  </p:cNvPr>
                  <p:cNvSpPr/>
                  <p:nvPr/>
                </p:nvSpPr>
                <p:spPr>
                  <a:xfrm rot="10800000">
                    <a:off x="921461" y="435649"/>
                    <a:ext cx="3509010" cy="34163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3" name="箭號: 向右 32">
                    <a:extLst>
                      <a:ext uri="{FF2B5EF4-FFF2-40B4-BE49-F238E27FC236}">
                        <a16:creationId xmlns:a16="http://schemas.microsoft.com/office/drawing/2014/main" id="{4890528B-2B55-401A-B36B-97F3CF693B1B}"/>
                      </a:ext>
                    </a:extLst>
                  </p:cNvPr>
                  <p:cNvSpPr/>
                  <p:nvPr/>
                </p:nvSpPr>
                <p:spPr>
                  <a:xfrm>
                    <a:off x="3490269" y="432119"/>
                    <a:ext cx="1133475" cy="34163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34" name="箭號: 向右 33">
                    <a:extLst>
                      <a:ext uri="{FF2B5EF4-FFF2-40B4-BE49-F238E27FC236}">
                        <a16:creationId xmlns:a16="http://schemas.microsoft.com/office/drawing/2014/main" id="{75D9ACF8-E7A5-4E1B-8CB0-F6E76EDEC41F}"/>
                      </a:ext>
                    </a:extLst>
                  </p:cNvPr>
                  <p:cNvSpPr/>
                  <p:nvPr/>
                </p:nvSpPr>
                <p:spPr>
                  <a:xfrm>
                    <a:off x="85501" y="625805"/>
                    <a:ext cx="5353050" cy="367030"/>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dirty="0"/>
                  </a:p>
                </p:txBody>
              </p:sp>
            </p:grpSp>
            <p:sp>
              <p:nvSpPr>
                <p:cNvPr id="27" name="文字方塊 2">
                  <a:extLst>
                    <a:ext uri="{FF2B5EF4-FFF2-40B4-BE49-F238E27FC236}">
                      <a16:creationId xmlns:a16="http://schemas.microsoft.com/office/drawing/2014/main" id="{EA505323-1091-4BC2-B9A8-568E3A4FD09F}"/>
                    </a:ext>
                  </a:extLst>
                </p:cNvPr>
                <p:cNvSpPr txBox="1">
                  <a:spLocks noChangeArrowheads="1"/>
                </p:cNvSpPr>
                <p:nvPr/>
              </p:nvSpPr>
              <p:spPr bwMode="auto">
                <a:xfrm>
                  <a:off x="2323359" y="493973"/>
                  <a:ext cx="1950367" cy="328196"/>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600" kern="100" dirty="0">
                      <a:ln>
                        <a:noFill/>
                      </a:ln>
                      <a:solidFill>
                        <a:srgbClr val="000000"/>
                      </a:solidFill>
                      <a:effectLst>
                        <a:outerShdw blurRad="38100" dist="19050" dir="2700000" algn="tl">
                          <a:schemeClr val="dk1">
                            <a:alpha val="40000"/>
                          </a:schemeClr>
                        </a:outerShdw>
                      </a:effectLst>
                      <a:latin typeface="標楷體" panose="03000509000000000000" pitchFamily="65" charset="-120"/>
                      <a:ea typeface="新細明體" panose="02020500000000000000" pitchFamily="18" charset="-120"/>
                      <a:cs typeface="Times New Roman" panose="02020603050405020304" pitchFamily="18" charset="0"/>
                    </a:rPr>
                    <a:t>EO OPO - APPLN</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sp>
          <p:nvSpPr>
            <p:cNvPr id="14" name="文字方塊 2">
              <a:extLst>
                <a:ext uri="{FF2B5EF4-FFF2-40B4-BE49-F238E27FC236}">
                  <a16:creationId xmlns:a16="http://schemas.microsoft.com/office/drawing/2014/main" id="{C5C3A50F-9810-4D49-AD8D-5487B77ABA99}"/>
                </a:ext>
              </a:extLst>
            </p:cNvPr>
            <p:cNvSpPr txBox="1">
              <a:spLocks noChangeArrowheads="1"/>
            </p:cNvSpPr>
            <p:nvPr/>
          </p:nvSpPr>
          <p:spPr bwMode="auto">
            <a:xfrm>
              <a:off x="593429" y="120001"/>
              <a:ext cx="754912" cy="327660"/>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400" b="1" kern="100" dirty="0">
                  <a:effectLst/>
                  <a:latin typeface="標楷體" panose="03000509000000000000" pitchFamily="65" charset="-120"/>
                  <a:ea typeface="新細明體" panose="02020500000000000000" pitchFamily="18" charset="-120"/>
                  <a:cs typeface="Times New Roman" panose="02020603050405020304" pitchFamily="18" charset="0"/>
                </a:rPr>
                <a:t>Mirror1</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15" name="文字方塊 2">
              <a:extLst>
                <a:ext uri="{FF2B5EF4-FFF2-40B4-BE49-F238E27FC236}">
                  <a16:creationId xmlns:a16="http://schemas.microsoft.com/office/drawing/2014/main" id="{803DE48A-5062-4633-8A38-97E2298FF2CB}"/>
                </a:ext>
              </a:extLst>
            </p:cNvPr>
            <p:cNvSpPr txBox="1">
              <a:spLocks noChangeArrowheads="1"/>
            </p:cNvSpPr>
            <p:nvPr/>
          </p:nvSpPr>
          <p:spPr bwMode="auto">
            <a:xfrm>
              <a:off x="4462479" y="133196"/>
              <a:ext cx="1063256" cy="328179"/>
            </a:xfrm>
            <a:prstGeom prst="rect">
              <a:avLst/>
            </a:prstGeom>
            <a:noFill/>
            <a:ln w="9525">
              <a:noFill/>
              <a:miter lim="800000"/>
              <a:headEnd/>
              <a:tailEnd/>
            </a:ln>
          </p:spPr>
          <p:txBody>
            <a:bodyPr rot="0" vert="horz" wrap="square" lIns="91440" tIns="45720" rIns="91440" bIns="45720" anchor="t" anchorCtr="0">
              <a:noAutofit/>
            </a:bodyPr>
            <a:lstStyle/>
            <a:p>
              <a:pPr>
                <a:spcAft>
                  <a:spcPts val="0"/>
                </a:spcAft>
              </a:pPr>
              <a:r>
                <a:rPr lang="en-US" sz="1400" b="1" kern="100" dirty="0">
                  <a:effectLst/>
                  <a:latin typeface="標楷體" panose="03000509000000000000" pitchFamily="65" charset="-120"/>
                  <a:ea typeface="新細明體" panose="02020500000000000000" pitchFamily="18" charset="-120"/>
                  <a:cs typeface="Times New Roman" panose="02020603050405020304" pitchFamily="18" charset="0"/>
                </a:rPr>
                <a:t>Mirror2</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grpSp>
      <p:grpSp>
        <p:nvGrpSpPr>
          <p:cNvPr id="57" name="群組 56">
            <a:extLst>
              <a:ext uri="{FF2B5EF4-FFF2-40B4-BE49-F238E27FC236}">
                <a16:creationId xmlns:a16="http://schemas.microsoft.com/office/drawing/2014/main" id="{51696F36-CDC4-4A84-BAF5-BD5987643D54}"/>
              </a:ext>
            </a:extLst>
          </p:cNvPr>
          <p:cNvGrpSpPr/>
          <p:nvPr/>
        </p:nvGrpSpPr>
        <p:grpSpPr>
          <a:xfrm>
            <a:off x="9760699" y="1417547"/>
            <a:ext cx="1034169" cy="2015850"/>
            <a:chOff x="9543624" y="1203038"/>
            <a:chExt cx="1034169" cy="2015850"/>
          </a:xfrm>
        </p:grpSpPr>
        <p:sp>
          <p:nvSpPr>
            <p:cNvPr id="47" name="手繪多邊形: 圖案 46">
              <a:extLst>
                <a:ext uri="{FF2B5EF4-FFF2-40B4-BE49-F238E27FC236}">
                  <a16:creationId xmlns:a16="http://schemas.microsoft.com/office/drawing/2014/main" id="{934A0A32-8593-4B12-B6B1-D580260F17DF}"/>
                </a:ext>
              </a:extLst>
            </p:cNvPr>
            <p:cNvSpPr/>
            <p:nvPr/>
          </p:nvSpPr>
          <p:spPr>
            <a:xfrm>
              <a:off x="9543624" y="2619396"/>
              <a:ext cx="942802" cy="599492"/>
            </a:xfrm>
            <a:custGeom>
              <a:avLst/>
              <a:gdLst>
                <a:gd name="connsiteX0" fmla="*/ 0 w 742208"/>
                <a:gd name="connsiteY0" fmla="*/ 445331 h 483814"/>
                <a:gd name="connsiteX1" fmla="*/ 89065 w 742208"/>
                <a:gd name="connsiteY1" fmla="*/ 421581 h 483814"/>
                <a:gd name="connsiteX2" fmla="*/ 178130 w 742208"/>
                <a:gd name="connsiteY2" fmla="*/ 445331 h 483814"/>
                <a:gd name="connsiteX3" fmla="*/ 243445 w 742208"/>
                <a:gd name="connsiteY3" fmla="*/ 7 h 483814"/>
                <a:gd name="connsiteX4" fmla="*/ 326572 w 742208"/>
                <a:gd name="connsiteY4" fmla="*/ 457207 h 483814"/>
                <a:gd name="connsiteX5" fmla="*/ 427512 w 742208"/>
                <a:gd name="connsiteY5" fmla="*/ 433456 h 483814"/>
                <a:gd name="connsiteX6" fmla="*/ 546265 w 742208"/>
                <a:gd name="connsiteY6" fmla="*/ 469082 h 483814"/>
                <a:gd name="connsiteX7" fmla="*/ 629393 w 742208"/>
                <a:gd name="connsiteY7" fmla="*/ 451269 h 483814"/>
                <a:gd name="connsiteX8" fmla="*/ 742208 w 742208"/>
                <a:gd name="connsiteY8" fmla="*/ 463144 h 48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2208" h="483814">
                  <a:moveTo>
                    <a:pt x="0" y="445331"/>
                  </a:moveTo>
                  <a:cubicBezTo>
                    <a:pt x="29688" y="433456"/>
                    <a:pt x="59377" y="421581"/>
                    <a:pt x="89065" y="421581"/>
                  </a:cubicBezTo>
                  <a:cubicBezTo>
                    <a:pt x="118753" y="421581"/>
                    <a:pt x="152400" y="515593"/>
                    <a:pt x="178130" y="445331"/>
                  </a:cubicBezTo>
                  <a:cubicBezTo>
                    <a:pt x="203860" y="375069"/>
                    <a:pt x="218705" y="-1972"/>
                    <a:pt x="243445" y="7"/>
                  </a:cubicBezTo>
                  <a:cubicBezTo>
                    <a:pt x="268185" y="1986"/>
                    <a:pt x="295894" y="384965"/>
                    <a:pt x="326572" y="457207"/>
                  </a:cubicBezTo>
                  <a:cubicBezTo>
                    <a:pt x="357250" y="529449"/>
                    <a:pt x="390897" y="431477"/>
                    <a:pt x="427512" y="433456"/>
                  </a:cubicBezTo>
                  <a:cubicBezTo>
                    <a:pt x="464127" y="435435"/>
                    <a:pt x="512618" y="466113"/>
                    <a:pt x="546265" y="469082"/>
                  </a:cubicBezTo>
                  <a:cubicBezTo>
                    <a:pt x="579912" y="472051"/>
                    <a:pt x="596736" y="452259"/>
                    <a:pt x="629393" y="451269"/>
                  </a:cubicBezTo>
                  <a:cubicBezTo>
                    <a:pt x="662050" y="450279"/>
                    <a:pt x="713509" y="466113"/>
                    <a:pt x="742208" y="46314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grpSp>
          <p:nvGrpSpPr>
            <p:cNvPr id="56" name="群組 55">
              <a:extLst>
                <a:ext uri="{FF2B5EF4-FFF2-40B4-BE49-F238E27FC236}">
                  <a16:creationId xmlns:a16="http://schemas.microsoft.com/office/drawing/2014/main" id="{E8C563B6-D0F6-49BF-A220-ECD4A17FD396}"/>
                </a:ext>
              </a:extLst>
            </p:cNvPr>
            <p:cNvGrpSpPr/>
            <p:nvPr/>
          </p:nvGrpSpPr>
          <p:grpSpPr>
            <a:xfrm>
              <a:off x="9589451" y="1203038"/>
              <a:ext cx="988342" cy="1407390"/>
              <a:chOff x="9589451" y="1203038"/>
              <a:chExt cx="988342" cy="1407390"/>
            </a:xfrm>
          </p:grpSpPr>
          <p:sp>
            <p:nvSpPr>
              <p:cNvPr id="5" name="手繪多邊形: 圖案 4">
                <a:extLst>
                  <a:ext uri="{FF2B5EF4-FFF2-40B4-BE49-F238E27FC236}">
                    <a16:creationId xmlns:a16="http://schemas.microsoft.com/office/drawing/2014/main" id="{4F7BC9E8-8EFA-42CF-9F3C-19DEEE50F16D}"/>
                  </a:ext>
                </a:extLst>
              </p:cNvPr>
              <p:cNvSpPr/>
              <p:nvPr/>
            </p:nvSpPr>
            <p:spPr>
              <a:xfrm>
                <a:off x="9636578" y="1714966"/>
                <a:ext cx="941215" cy="352682"/>
              </a:xfrm>
              <a:custGeom>
                <a:avLst/>
                <a:gdLst>
                  <a:gd name="connsiteX0" fmla="*/ 0 w 1392382"/>
                  <a:gd name="connsiteY0" fmla="*/ 488424 h 522509"/>
                  <a:gd name="connsiteX1" fmla="*/ 187037 w 1392382"/>
                  <a:gd name="connsiteY1" fmla="*/ 436469 h 522509"/>
                  <a:gd name="connsiteX2" fmla="*/ 436419 w 1392382"/>
                  <a:gd name="connsiteY2" fmla="*/ 488424 h 522509"/>
                  <a:gd name="connsiteX3" fmla="*/ 623455 w 1392382"/>
                  <a:gd name="connsiteY3" fmla="*/ 436469 h 522509"/>
                  <a:gd name="connsiteX4" fmla="*/ 800100 w 1392382"/>
                  <a:gd name="connsiteY4" fmla="*/ 488424 h 522509"/>
                  <a:gd name="connsiteX5" fmla="*/ 924791 w 1392382"/>
                  <a:gd name="connsiteY5" fmla="*/ 467642 h 522509"/>
                  <a:gd name="connsiteX6" fmla="*/ 1028700 w 1392382"/>
                  <a:gd name="connsiteY6" fmla="*/ 51 h 522509"/>
                  <a:gd name="connsiteX7" fmla="*/ 1122219 w 1392382"/>
                  <a:gd name="connsiteY7" fmla="*/ 498814 h 522509"/>
                  <a:gd name="connsiteX8" fmla="*/ 1288473 w 1392382"/>
                  <a:gd name="connsiteY8" fmla="*/ 446860 h 522509"/>
                  <a:gd name="connsiteX9" fmla="*/ 1392382 w 1392382"/>
                  <a:gd name="connsiteY9" fmla="*/ 488424 h 522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2382" h="522509">
                    <a:moveTo>
                      <a:pt x="0" y="488424"/>
                    </a:moveTo>
                    <a:cubicBezTo>
                      <a:pt x="57150" y="462446"/>
                      <a:pt x="114301" y="436469"/>
                      <a:pt x="187037" y="436469"/>
                    </a:cubicBezTo>
                    <a:cubicBezTo>
                      <a:pt x="259773" y="436469"/>
                      <a:pt x="363683" y="488424"/>
                      <a:pt x="436419" y="488424"/>
                    </a:cubicBezTo>
                    <a:cubicBezTo>
                      <a:pt x="509155" y="488424"/>
                      <a:pt x="562842" y="436469"/>
                      <a:pt x="623455" y="436469"/>
                    </a:cubicBezTo>
                    <a:cubicBezTo>
                      <a:pt x="684068" y="436469"/>
                      <a:pt x="749877" y="483228"/>
                      <a:pt x="800100" y="488424"/>
                    </a:cubicBezTo>
                    <a:cubicBezTo>
                      <a:pt x="850323" y="493620"/>
                      <a:pt x="886691" y="549037"/>
                      <a:pt x="924791" y="467642"/>
                    </a:cubicBezTo>
                    <a:cubicBezTo>
                      <a:pt x="962891" y="386247"/>
                      <a:pt x="995796" y="-5144"/>
                      <a:pt x="1028700" y="51"/>
                    </a:cubicBezTo>
                    <a:cubicBezTo>
                      <a:pt x="1061604" y="5246"/>
                      <a:pt x="1078924" y="424346"/>
                      <a:pt x="1122219" y="498814"/>
                    </a:cubicBezTo>
                    <a:cubicBezTo>
                      <a:pt x="1165515" y="573282"/>
                      <a:pt x="1243446" y="448592"/>
                      <a:pt x="1288473" y="446860"/>
                    </a:cubicBezTo>
                    <a:cubicBezTo>
                      <a:pt x="1333500" y="445128"/>
                      <a:pt x="1392382" y="488424"/>
                      <a:pt x="1392382" y="48842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手繪多邊形: 圖案 45">
                <a:extLst>
                  <a:ext uri="{FF2B5EF4-FFF2-40B4-BE49-F238E27FC236}">
                    <a16:creationId xmlns:a16="http://schemas.microsoft.com/office/drawing/2014/main" id="{75646D5B-66F1-496D-9986-0E028ADBDCE3}"/>
                  </a:ext>
                </a:extLst>
              </p:cNvPr>
              <p:cNvSpPr/>
              <p:nvPr/>
            </p:nvSpPr>
            <p:spPr>
              <a:xfrm>
                <a:off x="9599661" y="2090820"/>
                <a:ext cx="715730" cy="519608"/>
              </a:xfrm>
              <a:custGeom>
                <a:avLst/>
                <a:gdLst>
                  <a:gd name="connsiteX0" fmla="*/ 0 w 748146"/>
                  <a:gd name="connsiteY0" fmla="*/ 575959 h 586516"/>
                  <a:gd name="connsiteX1" fmla="*/ 112816 w 748146"/>
                  <a:gd name="connsiteY1" fmla="*/ 528458 h 586516"/>
                  <a:gd name="connsiteX2" fmla="*/ 273133 w 748146"/>
                  <a:gd name="connsiteY2" fmla="*/ 564084 h 586516"/>
                  <a:gd name="connsiteX3" fmla="*/ 338447 w 748146"/>
                  <a:gd name="connsiteY3" fmla="*/ 510645 h 586516"/>
                  <a:gd name="connsiteX4" fmla="*/ 415637 w 748146"/>
                  <a:gd name="connsiteY4" fmla="*/ 558146 h 586516"/>
                  <a:gd name="connsiteX5" fmla="*/ 498764 w 748146"/>
                  <a:gd name="connsiteY5" fmla="*/ 6 h 586516"/>
                  <a:gd name="connsiteX6" fmla="*/ 587829 w 748146"/>
                  <a:gd name="connsiteY6" fmla="*/ 546271 h 586516"/>
                  <a:gd name="connsiteX7" fmla="*/ 641268 w 748146"/>
                  <a:gd name="connsiteY7" fmla="*/ 534396 h 586516"/>
                  <a:gd name="connsiteX8" fmla="*/ 748146 w 748146"/>
                  <a:gd name="connsiteY8" fmla="*/ 564084 h 586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8146" h="586516">
                    <a:moveTo>
                      <a:pt x="0" y="575959"/>
                    </a:moveTo>
                    <a:cubicBezTo>
                      <a:pt x="33647" y="553198"/>
                      <a:pt x="67294" y="530437"/>
                      <a:pt x="112816" y="528458"/>
                    </a:cubicBezTo>
                    <a:cubicBezTo>
                      <a:pt x="158338" y="526479"/>
                      <a:pt x="235528" y="567053"/>
                      <a:pt x="273133" y="564084"/>
                    </a:cubicBezTo>
                    <a:cubicBezTo>
                      <a:pt x="310738" y="561115"/>
                      <a:pt x="314696" y="511635"/>
                      <a:pt x="338447" y="510645"/>
                    </a:cubicBezTo>
                    <a:cubicBezTo>
                      <a:pt x="362198" y="509655"/>
                      <a:pt x="388918" y="643253"/>
                      <a:pt x="415637" y="558146"/>
                    </a:cubicBezTo>
                    <a:cubicBezTo>
                      <a:pt x="442357" y="473039"/>
                      <a:pt x="470065" y="1985"/>
                      <a:pt x="498764" y="6"/>
                    </a:cubicBezTo>
                    <a:cubicBezTo>
                      <a:pt x="527463" y="-1973"/>
                      <a:pt x="564078" y="457206"/>
                      <a:pt x="587829" y="546271"/>
                    </a:cubicBezTo>
                    <a:cubicBezTo>
                      <a:pt x="611580" y="635336"/>
                      <a:pt x="614549" y="531427"/>
                      <a:pt x="641268" y="534396"/>
                    </a:cubicBezTo>
                    <a:cubicBezTo>
                      <a:pt x="667987" y="537365"/>
                      <a:pt x="708066" y="550724"/>
                      <a:pt x="748146" y="56408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TW" altLang="en-US"/>
              </a:p>
            </p:txBody>
          </p:sp>
          <p:sp>
            <p:nvSpPr>
              <p:cNvPr id="54" name="手繪多邊形: 圖案 53">
                <a:extLst>
                  <a:ext uri="{FF2B5EF4-FFF2-40B4-BE49-F238E27FC236}">
                    <a16:creationId xmlns:a16="http://schemas.microsoft.com/office/drawing/2014/main" id="{DB635F30-C1DA-4AB3-9DD3-40DC83B176EB}"/>
                  </a:ext>
                </a:extLst>
              </p:cNvPr>
              <p:cNvSpPr/>
              <p:nvPr/>
            </p:nvSpPr>
            <p:spPr>
              <a:xfrm>
                <a:off x="9589451" y="1203038"/>
                <a:ext cx="900457" cy="549433"/>
              </a:xfrm>
              <a:custGeom>
                <a:avLst/>
                <a:gdLst>
                  <a:gd name="connsiteX0" fmla="*/ 0 w 1267691"/>
                  <a:gd name="connsiteY0" fmla="*/ 613103 h 695958"/>
                  <a:gd name="connsiteX1" fmla="*/ 197427 w 1267691"/>
                  <a:gd name="connsiteY1" fmla="*/ 581930 h 695958"/>
                  <a:gd name="connsiteX2" fmla="*/ 259772 w 1267691"/>
                  <a:gd name="connsiteY2" fmla="*/ 39 h 695958"/>
                  <a:gd name="connsiteX3" fmla="*/ 415636 w 1267691"/>
                  <a:gd name="connsiteY3" fmla="*/ 592321 h 695958"/>
                  <a:gd name="connsiteX4" fmla="*/ 519545 w 1267691"/>
                  <a:gd name="connsiteY4" fmla="*/ 602712 h 695958"/>
                  <a:gd name="connsiteX5" fmla="*/ 623454 w 1267691"/>
                  <a:gd name="connsiteY5" fmla="*/ 20821 h 695958"/>
                  <a:gd name="connsiteX6" fmla="*/ 779318 w 1267691"/>
                  <a:gd name="connsiteY6" fmla="*/ 602712 h 695958"/>
                  <a:gd name="connsiteX7" fmla="*/ 862445 w 1267691"/>
                  <a:gd name="connsiteY7" fmla="*/ 633885 h 695958"/>
                  <a:gd name="connsiteX8" fmla="*/ 966354 w 1267691"/>
                  <a:gd name="connsiteY8" fmla="*/ 39 h 695958"/>
                  <a:gd name="connsiteX9" fmla="*/ 1059872 w 1267691"/>
                  <a:gd name="connsiteY9" fmla="*/ 602712 h 695958"/>
                  <a:gd name="connsiteX10" fmla="*/ 1163781 w 1267691"/>
                  <a:gd name="connsiteY10" fmla="*/ 581930 h 695958"/>
                  <a:gd name="connsiteX11" fmla="*/ 1267691 w 1267691"/>
                  <a:gd name="connsiteY11" fmla="*/ 581930 h 695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7691" h="695958">
                    <a:moveTo>
                      <a:pt x="0" y="613103"/>
                    </a:moveTo>
                    <a:cubicBezTo>
                      <a:pt x="77066" y="648605"/>
                      <a:pt x="154132" y="684107"/>
                      <a:pt x="197427" y="581930"/>
                    </a:cubicBezTo>
                    <a:cubicBezTo>
                      <a:pt x="240722" y="479753"/>
                      <a:pt x="223404" y="-1693"/>
                      <a:pt x="259772" y="39"/>
                    </a:cubicBezTo>
                    <a:cubicBezTo>
                      <a:pt x="296140" y="1771"/>
                      <a:pt x="372341" y="491876"/>
                      <a:pt x="415636" y="592321"/>
                    </a:cubicBezTo>
                    <a:cubicBezTo>
                      <a:pt x="458931" y="692766"/>
                      <a:pt x="484909" y="697962"/>
                      <a:pt x="519545" y="602712"/>
                    </a:cubicBezTo>
                    <a:cubicBezTo>
                      <a:pt x="554181" y="507462"/>
                      <a:pt x="580159" y="20821"/>
                      <a:pt x="623454" y="20821"/>
                    </a:cubicBezTo>
                    <a:cubicBezTo>
                      <a:pt x="666749" y="20821"/>
                      <a:pt x="739486" y="500535"/>
                      <a:pt x="779318" y="602712"/>
                    </a:cubicBezTo>
                    <a:cubicBezTo>
                      <a:pt x="819150" y="704889"/>
                      <a:pt x="831272" y="734330"/>
                      <a:pt x="862445" y="633885"/>
                    </a:cubicBezTo>
                    <a:cubicBezTo>
                      <a:pt x="893618" y="533440"/>
                      <a:pt x="933450" y="5234"/>
                      <a:pt x="966354" y="39"/>
                    </a:cubicBezTo>
                    <a:cubicBezTo>
                      <a:pt x="999258" y="-5156"/>
                      <a:pt x="1026968" y="505730"/>
                      <a:pt x="1059872" y="602712"/>
                    </a:cubicBezTo>
                    <a:cubicBezTo>
                      <a:pt x="1092776" y="699694"/>
                      <a:pt x="1129145" y="585394"/>
                      <a:pt x="1163781" y="581930"/>
                    </a:cubicBezTo>
                    <a:cubicBezTo>
                      <a:pt x="1198417" y="578466"/>
                      <a:pt x="1233054" y="580198"/>
                      <a:pt x="1267691" y="58193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手繪多邊形: 圖案 54">
                <a:extLst>
                  <a:ext uri="{FF2B5EF4-FFF2-40B4-BE49-F238E27FC236}">
                    <a16:creationId xmlns:a16="http://schemas.microsoft.com/office/drawing/2014/main" id="{1258146A-CF8C-4055-8C7C-F423DAFFF701}"/>
                  </a:ext>
                </a:extLst>
              </p:cNvPr>
              <p:cNvSpPr/>
              <p:nvPr/>
            </p:nvSpPr>
            <p:spPr>
              <a:xfrm>
                <a:off x="10287000" y="2556164"/>
                <a:ext cx="249382" cy="52399"/>
              </a:xfrm>
              <a:custGeom>
                <a:avLst/>
                <a:gdLst>
                  <a:gd name="connsiteX0" fmla="*/ 0 w 249382"/>
                  <a:gd name="connsiteY0" fmla="*/ 20781 h 52399"/>
                  <a:gd name="connsiteX1" fmla="*/ 93518 w 249382"/>
                  <a:gd name="connsiteY1" fmla="*/ 51954 h 52399"/>
                  <a:gd name="connsiteX2" fmla="*/ 249382 w 249382"/>
                  <a:gd name="connsiteY2" fmla="*/ 0 h 52399"/>
                </a:gdLst>
                <a:ahLst/>
                <a:cxnLst>
                  <a:cxn ang="0">
                    <a:pos x="connsiteX0" y="connsiteY0"/>
                  </a:cxn>
                  <a:cxn ang="0">
                    <a:pos x="connsiteX1" y="connsiteY1"/>
                  </a:cxn>
                  <a:cxn ang="0">
                    <a:pos x="connsiteX2" y="connsiteY2"/>
                  </a:cxn>
                </a:cxnLst>
                <a:rect l="l" t="t" r="r" b="b"/>
                <a:pathLst>
                  <a:path w="249382" h="52399">
                    <a:moveTo>
                      <a:pt x="0" y="20781"/>
                    </a:moveTo>
                    <a:cubicBezTo>
                      <a:pt x="25977" y="38099"/>
                      <a:pt x="51954" y="55418"/>
                      <a:pt x="93518" y="51954"/>
                    </a:cubicBezTo>
                    <a:cubicBezTo>
                      <a:pt x="135082" y="48490"/>
                      <a:pt x="192232" y="24245"/>
                      <a:pt x="249382"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60" name="矩形 59">
            <a:extLst>
              <a:ext uri="{FF2B5EF4-FFF2-40B4-BE49-F238E27FC236}">
                <a16:creationId xmlns:a16="http://schemas.microsoft.com/office/drawing/2014/main" id="{1A5AD9FD-5E34-44FB-8185-1E04B03F64F4}"/>
              </a:ext>
            </a:extLst>
          </p:cNvPr>
          <p:cNvSpPr/>
          <p:nvPr/>
        </p:nvSpPr>
        <p:spPr>
          <a:xfrm>
            <a:off x="168298" y="865093"/>
            <a:ext cx="2612638" cy="646331"/>
          </a:xfrm>
          <a:prstGeom prst="rect">
            <a:avLst/>
          </a:prstGeom>
        </p:spPr>
        <p:txBody>
          <a:bodyPr wrap="none">
            <a:spAutoFit/>
          </a:bodyPr>
          <a:lstStyle/>
          <a:p>
            <a:r>
              <a:rPr lang="en-US" altLang="zh-TW" b="1" i="1" dirty="0">
                <a:latin typeface="Times New Roman" pitchFamily="18" charset="0"/>
                <a:cs typeface="Times New Roman" pitchFamily="18" charset="0"/>
              </a:rPr>
              <a:t>Two wavelength selection</a:t>
            </a:r>
            <a:endParaRPr lang="zh-TW" altLang="en-US" b="1" i="1" dirty="0">
              <a:solidFill>
                <a:srgbClr val="FF0000"/>
              </a:solidFill>
              <a:latin typeface="Times New Roman" panose="02020603050405020304" pitchFamily="18" charset="0"/>
              <a:cs typeface="Times New Roman" panose="02020603050405020304" pitchFamily="18" charset="0"/>
            </a:endParaRPr>
          </a:p>
          <a:p>
            <a:endParaRPr lang="zh-TW" altLang="en-US" b="1" dirty="0"/>
          </a:p>
        </p:txBody>
      </p:sp>
      <p:sp>
        <p:nvSpPr>
          <p:cNvPr id="58" name="箭號: 向右 57">
            <a:extLst>
              <a:ext uri="{FF2B5EF4-FFF2-40B4-BE49-F238E27FC236}">
                <a16:creationId xmlns:a16="http://schemas.microsoft.com/office/drawing/2014/main" id="{697CE327-914B-41E6-95FE-EA39414A2644}"/>
              </a:ext>
            </a:extLst>
          </p:cNvPr>
          <p:cNvSpPr/>
          <p:nvPr/>
        </p:nvSpPr>
        <p:spPr>
          <a:xfrm>
            <a:off x="2780936" y="954477"/>
            <a:ext cx="758682" cy="201151"/>
          </a:xfrm>
          <a:prstGeom prst="rightArrow">
            <a:avLst/>
          </a:prstGeom>
          <a:solidFill>
            <a:schemeClr val="tx2"/>
          </a:solidFill>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862C08EA-32D1-46EB-99ED-899F8EDB3F31}"/>
              </a:ext>
            </a:extLst>
          </p:cNvPr>
          <p:cNvSpPr/>
          <p:nvPr/>
        </p:nvSpPr>
        <p:spPr>
          <a:xfrm>
            <a:off x="3591478" y="870562"/>
            <a:ext cx="2775119" cy="646331"/>
          </a:xfrm>
          <a:prstGeom prst="rect">
            <a:avLst/>
          </a:prstGeom>
        </p:spPr>
        <p:txBody>
          <a:bodyPr wrap="none">
            <a:spAutoFit/>
          </a:bodyPr>
          <a:lstStyle/>
          <a:p>
            <a:r>
              <a:rPr lang="en-US" altLang="zh-TW" b="1" i="1" dirty="0">
                <a:latin typeface="Times New Roman" pitchFamily="18" charset="0"/>
                <a:cs typeface="Times New Roman" pitchFamily="18" charset="0"/>
              </a:rPr>
              <a:t>Three wavelength selection</a:t>
            </a:r>
            <a:endParaRPr lang="zh-TW" altLang="en-US" b="1" i="1" dirty="0">
              <a:solidFill>
                <a:srgbClr val="FF0000"/>
              </a:solidFill>
              <a:latin typeface="Times New Roman" panose="02020603050405020304" pitchFamily="18" charset="0"/>
              <a:cs typeface="Times New Roman" panose="02020603050405020304" pitchFamily="18" charset="0"/>
            </a:endParaRPr>
          </a:p>
          <a:p>
            <a:endParaRPr lang="zh-TW" altLang="en-US" b="1" dirty="0"/>
          </a:p>
        </p:txBody>
      </p:sp>
    </p:spTree>
    <p:extLst>
      <p:ext uri="{BB962C8B-B14F-4D97-AF65-F5344CB8AC3E}">
        <p14:creationId xmlns:p14="http://schemas.microsoft.com/office/powerpoint/2010/main" val="38754515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1452642"/>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648658" y="2972830"/>
            <a:ext cx="11152166" cy="830997"/>
          </a:xfrm>
          <a:prstGeom prst="rect">
            <a:avLst/>
          </a:prstGeom>
          <a:solidFill>
            <a:srgbClr val="FFFFD8"/>
          </a:solidFill>
          <a:ln w="38100">
            <a:solidFill>
              <a:srgbClr val="8F9DFE"/>
            </a:solidFill>
          </a:ln>
        </p:spPr>
        <p:txBody>
          <a:bodyPr wrap="square" rtlCol="0">
            <a:spAutoFit/>
          </a:bodyPr>
          <a:lstStyle/>
          <a:p>
            <a:pPr algn="ctr"/>
            <a:r>
              <a:rPr kumimoji="1" lang="en-US" altLang="zh-TW" sz="4800" b="1" dirty="0">
                <a:latin typeface="Times New Roman" panose="02020603050405020304" pitchFamily="18" charset="0"/>
                <a:cs typeface="Times New Roman" panose="02020603050405020304" pitchFamily="18" charset="0"/>
              </a:rPr>
              <a:t>Thank you for listening</a:t>
            </a:r>
            <a:r>
              <a:rPr kumimoji="1" lang="zh-TW" altLang="en-US" sz="4800" b="1" dirty="0">
                <a:latin typeface="Times New Roman" panose="02020603050405020304" pitchFamily="18" charset="0"/>
                <a:cs typeface="Times New Roman" panose="02020603050405020304" pitchFamily="18" charset="0"/>
              </a:rPr>
              <a:t> </a:t>
            </a:r>
            <a:r>
              <a:rPr kumimoji="1" lang="en-US" altLang="zh-TW" sz="4800" b="1" dirty="0">
                <a:latin typeface="Times New Roman" panose="02020603050405020304" pitchFamily="18" charset="0"/>
                <a:cs typeface="Times New Roman" panose="02020603050405020304" pitchFamily="18" charset="0"/>
              </a:rPr>
              <a:t>!</a:t>
            </a:r>
            <a:endParaRPr kumimoji="1" lang="zh-TW" altLang="en-US" sz="4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9943717-266E-45CE-ADAF-8020BDE433FE}"/>
              </a:ext>
            </a:extLst>
          </p:cNvPr>
          <p:cNvSpPr>
            <a:spLocks noGrp="1"/>
          </p:cNvSpPr>
          <p:nvPr>
            <p:ph type="sldNum" sz="quarter" idx="12"/>
          </p:nvPr>
        </p:nvSpPr>
        <p:spPr/>
        <p:txBody>
          <a:bodyPr/>
          <a:lstStyle/>
          <a:p>
            <a:fld id="{29723A01-8C65-4E4C-95BB-6D96843E9278}" type="slidenum">
              <a:rPr lang="zh-TW" altLang="en-US" smtClean="0"/>
              <a:t>40</a:t>
            </a:fld>
            <a:endParaRPr lang="zh-TW" altLang="en-US"/>
          </a:p>
        </p:txBody>
      </p:sp>
      <p:pic>
        <p:nvPicPr>
          <p:cNvPr id="10" name="圖片 9">
            <a:extLst>
              <a:ext uri="{FF2B5EF4-FFF2-40B4-BE49-F238E27FC236}">
                <a16:creationId xmlns:a16="http://schemas.microsoft.com/office/drawing/2014/main" id="{4F0CB839-6518-4775-83EB-1515A1DFCC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34" y="0"/>
            <a:ext cx="5074920" cy="1226995"/>
          </a:xfrm>
          <a:prstGeom prst="rect">
            <a:avLst/>
          </a:prstGeom>
        </p:spPr>
      </p:pic>
      <p:pic>
        <p:nvPicPr>
          <p:cNvPr id="11" name="圖片 10">
            <a:extLst>
              <a:ext uri="{FF2B5EF4-FFF2-40B4-BE49-F238E27FC236}">
                <a16:creationId xmlns:a16="http://schemas.microsoft.com/office/drawing/2014/main" id="{076F2F97-F870-471A-9045-12DF3F421B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695" y="5840182"/>
            <a:ext cx="1089927" cy="932977"/>
          </a:xfrm>
          <a:prstGeom prst="rect">
            <a:avLst/>
          </a:prstGeom>
        </p:spPr>
      </p:pic>
      <p:pic>
        <p:nvPicPr>
          <p:cNvPr id="12" name="圖片 11">
            <a:extLst>
              <a:ext uri="{FF2B5EF4-FFF2-40B4-BE49-F238E27FC236}">
                <a16:creationId xmlns:a16="http://schemas.microsoft.com/office/drawing/2014/main" id="{E566597A-2EA3-45B3-86EB-0786FA48CC75}"/>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402056" y="5904735"/>
            <a:ext cx="1789944" cy="953265"/>
          </a:xfrm>
          <a:prstGeom prst="rect">
            <a:avLst/>
          </a:prstGeom>
        </p:spPr>
      </p:pic>
    </p:spTree>
    <p:extLst>
      <p:ext uri="{BB962C8B-B14F-4D97-AF65-F5344CB8AC3E}">
        <p14:creationId xmlns:p14="http://schemas.microsoft.com/office/powerpoint/2010/main" val="37680977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id="{4739C38C-6D43-4257-A50D-A51E4091D99C}"/>
              </a:ext>
            </a:extLst>
          </p:cNvPr>
          <p:cNvPicPr>
            <a:picLocks noGrp="1" noChangeAspect="1"/>
          </p:cNvPicPr>
          <p:nvPr>
            <p:ph idx="1"/>
          </p:nvPr>
        </p:nvPicPr>
        <p:blipFill>
          <a:blip r:embed="rId2"/>
          <a:stretch>
            <a:fillRect/>
          </a:stretch>
        </p:blipFill>
        <p:spPr>
          <a:xfrm>
            <a:off x="1147874" y="1407336"/>
            <a:ext cx="3631638" cy="4351338"/>
          </a:xfrm>
          <a:prstGeom prst="rect">
            <a:avLst/>
          </a:prstGeom>
        </p:spPr>
      </p:pic>
      <p:sp>
        <p:nvSpPr>
          <p:cNvPr id="4" name="投影片編號版面配置區 3">
            <a:extLst>
              <a:ext uri="{FF2B5EF4-FFF2-40B4-BE49-F238E27FC236}">
                <a16:creationId xmlns:a16="http://schemas.microsoft.com/office/drawing/2014/main" id="{D1568CC3-A9CE-4AC0-BF2E-05B6EB7A327B}"/>
              </a:ext>
            </a:extLst>
          </p:cNvPr>
          <p:cNvSpPr>
            <a:spLocks noGrp="1"/>
          </p:cNvSpPr>
          <p:nvPr>
            <p:ph type="sldNum" sz="quarter" idx="12"/>
          </p:nvPr>
        </p:nvSpPr>
        <p:spPr/>
        <p:txBody>
          <a:bodyPr/>
          <a:lstStyle/>
          <a:p>
            <a:fld id="{29723A01-8C65-4E4C-95BB-6D96843E9278}" type="slidenum">
              <a:rPr lang="zh-TW" altLang="en-US" smtClean="0"/>
              <a:t>41</a:t>
            </a:fld>
            <a:endParaRPr lang="zh-TW" altLang="en-US"/>
          </a:p>
        </p:txBody>
      </p:sp>
      <p:pic>
        <p:nvPicPr>
          <p:cNvPr id="7" name="圖片 6">
            <a:extLst>
              <a:ext uri="{FF2B5EF4-FFF2-40B4-BE49-F238E27FC236}">
                <a16:creationId xmlns:a16="http://schemas.microsoft.com/office/drawing/2014/main" id="{41929BC3-208D-4D6C-BA2B-8E13162DDD3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358356" y="398196"/>
            <a:ext cx="4032210" cy="3115798"/>
          </a:xfrm>
          <a:prstGeom prst="rect">
            <a:avLst/>
          </a:prstGeom>
        </p:spPr>
      </p:pic>
      <p:sp>
        <p:nvSpPr>
          <p:cNvPr id="8" name="文字方塊 7">
            <a:extLst>
              <a:ext uri="{FF2B5EF4-FFF2-40B4-BE49-F238E27FC236}">
                <a16:creationId xmlns:a16="http://schemas.microsoft.com/office/drawing/2014/main" id="{1567381E-046C-45D4-9D72-928E22C0E4EF}"/>
              </a:ext>
            </a:extLst>
          </p:cNvPr>
          <p:cNvSpPr txBox="1"/>
          <p:nvPr/>
        </p:nvSpPr>
        <p:spPr>
          <a:xfrm>
            <a:off x="8054502" y="136525"/>
            <a:ext cx="639919" cy="369332"/>
          </a:xfrm>
          <a:prstGeom prst="rect">
            <a:avLst/>
          </a:prstGeom>
          <a:noFill/>
        </p:spPr>
        <p:txBody>
          <a:bodyPr wrap="none" rtlCol="0">
            <a:spAutoFit/>
          </a:bodyPr>
          <a:lstStyle/>
          <a:p>
            <a:r>
              <a:rPr lang="en-US" altLang="zh-TW" dirty="0"/>
              <a:t>360v</a:t>
            </a:r>
            <a:endParaRPr lang="zh-TW" altLang="en-US" dirty="0"/>
          </a:p>
        </p:txBody>
      </p:sp>
      <p:pic>
        <p:nvPicPr>
          <p:cNvPr id="10" name="圖片 9">
            <a:extLst>
              <a:ext uri="{FF2B5EF4-FFF2-40B4-BE49-F238E27FC236}">
                <a16:creationId xmlns:a16="http://schemas.microsoft.com/office/drawing/2014/main" id="{B0823570-DC78-4249-A447-6768F659FB0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6369705" y="3657600"/>
            <a:ext cx="4141694" cy="3200400"/>
          </a:xfrm>
          <a:prstGeom prst="rect">
            <a:avLst/>
          </a:prstGeom>
        </p:spPr>
      </p:pic>
      <p:sp>
        <p:nvSpPr>
          <p:cNvPr id="11" name="文字方塊 10">
            <a:extLst>
              <a:ext uri="{FF2B5EF4-FFF2-40B4-BE49-F238E27FC236}">
                <a16:creationId xmlns:a16="http://schemas.microsoft.com/office/drawing/2014/main" id="{AB1FD0FE-B0DE-455D-A5DF-79156A329C5C}"/>
              </a:ext>
            </a:extLst>
          </p:cNvPr>
          <p:cNvSpPr txBox="1"/>
          <p:nvPr/>
        </p:nvSpPr>
        <p:spPr>
          <a:xfrm>
            <a:off x="8290640" y="3590999"/>
            <a:ext cx="639919" cy="369332"/>
          </a:xfrm>
          <a:prstGeom prst="rect">
            <a:avLst/>
          </a:prstGeom>
          <a:noFill/>
        </p:spPr>
        <p:txBody>
          <a:bodyPr wrap="none" rtlCol="0">
            <a:spAutoFit/>
          </a:bodyPr>
          <a:lstStyle/>
          <a:p>
            <a:r>
              <a:rPr lang="en-US" altLang="zh-TW" dirty="0"/>
              <a:t>790v</a:t>
            </a:r>
            <a:endParaRPr lang="zh-TW" altLang="en-US" dirty="0"/>
          </a:p>
        </p:txBody>
      </p:sp>
    </p:spTree>
    <p:extLst>
      <p:ext uri="{BB962C8B-B14F-4D97-AF65-F5344CB8AC3E}">
        <p14:creationId xmlns:p14="http://schemas.microsoft.com/office/powerpoint/2010/main" val="19341289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CD1CE4-B0A8-41D5-A7B9-BFE78E119C0E}"/>
              </a:ext>
            </a:extLst>
          </p:cNvPr>
          <p:cNvSpPr>
            <a:spLocks noGrp="1"/>
          </p:cNvSpPr>
          <p:nvPr>
            <p:ph type="title"/>
          </p:nvPr>
        </p:nvSpPr>
        <p:spPr>
          <a:xfrm>
            <a:off x="1027373" y="43674"/>
            <a:ext cx="10515600" cy="649390"/>
          </a:xfrm>
        </p:spPr>
        <p:txBody>
          <a:bodyPr>
            <a:normAutofit fontScale="90000"/>
          </a:bodyPr>
          <a:lstStyle/>
          <a:p>
            <a:pPr algn="ctr"/>
            <a:r>
              <a:rPr lang="en-US" altLang="zh-TW" b="1" dirty="0">
                <a:latin typeface="Times New Roman" panose="02020603050405020304" pitchFamily="18" charset="0"/>
                <a:cs typeface="Times New Roman" panose="02020603050405020304" pitchFamily="18" charset="0"/>
              </a:rPr>
              <a:t>In this work</a:t>
            </a:r>
            <a:endParaRPr lang="zh-TW" altLang="en-US" b="1" dirty="0">
              <a:latin typeface="Times New Roman" panose="02020603050405020304" pitchFamily="18" charset="0"/>
              <a:cs typeface="Times New Roman" panose="02020603050405020304" pitchFamily="18" charset="0"/>
            </a:endParaRPr>
          </a:p>
        </p:txBody>
      </p:sp>
      <p:cxnSp>
        <p:nvCxnSpPr>
          <p:cNvPr id="147" name="直線接點 146">
            <a:extLst>
              <a:ext uri="{FF2B5EF4-FFF2-40B4-BE49-F238E27FC236}">
                <a16:creationId xmlns:a16="http://schemas.microsoft.com/office/drawing/2014/main" id="{7A03D334-85C6-4D69-BE28-E37D5146D3DF}"/>
              </a:ext>
            </a:extLst>
          </p:cNvPr>
          <p:cNvCxnSpPr>
            <a:cxnSpLocks/>
          </p:cNvCxnSpPr>
          <p:nvPr/>
        </p:nvCxnSpPr>
        <p:spPr>
          <a:xfrm>
            <a:off x="0" y="693063"/>
            <a:ext cx="12192000" cy="0"/>
          </a:xfrm>
          <a:prstGeom prst="line">
            <a:avLst/>
          </a:prstGeom>
          <a:ln w="28575"/>
        </p:spPr>
        <p:style>
          <a:lnRef idx="1">
            <a:schemeClr val="dk1"/>
          </a:lnRef>
          <a:fillRef idx="0">
            <a:schemeClr val="dk1"/>
          </a:fillRef>
          <a:effectRef idx="0">
            <a:schemeClr val="dk1"/>
          </a:effectRef>
          <a:fontRef idx="minor">
            <a:schemeClr val="tx1"/>
          </a:fontRef>
        </p:style>
      </p:cxnSp>
      <p:sp>
        <p:nvSpPr>
          <p:cNvPr id="149" name="文字方塊 148">
            <a:extLst>
              <a:ext uri="{FF2B5EF4-FFF2-40B4-BE49-F238E27FC236}">
                <a16:creationId xmlns:a16="http://schemas.microsoft.com/office/drawing/2014/main" id="{8FD4315A-75C8-4194-BE51-CAF73422D67E}"/>
              </a:ext>
            </a:extLst>
          </p:cNvPr>
          <p:cNvSpPr txBox="1"/>
          <p:nvPr/>
        </p:nvSpPr>
        <p:spPr>
          <a:xfrm>
            <a:off x="554143" y="120201"/>
            <a:ext cx="11152166" cy="523220"/>
          </a:xfrm>
          <a:prstGeom prst="rect">
            <a:avLst/>
          </a:prstGeom>
          <a:solidFill>
            <a:srgbClr val="FFFFD8"/>
          </a:solidFill>
          <a:ln w="38100">
            <a:solidFill>
              <a:srgbClr val="8F9DFE"/>
            </a:solidFill>
          </a:ln>
        </p:spPr>
        <p:txBody>
          <a:bodyPr wrap="square" rtlCol="0">
            <a:spAutoFit/>
          </a:bodyPr>
          <a:lstStyle/>
          <a:p>
            <a:pPr algn="ctr"/>
            <a:endParaRPr lang="zh-TW" altLang="en-US" sz="2800" b="1" dirty="0">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19943717-266E-45CE-ADAF-8020BDE433FE}"/>
              </a:ext>
            </a:extLst>
          </p:cNvPr>
          <p:cNvSpPr>
            <a:spLocks noGrp="1"/>
          </p:cNvSpPr>
          <p:nvPr>
            <p:ph type="sldNum" sz="quarter" idx="12"/>
          </p:nvPr>
        </p:nvSpPr>
        <p:spPr/>
        <p:txBody>
          <a:bodyPr/>
          <a:lstStyle/>
          <a:p>
            <a:fld id="{29723A01-8C65-4E4C-95BB-6D96843E9278}" type="slidenum">
              <a:rPr lang="zh-TW" altLang="en-US" smtClean="0"/>
              <a:t>42</a:t>
            </a:fld>
            <a:endParaRPr lang="zh-TW" altLang="en-US"/>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E406C30E-E9DB-406C-8035-23DFCC424215}"/>
                  </a:ext>
                </a:extLst>
              </p:cNvPr>
              <p:cNvSpPr/>
              <p:nvPr/>
            </p:nvSpPr>
            <p:spPr>
              <a:xfrm>
                <a:off x="224185" y="907269"/>
                <a:ext cx="1640770" cy="353238"/>
              </a:xfrm>
              <a:prstGeom prst="rect">
                <a:avLst/>
              </a:prstGeom>
            </p:spPr>
            <p:txBody>
              <a:bodyPr wrap="none">
                <a:spAutoFit/>
              </a:bodyPr>
              <a:lstStyle/>
              <a:p>
                <a:r>
                  <a:rPr lang="en-US" altLang="zh-TW" sz="1400" dirty="0">
                    <a:latin typeface="標楷體" panose="03000509000000000000" pitchFamily="65" charset="-120"/>
                    <a:cs typeface="Times New Roman" panose="02020603050405020304" pitchFamily="18" charset="0"/>
                  </a:rPr>
                  <a:t>r=</a:t>
                </a:r>
                <a14:m>
                  <m:oMath xmlns:m="http://schemas.openxmlformats.org/officeDocument/2006/math">
                    <m:rad>
                      <m:radPr>
                        <m:degHide m:val="on"/>
                        <m:ctrlPr>
                          <a:rPr lang="zh-TW" altLang="zh-TW" sz="1400" i="1">
                            <a:effectLst/>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lang="zh-TW" altLang="zh-TW" sz="1400" i="1">
                                <a:effectLst/>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zh-TW" altLang="zh-TW" sz="14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𝜅</m:t>
                                </m:r>
                              </m:e>
                            </m:d>
                          </m:e>
                          <m:sup>
                            <m:r>
                              <a:rPr lang="en-US" altLang="zh-TW" sz="1400" i="1">
                                <a:latin typeface="Cambria Math" panose="02040503050406030204" pitchFamily="18" charset="0"/>
                                <a:ea typeface="標楷體" panose="03000509000000000000" pitchFamily="65" charset="-120"/>
                                <a:cs typeface="Times New Roman" panose="02020603050405020304" pitchFamily="18" charset="0"/>
                              </a:rPr>
                              <m:t>2</m:t>
                            </m:r>
                          </m:sup>
                        </m:sSup>
                        <m:r>
                          <a:rPr lang="en-US" altLang="zh-TW" sz="1400" i="1">
                            <a:latin typeface="Cambria Math" panose="02040503050406030204" pitchFamily="18" charset="0"/>
                            <a:ea typeface="標楷體" panose="03000509000000000000" pitchFamily="65" charset="-120"/>
                            <a:cs typeface="Times New Roman" panose="02020603050405020304" pitchFamily="18" charset="0"/>
                          </a:rPr>
                          <m:t>+</m:t>
                        </m:r>
                        <m:sSup>
                          <m:sSupPr>
                            <m:ctrlPr>
                              <a:rPr lang="zh-TW" altLang="zh-TW" sz="14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1400" i="1">
                                <a:latin typeface="Cambria Math" panose="02040503050406030204" pitchFamily="18" charset="0"/>
                                <a:ea typeface="標楷體" panose="03000509000000000000" pitchFamily="65" charset="-120"/>
                                <a:cs typeface="Times New Roman" panose="02020603050405020304" pitchFamily="18" charset="0"/>
                              </a:rPr>
                              <m:t>(∆</m:t>
                            </m:r>
                            <m:r>
                              <a:rPr lang="en-US" altLang="zh-TW" sz="1400" i="1">
                                <a:latin typeface="Cambria Math" panose="02040503050406030204" pitchFamily="18" charset="0"/>
                                <a:ea typeface="標楷體" panose="03000509000000000000" pitchFamily="65" charset="-120"/>
                                <a:cs typeface="Times New Roman" panose="02020603050405020304" pitchFamily="18" charset="0"/>
                              </a:rPr>
                              <m:t>𝑘</m:t>
                            </m:r>
                            <m:r>
                              <a:rPr lang="en-US" altLang="zh-TW" sz="1400" i="1">
                                <a:latin typeface="Cambria Math" panose="02040503050406030204" pitchFamily="18" charset="0"/>
                                <a:ea typeface="標楷體" panose="03000509000000000000" pitchFamily="65" charset="-120"/>
                                <a:cs typeface="Times New Roman" panose="02020603050405020304" pitchFamily="18" charset="0"/>
                              </a:rPr>
                              <m:t>/2)</m:t>
                            </m:r>
                          </m:e>
                          <m:sup>
                            <m:r>
                              <a:rPr lang="en-US" altLang="zh-TW" sz="1400" i="1">
                                <a:latin typeface="Cambria Math" panose="02040503050406030204" pitchFamily="18" charset="0"/>
                                <a:ea typeface="標楷體" panose="03000509000000000000" pitchFamily="65" charset="-120"/>
                                <a:cs typeface="Times New Roman" panose="02020603050405020304" pitchFamily="18" charset="0"/>
                              </a:rPr>
                              <m:t>2</m:t>
                            </m:r>
                          </m:sup>
                        </m:sSup>
                      </m:e>
                    </m:rad>
                  </m:oMath>
                </a14:m>
                <a:endParaRPr lang="zh-TW" altLang="en-US" sz="1400" dirty="0"/>
              </a:p>
            </p:txBody>
          </p:sp>
        </mc:Choice>
        <mc:Fallback xmlns="">
          <p:sp>
            <p:nvSpPr>
              <p:cNvPr id="6" name="矩形 5">
                <a:extLst>
                  <a:ext uri="{FF2B5EF4-FFF2-40B4-BE49-F238E27FC236}">
                    <a16:creationId xmlns:a16="http://schemas.microsoft.com/office/drawing/2014/main" id="{E406C30E-E9DB-406C-8035-23DFCC424215}"/>
                  </a:ext>
                </a:extLst>
              </p:cNvPr>
              <p:cNvSpPr>
                <a:spLocks noRot="1" noChangeAspect="1" noMove="1" noResize="1" noEditPoints="1" noAdjustHandles="1" noChangeArrowheads="1" noChangeShapeType="1" noTextEdit="1"/>
              </p:cNvSpPr>
              <p:nvPr/>
            </p:nvSpPr>
            <p:spPr>
              <a:xfrm>
                <a:off x="224185" y="907269"/>
                <a:ext cx="1640770" cy="353238"/>
              </a:xfrm>
              <a:prstGeom prst="rect">
                <a:avLst/>
              </a:prstGeom>
              <a:blipFill>
                <a:blip r:embed="rId2"/>
                <a:stretch>
                  <a:fillRect l="-1115" b="-1379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B82397B2-895E-4EEB-9ABF-B23B44F659A6}"/>
                  </a:ext>
                </a:extLst>
              </p:cNvPr>
              <p:cNvSpPr/>
              <p:nvPr/>
            </p:nvSpPr>
            <p:spPr>
              <a:xfrm>
                <a:off x="-485917" y="1259923"/>
                <a:ext cx="8025467" cy="968791"/>
              </a:xfrm>
              <a:prstGeom prst="rect">
                <a:avLst/>
              </a:prstGeom>
            </p:spPr>
            <p:txBody>
              <a:bodyPr wrap="square">
                <a:spAutoFit/>
              </a:bodyPr>
              <a:lstStyle/>
              <a:p>
                <a:pPr marL="179705" marR="178435" indent="269875">
                  <a:spcAft>
                    <a:spcPts val="0"/>
                  </a:spcAft>
                </a:pPr>
                <a:r>
                  <a:rPr lang="en-US" altLang="zh-TW" sz="1400" kern="100" dirty="0">
                    <a:ea typeface="Cambria Math" panose="02040503050406030204" pitchFamily="18" charset="0"/>
                    <a:cs typeface="Times New Roman" panose="02020603050405020304" pitchFamily="18" charset="0"/>
                  </a:rPr>
                  <a:t>      </a:t>
                </a:r>
                <a14:m>
                  <m:oMath xmlns:m="http://schemas.openxmlformats.org/officeDocument/2006/math">
                    <m:sSub>
                      <m:sSubPr>
                        <m:ctrlPr>
                          <a:rPr lang="zh-TW" altLang="zh-TW" sz="1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1</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e>
                    </m:d>
                    <m:r>
                      <a:rPr lang="en-US" altLang="zh-TW" sz="1400" kern="100">
                        <a:latin typeface="Cambria Math" panose="02040503050406030204" pitchFamily="18" charset="0"/>
                        <a:ea typeface="標楷體" panose="03000509000000000000" pitchFamily="65" charset="-120"/>
                        <a:cs typeface="Times New Roman" panose="02020603050405020304" pitchFamily="18" charset="0"/>
                      </a:rPr>
                      <m:t>=</m:t>
                    </m:r>
                    <m:func>
                      <m:func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400" kern="100">
                            <a:latin typeface="Cambria Math" panose="02040503050406030204" pitchFamily="18" charset="0"/>
                            <a:ea typeface="標楷體" panose="03000509000000000000" pitchFamily="65" charset="-120"/>
                            <a:cs typeface="Times New Roman" panose="02020603050405020304" pitchFamily="18" charset="0"/>
                          </a:rPr>
                          <m:t>sin</m:t>
                        </m:r>
                      </m:fName>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𝑖</m:t>
                            </m:r>
                            <m:f>
                              <m:f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num>
                              <m:den>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𝑟</m:t>
                                </m:r>
                              </m:den>
                            </m:f>
                            <m:sSup>
                              <m:sSup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𝑒</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e>
                                </m:d>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𝑒</m:t>
                                </m:r>
                              </m:e>
                              <m:sup>
                                <m:f>
                                  <m:f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𝑖</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2</m:t>
                                    </m:r>
                                  </m:den>
                                </m:f>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sup>
                            </m:sSup>
                          </m:e>
                        </m:d>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d>
                          <m:dPr>
                            <m:begChr m:val="["/>
                            <m:endChr m:val="]"/>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𝑖</m:t>
                            </m:r>
                            <m:f>
                              <m:f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2</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𝑟</m:t>
                                </m:r>
                              </m:den>
                            </m:f>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𝑠𝑖𝑛</m:t>
                            </m:r>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𝑐𝑜𝑠</m:t>
                            </m:r>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e>
                        </m:d>
                        <m:sSup>
                          <m:sSup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0</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e>
                            </m:d>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𝑒</m:t>
                            </m:r>
                          </m:e>
                          <m:sup>
                            <m:f>
                              <m:f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𝑖</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2</m:t>
                                </m:r>
                              </m:den>
                            </m:f>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sup>
                        </m:sSup>
                      </m:e>
                    </m:func>
                  </m:oMath>
                </a14:m>
                <a:endParaRPr lang="en-US" altLang="zh-TW" sz="1400" i="1" kern="100" dirty="0">
                  <a:latin typeface="Cambria Math" panose="02040503050406030204" pitchFamily="18" charset="0"/>
                  <a:ea typeface="標楷體" panose="03000509000000000000" pitchFamily="65" charset="-120"/>
                  <a:cs typeface="Times New Roman" panose="02020603050405020304" pitchFamily="18" charset="0"/>
                </a:endParaRPr>
              </a:p>
              <a:p>
                <a:pPr marL="179705" marR="178435" indent="269875">
                  <a:spcAft>
                    <a:spcPts val="0"/>
                  </a:spcAft>
                </a:pPr>
                <a14:m>
                  <m:oMathPara xmlns:m="http://schemas.openxmlformats.org/officeDocument/2006/math">
                    <m:oMathParaPr>
                      <m:jc m:val="centerGroup"/>
                    </m:oMathParaPr>
                    <m:oMath xmlns:m="http://schemas.openxmlformats.org/officeDocument/2006/math">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2</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e>
                      </m:d>
                      <m:r>
                        <a:rPr lang="en-US" altLang="zh-TW" sz="1400" kern="100">
                          <a:latin typeface="Cambria Math" panose="02040503050406030204" pitchFamily="18" charset="0"/>
                          <a:ea typeface="標楷體" panose="03000509000000000000" pitchFamily="65" charset="-120"/>
                          <a:cs typeface="Times New Roman" panose="02020603050405020304" pitchFamily="18" charset="0"/>
                        </a:rPr>
                        <m:t>=</m:t>
                      </m:r>
                      <m:func>
                        <m:func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400" kern="100">
                              <a:latin typeface="Cambria Math" panose="02040503050406030204" pitchFamily="18" charset="0"/>
                              <a:ea typeface="標楷體" panose="03000509000000000000" pitchFamily="65" charset="-120"/>
                              <a:cs typeface="Times New Roman" panose="02020603050405020304" pitchFamily="18" charset="0"/>
                            </a:rPr>
                            <m:t>cos</m:t>
                          </m:r>
                        </m:fName>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𝑖</m:t>
                              </m:r>
                              <m:f>
                                <m:f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num>
                                <m:den>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𝑟</m:t>
                                  </m:r>
                                </m:den>
                              </m:f>
                              <m:sSup>
                                <m:sSup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𝑒</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e>
                                  </m:d>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𝑒</m:t>
                                  </m:r>
                                </m:e>
                                <m:sup>
                                  <m:f>
                                    <m:f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𝑖</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2</m:t>
                                      </m:r>
                                    </m:den>
                                  </m:f>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sup>
                              </m:sSup>
                            </m:e>
                          </m:d>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d>
                            <m:dPr>
                              <m:begChr m:val="["/>
                              <m:endChr m:val="]"/>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𝑖</m:t>
                              </m:r>
                              <m:f>
                                <m:f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2</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𝑟</m:t>
                                  </m:r>
                                </m:den>
                              </m:f>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𝑐𝑜𝑠</m:t>
                              </m:r>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𝑠𝑖𝑛</m:t>
                              </m:r>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e>
                          </m:d>
                          <m:sSup>
                            <m:sSup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0</m:t>
                                  </m:r>
                                </m:sub>
                              </m:sSub>
                              <m:d>
                                <m:d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e>
                              </m:d>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𝑒</m:t>
                              </m:r>
                            </m:e>
                            <m:sup>
                              <m:f>
                                <m:f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𝑖</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2</m:t>
                                  </m:r>
                                </m:den>
                              </m:f>
                              <m:sSub>
                                <m:sSubPr>
                                  <m:ctrlPr>
                                    <a:rPr lang="zh-TW" altLang="zh-TW" sz="1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400" i="1" kern="100">
                                      <a:latin typeface="Cambria Math" panose="02040503050406030204" pitchFamily="18" charset="0"/>
                                      <a:ea typeface="標楷體" panose="03000509000000000000" pitchFamily="65" charset="-120"/>
                                      <a:cs typeface="Times New Roman" panose="02020603050405020304" pitchFamily="18" charset="0"/>
                                    </a:rPr>
                                    <m:t>𝑗</m:t>
                                  </m:r>
                                </m:sub>
                              </m:sSub>
                            </m:sup>
                          </m:sSup>
                        </m:e>
                      </m:func>
                    </m:oMath>
                  </m:oMathPara>
                </a14:m>
                <a:endParaRPr lang="zh-TW" altLang="zh-TW" sz="1400" kern="100" dirty="0">
                  <a:latin typeface="Calibri" panose="020F0502020204030204" pitchFamily="34" charset="0"/>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B82397B2-895E-4EEB-9ABF-B23B44F659A6}"/>
                  </a:ext>
                </a:extLst>
              </p:cNvPr>
              <p:cNvSpPr>
                <a:spLocks noRot="1" noChangeAspect="1" noMove="1" noResize="1" noEditPoints="1" noAdjustHandles="1" noChangeArrowheads="1" noChangeShapeType="1" noTextEdit="1"/>
              </p:cNvSpPr>
              <p:nvPr/>
            </p:nvSpPr>
            <p:spPr>
              <a:xfrm>
                <a:off x="-485917" y="1259923"/>
                <a:ext cx="8025467" cy="968791"/>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18B1D11-8646-4EF7-B812-591FF576544E}"/>
                  </a:ext>
                </a:extLst>
              </p:cNvPr>
              <p:cNvSpPr/>
              <p:nvPr/>
            </p:nvSpPr>
            <p:spPr>
              <a:xfrm>
                <a:off x="-249715" y="1988405"/>
                <a:ext cx="6096000" cy="1294970"/>
              </a:xfrm>
              <a:prstGeom prst="rect">
                <a:avLst/>
              </a:prstGeom>
            </p:spPr>
            <p:txBody>
              <a:bodyPr>
                <a:spAutoFit/>
              </a:bodyPr>
              <a:lstStyle/>
              <a:p>
                <a:pPr marL="179705" marR="178435" lvl="0" indent="269875">
                  <a:lnSpc>
                    <a:spcPct val="150000"/>
                  </a:lnSpc>
                </a:pPr>
                <a:r>
                  <a:rPr lang="en-US" altLang="zh-TW" sz="1400"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Coupling coefficient</a:t>
                </a:r>
                <a14:m>
                  <m:oMath xmlns:m="http://schemas.openxmlformats.org/officeDocument/2006/math">
                    <m:r>
                      <a:rPr lang="en-US" altLang="zh-TW" sz="1400" b="0" i="0" kern="10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𝜅</m:t>
                    </m:r>
                    <m:d>
                      <m:dPr>
                        <m:ctrlPr>
                          <a:rPr lang="zh-TW"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𝜒</m:t>
                        </m:r>
                      </m:e>
                    </m:d>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zh-TW"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𝜋</m:t>
                        </m:r>
                      </m:num>
                      <m:den>
                        <m:sSub>
                          <m:sSubPr>
                            <m:ctrlPr>
                              <a:rPr lang="zh-TW"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𝜆</m:t>
                            </m:r>
                          </m:e>
                          <m:sub>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m:t>
                            </m:r>
                          </m:sub>
                        </m:sSub>
                      </m:den>
                    </m:f>
                    <m:sSup>
                      <m:sSupPr>
                        <m:ctrlPr>
                          <a:rPr lang="zh-TW"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TW"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𝑛</m:t>
                                </m:r>
                              </m:e>
                              <m:sub>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𝑒</m:t>
                                </m:r>
                              </m:sub>
                            </m:sSub>
                            <m:sSub>
                              <m:sSubPr>
                                <m:ctrlPr>
                                  <a:rPr lang="zh-TW"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𝑛</m:t>
                                </m:r>
                              </m:e>
                              <m:sub>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𝑜</m:t>
                                </m:r>
                              </m:sub>
                            </m:sSub>
                          </m:e>
                        </m:d>
                      </m:e>
                      <m:sup>
                        <m:f>
                          <m:fPr>
                            <m:ctrlPr>
                              <a:rPr lang="zh-TW"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3</m:t>
                            </m:r>
                          </m:num>
                          <m:den>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den>
                        </m:f>
                      </m:sup>
                    </m:sSup>
                    <m:sSub>
                      <m:sSubPr>
                        <m:ctrlPr>
                          <a:rPr lang="zh-TW"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𝑟</m:t>
                        </m:r>
                      </m:e>
                      <m:sub>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51</m:t>
                        </m:r>
                      </m:sub>
                    </m:sSub>
                    <m:sSub>
                      <m:sSubPr>
                        <m:ctrlPr>
                          <a:rPr lang="zh-TW"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𝑦</m:t>
                        </m:r>
                      </m:sub>
                    </m:sSub>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e>
                    </m:d>
                  </m:oMath>
                </a14:m>
                <a:endParaRPr lang="en-US" altLang="zh-TW" sz="1400" i="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endParaRPr>
              </a:p>
              <a:p>
                <a:pPr marL="179705" marR="178435" lvl="0" indent="269875">
                  <a:lnSpc>
                    <a:spcPct val="150000"/>
                  </a:lnSpc>
                </a:pPr>
                <a14:m>
                  <m:oMath xmlns:m="http://schemas.openxmlformats.org/officeDocument/2006/math">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sz="1400" i="1"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e>
                    </m:d>
                    <m:r>
                      <a:rPr lang="en-US" altLang="zh-TW" sz="1400" b="0" i="1" kern="100"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zh-TW" altLang="zh-TW" sz="1400" kern="100" dirty="0">
                    <a:solidFill>
                      <a:prstClr val="black"/>
                    </a:solidFill>
                    <a:latin typeface="Cambria Math" panose="02040503050406030204" pitchFamily="18" charset="0"/>
                    <a:ea typeface="標楷體" panose="03000509000000000000" pitchFamily="65" charset="-120"/>
                    <a:cs typeface="Times New Roman" panose="02020603050405020304" pitchFamily="18" charset="0"/>
                  </a:rPr>
                  <a:t> </a:t>
                </a:r>
                <a14:m>
                  <m:oMath xmlns:m="http://schemas.openxmlformats.org/officeDocument/2006/math">
                    <m:r>
                      <a:rPr lang="en-US" altLang="zh-TW" sz="1400" kern="10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TW" sz="1400"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1</a:t>
                </a:r>
                <a:endParaRPr lang="zh-TW" altLang="zh-TW" sz="1400" kern="100" dirty="0">
                  <a:solidFill>
                    <a:prstClr val="black"/>
                  </a:solidFill>
                  <a:latin typeface="Cambria Math" panose="02040503050406030204" pitchFamily="18" charset="0"/>
                  <a:cs typeface="Times New Roman" panose="02020603050405020304" pitchFamily="18" charset="0"/>
                </a:endParaRPr>
              </a:p>
              <a:p>
                <a:pPr lvl="0">
                  <a:lnSpc>
                    <a:spcPct val="150000"/>
                  </a:lnSpc>
                </a:pPr>
                <a14:m>
                  <m:oMath xmlns:m="http://schemas.openxmlformats.org/officeDocument/2006/math">
                    <m:sSub>
                      <m:sSubPr>
                        <m:ctrlPr>
                          <a:rPr lang="zh-TW"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zh-TW" altLang="en-US" sz="1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zh-TW" altLang="en-US"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zh-TW" altLang="en-US" sz="1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TW"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𝑗</m:t>
                        </m:r>
                      </m:sub>
                    </m:sSub>
                  </m:oMath>
                </a14:m>
                <a:r>
                  <a:rPr lang="en-US" altLang="zh-TW" sz="14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is the j </a:t>
                </a:r>
                <a:r>
                  <a:rPr lang="en-US" altLang="zh-TW" sz="1400" dirty="0" err="1">
                    <a:solidFill>
                      <a:prstClr val="black"/>
                    </a:solidFill>
                    <a:latin typeface="Cambria Math" panose="02040503050406030204" pitchFamily="18" charset="0"/>
                    <a:ea typeface="Cambria Math" panose="02040503050406030204" pitchFamily="18" charset="0"/>
                    <a:cs typeface="Times New Roman" panose="02020603050405020304" pitchFamily="18" charset="0"/>
                  </a:rPr>
                  <a:t>th</a:t>
                </a:r>
                <a:r>
                  <a:rPr lang="en-US" altLang="zh-TW" sz="14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 crystal domain of APLN, j=0,1,2,3...(N-1</a:t>
                </a:r>
                <a:r>
                  <a:rPr lang="en-US" altLang="zh-TW" sz="1400" dirty="0">
                    <a:solidFill>
                      <a:prstClr val="black"/>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sz="1400" dirty="0">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118B1D11-8646-4EF7-B812-591FF576544E}"/>
                  </a:ext>
                </a:extLst>
              </p:cNvPr>
              <p:cNvSpPr>
                <a:spLocks noRot="1" noChangeAspect="1" noMove="1" noResize="1" noEditPoints="1" noAdjustHandles="1" noChangeArrowheads="1" noChangeShapeType="1" noTextEdit="1"/>
              </p:cNvSpPr>
              <p:nvPr/>
            </p:nvSpPr>
            <p:spPr>
              <a:xfrm>
                <a:off x="-249715" y="1988405"/>
                <a:ext cx="6096000" cy="1294970"/>
              </a:xfrm>
              <a:prstGeom prst="rect">
                <a:avLst/>
              </a:prstGeom>
              <a:blipFill>
                <a:blip r:embed="rId4"/>
                <a:stretch>
                  <a:fillRect b="-2347"/>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604B7A22-1998-4EC1-80BD-B07BE55666BE}"/>
              </a:ext>
            </a:extLst>
          </p:cNvPr>
          <p:cNvPicPr>
            <a:picLocks noChangeAspect="1"/>
          </p:cNvPicPr>
          <p:nvPr/>
        </p:nvPicPr>
        <p:blipFill>
          <a:blip r:embed="rId5"/>
          <a:stretch>
            <a:fillRect/>
          </a:stretch>
        </p:blipFill>
        <p:spPr>
          <a:xfrm>
            <a:off x="8249652" y="811082"/>
            <a:ext cx="1295400" cy="790575"/>
          </a:xfrm>
          <a:prstGeom prst="rect">
            <a:avLst/>
          </a:prstGeom>
        </p:spPr>
      </p:pic>
      <p:pic>
        <p:nvPicPr>
          <p:cNvPr id="5" name="圖片 4">
            <a:extLst>
              <a:ext uri="{FF2B5EF4-FFF2-40B4-BE49-F238E27FC236}">
                <a16:creationId xmlns:a16="http://schemas.microsoft.com/office/drawing/2014/main" id="{25DC4BDA-4CB1-4E35-AE43-6780712F782D}"/>
              </a:ext>
            </a:extLst>
          </p:cNvPr>
          <p:cNvPicPr>
            <a:picLocks noChangeAspect="1"/>
          </p:cNvPicPr>
          <p:nvPr/>
        </p:nvPicPr>
        <p:blipFill>
          <a:blip r:embed="rId6"/>
          <a:stretch>
            <a:fillRect/>
          </a:stretch>
        </p:blipFill>
        <p:spPr>
          <a:xfrm>
            <a:off x="6838345" y="1547151"/>
            <a:ext cx="4533900" cy="581025"/>
          </a:xfrm>
          <a:prstGeom prst="rect">
            <a:avLst/>
          </a:prstGeom>
        </p:spPr>
      </p:pic>
      <p:pic>
        <p:nvPicPr>
          <p:cNvPr id="13" name="圖片 12">
            <a:extLst>
              <a:ext uri="{FF2B5EF4-FFF2-40B4-BE49-F238E27FC236}">
                <a16:creationId xmlns:a16="http://schemas.microsoft.com/office/drawing/2014/main" id="{DEF31E49-9DC7-48AD-B96F-3E378E1ACC1F}"/>
              </a:ext>
            </a:extLst>
          </p:cNvPr>
          <p:cNvPicPr>
            <a:picLocks noChangeAspect="1"/>
          </p:cNvPicPr>
          <p:nvPr/>
        </p:nvPicPr>
        <p:blipFill>
          <a:blip r:embed="rId7"/>
          <a:stretch>
            <a:fillRect/>
          </a:stretch>
        </p:blipFill>
        <p:spPr>
          <a:xfrm>
            <a:off x="6927715" y="2164527"/>
            <a:ext cx="3743325" cy="809625"/>
          </a:xfrm>
          <a:prstGeom prst="rect">
            <a:avLst/>
          </a:prstGeom>
        </p:spPr>
      </p:pic>
      <p:pic>
        <p:nvPicPr>
          <p:cNvPr id="14" name="圖片 13">
            <a:extLst>
              <a:ext uri="{FF2B5EF4-FFF2-40B4-BE49-F238E27FC236}">
                <a16:creationId xmlns:a16="http://schemas.microsoft.com/office/drawing/2014/main" id="{86FDCD10-3860-421E-9552-4BC4278B2B9E}"/>
              </a:ext>
            </a:extLst>
          </p:cNvPr>
          <p:cNvPicPr>
            <a:picLocks noChangeAspect="1"/>
          </p:cNvPicPr>
          <p:nvPr/>
        </p:nvPicPr>
        <p:blipFill>
          <a:blip r:embed="rId8"/>
          <a:stretch>
            <a:fillRect/>
          </a:stretch>
        </p:blipFill>
        <p:spPr>
          <a:xfrm>
            <a:off x="6600825" y="2846090"/>
            <a:ext cx="4019550" cy="1019175"/>
          </a:xfrm>
          <a:prstGeom prst="rect">
            <a:avLst/>
          </a:prstGeom>
        </p:spPr>
      </p:pic>
      <p:pic>
        <p:nvPicPr>
          <p:cNvPr id="15" name="圖片 14">
            <a:extLst>
              <a:ext uri="{FF2B5EF4-FFF2-40B4-BE49-F238E27FC236}">
                <a16:creationId xmlns:a16="http://schemas.microsoft.com/office/drawing/2014/main" id="{FF44231A-CF63-4CA3-A954-BB39DFE423CF}"/>
              </a:ext>
            </a:extLst>
          </p:cNvPr>
          <p:cNvPicPr>
            <a:picLocks noChangeAspect="1"/>
          </p:cNvPicPr>
          <p:nvPr/>
        </p:nvPicPr>
        <p:blipFill>
          <a:blip r:embed="rId9"/>
          <a:stretch>
            <a:fillRect/>
          </a:stretch>
        </p:blipFill>
        <p:spPr>
          <a:xfrm>
            <a:off x="6550160" y="3749820"/>
            <a:ext cx="4286250" cy="2924175"/>
          </a:xfrm>
          <a:prstGeom prst="rect">
            <a:avLst/>
          </a:prstGeom>
        </p:spPr>
      </p:pic>
      <p:pic>
        <p:nvPicPr>
          <p:cNvPr id="16" name="圖片 15">
            <a:extLst>
              <a:ext uri="{FF2B5EF4-FFF2-40B4-BE49-F238E27FC236}">
                <a16:creationId xmlns:a16="http://schemas.microsoft.com/office/drawing/2014/main" id="{76FFE8CB-7D1B-4326-803A-87207A4C2B6F}"/>
              </a:ext>
            </a:extLst>
          </p:cNvPr>
          <p:cNvPicPr>
            <a:picLocks noChangeAspect="1"/>
          </p:cNvPicPr>
          <p:nvPr/>
        </p:nvPicPr>
        <p:blipFill>
          <a:blip r:embed="rId10"/>
          <a:stretch>
            <a:fillRect/>
          </a:stretch>
        </p:blipFill>
        <p:spPr>
          <a:xfrm>
            <a:off x="145014" y="3209748"/>
            <a:ext cx="5170353" cy="1311034"/>
          </a:xfrm>
          <a:prstGeom prst="rect">
            <a:avLst/>
          </a:prstGeom>
        </p:spPr>
      </p:pic>
      <p:pic>
        <p:nvPicPr>
          <p:cNvPr id="17" name="圖片 16">
            <a:extLst>
              <a:ext uri="{FF2B5EF4-FFF2-40B4-BE49-F238E27FC236}">
                <a16:creationId xmlns:a16="http://schemas.microsoft.com/office/drawing/2014/main" id="{2BAC365F-745D-44B2-96BA-DCBD8A230F1B}"/>
              </a:ext>
            </a:extLst>
          </p:cNvPr>
          <p:cNvPicPr>
            <a:picLocks noChangeAspect="1"/>
          </p:cNvPicPr>
          <p:nvPr/>
        </p:nvPicPr>
        <p:blipFill>
          <a:blip r:embed="rId11"/>
          <a:stretch>
            <a:fillRect/>
          </a:stretch>
        </p:blipFill>
        <p:spPr>
          <a:xfrm>
            <a:off x="224185" y="4362976"/>
            <a:ext cx="2728811" cy="565304"/>
          </a:xfrm>
          <a:prstGeom prst="rect">
            <a:avLst/>
          </a:prstGeom>
        </p:spPr>
      </p:pic>
      <p:pic>
        <p:nvPicPr>
          <p:cNvPr id="18" name="圖片 17">
            <a:extLst>
              <a:ext uri="{FF2B5EF4-FFF2-40B4-BE49-F238E27FC236}">
                <a16:creationId xmlns:a16="http://schemas.microsoft.com/office/drawing/2014/main" id="{70609060-10B9-4F6B-8B19-F2626E3D6ADF}"/>
              </a:ext>
            </a:extLst>
          </p:cNvPr>
          <p:cNvPicPr>
            <a:picLocks noChangeAspect="1"/>
          </p:cNvPicPr>
          <p:nvPr/>
        </p:nvPicPr>
        <p:blipFill rotWithShape="1">
          <a:blip r:embed="rId12"/>
          <a:srcRect l="17605"/>
          <a:stretch/>
        </p:blipFill>
        <p:spPr>
          <a:xfrm>
            <a:off x="394192" y="4782307"/>
            <a:ext cx="1922795" cy="857250"/>
          </a:xfrm>
          <a:prstGeom prst="rect">
            <a:avLst/>
          </a:prstGeom>
        </p:spPr>
      </p:pic>
      <p:pic>
        <p:nvPicPr>
          <p:cNvPr id="19" name="圖片 18">
            <a:extLst>
              <a:ext uri="{FF2B5EF4-FFF2-40B4-BE49-F238E27FC236}">
                <a16:creationId xmlns:a16="http://schemas.microsoft.com/office/drawing/2014/main" id="{7DE52EFA-179B-47CB-82C9-E442546C5773}"/>
              </a:ext>
            </a:extLst>
          </p:cNvPr>
          <p:cNvPicPr>
            <a:picLocks noChangeAspect="1"/>
          </p:cNvPicPr>
          <p:nvPr/>
        </p:nvPicPr>
        <p:blipFill>
          <a:blip r:embed="rId13"/>
          <a:stretch>
            <a:fillRect/>
          </a:stretch>
        </p:blipFill>
        <p:spPr>
          <a:xfrm>
            <a:off x="145014" y="5575652"/>
            <a:ext cx="2570033" cy="1034438"/>
          </a:xfrm>
          <a:prstGeom prst="rect">
            <a:avLst/>
          </a:prstGeom>
        </p:spPr>
      </p:pic>
    </p:spTree>
    <p:extLst>
      <p:ext uri="{BB962C8B-B14F-4D97-AF65-F5344CB8AC3E}">
        <p14:creationId xmlns:p14="http://schemas.microsoft.com/office/powerpoint/2010/main" val="20486525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投影片編號版面配置區 151">
            <a:extLst>
              <a:ext uri="{FF2B5EF4-FFF2-40B4-BE49-F238E27FC236}">
                <a16:creationId xmlns:a16="http://schemas.microsoft.com/office/drawing/2014/main" id="{EA66E45A-3861-43CA-9DC1-04DD5A7D4DF3}"/>
              </a:ext>
            </a:extLst>
          </p:cNvPr>
          <p:cNvSpPr>
            <a:spLocks noGrp="1"/>
          </p:cNvSpPr>
          <p:nvPr>
            <p:ph type="sldNum" sz="quarter" idx="12"/>
          </p:nvPr>
        </p:nvSpPr>
        <p:spPr/>
        <p:txBody>
          <a:bodyPr/>
          <a:lstStyle/>
          <a:p>
            <a:fld id="{29723A01-8C65-4E4C-95BB-6D96843E9278}" type="slidenum">
              <a:rPr lang="zh-TW" altLang="en-US" smtClean="0"/>
              <a:t>43</a:t>
            </a:fld>
            <a:endParaRPr lang="zh-TW" altLang="en-US"/>
          </a:p>
        </p:txBody>
      </p:sp>
      <p:pic>
        <p:nvPicPr>
          <p:cNvPr id="161" name="圖片 160">
            <a:extLst>
              <a:ext uri="{FF2B5EF4-FFF2-40B4-BE49-F238E27FC236}">
                <a16:creationId xmlns:a16="http://schemas.microsoft.com/office/drawing/2014/main" id="{5CB51681-6F5E-4BD3-8857-0D6FDC50E73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81001" y="1608232"/>
            <a:ext cx="5442720" cy="4205739"/>
          </a:xfrm>
          <a:prstGeom prst="rect">
            <a:avLst/>
          </a:prstGeom>
        </p:spPr>
      </p:pic>
    </p:spTree>
    <p:extLst>
      <p:ext uri="{BB962C8B-B14F-4D97-AF65-F5344CB8AC3E}">
        <p14:creationId xmlns:p14="http://schemas.microsoft.com/office/powerpoint/2010/main" val="120249830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3691</TotalTime>
  <Words>3389</Words>
  <Application>Microsoft Office PowerPoint</Application>
  <PresentationFormat>寬螢幕</PresentationFormat>
  <Paragraphs>747</Paragraphs>
  <Slides>43</Slides>
  <Notes>19</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43</vt:i4>
      </vt:variant>
    </vt:vector>
  </HeadingPairs>
  <TitlesOfParts>
    <vt:vector size="50" baseType="lpstr">
      <vt:lpstr>標楷體</vt:lpstr>
      <vt:lpstr>Arial</vt:lpstr>
      <vt:lpstr>Calibri</vt:lpstr>
      <vt:lpstr>Calibri Light</vt:lpstr>
      <vt:lpstr>Cambria Math</vt:lpstr>
      <vt:lpstr>Times New Roman</vt:lpstr>
      <vt:lpstr>Office 佈景主題</vt:lpstr>
      <vt:lpstr>以非週期性晶疇極化反轉鈮酸鋰晶體實現多波長光參量振盪器之電光選頻研究 Electro-optically spectral-line switchable in mutil-line optical parameter oscillators based on aperiodically poled lithium niobate </vt:lpstr>
      <vt:lpstr>In this work</vt:lpstr>
      <vt:lpstr>PowerPoint 簡報</vt:lpstr>
      <vt:lpstr>In this work</vt:lpstr>
      <vt:lpstr>PowerPoint 簡報</vt:lpstr>
      <vt:lpstr>PowerPoint 簡報</vt:lpstr>
      <vt:lpstr>In this work</vt:lpstr>
      <vt:lpstr>In this work</vt:lpstr>
      <vt:lpstr>Working Principles</vt:lpstr>
      <vt:lpstr>In this work</vt:lpstr>
      <vt:lpstr>In this work</vt:lpstr>
      <vt:lpstr>In this work</vt:lpstr>
      <vt:lpstr>In this work</vt:lpstr>
      <vt:lpstr>PowerPoint 簡報</vt:lpstr>
      <vt:lpstr>In this work</vt:lpstr>
      <vt:lpstr>In this work</vt:lpstr>
      <vt:lpstr>In this work</vt:lpstr>
      <vt:lpstr>In this work</vt:lpstr>
      <vt:lpstr>In this work</vt:lpstr>
      <vt:lpstr>In this work</vt:lpstr>
      <vt:lpstr>In this work</vt:lpstr>
      <vt:lpstr>In this work</vt:lpstr>
      <vt:lpstr>In this work</vt:lpstr>
      <vt:lpstr>In this work</vt:lpstr>
      <vt:lpstr>In this work</vt:lpstr>
      <vt:lpstr>In this work</vt:lpstr>
      <vt:lpstr>In this work</vt:lpstr>
      <vt:lpstr>In this work</vt:lpstr>
      <vt:lpstr>In this work</vt:lpstr>
      <vt:lpstr>PowerPoint 簡報</vt:lpstr>
      <vt:lpstr>In this work</vt:lpstr>
      <vt:lpstr>In this work</vt:lpstr>
      <vt:lpstr>In this work</vt:lpstr>
      <vt:lpstr>In this work</vt:lpstr>
      <vt:lpstr>In this work</vt:lpstr>
      <vt:lpstr>In this work</vt:lpstr>
      <vt:lpstr>In this work</vt:lpstr>
      <vt:lpstr>In this work</vt:lpstr>
      <vt:lpstr>In this work</vt:lpstr>
      <vt:lpstr>PowerPoint 簡報</vt:lpstr>
      <vt:lpstr>PowerPoint 簡報</vt:lpstr>
      <vt:lpstr>In this work</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admin</dc:creator>
  <cp:lastModifiedBy>admin</cp:lastModifiedBy>
  <cp:revision>268</cp:revision>
  <dcterms:created xsi:type="dcterms:W3CDTF">2019-07-16T02:04:30Z</dcterms:created>
  <dcterms:modified xsi:type="dcterms:W3CDTF">2019-08-20T04:19:15Z</dcterms:modified>
</cp:coreProperties>
</file>