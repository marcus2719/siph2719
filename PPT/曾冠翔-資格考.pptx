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tiff" ContentType="image/tif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266" r:id="rId2"/>
    <p:sldId id="267" r:id="rId3"/>
    <p:sldId id="268" r:id="rId4"/>
    <p:sldId id="270" r:id="rId5"/>
    <p:sldId id="297" r:id="rId6"/>
    <p:sldId id="300" r:id="rId7"/>
    <p:sldId id="302" r:id="rId8"/>
    <p:sldId id="301" r:id="rId9"/>
    <p:sldId id="303" r:id="rId10"/>
    <p:sldId id="287" r:id="rId11"/>
    <p:sldId id="272" r:id="rId12"/>
    <p:sldId id="273" r:id="rId13"/>
    <p:sldId id="274" r:id="rId14"/>
    <p:sldId id="306" r:id="rId15"/>
    <p:sldId id="277" r:id="rId16"/>
    <p:sldId id="278" r:id="rId17"/>
    <p:sldId id="280" r:id="rId18"/>
    <p:sldId id="281" r:id="rId19"/>
    <p:sldId id="304" r:id="rId20"/>
    <p:sldId id="283" r:id="rId21"/>
    <p:sldId id="282" r:id="rId22"/>
    <p:sldId id="291" r:id="rId23"/>
    <p:sldId id="296" r:id="rId24"/>
    <p:sldId id="275" r:id="rId25"/>
    <p:sldId id="305" r:id="rId26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0991" autoAdjust="0"/>
  </p:normalViewPr>
  <p:slideViewPr>
    <p:cSldViewPr snapToGrid="0">
      <p:cViewPr varScale="1">
        <p:scale>
          <a:sx n="90" d="100"/>
          <a:sy n="90" d="100"/>
        </p:scale>
        <p:origin x="1254" y="9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7" Type="http://schemas.openxmlformats.org/officeDocument/2006/relationships/image" Target="../media/image40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fld id="{8B70F29F-8416-4DCD-8FA3-86DFC5AA8F58}" type="datetimeFigureOut">
              <a:rPr lang="zh-TW" altLang="en-US" smtClean="0"/>
              <a:t>2022/5/25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59" cy="498055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fld id="{FEDA8B70-A6F4-4504-BBDD-66F2187607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3208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各位老師好，我是曾冠翔，</a:t>
            </a:r>
            <a:r>
              <a:rPr lang="en-US" altLang="zh-TW" dirty="0" smtClean="0"/>
              <a:t>108</a:t>
            </a:r>
            <a:r>
              <a:rPr lang="zh-TW" altLang="en-US" dirty="0" smtClean="0"/>
              <a:t>年入學的博士班學生。目前任職於中山科學研究院，主要的工作內容是產品設計與專案管理，透過在職進修的方式，修習博士班學程。大學與研究所皆是中央大學學生，期間，也在陳老師的指導下，進行專題研究。對積體光學與電光調制的領域一直都非常感興趣，因為透過高度整合與設計的裝置，可以將現有的系統小型化，且多工，這對產品設計而言，是非常大的利多。而當找老師討論研究主題時，薄膜式的鈮酸鋰就是一個非常吸引我的主題，儘管他非常具有挑戰性。所以，這也就是我接下來研究的主題，透過薄膜式的鈮酸鋰晶體，依據需求，使用各種軸向與配置，整合主動調制器與被動元件於單一晶片上，完成各式積體光學系統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A8B70-A6F4-4504-BBDD-66F2187607F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1369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這是我的大綱，首先，我會介紹研究動機，也就是啟發我研究主軸的主要文獻與研究，接著，會介紹已經餐與過的研究以及已有的成果。然後是在博士班修業歷程中，打算進行的幾項研究設計，以及這些研究所需要的背景知識，最後，則是時程規畫以及結語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A8B70-A6F4-4504-BBDD-66F2187607F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1632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積體光學元件的終極目標，大概就是整合一個系統在微小的單晶片上，鈮酸鋰晶體具備這樣的優勢，因為具有良好的電光、聲光以及非線性特性；而薄膜式的鈮酸鋰則提供了更好的條件，因為在其上製備的波導，有較高的折射率差，可以使的波導的曲率半徑有效地縮小，使系統更加積體化。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2014</a:t>
            </a:r>
            <a:r>
              <a:rPr lang="zh-TW" altLang="en-US" dirty="0" smtClean="0"/>
              <a:t>年起，這個領域的研究開始廣泛地發展，也出現了許多製程技術，目的即是希望提升產製效率，以及製程良率，也就是降低波導的光學損耗。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於是，我們實驗室也開始涉入這方面的研究，開發、嘗試各種製程方法。</a:t>
            </a:r>
            <a:endParaRPr lang="en-US" altLang="zh-TW" dirty="0" smtClean="0"/>
          </a:p>
          <a:p>
            <a:pPr marL="238904" indent="-238904">
              <a:buAutoNum type="arabicPeriod"/>
            </a:pPr>
            <a:endParaRPr lang="en-US" altLang="zh-TW" dirty="0" smtClean="0"/>
          </a:p>
          <a:p>
            <a:pPr marL="238904" indent="-238904">
              <a:buAutoNum type="arabicPeriod"/>
            </a:pPr>
            <a:endParaRPr lang="en-US" altLang="zh-TW" dirty="0" smtClean="0"/>
          </a:p>
          <a:p>
            <a:pPr marL="238904" indent="-238904">
              <a:buAutoNum type="arabicPeriod"/>
            </a:pPr>
            <a:r>
              <a:rPr lang="en-US" altLang="zh-TW" dirty="0" smtClean="0"/>
              <a:t>Integration on LNOI with desired</a:t>
            </a:r>
            <a:r>
              <a:rPr lang="en-US" altLang="zh-TW" baseline="0" dirty="0" smtClean="0"/>
              <a:t> active and passive components realize optical system on a single chip with compact size.</a:t>
            </a:r>
          </a:p>
          <a:p>
            <a:pPr marL="238904" indent="-238904">
              <a:buAutoNum type="arabicPeriod"/>
            </a:pPr>
            <a:r>
              <a:rPr lang="en-US" altLang="zh-TW" baseline="0" dirty="0" smtClean="0"/>
              <a:t>From this figure, the fabrication technics becomes varied, and also, the quality is better, which can be noticed from propagation loss.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A8B70-A6F4-4504-BBDD-66F2187607F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159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而對於我們實驗室的主要技術，鈮酸鋰極化反轉這個技術，也可以在薄膜式鈮酸鋰上實現，如此，在這個平台上，我們就有更多的武器跟資源，來整合我們所需要的光學系統。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We are motivated</a:t>
            </a:r>
            <a:r>
              <a:rPr lang="en-US" altLang="zh-TW" baseline="0" dirty="0" smtClean="0"/>
              <a:t> due to the success on poling realization on LNOI.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A8B70-A6F4-4504-BBDD-66F2187607F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6179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而就我的工作中，對於慣性感測元件縮裝，則是我所關心的議題</a:t>
            </a:r>
            <a:r>
              <a:rPr lang="zh-TW" altLang="en-US" dirty="0" smtClean="0"/>
              <a:t>，圖中是兩</a:t>
            </a:r>
            <a:r>
              <a:rPr lang="zh-TW" altLang="en-US" dirty="0" smtClean="0"/>
              <a:t>種不同策略的技術，但都引入了高度整合的光電晶片。</a:t>
            </a:r>
            <a:endParaRPr lang="en-US" altLang="zh-TW" dirty="0" smtClean="0"/>
          </a:p>
          <a:p>
            <a:r>
              <a:rPr lang="zh-TW" altLang="en-US" dirty="0" smtClean="0"/>
              <a:t>左圖是在單一的</a:t>
            </a:r>
            <a:r>
              <a:rPr lang="en-US" altLang="zh-TW" dirty="0" smtClean="0"/>
              <a:t>SOI</a:t>
            </a:r>
            <a:r>
              <a:rPr lang="zh-TW" altLang="en-US" dirty="0" smtClean="0"/>
              <a:t>上，完成了一個微小的光學陀螺儀架構，而右圖則是以性能為主要導向，在光纖陀螺儀的架構下，縮裝所有主被動元件於單一晶片上。</a:t>
            </a:r>
            <a:endParaRPr lang="en-US" altLang="zh-TW" dirty="0" smtClean="0"/>
          </a:p>
          <a:p>
            <a:r>
              <a:rPr lang="zh-TW" altLang="en-US" dirty="0" smtClean="0"/>
              <a:t>矽光子的缺點是必須以電流以及溫度進行調製，而鈮酸鋰具備良好的電光特性以及光學特性，以直覺式的電壓產生電場，透過個軸向不同的電光效應，達成不同的目的，快又直接，應可優於矽光子技術。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It is published on natural photonics</a:t>
            </a:r>
            <a:r>
              <a:rPr lang="en-US" altLang="zh-TW" baseline="0" dirty="0" smtClean="0"/>
              <a:t>, which shows the great possibility to integrate a gyroscope system on a single chip.</a:t>
            </a:r>
          </a:p>
          <a:p>
            <a:r>
              <a:rPr lang="en-US" altLang="zh-TW" baseline="0" dirty="0" smtClean="0"/>
              <a:t>Which the demonstration of </a:t>
            </a:r>
            <a:r>
              <a:rPr lang="zh-TW" altLang="en-US" baseline="0" dirty="0" smtClean="0"/>
              <a:t>中山大學</a:t>
            </a:r>
            <a:r>
              <a:rPr lang="en-US" altLang="zh-TW" baseline="0" dirty="0" smtClean="0"/>
              <a:t>, the integration of passive components and active modulators allows us to reduce the size of FOG.</a:t>
            </a:r>
          </a:p>
          <a:p>
            <a:endParaRPr lang="en-US" altLang="zh-TW" baseline="0" dirty="0" smtClean="0"/>
          </a:p>
          <a:p>
            <a:r>
              <a:rPr lang="en-US" altLang="zh-TW" baseline="0" dirty="0" smtClean="0"/>
              <a:t>LNOI would be a better platform, since it exhibits better in optical loss and EO effects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than silicon </a:t>
            </a:r>
            <a:r>
              <a:rPr lang="en-US" altLang="zh-TW" baseline="0" dirty="0" err="1" smtClean="0"/>
              <a:t>pohotonics</a:t>
            </a:r>
            <a:r>
              <a:rPr lang="en-US" altLang="zh-TW" baseline="0" dirty="0" smtClean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A8B70-A6F4-4504-BBDD-66F2187607F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6392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而本實驗室的薄膜鈮</a:t>
            </a:r>
            <a:r>
              <a:rPr lang="zh-TW" altLang="en-US" dirty="0" smtClean="0"/>
              <a:t>酸鋰</a:t>
            </a:r>
            <a:r>
              <a:rPr lang="zh-TW" altLang="en-US" dirty="0" smtClean="0"/>
              <a:t>製程技術，透過林依欣與楊博智兩位碩士生的努力，已經有至少三種方法，可以完成波導製程，而這些都是在台灣具備的資源與技術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Inductive coupled plasma</a:t>
            </a:r>
            <a:r>
              <a:rPr lang="en-US" altLang="zh-TW" baseline="0" dirty="0" smtClean="0"/>
              <a:t> – Reactive ion etching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A8B70-A6F4-4504-BBDD-66F2187607F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32257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接下來是前期工作以及現有的成果。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A8B70-A6F4-4504-BBDD-66F2187607F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7626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我們在</a:t>
            </a:r>
            <a:r>
              <a:rPr lang="en-US" altLang="zh-TW" dirty="0" smtClean="0"/>
              <a:t>2021</a:t>
            </a:r>
            <a:r>
              <a:rPr lang="zh-TW" altLang="en-US" dirty="0" smtClean="0"/>
              <a:t>年發表在</a:t>
            </a:r>
            <a:r>
              <a:rPr lang="en-US" altLang="zh-TW" dirty="0" smtClean="0"/>
              <a:t>OE</a:t>
            </a:r>
            <a:r>
              <a:rPr lang="zh-TW" altLang="en-US" dirty="0" smtClean="0"/>
              <a:t>的這篇文獻中，透過薄膜式鈮酸鋰的製程技術，成功地實現三波導式的絕熱耦合器；而晶片的總長度僅有</a:t>
            </a:r>
            <a:r>
              <a:rPr lang="en-US" altLang="zh-TW" dirty="0" smtClean="0"/>
              <a:t>2 mm</a:t>
            </a:r>
            <a:r>
              <a:rPr lang="zh-TW" altLang="en-US" dirty="0" smtClean="0"/>
              <a:t>；具備良好的耦合效率與絕熱性。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A8B70-A6F4-4504-BBDD-66F2187607F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965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而在第二項工作中，在</a:t>
            </a:r>
            <a:r>
              <a:rPr lang="en-US" altLang="zh-TW" dirty="0" smtClean="0"/>
              <a:t>2022</a:t>
            </a:r>
            <a:r>
              <a:rPr lang="zh-TW" altLang="en-US" dirty="0" smtClean="0"/>
              <a:t>年發表在</a:t>
            </a:r>
            <a:r>
              <a:rPr lang="en-US" altLang="zh-TW" dirty="0" smtClean="0"/>
              <a:t>OE</a:t>
            </a:r>
            <a:r>
              <a:rPr lang="zh-TW" altLang="en-US" dirty="0" smtClean="0"/>
              <a:t>期刊</a:t>
            </a:r>
            <a:r>
              <a:rPr lang="zh-TW" altLang="en-US" dirty="0" smtClean="0"/>
              <a:t>；在</a:t>
            </a:r>
            <a:r>
              <a:rPr lang="en-US" altLang="zh-TW" dirty="0" smtClean="0"/>
              <a:t>Z-cut </a:t>
            </a:r>
            <a:r>
              <a:rPr lang="zh-TW" altLang="en-US" dirty="0" smtClean="0"/>
              <a:t>鈮酸鋰上，結合</a:t>
            </a:r>
            <a:r>
              <a:rPr lang="zh-TW" altLang="en-US" dirty="0" smtClean="0"/>
              <a:t>主動式的電光偏振調制器以及被動式的絕熱耦合器，透過準相位匹配與極化反轉的技術，製作窄頻電光調制器，可以精確地以</a:t>
            </a:r>
            <a:r>
              <a:rPr lang="zh-TW" altLang="en-US" dirty="0" smtClean="0"/>
              <a:t>外加</a:t>
            </a:r>
            <a:r>
              <a:rPr lang="en-US" altLang="zh-TW" dirty="0" smtClean="0"/>
              <a:t>y</a:t>
            </a:r>
            <a:r>
              <a:rPr lang="zh-TW" altLang="en-US" dirty="0" smtClean="0"/>
              <a:t>方向電場</a:t>
            </a:r>
            <a:r>
              <a:rPr lang="zh-TW" altLang="en-US" dirty="0" smtClean="0"/>
              <a:t>，控制特定波長的偏振方向；而透過超寬頻的絕熱耦合</a:t>
            </a:r>
            <a:r>
              <a:rPr lang="zh-TW" altLang="en-US" dirty="0" smtClean="0"/>
              <a:t>器，針對兩正交偏振模態進行分光；透過溫度控制電光調制器相位匹配條件，且絕熱耦合器對於溫度的不敏感等特性，使得這個設計可</a:t>
            </a:r>
            <a:r>
              <a:rPr lang="zh-TW" altLang="en-US" dirty="0" smtClean="0"/>
              <a:t>調制的頻寬</a:t>
            </a:r>
            <a:r>
              <a:rPr lang="zh-TW" altLang="en-US" dirty="0" smtClean="0"/>
              <a:t>可調，且可調範圍有效</a:t>
            </a:r>
            <a:r>
              <a:rPr lang="zh-TW" altLang="en-US" dirty="0" smtClean="0"/>
              <a:t>延展制 </a:t>
            </a:r>
            <a:r>
              <a:rPr lang="en-US" altLang="zh-TW" dirty="0" smtClean="0"/>
              <a:t>&gt; 100 nm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A8B70-A6F4-4504-BBDD-66F2187607F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2075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第一個研究架構，設計在薄膜鈮酸鋰，完成一個</a:t>
            </a:r>
            <a:r>
              <a:rPr lang="zh-TW" altLang="en-US" dirty="0" smtClean="0"/>
              <a:t>量子光源</a:t>
            </a:r>
            <a:r>
              <a:rPr lang="zh-TW" altLang="en-US" dirty="0" smtClean="0"/>
              <a:t>的系統。透過週期性極化反轉技術，達成</a:t>
            </a:r>
            <a:r>
              <a:rPr lang="en-US" altLang="zh-TW" dirty="0" smtClean="0"/>
              <a:t>Type II </a:t>
            </a:r>
            <a:r>
              <a:rPr lang="zh-TW" altLang="en-US" dirty="0" smtClean="0"/>
              <a:t>的自發下轉換的非線性機制，產生成對的</a:t>
            </a:r>
            <a:r>
              <a:rPr lang="en-US" altLang="zh-TW" dirty="0" smtClean="0"/>
              <a:t>signal</a:t>
            </a:r>
            <a:r>
              <a:rPr lang="zh-TW" altLang="en-US" dirty="0" smtClean="0"/>
              <a:t>與</a:t>
            </a:r>
            <a:r>
              <a:rPr lang="en-US" altLang="zh-TW" dirty="0" smtClean="0"/>
              <a:t>idler</a:t>
            </a:r>
            <a:r>
              <a:rPr lang="zh-TW" altLang="en-US" dirty="0" smtClean="0"/>
              <a:t>光子，</a:t>
            </a:r>
            <a:r>
              <a:rPr lang="zh-TW" altLang="en-US" dirty="0" smtClean="0"/>
              <a:t>接續</a:t>
            </a:r>
            <a:r>
              <a:rPr lang="zh-TW" altLang="en-US" dirty="0" smtClean="0"/>
              <a:t>透過五條式的絕熱</a:t>
            </a:r>
            <a:r>
              <a:rPr lang="zh-TW" altLang="en-US" dirty="0" smtClean="0"/>
              <a:t>耦合器，將二者分別導入穿透與耦合之波導。</a:t>
            </a:r>
            <a:endParaRPr lang="en-US" altLang="zh-TW" dirty="0" smtClean="0"/>
          </a:p>
          <a:p>
            <a:r>
              <a:rPr lang="zh-TW" altLang="en-US" dirty="0" smtClean="0"/>
              <a:t>而透過第二組三條式的絕熱耦合器，將原泵激光分離。</a:t>
            </a:r>
            <a:endParaRPr lang="en-US" altLang="zh-TW" dirty="0" smtClean="0"/>
          </a:p>
          <a:p>
            <a:r>
              <a:rPr lang="zh-TW" altLang="en-US" dirty="0" smtClean="0"/>
              <a:t>這樣的架構，</a:t>
            </a:r>
            <a:r>
              <a:rPr lang="zh-TW" altLang="en-US" dirty="0" smtClean="0"/>
              <a:t>預期尺寸小於</a:t>
            </a:r>
            <a:r>
              <a:rPr lang="en-US" altLang="zh-TW" dirty="0" smtClean="0"/>
              <a:t>1.5 </a:t>
            </a:r>
            <a:r>
              <a:rPr lang="zh-TW" altLang="en-US" dirty="0" smtClean="0"/>
              <a:t> </a:t>
            </a:r>
            <a:r>
              <a:rPr lang="en-US" altLang="zh-TW" dirty="0" smtClean="0"/>
              <a:t>x 0.5 </a:t>
            </a:r>
            <a:r>
              <a:rPr lang="zh-TW" altLang="en-US" dirty="0" smtClean="0"/>
              <a:t>平方公分</a:t>
            </a:r>
            <a:r>
              <a:rPr lang="zh-TW" altLang="en-US" dirty="0" smtClean="0"/>
              <a:t>。將原本自由空間傳播的光學系統</a:t>
            </a:r>
            <a:r>
              <a:rPr lang="zh-TW" altLang="en-US" dirty="0" smtClean="0"/>
              <a:t>，可能是數百平方公分等級的架構，整合</a:t>
            </a:r>
            <a:r>
              <a:rPr lang="zh-TW" altLang="en-US" dirty="0" smtClean="0"/>
              <a:t>為單晶片，成功實現積體光學系統的目標。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A8B70-A6F4-4504-BBDD-66F2187607F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50259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第二個研究架構，則是使用</a:t>
            </a:r>
            <a:r>
              <a:rPr lang="en-US" altLang="zh-TW" dirty="0" smtClean="0"/>
              <a:t>Y</a:t>
            </a:r>
            <a:r>
              <a:rPr lang="zh-TW" altLang="en-US" dirty="0" smtClean="0"/>
              <a:t>分支與絕熱耦合器的整合，取代干涉式光纖陀螺儀系統中的光纖式耦合</a:t>
            </a:r>
            <a:r>
              <a:rPr lang="zh-TW" altLang="en-US" dirty="0" smtClean="0"/>
              <a:t>器和相位調制器。透過</a:t>
            </a:r>
            <a:r>
              <a:rPr lang="en-US" altLang="zh-TW" dirty="0" smtClean="0"/>
              <a:t>Z</a:t>
            </a:r>
            <a:r>
              <a:rPr lang="zh-TW" altLang="en-US" dirty="0" smtClean="0"/>
              <a:t>方向外加</a:t>
            </a:r>
            <a:r>
              <a:rPr lang="zh-TW" altLang="en-US" dirty="0" smtClean="0"/>
              <a:t>電場，</a:t>
            </a:r>
            <a:r>
              <a:rPr lang="zh-TW" altLang="en-US" dirty="0" smtClean="0"/>
              <a:t>改變鈮酸鋰折射率大小，達到相位調製的目的。</a:t>
            </a:r>
            <a:endParaRPr lang="en-US" altLang="zh-TW" dirty="0" smtClean="0"/>
          </a:p>
          <a:p>
            <a:r>
              <a:rPr lang="zh-TW" altLang="en-US" dirty="0" smtClean="0"/>
              <a:t>這樣的晶片尺寸，預期長度小於</a:t>
            </a:r>
            <a:r>
              <a:rPr lang="en-US" altLang="zh-TW" dirty="0" smtClean="0"/>
              <a:t>1.5 </a:t>
            </a:r>
            <a:r>
              <a:rPr lang="zh-TW" altLang="en-US" dirty="0" smtClean="0"/>
              <a:t>公分，相對於原本使用的相位調制器與光纖式耦合器，皆大於</a:t>
            </a:r>
            <a:r>
              <a:rPr lang="en-US" altLang="zh-TW" dirty="0" smtClean="0"/>
              <a:t>3</a:t>
            </a:r>
            <a:r>
              <a:rPr lang="zh-TW" altLang="en-US" dirty="0" smtClean="0"/>
              <a:t>公分而言，這也是一個顯著的尺寸縮裝。</a:t>
            </a:r>
            <a:endParaRPr lang="en-US" altLang="zh-TW" dirty="0" smtClean="0"/>
          </a:p>
          <a:p>
            <a:r>
              <a:rPr lang="zh-TW" altLang="en-US" dirty="0" smtClean="0"/>
              <a:t>同時，在光纖陀螺儀系統中，仍可保持其性能。因為主要性能源自於光纖長度。</a:t>
            </a:r>
            <a:endParaRPr lang="en-US" altLang="zh-TW" dirty="0" smtClean="0"/>
          </a:p>
          <a:p>
            <a:r>
              <a:rPr lang="zh-TW" altLang="en-US" dirty="0" smtClean="0"/>
              <a:t>此外，透過底部式矽基板的設計，我們可以直接將晶片</a:t>
            </a:r>
            <a:r>
              <a:rPr lang="zh-TW" altLang="en-US" dirty="0" smtClean="0"/>
              <a:t>打件安裝</a:t>
            </a:r>
            <a:r>
              <a:rPr lang="zh-TW" altLang="en-US" dirty="0" smtClean="0"/>
              <a:t>在電路板上，整合外部光偵測器，以及電路板上轉阻放大電路，可有效降低傳統因導線或長距離傳輸，引入雜訊而干擾敏感類比訊號的問題。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A8B70-A6F4-4504-BBDD-66F2187607FC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6986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第三個研究主題，則是直接在</a:t>
            </a:r>
            <a:r>
              <a:rPr lang="en-US" altLang="zh-TW" dirty="0" smtClean="0"/>
              <a:t>X-cut</a:t>
            </a:r>
            <a:r>
              <a:rPr lang="zh-TW" altLang="en-US" dirty="0" smtClean="0"/>
              <a:t>薄膜鈮酸鋰上，透過</a:t>
            </a:r>
            <a:r>
              <a:rPr lang="en-US" altLang="zh-TW" dirty="0" smtClean="0"/>
              <a:t>Y</a:t>
            </a:r>
            <a:r>
              <a:rPr lang="zh-TW" altLang="en-US" dirty="0" smtClean="0"/>
              <a:t>分支與跑道型波導環的整合，完成光學式微型陀螺儀的設計，並透過相位調制器，精確調整直線波導與跑道行波導之間的耦合效率。這會是微型光學陀螺儀在薄膜鈮酸鋰基材上的概念驗證與前驅研究，以開迴路方式了解其特性，後可透過適當地調變與演算方法，精進其性能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A8B70-A6F4-4504-BBDD-66F2187607FC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43440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第四個研究主題，整合環形共振腔與極化反轉，以模擬退火法或基因演算法設計非週期性結構，其導晶格向量中存在多波長光參量放大以及電光調制的傅立葉係數，進而透過電光調制的特性以及環型共振腔，產生</a:t>
            </a:r>
            <a:r>
              <a:rPr lang="en-US" altLang="zh-TW" dirty="0" smtClean="0"/>
              <a:t>Q-switched </a:t>
            </a:r>
            <a:r>
              <a:rPr lang="zh-TW" altLang="en-US" dirty="0" smtClean="0"/>
              <a:t>的光參量振盪輸出光。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A8B70-A6F4-4504-BBDD-66F2187607FC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92201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自發參量下轉換的機制是透過非線性晶體 </a:t>
            </a:r>
            <a:r>
              <a:rPr lang="en-US" altLang="zh-TW" dirty="0" smtClean="0"/>
              <a:t>X2</a:t>
            </a:r>
            <a:r>
              <a:rPr lang="zh-TW" altLang="en-US" dirty="0" smtClean="0"/>
              <a:t> 的特性，在符合能量守恆以及相位匹配的條件下，將高頻的光子，轉換為成對的低頻光子，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連續光的架構下，糾纏光子隊會在泵激光的同調時間內隨機產生；</a:t>
            </a:r>
            <a:endParaRPr lang="en-US" altLang="zh-TW" dirty="0" smtClean="0"/>
          </a:p>
          <a:p>
            <a:r>
              <a:rPr lang="zh-TW" altLang="en-US" dirty="0" smtClean="0"/>
              <a:t>而如果是飛秒雷射的話，以 </a:t>
            </a:r>
            <a:r>
              <a:rPr lang="en-US" altLang="zh-TW" dirty="0" smtClean="0"/>
              <a:t>type II SPDC</a:t>
            </a:r>
            <a:r>
              <a:rPr lang="zh-TW" altLang="en-US" dirty="0" smtClean="0"/>
              <a:t>而言，糾纏光子對產生的時間則在</a:t>
            </a:r>
            <a:r>
              <a:rPr lang="en-US" altLang="zh-TW" dirty="0" smtClean="0"/>
              <a:t>100 fs </a:t>
            </a:r>
            <a:r>
              <a:rPr lang="zh-TW" altLang="en-US" dirty="0" smtClean="0"/>
              <a:t>左右。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77807">
              <a:defRPr/>
            </a:pPr>
            <a:fld id="{E6E18387-A79F-4ADD-B27D-AAF656AB3CA4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477807">
                <a:defRPr/>
              </a:pPr>
              <a:t>16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52837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定向耦合器的使用，通常需要精確地設計交換長度，當平行波導長度為耦合長度的奇數倍時，能量完全耦合至另一波導。</a:t>
                </a:r>
                <a:endParaRPr lang="en-US" altLang="zh-TW" dirty="0" smtClean="0"/>
              </a:p>
              <a:p>
                <a:r>
                  <a:rPr lang="zh-TW" altLang="en-US" dirty="0" smtClean="0"/>
                  <a:t>如為偶數倍時，則能量將保持在原波導路徑上輸出。</a:t>
                </a:r>
                <a:endParaRPr lang="en-US" altLang="zh-TW" dirty="0" smtClean="0"/>
              </a:p>
              <a:p>
                <a:endParaRPr lang="en-US" altLang="zh-TW" dirty="0" smtClean="0"/>
              </a:p>
              <a:p>
                <a:r>
                  <a:rPr lang="zh-TW" altLang="en-US" dirty="0" smtClean="0"/>
                  <a:t>於是，精確地定義折射率變化與耦合長度成為主要議題。而透過鈮酸鋰施加</a:t>
                </a:r>
                <a:r>
                  <a:rPr lang="en-US" altLang="zh-TW" dirty="0" smtClean="0"/>
                  <a:t>Z</a:t>
                </a:r>
                <a:r>
                  <a:rPr lang="zh-TW" altLang="en-US" dirty="0" smtClean="0"/>
                  <a:t>方向電場的方式，我們則得到了一個機會進行些微調整，也使得在固定長度條件下，耦合效率為可調整。</a:t>
                </a:r>
                <a:endParaRPr lang="en-US" altLang="zh-TW" dirty="0" smtClean="0"/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-----</a:t>
                </a:r>
              </a:p>
              <a:p>
                <a:endParaRPr lang="en-US" altLang="zh-TW" dirty="0" smtClean="0"/>
              </a:p>
              <a:p>
                <a:r>
                  <a:rPr lang="zh-TW" altLang="en-US" dirty="0" smtClean="0"/>
                  <a:t>首先</a:t>
                </a:r>
                <a:r>
                  <a:rPr lang="zh-TW" altLang="en-US" dirty="0"/>
                  <a:t>先介紹我的</a:t>
                </a:r>
                <a:r>
                  <a:rPr lang="en-US" altLang="zh-TW" dirty="0" err="1"/>
                  <a:t>QSoC</a:t>
                </a:r>
                <a:r>
                  <a:rPr lang="zh-TW" altLang="en-US" dirty="0"/>
                  <a:t>會用到的定向耦合器工作原理，</a:t>
                </a:r>
                <a:endParaRPr lang="en-US" altLang="zh-TW" dirty="0"/>
              </a:p>
              <a:p>
                <a:r>
                  <a:rPr lang="zh-TW" altLang="en-US" dirty="0"/>
                  <a:t>左圖為兩條完全相同且平行之波導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TW" altLang="en-US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TW" altLang="en-US" dirty="0"/>
                  <a:t>，當兩條波導於適當距離時發生能量交換的情形，若我們要達到 </a:t>
                </a:r>
                <a:r>
                  <a:rPr lang="en-US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Crossover condition </a:t>
                </a:r>
                <a:r>
                  <a:rPr lang="zh-TW" alt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，也就是能量會由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r>
                      <a:rPr lang="zh-TW" altLang="en-US" sz="1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傳輸至</m:t>
                    </m:r>
                    <m:sSub>
                      <m:sSubPr>
                        <m:ctrlP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zh-TW" altLang="en-US" sz="1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r>
                  <a:rPr lang="zh-TW" altLang="en-US" dirty="0"/>
                  <a:t>那我們元件長度必須是最小耦合長度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zh-TW" altLang="en-US" sz="1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的奇數倍</m:t>
                    </m:r>
                  </m:oMath>
                </a14:m>
                <a:r>
                  <a:rPr lang="zh-TW" altLang="en-US" dirty="0"/>
                  <a:t>，如果元件長度必須是最小耦合長度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zh-TW" altLang="en-US" sz="1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的偶數倍</m:t>
                    </m:r>
                  </m:oMath>
                </a14:m>
                <a:r>
                  <a:rPr lang="zh-TW" altLang="en-US" dirty="0"/>
                  <a:t>，造成</a:t>
                </a:r>
                <a:r>
                  <a:rPr lang="en-US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Straight-through</a:t>
                </a:r>
                <a:r>
                  <a:rPr lang="zh-TW" alt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，能量只存在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TW" altLang="en-US" dirty="0"/>
                  <a:t>中。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en-US" dirty="0"/>
                  <a:t>由於</a:t>
                </a:r>
                <a:r>
                  <a:rPr lang="en-US" altLang="zh-TW" dirty="0"/>
                  <a:t>directional coupler</a:t>
                </a:r>
                <a:r>
                  <a:rPr lang="zh-TW" altLang="en-US" dirty="0"/>
                  <a:t>的 </a:t>
                </a:r>
                <a:r>
                  <a:rPr lang="en-US" altLang="zh-TW" dirty="0"/>
                  <a:t>coupling length</a:t>
                </a:r>
                <a:r>
                  <a:rPr lang="zh-TW" altLang="en-US" dirty="0"/>
                  <a:t>與</a:t>
                </a:r>
                <a:r>
                  <a:rPr lang="en-US" altLang="zh-TW" dirty="0"/>
                  <a:t>n</a:t>
                </a:r>
                <a:r>
                  <a:rPr lang="zh-TW" altLang="en-US" dirty="0"/>
                  <a:t>差值成反比，若能讓</a:t>
                </a:r>
                <a:r>
                  <a:rPr lang="en-US" altLang="zh-TW" dirty="0"/>
                  <a:t>n</a:t>
                </a:r>
                <a:r>
                  <a:rPr lang="zh-TW" altLang="en-US" dirty="0"/>
                  <a:t>差值增加，</a:t>
                </a:r>
                <a:r>
                  <a:rPr lang="en-US" altLang="zh-TW" dirty="0"/>
                  <a:t>coupling length</a:t>
                </a:r>
                <a:r>
                  <a:rPr lang="zh-TW" altLang="en-US" dirty="0"/>
                  <a:t>縮短，因此我們將結構製作在</a:t>
                </a:r>
                <a:r>
                  <a:rPr lang="en-US" altLang="zh-TW" dirty="0"/>
                  <a:t>LNOI</a:t>
                </a:r>
                <a:r>
                  <a:rPr lang="zh-TW" altLang="en-US" dirty="0"/>
                  <a:t>基板上。</a:t>
                </a:r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zh-TW" sz="1300" dirty="0"/>
                  <a:t>定向耦合器其能量交換的情形可以用耦合模態理論來做描述</a:t>
                </a:r>
                <a:r>
                  <a:rPr lang="zh-TW" altLang="en-US" sz="1300" dirty="0"/>
                  <a:t>，</a:t>
                </a:r>
                <a:r>
                  <a:rPr lang="zh-TW" altLang="zh-TW" sz="1300" dirty="0"/>
                  <a:t>圖</a:t>
                </a:r>
                <a:r>
                  <a:rPr lang="en-US" altLang="zh-TW" sz="1300" dirty="0"/>
                  <a:t>(a)</a:t>
                </a:r>
                <a:r>
                  <a:rPr lang="zh-TW" altLang="zh-TW" sz="1300" dirty="0"/>
                  <a:t>中我們考慮兩個性質相同且互相平行的波導</a:t>
                </a:r>
                <a:r>
                  <a:rPr lang="en-US" altLang="zh-TW" sz="1300" dirty="0"/>
                  <a:t>a</a:t>
                </a:r>
                <a:r>
                  <a:rPr lang="zh-TW" altLang="zh-TW" sz="1300" dirty="0"/>
                  <a:t>與</a:t>
                </a:r>
                <a:r>
                  <a:rPr lang="en-US" altLang="zh-TW" sz="1300" dirty="0"/>
                  <a:t>b(</a:t>
                </a:r>
                <a:r>
                  <a:rPr lang="zh-TW" altLang="en-US" sz="1300" dirty="0"/>
                  <a:t>即假設傳播常數與耦合常數值相同</a:t>
                </a:r>
                <a:r>
                  <a:rPr lang="en-US" altLang="zh-TW" sz="1300" dirty="0"/>
                  <a:t>)</a:t>
                </a:r>
                <a:r>
                  <a:rPr lang="zh-TW" altLang="zh-TW" sz="1300" dirty="0"/>
                  <a:t>，波導寬度為</a:t>
                </a:r>
                <a:r>
                  <a:rPr lang="en-US" altLang="zh-TW" sz="1300" dirty="0"/>
                  <a:t>w</a:t>
                </a:r>
                <a:r>
                  <a:rPr lang="zh-TW" altLang="zh-TW" sz="13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zh-TW" sz="1300" dirty="0"/>
                  <a:t>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zh-TW" sz="1300" dirty="0"/>
                  <a:t>分別表示基板折射率跟波導折射率，圖</a:t>
                </a:r>
                <a:r>
                  <a:rPr lang="en-US" altLang="zh-TW" sz="1300" dirty="0"/>
                  <a:t>(b)</a:t>
                </a:r>
                <a:r>
                  <a:rPr lang="zh-TW" altLang="zh-TW" sz="1300" dirty="0"/>
                  <a:t>為波導剖面圖，描述波導的折射率分布</a:t>
                </a:r>
                <a:endParaRPr lang="en-US" altLang="zh-TW" sz="1300" dirty="0"/>
              </a:p>
              <a:p>
                <a:pPr defTabSz="955613">
                  <a:defRPr/>
                </a:pPr>
                <a:r>
                  <a:rPr lang="zh-TW" altLang="en-US" sz="1300" dirty="0"/>
                  <a:t>此兩式表示</a:t>
                </a:r>
                <a:r>
                  <a:rPr lang="zh-TW" altLang="zh-TW" sz="1300" dirty="0"/>
                  <a:t>波導</a:t>
                </a:r>
                <a:r>
                  <a:rPr lang="en-US" altLang="zh-TW" sz="1300" dirty="0"/>
                  <a:t>a</a:t>
                </a:r>
                <a:r>
                  <a:rPr lang="zh-TW" altLang="zh-TW" sz="1300" dirty="0"/>
                  <a:t>與波導</a:t>
                </a:r>
                <a:r>
                  <a:rPr lang="en-US" altLang="zh-TW" sz="1300" dirty="0"/>
                  <a:t>b</a:t>
                </a:r>
                <a:r>
                  <a:rPr lang="zh-TW" altLang="zh-TW" sz="1300" dirty="0"/>
                  <a:t>電場隨著傳播距離改變的關係</a:t>
                </a:r>
                <a:r>
                  <a:rPr lang="zh-TW" altLang="en-US" sz="1300" dirty="0"/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300">
                        <a:latin typeface="Cambria Math" panose="02040503050406030204" pitchFamily="18" charset="0"/>
                      </a:rPr>
                      <m:t>A</m:t>
                    </m:r>
                    <m:d>
                      <m:d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13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zh-TW" altLang="zh-TW" sz="1300" dirty="0"/>
                  <a:t>與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300">
                        <a:latin typeface="Cambria Math" panose="02040503050406030204" pitchFamily="18" charset="0"/>
                      </a:rPr>
                      <m:t>B</m:t>
                    </m:r>
                    <m:d>
                      <m:d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13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zh-TW" altLang="zh-TW" sz="1300" dirty="0"/>
                  <a:t>表示電場振幅</a:t>
                </a:r>
                <a:r>
                  <a:rPr lang="zh-TW" altLang="en-US" sz="1300" dirty="0"/>
                  <a:t>，</a:t>
                </a:r>
                <a14:m>
                  <m:oMath xmlns:m="http://schemas.openxmlformats.org/officeDocument/2006/math">
                    <m:r>
                      <a:rPr lang="zh-TW" altLang="en-US" sz="13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TW" altLang="en-US" sz="1300" dirty="0"/>
                  <a:t>為傳播常數，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300">
                        <a:latin typeface="Cambria Math" panose="02040503050406030204" pitchFamily="18" charset="0"/>
                      </a:rPr>
                      <m:t>κ</m:t>
                    </m:r>
                  </m:oMath>
                </a14:m>
                <a:r>
                  <a:rPr lang="zh-TW" altLang="zh-TW" sz="1300" dirty="0"/>
                  <a:t>為耦合常數</a:t>
                </a:r>
                <a:r>
                  <a:rPr lang="zh-TW" altLang="en-US" sz="1300" dirty="0"/>
                  <a:t>，</a:t>
                </a:r>
                <a:endParaRPr lang="en-US" altLang="zh-TW" sz="1300" dirty="0"/>
              </a:p>
              <a:p>
                <a:pPr defTabSz="955613">
                  <a:defRPr/>
                </a:pPr>
                <a14:m>
                  <m:oMath xmlns:m="http://schemas.openxmlformats.org/officeDocument/2006/math">
                    <m:r>
                      <a:rPr lang="en-US" altLang="zh-TW" sz="1300" i="1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l-GR" altLang="zh-TW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zh-TW" alt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13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來表示</a:t>
                </a:r>
                <a14:m>
                  <m:oMath xmlns:m="http://schemas.openxmlformats.org/officeDocument/2006/math">
                    <m:r>
                      <a:rPr lang="en-US" altLang="zh-TW" sz="13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zh-TW" alt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TW" altLang="en-US" sz="1300" dirty="0"/>
                  <a:t> 值，</a:t>
                </a:r>
                <a:endParaRPr lang="en-US" altLang="zh-TW" sz="1300" dirty="0"/>
              </a:p>
              <a:p>
                <a:pPr defTabSz="955613">
                  <a:defRPr/>
                </a:pPr>
                <a:r>
                  <a:rPr lang="zh-TW" altLang="en-US" sz="1300" dirty="0"/>
                  <a:t>將</a:t>
                </a:r>
                <a:r>
                  <a:rPr lang="zh-TW" altLang="zh-TW" sz="1300" dirty="0"/>
                  <a:t>電場</a:t>
                </a:r>
                <a:r>
                  <a:rPr lang="zh-TW" altLang="en-US" sz="1300" dirty="0"/>
                  <a:t>乘上</a:t>
                </a:r>
                <a:r>
                  <a:rPr lang="zh-TW" altLang="zh-TW" sz="1300" dirty="0"/>
                  <a:t>共軛複數</a:t>
                </a:r>
                <a:r>
                  <a:rPr lang="zh-TW" altLang="en-US" sz="1300" dirty="0"/>
                  <a:t>，</a:t>
                </a:r>
                <a:r>
                  <a:rPr lang="zh-TW" altLang="zh-TW" sz="1300" dirty="0"/>
                  <a:t>算出兩波導內模態傳播的強度</a:t>
                </a:r>
                <a:r>
                  <a:rPr lang="zh-TW" altLang="en-US" sz="1300" dirty="0"/>
                  <a:t>，</a:t>
                </a:r>
                <a:r>
                  <a:rPr lang="zh-TW" altLang="zh-TW" sz="1300" dirty="0"/>
                  <a:t>將初始入射強度</a:t>
                </a:r>
                <a:r>
                  <a:rPr lang="en-US" altLang="zh-TW" sz="13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13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TW" altLang="zh-TW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zh-TW" sz="1300" dirty="0"/>
                  <a:t>並令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sz="130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13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13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zh-TW" sz="1300" dirty="0"/>
                  <a:t>代入做簡化</a:t>
                </a:r>
                <a:endParaRPr lang="en-US" altLang="zh-TW" sz="1300" dirty="0"/>
              </a:p>
              <a:p>
                <a:pPr defTabSz="955613">
                  <a:defRPr/>
                </a:pPr>
                <a:r>
                  <a:rPr lang="zh-TW" altLang="en-US" sz="1300" dirty="0"/>
                  <a:t>考慮兩條完全相同波導，將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𝑎𝑏</m:t>
                        </m:r>
                      </m:sub>
                    </m:sSub>
                    <m:r>
                      <a:rPr lang="en-US" altLang="zh-TW" sz="13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𝑏𝑎</m:t>
                        </m:r>
                      </m:sub>
                    </m:sSub>
                    <m:r>
                      <a:rPr lang="en-US" altLang="zh-TW" sz="1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1300" i="1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altLang="zh-TW" sz="1300" i="1">
                        <a:latin typeface="Cambria Math" panose="02040503050406030204" pitchFamily="18" charset="0"/>
                      </a:rPr>
                      <m:t>     &amp;     </m:t>
                    </m:r>
                    <m:sSub>
                      <m:sSub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TW" sz="13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TW" sz="1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13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TW" altLang="en-US" sz="1300" dirty="0"/>
                  <a:t>帶入</a:t>
                </a:r>
                <a14:m>
                  <m:oMath xmlns:m="http://schemas.openxmlformats.org/officeDocument/2006/math">
                    <m:r>
                      <a:rPr lang="en-US" altLang="zh-TW" sz="1300" i="1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l-GR" altLang="zh-TW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zh-TW" altLang="en-US" sz="1300" dirty="0"/>
                  <a:t>近似後得到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1300">
                        <a:latin typeface="Cambria Math" panose="02040503050406030204" pitchFamily="18" charset="0"/>
                      </a:rPr>
                      <m:t>Γ</m:t>
                    </m:r>
                    <m:r>
                      <a:rPr lang="zh-TW" altLang="en-US" sz="13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TW" sz="1300" dirty="0"/>
              </a:p>
              <a:p>
                <a:pPr defTabSz="955613">
                  <a:defRPr/>
                </a:pPr>
                <a:r>
                  <a:rPr lang="zh-TW" altLang="en-US" sz="1300" dirty="0"/>
                  <a:t>得到</a:t>
                </a:r>
                <a:r>
                  <a:rPr lang="en-US" altLang="zh-TW" sz="1300" dirty="0" err="1"/>
                  <a:t>WGb</a:t>
                </a:r>
                <a:r>
                  <a:rPr lang="zh-TW" altLang="en-US" sz="1300" dirty="0"/>
                  <a:t>內能量變化為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TW" altLang="en-US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3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zh-TW" altLang="en-US" sz="13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d>
                          <m:dPr>
                            <m:ctrlPr>
                              <a:rPr lang="zh-TW" altLang="en-US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13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TW" altLang="en-US" sz="130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TW" altLang="en-US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3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zh-TW" altLang="en-US" sz="13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sSupPr>
                            <m:ctrlPr>
                              <a:rPr lang="zh-TW" altLang="en-US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1300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zh-TW" altLang="en-US" sz="13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TW" altLang="en-US" sz="13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TW" altLang="en-US" sz="1300" i="1"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zh-TW" altLang="en-US" sz="13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TW" sz="1300" dirty="0"/>
              </a:p>
              <a:p>
                <a:pPr defTabSz="955613">
                  <a:defRPr/>
                </a:pPr>
                <a:r>
                  <a:rPr lang="zh-TW" altLang="zh-TW" sz="1300" dirty="0"/>
                  <a:t>從此式可知要達到完全耦合的條件為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13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TW" altLang="zh-TW" sz="1300" dirty="0"/>
                  <a:t>，即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𝑠𝑖𝑛</m:t>
                        </m:r>
                      </m:e>
                      <m: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13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TW" altLang="zh-TW" sz="1300" dirty="0"/>
                  <a:t>，所以</a:t>
                </a:r>
                <a:endParaRPr lang="en-US" altLang="zh-TW" sz="1300" dirty="0"/>
              </a:p>
              <a:p>
                <a:pPr defTabSz="955613">
                  <a:defRPr/>
                </a:pPr>
                <a:r>
                  <a:rPr lang="zh-TW" altLang="en-US" sz="1300" dirty="0"/>
                  <a:t>由此公式可以知道，能量要從</a:t>
                </a:r>
                <a:r>
                  <a:rPr lang="en-US" altLang="zh-TW" sz="1300" dirty="0" err="1"/>
                  <a:t>WGa</a:t>
                </a:r>
                <a:r>
                  <a:rPr lang="zh-TW" altLang="en-US" sz="1300" dirty="0"/>
                  <a:t>到 </a:t>
                </a:r>
                <a:r>
                  <a:rPr lang="en-US" altLang="zh-TW" sz="1300" dirty="0" err="1"/>
                  <a:t>WGb</a:t>
                </a:r>
                <a:r>
                  <a:rPr lang="zh-TW" altLang="en-US" sz="1300" dirty="0"/>
                  <a:t>，耦合區長度的，條件也就是</a:t>
                </a:r>
                <a:r>
                  <a:rPr lang="en-US" altLang="zh-TW" sz="1300" dirty="0"/>
                  <a:t>crossover</a:t>
                </a:r>
              </a:p>
              <a:p>
                <a:pPr defTabSz="955613">
                  <a:defRPr/>
                </a:pPr>
                <a:r>
                  <a:rPr lang="zh-TW" altLang="en-US" sz="1300" dirty="0"/>
                  <a:t>假設在入口端為</a:t>
                </a:r>
                <a:r>
                  <a:rPr lang="en-US" altLang="zh-TW" sz="1300" dirty="0" err="1"/>
                  <a:t>Wga</a:t>
                </a:r>
                <a:r>
                  <a:rPr lang="en-US" altLang="zh-TW" sz="1300" dirty="0"/>
                  <a:t>=1</a:t>
                </a:r>
                <a:r>
                  <a:rPr lang="zh-TW" altLang="en-US" sz="1300" dirty="0"/>
                  <a:t>那 </a:t>
                </a:r>
                <a:r>
                  <a:rPr lang="en-US" altLang="zh-TW" sz="1300" dirty="0" err="1"/>
                  <a:t>WGb</a:t>
                </a:r>
                <a:r>
                  <a:rPr lang="en-US" altLang="zh-TW" sz="1300" dirty="0"/>
                  <a:t>=0</a:t>
                </a:r>
                <a:r>
                  <a:rPr lang="zh-TW" altLang="en-US" sz="1300" dirty="0"/>
                  <a:t>，出口端為</a:t>
                </a:r>
                <a:r>
                  <a:rPr lang="en-US" altLang="zh-TW" sz="1300" dirty="0" err="1"/>
                  <a:t>Wga</a:t>
                </a:r>
                <a:r>
                  <a:rPr lang="en-US" altLang="zh-TW" sz="1300" dirty="0"/>
                  <a:t>=0</a:t>
                </a:r>
                <a:r>
                  <a:rPr lang="zh-TW" altLang="en-US" sz="1300" dirty="0"/>
                  <a:t>那 </a:t>
                </a:r>
                <a:r>
                  <a:rPr lang="en-US" altLang="zh-TW" sz="1300" dirty="0" err="1"/>
                  <a:t>WGb</a:t>
                </a:r>
                <a:r>
                  <a:rPr lang="en-US" altLang="zh-TW" sz="1300" dirty="0"/>
                  <a:t>=1</a:t>
                </a:r>
              </a:p>
              <a:p>
                <a:pPr defTabSz="955613">
                  <a:defRPr/>
                </a:pPr>
                <a:r>
                  <a:rPr lang="zh-TW" altLang="en-US" sz="1300" dirty="0"/>
                  <a:t>引導出以下公式，耦合長度等於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𝜅</m:t>
                        </m:r>
                      </m:den>
                    </m:f>
                    <m:r>
                      <a:rPr lang="en-US" altLang="zh-TW" sz="13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zh-TW" sz="1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𝜅</m:t>
                        </m:r>
                      </m:den>
                    </m:f>
                    <m:r>
                      <a:rPr lang="zh-TW" altLang="zh-TW" sz="13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TW" altLang="en-US" sz="1300" dirty="0"/>
                  <a:t>當</a:t>
                </a:r>
                <a14:m>
                  <m:oMath xmlns:m="http://schemas.openxmlformats.org/officeDocument/2006/math">
                    <m:r>
                      <a:rPr lang="en-US" altLang="zh-TW" sz="13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1300" i="1">
                        <a:latin typeface="Cambria Math" panose="02040503050406030204" pitchFamily="18" charset="0"/>
                      </a:rPr>
                      <m:t>=0,1,2…</m:t>
                    </m:r>
                  </m:oMath>
                </a14:m>
                <a:r>
                  <a:rPr lang="zh-TW" altLang="en-US" sz="1300" dirty="0"/>
                  <a:t>，把</a:t>
                </a:r>
                <a:r>
                  <a:rPr lang="en-US" altLang="zh-TW" sz="1300" dirty="0"/>
                  <a:t>order</a:t>
                </a:r>
                <a:r>
                  <a:rPr lang="zh-TW" altLang="en-US" sz="1300" dirty="0"/>
                  <a:t>低值帶入</a:t>
                </a:r>
                <a:endParaRPr lang="en-US" altLang="zh-TW" sz="1300" dirty="0"/>
              </a:p>
              <a:p>
                <a:pPr defTabSz="955613">
                  <a:defRPr/>
                </a:pPr>
                <a:r>
                  <a:rPr lang="zh-TW" altLang="en-US" sz="1300" dirty="0"/>
                  <a:t>可以得到最短耦合長度</a:t>
                </a:r>
                <a:r>
                  <a:rPr lang="en-US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TW" altLang="en-US" sz="1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zh-TW" altLang="en-US" sz="13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1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3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zh-TW" altLang="en-US" sz="13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sz="1300" i="1">
                            <a:latin typeface="Cambria Math" panose="02040503050406030204" pitchFamily="18" charset="0"/>
                          </a:rPr>
                          <m:t>𝜅</m:t>
                        </m:r>
                      </m:den>
                    </m:f>
                  </m:oMath>
                </a14:m>
                <a:endParaRPr lang="en-US" altLang="zh-TW" sz="1300" dirty="0"/>
              </a:p>
              <a:p>
                <a:pPr defTabSz="955613">
                  <a:defRPr/>
                </a:pPr>
                <a:r>
                  <a:rPr lang="zh-TW" altLang="en-US" sz="1300" dirty="0"/>
                  <a:t>由以上可以整理出耦合條件，要達成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Crossover condition 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耦合區域長度必須是最小耦合長度的奇數倍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defTabSz="955613">
                  <a:defRPr/>
                </a:pPr>
                <a:r>
                  <a:rPr lang="zh-TW" altLang="en-US" sz="1300" dirty="0"/>
                  <a:t>要達成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Straight-through condition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，耦合區域長度必須是最小耦合長度的偶數倍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defTabSz="955613">
                  <a:defRPr/>
                </a:pP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defTabSz="955613">
                  <a:defRPr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綜合以上要達到能量完全耦合條件有兩個，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defTabSz="955613">
                  <a:defRPr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第一為兩條完全相同波導，第二耦合區域必須是最小耦合長度奇數倍，所以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DC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對製程參數非常敏感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defTabSz="955613">
                  <a:defRPr/>
                </a:pP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defTabSz="955613">
                  <a:defRPr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製作出電控式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DC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利用電光效應來調製分光比。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defTabSz="955613">
                  <a:defRPr/>
                </a:pPr>
                <a:endParaRPr lang="en-US" altLang="zh-TW" sz="1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defTabSz="955613">
                  <a:defRPr/>
                </a:pPr>
                <a:endParaRPr lang="en-US" altLang="zh-TW" sz="1300" dirty="0"/>
              </a:p>
              <a:p>
                <a:pPr defTabSz="955613">
                  <a:defRPr/>
                </a:pPr>
                <a:endParaRPr lang="en-US" altLang="zh-TW" sz="1300" dirty="0"/>
              </a:p>
              <a:p>
                <a:pPr defTabSz="955613">
                  <a:defRPr/>
                </a:pPr>
                <a:endParaRPr lang="en-US" altLang="zh-TW" sz="1300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本實驗波導設計中有兩個元件，第一個為</a:t>
                </a:r>
                <a:r>
                  <a:rPr lang="en-US" altLang="zh-TW" dirty="0"/>
                  <a:t>DC</a:t>
                </a:r>
                <a:r>
                  <a:rPr lang="zh-TW" altLang="en-US" dirty="0"/>
                  <a:t>，第二個為</a:t>
                </a:r>
                <a:r>
                  <a:rPr lang="en-US" altLang="zh-TW" dirty="0"/>
                  <a:t>AC</a:t>
                </a:r>
              </a:p>
              <a:p>
                <a:r>
                  <a:rPr lang="zh-TW" altLang="en-US" dirty="0"/>
                  <a:t>首先先介紹</a:t>
                </a:r>
                <a:r>
                  <a:rPr lang="en-US" altLang="zh-TW" dirty="0"/>
                  <a:t>DC</a:t>
                </a:r>
                <a:r>
                  <a:rPr lang="zh-TW" altLang="en-US" dirty="0"/>
                  <a:t>元件工作原理，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定向耦合器其能量交換的情形可以用耦合模態理論來做描述</a:t>
                </a:r>
                <a:r>
                  <a:rPr lang="zh-TW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圖</a:t>
                </a:r>
                <a:r>
                  <a:rPr lang="en-US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(a)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中我們考慮兩個性質相同且互相平行的波導</a:t>
                </a:r>
                <a:r>
                  <a:rPr lang="en-US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</a:t>
                </a:r>
                <a:r>
                  <a:rPr lang="en-US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b(</a:t>
                </a:r>
                <a:r>
                  <a:rPr lang="zh-TW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即假設傳播常數與耦合常數值相同</a:t>
                </a:r>
                <a:r>
                  <a:rPr lang="en-US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，波導寬度為</a:t>
                </a:r>
                <a:r>
                  <a:rPr lang="en-US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𝑛</a:t>
                </a:r>
                <a:r>
                  <a:rPr lang="zh-TW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_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1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𝑛</a:t>
                </a:r>
                <a:r>
                  <a:rPr lang="zh-TW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_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2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分別表示基板折射率跟波導折射率，圖</a:t>
                </a:r>
                <a:r>
                  <a:rPr lang="en-US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(b)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為波導剖面圖，描述波導的折射率分布</a:t>
                </a:r>
                <a:endParaRPr lang="en-US" altLang="zh-TW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此兩式表示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波導</a:t>
                </a:r>
                <a:r>
                  <a:rPr lang="en-US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與波導</a:t>
                </a:r>
                <a:r>
                  <a:rPr lang="en-US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電場隨著傳播距離改變的關係</a:t>
                </a:r>
                <a:r>
                  <a:rPr lang="zh-TW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A</a:t>
                </a:r>
                <a:r>
                  <a:rPr lang="zh-TW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(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x)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B</a:t>
                </a:r>
                <a:r>
                  <a:rPr lang="zh-TW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(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x)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表示電場振幅</a:t>
                </a:r>
                <a:r>
                  <a:rPr lang="zh-TW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</a:t>
                </a:r>
                <a:r>
                  <a:rPr lang="zh-TW" altLang="en-US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𝛽</a:t>
                </a:r>
                <a:r>
                  <a:rPr lang="zh-TW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為傳播常數，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κ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為耦合常數</a:t>
                </a:r>
                <a:r>
                  <a:rPr lang="zh-TW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</a:t>
                </a:r>
                <a:endParaRPr lang="en-US" altLang="zh-TW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sz="1200" i="0">
                    <a:latin typeface="Cambria Math" panose="02040503050406030204" pitchFamily="18" charset="0"/>
                  </a:rPr>
                  <a:t>2</a:t>
                </a:r>
                <a:r>
                  <a:rPr lang="el-GR" altLang="zh-TW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Γ</a:t>
                </a:r>
                <a:r>
                  <a:rPr lang="zh-TW" alt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TW" altLang="en-US" sz="120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來表示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∆</a:t>
                </a:r>
                <a:r>
                  <a:rPr lang="zh-TW" alt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𝛽</a:t>
                </a:r>
                <a:r>
                  <a:rPr lang="zh-TW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值，</a:t>
                </a:r>
                <a:endParaRPr lang="en-US" altLang="zh-TW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將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電場</a:t>
                </a:r>
                <a:r>
                  <a:rPr lang="zh-TW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乘上</a:t>
                </a:r>
                <a:r>
                  <a:rPr lang="zh-TW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共軛複數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算出兩波導內模態傳播的強度</a:t>
                </a:r>
                <a:r>
                  <a:rPr lang="zh-TW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將初始入射強度</a:t>
                </a:r>
                <a:r>
                  <a:rPr lang="en-US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𝑃</a:t>
                </a:r>
                <a:r>
                  <a:rPr lang="zh-TW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_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0=</a:t>
                </a:r>
                <a:r>
                  <a:rPr lang="zh-TW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〖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𝐴</a:t>
                </a:r>
                <a:r>
                  <a:rPr lang="zh-TW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_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0</a:t>
                </a:r>
                <a:r>
                  <a:rPr lang="zh-TW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〗^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2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並令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Γ</a:t>
                </a:r>
                <a:r>
                  <a:rPr lang="zh-TW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^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2+𝜅</a:t>
                </a:r>
                <a:r>
                  <a:rPr lang="zh-TW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^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2=𝛼</a:t>
                </a:r>
                <a:r>
                  <a:rPr lang="zh-TW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^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2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代入做簡化</a:t>
                </a:r>
                <a:endParaRPr lang="en-US" altLang="zh-TW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考慮兩條完全相同波導，將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𝜅</a:t>
                </a:r>
                <a:r>
                  <a:rPr lang="zh-TW" altLang="zh-TW" sz="1200" i="0">
                    <a:latin typeface="Cambria Math" panose="02040503050406030204" pitchFamily="18" charset="0"/>
                  </a:rPr>
                  <a:t>_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𝑎𝑏=𝜅</a:t>
                </a:r>
                <a:r>
                  <a:rPr lang="zh-TW" altLang="zh-TW" sz="1200" i="0">
                    <a:latin typeface="Cambria Math" panose="02040503050406030204" pitchFamily="18" charset="0"/>
                  </a:rPr>
                  <a:t>_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𝑏𝑎=𝜅     &amp;     𝛽</a:t>
                </a:r>
                <a:r>
                  <a:rPr lang="zh-TW" altLang="zh-TW" sz="1200" i="0">
                    <a:latin typeface="Cambria Math" panose="02040503050406030204" pitchFamily="18" charset="0"/>
                  </a:rPr>
                  <a:t>_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𝑎=𝛽</a:t>
                </a:r>
                <a:r>
                  <a:rPr lang="zh-TW" altLang="zh-TW" sz="1200" i="0">
                    <a:latin typeface="Cambria Math" panose="02040503050406030204" pitchFamily="18" charset="0"/>
                  </a:rPr>
                  <a:t>_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𝑏=𝛽</a:t>
                </a:r>
                <a:r>
                  <a:rPr lang="zh-TW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帶入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2</a:t>
                </a:r>
                <a:r>
                  <a:rPr lang="el-GR" altLang="zh-TW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Γ</a:t>
                </a:r>
                <a:r>
                  <a:rPr lang="zh-TW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近似後得到</a:t>
                </a:r>
                <a:r>
                  <a:rPr lang="zh-TW" altLang="en-US" sz="1200" i="0">
                    <a:latin typeface="Cambria Math" panose="02040503050406030204" pitchFamily="18" charset="0"/>
                  </a:rPr>
                  <a:t>Γ=0</a:t>
                </a:r>
                <a:endParaRPr lang="en-US" altLang="zh-TW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得到</a:t>
                </a:r>
                <a:r>
                  <a:rPr lang="en-US" altLang="zh-TW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WGb</a:t>
                </a:r>
                <a:r>
                  <a:rPr lang="zh-TW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內能量變化為</a:t>
                </a:r>
                <a:r>
                  <a:rPr lang="zh-TW" altLang="en-US" sz="1200" i="0">
                    <a:latin typeface="Cambria Math" panose="02040503050406030204" pitchFamily="18" charset="0"/>
                  </a:rPr>
                  <a:t>├ 𝑃_𝑏 (𝑥)=𝑃_0 〖𝑠𝑖𝑛〗^2 (𝜅𝑥)</a:t>
                </a:r>
                <a:endParaRPr lang="en-US" altLang="zh-TW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從此式可知要達到完全耦合的條件為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𝑃</a:t>
                </a:r>
                <a:r>
                  <a:rPr lang="zh-TW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_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𝑏</a:t>
                </a:r>
                <a:r>
                  <a:rPr lang="zh-TW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 (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𝑥)=1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，即</a:t>
                </a:r>
                <a:r>
                  <a:rPr lang="zh-TW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〖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𝑠𝑖𝑛</a:t>
                </a:r>
                <a:r>
                  <a:rPr lang="zh-TW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〗^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2</a:t>
                </a:r>
                <a:r>
                  <a:rPr lang="zh-TW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 (</a:t>
                </a:r>
                <a:r>
                  <a:rPr lang="en-US" altLang="zh-TW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𝜅𝑥)=1</a:t>
                </a:r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，所以</a:t>
                </a:r>
                <a:endParaRPr lang="en-US" altLang="zh-TW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1200" dirty="0"/>
                  <a:t>由此公式可以知道，能量要從</a:t>
                </a:r>
                <a:r>
                  <a:rPr lang="en-US" altLang="zh-TW" sz="1200" dirty="0" err="1"/>
                  <a:t>WGa</a:t>
                </a:r>
                <a:r>
                  <a:rPr lang="zh-TW" altLang="en-US" sz="1200" dirty="0"/>
                  <a:t>到 </a:t>
                </a:r>
                <a:r>
                  <a:rPr lang="en-US" altLang="zh-TW" sz="1200" dirty="0" err="1"/>
                  <a:t>WGb</a:t>
                </a:r>
                <a:r>
                  <a:rPr lang="zh-TW" altLang="en-US" sz="1200" dirty="0"/>
                  <a:t>，耦合區長度的，條件也就是</a:t>
                </a:r>
                <a:r>
                  <a:rPr lang="en-US" altLang="zh-TW" sz="1200" dirty="0"/>
                  <a:t>crossover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1200" dirty="0"/>
                  <a:t>假設在入口端為</a:t>
                </a:r>
                <a:r>
                  <a:rPr lang="en-US" altLang="zh-TW" sz="1200" dirty="0" err="1"/>
                  <a:t>Wga</a:t>
                </a:r>
                <a:r>
                  <a:rPr lang="en-US" altLang="zh-TW" sz="1200" dirty="0"/>
                  <a:t>=1</a:t>
                </a:r>
                <a:r>
                  <a:rPr lang="zh-TW" altLang="en-US" sz="1200" dirty="0"/>
                  <a:t>那 </a:t>
                </a:r>
                <a:r>
                  <a:rPr lang="en-US" altLang="zh-TW" sz="1200" dirty="0" err="1"/>
                  <a:t>WGb</a:t>
                </a:r>
                <a:r>
                  <a:rPr lang="en-US" altLang="zh-TW" sz="1200" dirty="0"/>
                  <a:t>=0</a:t>
                </a:r>
                <a:r>
                  <a:rPr lang="zh-TW" altLang="en-US" sz="1200" dirty="0"/>
                  <a:t>，出口端為</a:t>
                </a:r>
                <a:r>
                  <a:rPr lang="en-US" altLang="zh-TW" sz="1200" dirty="0" err="1"/>
                  <a:t>Wga</a:t>
                </a:r>
                <a:r>
                  <a:rPr lang="en-US" altLang="zh-TW" sz="1200" dirty="0"/>
                  <a:t>=0</a:t>
                </a:r>
                <a:r>
                  <a:rPr lang="zh-TW" altLang="en-US" sz="1200" dirty="0"/>
                  <a:t>那 </a:t>
                </a:r>
                <a:r>
                  <a:rPr lang="en-US" altLang="zh-TW" sz="1200" dirty="0" err="1"/>
                  <a:t>WGb</a:t>
                </a:r>
                <a:r>
                  <a:rPr lang="en-US" altLang="zh-TW" sz="1200" dirty="0"/>
                  <a:t>=1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1200" dirty="0"/>
                  <a:t>引導出以下公式，耦合長度等於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𝜋</a:t>
                </a:r>
                <a:r>
                  <a:rPr lang="zh-TW" altLang="zh-TW" sz="1200" i="0">
                    <a:latin typeface="Cambria Math" panose="02040503050406030204" pitchFamily="18" charset="0"/>
                  </a:rPr>
                  <a:t>/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2𝜅+𝑚𝜋</a:t>
                </a:r>
                <a:r>
                  <a:rPr lang="zh-TW" altLang="zh-TW" sz="1200" i="0">
                    <a:latin typeface="Cambria Math" panose="02040503050406030204" pitchFamily="18" charset="0"/>
                  </a:rPr>
                  <a:t>/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𝜅</a:t>
                </a:r>
                <a:r>
                  <a:rPr lang="zh-TW" altLang="zh-TW" sz="1200" i="0">
                    <a:latin typeface="Cambria Math" panose="02040503050406030204" pitchFamily="18" charset="0"/>
                  </a:rPr>
                  <a:t>，</a:t>
                </a:r>
                <a:r>
                  <a:rPr lang="zh-TW" altLang="en-US" sz="1200" dirty="0"/>
                  <a:t>當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𝑚=0,1,2…</a:t>
                </a:r>
                <a:r>
                  <a:rPr lang="zh-TW" altLang="en-US" sz="1200" dirty="0"/>
                  <a:t>，把</a:t>
                </a:r>
                <a:r>
                  <a:rPr lang="en-US" altLang="zh-TW" sz="1200" dirty="0"/>
                  <a:t>order</a:t>
                </a:r>
                <a:r>
                  <a:rPr lang="zh-TW" altLang="en-US" sz="1200" dirty="0"/>
                  <a:t>低值帶入</a:t>
                </a:r>
                <a:endParaRPr lang="en-US" altLang="zh-TW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1200" dirty="0"/>
                  <a:t>可以得到最短耦合長度</a:t>
                </a: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TW" alt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𝑙_𝑐</a:t>
                </a:r>
                <a:r>
                  <a:rPr lang="zh-TW" altLang="en-US" sz="1200" i="0">
                    <a:latin typeface="Cambria Math" panose="02040503050406030204" pitchFamily="18" charset="0"/>
                  </a:rPr>
                  <a:t>=𝜋/2𝜅</a:t>
                </a:r>
                <a:endParaRPr lang="en-US" altLang="zh-TW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1200" dirty="0"/>
                  <a:t>由以上可以整理出耦合條件，要達成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Crossover condition 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耦合區域長度必須是最小耦合長度的奇數倍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1200" dirty="0"/>
                  <a:t>要達成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Straight-through condition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，耦合區域長度必須是最小耦合長度的偶數倍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綜合以上要達到能量完全耦合條件有兩個，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第一為兩條完全相同波導，第二耦合區域必須是最小耦合長度奇數倍，所以製程參數非常敏感，製作出電控式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DC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利用電光效應來調製分光比。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dirty="0"/>
              </a:p>
              <a:p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85B65-3651-4044-854A-2F3E6480F6B2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9659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sz="1300" dirty="0" smtClean="0"/>
                  <a:t>絕熱耦合器的概念，可以透過</a:t>
                </a:r>
                <a:r>
                  <a:rPr lang="en-US" altLang="zh-TW" sz="1300" dirty="0" smtClean="0"/>
                  <a:t>STIRAP</a:t>
                </a:r>
                <a:r>
                  <a:rPr lang="zh-TW" altLang="en-US" sz="1300" dirty="0" smtClean="0"/>
                  <a:t>的概念來解釋，舉三波導結構為例，這即是一個</a:t>
                </a:r>
                <a:r>
                  <a:rPr lang="en-US" altLang="zh-TW" sz="1300" dirty="0" smtClean="0"/>
                  <a:t>delta</a:t>
                </a:r>
                <a:r>
                  <a:rPr lang="zh-TW" altLang="en-US" sz="1300" dirty="0" smtClean="0"/>
                  <a:t>型的</a:t>
                </a:r>
                <a:r>
                  <a:rPr lang="zh-TW" altLang="en-US" sz="1300" dirty="0" smtClean="0"/>
                  <a:t>三能階系統，利用兩道脈衝雷射在時間上的疊合以及絕熱過程的變化，使粒子從能階</a:t>
                </a:r>
                <a:r>
                  <a:rPr lang="en-US" altLang="zh-TW" sz="1300" dirty="0" smtClean="0"/>
                  <a:t>ψ1</a:t>
                </a:r>
                <a:r>
                  <a:rPr lang="zh-TW" altLang="en-US" sz="1300" dirty="0" smtClean="0"/>
                  <a:t>完全轉移到能階</a:t>
                </a:r>
                <a:r>
                  <a:rPr lang="en-US" altLang="zh-TW" sz="1300" dirty="0" smtClean="0"/>
                  <a:t>ψ3</a:t>
                </a:r>
                <a:r>
                  <a:rPr lang="zh-TW" altLang="en-US" sz="1300" dirty="0" smtClean="0"/>
                  <a:t>，而且能階</a:t>
                </a:r>
                <a:r>
                  <a:rPr lang="en-US" altLang="zh-TW" sz="1300" dirty="0" smtClean="0"/>
                  <a:t>ψ1</a:t>
                </a:r>
                <a:r>
                  <a:rPr lang="zh-TW" altLang="en-US" sz="1300" dirty="0" smtClean="0"/>
                  <a:t>與能階</a:t>
                </a:r>
                <a:r>
                  <a:rPr lang="en-US" altLang="zh-TW" sz="1300" dirty="0" smtClean="0"/>
                  <a:t>ψ3</a:t>
                </a:r>
                <a:r>
                  <a:rPr lang="zh-TW" altLang="en-US" sz="1300" dirty="0" smtClean="0"/>
                  <a:t>之間沒有直接的能量轉換</a:t>
                </a:r>
                <a:r>
                  <a:rPr lang="zh-TW" altLang="en-US" sz="1300" dirty="0" smtClean="0"/>
                  <a:t>。</a:t>
                </a:r>
                <a:endParaRPr lang="en-US" altLang="zh-TW" sz="1300" dirty="0" smtClean="0"/>
              </a:p>
              <a:p>
                <a:endParaRPr lang="en-US" altLang="zh-TW" sz="1300" dirty="0" smtClean="0"/>
              </a:p>
              <a:p>
                <a:r>
                  <a:rPr lang="en-US" altLang="zh-TW" sz="1200" b="0" i="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Stimulated Raman adiabatic passage</a:t>
                </a:r>
                <a:r>
                  <a:rPr lang="zh-TW" altLang="en-US" sz="1200" b="0" i="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受激拉曼絕熱傳遞</a:t>
                </a:r>
                <a:endParaRPr lang="en-US" altLang="zh-TW" sz="1300" dirty="0" smtClean="0"/>
              </a:p>
              <a:p>
                <a:endParaRPr lang="en-US" altLang="zh-TW" sz="1300" dirty="0" smtClean="0"/>
              </a:p>
              <a:p>
                <a:endParaRPr lang="en-US" altLang="zh-TW" sz="1300" dirty="0" smtClean="0"/>
              </a:p>
              <a:p>
                <a:r>
                  <a:rPr lang="en-US" altLang="zh-TW" sz="1300" dirty="0" smtClean="0"/>
                  <a:t>----</a:t>
                </a:r>
              </a:p>
              <a:p>
                <a:endParaRPr lang="en-US" altLang="zh-TW" sz="1300" dirty="0" smtClean="0"/>
              </a:p>
              <a:p>
                <a:endParaRPr lang="en-US" altLang="zh-TW" sz="1300" dirty="0" smtClean="0"/>
              </a:p>
              <a:p>
                <a:r>
                  <a:rPr lang="zh-TW" altLang="en-US" sz="1300" dirty="0" smtClean="0"/>
                  <a:t>本</a:t>
                </a:r>
                <a:r>
                  <a:rPr lang="zh-TW" altLang="en-US" sz="1300" dirty="0"/>
                  <a:t>實驗第二個設計結構，絕熱耦合器，右圖是一個三波導結構，三條波導分別</a:t>
                </a:r>
                <a14:m>
                  <m:oMath xmlns:m="http://schemas.openxmlformats.org/officeDocument/2006/math">
                    <m:r>
                      <a:rPr lang="zh-TW" altLang="en-US" sz="1300" dirty="0">
                        <a:latin typeface="Cambria Math" panose="02040503050406030204" pitchFamily="18" charset="0"/>
                      </a:rPr>
                      <m:t>為</m:t>
                    </m:r>
                    <m:sSub>
                      <m:sSub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TW" altLang="en-US" sz="1300" dirty="0"/>
                  <a:t>，長度為</a:t>
                </a:r>
                <a:r>
                  <a:rPr lang="en-US" altLang="zh-TW" sz="1300" dirty="0"/>
                  <a:t>l</a:t>
                </a:r>
                <a:r>
                  <a:rPr lang="zh-TW" altLang="en-US" sz="1300" dirty="0"/>
                  <a:t>，兩波導間間距為</a:t>
                </a:r>
                <a:r>
                  <a:rPr lang="en-US" altLang="zh-TW" sz="1300" dirty="0"/>
                  <a:t>G</a:t>
                </a:r>
                <a:r>
                  <a:rPr lang="zh-TW" altLang="en-US" sz="1300" dirty="0"/>
                  <a:t>及</a:t>
                </a:r>
                <a:r>
                  <a:rPr lang="en-US" altLang="zh-TW" sz="1300" dirty="0"/>
                  <a:t>g</a:t>
                </a:r>
                <a:r>
                  <a:rPr lang="zh-TW" altLang="en-US" sz="1300" dirty="0"/>
                  <a:t>。</a:t>
                </a:r>
                <a:endParaRPr lang="en-US" altLang="zh-TW" sz="1300" dirty="0"/>
              </a:p>
              <a:p>
                <a:r>
                  <a:rPr lang="zh-TW" altLang="en-US" sz="1300" dirty="0"/>
                  <a:t>我們利用</a:t>
                </a:r>
                <a:r>
                  <a:rPr lang="en-US" altLang="zh-TW" sz="1300" dirty="0"/>
                  <a:t>STIRAP</a:t>
                </a:r>
                <a:r>
                  <a:rPr lang="zh-TW" altLang="en-US" sz="1300" dirty="0"/>
                  <a:t>的概念來解釋，這是一個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zh-TW" alt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型</m:t>
                    </m:r>
                  </m:oMath>
                </a14:m>
                <a:r>
                  <a:rPr lang="zh-TW" altLang="en-US" sz="1300" dirty="0"/>
                  <a:t>三能階系統，利用兩道脈衝雷射在時間上的疊合以及絕熱過程的變化，使粒子從能階</a:t>
                </a:r>
                <a:r>
                  <a:rPr lang="en-US" altLang="zh-TW" sz="1300" dirty="0"/>
                  <a:t>ψ1</a:t>
                </a:r>
                <a:r>
                  <a:rPr lang="zh-TW" altLang="en-US" sz="1300" dirty="0"/>
                  <a:t>完全轉移到能階</a:t>
                </a:r>
                <a:r>
                  <a:rPr lang="en-US" altLang="zh-TW" sz="1300" dirty="0"/>
                  <a:t>ψ3</a:t>
                </a:r>
                <a:r>
                  <a:rPr lang="zh-TW" altLang="en-US" sz="1300" dirty="0"/>
                  <a:t>，而且能階</a:t>
                </a:r>
                <a:r>
                  <a:rPr lang="en-US" altLang="zh-TW" sz="1300" dirty="0"/>
                  <a:t>ψ1</a:t>
                </a:r>
                <a:r>
                  <a:rPr lang="zh-TW" altLang="en-US" sz="1300" dirty="0"/>
                  <a:t>與能階</a:t>
                </a:r>
                <a:r>
                  <a:rPr lang="en-US" altLang="zh-TW" sz="1300" dirty="0"/>
                  <a:t>ψ3</a:t>
                </a:r>
                <a:r>
                  <a:rPr lang="zh-TW" altLang="en-US" sz="1300" dirty="0"/>
                  <a:t>之間沒有直接的能量轉換，能階𝜓</a:t>
                </a:r>
                <a:r>
                  <a:rPr lang="en-US" altLang="zh-TW" sz="1300" dirty="0"/>
                  <a:t>1,2,3</a:t>
                </a:r>
                <a:r>
                  <a:rPr lang="zh-TW" altLang="en-US" sz="1300" dirty="0"/>
                  <a:t>對應到三波導的振幅狀態</a:t>
                </a:r>
                <a:endParaRPr lang="en-US" altLang="zh-TW" sz="1300" dirty="0"/>
              </a:p>
              <a:p>
                <a:pPr defTabSz="955613">
                  <a:defRPr/>
                </a:pPr>
                <a:r>
                  <a:rPr lang="zh-TW" altLang="en-US" sz="1300" dirty="0"/>
                  <a:t>由文獻中結果，絕熱條件為</a:t>
                </a:r>
                <a:r>
                  <a:rPr lang="zh-TW" altLang="en-US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：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zh-TW" altLang="en-US" sz="1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𝜅</m:t>
                        </m:r>
                      </m:den>
                    </m:f>
                    <m:r>
                      <a:rPr lang="en-US" altLang="zh-TW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≪</a:t>
                </a:r>
                <a:r>
                  <a:rPr lang="en-US" altLang="zh-TW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1 </a:t>
                </a:r>
                <a:r>
                  <a:rPr lang="zh-TW" altLang="en-US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𝜅</m:t>
                    </m:r>
                  </m:oMath>
                </a14:m>
                <a:r>
                  <a:rPr lang="zh-TW" altLang="en-US" sz="1300" dirty="0"/>
                  <a:t>為波導間的耦合常數，當傳播距離於</a:t>
                </a:r>
                <a:r>
                  <a:rPr lang="en-US" altLang="zh-TW" sz="1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TW" altLang="en-US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sz="1300" dirty="0"/>
                  <a:t>間耦合常數會等於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TW" altLang="en-US" sz="1300" dirty="0"/>
                  <a:t>的耦合常數等於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𝜅</m:t>
                    </m:r>
                  </m:oMath>
                </a14:m>
                <a:r>
                  <a:rPr lang="zh-TW" altLang="en-US" sz="1300" dirty="0"/>
                  <a:t>，</a:t>
                </a:r>
                <a:r>
                  <a:rPr lang="en-US" altLang="zh-TW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θ</a:t>
                </a:r>
                <a:r>
                  <a:rPr lang="zh-TW" altLang="en-US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sz="1300" dirty="0"/>
                  <a:t>的傾斜角，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1300" b="1" dirty="0">
                        <a:solidFill>
                          <a:srgbClr val="FF0000"/>
                        </a:solidFill>
                        <a:ea typeface="標楷體" panose="03000509000000000000" pitchFamily="65" charset="-120"/>
                      </a:rPr>
                      <m:t>Δ</m:t>
                    </m:r>
                    <m:r>
                      <m:rPr>
                        <m:nor/>
                      </m:rPr>
                      <a:rPr lang="zh-TW" altLang="el-GR" sz="1300" b="1" dirty="0">
                        <a:solidFill>
                          <a:srgbClr val="FF0000"/>
                        </a:solidFill>
                        <a:ea typeface="標楷體" panose="03000509000000000000" pitchFamily="65" charset="-120"/>
                      </a:rPr>
                      <m:t>𝑆</m:t>
                    </m:r>
                  </m:oMath>
                </a14:m>
                <a:r>
                  <a:rPr lang="zh-TW" altLang="en-US" sz="1300" dirty="0"/>
                  <a:t>為波導間的偏移量，整理出符合絕熱耦合條件時</a:t>
                </a:r>
                <a14:m>
                  <m:oMath xmlns:m="http://schemas.openxmlformats.org/officeDocument/2006/math">
                    <m:r>
                      <a:rPr lang="zh-TW" altLang="en-US" sz="13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1300" i="1" dirty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zh-TW" altLang="en-US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den>
                    </m:f>
                    <m:r>
                      <a:rPr lang="en-US" altLang="zh-TW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altLang="zh-TW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=</a:t>
                </a:r>
                <a:r>
                  <a:rPr lang="en-US" altLang="zh-TW" sz="1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altLang="zh-TW" sz="1300" dirty="0">
                            <a:solidFill>
                              <a:srgbClr val="000000"/>
                            </a:solidFill>
                            <a:ea typeface="標楷體" panose="03000509000000000000" pitchFamily="65" charset="-12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zh-TW" altLang="el-GR" sz="1300" dirty="0">
                            <a:solidFill>
                              <a:srgbClr val="000000"/>
                            </a:solidFill>
                            <a:ea typeface="標楷體" panose="03000509000000000000" pitchFamily="65" charset="-120"/>
                          </a:rPr>
                          <m:t>𝑆</m:t>
                        </m:r>
                      </m:num>
                      <m:den>
                        <m:r>
                          <m:rPr>
                            <m:nor/>
                          </m:rPr>
                          <a:rPr lang="zh-TW" altLang="el-GR" sz="1300" dirty="0">
                            <a:solidFill>
                              <a:srgbClr val="000000"/>
                            </a:solidFill>
                            <a:ea typeface="標楷體" panose="03000509000000000000" pitchFamily="65" charset="-12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l-GR" altLang="zh-TW" sz="1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κ</m:t>
                        </m:r>
                        <m:r>
                          <a:rPr lang="en-US" altLang="zh-TW" sz="1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den>
                    </m:f>
                    <m:r>
                      <a:rPr lang="en-US" altLang="zh-TW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altLang="zh-TW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≪1 </a:t>
                </a:r>
                <a:endParaRPr lang="en-US" altLang="zh-TW" sz="1300" dirty="0">
                  <a:solidFill>
                    <a:srgbClr val="000000"/>
                  </a:solidFill>
                  <a:ea typeface="標楷體" panose="03000509000000000000" pitchFamily="65" charset="-120"/>
                </a:endParaRPr>
              </a:p>
              <a:p>
                <a:pPr defTabSz="955613">
                  <a:defRPr/>
                </a:pPr>
                <a:endParaRPr lang="en-US" altLang="zh-TW" sz="1300" dirty="0">
                  <a:solidFill>
                    <a:srgbClr val="000000"/>
                  </a:solidFill>
                  <a:ea typeface="標楷體" panose="03000509000000000000" pitchFamily="65" charset="-120"/>
                </a:endParaRPr>
              </a:p>
              <a:p>
                <a:pPr defTabSz="955613">
                  <a:defRPr/>
                </a:pPr>
                <a:endParaRPr lang="en-US" altLang="zh-TW" sz="1300" dirty="0">
                  <a:solidFill>
                    <a:srgbClr val="000000"/>
                  </a:solidFill>
                  <a:ea typeface="標楷體" panose="03000509000000000000" pitchFamily="65" charset="-120"/>
                </a:endParaRPr>
              </a:p>
              <a:p>
                <a:pPr defTabSz="955613">
                  <a:defRPr/>
                </a:pPr>
                <a:endParaRPr lang="en-US" altLang="zh-TW" sz="1300" dirty="0">
                  <a:solidFill>
                    <a:srgbClr val="000000"/>
                  </a:solidFill>
                  <a:ea typeface="標楷體" panose="03000509000000000000" pitchFamily="65" charset="-120"/>
                </a:endParaRPr>
              </a:p>
              <a:p>
                <a:pPr defTabSz="955613">
                  <a:defRPr/>
                </a:pPr>
                <a:endParaRPr lang="en-US" altLang="zh-TW" sz="1300" dirty="0"/>
              </a:p>
              <a:p>
                <a:pPr defTabSz="955613">
                  <a:defRPr/>
                </a:pPr>
                <a:r>
                  <a:rPr lang="en-US" altLang="zh-TW" sz="1300" dirty="0"/>
                  <a:t>1) </a:t>
                </a:r>
                <a:r>
                  <a:rPr lang="zh-TW" altLang="en-US" sz="1300" dirty="0"/>
                  <a:t>藉由第二道斯托克雷射我們可以誘導粒子數落在所想要的能階</a:t>
                </a:r>
                <a:endParaRPr lang="en-US" altLang="zh-TW" sz="1300" dirty="0"/>
              </a:p>
              <a:p>
                <a:pPr defTabSz="955613">
                  <a:defRPr/>
                </a:pPr>
                <a:r>
                  <a:rPr lang="en-US" altLang="zh-TW" sz="1300" dirty="0"/>
                  <a:t>2)</a:t>
                </a:r>
                <a:r>
                  <a:rPr lang="zh-TW" altLang="en-US" sz="1300" dirty="0"/>
                  <a:t> 調整兩道脈衝雷射的脈衝面積得到</a:t>
                </a:r>
                <a:r>
                  <a:rPr lang="en-US" altLang="zh-TW" sz="1300" dirty="0"/>
                  <a:t>ψ1</a:t>
                </a:r>
                <a:r>
                  <a:rPr lang="zh-TW" altLang="en-US" sz="1300" dirty="0"/>
                  <a:t>及</a:t>
                </a:r>
                <a:r>
                  <a:rPr lang="en-US" altLang="zh-TW" sz="1300" dirty="0"/>
                  <a:t>ψ3</a:t>
                </a:r>
                <a:r>
                  <a:rPr lang="zh-TW" altLang="en-US" sz="1300" dirty="0"/>
                  <a:t>粒子數比例</a:t>
                </a:r>
                <a:endParaRPr lang="en-US" altLang="zh-TW" sz="1300" dirty="0"/>
              </a:p>
              <a:p>
                <a:endParaRPr lang="en-US" altLang="zh-TW" sz="1300" dirty="0"/>
              </a:p>
              <a:p>
                <a:endParaRPr lang="en-US" altLang="zh-TW" sz="1300" dirty="0"/>
              </a:p>
              <a:p>
                <a:endParaRPr lang="en-US" altLang="zh-TW" sz="1300" dirty="0"/>
              </a:p>
              <a:p>
                <a:endParaRPr lang="en-US" altLang="zh-TW" sz="1300" dirty="0"/>
              </a:p>
              <a:p>
                <a:endParaRPr lang="en-US" altLang="zh-TW" sz="1300" dirty="0"/>
              </a:p>
              <a:p>
                <a:r>
                  <a:rPr lang="zh-TW" altLang="en-US" sz="1300" dirty="0"/>
                  <a:t>能階𝜓</a:t>
                </a:r>
                <a:r>
                  <a:rPr lang="en-US" altLang="zh-TW" sz="1300" dirty="0"/>
                  <a:t>1,2,3</a:t>
                </a:r>
                <a:r>
                  <a:rPr lang="zh-TW" altLang="en-US" sz="1300" dirty="0"/>
                  <a:t>對應到三波導的振幅狀態；</a:t>
                </a:r>
                <a:endParaRPr lang="en-US" altLang="zh-TW" sz="1300" dirty="0"/>
              </a:p>
              <a:p>
                <a:r>
                  <a:rPr lang="zh-TW" altLang="en-US" sz="1300" dirty="0"/>
                  <a:t>拉比頻率</a:t>
                </a:r>
                <a:r>
                  <a:rPr lang="en-US" altLang="zh-TW" sz="1300" dirty="0"/>
                  <a:t>Ω</a:t>
                </a:r>
                <a:r>
                  <a:rPr lang="zh-TW" altLang="en-US" sz="1300" dirty="0"/>
                  <a:t>𝑆和</a:t>
                </a:r>
                <a:r>
                  <a:rPr lang="en-US" altLang="zh-TW" sz="1300" dirty="0"/>
                  <a:t>Ω</a:t>
                </a:r>
                <a:r>
                  <a:rPr lang="zh-TW" altLang="en-US" sz="1300" dirty="0"/>
                  <a:t>𝑃對應到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sz="1300" dirty="0"/>
                  <a:t>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TW" altLang="en-US" sz="1300" dirty="0"/>
                  <a:t>間的耦合係數；</a:t>
                </a:r>
                <a:endParaRPr lang="en-US" altLang="zh-TW" sz="1300" dirty="0"/>
              </a:p>
              <a:p>
                <a:r>
                  <a:rPr lang="zh-TW" altLang="en-US" sz="1300" dirty="0"/>
                  <a:t>而共振誤差</a:t>
                </a:r>
                <a:r>
                  <a:rPr lang="en-US" altLang="zh-TW" sz="1300" dirty="0"/>
                  <a:t>Δ</a:t>
                </a:r>
                <a:r>
                  <a:rPr lang="zh-TW" altLang="en-US" sz="1300" dirty="0"/>
                  <a:t>對應波導間的傳播常數的差值，因此能夠將</a:t>
                </a:r>
                <a:r>
                  <a:rPr lang="en-US" altLang="zh-TW" sz="1300" dirty="0"/>
                  <a:t>STIRAP</a:t>
                </a:r>
                <a:r>
                  <a:rPr lang="zh-TW" altLang="en-US" sz="1300" dirty="0"/>
                  <a:t>的概念運用在波導設計之中</a:t>
                </a:r>
                <a:endParaRPr lang="en-US" altLang="zh-TW" sz="1300" dirty="0"/>
              </a:p>
              <a:p>
                <a:endParaRPr lang="en-US" altLang="zh-TW" sz="1300" dirty="0"/>
              </a:p>
              <a:p>
                <a:r>
                  <a:rPr lang="zh-TW" altLang="en-US" sz="1300" dirty="0"/>
                  <a:t>光沿</a:t>
                </a:r>
                <a:r>
                  <a:rPr lang="en-US" altLang="zh-TW" sz="1300" dirty="0"/>
                  <a:t>x</a:t>
                </a:r>
                <a:r>
                  <a:rPr lang="zh-TW" altLang="en-US" sz="1300" dirty="0"/>
                  <a:t>方向傳遞，在入口端時</a:t>
                </a:r>
                <a:r>
                  <a:rPr lang="en-US" altLang="zh-TW" sz="1300" dirty="0"/>
                  <a:t>x=0</a:t>
                </a:r>
                <a:r>
                  <a:rPr lang="zh-TW" altLang="en-US" sz="1300" dirty="0"/>
                  <a:t>，在出口端時</a:t>
                </a:r>
                <a:r>
                  <a:rPr lang="en-US" altLang="zh-TW" sz="1300" dirty="0"/>
                  <a:t>x=L</a:t>
                </a:r>
                <a:r>
                  <a:rPr lang="zh-TW" altLang="en-US" sz="1300" dirty="0"/>
                  <a:t>，波導線寬</a:t>
                </a:r>
                <a:r>
                  <a:rPr lang="en-US" altLang="zh-TW" sz="1300" dirty="0"/>
                  <a:t>W</a:t>
                </a:r>
                <a:r>
                  <a:rPr lang="zh-TW" altLang="en-US" sz="1300" dirty="0"/>
                  <a:t>，兩外側波導間距</a:t>
                </a:r>
                <a:r>
                  <a:rPr lang="en-US" altLang="zh-TW" sz="1300" dirty="0"/>
                  <a:t>G</a:t>
                </a:r>
                <a:r>
                  <a:rPr lang="zh-TW" altLang="en-US" sz="1300" dirty="0"/>
                  <a:t>、</a:t>
                </a:r>
                <a:r>
                  <a:rPr lang="en-US" altLang="zh-TW" sz="1300" dirty="0"/>
                  <a:t>g</a:t>
                </a:r>
                <a:r>
                  <a:rPr lang="zh-TW" altLang="en-US" sz="1300" dirty="0"/>
                  <a:t>，波導長度</a:t>
                </a:r>
                <a:r>
                  <a:rPr lang="en-US" altLang="zh-TW" sz="1300" dirty="0"/>
                  <a:t>L</a:t>
                </a:r>
                <a:endParaRPr lang="zh-TW" altLang="en-US" sz="1300" dirty="0"/>
              </a:p>
              <a:p>
                <a:r>
                  <a:rPr lang="zh-TW" altLang="en-US" sz="1300" dirty="0"/>
                  <a:t>定義電場振幅為𝑎𝑛 </a:t>
                </a:r>
                <a:r>
                  <a:rPr lang="en-US" altLang="zh-TW" sz="1300" dirty="0"/>
                  <a:t>,n=1,2,3</a:t>
                </a:r>
                <a:r>
                  <a:rPr lang="zh-TW" altLang="en-US" sz="1300" dirty="0"/>
                  <a:t>分別對應到三條波導，假設波導</a:t>
                </a:r>
                <a:r>
                  <a:rPr lang="en-US" altLang="zh-TW" sz="1300" dirty="0"/>
                  <a:t>1</a:t>
                </a:r>
                <a:r>
                  <a:rPr lang="zh-TW" altLang="en-US" sz="1300" dirty="0"/>
                  <a:t>與波導</a:t>
                </a:r>
                <a:r>
                  <a:rPr lang="en-US" altLang="zh-TW" sz="1300" dirty="0"/>
                  <a:t>3</a:t>
                </a:r>
                <a:r>
                  <a:rPr lang="zh-TW" altLang="en-US" sz="1300" dirty="0"/>
                  <a:t>之間沒有直接的能量交流，三條波導之間的耦合方程式可以表示為</a:t>
                </a:r>
                <a:endParaRPr lang="en-US" altLang="zh-TW" sz="1300" dirty="0"/>
              </a:p>
              <a:p>
                <a:r>
                  <a:rPr lang="zh-TW" altLang="en-US" sz="1300" dirty="0"/>
                  <a:t>𝛽𝑛 </a:t>
                </a:r>
                <a:r>
                  <a:rPr lang="en-US" altLang="zh-TW" sz="1300" dirty="0"/>
                  <a:t>=</a:t>
                </a:r>
                <a:r>
                  <a:rPr lang="zh-TW" altLang="en-US" sz="1300" dirty="0"/>
                  <a:t>傳播常數，分別對應到三條波導，而𝑘𝑛𝑚</a:t>
                </a:r>
                <a:r>
                  <a:rPr lang="en-US" altLang="zh-TW" sz="1300" dirty="0"/>
                  <a:t>(</a:t>
                </a:r>
                <a:r>
                  <a:rPr lang="zh-TW" altLang="en-US" sz="1300" dirty="0"/>
                  <a:t>𝑥</a:t>
                </a:r>
                <a:r>
                  <a:rPr lang="en-US" altLang="zh-TW" sz="1300" dirty="0"/>
                  <a:t>) </a:t>
                </a:r>
                <a:r>
                  <a:rPr lang="zh-TW" altLang="en-US" sz="1300" dirty="0"/>
                  <a:t>波導之間漸變的耦合係數，在通常不考慮損耗的情形下，兩條波導間的耦合係數都相等𝑘𝑛𝑚</a:t>
                </a:r>
                <a:r>
                  <a:rPr lang="en-US" altLang="zh-TW" sz="1300" dirty="0"/>
                  <a:t>(</a:t>
                </a:r>
                <a:r>
                  <a:rPr lang="zh-TW" altLang="en-US" sz="1300" dirty="0"/>
                  <a:t>𝑥</a:t>
                </a:r>
                <a:r>
                  <a:rPr lang="en-US" altLang="zh-TW" sz="1300" dirty="0"/>
                  <a:t>)=</a:t>
                </a:r>
                <a:r>
                  <a:rPr lang="zh-TW" altLang="en-US" sz="1300" dirty="0"/>
                  <a:t>𝑘𝑚𝑛</a:t>
                </a:r>
                <a:r>
                  <a:rPr lang="en-US" altLang="zh-TW" sz="1300" dirty="0"/>
                  <a:t>(</a:t>
                </a:r>
                <a:r>
                  <a:rPr lang="zh-TW" altLang="en-US" sz="1300" dirty="0"/>
                  <a:t>𝑥</a:t>
                </a:r>
                <a:r>
                  <a:rPr lang="en-US" altLang="zh-TW" sz="1300" dirty="0"/>
                  <a:t>)</a:t>
                </a:r>
                <a:r>
                  <a:rPr lang="zh-TW" altLang="en-US" sz="1300" dirty="0"/>
                  <a:t>假設兩波導的傳播常數完全相同，得到𝛽</a:t>
                </a:r>
                <a:r>
                  <a:rPr lang="en-US" altLang="zh-TW" sz="1300" dirty="0"/>
                  <a:t>1=</a:t>
                </a:r>
                <a:r>
                  <a:rPr lang="zh-TW" altLang="en-US" sz="1300" dirty="0"/>
                  <a:t>𝛽</a:t>
                </a:r>
                <a:r>
                  <a:rPr lang="en-US" altLang="zh-TW" sz="1300" dirty="0"/>
                  <a:t>3=</a:t>
                </a:r>
                <a:r>
                  <a:rPr lang="zh-TW" altLang="en-US" sz="1300" dirty="0"/>
                  <a:t>𝛽，然後將電場振幅的相位項展開並假設𝑎𝑛</a:t>
                </a:r>
                <a:r>
                  <a:rPr lang="en-US" altLang="zh-TW" sz="1300" dirty="0"/>
                  <a:t>=</a:t>
                </a:r>
                <a:r>
                  <a:rPr lang="zh-TW" altLang="en-US" sz="1300" dirty="0"/>
                  <a:t>𝑏𝑛𝑒−𝑖𝛽，將三波導耦合方程式整理成矩陣形式。</a:t>
                </a:r>
                <a:endParaRPr lang="en-US" altLang="zh-TW" sz="1300" dirty="0"/>
              </a:p>
              <a:p>
                <a:endParaRPr lang="en-US" altLang="zh-TW" sz="1300" dirty="0"/>
              </a:p>
              <a:p>
                <a:r>
                  <a:rPr lang="zh-TW" altLang="zh-TW" sz="1300" dirty="0"/>
                  <a:t>接著引入特徵值問題，利用</a:t>
                </a:r>
                <a:r>
                  <a:rPr lang="zh-TW" altLang="en-US" sz="1300" dirty="0"/>
                  <a:t>下</a:t>
                </a:r>
                <a:r>
                  <a:rPr lang="zh-TW" altLang="zh-TW" sz="1300" dirty="0"/>
                  <a:t>式求出特徵值及特徵態。</a:t>
                </a:r>
                <a:endParaRPr lang="en-US" altLang="zh-TW" sz="1300" dirty="0"/>
              </a:p>
              <a:p>
                <a:r>
                  <a:rPr lang="zh-TW" altLang="en-US" sz="1300" dirty="0"/>
                  <a:t>求特徵值解</a:t>
                </a:r>
                <a:r>
                  <a:rPr lang="en-US" altLang="zh-TW" sz="1300" dirty="0"/>
                  <a:t>λ0(</a:t>
                </a:r>
                <a:r>
                  <a:rPr lang="zh-TW" altLang="en-US" sz="1300" dirty="0"/>
                  <a:t>𝑥</a:t>
                </a:r>
                <a:r>
                  <a:rPr lang="en-US" altLang="zh-TW" sz="1300" dirty="0"/>
                  <a:t>)</a:t>
                </a:r>
                <a:r>
                  <a:rPr lang="zh-TW" altLang="en-US" sz="1300" dirty="0"/>
                  <a:t>、</a:t>
                </a:r>
                <a:r>
                  <a:rPr lang="en-US" altLang="zh-TW" sz="1300" dirty="0"/>
                  <a:t>λ</a:t>
                </a:r>
                <a14:m>
                  <m:oMath xmlns:m="http://schemas.openxmlformats.org/officeDocument/2006/math">
                    <m:r>
                      <a:rPr lang="en-US" altLang="zh-TW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altLang="zh-TW" sz="1300" dirty="0"/>
                  <a:t>(</a:t>
                </a:r>
                <a:r>
                  <a:rPr lang="zh-TW" altLang="en-US" sz="1300" dirty="0"/>
                  <a:t>𝑥</a:t>
                </a:r>
                <a:r>
                  <a:rPr lang="en-US" altLang="zh-TW" sz="1300" dirty="0"/>
                  <a:t>)</a:t>
                </a:r>
                <a:r>
                  <a:rPr lang="zh-TW" altLang="en-US" sz="1300" dirty="0"/>
                  <a:t>，帶回求三個特徵態𝜓</a:t>
                </a:r>
                <a:r>
                  <a:rPr lang="en-US" altLang="zh-TW" sz="1300" dirty="0"/>
                  <a:t>0(</a:t>
                </a:r>
                <a:r>
                  <a:rPr lang="zh-TW" altLang="en-US" sz="1300" dirty="0"/>
                  <a:t>𝑥</a:t>
                </a:r>
                <a:r>
                  <a:rPr lang="en-US" altLang="zh-TW" sz="1300" dirty="0"/>
                  <a:t>)</a:t>
                </a:r>
                <a:r>
                  <a:rPr lang="zh-TW" altLang="en-US" sz="1300" dirty="0"/>
                  <a:t>，而</a:t>
                </a:r>
                <a:r>
                  <a:rPr lang="en-US" altLang="zh-TW" sz="1300" dirty="0"/>
                  <a:t>λ0(</a:t>
                </a:r>
                <a:r>
                  <a:rPr lang="zh-TW" altLang="en-US" sz="1300" dirty="0"/>
                  <a:t>𝑥</a:t>
                </a:r>
                <a:r>
                  <a:rPr lang="en-US" altLang="zh-TW" sz="1300" dirty="0"/>
                  <a:t>)</a:t>
                </a:r>
                <a:r>
                  <a:rPr lang="zh-TW" altLang="en-US" sz="1300" dirty="0"/>
                  <a:t>所得到的特徵態𝜓</a:t>
                </a:r>
                <a:r>
                  <a:rPr lang="en-US" altLang="zh-TW" sz="1300" dirty="0"/>
                  <a:t>0(</a:t>
                </a:r>
                <a:r>
                  <a:rPr lang="zh-TW" altLang="en-US" sz="1300" dirty="0"/>
                  <a:t>𝑥</a:t>
                </a:r>
                <a:r>
                  <a:rPr lang="en-US" altLang="zh-TW" sz="1300" dirty="0"/>
                  <a:t>)</a:t>
                </a:r>
                <a:r>
                  <a:rPr lang="zh-TW" altLang="en-US" sz="1300" dirty="0"/>
                  <a:t>是</a:t>
                </a:r>
                <a:r>
                  <a:rPr lang="en-US" altLang="zh-TW" sz="1300" dirty="0"/>
                  <a:t>STIRAP</a:t>
                </a:r>
                <a:r>
                  <a:rPr lang="zh-TW" altLang="en-US" sz="1300" dirty="0"/>
                  <a:t>所期望的結果，其特徵態𝜓</a:t>
                </a:r>
                <a:r>
                  <a:rPr lang="en-US" altLang="zh-TW" sz="1300" dirty="0"/>
                  <a:t>0(</a:t>
                </a:r>
                <a:r>
                  <a:rPr lang="zh-TW" altLang="en-US" sz="1300" dirty="0"/>
                  <a:t>𝑥</a:t>
                </a:r>
                <a:r>
                  <a:rPr lang="en-US" altLang="zh-TW" sz="1300" dirty="0"/>
                  <a:t>)</a:t>
                </a:r>
                <a:r>
                  <a:rPr lang="zh-TW" altLang="en-US" sz="1300" dirty="0"/>
                  <a:t>隨傳播方向行進的電場分布形式為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sz="130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TW" altLang="en-US" sz="1300" dirty="0"/>
                  <a:t>線性疊加的結果，在此傳播過程中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𝑊𝐺</m:t>
                        </m:r>
                      </m:e>
                      <m:sub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sz="1300" dirty="0"/>
                  <a:t>沒有被激發。</a:t>
                </a:r>
                <a:endParaRPr lang="en-US" altLang="zh-TW" sz="1300" dirty="0"/>
              </a:p>
              <a:p>
                <a:pPr defTabSz="955613">
                  <a:defRPr/>
                </a:pPr>
                <a:r>
                  <a:rPr lang="zh-TW" altLang="en-US" sz="1300" dirty="0"/>
                  <a:t>而在整個傳播過程中，如果滿足絕熱過程的條件，在整個傳遞過程中只讓特徵態𝜓</a:t>
                </a:r>
                <a:r>
                  <a:rPr lang="en-US" altLang="zh-TW" sz="1300" dirty="0"/>
                  <a:t>0(</a:t>
                </a:r>
                <a:r>
                  <a:rPr lang="zh-TW" altLang="en-US" sz="1300" dirty="0"/>
                  <a:t>𝑥</a:t>
                </a:r>
                <a:r>
                  <a:rPr lang="en-US" altLang="zh-TW" sz="1300" dirty="0"/>
                  <a:t>)</a:t>
                </a:r>
                <a:r>
                  <a:rPr lang="zh-TW" altLang="en-US" sz="1300" dirty="0"/>
                  <a:t>受到激發而抑制𝜓</a:t>
                </a:r>
                <a:r>
                  <a:rPr lang="en-US" altLang="zh-TW" sz="1300" dirty="0"/>
                  <a:t>±(</a:t>
                </a:r>
                <a:r>
                  <a:rPr lang="zh-TW" altLang="en-US" sz="1300" dirty="0"/>
                  <a:t>𝑥</a:t>
                </a:r>
                <a:r>
                  <a:rPr lang="en-US" altLang="zh-TW" sz="1300" dirty="0"/>
                  <a:t>)</a:t>
                </a:r>
                <a:r>
                  <a:rPr lang="zh-TW" altLang="en-US" sz="1300" dirty="0"/>
                  <a:t>的產生，就是參數設計部分。</a:t>
                </a:r>
                <a:endParaRPr lang="en-US" altLang="zh-TW" sz="1300" dirty="0"/>
              </a:p>
              <a:p>
                <a:r>
                  <a:rPr lang="zh-TW" altLang="en-US" sz="1300" dirty="0"/>
                  <a:t>藉由設計𝑘</a:t>
                </a:r>
                <a:r>
                  <a:rPr lang="en-US" altLang="zh-TW" sz="1300" dirty="0"/>
                  <a:t>12(</a:t>
                </a:r>
                <a:r>
                  <a:rPr lang="zh-TW" altLang="en-US" sz="1300" dirty="0"/>
                  <a:t>𝑥</a:t>
                </a:r>
                <a:r>
                  <a:rPr lang="en-US" altLang="zh-TW" sz="1300" dirty="0"/>
                  <a:t>)</a:t>
                </a:r>
                <a:r>
                  <a:rPr lang="zh-TW" altLang="en-US" sz="1300" dirty="0"/>
                  <a:t>和𝑘</a:t>
                </a:r>
                <a:r>
                  <a:rPr lang="en-US" altLang="zh-TW" sz="1300" dirty="0"/>
                  <a:t>23(</a:t>
                </a:r>
                <a:r>
                  <a:rPr lang="zh-TW" altLang="en-US" sz="1300" dirty="0"/>
                  <a:t>𝑥</a:t>
                </a:r>
                <a:r>
                  <a:rPr lang="en-US" altLang="zh-TW" sz="1300" dirty="0"/>
                  <a:t>)</a:t>
                </a:r>
                <a:r>
                  <a:rPr lang="zh-TW" altLang="en-US" sz="1300" dirty="0"/>
                  <a:t>的變化去選擇激發特定的特徵態。</a:t>
                </a:r>
                <a:endParaRPr lang="en-US" altLang="zh-TW" sz="1300" dirty="0"/>
              </a:p>
              <a:p>
                <a:r>
                  <a:rPr lang="zh-TW" altLang="en-US" sz="1300" dirty="0"/>
                  <a:t>文獻</a:t>
                </a:r>
                <a:r>
                  <a:rPr lang="en-US" altLang="zh-TW" sz="1300" dirty="0"/>
                  <a:t>[2.11]</a:t>
                </a:r>
                <a:r>
                  <a:rPr lang="zh-TW" altLang="en-US" sz="1300" dirty="0"/>
                  <a:t>中提及</a:t>
                </a:r>
                <a:r>
                  <a:rPr lang="en-US" altLang="zh-TW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Adiabatic condition</a:t>
                </a:r>
                <a:r>
                  <a:rPr lang="zh-TW" altLang="en-US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：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altLang="zh-TW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≪</a:t>
                </a:r>
                <a:r>
                  <a:rPr lang="en-US" altLang="zh-TW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1 </a:t>
                </a:r>
              </a:p>
              <a:p>
                <a:r>
                  <a:rPr lang="en-US" altLang="zh-TW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K=</a:t>
                </a:r>
                <a:r>
                  <a:rPr lang="en-US" altLang="zh-TW" sz="1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TW" altLang="en-US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sz="1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𝐾</m:t>
                        </m:r>
                      </m:e>
                      <m:sub>
                        <m:r>
                          <a:rPr lang="en-US" altLang="zh-TW" sz="1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12</m:t>
                        </m:r>
                      </m:sub>
                    </m:sSub>
                    <m:r>
                      <a:rPr lang="en-US" altLang="zh-TW" sz="13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=</m:t>
                    </m:r>
                    <m:sSub>
                      <m:sSubPr>
                        <m:ctrlPr>
                          <a:rPr lang="en-US" altLang="zh-TW" sz="1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sz="1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𝐾</m:t>
                        </m:r>
                      </m:e>
                      <m:sub>
                        <m:r>
                          <a:rPr lang="en-US" altLang="zh-TW" sz="1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23</m:t>
                        </m:r>
                      </m:sub>
                    </m:sSub>
                    <m:r>
                      <a:rPr lang="en-US" altLang="zh-TW" sz="13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=</m:t>
                    </m:r>
                    <m:r>
                      <a:rPr lang="en-US" altLang="zh-TW" sz="13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𝐾</m:t>
                    </m:r>
                  </m:oMath>
                </a14:m>
                <a:r>
                  <a:rPr lang="zh-TW" altLang="en-US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，</a:t>
                </a:r>
                <a:r>
                  <a:rPr lang="en-US" altLang="zh-TW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α=</a:t>
                </a:r>
                <a:r>
                  <a:rPr lang="zh-TW" altLang="en-US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𝜃𝑟</a:t>
                </a:r>
                <a:endParaRPr lang="en-US" altLang="zh-TW" sz="1300" dirty="0">
                  <a:solidFill>
                    <a:srgbClr val="000000"/>
                  </a:solidFill>
                  <a:ea typeface="標楷體" panose="03000509000000000000" pitchFamily="65" charset="-120"/>
                </a:endParaRPr>
              </a:p>
              <a:p>
                <a:r>
                  <a:rPr lang="en-US" altLang="zh-TW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Adiabatic parameters</a:t>
                </a:r>
                <a:r>
                  <a:rPr lang="zh-TW" altLang="en-US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，</a:t>
                </a:r>
                <a:r>
                  <a:rPr lang="en-US" altLang="zh-TW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θ=</a:t>
                </a:r>
                <a:r>
                  <a:rPr lang="en-US" altLang="zh-TW" sz="1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altLang="zh-TW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=</a:t>
                </a:r>
                <a:r>
                  <a:rPr lang="en-US" altLang="zh-TW" sz="1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altLang="zh-TW" sz="1300" dirty="0">
                            <a:solidFill>
                              <a:srgbClr val="000000"/>
                            </a:solidFill>
                            <a:ea typeface="標楷體" panose="03000509000000000000" pitchFamily="65" charset="-12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zh-TW" altLang="el-GR" sz="1300" dirty="0">
                            <a:solidFill>
                              <a:srgbClr val="000000"/>
                            </a:solidFill>
                            <a:ea typeface="標楷體" panose="03000509000000000000" pitchFamily="65" charset="-120"/>
                          </a:rPr>
                          <m:t>𝑆</m:t>
                        </m:r>
                      </m:num>
                      <m:den>
                        <m:r>
                          <m:rPr>
                            <m:nor/>
                          </m:rPr>
                          <a:rPr lang="zh-TW" altLang="el-GR" sz="1300" dirty="0">
                            <a:solidFill>
                              <a:srgbClr val="000000"/>
                            </a:solidFill>
                            <a:ea typeface="標楷體" panose="03000509000000000000" pitchFamily="65" charset="-120"/>
                          </a:rPr>
                          <m:t>𝐿</m:t>
                        </m:r>
                      </m:den>
                    </m:f>
                  </m:oMath>
                </a14:m>
                <a:r>
                  <a:rPr lang="zh-TW" altLang="en-US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，</a:t>
                </a:r>
                <a:endParaRPr lang="en-US" altLang="zh-TW" sz="1300" dirty="0">
                  <a:solidFill>
                    <a:srgbClr val="000000"/>
                  </a:solidFill>
                  <a:ea typeface="標楷體" panose="03000509000000000000" pitchFamily="65" charset="-120"/>
                </a:endParaRPr>
              </a:p>
              <a:p>
                <a:r>
                  <a:rPr lang="en-US" altLang="zh-TW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r: Fabrication constant</a:t>
                </a:r>
              </a:p>
              <a:p>
                <a:r>
                  <a:rPr lang="en-US" altLang="zh-TW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Adiabatic condition</a:t>
                </a:r>
                <a:r>
                  <a:rPr lang="zh-TW" altLang="en-US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：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altLang="zh-TW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altLang="zh-TW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=</a:t>
                </a:r>
                <a:r>
                  <a:rPr lang="en-US" altLang="zh-TW" sz="1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altLang="zh-TW" sz="1300" dirty="0">
                            <a:solidFill>
                              <a:srgbClr val="000000"/>
                            </a:solidFill>
                            <a:ea typeface="標楷體" panose="03000509000000000000" pitchFamily="65" charset="-12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zh-TW" altLang="el-GR" sz="1300" dirty="0">
                            <a:solidFill>
                              <a:srgbClr val="000000"/>
                            </a:solidFill>
                            <a:ea typeface="標楷體" panose="03000509000000000000" pitchFamily="65" charset="-120"/>
                          </a:rPr>
                          <m:t>𝑆</m:t>
                        </m:r>
                      </m:num>
                      <m:den>
                        <m:r>
                          <m:rPr>
                            <m:nor/>
                          </m:rPr>
                          <a:rPr lang="zh-TW" altLang="el-GR" sz="1300" dirty="0">
                            <a:solidFill>
                              <a:srgbClr val="000000"/>
                            </a:solidFill>
                            <a:ea typeface="標楷體" panose="03000509000000000000" pitchFamily="65" charset="-120"/>
                          </a:rPr>
                          <m:t>𝑟𝑘𝐿</m:t>
                        </m:r>
                      </m:den>
                    </m:f>
                    <m:r>
                      <a:rPr lang="en-US" altLang="zh-TW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altLang="zh-TW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≪1 </a:t>
                </a:r>
                <a:r>
                  <a:rPr lang="zh-TW" altLang="en-US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TW" sz="1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altLang="zh-TW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</m:oMath>
                </a14:m>
                <a:r>
                  <a:rPr lang="en-US" altLang="zh-TW" sz="1300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0.2 [2.10]</a:t>
                </a:r>
                <a:endParaRPr lang="zh-TW" altLang="en-US" sz="1300" dirty="0"/>
              </a:p>
              <a:p>
                <a:endParaRPr lang="en-US" altLang="zh-TW" sz="1300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能階𝜓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1,2,3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對應到三波導的振幅狀態；</a:t>
                </a:r>
                <a:endParaRPr lang="en-US" altLang="zh-TW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拉比頻率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Ω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𝑆和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Ω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𝑃對應到</a:t>
                </a:r>
                <a:r>
                  <a:rPr lang="en-US" altLang="zh-TW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altLang="zh-TW" sz="1200" b="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𝑊𝐺〗_</a:t>
                </a:r>
                <a:r>
                  <a:rPr lang="en-US" altLang="zh-TW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與</a:t>
                </a:r>
                <a:r>
                  <a:rPr lang="en-US" altLang="zh-TW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altLang="zh-TW" sz="1200" b="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𝑊𝐺〗_3</a:t>
                </a:r>
                <a:r>
                  <a:rPr lang="zh-TW" altLang="en-US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，</a:t>
                </a:r>
                <a:r>
                  <a:rPr lang="en-US" altLang="zh-TW" sz="1200" b="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𝐾</a:t>
                </a:r>
                <a:r>
                  <a:rPr lang="zh-TW" altLang="en-US" sz="1200" b="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為</a:t>
                </a:r>
                <a:r>
                  <a:rPr lang="en-US" altLang="zh-TW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altLang="zh-TW" sz="1200" b="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𝑊𝐺〗_</a:t>
                </a:r>
                <a:r>
                  <a:rPr lang="en-US" altLang="zh-TW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、</a:t>
                </a:r>
                <a:r>
                  <a:rPr lang="en-US" altLang="zh-TW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altLang="zh-TW" sz="1200" b="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𝑊𝐺〗_2</a:t>
                </a:r>
                <a:r>
                  <a:rPr lang="zh-TW" altLang="en-US" sz="1200" b="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zh-TW" altLang="en-US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、</a:t>
                </a:r>
                <a:r>
                  <a:rPr lang="en-US" altLang="zh-TW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altLang="zh-TW" sz="1200" b="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𝑊𝐺〗_3</a:t>
                </a:r>
                <a:r>
                  <a:rPr lang="zh-TW" altLang="en-US" sz="1200" b="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zh-TW" altLang="en-US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的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耦合係數；</a:t>
                </a:r>
                <a:endParaRPr lang="en-US" altLang="zh-TW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而共振誤差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Δ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對應波導間的傳播常數的差值，因此能夠將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STIRAP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的概念運用在波導設計之中</a:t>
                </a:r>
                <a:endParaRPr lang="en-US" altLang="zh-TW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endParaRPr lang="en-US" altLang="zh-TW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光沿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x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方向傳遞，在入口端時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x=0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，在出口端時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x=L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，波導線寬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W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，兩外側波導間距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G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、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g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，波導長度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</a:t>
                </a:r>
                <a:endParaRPr lang="zh-TW" altLang="en-US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定義電場振幅為𝑎𝑛 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,n=1,2,3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分別對應到三條波導，假設波導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與波導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之間沒有直接的能量交流，三條波導之間的耦合方程式可以表示為</a:t>
                </a:r>
                <a:endParaRPr lang="en-US" altLang="zh-TW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𝛽𝑛 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傳播常數，分別對應到三條波導，而𝑘𝑛𝑚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 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波導之間漸變的耦合係數，在通常不考慮損耗的情形下，兩條波導間的耦合係數都相等𝑘𝑛𝑚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)=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𝑘𝑚𝑛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假設兩波導的傳播常數完全相同，得到𝛽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1=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3=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𝛽，然後將電場振幅的相位項展開並假設𝑎𝑛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𝑏𝑛𝑒−𝑖𝛽，將三波導耦合方程式整理成矩陣形式。</a:t>
                </a:r>
                <a:endParaRPr lang="en-US" altLang="zh-TW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endParaRPr lang="en-US" altLang="zh-TW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求特徵值解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λ0(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、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λ</a:t>
                </a:r>
                <a:r>
                  <a:rPr lang="en-US" altLang="zh-TW" sz="1200" b="0" i="0" u="none" strike="noStrike" kern="1200" baseline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±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，帶回求三個特徵態𝜓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0(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，而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λ0(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所得到的特徵態𝜓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0(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是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STIRAP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所期望的結果，其特徵態𝜓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0(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隨傳播方向行進的電場分布形式為</a:t>
                </a:r>
                <a:r>
                  <a:rPr lang="en-US" altLang="zh-TW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altLang="zh-TW" sz="1200" b="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𝑊𝐺〗_</a:t>
                </a:r>
                <a:r>
                  <a:rPr lang="en-US" altLang="zh-TW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和</a:t>
                </a:r>
                <a:r>
                  <a:rPr lang="en-US" altLang="zh-TW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altLang="zh-TW" sz="1200" b="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𝑊𝐺〗_3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線性疊加的結果，在此傳播過程中</a:t>
                </a:r>
                <a:r>
                  <a:rPr lang="en-US" altLang="zh-TW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altLang="zh-TW" sz="1200" b="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𝑊𝐺〗_2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沒有被激發。</a:t>
                </a:r>
                <a:endParaRPr lang="en-US" altLang="zh-TW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而在整個傳播過程中，如果滿足絕熱過程的條件，在整個傳遞過程中只讓特徵態𝜓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0(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受到激發而抑制𝜓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±(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的產生，就是參數設計部分。</a:t>
                </a:r>
                <a:endParaRPr lang="en-US" altLang="zh-TW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藉由設計𝑘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12(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和𝑘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23(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的變化去選擇激發特定的特徵態。</a:t>
                </a:r>
                <a:endParaRPr lang="en-US" altLang="zh-TW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文獻</a:t>
                </a:r>
                <a:r>
                  <a:rPr lang="en-US" altLang="zh-TW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[2.11]</a:t>
                </a:r>
                <a:r>
                  <a:rPr lang="zh-TW" alt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中提及</a:t>
                </a:r>
                <a:r>
                  <a:rPr lang="en-US" altLang="zh-TW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Adiabatic condition</a:t>
                </a:r>
                <a:r>
                  <a:rPr lang="zh-TW" altLang="en-US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： </a:t>
                </a:r>
                <a:r>
                  <a:rPr lang="en-US" altLang="zh-TW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𝑎/𝑘  </a:t>
                </a:r>
                <a:r>
                  <a:rPr lang="zh-TW" altLang="en-US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≪</a:t>
                </a:r>
                <a:r>
                  <a:rPr lang="en-US" altLang="zh-TW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1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K=</a:t>
                </a:r>
                <a:r>
                  <a:rPr lang="en-US" altLang="zh-TW" sz="1200" kern="1200" dirty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altLang="zh-TW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𝐿/2</a:t>
                </a:r>
                <a:r>
                  <a:rPr lang="zh-TW" altLang="en-US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，</a:t>
                </a:r>
                <a:r>
                  <a:rPr lang="en-US" altLang="zh-TW" sz="1200" i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標楷體" panose="03000509000000000000" pitchFamily="65" charset="-120"/>
                  </a:rPr>
                  <a:t>𝐾_12=𝐾_23=𝐾</a:t>
                </a:r>
                <a:r>
                  <a:rPr lang="zh-TW" altLang="en-US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，</a:t>
                </a:r>
                <a:r>
                  <a:rPr lang="en-US" altLang="zh-TW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α=</a:t>
                </a:r>
                <a:r>
                  <a:rPr lang="zh-TW" altLang="en-US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𝜃𝑟</a:t>
                </a:r>
                <a:endParaRPr lang="en-US" altLang="zh-TW" sz="1200" kern="1200" dirty="0">
                  <a:solidFill>
                    <a:srgbClr val="000000"/>
                  </a:solidFill>
                  <a:latin typeface="+mn-lt"/>
                  <a:ea typeface="標楷體" panose="03000509000000000000" pitchFamily="65" charset="-120"/>
                  <a:cs typeface="+mn-cs"/>
                </a:endParaRPr>
              </a:p>
              <a:p>
                <a:r>
                  <a:rPr lang="en-US" altLang="zh-TW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Adiabatic parameters</a:t>
                </a:r>
                <a:r>
                  <a:rPr lang="zh-TW" altLang="en-US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，</a:t>
                </a:r>
                <a:r>
                  <a:rPr lang="en-US" altLang="zh-TW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θ=</a:t>
                </a:r>
                <a:r>
                  <a:rPr lang="en-US" altLang="zh-TW" sz="1200" kern="1200" dirty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altLang="zh-TW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(𝐺−𝑔)/𝐿  </a:t>
                </a:r>
                <a:r>
                  <a:rPr lang="en-US" altLang="zh-TW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=</a:t>
                </a:r>
                <a:r>
                  <a:rPr lang="en-US" altLang="zh-TW" sz="1200" kern="1200" dirty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el-GR" altLang="zh-TW" sz="1200" i="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"Δ</a:t>
                </a:r>
                <a:r>
                  <a:rPr lang="zh-TW" altLang="el-GR" sz="1200" i="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𝑆</a:t>
                </a:r>
                <a:r>
                  <a:rPr lang="zh-TW" altLang="el-GR" sz="1200" i="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標楷體" panose="03000509000000000000" pitchFamily="65" charset="-120"/>
                    <a:cs typeface="+mn-cs"/>
                  </a:rPr>
                  <a:t>" </a:t>
                </a:r>
                <a:r>
                  <a:rPr lang="en-US" altLang="zh-TW" sz="1200" i="0" kern="1200">
                    <a:solidFill>
                      <a:srgbClr val="000000"/>
                    </a:solidFill>
                    <a:latin typeface="Cambria Math" panose="02040503050406030204" pitchFamily="18" charset="0"/>
                    <a:ea typeface="標楷體" panose="03000509000000000000" pitchFamily="65" charset="-120"/>
                    <a:cs typeface="+mn-cs"/>
                  </a:rPr>
                  <a:t>/</a:t>
                </a:r>
                <a:r>
                  <a:rPr lang="zh-TW" altLang="el-GR" sz="1200" i="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"𝐿</a:t>
                </a:r>
                <a:r>
                  <a:rPr lang="zh-TW" altLang="el-GR" sz="1200" i="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標楷體" panose="03000509000000000000" pitchFamily="65" charset="-120"/>
                    <a:cs typeface="+mn-cs"/>
                  </a:rPr>
                  <a:t>" </a:t>
                </a:r>
                <a:r>
                  <a:rPr lang="zh-TW" altLang="en-US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，</a:t>
                </a:r>
                <a:endParaRPr lang="en-US" altLang="zh-TW" sz="1200" kern="1200" dirty="0">
                  <a:solidFill>
                    <a:srgbClr val="000000"/>
                  </a:solidFill>
                  <a:latin typeface="+mn-lt"/>
                  <a:ea typeface="標楷體" panose="03000509000000000000" pitchFamily="65" charset="-120"/>
                  <a:cs typeface="+mn-cs"/>
                </a:endParaRPr>
              </a:p>
              <a:p>
                <a:r>
                  <a:rPr lang="en-US" altLang="zh-TW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r: Fabrication constant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Adiabatic condition</a:t>
                </a:r>
                <a:r>
                  <a:rPr lang="zh-TW" altLang="en-US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： </a:t>
                </a:r>
                <a:r>
                  <a:rPr lang="en-US" altLang="zh-TW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𝑎/𝑘  </a:t>
                </a:r>
                <a:r>
                  <a:rPr lang="el-GR" altLang="zh-TW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=</a:t>
                </a:r>
                <a:r>
                  <a:rPr lang="en-US" altLang="zh-TW" sz="1200" kern="1200" dirty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el-GR" altLang="zh-TW" sz="1200" i="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"Δ</a:t>
                </a:r>
                <a:r>
                  <a:rPr lang="zh-TW" altLang="el-GR" sz="1200" i="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𝑆</a:t>
                </a:r>
                <a:r>
                  <a:rPr lang="zh-TW" altLang="el-GR" sz="1200" i="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標楷體" panose="03000509000000000000" pitchFamily="65" charset="-120"/>
                    <a:cs typeface="+mn-cs"/>
                  </a:rPr>
                  <a:t>" </a:t>
                </a:r>
                <a:r>
                  <a:rPr lang="en-US" altLang="zh-TW" sz="1200" i="0" kern="1200">
                    <a:solidFill>
                      <a:srgbClr val="000000"/>
                    </a:solidFill>
                    <a:latin typeface="Cambria Math" panose="02040503050406030204" pitchFamily="18" charset="0"/>
                    <a:ea typeface="標楷體" panose="03000509000000000000" pitchFamily="65" charset="-120"/>
                    <a:cs typeface="+mn-cs"/>
                  </a:rPr>
                  <a:t>/</a:t>
                </a:r>
                <a:r>
                  <a:rPr lang="zh-TW" altLang="el-GR" sz="1200" i="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"𝑟𝑘𝐿</a:t>
                </a:r>
                <a:r>
                  <a:rPr lang="zh-TW" altLang="el-GR" sz="1200" i="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標楷體" panose="03000509000000000000" pitchFamily="65" charset="-120"/>
                    <a:cs typeface="+mn-cs"/>
                  </a:rPr>
                  <a:t>" </a:t>
                </a:r>
                <a:r>
                  <a:rPr lang="en-US" altLang="zh-TW" sz="1200" i="0" kern="1200">
                    <a:solidFill>
                      <a:srgbClr val="000000"/>
                    </a:solidFill>
                    <a:latin typeface="Cambria Math" panose="02040503050406030204" pitchFamily="18" charset="0"/>
                    <a:ea typeface="標楷體" panose="03000509000000000000" pitchFamily="65" charset="-120"/>
                    <a:cs typeface="+mn-cs"/>
                  </a:rPr>
                  <a:t> </a:t>
                </a:r>
                <a:r>
                  <a:rPr lang="en-US" altLang="zh-TW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l-GR" altLang="zh-TW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≪1 </a:t>
                </a:r>
                <a:r>
                  <a:rPr lang="zh-TW" altLang="en-US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，</a:t>
                </a:r>
                <a:r>
                  <a:rPr lang="en-US" altLang="zh-TW" sz="12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𝑎/𝑘</a:t>
                </a:r>
                <a:r>
                  <a:rPr lang="en-US" altLang="zh-TW" sz="120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≪</a:t>
                </a:r>
                <a:r>
                  <a:rPr lang="en-US" altLang="zh-TW" sz="1200" kern="1200" dirty="0">
                    <a:solidFill>
                      <a:srgbClr val="000000"/>
                    </a:solidFill>
                    <a:latin typeface="+mn-lt"/>
                    <a:ea typeface="標楷體" panose="03000509000000000000" pitchFamily="65" charset="-120"/>
                    <a:cs typeface="+mn-cs"/>
                  </a:rPr>
                  <a:t>0.2 [2.10]</a:t>
                </a:r>
                <a:endParaRPr lang="zh-TW" alt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endParaRPr lang="en-US" altLang="zh-TW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85B65-3651-4044-854A-2F3E6480F6B2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59674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負單軸雙折射晶體，可用橢圓方程式來描述三軸向折射率分布，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A8B70-A6F4-4504-BBDD-66F2187607FC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46206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A8B70-A6F4-4504-BBDD-66F2187607FC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11590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77807">
              <a:defRPr/>
            </a:pPr>
            <a:fld id="{E6E18387-A79F-4ADD-B27D-AAF656AB3CA4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477807">
                <a:defRPr/>
              </a:pPr>
              <a:t>23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0623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975CB9EA-31BF-418C-9BD9-46369A707B27}"/>
              </a:ext>
            </a:extLst>
          </p:cNvPr>
          <p:cNvSpPr/>
          <p:nvPr/>
        </p:nvSpPr>
        <p:spPr>
          <a:xfrm>
            <a:off x="0" y="1185172"/>
            <a:ext cx="12192000" cy="5042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F3835CD2-158F-4721-BD76-59451A586077}"/>
              </a:ext>
            </a:extLst>
          </p:cNvPr>
          <p:cNvSpPr/>
          <p:nvPr/>
        </p:nvSpPr>
        <p:spPr>
          <a:xfrm flipV="1">
            <a:off x="0" y="1030290"/>
            <a:ext cx="12192000" cy="124992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2" name="標題 1">
            <a:extLst>
              <a:ext uri="{FF2B5EF4-FFF2-40B4-BE49-F238E27FC236}">
                <a16:creationId xmlns="" xmlns:a16="http://schemas.microsoft.com/office/drawing/2014/main" id="{11014273-128B-4287-99E4-2012E00A8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107410"/>
          </a:xfrm>
        </p:spPr>
        <p:txBody>
          <a:bodyPr anchor="b">
            <a:normAutofit/>
          </a:bodyPr>
          <a:lstStyle>
            <a:lvl1pPr algn="ctr">
              <a:defRPr sz="3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="" xmlns:a16="http://schemas.microsoft.com/office/drawing/2014/main" id="{9BA8B6B2-75B5-417A-B854-B065EEE80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95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54C773BB-47F8-496C-A1AC-2D01985C5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7A81-0E91-4C79-99EC-9B40EC7D3186}" type="datetimeFigureOut">
              <a:rPr lang="zh-TW" altLang="en-US" smtClean="0"/>
              <a:t>2022/5/25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AB8D2FC0-4360-446F-8747-92274B015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E7B8F88F-F60A-4A95-9B1C-2E941B835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A4E8-347F-410C-AFC5-EC2892DB8C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827D19E8-AD4F-4E67-AEA0-6841D1B489BD}"/>
              </a:ext>
            </a:extLst>
          </p:cNvPr>
          <p:cNvSpPr/>
          <p:nvPr/>
        </p:nvSpPr>
        <p:spPr>
          <a:xfrm rot="10800000" flipV="1">
            <a:off x="0" y="4977258"/>
            <a:ext cx="12192000" cy="124992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" name="星形: 四角 9">
            <a:extLst>
              <a:ext uri="{FF2B5EF4-FFF2-40B4-BE49-F238E27FC236}">
                <a16:creationId xmlns="" xmlns:a16="http://schemas.microsoft.com/office/drawing/2014/main" id="{4CA02902-894B-4CE4-98B5-0523B7598123}"/>
              </a:ext>
            </a:extLst>
          </p:cNvPr>
          <p:cNvSpPr/>
          <p:nvPr/>
        </p:nvSpPr>
        <p:spPr>
          <a:xfrm>
            <a:off x="0" y="3349490"/>
            <a:ext cx="12192000" cy="149853"/>
          </a:xfrm>
          <a:prstGeom prst="star4">
            <a:avLst>
              <a:gd name="adj" fmla="val 28797"/>
            </a:avLst>
          </a:prstGeom>
          <a:gradFill flip="none" rotWithShape="1">
            <a:gsLst>
              <a:gs pos="0">
                <a:srgbClr val="92D050"/>
              </a:gs>
              <a:gs pos="76000">
                <a:schemeClr val="accent6">
                  <a:lumMod val="20000"/>
                  <a:lumOff val="80000"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pic>
        <p:nvPicPr>
          <p:cNvPr id="11" name="Picture 3">
            <a:extLst>
              <a:ext uri="{FF2B5EF4-FFF2-40B4-BE49-F238E27FC236}">
                <a16:creationId xmlns="" xmlns:a16="http://schemas.microsoft.com/office/drawing/2014/main" id="{3AB2F468-F084-4DF6-BC71-E11E1B1B6B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218289"/>
            <a:ext cx="1917957" cy="1650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 descr="C:\Users\Shiang\Desktop\DOP.JPG">
            <a:extLst>
              <a:ext uri="{FF2B5EF4-FFF2-40B4-BE49-F238E27FC236}">
                <a16:creationId xmlns="" xmlns:a16="http://schemas.microsoft.com/office/drawing/2014/main" id="{662739C5-DD6A-4D87-AB63-2BED972B36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89" y="5605386"/>
            <a:ext cx="1856101" cy="98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字方塊 20">
            <a:extLst>
              <a:ext uri="{FF2B5EF4-FFF2-40B4-BE49-F238E27FC236}">
                <a16:creationId xmlns="" xmlns:a16="http://schemas.microsoft.com/office/drawing/2014/main" id="{477EA90C-9723-4BBD-A416-E18E0CFA5B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70348" y="6063476"/>
            <a:ext cx="499688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Gill Sans MT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新細明體" charset="-120"/>
              </a:defRPr>
            </a:lvl9pPr>
          </a:lstStyle>
          <a:p>
            <a:r>
              <a:rPr kumimoji="0" lang="en-US" altLang="zh-TW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Nonlinear Integrated Laser Photonics Laboratory</a:t>
            </a:r>
          </a:p>
          <a:p>
            <a:r>
              <a:rPr kumimoji="0" lang="en-US" altLang="zh-TW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Optical and Photonics, National Central University</a:t>
            </a:r>
          </a:p>
        </p:txBody>
      </p:sp>
      <p:pic>
        <p:nvPicPr>
          <p:cNvPr id="15" name="Picture 20">
            <a:extLst>
              <a:ext uri="{FF2B5EF4-FFF2-40B4-BE49-F238E27FC236}">
                <a16:creationId xmlns:a16="http://schemas.microsoft.com/office/drawing/2014/main" xmlns="" id="{331171DB-C3D8-4A11-A23C-75C4F88066E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785" y="5605386"/>
            <a:ext cx="1171563" cy="98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42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="" xmlns:a16="http://schemas.microsoft.com/office/drawing/2014/main" id="{1CD2F844-5FB1-4267-99B3-D0D2B21F05AE}"/>
              </a:ext>
            </a:extLst>
          </p:cNvPr>
          <p:cNvSpPr/>
          <p:nvPr/>
        </p:nvSpPr>
        <p:spPr>
          <a:xfrm>
            <a:off x="0" y="6172202"/>
            <a:ext cx="12192000" cy="791307"/>
          </a:xfrm>
          <a:prstGeom prst="rect">
            <a:avLst/>
          </a:prstGeom>
          <a:gradFill flip="none" rotWithShape="1">
            <a:gsLst>
              <a:gs pos="34000">
                <a:schemeClr val="accent1">
                  <a:lumMod val="20000"/>
                  <a:lumOff val="80000"/>
                </a:schemeClr>
              </a:gs>
              <a:gs pos="59000">
                <a:schemeClr val="accent1">
                  <a:lumMod val="60000"/>
                  <a:lumOff val="40000"/>
                </a:schemeClr>
              </a:gs>
              <a:gs pos="4000">
                <a:schemeClr val="bg1"/>
              </a:gs>
              <a:gs pos="91000">
                <a:schemeClr val="accent1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 sz="1350"/>
          </a:p>
        </p:txBody>
      </p:sp>
      <p:sp>
        <p:nvSpPr>
          <p:cNvPr id="2" name="標題 1">
            <a:extLst>
              <a:ext uri="{FF2B5EF4-FFF2-40B4-BE49-F238E27FC236}">
                <a16:creationId xmlns="" xmlns:a16="http://schemas.microsoft.com/office/drawing/2014/main" id="{56511D1F-5B70-4B22-84CD-1A0518934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924963"/>
          </a:xfrm>
        </p:spPr>
        <p:txBody>
          <a:bodyPr>
            <a:normAutofit/>
          </a:bodyPr>
          <a:lstStyle>
            <a:lvl1pPr algn="l">
              <a:defRPr sz="40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8F45B92E-84BC-4BE7-8410-783551A8E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0092"/>
            <a:ext cx="10515600" cy="4882111"/>
          </a:xfrm>
        </p:spPr>
        <p:txBody>
          <a:bodyPr>
            <a:normAutofit/>
          </a:bodyPr>
          <a:lstStyle>
            <a:lvl1pPr marL="355600" indent="-355600">
              <a:buFont typeface="Wingdings" panose="05000000000000000000" pitchFamily="2" charset="2"/>
              <a:buChar char="p"/>
              <a:defRPr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 marL="541338" indent="-284163">
              <a:buFont typeface="Wingdings" panose="05000000000000000000" pitchFamily="2" charset="2"/>
              <a:buChar char="Ø"/>
              <a:defRPr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339F694D-2A3E-42CC-B267-1B346695C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7A81-0E91-4C79-99EC-9B40EC7D3186}" type="datetimeFigureOut">
              <a:rPr lang="zh-TW" altLang="en-US" smtClean="0"/>
              <a:t>2022/5/25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1D1D87B3-C02D-4BBA-86B6-BEBDE55E2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D6E8B409-5A9F-4BD5-9914-FE6A13482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A4E8-347F-410C-AFC5-EC2892DB8C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B9BA6D35-2234-4D5E-B397-1023D1FFAB01}"/>
              </a:ext>
            </a:extLst>
          </p:cNvPr>
          <p:cNvSpPr/>
          <p:nvPr/>
        </p:nvSpPr>
        <p:spPr>
          <a:xfrm>
            <a:off x="410310" y="1158208"/>
            <a:ext cx="11418276" cy="138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56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8" name="文字方塊 7"/>
          <p:cNvSpPr txBox="1"/>
          <p:nvPr/>
        </p:nvSpPr>
        <p:spPr>
          <a:xfrm>
            <a:off x="10545053" y="0"/>
            <a:ext cx="1235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Q.H.</a:t>
            </a:r>
            <a:r>
              <a:rPr lang="en-US" altLang="zh-TW" sz="1800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Tseng</a:t>
            </a:r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群組 13"/>
          <p:cNvGrpSpPr/>
          <p:nvPr userDrawn="1"/>
        </p:nvGrpSpPr>
        <p:grpSpPr>
          <a:xfrm>
            <a:off x="122510" y="6145507"/>
            <a:ext cx="8030890" cy="760429"/>
            <a:chOff x="838199" y="6145507"/>
            <a:chExt cx="8030890" cy="760429"/>
          </a:xfrm>
        </p:grpSpPr>
        <p:pic>
          <p:nvPicPr>
            <p:cNvPr id="10" name="Picture 3">
              <a:extLst>
                <a:ext uri="{FF2B5EF4-FFF2-40B4-BE49-F238E27FC236}">
                  <a16:creationId xmlns="" xmlns:a16="http://schemas.microsoft.com/office/drawing/2014/main" id="{3AB2F468-F084-4DF6-BC71-E11E1B1B6B4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199" y="6145507"/>
              <a:ext cx="883511" cy="760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4" descr="C:\Users\Shiang\Desktop\DOP.JPG">
              <a:extLst>
                <a:ext uri="{FF2B5EF4-FFF2-40B4-BE49-F238E27FC236}">
                  <a16:creationId xmlns="" xmlns:a16="http://schemas.microsoft.com/office/drawing/2014/main" id="{662739C5-DD6A-4D87-AB63-2BED972B36C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1732" y="6165971"/>
              <a:ext cx="1308940" cy="692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文字方塊 20">
              <a:extLst>
                <a:ext uri="{FF2B5EF4-FFF2-40B4-BE49-F238E27FC236}">
                  <a16:creationId xmlns="" xmlns:a16="http://schemas.microsoft.com/office/drawing/2014/main" id="{477EA90C-9723-4BBD-A416-E18E0CFA5BB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3872208" y="6334780"/>
              <a:ext cx="499688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Gill Sans MT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ill Sans MT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ill Sans MT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ill Sans MT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ill Sans MT" pitchFamily="34" charset="0"/>
                  <a:ea typeface="新細明體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itchFamily="34" charset="0"/>
                  <a:ea typeface="新細明體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itchFamily="34" charset="0"/>
                  <a:ea typeface="新細明體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itchFamily="34" charset="0"/>
                  <a:ea typeface="新細明體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itchFamily="34" charset="0"/>
                  <a:ea typeface="新細明體" charset="-120"/>
                </a:defRPr>
              </a:lvl9pPr>
            </a:lstStyle>
            <a:p>
              <a:r>
                <a:rPr kumimoji="0" lang="en-US" altLang="zh-TW" sz="1400" i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Nonlinear Integrated Laser Photonics Laboratory</a:t>
              </a:r>
            </a:p>
            <a:p>
              <a:r>
                <a:rPr kumimoji="0" lang="en-US" altLang="zh-TW" sz="140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 of Optical and Photonics, National Central University</a:t>
              </a:r>
            </a:p>
          </p:txBody>
        </p:sp>
        <p:pic>
          <p:nvPicPr>
            <p:cNvPr id="13" name="Picture 20">
              <a:extLst>
                <a:ext uri="{FF2B5EF4-FFF2-40B4-BE49-F238E27FC236}">
                  <a16:creationId xmlns:a16="http://schemas.microsoft.com/office/drawing/2014/main" xmlns="" id="{331171DB-C3D8-4A11-A23C-75C4F88066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50715" y="6165971"/>
              <a:ext cx="826197" cy="6920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329070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22653AD1-66AA-45F8-BC0F-4A5260ED1A45}"/>
              </a:ext>
            </a:extLst>
          </p:cNvPr>
          <p:cNvSpPr/>
          <p:nvPr/>
        </p:nvSpPr>
        <p:spPr>
          <a:xfrm>
            <a:off x="0" y="1185172"/>
            <a:ext cx="12192000" cy="5042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8DE1FFDF-94C3-407A-BF27-9C3F2F50B474}"/>
              </a:ext>
            </a:extLst>
          </p:cNvPr>
          <p:cNvSpPr/>
          <p:nvPr/>
        </p:nvSpPr>
        <p:spPr>
          <a:xfrm flipV="1">
            <a:off x="0" y="1030288"/>
            <a:ext cx="12192000" cy="233590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zh-TW" altLang="en-US" sz="1350" dirty="0"/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412D9580-A53B-4AE5-A35A-7EE2DC650622}"/>
              </a:ext>
            </a:extLst>
          </p:cNvPr>
          <p:cNvSpPr/>
          <p:nvPr/>
        </p:nvSpPr>
        <p:spPr>
          <a:xfrm rot="10800000" flipV="1">
            <a:off x="0" y="3429001"/>
            <a:ext cx="12192000" cy="279818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" name="星形: 四角 10">
            <a:extLst>
              <a:ext uri="{FF2B5EF4-FFF2-40B4-BE49-F238E27FC236}">
                <a16:creationId xmlns="" xmlns:a16="http://schemas.microsoft.com/office/drawing/2014/main" id="{71CCD616-E043-4270-AEBF-CA78C47992F2}"/>
              </a:ext>
            </a:extLst>
          </p:cNvPr>
          <p:cNvSpPr/>
          <p:nvPr/>
        </p:nvSpPr>
        <p:spPr>
          <a:xfrm>
            <a:off x="0" y="3349490"/>
            <a:ext cx="12192000" cy="149853"/>
          </a:xfrm>
          <a:prstGeom prst="star4">
            <a:avLst>
              <a:gd name="adj" fmla="val 28797"/>
            </a:avLst>
          </a:prstGeom>
          <a:gradFill flip="none" rotWithShape="1">
            <a:gsLst>
              <a:gs pos="0">
                <a:srgbClr val="92D050"/>
              </a:gs>
              <a:gs pos="76000">
                <a:schemeClr val="accent6">
                  <a:lumMod val="20000"/>
                  <a:lumOff val="80000"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sp>
        <p:nvSpPr>
          <p:cNvPr id="2" name="標題 1">
            <a:extLst>
              <a:ext uri="{FF2B5EF4-FFF2-40B4-BE49-F238E27FC236}">
                <a16:creationId xmlns="" xmlns:a16="http://schemas.microsoft.com/office/drawing/2014/main" id="{8E3F4A26-57B5-4190-8901-C627F26A6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639406"/>
            <a:ext cx="10515600" cy="1719261"/>
          </a:xfrm>
        </p:spPr>
        <p:txBody>
          <a:bodyPr anchor="b"/>
          <a:lstStyle>
            <a:lvl1pPr algn="ctr">
              <a:defRPr sz="3375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="" xmlns:a16="http://schemas.microsoft.com/office/drawing/2014/main" id="{DB0B2F3A-0DB2-4B59-903C-1DD0D015C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3562149"/>
            <a:ext cx="10515600" cy="1461043"/>
          </a:xfrm>
        </p:spPr>
        <p:txBody>
          <a:bodyPr/>
          <a:lstStyle>
            <a:lvl1pPr marL="0" indent="0" algn="ctr">
              <a:buNone/>
              <a:defRPr sz="135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54D65636-6C31-4088-9787-B606FBF5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7A81-0E91-4C79-99EC-9B40EC7D3186}" type="datetimeFigureOut">
              <a:rPr lang="zh-TW" altLang="en-US" smtClean="0"/>
              <a:t>2022/5/25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F8A161B7-5438-4943-9D2F-B71BFB22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77E59D6D-CDA6-4105-B02D-CBB83343A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A4E8-347F-410C-AFC5-EC2892DB8C19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2" name="Picture 3">
            <a:extLst>
              <a:ext uri="{FF2B5EF4-FFF2-40B4-BE49-F238E27FC236}">
                <a16:creationId xmlns="" xmlns:a16="http://schemas.microsoft.com/office/drawing/2014/main" id="{3AB2F468-F084-4DF6-BC71-E11E1B1B6B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218289"/>
            <a:ext cx="1917957" cy="1650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" descr="C:\Users\Shiang\Desktop\DOP.JPG">
            <a:extLst>
              <a:ext uri="{FF2B5EF4-FFF2-40B4-BE49-F238E27FC236}">
                <a16:creationId xmlns="" xmlns:a16="http://schemas.microsoft.com/office/drawing/2014/main" id="{662739C5-DD6A-4D87-AB63-2BED972B36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89" y="5605386"/>
            <a:ext cx="1856101" cy="98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字方塊 20">
            <a:extLst>
              <a:ext uri="{FF2B5EF4-FFF2-40B4-BE49-F238E27FC236}">
                <a16:creationId xmlns="" xmlns:a16="http://schemas.microsoft.com/office/drawing/2014/main" id="{477EA90C-9723-4BBD-A416-E18E0CFA5B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70348" y="6063476"/>
            <a:ext cx="499688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Gill Sans MT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新細明體" charset="-120"/>
              </a:defRPr>
            </a:lvl9pPr>
          </a:lstStyle>
          <a:p>
            <a:r>
              <a:rPr kumimoji="0" lang="en-US" altLang="zh-TW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Nonlinear Integrated Laser Photonics Laboratory</a:t>
            </a:r>
          </a:p>
          <a:p>
            <a:r>
              <a:rPr kumimoji="0" lang="en-US" altLang="zh-TW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Optical and Photonics, National Central University</a:t>
            </a:r>
          </a:p>
        </p:txBody>
      </p:sp>
      <p:pic>
        <p:nvPicPr>
          <p:cNvPr id="15" name="Picture 20">
            <a:extLst>
              <a:ext uri="{FF2B5EF4-FFF2-40B4-BE49-F238E27FC236}">
                <a16:creationId xmlns:a16="http://schemas.microsoft.com/office/drawing/2014/main" xmlns="" id="{331171DB-C3D8-4A11-A23C-75C4F88066E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785" y="5605386"/>
            <a:ext cx="1171563" cy="98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718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6ADE8718-0613-4D02-95F9-CC00ECCD6E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90089"/>
            <a:ext cx="5181600" cy="488687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TW" altLang="en-US" sz="1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>
              <a:def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2pPr>
            <a:lvl3pPr>
              <a:defRPr lang="zh-TW" altLang="en-US" sz="1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3pPr>
            <a:lvl4pPr>
              <a:defRPr lang="zh-TW" altLang="en-US" sz="105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4pPr>
            <a:lvl5pPr>
              <a:defRPr lang="zh-TW" altLang="en-US" sz="105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="" xmlns:a16="http://schemas.microsoft.com/office/drawing/2014/main" id="{A0F532BD-C8A8-4D4F-8B8A-02CA20C18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90089"/>
            <a:ext cx="5181600" cy="488687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TW" altLang="en-US" sz="1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>
              <a:def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2pPr>
            <a:lvl3pPr>
              <a:defRPr lang="zh-TW" altLang="en-US" sz="1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3pPr>
            <a:lvl4pPr>
              <a:defRPr lang="zh-TW" altLang="en-US" sz="105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4pPr>
            <a:lvl5pPr>
              <a:defRPr lang="zh-TW" altLang="en-US" sz="105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="" xmlns:a16="http://schemas.microsoft.com/office/drawing/2014/main" id="{1861D808-7038-4151-8000-AABA74AB3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7A81-0E91-4C79-99EC-9B40EC7D3186}" type="datetimeFigureOut">
              <a:rPr lang="zh-TW" altLang="en-US" smtClean="0"/>
              <a:t>2022/5/25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="" xmlns:a16="http://schemas.microsoft.com/office/drawing/2014/main" id="{63CCBAB6-D918-4EC5-B4E7-C6118B7B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="" xmlns:a16="http://schemas.microsoft.com/office/drawing/2014/main" id="{BCCDC1AB-96B5-4D2D-A5F3-DEDA2C856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A4E8-347F-410C-AFC5-EC2892DB8C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A0C499CF-338C-4F5D-AED5-FEF9CF4EF73A}"/>
              </a:ext>
            </a:extLst>
          </p:cNvPr>
          <p:cNvSpPr/>
          <p:nvPr/>
        </p:nvSpPr>
        <p:spPr>
          <a:xfrm>
            <a:off x="0" y="6172202"/>
            <a:ext cx="12192000" cy="79130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pic>
        <p:nvPicPr>
          <p:cNvPr id="9" name="圖片 8">
            <a:extLst>
              <a:ext uri="{FF2B5EF4-FFF2-40B4-BE49-F238E27FC236}">
                <a16:creationId xmlns="" xmlns:a16="http://schemas.microsoft.com/office/drawing/2014/main" id="{278C366C-5CBB-4F25-9EE6-92B31F80C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18235"/>
            <a:ext cx="6821792" cy="699234"/>
          </a:xfrm>
          <a:prstGeom prst="rect">
            <a:avLst/>
          </a:prstGeom>
          <a:effectLst/>
        </p:spPr>
      </p:pic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7222FDDE-E2E2-4C3C-84B9-3B607EAD1F91}"/>
              </a:ext>
            </a:extLst>
          </p:cNvPr>
          <p:cNvSpPr/>
          <p:nvPr/>
        </p:nvSpPr>
        <p:spPr>
          <a:xfrm>
            <a:off x="410310" y="1158208"/>
            <a:ext cx="11418276" cy="138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56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" name="標題 1">
            <a:extLst>
              <a:ext uri="{FF2B5EF4-FFF2-40B4-BE49-F238E27FC236}">
                <a16:creationId xmlns="" xmlns:a16="http://schemas.microsoft.com/office/drawing/2014/main" id="{CA952704-B33B-4BFD-BA60-1CA687C5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924963"/>
          </a:xfrm>
        </p:spPr>
        <p:txBody>
          <a:bodyPr>
            <a:normAutofit/>
          </a:bodyPr>
          <a:lstStyle>
            <a:lvl1pPr algn="l">
              <a:defRPr sz="27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7333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="" xmlns:a16="http://schemas.microsoft.com/office/drawing/2014/main" id="{7659639B-1297-414E-B924-AE97E144B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290092"/>
            <a:ext cx="5157787" cy="441143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="" xmlns:a16="http://schemas.microsoft.com/office/drawing/2014/main" id="{2DE667AD-48F6-4AA3-8246-69E03380A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1777268"/>
            <a:ext cx="5157787" cy="441239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="" xmlns:a16="http://schemas.microsoft.com/office/drawing/2014/main" id="{FDA13A91-493C-4C1D-B85F-1613ACBBD2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290092"/>
            <a:ext cx="5183188" cy="441143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="" xmlns:a16="http://schemas.microsoft.com/office/drawing/2014/main" id="{BD7D390E-BBFF-4156-9A4C-63848E743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777268"/>
            <a:ext cx="5183188" cy="441239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="" xmlns:a16="http://schemas.microsoft.com/office/drawing/2014/main" id="{2429BC6C-D26B-4BD0-95CC-5AC19EAA7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7A81-0E91-4C79-99EC-9B40EC7D3186}" type="datetimeFigureOut">
              <a:rPr lang="zh-TW" altLang="en-US" smtClean="0"/>
              <a:t>2022/5/25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="" xmlns:a16="http://schemas.microsoft.com/office/drawing/2014/main" id="{9F567F26-82F2-4498-A34E-0DA8C8691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="" xmlns:a16="http://schemas.microsoft.com/office/drawing/2014/main" id="{4891FA94-FC8A-4B37-88B4-2748834BA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A4E8-347F-410C-AFC5-EC2892DB8C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FC2B3065-3B7B-45D8-8B29-9A9AEAE2E19C}"/>
              </a:ext>
            </a:extLst>
          </p:cNvPr>
          <p:cNvSpPr/>
          <p:nvPr/>
        </p:nvSpPr>
        <p:spPr>
          <a:xfrm>
            <a:off x="0" y="6172202"/>
            <a:ext cx="12192000" cy="79130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pic>
        <p:nvPicPr>
          <p:cNvPr id="11" name="圖片 10">
            <a:extLst>
              <a:ext uri="{FF2B5EF4-FFF2-40B4-BE49-F238E27FC236}">
                <a16:creationId xmlns="" xmlns:a16="http://schemas.microsoft.com/office/drawing/2014/main" id="{A5251097-FED4-4B02-8B56-FD210AA65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18235"/>
            <a:ext cx="6821792" cy="699234"/>
          </a:xfrm>
          <a:prstGeom prst="rect">
            <a:avLst/>
          </a:prstGeom>
          <a:effectLst/>
        </p:spPr>
      </p:pic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33DD84BA-101E-4825-B046-4F31D006FA56}"/>
              </a:ext>
            </a:extLst>
          </p:cNvPr>
          <p:cNvSpPr/>
          <p:nvPr/>
        </p:nvSpPr>
        <p:spPr>
          <a:xfrm>
            <a:off x="410310" y="1158208"/>
            <a:ext cx="11418276" cy="138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56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3" name="標題 1">
            <a:extLst>
              <a:ext uri="{FF2B5EF4-FFF2-40B4-BE49-F238E27FC236}">
                <a16:creationId xmlns="" xmlns:a16="http://schemas.microsoft.com/office/drawing/2014/main" id="{066EE1FF-B750-4AF3-9ED0-D02B4CC27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924963"/>
          </a:xfrm>
        </p:spPr>
        <p:txBody>
          <a:bodyPr>
            <a:normAutofit/>
          </a:bodyPr>
          <a:lstStyle>
            <a:lvl1pPr algn="l">
              <a:defRPr sz="27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84396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9FEA8FEC-1B3E-4E60-AF0D-77D4E954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="" xmlns:a16="http://schemas.microsoft.com/office/drawing/2014/main" id="{8B75D77F-F633-44FD-8D61-722A3B40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7A81-0E91-4C79-99EC-9B40EC7D3186}" type="datetimeFigureOut">
              <a:rPr lang="zh-TW" altLang="en-US" smtClean="0"/>
              <a:t>2022/5/25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="" xmlns:a16="http://schemas.microsoft.com/office/drawing/2014/main" id="{E594DC10-A1C7-4D0E-AE2E-37AFB39C0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="" xmlns:a16="http://schemas.microsoft.com/office/drawing/2014/main" id="{25A92A64-1414-441B-A2CA-849183D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A4E8-347F-410C-AFC5-EC2892DB8C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9415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="" xmlns:a16="http://schemas.microsoft.com/office/drawing/2014/main" id="{854A711C-FD71-43B2-9B2D-5FE0F5280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7A81-0E91-4C79-99EC-9B40EC7D3186}" type="datetimeFigureOut">
              <a:rPr lang="zh-TW" altLang="en-US" smtClean="0"/>
              <a:t>2022/5/25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="" xmlns:a16="http://schemas.microsoft.com/office/drawing/2014/main" id="{BFA4AEDF-DFAE-4EF4-AEF2-D5FB0286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9743FB29-FD03-490C-BD3F-43148C68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A4E8-347F-410C-AFC5-EC2892DB8C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1510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1071E02B-21C9-448D-B4C1-0FFF9B1A8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AB07B9F4-CCEE-46CE-B6FC-07AAD1D6D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="" xmlns:a16="http://schemas.microsoft.com/office/drawing/2014/main" id="{C44F5804-02BF-4D69-9A65-9872B4E73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="" xmlns:a16="http://schemas.microsoft.com/office/drawing/2014/main" id="{F769EA3D-6AF5-4F23-A9FF-4B6AF4FB9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7A81-0E91-4C79-99EC-9B40EC7D3186}" type="datetimeFigureOut">
              <a:rPr lang="zh-TW" altLang="en-US" smtClean="0"/>
              <a:t>2022/5/25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="" xmlns:a16="http://schemas.microsoft.com/office/drawing/2014/main" id="{47EC0CA5-0220-4BD4-BB1F-15A241DB1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="" xmlns:a16="http://schemas.microsoft.com/office/drawing/2014/main" id="{B35E3B36-EAD1-45FA-A3E9-94D9B2BB1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A4E8-347F-410C-AFC5-EC2892DB8C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389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FC0F4455-BE3E-4EE9-A01A-BD4A4FA26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="" xmlns:a16="http://schemas.microsoft.com/office/drawing/2014/main" id="{55F594CA-A237-4476-8F76-BDBCFD07F6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="" xmlns:a16="http://schemas.microsoft.com/office/drawing/2014/main" id="{248388F2-77C4-4D77-BF09-AEF070987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="" xmlns:a16="http://schemas.microsoft.com/office/drawing/2014/main" id="{5747BBD9-3080-423D-BD10-DC221D0A4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7A81-0E91-4C79-99EC-9B40EC7D3186}" type="datetimeFigureOut">
              <a:rPr lang="zh-TW" altLang="en-US" smtClean="0"/>
              <a:t>2022/5/25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="" xmlns:a16="http://schemas.microsoft.com/office/drawing/2014/main" id="{1E61DDA7-58BD-4BE7-80FF-3343F75FA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="" xmlns:a16="http://schemas.microsoft.com/office/drawing/2014/main" id="{349F30CD-8731-4808-9D4D-6F8D53589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A4E8-347F-410C-AFC5-EC2892DB8C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1565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ED8BAED9-54E9-4844-992C-B1EB063D9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="" xmlns:a16="http://schemas.microsoft.com/office/drawing/2014/main" id="{1E4E1347-3FB4-468E-A817-0CF2B1017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50F12A2D-F3F5-4C8E-86A1-C15F310E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7A81-0E91-4C79-99EC-9B40EC7D3186}" type="datetimeFigureOut">
              <a:rPr lang="zh-TW" altLang="en-US" smtClean="0"/>
              <a:t>2022/5/25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1EEEFDF9-400C-436D-B359-2549F4910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6BB4F4F8-DAD8-4939-AA03-8139A7115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A4E8-347F-410C-AFC5-EC2892DB8C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5741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="" xmlns:a16="http://schemas.microsoft.com/office/drawing/2014/main" id="{DDBEE82C-D891-46B2-BCF5-689C1E23FC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="" xmlns:a16="http://schemas.microsoft.com/office/drawing/2014/main" id="{8BD80EB3-C719-4500-9454-9623AF20E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98CB8AB9-D28A-4064-9F7E-AFBB0A228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7A81-0E91-4C79-99EC-9B40EC7D3186}" type="datetimeFigureOut">
              <a:rPr lang="zh-TW" altLang="en-US" smtClean="0"/>
              <a:t>2022/5/25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F36FED2C-9589-4EF9-9C27-04632BF46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BAE7B634-674A-46C1-B34A-56606981B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A4E8-347F-410C-AFC5-EC2892DB8C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6127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495C18F8-A5D8-4AD7-8DB2-8949590E3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86AB4E-938E-4DF0-87C8-D212C47B22FD}" type="datetime1">
              <a:rPr lang="zh-TW" altLang="en-US" smtClean="0"/>
              <a:t>2022/5/25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859B035C-EEC1-4281-82B9-C3180F6EE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039B2354-2E59-49BC-9E26-BBF97673F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52932F-92D9-43D8-B462-B5C82AA11FF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ABB8E037-9EFF-461A-93F8-051AA922B6FC}"/>
              </a:ext>
            </a:extLst>
          </p:cNvPr>
          <p:cNvSpPr/>
          <p:nvPr userDrawn="1"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F9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標題 1">
            <a:extLst>
              <a:ext uri="{FF2B5EF4-FFF2-40B4-BE49-F238E27FC236}">
                <a16:creationId xmlns="" xmlns:a16="http://schemas.microsoft.com/office/drawing/2014/main" id="{DBAC8D96-BD2C-4721-BAF2-CCA17A141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296"/>
            <a:ext cx="10515600" cy="575035"/>
          </a:xfrm>
          <a:prstGeom prst="rect">
            <a:avLst/>
          </a:prstGeom>
        </p:spPr>
        <p:txBody>
          <a:bodyPr/>
          <a:lstStyle>
            <a:lvl1pPr algn="ctr">
              <a:defRPr sz="3600" b="1" i="1"/>
            </a:lvl1pPr>
          </a:lstStyle>
          <a:p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B2D41FB3-1C36-4A02-B8C9-605ED8DA6D66}"/>
              </a:ext>
            </a:extLst>
          </p:cNvPr>
          <p:cNvSpPr/>
          <p:nvPr userDrawn="1"/>
        </p:nvSpPr>
        <p:spPr>
          <a:xfrm>
            <a:off x="0" y="573213"/>
            <a:ext cx="12192000" cy="754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4000">
                <a:schemeClr val="accent1">
                  <a:lumMod val="60000"/>
                  <a:lumOff val="40000"/>
                </a:schemeClr>
              </a:gs>
              <a:gs pos="83000">
                <a:srgbClr val="E07275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0396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495C18F8-A5D8-4AD7-8DB2-8949590E3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86AB4E-938E-4DF0-87C8-D212C47B22FD}" type="datetime1">
              <a:rPr lang="zh-TW" altLang="en-US" smtClean="0"/>
              <a:t>2022/5/25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859B035C-EEC1-4281-82B9-C3180F6EE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039B2354-2E59-49BC-9E26-BBF97673F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52932F-92D9-43D8-B462-B5C82AA11FF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ABB8E037-9EFF-461A-93F8-051AA922B6FC}"/>
              </a:ext>
            </a:extLst>
          </p:cNvPr>
          <p:cNvSpPr/>
          <p:nvPr userDrawn="1"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F9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標題 1">
            <a:extLst>
              <a:ext uri="{FF2B5EF4-FFF2-40B4-BE49-F238E27FC236}">
                <a16:creationId xmlns="" xmlns:a16="http://schemas.microsoft.com/office/drawing/2014/main" id="{DBAC8D96-BD2C-4721-BAF2-CCA17A141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296"/>
            <a:ext cx="10515600" cy="575035"/>
          </a:xfrm>
          <a:prstGeom prst="rect">
            <a:avLst/>
          </a:prstGeom>
        </p:spPr>
        <p:txBody>
          <a:bodyPr/>
          <a:lstStyle>
            <a:lvl1pPr algn="ctr">
              <a:defRPr sz="3600" b="1" i="1"/>
            </a:lvl1pPr>
          </a:lstStyle>
          <a:p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B2D41FB3-1C36-4A02-B8C9-605ED8DA6D66}"/>
              </a:ext>
            </a:extLst>
          </p:cNvPr>
          <p:cNvSpPr/>
          <p:nvPr userDrawn="1"/>
        </p:nvSpPr>
        <p:spPr>
          <a:xfrm>
            <a:off x="0" y="573213"/>
            <a:ext cx="12192000" cy="754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4000">
                <a:schemeClr val="accent1">
                  <a:lumMod val="60000"/>
                  <a:lumOff val="40000"/>
                </a:schemeClr>
              </a:gs>
              <a:gs pos="83000">
                <a:srgbClr val="E07275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328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="" xmlns:a16="http://schemas.microsoft.com/office/drawing/2014/main" id="{27C22122-DC70-4EB1-9D80-4906F2073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="" xmlns:a16="http://schemas.microsoft.com/office/drawing/2014/main" id="{804C4BC9-1281-4327-80EC-DF961F78A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8E181267-861C-4233-8498-C2BFF3F0B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E7A81-0E91-4C79-99EC-9B40EC7D3186}" type="datetimeFigureOut">
              <a:rPr lang="zh-TW" altLang="en-US" smtClean="0"/>
              <a:t>2022/5/25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B77F9938-4A3A-4174-9685-0EF511951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A5899197-90F0-402A-86C2-57679C627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6A4E8-347F-410C-AFC5-EC2892DB8C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780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tiff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.png"/><Relationship Id="rId4" Type="http://schemas.openxmlformats.org/officeDocument/2006/relationships/image" Target="../media/image1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0.png"/><Relationship Id="rId18" Type="http://schemas.openxmlformats.org/officeDocument/2006/relationships/image" Target="../media/image33.png"/><Relationship Id="rId3" Type="http://schemas.openxmlformats.org/officeDocument/2006/relationships/image" Target="../media/image30.png"/><Relationship Id="rId12" Type="http://schemas.openxmlformats.org/officeDocument/2006/relationships/image" Target="../media/image221.png"/><Relationship Id="rId17" Type="http://schemas.openxmlformats.org/officeDocument/2006/relationships/image" Target="../media/image32.jp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16.png"/><Relationship Id="rId15" Type="http://schemas.openxmlformats.org/officeDocument/2006/relationships/image" Target="../media/image240.png"/><Relationship Id="rId4" Type="http://schemas.openxmlformats.org/officeDocument/2006/relationships/image" Target="../media/image31.png"/><Relationship Id="rId14" Type="http://schemas.openxmlformats.org/officeDocument/2006/relationships/image" Target="../media/image2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38.wmf"/><Relationship Id="rId18" Type="http://schemas.openxmlformats.org/officeDocument/2006/relationships/image" Target="../media/image41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4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.bin"/><Relationship Id="rId20" Type="http://schemas.openxmlformats.org/officeDocument/2006/relationships/image" Target="../media/image43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5" Type="http://schemas.openxmlformats.org/officeDocument/2006/relationships/image" Target="../media/image39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42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36.wmf"/><Relationship Id="rId14" Type="http://schemas.openxmlformats.org/officeDocument/2006/relationships/oleObject" Target="../embeddings/oleObject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eg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23875" y="1122363"/>
            <a:ext cx="11144250" cy="2107410"/>
          </a:xfrm>
        </p:spPr>
        <p:txBody>
          <a:bodyPr>
            <a:normAutofit/>
          </a:bodyPr>
          <a:lstStyle/>
          <a:p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使用薄膜鈮酸</a:t>
            </a:r>
            <a:r>
              <a:rPr lang="zh-TW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鋰單晶片設計整合多功能積體光學系統之研究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Research of Multi-function Optical Circuits Integration on a Thin Film Lithium </a:t>
            </a:r>
            <a:r>
              <a:rPr lang="en-US" altLang="zh-TW" dirty="0" err="1" smtClean="0"/>
              <a:t>Niobate</a:t>
            </a:r>
            <a:r>
              <a:rPr lang="en-US" altLang="zh-TW" dirty="0" smtClean="0"/>
              <a:t> Single Chip for Compact system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432705"/>
            <a:ext cx="9144000" cy="1655762"/>
          </a:xfrm>
        </p:spPr>
        <p:txBody>
          <a:bodyPr>
            <a:normAutofit/>
          </a:bodyPr>
          <a:lstStyle/>
          <a:p>
            <a:r>
              <a:rPr lang="zh-TW" altLang="en-US" sz="2000" b="1" dirty="0">
                <a:solidFill>
                  <a:schemeClr val="bg1">
                    <a:lumMod val="50000"/>
                  </a:schemeClr>
                </a:solidFill>
              </a:rPr>
              <a:t>國立中央大學 光電</a:t>
            </a:r>
            <a:r>
              <a:rPr lang="zh-TW" altLang="en-US" sz="2000" b="1" dirty="0" smtClean="0">
                <a:solidFill>
                  <a:schemeClr val="bg1">
                    <a:lumMod val="50000"/>
                  </a:schemeClr>
                </a:solidFill>
              </a:rPr>
              <a:t>科學與工程學系</a:t>
            </a:r>
            <a:endParaRPr lang="en-US" altLang="zh-TW" sz="20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TW" altLang="en-US" sz="2000" b="1" dirty="0">
                <a:solidFill>
                  <a:schemeClr val="bg1">
                    <a:lumMod val="50000"/>
                  </a:schemeClr>
                </a:solidFill>
              </a:rPr>
              <a:t>非線性積</a:t>
            </a:r>
            <a:r>
              <a:rPr lang="zh-TW" altLang="en-US" sz="2000" b="1" dirty="0" smtClean="0">
                <a:solidFill>
                  <a:schemeClr val="bg1">
                    <a:lumMod val="50000"/>
                  </a:schemeClr>
                </a:solidFill>
              </a:rPr>
              <a:t>體雷射光學實驗室</a:t>
            </a:r>
            <a:endParaRPr lang="en-US" altLang="zh-TW" sz="20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TW" altLang="en-US" sz="2000" b="1" dirty="0">
                <a:solidFill>
                  <a:schemeClr val="bg1">
                    <a:lumMod val="50000"/>
                  </a:schemeClr>
                </a:solidFill>
              </a:rPr>
              <a:t>提報學生</a:t>
            </a:r>
            <a:r>
              <a:rPr lang="zh-TW" altLang="en-US" sz="2000" b="1" dirty="0" smtClean="0">
                <a:solidFill>
                  <a:schemeClr val="bg1">
                    <a:lumMod val="50000"/>
                  </a:schemeClr>
                </a:solidFill>
              </a:rPr>
              <a:t>：博士班  曾冠翔 </a:t>
            </a:r>
            <a:r>
              <a:rPr lang="en-US" altLang="zh-TW" sz="2000" b="1" dirty="0" smtClean="0">
                <a:solidFill>
                  <a:schemeClr val="bg1">
                    <a:lumMod val="50000"/>
                  </a:schemeClr>
                </a:solidFill>
              </a:rPr>
              <a:t>(108286004)</a:t>
            </a:r>
          </a:p>
          <a:p>
            <a:r>
              <a:rPr lang="zh-TW" altLang="en-US" sz="2000" b="1" dirty="0" smtClean="0">
                <a:solidFill>
                  <a:schemeClr val="bg1">
                    <a:lumMod val="50000"/>
                  </a:schemeClr>
                </a:solidFill>
              </a:rPr>
              <a:t>指導教授：陳彥宏 教授</a:t>
            </a:r>
            <a:endParaRPr lang="en-US" altLang="zh-TW" sz="2000" b="1" dirty="0" smtClean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846695" y="4858646"/>
            <a:ext cx="5218282" cy="1431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 defTabSz="51435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None/>
            </a:pPr>
            <a:r>
              <a:rPr lang="zh-TW" alt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資格考口試委員：王智明 </a:t>
            </a:r>
            <a:r>
              <a:rPr lang="zh-TW" altLang="en-US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教授、張瑞芬 教授</a:t>
            </a:r>
            <a:endParaRPr lang="en-US" altLang="zh-TW" sz="2000" b="1" dirty="0" smtClean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r" defTabSz="51435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None/>
            </a:pPr>
            <a:r>
              <a:rPr lang="zh-TW" altLang="en-US" sz="20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王培勳 教授、李依珊 教授 </a:t>
            </a:r>
            <a:endParaRPr lang="zh-TW" altLang="en-US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21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Motivation</a:t>
            </a:r>
          </a:p>
          <a:p>
            <a:r>
              <a:rPr lang="en-US" altLang="zh-TW" dirty="0" smtClean="0"/>
              <a:t>Prior Works</a:t>
            </a:r>
          </a:p>
          <a:p>
            <a:r>
              <a:rPr lang="en-US" altLang="zh-TW" dirty="0"/>
              <a:t>Design of Optical Circuits</a:t>
            </a:r>
          </a:p>
          <a:p>
            <a:r>
              <a:rPr lang="en-US" altLang="zh-TW" dirty="0" smtClean="0"/>
              <a:t>Working Principle</a:t>
            </a:r>
            <a:endParaRPr lang="en-US" altLang="zh-TW" dirty="0"/>
          </a:p>
          <a:p>
            <a:r>
              <a:rPr lang="en-US" altLang="zh-TW" dirty="0" smtClean="0"/>
              <a:t>Progress</a:t>
            </a:r>
          </a:p>
          <a:p>
            <a:r>
              <a:rPr lang="en-US" altLang="zh-TW" dirty="0" smtClean="0"/>
              <a:t>Conclusion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7016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Motivation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6604000" y="5882109"/>
            <a:ext cx="57715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</a:t>
            </a:r>
            <a:r>
              <a:rPr lang="en-US" altLang="zh-TW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Zhu,etc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"Integrated photonics on thin-film lithium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niobate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 Adv. Opt. Photon. 13, 242-352 (2021)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08" y="1975080"/>
            <a:ext cx="6001702" cy="3358920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184" y="1975080"/>
            <a:ext cx="5498116" cy="362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68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Poling Technics for QPM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323226"/>
            <a:ext cx="4036412" cy="429790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79875" y="5621134"/>
            <a:ext cx="625166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Zhao, etc., "Shallow-etched thin-film lithium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niobate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waveguides for highly-efficient second-harmonic generation," Opt. Express 28(13), 19669–19682 (2020).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862" y="4407627"/>
            <a:ext cx="4173667" cy="1432921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558518" y="5776628"/>
            <a:ext cx="5537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Badrudin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Jakob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Stanicki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.,"Surface 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engineering in lithium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niobate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 OSA Continuum 3, 345-358 (2020)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8607" y="1323227"/>
            <a:ext cx="4276179" cy="343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06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Gyroscope Integration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09" y="2524275"/>
            <a:ext cx="6587581" cy="212142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66078" y="5356664"/>
            <a:ext cx="57715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Khial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P.P., White, A.D. &amp;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Hajimiri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Nanophotonic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optical gyroscope with reciprocal sensitivity enhancement. Nature Photon 12, 671–675 (2018).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5209" y="2524275"/>
            <a:ext cx="419100" cy="371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2057793"/>
            <a:ext cx="4673600" cy="351431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322882" y="5572107"/>
            <a:ext cx="458971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https://technews.tw/2021/12/22/si-photonics-gyroscope-chip/</a:t>
            </a:r>
          </a:p>
        </p:txBody>
      </p:sp>
    </p:spTree>
    <p:extLst>
      <p:ext uri="{BB962C8B-B14F-4D97-AF65-F5344CB8AC3E}">
        <p14:creationId xmlns:p14="http://schemas.microsoft.com/office/powerpoint/2010/main" val="349015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LNOI Fabrication Technics of NILP</a:t>
            </a:r>
            <a:endParaRPr lang="zh-TW" altLang="en-US" dirty="0"/>
          </a:p>
        </p:txBody>
      </p:sp>
      <p:grpSp>
        <p:nvGrpSpPr>
          <p:cNvPr id="14" name="群組 13"/>
          <p:cNvGrpSpPr/>
          <p:nvPr/>
        </p:nvGrpSpPr>
        <p:grpSpPr>
          <a:xfrm>
            <a:off x="4394749" y="1356572"/>
            <a:ext cx="2669257" cy="2411920"/>
            <a:chOff x="8331164" y="668514"/>
            <a:chExt cx="2630271" cy="2376692"/>
          </a:xfrm>
        </p:grpSpPr>
        <p:pic>
          <p:nvPicPr>
            <p:cNvPr id="4" name="圖片 3">
              <a:extLst>
                <a:ext uri="{FF2B5EF4-FFF2-40B4-BE49-F238E27FC236}">
                  <a16:creationId xmlns="" xmlns:a16="http://schemas.microsoft.com/office/drawing/2014/main" id="{210CC380-C7D2-4121-A462-A82351A90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4274" y="703258"/>
              <a:ext cx="2543112" cy="2341948"/>
            </a:xfrm>
            <a:prstGeom prst="rect">
              <a:avLst/>
            </a:prstGeom>
          </p:spPr>
        </p:pic>
        <p:sp>
          <p:nvSpPr>
            <p:cNvPr id="5" name="文字方塊 4"/>
            <p:cNvSpPr txBox="1"/>
            <p:nvPr/>
          </p:nvSpPr>
          <p:spPr>
            <a:xfrm>
              <a:off x="8331164" y="668514"/>
              <a:ext cx="2630271" cy="333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 sz="16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TW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FIB @ NTUST, Yi-</a:t>
              </a:r>
              <a:r>
                <a:rPr lang="en-US" altLang="zh-TW" b="1" dirty="0" err="1">
                  <a:solidFill>
                    <a:schemeClr val="accent2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Hsin</a:t>
              </a:r>
              <a:r>
                <a:rPr lang="en-US" altLang="zh-TW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,</a:t>
              </a:r>
              <a:r>
                <a:rPr lang="zh-TW" altLang="en-US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</a:t>
              </a:r>
              <a:r>
                <a:rPr lang="en-US" altLang="zh-TW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Lin</a:t>
              </a:r>
              <a:endParaRPr lang="zh-TW" altLang="en-US" b="1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731614" y="1364781"/>
            <a:ext cx="3346220" cy="2403711"/>
            <a:chOff x="209040" y="1318683"/>
            <a:chExt cx="3346220" cy="2403711"/>
          </a:xfrm>
        </p:grpSpPr>
        <p:pic>
          <p:nvPicPr>
            <p:cNvPr id="16" name="圖片 15">
              <a:extLst>
                <a:ext uri="{FF2B5EF4-FFF2-40B4-BE49-F238E27FC236}">
                  <a16:creationId xmlns="" xmlns:a16="http://schemas.microsoft.com/office/drawing/2014/main" id="{CCD743AE-899D-4DFE-B4B0-180EFD15C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929" y="1340940"/>
              <a:ext cx="3316331" cy="2381454"/>
            </a:xfrm>
            <a:prstGeom prst="rect">
              <a:avLst/>
            </a:prstGeom>
          </p:spPr>
        </p:pic>
        <p:sp>
          <p:nvSpPr>
            <p:cNvPr id="7" name="文字方塊 6"/>
            <p:cNvSpPr txBox="1"/>
            <p:nvPr/>
          </p:nvSpPr>
          <p:spPr>
            <a:xfrm>
              <a:off x="209040" y="1318683"/>
              <a:ext cx="285199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 sz="160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TW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ICP-RIE @ NTT, Yi-</a:t>
              </a:r>
              <a:r>
                <a:rPr lang="en-US" altLang="zh-TW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Hsin</a:t>
              </a:r>
              <a:r>
                <a:rPr lang="en-US" altLang="zh-TW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,</a:t>
              </a:r>
              <a:r>
                <a:rPr lang="zh-TW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</a:t>
              </a:r>
              <a:r>
                <a:rPr lang="en-US" altLang="zh-TW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Lin</a:t>
              </a:r>
              <a:endPara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8030486" y="3998257"/>
            <a:ext cx="2996398" cy="2403710"/>
            <a:chOff x="9371384" y="1318683"/>
            <a:chExt cx="2996398" cy="2403710"/>
          </a:xfrm>
        </p:grpSpPr>
        <p:pic>
          <p:nvPicPr>
            <p:cNvPr id="8" name="圖片 7">
              <a:extLst>
                <a:ext uri="{FF2B5EF4-FFF2-40B4-BE49-F238E27FC236}">
                  <a16:creationId xmlns="" xmlns:a16="http://schemas.microsoft.com/office/drawing/2014/main" id="{DE6EC6AF-6BBF-4062-B52A-3CDE4529B7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347" r="34342"/>
            <a:stretch/>
          </p:blipFill>
          <p:spPr>
            <a:xfrm>
              <a:off x="9408857" y="1345732"/>
              <a:ext cx="2642332" cy="2376661"/>
            </a:xfrm>
            <a:prstGeom prst="rect">
              <a:avLst/>
            </a:prstGeom>
          </p:spPr>
        </p:pic>
        <p:sp>
          <p:nvSpPr>
            <p:cNvPr id="11" name="文字方塊 10"/>
            <p:cNvSpPr txBox="1"/>
            <p:nvPr/>
          </p:nvSpPr>
          <p:spPr>
            <a:xfrm>
              <a:off x="9371384" y="1318683"/>
              <a:ext cx="29963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 b="1" dirty="0" smtClean="0">
                  <a:solidFill>
                    <a:schemeClr val="accent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IBEE @ NSRRC, Po-</a:t>
              </a:r>
              <a:r>
                <a:rPr lang="en-US" altLang="zh-TW" sz="1600" b="1" dirty="0" err="1" smtClean="0">
                  <a:solidFill>
                    <a:schemeClr val="accent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Jhih</a:t>
              </a:r>
              <a:r>
                <a:rPr lang="en-US" altLang="zh-TW" sz="1600" b="1" dirty="0" smtClean="0">
                  <a:solidFill>
                    <a:schemeClr val="accent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, Yang</a:t>
              </a:r>
              <a:endParaRPr lang="zh-TW" alt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4488429" y="3998256"/>
            <a:ext cx="3215142" cy="2403711"/>
            <a:chOff x="6139540" y="1318683"/>
            <a:chExt cx="3215142" cy="2403711"/>
          </a:xfrm>
        </p:grpSpPr>
        <p:pic>
          <p:nvPicPr>
            <p:cNvPr id="6" name="圖片 5">
              <a:extLst>
                <a:ext uri="{FF2B5EF4-FFF2-40B4-BE49-F238E27FC236}">
                  <a16:creationId xmlns="" xmlns:a16="http://schemas.microsoft.com/office/drawing/2014/main" id="{D649A8B9-972F-4010-A176-712B9165C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5801" y="1345733"/>
              <a:ext cx="3168881" cy="2376661"/>
            </a:xfrm>
            <a:prstGeom prst="rect">
              <a:avLst/>
            </a:prstGeom>
          </p:spPr>
        </p:pic>
        <p:sp>
          <p:nvSpPr>
            <p:cNvPr id="15" name="文字方塊 14"/>
            <p:cNvSpPr txBox="1"/>
            <p:nvPr/>
          </p:nvSpPr>
          <p:spPr>
            <a:xfrm>
              <a:off x="6139540" y="1318683"/>
              <a:ext cx="25755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 sz="160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TW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IBEE @ </a:t>
              </a:r>
              <a:r>
                <a:rPr lang="en-US" altLang="zh-TW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Yena</a:t>
              </a:r>
              <a:r>
                <a:rPr lang="en-US" altLang="zh-TW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, </a:t>
              </a:r>
              <a:r>
                <a:rPr lang="en-US" altLang="zh-TW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Yi-</a:t>
              </a:r>
              <a:r>
                <a:rPr lang="en-US" altLang="zh-TW" b="1" dirty="0" err="1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Hsin</a:t>
              </a:r>
              <a:r>
                <a:rPr lang="en-US" altLang="zh-TW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,</a:t>
              </a:r>
              <a:r>
                <a:rPr lang="zh-TW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</a:t>
              </a:r>
              <a:r>
                <a:rPr lang="en-US" altLang="zh-TW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298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66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Prior Works</a:t>
            </a:r>
            <a:endParaRPr lang="zh-TW" altLang="en-US" sz="66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526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LNOI Fabrication Technics of NILP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90092"/>
            <a:ext cx="4722734" cy="219244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8866" y="1478302"/>
            <a:ext cx="5761857" cy="181602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6295" y="3482532"/>
            <a:ext cx="8153400" cy="200977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429000" y="5525089"/>
            <a:ext cx="8763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Yi-Xin Lin,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Mohammadreza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Younesi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Hung-Pin Chung, Hua-Kung Chiu,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Reinhard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Geiss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Quan-Hsiang Tseng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Frank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Setzpfandt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Thomas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Pertsch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Yen-Hung Chen, "Ultra-compact, broadband adiabatic passage optical couplers in thin-film lithium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niobate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insulator waveguides," </a:t>
            </a:r>
            <a:r>
              <a:rPr lang="en-US" altLang="zh-TW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Opt. Express 29, 27362-27372 (2021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2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Integration of EOPMC and Adiabatic Coupler</a:t>
            </a:r>
            <a:endParaRPr lang="zh-TW" altLang="en-US" dirty="0"/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16" y="1381615"/>
            <a:ext cx="4016513" cy="3274495"/>
          </a:xfrm>
          <a:prstGeom prst="rect">
            <a:avLst/>
          </a:prstGeom>
        </p:spPr>
      </p:pic>
      <p:pic>
        <p:nvPicPr>
          <p:cNvPr id="13" name="image7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02197" y="1521694"/>
            <a:ext cx="6667634" cy="1399423"/>
          </a:xfrm>
          <a:prstGeom prst="rect">
            <a:avLst/>
          </a:prstGeom>
        </p:spPr>
      </p:pic>
      <p:pic>
        <p:nvPicPr>
          <p:cNvPr id="14" name="image8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02197" y="3140017"/>
            <a:ext cx="6667634" cy="3032186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5002197" y="5879690"/>
            <a:ext cx="317055" cy="292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7519255" y="5879690"/>
            <a:ext cx="317055" cy="292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314649" y="4835383"/>
            <a:ext cx="476864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Quan-Hsiang Tseng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Aloysius Niko, Tien-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Pham, Hung-Pin Chung, Lin-Ming Deng, and Yen-Hung Chen, "Broadband tunable electro-optic switch/power divider as potential building blocks in integrated lithium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niobate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photonics," </a:t>
            </a:r>
            <a:r>
              <a:rPr lang="en-US" altLang="zh-TW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Opt. Express 30, 19121-19133 (2022)</a:t>
            </a:r>
            <a:endParaRPr lang="zh-TW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515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66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of Optical Circuit</a:t>
            </a:r>
            <a:endParaRPr lang="zh-TW" altLang="en-US" sz="66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348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Research design: Scheme 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SPDC + Adiabatic coupler for a source of indistinguishable photons</a:t>
            </a:r>
            <a:endParaRPr lang="zh-TW" altLang="en-US" dirty="0"/>
          </a:p>
        </p:txBody>
      </p:sp>
      <p:grpSp>
        <p:nvGrpSpPr>
          <p:cNvPr id="87" name="群組 86"/>
          <p:cNvGrpSpPr/>
          <p:nvPr/>
        </p:nvGrpSpPr>
        <p:grpSpPr>
          <a:xfrm>
            <a:off x="1389845" y="1786743"/>
            <a:ext cx="9858342" cy="1692442"/>
            <a:chOff x="1389845" y="1982884"/>
            <a:chExt cx="9858342" cy="1692442"/>
          </a:xfrm>
        </p:grpSpPr>
        <p:sp>
          <p:nvSpPr>
            <p:cNvPr id="4" name="矩形 3"/>
            <p:cNvSpPr/>
            <p:nvPr/>
          </p:nvSpPr>
          <p:spPr>
            <a:xfrm>
              <a:off x="4303510" y="2445749"/>
              <a:ext cx="3267076" cy="1206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4303510" y="2830483"/>
              <a:ext cx="3267076" cy="8167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矩形 40"/>
            <p:cNvSpPr/>
            <p:nvPr/>
          </p:nvSpPr>
          <p:spPr>
            <a:xfrm rot="60000">
              <a:off x="5625645" y="2948955"/>
              <a:ext cx="870606" cy="75392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矩形 41"/>
            <p:cNvSpPr/>
            <p:nvPr/>
          </p:nvSpPr>
          <p:spPr>
            <a:xfrm rot="60000">
              <a:off x="5754338" y="3068570"/>
              <a:ext cx="870606" cy="75392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矩形 42"/>
            <p:cNvSpPr/>
            <p:nvPr/>
          </p:nvSpPr>
          <p:spPr>
            <a:xfrm rot="60000">
              <a:off x="5868683" y="3177229"/>
              <a:ext cx="870606" cy="75392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5469453" y="3307868"/>
              <a:ext cx="2101133" cy="8167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4455910" y="2710870"/>
              <a:ext cx="855124" cy="326758"/>
              <a:chOff x="2573866" y="2633022"/>
              <a:chExt cx="948267" cy="247694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2573866" y="2633022"/>
                <a:ext cx="30552" cy="245234"/>
              </a:xfrm>
              <a:prstGeom prst="rect">
                <a:avLst/>
              </a:prstGeom>
              <a:solidFill>
                <a:schemeClr val="tx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2634970" y="2633022"/>
                <a:ext cx="30552" cy="245234"/>
              </a:xfrm>
              <a:prstGeom prst="rect">
                <a:avLst/>
              </a:prstGeom>
              <a:solidFill>
                <a:schemeClr val="tx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2696075" y="2633022"/>
                <a:ext cx="30552" cy="245234"/>
              </a:xfrm>
              <a:prstGeom prst="rect">
                <a:avLst/>
              </a:prstGeom>
              <a:solidFill>
                <a:schemeClr val="tx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2757179" y="2633022"/>
                <a:ext cx="30552" cy="245234"/>
              </a:xfrm>
              <a:prstGeom prst="rect">
                <a:avLst/>
              </a:prstGeom>
              <a:solidFill>
                <a:schemeClr val="tx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2817903" y="2635482"/>
                <a:ext cx="30552" cy="245234"/>
              </a:xfrm>
              <a:prstGeom prst="rect">
                <a:avLst/>
              </a:prstGeom>
              <a:solidFill>
                <a:schemeClr val="tx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879007" y="2635482"/>
                <a:ext cx="30552" cy="245234"/>
              </a:xfrm>
              <a:prstGeom prst="rect">
                <a:avLst/>
              </a:prstGeom>
              <a:solidFill>
                <a:schemeClr val="tx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2940112" y="2635482"/>
                <a:ext cx="30552" cy="245234"/>
              </a:xfrm>
              <a:prstGeom prst="rect">
                <a:avLst/>
              </a:prstGeom>
              <a:solidFill>
                <a:schemeClr val="tx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3001216" y="2635482"/>
                <a:ext cx="30552" cy="245234"/>
              </a:xfrm>
              <a:prstGeom prst="rect">
                <a:avLst/>
              </a:prstGeom>
              <a:solidFill>
                <a:schemeClr val="tx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3062321" y="2635482"/>
                <a:ext cx="30552" cy="245234"/>
              </a:xfrm>
              <a:prstGeom prst="rect">
                <a:avLst/>
              </a:prstGeom>
              <a:solidFill>
                <a:schemeClr val="tx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3123425" y="2635482"/>
                <a:ext cx="30552" cy="245234"/>
              </a:xfrm>
              <a:prstGeom prst="rect">
                <a:avLst/>
              </a:prstGeom>
              <a:solidFill>
                <a:schemeClr val="tx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3184529" y="2635482"/>
                <a:ext cx="30552" cy="245234"/>
              </a:xfrm>
              <a:prstGeom prst="rect">
                <a:avLst/>
              </a:prstGeom>
              <a:solidFill>
                <a:schemeClr val="tx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3245634" y="2635482"/>
                <a:ext cx="30552" cy="245234"/>
              </a:xfrm>
              <a:prstGeom prst="rect">
                <a:avLst/>
              </a:prstGeom>
              <a:solidFill>
                <a:schemeClr val="tx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3308268" y="2635482"/>
                <a:ext cx="30552" cy="245234"/>
              </a:xfrm>
              <a:prstGeom prst="rect">
                <a:avLst/>
              </a:prstGeom>
              <a:solidFill>
                <a:schemeClr val="tx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3369372" y="2635482"/>
                <a:ext cx="30552" cy="245234"/>
              </a:xfrm>
              <a:prstGeom prst="rect">
                <a:avLst/>
              </a:prstGeom>
              <a:solidFill>
                <a:schemeClr val="tx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3430476" y="2635482"/>
                <a:ext cx="30552" cy="245234"/>
              </a:xfrm>
              <a:prstGeom prst="rect">
                <a:avLst/>
              </a:prstGeom>
              <a:solidFill>
                <a:schemeClr val="tx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3491581" y="2635482"/>
                <a:ext cx="30552" cy="245234"/>
              </a:xfrm>
              <a:prstGeom prst="rect">
                <a:avLst/>
              </a:prstGeom>
              <a:solidFill>
                <a:schemeClr val="tx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48" name="直線接點 47"/>
            <p:cNvCxnSpPr/>
            <p:nvPr/>
          </p:nvCxnSpPr>
          <p:spPr>
            <a:xfrm>
              <a:off x="5469453" y="2112165"/>
              <a:ext cx="0" cy="1539858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接點 59"/>
            <p:cNvCxnSpPr/>
            <p:nvPr/>
          </p:nvCxnSpPr>
          <p:spPr>
            <a:xfrm>
              <a:off x="4303510" y="2112165"/>
              <a:ext cx="0" cy="333584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接點 62"/>
            <p:cNvCxnSpPr/>
            <p:nvPr/>
          </p:nvCxnSpPr>
          <p:spPr>
            <a:xfrm>
              <a:off x="7570586" y="2112165"/>
              <a:ext cx="0" cy="333584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向右箭號 52"/>
            <p:cNvSpPr/>
            <p:nvPr/>
          </p:nvSpPr>
          <p:spPr>
            <a:xfrm>
              <a:off x="3708197" y="2753534"/>
              <a:ext cx="548640" cy="235573"/>
            </a:xfrm>
            <a:prstGeom prst="rightArrow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向右箭號 53"/>
            <p:cNvSpPr/>
            <p:nvPr/>
          </p:nvSpPr>
          <p:spPr>
            <a:xfrm>
              <a:off x="7617259" y="2753534"/>
              <a:ext cx="548640" cy="235573"/>
            </a:xfrm>
            <a:prstGeom prst="rightArrow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向右箭號 54"/>
            <p:cNvSpPr/>
            <p:nvPr/>
          </p:nvSpPr>
          <p:spPr>
            <a:xfrm>
              <a:off x="7617259" y="3218821"/>
              <a:ext cx="548640" cy="235573"/>
            </a:xfrm>
            <a:prstGeom prst="rightArrow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1389845" y="2686654"/>
              <a:ext cx="2336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  <a:r>
                <a:rPr lang="zh-TW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@</a:t>
              </a:r>
              <a:r>
                <a:rPr lang="zh-TW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775</a:t>
              </a:r>
              <a:r>
                <a:rPr lang="zh-TW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nm, e-ray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8210569" y="2686654"/>
              <a:ext cx="3037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  <a:r>
                <a:rPr lang="zh-TW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@</a:t>
              </a:r>
              <a:r>
                <a:rPr lang="zh-TW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1550</a:t>
              </a:r>
              <a:r>
                <a:rPr lang="zh-TW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nm, o-ray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" name="直線單箭頭接點 61"/>
            <p:cNvCxnSpPr/>
            <p:nvPr/>
          </p:nvCxnSpPr>
          <p:spPr>
            <a:xfrm>
              <a:off x="4303509" y="2179500"/>
              <a:ext cx="1165944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字方塊 50"/>
            <p:cNvSpPr txBox="1"/>
            <p:nvPr/>
          </p:nvSpPr>
          <p:spPr>
            <a:xfrm>
              <a:off x="4501504" y="1986180"/>
              <a:ext cx="76174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SPDC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4" name="直線單箭頭接點 63"/>
            <p:cNvCxnSpPr/>
            <p:nvPr/>
          </p:nvCxnSpPr>
          <p:spPr>
            <a:xfrm>
              <a:off x="5469453" y="2179500"/>
              <a:ext cx="2101133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字方塊 51"/>
            <p:cNvSpPr txBox="1"/>
            <p:nvPr/>
          </p:nvSpPr>
          <p:spPr>
            <a:xfrm>
              <a:off x="6125173" y="1982884"/>
              <a:ext cx="67197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TW" dirty="0"/>
                <a:t>AAC</a:t>
              </a:r>
              <a:endParaRPr lang="zh-TW" altLang="en-US" dirty="0"/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8210569" y="3169636"/>
              <a:ext cx="3037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  <a:r>
                <a:rPr lang="zh-TW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@</a:t>
              </a:r>
              <a:r>
                <a:rPr lang="zh-TW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1550</a:t>
              </a:r>
              <a:r>
                <a:rPr lang="zh-TW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nm, e-ray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4262839" y="3305994"/>
              <a:ext cx="13773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X-cut, LNOI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 rot="21361747">
              <a:off x="6886821" y="2704877"/>
              <a:ext cx="535760" cy="75392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矩形 81"/>
            <p:cNvSpPr/>
            <p:nvPr/>
          </p:nvSpPr>
          <p:spPr>
            <a:xfrm>
              <a:off x="6781800" y="2560079"/>
              <a:ext cx="788786" cy="8167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向右箭號 82"/>
            <p:cNvSpPr/>
            <p:nvPr/>
          </p:nvSpPr>
          <p:spPr>
            <a:xfrm>
              <a:off x="7617259" y="2451081"/>
              <a:ext cx="548640" cy="235573"/>
            </a:xfrm>
            <a:prstGeom prst="rightArrow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8210569" y="2376298"/>
              <a:ext cx="3037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  <a:r>
                <a:rPr lang="zh-TW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@</a:t>
              </a:r>
              <a:r>
                <a:rPr lang="zh-TW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775</a:t>
              </a:r>
              <a:r>
                <a:rPr lang="zh-TW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nm, e-ray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文字方塊 90"/>
            <p:cNvSpPr txBox="1"/>
            <p:nvPr/>
          </p:nvSpPr>
          <p:spPr>
            <a:xfrm>
              <a:off x="1812425" y="3237795"/>
              <a:ext cx="213391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PPLN for type II SPDC</a:t>
              </a:r>
              <a:endPara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86" name="圖片 8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27210" y="3693913"/>
            <a:ext cx="6467475" cy="2552700"/>
          </a:xfrm>
          <a:prstGeom prst="rect">
            <a:avLst/>
          </a:prstGeom>
        </p:spPr>
      </p:pic>
      <p:sp>
        <p:nvSpPr>
          <p:cNvPr id="88" name="矩形 87"/>
          <p:cNvSpPr/>
          <p:nvPr/>
        </p:nvSpPr>
        <p:spPr>
          <a:xfrm>
            <a:off x="7145867" y="5924912"/>
            <a:ext cx="51099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Bocquillon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Couteau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Razavi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Laflamme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G.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Weihs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Phys. Rev. A 79, 035801 – Published 18 March 2009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0" name="直線單箭頭接點 89"/>
          <p:cNvCxnSpPr>
            <a:endCxn id="5" idx="2"/>
          </p:cNvCxnSpPr>
          <p:nvPr/>
        </p:nvCxnSpPr>
        <p:spPr>
          <a:xfrm flipV="1">
            <a:off x="3864077" y="2838242"/>
            <a:ext cx="605609" cy="3551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12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Research design: Scheme </a:t>
            </a:r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Integrated Multi-function chip for Fiber optic gyroscope(FOG)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386048" y="4140878"/>
            <a:ext cx="845975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SLD: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Superluminescent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diode, a broadband and solid state light source. 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PD1: Sensor of the injected optical power, in order to compensate the fluctuation of SLD.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PD2: Sensor of FOG system, to measure the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Sagnac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interfered optical power.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Chip integration: </a:t>
            </a:r>
          </a:p>
          <a:p>
            <a:pPr marL="342900" indent="-342900">
              <a:buAutoNum type="arabicParenR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AAC designed for 1/99 and 100% broad band coupler at TE polarization.</a:t>
            </a:r>
          </a:p>
          <a:p>
            <a:pPr marL="342900" indent="-342900">
              <a:buAutoNum type="arabicParenR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Y-branch waveguide.</a:t>
            </a:r>
          </a:p>
          <a:p>
            <a:pPr marL="342900" indent="-342900">
              <a:buAutoNum type="arabicParenR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phase modulator.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148" y="1748826"/>
            <a:ext cx="8051800" cy="2475459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8651" y="1409366"/>
            <a:ext cx="1792435" cy="134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5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69"/>
          <p:cNvSpPr/>
          <p:nvPr/>
        </p:nvSpPr>
        <p:spPr>
          <a:xfrm>
            <a:off x="8730919" y="2974450"/>
            <a:ext cx="1331227" cy="2336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Research design: Scheme </a:t>
            </a:r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Integrated micro optic rate gyroscope</a:t>
            </a:r>
            <a:r>
              <a:rPr lang="zh-TW" altLang="en-US" dirty="0" smtClean="0"/>
              <a:t> </a:t>
            </a:r>
            <a:r>
              <a:rPr lang="en-US" altLang="zh-TW" dirty="0" smtClean="0"/>
              <a:t>on a single chip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605518" y="2974450"/>
            <a:ext cx="2336800" cy="2336800"/>
          </a:xfrm>
          <a:prstGeom prst="ellipse">
            <a:avLst/>
          </a:prstGeom>
          <a:solidFill>
            <a:srgbClr val="FF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7746629" y="3115561"/>
            <a:ext cx="2054578" cy="2054578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643509" y="5358824"/>
            <a:ext cx="3663052" cy="124178"/>
          </a:xfrm>
          <a:prstGeom prst="rect">
            <a:avLst/>
          </a:prstGeom>
          <a:solidFill>
            <a:srgbClr val="FF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7643508" y="2818154"/>
            <a:ext cx="3630357" cy="124178"/>
          </a:xfrm>
          <a:prstGeom prst="rect">
            <a:avLst/>
          </a:prstGeom>
          <a:solidFill>
            <a:srgbClr val="FF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左大括弧 8"/>
          <p:cNvSpPr/>
          <p:nvPr/>
        </p:nvSpPr>
        <p:spPr>
          <a:xfrm>
            <a:off x="6701367" y="2879855"/>
            <a:ext cx="942142" cy="2530121"/>
          </a:xfrm>
          <a:prstGeom prst="leftBrace">
            <a:avLst>
              <a:gd name="adj1" fmla="val 51683"/>
              <a:gd name="adj2" fmla="val 50000"/>
            </a:avLst>
          </a:prstGeom>
          <a:noFill/>
          <a:ln w="1143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1353161" y="2639538"/>
            <a:ext cx="27707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1550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nm, e-ray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5658304" y="5330467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X-cut LNOI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329771" y="2586341"/>
            <a:ext cx="5944094" cy="310462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/>
          <p:cNvSpPr/>
          <p:nvPr/>
        </p:nvSpPr>
        <p:spPr>
          <a:xfrm>
            <a:off x="4561560" y="2639538"/>
            <a:ext cx="436532" cy="47635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3" name="直線單箭頭接點 42"/>
          <p:cNvCxnSpPr>
            <a:stCxn id="40" idx="1"/>
            <a:endCxn id="40" idx="3"/>
          </p:cNvCxnSpPr>
          <p:nvPr/>
        </p:nvCxnSpPr>
        <p:spPr>
          <a:xfrm>
            <a:off x="4561560" y="2877714"/>
            <a:ext cx="436532" cy="0"/>
          </a:xfrm>
          <a:prstGeom prst="straightConnector1">
            <a:avLst/>
          </a:prstGeom>
          <a:ln w="730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左大括弧 43"/>
          <p:cNvSpPr/>
          <p:nvPr/>
        </p:nvSpPr>
        <p:spPr>
          <a:xfrm rot="10800000">
            <a:off x="5329772" y="2879855"/>
            <a:ext cx="942142" cy="2530121"/>
          </a:xfrm>
          <a:prstGeom prst="leftBrace">
            <a:avLst>
              <a:gd name="adj1" fmla="val 51683"/>
              <a:gd name="adj2" fmla="val 50000"/>
            </a:avLst>
          </a:prstGeom>
          <a:noFill/>
          <a:ln w="1143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/>
          <p:cNvSpPr txBox="1"/>
          <p:nvPr/>
        </p:nvSpPr>
        <p:spPr>
          <a:xfrm>
            <a:off x="3963976" y="4618834"/>
            <a:ext cx="64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TIA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4897854" y="4743543"/>
            <a:ext cx="64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等腰三角形 49"/>
          <p:cNvSpPr/>
          <p:nvPr/>
        </p:nvSpPr>
        <p:spPr>
          <a:xfrm rot="16200000">
            <a:off x="3801404" y="5098339"/>
            <a:ext cx="736600" cy="635000"/>
          </a:xfrm>
          <a:prstGeom prst="triangl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/>
          <p:cNvSpPr/>
          <p:nvPr/>
        </p:nvSpPr>
        <p:spPr>
          <a:xfrm>
            <a:off x="5017552" y="5182651"/>
            <a:ext cx="309028" cy="46637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/>
          <p:cNvSpPr/>
          <p:nvPr/>
        </p:nvSpPr>
        <p:spPr>
          <a:xfrm flipH="1">
            <a:off x="5220625" y="5336600"/>
            <a:ext cx="105010" cy="1584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6" name="直線單箭頭接點 55"/>
          <p:cNvCxnSpPr>
            <a:stCxn id="52" idx="1"/>
            <a:endCxn id="50" idx="3"/>
          </p:cNvCxnSpPr>
          <p:nvPr/>
        </p:nvCxnSpPr>
        <p:spPr>
          <a:xfrm flipH="1" flipV="1">
            <a:off x="4487204" y="5415839"/>
            <a:ext cx="530348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 flipH="1" flipV="1">
            <a:off x="3306169" y="5415839"/>
            <a:ext cx="530348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2557806" y="5140710"/>
            <a:ext cx="704407" cy="550256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2601526" y="5208158"/>
            <a:ext cx="64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直線單箭頭接點 62"/>
          <p:cNvCxnSpPr/>
          <p:nvPr/>
        </p:nvCxnSpPr>
        <p:spPr>
          <a:xfrm flipH="1" flipV="1">
            <a:off x="2020668" y="5415839"/>
            <a:ext cx="530348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838200" y="5140710"/>
            <a:ext cx="1178630" cy="550256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904125" y="5208158"/>
            <a:ext cx="1201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DSP/PC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橢圓 66"/>
          <p:cNvSpPr/>
          <p:nvPr/>
        </p:nvSpPr>
        <p:spPr>
          <a:xfrm>
            <a:off x="8859432" y="2974450"/>
            <a:ext cx="2336800" cy="2336800"/>
          </a:xfrm>
          <a:prstGeom prst="ellipse">
            <a:avLst/>
          </a:prstGeom>
          <a:solidFill>
            <a:srgbClr val="FF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橢圓 67"/>
          <p:cNvSpPr/>
          <p:nvPr/>
        </p:nvSpPr>
        <p:spPr>
          <a:xfrm>
            <a:off x="9000543" y="3115561"/>
            <a:ext cx="2054578" cy="2054578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/>
        </p:nvSpPr>
        <p:spPr>
          <a:xfrm>
            <a:off x="8735422" y="3115560"/>
            <a:ext cx="1331227" cy="20545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弧形 34"/>
          <p:cNvSpPr/>
          <p:nvPr/>
        </p:nvSpPr>
        <p:spPr>
          <a:xfrm>
            <a:off x="9310034" y="3242827"/>
            <a:ext cx="1489830" cy="1489830"/>
          </a:xfrm>
          <a:prstGeom prst="arc">
            <a:avLst>
              <a:gd name="adj1" fmla="val 16679650"/>
              <a:gd name="adj2" fmla="val 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弧形 35"/>
          <p:cNvSpPr/>
          <p:nvPr/>
        </p:nvSpPr>
        <p:spPr>
          <a:xfrm>
            <a:off x="9344696" y="3556464"/>
            <a:ext cx="1454748" cy="1454748"/>
          </a:xfrm>
          <a:prstGeom prst="arc">
            <a:avLst>
              <a:gd name="adj1" fmla="val 160462"/>
              <a:gd name="adj2" fmla="val 4741110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9602072" y="3432081"/>
            <a:ext cx="1206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CW wave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9519707" y="4358249"/>
            <a:ext cx="1251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CCW wave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8730919" y="2639538"/>
            <a:ext cx="1331227" cy="122530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矩形 71"/>
          <p:cNvSpPr/>
          <p:nvPr/>
        </p:nvSpPr>
        <p:spPr>
          <a:xfrm>
            <a:off x="8730919" y="3153000"/>
            <a:ext cx="1331227" cy="122530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矩形 72"/>
          <p:cNvSpPr/>
          <p:nvPr/>
        </p:nvSpPr>
        <p:spPr>
          <a:xfrm>
            <a:off x="8730919" y="5001671"/>
            <a:ext cx="1331227" cy="122530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/>
        </p:nvSpPr>
        <p:spPr>
          <a:xfrm>
            <a:off x="8730919" y="5515133"/>
            <a:ext cx="1331227" cy="122530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5" name="直線單箭頭接點 74"/>
          <p:cNvCxnSpPr>
            <a:endCxn id="40" idx="1"/>
          </p:cNvCxnSpPr>
          <p:nvPr/>
        </p:nvCxnSpPr>
        <p:spPr>
          <a:xfrm flipV="1">
            <a:off x="3995366" y="2877714"/>
            <a:ext cx="566194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endCxn id="44" idx="2"/>
          </p:cNvCxnSpPr>
          <p:nvPr/>
        </p:nvCxnSpPr>
        <p:spPr>
          <a:xfrm>
            <a:off x="4998092" y="2877716"/>
            <a:ext cx="331680" cy="21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9396532" y="2326436"/>
            <a:ext cx="0" cy="313102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橢圓 85"/>
          <p:cNvSpPr/>
          <p:nvPr/>
        </p:nvSpPr>
        <p:spPr>
          <a:xfrm>
            <a:off x="9287675" y="2108722"/>
            <a:ext cx="217714" cy="217714"/>
          </a:xfrm>
          <a:prstGeom prst="ellipse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7" name="直線接點 86"/>
          <p:cNvCxnSpPr/>
          <p:nvPr/>
        </p:nvCxnSpPr>
        <p:spPr>
          <a:xfrm>
            <a:off x="9396532" y="3275530"/>
            <a:ext cx="0" cy="313102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群組 97"/>
          <p:cNvGrpSpPr/>
          <p:nvPr/>
        </p:nvGrpSpPr>
        <p:grpSpPr>
          <a:xfrm>
            <a:off x="9245959" y="3573617"/>
            <a:ext cx="301146" cy="134261"/>
            <a:chOff x="7926130" y="206202"/>
            <a:chExt cx="528416" cy="235585"/>
          </a:xfrm>
        </p:grpSpPr>
        <p:cxnSp>
          <p:nvCxnSpPr>
            <p:cNvPr id="99" name="直線接點 98"/>
            <p:cNvCxnSpPr/>
            <p:nvPr/>
          </p:nvCxnSpPr>
          <p:spPr>
            <a:xfrm>
              <a:off x="7926130" y="206202"/>
              <a:ext cx="528416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接點 99"/>
            <p:cNvCxnSpPr/>
            <p:nvPr/>
          </p:nvCxnSpPr>
          <p:spPr>
            <a:xfrm>
              <a:off x="8026400" y="327487"/>
              <a:ext cx="332878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接點 100"/>
            <p:cNvCxnSpPr/>
            <p:nvPr/>
          </p:nvCxnSpPr>
          <p:spPr>
            <a:xfrm>
              <a:off x="8100276" y="441787"/>
              <a:ext cx="168940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群組 103"/>
          <p:cNvGrpSpPr/>
          <p:nvPr/>
        </p:nvGrpSpPr>
        <p:grpSpPr>
          <a:xfrm rot="10800000">
            <a:off x="9287675" y="5641387"/>
            <a:ext cx="217714" cy="530816"/>
            <a:chOff x="9957601" y="4608216"/>
            <a:chExt cx="217714" cy="530816"/>
          </a:xfrm>
        </p:grpSpPr>
        <p:cxnSp>
          <p:nvCxnSpPr>
            <p:cNvPr id="102" name="直線接點 101"/>
            <p:cNvCxnSpPr/>
            <p:nvPr/>
          </p:nvCxnSpPr>
          <p:spPr>
            <a:xfrm>
              <a:off x="10066458" y="4825930"/>
              <a:ext cx="0" cy="313102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橢圓 102"/>
            <p:cNvSpPr/>
            <p:nvPr/>
          </p:nvSpPr>
          <p:spPr>
            <a:xfrm>
              <a:off x="9957601" y="4608216"/>
              <a:ext cx="217714" cy="217714"/>
            </a:xfrm>
            <a:prstGeom prst="ellipse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07" name="直線接點 106"/>
          <p:cNvCxnSpPr/>
          <p:nvPr/>
        </p:nvCxnSpPr>
        <p:spPr>
          <a:xfrm>
            <a:off x="8978165" y="4599849"/>
            <a:ext cx="0" cy="18955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群組 107"/>
          <p:cNvGrpSpPr/>
          <p:nvPr/>
        </p:nvGrpSpPr>
        <p:grpSpPr>
          <a:xfrm>
            <a:off x="8827592" y="4774393"/>
            <a:ext cx="301146" cy="134261"/>
            <a:chOff x="7926130" y="206202"/>
            <a:chExt cx="528416" cy="235585"/>
          </a:xfrm>
        </p:grpSpPr>
        <p:cxnSp>
          <p:nvCxnSpPr>
            <p:cNvPr id="109" name="直線接點 108"/>
            <p:cNvCxnSpPr/>
            <p:nvPr/>
          </p:nvCxnSpPr>
          <p:spPr>
            <a:xfrm>
              <a:off x="7926130" y="206202"/>
              <a:ext cx="528416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接點 109"/>
            <p:cNvCxnSpPr/>
            <p:nvPr/>
          </p:nvCxnSpPr>
          <p:spPr>
            <a:xfrm>
              <a:off x="8026400" y="327487"/>
              <a:ext cx="332878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線接點 110"/>
            <p:cNvCxnSpPr/>
            <p:nvPr/>
          </p:nvCxnSpPr>
          <p:spPr>
            <a:xfrm>
              <a:off x="8100276" y="441787"/>
              <a:ext cx="168940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直線接點 113"/>
          <p:cNvCxnSpPr/>
          <p:nvPr/>
        </p:nvCxnSpPr>
        <p:spPr>
          <a:xfrm>
            <a:off x="8953841" y="4618834"/>
            <a:ext cx="467971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/>
          <p:cNvCxnSpPr/>
          <p:nvPr/>
        </p:nvCxnSpPr>
        <p:spPr>
          <a:xfrm>
            <a:off x="9396532" y="4618834"/>
            <a:ext cx="0" cy="38283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字方塊 121"/>
          <p:cNvSpPr txBox="1"/>
          <p:nvPr/>
        </p:nvSpPr>
        <p:spPr>
          <a:xfrm>
            <a:off x="9074444" y="1714456"/>
            <a:ext cx="2601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 along Z-axis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148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Research design: Scheme 4</a:t>
            </a:r>
            <a:endParaRPr lang="zh-TW" altLang="en-US" dirty="0"/>
          </a:p>
        </p:txBody>
      </p:sp>
      <p:sp>
        <p:nvSpPr>
          <p:cNvPr id="37" name="內容版面配置區 36"/>
          <p:cNvSpPr>
            <a:spLocks noGrp="1"/>
          </p:cNvSpPr>
          <p:nvPr>
            <p:ph idx="1"/>
          </p:nvPr>
        </p:nvSpPr>
        <p:spPr>
          <a:xfrm>
            <a:off x="838200" y="1290092"/>
            <a:ext cx="11144250" cy="4882111"/>
          </a:xfrm>
        </p:spPr>
        <p:txBody>
          <a:bodyPr/>
          <a:lstStyle/>
          <a:p>
            <a:r>
              <a:rPr lang="en-US" altLang="zh-TW" dirty="0"/>
              <a:t>APPLN</a:t>
            </a:r>
            <a:r>
              <a:rPr lang="zh-TW" altLang="en-US" dirty="0"/>
              <a:t> </a:t>
            </a:r>
            <a:r>
              <a:rPr lang="en-US" altLang="zh-TW" dirty="0"/>
              <a:t>for </a:t>
            </a:r>
            <a:r>
              <a:rPr lang="en-US" altLang="zh-TW" dirty="0" smtClean="0"/>
              <a:t>Q-switched multi-wavelength </a:t>
            </a:r>
            <a:r>
              <a:rPr lang="en-US" altLang="zh-TW" dirty="0"/>
              <a:t>Optical Parametric </a:t>
            </a:r>
            <a:r>
              <a:rPr lang="en-US" altLang="zh-TW" dirty="0" smtClean="0"/>
              <a:t>Oscillator(OPO) and </a:t>
            </a:r>
            <a:r>
              <a:rPr lang="en-US" altLang="zh-TW" dirty="0"/>
              <a:t>EOPMC</a:t>
            </a:r>
          </a:p>
          <a:p>
            <a:endParaRPr lang="zh-TW" altLang="en-US" dirty="0"/>
          </a:p>
        </p:txBody>
      </p:sp>
      <p:grpSp>
        <p:nvGrpSpPr>
          <p:cNvPr id="76" name="群組 75"/>
          <p:cNvGrpSpPr/>
          <p:nvPr/>
        </p:nvGrpSpPr>
        <p:grpSpPr>
          <a:xfrm>
            <a:off x="1567821" y="2215055"/>
            <a:ext cx="9974107" cy="3829580"/>
            <a:chOff x="1477731" y="1890930"/>
            <a:chExt cx="10818288" cy="4153705"/>
          </a:xfrm>
        </p:grpSpPr>
        <p:grpSp>
          <p:nvGrpSpPr>
            <p:cNvPr id="56" name="群組 55"/>
            <p:cNvGrpSpPr/>
            <p:nvPr/>
          </p:nvGrpSpPr>
          <p:grpSpPr>
            <a:xfrm>
              <a:off x="1477731" y="1890930"/>
              <a:ext cx="10818288" cy="4153705"/>
              <a:chOff x="1698752" y="2203164"/>
              <a:chExt cx="10818288" cy="4153705"/>
            </a:xfrm>
          </p:grpSpPr>
          <p:grpSp>
            <p:nvGrpSpPr>
              <p:cNvPr id="40" name="群組 39"/>
              <p:cNvGrpSpPr/>
              <p:nvPr/>
            </p:nvGrpSpPr>
            <p:grpSpPr>
              <a:xfrm>
                <a:off x="3980706" y="2694029"/>
                <a:ext cx="4230588" cy="3662840"/>
                <a:chOff x="2874960" y="1866900"/>
                <a:chExt cx="5059365" cy="4380394"/>
              </a:xfrm>
            </p:grpSpPr>
            <p:sp>
              <p:nvSpPr>
                <p:cNvPr id="19" name="弧形 18"/>
                <p:cNvSpPr/>
                <p:nvPr/>
              </p:nvSpPr>
              <p:spPr>
                <a:xfrm>
                  <a:off x="3376612" y="1997376"/>
                  <a:ext cx="4029076" cy="4029076"/>
                </a:xfrm>
                <a:prstGeom prst="arc">
                  <a:avLst>
                    <a:gd name="adj1" fmla="val 14564696"/>
                    <a:gd name="adj2" fmla="val 17859138"/>
                  </a:avLst>
                </a:prstGeom>
                <a:solidFill>
                  <a:srgbClr val="FFFF0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6" name="弧形 15"/>
                <p:cNvSpPr/>
                <p:nvPr/>
              </p:nvSpPr>
              <p:spPr>
                <a:xfrm>
                  <a:off x="3614366" y="2233613"/>
                  <a:ext cx="3553568" cy="3553568"/>
                </a:xfrm>
                <a:prstGeom prst="arc">
                  <a:avLst>
                    <a:gd name="adj1" fmla="val 14556917"/>
                    <a:gd name="adj2" fmla="val 17872772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pic>
              <p:nvPicPr>
                <p:cNvPr id="14" name="圖片 13"/>
                <p:cNvPicPr>
                  <a:picLocks noChangeAspect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3493682" y="2139914"/>
                  <a:ext cx="3800332" cy="3744000"/>
                </a:xfrm>
                <a:prstGeom prst="rect">
                  <a:avLst/>
                </a:prstGeom>
              </p:spPr>
            </p:pic>
            <p:cxnSp>
              <p:nvCxnSpPr>
                <p:cNvPr id="6" name="直線接點 5"/>
                <p:cNvCxnSpPr/>
                <p:nvPr/>
              </p:nvCxnSpPr>
              <p:spPr>
                <a:xfrm>
                  <a:off x="2874960" y="2474304"/>
                  <a:ext cx="1772285" cy="0"/>
                </a:xfrm>
                <a:prstGeom prst="line">
                  <a:avLst/>
                </a:prstGeom>
                <a:ln w="508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" name="弧形 6"/>
                <p:cNvSpPr/>
                <p:nvPr/>
              </p:nvSpPr>
              <p:spPr>
                <a:xfrm>
                  <a:off x="3771900" y="2286345"/>
                  <a:ext cx="3238500" cy="3238500"/>
                </a:xfrm>
                <a:prstGeom prst="arc">
                  <a:avLst>
                    <a:gd name="adj1" fmla="val 14521565"/>
                    <a:gd name="adj2" fmla="val 17888321"/>
                  </a:avLst>
                </a:prstGeom>
                <a:ln w="508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8" name="直線接點 7"/>
                <p:cNvCxnSpPr/>
                <p:nvPr/>
              </p:nvCxnSpPr>
              <p:spPr>
                <a:xfrm>
                  <a:off x="6140450" y="2474304"/>
                  <a:ext cx="1793875" cy="0"/>
                </a:xfrm>
                <a:prstGeom prst="line">
                  <a:avLst/>
                </a:prstGeom>
                <a:ln w="508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橢圓 12"/>
                <p:cNvSpPr/>
                <p:nvPr/>
              </p:nvSpPr>
              <p:spPr>
                <a:xfrm>
                  <a:off x="3771900" y="2367332"/>
                  <a:ext cx="3238500" cy="3238500"/>
                </a:xfrm>
                <a:prstGeom prst="ellipse">
                  <a:avLst/>
                </a:prstGeom>
                <a:noFill/>
                <a:ln w="508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" name="橢圓 14"/>
                <p:cNvSpPr/>
                <p:nvPr/>
              </p:nvSpPr>
              <p:spPr>
                <a:xfrm>
                  <a:off x="3891228" y="2486660"/>
                  <a:ext cx="2999844" cy="2999844"/>
                </a:xfrm>
                <a:prstGeom prst="ellipse">
                  <a:avLst/>
                </a:prstGeom>
                <a:noFill/>
                <a:ln w="889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7" name="弧形 16"/>
                <p:cNvSpPr/>
                <p:nvPr/>
              </p:nvSpPr>
              <p:spPr>
                <a:xfrm>
                  <a:off x="3862935" y="2485446"/>
                  <a:ext cx="3056430" cy="3056430"/>
                </a:xfrm>
                <a:prstGeom prst="arc">
                  <a:avLst>
                    <a:gd name="adj1" fmla="val 14521565"/>
                    <a:gd name="adj2" fmla="val 17888321"/>
                  </a:avLst>
                </a:prstGeom>
                <a:solidFill>
                  <a:srgbClr val="FFFF0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8" name="弧形 17"/>
                <p:cNvSpPr/>
                <p:nvPr/>
              </p:nvSpPr>
              <p:spPr>
                <a:xfrm>
                  <a:off x="4060849" y="2681613"/>
                  <a:ext cx="2660602" cy="2660602"/>
                </a:xfrm>
                <a:prstGeom prst="arc">
                  <a:avLst>
                    <a:gd name="adj1" fmla="val 14460291"/>
                    <a:gd name="adj2" fmla="val 17898403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22" name="直線接點 21"/>
                <p:cNvCxnSpPr/>
                <p:nvPr/>
              </p:nvCxnSpPr>
              <p:spPr>
                <a:xfrm>
                  <a:off x="4469606" y="2221586"/>
                  <a:ext cx="107157" cy="21316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接點 23"/>
                <p:cNvCxnSpPr/>
                <p:nvPr/>
              </p:nvCxnSpPr>
              <p:spPr>
                <a:xfrm flipH="1">
                  <a:off x="6210300" y="2229995"/>
                  <a:ext cx="109538" cy="20475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線接點 25"/>
                <p:cNvCxnSpPr>
                  <a:stCxn id="17" idx="2"/>
                  <a:endCxn id="18" idx="2"/>
                </p:cNvCxnSpPr>
                <p:nvPr/>
              </p:nvCxnSpPr>
              <p:spPr>
                <a:xfrm flipH="1">
                  <a:off x="6021967" y="2666068"/>
                  <a:ext cx="89900" cy="17462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線接點 32"/>
                <p:cNvCxnSpPr>
                  <a:stCxn id="17" idx="0"/>
                </p:cNvCxnSpPr>
                <p:nvPr/>
              </p:nvCxnSpPr>
              <p:spPr>
                <a:xfrm>
                  <a:off x="4674311" y="2664001"/>
                  <a:ext cx="95333" cy="1694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矩形 34"/>
                <p:cNvSpPr/>
                <p:nvPr/>
              </p:nvSpPr>
              <p:spPr>
                <a:xfrm>
                  <a:off x="2874960" y="1866900"/>
                  <a:ext cx="5059365" cy="4380394"/>
                </a:xfrm>
                <a:prstGeom prst="rect">
                  <a:avLst/>
                </a:prstGeom>
                <a:noFill/>
                <a:ln w="317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42" name="直線單箭頭接點 41"/>
              <p:cNvCxnSpPr/>
              <p:nvPr/>
            </p:nvCxnSpPr>
            <p:spPr>
              <a:xfrm>
                <a:off x="2939142" y="3204363"/>
                <a:ext cx="979715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文字方塊 42"/>
              <p:cNvSpPr txBox="1"/>
              <p:nvPr/>
            </p:nvSpPr>
            <p:spPr>
              <a:xfrm>
                <a:off x="1698752" y="3026585"/>
                <a:ext cx="12795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Pump input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弧形 43"/>
              <p:cNvSpPr/>
              <p:nvPr/>
            </p:nvSpPr>
            <p:spPr>
              <a:xfrm>
                <a:off x="5123937" y="3530792"/>
                <a:ext cx="1930006" cy="1930006"/>
              </a:xfrm>
              <a:prstGeom prst="arc">
                <a:avLst>
                  <a:gd name="adj1" fmla="val 18817729"/>
                  <a:gd name="adj2" fmla="val 10264885"/>
                </a:avLst>
              </a:prstGeom>
              <a:ln w="635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" name="文字方塊 44"/>
              <p:cNvSpPr txBox="1"/>
              <p:nvPr/>
            </p:nvSpPr>
            <p:spPr>
              <a:xfrm>
                <a:off x="5047815" y="4085930"/>
                <a:ext cx="2036338" cy="7010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Ring resonator for</a:t>
                </a: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S1, S2, S3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7" name="直線單箭頭接點 46"/>
              <p:cNvCxnSpPr/>
              <p:nvPr/>
            </p:nvCxnSpPr>
            <p:spPr>
              <a:xfrm flipH="1">
                <a:off x="7570446" y="3730504"/>
                <a:ext cx="895016" cy="67859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字方塊 47"/>
              <p:cNvSpPr txBox="1"/>
              <p:nvPr/>
            </p:nvSpPr>
            <p:spPr>
              <a:xfrm>
                <a:off x="8498611" y="3582216"/>
                <a:ext cx="4018429" cy="16023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APLN for OPG, which convert pump </a:t>
                </a:r>
                <a:b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into signal and idler pairs:</a:t>
                </a:r>
              </a:p>
              <a:p>
                <a:pPr lvl="1"/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Signal 1 (S1) and idler 1 (I1);</a:t>
                </a:r>
              </a:p>
              <a:p>
                <a:pPr lvl="1"/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Signal 2 (S2) and idler 2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(I2);</a:t>
                </a:r>
              </a:p>
              <a:p>
                <a:pPr lvl="1"/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Signal 3 (S3) and idler 3 (I3).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文字方塊 48"/>
              <p:cNvSpPr txBox="1"/>
              <p:nvPr/>
            </p:nvSpPr>
            <p:spPr>
              <a:xfrm>
                <a:off x="6861277" y="2203164"/>
                <a:ext cx="5121115" cy="400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Electrode to applied electric field along Y-axis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0" name="直線單箭頭接點 49"/>
              <p:cNvCxnSpPr>
                <a:stCxn id="49" idx="1"/>
              </p:cNvCxnSpPr>
              <p:nvPr/>
            </p:nvCxnSpPr>
            <p:spPr>
              <a:xfrm flipH="1">
                <a:off x="6214089" y="2403460"/>
                <a:ext cx="647188" cy="45926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單箭頭接點 52"/>
              <p:cNvCxnSpPr/>
              <p:nvPr/>
            </p:nvCxnSpPr>
            <p:spPr>
              <a:xfrm>
                <a:off x="8289353" y="3204363"/>
                <a:ext cx="979715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文字方塊 53"/>
              <p:cNvSpPr txBox="1"/>
              <p:nvPr/>
            </p:nvSpPr>
            <p:spPr>
              <a:xfrm>
                <a:off x="9236093" y="3026585"/>
                <a:ext cx="2416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Q-switched OPO output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文字方塊 54"/>
              <p:cNvSpPr txBox="1"/>
              <p:nvPr/>
            </p:nvSpPr>
            <p:spPr>
              <a:xfrm>
                <a:off x="3991876" y="5970616"/>
                <a:ext cx="2640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Z-cut LNOI (substrate: Si)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5" name="群組 64"/>
            <p:cNvGrpSpPr/>
            <p:nvPr/>
          </p:nvGrpSpPr>
          <p:grpSpPr>
            <a:xfrm>
              <a:off x="5362871" y="2016530"/>
              <a:ext cx="414908" cy="171606"/>
              <a:chOff x="8566692" y="2260262"/>
              <a:chExt cx="988074" cy="290230"/>
            </a:xfrm>
          </p:grpSpPr>
          <p:grpSp>
            <p:nvGrpSpPr>
              <p:cNvPr id="61" name="群組 60"/>
              <p:cNvGrpSpPr/>
              <p:nvPr/>
            </p:nvGrpSpPr>
            <p:grpSpPr>
              <a:xfrm>
                <a:off x="8566692" y="2260262"/>
                <a:ext cx="577308" cy="290230"/>
                <a:chOff x="8566692" y="2260262"/>
                <a:chExt cx="577308" cy="290230"/>
              </a:xfrm>
            </p:grpSpPr>
            <p:cxnSp>
              <p:nvCxnSpPr>
                <p:cNvPr id="58" name="肘形接點 57"/>
                <p:cNvCxnSpPr/>
                <p:nvPr/>
              </p:nvCxnSpPr>
              <p:spPr>
                <a:xfrm>
                  <a:off x="8831766" y="2260262"/>
                  <a:ext cx="312234" cy="290230"/>
                </a:xfrm>
                <a:prstGeom prst="bentConnector3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肘形接點 59"/>
                <p:cNvCxnSpPr/>
                <p:nvPr/>
              </p:nvCxnSpPr>
              <p:spPr>
                <a:xfrm flipV="1">
                  <a:off x="8566692" y="2260262"/>
                  <a:ext cx="421191" cy="290230"/>
                </a:xfrm>
                <a:prstGeom prst="bentConnector3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2" name="群組 61"/>
              <p:cNvGrpSpPr/>
              <p:nvPr/>
            </p:nvGrpSpPr>
            <p:grpSpPr>
              <a:xfrm>
                <a:off x="8977458" y="2260262"/>
                <a:ext cx="577308" cy="290230"/>
                <a:chOff x="8566692" y="2260262"/>
                <a:chExt cx="577308" cy="290230"/>
              </a:xfrm>
            </p:grpSpPr>
            <p:cxnSp>
              <p:nvCxnSpPr>
                <p:cNvPr id="63" name="肘形接點 62"/>
                <p:cNvCxnSpPr/>
                <p:nvPr/>
              </p:nvCxnSpPr>
              <p:spPr>
                <a:xfrm>
                  <a:off x="8831766" y="2260262"/>
                  <a:ext cx="312234" cy="290230"/>
                </a:xfrm>
                <a:prstGeom prst="bentConnector3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肘形接點 63"/>
                <p:cNvCxnSpPr/>
                <p:nvPr/>
              </p:nvCxnSpPr>
              <p:spPr>
                <a:xfrm flipV="1">
                  <a:off x="8566692" y="2260262"/>
                  <a:ext cx="421191" cy="290230"/>
                </a:xfrm>
                <a:prstGeom prst="bentConnector3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7" name="直線接點 66"/>
            <p:cNvCxnSpPr/>
            <p:nvPr/>
          </p:nvCxnSpPr>
          <p:spPr>
            <a:xfrm flipV="1">
              <a:off x="5863696" y="2170480"/>
              <a:ext cx="0" cy="31340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橢圓 67"/>
            <p:cNvSpPr/>
            <p:nvPr/>
          </p:nvSpPr>
          <p:spPr>
            <a:xfrm>
              <a:off x="5806418" y="2052990"/>
              <a:ext cx="113092" cy="11309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4" name="直線接點 73"/>
            <p:cNvCxnSpPr/>
            <p:nvPr/>
          </p:nvCxnSpPr>
          <p:spPr>
            <a:xfrm flipV="1">
              <a:off x="5863696" y="3059311"/>
              <a:ext cx="0" cy="31340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橢圓 74"/>
            <p:cNvSpPr/>
            <p:nvPr/>
          </p:nvSpPr>
          <p:spPr>
            <a:xfrm>
              <a:off x="5806418" y="3352299"/>
              <a:ext cx="113092" cy="11309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071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66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Working Principle</a:t>
            </a:r>
            <a:endParaRPr lang="zh-TW" altLang="en-US" sz="66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484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838200" y="365129"/>
            <a:ext cx="11176000" cy="924963"/>
          </a:xfrm>
        </p:spPr>
        <p:txBody>
          <a:bodyPr>
            <a:noAutofit/>
          </a:bodyPr>
          <a:lstStyle/>
          <a:p>
            <a:r>
              <a:rPr lang="en-US" altLang="zh-TW" dirty="0"/>
              <a:t>Spontaneous Parametric </a:t>
            </a:r>
            <a:r>
              <a:rPr lang="en-US" altLang="zh-TW" dirty="0" smtClean="0"/>
              <a:t>Down-Conversion(SPDC)</a:t>
            </a:r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B9D5EA5-2C49-4942-B7A0-923A03531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defTabSz="457200">
              <a:defRPr/>
            </a:pPr>
            <a:fld id="{76489EB2-2C73-4C94-8824-B8917ED857A8}" type="slidenum">
              <a:rPr lang="en-US" sz="1800">
                <a:solidFill>
                  <a:srgbClr val="AA9066"/>
                </a:solidFill>
                <a:latin typeface="Calibri" panose="020F0502020204030204"/>
              </a:rPr>
              <a:pPr algn="ctr" defTabSz="457200">
                <a:defRPr/>
              </a:pPr>
              <a:t>16</a:t>
            </a:fld>
            <a:endParaRPr lang="en-US" sz="1800">
              <a:solidFill>
                <a:srgbClr val="AA9066"/>
              </a:solidFill>
              <a:latin typeface="Calibri" panose="020F0502020204030204"/>
            </a:endParaRPr>
          </a:p>
        </p:txBody>
      </p:sp>
      <p:sp>
        <p:nvSpPr>
          <p:cNvPr id="9" name="手繪多邊形: 圖案 73">
            <a:extLst>
              <a:ext uri="{FF2B5EF4-FFF2-40B4-BE49-F238E27FC236}">
                <a16:creationId xmlns:a16="http://schemas.microsoft.com/office/drawing/2014/main" xmlns="" id="{5590C0AB-62C6-47DE-BC47-721D86552FA7}"/>
              </a:ext>
            </a:extLst>
          </p:cNvPr>
          <p:cNvSpPr/>
          <p:nvPr/>
        </p:nvSpPr>
        <p:spPr>
          <a:xfrm>
            <a:off x="1201993" y="2251994"/>
            <a:ext cx="1785889" cy="343953"/>
          </a:xfrm>
          <a:custGeom>
            <a:avLst/>
            <a:gdLst>
              <a:gd name="connsiteX0" fmla="*/ 0 w 2265680"/>
              <a:gd name="connsiteY0" fmla="*/ 433818 h 436358"/>
              <a:gd name="connsiteX1" fmla="*/ 330200 w 2265680"/>
              <a:gd name="connsiteY1" fmla="*/ 2018 h 436358"/>
              <a:gd name="connsiteX2" fmla="*/ 655320 w 2265680"/>
              <a:gd name="connsiteY2" fmla="*/ 436358 h 436358"/>
              <a:gd name="connsiteX3" fmla="*/ 982980 w 2265680"/>
              <a:gd name="connsiteY3" fmla="*/ 2018 h 436358"/>
              <a:gd name="connsiteX4" fmla="*/ 1313180 w 2265680"/>
              <a:gd name="connsiteY4" fmla="*/ 431278 h 436358"/>
              <a:gd name="connsiteX5" fmla="*/ 1645920 w 2265680"/>
              <a:gd name="connsiteY5" fmla="*/ 2018 h 436358"/>
              <a:gd name="connsiteX6" fmla="*/ 1899920 w 2265680"/>
              <a:gd name="connsiteY6" fmla="*/ 271258 h 436358"/>
              <a:gd name="connsiteX7" fmla="*/ 2265680 w 2265680"/>
              <a:gd name="connsiteY7" fmla="*/ 304278 h 436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65680" h="436358">
                <a:moveTo>
                  <a:pt x="0" y="433818"/>
                </a:moveTo>
                <a:cubicBezTo>
                  <a:pt x="110490" y="217706"/>
                  <a:pt x="220980" y="1595"/>
                  <a:pt x="330200" y="2018"/>
                </a:cubicBezTo>
                <a:cubicBezTo>
                  <a:pt x="439420" y="2441"/>
                  <a:pt x="546523" y="436358"/>
                  <a:pt x="655320" y="436358"/>
                </a:cubicBezTo>
                <a:cubicBezTo>
                  <a:pt x="764117" y="436358"/>
                  <a:pt x="873337" y="2865"/>
                  <a:pt x="982980" y="2018"/>
                </a:cubicBezTo>
                <a:cubicBezTo>
                  <a:pt x="1092623" y="1171"/>
                  <a:pt x="1202690" y="431278"/>
                  <a:pt x="1313180" y="431278"/>
                </a:cubicBezTo>
                <a:cubicBezTo>
                  <a:pt x="1423670" y="431278"/>
                  <a:pt x="1548130" y="28688"/>
                  <a:pt x="1645920" y="2018"/>
                </a:cubicBezTo>
                <a:cubicBezTo>
                  <a:pt x="1743710" y="-24652"/>
                  <a:pt x="1796627" y="220881"/>
                  <a:pt x="1899920" y="271258"/>
                </a:cubicBezTo>
                <a:cubicBezTo>
                  <a:pt x="2003213" y="321635"/>
                  <a:pt x="2134446" y="312956"/>
                  <a:pt x="2265680" y="304278"/>
                </a:cubicBezTo>
              </a:path>
            </a:pathLst>
          </a:custGeom>
          <a:noFill/>
          <a:ln w="31750"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手繪多邊形: 圖案 74">
            <a:extLst>
              <a:ext uri="{FF2B5EF4-FFF2-40B4-BE49-F238E27FC236}">
                <a16:creationId xmlns:a16="http://schemas.microsoft.com/office/drawing/2014/main" xmlns="" id="{D8F50AB4-1882-418E-B7B0-E739D0A9F671}"/>
              </a:ext>
            </a:extLst>
          </p:cNvPr>
          <p:cNvSpPr/>
          <p:nvPr/>
        </p:nvSpPr>
        <p:spPr>
          <a:xfrm>
            <a:off x="5484629" y="2373927"/>
            <a:ext cx="1844937" cy="319849"/>
          </a:xfrm>
          <a:custGeom>
            <a:avLst/>
            <a:gdLst>
              <a:gd name="connsiteX0" fmla="*/ 0 w 2265680"/>
              <a:gd name="connsiteY0" fmla="*/ 433818 h 436358"/>
              <a:gd name="connsiteX1" fmla="*/ 330200 w 2265680"/>
              <a:gd name="connsiteY1" fmla="*/ 2018 h 436358"/>
              <a:gd name="connsiteX2" fmla="*/ 655320 w 2265680"/>
              <a:gd name="connsiteY2" fmla="*/ 436358 h 436358"/>
              <a:gd name="connsiteX3" fmla="*/ 982980 w 2265680"/>
              <a:gd name="connsiteY3" fmla="*/ 2018 h 436358"/>
              <a:gd name="connsiteX4" fmla="*/ 1313180 w 2265680"/>
              <a:gd name="connsiteY4" fmla="*/ 431278 h 436358"/>
              <a:gd name="connsiteX5" fmla="*/ 1645920 w 2265680"/>
              <a:gd name="connsiteY5" fmla="*/ 2018 h 436358"/>
              <a:gd name="connsiteX6" fmla="*/ 1899920 w 2265680"/>
              <a:gd name="connsiteY6" fmla="*/ 271258 h 436358"/>
              <a:gd name="connsiteX7" fmla="*/ 2265680 w 2265680"/>
              <a:gd name="connsiteY7" fmla="*/ 304278 h 436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65680" h="436358">
                <a:moveTo>
                  <a:pt x="0" y="433818"/>
                </a:moveTo>
                <a:cubicBezTo>
                  <a:pt x="110490" y="217706"/>
                  <a:pt x="220980" y="1595"/>
                  <a:pt x="330200" y="2018"/>
                </a:cubicBezTo>
                <a:cubicBezTo>
                  <a:pt x="439420" y="2441"/>
                  <a:pt x="546523" y="436358"/>
                  <a:pt x="655320" y="436358"/>
                </a:cubicBezTo>
                <a:cubicBezTo>
                  <a:pt x="764117" y="436358"/>
                  <a:pt x="873337" y="2865"/>
                  <a:pt x="982980" y="2018"/>
                </a:cubicBezTo>
                <a:cubicBezTo>
                  <a:pt x="1092623" y="1171"/>
                  <a:pt x="1202690" y="431278"/>
                  <a:pt x="1313180" y="431278"/>
                </a:cubicBezTo>
                <a:cubicBezTo>
                  <a:pt x="1423670" y="431278"/>
                  <a:pt x="1548130" y="28688"/>
                  <a:pt x="1645920" y="2018"/>
                </a:cubicBezTo>
                <a:cubicBezTo>
                  <a:pt x="1743710" y="-24652"/>
                  <a:pt x="1796627" y="220881"/>
                  <a:pt x="1899920" y="271258"/>
                </a:cubicBezTo>
                <a:cubicBezTo>
                  <a:pt x="2003213" y="321635"/>
                  <a:pt x="2134446" y="312956"/>
                  <a:pt x="2265680" y="304278"/>
                </a:cubicBezTo>
              </a:path>
            </a:pathLst>
          </a:custGeom>
          <a:noFill/>
          <a:ln w="31750">
            <a:solidFill>
              <a:srgbClr val="FF000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76">
                <a:extLst>
                  <a:ext uri="{FF2B5EF4-FFF2-40B4-BE49-F238E27FC236}">
                    <a16:creationId xmlns:a16="http://schemas.microsoft.com/office/drawing/2014/main" xmlns="" id="{AD7D6ABD-F66E-4265-86AE-0E52B7F9AC69}"/>
                  </a:ext>
                </a:extLst>
              </p:cNvPr>
              <p:cNvSpPr txBox="1"/>
              <p:nvPr/>
            </p:nvSpPr>
            <p:spPr>
              <a:xfrm>
                <a:off x="642621" y="2164519"/>
                <a:ext cx="4352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7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D7D6ABD-F66E-4265-86AE-0E52B7F9A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21" y="2164519"/>
                <a:ext cx="435247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6944" r="-4167"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90">
                <a:extLst>
                  <a:ext uri="{FF2B5EF4-FFF2-40B4-BE49-F238E27FC236}">
                    <a16:creationId xmlns:a16="http://schemas.microsoft.com/office/drawing/2014/main" xmlns="" id="{F51B0D0D-BB18-4F01-9435-6B393EB62D23}"/>
                  </a:ext>
                </a:extLst>
              </p:cNvPr>
              <p:cNvSpPr txBox="1"/>
              <p:nvPr/>
            </p:nvSpPr>
            <p:spPr>
              <a:xfrm>
                <a:off x="7349581" y="2450386"/>
                <a:ext cx="4423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9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51B0D0D-BB18-4F01-9435-6B393EB62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581" y="2450386"/>
                <a:ext cx="442365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8333" r="-5556"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手繪多邊形: 圖案 91">
            <a:extLst>
              <a:ext uri="{FF2B5EF4-FFF2-40B4-BE49-F238E27FC236}">
                <a16:creationId xmlns:a16="http://schemas.microsoft.com/office/drawing/2014/main" xmlns="" id="{14FDB92C-1898-49C8-AC9B-EE0B188E0FCD}"/>
              </a:ext>
            </a:extLst>
          </p:cNvPr>
          <p:cNvSpPr/>
          <p:nvPr/>
        </p:nvSpPr>
        <p:spPr>
          <a:xfrm>
            <a:off x="5484628" y="1922258"/>
            <a:ext cx="1903984" cy="366697"/>
          </a:xfrm>
          <a:custGeom>
            <a:avLst/>
            <a:gdLst>
              <a:gd name="connsiteX0" fmla="*/ 0 w 2265680"/>
              <a:gd name="connsiteY0" fmla="*/ 433818 h 436358"/>
              <a:gd name="connsiteX1" fmla="*/ 330200 w 2265680"/>
              <a:gd name="connsiteY1" fmla="*/ 2018 h 436358"/>
              <a:gd name="connsiteX2" fmla="*/ 655320 w 2265680"/>
              <a:gd name="connsiteY2" fmla="*/ 436358 h 436358"/>
              <a:gd name="connsiteX3" fmla="*/ 982980 w 2265680"/>
              <a:gd name="connsiteY3" fmla="*/ 2018 h 436358"/>
              <a:gd name="connsiteX4" fmla="*/ 1313180 w 2265680"/>
              <a:gd name="connsiteY4" fmla="*/ 431278 h 436358"/>
              <a:gd name="connsiteX5" fmla="*/ 1645920 w 2265680"/>
              <a:gd name="connsiteY5" fmla="*/ 2018 h 436358"/>
              <a:gd name="connsiteX6" fmla="*/ 1899920 w 2265680"/>
              <a:gd name="connsiteY6" fmla="*/ 271258 h 436358"/>
              <a:gd name="connsiteX7" fmla="*/ 2265680 w 2265680"/>
              <a:gd name="connsiteY7" fmla="*/ 304278 h 436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65680" h="436358">
                <a:moveTo>
                  <a:pt x="0" y="433818"/>
                </a:moveTo>
                <a:cubicBezTo>
                  <a:pt x="110490" y="217706"/>
                  <a:pt x="220980" y="1595"/>
                  <a:pt x="330200" y="2018"/>
                </a:cubicBezTo>
                <a:cubicBezTo>
                  <a:pt x="439420" y="2441"/>
                  <a:pt x="546523" y="436358"/>
                  <a:pt x="655320" y="436358"/>
                </a:cubicBezTo>
                <a:cubicBezTo>
                  <a:pt x="764117" y="436358"/>
                  <a:pt x="873337" y="2865"/>
                  <a:pt x="982980" y="2018"/>
                </a:cubicBezTo>
                <a:cubicBezTo>
                  <a:pt x="1092623" y="1171"/>
                  <a:pt x="1202690" y="431278"/>
                  <a:pt x="1313180" y="431278"/>
                </a:cubicBezTo>
                <a:cubicBezTo>
                  <a:pt x="1423670" y="431278"/>
                  <a:pt x="1548130" y="28688"/>
                  <a:pt x="1645920" y="2018"/>
                </a:cubicBezTo>
                <a:cubicBezTo>
                  <a:pt x="1743710" y="-24652"/>
                  <a:pt x="1796627" y="220881"/>
                  <a:pt x="1899920" y="271258"/>
                </a:cubicBezTo>
                <a:cubicBezTo>
                  <a:pt x="2003213" y="321635"/>
                  <a:pt x="2134446" y="312956"/>
                  <a:pt x="2265680" y="304278"/>
                </a:cubicBezTo>
              </a:path>
            </a:pathLst>
          </a:custGeom>
          <a:noFill/>
          <a:ln w="31750">
            <a:solidFill>
              <a:srgbClr val="C0000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92">
                <a:extLst>
                  <a:ext uri="{FF2B5EF4-FFF2-40B4-BE49-F238E27FC236}">
                    <a16:creationId xmlns:a16="http://schemas.microsoft.com/office/drawing/2014/main" xmlns="" id="{5FD6C230-FDFC-4D06-A076-A5EEB997C1B8}"/>
                  </a:ext>
                </a:extLst>
              </p:cNvPr>
              <p:cNvSpPr txBox="1"/>
              <p:nvPr/>
            </p:nvSpPr>
            <p:spPr>
              <a:xfrm>
                <a:off x="7306219" y="1693842"/>
                <a:ext cx="4423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字方塊 9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FD6C230-FDFC-4D06-A076-A5EEB997C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219" y="1693842"/>
                <a:ext cx="442364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8333" r="-5556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立方體 1">
            <a:extLst>
              <a:ext uri="{FF2B5EF4-FFF2-40B4-BE49-F238E27FC236}">
                <a16:creationId xmlns:a16="http://schemas.microsoft.com/office/drawing/2014/main" xmlns="" id="{A8C86EF2-C5B4-457B-8F4D-EC525F772E54}"/>
              </a:ext>
            </a:extLst>
          </p:cNvPr>
          <p:cNvSpPr/>
          <p:nvPr/>
        </p:nvSpPr>
        <p:spPr>
          <a:xfrm>
            <a:off x="3060434" y="1671076"/>
            <a:ext cx="2351643" cy="1506671"/>
          </a:xfrm>
          <a:prstGeom prst="cube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</a:ln>
          <a:scene3d>
            <a:camera prst="orthographicFront"/>
            <a:lightRig rig="threePt" dir="t"/>
          </a:scene3d>
          <a:sp3d prstMaterial="dkEdg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4">
                <a:extLst>
                  <a:ext uri="{FF2B5EF4-FFF2-40B4-BE49-F238E27FC236}">
                    <a16:creationId xmlns:a16="http://schemas.microsoft.com/office/drawing/2014/main" xmlns="" id="{9A0822D9-7FFB-40FB-BC8D-A0166D5D0CE5}"/>
                  </a:ext>
                </a:extLst>
              </p:cNvPr>
              <p:cNvSpPr txBox="1"/>
              <p:nvPr/>
            </p:nvSpPr>
            <p:spPr>
              <a:xfrm>
                <a:off x="3805122" y="2423970"/>
                <a:ext cx="641458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p>
                          <m:r>
                            <a:rPr lang="en-US" altLang="zh-TW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TW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TW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1" name="文字方塊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A0822D9-7FFB-40FB-BC8D-A0166D5D0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122" y="2423970"/>
                <a:ext cx="641458" cy="380810"/>
              </a:xfrm>
              <a:prstGeom prst="rect">
                <a:avLst/>
              </a:prstGeom>
              <a:blipFill rotWithShape="0">
                <a:blip r:embed="rId6"/>
                <a:stretch>
                  <a:fillRect b="-112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16">
            <a:extLst>
              <a:ext uri="{FF2B5EF4-FFF2-40B4-BE49-F238E27FC236}">
                <a16:creationId xmlns:a16="http://schemas.microsoft.com/office/drawing/2014/main" xmlns="" id="{44C69D5B-2F58-4AF7-B4A4-06F522672B0C}"/>
              </a:ext>
            </a:extLst>
          </p:cNvPr>
          <p:cNvSpPr/>
          <p:nvPr/>
        </p:nvSpPr>
        <p:spPr>
          <a:xfrm>
            <a:off x="980347" y="3744369"/>
            <a:ext cx="3563796" cy="21698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Constraints: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Energy/frequency/wavelength.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Momentum/wave-vector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Angular momentum/polarization.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Phase.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34A21CC9-9127-4D1F-85EC-9B5AFF75A6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0600" y="1560152"/>
            <a:ext cx="2331225" cy="17804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7263842-7022-4975-B5A3-079B5F28481B}"/>
              </a:ext>
            </a:extLst>
          </p:cNvPr>
          <p:cNvSpPr/>
          <p:nvPr/>
        </p:nvSpPr>
        <p:spPr>
          <a:xfrm>
            <a:off x="4544143" y="3744369"/>
            <a:ext cx="7647857" cy="2197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CW-pumped SPDC:</a:t>
            </a:r>
          </a:p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Entangled photon pairs are created randomly within the coherence time (30 ns) of the pump laser beam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altLang="en-US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Femtosecond-pulse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pumped type-II SPDC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Time of creation of entangle photon pairs is known within 100 femtoseconds.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47A97730-7973-42A8-AE72-5CAAC47274EF}"/>
              </a:ext>
            </a:extLst>
          </p:cNvPr>
          <p:cNvSpPr/>
          <p:nvPr/>
        </p:nvSpPr>
        <p:spPr>
          <a:xfrm>
            <a:off x="10298981" y="6191755"/>
            <a:ext cx="1893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(Saleh and </a:t>
            </a:r>
            <a:r>
              <a:rPr lang="en-US" sz="1400" i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Teich</a:t>
            </a:r>
            <a:r>
              <a:rPr lang="en-US" sz="1400" i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2007)</a:t>
            </a:r>
          </a:p>
        </p:txBody>
      </p:sp>
    </p:spTree>
    <p:extLst>
      <p:ext uri="{BB962C8B-B14F-4D97-AF65-F5344CB8AC3E}">
        <p14:creationId xmlns:p14="http://schemas.microsoft.com/office/powerpoint/2010/main" val="326185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="" xmlns:a16="http://schemas.microsoft.com/office/drawing/2014/main" id="{6161FAA4-B854-4F86-A58E-8D83DA7EA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Principle </a:t>
            </a:r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of Directional Coupler</a:t>
            </a:r>
            <a:endParaRPr lang="zh-TW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="" xmlns:a16="http://schemas.microsoft.com/office/drawing/2014/main" id="{6EC42559-8AAD-4EB2-A636-B1635250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2932F-92D9-43D8-B462-B5C82AA11FFA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F7843C68-08F5-4F5F-85AB-5EF5435985A8}"/>
              </a:ext>
            </a:extLst>
          </p:cNvPr>
          <p:cNvSpPr/>
          <p:nvPr/>
        </p:nvSpPr>
        <p:spPr>
          <a:xfrm>
            <a:off x="1789106" y="2109715"/>
            <a:ext cx="216131" cy="1745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="" xmlns:a16="http://schemas.microsoft.com/office/drawing/2014/main" id="{E62057B7-085F-4E08-AC1F-EA302A659CD5}"/>
              </a:ext>
            </a:extLst>
          </p:cNvPr>
          <p:cNvSpPr txBox="1"/>
          <p:nvPr/>
        </p:nvSpPr>
        <p:spPr>
          <a:xfrm>
            <a:off x="7654957" y="6202457"/>
            <a:ext cx="465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i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Yariv &amp; Yeh “Optical waves in crystals” chap.11, p463, 2003.</a:t>
            </a:r>
            <a:endParaRPr lang="zh-TW" altLang="zh-TW" sz="1400" i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="" xmlns:a16="http://schemas.microsoft.com/office/drawing/2014/main" id="{34140C88-BC28-4871-B940-4B485D15B464}"/>
                  </a:ext>
                </a:extLst>
              </p:cNvPr>
              <p:cNvSpPr/>
              <p:nvPr/>
            </p:nvSpPr>
            <p:spPr>
              <a:xfrm>
                <a:off x="2920061" y="5697476"/>
                <a:ext cx="70564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i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※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zh-TW" alt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：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𝑜𝑚𝑝𝑜𝑛𝑒𝑛𝑡</m:t>
                    </m:r>
                    <m:r>
                      <a:rPr lang="zh-TW" alt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𝑙𝑒𝑛𝑔𝑡h</m:t>
                    </m:r>
                    <m:r>
                      <a:rPr lang="zh-TW" alt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𝜅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𝑐𝑜𝑢𝑝𝑙𝑒𝑟</m:t>
                    </m:r>
                    <m:r>
                      <a:rPr lang="zh-TW" alt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𝑐𝑜𝑛𝑠𝑡𝑎𝑛𝑡</m:t>
                    </m:r>
                    <m:r>
                      <a:rPr lang="zh-TW" alt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𝑐𝑜𝑢𝑝𝑙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𝑖𝑛𝑔</m:t>
                    </m:r>
                    <m:r>
                      <a:rPr lang="zh-TW" alt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𝑙𝑒𝑛𝑔𝑡h</m:t>
                    </m:r>
                  </m:oMath>
                </a14:m>
                <a:endParaRPr lang="zh-TW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4140C88-BC28-4871-B940-4B485D15B4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061" y="5697476"/>
                <a:ext cx="7056419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圖片 27">
            <a:extLst>
              <a:ext uri="{FF2B5EF4-FFF2-40B4-BE49-F238E27FC236}">
                <a16:creationId xmlns="" xmlns:a16="http://schemas.microsoft.com/office/drawing/2014/main" id="{1DB7BACD-7980-42BD-B187-C175E59E325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147"/>
          <a:stretch/>
        </p:blipFill>
        <p:spPr>
          <a:xfrm>
            <a:off x="708506" y="1320943"/>
            <a:ext cx="5955159" cy="32832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="" xmlns:a16="http://schemas.microsoft.com/office/drawing/2014/main" id="{33EEDC80-D6FA-4308-8737-C80171928743}"/>
                  </a:ext>
                </a:extLst>
              </p:cNvPr>
              <p:cNvSpPr/>
              <p:nvPr/>
            </p:nvSpPr>
            <p:spPr>
              <a:xfrm>
                <a:off x="2782973" y="4661438"/>
                <a:ext cx="7330597" cy="1076192"/>
              </a:xfrm>
              <a:prstGeom prst="rect">
                <a:avLst/>
              </a:prstGeom>
              <a:solidFill>
                <a:srgbClr val="F2C4C5"/>
              </a:solidFill>
            </p:spPr>
            <p:txBody>
              <a:bodyPr wrap="none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Crossover condition :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𝜅</m:t>
                        </m:r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;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=1,3,5…</m:t>
                    </m:r>
                  </m:oMath>
                </a14:m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Straight-through condition :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𝜅</m:t>
                        </m:r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;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=2,4,6…</m:t>
                    </m:r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3EEDC80-D6FA-4308-8737-C801719287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973" y="4661438"/>
                <a:ext cx="7330597" cy="1076192"/>
              </a:xfrm>
              <a:prstGeom prst="rect">
                <a:avLst/>
              </a:prstGeom>
              <a:blipFill rotWithShape="0">
                <a:blip r:embed="rId5"/>
                <a:stretch>
                  <a:fillRect l="-1331" t="-1136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="" xmlns:a16="http://schemas.microsoft.com/office/drawing/2014/main" id="{D600EFB6-D5F9-4125-8912-F771FA18B950}"/>
                  </a:ext>
                </a:extLst>
              </p:cNvPr>
              <p:cNvSpPr/>
              <p:nvPr/>
            </p:nvSpPr>
            <p:spPr>
              <a:xfrm>
                <a:off x="8677791" y="2385156"/>
                <a:ext cx="2584234" cy="13089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>
                  <a:lnSpc>
                    <a:spcPct val="150000"/>
                  </a:lnSpc>
                  <a:defRPr/>
                </a:pP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LNOI</a:t>
                </a:r>
              </a:p>
              <a:p>
                <a:pPr lvl="0" algn="ctr">
                  <a:lnSpc>
                    <a:spcPct val="150000"/>
                  </a:lnSpc>
                  <a:defRPr/>
                </a:pPr>
                <a:r>
                  <a:rPr lang="en-US" altLang="zh-TW" sz="28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∆n </a:t>
                </a:r>
                <a14:m>
                  <m:oMath xmlns:m="http://schemas.openxmlformats.org/officeDocument/2006/math">
                    <m:r>
                      <a:rPr lang="en-US" altLang="zh-TW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↑</m:t>
                    </m:r>
                  </m:oMath>
                </a14:m>
                <a:r>
                  <a:rPr lang="zh-TW" altLang="en-US" sz="28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、</a:t>
                </a:r>
                <a:r>
                  <a:rPr lang="en-US" altLang="zh-TW" sz="28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</a:t>
                </a:r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TW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↓、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zh-TW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2800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600EFB6-D5F9-4125-8912-F771FA18B9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7791" y="2385156"/>
                <a:ext cx="2584234" cy="1308948"/>
              </a:xfrm>
              <a:prstGeom prst="rect">
                <a:avLst/>
              </a:prstGeom>
              <a:blipFill rotWithShape="0">
                <a:blip r:embed="rId6"/>
                <a:stretch>
                  <a:fillRect l="-4492" b="-120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箭號: 向右 3">
            <a:extLst>
              <a:ext uri="{FF2B5EF4-FFF2-40B4-BE49-F238E27FC236}">
                <a16:creationId xmlns="" xmlns:a16="http://schemas.microsoft.com/office/drawing/2014/main" id="{F4F2CB57-9FAF-414F-BDAF-6776B2430570}"/>
              </a:ext>
            </a:extLst>
          </p:cNvPr>
          <p:cNvSpPr/>
          <p:nvPr/>
        </p:nvSpPr>
        <p:spPr>
          <a:xfrm>
            <a:off x="7744265" y="2752113"/>
            <a:ext cx="622300" cy="575035"/>
          </a:xfrm>
          <a:prstGeom prst="rightArrow">
            <a:avLst/>
          </a:prstGeom>
          <a:gradFill flip="none" rotWithShape="1">
            <a:gsLst>
              <a:gs pos="0">
                <a:srgbClr val="D54145">
                  <a:shade val="30000"/>
                  <a:satMod val="115000"/>
                </a:srgbClr>
              </a:gs>
              <a:gs pos="50000">
                <a:srgbClr val="D54145">
                  <a:shade val="67500"/>
                  <a:satMod val="115000"/>
                </a:srgbClr>
              </a:gs>
              <a:gs pos="100000">
                <a:srgbClr val="D54145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8242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="" xmlns:a16="http://schemas.microsoft.com/office/drawing/2014/main" id="{6161FAA4-B854-4F86-A58E-8D83DA7EA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Principle </a:t>
            </a:r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of Adiabatic Coupler</a:t>
            </a:r>
            <a:endParaRPr lang="zh-TW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="" xmlns:a16="http://schemas.microsoft.com/office/drawing/2014/main" id="{FF8C964F-55EA-44D4-847B-9B30EAA9A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2932F-92D9-43D8-B462-B5C82AA11FFA}" type="slidenum">
              <a:rPr lang="zh-TW" altLang="en-US" smtClean="0"/>
              <a:t>18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="" xmlns:a16="http://schemas.microsoft.com/office/drawing/2014/main" id="{624AC381-9020-408D-877E-BD03AA180231}"/>
                  </a:ext>
                </a:extLst>
              </p:cNvPr>
              <p:cNvSpPr/>
              <p:nvPr/>
            </p:nvSpPr>
            <p:spPr>
              <a:xfrm>
                <a:off x="244733" y="4273764"/>
                <a:ext cx="7956523" cy="17082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+mj-lt"/>
                    <a:ea typeface="標楷體" panose="03000509000000000000" pitchFamily="65" charset="-120"/>
                  </a:rPr>
                  <a:t>Adiabatic condition</a:t>
                </a:r>
                <a:r>
                  <a:rPr lang="zh-TW" altLang="en-US" sz="2400" dirty="0">
                    <a:solidFill>
                      <a:srgbClr val="000000"/>
                    </a:solidFill>
                    <a:latin typeface="+mj-lt"/>
                    <a:ea typeface="標楷體" panose="03000509000000000000" pitchFamily="65" charset="-120"/>
                  </a:rPr>
                  <a:t>：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zh-TW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𝜅</m:t>
                        </m:r>
                      </m:den>
                    </m:f>
                    <m:r>
                      <a:rPr lang="en-US" altLang="zh-TW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2400" dirty="0">
                    <a:solidFill>
                      <a:srgbClr val="000000"/>
                    </a:solidFill>
                    <a:latin typeface="+mj-lt"/>
                    <a:ea typeface="標楷體" panose="03000509000000000000" pitchFamily="65" charset="-120"/>
                  </a:rPr>
                  <a:t>≪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+mj-lt"/>
                    <a:ea typeface="標楷體" panose="03000509000000000000" pitchFamily="65" charset="-120"/>
                  </a:rPr>
                  <a:t>1 [2.11]</a:t>
                </a:r>
                <a:r>
                  <a:rPr lang="zh-TW" altLang="en-US" sz="2400" dirty="0">
                    <a:solidFill>
                      <a:srgbClr val="000000"/>
                    </a:solidFill>
                    <a:latin typeface="+mj-lt"/>
                    <a:ea typeface="標楷體" panose="03000509000000000000" pitchFamily="65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zh-TW" alt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𝜅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altLang="zh-TW" sz="2400" dirty="0">
                    <a:solidFill>
                      <a:srgbClr val="000000"/>
                    </a:solidFill>
                    <a:latin typeface="+mj-lt"/>
                    <a:ea typeface="標楷體" panose="03000509000000000000" pitchFamily="65" charset="-120"/>
                  </a:rPr>
                  <a:t> coupling constant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+mj-lt"/>
                    <a:ea typeface="標楷體" panose="03000509000000000000" pitchFamily="65" charset="-120"/>
                  </a:rPr>
                  <a:t>x=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altLang="zh-TW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TW" altLang="en-US" sz="2400" dirty="0">
                    <a:solidFill>
                      <a:srgbClr val="000000"/>
                    </a:solidFill>
                    <a:latin typeface="+mj-lt"/>
                    <a:ea typeface="標楷體" panose="03000509000000000000" pitchFamily="65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𝜅</m:t>
                        </m:r>
                      </m:e>
                      <m:sub>
                        <m:r>
                          <a:rPr lang="en-US" altLang="zh-TW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12</m:t>
                        </m:r>
                      </m:sub>
                    </m:sSub>
                    <m:r>
                      <a:rPr lang="en-US" altLang="zh-TW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=</m:t>
                    </m:r>
                    <m:sSub>
                      <m:sSubPr>
                        <m:ctrlPr>
                          <a:rPr lang="en-US" altLang="zh-TW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𝜅</m:t>
                        </m:r>
                      </m:e>
                      <m:sub>
                        <m:r>
                          <a:rPr lang="en-US" altLang="zh-TW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23</m:t>
                        </m:r>
                      </m:sub>
                    </m:sSub>
                    <m:r>
                      <a:rPr lang="en-US" altLang="zh-TW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=</m:t>
                    </m:r>
                    <m:r>
                      <a:rPr lang="zh-TW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𝜅</m:t>
                    </m:r>
                  </m:oMath>
                </a14:m>
                <a:r>
                  <a:rPr lang="zh-TW" altLang="en-US" sz="2400" dirty="0" smtClean="0">
                    <a:solidFill>
                      <a:srgbClr val="000000"/>
                    </a:solidFill>
                    <a:latin typeface="+mj-lt"/>
                    <a:ea typeface="標楷體" panose="03000509000000000000" pitchFamily="65" charset="-120"/>
                  </a:rPr>
                  <a:t>，</a:t>
                </a:r>
                <a:r>
                  <a:rPr lang="en-US" altLang="zh-TW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 smtClean="0">
                    <a:solidFill>
                      <a:srgbClr val="000000"/>
                    </a:solidFill>
                    <a:latin typeface="+mj-lt"/>
                    <a:ea typeface="標楷體" panose="03000509000000000000" pitchFamily="65" charset="-120"/>
                  </a:rPr>
                  <a:t>=</a:t>
                </a:r>
                <a:r>
                  <a:rPr lang="zh-TW" altLang="en-US" sz="2400" dirty="0">
                    <a:solidFill>
                      <a:srgbClr val="000000"/>
                    </a:solidFill>
                    <a:latin typeface="+mj-lt"/>
                    <a:ea typeface="標楷體" panose="03000509000000000000" pitchFamily="65" charset="-120"/>
                  </a:rPr>
                  <a:t>𝜃𝑟</a:t>
                </a:r>
                <a:endParaRPr lang="en-US" altLang="zh-TW" sz="2400" dirty="0">
                  <a:solidFill>
                    <a:srgbClr val="000000"/>
                  </a:solidFill>
                  <a:latin typeface="+mj-lt"/>
                  <a:ea typeface="標楷體" panose="03000509000000000000" pitchFamily="65" charset="-120"/>
                </a:endParaRPr>
              </a:p>
              <a:p>
                <a:r>
                  <a:rPr lang="en-US" altLang="zh-TW" sz="2400" dirty="0">
                    <a:solidFill>
                      <a:srgbClr val="000000"/>
                    </a:solidFill>
                    <a:latin typeface="+mj-lt"/>
                    <a:ea typeface="標楷體" panose="03000509000000000000" pitchFamily="65" charset="-120"/>
                  </a:rPr>
                  <a:t>(Adiabatic parameters</a:t>
                </a:r>
                <a:r>
                  <a:rPr lang="zh-TW" altLang="en-US" sz="2400" dirty="0">
                    <a:solidFill>
                      <a:srgbClr val="000000"/>
                    </a:solidFill>
                    <a:latin typeface="+mj-lt"/>
                    <a:ea typeface="標楷體" panose="03000509000000000000" pitchFamily="65" charset="-120"/>
                  </a:rPr>
                  <a:t>，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+mj-lt"/>
                    <a:ea typeface="標楷體" panose="03000509000000000000" pitchFamily="65" charset="-120"/>
                  </a:rPr>
                  <a:t>θ=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TW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altLang="zh-TW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  <m:r>
                      <a:rPr lang="en-US" altLang="zh-TW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solidFill>
                      <a:srgbClr val="000000"/>
                    </a:solidFill>
                    <a:latin typeface="+mj-lt"/>
                    <a:ea typeface="標楷體" panose="03000509000000000000" pitchFamily="65" charset="-120"/>
                  </a:rPr>
                  <a:t>=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altLang="zh-TW" sz="2400" b="1" dirty="0" smtClean="0">
                            <a:solidFill>
                              <a:srgbClr val="FF0000"/>
                            </a:solidFill>
                            <a:latin typeface="+mj-lt"/>
                            <a:ea typeface="標楷體" panose="03000509000000000000" pitchFamily="65" charset="-12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zh-TW" altLang="el-GR" sz="2400" b="1" dirty="0" smtClean="0">
                            <a:solidFill>
                              <a:srgbClr val="FF0000"/>
                            </a:solidFill>
                            <a:latin typeface="+mj-lt"/>
                            <a:ea typeface="標楷體" panose="03000509000000000000" pitchFamily="65" charset="-120"/>
                          </a:rPr>
                          <m:t>𝑆</m:t>
                        </m:r>
                      </m:num>
                      <m:den>
                        <m:r>
                          <a:rPr lang="en-US" altLang="zh-TW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𝑙</m:t>
                        </m:r>
                      </m:den>
                    </m:f>
                  </m:oMath>
                </a14:m>
                <a:r>
                  <a:rPr lang="zh-TW" altLang="en-US" sz="2400" dirty="0">
                    <a:solidFill>
                      <a:srgbClr val="000000"/>
                    </a:solidFill>
                    <a:latin typeface="+mj-lt"/>
                    <a:ea typeface="標楷體" panose="03000509000000000000" pitchFamily="65" charset="-120"/>
                  </a:rPr>
                  <a:t>，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+mj-lt"/>
                    <a:ea typeface="標楷體" panose="03000509000000000000" pitchFamily="65" charset="-120"/>
                  </a:rPr>
                  <a:t>r: Fabrication constant</a:t>
                </a:r>
                <a:r>
                  <a:rPr lang="en-US" altLang="zh-TW" sz="2400" dirty="0" smtClean="0">
                    <a:solidFill>
                      <a:srgbClr val="000000"/>
                    </a:solidFill>
                    <a:latin typeface="+mj-lt"/>
                    <a:ea typeface="標楷體" panose="03000509000000000000" pitchFamily="65" charset="-120"/>
                  </a:rPr>
                  <a:t>)</a:t>
                </a:r>
                <a:endParaRPr lang="en-US" altLang="zh-TW" sz="2400" dirty="0">
                  <a:solidFill>
                    <a:srgbClr val="000000"/>
                  </a:solidFill>
                  <a:latin typeface="+mj-lt"/>
                  <a:ea typeface="標楷體" panose="03000509000000000000" pitchFamily="65" charset="-120"/>
                </a:endParaRPr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24AC381-9020-408D-877E-BD03AA1802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33" y="4273764"/>
                <a:ext cx="7956523" cy="1708225"/>
              </a:xfrm>
              <a:prstGeom prst="rect">
                <a:avLst/>
              </a:prstGeom>
              <a:blipFill rotWithShape="0">
                <a:blip r:embed="rId3"/>
                <a:stretch>
                  <a:fillRect l="-1149" t="-714" b="-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群組 14">
            <a:extLst>
              <a:ext uri="{FF2B5EF4-FFF2-40B4-BE49-F238E27FC236}">
                <a16:creationId xmlns="" xmlns:a16="http://schemas.microsoft.com/office/drawing/2014/main" id="{BC29DFDF-DAD8-440B-812C-94DFFE2B1337}"/>
              </a:ext>
            </a:extLst>
          </p:cNvPr>
          <p:cNvGrpSpPr/>
          <p:nvPr/>
        </p:nvGrpSpPr>
        <p:grpSpPr>
          <a:xfrm>
            <a:off x="3719009" y="1997192"/>
            <a:ext cx="3323574" cy="2134936"/>
            <a:chOff x="440478" y="646331"/>
            <a:chExt cx="3505439" cy="2251759"/>
          </a:xfrm>
        </p:grpSpPr>
        <p:pic>
          <p:nvPicPr>
            <p:cNvPr id="55" name="圖片 54">
              <a:extLst>
                <a:ext uri="{FF2B5EF4-FFF2-40B4-BE49-F238E27FC236}">
                  <a16:creationId xmlns="" xmlns:a16="http://schemas.microsoft.com/office/drawing/2014/main" id="{13AAE395-E155-4F9F-A521-FAF7931A2EC9}"/>
                </a:ext>
              </a:extLst>
            </p:cNvPr>
            <p:cNvPicPr/>
            <p:nvPr/>
          </p:nvPicPr>
          <p:blipFill rotWithShape="1">
            <a:blip r:embed="rId4"/>
            <a:srcRect r="16376"/>
            <a:stretch/>
          </p:blipFill>
          <p:spPr>
            <a:xfrm>
              <a:off x="440478" y="646331"/>
              <a:ext cx="3490499" cy="2251759"/>
            </a:xfrm>
            <a:prstGeom prst="rect">
              <a:avLst/>
            </a:prstGeom>
          </p:spPr>
        </p:pic>
        <p:cxnSp>
          <p:nvCxnSpPr>
            <p:cNvPr id="8" name="直線單箭頭接點 7">
              <a:extLst>
                <a:ext uri="{FF2B5EF4-FFF2-40B4-BE49-F238E27FC236}">
                  <a16:creationId xmlns="" xmlns:a16="http://schemas.microsoft.com/office/drawing/2014/main" id="{7668A07F-09E5-4CEE-866F-A32C588B1E45}"/>
                </a:ext>
              </a:extLst>
            </p:cNvPr>
            <p:cNvCxnSpPr/>
            <p:nvPr/>
          </p:nvCxnSpPr>
          <p:spPr>
            <a:xfrm flipV="1">
              <a:off x="3063711" y="2130457"/>
              <a:ext cx="358219" cy="3582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="" xmlns:a16="http://schemas.microsoft.com/office/drawing/2014/main" id="{3CE567E9-7493-40D1-9C5A-111E5D91EF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3710" y="2488676"/>
              <a:ext cx="592289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>
              <a:extLst>
                <a:ext uri="{FF2B5EF4-FFF2-40B4-BE49-F238E27FC236}">
                  <a16:creationId xmlns="" xmlns:a16="http://schemas.microsoft.com/office/drawing/2014/main" id="{B6156E18-E52E-4486-A1A3-8775003E81EA}"/>
                </a:ext>
              </a:extLst>
            </p:cNvPr>
            <p:cNvSpPr txBox="1"/>
            <p:nvPr/>
          </p:nvSpPr>
          <p:spPr>
            <a:xfrm>
              <a:off x="3431356" y="1837881"/>
              <a:ext cx="2450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+mj-lt"/>
                </a:rPr>
                <a:t>x</a:t>
              </a:r>
              <a:endParaRPr lang="zh-TW" altLang="en-US" dirty="0">
                <a:latin typeface="+mj-lt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="" xmlns:a16="http://schemas.microsoft.com/office/drawing/2014/main" id="{BB82F85F-477C-497C-9224-FB0AC9CCC074}"/>
                </a:ext>
              </a:extLst>
            </p:cNvPr>
            <p:cNvSpPr txBox="1"/>
            <p:nvPr/>
          </p:nvSpPr>
          <p:spPr>
            <a:xfrm>
              <a:off x="3700820" y="2241241"/>
              <a:ext cx="2450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+mj-lt"/>
                </a:rPr>
                <a:t>y</a:t>
              </a:r>
              <a:endParaRPr lang="zh-TW" altLang="en-US" dirty="0">
                <a:latin typeface="+mj-lt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0277D120-441C-48C9-8C70-7CBE0461FB8C}"/>
              </a:ext>
            </a:extLst>
          </p:cNvPr>
          <p:cNvSpPr/>
          <p:nvPr/>
        </p:nvSpPr>
        <p:spPr>
          <a:xfrm>
            <a:off x="8610600" y="6110308"/>
            <a:ext cx="3603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i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Physical review letters 101.19 (2008): 193901.</a:t>
            </a:r>
            <a:endParaRPr lang="zh-TW" altLang="zh-TW" sz="1400" i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="" xmlns:a16="http://schemas.microsoft.com/office/drawing/2014/main" id="{7C55149F-CEE3-4F0B-9859-CAE7B6A34AE8}"/>
              </a:ext>
            </a:extLst>
          </p:cNvPr>
          <p:cNvGrpSpPr/>
          <p:nvPr/>
        </p:nvGrpSpPr>
        <p:grpSpPr>
          <a:xfrm>
            <a:off x="885405" y="2058303"/>
            <a:ext cx="2528406" cy="2064044"/>
            <a:chOff x="3852946" y="977620"/>
            <a:chExt cx="2508736" cy="2047986"/>
          </a:xfrm>
        </p:grpSpPr>
        <p:cxnSp>
          <p:nvCxnSpPr>
            <p:cNvPr id="19" name="直線接點 18">
              <a:extLst>
                <a:ext uri="{FF2B5EF4-FFF2-40B4-BE49-F238E27FC236}">
                  <a16:creationId xmlns="" xmlns:a16="http://schemas.microsoft.com/office/drawing/2014/main" id="{6A89E73C-2B9F-40D3-8956-EF89E4666776}"/>
                </a:ext>
              </a:extLst>
            </p:cNvPr>
            <p:cNvCxnSpPr>
              <a:cxnSpLocks/>
            </p:cNvCxnSpPr>
            <p:nvPr/>
          </p:nvCxnSpPr>
          <p:spPr>
            <a:xfrm>
              <a:off x="4229579" y="1343743"/>
              <a:ext cx="1390159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>
              <a:extLst>
                <a:ext uri="{FF2B5EF4-FFF2-40B4-BE49-F238E27FC236}">
                  <a16:creationId xmlns="" xmlns:a16="http://schemas.microsoft.com/office/drawing/2014/main" id="{22E39AE1-997E-4610-88D1-D1A9FC778CBF}"/>
                </a:ext>
              </a:extLst>
            </p:cNvPr>
            <p:cNvCxnSpPr>
              <a:cxnSpLocks/>
            </p:cNvCxnSpPr>
            <p:nvPr/>
          </p:nvCxnSpPr>
          <p:spPr>
            <a:xfrm>
              <a:off x="3852946" y="2840941"/>
              <a:ext cx="1660451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群組 20">
              <a:extLst>
                <a:ext uri="{FF2B5EF4-FFF2-40B4-BE49-F238E27FC236}">
                  <a16:creationId xmlns="" xmlns:a16="http://schemas.microsoft.com/office/drawing/2014/main" id="{142C50C2-88AF-4039-B2BC-B724C9BE5BEF}"/>
                </a:ext>
              </a:extLst>
            </p:cNvPr>
            <p:cNvGrpSpPr/>
            <p:nvPr/>
          </p:nvGrpSpPr>
          <p:grpSpPr>
            <a:xfrm rot="5400000">
              <a:off x="4732181" y="1655272"/>
              <a:ext cx="507832" cy="110060"/>
              <a:chOff x="2200940" y="2011611"/>
              <a:chExt cx="556235" cy="200071"/>
            </a:xfrm>
            <a:effectLst/>
          </p:grpSpPr>
          <p:sp>
            <p:nvSpPr>
              <p:cNvPr id="38" name="手繪多邊形: 圖案 37">
                <a:extLst>
                  <a:ext uri="{FF2B5EF4-FFF2-40B4-BE49-F238E27FC236}">
                    <a16:creationId xmlns="" xmlns:a16="http://schemas.microsoft.com/office/drawing/2014/main" id="{B2FC27F3-4D87-4F23-84BA-E9E79E8EBD64}"/>
                  </a:ext>
                </a:extLst>
              </p:cNvPr>
              <p:cNvSpPr/>
              <p:nvPr/>
            </p:nvSpPr>
            <p:spPr>
              <a:xfrm>
                <a:off x="2200940" y="2011611"/>
                <a:ext cx="480878" cy="200071"/>
              </a:xfrm>
              <a:custGeom>
                <a:avLst/>
                <a:gdLst>
                  <a:gd name="connsiteX0" fmla="*/ 0 w 956930"/>
                  <a:gd name="connsiteY0" fmla="*/ 227902 h 398134"/>
                  <a:gd name="connsiteX1" fmla="*/ 42530 w 956930"/>
                  <a:gd name="connsiteY1" fmla="*/ 185372 h 398134"/>
                  <a:gd name="connsiteX2" fmla="*/ 212651 w 956930"/>
                  <a:gd name="connsiteY2" fmla="*/ 4618 h 398134"/>
                  <a:gd name="connsiteX3" fmla="*/ 414669 w 956930"/>
                  <a:gd name="connsiteY3" fmla="*/ 398023 h 398134"/>
                  <a:gd name="connsiteX4" fmla="*/ 648586 w 956930"/>
                  <a:gd name="connsiteY4" fmla="*/ 47149 h 398134"/>
                  <a:gd name="connsiteX5" fmla="*/ 818707 w 956930"/>
                  <a:gd name="connsiteY5" fmla="*/ 249167 h 398134"/>
                  <a:gd name="connsiteX6" fmla="*/ 956930 w 956930"/>
                  <a:gd name="connsiteY6" fmla="*/ 164107 h 398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930" h="398134">
                    <a:moveTo>
                      <a:pt x="0" y="227902"/>
                    </a:moveTo>
                    <a:cubicBezTo>
                      <a:pt x="3544" y="225244"/>
                      <a:pt x="7088" y="222586"/>
                      <a:pt x="42530" y="185372"/>
                    </a:cubicBezTo>
                    <a:cubicBezTo>
                      <a:pt x="77972" y="148158"/>
                      <a:pt x="150628" y="-30824"/>
                      <a:pt x="212651" y="4618"/>
                    </a:cubicBezTo>
                    <a:cubicBezTo>
                      <a:pt x="274674" y="40060"/>
                      <a:pt x="342013" y="390934"/>
                      <a:pt x="414669" y="398023"/>
                    </a:cubicBezTo>
                    <a:cubicBezTo>
                      <a:pt x="487325" y="405112"/>
                      <a:pt x="581246" y="71958"/>
                      <a:pt x="648586" y="47149"/>
                    </a:cubicBezTo>
                    <a:cubicBezTo>
                      <a:pt x="715926" y="22340"/>
                      <a:pt x="767316" y="229674"/>
                      <a:pt x="818707" y="249167"/>
                    </a:cubicBezTo>
                    <a:cubicBezTo>
                      <a:pt x="870098" y="268660"/>
                      <a:pt x="910856" y="178284"/>
                      <a:pt x="956930" y="164107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" name="等腰三角形 38">
                <a:extLst>
                  <a:ext uri="{FF2B5EF4-FFF2-40B4-BE49-F238E27FC236}">
                    <a16:creationId xmlns="" xmlns:a16="http://schemas.microsoft.com/office/drawing/2014/main" id="{B62CFEA4-286D-47A7-B684-83E97834F1EC}"/>
                  </a:ext>
                </a:extLst>
              </p:cNvPr>
              <p:cNvSpPr/>
              <p:nvPr/>
            </p:nvSpPr>
            <p:spPr>
              <a:xfrm rot="5400000">
                <a:off x="2684150" y="2065028"/>
                <a:ext cx="78317" cy="67733"/>
              </a:xfrm>
              <a:prstGeom prst="triangl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="" xmlns:a16="http://schemas.microsoft.com/office/drawing/2014/main" id="{B753B5D1-52E7-428C-AF36-81192F9A36A0}"/>
                    </a:ext>
                  </a:extLst>
                </p:cNvPr>
                <p:cNvSpPr/>
                <p:nvPr/>
              </p:nvSpPr>
              <p:spPr>
                <a:xfrm>
                  <a:off x="5496081" y="2656274"/>
                  <a:ext cx="51270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72894674-F41C-4510-B421-ABF4B03C76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6081" y="2656274"/>
                  <a:ext cx="512704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="" xmlns:a16="http://schemas.microsoft.com/office/drawing/2014/main" id="{A085AD32-88CF-41EA-9C7A-DE3B29A5DAD4}"/>
                    </a:ext>
                  </a:extLst>
                </p:cNvPr>
                <p:cNvSpPr/>
                <p:nvPr/>
              </p:nvSpPr>
              <p:spPr>
                <a:xfrm>
                  <a:off x="4763046" y="977620"/>
                  <a:ext cx="51802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FD36C1EC-ECB2-4CA6-8AA6-CEFFEF5E56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3046" y="977620"/>
                  <a:ext cx="518026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矩形 23">
                  <a:extLst>
                    <a:ext uri="{FF2B5EF4-FFF2-40B4-BE49-F238E27FC236}">
                      <a16:creationId xmlns="" xmlns:a16="http://schemas.microsoft.com/office/drawing/2014/main" id="{65A76FD9-FB14-4B6F-8E52-D3443A71038F}"/>
                    </a:ext>
                  </a:extLst>
                </p:cNvPr>
                <p:cNvSpPr/>
                <p:nvPr/>
              </p:nvSpPr>
              <p:spPr>
                <a:xfrm>
                  <a:off x="5535461" y="1606816"/>
                  <a:ext cx="43239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29EA71C2-F7A5-4A99-8532-0A0059DAE2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5461" y="1606816"/>
                  <a:ext cx="43239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直線接點 24">
              <a:extLst>
                <a:ext uri="{FF2B5EF4-FFF2-40B4-BE49-F238E27FC236}">
                  <a16:creationId xmlns="" xmlns:a16="http://schemas.microsoft.com/office/drawing/2014/main" id="{7C6E81FC-69D5-40A4-9FB2-C6648D7D3451}"/>
                </a:ext>
              </a:extLst>
            </p:cNvPr>
            <p:cNvCxnSpPr>
              <a:cxnSpLocks/>
            </p:cNvCxnSpPr>
            <p:nvPr/>
          </p:nvCxnSpPr>
          <p:spPr>
            <a:xfrm>
              <a:off x="5282715" y="2553995"/>
              <a:ext cx="643071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>
              <a:extLst>
                <a:ext uri="{FF2B5EF4-FFF2-40B4-BE49-F238E27FC236}">
                  <a16:creationId xmlns="" xmlns:a16="http://schemas.microsoft.com/office/drawing/2014/main" id="{8611AF53-E0FD-445C-8380-C38F684A97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29579" y="1523054"/>
              <a:ext cx="401517" cy="128663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="" xmlns:a16="http://schemas.microsoft.com/office/drawing/2014/main" id="{5B42EA32-31CE-4FF4-9BDB-CE124DA09CE8}"/>
                </a:ext>
              </a:extLst>
            </p:cNvPr>
            <p:cNvCxnSpPr>
              <a:cxnSpLocks/>
            </p:cNvCxnSpPr>
            <p:nvPr/>
          </p:nvCxnSpPr>
          <p:spPr>
            <a:xfrm>
              <a:off x="5314079" y="1701371"/>
              <a:ext cx="288404" cy="82854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>
                  <a:extLst>
                    <a:ext uri="{FF2B5EF4-FFF2-40B4-BE49-F238E27FC236}">
                      <a16:creationId xmlns="" xmlns:a16="http://schemas.microsoft.com/office/drawing/2014/main" id="{E7BA33DE-6DFE-44A7-9981-0D1B323B2457}"/>
                    </a:ext>
                  </a:extLst>
                </p:cNvPr>
                <p:cNvSpPr/>
                <p:nvPr/>
              </p:nvSpPr>
              <p:spPr>
                <a:xfrm>
                  <a:off x="5843656" y="2358232"/>
                  <a:ext cx="51802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6" name="矩形 65">
                  <a:extLst>
                    <a:ext uri="{FF2B5EF4-FFF2-40B4-BE49-F238E27FC236}">
                      <a16:creationId xmlns:a16="http://schemas.microsoft.com/office/drawing/2014/main" id="{B6312003-684E-456E-A215-9BC08876E2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3656" y="2358232"/>
                  <a:ext cx="518026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直線接點 28">
              <a:extLst>
                <a:ext uri="{FF2B5EF4-FFF2-40B4-BE49-F238E27FC236}">
                  <a16:creationId xmlns="" xmlns:a16="http://schemas.microsoft.com/office/drawing/2014/main" id="{43944C6F-D508-4273-BFA2-82DF5805DE4E}"/>
                </a:ext>
              </a:extLst>
            </p:cNvPr>
            <p:cNvCxnSpPr>
              <a:cxnSpLocks/>
            </p:cNvCxnSpPr>
            <p:nvPr/>
          </p:nvCxnSpPr>
          <p:spPr>
            <a:xfrm>
              <a:off x="4248272" y="1516704"/>
              <a:ext cx="581878" cy="635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>
              <a:extLst>
                <a:ext uri="{FF2B5EF4-FFF2-40B4-BE49-F238E27FC236}">
                  <a16:creationId xmlns="" xmlns:a16="http://schemas.microsoft.com/office/drawing/2014/main" id="{0669FA77-C346-4B2A-9068-E90DE204F2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83265" y="1636224"/>
              <a:ext cx="469971" cy="8058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="" xmlns:a16="http://schemas.microsoft.com/office/drawing/2014/main" id="{60AC847D-3F38-4EC9-9EAA-931CE5439623}"/>
                </a:ext>
              </a:extLst>
            </p:cNvPr>
            <p:cNvCxnSpPr>
              <a:cxnSpLocks/>
            </p:cNvCxnSpPr>
            <p:nvPr/>
          </p:nvCxnSpPr>
          <p:spPr>
            <a:xfrm>
              <a:off x="4418331" y="1081807"/>
              <a:ext cx="0" cy="23012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="" xmlns:a16="http://schemas.microsoft.com/office/drawing/2014/main" id="{295A1AF9-A40A-4825-9169-AE5009F71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0337" y="1556126"/>
              <a:ext cx="0" cy="2353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>
              <a:extLst>
                <a:ext uri="{FF2B5EF4-FFF2-40B4-BE49-F238E27FC236}">
                  <a16:creationId xmlns="" xmlns:a16="http://schemas.microsoft.com/office/drawing/2014/main" id="{4428978A-694C-495C-A714-18E8F710746C}"/>
                </a:ext>
              </a:extLst>
            </p:cNvPr>
            <p:cNvCxnSpPr>
              <a:cxnSpLocks/>
            </p:cNvCxnSpPr>
            <p:nvPr/>
          </p:nvCxnSpPr>
          <p:spPr>
            <a:xfrm>
              <a:off x="5513397" y="1065437"/>
              <a:ext cx="0" cy="23012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33">
              <a:extLst>
                <a:ext uri="{FF2B5EF4-FFF2-40B4-BE49-F238E27FC236}">
                  <a16:creationId xmlns="" xmlns:a16="http://schemas.microsoft.com/office/drawing/2014/main" id="{C042D9F0-4686-4178-9B5E-EDDCA8679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4134" y="1661554"/>
              <a:ext cx="0" cy="2353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矩形 34">
                  <a:extLst>
                    <a:ext uri="{FF2B5EF4-FFF2-40B4-BE49-F238E27FC236}">
                      <a16:creationId xmlns="" xmlns:a16="http://schemas.microsoft.com/office/drawing/2014/main" id="{01D82558-BBF4-46D4-A172-7273BEC1E451}"/>
                    </a:ext>
                  </a:extLst>
                </p:cNvPr>
                <p:cNvSpPr/>
                <p:nvPr/>
              </p:nvSpPr>
              <p:spPr>
                <a:xfrm>
                  <a:off x="5560801" y="1305872"/>
                  <a:ext cx="41876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TW" sz="1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11" name="矩形 110">
                  <a:extLst>
                    <a:ext uri="{FF2B5EF4-FFF2-40B4-BE49-F238E27FC236}">
                      <a16:creationId xmlns:a16="http://schemas.microsoft.com/office/drawing/2014/main" id="{1E802260-5D4E-453D-8BE0-FBE02F4831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0801" y="1305872"/>
                  <a:ext cx="418768" cy="30777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矩形 35">
                  <a:extLst>
                    <a:ext uri="{FF2B5EF4-FFF2-40B4-BE49-F238E27FC236}">
                      <a16:creationId xmlns="" xmlns:a16="http://schemas.microsoft.com/office/drawing/2014/main" id="{92E7AF46-DD5F-4114-9A5E-60250435A5B1}"/>
                    </a:ext>
                  </a:extLst>
                </p:cNvPr>
                <p:cNvSpPr/>
                <p:nvPr/>
              </p:nvSpPr>
              <p:spPr>
                <a:xfrm>
                  <a:off x="3865327" y="1226925"/>
                  <a:ext cx="43723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TW" sz="1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12" name="矩形 111">
                  <a:extLst>
                    <a:ext uri="{FF2B5EF4-FFF2-40B4-BE49-F238E27FC236}">
                      <a16:creationId xmlns:a16="http://schemas.microsoft.com/office/drawing/2014/main" id="{2CA10939-BEF1-4ACA-B20A-E8519F9285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5327" y="1226925"/>
                  <a:ext cx="437236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橢圓 36">
              <a:extLst>
                <a:ext uri="{FF2B5EF4-FFF2-40B4-BE49-F238E27FC236}">
                  <a16:creationId xmlns="" xmlns:a16="http://schemas.microsoft.com/office/drawing/2014/main" id="{36B2DA19-BEAB-4419-867F-646F16DF1946}"/>
                </a:ext>
              </a:extLst>
            </p:cNvPr>
            <p:cNvSpPr/>
            <p:nvPr/>
          </p:nvSpPr>
          <p:spPr>
            <a:xfrm>
              <a:off x="3904564" y="2596009"/>
              <a:ext cx="230121" cy="230121"/>
            </a:xfrm>
            <a:prstGeom prst="ellipse">
              <a:avLst/>
            </a:prstGeom>
            <a:solidFill>
              <a:srgbClr val="E07275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841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F1146933-B8F9-4260-9809-FB0F00994B93}"/>
              </a:ext>
            </a:extLst>
          </p:cNvPr>
          <p:cNvSpPr/>
          <p:nvPr/>
        </p:nvSpPr>
        <p:spPr>
          <a:xfrm>
            <a:off x="596651" y="1281774"/>
            <a:ext cx="78390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Stimulated Raman adiabatic passage (STIRAP)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OSA Image" descr="OSA Image">
            <a:extLst>
              <a:ext uri="{FF2B5EF4-FFF2-40B4-BE49-F238E27FC236}">
                <a16:creationId xmlns="" xmlns:a16="http://schemas.microsoft.com/office/drawing/2014/main" id="{0CBA32D8-B6E7-4955-ABC2-9B3A3BA0DA6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30535" y="2464658"/>
            <a:ext cx="4484928" cy="285664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-2673778" y="7712418"/>
                <a:ext cx="3606500" cy="5346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Adiabatic condition</a:t>
                </a:r>
                <a:r>
                  <a:rPr lang="zh-TW" altLang="en-US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：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zh-TW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den>
                    </m:f>
                    <m:r>
                      <a:rPr lang="en-US" altLang="zh-TW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altLang="zh-TW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altLang="zh-TW" dirty="0">
                            <a:solidFill>
                              <a:srgbClr val="000000"/>
                            </a:solidFill>
                            <a:ea typeface="標楷體" panose="03000509000000000000" pitchFamily="65" charset="-12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zh-TW" altLang="el-GR" dirty="0">
                            <a:solidFill>
                              <a:srgbClr val="000000"/>
                            </a:solidFill>
                            <a:ea typeface="標楷體" panose="03000509000000000000" pitchFamily="65" charset="-120"/>
                          </a:rPr>
                          <m:t>𝑆</m:t>
                        </m:r>
                      </m:num>
                      <m:den>
                        <m:r>
                          <m:rPr>
                            <m:nor/>
                          </m:rPr>
                          <a:rPr lang="zh-TW" altLang="el-GR" dirty="0">
                            <a:solidFill>
                              <a:srgbClr val="000000"/>
                            </a:solidFill>
                            <a:ea typeface="標楷體" panose="03000509000000000000" pitchFamily="65" charset="-12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l-GR" altLang="zh-TW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κ</m:t>
                        </m:r>
                        <m:r>
                          <a:rPr lang="en-US" altLang="zh-TW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den>
                    </m:f>
                    <m:r>
                      <a:rPr lang="en-US" altLang="zh-TW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altLang="zh-TW" dirty="0">
                    <a:solidFill>
                      <a:srgbClr val="000000"/>
                    </a:solidFill>
                    <a:ea typeface="標楷體" panose="03000509000000000000" pitchFamily="65" charset="-120"/>
                  </a:rPr>
                  <a:t>≪1 </a:t>
                </a:r>
                <a:endParaRPr lang="zh-TW" altLang="en-US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73778" y="7712418"/>
                <a:ext cx="3606500" cy="534634"/>
              </a:xfrm>
              <a:prstGeom prst="rect">
                <a:avLst/>
              </a:prstGeom>
              <a:blipFill rotWithShape="0">
                <a:blip r:embed="rId18"/>
                <a:stretch>
                  <a:fillRect l="-1014" r="-507" b="-6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9886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EO Effect</a:t>
            </a:r>
            <a:endParaRPr lang="zh-TW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674913"/>
              </p:ext>
            </p:extLst>
          </p:nvPr>
        </p:nvGraphicFramePr>
        <p:xfrm>
          <a:off x="1905932" y="1290092"/>
          <a:ext cx="2376264" cy="1822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" name="方程式" r:id="rId4" imgW="1841500" imgH="1397000" progId="Equation.3">
                  <p:embed/>
                </p:oleObj>
              </mc:Choice>
              <mc:Fallback>
                <p:oleObj name="方程式" r:id="rId4" imgW="1841500" imgH="139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932" y="1290092"/>
                        <a:ext cx="2376264" cy="18222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925954"/>
              </p:ext>
            </p:extLst>
          </p:nvPr>
        </p:nvGraphicFramePr>
        <p:xfrm>
          <a:off x="4542494" y="1730215"/>
          <a:ext cx="2160240" cy="94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" name="方程式" r:id="rId6" imgW="1638300" imgH="711200" progId="Equation.3">
                  <p:embed/>
                </p:oleObj>
              </mc:Choice>
              <mc:Fallback>
                <p:oleObj name="方程式" r:id="rId6" imgW="16383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2494" y="1730215"/>
                        <a:ext cx="2160240" cy="9419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195306"/>
              </p:ext>
            </p:extLst>
          </p:nvPr>
        </p:nvGraphicFramePr>
        <p:xfrm>
          <a:off x="6992997" y="1263431"/>
          <a:ext cx="2167000" cy="1875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" name="方程式" r:id="rId8" imgW="1625600" imgH="1397000" progId="Equation.3">
                  <p:embed/>
                </p:oleObj>
              </mc:Choice>
              <mc:Fallback>
                <p:oleObj name="方程式" r:id="rId8" imgW="1625600" imgH="139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2997" y="1263431"/>
                        <a:ext cx="2167000" cy="18755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物件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529846"/>
              </p:ext>
            </p:extLst>
          </p:nvPr>
        </p:nvGraphicFramePr>
        <p:xfrm>
          <a:off x="1394460" y="3195580"/>
          <a:ext cx="3224236" cy="133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2" name="方程式" r:id="rId10" imgW="3060700" imgH="1270000" progId="Equation.3">
                  <p:embed/>
                </p:oleObj>
              </mc:Choice>
              <mc:Fallback>
                <p:oleObj name="方程式" r:id="rId10" imgW="3060700" imgH="1270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4460" y="3195580"/>
                        <a:ext cx="3224236" cy="13317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群組 10"/>
          <p:cNvGrpSpPr/>
          <p:nvPr/>
        </p:nvGrpSpPr>
        <p:grpSpPr>
          <a:xfrm>
            <a:off x="2509673" y="4536863"/>
            <a:ext cx="1636747" cy="1591877"/>
            <a:chOff x="4283968" y="3717032"/>
            <a:chExt cx="1289122" cy="1253781"/>
          </a:xfrm>
        </p:grpSpPr>
        <p:graphicFrame>
          <p:nvGraphicFramePr>
            <p:cNvPr id="12" name="物件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555945"/>
                </p:ext>
              </p:extLst>
            </p:nvPr>
          </p:nvGraphicFramePr>
          <p:xfrm>
            <a:off x="4283968" y="3717032"/>
            <a:ext cx="1289119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3" name="方程式" r:id="rId12" imgW="1168200" imgH="393480" progId="Equation.3">
                    <p:embed/>
                  </p:oleObj>
                </mc:Choice>
                <mc:Fallback>
                  <p:oleObj name="方程式" r:id="rId12" imgW="116820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3968" y="3717032"/>
                          <a:ext cx="1289119" cy="43204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物件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5561842"/>
                </p:ext>
              </p:extLst>
            </p:nvPr>
          </p:nvGraphicFramePr>
          <p:xfrm>
            <a:off x="4283970" y="4149082"/>
            <a:ext cx="1289120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4" name="方程式" r:id="rId14" imgW="1168200" imgH="393480" progId="Equation.3">
                    <p:embed/>
                  </p:oleObj>
                </mc:Choice>
                <mc:Fallback>
                  <p:oleObj name="方程式" r:id="rId14" imgW="116820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3970" y="4149082"/>
                          <a:ext cx="1289120" cy="4320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物件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2024515"/>
                </p:ext>
              </p:extLst>
            </p:nvPr>
          </p:nvGraphicFramePr>
          <p:xfrm>
            <a:off x="4283968" y="4539553"/>
            <a:ext cx="1286765" cy="431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5" name="方程式" r:id="rId16" imgW="1168200" imgH="393480" progId="Equation.3">
                    <p:embed/>
                  </p:oleObj>
                </mc:Choice>
                <mc:Fallback>
                  <p:oleObj name="方程式" r:id="rId16" imgW="116820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3968" y="4539553"/>
                          <a:ext cx="1286765" cy="431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073" name="Picture 49" descr="https://lh3.googleusercontent.com/8JU9UwLTX9ZgNJShSDdT8vVTUML0yHoQgW7SRdjteJs3fW2c-1_I8PC7SFjSu-cWmE3b1Y2Fynpn2clW_vf0WKFZcVMIM98EMhixWUGMvBujN8s5lLbrohOLkeaAs_dsuPOxADnC9MHj-X5_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473" y="3515460"/>
            <a:ext cx="2564624" cy="697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Picture 48" descr="https://lh6.googleusercontent.com/IpYZKE5MjC3Dox-m2bwKXokSYwkB19MFUjfJNu1iirQAEMgEdzDsrjxq3GFutDVMpDb01oBD7egJ5NvmO5Mvf4_VvrxofNTSffD1Ch4GzC-UR9l69trCLepeXngt8b13XV0IsxtP_F2MHN9d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203" y="3602962"/>
            <a:ext cx="1369541" cy="779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10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4892549" y="4279218"/>
            <a:ext cx="6619159" cy="1911096"/>
          </a:xfrm>
          <a:prstGeom prst="rect">
            <a:avLst/>
          </a:prstGeom>
          <a:noFill/>
        </p:spPr>
      </p:pic>
      <p:grpSp>
        <p:nvGrpSpPr>
          <p:cNvPr id="5" name="群組 4"/>
          <p:cNvGrpSpPr/>
          <p:nvPr/>
        </p:nvGrpSpPr>
        <p:grpSpPr>
          <a:xfrm>
            <a:off x="8647814" y="5466492"/>
            <a:ext cx="3401647" cy="1368575"/>
            <a:chOff x="8647814" y="5466492"/>
            <a:chExt cx="3401647" cy="1368575"/>
          </a:xfrm>
        </p:grpSpPr>
        <p:grpSp>
          <p:nvGrpSpPr>
            <p:cNvPr id="25" name="Group 48"/>
            <p:cNvGrpSpPr>
              <a:grpSpLocks/>
            </p:cNvGrpSpPr>
            <p:nvPr/>
          </p:nvGrpSpPr>
          <p:grpSpPr bwMode="auto">
            <a:xfrm>
              <a:off x="9887591" y="5702904"/>
              <a:ext cx="1475749" cy="734798"/>
              <a:chOff x="3005" y="6298"/>
              <a:chExt cx="3596" cy="1790"/>
            </a:xfrm>
          </p:grpSpPr>
          <p:grpSp>
            <p:nvGrpSpPr>
              <p:cNvPr id="44" name="Group 49"/>
              <p:cNvGrpSpPr>
                <a:grpSpLocks/>
              </p:cNvGrpSpPr>
              <p:nvPr/>
            </p:nvGrpSpPr>
            <p:grpSpPr bwMode="auto">
              <a:xfrm>
                <a:off x="5012" y="6298"/>
                <a:ext cx="1589" cy="993"/>
                <a:chOff x="3034" y="6298"/>
                <a:chExt cx="1589" cy="993"/>
              </a:xfrm>
            </p:grpSpPr>
            <p:grpSp>
              <p:nvGrpSpPr>
                <p:cNvPr id="59" name="Group 50"/>
                <p:cNvGrpSpPr>
                  <a:grpSpLocks/>
                </p:cNvGrpSpPr>
                <p:nvPr/>
              </p:nvGrpSpPr>
              <p:grpSpPr bwMode="auto">
                <a:xfrm>
                  <a:off x="3531" y="6298"/>
                  <a:ext cx="1092" cy="802"/>
                  <a:chOff x="3531" y="6298"/>
                  <a:chExt cx="1092" cy="802"/>
                </a:xfrm>
              </p:grpSpPr>
              <p:sp>
                <p:nvSpPr>
                  <p:cNvPr id="63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3531" y="6298"/>
                    <a:ext cx="664" cy="802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miter lim="800000"/>
                    <a:headEnd/>
                    <a:tailEnd/>
                  </a:ln>
                  <a:scene3d>
                    <a:camera prst="legacyPerspectiveFront">
                      <a:rot lat="1500000" lon="2700000" rev="0"/>
                    </a:camera>
                    <a:lightRig rig="legacyFlat2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FFFFFF"/>
                    </a:extrusionClr>
                  </a:sp3d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  <a:flatTx/>
                  </a:bodyPr>
                  <a:lstStyle/>
                  <a:p>
                    <a:endParaRPr lang="zh-TW" altLang="en-US"/>
                  </a:p>
                </p:txBody>
              </p:sp>
              <p:cxnSp>
                <p:nvCxnSpPr>
                  <p:cNvPr id="64" name="AutoShape 52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623" y="6313"/>
                    <a:ext cx="0" cy="60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</p:grpSp>
            <p:grpSp>
              <p:nvGrpSpPr>
                <p:cNvPr id="60" name="Group 53"/>
                <p:cNvGrpSpPr>
                  <a:grpSpLocks/>
                </p:cNvGrpSpPr>
                <p:nvPr/>
              </p:nvGrpSpPr>
              <p:grpSpPr bwMode="auto">
                <a:xfrm>
                  <a:off x="3034" y="6484"/>
                  <a:ext cx="1015" cy="807"/>
                  <a:chOff x="3034" y="6484"/>
                  <a:chExt cx="1015" cy="807"/>
                </a:xfrm>
              </p:grpSpPr>
              <p:sp>
                <p:nvSpPr>
                  <p:cNvPr id="61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3034" y="6489"/>
                    <a:ext cx="664" cy="802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miter lim="800000"/>
                    <a:headEnd/>
                    <a:tailEnd/>
                  </a:ln>
                  <a:scene3d>
                    <a:camera prst="legacyPerspectiveFront">
                      <a:rot lat="1500000" lon="2700000" rev="0"/>
                    </a:camera>
                    <a:lightRig rig="legacyFlat2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404040"/>
                    </a:extrusionClr>
                  </a:sp3d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  <a:flatTx/>
                  </a:bodyPr>
                  <a:lstStyle/>
                  <a:p>
                    <a:endParaRPr lang="zh-TW" altLang="en-US"/>
                  </a:p>
                </p:txBody>
              </p:sp>
              <p:cxnSp>
                <p:nvCxnSpPr>
                  <p:cNvPr id="62" name="AutoShape 55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049" y="6484"/>
                    <a:ext cx="0" cy="60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FFFFFF"/>
                    </a:solidFill>
                    <a:round/>
                    <a:headEnd type="triangle" w="med" len="med"/>
                    <a:tailEnd/>
                  </a:ln>
                </p:spPr>
              </p:cxnSp>
            </p:grpSp>
          </p:grpSp>
          <p:grpSp>
            <p:nvGrpSpPr>
              <p:cNvPr id="45" name="Group 56"/>
              <p:cNvGrpSpPr>
                <a:grpSpLocks/>
              </p:cNvGrpSpPr>
              <p:nvPr/>
            </p:nvGrpSpPr>
            <p:grpSpPr bwMode="auto">
              <a:xfrm>
                <a:off x="4010" y="6686"/>
                <a:ext cx="1726" cy="1006"/>
                <a:chOff x="3785" y="7174"/>
                <a:chExt cx="1726" cy="1006"/>
              </a:xfrm>
            </p:grpSpPr>
            <p:grpSp>
              <p:nvGrpSpPr>
                <p:cNvPr id="53" name="Group 57"/>
                <p:cNvGrpSpPr>
                  <a:grpSpLocks/>
                </p:cNvGrpSpPr>
                <p:nvPr/>
              </p:nvGrpSpPr>
              <p:grpSpPr bwMode="auto">
                <a:xfrm>
                  <a:off x="4296" y="7174"/>
                  <a:ext cx="1215" cy="802"/>
                  <a:chOff x="4296" y="7174"/>
                  <a:chExt cx="1215" cy="802"/>
                </a:xfrm>
              </p:grpSpPr>
              <p:sp>
                <p:nvSpPr>
                  <p:cNvPr id="57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4296" y="7174"/>
                    <a:ext cx="664" cy="802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miter lim="800000"/>
                    <a:headEnd/>
                    <a:tailEnd/>
                  </a:ln>
                  <a:scene3d>
                    <a:camera prst="legacyPerspectiveFront">
                      <a:rot lat="1500000" lon="2700000" rev="0"/>
                    </a:camera>
                    <a:lightRig rig="legacyFlat2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FFFFFF"/>
                    </a:extrusionClr>
                  </a:sp3d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  <a:flatTx/>
                  </a:bodyPr>
                  <a:lstStyle/>
                  <a:p>
                    <a:endParaRPr lang="zh-TW" altLang="en-US"/>
                  </a:p>
                </p:txBody>
              </p:sp>
              <p:cxnSp>
                <p:nvCxnSpPr>
                  <p:cNvPr id="58" name="AutoShape 59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5173" y="7402"/>
                    <a:ext cx="338" cy="125"/>
                  </a:xfrm>
                  <a:prstGeom prst="straightConnector1">
                    <a:avLst/>
                  </a:prstGeom>
                  <a:noFill/>
                  <a:ln w="38100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</p:cxnSp>
            </p:grpSp>
            <p:grpSp>
              <p:nvGrpSpPr>
                <p:cNvPr id="54" name="Group 60"/>
                <p:cNvGrpSpPr>
                  <a:grpSpLocks/>
                </p:cNvGrpSpPr>
                <p:nvPr/>
              </p:nvGrpSpPr>
              <p:grpSpPr bwMode="auto">
                <a:xfrm>
                  <a:off x="3785" y="7378"/>
                  <a:ext cx="1268" cy="802"/>
                  <a:chOff x="3785" y="7378"/>
                  <a:chExt cx="1268" cy="802"/>
                </a:xfrm>
              </p:grpSpPr>
              <p:sp>
                <p:nvSpPr>
                  <p:cNvPr id="55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3785" y="7378"/>
                    <a:ext cx="664" cy="802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miter lim="800000"/>
                    <a:headEnd/>
                    <a:tailEnd/>
                  </a:ln>
                  <a:scene3d>
                    <a:camera prst="legacyPerspectiveFront">
                      <a:rot lat="1500000" lon="2700000" rev="0"/>
                    </a:camera>
                    <a:lightRig rig="legacyFlat2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404040"/>
                    </a:extrusionClr>
                  </a:sp3d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  <a:flatTx/>
                  </a:bodyPr>
                  <a:lstStyle/>
                  <a:p>
                    <a:endParaRPr lang="zh-TW" altLang="en-US"/>
                  </a:p>
                </p:txBody>
              </p:sp>
              <p:cxnSp>
                <p:nvCxnSpPr>
                  <p:cNvPr id="56" name="AutoShape 62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4715" y="7564"/>
                    <a:ext cx="338" cy="125"/>
                  </a:xfrm>
                  <a:prstGeom prst="straightConnector1">
                    <a:avLst/>
                  </a:prstGeom>
                  <a:noFill/>
                  <a:ln w="38100">
                    <a:solidFill>
                      <a:srgbClr val="FFFFFF"/>
                    </a:solidFill>
                    <a:prstDash val="sysDot"/>
                    <a:round/>
                    <a:headEnd/>
                    <a:tailEnd/>
                  </a:ln>
                </p:spPr>
              </p:cxnSp>
            </p:grpSp>
          </p:grpSp>
          <p:grpSp>
            <p:nvGrpSpPr>
              <p:cNvPr id="46" name="Group 63"/>
              <p:cNvGrpSpPr>
                <a:grpSpLocks/>
              </p:cNvGrpSpPr>
              <p:nvPr/>
            </p:nvGrpSpPr>
            <p:grpSpPr bwMode="auto">
              <a:xfrm>
                <a:off x="3005" y="7076"/>
                <a:ext cx="1516" cy="1012"/>
                <a:chOff x="3034" y="6279"/>
                <a:chExt cx="1516" cy="1012"/>
              </a:xfrm>
            </p:grpSpPr>
            <p:grpSp>
              <p:nvGrpSpPr>
                <p:cNvPr id="47" name="Group 64"/>
                <p:cNvGrpSpPr>
                  <a:grpSpLocks/>
                </p:cNvGrpSpPr>
                <p:nvPr/>
              </p:nvGrpSpPr>
              <p:grpSpPr bwMode="auto">
                <a:xfrm>
                  <a:off x="3531" y="6279"/>
                  <a:ext cx="1019" cy="821"/>
                  <a:chOff x="3531" y="6279"/>
                  <a:chExt cx="1019" cy="821"/>
                </a:xfrm>
              </p:grpSpPr>
              <p:sp>
                <p:nvSpPr>
                  <p:cNvPr id="51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3531" y="6298"/>
                    <a:ext cx="664" cy="802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miter lim="800000"/>
                    <a:headEnd/>
                    <a:tailEnd/>
                  </a:ln>
                  <a:scene3d>
                    <a:camera prst="legacyPerspectiveFront">
                      <a:rot lat="1500000" lon="2700000" rev="0"/>
                    </a:camera>
                    <a:lightRig rig="legacyFlat2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FFFFFF"/>
                    </a:extrusionClr>
                  </a:sp3d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  <a:flatTx/>
                  </a:bodyPr>
                  <a:lstStyle/>
                  <a:p>
                    <a:endParaRPr lang="zh-TW" altLang="en-US"/>
                  </a:p>
                </p:txBody>
              </p:sp>
              <p:cxnSp>
                <p:nvCxnSpPr>
                  <p:cNvPr id="52" name="AutoShape 66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550" y="6279"/>
                    <a:ext cx="0" cy="60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</p:grpSp>
            <p:grpSp>
              <p:nvGrpSpPr>
                <p:cNvPr id="48" name="Group 67"/>
                <p:cNvGrpSpPr>
                  <a:grpSpLocks/>
                </p:cNvGrpSpPr>
                <p:nvPr/>
              </p:nvGrpSpPr>
              <p:grpSpPr bwMode="auto">
                <a:xfrm>
                  <a:off x="3034" y="6489"/>
                  <a:ext cx="921" cy="802"/>
                  <a:chOff x="3034" y="6489"/>
                  <a:chExt cx="921" cy="802"/>
                </a:xfrm>
              </p:grpSpPr>
              <p:sp>
                <p:nvSpPr>
                  <p:cNvPr id="49" name="Rectangle 68"/>
                  <p:cNvSpPr>
                    <a:spLocks noChangeArrowheads="1"/>
                  </p:cNvSpPr>
                  <p:nvPr/>
                </p:nvSpPr>
                <p:spPr bwMode="auto">
                  <a:xfrm>
                    <a:off x="3034" y="6489"/>
                    <a:ext cx="664" cy="802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miter lim="800000"/>
                    <a:headEnd/>
                    <a:tailEnd/>
                  </a:ln>
                  <a:scene3d>
                    <a:camera prst="legacyPerspectiveFront">
                      <a:rot lat="1500000" lon="2700000" rev="0"/>
                    </a:camera>
                    <a:lightRig rig="legacyFlat2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404040"/>
                    </a:extrusionClr>
                  </a:sp3d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  <a:flatTx/>
                  </a:bodyPr>
                  <a:lstStyle/>
                  <a:p>
                    <a:endParaRPr lang="zh-TW" altLang="en-US"/>
                  </a:p>
                </p:txBody>
              </p:sp>
              <p:cxnSp>
                <p:nvCxnSpPr>
                  <p:cNvPr id="50" name="AutoShape 69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955" y="6586"/>
                    <a:ext cx="0" cy="60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FFFFFF"/>
                    </a:solidFill>
                    <a:round/>
                    <a:headEnd type="triangle" w="med" len="med"/>
                    <a:tailEnd/>
                  </a:ln>
                </p:spPr>
              </p:cxnSp>
            </p:grpSp>
          </p:grpSp>
        </p:grpSp>
        <p:grpSp>
          <p:nvGrpSpPr>
            <p:cNvPr id="26" name="Group 70"/>
            <p:cNvGrpSpPr>
              <a:grpSpLocks/>
            </p:cNvGrpSpPr>
            <p:nvPr/>
          </p:nvGrpSpPr>
          <p:grpSpPr bwMode="auto">
            <a:xfrm>
              <a:off x="9459558" y="6275143"/>
              <a:ext cx="334054" cy="357957"/>
              <a:chOff x="3631" y="7501"/>
              <a:chExt cx="814" cy="872"/>
            </a:xfrm>
          </p:grpSpPr>
          <p:sp>
            <p:nvSpPr>
              <p:cNvPr id="37" name="Rectangle 71"/>
              <p:cNvSpPr>
                <a:spLocks noChangeArrowheads="1"/>
              </p:cNvSpPr>
              <p:nvPr/>
            </p:nvSpPr>
            <p:spPr bwMode="auto">
              <a:xfrm>
                <a:off x="3631" y="7501"/>
                <a:ext cx="814" cy="872"/>
              </a:xfrm>
              <a:prstGeom prst="rect">
                <a:avLst/>
              </a:prstGeom>
              <a:solidFill>
                <a:srgbClr val="FFFFFF"/>
              </a:solidFill>
              <a:ln w="9525">
                <a:miter lim="800000"/>
                <a:headEnd/>
                <a:tailEnd/>
              </a:ln>
              <a:scene3d>
                <a:camera prst="legacyPerspectiveFront">
                  <a:rot lat="1500000" lon="3000000" rev="0"/>
                </a:camera>
                <a:lightRig rig="legacyFlat2" dir="b"/>
              </a:scene3d>
              <a:sp3d prstMaterial="legacyMatte">
                <a:bevelT w="13500" h="13500" prst="angle"/>
                <a:bevelB w="13500" h="13500" prst="angle"/>
                <a:extrusionClr>
                  <a:srgbClr val="FFFFFF"/>
                </a:extrusionClr>
              </a:sp3d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flatTx/>
              </a:bodyPr>
              <a:lstStyle/>
              <a:p>
                <a:endParaRPr lang="zh-TW" altLang="en-US"/>
              </a:p>
            </p:txBody>
          </p:sp>
          <p:cxnSp>
            <p:nvCxnSpPr>
              <p:cNvPr id="38" name="AutoShape 72"/>
              <p:cNvCxnSpPr>
                <a:cxnSpLocks noChangeShapeType="1"/>
              </p:cNvCxnSpPr>
              <p:nvPr/>
            </p:nvCxnSpPr>
            <p:spPr bwMode="auto">
              <a:xfrm>
                <a:off x="3857" y="7618"/>
                <a:ext cx="0" cy="509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legacyObliqueTopRight"/>
                <a:lightRig rig="legacyFlat3" dir="b"/>
              </a:scene3d>
              <a:sp3d prstMaterial="legacyMatte">
                <a:bevelT w="13500" h="13500" prst="angle"/>
                <a:bevelB w="13500" h="13500" prst="angle"/>
                <a:extrusionClr>
                  <a:srgbClr val="000000"/>
                </a:extrusionClr>
              </a:sp3d>
            </p:spPr>
          </p:cxnSp>
          <p:cxnSp>
            <p:nvCxnSpPr>
              <p:cNvPr id="39" name="AutoShape 73"/>
              <p:cNvCxnSpPr>
                <a:cxnSpLocks noChangeShapeType="1"/>
              </p:cNvCxnSpPr>
              <p:nvPr/>
            </p:nvCxnSpPr>
            <p:spPr bwMode="auto">
              <a:xfrm>
                <a:off x="3928" y="7663"/>
                <a:ext cx="0" cy="509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legacyObliqueTopRight"/>
                <a:lightRig rig="legacyFlat3" dir="b"/>
              </a:scene3d>
              <a:sp3d prstMaterial="legacyMatte">
                <a:bevelT w="13500" h="13500" prst="angle"/>
                <a:bevelB w="13500" h="13500" prst="angle"/>
                <a:extrusionClr>
                  <a:srgbClr val="000000"/>
                </a:extrusionClr>
              </a:sp3d>
            </p:spPr>
          </p:cxnSp>
          <p:cxnSp>
            <p:nvCxnSpPr>
              <p:cNvPr id="40" name="AutoShape 74"/>
              <p:cNvCxnSpPr>
                <a:cxnSpLocks noChangeShapeType="1"/>
              </p:cNvCxnSpPr>
              <p:nvPr/>
            </p:nvCxnSpPr>
            <p:spPr bwMode="auto">
              <a:xfrm>
                <a:off x="4006" y="7702"/>
                <a:ext cx="0" cy="509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legacyObliqueTopRight"/>
                <a:lightRig rig="legacyFlat3" dir="b"/>
              </a:scene3d>
              <a:sp3d prstMaterial="legacyMatte">
                <a:bevelT w="13500" h="13500" prst="angle"/>
                <a:bevelB w="13500" h="13500" prst="angle"/>
                <a:extrusionClr>
                  <a:srgbClr val="000000"/>
                </a:extrusionClr>
              </a:sp3d>
            </p:spPr>
          </p:cxnSp>
          <p:cxnSp>
            <p:nvCxnSpPr>
              <p:cNvPr id="41" name="AutoShape 75"/>
              <p:cNvCxnSpPr>
                <a:cxnSpLocks noChangeShapeType="1"/>
              </p:cNvCxnSpPr>
              <p:nvPr/>
            </p:nvCxnSpPr>
            <p:spPr bwMode="auto">
              <a:xfrm>
                <a:off x="4071" y="7728"/>
                <a:ext cx="0" cy="509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legacyObliqueTopRight"/>
                <a:lightRig rig="legacyFlat3" dir="b"/>
              </a:scene3d>
              <a:sp3d prstMaterial="legacyMatte">
                <a:bevelT w="13500" h="13500" prst="angle"/>
                <a:bevelB w="13500" h="13500" prst="angle"/>
                <a:extrusionClr>
                  <a:srgbClr val="000000"/>
                </a:extrusionClr>
              </a:sp3d>
            </p:spPr>
          </p:cxnSp>
          <p:cxnSp>
            <p:nvCxnSpPr>
              <p:cNvPr id="42" name="AutoShape 76"/>
              <p:cNvCxnSpPr>
                <a:cxnSpLocks noChangeShapeType="1"/>
              </p:cNvCxnSpPr>
              <p:nvPr/>
            </p:nvCxnSpPr>
            <p:spPr bwMode="auto">
              <a:xfrm>
                <a:off x="4136" y="7767"/>
                <a:ext cx="0" cy="509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legacyObliqueTopRight"/>
                <a:lightRig rig="legacyFlat3" dir="b"/>
              </a:scene3d>
              <a:sp3d prstMaterial="legacyMatte">
                <a:bevelT w="13500" h="13500" prst="angle"/>
                <a:bevelB w="13500" h="13500" prst="angle"/>
                <a:extrusionClr>
                  <a:srgbClr val="000000"/>
                </a:extrusionClr>
              </a:sp3d>
            </p:spPr>
          </p:cxnSp>
          <p:cxnSp>
            <p:nvCxnSpPr>
              <p:cNvPr id="43" name="AutoShape 77"/>
              <p:cNvCxnSpPr>
                <a:cxnSpLocks noChangeShapeType="1"/>
              </p:cNvCxnSpPr>
              <p:nvPr/>
            </p:nvCxnSpPr>
            <p:spPr bwMode="auto">
              <a:xfrm>
                <a:off x="4201" y="7793"/>
                <a:ext cx="0" cy="509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legacyObliqueTopRight"/>
                <a:lightRig rig="legacyFlat3" dir="b"/>
              </a:scene3d>
              <a:sp3d prstMaterial="legacyMatte">
                <a:bevelT w="13500" h="13500" prst="angle"/>
                <a:bevelB w="13500" h="13500" prst="angle"/>
                <a:extrusionClr>
                  <a:srgbClr val="000000"/>
                </a:extrusionClr>
              </a:sp3d>
            </p:spPr>
          </p:cxnSp>
        </p:grpSp>
        <p:grpSp>
          <p:nvGrpSpPr>
            <p:cNvPr id="27" name="Group 78"/>
            <p:cNvGrpSpPr>
              <a:grpSpLocks/>
            </p:cNvGrpSpPr>
            <p:nvPr/>
          </p:nvGrpSpPr>
          <p:grpSpPr bwMode="auto">
            <a:xfrm>
              <a:off x="11435541" y="5487017"/>
              <a:ext cx="334054" cy="357957"/>
              <a:chOff x="4945" y="9147"/>
              <a:chExt cx="814" cy="872"/>
            </a:xfrm>
          </p:grpSpPr>
          <p:sp>
            <p:nvSpPr>
              <p:cNvPr id="30" name="Rectangle 79"/>
              <p:cNvSpPr>
                <a:spLocks noChangeArrowheads="1"/>
              </p:cNvSpPr>
              <p:nvPr/>
            </p:nvSpPr>
            <p:spPr bwMode="auto">
              <a:xfrm>
                <a:off x="4945" y="9147"/>
                <a:ext cx="814" cy="872"/>
              </a:xfrm>
              <a:prstGeom prst="rect">
                <a:avLst/>
              </a:prstGeom>
              <a:solidFill>
                <a:srgbClr val="FFFFFF"/>
              </a:solidFill>
              <a:ln w="9525">
                <a:miter lim="800000"/>
                <a:headEnd/>
                <a:tailEnd/>
              </a:ln>
              <a:scene3d>
                <a:camera prst="legacyPerspectiveFront">
                  <a:rot lat="1500000" lon="3000000" rev="0"/>
                </a:camera>
                <a:lightRig rig="legacyFlat2" dir="b"/>
              </a:scene3d>
              <a:sp3d prstMaterial="legacyMatte">
                <a:bevelT w="13500" h="13500" prst="angle"/>
                <a:bevelB w="13500" h="13500" prst="angle"/>
                <a:extrusionClr>
                  <a:srgbClr val="FFFFFF"/>
                </a:extrusionClr>
              </a:sp3d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flatTx/>
              </a:bodyPr>
              <a:lstStyle/>
              <a:p>
                <a:endParaRPr lang="zh-TW" altLang="en-US"/>
              </a:p>
            </p:txBody>
          </p:sp>
          <p:cxnSp>
            <p:nvCxnSpPr>
              <p:cNvPr id="31" name="AutoShape 80"/>
              <p:cNvCxnSpPr>
                <a:cxnSpLocks noChangeShapeType="1"/>
              </p:cNvCxnSpPr>
              <p:nvPr/>
            </p:nvCxnSpPr>
            <p:spPr bwMode="auto">
              <a:xfrm flipH="1" flipV="1">
                <a:off x="5122" y="9230"/>
                <a:ext cx="413" cy="18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legacyObliqueTopRight"/>
                <a:lightRig rig="legacyFlat3" dir="b"/>
              </a:scene3d>
              <a:sp3d prstMaterial="legacyMatte">
                <a:bevelT w="13500" h="13500" prst="angle"/>
                <a:bevelB w="13500" h="13500" prst="angle"/>
                <a:extrusionClr>
                  <a:srgbClr val="000000"/>
                </a:extrusionClr>
              </a:sp3d>
            </p:spPr>
          </p:cxnSp>
          <p:cxnSp>
            <p:nvCxnSpPr>
              <p:cNvPr id="32" name="AutoShape 81"/>
              <p:cNvCxnSpPr>
                <a:cxnSpLocks noChangeShapeType="1"/>
              </p:cNvCxnSpPr>
              <p:nvPr/>
            </p:nvCxnSpPr>
            <p:spPr bwMode="auto">
              <a:xfrm flipH="1" flipV="1">
                <a:off x="5115" y="9327"/>
                <a:ext cx="413" cy="18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legacyObliqueTopRight"/>
                <a:lightRig rig="legacyFlat3" dir="b"/>
              </a:scene3d>
              <a:sp3d prstMaterial="legacyMatte">
                <a:bevelT w="13500" h="13500" prst="angle"/>
                <a:bevelB w="13500" h="13500" prst="angle"/>
                <a:extrusionClr>
                  <a:srgbClr val="000000"/>
                </a:extrusionClr>
              </a:sp3d>
            </p:spPr>
          </p:cxnSp>
          <p:cxnSp>
            <p:nvCxnSpPr>
              <p:cNvPr id="33" name="AutoShape 82"/>
              <p:cNvCxnSpPr>
                <a:cxnSpLocks noChangeShapeType="1"/>
              </p:cNvCxnSpPr>
              <p:nvPr/>
            </p:nvCxnSpPr>
            <p:spPr bwMode="auto">
              <a:xfrm flipH="1" flipV="1">
                <a:off x="5115" y="9431"/>
                <a:ext cx="413" cy="18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legacyObliqueTopRight"/>
                <a:lightRig rig="legacyFlat3" dir="b"/>
              </a:scene3d>
              <a:sp3d prstMaterial="legacyMatte">
                <a:bevelT w="13500" h="13500" prst="angle"/>
                <a:bevelB w="13500" h="13500" prst="angle"/>
                <a:extrusionClr>
                  <a:srgbClr val="000000"/>
                </a:extrusionClr>
              </a:sp3d>
            </p:spPr>
          </p:cxnSp>
          <p:cxnSp>
            <p:nvCxnSpPr>
              <p:cNvPr id="34" name="AutoShape 83"/>
              <p:cNvCxnSpPr>
                <a:cxnSpLocks noChangeShapeType="1"/>
              </p:cNvCxnSpPr>
              <p:nvPr/>
            </p:nvCxnSpPr>
            <p:spPr bwMode="auto">
              <a:xfrm flipH="1" flipV="1">
                <a:off x="5115" y="9535"/>
                <a:ext cx="413" cy="18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legacyObliqueTopRight"/>
                <a:lightRig rig="legacyFlat3" dir="b"/>
              </a:scene3d>
              <a:sp3d prstMaterial="legacyMatte">
                <a:bevelT w="13500" h="13500" prst="angle"/>
                <a:bevelB w="13500" h="13500" prst="angle"/>
                <a:extrusionClr>
                  <a:srgbClr val="000000"/>
                </a:extrusionClr>
              </a:sp3d>
            </p:spPr>
          </p:cxnSp>
          <p:cxnSp>
            <p:nvCxnSpPr>
              <p:cNvPr id="35" name="AutoShape 84"/>
              <p:cNvCxnSpPr>
                <a:cxnSpLocks noChangeShapeType="1"/>
              </p:cNvCxnSpPr>
              <p:nvPr/>
            </p:nvCxnSpPr>
            <p:spPr bwMode="auto">
              <a:xfrm flipH="1" flipV="1">
                <a:off x="5115" y="9639"/>
                <a:ext cx="413" cy="18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legacyObliqueTopRight"/>
                <a:lightRig rig="legacyFlat3" dir="b"/>
              </a:scene3d>
              <a:sp3d prstMaterial="legacyMatte">
                <a:bevelT w="13500" h="13500" prst="angle"/>
                <a:bevelB w="13500" h="13500" prst="angle"/>
                <a:extrusionClr>
                  <a:srgbClr val="000000"/>
                </a:extrusionClr>
              </a:sp3d>
            </p:spPr>
          </p:cxnSp>
          <p:cxnSp>
            <p:nvCxnSpPr>
              <p:cNvPr id="36" name="AutoShape 85"/>
              <p:cNvCxnSpPr>
                <a:cxnSpLocks noChangeShapeType="1"/>
              </p:cNvCxnSpPr>
              <p:nvPr/>
            </p:nvCxnSpPr>
            <p:spPr bwMode="auto">
              <a:xfrm flipH="1" flipV="1">
                <a:off x="5115" y="9743"/>
                <a:ext cx="413" cy="18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legacyObliqueTopRight"/>
                <a:lightRig rig="legacyFlat3" dir="b"/>
              </a:scene3d>
              <a:sp3d prstMaterial="legacyMatte">
                <a:bevelT w="13500" h="13500" prst="angle"/>
                <a:bevelB w="13500" h="13500" prst="angle"/>
                <a:extrusionClr>
                  <a:srgbClr val="000000"/>
                </a:extrusionClr>
              </a:sp3d>
            </p:spPr>
          </p:cxnSp>
        </p:grpSp>
        <p:cxnSp>
          <p:nvCxnSpPr>
            <p:cNvPr id="28" name="AutoShape 86"/>
            <p:cNvCxnSpPr>
              <a:cxnSpLocks noChangeShapeType="1"/>
            </p:cNvCxnSpPr>
            <p:nvPr/>
          </p:nvCxnSpPr>
          <p:spPr bwMode="auto">
            <a:xfrm flipH="1">
              <a:off x="11756445" y="5466492"/>
              <a:ext cx="293016" cy="12848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29" name="AutoShape 87"/>
            <p:cNvCxnSpPr>
              <a:cxnSpLocks noChangeShapeType="1"/>
            </p:cNvCxnSpPr>
            <p:nvPr/>
          </p:nvCxnSpPr>
          <p:spPr bwMode="auto">
            <a:xfrm flipH="1">
              <a:off x="8647814" y="6475468"/>
              <a:ext cx="811744" cy="3595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  <p:cxnSp>
        <p:nvCxnSpPr>
          <p:cNvPr id="23" name="直線接點 22"/>
          <p:cNvCxnSpPr/>
          <p:nvPr/>
        </p:nvCxnSpPr>
        <p:spPr>
          <a:xfrm>
            <a:off x="4659085" y="3112303"/>
            <a:ext cx="0" cy="3156683"/>
          </a:xfrm>
          <a:prstGeom prst="line">
            <a:avLst/>
          </a:prstGeom>
          <a:ln w="25400"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字方塊 64"/>
          <p:cNvSpPr txBox="1"/>
          <p:nvPr/>
        </p:nvSpPr>
        <p:spPr>
          <a:xfrm>
            <a:off x="0" y="3112303"/>
            <a:ext cx="1954381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Field along Z-axis</a:t>
            </a:r>
            <a:endParaRPr lang="zh-TW" alt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4738302" y="3112303"/>
            <a:ext cx="1937453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Field along Y-axis</a:t>
            </a:r>
            <a:endParaRPr lang="zh-TW" alt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9623827" y="1601782"/>
            <a:ext cx="16193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zh-TW" sz="20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pm/V</a:t>
            </a:r>
            <a:endParaRPr lang="zh-TW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9623827" y="2039994"/>
            <a:ext cx="18117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zh-TW" sz="20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32.2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pm/V</a:t>
            </a:r>
            <a:endParaRPr lang="zh-TW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9623827" y="2458976"/>
            <a:ext cx="16193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zh-TW" sz="20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pm/V</a:t>
            </a:r>
            <a:endParaRPr lang="zh-TW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46413" y="5881688"/>
            <a:ext cx="61912" cy="86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2953746" y="5771502"/>
            <a:ext cx="2471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3596931" y="5884863"/>
            <a:ext cx="61912" cy="86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文字方塊 69"/>
          <p:cNvSpPr txBox="1"/>
          <p:nvPr/>
        </p:nvSpPr>
        <p:spPr>
          <a:xfrm>
            <a:off x="3501089" y="5777852"/>
            <a:ext cx="2471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51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Ring resonator</a:t>
            </a:r>
            <a:endParaRPr lang="zh-TW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388533" y="2094800"/>
            <a:ext cx="2937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OPD = 2</a:t>
            </a:r>
            <a:r>
              <a:rPr lang="el-G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lang="en-US" altLang="zh-TW" sz="24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</a:t>
            </a:r>
            <a:r>
              <a:rPr lang="en-US" altLang="zh-TW" sz="24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TW" sz="24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</a:t>
            </a:r>
            <a:endParaRPr lang="zh-TW" altLang="en-US" sz="2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413933" y="2676720"/>
            <a:ext cx="3594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OPD = m</a:t>
            </a:r>
            <a:r>
              <a:rPr lang="el-G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TW" sz="24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m =</a:t>
            </a:r>
            <a:r>
              <a:rPr lang="zh-TW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1,2,3,… 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2101645" y="4540970"/>
                <a:ext cx="1933093" cy="7042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i="1" smtClean="0">
                          <a:latin typeface="Cambria Math" panose="02040503050406030204" pitchFamily="18" charset="0"/>
                        </a:rPr>
                        <m:t>FW</m:t>
                      </m:r>
                      <m:r>
                        <m:rPr>
                          <m:sty m:val="p"/>
                        </m:rPr>
                        <a:rPr lang="en-US" altLang="zh-TW" sz="20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m:rPr>
                          <m:sty m:val="p"/>
                        </m:rPr>
                        <a:rPr lang="en-US" altLang="zh-TW" sz="200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l-GR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l-GR" altLang="zh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sz="2000" i="1" smtClean="0">
                                      <a:latin typeface="Cambria Math" panose="02040503050406030204" pitchFamily="18" charset="0"/>
                                    </a:rPr>
                                    <m:t>κ</m:t>
                                  </m:r>
                                </m:e>
                                <m:sup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l-GR" altLang="zh-TW" sz="2000" i="1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𝑒𝑓𝑓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645" y="4540970"/>
                <a:ext cx="1933093" cy="70429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088" y="3817130"/>
            <a:ext cx="6160423" cy="2355073"/>
          </a:xfrm>
          <a:prstGeom prst="rect">
            <a:avLst/>
          </a:prstGeom>
        </p:spPr>
      </p:pic>
      <p:sp>
        <p:nvSpPr>
          <p:cNvPr id="13" name="橢圓 12"/>
          <p:cNvSpPr/>
          <p:nvPr/>
        </p:nvSpPr>
        <p:spPr>
          <a:xfrm>
            <a:off x="7217502" y="1650709"/>
            <a:ext cx="2336800" cy="2336800"/>
          </a:xfrm>
          <a:prstGeom prst="ellipse">
            <a:avLst/>
          </a:prstGeom>
          <a:solidFill>
            <a:srgbClr val="FF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7358613" y="1791820"/>
            <a:ext cx="2054578" cy="2054578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6680927" y="1483527"/>
            <a:ext cx="3409950" cy="124178"/>
          </a:xfrm>
          <a:prstGeom prst="rect">
            <a:avLst/>
          </a:prstGeom>
          <a:solidFill>
            <a:srgbClr val="FF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/>
          <p:cNvCxnSpPr/>
          <p:nvPr/>
        </p:nvCxnSpPr>
        <p:spPr>
          <a:xfrm flipV="1">
            <a:off x="8385902" y="2094800"/>
            <a:ext cx="724309" cy="7243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8483240" y="2179922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2101645" y="3590945"/>
                <a:ext cx="1593128" cy="7042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𝐹𝑆𝑅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altLang="zh-TW" sz="20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sub>
                      </m:sSub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l-GR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altLang="zh-TW" sz="2000" i="1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𝑒𝑓𝑓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645" y="3590945"/>
                <a:ext cx="1593128" cy="70429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0009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934700" cy="9249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Sagnac</a:t>
            </a:r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Effect and Fiber Optic Gyroscope (FOG)</a:t>
            </a:r>
            <a:endParaRPr lang="zh-TW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92" y="1515849"/>
            <a:ext cx="6716916" cy="213466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49683" y="3478415"/>
            <a:ext cx="2861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i="1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Nature </a:t>
            </a:r>
            <a:r>
              <a:rPr lang="en-US" altLang="zh-TW" sz="1400" i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Photon 12, 671–675 (2018).</a:t>
            </a:r>
            <a:endParaRPr lang="zh-TW" altLang="en-US" sz="1400" i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7981401" y="1914022"/>
                <a:ext cx="4000326" cy="13383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TW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zh-TW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altLang="zh-TW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cos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ϕ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m:rPr>
                              <m:sty m:val="p"/>
                            </m:rPr>
                            <a:rPr lang="el-GR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ϕ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000" i="1" dirty="0" smtClean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zh-TW" altLang="en-US" sz="2000" i="1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000" i="1" dirty="0" smtClean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TW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ϕ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TW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𝑛𝐴𝑁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l-GR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TW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1914022"/>
                <a:ext cx="4000326" cy="133831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 descr="https://static.aerodefensetech.com/images/stories/ADT/2011/features/DTB_0411_feat1_fig1.pn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017" y="3959740"/>
            <a:ext cx="6870239" cy="212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「fiber optic gyroscope」的圖片搜尋結果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690" y="3919919"/>
            <a:ext cx="2180875" cy="216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9066318" y="6088679"/>
            <a:ext cx="1672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i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KVH Industries, Inc.</a:t>
            </a:r>
            <a:endParaRPr lang="zh-TW" altLang="en-US" sz="1400" i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798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66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Progress</a:t>
            </a:r>
            <a:endParaRPr lang="zh-TW" altLang="en-US" sz="66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2354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Bar-chart</a:t>
            </a:r>
            <a:endParaRPr lang="zh-TW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xmlns="" id="{0B5A6D4C-E6A2-411F-B93D-602679EC0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295619"/>
              </p:ext>
            </p:extLst>
          </p:nvPr>
        </p:nvGraphicFramePr>
        <p:xfrm>
          <a:off x="1784922" y="1648716"/>
          <a:ext cx="8584905" cy="4026134"/>
        </p:xfrm>
        <a:graphic>
          <a:graphicData uri="http://schemas.openxmlformats.org/drawingml/2006/table">
            <a:tbl>
              <a:tblPr firstRow="1" bandRow="1"/>
              <a:tblGrid>
                <a:gridCol w="16478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7809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7809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7809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7809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7809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7809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7809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7809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7809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7809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7809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57809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5751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sz="1600" b="0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Field study</a:t>
                      </a:r>
                      <a:endParaRPr lang="pl-PL" sz="16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482" marR="87482" marT="43741" marB="43741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500" dirty="0">
                        <a:ln w="38100" cmpd="sng">
                          <a:solidFill>
                            <a:schemeClr val="bg1"/>
                          </a:solidFill>
                        </a:ln>
                        <a:latin typeface="Ubuntu" panose="020B0504030602030204" pitchFamily="34" charset="0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751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cap="none" spc="0">
                          <a:ln w="0"/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Simulation</a:t>
                      </a:r>
                      <a:endParaRPr lang="pl-PL" sz="16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482" marR="87482" marT="43741" marB="43741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500" dirty="0">
                        <a:ln w="38100" cmpd="sng">
                          <a:solidFill>
                            <a:schemeClr val="bg1"/>
                          </a:solidFill>
                        </a:ln>
                        <a:latin typeface="Ubuntu" panose="020B0504030602030204" pitchFamily="34" charset="0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51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sz="1600" b="0" cap="none" spc="0">
                          <a:ln w="0"/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Fabrication</a:t>
                      </a:r>
                      <a:endParaRPr lang="pl-PL" sz="16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482" marR="87482" marT="43741" marB="43741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500" dirty="0">
                        <a:ln w="38100" cmpd="sng">
                          <a:solidFill>
                            <a:schemeClr val="bg1"/>
                          </a:solidFill>
                        </a:ln>
                        <a:latin typeface="Ubuntu" panose="020B0504030602030204" pitchFamily="34" charset="0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751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cap="none" spc="0">
                          <a:ln w="0"/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Mesurement</a:t>
                      </a:r>
                      <a:endParaRPr lang="pl-PL" sz="16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482" marR="87482" marT="43741" marB="43741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500">
                        <a:ln w="38100" cmpd="sng">
                          <a:solidFill>
                            <a:schemeClr val="bg1"/>
                          </a:solidFill>
                        </a:ln>
                        <a:latin typeface="Ubuntu" panose="020B0504030602030204" pitchFamily="34" charset="0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751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sz="1600" b="0" cap="none" spc="0">
                          <a:ln w="0"/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Data processing</a:t>
                      </a:r>
                      <a:endParaRPr lang="pl-PL" sz="16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482" marR="87482" marT="43741" marB="43741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500">
                        <a:ln w="38100" cmpd="sng">
                          <a:solidFill>
                            <a:schemeClr val="bg1"/>
                          </a:solidFill>
                        </a:ln>
                        <a:latin typeface="Ubuntu" panose="020B0504030602030204" pitchFamily="34" charset="0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751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cap="none" spc="0">
                          <a:ln w="0"/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 Draft Report</a:t>
                      </a:r>
                      <a:endParaRPr lang="pl-PL" sz="16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482" marR="87482" marT="43741" marB="43741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500" dirty="0">
                        <a:ln w="38100" cmpd="sng">
                          <a:solidFill>
                            <a:schemeClr val="bg1"/>
                          </a:solidFill>
                        </a:ln>
                        <a:latin typeface="Ubuntu" panose="020B0504030602030204" pitchFamily="34" charset="0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751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sz="1600" b="0" cap="none" spc="0">
                          <a:ln w="0"/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 Final report</a:t>
                      </a:r>
                      <a:endParaRPr lang="pl-PL" sz="16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482" marR="87482" marT="43741" marB="43741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+mn-lt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pl-PL" sz="500" dirty="0">
                        <a:ln w="38100" cmpd="sng">
                          <a:solidFill>
                            <a:schemeClr val="bg1"/>
                          </a:solidFill>
                        </a:ln>
                        <a:latin typeface="Ubuntu" panose="020B0504030602030204" pitchFamily="34" charset="0"/>
                      </a:endParaRPr>
                    </a:p>
                  </a:txBody>
                  <a:tcPr marL="87482" marR="87482" marT="43741" marB="4374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alpha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xmlns="" id="{777BC831-DCBD-4CA9-ABA9-1301087DF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654169"/>
              </p:ext>
            </p:extLst>
          </p:nvPr>
        </p:nvGraphicFramePr>
        <p:xfrm>
          <a:off x="3429000" y="1313686"/>
          <a:ext cx="6934428" cy="320766"/>
        </p:xfrm>
        <a:graphic>
          <a:graphicData uri="http://schemas.openxmlformats.org/drawingml/2006/table">
            <a:tbl>
              <a:tblPr firstRow="1" bandRow="1">
                <a:effectLst/>
              </a:tblPr>
              <a:tblGrid>
                <a:gridCol w="231147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1147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31147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320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500" b="1" cap="none" spc="0" dirty="0" smtClean="0">
                          <a:ln w="0"/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Fourth</a:t>
                      </a:r>
                      <a:r>
                        <a:rPr lang="en-US" sz="1500" b="1" cap="none" spc="0" dirty="0" smtClean="0">
                          <a:ln w="0"/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pl-PL" sz="15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482" marR="87482" marT="43741" marB="4374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A8D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cap="none" spc="0" dirty="0" err="1" smtClean="0">
                          <a:ln w="0"/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Fiveth</a:t>
                      </a:r>
                      <a:r>
                        <a:rPr lang="en-US" sz="1500" b="1" cap="none" spc="0" dirty="0" smtClean="0">
                          <a:ln w="0"/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pl-PL" sz="15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482" marR="87482" marT="43741" marB="43741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572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cap="none" spc="0" dirty="0" smtClean="0">
                          <a:ln w="0"/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Sixth </a:t>
                      </a:r>
                      <a:r>
                        <a:rPr lang="en-US" sz="15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pl-PL" sz="15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482" marR="87482" marT="43741" marB="43741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8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38F724A7-02A2-4586-8CA4-48663F7F1773}"/>
              </a:ext>
            </a:extLst>
          </p:cNvPr>
          <p:cNvCxnSpPr>
            <a:cxnSpLocks/>
          </p:cNvCxnSpPr>
          <p:nvPr/>
        </p:nvCxnSpPr>
        <p:spPr>
          <a:xfrm>
            <a:off x="3473383" y="1857973"/>
            <a:ext cx="1108638" cy="0"/>
          </a:xfrm>
          <a:prstGeom prst="straightConnector1">
            <a:avLst/>
          </a:prstGeom>
          <a:noFill/>
          <a:ln w="25400" cap="flat" cmpd="sng" algn="ctr">
            <a:solidFill>
              <a:srgbClr val="7FBC41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E8E9E9C8-4329-487D-BE11-8F585B1E5A79}"/>
              </a:ext>
            </a:extLst>
          </p:cNvPr>
          <p:cNvCxnSpPr>
            <a:cxnSpLocks/>
          </p:cNvCxnSpPr>
          <p:nvPr/>
        </p:nvCxnSpPr>
        <p:spPr>
          <a:xfrm>
            <a:off x="3473383" y="2103119"/>
            <a:ext cx="1108638" cy="0"/>
          </a:xfrm>
          <a:prstGeom prst="straightConnector1">
            <a:avLst/>
          </a:prstGeom>
          <a:noFill/>
          <a:ln w="25400" cap="flat" cmpd="sng" algn="ctr">
            <a:solidFill>
              <a:srgbClr val="31A8DF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xmlns="" id="{67E6D889-B328-4F29-8778-9A6183BB954C}"/>
              </a:ext>
            </a:extLst>
          </p:cNvPr>
          <p:cNvGrpSpPr/>
          <p:nvPr/>
        </p:nvGrpSpPr>
        <p:grpSpPr>
          <a:xfrm>
            <a:off x="2115319" y="5799676"/>
            <a:ext cx="1358064" cy="413850"/>
            <a:chOff x="2306270" y="5140021"/>
            <a:chExt cx="1810751" cy="551797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xmlns="" id="{96354D69-8EE4-4523-A60B-26A7B249A978}"/>
                </a:ext>
              </a:extLst>
            </p:cNvPr>
            <p:cNvCxnSpPr/>
            <p:nvPr/>
          </p:nvCxnSpPr>
          <p:spPr>
            <a:xfrm>
              <a:off x="2995643" y="5140021"/>
              <a:ext cx="432000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7FBC41"/>
              </a:solidFill>
              <a:prstDash val="solid"/>
              <a:miter lim="800000"/>
              <a:headEnd type="oval" w="med" len="med"/>
              <a:tailEnd type="triangle" w="med" len="med"/>
            </a:ln>
            <a:effectLst/>
          </p:spPr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5DCBDFDF-AF55-4FA5-9F2A-E76A874B91FA}"/>
                </a:ext>
              </a:extLst>
            </p:cNvPr>
            <p:cNvSpPr txBox="1"/>
            <p:nvPr/>
          </p:nvSpPr>
          <p:spPr>
            <a:xfrm>
              <a:off x="2306270" y="5199378"/>
              <a:ext cx="1810751" cy="492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US" kern="0">
                  <a:solidFill>
                    <a:srgbClr val="7F7F7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First scheme</a:t>
              </a:r>
              <a:endParaRPr lang="id-ID" b="1" kern="0" dirty="0">
                <a:solidFill>
                  <a:srgbClr val="7F7F7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xmlns="" id="{8594DC27-F925-4F66-BD28-7C9BE56C9937}"/>
              </a:ext>
            </a:extLst>
          </p:cNvPr>
          <p:cNvGrpSpPr/>
          <p:nvPr/>
        </p:nvGrpSpPr>
        <p:grpSpPr>
          <a:xfrm>
            <a:off x="4076260" y="5799676"/>
            <a:ext cx="1614546" cy="413850"/>
            <a:chOff x="3593199" y="5130594"/>
            <a:chExt cx="2152729" cy="551797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xmlns="" id="{0B11ACF5-CDCC-41A7-9DAB-9BA4B44E27A2}"/>
                </a:ext>
              </a:extLst>
            </p:cNvPr>
            <p:cNvCxnSpPr/>
            <p:nvPr/>
          </p:nvCxnSpPr>
          <p:spPr>
            <a:xfrm>
              <a:off x="4453556" y="5130594"/>
              <a:ext cx="432000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31A8DF"/>
              </a:solidFill>
              <a:prstDash val="solid"/>
              <a:miter lim="800000"/>
              <a:headEnd type="oval" w="med" len="med"/>
              <a:tailEnd type="triangle" w="med" len="med"/>
            </a:ln>
            <a:effectLst/>
          </p:spPr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19A5D90A-B24D-4A31-BE99-EBE59FF12924}"/>
                </a:ext>
              </a:extLst>
            </p:cNvPr>
            <p:cNvSpPr txBox="1"/>
            <p:nvPr/>
          </p:nvSpPr>
          <p:spPr>
            <a:xfrm>
              <a:off x="3593199" y="5189951"/>
              <a:ext cx="2152729" cy="492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US" kern="0">
                  <a:solidFill>
                    <a:srgbClr val="7F7F7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Second scheme</a:t>
              </a:r>
              <a:endParaRPr lang="id-ID" b="1" kern="0" dirty="0">
                <a:solidFill>
                  <a:srgbClr val="7F7F7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xmlns="" id="{F67EE965-5A24-49EB-B726-4B4792146769}"/>
              </a:ext>
            </a:extLst>
          </p:cNvPr>
          <p:cNvGrpSpPr/>
          <p:nvPr/>
        </p:nvGrpSpPr>
        <p:grpSpPr>
          <a:xfrm>
            <a:off x="6293684" y="5799676"/>
            <a:ext cx="1447833" cy="413850"/>
            <a:chOff x="5279191" y="5111740"/>
            <a:chExt cx="1930441" cy="551797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xmlns="" id="{18F7404A-0FF0-42CD-8325-079DCE5F3456}"/>
                </a:ext>
              </a:extLst>
            </p:cNvPr>
            <p:cNvCxnSpPr/>
            <p:nvPr/>
          </p:nvCxnSpPr>
          <p:spPr>
            <a:xfrm>
              <a:off x="6028417" y="5111740"/>
              <a:ext cx="432000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EC5724"/>
              </a:solidFill>
              <a:prstDash val="solid"/>
              <a:miter lim="800000"/>
              <a:headEnd type="oval" w="med" len="med"/>
              <a:tailEnd type="triangle" w="med" len="med"/>
            </a:ln>
            <a:effectLst/>
          </p:spPr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155C5A89-BE7F-4ED8-A551-88D353046F66}"/>
                </a:ext>
              </a:extLst>
            </p:cNvPr>
            <p:cNvSpPr txBox="1"/>
            <p:nvPr/>
          </p:nvSpPr>
          <p:spPr>
            <a:xfrm>
              <a:off x="5279191" y="5171097"/>
              <a:ext cx="1930441" cy="492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US" kern="0">
                  <a:solidFill>
                    <a:srgbClr val="7F7F7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Third scheme</a:t>
              </a:r>
              <a:endParaRPr lang="id-ID" b="1" kern="0" dirty="0">
                <a:solidFill>
                  <a:srgbClr val="7F7F7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xmlns="" id="{F5758587-F971-4AD2-83E9-3552EF9BE806}"/>
              </a:ext>
            </a:extLst>
          </p:cNvPr>
          <p:cNvGrpSpPr/>
          <p:nvPr/>
        </p:nvGrpSpPr>
        <p:grpSpPr>
          <a:xfrm>
            <a:off x="8443777" y="5799679"/>
            <a:ext cx="1640194" cy="413850"/>
            <a:chOff x="8252135" y="5517093"/>
            <a:chExt cx="2186924" cy="551797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xmlns="" id="{A1141630-6649-4110-B75C-B3A5DC86240B}"/>
                </a:ext>
              </a:extLst>
            </p:cNvPr>
            <p:cNvCxnSpPr/>
            <p:nvPr/>
          </p:nvCxnSpPr>
          <p:spPr>
            <a:xfrm>
              <a:off x="9129590" y="5517093"/>
              <a:ext cx="432000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FDB817"/>
              </a:solidFill>
              <a:prstDash val="solid"/>
              <a:miter lim="800000"/>
              <a:headEnd type="oval" w="med" len="med"/>
              <a:tailEnd type="triangle" w="med" len="med"/>
            </a:ln>
            <a:effectLst/>
          </p:spPr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293C572E-6CCD-4FA0-99BC-7DFDF9A8EE86}"/>
                </a:ext>
              </a:extLst>
            </p:cNvPr>
            <p:cNvSpPr txBox="1"/>
            <p:nvPr/>
          </p:nvSpPr>
          <p:spPr>
            <a:xfrm>
              <a:off x="8252135" y="5576450"/>
              <a:ext cx="2186924" cy="492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US" altLang="zh-TW" kern="0" dirty="0" smtClean="0">
                  <a:solidFill>
                    <a:srgbClr val="7F7F7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Fourth</a:t>
              </a:r>
              <a:r>
                <a:rPr lang="en-US" kern="0" dirty="0" smtClean="0">
                  <a:solidFill>
                    <a:srgbClr val="7F7F7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kern="0" dirty="0">
                  <a:solidFill>
                    <a:srgbClr val="7F7F7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schemes</a:t>
              </a:r>
              <a:endParaRPr lang="id-ID" b="1" kern="0" dirty="0">
                <a:solidFill>
                  <a:srgbClr val="7F7F7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xmlns="" id="{FFEC8979-4F03-48AE-A535-3199E83606F0}"/>
              </a:ext>
            </a:extLst>
          </p:cNvPr>
          <p:cNvCxnSpPr>
            <a:cxnSpLocks/>
          </p:cNvCxnSpPr>
          <p:nvPr/>
        </p:nvCxnSpPr>
        <p:spPr>
          <a:xfrm>
            <a:off x="4099383" y="2408809"/>
            <a:ext cx="1106993" cy="0"/>
          </a:xfrm>
          <a:prstGeom prst="straightConnector1">
            <a:avLst/>
          </a:prstGeom>
          <a:noFill/>
          <a:ln w="25400" cap="flat" cmpd="sng" algn="ctr">
            <a:solidFill>
              <a:srgbClr val="7FBC41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xmlns="" id="{2BF3E590-952E-433F-94DC-ACD8245F3597}"/>
              </a:ext>
            </a:extLst>
          </p:cNvPr>
          <p:cNvCxnSpPr>
            <a:cxnSpLocks/>
          </p:cNvCxnSpPr>
          <p:nvPr/>
        </p:nvCxnSpPr>
        <p:spPr>
          <a:xfrm>
            <a:off x="4099382" y="2653955"/>
            <a:ext cx="1106993" cy="0"/>
          </a:xfrm>
          <a:prstGeom prst="straightConnector1">
            <a:avLst/>
          </a:prstGeom>
          <a:noFill/>
          <a:ln w="25400" cap="flat" cmpd="sng" algn="ctr">
            <a:solidFill>
              <a:srgbClr val="31A8DF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xmlns="" id="{9DE12737-E0BF-4AFF-9ED3-6592C935F54E}"/>
              </a:ext>
            </a:extLst>
          </p:cNvPr>
          <p:cNvCxnSpPr>
            <a:cxnSpLocks/>
          </p:cNvCxnSpPr>
          <p:nvPr/>
        </p:nvCxnSpPr>
        <p:spPr>
          <a:xfrm>
            <a:off x="4652880" y="1857973"/>
            <a:ext cx="1037926" cy="0"/>
          </a:xfrm>
          <a:prstGeom prst="straightConnector1">
            <a:avLst/>
          </a:prstGeom>
          <a:noFill/>
          <a:ln w="25400" cap="flat" cmpd="sng" algn="ctr">
            <a:solidFill>
              <a:srgbClr val="EC5724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49" name="Straight Arrow Connector 35">
            <a:extLst>
              <a:ext uri="{FF2B5EF4-FFF2-40B4-BE49-F238E27FC236}">
                <a16:creationId xmlns:a16="http://schemas.microsoft.com/office/drawing/2014/main" xmlns="" id="{F32D6C18-B9E6-477F-9DAB-9CE8D1066801}"/>
              </a:ext>
            </a:extLst>
          </p:cNvPr>
          <p:cNvCxnSpPr>
            <a:cxnSpLocks/>
          </p:cNvCxnSpPr>
          <p:nvPr/>
        </p:nvCxnSpPr>
        <p:spPr>
          <a:xfrm>
            <a:off x="4652880" y="2103119"/>
            <a:ext cx="1037926" cy="0"/>
          </a:xfrm>
          <a:prstGeom prst="straightConnector1">
            <a:avLst/>
          </a:prstGeom>
          <a:noFill/>
          <a:ln w="25400" cap="flat" cmpd="sng" algn="ctr">
            <a:solidFill>
              <a:srgbClr val="FDB817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50" name="Straight Arrow Connector 68">
            <a:extLst>
              <a:ext uri="{FF2B5EF4-FFF2-40B4-BE49-F238E27FC236}">
                <a16:creationId xmlns:a16="http://schemas.microsoft.com/office/drawing/2014/main" xmlns="" id="{9DE12737-E0BF-4AFF-9ED3-6592C935F54E}"/>
              </a:ext>
            </a:extLst>
          </p:cNvPr>
          <p:cNvCxnSpPr>
            <a:cxnSpLocks/>
          </p:cNvCxnSpPr>
          <p:nvPr/>
        </p:nvCxnSpPr>
        <p:spPr>
          <a:xfrm>
            <a:off x="5255758" y="2408809"/>
            <a:ext cx="1037926" cy="0"/>
          </a:xfrm>
          <a:prstGeom prst="straightConnector1">
            <a:avLst/>
          </a:prstGeom>
          <a:noFill/>
          <a:ln w="25400" cap="flat" cmpd="sng" algn="ctr">
            <a:solidFill>
              <a:srgbClr val="EC5724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51" name="Straight Arrow Connector 35">
            <a:extLst>
              <a:ext uri="{FF2B5EF4-FFF2-40B4-BE49-F238E27FC236}">
                <a16:creationId xmlns:a16="http://schemas.microsoft.com/office/drawing/2014/main" xmlns="" id="{F32D6C18-B9E6-477F-9DAB-9CE8D1066801}"/>
              </a:ext>
            </a:extLst>
          </p:cNvPr>
          <p:cNvCxnSpPr>
            <a:cxnSpLocks/>
          </p:cNvCxnSpPr>
          <p:nvPr/>
        </p:nvCxnSpPr>
        <p:spPr>
          <a:xfrm>
            <a:off x="5255758" y="2653955"/>
            <a:ext cx="1037926" cy="0"/>
          </a:xfrm>
          <a:prstGeom prst="straightConnector1">
            <a:avLst/>
          </a:prstGeom>
          <a:noFill/>
          <a:ln w="25400" cap="flat" cmpd="sng" algn="ctr">
            <a:solidFill>
              <a:srgbClr val="FDB817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52" name="Straight Arrow Connector 56">
            <a:extLst>
              <a:ext uri="{FF2B5EF4-FFF2-40B4-BE49-F238E27FC236}">
                <a16:creationId xmlns:a16="http://schemas.microsoft.com/office/drawing/2014/main" xmlns="" id="{FFEC8979-4F03-48AE-A535-3199E83606F0}"/>
              </a:ext>
            </a:extLst>
          </p:cNvPr>
          <p:cNvCxnSpPr>
            <a:cxnSpLocks/>
          </p:cNvCxnSpPr>
          <p:nvPr/>
        </p:nvCxnSpPr>
        <p:spPr>
          <a:xfrm>
            <a:off x="5221224" y="3029295"/>
            <a:ext cx="1106993" cy="0"/>
          </a:xfrm>
          <a:prstGeom prst="straightConnector1">
            <a:avLst/>
          </a:prstGeom>
          <a:noFill/>
          <a:ln w="25400" cap="flat" cmpd="sng" algn="ctr">
            <a:solidFill>
              <a:srgbClr val="7FBC41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53" name="Straight Arrow Connector 61">
            <a:extLst>
              <a:ext uri="{FF2B5EF4-FFF2-40B4-BE49-F238E27FC236}">
                <a16:creationId xmlns:a16="http://schemas.microsoft.com/office/drawing/2014/main" xmlns="" id="{2BF3E590-952E-433F-94DC-ACD8245F3597}"/>
              </a:ext>
            </a:extLst>
          </p:cNvPr>
          <p:cNvCxnSpPr>
            <a:cxnSpLocks/>
          </p:cNvCxnSpPr>
          <p:nvPr/>
        </p:nvCxnSpPr>
        <p:spPr>
          <a:xfrm>
            <a:off x="5221224" y="3288393"/>
            <a:ext cx="1106993" cy="0"/>
          </a:xfrm>
          <a:prstGeom prst="straightConnector1">
            <a:avLst/>
          </a:prstGeom>
          <a:noFill/>
          <a:ln w="25400" cap="flat" cmpd="sng" algn="ctr">
            <a:solidFill>
              <a:srgbClr val="31A8DF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54" name="Straight Arrow Connector 68">
            <a:extLst>
              <a:ext uri="{FF2B5EF4-FFF2-40B4-BE49-F238E27FC236}">
                <a16:creationId xmlns:a16="http://schemas.microsoft.com/office/drawing/2014/main" xmlns="" id="{9DE12737-E0BF-4AFF-9ED3-6592C935F54E}"/>
              </a:ext>
            </a:extLst>
          </p:cNvPr>
          <p:cNvCxnSpPr>
            <a:cxnSpLocks/>
          </p:cNvCxnSpPr>
          <p:nvPr/>
        </p:nvCxnSpPr>
        <p:spPr>
          <a:xfrm>
            <a:off x="6377251" y="3029295"/>
            <a:ext cx="1037926" cy="0"/>
          </a:xfrm>
          <a:prstGeom prst="straightConnector1">
            <a:avLst/>
          </a:prstGeom>
          <a:noFill/>
          <a:ln w="25400" cap="flat" cmpd="sng" algn="ctr">
            <a:solidFill>
              <a:srgbClr val="EC5724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55" name="Straight Arrow Connector 35">
            <a:extLst>
              <a:ext uri="{FF2B5EF4-FFF2-40B4-BE49-F238E27FC236}">
                <a16:creationId xmlns:a16="http://schemas.microsoft.com/office/drawing/2014/main" xmlns="" id="{F32D6C18-B9E6-477F-9DAB-9CE8D1066801}"/>
              </a:ext>
            </a:extLst>
          </p:cNvPr>
          <p:cNvCxnSpPr>
            <a:cxnSpLocks/>
          </p:cNvCxnSpPr>
          <p:nvPr/>
        </p:nvCxnSpPr>
        <p:spPr>
          <a:xfrm>
            <a:off x="6377251" y="3274441"/>
            <a:ext cx="1037926" cy="0"/>
          </a:xfrm>
          <a:prstGeom prst="straightConnector1">
            <a:avLst/>
          </a:prstGeom>
          <a:noFill/>
          <a:ln w="25400" cap="flat" cmpd="sng" algn="ctr">
            <a:solidFill>
              <a:srgbClr val="FDB817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60" name="Straight Arrow Connector 56">
            <a:extLst>
              <a:ext uri="{FF2B5EF4-FFF2-40B4-BE49-F238E27FC236}">
                <a16:creationId xmlns:a16="http://schemas.microsoft.com/office/drawing/2014/main" xmlns="" id="{FFEC8979-4F03-48AE-A535-3199E83606F0}"/>
              </a:ext>
            </a:extLst>
          </p:cNvPr>
          <p:cNvCxnSpPr>
            <a:cxnSpLocks/>
          </p:cNvCxnSpPr>
          <p:nvPr/>
        </p:nvCxnSpPr>
        <p:spPr>
          <a:xfrm>
            <a:off x="6896214" y="3838745"/>
            <a:ext cx="1106993" cy="0"/>
          </a:xfrm>
          <a:prstGeom prst="straightConnector1">
            <a:avLst/>
          </a:prstGeom>
          <a:noFill/>
          <a:ln w="25400" cap="flat" cmpd="sng" algn="ctr">
            <a:solidFill>
              <a:srgbClr val="31A8DF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63" name="Straight Arrow Connector 61">
            <a:extLst>
              <a:ext uri="{FF2B5EF4-FFF2-40B4-BE49-F238E27FC236}">
                <a16:creationId xmlns:a16="http://schemas.microsoft.com/office/drawing/2014/main" xmlns="" id="{2BF3E590-952E-433F-94DC-ACD8245F3597}"/>
              </a:ext>
            </a:extLst>
          </p:cNvPr>
          <p:cNvCxnSpPr>
            <a:cxnSpLocks/>
          </p:cNvCxnSpPr>
          <p:nvPr/>
        </p:nvCxnSpPr>
        <p:spPr>
          <a:xfrm>
            <a:off x="6342717" y="3661783"/>
            <a:ext cx="836888" cy="0"/>
          </a:xfrm>
          <a:prstGeom prst="straightConnector1">
            <a:avLst/>
          </a:prstGeom>
          <a:noFill/>
          <a:ln w="25400" cap="flat" cmpd="sng" algn="ctr">
            <a:solidFill>
              <a:srgbClr val="7FBC41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64" name="Straight Arrow Connector 68">
            <a:extLst>
              <a:ext uri="{FF2B5EF4-FFF2-40B4-BE49-F238E27FC236}">
                <a16:creationId xmlns:a16="http://schemas.microsoft.com/office/drawing/2014/main" xmlns="" id="{9DE12737-E0BF-4AFF-9ED3-6592C935F54E}"/>
              </a:ext>
            </a:extLst>
          </p:cNvPr>
          <p:cNvCxnSpPr>
            <a:cxnSpLocks/>
          </p:cNvCxnSpPr>
          <p:nvPr/>
        </p:nvCxnSpPr>
        <p:spPr>
          <a:xfrm>
            <a:off x="7563794" y="3653964"/>
            <a:ext cx="763777" cy="0"/>
          </a:xfrm>
          <a:prstGeom prst="straightConnector1">
            <a:avLst/>
          </a:prstGeom>
          <a:noFill/>
          <a:ln w="25400" cap="flat" cmpd="sng" algn="ctr">
            <a:solidFill>
              <a:srgbClr val="EC5724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68" name="Straight Arrow Connector 35">
            <a:extLst>
              <a:ext uri="{FF2B5EF4-FFF2-40B4-BE49-F238E27FC236}">
                <a16:creationId xmlns:a16="http://schemas.microsoft.com/office/drawing/2014/main" xmlns="" id="{F32D6C18-B9E6-477F-9DAB-9CE8D1066801}"/>
              </a:ext>
            </a:extLst>
          </p:cNvPr>
          <p:cNvCxnSpPr>
            <a:cxnSpLocks/>
          </p:cNvCxnSpPr>
          <p:nvPr/>
        </p:nvCxnSpPr>
        <p:spPr>
          <a:xfrm>
            <a:off x="8063943" y="3847472"/>
            <a:ext cx="1037926" cy="0"/>
          </a:xfrm>
          <a:prstGeom prst="straightConnector1">
            <a:avLst/>
          </a:prstGeom>
          <a:noFill/>
          <a:ln w="25400" cap="flat" cmpd="sng" algn="ctr">
            <a:solidFill>
              <a:srgbClr val="FDB817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70" name="Straight Arrow Connector 61">
            <a:extLst>
              <a:ext uri="{FF2B5EF4-FFF2-40B4-BE49-F238E27FC236}">
                <a16:creationId xmlns:a16="http://schemas.microsoft.com/office/drawing/2014/main" xmlns="" id="{2BF3E590-952E-433F-94DC-ACD8245F3597}"/>
              </a:ext>
            </a:extLst>
          </p:cNvPr>
          <p:cNvCxnSpPr>
            <a:cxnSpLocks/>
          </p:cNvCxnSpPr>
          <p:nvPr/>
        </p:nvCxnSpPr>
        <p:spPr>
          <a:xfrm>
            <a:off x="6923541" y="4195183"/>
            <a:ext cx="640253" cy="0"/>
          </a:xfrm>
          <a:prstGeom prst="straightConnector1">
            <a:avLst/>
          </a:prstGeom>
          <a:noFill/>
          <a:ln w="25400" cap="flat" cmpd="sng" algn="ctr">
            <a:solidFill>
              <a:srgbClr val="7FBC41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76" name="Straight Arrow Connector 56">
            <a:extLst>
              <a:ext uri="{FF2B5EF4-FFF2-40B4-BE49-F238E27FC236}">
                <a16:creationId xmlns:a16="http://schemas.microsoft.com/office/drawing/2014/main" xmlns="" id="{FFEC8979-4F03-48AE-A535-3199E83606F0}"/>
              </a:ext>
            </a:extLst>
          </p:cNvPr>
          <p:cNvCxnSpPr>
            <a:cxnSpLocks/>
          </p:cNvCxnSpPr>
          <p:nvPr/>
        </p:nvCxnSpPr>
        <p:spPr>
          <a:xfrm>
            <a:off x="7475913" y="4372145"/>
            <a:ext cx="588030" cy="0"/>
          </a:xfrm>
          <a:prstGeom prst="straightConnector1">
            <a:avLst/>
          </a:prstGeom>
          <a:noFill/>
          <a:ln w="25400" cap="flat" cmpd="sng" algn="ctr">
            <a:solidFill>
              <a:srgbClr val="31A8DF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77" name="Straight Arrow Connector 68">
            <a:extLst>
              <a:ext uri="{FF2B5EF4-FFF2-40B4-BE49-F238E27FC236}">
                <a16:creationId xmlns:a16="http://schemas.microsoft.com/office/drawing/2014/main" xmlns="" id="{9DE12737-E0BF-4AFF-9ED3-6592C935F54E}"/>
              </a:ext>
            </a:extLst>
          </p:cNvPr>
          <p:cNvCxnSpPr>
            <a:cxnSpLocks/>
          </p:cNvCxnSpPr>
          <p:nvPr/>
        </p:nvCxnSpPr>
        <p:spPr>
          <a:xfrm>
            <a:off x="7819129" y="4195183"/>
            <a:ext cx="624648" cy="0"/>
          </a:xfrm>
          <a:prstGeom prst="straightConnector1">
            <a:avLst/>
          </a:prstGeom>
          <a:noFill/>
          <a:ln w="25400" cap="flat" cmpd="sng" algn="ctr">
            <a:solidFill>
              <a:srgbClr val="EC5724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78" name="Straight Arrow Connector 35">
            <a:extLst>
              <a:ext uri="{FF2B5EF4-FFF2-40B4-BE49-F238E27FC236}">
                <a16:creationId xmlns:a16="http://schemas.microsoft.com/office/drawing/2014/main" xmlns="" id="{F32D6C18-B9E6-477F-9DAB-9CE8D1066801}"/>
              </a:ext>
            </a:extLst>
          </p:cNvPr>
          <p:cNvCxnSpPr>
            <a:cxnSpLocks/>
          </p:cNvCxnSpPr>
          <p:nvPr/>
        </p:nvCxnSpPr>
        <p:spPr>
          <a:xfrm>
            <a:off x="8225943" y="4398731"/>
            <a:ext cx="635028" cy="0"/>
          </a:xfrm>
          <a:prstGeom prst="straightConnector1">
            <a:avLst/>
          </a:prstGeom>
          <a:noFill/>
          <a:ln w="25400" cap="flat" cmpd="sng" algn="ctr">
            <a:solidFill>
              <a:srgbClr val="FDB817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79" name="Straight Arrow Connector 61">
            <a:extLst>
              <a:ext uri="{FF2B5EF4-FFF2-40B4-BE49-F238E27FC236}">
                <a16:creationId xmlns:a16="http://schemas.microsoft.com/office/drawing/2014/main" xmlns="" id="{2BF3E590-952E-433F-94DC-ACD8245F3597}"/>
              </a:ext>
            </a:extLst>
          </p:cNvPr>
          <p:cNvCxnSpPr>
            <a:cxnSpLocks/>
          </p:cNvCxnSpPr>
          <p:nvPr/>
        </p:nvCxnSpPr>
        <p:spPr>
          <a:xfrm>
            <a:off x="7799467" y="4706811"/>
            <a:ext cx="640253" cy="0"/>
          </a:xfrm>
          <a:prstGeom prst="straightConnector1">
            <a:avLst/>
          </a:prstGeom>
          <a:noFill/>
          <a:ln w="25400" cap="flat" cmpd="sng" algn="ctr">
            <a:solidFill>
              <a:srgbClr val="7FBC41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80" name="Straight Arrow Connector 56">
            <a:extLst>
              <a:ext uri="{FF2B5EF4-FFF2-40B4-BE49-F238E27FC236}">
                <a16:creationId xmlns:a16="http://schemas.microsoft.com/office/drawing/2014/main" xmlns="" id="{FFEC8979-4F03-48AE-A535-3199E83606F0}"/>
              </a:ext>
            </a:extLst>
          </p:cNvPr>
          <p:cNvCxnSpPr>
            <a:cxnSpLocks/>
          </p:cNvCxnSpPr>
          <p:nvPr/>
        </p:nvCxnSpPr>
        <p:spPr>
          <a:xfrm>
            <a:off x="8351839" y="4883773"/>
            <a:ext cx="588030" cy="0"/>
          </a:xfrm>
          <a:prstGeom prst="straightConnector1">
            <a:avLst/>
          </a:prstGeom>
          <a:noFill/>
          <a:ln w="25400" cap="flat" cmpd="sng" algn="ctr">
            <a:solidFill>
              <a:srgbClr val="31A8DF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81" name="Straight Arrow Connector 68">
            <a:extLst>
              <a:ext uri="{FF2B5EF4-FFF2-40B4-BE49-F238E27FC236}">
                <a16:creationId xmlns:a16="http://schemas.microsoft.com/office/drawing/2014/main" xmlns="" id="{9DE12737-E0BF-4AFF-9ED3-6592C935F54E}"/>
              </a:ext>
            </a:extLst>
          </p:cNvPr>
          <p:cNvCxnSpPr>
            <a:cxnSpLocks/>
          </p:cNvCxnSpPr>
          <p:nvPr/>
        </p:nvCxnSpPr>
        <p:spPr>
          <a:xfrm>
            <a:off x="8695055" y="4706811"/>
            <a:ext cx="624648" cy="0"/>
          </a:xfrm>
          <a:prstGeom prst="straightConnector1">
            <a:avLst/>
          </a:prstGeom>
          <a:noFill/>
          <a:ln w="25400" cap="flat" cmpd="sng" algn="ctr">
            <a:solidFill>
              <a:srgbClr val="EC5724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82" name="Straight Arrow Connector 35">
            <a:extLst>
              <a:ext uri="{FF2B5EF4-FFF2-40B4-BE49-F238E27FC236}">
                <a16:creationId xmlns:a16="http://schemas.microsoft.com/office/drawing/2014/main" xmlns="" id="{F32D6C18-B9E6-477F-9DAB-9CE8D1066801}"/>
              </a:ext>
            </a:extLst>
          </p:cNvPr>
          <p:cNvCxnSpPr>
            <a:cxnSpLocks/>
          </p:cNvCxnSpPr>
          <p:nvPr/>
        </p:nvCxnSpPr>
        <p:spPr>
          <a:xfrm>
            <a:off x="9101869" y="4910359"/>
            <a:ext cx="635028" cy="0"/>
          </a:xfrm>
          <a:prstGeom prst="straightConnector1">
            <a:avLst/>
          </a:prstGeom>
          <a:noFill/>
          <a:ln w="25400" cap="flat" cmpd="sng" algn="ctr">
            <a:solidFill>
              <a:srgbClr val="FDB817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83" name="Straight Arrow Connector 61">
            <a:extLst>
              <a:ext uri="{FF2B5EF4-FFF2-40B4-BE49-F238E27FC236}">
                <a16:creationId xmlns:a16="http://schemas.microsoft.com/office/drawing/2014/main" xmlns="" id="{2BF3E590-952E-433F-94DC-ACD8245F3597}"/>
              </a:ext>
            </a:extLst>
          </p:cNvPr>
          <p:cNvCxnSpPr>
            <a:cxnSpLocks/>
          </p:cNvCxnSpPr>
          <p:nvPr/>
        </p:nvCxnSpPr>
        <p:spPr>
          <a:xfrm>
            <a:off x="9763844" y="5120468"/>
            <a:ext cx="640253" cy="0"/>
          </a:xfrm>
          <a:prstGeom prst="straightConnector1">
            <a:avLst/>
          </a:prstGeom>
          <a:noFill/>
          <a:ln w="25400" cap="flat" cmpd="sng" algn="ctr">
            <a:solidFill>
              <a:srgbClr val="7FBC41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84" name="Straight Arrow Connector 56">
            <a:extLst>
              <a:ext uri="{FF2B5EF4-FFF2-40B4-BE49-F238E27FC236}">
                <a16:creationId xmlns:a16="http://schemas.microsoft.com/office/drawing/2014/main" xmlns="" id="{FFEC8979-4F03-48AE-A535-3199E83606F0}"/>
              </a:ext>
            </a:extLst>
          </p:cNvPr>
          <p:cNvCxnSpPr>
            <a:cxnSpLocks/>
          </p:cNvCxnSpPr>
          <p:nvPr/>
        </p:nvCxnSpPr>
        <p:spPr>
          <a:xfrm>
            <a:off x="9763844" y="5297430"/>
            <a:ext cx="624648" cy="0"/>
          </a:xfrm>
          <a:prstGeom prst="straightConnector1">
            <a:avLst/>
          </a:prstGeom>
          <a:noFill/>
          <a:ln w="25400" cap="flat" cmpd="sng" algn="ctr">
            <a:solidFill>
              <a:srgbClr val="31A8DF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85" name="Straight Arrow Connector 68">
            <a:extLst>
              <a:ext uri="{FF2B5EF4-FFF2-40B4-BE49-F238E27FC236}">
                <a16:creationId xmlns:a16="http://schemas.microsoft.com/office/drawing/2014/main" xmlns="" id="{9DE12737-E0BF-4AFF-9ED3-6592C935F54E}"/>
              </a:ext>
            </a:extLst>
          </p:cNvPr>
          <p:cNvCxnSpPr>
            <a:cxnSpLocks/>
          </p:cNvCxnSpPr>
          <p:nvPr/>
        </p:nvCxnSpPr>
        <p:spPr>
          <a:xfrm>
            <a:off x="9763844" y="5483089"/>
            <a:ext cx="624648" cy="0"/>
          </a:xfrm>
          <a:prstGeom prst="straightConnector1">
            <a:avLst/>
          </a:prstGeom>
          <a:noFill/>
          <a:ln w="25400" cap="flat" cmpd="sng" algn="ctr">
            <a:solidFill>
              <a:srgbClr val="EC5724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  <p:cxnSp>
        <p:nvCxnSpPr>
          <p:cNvPr id="86" name="Straight Arrow Connector 35">
            <a:extLst>
              <a:ext uri="{FF2B5EF4-FFF2-40B4-BE49-F238E27FC236}">
                <a16:creationId xmlns:a16="http://schemas.microsoft.com/office/drawing/2014/main" xmlns="" id="{F32D6C18-B9E6-477F-9DAB-9CE8D1066801}"/>
              </a:ext>
            </a:extLst>
          </p:cNvPr>
          <p:cNvCxnSpPr>
            <a:cxnSpLocks/>
          </p:cNvCxnSpPr>
          <p:nvPr/>
        </p:nvCxnSpPr>
        <p:spPr>
          <a:xfrm>
            <a:off x="9758654" y="5647718"/>
            <a:ext cx="635028" cy="0"/>
          </a:xfrm>
          <a:prstGeom prst="straightConnector1">
            <a:avLst/>
          </a:prstGeom>
          <a:noFill/>
          <a:ln w="25400" cap="flat" cmpd="sng" algn="ctr">
            <a:solidFill>
              <a:srgbClr val="FDB817"/>
            </a:solidFill>
            <a:prstDash val="solid"/>
            <a:miter lim="800000"/>
            <a:headEnd type="oval" w="lg" len="lg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03822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  <a:endParaRPr lang="zh-TW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With the advantages of LNOI, we can reduce the size of complex optic </a:t>
            </a:r>
            <a:r>
              <a:rPr lang="en-US" altLang="zh-TW" dirty="0"/>
              <a:t>system </a:t>
            </a:r>
            <a:r>
              <a:rPr lang="en-US" altLang="zh-TW" dirty="0" smtClean="0"/>
              <a:t>remarkably, refer to the diffused waveguide.</a:t>
            </a:r>
          </a:p>
          <a:p>
            <a:r>
              <a:rPr lang="en-US" altLang="zh-TW" dirty="0" smtClean="0"/>
              <a:t>The previous researches and efforts make it possible to fabricate waveguide on thin film lithium </a:t>
            </a:r>
            <a:r>
              <a:rPr lang="en-US" altLang="zh-TW" dirty="0" err="1" smtClean="0"/>
              <a:t>niobate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The BPM method and model which we built will help in designing and predicting.</a:t>
            </a:r>
          </a:p>
          <a:p>
            <a:r>
              <a:rPr lang="en-US" altLang="zh-TW" dirty="0" smtClean="0"/>
              <a:t>The realization of ultra-compact multi-function optic circuit for FOG would be a promising motivation for reducing size and lower the cost.</a:t>
            </a:r>
          </a:p>
        </p:txBody>
      </p:sp>
    </p:spTree>
    <p:extLst>
      <p:ext uri="{BB962C8B-B14F-4D97-AF65-F5344CB8AC3E}">
        <p14:creationId xmlns:p14="http://schemas.microsoft.com/office/powerpoint/2010/main" val="14869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altLang="zh-TW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 for Your Attention</a:t>
            </a:r>
            <a:endParaRPr lang="zh-TW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92609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QS_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QS_2" id="{A2866205-8FCB-470D-8940-EF2A01DA0EDE}" vid="{F73BD21D-A6FD-4721-B592-58C902ABDFAF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TQS_2</Template>
  <TotalTime>1365</TotalTime>
  <Words>2777</Words>
  <Application>Microsoft Office PowerPoint</Application>
  <PresentationFormat>寬螢幕</PresentationFormat>
  <Paragraphs>294</Paragraphs>
  <Slides>25</Slides>
  <Notes>19</Notes>
  <HiddenSlides>0</HiddenSlides>
  <MMClips>0</MMClips>
  <ScaleCrop>false</ScaleCrop>
  <HeadingPairs>
    <vt:vector size="8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6" baseType="lpstr">
      <vt:lpstr>Ubuntu</vt:lpstr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Wingdings</vt:lpstr>
      <vt:lpstr>TQS_2</vt:lpstr>
      <vt:lpstr>方程式</vt:lpstr>
      <vt:lpstr>使用薄膜鈮酸鋰單晶片設計整合多功能積體光學系統之研究 Research of Multi-function Optical Circuits Integration on a Thin Film Lithium Niobate Single Chip for Compact system</vt:lpstr>
      <vt:lpstr>Outline</vt:lpstr>
      <vt:lpstr>Motivation</vt:lpstr>
      <vt:lpstr>Poling Technics for QPM</vt:lpstr>
      <vt:lpstr>Gyroscope Integration</vt:lpstr>
      <vt:lpstr>LNOI Fabrication Technics of NILP</vt:lpstr>
      <vt:lpstr>Prior Works</vt:lpstr>
      <vt:lpstr>LNOI Fabrication Technics of NILP</vt:lpstr>
      <vt:lpstr>Integration of EOPMC and Adiabatic Coupler</vt:lpstr>
      <vt:lpstr>Design of Optical Circuit</vt:lpstr>
      <vt:lpstr>Research design: Scheme 1</vt:lpstr>
      <vt:lpstr>Research design: Scheme 2</vt:lpstr>
      <vt:lpstr>Research design: Scheme 3</vt:lpstr>
      <vt:lpstr>Research design: Scheme 4</vt:lpstr>
      <vt:lpstr>Working Principle</vt:lpstr>
      <vt:lpstr>Spontaneous Parametric Down-Conversion(SPDC)</vt:lpstr>
      <vt:lpstr>Principle of Directional Coupler</vt:lpstr>
      <vt:lpstr>Principle of Adiabatic Coupler</vt:lpstr>
      <vt:lpstr>EO Effect</vt:lpstr>
      <vt:lpstr>Ring resonator</vt:lpstr>
      <vt:lpstr>Sagnac Effect and Fiber Optic Gyroscope (FOG)</vt:lpstr>
      <vt:lpstr>Progress</vt:lpstr>
      <vt:lpstr>Bar-chart</vt:lpstr>
      <vt:lpstr>Conclusion</vt:lpstr>
      <vt:lpstr>Thank You for Your Attention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Quan-Hsiang Tseng</dc:creator>
  <cp:lastModifiedBy>Quan-Hsiang Tseng</cp:lastModifiedBy>
  <cp:revision>116</cp:revision>
  <dcterms:created xsi:type="dcterms:W3CDTF">2021-12-10T08:20:40Z</dcterms:created>
  <dcterms:modified xsi:type="dcterms:W3CDTF">2022-05-25T00:32:23Z</dcterms:modified>
</cp:coreProperties>
</file>