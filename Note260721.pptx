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4" r:id="rId5"/>
    <p:sldId id="265" r:id="rId6"/>
    <p:sldId id="266" r:id="rId7"/>
    <p:sldId id="259" r:id="rId8"/>
    <p:sldId id="267" r:id="rId9"/>
    <p:sldId id="260" r:id="rId10"/>
    <p:sldId id="261" r:id="rId11"/>
    <p:sldId id="262" r:id="rId12"/>
    <p:sldId id="268" r:id="rId13"/>
    <p:sldId id="263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9689" autoAdjust="0"/>
  </p:normalViewPr>
  <p:slideViewPr>
    <p:cSldViewPr snapToGrid="0">
      <p:cViewPr varScale="1">
        <p:scale>
          <a:sx n="99" d="100"/>
          <a:sy n="99" d="100"/>
        </p:scale>
        <p:origin x="4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6ADC1-5219-4952-9445-D14EF5DB78E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EE7ED-9F4E-45E1-8585-FBCAE0833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2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Silicon Photonic Design Pg. 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EE7ED-9F4E-45E1-8585-FBCAE08332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45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1550 TE0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EE7ED-9F4E-45E1-8585-FBCAE08332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89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4E3D-CC23-5AC9-0F3E-3254597A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22F68-B6C8-E37E-7C8A-7525E4643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47E20-5A3D-D14C-C8AB-52C87EC22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1550 TM0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CFFB5-CAFD-9134-3D1E-96E7A0A74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EE7ED-9F4E-45E1-8585-FBCAE08332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95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C452-6FD9-36B5-4107-F0CCC9BD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04E2D-292A-D59D-6A8C-40230D0C5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D1839-48C4-3245-AD7B-2227C234B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1550 TE1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8308F-53DD-D93B-37BA-12FC947BC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EE7ED-9F4E-45E1-8585-FBCAE08332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10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TM1 and TE2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EE7ED-9F4E-45E1-8585-FBCAE08332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72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1550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EE7ED-9F4E-45E1-8585-FBCAE08332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87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1310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EE7ED-9F4E-45E1-8585-FBCAE08332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19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EE7ED-9F4E-45E1-8585-FBCAE08332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26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TM0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EE7ED-9F4E-45E1-8585-FBCAE08332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37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1550 nm, bend radius = 1 um,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EE7ED-9F4E-45E1-8585-FBCAE083327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93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Bending radius = 2um,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EE7ED-9F4E-45E1-8585-FBCAE083327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05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B8871-4E62-C500-945E-15ECBB4FB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58913-FD65-C822-8E5A-890816DFD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89922-786B-489C-62AF-93B5D1BB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473DA-6F95-05A9-C912-674ACA1D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A6371-834D-5E92-9122-A6F02F14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1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1F731-873E-1718-883F-E3CC9CC5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BD1EC-F023-AC06-A08A-629095231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2DEF3-FDC1-8F72-F201-44EED2C5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D8877-A006-EC70-69D0-C337B4D8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55630-21DB-E16E-ADE0-F74DAD64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3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08C5-91E1-ACEE-651A-5F902347C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6B5BD-BB7A-699E-E680-7C9541385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F79FF-8BFF-EF3C-910F-A5992312B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606A3-4A33-168E-EB63-ED2B441E4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66CC1-85B3-2C7A-0FA0-53844369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9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ECF0-F067-EF32-3DDB-13CFA78D7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99525-5CB8-7CA3-7E6B-F18F2394C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B6FA6-0770-B883-90DA-CF525E021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7581B-1341-AED3-1512-C9B6E65BA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B20FF-5E28-2437-CA52-742564633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28634-0E86-CCB7-39E3-0381506CF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8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3A05-68E3-4263-5696-7CEEFC28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D994A-2574-D76D-E87A-C99084B9B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E1615-A1AE-D354-657A-F032D1360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7E0A0-2D44-4F73-0433-D050CB2E5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A3A37-0E58-7C7F-C519-2E8213791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E20508-CED9-9A3E-3625-4C816C5E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7169E8-6790-008E-D5B0-4B198289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9FBCF-186A-7DE9-F4A0-083CDF64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2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3AD39-64F1-BD45-2F43-CFD37C4F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01DAE-42F5-E3D9-529E-9B3B67A0F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29F0F7-D70F-8D9A-A590-C40260FF3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96697-1447-EF45-3A53-845DEF33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0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2153DA-B17F-3D94-F9D0-83BBCEB26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EE01B-0D90-D507-26BE-E44092C6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2E447-3E29-109A-5519-49CF84AC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2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FFDD3-6493-5B4D-A7A8-EC2A9BC2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B2165-A6E2-1C8B-2984-66F92E7E3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2F28D-F222-7CB7-5702-2493CC5DB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B81A6-1325-5311-2FF5-3018A8EF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760A2-B3AB-6EF6-F31A-C3602F22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EE4A2-B1A2-6FA0-B3E2-D169EC02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86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684F-5D43-D626-BC14-3A9C1926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3C79B-9377-0285-3EF3-9D5C0A8F1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5D48E-5ABC-473F-A29F-AF95422A6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E4225-DCBC-B4B9-EC94-066A307D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84133-D4FF-9520-5C6C-C21F7A49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8FE7C-359D-BB41-4562-C2778299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9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D56D8-AECD-4D4D-3A3C-669D1326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7EC70-3561-CC61-A635-C26E0DAFE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B61FF-BE83-C5E8-1C59-F41400210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28EDE-D6A6-37CD-D802-26A94009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62F23-D288-A930-2165-F65708C6D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2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A52FE7-C17B-5C2E-0FD3-7BC0D9E56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4D114-5636-8CA7-B098-F68A50184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D59B5-B3BF-DC4D-2604-EC170CA9F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73630-1F66-0C99-FD61-2C8D8FDC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6C1D4-C458-2F35-6702-3DFDF9CD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0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614DA8-8D3B-5F61-12FD-B4C8C44C0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84FE1-15EF-CCDB-F9EC-0AD137626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C4343-3AFB-FEAE-74DA-1DF956D2F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302E0-FC17-48AF-BB9C-2A61F0ED91F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0DB3C-8A20-C7BE-09B2-470689176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DA03C-5D6E-5928-315B-E7499691A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02AC-005E-4D48-8443-A095C446B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8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2058FB-F5DD-BD94-AB90-D6617509B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26" y="1360480"/>
            <a:ext cx="4759565" cy="3806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1D39B4-B186-DCC7-9FDD-1069E6A18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246" y="1360480"/>
            <a:ext cx="4901666" cy="386720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AF94E59-4F20-F387-6AB5-B5ACD0376CC3}"/>
              </a:ext>
            </a:extLst>
          </p:cNvPr>
          <p:cNvSpPr/>
          <p:nvPr/>
        </p:nvSpPr>
        <p:spPr>
          <a:xfrm>
            <a:off x="2945718" y="1301026"/>
            <a:ext cx="159560" cy="376192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B1824A-1B82-4F8A-FEA3-EDA88816621E}"/>
              </a:ext>
            </a:extLst>
          </p:cNvPr>
          <p:cNvSpPr/>
          <p:nvPr/>
        </p:nvSpPr>
        <p:spPr>
          <a:xfrm>
            <a:off x="8555943" y="1301025"/>
            <a:ext cx="159560" cy="376192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C8A280-8E09-9895-BFC7-C3F28E892CA2}"/>
              </a:ext>
            </a:extLst>
          </p:cNvPr>
          <p:cNvCxnSpPr>
            <a:cxnSpLocks/>
          </p:cNvCxnSpPr>
          <p:nvPr/>
        </p:nvCxnSpPr>
        <p:spPr>
          <a:xfrm>
            <a:off x="983561" y="4157662"/>
            <a:ext cx="4095645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CAD3DE-26A1-3AD5-5AE1-5B45335051BE}"/>
              </a:ext>
            </a:extLst>
          </p:cNvPr>
          <p:cNvCxnSpPr>
            <a:cxnSpLocks/>
          </p:cNvCxnSpPr>
          <p:nvPr/>
        </p:nvCxnSpPr>
        <p:spPr>
          <a:xfrm>
            <a:off x="983561" y="3588544"/>
            <a:ext cx="4095645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3F636D2-F794-A0AE-A92D-85E152794D3A}"/>
              </a:ext>
            </a:extLst>
          </p:cNvPr>
          <p:cNvCxnSpPr>
            <a:cxnSpLocks/>
          </p:cNvCxnSpPr>
          <p:nvPr/>
        </p:nvCxnSpPr>
        <p:spPr>
          <a:xfrm>
            <a:off x="983561" y="2233614"/>
            <a:ext cx="4095645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D5832D-2501-F34E-8977-D523ACDF3944}"/>
              </a:ext>
            </a:extLst>
          </p:cNvPr>
          <p:cNvCxnSpPr>
            <a:cxnSpLocks/>
          </p:cNvCxnSpPr>
          <p:nvPr/>
        </p:nvCxnSpPr>
        <p:spPr>
          <a:xfrm>
            <a:off x="6550960" y="4102886"/>
            <a:ext cx="4245264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346F79-25CC-BF41-19E1-0466B1686C48}"/>
              </a:ext>
            </a:extLst>
          </p:cNvPr>
          <p:cNvCxnSpPr>
            <a:cxnSpLocks/>
          </p:cNvCxnSpPr>
          <p:nvPr/>
        </p:nvCxnSpPr>
        <p:spPr>
          <a:xfrm>
            <a:off x="6550960" y="3662359"/>
            <a:ext cx="4245264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32EC7AC-AB71-60DC-81F7-5999D38247CD}"/>
              </a:ext>
            </a:extLst>
          </p:cNvPr>
          <p:cNvCxnSpPr>
            <a:cxnSpLocks/>
          </p:cNvCxnSpPr>
          <p:nvPr/>
        </p:nvCxnSpPr>
        <p:spPr>
          <a:xfrm>
            <a:off x="6550960" y="2993236"/>
            <a:ext cx="4245264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B8FF16-A2F2-5807-4889-77F2AACF9FA3}"/>
              </a:ext>
            </a:extLst>
          </p:cNvPr>
          <p:cNvCxnSpPr>
            <a:cxnSpLocks/>
          </p:cNvCxnSpPr>
          <p:nvPr/>
        </p:nvCxnSpPr>
        <p:spPr>
          <a:xfrm>
            <a:off x="6535719" y="2019037"/>
            <a:ext cx="4245264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474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C8959-3D7C-C787-95DF-EFEC4F845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B2897F-6D05-932A-93D1-ADF193EE2A4C}"/>
              </a:ext>
            </a:extLst>
          </p:cNvPr>
          <p:cNvSpPr txBox="1"/>
          <p:nvPr/>
        </p:nvSpPr>
        <p:spPr>
          <a:xfrm>
            <a:off x="328612" y="221457"/>
            <a:ext cx="21359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nSi = 3.477</a:t>
            </a:r>
          </a:p>
          <a:p>
            <a:r>
              <a:rPr lang="en-US"/>
              <a:t>nSiO2 = 1.444</a:t>
            </a:r>
          </a:p>
          <a:p>
            <a:r>
              <a:rPr lang="en-US"/>
              <a:t>Wl = 1550 nm</a:t>
            </a:r>
          </a:p>
          <a:p>
            <a:r>
              <a:rPr lang="en-US"/>
              <a:t>W = 500 nm</a:t>
            </a:r>
          </a:p>
          <a:p>
            <a:r>
              <a:rPr lang="en-US"/>
              <a:t>THK = 220 nm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37480-FD1B-F204-FBE0-270B0416702E}"/>
              </a:ext>
            </a:extLst>
          </p:cNvPr>
          <p:cNvSpPr txBox="1"/>
          <p:nvPr/>
        </p:nvSpPr>
        <p:spPr>
          <a:xfrm>
            <a:off x="2938462" y="273844"/>
            <a:ext cx="21359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nSi = 3.503</a:t>
            </a:r>
          </a:p>
          <a:p>
            <a:r>
              <a:rPr lang="en-US"/>
              <a:t>nSiO2 = 1.447</a:t>
            </a:r>
          </a:p>
          <a:p>
            <a:r>
              <a:rPr lang="en-US"/>
              <a:t>Wl = 1310 nm</a:t>
            </a:r>
          </a:p>
          <a:p>
            <a:r>
              <a:rPr lang="en-US"/>
              <a:t>W = 500 nm</a:t>
            </a:r>
          </a:p>
          <a:p>
            <a:r>
              <a:rPr lang="en-US"/>
              <a:t>THK = 220 nm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0F74B-5F84-D2E7-371B-AF37CBE726BF}"/>
              </a:ext>
            </a:extLst>
          </p:cNvPr>
          <p:cNvSpPr txBox="1"/>
          <p:nvPr/>
        </p:nvSpPr>
        <p:spPr>
          <a:xfrm>
            <a:off x="5548311" y="326231"/>
            <a:ext cx="5110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Mon1 = Effective index</a:t>
            </a:r>
          </a:p>
          <a:p>
            <a:r>
              <a:rPr lang="en-US"/>
              <a:t>Mon2 = Field 1/e width</a:t>
            </a:r>
          </a:p>
          <a:p>
            <a:r>
              <a:rPr lang="en-US"/>
              <a:t>Mon3 = Effective area</a:t>
            </a:r>
          </a:p>
          <a:p>
            <a:r>
              <a:rPr lang="en-US"/>
              <a:t>Mon4 = Partial power (Confinement factor)</a:t>
            </a:r>
          </a:p>
        </p:txBody>
      </p:sp>
    </p:spTree>
    <p:extLst>
      <p:ext uri="{BB962C8B-B14F-4D97-AF65-F5344CB8AC3E}">
        <p14:creationId xmlns:p14="http://schemas.microsoft.com/office/powerpoint/2010/main" val="2969367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A514C-49BE-C616-B835-B51B3813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873123-950B-A096-A391-2300F5A5B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82" y="543471"/>
            <a:ext cx="4041484" cy="2977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184ED8-0D81-673E-11A0-C788469A8808}"/>
              </a:ext>
            </a:extLst>
          </p:cNvPr>
          <p:cNvSpPr txBox="1"/>
          <p:nvPr/>
        </p:nvSpPr>
        <p:spPr>
          <a:xfrm>
            <a:off x="2073498" y="3520639"/>
            <a:ext cx="93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0A430-2B46-3BBD-E8F0-5CE1D767D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501" y="474785"/>
            <a:ext cx="3810181" cy="2796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02CA26-B094-30CC-CF4C-C1E0A752125B}"/>
              </a:ext>
            </a:extLst>
          </p:cNvPr>
          <p:cNvSpPr txBox="1"/>
          <p:nvPr/>
        </p:nvSpPr>
        <p:spPr>
          <a:xfrm>
            <a:off x="5980090" y="3396144"/>
            <a:ext cx="93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30DB38-74B8-E6F7-3968-127D0F5281B1}"/>
              </a:ext>
            </a:extLst>
          </p:cNvPr>
          <p:cNvSpPr txBox="1"/>
          <p:nvPr/>
        </p:nvSpPr>
        <p:spPr>
          <a:xfrm>
            <a:off x="9886682" y="3271649"/>
            <a:ext cx="93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Ez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8B1A44-646F-8005-97C7-E3860FF99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5352" y="661529"/>
            <a:ext cx="3356329" cy="24813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7E0EFA-78EE-4DB3-6821-7ECE68C095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902" y="3935047"/>
            <a:ext cx="3755043" cy="27903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6B2E8C-FB87-C062-3962-F17858E0C0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9427" y="3889971"/>
            <a:ext cx="3755043" cy="281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6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5EE1A-5D5C-C505-F9CE-2AE489D2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6FFABA-B6F0-1A73-F2D0-E18D16C43D4F}"/>
              </a:ext>
            </a:extLst>
          </p:cNvPr>
          <p:cNvSpPr txBox="1"/>
          <p:nvPr/>
        </p:nvSpPr>
        <p:spPr>
          <a:xfrm>
            <a:off x="1455312" y="3187591"/>
            <a:ext cx="93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5B1008-D199-A902-38C2-51F98586497B}"/>
              </a:ext>
            </a:extLst>
          </p:cNvPr>
          <p:cNvSpPr txBox="1"/>
          <p:nvPr/>
        </p:nvSpPr>
        <p:spPr>
          <a:xfrm>
            <a:off x="5754710" y="3127420"/>
            <a:ext cx="93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1919CC-BEB7-343A-6D31-09574939643B}"/>
              </a:ext>
            </a:extLst>
          </p:cNvPr>
          <p:cNvSpPr txBox="1"/>
          <p:nvPr/>
        </p:nvSpPr>
        <p:spPr>
          <a:xfrm>
            <a:off x="9661302" y="3110527"/>
            <a:ext cx="93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F36AB-1E9C-0673-5FA7-FC2C59E9F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063"/>
            <a:ext cx="3734873" cy="27713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2A7138-CB0B-0104-B4AD-C1516D11D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4873" y="369977"/>
            <a:ext cx="3480965" cy="25774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02D896-B202-58FC-1621-ED402A72A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332" y="316485"/>
            <a:ext cx="3734873" cy="27896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52595F-4B38-31C4-EAF4-B63BFD0F9B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87" y="3683741"/>
            <a:ext cx="4066687" cy="29981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CC8A5F-6E2A-D5D5-4B83-B7759260EF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0992" y="3851028"/>
            <a:ext cx="3734873" cy="277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1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819B7-7D71-A4CE-68C9-C296B0EC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792278-8A8D-61FE-9949-2DA2A80F3F2A}"/>
              </a:ext>
            </a:extLst>
          </p:cNvPr>
          <p:cNvSpPr txBox="1"/>
          <p:nvPr/>
        </p:nvSpPr>
        <p:spPr>
          <a:xfrm>
            <a:off x="1268568" y="3059668"/>
            <a:ext cx="93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7713A-EE33-5384-F820-EB47414F7300}"/>
              </a:ext>
            </a:extLst>
          </p:cNvPr>
          <p:cNvSpPr txBox="1"/>
          <p:nvPr/>
        </p:nvSpPr>
        <p:spPr>
          <a:xfrm>
            <a:off x="5567966" y="2999497"/>
            <a:ext cx="93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7611D-53F0-BA3D-93D2-677CB4108EF7}"/>
              </a:ext>
            </a:extLst>
          </p:cNvPr>
          <p:cNvSpPr txBox="1"/>
          <p:nvPr/>
        </p:nvSpPr>
        <p:spPr>
          <a:xfrm>
            <a:off x="9474558" y="2982604"/>
            <a:ext cx="93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Ez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3DE35-9DBC-B863-1A83-A3A81F904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96" y="3717511"/>
            <a:ext cx="4193459" cy="31404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0331FB-AC0B-1D59-78EF-F39BC7168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837" y="3777262"/>
            <a:ext cx="4003539" cy="30209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F4A396-A100-21BC-A360-E0AF4C4D6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8" y="348817"/>
            <a:ext cx="3561770" cy="2650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B914F9-0FD8-EAE0-EB1D-BFC4B1A76A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650" y="378273"/>
            <a:ext cx="3561771" cy="25917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2107EC0-12BC-2BCB-F204-D16EBACEA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7262" y="695459"/>
            <a:ext cx="2975592" cy="22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77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578EF-8D5C-A668-9E50-2339D49E4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0087AC-1599-70F2-1297-FBE473001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874" y="895081"/>
            <a:ext cx="5088272" cy="3718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6BC790-9F96-17E6-EAB2-DD653485C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92" y="891579"/>
            <a:ext cx="5355108" cy="397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6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9A493-EA17-0123-B575-C1BD427A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DAEDAB-0E1A-A994-7368-F8492983EC6D}"/>
              </a:ext>
            </a:extLst>
          </p:cNvPr>
          <p:cNvSpPr txBox="1"/>
          <p:nvPr/>
        </p:nvSpPr>
        <p:spPr>
          <a:xfrm>
            <a:off x="528033" y="738672"/>
            <a:ext cx="86207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Neff[0]=(2.444192,-5.811117e-08)  TE  PolMeasure=0.983685</a:t>
            </a:r>
          </a:p>
          <a:p>
            <a:r>
              <a:rPr lang="en-US"/>
              <a:t>Neff[1]=(1.768935,9.414631e-08)  TM  PolMeasure=0.0492922</a:t>
            </a:r>
          </a:p>
          <a:p>
            <a:r>
              <a:rPr lang="en-US"/>
              <a:t>Neff[2]=(1.492,-1.99953e-06)  TE  PolMeasure=0.719835</a:t>
            </a:r>
          </a:p>
          <a:p>
            <a:r>
              <a:rPr lang="en-US"/>
              <a:t>Neff[3]=(1.442699,0.004953322)  TM  PolMeasure=0.0888244</a:t>
            </a:r>
          </a:p>
          <a:p>
            <a:r>
              <a:rPr lang="en-US"/>
              <a:t>Neff[4]=(1.442643,0.004339945)  TE  PolMeasure=0.973903</a:t>
            </a:r>
          </a:p>
          <a:p>
            <a:endParaRPr lang="en-US"/>
          </a:p>
          <a:p>
            <a:r>
              <a:rPr lang="en-US"/>
              <a:t>Mode#   Mon#1         Mon#2         Mon#3         Mon#4         </a:t>
            </a:r>
          </a:p>
          <a:p>
            <a:r>
              <a:rPr lang="en-US"/>
              <a:t>0       2.44419       0.61736       0.147106      0.785254      </a:t>
            </a:r>
          </a:p>
          <a:p>
            <a:r>
              <a:rPr lang="en-US"/>
              <a:t>1       1.76893       0.660624      0.275839      0.492213      </a:t>
            </a:r>
          </a:p>
          <a:p>
            <a:r>
              <a:rPr lang="en-US"/>
              <a:t>2       1.492         1             0.365638      0.233765      </a:t>
            </a:r>
          </a:p>
          <a:p>
            <a:r>
              <a:rPr lang="en-US"/>
              <a:t>3       1.4427        1             0.247158      0.660977      </a:t>
            </a:r>
          </a:p>
          <a:p>
            <a:r>
              <a:rPr lang="en-US"/>
              <a:t>4       1.44264       1             0.393324      0.117816 </a:t>
            </a:r>
          </a:p>
        </p:txBody>
      </p:sp>
    </p:spTree>
    <p:extLst>
      <p:ext uri="{BB962C8B-B14F-4D97-AF65-F5344CB8AC3E}">
        <p14:creationId xmlns:p14="http://schemas.microsoft.com/office/powerpoint/2010/main" val="4257972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C4348-B7D6-6A0D-1994-1140787B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9C6304-B806-D2F8-CD07-4EB72F445BBD}"/>
              </a:ext>
            </a:extLst>
          </p:cNvPr>
          <p:cNvSpPr txBox="1"/>
          <p:nvPr/>
        </p:nvSpPr>
        <p:spPr>
          <a:xfrm>
            <a:off x="676141" y="1166843"/>
            <a:ext cx="84662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Neff[0]=(2.712281,-1.051095e-08)  TE  PolMeasure=0.992888</a:t>
            </a:r>
          </a:p>
          <a:p>
            <a:r>
              <a:rPr lang="en-US"/>
              <a:t>Neff[1]=(2.163342,3.748277e-08)  TM  PolMeasure=0.0400735</a:t>
            </a:r>
          </a:p>
          <a:p>
            <a:r>
              <a:rPr lang="en-US"/>
              <a:t>Neff[2]=(1.810994,-1.044668e-07)  TE  PolMeasure=0.876603</a:t>
            </a:r>
          </a:p>
          <a:p>
            <a:r>
              <a:rPr lang="en-US"/>
              <a:t>Neff[3]=(1.579416,-5.693446e-08)  TM  PolMeasure=0.281126</a:t>
            </a:r>
          </a:p>
          <a:p>
            <a:r>
              <a:rPr lang="en-US"/>
              <a:t>Neff[4]=(1.4453,0.002777592)  TE  PolMeasure=0.938753</a:t>
            </a:r>
          </a:p>
          <a:p>
            <a:endParaRPr lang="en-US"/>
          </a:p>
          <a:p>
            <a:r>
              <a:rPr lang="en-US"/>
              <a:t>Mode#   Mon#1         Mon#2         Mon#3         Mon#4         </a:t>
            </a:r>
          </a:p>
          <a:p>
            <a:r>
              <a:rPr lang="en-US"/>
              <a:t>0       2.71228       0.407539      0.108373      0.850202      </a:t>
            </a:r>
          </a:p>
          <a:p>
            <a:r>
              <a:rPr lang="en-US"/>
              <a:t>1       2.16334       0.532129      0.210047      0.759053      </a:t>
            </a:r>
          </a:p>
          <a:p>
            <a:r>
              <a:rPr lang="en-US"/>
              <a:t>2       1.81099       0.863456      0.257162      0.61014       </a:t>
            </a:r>
          </a:p>
          <a:p>
            <a:r>
              <a:rPr lang="en-US"/>
              <a:t>3       1.57942       0.912313      0.348685      0.468028      </a:t>
            </a:r>
          </a:p>
          <a:p>
            <a:r>
              <a:rPr lang="en-US"/>
              <a:t>4       1.4453        1             0.390573      0.0858218 </a:t>
            </a:r>
          </a:p>
        </p:txBody>
      </p:sp>
    </p:spTree>
    <p:extLst>
      <p:ext uri="{BB962C8B-B14F-4D97-AF65-F5344CB8AC3E}">
        <p14:creationId xmlns:p14="http://schemas.microsoft.com/office/powerpoint/2010/main" val="3227975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DF904-0763-CDA3-B706-1C265521B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EF865-66CE-5FA9-E7A8-BE75D3388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58" y="553889"/>
            <a:ext cx="5152133" cy="38305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3D5F93-1ECB-211C-FB51-A3F87C15B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478" y="888393"/>
            <a:ext cx="4636711" cy="341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64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F04BD-252A-8C0B-BA4A-A769028E3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A49AA4-A7ED-5A26-DB16-5B36CED45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23" y="434394"/>
            <a:ext cx="4190016" cy="3135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6E2AB3-BCE3-A0AB-1A04-C461A7936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120" y="434394"/>
            <a:ext cx="4829655" cy="362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87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F12D5-1768-EB64-66E6-FF8B228DE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4015B6-8D2B-9118-FF96-705AB5260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98" y="345204"/>
            <a:ext cx="4463113" cy="3302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3A4B76-9269-E7FE-09BF-9E005B19A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988" y="596514"/>
            <a:ext cx="4541099" cy="3385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AE644C-86BD-BCB6-0673-525FBA4CC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39" y="3982421"/>
            <a:ext cx="3300839" cy="24201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DC2C1D-E8F3-E6D3-4267-5C87B1F0D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698" y="4036564"/>
            <a:ext cx="3300839" cy="24762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48AFAB-7FEF-D1D2-6DAE-65B336CE5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8991" y="4225749"/>
            <a:ext cx="3162882" cy="236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67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62D5-3E75-5163-6702-2A3E2F8AA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E85B40-3123-C856-C020-87717F0BA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76" y="1274553"/>
            <a:ext cx="3871487" cy="285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776454-A9D3-3E16-DB04-A2E3ABEA4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28"/>
          <a:stretch>
            <a:fillRect/>
          </a:stretch>
        </p:blipFill>
        <p:spPr>
          <a:xfrm>
            <a:off x="4357035" y="1332963"/>
            <a:ext cx="4485413" cy="332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112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725DD-E8F7-988D-1037-A9A87CF6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8FA053-B9C3-C8D5-6BA3-555C7E14A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123" y="1030395"/>
            <a:ext cx="7814988" cy="457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983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20A70-924A-286F-2BFF-30C0CE730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EB0C29-5E99-DD25-3C5C-FED2CC88F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7" y="1393041"/>
            <a:ext cx="5792895" cy="4357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DA0E9A-BA07-1EA5-8742-72859A6B3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057" y="1906074"/>
            <a:ext cx="4647315" cy="346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31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AC69B-E04B-43BB-76FF-AE2D81E0C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00B6F-C64B-4801-63B3-E9CED1479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74" y="778924"/>
            <a:ext cx="5320026" cy="39276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1445DC-58E8-BF09-A89C-F721E5690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21895"/>
            <a:ext cx="5320026" cy="39391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FC4130-4E39-F487-D160-8B34C5843F29}"/>
              </a:ext>
            </a:extLst>
          </p:cNvPr>
          <p:cNvSpPr txBox="1"/>
          <p:nvPr/>
        </p:nvSpPr>
        <p:spPr>
          <a:xfrm>
            <a:off x="698231" y="4802369"/>
            <a:ext cx="70226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Neff[0]=(2.572443,0.0001378095)  TE  PolMeasure=0.980461</a:t>
            </a:r>
          </a:p>
          <a:p>
            <a:r>
              <a:rPr lang="en-US"/>
              <a:t>Neff[1]=(2.077357,0.02959678)  TM  PolMeasure=0.0530053</a:t>
            </a:r>
          </a:p>
          <a:p>
            <a:endParaRPr lang="en-US"/>
          </a:p>
          <a:p>
            <a:r>
              <a:rPr lang="en-US"/>
              <a:t>Mode#   Mon#1         Mon#2         Mon#3         Mon#4         </a:t>
            </a:r>
          </a:p>
          <a:p>
            <a:r>
              <a:rPr lang="en-US"/>
              <a:t>0       2.57244       0.344322      0.143849      0.770432      </a:t>
            </a:r>
          </a:p>
          <a:p>
            <a:r>
              <a:rPr lang="en-US"/>
              <a:t>1       2.07736       0.612686      0.227871      0.480229 </a:t>
            </a:r>
          </a:p>
        </p:txBody>
      </p:sp>
    </p:spTree>
    <p:extLst>
      <p:ext uri="{BB962C8B-B14F-4D97-AF65-F5344CB8AC3E}">
        <p14:creationId xmlns:p14="http://schemas.microsoft.com/office/powerpoint/2010/main" val="3745393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52100-9364-8616-18E5-CEF824BBE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F19CBE-7202-AEEA-4E2B-71EFE7118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88" y="284813"/>
            <a:ext cx="5097730" cy="37552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BD20F3-AFF7-6D03-2B45-03AEB4935F0A}"/>
              </a:ext>
            </a:extLst>
          </p:cNvPr>
          <p:cNvSpPr txBox="1"/>
          <p:nvPr/>
        </p:nvSpPr>
        <p:spPr>
          <a:xfrm>
            <a:off x="311864" y="4541862"/>
            <a:ext cx="60972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Neff[0]=(2.476668,-3.10213e-07)  TE  PolMeasure=0.982712</a:t>
            </a:r>
          </a:p>
          <a:p>
            <a:r>
              <a:rPr lang="en-US"/>
              <a:t>Neff[1]=(1.866029,0.009862064)  TM  PolMeasure=0.0505736</a:t>
            </a:r>
          </a:p>
          <a:p>
            <a:endParaRPr lang="en-US"/>
          </a:p>
          <a:p>
            <a:r>
              <a:rPr lang="en-US"/>
              <a:t>Mode#   Mon#1         Mon#2         Mon#3         Mon#4         </a:t>
            </a:r>
          </a:p>
          <a:p>
            <a:r>
              <a:rPr lang="en-US"/>
              <a:t>0       2.47667       0.349618      0.146422      0.781631      </a:t>
            </a:r>
          </a:p>
          <a:p>
            <a:r>
              <a:rPr lang="en-US"/>
              <a:t>1       1.86603       0.62          0.259536      0.472122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981FBE-2098-BE76-337B-DE2E05182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442" y="580917"/>
            <a:ext cx="4444719" cy="325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80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92B60-0B08-74F9-BC0D-E0CD6B75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5D8163-DC2A-651D-05BF-26348CBA5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33" y="539646"/>
            <a:ext cx="10919333" cy="362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25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A3EB0-5499-8D09-49E8-8145CF77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641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390</Words>
  <Application>Microsoft Office PowerPoint</Application>
  <PresentationFormat>Widescreen</PresentationFormat>
  <Paragraphs>81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P</dc:creator>
  <cp:lastModifiedBy>Marcus P</cp:lastModifiedBy>
  <cp:revision>41</cp:revision>
  <dcterms:created xsi:type="dcterms:W3CDTF">2026-07-21T12:35:28Z</dcterms:created>
  <dcterms:modified xsi:type="dcterms:W3CDTF">2026-07-21T15:05:57Z</dcterms:modified>
</cp:coreProperties>
</file>